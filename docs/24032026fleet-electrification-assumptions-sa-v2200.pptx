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928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ZW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371600"/>
            <a:ext cx="1463040" cy="146304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2377440"/>
            <a:ext cx="640080" cy="6400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89120" y="54864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Fleet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Electrification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4389120" y="30175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Acquiring IOC Retail Assets in South Africa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Smartest Move on the Board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4389120" y="4023360"/>
            <a:ext cx="41148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8" name="Text 4"/>
          <p:cNvSpPr/>
          <p:nvPr/>
        </p:nvSpPr>
        <p:spPr>
          <a:xfrm>
            <a:off x="438912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Strategy &amp; Operations  |  South Africa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Parc Challenge: SA by the Numbers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Africa's EV transition is in its infancy. The data tells the real story — fuel retail will dominate for decades.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874520" cy="4572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6" name="Text 4"/>
          <p:cNvSpPr/>
          <p:nvPr/>
        </p:nvSpPr>
        <p:spPr>
          <a:xfrm>
            <a:off x="502920" y="14356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3,543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passenger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EVs in SA (end 2024)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32588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9" name="Shape 7"/>
          <p:cNvSpPr/>
          <p:nvPr/>
        </p:nvSpPr>
        <p:spPr>
          <a:xfrm>
            <a:off x="2560320" y="1325880"/>
            <a:ext cx="1874520" cy="45720"/>
          </a:xfrm>
          <a:prstGeom prst="rect">
            <a:avLst/>
          </a:prstGeom>
          <a:solidFill>
            <a:srgbClr val="0B3D4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0" name="Text 8"/>
          <p:cNvSpPr/>
          <p:nvPr/>
        </p:nvSpPr>
        <p:spPr>
          <a:xfrm>
            <a:off x="2560320" y="14356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3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~1.2%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51760" y="1874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share of new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(2025)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132588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3" name="Shape 11"/>
          <p:cNvSpPr/>
          <p:nvPr/>
        </p:nvSpPr>
        <p:spPr>
          <a:xfrm>
            <a:off x="4617720" y="1325880"/>
            <a:ext cx="1874520" cy="4572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4" name="Text 12"/>
          <p:cNvSpPr/>
          <p:nvPr/>
        </p:nvSpPr>
        <p:spPr>
          <a:xfrm>
            <a:off x="4617720" y="14356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30bn L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09160" y="1874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consumed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 in SA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75120" y="132588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7" name="Shape 15"/>
          <p:cNvSpPr/>
          <p:nvPr/>
        </p:nvSpPr>
        <p:spPr>
          <a:xfrm>
            <a:off x="6675120" y="1325880"/>
            <a:ext cx="1874520" cy="45720"/>
          </a:xfrm>
          <a:prstGeom prst="rect">
            <a:avLst/>
          </a:prstGeom>
          <a:solidFill>
            <a:srgbClr val="0B3D4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8" name="Text 16"/>
          <p:cNvSpPr/>
          <p:nvPr/>
        </p:nvSpPr>
        <p:spPr>
          <a:xfrm>
            <a:off x="6675120" y="14356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3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6,000+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66560" y="1874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stations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South Africa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256032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21" name="Shape 19"/>
          <p:cNvSpPr/>
          <p:nvPr/>
        </p:nvSpPr>
        <p:spPr>
          <a:xfrm>
            <a:off x="502920" y="2560320"/>
            <a:ext cx="1874520" cy="4572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2" name="Text 20"/>
          <p:cNvSpPr/>
          <p:nvPr/>
        </p:nvSpPr>
        <p:spPr>
          <a:xfrm>
            <a:off x="502920" y="267004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~650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94360" y="3108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EV chargers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(GridCars manages most)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0" y="256032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25" name="Shape 23"/>
          <p:cNvSpPr/>
          <p:nvPr/>
        </p:nvSpPr>
        <p:spPr>
          <a:xfrm>
            <a:off x="2560320" y="2560320"/>
            <a:ext cx="1874520" cy="45720"/>
          </a:xfrm>
          <a:prstGeom prst="rect">
            <a:avLst/>
          </a:prstGeom>
          <a:solidFill>
            <a:srgbClr val="0B3D4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6" name="Text 24"/>
          <p:cNvSpPr/>
          <p:nvPr/>
        </p:nvSpPr>
        <p:spPr>
          <a:xfrm>
            <a:off x="2560320" y="267004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3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100k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2651760" y="3108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EVs needed before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is profitable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256032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29" name="Shape 27"/>
          <p:cNvSpPr/>
          <p:nvPr/>
        </p:nvSpPr>
        <p:spPr>
          <a:xfrm>
            <a:off x="4617720" y="2560320"/>
            <a:ext cx="1874520" cy="4572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30" name="Text 28"/>
          <p:cNvSpPr/>
          <p:nvPr/>
        </p:nvSpPr>
        <p:spPr>
          <a:xfrm>
            <a:off x="4617720" y="267004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1.3%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709160" y="3108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demand CAGR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2024–2029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75120" y="256032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33" name="Shape 31"/>
          <p:cNvSpPr/>
          <p:nvPr/>
        </p:nvSpPr>
        <p:spPr>
          <a:xfrm>
            <a:off x="6675120" y="2560320"/>
            <a:ext cx="1874520" cy="45720"/>
          </a:xfrm>
          <a:prstGeom prst="rect">
            <a:avLst/>
          </a:prstGeom>
          <a:solidFill>
            <a:srgbClr val="0B3D4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34" name="Text 32"/>
          <p:cNvSpPr/>
          <p:nvPr/>
        </p:nvSpPr>
        <p:spPr>
          <a:xfrm>
            <a:off x="6675120" y="267004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3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766560" y="3108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govt EV target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3794760"/>
            <a:ext cx="81381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37" name="Text 35"/>
          <p:cNvSpPr/>
          <p:nvPr/>
        </p:nvSpPr>
        <p:spPr>
          <a:xfrm>
            <a:off x="685800" y="38221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Fleet Parc: ICE Dominance Persists for Decades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669280" y="3840480"/>
            <a:ext cx="164592" cy="109728"/>
          </a:xfrm>
          <a:prstGeom prst="rect">
            <a:avLst/>
          </a:prstGeom>
          <a:solidFill>
            <a:srgbClr val="0B3D4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39" name="Text 37"/>
          <p:cNvSpPr/>
          <p:nvPr/>
        </p:nvSpPr>
        <p:spPr>
          <a:xfrm>
            <a:off x="5870448" y="3813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400800" y="3840480"/>
            <a:ext cx="164592" cy="10972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41" name="Text 39"/>
          <p:cNvSpPr/>
          <p:nvPr/>
        </p:nvSpPr>
        <p:spPr>
          <a:xfrm>
            <a:off x="6601968" y="3813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94360" y="4114800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097280" y="4114800"/>
            <a:ext cx="5669280" cy="137160"/>
          </a:xfrm>
          <a:prstGeom prst="rect">
            <a:avLst/>
          </a:prstGeom>
          <a:solidFill>
            <a:srgbClr val="0B3D4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44" name="Shape 42"/>
          <p:cNvSpPr/>
          <p:nvPr/>
        </p:nvSpPr>
        <p:spPr>
          <a:xfrm>
            <a:off x="6793992" y="4114800"/>
            <a:ext cx="109728" cy="1371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45" name="Text 43"/>
          <p:cNvSpPr/>
          <p:nvPr/>
        </p:nvSpPr>
        <p:spPr>
          <a:xfrm>
            <a:off x="594360" y="4297680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097280" y="4297680"/>
            <a:ext cx="5029200" cy="137160"/>
          </a:xfrm>
          <a:prstGeom prst="rect">
            <a:avLst/>
          </a:prstGeom>
          <a:solidFill>
            <a:srgbClr val="0B3D4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47" name="Shape 45"/>
          <p:cNvSpPr/>
          <p:nvPr/>
        </p:nvSpPr>
        <p:spPr>
          <a:xfrm>
            <a:off x="6153912" y="4297680"/>
            <a:ext cx="457200" cy="1371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48" name="Text 46"/>
          <p:cNvSpPr/>
          <p:nvPr/>
        </p:nvSpPr>
        <p:spPr>
          <a:xfrm>
            <a:off x="594360" y="4480560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097280" y="4480560"/>
            <a:ext cx="3840480" cy="137160"/>
          </a:xfrm>
          <a:prstGeom prst="rect">
            <a:avLst/>
          </a:prstGeom>
          <a:solidFill>
            <a:srgbClr val="0B3D4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50" name="Shape 48"/>
          <p:cNvSpPr/>
          <p:nvPr/>
        </p:nvSpPr>
        <p:spPr>
          <a:xfrm>
            <a:off x="4965192" y="4480560"/>
            <a:ext cx="1280160" cy="1371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51" name="Text 49"/>
          <p:cNvSpPr/>
          <p:nvPr/>
        </p:nvSpPr>
        <p:spPr>
          <a:xfrm>
            <a:off x="594360" y="4663440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2040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097280" y="4663440"/>
            <a:ext cx="2743200" cy="137160"/>
          </a:xfrm>
          <a:prstGeom prst="rect">
            <a:avLst/>
          </a:prstGeom>
          <a:solidFill>
            <a:srgbClr val="0B3D4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53" name="Shape 51"/>
          <p:cNvSpPr/>
          <p:nvPr/>
        </p:nvSpPr>
        <p:spPr>
          <a:xfrm>
            <a:off x="3867912" y="4663440"/>
            <a:ext cx="2377440" cy="1371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ZW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3D4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SA's EV Transition Will Be Slow — The Evidence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1188720"/>
          </a:xfrm>
          <a:prstGeom prst="rect">
            <a:avLst/>
          </a:prstGeom>
          <a:solidFill>
            <a:srgbClr val="F0FA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1188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6" name="Text 4"/>
          <p:cNvSpPr/>
          <p:nvPr/>
        </p:nvSpPr>
        <p:spPr>
          <a:xfrm>
            <a:off x="640080" y="1124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&amp; Infrastructure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factor: 0.9 kg/kWh (among world's highest). Only ~650 public chargers for 62m people. 308 days without loadshedding — but grid fragility persists.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4114800" cy="1188720"/>
          </a:xfrm>
          <a:prstGeom prst="rect">
            <a:avLst/>
          </a:prstGeom>
          <a:solidFill>
            <a:srgbClr val="F0FA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54864" cy="1188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0" name="Text 8"/>
          <p:cNvSpPr/>
          <p:nvPr/>
        </p:nvSpPr>
        <p:spPr>
          <a:xfrm>
            <a:off x="640080" y="2450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 Gap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BEVs exceed R600k. Cumulative EV parc is just 3,543 vehicles by end 2024. The R2.8bn total market value is a rounding error vs fuel retail.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114800" cy="1188720"/>
          </a:xfrm>
          <a:prstGeom prst="rect">
            <a:avLst/>
          </a:prstGeom>
          <a:solidFill>
            <a:srgbClr val="F0FA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54864" cy="1188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4" name="Text 12"/>
          <p:cNvSpPr/>
          <p:nvPr/>
        </p:nvSpPr>
        <p:spPr>
          <a:xfrm>
            <a:off x="640080" y="3776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Economics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0690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charging station costs R500k–R2m to install. Industry consensus: 100,000 EVs needed before charging operators break even. SA has 3,543.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solidFill>
            <a:srgbClr val="0B3D4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7" name="Text 15"/>
          <p:cNvSpPr/>
          <p:nvPr/>
        </p:nvSpPr>
        <p:spPr>
          <a:xfrm>
            <a:off x="4846320" y="1078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Charging Network — Who's Building What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417320"/>
            <a:ext cx="777240" cy="30175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9" name="Text 17"/>
          <p:cNvSpPr/>
          <p:nvPr/>
        </p:nvSpPr>
        <p:spPr>
          <a:xfrm>
            <a:off x="4800600" y="1417320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32120" y="1417320"/>
            <a:ext cx="1234440" cy="30175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1" name="Text 19"/>
          <p:cNvSpPr/>
          <p:nvPr/>
        </p:nvSpPr>
        <p:spPr>
          <a:xfrm>
            <a:off x="5577840" y="1417320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66560" y="1417320"/>
            <a:ext cx="868680" cy="30175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3" name="Text 21"/>
          <p:cNvSpPr/>
          <p:nvPr/>
        </p:nvSpPr>
        <p:spPr>
          <a:xfrm>
            <a:off x="6812280" y="1417320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635240" y="1417320"/>
            <a:ext cx="1051560" cy="30175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5" name="Text 23"/>
          <p:cNvSpPr/>
          <p:nvPr/>
        </p:nvSpPr>
        <p:spPr>
          <a:xfrm>
            <a:off x="7680960" y="1417320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1719072"/>
            <a:ext cx="77724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7" name="Text 25"/>
          <p:cNvSpPr/>
          <p:nvPr/>
        </p:nvSpPr>
        <p:spPr>
          <a:xfrm>
            <a:off x="4800600" y="1719072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GridCars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532120" y="1719072"/>
            <a:ext cx="123444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9" name="Text 27"/>
          <p:cNvSpPr/>
          <p:nvPr/>
        </p:nvSpPr>
        <p:spPr>
          <a:xfrm>
            <a:off x="5577840" y="1719072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~445 sites / 650 chargers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766560" y="1719072"/>
            <a:ext cx="86868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31" name="Text 29"/>
          <p:cNvSpPr/>
          <p:nvPr/>
        </p:nvSpPr>
        <p:spPr>
          <a:xfrm>
            <a:off x="6812280" y="1719072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635240" y="1719072"/>
            <a:ext cx="105156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33" name="Text 31"/>
          <p:cNvSpPr/>
          <p:nvPr/>
        </p:nvSpPr>
        <p:spPr>
          <a:xfrm>
            <a:off x="7680960" y="1719072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SA's largest CPO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754880" y="2020824"/>
            <a:ext cx="777240" cy="301752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35" name="Text 33"/>
          <p:cNvSpPr/>
          <p:nvPr/>
        </p:nvSpPr>
        <p:spPr>
          <a:xfrm>
            <a:off x="4800600" y="2020824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Rubicon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532120" y="2020824"/>
            <a:ext cx="1234440" cy="301752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37" name="Text 35"/>
          <p:cNvSpPr/>
          <p:nvPr/>
        </p:nvSpPr>
        <p:spPr>
          <a:xfrm>
            <a:off x="5577840" y="2020824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stations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766560" y="2020824"/>
            <a:ext cx="868680" cy="301752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39" name="Text 37"/>
          <p:cNvSpPr/>
          <p:nvPr/>
        </p:nvSpPr>
        <p:spPr>
          <a:xfrm>
            <a:off x="6812280" y="2020824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+145 more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635240" y="2020824"/>
            <a:ext cx="1051560" cy="301752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41" name="Text 39"/>
          <p:cNvSpPr/>
          <p:nvPr/>
        </p:nvSpPr>
        <p:spPr>
          <a:xfrm>
            <a:off x="7680960" y="2020824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by end 2025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754880" y="2322576"/>
            <a:ext cx="77724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43" name="Text 41"/>
          <p:cNvSpPr/>
          <p:nvPr/>
        </p:nvSpPr>
        <p:spPr>
          <a:xfrm>
            <a:off x="4800600" y="2322576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Chargify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532120" y="2322576"/>
            <a:ext cx="123444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45" name="Text 43"/>
          <p:cNvSpPr/>
          <p:nvPr/>
        </p:nvSpPr>
        <p:spPr>
          <a:xfrm>
            <a:off x="5577840" y="2322576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stations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766560" y="2322576"/>
            <a:ext cx="86868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47" name="Text 45"/>
          <p:cNvSpPr/>
          <p:nvPr/>
        </p:nvSpPr>
        <p:spPr>
          <a:xfrm>
            <a:off x="6812280" y="2322576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+78 more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635240" y="2322576"/>
            <a:ext cx="105156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49" name="Text 47"/>
          <p:cNvSpPr/>
          <p:nvPr/>
        </p:nvSpPr>
        <p:spPr>
          <a:xfrm>
            <a:off x="7680960" y="2322576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total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754880" y="2624328"/>
            <a:ext cx="777240" cy="301752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51" name="Text 49"/>
          <p:cNvSpPr/>
          <p:nvPr/>
        </p:nvSpPr>
        <p:spPr>
          <a:xfrm>
            <a:off x="4800600" y="2624328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532120" y="2624328"/>
            <a:ext cx="1234440" cy="301752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53" name="Text 51"/>
          <p:cNvSpPr/>
          <p:nvPr/>
        </p:nvSpPr>
        <p:spPr>
          <a:xfrm>
            <a:off x="5577840" y="2624328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station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766560" y="2624328"/>
            <a:ext cx="868680" cy="301752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55" name="Text 53"/>
          <p:cNvSpPr/>
          <p:nvPr/>
        </p:nvSpPr>
        <p:spPr>
          <a:xfrm>
            <a:off x="6812280" y="2624328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+119 planned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635240" y="2624328"/>
            <a:ext cx="1051560" cy="301752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57" name="Text 55"/>
          <p:cNvSpPr/>
          <p:nvPr/>
        </p:nvSpPr>
        <p:spPr>
          <a:xfrm>
            <a:off x="7680960" y="2624328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by early 2026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754880" y="2926080"/>
            <a:ext cx="77724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59" name="Text 57"/>
          <p:cNvSpPr/>
          <p:nvPr/>
        </p:nvSpPr>
        <p:spPr>
          <a:xfrm>
            <a:off x="4800600" y="2926080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Carbon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532120" y="2926080"/>
            <a:ext cx="123444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61" name="Text 59"/>
          <p:cNvSpPr/>
          <p:nvPr/>
        </p:nvSpPr>
        <p:spPr>
          <a:xfrm>
            <a:off x="5577840" y="2926080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Off-grid solar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766560" y="2926080"/>
            <a:ext cx="86868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63" name="Text 61"/>
          <p:cNvSpPr/>
          <p:nvPr/>
        </p:nvSpPr>
        <p:spPr>
          <a:xfrm>
            <a:off x="6812280" y="2926080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planned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635240" y="2926080"/>
            <a:ext cx="105156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65" name="Text 63"/>
          <p:cNvSpPr/>
          <p:nvPr/>
        </p:nvSpPr>
        <p:spPr>
          <a:xfrm>
            <a:off x="7680960" y="2926080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150km national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754880" y="3227832"/>
            <a:ext cx="777240" cy="301752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67" name="Text 65"/>
          <p:cNvSpPr/>
          <p:nvPr/>
        </p:nvSpPr>
        <p:spPr>
          <a:xfrm>
            <a:off x="4800600" y="3227832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BYD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532120" y="3227832"/>
            <a:ext cx="1234440" cy="301752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69" name="Text 67"/>
          <p:cNvSpPr/>
          <p:nvPr/>
        </p:nvSpPr>
        <p:spPr>
          <a:xfrm>
            <a:off x="5577840" y="3227832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Apr 2026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766560" y="3227832"/>
            <a:ext cx="868680" cy="301752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1" name="Text 69"/>
          <p:cNvSpPr/>
          <p:nvPr/>
        </p:nvSpPr>
        <p:spPr>
          <a:xfrm>
            <a:off x="6812280" y="3227832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200–300 stations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7635240" y="3227832"/>
            <a:ext cx="1051560" cy="301752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3" name="Text 71"/>
          <p:cNvSpPr/>
          <p:nvPr/>
        </p:nvSpPr>
        <p:spPr>
          <a:xfrm>
            <a:off x="7680960" y="3227832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1MW flash chargers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754880" y="3529584"/>
            <a:ext cx="77724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5" name="Text 73"/>
          <p:cNvSpPr/>
          <p:nvPr/>
        </p:nvSpPr>
        <p:spPr>
          <a:xfrm>
            <a:off x="4800600" y="3529584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Eskom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5532120" y="3529584"/>
            <a:ext cx="123444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7" name="Text 75"/>
          <p:cNvSpPr/>
          <p:nvPr/>
        </p:nvSpPr>
        <p:spPr>
          <a:xfrm>
            <a:off x="5577840" y="3529584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installed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766560" y="3529584"/>
            <a:ext cx="86868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9" name="Text 77"/>
          <p:cNvSpPr/>
          <p:nvPr/>
        </p:nvSpPr>
        <p:spPr>
          <a:xfrm>
            <a:off x="6812280" y="3529584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 planned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7635240" y="3529584"/>
            <a:ext cx="105156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81" name="Text 79"/>
          <p:cNvSpPr/>
          <p:nvPr/>
        </p:nvSpPr>
        <p:spPr>
          <a:xfrm>
            <a:off x="7680960" y="3529584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+ public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4754880" y="3886200"/>
            <a:ext cx="3931920" cy="868680"/>
          </a:xfrm>
          <a:prstGeom prst="rect">
            <a:avLst/>
          </a:prstGeom>
          <a:solidFill>
            <a:srgbClr val="0B3D4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83" name="Text 81"/>
          <p:cNvSpPr/>
          <p:nvPr/>
        </p:nvSpPr>
        <p:spPr>
          <a:xfrm>
            <a:off x="4892040" y="3931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4892040" y="41605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all planned expansion, SA will have ~1,300 charging stations by end 2026. Compare that to 6,000+ fuel stations already operating profitably today.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Landscape Is Shifting — But Fuel Still Wins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114800" cy="32004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OEMs Entering SA — Assembly &amp; Factory Plans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48640" cy="384048"/>
          </a:xfrm>
          <a:prstGeom prst="rect">
            <a:avLst/>
          </a:prstGeom>
          <a:solidFill>
            <a:srgbClr val="0B3D4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05840" y="1234440"/>
            <a:ext cx="777240" cy="384048"/>
          </a:xfrm>
          <a:prstGeom prst="rect">
            <a:avLst/>
          </a:prstGeom>
          <a:solidFill>
            <a:srgbClr val="0B3D4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8" name="Text 6"/>
          <p:cNvSpPr/>
          <p:nvPr/>
        </p:nvSpPr>
        <p:spPr>
          <a:xfrm>
            <a:off x="1051560" y="12344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783080" y="1234440"/>
            <a:ext cx="685800" cy="384048"/>
          </a:xfrm>
          <a:prstGeom prst="rect">
            <a:avLst/>
          </a:prstGeom>
          <a:solidFill>
            <a:srgbClr val="0B3D4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0" name="Text 8"/>
          <p:cNvSpPr/>
          <p:nvPr/>
        </p:nvSpPr>
        <p:spPr>
          <a:xfrm>
            <a:off x="1828800" y="123444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68880" y="1234440"/>
            <a:ext cx="2103120" cy="384048"/>
          </a:xfrm>
          <a:prstGeom prst="rect">
            <a:avLst/>
          </a:prstGeom>
          <a:solidFill>
            <a:srgbClr val="0B3D4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2" name="Text 10"/>
          <p:cNvSpPr/>
          <p:nvPr/>
        </p:nvSpPr>
        <p:spPr>
          <a:xfrm>
            <a:off x="2514600" y="1234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618488"/>
            <a:ext cx="54864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4" name="Text 12"/>
          <p:cNvSpPr/>
          <p:nvPr/>
        </p:nvSpPr>
        <p:spPr>
          <a:xfrm>
            <a:off x="502920" y="16184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BAIC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005840" y="1618488"/>
            <a:ext cx="77724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6" name="Text 14"/>
          <p:cNvSpPr/>
          <p:nvPr/>
        </p:nvSpPr>
        <p:spPr>
          <a:xfrm>
            <a:off x="1051560" y="161848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783080" y="1618488"/>
            <a:ext cx="6858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8" name="Text 16"/>
          <p:cNvSpPr/>
          <p:nvPr/>
        </p:nvSpPr>
        <p:spPr>
          <a:xfrm>
            <a:off x="1828800" y="161848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Coega, EC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468880" y="1618488"/>
            <a:ext cx="21031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0" name="Text 18"/>
          <p:cNvSpPr/>
          <p:nvPr/>
        </p:nvSpPr>
        <p:spPr>
          <a:xfrm>
            <a:off x="2514600" y="16184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CKD assembly B40, X55, B30 (2026). Foton Tunland bakkie joining.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002536"/>
            <a:ext cx="548640" cy="384048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2" name="Text 20"/>
          <p:cNvSpPr/>
          <p:nvPr/>
        </p:nvSpPr>
        <p:spPr>
          <a:xfrm>
            <a:off x="502920" y="20025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Chery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005840" y="2002536"/>
            <a:ext cx="777240" cy="384048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4" name="Text 22"/>
          <p:cNvSpPr/>
          <p:nvPr/>
        </p:nvSpPr>
        <p:spPr>
          <a:xfrm>
            <a:off x="1051560" y="2002536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mid-2026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783080" y="2002536"/>
            <a:ext cx="685800" cy="384048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6" name="Text 24"/>
          <p:cNvSpPr/>
          <p:nvPr/>
        </p:nvSpPr>
        <p:spPr>
          <a:xfrm>
            <a:off x="1828800" y="2002536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Rosslyn, PTA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468880" y="2002536"/>
            <a:ext cx="2103120" cy="384048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8" name="Text 26"/>
          <p:cNvSpPr/>
          <p:nvPr/>
        </p:nvSpPr>
        <p:spPr>
          <a:xfrm>
            <a:off x="2514600" y="20025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Nissan plant. ~700 employees retained. Sells 5,000+/month.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57200" y="2386584"/>
            <a:ext cx="54864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30" name="Text 28"/>
          <p:cNvSpPr/>
          <p:nvPr/>
        </p:nvSpPr>
        <p:spPr>
          <a:xfrm>
            <a:off x="502920" y="23865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GWM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005840" y="2386584"/>
            <a:ext cx="77724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32" name="Text 30"/>
          <p:cNvSpPr/>
          <p:nvPr/>
        </p:nvSpPr>
        <p:spPr>
          <a:xfrm>
            <a:off x="1051560" y="238658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talks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783080" y="2386584"/>
            <a:ext cx="6858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34" name="Text 32"/>
          <p:cNvSpPr/>
          <p:nvPr/>
        </p:nvSpPr>
        <p:spPr>
          <a:xfrm>
            <a:off x="1828800" y="2386584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Various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468880" y="2386584"/>
            <a:ext cx="21031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36" name="Text 34"/>
          <p:cNvSpPr/>
          <p:nvPr/>
        </p:nvSpPr>
        <p:spPr>
          <a:xfrm>
            <a:off x="2514600" y="2386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Rosslyn bid. Exploring Mercedes-Benz East London. ~5% market share.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7200" y="2770632"/>
            <a:ext cx="548640" cy="384048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38" name="Text 36"/>
          <p:cNvSpPr/>
          <p:nvPr/>
        </p:nvSpPr>
        <p:spPr>
          <a:xfrm>
            <a:off x="502920" y="277063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005840" y="2770632"/>
            <a:ext cx="777240" cy="384048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40" name="Text 38"/>
          <p:cNvSpPr/>
          <p:nvPr/>
        </p:nvSpPr>
        <p:spPr>
          <a:xfrm>
            <a:off x="1051560" y="277063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factory (yet)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783080" y="2770632"/>
            <a:ext cx="685800" cy="384048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42" name="Text 40"/>
          <p:cNvSpPr/>
          <p:nvPr/>
        </p:nvSpPr>
        <p:spPr>
          <a:xfrm>
            <a:off x="1828800" y="277063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468880" y="2770632"/>
            <a:ext cx="2103120" cy="384048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44" name="Text 42"/>
          <p:cNvSpPr/>
          <p:nvPr/>
        </p:nvSpPr>
        <p:spPr>
          <a:xfrm>
            <a:off x="2514600" y="27706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dealers. 200–300 chargers. 1MW flash charging from Apr 2026.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57200" y="3154680"/>
            <a:ext cx="54864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46" name="Text 44"/>
          <p:cNvSpPr/>
          <p:nvPr/>
        </p:nvSpPr>
        <p:spPr>
          <a:xfrm>
            <a:off x="502920" y="31546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Stellantis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005840" y="3154680"/>
            <a:ext cx="77724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48" name="Text 46"/>
          <p:cNvSpPr/>
          <p:nvPr/>
        </p:nvSpPr>
        <p:spPr>
          <a:xfrm>
            <a:off x="1051560" y="31546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2027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783080" y="3154680"/>
            <a:ext cx="6858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50" name="Text 48"/>
          <p:cNvSpPr/>
          <p:nvPr/>
        </p:nvSpPr>
        <p:spPr>
          <a:xfrm>
            <a:off x="1828800" y="315468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TBC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468880" y="3154680"/>
            <a:ext cx="21031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52" name="Text 50"/>
          <p:cNvSpPr/>
          <p:nvPr/>
        </p:nvSpPr>
        <p:spPr>
          <a:xfrm>
            <a:off x="2514600" y="31546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CKD plant. Product mix finalised end 2025.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754880" y="868680"/>
            <a:ext cx="393192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54" name="Text 52"/>
          <p:cNvSpPr/>
          <p:nvPr/>
        </p:nvSpPr>
        <p:spPr>
          <a:xfrm>
            <a:off x="4846320" y="896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IOCs Exiting SA Retail — Your Opportunity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54880" y="1234440"/>
            <a:ext cx="868680" cy="384048"/>
          </a:xfrm>
          <a:prstGeom prst="rect">
            <a:avLst/>
          </a:prstGeom>
          <a:solidFill>
            <a:srgbClr val="0B3D4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56" name="Text 54"/>
          <p:cNvSpPr/>
          <p:nvPr/>
        </p:nvSpPr>
        <p:spPr>
          <a:xfrm>
            <a:off x="4800600" y="12344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623560" y="1234440"/>
            <a:ext cx="594360" cy="384048"/>
          </a:xfrm>
          <a:prstGeom prst="rect">
            <a:avLst/>
          </a:prstGeom>
          <a:solidFill>
            <a:srgbClr val="0B3D4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58" name="Text 56"/>
          <p:cNvSpPr/>
          <p:nvPr/>
        </p:nvSpPr>
        <p:spPr>
          <a:xfrm>
            <a:off x="5669280" y="12344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217920" y="1234440"/>
            <a:ext cx="868680" cy="384048"/>
          </a:xfrm>
          <a:prstGeom prst="rect">
            <a:avLst/>
          </a:prstGeom>
          <a:solidFill>
            <a:srgbClr val="0B3D4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60" name="Text 58"/>
          <p:cNvSpPr/>
          <p:nvPr/>
        </p:nvSpPr>
        <p:spPr>
          <a:xfrm>
            <a:off x="6263640" y="12344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086600" y="1234440"/>
            <a:ext cx="1600200" cy="384048"/>
          </a:xfrm>
          <a:prstGeom prst="rect">
            <a:avLst/>
          </a:prstGeom>
          <a:solidFill>
            <a:srgbClr val="0B3D4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62" name="Text 60"/>
          <p:cNvSpPr/>
          <p:nvPr/>
        </p:nvSpPr>
        <p:spPr>
          <a:xfrm>
            <a:off x="7132320" y="12344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754880" y="1618488"/>
            <a:ext cx="8686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64" name="Text 62"/>
          <p:cNvSpPr/>
          <p:nvPr/>
        </p:nvSpPr>
        <p:spPr>
          <a:xfrm>
            <a:off x="4800600" y="161848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5623560" y="1618488"/>
            <a:ext cx="5943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66" name="Text 64"/>
          <p:cNvSpPr/>
          <p:nvPr/>
        </p:nvSpPr>
        <p:spPr>
          <a:xfrm>
            <a:off x="5669280" y="16184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217920" y="1618488"/>
            <a:ext cx="8686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68" name="Text 66"/>
          <p:cNvSpPr/>
          <p:nvPr/>
        </p:nvSpPr>
        <p:spPr>
          <a:xfrm>
            <a:off x="6263640" y="161848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selling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7086600" y="1618488"/>
            <a:ext cx="16002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0" name="Text 68"/>
          <p:cNvSpPr/>
          <p:nvPr/>
        </p:nvSpPr>
        <p:spPr>
          <a:xfrm>
            <a:off x="7132320" y="161848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~$1bn / ~R18bn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4754880" y="2002536"/>
            <a:ext cx="868680" cy="384048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2" name="Text 70"/>
          <p:cNvSpPr/>
          <p:nvPr/>
        </p:nvSpPr>
        <p:spPr>
          <a:xfrm>
            <a:off x="4800600" y="200253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Chevron/Caltex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5623560" y="2002536"/>
            <a:ext cx="594360" cy="384048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4" name="Text 72"/>
          <p:cNvSpPr/>
          <p:nvPr/>
        </p:nvSpPr>
        <p:spPr>
          <a:xfrm>
            <a:off x="5669280" y="20025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(Glencore)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6217920" y="2002536"/>
            <a:ext cx="868680" cy="384048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6" name="Text 74"/>
          <p:cNvSpPr/>
          <p:nvPr/>
        </p:nvSpPr>
        <p:spPr>
          <a:xfrm>
            <a:off x="6263640" y="200253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7086600" y="2002536"/>
            <a:ext cx="1600200" cy="384048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8" name="Text 76"/>
          <p:cNvSpPr/>
          <p:nvPr/>
        </p:nvSpPr>
        <p:spPr>
          <a:xfrm>
            <a:off x="7132320" y="200253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by trader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754880" y="2386584"/>
            <a:ext cx="8686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80" name="Text 78"/>
          <p:cNvSpPr/>
          <p:nvPr/>
        </p:nvSpPr>
        <p:spPr>
          <a:xfrm>
            <a:off x="4800600" y="238658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Engen/Vivo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5623560" y="2386584"/>
            <a:ext cx="5943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82" name="Text 80"/>
          <p:cNvSpPr/>
          <p:nvPr/>
        </p:nvSpPr>
        <p:spPr>
          <a:xfrm>
            <a:off x="5669280" y="238658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chain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6217920" y="2386584"/>
            <a:ext cx="8686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84" name="Text 82"/>
          <p:cNvSpPr/>
          <p:nvPr/>
        </p:nvSpPr>
        <p:spPr>
          <a:xfrm>
            <a:off x="6263640" y="238658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2024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7086600" y="2386584"/>
            <a:ext cx="16002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86" name="Text 84"/>
          <p:cNvSpPr/>
          <p:nvPr/>
        </p:nvSpPr>
        <p:spPr>
          <a:xfrm>
            <a:off x="7132320" y="238658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Vitol-backed Vivo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4754880" y="2770632"/>
            <a:ext cx="868680" cy="384048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88" name="Text 86"/>
          <p:cNvSpPr/>
          <p:nvPr/>
        </p:nvSpPr>
        <p:spPr>
          <a:xfrm>
            <a:off x="4800600" y="277063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5623560" y="2770632"/>
            <a:ext cx="594360" cy="384048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90" name="Text 88"/>
          <p:cNvSpPr/>
          <p:nvPr/>
        </p:nvSpPr>
        <p:spPr>
          <a:xfrm>
            <a:off x="5669280" y="27706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6217920" y="2770632"/>
            <a:ext cx="868680" cy="384048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92" name="Text 90"/>
          <p:cNvSpPr/>
          <p:nvPr/>
        </p:nvSpPr>
        <p:spPr>
          <a:xfrm>
            <a:off x="6263640" y="277063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(for now)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7086600" y="2770632"/>
            <a:ext cx="1600200" cy="384048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94" name="Text 92"/>
          <p:cNvSpPr/>
          <p:nvPr/>
        </p:nvSpPr>
        <p:spPr>
          <a:xfrm>
            <a:off x="7132320" y="277063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SA plan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457200" y="3520440"/>
            <a:ext cx="8229600" cy="1417320"/>
          </a:xfrm>
          <a:prstGeom prst="rect">
            <a:avLst/>
          </a:prstGeom>
          <a:solidFill>
            <a:srgbClr val="0B3D4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96" name="Text 94"/>
          <p:cNvSpPr/>
          <p:nvPr/>
        </p:nvSpPr>
        <p:spPr>
          <a:xfrm>
            <a:off x="640080" y="3584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Frame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640080" y="39319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8" name="Text 96"/>
          <p:cNvSpPr/>
          <p:nvPr/>
        </p:nvSpPr>
        <p:spPr>
          <a:xfrm>
            <a:off x="960120" y="3913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OEMs are building ICE &amp; hybrid factories — not EV-only.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640080" y="42245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BAIC, Chery, GWM are assembling petrol/diesel vehicles. SA's EV future is 10–15 years away. These factories need fuel.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3291840" y="39319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01" name="Text 99"/>
          <p:cNvSpPr/>
          <p:nvPr/>
        </p:nvSpPr>
        <p:spPr>
          <a:xfrm>
            <a:off x="3611880" y="3913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IOCs are leaving not because the market is dying — but because it doesn't fit their global strategy.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3291840" y="42245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is exiting 1,000 stations globally by 2026 to focus on LNG &amp; upstream. The SA fuel market (30bn L/yr) is thriving.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5943600" y="39319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04" name="Text 102"/>
          <p:cNvSpPr/>
          <p:nvPr/>
        </p:nvSpPr>
        <p:spPr>
          <a:xfrm>
            <a:off x="6263640" y="3913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IOC retail assets gives you both: today's cash cow and tomorrow's energy platform.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5943600" y="42245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forecourt = future EV hub + solar site + convenience retail. You own the transition, not just the fuel.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3D4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Benchmark: SA vs Comparable Emerging Markets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234440" cy="338328"/>
          </a:xfrm>
          <a:prstGeom prst="rect">
            <a:avLst/>
          </a:prstGeom>
          <a:solidFill>
            <a:srgbClr val="0B3D4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508760" y="1005840"/>
            <a:ext cx="1600200" cy="338328"/>
          </a:xfrm>
          <a:prstGeom prst="rect">
            <a:avLst/>
          </a:prstGeom>
          <a:solidFill>
            <a:srgbClr val="0B3D4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" name="Text 5"/>
          <p:cNvSpPr/>
          <p:nvPr/>
        </p:nvSpPr>
        <p:spPr>
          <a:xfrm>
            <a:off x="1554480" y="1005840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108960" y="1005840"/>
            <a:ext cx="1691640" cy="338328"/>
          </a:xfrm>
          <a:prstGeom prst="rect">
            <a:avLst/>
          </a:prstGeom>
          <a:solidFill>
            <a:srgbClr val="0B3D4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9" name="Text 7"/>
          <p:cNvSpPr/>
          <p:nvPr/>
        </p:nvSpPr>
        <p:spPr>
          <a:xfrm>
            <a:off x="3154680" y="1005840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1600200" cy="338328"/>
          </a:xfrm>
          <a:prstGeom prst="rect">
            <a:avLst/>
          </a:prstGeom>
          <a:solidFill>
            <a:srgbClr val="0B3D4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1" name="Text 9"/>
          <p:cNvSpPr/>
          <p:nvPr/>
        </p:nvSpPr>
        <p:spPr>
          <a:xfrm>
            <a:off x="4846320" y="1005840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00800" y="1005840"/>
            <a:ext cx="1600200" cy="338328"/>
          </a:xfrm>
          <a:prstGeom prst="rect">
            <a:avLst/>
          </a:prstGeom>
          <a:solidFill>
            <a:srgbClr val="0B3D4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3" name="Text 11"/>
          <p:cNvSpPr/>
          <p:nvPr/>
        </p:nvSpPr>
        <p:spPr>
          <a:xfrm>
            <a:off x="6446520" y="1005840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74320" y="1344168"/>
            <a:ext cx="1234440" cy="338328"/>
          </a:xfrm>
          <a:prstGeom prst="rect">
            <a:avLst/>
          </a:prstGeom>
          <a:solidFill>
            <a:srgbClr val="E8F4F4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5" name="Text 13"/>
          <p:cNvSpPr/>
          <p:nvPr/>
        </p:nvSpPr>
        <p:spPr>
          <a:xfrm>
            <a:off x="320040" y="1344168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B3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Sales Share (2025)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508760" y="1344168"/>
            <a:ext cx="1600200" cy="338328"/>
          </a:xfrm>
          <a:prstGeom prst="rect">
            <a:avLst/>
          </a:prstGeom>
          <a:solidFill>
            <a:srgbClr val="E0F7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7" name="Text 15"/>
          <p:cNvSpPr/>
          <p:nvPr/>
        </p:nvSpPr>
        <p:spPr>
          <a:xfrm>
            <a:off x="1554480" y="1344168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~1.2%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108960" y="1344168"/>
            <a:ext cx="169164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9" name="Text 17"/>
          <p:cNvSpPr/>
          <p:nvPr/>
        </p:nvSpPr>
        <p:spPr>
          <a:xfrm>
            <a:off x="3154680" y="1344168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~4% (cars)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800600" y="1344168"/>
            <a:ext cx="160020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1" name="Text 19"/>
          <p:cNvSpPr/>
          <p:nvPr/>
        </p:nvSpPr>
        <p:spPr>
          <a:xfrm>
            <a:off x="4846320" y="1344168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~9%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400800" y="1344168"/>
            <a:ext cx="160020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3" name="Text 21"/>
          <p:cNvSpPr/>
          <p:nvPr/>
        </p:nvSpPr>
        <p:spPr>
          <a:xfrm>
            <a:off x="6446520" y="1344168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~21%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74320" y="1682496"/>
            <a:ext cx="1234440" cy="338328"/>
          </a:xfrm>
          <a:prstGeom prst="rect">
            <a:avLst/>
          </a:prstGeom>
          <a:solidFill>
            <a:srgbClr val="E8F4F4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5" name="Text 23"/>
          <p:cNvSpPr/>
          <p:nvPr/>
        </p:nvSpPr>
        <p:spPr>
          <a:xfrm>
            <a:off x="320040" y="1682496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B3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EV Parc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508760" y="1682496"/>
            <a:ext cx="1600200" cy="338328"/>
          </a:xfrm>
          <a:prstGeom prst="rect">
            <a:avLst/>
          </a:prstGeom>
          <a:solidFill>
            <a:srgbClr val="D4F0F0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7" name="Text 25"/>
          <p:cNvSpPr/>
          <p:nvPr/>
        </p:nvSpPr>
        <p:spPr>
          <a:xfrm>
            <a:off x="1554480" y="1682496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~3,543 (end 2024)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108960" y="1682496"/>
            <a:ext cx="1691640" cy="338328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9" name="Text 27"/>
          <p:cNvSpPr/>
          <p:nvPr/>
        </p:nvSpPr>
        <p:spPr>
          <a:xfrm>
            <a:off x="3154680" y="1682496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~1.97m sold FY25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800600" y="1682496"/>
            <a:ext cx="1600200" cy="338328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31" name="Text 29"/>
          <p:cNvSpPr/>
          <p:nvPr/>
        </p:nvSpPr>
        <p:spPr>
          <a:xfrm>
            <a:off x="4846320" y="1682496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~125k sold 2024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400800" y="1682496"/>
            <a:ext cx="1600200" cy="338328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33" name="Text 31"/>
          <p:cNvSpPr/>
          <p:nvPr/>
        </p:nvSpPr>
        <p:spPr>
          <a:xfrm>
            <a:off x="6446520" y="1682496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 on road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74320" y="2020824"/>
            <a:ext cx="1234440" cy="338328"/>
          </a:xfrm>
          <a:prstGeom prst="rect">
            <a:avLst/>
          </a:prstGeom>
          <a:solidFill>
            <a:srgbClr val="E8F4F4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35" name="Text 33"/>
          <p:cNvSpPr/>
          <p:nvPr/>
        </p:nvSpPr>
        <p:spPr>
          <a:xfrm>
            <a:off x="320040" y="2020824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B3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Chargers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508760" y="2020824"/>
            <a:ext cx="1600200" cy="338328"/>
          </a:xfrm>
          <a:prstGeom prst="rect">
            <a:avLst/>
          </a:prstGeom>
          <a:solidFill>
            <a:srgbClr val="E0F7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37" name="Text 35"/>
          <p:cNvSpPr/>
          <p:nvPr/>
        </p:nvSpPr>
        <p:spPr>
          <a:xfrm>
            <a:off x="1554480" y="2020824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~650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108960" y="2020824"/>
            <a:ext cx="169164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39" name="Text 37"/>
          <p:cNvSpPr/>
          <p:nvPr/>
        </p:nvSpPr>
        <p:spPr>
          <a:xfrm>
            <a:off x="3154680" y="2020824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~29,000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800600" y="2020824"/>
            <a:ext cx="160020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41" name="Text 39"/>
          <p:cNvSpPr/>
          <p:nvPr/>
        </p:nvSpPr>
        <p:spPr>
          <a:xfrm>
            <a:off x="4846320" y="2020824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rapidly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400800" y="2020824"/>
            <a:ext cx="160020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43" name="Text 41"/>
          <p:cNvSpPr/>
          <p:nvPr/>
        </p:nvSpPr>
        <p:spPr>
          <a:xfrm>
            <a:off x="6446520" y="2020824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~3,700+ stations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74320" y="2359152"/>
            <a:ext cx="1234440" cy="338328"/>
          </a:xfrm>
          <a:prstGeom prst="rect">
            <a:avLst/>
          </a:prstGeom>
          <a:solidFill>
            <a:srgbClr val="E8F4F4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45" name="Text 43"/>
          <p:cNvSpPr/>
          <p:nvPr/>
        </p:nvSpPr>
        <p:spPr>
          <a:xfrm>
            <a:off x="320040" y="2359152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B3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Stations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508760" y="2359152"/>
            <a:ext cx="1600200" cy="338328"/>
          </a:xfrm>
          <a:prstGeom prst="rect">
            <a:avLst/>
          </a:prstGeom>
          <a:solidFill>
            <a:srgbClr val="D4F0F0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47" name="Text 45"/>
          <p:cNvSpPr/>
          <p:nvPr/>
        </p:nvSpPr>
        <p:spPr>
          <a:xfrm>
            <a:off x="1554480" y="2359152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6,000+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108960" y="2359152"/>
            <a:ext cx="1691640" cy="338328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49" name="Text 47"/>
          <p:cNvSpPr/>
          <p:nvPr/>
        </p:nvSpPr>
        <p:spPr>
          <a:xfrm>
            <a:off x="3154680" y="2359152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90,000+ retail outlets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800600" y="2359152"/>
            <a:ext cx="1600200" cy="338328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51" name="Text 49"/>
          <p:cNvSpPr/>
          <p:nvPr/>
        </p:nvSpPr>
        <p:spPr>
          <a:xfrm>
            <a:off x="4846320" y="2359152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~42,000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6400800" y="2359152"/>
            <a:ext cx="1600200" cy="338328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53" name="Text 51"/>
          <p:cNvSpPr/>
          <p:nvPr/>
        </p:nvSpPr>
        <p:spPr>
          <a:xfrm>
            <a:off x="6446520" y="2359152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~30,000+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74320" y="2697480"/>
            <a:ext cx="1234440" cy="338328"/>
          </a:xfrm>
          <a:prstGeom prst="rect">
            <a:avLst/>
          </a:prstGeom>
          <a:solidFill>
            <a:srgbClr val="E8F4F4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55" name="Text 53"/>
          <p:cNvSpPr/>
          <p:nvPr/>
        </p:nvSpPr>
        <p:spPr>
          <a:xfrm>
            <a:off x="320040" y="2697480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B3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EV-to-Charger Ratio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1508760" y="2697480"/>
            <a:ext cx="1600200" cy="338328"/>
          </a:xfrm>
          <a:prstGeom prst="rect">
            <a:avLst/>
          </a:prstGeom>
          <a:solidFill>
            <a:srgbClr val="E0F7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57" name="Text 55"/>
          <p:cNvSpPr/>
          <p:nvPr/>
        </p:nvSpPr>
        <p:spPr>
          <a:xfrm>
            <a:off x="1554480" y="2697480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~5:1 (tiny parc)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3108960" y="2697480"/>
            <a:ext cx="169164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59" name="Text 57"/>
          <p:cNvSpPr/>
          <p:nvPr/>
        </p:nvSpPr>
        <p:spPr>
          <a:xfrm>
            <a:off x="3154680" y="2697480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1:235 (undersupplied)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4800600" y="2697480"/>
            <a:ext cx="160020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61" name="Text 59"/>
          <p:cNvSpPr/>
          <p:nvPr/>
        </p:nvSpPr>
        <p:spPr>
          <a:xfrm>
            <a:off x="4846320" y="2697480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stage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6400800" y="2697480"/>
            <a:ext cx="160020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63" name="Text 61"/>
          <p:cNvSpPr/>
          <p:nvPr/>
        </p:nvSpPr>
        <p:spPr>
          <a:xfrm>
            <a:off x="6446520" y="2697480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~27:1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274320" y="3035808"/>
            <a:ext cx="1234440" cy="338328"/>
          </a:xfrm>
          <a:prstGeom prst="rect">
            <a:avLst/>
          </a:prstGeom>
          <a:solidFill>
            <a:srgbClr val="E8F4F4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65" name="Text 63"/>
          <p:cNvSpPr/>
          <p:nvPr/>
        </p:nvSpPr>
        <p:spPr>
          <a:xfrm>
            <a:off x="320040" y="3035808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B3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Activity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1508760" y="3035808"/>
            <a:ext cx="1600200" cy="338328"/>
          </a:xfrm>
          <a:prstGeom prst="rect">
            <a:avLst/>
          </a:prstGeom>
          <a:solidFill>
            <a:srgbClr val="D4F0F0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67" name="Text 65"/>
          <p:cNvSpPr/>
          <p:nvPr/>
        </p:nvSpPr>
        <p:spPr>
          <a:xfrm>
            <a:off x="1554480" y="3035808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exiting, Chevron sold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3108960" y="3035808"/>
            <a:ext cx="1691640" cy="338328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69" name="Text 67"/>
          <p:cNvSpPr/>
          <p:nvPr/>
        </p:nvSpPr>
        <p:spPr>
          <a:xfrm>
            <a:off x="3154680" y="3035808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OMCs adding EV to pumps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4800600" y="3035808"/>
            <a:ext cx="1600200" cy="338328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1" name="Text 69"/>
          <p:cNvSpPr/>
          <p:nvPr/>
        </p:nvSpPr>
        <p:spPr>
          <a:xfrm>
            <a:off x="4846320" y="3035808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IOCs investing in flex-fuel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6400800" y="3035808"/>
            <a:ext cx="1600200" cy="338328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3" name="Text 71"/>
          <p:cNvSpPr/>
          <p:nvPr/>
        </p:nvSpPr>
        <p:spPr>
          <a:xfrm>
            <a:off x="6446520" y="3035808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PTT leads EV charging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274320" y="3374136"/>
            <a:ext cx="1234440" cy="338328"/>
          </a:xfrm>
          <a:prstGeom prst="rect">
            <a:avLst/>
          </a:prstGeom>
          <a:solidFill>
            <a:srgbClr val="E8F4F4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5" name="Text 73"/>
          <p:cNvSpPr/>
          <p:nvPr/>
        </p:nvSpPr>
        <p:spPr>
          <a:xfrm>
            <a:off x="320040" y="3374136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B3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OEM Factories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1508760" y="3374136"/>
            <a:ext cx="1600200" cy="338328"/>
          </a:xfrm>
          <a:prstGeom prst="rect">
            <a:avLst/>
          </a:prstGeom>
          <a:solidFill>
            <a:srgbClr val="E0F7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7" name="Text 75"/>
          <p:cNvSpPr/>
          <p:nvPr/>
        </p:nvSpPr>
        <p:spPr>
          <a:xfrm>
            <a:off x="1554480" y="3374136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BAIC, Chery, GWM in talks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3108960" y="3374136"/>
            <a:ext cx="169164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9" name="Text 77"/>
          <p:cNvSpPr/>
          <p:nvPr/>
        </p:nvSpPr>
        <p:spPr>
          <a:xfrm>
            <a:off x="3154680" y="3374136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BYD, MG, others active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800600" y="3374136"/>
            <a:ext cx="160020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81" name="Text 79"/>
          <p:cNvSpPr/>
          <p:nvPr/>
        </p:nvSpPr>
        <p:spPr>
          <a:xfrm>
            <a:off x="4846320" y="3374136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BYD &amp; GWM building plants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6400800" y="3374136"/>
            <a:ext cx="160020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83" name="Text 81"/>
          <p:cNvSpPr/>
          <p:nvPr/>
        </p:nvSpPr>
        <p:spPr>
          <a:xfrm>
            <a:off x="6446520" y="3374136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BYD, GWM, Changan producing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274320" y="3712464"/>
            <a:ext cx="1234440" cy="338328"/>
          </a:xfrm>
          <a:prstGeom prst="rect">
            <a:avLst/>
          </a:prstGeom>
          <a:solidFill>
            <a:srgbClr val="E8F4F4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85" name="Text 83"/>
          <p:cNvSpPr/>
          <p:nvPr/>
        </p:nvSpPr>
        <p:spPr>
          <a:xfrm>
            <a:off x="320040" y="3712464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B3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Reliability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1508760" y="3712464"/>
            <a:ext cx="1600200" cy="338328"/>
          </a:xfrm>
          <a:prstGeom prst="rect">
            <a:avLst/>
          </a:prstGeom>
          <a:solidFill>
            <a:srgbClr val="D4F0F0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87" name="Text 85"/>
          <p:cNvSpPr/>
          <p:nvPr/>
        </p:nvSpPr>
        <p:spPr>
          <a:xfrm>
            <a:off x="1554480" y="3712464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(308 days stable)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3108960" y="3712464"/>
            <a:ext cx="1691640" cy="338328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89" name="Text 87"/>
          <p:cNvSpPr/>
          <p:nvPr/>
        </p:nvSpPr>
        <p:spPr>
          <a:xfrm>
            <a:off x="3154680" y="3712464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stable, rural gaps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4800600" y="3712464"/>
            <a:ext cx="1600200" cy="338328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91" name="Text 89"/>
          <p:cNvSpPr/>
          <p:nvPr/>
        </p:nvSpPr>
        <p:spPr>
          <a:xfrm>
            <a:off x="4846320" y="3712464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(hydro-heavy)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6400800" y="3712464"/>
            <a:ext cx="1600200" cy="338328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93" name="Text 91"/>
          <p:cNvSpPr/>
          <p:nvPr/>
        </p:nvSpPr>
        <p:spPr>
          <a:xfrm>
            <a:off x="6446520" y="3712464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274320" y="4050792"/>
            <a:ext cx="1234440" cy="338328"/>
          </a:xfrm>
          <a:prstGeom prst="rect">
            <a:avLst/>
          </a:prstGeom>
          <a:solidFill>
            <a:srgbClr val="E8F4F4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95" name="Text 93"/>
          <p:cNvSpPr/>
          <p:nvPr/>
        </p:nvSpPr>
        <p:spPr>
          <a:xfrm>
            <a:off x="320040" y="4050792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B3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EV Target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1508760" y="4050792"/>
            <a:ext cx="1600200" cy="338328"/>
          </a:xfrm>
          <a:prstGeom prst="rect">
            <a:avLst/>
          </a:prstGeom>
          <a:solidFill>
            <a:srgbClr val="E0F7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97" name="Text 95"/>
          <p:cNvSpPr/>
          <p:nvPr/>
        </p:nvSpPr>
        <p:spPr>
          <a:xfrm>
            <a:off x="1554480" y="4050792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by 2030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3108960" y="4050792"/>
            <a:ext cx="169164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99" name="Text 97"/>
          <p:cNvSpPr/>
          <p:nvPr/>
        </p:nvSpPr>
        <p:spPr>
          <a:xfrm>
            <a:off x="3154680" y="4050792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by 2030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4800600" y="4050792"/>
            <a:ext cx="160020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01" name="Text 99"/>
          <p:cNvSpPr/>
          <p:nvPr/>
        </p:nvSpPr>
        <p:spPr>
          <a:xfrm>
            <a:off x="4846320" y="4050792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ban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6400800" y="4050792"/>
            <a:ext cx="160020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03" name="Text 101"/>
          <p:cNvSpPr/>
          <p:nvPr/>
        </p:nvSpPr>
        <p:spPr>
          <a:xfrm>
            <a:off x="6446520" y="4050792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production by 2030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solidFill>
            <a:srgbClr val="0B3D4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05" name="Text 103"/>
          <p:cNvSpPr/>
          <p:nvPr/>
        </p:nvSpPr>
        <p:spPr>
          <a:xfrm>
            <a:off x="457200" y="44622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is 5-10 years behind India, Brazil &amp; Thailand on EV adoption — but those markets prove the playbook: fuel retail stays dominant for years while the transition builds. India's OMCs are adding EV chargers to existing fuel stations. PTT (Thailand's state oil co.) leads EV charging with 30% market share. The message: own the forecourt, own the transition.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D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7432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Isn't Crazy — It's First-Mover Advantage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371600" y="17373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IOCs retreat from SA, you're acquiring the infrastructure that will power both today's fuel economy and tomorrow's electric one.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31520" y="2468880"/>
            <a:ext cx="2286000" cy="196596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6" name="Text 3"/>
          <p:cNvSpPr/>
          <p:nvPr/>
        </p:nvSpPr>
        <p:spPr>
          <a:xfrm>
            <a:off x="868680" y="2560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234440" y="25420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 of Fuel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Secured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consumes 30bn litres/yr with 1.3% CAGR. Only 3,543 EVs exist vs 12.5m+ registered vehicles. Fuel demand is not peaking for 20+ years.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37560" y="2468880"/>
            <a:ext cx="2286000" cy="196596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0" name="Text 7"/>
          <p:cNvSpPr/>
          <p:nvPr/>
        </p:nvSpPr>
        <p:spPr>
          <a:xfrm>
            <a:off x="3474720" y="2560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840480" y="25420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at IOC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Prices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74720" y="30175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Shell: ~600 stations for ~$1bn. Chevron already sold to Glencore. IOCs exit for strategic reasons, not market weakness. You buy low, earn long.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0" y="2468880"/>
            <a:ext cx="2286000" cy="196596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4" name="Text 11"/>
          <p:cNvSpPr/>
          <p:nvPr/>
        </p:nvSpPr>
        <p:spPr>
          <a:xfrm>
            <a:off x="6080760" y="2560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46520" y="25420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Future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Platform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80760" y="30175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6,000+ forecourts vs ~650 EV chargers. Every site is a future dual-fuel hub, solar installation &amp; convenience destination. You own the transition.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1044</Words>
  <Application>Microsoft Office PowerPoint</Application>
  <PresentationFormat>On-screen Show (16:9)</PresentationFormat>
  <Paragraphs>211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 Electrification Challenge — South Africa</dc:title>
  <dc:subject>PptxGenJS Presentation</dc:subject>
  <dc:creator>PptxGenJS</dc:creator>
  <cp:lastModifiedBy>Nigel Zhuwaki</cp:lastModifiedBy>
  <cp:revision>1</cp:revision>
  <dcterms:created xsi:type="dcterms:W3CDTF">2026-03-24T17:22:57Z</dcterms:created>
  <dcterms:modified xsi:type="dcterms:W3CDTF">2026-03-24T20:02:40Z</dcterms:modified>
</cp:coreProperties>
</file>