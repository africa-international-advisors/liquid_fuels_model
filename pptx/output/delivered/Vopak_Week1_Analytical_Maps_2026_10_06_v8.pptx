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57" r:id="rId6"/>
    <p:sldId id="258" r:id="rId5"/>
    <p:sldId id="259" r:id="rId16"/>
    <p:sldId id="260" r:id="rId17"/>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4.xml"/><Relationship Id="rId17"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Locate fuel demand alongside the infrastructure serving it</a:t>
            </a:r>
          </a:p>
        </p:txBody>
      </p:sp>
      <p:sp>
        <p:nvSpPr>
          <p:cNvPr id="3" name="Slide Number Placeholder"/>
          <p:cNvSpPr>
            <a:spLocks noGrp="1"/>
          </p:cNvSpPr>
          <p:nvPr>
            <p:ph type="sldNum" sz="quarter" idx="12"/>
          </p:nvPr>
        </p:nvSpPr>
        <p:spPr/>
        <p:txBody>
          <a:bodyPr/>
          <a:lstStyle/>
          <a:p>
            <a:fld id="{CBC9F7BE-F0F7-498A-9A35-8AEA79A2BE31}"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Natural Earth 1:50m; kickoff appendix / schematic networks; illustrative regional CSV.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Infrastructure and regional demand | illustrative,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Seven infrastructure layers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Production, pipes, ports, roads, rail, storage and corridors establish the physical context.</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Demand volumes are illustrative</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Inland demand is 10.0 bn litres; eastern/coastal demand is 4.5 bn litres. These are example volumes.</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Durban–Lesedi links the markets</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Link coastal receipts, inland transfers and final deliveries without counting the same fuel twice.</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Proximity does not establish access</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Routes, compatible capacity, delivered cost, contracts and competitors determine reachable demand.</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TextBox 500"/>
          <p:cNvSpPr txBox="1"/>
          <p:nvPr/>
        </p:nvSpPr>
        <p:spPr>
          <a:xfrm>
            <a:off x="3425351" y="3613528"/>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00000"/>
                </a:solidFill>
                <a:latin typeface="Lato"/>
              </a:defRPr>
            </a:pPr>
            <a:r>
              <a:t>NATREF</a:t>
            </a:r>
          </a:p>
        </p:txBody>
      </p:sp>
      <p:sp>
        <p:nvSpPr>
          <p:cNvPr id="502" name="Oval 501"/>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TextBox 502"/>
          <p:cNvSpPr txBox="1"/>
          <p:nvPr/>
        </p:nvSpPr>
        <p:spPr>
          <a:xfrm>
            <a:off x="4772609" y="3007225"/>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00000"/>
                </a:solidFill>
                <a:latin typeface="Lato"/>
              </a:defRPr>
            </a:pPr>
            <a:r>
              <a:t>Sasol CTL</a:t>
            </a:r>
          </a:p>
        </p:txBody>
      </p:sp>
      <p:sp>
        <p:nvSpPr>
          <p:cNvPr id="504" name="Oval 503"/>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TextBox 504"/>
          <p:cNvSpPr txBox="1"/>
          <p:nvPr/>
        </p:nvSpPr>
        <p:spPr>
          <a:xfrm>
            <a:off x="1497779" y="5103093"/>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00000"/>
                </a:solidFill>
                <a:latin typeface="Lato"/>
              </a:defRPr>
            </a:pPr>
            <a:r>
              <a:t>Astron</a:t>
            </a:r>
          </a:p>
        </p:txBody>
      </p:sp>
      <p:sp>
        <p:nvSpPr>
          <p:cNvPr id="506" name="Oval 505"/>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TextBox 508"/>
          <p:cNvSpPr txBox="1"/>
          <p:nvPr/>
        </p:nvSpPr>
        <p:spPr>
          <a:xfrm>
            <a:off x="2393636" y="5397876"/>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A0A0A0"/>
                </a:solidFill>
                <a:latin typeface="Lato"/>
              </a:defRPr>
            </a:pPr>
            <a:r>
              <a:t>Cape Town</a:t>
            </a:r>
          </a:p>
        </p:txBody>
      </p:sp>
      <p:sp>
        <p:nvSpPr>
          <p:cNvPr id="510" name="Rectangle 509"/>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TextBox 511"/>
          <p:cNvSpPr txBox="1"/>
          <p:nvPr/>
        </p:nvSpPr>
        <p:spPr>
          <a:xfrm>
            <a:off x="3930173" y="5370712"/>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A0A0A0"/>
                </a:solidFill>
                <a:latin typeface="Lato"/>
              </a:defRPr>
            </a:pPr>
            <a:r>
              <a:t>Gqeberha</a:t>
            </a:r>
          </a:p>
        </p:txBody>
      </p:sp>
      <p:sp>
        <p:nvSpPr>
          <p:cNvPr id="513" name="Rectangle 512"/>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Rectangle 513"/>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Rectangle 514"/>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Rectangle 515"/>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TextBox 516"/>
          <p:cNvSpPr txBox="1"/>
          <p:nvPr/>
        </p:nvSpPr>
        <p:spPr>
          <a:xfrm>
            <a:off x="5384358" y="4097833"/>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A0A0A0"/>
                </a:solidFill>
                <a:latin typeface="Lato"/>
              </a:defRPr>
            </a:pPr>
            <a:r>
              <a:t>Richards Bay</a:t>
            </a:r>
          </a:p>
        </p:txBody>
      </p:sp>
      <p:sp>
        <p:nvSpPr>
          <p:cNvPr id="518" name="Diamond 517"/>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TextBox 518"/>
          <p:cNvSpPr txBox="1"/>
          <p:nvPr/>
        </p:nvSpPr>
        <p:spPr>
          <a:xfrm>
            <a:off x="5166221" y="4169192"/>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Durban</a:t>
            </a:r>
          </a:p>
        </p:txBody>
      </p:sp>
      <p:sp>
        <p:nvSpPr>
          <p:cNvPr id="520" name="Diamond 519"/>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TextBox 520"/>
          <p:cNvSpPr txBox="1"/>
          <p:nvPr/>
        </p:nvSpPr>
        <p:spPr>
          <a:xfrm>
            <a:off x="4603291" y="3266119"/>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Lesedi*</a:t>
            </a:r>
          </a:p>
        </p:txBody>
      </p:sp>
      <p:sp>
        <p:nvSpPr>
          <p:cNvPr id="522" name="Oval 521"/>
          <p:cNvSpPr/>
          <p:nvPr/>
        </p:nvSpPr>
        <p:spPr>
          <a:xfrm>
            <a:off x="4652770" y="4384848"/>
            <a:ext cx="310357" cy="310357"/>
          </a:xfrm>
          <a:prstGeom prst="ellipse">
            <a:avLst/>
          </a:prstGeom>
          <a:noFill/>
          <a:ln w="12700">
            <a:solidFill>
              <a:srgbClr val="546C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TextBox 522"/>
          <p:cNvSpPr txBox="1"/>
          <p:nvPr/>
        </p:nvSpPr>
        <p:spPr>
          <a:xfrm>
            <a:off x="4030709" y="4695475"/>
            <a:ext cx="1417320" cy="438912"/>
          </a:xfrm>
          <a:prstGeom prst="rect">
            <a:avLst/>
          </a:prstGeom>
          <a:solidFill>
            <a:srgbClr val="FFFFFF"/>
          </a:solidFill>
        </p:spPr>
        <p:txBody>
          <a:bodyPr wrap="square" lIns="22860" rIns="22860" tIns="0" bIns="0">
            <a:spAutoFit/>
          </a:bodyPr>
          <a:lstStyle/>
          <a:p>
            <a:pPr>
              <a:spcAft>
                <a:spcPts val="300"/>
              </a:spcAft>
              <a:defRPr sz="1100" b="1">
                <a:solidFill>
                  <a:srgbClr val="546CA2"/>
                </a:solidFill>
                <a:latin typeface="Lato"/>
              </a:defRPr>
            </a:pPr>
            <a:r>
              <a:t>Eastern / coastal</a:t>
            </a:r>
          </a:p>
          <a:p>
            <a:pPr>
              <a:spcAft>
                <a:spcPts val="300"/>
              </a:spcAft>
              <a:defRPr sz="1100" b="1">
                <a:solidFill>
                  <a:srgbClr val="546CA2"/>
                </a:solidFill>
                <a:latin typeface="Lato"/>
              </a:defRPr>
            </a:pPr>
            <a:r>
              <a:t>4.5 bn L</a:t>
            </a:r>
          </a:p>
        </p:txBody>
      </p:sp>
      <p:sp>
        <p:nvSpPr>
          <p:cNvPr id="524" name="Oval 523"/>
          <p:cNvSpPr/>
          <p:nvPr/>
        </p:nvSpPr>
        <p:spPr>
          <a:xfrm>
            <a:off x="3939000" y="2806013"/>
            <a:ext cx="462653" cy="462653"/>
          </a:xfrm>
          <a:prstGeom prst="ellipse">
            <a:avLst/>
          </a:prstGeom>
          <a:noFill/>
          <a:ln w="12700">
            <a:solidFill>
              <a:srgbClr val="546C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TextBox 524"/>
          <p:cNvSpPr txBox="1"/>
          <p:nvPr/>
        </p:nvSpPr>
        <p:spPr>
          <a:xfrm>
            <a:off x="3073047" y="2561852"/>
            <a:ext cx="1417320" cy="438912"/>
          </a:xfrm>
          <a:prstGeom prst="rect">
            <a:avLst/>
          </a:prstGeom>
          <a:solidFill>
            <a:srgbClr val="FFFFFF"/>
          </a:solidFill>
        </p:spPr>
        <p:txBody>
          <a:bodyPr wrap="square" lIns="22860" rIns="22860" tIns="0" bIns="0">
            <a:spAutoFit/>
          </a:bodyPr>
          <a:lstStyle/>
          <a:p>
            <a:pPr>
              <a:spcAft>
                <a:spcPts val="300"/>
              </a:spcAft>
              <a:defRPr sz="1100" b="1">
                <a:solidFill>
                  <a:srgbClr val="546CA2"/>
                </a:solidFill>
                <a:latin typeface="Lato"/>
              </a:defRPr>
            </a:pPr>
            <a:r>
              <a:t>Inland</a:t>
            </a:r>
          </a:p>
          <a:p>
            <a:pPr>
              <a:spcAft>
                <a:spcPts val="300"/>
              </a:spcAft>
              <a:defRPr sz="1100" b="1">
                <a:solidFill>
                  <a:srgbClr val="546CA2"/>
                </a:solidFill>
                <a:latin typeface="Lato"/>
              </a:defRPr>
            </a:pPr>
            <a:r>
              <a:t>10.0 bn L</a:t>
            </a:r>
          </a:p>
        </p:txBody>
      </p:sp>
      <p:sp>
        <p:nvSpPr>
          <p:cNvPr id="526" name="Oval 525"/>
          <p:cNvSpPr/>
          <p:nvPr/>
        </p:nvSpPr>
        <p:spPr>
          <a:xfrm>
            <a:off x="2496543" y="4853062"/>
            <a:ext cx="292608" cy="292608"/>
          </a:xfrm>
          <a:prstGeom prst="ellipse">
            <a:avLst/>
          </a:prstGeom>
          <a:noFill/>
          <a:ln w="12700">
            <a:solidFill>
              <a:srgbClr val="546C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2277087" y="4405006"/>
            <a:ext cx="1417320" cy="438912"/>
          </a:xfrm>
          <a:prstGeom prst="rect">
            <a:avLst/>
          </a:prstGeom>
          <a:solidFill>
            <a:srgbClr val="FFFFFF"/>
          </a:solidFill>
        </p:spPr>
        <p:txBody>
          <a:bodyPr wrap="square" lIns="22860" rIns="22860" tIns="0" bIns="0">
            <a:spAutoFit/>
          </a:bodyPr>
          <a:lstStyle/>
          <a:p>
            <a:pPr>
              <a:spcAft>
                <a:spcPts val="300"/>
              </a:spcAft>
              <a:defRPr sz="1100" b="1">
                <a:solidFill>
                  <a:srgbClr val="546CA2"/>
                </a:solidFill>
                <a:latin typeface="Lato"/>
              </a:defRPr>
            </a:pPr>
            <a:r>
              <a:t>Western / coastal</a:t>
            </a:r>
          </a:p>
          <a:p>
            <a:pPr>
              <a:spcAft>
                <a:spcPts val="300"/>
              </a:spcAft>
              <a:defRPr sz="1100" b="1">
                <a:solidFill>
                  <a:srgbClr val="546CA2"/>
                </a:solidFill>
                <a:latin typeface="Lato"/>
              </a:defRPr>
            </a:pPr>
            <a:r>
              <a:t>4.0 bn L</a:t>
            </a:r>
          </a:p>
        </p:txBody>
      </p:sp>
      <p:sp>
        <p:nvSpPr>
          <p:cNvPr id="528" name="Oval 527"/>
          <p:cNvSpPr/>
          <p:nvPr/>
        </p:nvSpPr>
        <p:spPr>
          <a:xfrm>
            <a:off x="3297707" y="4069881"/>
            <a:ext cx="231326" cy="231326"/>
          </a:xfrm>
          <a:prstGeom prst="ellipse">
            <a:avLst/>
          </a:prstGeom>
          <a:noFill/>
          <a:ln w="12700">
            <a:solidFill>
              <a:srgbClr val="546C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1813170" y="3655193"/>
            <a:ext cx="1417320" cy="438912"/>
          </a:xfrm>
          <a:prstGeom prst="rect">
            <a:avLst/>
          </a:prstGeom>
          <a:solidFill>
            <a:srgbClr val="FFFFFF"/>
          </a:solidFill>
        </p:spPr>
        <p:txBody>
          <a:bodyPr wrap="square" lIns="22860" rIns="22860" tIns="0" bIns="0">
            <a:spAutoFit/>
          </a:bodyPr>
          <a:lstStyle/>
          <a:p>
            <a:pPr>
              <a:spcAft>
                <a:spcPts val="300"/>
              </a:spcAft>
              <a:defRPr sz="1100" b="1">
                <a:solidFill>
                  <a:srgbClr val="546CA2"/>
                </a:solidFill>
                <a:latin typeface="Lato"/>
              </a:defRPr>
            </a:pPr>
            <a:r>
              <a:t>Other regions</a:t>
            </a:r>
          </a:p>
          <a:p>
            <a:pPr>
              <a:spcAft>
                <a:spcPts val="300"/>
              </a:spcAft>
              <a:defRPr sz="1100" b="1">
                <a:solidFill>
                  <a:srgbClr val="546CA2"/>
                </a:solidFill>
                <a:latin typeface="Lato"/>
              </a:defRPr>
            </a:pPr>
            <a:r>
              <a:t>2.5 bn L</a:t>
            </a:r>
          </a:p>
        </p:txBody>
      </p:sp>
      <p:sp>
        <p:nvSpPr>
          <p:cNvPr id="530" name="Oval 529"/>
          <p:cNvSpPr/>
          <p:nvPr/>
        </p:nvSpPr>
        <p:spPr>
          <a:xfrm>
            <a:off x="507492" y="59664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TextBox 530"/>
          <p:cNvSpPr txBox="1"/>
          <p:nvPr/>
        </p:nvSpPr>
        <p:spPr>
          <a:xfrm>
            <a:off x="658368" y="5907024"/>
            <a:ext cx="12801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Production</a:t>
            </a:r>
          </a:p>
        </p:txBody>
      </p:sp>
      <p:sp>
        <p:nvSpPr>
          <p:cNvPr id="532" name="Rectangle 531"/>
          <p:cNvSpPr/>
          <p:nvPr/>
        </p:nvSpPr>
        <p:spPr>
          <a:xfrm>
            <a:off x="1787652" y="5966460"/>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TextBox 532"/>
          <p:cNvSpPr txBox="1"/>
          <p:nvPr/>
        </p:nvSpPr>
        <p:spPr>
          <a:xfrm>
            <a:off x="1938528" y="5907024"/>
            <a:ext cx="12801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Port</a:t>
            </a:r>
          </a:p>
        </p:txBody>
      </p:sp>
      <p:sp>
        <p:nvSpPr>
          <p:cNvPr id="534" name="Diamond 533"/>
          <p:cNvSpPr/>
          <p:nvPr/>
        </p:nvSpPr>
        <p:spPr>
          <a:xfrm>
            <a:off x="2674620" y="59664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TextBox 534"/>
          <p:cNvSpPr txBox="1"/>
          <p:nvPr/>
        </p:nvSpPr>
        <p:spPr>
          <a:xfrm>
            <a:off x="2825496" y="5907024"/>
            <a:ext cx="12801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Vopak storage*</a:t>
            </a:r>
          </a:p>
        </p:txBody>
      </p:sp>
      <p:cxnSp>
        <p:nvCxnSpPr>
          <p:cNvPr id="536" name="Connector 535"/>
          <p:cNvCxnSpPr/>
          <p:nvPr/>
        </p:nvCxnSpPr>
        <p:spPr>
          <a:xfrm>
            <a:off x="502920" y="6236208"/>
            <a:ext cx="256032" cy="0"/>
          </a:xfrm>
          <a:prstGeom prst="line">
            <a:avLst/>
          </a:prstGeom>
          <a:ln w="12700">
            <a:solidFill>
              <a:srgbClr val="A0A0A0"/>
            </a:solidFill>
          </a:ln>
        </p:spPr>
        <p:style>
          <a:lnRef idx="2">
            <a:schemeClr val="accent1"/>
          </a:lnRef>
          <a:fillRef idx="0">
            <a:schemeClr val="accent1"/>
          </a:fillRef>
          <a:effectRef idx="1">
            <a:schemeClr val="accent1"/>
          </a:effectRef>
          <a:fontRef idx="minor">
            <a:schemeClr val="tx1"/>
          </a:fontRef>
        </p:style>
      </p:cxnSp>
      <p:sp>
        <p:nvSpPr>
          <p:cNvPr id="537" name="TextBox 536"/>
          <p:cNvSpPr txBox="1"/>
          <p:nvPr/>
        </p:nvSpPr>
        <p:spPr>
          <a:xfrm>
            <a:off x="813816" y="6135624"/>
            <a:ext cx="91440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Road</a:t>
            </a:r>
          </a:p>
        </p:txBody>
      </p:sp>
      <p:cxnSp>
        <p:nvCxnSpPr>
          <p:cNvPr id="538" name="Connector 537"/>
          <p:cNvCxnSpPr/>
          <p:nvPr/>
        </p:nvCxnSpPr>
        <p:spPr>
          <a:xfrm>
            <a:off x="1783080" y="6236208"/>
            <a:ext cx="256032" cy="0"/>
          </a:xfrm>
          <a:prstGeom prst="line">
            <a:avLst/>
          </a:prstGeom>
          <a:ln w="12700">
            <a:solidFill>
              <a:srgbClr val="546CA2"/>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2093976" y="6135624"/>
            <a:ext cx="91440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Product pipe</a:t>
            </a:r>
          </a:p>
        </p:txBody>
      </p:sp>
      <p:cxnSp>
        <p:nvCxnSpPr>
          <p:cNvPr id="540" name="Connector 539"/>
          <p:cNvCxnSpPr/>
          <p:nvPr/>
        </p:nvCxnSpPr>
        <p:spPr>
          <a:xfrm>
            <a:off x="3429000" y="6236208"/>
            <a:ext cx="256032" cy="0"/>
          </a:xfrm>
          <a:prstGeom prst="line">
            <a:avLst/>
          </a:prstGeom>
          <a:ln w="12700">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541" name="TextBox 540"/>
          <p:cNvSpPr txBox="1"/>
          <p:nvPr/>
        </p:nvSpPr>
        <p:spPr>
          <a:xfrm>
            <a:off x="3739896" y="6135624"/>
            <a:ext cx="91440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Rail</a:t>
            </a:r>
          </a:p>
        </p:txBody>
      </p:sp>
      <p:sp>
        <p:nvSpPr>
          <p:cNvPr id="542" name="TextBox 541"/>
          <p:cNvSpPr txBox="1"/>
          <p:nvPr/>
        </p:nvSpPr>
        <p:spPr>
          <a:xfrm>
            <a:off x="457200" y="6364224"/>
            <a:ext cx="6492240" cy="146304"/>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Marker area = illustrative demand. Not a catchment boundary.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Map conditional market access from Durban and Lesedi</a:t>
            </a:r>
          </a:p>
        </p:txBody>
      </p:sp>
      <p:sp>
        <p:nvSpPr>
          <p:cNvPr id="3" name="Slide Number Placeholder"/>
          <p:cNvSpPr>
            <a:spLocks noGrp="1"/>
          </p:cNvSpPr>
          <p:nvPr>
            <p:ph type="sldNum" sz="quarter" idx="12"/>
          </p:nvPr>
        </p:nvSpPr>
        <p:spPr/>
        <p:txBody>
          <a:bodyPr/>
          <a:lstStyle/>
          <a:p>
            <a:fld id="{A978CAEA-42AC-4C09-A858-DC096CF056D2}"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Road-delivery accessibility | illustrative transport cost, R/litre</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Durban: coastal and inland links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Road candidates connect coastal customers and inland transfers. Pipelines are separate supply connections.</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Lesedi: inland dispatch</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receipt, dispatch, tanker cycles and customer destinations for connected inland markets.</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Lower cost means higher accessibility</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Darker cells show lower example road-delivery cost from either facility. Pipe and rail lines remain context.</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Customer access is unverified</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Contracts and competitors define the commercial envelope. Actual customer catchments are not supplied.</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1.75–2.25</a:t>
            </a:r>
          </a:p>
        </p:txBody>
      </p:sp>
      <p:sp>
        <p:nvSpPr>
          <p:cNvPr id="553" name="Rectangle 552"/>
          <p:cNvSpPr/>
          <p:nvPr/>
        </p:nvSpPr>
        <p:spPr>
          <a:xfrm>
            <a:off x="4238243"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&gt;2.25</a:t>
            </a:r>
          </a:p>
        </p:txBody>
      </p:sp>
      <p:sp>
        <p:nvSpPr>
          <p:cNvPr id="555" name="TextBox 554"/>
          <p:cNvSpPr txBox="1"/>
          <p:nvPr/>
        </p:nvSpPr>
        <p:spPr>
          <a:xfrm>
            <a:off x="6254496" y="5916168"/>
            <a:ext cx="64008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R/litre</a:t>
            </a:r>
          </a:p>
        </p:txBody>
      </p:sp>
      <p:sp>
        <p:nvSpPr>
          <p:cNvPr id="556" name="TextBox 555"/>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7" name="TextBox 556"/>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sp>
        <p:nvSpPr>
          <p:cNvPr id="2521" name="Rectangle 2520"/>
          <p:cNvSpPr/>
          <p:nvPr/>
        </p:nvSpPr>
        <p:spPr>
          <a:xfrm>
            <a:off x="5253228" y="5966460"/>
            <a:ext cx="100584" cy="100584"/>
          </a:xfrm>
          <a:prstGeom prst="rect">
            <a:avLst/>
          </a:prstGeom>
          <a:solidFill>
            <a:srgbClr val="EEEEE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2" name="TextBox 2521"/>
          <p:cNvSpPr txBox="1"/>
          <p:nvPr/>
        </p:nvSpPr>
        <p:spPr>
          <a:xfrm>
            <a:off x="5431536" y="5916168"/>
            <a:ext cx="731520" cy="201168"/>
          </a:xfrm>
          <a:prstGeom prst="rect">
            <a:avLst/>
          </a:prstGeom>
          <a:noFill/>
        </p:spPr>
        <p:txBody>
          <a:bodyPr wrap="none" lIns="22860" rIns="22860" tIns="0" bIns="0">
            <a:spAutoFit/>
          </a:bodyPr>
          <a:lstStyle/>
          <a:p>
            <a:pPr>
              <a:defRPr sz="800">
                <a:solidFill>
                  <a:srgbClr val="000000"/>
                </a:solidFill>
                <a:latin typeface="Lato"/>
              </a:defRPr>
            </a:pPr>
            <a:r>
              <a:t>Unassessed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Separate demand, accessible volume and Vopak flows</a:t>
            </a:r>
          </a:p>
        </p:txBody>
      </p:sp>
      <p:sp>
        <p:nvSpPr>
          <p:cNvPr id="3" name="Slide Number Placeholder"/>
          <p:cNvSpPr>
            <a:spLocks noGrp="1"/>
          </p:cNvSpPr>
          <p:nvPr>
            <p:ph type="sldNum" sz="quarter" idx="12"/>
          </p:nvPr>
        </p:nvSpPr>
        <p:spPr/>
        <p:txBody>
          <a:bodyPr/>
          <a:lstStyle/>
          <a:p>
            <a:fld id="{AF3CD61A-92D2-4353-BFDE-8DBB570A656F}"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Illustrative CSVs and road transport rates; no actual Vopak throughput or quoted transport costs supplied.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Cost accessibility and market volumes | illustrative</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National balance sets import needs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Demand of 21.0 less domestic production of 7.0 gives required imports of 14.0 in this illustration.</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Count unique customer demand once</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Receipts of 2.8 at Durban and 2.0 at Lesedi include a shared 1.8 transfer. Unique demand served is 3.0.</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Candidate opportunity is conditional</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example commercial envelope is 8.5; current unique demand served is 3.0, leaving a candidate 5.5.</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Replace examples with evidence</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Match regional demand, route constraints, customer flows and contracts by product, period and units.</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Lesedi*</a:t>
            </a:r>
          </a:p>
        </p:txBody>
      </p:sp>
      <p:sp>
        <p:nvSpPr>
          <p:cNvPr id="516" name="TextBox 515"/>
          <p:cNvSpPr txBox="1"/>
          <p:nvPr/>
        </p:nvSpPr>
        <p:spPr>
          <a:xfrm>
            <a:off x="731520" y="2487168"/>
            <a:ext cx="2468880" cy="66751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Inland market | illustrative</a:t>
            </a:r>
          </a:p>
          <a:p>
            <a:pPr>
              <a:spcAft>
                <a:spcPts val="300"/>
              </a:spcAft>
              <a:defRPr sz="1100" b="1">
                <a:solidFill>
                  <a:srgbClr val="0A2373"/>
                </a:solidFill>
                <a:latin typeface="Lato"/>
              </a:defRPr>
            </a:pPr>
            <a:r>
              <a:t>Demand 10.0 | envelope 6.0</a:t>
            </a:r>
          </a:p>
          <a:p>
            <a:pPr>
              <a:spcAft>
                <a:spcPts val="300"/>
              </a:spcAft>
              <a:defRPr sz="1100" b="1">
                <a:solidFill>
                  <a:srgbClr val="0A2373"/>
                </a:solidFill>
                <a:latin typeface="Lato"/>
              </a:defRPr>
            </a:pPr>
            <a:r>
              <a:t>Current 2.0 | candidate 4.0</a:t>
            </a:r>
          </a:p>
        </p:txBody>
      </p:sp>
      <p:sp>
        <p:nvSpPr>
          <p:cNvPr id="517" name="TextBox 516"/>
          <p:cNvSpPr txBox="1"/>
          <p:nvPr/>
        </p:nvSpPr>
        <p:spPr>
          <a:xfrm>
            <a:off x="4343400" y="5047488"/>
            <a:ext cx="2468880" cy="66751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Eastern/coastal | illustrative</a:t>
            </a:r>
          </a:p>
          <a:p>
            <a:pPr>
              <a:spcAft>
                <a:spcPts val="300"/>
              </a:spcAft>
              <a:defRPr sz="1100" b="1">
                <a:solidFill>
                  <a:srgbClr val="0A2373"/>
                </a:solidFill>
                <a:latin typeface="Lato"/>
              </a:defRPr>
            </a:pPr>
            <a:r>
              <a:t>Demand 4.5 | envelope 2.5</a:t>
            </a:r>
          </a:p>
          <a:p>
            <a:pPr>
              <a:spcAft>
                <a:spcPts val="300"/>
              </a:spcAft>
              <a:defRPr sz="1100" b="1">
                <a:solidFill>
                  <a:srgbClr val="0A2373"/>
                </a:solidFill>
                <a:latin typeface="Lato"/>
              </a:defRPr>
            </a:pPr>
            <a:r>
              <a:t>Current 1.0 | candidate 1.5</a:t>
            </a:r>
          </a:p>
        </p:txBody>
      </p:sp>
      <p:sp>
        <p:nvSpPr>
          <p:cNvPr id="518" name="Rectangle 517"/>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TextBox 518"/>
          <p:cNvSpPr txBox="1"/>
          <p:nvPr/>
        </p:nvSpPr>
        <p:spPr>
          <a:xfrm>
            <a:off x="685800"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a:t>
            </a:r>
          </a:p>
        </p:txBody>
      </p:sp>
      <p:sp>
        <p:nvSpPr>
          <p:cNvPr id="520" name="Rectangle 519"/>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TextBox 520"/>
          <p:cNvSpPr txBox="1"/>
          <p:nvPr/>
        </p:nvSpPr>
        <p:spPr>
          <a:xfrm>
            <a:off x="1618488"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0.75–1.25</a:t>
            </a:r>
          </a:p>
        </p:txBody>
      </p:sp>
      <p:sp>
        <p:nvSpPr>
          <p:cNvPr id="522" name="Rectangle 521"/>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TextBox 522"/>
          <p:cNvSpPr txBox="1"/>
          <p:nvPr/>
        </p:nvSpPr>
        <p:spPr>
          <a:xfrm>
            <a:off x="2551176"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1.25–1.75</a:t>
            </a:r>
          </a:p>
        </p:txBody>
      </p:sp>
      <p:sp>
        <p:nvSpPr>
          <p:cNvPr id="524" name="Rectangle 523"/>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TextBox 524"/>
          <p:cNvSpPr txBox="1"/>
          <p:nvPr/>
        </p:nvSpPr>
        <p:spPr>
          <a:xfrm>
            <a:off x="3483864"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1.75–2.25</a:t>
            </a:r>
          </a:p>
        </p:txBody>
      </p:sp>
      <p:sp>
        <p:nvSpPr>
          <p:cNvPr id="526" name="Rectangle 525"/>
          <p:cNvSpPr/>
          <p:nvPr/>
        </p:nvSpPr>
        <p:spPr>
          <a:xfrm>
            <a:off x="4238243"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4416552"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&gt;2.25</a:t>
            </a:r>
          </a:p>
        </p:txBody>
      </p:sp>
      <p:sp>
        <p:nvSpPr>
          <p:cNvPr id="528" name="TextBox 527"/>
          <p:cNvSpPr txBox="1"/>
          <p:nvPr/>
        </p:nvSpPr>
        <p:spPr>
          <a:xfrm>
            <a:off x="6254496" y="5916168"/>
            <a:ext cx="64008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R/litre</a:t>
            </a:r>
          </a:p>
        </p:txBody>
      </p:sp>
      <p:sp>
        <p:nvSpPr>
          <p:cNvPr id="529" name="TextBox 528"/>
          <p:cNvSpPr txBox="1"/>
          <p:nvPr/>
        </p:nvSpPr>
        <p:spPr>
          <a:xfrm>
            <a:off x="457200" y="6144768"/>
            <a:ext cx="6446520" cy="21031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Receipts 2.8 + 2.0 − transfer 1.8 = unique demand 3.0</a:t>
            </a:r>
          </a:p>
        </p:txBody>
      </p:sp>
      <p:sp>
        <p:nvSpPr>
          <p:cNvPr id="530" name="TextBox 529"/>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Example rates: R0.15/L + R0.002/L/km. Grey = unassessed. Volumes: bn L/year.</a:t>
            </a:r>
          </a:p>
        </p:txBody>
      </p:sp>
      <p:sp>
        <p:nvSpPr>
          <p:cNvPr id="2521" name="Rectangle 2520"/>
          <p:cNvSpPr/>
          <p:nvPr/>
        </p:nvSpPr>
        <p:spPr>
          <a:xfrm>
            <a:off x="5253228" y="5966460"/>
            <a:ext cx="100584" cy="100584"/>
          </a:xfrm>
          <a:prstGeom prst="rect">
            <a:avLst/>
          </a:prstGeom>
          <a:solidFill>
            <a:srgbClr val="EEEEE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2" name="TextBox 2521"/>
          <p:cNvSpPr txBox="1"/>
          <p:nvPr/>
        </p:nvSpPr>
        <p:spPr>
          <a:xfrm>
            <a:off x="5431536" y="5916168"/>
            <a:ext cx="731520" cy="201168"/>
          </a:xfrm>
          <a:prstGeom prst="rect">
            <a:avLst/>
          </a:prstGeom>
          <a:noFill/>
        </p:spPr>
        <p:txBody>
          <a:bodyPr wrap="none" lIns="22860" rIns="22860" tIns="0" bIns="0">
            <a:spAutoFit/>
          </a:bodyPr>
          <a:lstStyle/>
          <a:p>
            <a:pPr>
              <a:defRPr sz="800">
                <a:solidFill>
                  <a:srgbClr val="000000"/>
                </a:solidFill>
                <a:latin typeface="Lato"/>
              </a:defRPr>
            </a:pPr>
            <a:r>
              <a:t>Unassessed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