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57" r:id="rId6"/>
    <p:sldId id="258" r:id="rId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Recorded total</c:v>
                </c:pt>
              </c:strCache>
            </c:strRef>
          </c:tx>
          <c:spPr>
            <a:solidFill>
              <a:srgbClr val="B7B7B7"/>
            </a:solidFill>
            <a:ln>
              <a:noFill/>
            </a:ln>
          </c:spPr>
          <c:dLbls>
            <c:dLbl>
              <c:idx val="0"/>
              <c:tx>
                <c:rich>
                  <a:bodyPr wrap="none" lIns="0" rIns="0"/>
                  <a:lstStyle/>
                  <a:p>
                    <a:r>
                      <a:rPr sz="1100">
                        <a:solidFill>
                          <a:srgbClr val="000000"/>
                        </a:solidFill>
                      </a:rPr>
                      <a:t>9.05</a:t>
                    </a:r>
                  </a:p>
                </c:rich>
              </c:tx>
              <c:dLblPos val="ctr"/>
              <c:showLegendKey val="0"/>
              <c:showVal val="1"/>
              <c:showCatName val="0"/>
              <c:showSerName val="0"/>
              <c:showPercent val="0"/>
              <c:showBubbleSize val="0"/>
            </c:dLbl>
            <c:dLbl>
              <c:idx val="1"/>
              <c:tx>
                <c:rich>
                  <a:bodyPr wrap="none" lIns="0" rIns="0"/>
                  <a:lstStyle/>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Excel</c:v>
                </c:pt>
                <c:pt idx="1">
                  <c:v>Python</c:v>
                </c:pt>
              </c:strCache>
            </c:strRef>
          </c:cat>
          <c:val>
            <c:numRef>
              <c:f>Sheet1!$B$2:$B$3</c:f>
              <c:numCache>
                <c:formatCode>General</c:formatCode>
                <c:ptCount val="2"/>
                <c:pt idx="0">
                  <c:v>9.04748271256</c:v>
                </c:pt>
                <c:pt idx="1">
                  <c:v>0</c:v>
                </c:pt>
              </c:numCache>
            </c:numRef>
          </c:val>
        </c:ser>
        <c:ser>
          <c:idx val="1"/>
          <c:order val="1"/>
          <c:tx>
            <c:strRef>
              <c:f>Sheet1!$C$1</c:f>
              <c:strCache>
                <c:ptCount val="1"/>
                <c:pt idx="0">
                  <c:v>Passenger</c:v>
                </c:pt>
              </c:strCache>
            </c:strRef>
          </c:tx>
          <c:spPr>
            <a:solidFill>
              <a:srgbClr val="0A2373"/>
            </a:solidFill>
            <a:ln>
              <a:noFill/>
            </a:ln>
          </c:spPr>
          <c:dLbls>
            <c:dLbl>
              <c:idx val="0"/>
              <c:tx>
                <c:rich>
                  <a:bodyPr wrap="none" lIns="0" rIns="0"/>
                  <a:lstStyle/>
                  <a:p/>
                </c:rich>
              </c:tx>
              <c:dLblPos val="ctr"/>
              <c:showLegendKey val="0"/>
              <c:showVal val="1"/>
              <c:showCatName val="0"/>
              <c:showSerName val="0"/>
              <c:showPercent val="0"/>
              <c:showBubbleSize val="0"/>
            </c:dLbl>
            <c:dLbl>
              <c:idx val="1"/>
              <c:tx>
                <c:rich>
                  <a:bodyPr wrap="none" lIns="0" rIns="0"/>
                  <a:lstStyle/>
                  <a:p>
                    <a:r>
                      <a:rPr sz="1100">
                        <a:solidFill>
                          <a:srgbClr val="FFFFFF"/>
                        </a:solidFill>
                      </a:rPr>
                      <a:t>6.97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Excel</c:v>
                </c:pt>
                <c:pt idx="1">
                  <c:v>Python</c:v>
                </c:pt>
              </c:strCache>
            </c:strRef>
          </c:cat>
          <c:val>
            <c:numRef>
              <c:f>Sheet1!$C$2:$C$3</c:f>
              <c:numCache>
                <c:formatCode>General</c:formatCode>
                <c:ptCount val="2"/>
                <c:pt idx="0">
                  <c:v>0</c:v>
                </c:pt>
                <c:pt idx="1">
                  <c:v>6.967795194654524</c:v>
                </c:pt>
              </c:numCache>
            </c:numRef>
          </c:val>
        </c:ser>
        <c:ser>
          <c:idx val="2"/>
          <c:order val="2"/>
          <c:tx>
            <c:strRef>
              <c:f>Sheet1!$D$1</c:f>
              <c:strCache>
                <c:ptCount val="1"/>
                <c:pt idx="0">
                  <c:v>Light commercial</c:v>
                </c:pt>
              </c:strCache>
            </c:strRef>
          </c:tx>
          <c:spPr>
            <a:solidFill>
              <a:srgbClr val="536598"/>
            </a:solidFill>
            <a:ln>
              <a:noFill/>
            </a:ln>
          </c:spPr>
          <c:dLbls>
            <c:dLbl>
              <c:idx val="0"/>
              <c:tx>
                <c:rich>
                  <a:bodyPr wrap="none" lIns="0" rIns="0"/>
                  <a:lstStyle/>
                  <a:p/>
                </c:rich>
              </c:tx>
              <c:dLblPos val="ctr"/>
              <c:showLegendKey val="0"/>
              <c:showVal val="1"/>
              <c:showCatName val="0"/>
              <c:showSerName val="0"/>
              <c:showPercent val="0"/>
              <c:showBubbleSize val="0"/>
            </c:dLbl>
            <c:dLbl>
              <c:idx val="1"/>
              <c:tx>
                <c:rich>
                  <a:bodyPr wrap="none" lIns="0" rIns="0"/>
                  <a:lstStyle/>
                  <a:p>
                    <a:r>
                      <a:rPr sz="1100">
                        <a:solidFill>
                          <a:srgbClr val="FFFFFF"/>
                        </a:solidFill>
                      </a:rPr>
                      <a:t>0.96</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Excel</c:v>
                </c:pt>
                <c:pt idx="1">
                  <c:v>Python</c:v>
                </c:pt>
              </c:strCache>
            </c:strRef>
          </c:cat>
          <c:val>
            <c:numRef>
              <c:f>Sheet1!$D$2:$D$3</c:f>
              <c:numCache>
                <c:formatCode>General</c:formatCode>
                <c:ptCount val="2"/>
                <c:pt idx="0">
                  <c:v>0</c:v>
                </c:pt>
                <c:pt idx="1">
                  <c:v>0.9618901767509885</c:v>
                </c:pt>
              </c:numCache>
            </c:numRef>
          </c:val>
        </c:ser>
        <c:gapWidth val="25"/>
        <c:overlap val="100"/>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ax val="12.0"/>
          <c:min val="0.0"/>
        </c:scaling>
        <c:delete val="0"/>
        <c:axPos val="l"/>
        <c:majorTickMark val="out"/>
        <c:minorTickMark val="none"/>
        <c:tickLblPos val="nextTo"/>
        <c:txPr>
          <a:bodyPr/>
          <a:lstStyle/>
          <a:p>
            <a:pPr>
              <a:defRPr sz="1000"/>
            </a:pPr>
          </a:p>
        </c:txPr>
        <c:crossAx val="-2068027336"/>
        <c:crosses val="autoZero"/>
        <c:majorUnit val="4.0"/>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Excel non-power</c:v>
                </c:pt>
              </c:strCache>
            </c:strRef>
          </c:tx>
          <c:spPr>
            <a:solidFill>
              <a:srgbClr val="B7B7B7"/>
            </a:solidFill>
            <a:ln>
              <a:noFill/>
            </a:ln>
          </c:spPr>
          <c:dLbls>
            <c:dLbl>
              <c:idx val="0"/>
              <c:tx>
                <c:rich>
                  <a:bodyPr wrap="none" lIns="0" rIns="0"/>
                  <a:lstStyle/>
                  <a:p>
                    <a:r>
                      <a:rPr sz="1100">
                        <a:solidFill>
                          <a:srgbClr val="000000"/>
                        </a:solidFill>
                      </a:rPr>
                      <a:t>11.4</a:t>
                    </a:r>
                  </a:p>
                </c:rich>
              </c:tx>
              <c:dLblPos val="ctr"/>
              <c:showLegendKey val="0"/>
              <c:showVal val="1"/>
              <c:showCatName val="0"/>
              <c:showSerName val="0"/>
              <c:showPercent val="0"/>
              <c:showBubbleSize val="0"/>
            </c:dLbl>
            <c:dLbl>
              <c:idx val="1"/>
              <c:tx>
                <c:rich>
                  <a:bodyPr wrap="none" lIns="0" rIns="0"/>
                  <a:lstStyle/>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Excel</c:v>
                </c:pt>
                <c:pt idx="1">
                  <c:v>Python</c:v>
                </c:pt>
              </c:strCache>
            </c:strRef>
          </c:cat>
          <c:val>
            <c:numRef>
              <c:f>Sheet1!$B$2:$B$3</c:f>
              <c:numCache>
                <c:formatCode>General</c:formatCode>
                <c:ptCount val="2"/>
                <c:pt idx="0">
                  <c:v>11.383299462310488</c:v>
                </c:pt>
                <c:pt idx="1">
                  <c:v>0</c:v>
                </c:pt>
              </c:numCache>
            </c:numRef>
          </c:val>
        </c:ser>
        <c:ser>
          <c:idx val="1"/>
          <c:order val="1"/>
          <c:tx>
            <c:strRef>
              <c:f>Sheet1!$C$1</c:f>
              <c:strCache>
                <c:ptCount val="1"/>
                <c:pt idx="0">
                  <c:v>Road</c:v>
                </c:pt>
              </c:strCache>
            </c:strRef>
          </c:tx>
          <c:spPr>
            <a:solidFill>
              <a:srgbClr val="0A2373"/>
            </a:solidFill>
            <a:ln>
              <a:noFill/>
            </a:ln>
          </c:spPr>
          <c:dLbls>
            <c:dLbl>
              <c:idx val="0"/>
              <c:tx>
                <c:rich>
                  <a:bodyPr wrap="none" lIns="0" rIns="0"/>
                  <a:lstStyle/>
                  <a:p/>
                </c:rich>
              </c:tx>
              <c:dLblPos val="ctr"/>
              <c:showLegendKey val="0"/>
              <c:showVal val="1"/>
              <c:showCatName val="0"/>
              <c:showSerName val="0"/>
              <c:showPercent val="0"/>
              <c:showBubbleSize val="0"/>
            </c:dLbl>
            <c:dLbl>
              <c:idx val="1"/>
              <c:tx>
                <c:rich>
                  <a:bodyPr wrap="none" lIns="0" rIns="0"/>
                  <a:lstStyle/>
                  <a:p>
                    <a:r>
                      <a:rPr sz="1100">
                        <a:solidFill>
                          <a:srgbClr val="FFFFFF"/>
                        </a:solidFill>
                      </a:rPr>
                      <a:t>8.50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Excel</c:v>
                </c:pt>
                <c:pt idx="1">
                  <c:v>Python</c:v>
                </c:pt>
              </c:strCache>
            </c:strRef>
          </c:cat>
          <c:val>
            <c:numRef>
              <c:f>Sheet1!$C$2:$C$3</c:f>
              <c:numCache>
                <c:formatCode>General</c:formatCode>
                <c:ptCount val="2"/>
                <c:pt idx="0">
                  <c:v>0</c:v>
                </c:pt>
                <c:pt idx="1">
                  <c:v>8.503566269860787</c:v>
                </c:pt>
              </c:numCache>
            </c:numRef>
          </c:val>
        </c:ser>
        <c:ser>
          <c:idx val="2"/>
          <c:order val="2"/>
          <c:tx>
            <c:strRef>
              <c:f>Sheet1!$D$1</c:f>
              <c:strCache>
                <c:ptCount val="1"/>
                <c:pt idx="0">
                  <c:v>Power</c:v>
                </c:pt>
              </c:strCache>
            </c:strRef>
          </c:tx>
          <c:spPr>
            <a:solidFill>
              <a:srgbClr val="536598"/>
            </a:solidFill>
            <a:ln>
              <a:noFill/>
            </a:ln>
          </c:spPr>
          <c:dLbls>
            <c:dLbl>
              <c:idx val="0"/>
              <c:tx>
                <c:rich>
                  <a:bodyPr wrap="none" lIns="0" rIns="0"/>
                  <a:lstStyle/>
                  <a:p/>
                </c:rich>
              </c:tx>
              <c:dLblPos val="ctr"/>
              <c:showLegendKey val="0"/>
              <c:showVal val="1"/>
              <c:showCatName val="0"/>
              <c:showSerName val="0"/>
              <c:showPercent val="0"/>
              <c:showBubbleSize val="0"/>
            </c:dLbl>
            <c:dLbl>
              <c:idx val="1"/>
              <c:tx>
                <c:rich>
                  <a:bodyPr wrap="none" lIns="0" rIns="0"/>
                  <a:lstStyle/>
                  <a:p>
                    <a:r>
                      <a:rPr sz="1100">
                        <a:solidFill>
                          <a:srgbClr val="FFFFFF"/>
                        </a:solidFill>
                      </a:rPr>
                      <a:t>3.58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Excel</c:v>
                </c:pt>
                <c:pt idx="1">
                  <c:v>Python</c:v>
                </c:pt>
              </c:strCache>
            </c:strRef>
          </c:cat>
          <c:val>
            <c:numRef>
              <c:f>Sheet1!$D$2:$D$3</c:f>
              <c:numCache>
                <c:formatCode>General</c:formatCode>
                <c:ptCount val="2"/>
                <c:pt idx="0">
                  <c:v>0.49512195121951225</c:v>
                </c:pt>
                <c:pt idx="1">
                  <c:v>3.58109483707317</c:v>
                </c:pt>
              </c:numCache>
            </c:numRef>
          </c:val>
        </c:ser>
        <c:ser>
          <c:idx val="3"/>
          <c:order val="3"/>
          <c:tx>
            <c:strRef>
              <c:f>Sheet1!$E$1</c:f>
              <c:strCache>
                <c:ptCount val="1"/>
                <c:pt idx="0">
                  <c:v>Industrial</c:v>
                </c:pt>
              </c:strCache>
            </c:strRef>
          </c:tx>
          <c:spPr>
            <a:solidFill>
              <a:srgbClr val="8491B2"/>
            </a:solidFill>
            <a:ln>
              <a:noFill/>
            </a:ln>
          </c:spPr>
          <c:dLbls>
            <c:dLbl>
              <c:idx val="0"/>
              <c:tx>
                <c:rich>
                  <a:bodyPr wrap="none" lIns="0" rIns="0"/>
                  <a:lstStyle/>
                  <a:p/>
                </c:rich>
              </c:tx>
              <c:dLblPos val="ctr"/>
              <c:showLegendKey val="0"/>
              <c:showVal val="1"/>
              <c:showCatName val="0"/>
              <c:showSerName val="0"/>
              <c:showPercent val="0"/>
              <c:showBubbleSize val="0"/>
            </c:dLbl>
            <c:dLbl>
              <c:idx val="1"/>
              <c:tx>
                <c:rich>
                  <a:bodyPr wrap="none" lIns="0" rIns="0"/>
                  <a:lstStyle/>
                  <a:p>
                    <a:r>
                      <a:rPr sz="1100">
                        <a:solidFill>
                          <a:srgbClr val="000000"/>
                        </a:solidFill>
                      </a:rPr>
                      <a:t>2.50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Excel</c:v>
                </c:pt>
                <c:pt idx="1">
                  <c:v>Python</c:v>
                </c:pt>
              </c:strCache>
            </c:strRef>
          </c:cat>
          <c:val>
            <c:numRef>
              <c:f>Sheet1!$E$2:$E$3</c:f>
              <c:numCache>
                <c:formatCode>General</c:formatCode>
                <c:ptCount val="2"/>
                <c:pt idx="0">
                  <c:v>0</c:v>
                </c:pt>
                <c:pt idx="1">
                  <c:v>2.5</c:v>
                </c:pt>
              </c:numCache>
            </c:numRef>
          </c:val>
        </c:ser>
        <c:ser>
          <c:idx val="4"/>
          <c:order val="4"/>
          <c:tx>
            <c:strRef>
              <c:f>Sheet1!$F$1</c:f>
              <c:strCache>
                <c:ptCount val="1"/>
                <c:pt idx="0">
                  <c:v>Agriculture</c:v>
                </c:pt>
              </c:strCache>
            </c:strRef>
          </c:tx>
          <c:spPr>
            <a:solidFill>
              <a:srgbClr val="CED3E3"/>
            </a:solidFill>
            <a:ln>
              <a:noFill/>
            </a:ln>
          </c:spPr>
          <c:dLbls>
            <c:dLbl>
              <c:idx val="0"/>
              <c:tx>
                <c:rich>
                  <a:bodyPr wrap="none" lIns="0" rIns="0"/>
                  <a:lstStyle/>
                  <a:p/>
                </c:rich>
              </c:tx>
              <c:dLblPos val="ctr"/>
              <c:showLegendKey val="0"/>
              <c:showVal val="1"/>
              <c:showCatName val="0"/>
              <c:showSerName val="0"/>
              <c:showPercent val="0"/>
              <c:showBubbleSize val="0"/>
            </c:dLbl>
            <c:dLbl>
              <c:idx val="1"/>
              <c:tx>
                <c:rich>
                  <a:bodyPr wrap="none" lIns="0" rIns="0"/>
                  <a:lstStyle/>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Excel</c:v>
                </c:pt>
                <c:pt idx="1">
                  <c:v>Python</c:v>
                </c:pt>
              </c:strCache>
            </c:strRef>
          </c:cat>
          <c:val>
            <c:numRef>
              <c:f>Sheet1!$F$2:$F$3</c:f>
              <c:numCache>
                <c:formatCode>General</c:formatCode>
                <c:ptCount val="2"/>
                <c:pt idx="0">
                  <c:v>0</c:v>
                </c:pt>
                <c:pt idx="1">
                  <c:v>0.7</c:v>
                </c:pt>
              </c:numCache>
            </c:numRef>
          </c:val>
        </c:ser>
        <c:gapWidth val="25"/>
        <c:overlap val="100"/>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ax val="18.0"/>
          <c:min val="0.0"/>
        </c:scaling>
        <c:delete val="0"/>
        <c:axPos val="l"/>
        <c:majorTickMark val="out"/>
        <c:minorTickMark val="none"/>
        <c:tickLblPos val="nextTo"/>
        <c:txPr>
          <a:bodyPr/>
          <a:lstStyle/>
          <a:p>
            <a:pPr>
              <a:defRPr sz="1000"/>
            </a:pPr>
          </a:p>
        </c:txPr>
        <c:crossAx val="-2068027336"/>
        <c:crosses val="autoZero"/>
        <c:majorUnit val="6.0"/>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Recorded total</c:v>
                </c:pt>
              </c:strCache>
            </c:strRef>
          </c:tx>
          <c:spPr>
            <a:solidFill>
              <a:srgbClr val="B7B7B7"/>
            </a:solidFill>
            <a:ln>
              <a:noFill/>
            </a:ln>
          </c:spPr>
          <c:dLbls>
            <c:dLbl>
              <c:idx val="0"/>
              <c:tx>
                <c:rich>
                  <a:bodyPr wrap="none" lIns="0" rIns="0"/>
                  <a:lstStyle/>
                  <a:p>
                    <a:r>
                      <a:rPr sz="1100">
                        <a:solidFill>
                          <a:srgbClr val="000000"/>
                        </a:solidFill>
                      </a:rPr>
                      <a:t>1.87</a:t>
                    </a:r>
                  </a:p>
                </c:rich>
              </c:tx>
              <c:dLblPos val="ctr"/>
              <c:showLegendKey val="0"/>
              <c:showVal val="1"/>
              <c:showCatName val="0"/>
              <c:showSerName val="0"/>
              <c:showPercent val="0"/>
              <c:showBubbleSize val="0"/>
            </c:dLbl>
            <c:dLbl>
              <c:idx val="1"/>
              <c:tx>
                <c:rich>
                  <a:bodyPr wrap="none" lIns="0" rIns="0"/>
                  <a:lstStyle/>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Excel</c:v>
                </c:pt>
                <c:pt idx="1">
                  <c:v>Python</c:v>
                </c:pt>
              </c:strCache>
            </c:strRef>
          </c:cat>
          <c:val>
            <c:numRef>
              <c:f>Sheet1!$B$2:$B$3</c:f>
              <c:numCache>
                <c:formatCode>General</c:formatCode>
                <c:ptCount val="2"/>
                <c:pt idx="0">
                  <c:v>1.86604361366</c:v>
                </c:pt>
                <c:pt idx="1">
                  <c:v>0</c:v>
                </c:pt>
              </c:numCache>
            </c:numRef>
          </c:val>
        </c:ser>
        <c:ser>
          <c:idx val="1"/>
          <c:order val="1"/>
          <c:tx>
            <c:strRef>
              <c:f>Sheet1!$C$1</c:f>
              <c:strCache>
                <c:ptCount val="1"/>
                <c:pt idx="0">
                  <c:v>Calculated demand</c:v>
                </c:pt>
              </c:strCache>
            </c:strRef>
          </c:tx>
          <c:spPr>
            <a:solidFill>
              <a:srgbClr val="0A2373"/>
            </a:solidFill>
            <a:ln>
              <a:noFill/>
            </a:ln>
          </c:spPr>
          <c:dLbls>
            <c:dLbl>
              <c:idx val="0"/>
              <c:tx>
                <c:rich>
                  <a:bodyPr wrap="none" lIns="0" rIns="0"/>
                  <a:lstStyle/>
                  <a:p/>
                </c:rich>
              </c:tx>
              <c:dLblPos val="ctr"/>
              <c:showLegendKey val="0"/>
              <c:showVal val="1"/>
              <c:showCatName val="0"/>
              <c:showSerName val="0"/>
              <c:showPercent val="0"/>
              <c:showBubbleSize val="0"/>
            </c:dLbl>
            <c:dLbl>
              <c:idx val="1"/>
              <c:tx>
                <c:rich>
                  <a:bodyPr wrap="none" lIns="0" rIns="0"/>
                  <a:lstStyle/>
                  <a:p>
                    <a:r>
                      <a:rPr sz="1100">
                        <a:solidFill>
                          <a:srgbClr val="FFFFFF"/>
                        </a:solidFill>
                      </a:rPr>
                      <a:t>1.60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Excel</c:v>
                </c:pt>
                <c:pt idx="1">
                  <c:v>Python</c:v>
                </c:pt>
              </c:strCache>
            </c:strRef>
          </c:cat>
          <c:val>
            <c:numRef>
              <c:f>Sheet1!$C$2:$C$3</c:f>
              <c:numCache>
                <c:formatCode>General</c:formatCode>
                <c:ptCount val="2"/>
                <c:pt idx="0">
                  <c:v>0</c:v>
                </c:pt>
                <c:pt idx="1">
                  <c:v>1.6014445392936807</c:v>
                </c:pt>
              </c:numCache>
            </c:numRef>
          </c:val>
        </c:ser>
        <c:gapWidth val="25"/>
        <c:overlap val="100"/>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ax val="3.0"/>
          <c:min val="0.0"/>
        </c:scaling>
        <c:delete val="0"/>
        <c:axPos val="l"/>
        <c:majorTickMark val="out"/>
        <c:minorTickMark val="none"/>
        <c:tickLblPos val="nextTo"/>
        <c:txPr>
          <a:bodyPr/>
          <a:lstStyle/>
          <a:p>
            <a:pPr>
              <a:defRPr sz="1000"/>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Demand</c:v>
                </c:pt>
              </c:strCache>
            </c:strRef>
          </c:tx>
          <c:spPr>
            <a:ln w="25400">
              <a:solidFill>
                <a:srgbClr val="0A2373"/>
              </a:solidFill>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Sheet1!$B$2:$B$28</c:f>
              <c:numCache>
                <c:formatCode>General</c:formatCode>
                <c:ptCount val="27"/>
                <c:pt idx="0">
                  <c:v>25.58579101763315</c:v>
                </c:pt>
                <c:pt idx="1">
                  <c:v>26.4404938698571</c:v>
                </c:pt>
                <c:pt idx="2">
                  <c:v>27.485275619224193</c:v>
                </c:pt>
                <c:pt idx="3">
                  <c:v>28.085224008374873</c:v>
                </c:pt>
                <c:pt idx="4">
                  <c:v>28.588507651814442</c:v>
                </c:pt>
                <c:pt idx="5">
                  <c:v>29.191427579473654</c:v>
                </c:pt>
                <c:pt idx="6">
                  <c:v>29.827664300690355</c:v>
                </c:pt>
                <c:pt idx="7">
                  <c:v>30.48962996411322</c:v>
                </c:pt>
                <c:pt idx="8">
                  <c:v>31.17467594930379</c:v>
                </c:pt>
                <c:pt idx="9">
                  <c:v>31.879652191353994</c:v>
                </c:pt>
                <c:pt idx="10">
                  <c:v>32.60080880551153</c:v>
                </c:pt>
                <c:pt idx="11">
                  <c:v>33.33376265446446</c:v>
                </c:pt>
                <c:pt idx="12">
                  <c:v>34.07359381943975</c:v>
                </c:pt>
                <c:pt idx="13">
                  <c:v>34.81514237487723</c:v>
                </c:pt>
                <c:pt idx="14">
                  <c:v>35.55354359309579</c:v>
                </c:pt>
                <c:pt idx="15">
                  <c:v>36.28495337976233</c:v>
                </c:pt>
                <c:pt idx="16">
                  <c:v>37.00729572483156</c:v>
                </c:pt>
                <c:pt idx="17">
                  <c:v>37.720783395787734</c:v>
                </c:pt>
                <c:pt idx="18">
                  <c:v>38.428005241844076</c:v>
                </c:pt>
                <c:pt idx="19">
                  <c:v>39.13354306803095</c:v>
                </c:pt>
                <c:pt idx="20">
                  <c:v>39.84327344913813</c:v>
                </c:pt>
                <c:pt idx="21">
                  <c:v>40.56360096053926</c:v>
                </c:pt>
                <c:pt idx="22">
                  <c:v>41.300827007772774</c:v>
                </c:pt>
                <c:pt idx="23">
                  <c:v>42.06074716693412</c:v>
                </c:pt>
                <c:pt idx="24">
                  <c:v>42.84847009018077</c:v>
                </c:pt>
                <c:pt idx="25">
                  <c:v>43.668399600697086</c:v>
                </c:pt>
                <c:pt idx="26">
                  <c:v>44.52431315030593</c:v>
                </c:pt>
              </c:numCache>
            </c:numRef>
          </c:val>
          <c:smooth val="0"/>
        </c:ser>
        <c:ser>
          <c:idx val="1"/>
          <c:order val="1"/>
          <c:tx>
            <c:strRef>
              <c:f>Sheet1!$C$1</c:f>
              <c:strCache>
                <c:ptCount val="1"/>
                <c:pt idx="0">
                  <c:v>Domestic production</c:v>
                </c:pt>
              </c:strCache>
            </c:strRef>
          </c:tx>
          <c:spPr>
            <a:ln w="25400">
              <a:solidFill>
                <a:srgbClr val="666666"/>
              </a:solidFill>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Sheet1!$C$2:$C$28</c:f>
              <c:numCache>
                <c:formatCode>General</c:formatCode>
                <c:ptCount val="27"/>
                <c:pt idx="0">
                  <c:v>11.3713824518055</c:v>
                </c:pt>
                <c:pt idx="1">
                  <c:v>11.283562365401249</c:v>
                </c:pt>
                <c:pt idx="2">
                  <c:v>11.331741984615</c:v>
                </c:pt>
                <c:pt idx="3">
                  <c:v>11.379921603828748</c:v>
                </c:pt>
                <c:pt idx="4">
                  <c:v>11.42770951882125</c:v>
                </c:pt>
                <c:pt idx="5">
                  <c:v>11.310198252446249</c:v>
                </c:pt>
                <c:pt idx="6">
                  <c:v>11.310198252446249</c:v>
                </c:pt>
                <c:pt idx="7">
                  <c:v>11.42770951882125</c:v>
                </c:pt>
                <c:pt idx="8">
                  <c:v>11.42770951882125</c:v>
                </c:pt>
                <c:pt idx="9">
                  <c:v>11.3137235904375</c:v>
                </c:pt>
                <c:pt idx="10">
                  <c:v>11.19973766205375</c:v>
                </c:pt>
                <c:pt idx="11">
                  <c:v>11.085360029448749</c:v>
                </c:pt>
                <c:pt idx="12">
                  <c:v>10.71598294881</c:v>
                </c:pt>
                <c:pt idx="13">
                  <c:v>10.71598294881</c:v>
                </c:pt>
                <c:pt idx="14">
                  <c:v>10.71598294881</c:v>
                </c:pt>
                <c:pt idx="15">
                  <c:v>10.71598294881</c:v>
                </c:pt>
                <c:pt idx="16">
                  <c:v>10.71598294881</c:v>
                </c:pt>
                <c:pt idx="17">
                  <c:v>10.71598294881</c:v>
                </c:pt>
                <c:pt idx="18">
                  <c:v>10.71598294881</c:v>
                </c:pt>
                <c:pt idx="19">
                  <c:v>10.71598294881</c:v>
                </c:pt>
                <c:pt idx="20">
                  <c:v>10.71598294881</c:v>
                </c:pt>
                <c:pt idx="21">
                  <c:v>10.71598294881</c:v>
                </c:pt>
                <c:pt idx="22">
                  <c:v>10.71598294881</c:v>
                </c:pt>
                <c:pt idx="23">
                  <c:v>10.71598294881</c:v>
                </c:pt>
                <c:pt idx="24">
                  <c:v>10.71598294881</c:v>
                </c:pt>
                <c:pt idx="25">
                  <c:v>10.71598294881</c:v>
                </c:pt>
                <c:pt idx="26">
                  <c:v>10.71598294881</c:v>
                </c:pt>
              </c:numCache>
            </c:numRef>
          </c:val>
          <c:smooth val="0"/>
        </c:ser>
        <c:ser>
          <c:idx val="2"/>
          <c:order val="2"/>
          <c:tx>
            <c:strRef>
              <c:f>Sheet1!$D$1</c:f>
              <c:strCache>
                <c:ptCount val="1"/>
                <c:pt idx="0">
                  <c:v>Deficit</c:v>
                </c:pt>
              </c:strCache>
            </c:strRef>
          </c:tx>
          <c:spPr>
            <a:ln w="25400">
              <a:solidFill>
                <a:srgbClr val="8491B2"/>
              </a:solidFill>
              <a:prstDash val="dash"/>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Sheet1!$D$2:$D$28</c:f>
              <c:numCache>
                <c:formatCode>General</c:formatCode>
                <c:ptCount val="27"/>
                <c:pt idx="0">
                  <c:v>14.21440856582765</c:v>
                </c:pt>
                <c:pt idx="1">
                  <c:v>15.156931504455853</c:v>
                </c:pt>
                <c:pt idx="2">
                  <c:v>16.153533634609193</c:v>
                </c:pt>
                <c:pt idx="3">
                  <c:v>16.705302404546124</c:v>
                </c:pt>
                <c:pt idx="4">
                  <c:v>17.160798132993193</c:v>
                </c:pt>
                <c:pt idx="5">
                  <c:v>17.881229327027405</c:v>
                </c:pt>
                <c:pt idx="6">
                  <c:v>18.51746604824411</c:v>
                </c:pt>
                <c:pt idx="7">
                  <c:v>19.06192044529197</c:v>
                </c:pt>
                <c:pt idx="8">
                  <c:v>19.746966430482544</c:v>
                </c:pt>
                <c:pt idx="9">
                  <c:v>20.56592860091649</c:v>
                </c:pt>
                <c:pt idx="10">
                  <c:v>21.401071143457784</c:v>
                </c:pt>
                <c:pt idx="11">
                  <c:v>22.248402625015707</c:v>
                </c:pt>
                <c:pt idx="12">
                  <c:v>23.357610870629752</c:v>
                </c:pt>
                <c:pt idx="13">
                  <c:v>24.099159426067235</c:v>
                </c:pt>
                <c:pt idx="14">
                  <c:v>24.837560644285787</c:v>
                </c:pt>
                <c:pt idx="15">
                  <c:v>25.568970430952323</c:v>
                </c:pt>
                <c:pt idx="16">
                  <c:v>26.291312776021556</c:v>
                </c:pt>
                <c:pt idx="17">
                  <c:v>27.00480044697773</c:v>
                </c:pt>
                <c:pt idx="18">
                  <c:v>27.712022293034078</c:v>
                </c:pt>
                <c:pt idx="19">
                  <c:v>28.417560119220955</c:v>
                </c:pt>
                <c:pt idx="20">
                  <c:v>29.12729050032813</c:v>
                </c:pt>
                <c:pt idx="21">
                  <c:v>29.847618011729264</c:v>
                </c:pt>
                <c:pt idx="22">
                  <c:v>30.584844058962776</c:v>
                </c:pt>
                <c:pt idx="23">
                  <c:v>31.34476421812412</c:v>
                </c:pt>
                <c:pt idx="24">
                  <c:v>32.13248714137077</c:v>
                </c:pt>
                <c:pt idx="25">
                  <c:v>32.95241665188708</c:v>
                </c:pt>
                <c:pt idx="26">
                  <c:v>33.808330201495934</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txPr>
          <a:bodyPr/>
          <a:lstStyle/>
          <a:p>
            <a:pPr>
              <a:defRPr sz="1000"/>
            </a:pPr>
          </a:p>
        </c:txPr>
        <c:crossAx val="2140495176"/>
        <c:crosses val="autoZero"/>
        <c:auto val="1"/>
        <c:lblAlgn val="ctr"/>
        <c:lblOffset val="100"/>
        <c:noMultiLvlLbl val="0"/>
      </c:catAx>
      <c:valAx>
        <c:axId val="2140495176"/>
        <c:scaling>
          <c:max val="50.0"/>
          <c:min val="0.0"/>
        </c:scaling>
        <c:delete val="0"/>
        <c:axPos val="l"/>
        <c:majorGridlines>
          <c:spPr>
            <a:ln w="3810">
              <a:solidFill>
                <a:srgbClr val="DDDDDD"/>
              </a:solidFill>
            </a:ln>
          </c:spPr>
        </c:majorGridlines>
        <c:numFmt formatCode="0.0" sourceLinked="0"/>
        <c:majorTickMark val="out"/>
        <c:minorTickMark val="none"/>
        <c:tickLblPos val="nextTo"/>
        <c:txPr>
          <a:bodyPr/>
          <a:lstStyle/>
          <a:p>
            <a:pPr>
              <a:defRPr sz="10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Demand</c:v>
                </c:pt>
              </c:strCache>
            </c:strRef>
          </c:tx>
          <c:spPr>
            <a:ln w="25400">
              <a:solidFill>
                <a:srgbClr val="0A2373"/>
              </a:solidFill>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Sheet1!$B$2:$B$28</c:f>
              <c:numCache>
                <c:formatCode>General</c:formatCode>
                <c:ptCount val="27"/>
                <c:pt idx="0">
                  <c:v>25.505354456833835</c:v>
                </c:pt>
                <c:pt idx="1">
                  <c:v>26.33015893633194</c:v>
                </c:pt>
                <c:pt idx="2">
                  <c:v>23.526829512372153</c:v>
                </c:pt>
                <c:pt idx="3">
                  <c:v>23.866636752463464</c:v>
                </c:pt>
                <c:pt idx="4">
                  <c:v>24.19686183866068</c:v>
                </c:pt>
                <c:pt idx="5">
                  <c:v>24.516085309274697</c:v>
                </c:pt>
                <c:pt idx="6">
                  <c:v>24.82096048134323</c:v>
                </c:pt>
                <c:pt idx="7">
                  <c:v>25.067606997715394</c:v>
                </c:pt>
                <c:pt idx="8">
                  <c:v>25.27670800735694</c:v>
                </c:pt>
                <c:pt idx="9">
                  <c:v>25.433912369981538</c:v>
                </c:pt>
                <c:pt idx="10">
                  <c:v>25.522905123408844</c:v>
                </c:pt>
                <c:pt idx="11">
                  <c:v>25.529626541532295</c:v>
                </c:pt>
                <c:pt idx="12">
                  <c:v>25.448262535308036</c:v>
                </c:pt>
                <c:pt idx="13">
                  <c:v>25.285587004042526</c:v>
                </c:pt>
                <c:pt idx="14">
                  <c:v>25.06009612893207</c:v>
                </c:pt>
                <c:pt idx="15">
                  <c:v>24.796344228273746</c:v>
                </c:pt>
                <c:pt idx="16">
                  <c:v>24.518510807712165</c:v>
                </c:pt>
                <c:pt idx="17">
                  <c:v>24.246473521023482</c:v>
                </c:pt>
                <c:pt idx="18">
                  <c:v>23.99477980220619</c:v>
                </c:pt>
                <c:pt idx="19">
                  <c:v>23.773320512905553</c:v>
                </c:pt>
                <c:pt idx="20">
                  <c:v>23.588540258731133</c:v>
                </c:pt>
                <c:pt idx="21">
                  <c:v>23.444570486655564</c:v>
                </c:pt>
                <c:pt idx="22">
                  <c:v>23.34409184952841</c:v>
                </c:pt>
                <c:pt idx="23">
                  <c:v>23.28892856610499</c:v>
                </c:pt>
                <c:pt idx="24">
                  <c:v>23.28043692082413</c:v>
                </c:pt>
                <c:pt idx="25">
                  <c:v>23.31975206953595</c:v>
                </c:pt>
                <c:pt idx="26">
                  <c:v>23.407942764534532</c:v>
                </c:pt>
              </c:numCache>
            </c:numRef>
          </c:val>
          <c:smooth val="0"/>
        </c:ser>
        <c:ser>
          <c:idx val="1"/>
          <c:order val="1"/>
          <c:tx>
            <c:strRef>
              <c:f>Sheet1!$C$1</c:f>
              <c:strCache>
                <c:ptCount val="1"/>
                <c:pt idx="0">
                  <c:v>Domestic production</c:v>
                </c:pt>
              </c:strCache>
            </c:strRef>
          </c:tx>
          <c:spPr>
            <a:ln w="25400">
              <a:solidFill>
                <a:srgbClr val="666666"/>
              </a:solidFill>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Sheet1!$C$2:$C$28</c:f>
              <c:numCache>
                <c:formatCode>General</c:formatCode>
                <c:ptCount val="27"/>
                <c:pt idx="0">
                  <c:v>10.07215177714875</c:v>
                </c:pt>
                <c:pt idx="1">
                  <c:v>10.098004255751249</c:v>
                </c:pt>
                <c:pt idx="2">
                  <c:v>10.123856734353751</c:v>
                </c:pt>
                <c:pt idx="3">
                  <c:v>10.14970921295625</c:v>
                </c:pt>
                <c:pt idx="4">
                  <c:v>10.1751699873375</c:v>
                </c:pt>
                <c:pt idx="5">
                  <c:v>9.955423919216251</c:v>
                </c:pt>
                <c:pt idx="6">
                  <c:v>9.955423919216251</c:v>
                </c:pt>
                <c:pt idx="7">
                  <c:v>6.782097454796251</c:v>
                </c:pt>
                <c:pt idx="8">
                  <c:v>6.782097454796251</c:v>
                </c:pt>
                <c:pt idx="9">
                  <c:v>6.650093132235002</c:v>
                </c:pt>
                <c:pt idx="10">
                  <c:v>6.51808880967375</c:v>
                </c:pt>
                <c:pt idx="11">
                  <c:v>6.386084487112499</c:v>
                </c:pt>
                <c:pt idx="12">
                  <c:v>6.386084487112499</c:v>
                </c:pt>
                <c:pt idx="13">
                  <c:v>6.386084487112499</c:v>
                </c:pt>
                <c:pt idx="14">
                  <c:v>6.386084487112499</c:v>
                </c:pt>
                <c:pt idx="15">
                  <c:v>6.386084487112499</c:v>
                </c:pt>
                <c:pt idx="16">
                  <c:v>6.386084487112499</c:v>
                </c:pt>
                <c:pt idx="17">
                  <c:v>3.342542688</c:v>
                </c:pt>
                <c:pt idx="18">
                  <c:v>3.342542688</c:v>
                </c:pt>
                <c:pt idx="19">
                  <c:v>3.342542688</c:v>
                </c:pt>
                <c:pt idx="20">
                  <c:v>3.342542688</c:v>
                </c:pt>
                <c:pt idx="21">
                  <c:v>3.342542688</c:v>
                </c:pt>
                <c:pt idx="22">
                  <c:v>3.342542688</c:v>
                </c:pt>
                <c:pt idx="23">
                  <c:v>3.342542688</c:v>
                </c:pt>
                <c:pt idx="24">
                  <c:v>3.342542688</c:v>
                </c:pt>
                <c:pt idx="25">
                  <c:v>3.342542688</c:v>
                </c:pt>
                <c:pt idx="26">
                  <c:v>3.342542688</c:v>
                </c:pt>
              </c:numCache>
            </c:numRef>
          </c:val>
          <c:smooth val="0"/>
        </c:ser>
        <c:ser>
          <c:idx val="2"/>
          <c:order val="2"/>
          <c:tx>
            <c:strRef>
              <c:f>Sheet1!$D$1</c:f>
              <c:strCache>
                <c:ptCount val="1"/>
                <c:pt idx="0">
                  <c:v>Deficit</c:v>
                </c:pt>
              </c:strCache>
            </c:strRef>
          </c:tx>
          <c:spPr>
            <a:ln w="25400">
              <a:solidFill>
                <a:srgbClr val="8491B2"/>
              </a:solidFill>
              <a:prstDash val="dash"/>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Sheet1!$D$2:$D$28</c:f>
              <c:numCache>
                <c:formatCode>General</c:formatCode>
                <c:ptCount val="27"/>
                <c:pt idx="0">
                  <c:v>15.433202679685087</c:v>
                </c:pt>
                <c:pt idx="1">
                  <c:v>16.232154680580688</c:v>
                </c:pt>
                <c:pt idx="2">
                  <c:v>13.402972778018405</c:v>
                </c:pt>
                <c:pt idx="3">
                  <c:v>13.716927539507212</c:v>
                </c:pt>
                <c:pt idx="4">
                  <c:v>14.021691851323181</c:v>
                </c:pt>
                <c:pt idx="5">
                  <c:v>14.560661390058451</c:v>
                </c:pt>
                <c:pt idx="6">
                  <c:v>14.86553656212698</c:v>
                </c:pt>
                <c:pt idx="7">
                  <c:v>18.28550954291914</c:v>
                </c:pt>
                <c:pt idx="8">
                  <c:v>18.494610552560697</c:v>
                </c:pt>
                <c:pt idx="9">
                  <c:v>18.783819237746535</c:v>
                </c:pt>
                <c:pt idx="10">
                  <c:v>19.00481631373509</c:v>
                </c:pt>
                <c:pt idx="11">
                  <c:v>19.143542054419797</c:v>
                </c:pt>
                <c:pt idx="12">
                  <c:v>19.06217804819554</c:v>
                </c:pt>
                <c:pt idx="13">
                  <c:v>18.899502516930028</c:v>
                </c:pt>
                <c:pt idx="14">
                  <c:v>18.674011641819572</c:v>
                </c:pt>
                <c:pt idx="15">
                  <c:v>18.410259741161248</c:v>
                </c:pt>
                <c:pt idx="16">
                  <c:v>18.132426320599663</c:v>
                </c:pt>
                <c:pt idx="17">
                  <c:v>20.903930833023484</c:v>
                </c:pt>
                <c:pt idx="18">
                  <c:v>20.652237114206187</c:v>
                </c:pt>
                <c:pt idx="19">
                  <c:v>20.43077782490555</c:v>
                </c:pt>
                <c:pt idx="20">
                  <c:v>20.24599757073113</c:v>
                </c:pt>
                <c:pt idx="21">
                  <c:v>20.102027798655563</c:v>
                </c:pt>
                <c:pt idx="22">
                  <c:v>20.001549161528413</c:v>
                </c:pt>
                <c:pt idx="23">
                  <c:v>19.946385878104987</c:v>
                </c:pt>
                <c:pt idx="24">
                  <c:v>19.93789423282413</c:v>
                </c:pt>
                <c:pt idx="25">
                  <c:v>19.97720938153595</c:v>
                </c:pt>
                <c:pt idx="26">
                  <c:v>20.06540007653453</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txPr>
          <a:bodyPr/>
          <a:lstStyle/>
          <a:p>
            <a:pPr>
              <a:defRPr sz="1000"/>
            </a:pPr>
          </a:p>
        </c:txPr>
        <c:crossAx val="2140495176"/>
        <c:crosses val="autoZero"/>
        <c:auto val="1"/>
        <c:lblAlgn val="ctr"/>
        <c:lblOffset val="100"/>
        <c:noMultiLvlLbl val="0"/>
      </c:catAx>
      <c:valAx>
        <c:axId val="2140495176"/>
        <c:scaling>
          <c:max val="50.0"/>
          <c:min val="0.0"/>
        </c:scaling>
        <c:delete val="0"/>
        <c:axPos val="l"/>
        <c:majorGridlines>
          <c:spPr>
            <a:ln w="3810">
              <a:solidFill>
                <a:srgbClr val="DDDDDD"/>
              </a:solidFill>
            </a:ln>
          </c:spPr>
        </c:majorGridlines>
        <c:numFmt formatCode="0.0" sourceLinked="0"/>
        <c:majorTickMark val="out"/>
        <c:minorTickMark val="none"/>
        <c:tickLblPos val="nextTo"/>
        <c:txPr>
          <a:bodyPr/>
          <a:lstStyle/>
          <a:p>
            <a:pPr>
              <a:defRPr sz="10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high_demand</c:v>
                </c:pt>
              </c:strCache>
            </c:strRef>
          </c:tx>
          <c:spPr>
            <a:ln w="25400">
              <a:solidFill>
                <a:srgbClr val="0A2373"/>
              </a:solidFill>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Sheet1!$B$2:$B$28</c:f>
              <c:numCache>
                <c:formatCode>General</c:formatCode>
                <c:ptCount val="27"/>
                <c:pt idx="0">
                  <c:v>7.929685371405513</c:v>
                </c:pt>
                <c:pt idx="1">
                  <c:v>8.083956751428673</c:v>
                </c:pt>
                <c:pt idx="2">
                  <c:v>8.244025240866486</c:v>
                </c:pt>
                <c:pt idx="3">
                  <c:v>8.410462249470676</c:v>
                </c:pt>
                <c:pt idx="4">
                  <c:v>8.583707326682598</c:v>
                </c:pt>
                <c:pt idx="5">
                  <c:v>8.763946422052998</c:v>
                </c:pt>
                <c:pt idx="6">
                  <c:v>8.951057412033466</c:v>
                </c:pt>
                <c:pt idx="7">
                  <c:v>9.143853712900027</c:v>
                </c:pt>
                <c:pt idx="8">
                  <c:v>9.340960238495892</c:v>
                </c:pt>
                <c:pt idx="9">
                  <c:v>9.540762254104132</c:v>
                </c:pt>
                <c:pt idx="10">
                  <c:v>9.741363263688969</c:v>
                </c:pt>
                <c:pt idx="11">
                  <c:v>9.940571409724516</c:v>
                </c:pt>
                <c:pt idx="12">
                  <c:v>10.135942299315781</c:v>
                </c:pt>
                <c:pt idx="13">
                  <c:v>10.324908164640561</c:v>
                </c:pt>
                <c:pt idx="14">
                  <c:v>10.50500895767176</c:v>
                </c:pt>
                <c:pt idx="15">
                  <c:v>10.674203636366508</c:v>
                </c:pt>
                <c:pt idx="16">
                  <c:v>10.831188671331631</c:v>
                </c:pt>
                <c:pt idx="17">
                  <c:v>10.975617222361768</c:v>
                </c:pt>
                <c:pt idx="18">
                  <c:v>11.108131690901004</c:v>
                </c:pt>
                <c:pt idx="19">
                  <c:v>11.230195537940821</c:v>
                </c:pt>
                <c:pt idx="20">
                  <c:v>11.34379205722707</c:v>
                </c:pt>
                <c:pt idx="21">
                  <c:v>11.45109557069139</c:v>
                </c:pt>
                <c:pt idx="22">
                  <c:v>11.554201483112207</c:v>
                </c:pt>
                <c:pt idx="23">
                  <c:v>11.654953853500011</c:v>
                </c:pt>
                <c:pt idx="24">
                  <c:v>11.754866808117752</c:v>
                </c:pt>
                <c:pt idx="25">
                  <c:v>11.855114626333584</c:v>
                </c:pt>
                <c:pt idx="26">
                  <c:v>11.95656206046549</c:v>
                </c:pt>
              </c:numCache>
            </c:numRef>
          </c:val>
          <c:smooth val="0"/>
        </c:ser>
        <c:ser>
          <c:idx val="1"/>
          <c:order val="1"/>
          <c:tx>
            <c:strRef>
              <c:f>Sheet1!$C$1</c:f>
              <c:strCache>
                <c:ptCount val="1"/>
                <c:pt idx="0">
                  <c:v>low_demand</c:v>
                </c:pt>
              </c:strCache>
            </c:strRef>
          </c:tx>
          <c:spPr>
            <a:ln w="25400">
              <a:solidFill>
                <a:srgbClr val="8491B2"/>
              </a:solidFill>
              <a:prstDash val="dash"/>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Sheet1!$C$2:$C$28</c:f>
              <c:numCache>
                <c:formatCode>General</c:formatCode>
                <c:ptCount val="27"/>
                <c:pt idx="0">
                  <c:v>7.893057319773251</c:v>
                </c:pt>
                <c:pt idx="1">
                  <c:v>8.033671842299855</c:v>
                </c:pt>
                <c:pt idx="2">
                  <c:v>8.15974152042718</c:v>
                </c:pt>
                <c:pt idx="3">
                  <c:v>8.272466936673629</c:v>
                </c:pt>
                <c:pt idx="4">
                  <c:v>8.372525156747487</c:v>
                </c:pt>
                <c:pt idx="5">
                  <c:v>8.459776263886644</c:v>
                </c:pt>
                <c:pt idx="6">
                  <c:v>8.532956749792394</c:v>
                </c:pt>
                <c:pt idx="7">
                  <c:v>8.588705979565002</c:v>
                </c:pt>
                <c:pt idx="8">
                  <c:v>8.622104618519378</c:v>
                </c:pt>
                <c:pt idx="9">
                  <c:v>8.626650917716956</c:v>
                </c:pt>
                <c:pt idx="10">
                  <c:v>8.59498139175345</c:v>
                </c:pt>
                <c:pt idx="11">
                  <c:v>8.520709559247761</c:v>
                </c:pt>
                <c:pt idx="12">
                  <c:v>8.40102073821502</c:v>
                </c:pt>
                <c:pt idx="13">
                  <c:v>8.238537180454419</c:v>
                </c:pt>
                <c:pt idx="14">
                  <c:v>8.040924938475863</c:v>
                </c:pt>
                <c:pt idx="15">
                  <c:v>7.81843855617185</c:v>
                </c:pt>
                <c:pt idx="16">
                  <c:v>7.581149529089721</c:v>
                </c:pt>
                <c:pt idx="17">
                  <c:v>7.3372618673530825</c:v>
                </c:pt>
                <c:pt idx="18">
                  <c:v>7.092673497135122</c:v>
                </c:pt>
                <c:pt idx="19">
                  <c:v>6.851264532508253</c:v>
                </c:pt>
                <c:pt idx="20">
                  <c:v>6.615412288751329</c:v>
                </c:pt>
                <c:pt idx="21">
                  <c:v>6.386471458576258</c:v>
                </c:pt>
                <c:pt idx="22">
                  <c:v>6.165137947911835</c:v>
                </c:pt>
                <c:pt idx="23">
                  <c:v>5.951698287605922</c:v>
                </c:pt>
                <c:pt idx="24">
                  <c:v>5.746191466132884</c:v>
                </c:pt>
                <c:pt idx="25">
                  <c:v>5.54851061928961</c:v>
                </c:pt>
                <c:pt idx="26">
                  <c:v>5.358465677090672</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txPr>
          <a:bodyPr/>
          <a:lstStyle/>
          <a:p>
            <a:pPr>
              <a:defRPr sz="1000"/>
            </a:pPr>
          </a:p>
        </c:txPr>
        <c:crossAx val="2140495176"/>
        <c:crosses val="autoZero"/>
        <c:auto val="1"/>
        <c:lblAlgn val="ctr"/>
        <c:lblOffset val="100"/>
        <c:noMultiLvlLbl val="0"/>
      </c:catAx>
      <c:valAx>
        <c:axId val="2140495176"/>
        <c:scaling>
          <c:min val="0.0"/>
        </c:scaling>
        <c:delete val="0"/>
        <c:axPos val="l"/>
        <c:majorGridlines>
          <c:spPr>
            <a:ln w="3810">
              <a:solidFill>
                <a:srgbClr val="DDDDDD"/>
              </a:solidFill>
            </a:ln>
          </c:spPr>
        </c:majorGridlines>
        <c:numFmt formatCode="0.0" sourceLinked="0"/>
        <c:majorTickMark val="out"/>
        <c:minorTickMark val="none"/>
        <c:tickLblPos val="nextTo"/>
        <c:txPr>
          <a:bodyPr/>
          <a:lstStyle/>
          <a:p>
            <a:pPr>
              <a:defRPr sz="10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high_demand</c:v>
                </c:pt>
              </c:strCache>
            </c:strRef>
          </c:tx>
          <c:spPr>
            <a:ln w="25400">
              <a:solidFill>
                <a:srgbClr val="0A2373"/>
              </a:solidFill>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Sheet1!$B$2:$B$28</c:f>
              <c:numCache>
                <c:formatCode>General</c:formatCode>
                <c:ptCount val="27"/>
                <c:pt idx="0">
                  <c:v>16.054661106933956</c:v>
                </c:pt>
                <c:pt idx="1">
                  <c:v>16.69034994431144</c:v>
                </c:pt>
                <c:pt idx="2">
                  <c:v>17.330654987020175</c:v>
                </c:pt>
                <c:pt idx="3">
                  <c:v>17.5639623875883</c:v>
                </c:pt>
                <c:pt idx="4">
                  <c:v>17.679469327362213</c:v>
                </c:pt>
                <c:pt idx="5">
                  <c:v>17.874080865198298</c:v>
                </c:pt>
                <c:pt idx="6">
                  <c:v>18.08175200804441</c:v>
                </c:pt>
                <c:pt idx="7">
                  <c:v>18.299989110700018</c:v>
                </c:pt>
                <c:pt idx="8">
                  <c:v>18.526942581208584</c:v>
                </c:pt>
                <c:pt idx="9">
                  <c:v>18.7604635949919</c:v>
                </c:pt>
                <c:pt idx="10">
                  <c:v>18.998045380713126</c:v>
                </c:pt>
                <c:pt idx="11">
                  <c:v>19.236800775541685</c:v>
                </c:pt>
                <c:pt idx="12">
                  <c:v>19.473513086739047</c:v>
                </c:pt>
                <c:pt idx="13">
                  <c:v>19.704800740076802</c:v>
                </c:pt>
                <c:pt idx="14">
                  <c:v>19.927418229587545</c:v>
                </c:pt>
                <c:pt idx="15">
                  <c:v>20.13866689953217</c:v>
                </c:pt>
                <c:pt idx="16">
                  <c:v>20.33682030066642</c:v>
                </c:pt>
                <c:pt idx="17">
                  <c:v>20.52142188377615</c:v>
                </c:pt>
                <c:pt idx="18">
                  <c:v>20.693335677672486</c:v>
                </c:pt>
                <c:pt idx="19">
                  <c:v>20.85452700464133</c:v>
                </c:pt>
                <c:pt idx="20">
                  <c:v>21.007660895939456</c:v>
                </c:pt>
                <c:pt idx="21">
                  <c:v>21.15565919880239</c:v>
                </c:pt>
                <c:pt idx="22">
                  <c:v>21.30133409996343</c:v>
                </c:pt>
                <c:pt idx="23">
                  <c:v>21.447152299072062</c:v>
                </c:pt>
                <c:pt idx="24">
                  <c:v>21.595126538842376</c:v>
                </c:pt>
                <c:pt idx="25">
                  <c:v>21.746801261042908</c:v>
                </c:pt>
                <c:pt idx="26">
                  <c:v>21.90329397474121</c:v>
                </c:pt>
              </c:numCache>
            </c:numRef>
          </c:val>
          <c:smooth val="0"/>
        </c:ser>
        <c:ser>
          <c:idx val="1"/>
          <c:order val="1"/>
          <c:tx>
            <c:strRef>
              <c:f>Sheet1!$C$1</c:f>
              <c:strCache>
                <c:ptCount val="1"/>
                <c:pt idx="0">
                  <c:v>low_demand</c:v>
                </c:pt>
              </c:strCache>
            </c:strRef>
          </c:tx>
          <c:spPr>
            <a:ln w="25400">
              <a:solidFill>
                <a:srgbClr val="8491B2"/>
              </a:solidFill>
              <a:prstDash val="dash"/>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Sheet1!$C$2:$C$28</c:f>
              <c:numCache>
                <c:formatCode>General</c:formatCode>
                <c:ptCount val="27"/>
                <c:pt idx="0">
                  <c:v>16.010852597766906</c:v>
                </c:pt>
                <c:pt idx="1">
                  <c:v>16.630299919915096</c:v>
                </c:pt>
                <c:pt idx="2">
                  <c:v>13.544965783747955</c:v>
                </c:pt>
                <c:pt idx="3">
                  <c:v>13.660868268901249</c:v>
                </c:pt>
                <c:pt idx="4">
                  <c:v>13.766185313414164</c:v>
                </c:pt>
                <c:pt idx="5">
                  <c:v>13.86052019144015</c:v>
                </c:pt>
                <c:pt idx="6">
                  <c:v>13.942017607908085</c:v>
                </c:pt>
                <c:pt idx="7">
                  <c:v>13.973992550115684</c:v>
                </c:pt>
                <c:pt idx="8">
                  <c:v>13.981476918242064</c:v>
                </c:pt>
                <c:pt idx="9">
                  <c:v>13.956013339836888</c:v>
                </c:pt>
                <c:pt idx="10">
                  <c:v>13.888002508147828</c:v>
                </c:pt>
                <c:pt idx="11">
                  <c:v>13.769080887688602</c:v>
                </c:pt>
                <c:pt idx="12">
                  <c:v>13.59551353674528</c:v>
                </c:pt>
                <c:pt idx="13">
                  <c:v>13.370668358746192</c:v>
                </c:pt>
                <c:pt idx="14">
                  <c:v>13.104540368968008</c:v>
                </c:pt>
                <c:pt idx="15">
                  <c:v>12.81053949205041</c:v>
                </c:pt>
                <c:pt idx="16">
                  <c:v>12.501825564253132</c:v>
                </c:pt>
                <c:pt idx="17">
                  <c:v>12.189061908442476</c:v>
                </c:pt>
                <c:pt idx="18">
                  <c:v>11.879821491260575</c:v>
                </c:pt>
                <c:pt idx="19">
                  <c:v>11.578967958255971</c:v>
                </c:pt>
                <c:pt idx="20">
                  <c:v>11.28934631195331</c:v>
                </c:pt>
                <c:pt idx="21">
                  <c:v>11.012430904941048</c:v>
                </c:pt>
                <c:pt idx="22">
                  <c:v>10.748818717503529</c:v>
                </c:pt>
                <c:pt idx="23">
                  <c:v>10.498568710664022</c:v>
                </c:pt>
                <c:pt idx="24">
                  <c:v>10.26142253122609</c:v>
                </c:pt>
                <c:pt idx="25">
                  <c:v>10.036943274992439</c:v>
                </c:pt>
                <c:pt idx="26">
                  <c:v>9.824600795691579</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txPr>
          <a:bodyPr/>
          <a:lstStyle/>
          <a:p>
            <a:pPr>
              <a:defRPr sz="1000"/>
            </a:pPr>
          </a:p>
        </c:txPr>
        <c:crossAx val="2140495176"/>
        <c:crosses val="autoZero"/>
        <c:auto val="1"/>
        <c:lblAlgn val="ctr"/>
        <c:lblOffset val="100"/>
        <c:noMultiLvlLbl val="0"/>
      </c:catAx>
      <c:valAx>
        <c:axId val="2140495176"/>
        <c:scaling>
          <c:min val="0.0"/>
        </c:scaling>
        <c:delete val="0"/>
        <c:axPos val="l"/>
        <c:majorGridlines>
          <c:spPr>
            <a:ln w="3810">
              <a:solidFill>
                <a:srgbClr val="DDDDDD"/>
              </a:solidFill>
            </a:ln>
          </c:spPr>
        </c:majorGridlines>
        <c:numFmt formatCode="0.0" sourceLinked="0"/>
        <c:majorTickMark val="out"/>
        <c:minorTickMark val="none"/>
        <c:tickLblPos val="nextTo"/>
        <c:txPr>
          <a:bodyPr/>
          <a:lstStyle/>
          <a:p>
            <a:pPr>
              <a:defRPr sz="10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high_demand</c:v>
                </c:pt>
              </c:strCache>
            </c:strRef>
          </c:tx>
          <c:spPr>
            <a:ln w="25400">
              <a:solidFill>
                <a:srgbClr val="0A2373"/>
              </a:solidFill>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Sheet1!$B$2:$B$28</c:f>
              <c:numCache>
                <c:formatCode>General</c:formatCode>
                <c:ptCount val="27"/>
                <c:pt idx="0">
                  <c:v>1.601444539293681</c:v>
                </c:pt>
                <c:pt idx="1">
                  <c:v>1.66618717411699</c:v>
                </c:pt>
                <c:pt idx="2">
                  <c:v>1.9105953913375333</c:v>
                </c:pt>
                <c:pt idx="3">
                  <c:v>2.110799371315896</c:v>
                </c:pt>
                <c:pt idx="4">
                  <c:v>2.325330997769632</c:v>
                </c:pt>
                <c:pt idx="5">
                  <c:v>2.5534002922223586</c:v>
                </c:pt>
                <c:pt idx="6">
                  <c:v>2.7948548806124784</c:v>
                </c:pt>
                <c:pt idx="7">
                  <c:v>3.045787140513172</c:v>
                </c:pt>
                <c:pt idx="8">
                  <c:v>3.306773129599316</c:v>
                </c:pt>
                <c:pt idx="9">
                  <c:v>3.5784263422579583</c:v>
                </c:pt>
                <c:pt idx="10">
                  <c:v>3.861400161109434</c:v>
                </c:pt>
                <c:pt idx="11">
                  <c:v>4.15639046919826</c:v>
                </c:pt>
                <c:pt idx="12">
                  <c:v>4.464138433384924</c:v>
                </c:pt>
                <c:pt idx="13">
                  <c:v>4.78543347015987</c:v>
                </c:pt>
                <c:pt idx="14">
                  <c:v>5.121116405836484</c:v>
                </c:pt>
                <c:pt idx="15">
                  <c:v>5.472082843863651</c:v>
                </c:pt>
                <c:pt idx="16">
                  <c:v>5.839286752833508</c:v>
                </c:pt>
                <c:pt idx="17">
                  <c:v>6.223744289649814</c:v>
                </c:pt>
                <c:pt idx="18">
                  <c:v>6.626537873270588</c:v>
                </c:pt>
                <c:pt idx="19">
                  <c:v>7.048820525448803</c:v>
                </c:pt>
                <c:pt idx="20">
                  <c:v>7.491820495971603</c:v>
                </c:pt>
                <c:pt idx="21">
                  <c:v>7.956846191045485</c:v>
                </c:pt>
                <c:pt idx="22">
                  <c:v>8.445291424697139</c:v>
                </c:pt>
                <c:pt idx="23">
                  <c:v>8.958641014362046</c:v>
                </c:pt>
                <c:pt idx="24">
                  <c:v>9.49847674322064</c:v>
                </c:pt>
                <c:pt idx="25">
                  <c:v>10.066483713320594</c:v>
                </c:pt>
                <c:pt idx="26">
                  <c:v>10.664457115099232</c:v>
                </c:pt>
              </c:numCache>
            </c:numRef>
          </c:val>
          <c:smooth val="0"/>
        </c:ser>
        <c:ser>
          <c:idx val="1"/>
          <c:order val="1"/>
          <c:tx>
            <c:strRef>
              <c:f>Sheet1!$C$1</c:f>
              <c:strCache>
                <c:ptCount val="1"/>
                <c:pt idx="0">
                  <c:v>low_demand</c:v>
                </c:pt>
              </c:strCache>
            </c:strRef>
          </c:tx>
          <c:spPr>
            <a:ln w="25400">
              <a:solidFill>
                <a:srgbClr val="8491B2"/>
              </a:solidFill>
              <a:prstDash val="dash"/>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Sheet1!$C$2:$C$28</c:f>
              <c:numCache>
                <c:formatCode>General</c:formatCode>
                <c:ptCount val="27"/>
                <c:pt idx="0">
                  <c:v>1.601444539293681</c:v>
                </c:pt>
                <c:pt idx="1">
                  <c:v>1.66618717411699</c:v>
                </c:pt>
                <c:pt idx="2">
                  <c:v>1.8221222081970168</c:v>
                </c:pt>
                <c:pt idx="3">
                  <c:v>1.933301546888585</c:v>
                </c:pt>
                <c:pt idx="4">
                  <c:v>2.0581513684990287</c:v>
                </c:pt>
                <c:pt idx="5">
                  <c:v>2.1957888539479047</c:v>
                </c:pt>
                <c:pt idx="6">
                  <c:v>2.3459861236427524</c:v>
                </c:pt>
                <c:pt idx="7">
                  <c:v>2.5049084680347042</c:v>
                </c:pt>
                <c:pt idx="8">
                  <c:v>2.673126470595501</c:v>
                </c:pt>
                <c:pt idx="9">
                  <c:v>2.851248112427692</c:v>
                </c:pt>
                <c:pt idx="10">
                  <c:v>3.0399212235075663</c:v>
                </c:pt>
                <c:pt idx="11">
                  <c:v>3.239836094595931</c:v>
                </c:pt>
                <c:pt idx="12">
                  <c:v>3.4517282603477364</c:v>
                </c:pt>
                <c:pt idx="13">
                  <c:v>3.676381464841914</c:v>
                </c:pt>
                <c:pt idx="14">
                  <c:v>3.9146308214882004</c:v>
                </c:pt>
                <c:pt idx="15">
                  <c:v>4.167366180051487</c:v>
                </c:pt>
                <c:pt idx="16">
                  <c:v>4.435535714369312</c:v>
                </c:pt>
                <c:pt idx="17">
                  <c:v>4.720149745227924</c:v>
                </c:pt>
                <c:pt idx="18">
                  <c:v>5.022284813810492</c:v>
                </c:pt>
                <c:pt idx="19">
                  <c:v>5.343088022141328</c:v>
                </c:pt>
                <c:pt idx="20">
                  <c:v>5.683781658026495</c:v>
                </c:pt>
                <c:pt idx="21">
                  <c:v>6.045668123138259</c:v>
                </c:pt>
                <c:pt idx="22">
                  <c:v>6.430135184113047</c:v>
                </c:pt>
                <c:pt idx="23">
                  <c:v>6.838661567835043</c:v>
                </c:pt>
                <c:pt idx="24">
                  <c:v>7.272822923465158</c:v>
                </c:pt>
                <c:pt idx="25">
                  <c:v>7.734298175253899</c:v>
                </c:pt>
                <c:pt idx="26">
                  <c:v>8.224876291752283</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txPr>
          <a:bodyPr/>
          <a:lstStyle/>
          <a:p>
            <a:pPr>
              <a:defRPr sz="1000"/>
            </a:pPr>
          </a:p>
        </c:txPr>
        <c:crossAx val="2140495176"/>
        <c:crosses val="autoZero"/>
        <c:auto val="1"/>
        <c:lblAlgn val="ctr"/>
        <c:lblOffset val="100"/>
        <c:noMultiLvlLbl val="0"/>
      </c:catAx>
      <c:valAx>
        <c:axId val="2140495176"/>
        <c:scaling>
          <c:min val="0.0"/>
        </c:scaling>
        <c:delete val="0"/>
        <c:axPos val="l"/>
        <c:majorGridlines>
          <c:spPr>
            <a:ln w="3810">
              <a:solidFill>
                <a:srgbClr val="DDDDDD"/>
              </a:solidFill>
            </a:ln>
          </c:spPr>
        </c:majorGridlines>
        <c:numFmt formatCode="0.0" sourceLinked="0"/>
        <c:majorTickMark val="out"/>
        <c:minorTickMark val="none"/>
        <c:tickLblPos val="nextTo"/>
        <c:txPr>
          <a:bodyPr/>
          <a:lstStyle/>
          <a:p>
            <a:pPr>
              <a:defRPr sz="10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high_demand</c:v>
                </c:pt>
              </c:strCache>
            </c:strRef>
          </c:tx>
          <c:spPr>
            <a:ln w="25400">
              <a:solidFill>
                <a:srgbClr val="0A2373"/>
              </a:solidFill>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Sheet1!$B$2:$B$28</c:f>
              <c:numCache>
                <c:formatCode>General</c:formatCode>
                <c:ptCount val="27"/>
                <c:pt idx="0">
                  <c:v>7.437640582672874</c:v>
                </c:pt>
                <c:pt idx="1">
                  <c:v>7.402093424594437</c:v>
                </c:pt>
                <c:pt idx="2">
                  <c:v>7.443046100926124</c:v>
                </c:pt>
                <c:pt idx="3">
                  <c:v>7.483998777257812</c:v>
                </c:pt>
                <c:pt idx="4">
                  <c:v>7.524618505001437</c:v>
                </c:pt>
                <c:pt idx="5">
                  <c:v>7.424733928582687</c:v>
                </c:pt>
                <c:pt idx="6">
                  <c:v>7.424733928582687</c:v>
                </c:pt>
                <c:pt idx="7">
                  <c:v>7.524618505001437</c:v>
                </c:pt>
                <c:pt idx="8">
                  <c:v>7.524618505001437</c:v>
                </c:pt>
                <c:pt idx="9">
                  <c:v>7.42773046587525</c:v>
                </c:pt>
                <c:pt idx="10">
                  <c:v>7.3308424267490615</c:v>
                </c:pt>
                <c:pt idx="11">
                  <c:v>7.233621439034812</c:v>
                </c:pt>
                <c:pt idx="12">
                  <c:v>6.919650920491875</c:v>
                </c:pt>
                <c:pt idx="13">
                  <c:v>6.919650920491875</c:v>
                </c:pt>
                <c:pt idx="14">
                  <c:v>6.919650920491875</c:v>
                </c:pt>
                <c:pt idx="15">
                  <c:v>6.919650920491875</c:v>
                </c:pt>
                <c:pt idx="16">
                  <c:v>6.919650920491875</c:v>
                </c:pt>
                <c:pt idx="17">
                  <c:v>6.919650920491875</c:v>
                </c:pt>
                <c:pt idx="18">
                  <c:v>6.919650920491875</c:v>
                </c:pt>
                <c:pt idx="19">
                  <c:v>6.919650920491875</c:v>
                </c:pt>
                <c:pt idx="20">
                  <c:v>6.919650920491875</c:v>
                </c:pt>
                <c:pt idx="21">
                  <c:v>6.919650920491875</c:v>
                </c:pt>
                <c:pt idx="22">
                  <c:v>6.919650920491875</c:v>
                </c:pt>
                <c:pt idx="23">
                  <c:v>6.919650920491875</c:v>
                </c:pt>
                <c:pt idx="24">
                  <c:v>6.919650920491875</c:v>
                </c:pt>
                <c:pt idx="25">
                  <c:v>6.919650920491875</c:v>
                </c:pt>
                <c:pt idx="26">
                  <c:v>6.919650920491875</c:v>
                </c:pt>
              </c:numCache>
            </c:numRef>
          </c:val>
          <c:smooth val="0"/>
        </c:ser>
        <c:ser>
          <c:idx val="1"/>
          <c:order val="1"/>
          <c:tx>
            <c:strRef>
              <c:f>Sheet1!$C$1</c:f>
              <c:strCache>
                <c:ptCount val="1"/>
                <c:pt idx="0">
                  <c:v>low_demand</c:v>
                </c:pt>
              </c:strCache>
            </c:strRef>
          </c:tx>
          <c:spPr>
            <a:ln w="25400">
              <a:solidFill>
                <a:srgbClr val="8491B2"/>
              </a:solidFill>
              <a:prstDash val="dash"/>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Sheet1!$C$2:$C$28</c:f>
              <c:numCache>
                <c:formatCode>General</c:formatCode>
                <c:ptCount val="27"/>
                <c:pt idx="0">
                  <c:v>6.688016629255688</c:v>
                </c:pt>
                <c:pt idx="1">
                  <c:v>6.709991236067812</c:v>
                </c:pt>
                <c:pt idx="2">
                  <c:v>6.731965842879937</c:v>
                </c:pt>
                <c:pt idx="3">
                  <c:v>6.753940449692062</c:v>
                </c:pt>
                <c:pt idx="4">
                  <c:v>6.775582107916124</c:v>
                </c:pt>
                <c:pt idx="5">
                  <c:v>6.588797950013063</c:v>
                </c:pt>
                <c:pt idx="6">
                  <c:v>6.588797950013063</c:v>
                </c:pt>
                <c:pt idx="7">
                  <c:v>4.803801813776812</c:v>
                </c:pt>
                <c:pt idx="8">
                  <c:v>4.803801813776812</c:v>
                </c:pt>
                <c:pt idx="9">
                  <c:v>4.691598139599751</c:v>
                </c:pt>
                <c:pt idx="10">
                  <c:v>4.579394465422688</c:v>
                </c:pt>
                <c:pt idx="11">
                  <c:v>4.467190791245624</c:v>
                </c:pt>
                <c:pt idx="12">
                  <c:v>4.467190791245624</c:v>
                </c:pt>
                <c:pt idx="13">
                  <c:v>4.467190791245624</c:v>
                </c:pt>
                <c:pt idx="14">
                  <c:v>4.467190791245624</c:v>
                </c:pt>
                <c:pt idx="15">
                  <c:v>4.467190791245624</c:v>
                </c:pt>
                <c:pt idx="16">
                  <c:v>4.467190791245624</c:v>
                </c:pt>
                <c:pt idx="17">
                  <c:v>1.880180262</c:v>
                </c:pt>
                <c:pt idx="18">
                  <c:v>1.880180262</c:v>
                </c:pt>
                <c:pt idx="19">
                  <c:v>1.880180262</c:v>
                </c:pt>
                <c:pt idx="20">
                  <c:v>1.880180262</c:v>
                </c:pt>
                <c:pt idx="21">
                  <c:v>1.880180262</c:v>
                </c:pt>
                <c:pt idx="22">
                  <c:v>1.880180262</c:v>
                </c:pt>
                <c:pt idx="23">
                  <c:v>1.880180262</c:v>
                </c:pt>
                <c:pt idx="24">
                  <c:v>1.880180262</c:v>
                </c:pt>
                <c:pt idx="25">
                  <c:v>1.880180262</c:v>
                </c:pt>
                <c:pt idx="26">
                  <c:v>1.880180262</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txPr>
          <a:bodyPr/>
          <a:lstStyle/>
          <a:p>
            <a:pPr>
              <a:defRPr sz="1000"/>
            </a:pPr>
          </a:p>
        </c:txPr>
        <c:crossAx val="2140495176"/>
        <c:crosses val="autoZero"/>
        <c:auto val="1"/>
        <c:lblAlgn val="ctr"/>
        <c:lblOffset val="100"/>
        <c:noMultiLvlLbl val="0"/>
      </c:catAx>
      <c:valAx>
        <c:axId val="2140495176"/>
        <c:scaling>
          <c:min val="0.0"/>
        </c:scaling>
        <c:delete val="0"/>
        <c:axPos val="l"/>
        <c:majorGridlines>
          <c:spPr>
            <a:ln w="3810">
              <a:solidFill>
                <a:srgbClr val="DDDDDD"/>
              </a:solidFill>
            </a:ln>
          </c:spPr>
        </c:majorGridlines>
        <c:numFmt formatCode="0.0" sourceLinked="0"/>
        <c:majorTickMark val="out"/>
        <c:minorTickMark val="none"/>
        <c:tickLblPos val="nextTo"/>
        <c:txPr>
          <a:bodyPr/>
          <a:lstStyle/>
          <a:p>
            <a:pPr>
              <a:defRPr sz="10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high_demand</c:v>
                </c:pt>
              </c:strCache>
            </c:strRef>
          </c:tx>
          <c:spPr>
            <a:ln w="25400">
              <a:solidFill>
                <a:srgbClr val="0A2373"/>
              </a:solidFill>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Sheet1!$B$2:$B$28</c:f>
              <c:numCache>
                <c:formatCode>General</c:formatCode>
                <c:ptCount val="27"/>
                <c:pt idx="0">
                  <c:v>2.965031216366625</c:v>
                </c:pt>
                <c:pt idx="1">
                  <c:v>2.9297582512430624</c:v>
                </c:pt>
                <c:pt idx="2">
                  <c:v>2.936985194125125</c:v>
                </c:pt>
                <c:pt idx="3">
                  <c:v>2.944212137007187</c:v>
                </c:pt>
                <c:pt idx="4">
                  <c:v>2.9513803242560623</c:v>
                </c:pt>
                <c:pt idx="5">
                  <c:v>2.9337536342998125</c:v>
                </c:pt>
                <c:pt idx="6">
                  <c:v>2.9337536342998125</c:v>
                </c:pt>
                <c:pt idx="7">
                  <c:v>2.9513803242560623</c:v>
                </c:pt>
                <c:pt idx="8">
                  <c:v>2.9513803242560623</c:v>
                </c:pt>
                <c:pt idx="9">
                  <c:v>2.9342824349985</c:v>
                </c:pt>
                <c:pt idx="10">
                  <c:v>2.917184545740937</c:v>
                </c:pt>
                <c:pt idx="11">
                  <c:v>2.900027900850188</c:v>
                </c:pt>
                <c:pt idx="12">
                  <c:v>2.844621338754375</c:v>
                </c:pt>
                <c:pt idx="13">
                  <c:v>2.844621338754375</c:v>
                </c:pt>
                <c:pt idx="14">
                  <c:v>2.844621338754375</c:v>
                </c:pt>
                <c:pt idx="15">
                  <c:v>2.844621338754375</c:v>
                </c:pt>
                <c:pt idx="16">
                  <c:v>2.844621338754375</c:v>
                </c:pt>
                <c:pt idx="17">
                  <c:v>2.844621338754375</c:v>
                </c:pt>
                <c:pt idx="18">
                  <c:v>2.844621338754375</c:v>
                </c:pt>
                <c:pt idx="19">
                  <c:v>2.844621338754375</c:v>
                </c:pt>
                <c:pt idx="20">
                  <c:v>2.844621338754375</c:v>
                </c:pt>
                <c:pt idx="21">
                  <c:v>2.844621338754375</c:v>
                </c:pt>
                <c:pt idx="22">
                  <c:v>2.844621338754375</c:v>
                </c:pt>
                <c:pt idx="23">
                  <c:v>2.844621338754375</c:v>
                </c:pt>
                <c:pt idx="24">
                  <c:v>2.844621338754375</c:v>
                </c:pt>
                <c:pt idx="25">
                  <c:v>2.844621338754375</c:v>
                </c:pt>
                <c:pt idx="26">
                  <c:v>2.844621338754375</c:v>
                </c:pt>
              </c:numCache>
            </c:numRef>
          </c:val>
          <c:smooth val="0"/>
        </c:ser>
        <c:ser>
          <c:idx val="1"/>
          <c:order val="1"/>
          <c:tx>
            <c:strRef>
              <c:f>Sheet1!$C$1</c:f>
              <c:strCache>
                <c:ptCount val="1"/>
                <c:pt idx="0">
                  <c:v>low_demand</c:v>
                </c:pt>
              </c:strCache>
            </c:strRef>
          </c:tx>
          <c:spPr>
            <a:ln w="25400">
              <a:solidFill>
                <a:srgbClr val="8491B2"/>
              </a:solidFill>
              <a:prstDash val="dash"/>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Sheet1!$C$2:$C$28</c:f>
              <c:numCache>
                <c:formatCode>General</c:formatCode>
                <c:ptCount val="27"/>
                <c:pt idx="0">
                  <c:v>2.5696515038405625</c:v>
                </c:pt>
                <c:pt idx="1">
                  <c:v>2.573529375630937</c:v>
                </c:pt>
                <c:pt idx="2">
                  <c:v>2.5774072474213123</c:v>
                </c:pt>
                <c:pt idx="3">
                  <c:v>2.581285119211687</c:v>
                </c:pt>
                <c:pt idx="4">
                  <c:v>2.5851042353688745</c:v>
                </c:pt>
                <c:pt idx="5">
                  <c:v>2.552142325150687</c:v>
                </c:pt>
                <c:pt idx="6">
                  <c:v>2.552142325150687</c:v>
                </c:pt>
                <c:pt idx="7">
                  <c:v>1.5604778050194374</c:v>
                </c:pt>
                <c:pt idx="8">
                  <c:v>1.5604778050194374</c:v>
                </c:pt>
                <c:pt idx="9">
                  <c:v>1.5406771566352502</c:v>
                </c:pt>
                <c:pt idx="10">
                  <c:v>1.5208765082510625</c:v>
                </c:pt>
                <c:pt idx="11">
                  <c:v>1.501075859866875</c:v>
                </c:pt>
                <c:pt idx="12">
                  <c:v>1.501075859866875</c:v>
                </c:pt>
                <c:pt idx="13">
                  <c:v>1.501075859866875</c:v>
                </c:pt>
                <c:pt idx="14">
                  <c:v>1.501075859866875</c:v>
                </c:pt>
                <c:pt idx="15">
                  <c:v>1.501075859866875</c:v>
                </c:pt>
                <c:pt idx="16">
                  <c:v>1.501075859866875</c:v>
                </c:pt>
                <c:pt idx="17">
                  <c:v>1.04454459</c:v>
                </c:pt>
                <c:pt idx="18">
                  <c:v>1.04454459</c:v>
                </c:pt>
                <c:pt idx="19">
                  <c:v>1.04454459</c:v>
                </c:pt>
                <c:pt idx="20">
                  <c:v>1.04454459</c:v>
                </c:pt>
                <c:pt idx="21">
                  <c:v>1.04454459</c:v>
                </c:pt>
                <c:pt idx="22">
                  <c:v>1.04454459</c:v>
                </c:pt>
                <c:pt idx="23">
                  <c:v>1.04454459</c:v>
                </c:pt>
                <c:pt idx="24">
                  <c:v>1.04454459</c:v>
                </c:pt>
                <c:pt idx="25">
                  <c:v>1.04454459</c:v>
                </c:pt>
                <c:pt idx="26">
                  <c:v>1.04454459</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txPr>
          <a:bodyPr/>
          <a:lstStyle/>
          <a:p>
            <a:pPr>
              <a:defRPr sz="1000"/>
            </a:pPr>
          </a:p>
        </c:txPr>
        <c:crossAx val="2140495176"/>
        <c:crosses val="autoZero"/>
        <c:auto val="1"/>
        <c:lblAlgn val="ctr"/>
        <c:lblOffset val="100"/>
        <c:noMultiLvlLbl val="0"/>
      </c:catAx>
      <c:valAx>
        <c:axId val="2140495176"/>
        <c:scaling>
          <c:min val="0.0"/>
        </c:scaling>
        <c:delete val="0"/>
        <c:axPos val="l"/>
        <c:majorGridlines>
          <c:spPr>
            <a:ln w="3810">
              <a:solidFill>
                <a:srgbClr val="DDDDDD"/>
              </a:solidFill>
            </a:ln>
          </c:spPr>
        </c:majorGridlines>
        <c:numFmt formatCode="0.0" sourceLinked="0"/>
        <c:majorTickMark val="out"/>
        <c:minorTickMark val="none"/>
        <c:tickLblPos val="nextTo"/>
        <c:txPr>
          <a:bodyPr/>
          <a:lstStyle/>
          <a:p>
            <a:pPr>
              <a:defRPr sz="10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high_demand</c:v>
                </c:pt>
              </c:strCache>
            </c:strRef>
          </c:tx>
          <c:spPr>
            <a:ln w="25400">
              <a:solidFill>
                <a:srgbClr val="0A2373"/>
              </a:solidFill>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Sheet1!$B$2:$B$28</c:f>
              <c:numCache>
                <c:formatCode>General</c:formatCode>
                <c:ptCount val="27"/>
                <c:pt idx="0">
                  <c:v>0.968710652766</c:v>
                </c:pt>
                <c:pt idx="1">
                  <c:v>0.95171068956375</c:v>
                </c:pt>
                <c:pt idx="2">
                  <c:v>0.95171068956375</c:v>
                </c:pt>
                <c:pt idx="3">
                  <c:v>0.95171068956375</c:v>
                </c:pt>
                <c:pt idx="4">
                  <c:v>0.95171068956375</c:v>
                </c:pt>
                <c:pt idx="5">
                  <c:v>0.95171068956375</c:v>
                </c:pt>
                <c:pt idx="6">
                  <c:v>0.95171068956375</c:v>
                </c:pt>
                <c:pt idx="7">
                  <c:v>0.95171068956375</c:v>
                </c:pt>
                <c:pt idx="8">
                  <c:v>0.95171068956375</c:v>
                </c:pt>
                <c:pt idx="9">
                  <c:v>0.95171068956375</c:v>
                </c:pt>
                <c:pt idx="10">
                  <c:v>0.95171068956375</c:v>
                </c:pt>
                <c:pt idx="11">
                  <c:v>0.95171068956375</c:v>
                </c:pt>
                <c:pt idx="12">
                  <c:v>0.95171068956375</c:v>
                </c:pt>
                <c:pt idx="13">
                  <c:v>0.95171068956375</c:v>
                </c:pt>
                <c:pt idx="14">
                  <c:v>0.95171068956375</c:v>
                </c:pt>
                <c:pt idx="15">
                  <c:v>0.95171068956375</c:v>
                </c:pt>
                <c:pt idx="16">
                  <c:v>0.95171068956375</c:v>
                </c:pt>
                <c:pt idx="17">
                  <c:v>0.95171068956375</c:v>
                </c:pt>
                <c:pt idx="18">
                  <c:v>0.95171068956375</c:v>
                </c:pt>
                <c:pt idx="19">
                  <c:v>0.95171068956375</c:v>
                </c:pt>
                <c:pt idx="20">
                  <c:v>0.95171068956375</c:v>
                </c:pt>
                <c:pt idx="21">
                  <c:v>0.95171068956375</c:v>
                </c:pt>
                <c:pt idx="22">
                  <c:v>0.95171068956375</c:v>
                </c:pt>
                <c:pt idx="23">
                  <c:v>0.95171068956375</c:v>
                </c:pt>
                <c:pt idx="24">
                  <c:v>0.95171068956375</c:v>
                </c:pt>
                <c:pt idx="25">
                  <c:v>0.95171068956375</c:v>
                </c:pt>
                <c:pt idx="26">
                  <c:v>0.95171068956375</c:v>
                </c:pt>
              </c:numCache>
            </c:numRef>
          </c:val>
          <c:smooth val="0"/>
        </c:ser>
        <c:ser>
          <c:idx val="1"/>
          <c:order val="1"/>
          <c:tx>
            <c:strRef>
              <c:f>Sheet1!$C$1</c:f>
              <c:strCache>
                <c:ptCount val="1"/>
                <c:pt idx="0">
                  <c:v>low_demand</c:v>
                </c:pt>
              </c:strCache>
            </c:strRef>
          </c:tx>
          <c:spPr>
            <a:ln w="25400">
              <a:solidFill>
                <a:srgbClr val="8491B2"/>
              </a:solidFill>
              <a:prstDash val="dash"/>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Sheet1!$C$2:$C$28</c:f>
              <c:numCache>
                <c:formatCode>General</c:formatCode>
                <c:ptCount val="27"/>
                <c:pt idx="0">
                  <c:v>0.8144836440525</c:v>
                </c:pt>
                <c:pt idx="1">
                  <c:v>0.8144836440525</c:v>
                </c:pt>
                <c:pt idx="2">
                  <c:v>0.8144836440525</c:v>
                </c:pt>
                <c:pt idx="3">
                  <c:v>0.8144836440525</c:v>
                </c:pt>
                <c:pt idx="4">
                  <c:v>0.8144836440525</c:v>
                </c:pt>
                <c:pt idx="5">
                  <c:v>0.8144836440525</c:v>
                </c:pt>
                <c:pt idx="6">
                  <c:v>0.8144836440525</c:v>
                </c:pt>
                <c:pt idx="7">
                  <c:v>0.417817836</c:v>
                </c:pt>
                <c:pt idx="8">
                  <c:v>0.417817836</c:v>
                </c:pt>
                <c:pt idx="9">
                  <c:v>0.417817836</c:v>
                </c:pt>
                <c:pt idx="10">
                  <c:v>0.417817836</c:v>
                </c:pt>
                <c:pt idx="11">
                  <c:v>0.417817836</c:v>
                </c:pt>
                <c:pt idx="12">
                  <c:v>0.417817836</c:v>
                </c:pt>
                <c:pt idx="13">
                  <c:v>0.417817836</c:v>
                </c:pt>
                <c:pt idx="14">
                  <c:v>0.417817836</c:v>
                </c:pt>
                <c:pt idx="15">
                  <c:v>0.417817836</c:v>
                </c:pt>
                <c:pt idx="16">
                  <c:v>0.417817836</c:v>
                </c:pt>
                <c:pt idx="17">
                  <c:v>0.417817836</c:v>
                </c:pt>
                <c:pt idx="18">
                  <c:v>0.417817836</c:v>
                </c:pt>
                <c:pt idx="19">
                  <c:v>0.417817836</c:v>
                </c:pt>
                <c:pt idx="20">
                  <c:v>0.417817836</c:v>
                </c:pt>
                <c:pt idx="21">
                  <c:v>0.417817836</c:v>
                </c:pt>
                <c:pt idx="22">
                  <c:v>0.417817836</c:v>
                </c:pt>
                <c:pt idx="23">
                  <c:v>0.417817836</c:v>
                </c:pt>
                <c:pt idx="24">
                  <c:v>0.417817836</c:v>
                </c:pt>
                <c:pt idx="25">
                  <c:v>0.417817836</c:v>
                </c:pt>
                <c:pt idx="26">
                  <c:v>0.417817836</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txPr>
          <a:bodyPr/>
          <a:lstStyle/>
          <a:p>
            <a:pPr>
              <a:defRPr sz="1000"/>
            </a:pPr>
          </a:p>
        </c:txPr>
        <c:crossAx val="2140495176"/>
        <c:crosses val="autoZero"/>
        <c:auto val="1"/>
        <c:lblAlgn val="ctr"/>
        <c:lblOffset val="100"/>
        <c:noMultiLvlLbl val="0"/>
      </c:catAx>
      <c:valAx>
        <c:axId val="2140495176"/>
        <c:scaling>
          <c:min val="0.0"/>
        </c:scaling>
        <c:delete val="0"/>
        <c:axPos val="l"/>
        <c:majorGridlines>
          <c:spPr>
            <a:ln w="3810">
              <a:solidFill>
                <a:srgbClr val="DDDDDD"/>
              </a:solidFill>
            </a:ln>
          </c:spPr>
        </c:majorGridlines>
        <c:numFmt formatCode="0.0" sourceLinked="0"/>
        <c:majorTickMark val="out"/>
        <c:minorTickMark val="none"/>
        <c:tickLblPos val="nextTo"/>
        <c:txPr>
          <a:bodyPr/>
          <a:lstStyle/>
          <a:p>
            <a:pPr>
              <a:defRPr sz="10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high_demand</c:v>
                </c:pt>
              </c:strCache>
            </c:strRef>
          </c:tx>
          <c:spPr>
            <a:ln w="25400">
              <a:solidFill>
                <a:srgbClr val="0A2373"/>
              </a:solidFill>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Sheet1!$B$2:$B$28</c:f>
              <c:numCache>
                <c:formatCode>General</c:formatCode>
                <c:ptCount val="27"/>
                <c:pt idx="0">
                  <c:v>0.4920447887326384</c:v>
                </c:pt>
                <c:pt idx="1">
                  <c:v>0.6818633268342361</c:v>
                </c:pt>
                <c:pt idx="2">
                  <c:v>0.8009791399403611</c:v>
                </c:pt>
                <c:pt idx="3">
                  <c:v>0.9264634722128641</c:v>
                </c:pt>
                <c:pt idx="4">
                  <c:v>1.0590888216811607</c:v>
                </c:pt>
                <c:pt idx="5">
                  <c:v>1.3392124934703102</c:v>
                </c:pt>
                <c:pt idx="6">
                  <c:v>1.526323483450779</c:v>
                </c:pt>
                <c:pt idx="7">
                  <c:v>1.6192352078985892</c:v>
                </c:pt>
                <c:pt idx="8">
                  <c:v>1.8163417334944563</c:v>
                </c:pt>
                <c:pt idx="9">
                  <c:v>2.1130317882288816</c:v>
                </c:pt>
                <c:pt idx="10">
                  <c:v>2.410520836939907</c:v>
                </c:pt>
                <c:pt idx="11">
                  <c:v>2.706949970689704</c:v>
                </c:pt>
                <c:pt idx="12">
                  <c:v>3.216291378823906</c:v>
                </c:pt>
                <c:pt idx="13">
                  <c:v>3.4052572441486872</c:v>
                </c:pt>
                <c:pt idx="14">
                  <c:v>3.585358037179884</c:v>
                </c:pt>
                <c:pt idx="15">
                  <c:v>3.7545527158746337</c:v>
                </c:pt>
                <c:pt idx="16">
                  <c:v>3.911537750839756</c:v>
                </c:pt>
                <c:pt idx="17">
                  <c:v>4.055966301869892</c:v>
                </c:pt>
                <c:pt idx="18">
                  <c:v>4.1884807704091305</c:v>
                </c:pt>
                <c:pt idx="19">
                  <c:v>4.310544617448944</c:v>
                </c:pt>
                <c:pt idx="20">
                  <c:v>4.424141136735195</c:v>
                </c:pt>
                <c:pt idx="21">
                  <c:v>4.531444650199514</c:v>
                </c:pt>
                <c:pt idx="22">
                  <c:v>4.6345505626203325</c:v>
                </c:pt>
                <c:pt idx="23">
                  <c:v>4.735302933008136</c:v>
                </c:pt>
                <c:pt idx="24">
                  <c:v>4.8352158876258775</c:v>
                </c:pt>
                <c:pt idx="25">
                  <c:v>4.935463705841709</c:v>
                </c:pt>
                <c:pt idx="26">
                  <c:v>5.036911139973616</c:v>
                </c:pt>
              </c:numCache>
            </c:numRef>
          </c:val>
          <c:smooth val="0"/>
        </c:ser>
        <c:ser>
          <c:idx val="1"/>
          <c:order val="1"/>
          <c:tx>
            <c:strRef>
              <c:f>Sheet1!$C$1</c:f>
              <c:strCache>
                <c:ptCount val="1"/>
                <c:pt idx="0">
                  <c:v>low_demand</c:v>
                </c:pt>
              </c:strCache>
            </c:strRef>
          </c:tx>
          <c:spPr>
            <a:ln w="25400">
              <a:solidFill>
                <a:srgbClr val="8491B2"/>
              </a:solidFill>
              <a:prstDash val="dash"/>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Sheet1!$C$2:$C$28</c:f>
              <c:numCache>
                <c:formatCode>General</c:formatCode>
                <c:ptCount val="27"/>
                <c:pt idx="0">
                  <c:v>1.2050406905175648</c:v>
                </c:pt>
                <c:pt idx="1">
                  <c:v>1.3236806062320423</c:v>
                </c:pt>
                <c:pt idx="2">
                  <c:v>1.427775677547244</c:v>
                </c:pt>
                <c:pt idx="3">
                  <c:v>1.5185264869815673</c:v>
                </c:pt>
                <c:pt idx="4">
                  <c:v>1.5969430488313636</c:v>
                </c:pt>
                <c:pt idx="5">
                  <c:v>1.8709783138735818</c:v>
                </c:pt>
                <c:pt idx="6">
                  <c:v>1.944158799779332</c:v>
                </c:pt>
                <c:pt idx="7">
                  <c:v>3.78490416578819</c:v>
                </c:pt>
                <c:pt idx="8">
                  <c:v>3.818302804742566</c:v>
                </c:pt>
                <c:pt idx="9">
                  <c:v>3.935052778117207</c:v>
                </c:pt>
                <c:pt idx="10">
                  <c:v>4.015586926330763</c:v>
                </c:pt>
                <c:pt idx="11">
                  <c:v>4.053518768002136</c:v>
                </c:pt>
                <c:pt idx="12">
                  <c:v>3.933829946969396</c:v>
                </c:pt>
                <c:pt idx="13">
                  <c:v>3.7713463892087935</c:v>
                </c:pt>
                <c:pt idx="14">
                  <c:v>3.573734147230239</c:v>
                </c:pt>
                <c:pt idx="15">
                  <c:v>3.351247764926226</c:v>
                </c:pt>
                <c:pt idx="16">
                  <c:v>3.113958737844097</c:v>
                </c:pt>
                <c:pt idx="17">
                  <c:v>5.457081605353083</c:v>
                </c:pt>
                <c:pt idx="18">
                  <c:v>5.212493235135122</c:v>
                </c:pt>
                <c:pt idx="19">
                  <c:v>4.971084270508253</c:v>
                </c:pt>
                <c:pt idx="20">
                  <c:v>4.735232026751328</c:v>
                </c:pt>
                <c:pt idx="21">
                  <c:v>4.5062911965762575</c:v>
                </c:pt>
                <c:pt idx="22">
                  <c:v>4.284957685911834</c:v>
                </c:pt>
                <c:pt idx="23">
                  <c:v>4.071518025605922</c:v>
                </c:pt>
                <c:pt idx="24">
                  <c:v>3.8660112041328842</c:v>
                </c:pt>
                <c:pt idx="25">
                  <c:v>3.66833035728961</c:v>
                </c:pt>
                <c:pt idx="26">
                  <c:v>3.4782854150906726</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txPr>
          <a:bodyPr/>
          <a:lstStyle/>
          <a:p>
            <a:pPr>
              <a:defRPr sz="1000"/>
            </a:pPr>
          </a:p>
        </c:txPr>
        <c:crossAx val="2140495176"/>
        <c:crosses val="autoZero"/>
        <c:auto val="1"/>
        <c:lblAlgn val="ctr"/>
        <c:lblOffset val="100"/>
        <c:noMultiLvlLbl val="0"/>
      </c:catAx>
      <c:valAx>
        <c:axId val="2140495176"/>
        <c:scaling>
          <c:min val="0.0"/>
        </c:scaling>
        <c:delete val="0"/>
        <c:axPos val="l"/>
        <c:majorGridlines>
          <c:spPr>
            <a:ln w="3810">
              <a:solidFill>
                <a:srgbClr val="DDDDDD"/>
              </a:solidFill>
            </a:ln>
          </c:spPr>
        </c:majorGridlines>
        <c:numFmt formatCode="0.0" sourceLinked="0"/>
        <c:majorTickMark val="out"/>
        <c:minorTickMark val="none"/>
        <c:tickLblPos val="nextTo"/>
        <c:txPr>
          <a:bodyPr/>
          <a:lstStyle/>
          <a:p>
            <a:pPr>
              <a:defRPr sz="10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high_demand</c:v>
                </c:pt>
              </c:strCache>
            </c:strRef>
          </c:tx>
          <c:spPr>
            <a:ln w="25400">
              <a:solidFill>
                <a:srgbClr val="0A2373"/>
              </a:solidFill>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Sheet1!$B$2:$B$28</c:f>
              <c:numCache>
                <c:formatCode>General</c:formatCode>
                <c:ptCount val="27"/>
                <c:pt idx="0">
                  <c:v>13.08962989056733</c:v>
                </c:pt>
                <c:pt idx="1">
                  <c:v>13.760591693068376</c:v>
                </c:pt>
                <c:pt idx="2">
                  <c:v>14.39366979289505</c:v>
                </c:pt>
                <c:pt idx="3">
                  <c:v>14.619750250581117</c:v>
                </c:pt>
                <c:pt idx="4">
                  <c:v>14.728089003106152</c:v>
                </c:pt>
                <c:pt idx="5">
                  <c:v>14.940327230898488</c:v>
                </c:pt>
                <c:pt idx="6">
                  <c:v>15.147998373744603</c:v>
                </c:pt>
                <c:pt idx="7">
                  <c:v>15.348608786443958</c:v>
                </c:pt>
                <c:pt idx="8">
                  <c:v>15.575562256952523</c:v>
                </c:pt>
                <c:pt idx="9">
                  <c:v>15.8261811599934</c:v>
                </c:pt>
                <c:pt idx="10">
                  <c:v>16.080860834972192</c:v>
                </c:pt>
                <c:pt idx="11">
                  <c:v>16.336772874691494</c:v>
                </c:pt>
                <c:pt idx="12">
                  <c:v>16.62889174798467</c:v>
                </c:pt>
                <c:pt idx="13">
                  <c:v>16.860179401322426</c:v>
                </c:pt>
                <c:pt idx="14">
                  <c:v>17.08279689083317</c:v>
                </c:pt>
                <c:pt idx="15">
                  <c:v>17.29404556077779</c:v>
                </c:pt>
                <c:pt idx="16">
                  <c:v>17.492198961912045</c:v>
                </c:pt>
                <c:pt idx="17">
                  <c:v>17.676800545021774</c:v>
                </c:pt>
                <c:pt idx="18">
                  <c:v>17.84871433891811</c:v>
                </c:pt>
                <c:pt idx="19">
                  <c:v>18.009905665886958</c:v>
                </c:pt>
                <c:pt idx="20">
                  <c:v>18.16303955718508</c:v>
                </c:pt>
                <c:pt idx="21">
                  <c:v>18.311037860048014</c:v>
                </c:pt>
                <c:pt idx="22">
                  <c:v>18.456712761209054</c:v>
                </c:pt>
                <c:pt idx="23">
                  <c:v>18.602530960317686</c:v>
                </c:pt>
                <c:pt idx="24">
                  <c:v>18.750505200088</c:v>
                </c:pt>
                <c:pt idx="25">
                  <c:v>18.90217992228853</c:v>
                </c:pt>
                <c:pt idx="26">
                  <c:v>19.058672635986834</c:v>
                </c:pt>
              </c:numCache>
            </c:numRef>
          </c:val>
          <c:smooth val="0"/>
        </c:ser>
        <c:ser>
          <c:idx val="1"/>
          <c:order val="1"/>
          <c:tx>
            <c:strRef>
              <c:f>Sheet1!$C$1</c:f>
              <c:strCache>
                <c:ptCount val="1"/>
                <c:pt idx="0">
                  <c:v>low_demand</c:v>
                </c:pt>
              </c:strCache>
            </c:strRef>
          </c:tx>
          <c:spPr>
            <a:ln w="25400">
              <a:solidFill>
                <a:srgbClr val="8491B2"/>
              </a:solidFill>
              <a:prstDash val="dash"/>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Sheet1!$C$2:$C$28</c:f>
              <c:numCache>
                <c:formatCode>General</c:formatCode>
                <c:ptCount val="27"/>
                <c:pt idx="0">
                  <c:v>13.441201093926342</c:v>
                </c:pt>
                <c:pt idx="1">
                  <c:v>14.056770544284158</c:v>
                </c:pt>
                <c:pt idx="2">
                  <c:v>10.967558536326646</c:v>
                </c:pt>
                <c:pt idx="3">
                  <c:v>11.07958314968956</c:v>
                </c:pt>
                <c:pt idx="4">
                  <c:v>11.181081078045288</c:v>
                </c:pt>
                <c:pt idx="5">
                  <c:v>11.308377866289465</c:v>
                </c:pt>
                <c:pt idx="6">
                  <c:v>11.389875282757396</c:v>
                </c:pt>
                <c:pt idx="7">
                  <c:v>12.413514745096245</c:v>
                </c:pt>
                <c:pt idx="8">
                  <c:v>12.420999113222628</c:v>
                </c:pt>
                <c:pt idx="9">
                  <c:v>12.415336183201635</c:v>
                </c:pt>
                <c:pt idx="10">
                  <c:v>12.367125999896764</c:v>
                </c:pt>
                <c:pt idx="11">
                  <c:v>12.268005027821728</c:v>
                </c:pt>
                <c:pt idx="12">
                  <c:v>12.094437676878409</c:v>
                </c:pt>
                <c:pt idx="13">
                  <c:v>11.869592498879319</c:v>
                </c:pt>
                <c:pt idx="14">
                  <c:v>11.603464509101132</c:v>
                </c:pt>
                <c:pt idx="15">
                  <c:v>11.309463632183537</c:v>
                </c:pt>
                <c:pt idx="16">
                  <c:v>11.000749704386255</c:v>
                </c:pt>
                <c:pt idx="17">
                  <c:v>11.144517318442476</c:v>
                </c:pt>
                <c:pt idx="18">
                  <c:v>10.835276901260574</c:v>
                </c:pt>
                <c:pt idx="19">
                  <c:v>10.534423368255972</c:v>
                </c:pt>
                <c:pt idx="20">
                  <c:v>10.24480172195331</c:v>
                </c:pt>
                <c:pt idx="21">
                  <c:v>9.967886314941047</c:v>
                </c:pt>
                <c:pt idx="22">
                  <c:v>9.70427412750353</c:v>
                </c:pt>
                <c:pt idx="23">
                  <c:v>9.454024120664023</c:v>
                </c:pt>
                <c:pt idx="24">
                  <c:v>9.21687794122609</c:v>
                </c:pt>
                <c:pt idx="25">
                  <c:v>8.99239868499244</c:v>
                </c:pt>
                <c:pt idx="26">
                  <c:v>8.780056205691578</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txPr>
          <a:bodyPr/>
          <a:lstStyle/>
          <a:p>
            <a:pPr>
              <a:defRPr sz="1000"/>
            </a:pPr>
          </a:p>
        </c:txPr>
        <c:crossAx val="2140495176"/>
        <c:crosses val="autoZero"/>
        <c:auto val="1"/>
        <c:lblAlgn val="ctr"/>
        <c:lblOffset val="100"/>
        <c:noMultiLvlLbl val="0"/>
      </c:catAx>
      <c:valAx>
        <c:axId val="2140495176"/>
        <c:scaling>
          <c:min val="0.0"/>
        </c:scaling>
        <c:delete val="0"/>
        <c:axPos val="l"/>
        <c:majorGridlines>
          <c:spPr>
            <a:ln w="3810">
              <a:solidFill>
                <a:srgbClr val="DDDDDD"/>
              </a:solidFill>
            </a:ln>
          </c:spPr>
        </c:majorGridlines>
        <c:numFmt formatCode="0.0" sourceLinked="0"/>
        <c:majorTickMark val="out"/>
        <c:minorTickMark val="none"/>
        <c:tickLblPos val="nextTo"/>
        <c:txPr>
          <a:bodyPr/>
          <a:lstStyle/>
          <a:p>
            <a:pPr>
              <a:defRPr sz="10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high_demand</c:v>
                </c:pt>
              </c:strCache>
            </c:strRef>
          </c:tx>
          <c:spPr>
            <a:ln w="25400">
              <a:solidFill>
                <a:srgbClr val="0A2373"/>
              </a:solidFill>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Sheet1!$B$2:$B$28</c:f>
              <c:numCache>
                <c:formatCode>General</c:formatCode>
                <c:ptCount val="27"/>
                <c:pt idx="0">
                  <c:v>0.6327338865276806</c:v>
                </c:pt>
                <c:pt idx="1">
                  <c:v>0.7144764845532401</c:v>
                </c:pt>
                <c:pt idx="2">
                  <c:v>0.9588847017737835</c:v>
                </c:pt>
                <c:pt idx="3">
                  <c:v>1.1590886817521455</c:v>
                </c:pt>
                <c:pt idx="4">
                  <c:v>1.3736203082058818</c:v>
                </c:pt>
                <c:pt idx="5">
                  <c:v>1.601689602658609</c:v>
                </c:pt>
                <c:pt idx="6">
                  <c:v>1.843144191048728</c:v>
                </c:pt>
                <c:pt idx="7">
                  <c:v>2.094076450949422</c:v>
                </c:pt>
                <c:pt idx="8">
                  <c:v>2.3550624400355655</c:v>
                </c:pt>
                <c:pt idx="9">
                  <c:v>2.626715652694208</c:v>
                </c:pt>
                <c:pt idx="10">
                  <c:v>2.909689471545684</c:v>
                </c:pt>
                <c:pt idx="11">
                  <c:v>3.20467977963451</c:v>
                </c:pt>
                <c:pt idx="12">
                  <c:v>3.5124277438211737</c:v>
                </c:pt>
                <c:pt idx="13">
                  <c:v>3.83372278059612</c:v>
                </c:pt>
                <c:pt idx="14">
                  <c:v>4.169405716272734</c:v>
                </c:pt>
                <c:pt idx="15">
                  <c:v>4.520372154299901</c:v>
                </c:pt>
                <c:pt idx="16">
                  <c:v>4.887576063269758</c:v>
                </c:pt>
                <c:pt idx="17">
                  <c:v>5.272033600086064</c:v>
                </c:pt>
                <c:pt idx="18">
                  <c:v>5.674827183706838</c:v>
                </c:pt>
                <c:pt idx="19">
                  <c:v>6.097109835885052</c:v>
                </c:pt>
                <c:pt idx="20">
                  <c:v>6.5401098064078536</c:v>
                </c:pt>
                <c:pt idx="21">
                  <c:v>7.005135501481735</c:v>
                </c:pt>
                <c:pt idx="22">
                  <c:v>7.4935807351333885</c:v>
                </c:pt>
                <c:pt idx="23">
                  <c:v>8.006930324798295</c:v>
                </c:pt>
                <c:pt idx="24">
                  <c:v>8.54676605365689</c:v>
                </c:pt>
                <c:pt idx="25">
                  <c:v>9.114773023756841</c:v>
                </c:pt>
                <c:pt idx="26">
                  <c:v>9.712746425535482</c:v>
                </c:pt>
              </c:numCache>
            </c:numRef>
          </c:val>
          <c:smooth val="0"/>
        </c:ser>
        <c:ser>
          <c:idx val="1"/>
          <c:order val="1"/>
          <c:tx>
            <c:strRef>
              <c:f>Sheet1!$C$1</c:f>
              <c:strCache>
                <c:ptCount val="1"/>
                <c:pt idx="0">
                  <c:v>low_demand</c:v>
                </c:pt>
              </c:strCache>
            </c:strRef>
          </c:tx>
          <c:spPr>
            <a:ln w="25400">
              <a:solidFill>
                <a:srgbClr val="8491B2"/>
              </a:solidFill>
              <a:prstDash val="dash"/>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Sheet1!$C$2:$C$28</c:f>
              <c:numCache>
                <c:formatCode>General</c:formatCode>
                <c:ptCount val="27"/>
                <c:pt idx="0">
                  <c:v>0.7869608952411806</c:v>
                </c:pt>
                <c:pt idx="1">
                  <c:v>0.8517035300644901</c:v>
                </c:pt>
                <c:pt idx="2">
                  <c:v>1.0076385641445171</c:v>
                </c:pt>
                <c:pt idx="3">
                  <c:v>1.1188179028360852</c:v>
                </c:pt>
                <c:pt idx="4">
                  <c:v>1.2436677244465288</c:v>
                </c:pt>
                <c:pt idx="5">
                  <c:v>1.3813052098954046</c:v>
                </c:pt>
                <c:pt idx="6">
                  <c:v>1.5315024795902517</c:v>
                </c:pt>
                <c:pt idx="7">
                  <c:v>2.087090632034704</c:v>
                </c:pt>
                <c:pt idx="8">
                  <c:v>2.255308634595501</c:v>
                </c:pt>
                <c:pt idx="9">
                  <c:v>2.433430276427692</c:v>
                </c:pt>
                <c:pt idx="10">
                  <c:v>2.6221033875075666</c:v>
                </c:pt>
                <c:pt idx="11">
                  <c:v>2.8220182585959313</c:v>
                </c:pt>
                <c:pt idx="12">
                  <c:v>3.033910424347736</c:v>
                </c:pt>
                <c:pt idx="13">
                  <c:v>3.258563628841914</c:v>
                </c:pt>
                <c:pt idx="14">
                  <c:v>3.4968129854882</c:v>
                </c:pt>
                <c:pt idx="15">
                  <c:v>3.749548344051487</c:v>
                </c:pt>
                <c:pt idx="16">
                  <c:v>4.017717878369312</c:v>
                </c:pt>
                <c:pt idx="17">
                  <c:v>4.302331909227925</c:v>
                </c:pt>
                <c:pt idx="18">
                  <c:v>4.604466977810492</c:v>
                </c:pt>
                <c:pt idx="19">
                  <c:v>4.9252701861413275</c:v>
                </c:pt>
                <c:pt idx="20">
                  <c:v>5.265963822026495</c:v>
                </c:pt>
                <c:pt idx="21">
                  <c:v>5.6278502871382585</c:v>
                </c:pt>
                <c:pt idx="22">
                  <c:v>6.012317348113047</c:v>
                </c:pt>
                <c:pt idx="23">
                  <c:v>6.420843731835043</c:v>
                </c:pt>
                <c:pt idx="24">
                  <c:v>6.855005087465158</c:v>
                </c:pt>
                <c:pt idx="25">
                  <c:v>7.3164803392539</c:v>
                </c:pt>
                <c:pt idx="26">
                  <c:v>7.807058455752282</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txPr>
          <a:bodyPr/>
          <a:lstStyle/>
          <a:p>
            <a:pPr>
              <a:defRPr sz="1000"/>
            </a:pPr>
          </a:p>
        </c:txPr>
        <c:crossAx val="2140495176"/>
        <c:crosses val="autoZero"/>
        <c:auto val="1"/>
        <c:lblAlgn val="ctr"/>
        <c:lblOffset val="100"/>
        <c:noMultiLvlLbl val="0"/>
      </c:catAx>
      <c:valAx>
        <c:axId val="2140495176"/>
        <c:scaling>
          <c:min val="0.0"/>
        </c:scaling>
        <c:delete val="0"/>
        <c:axPos val="l"/>
        <c:majorGridlines>
          <c:spPr>
            <a:ln w="3810">
              <a:solidFill>
                <a:srgbClr val="DDDDDD"/>
              </a:solidFill>
            </a:ln>
          </c:spPr>
        </c:majorGridlines>
        <c:numFmt formatCode="0.0" sourceLinked="0"/>
        <c:majorTickMark val="out"/>
        <c:minorTickMark val="none"/>
        <c:tickLblPos val="nextTo"/>
        <c:txPr>
          <a:bodyPr/>
          <a:lstStyle/>
          <a:p>
            <a:pPr>
              <a:defRPr sz="10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Demand</c:v>
                </c:pt>
              </c:strCache>
            </c:strRef>
          </c:tx>
          <c:spPr>
            <a:ln w="25400">
              <a:solidFill>
                <a:srgbClr val="0A2373"/>
              </a:solidFill>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Sheet1!$B$2:$B$28</c:f>
              <c:numCache>
                <c:formatCode>General</c:formatCode>
                <c:ptCount val="27"/>
                <c:pt idx="0">
                  <c:v>1.43</c:v>
                </c:pt>
                <c:pt idx="1">
                  <c:v>1.4263747478058353</c:v>
                </c:pt>
                <c:pt idx="2">
                  <c:v>1.429618349765967</c:v>
                </c:pt>
                <c:pt idx="3">
                  <c:v>1.4330929952662048</c:v>
                </c:pt>
                <c:pt idx="4">
                  <c:v>1.4367962645585954</c:v>
                </c:pt>
                <c:pt idx="5">
                  <c:v>1.4407068075295395</c:v>
                </c:pt>
                <c:pt idx="6">
                  <c:v>1.4447974788690219</c:v>
                </c:pt>
                <c:pt idx="7">
                  <c:v>1.4488997650574935</c:v>
                </c:pt>
                <c:pt idx="8">
                  <c:v>1.45301369907358</c:v>
                </c:pt>
                <c:pt idx="9">
                  <c:v>1.457139313989544</c:v>
                </c:pt>
                <c:pt idx="10">
                  <c:v>1.461276642971553</c:v>
                </c:pt>
                <c:pt idx="11">
                  <c:v>1.4654257192799442</c:v>
                </c:pt>
                <c:pt idx="12">
                  <c:v>1.4695865762694915</c:v>
                </c:pt>
                <c:pt idx="13">
                  <c:v>1.4737592473896772</c:v>
                </c:pt>
                <c:pt idx="14">
                  <c:v>1.4779437661849562</c:v>
                </c:pt>
                <c:pt idx="15">
                  <c:v>1.4821401662950282</c:v>
                </c:pt>
                <c:pt idx="16">
                  <c:v>1.4863484814551091</c:v>
                </c:pt>
                <c:pt idx="17">
                  <c:v>1.4905687454961996</c:v>
                </c:pt>
                <c:pt idx="18">
                  <c:v>1.4948009923453587</c:v>
                </c:pt>
                <c:pt idx="19">
                  <c:v>1.4990452560259764</c:v>
                </c:pt>
                <c:pt idx="20">
                  <c:v>1.5033015706580475</c:v>
                </c:pt>
                <c:pt idx="21">
                  <c:v>1.5075699704584444</c:v>
                </c:pt>
                <c:pt idx="22">
                  <c:v>1.5118504897411933</c:v>
                </c:pt>
                <c:pt idx="23">
                  <c:v>1.516143162917751</c:v>
                </c:pt>
                <c:pt idx="24">
                  <c:v>1.5204480244972798</c:v>
                </c:pt>
                <c:pt idx="25">
                  <c:v>1.5247651090869254</c:v>
                </c:pt>
                <c:pt idx="26">
                  <c:v>1.529094451392095</c:v>
                </c:pt>
              </c:numCache>
            </c:numRef>
          </c:val>
          <c:smooth val="0"/>
        </c:ser>
        <c:ser>
          <c:idx val="1"/>
          <c:order val="1"/>
          <c:tx>
            <c:strRef>
              <c:f>Sheet1!$C$1</c:f>
              <c:strCache>
                <c:ptCount val="1"/>
                <c:pt idx="0">
                  <c:v>Domestic production</c:v>
                </c:pt>
              </c:strCache>
            </c:strRef>
          </c:tx>
          <c:spPr>
            <a:ln w="25400">
              <a:solidFill>
                <a:srgbClr val="666666"/>
              </a:solidFill>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Sheet1!$C$2:$C$28</c:f>
              <c:numCache>
                <c:formatCode>General</c:formatCode>
                <c:ptCount val="27"/>
                <c:pt idx="0">
                  <c:v>0.0</c:v>
                </c:pt>
                <c:pt idx="1">
                  <c:v>0.0</c:v>
                </c:pt>
                <c:pt idx="2">
                  <c:v>0.0</c:v>
                </c:pt>
                <c:pt idx="3">
                  <c:v>0.0</c:v>
                </c:pt>
                <c:pt idx="4">
                  <c:v>0.0</c:v>
                </c:pt>
                <c:pt idx="5">
                  <c:v>0.0</c:v>
                </c:pt>
                <c:pt idx="6">
                  <c:v>0.0</c:v>
                </c:pt>
                <c:pt idx="7">
                  <c:v>0.0</c:v>
                </c:pt>
                <c:pt idx="8">
                  <c:v>0.0</c:v>
                </c:pt>
                <c:pt idx="9">
                  <c:v>0.0</c:v>
                </c:pt>
                <c:pt idx="10">
                  <c:v>0.0</c:v>
                </c:pt>
                <c:pt idx="11">
                  <c:v>0.0</c:v>
                </c:pt>
                <c:pt idx="12">
                  <c:v>0.0</c:v>
                </c:pt>
                <c:pt idx="13">
                  <c:v>0.0</c:v>
                </c:pt>
                <c:pt idx="14">
                  <c:v>0.0</c:v>
                </c:pt>
                <c:pt idx="15">
                  <c:v>0.0</c:v>
                </c:pt>
                <c:pt idx="16">
                  <c:v>0.0</c:v>
                </c:pt>
                <c:pt idx="17">
                  <c:v>0.0</c:v>
                </c:pt>
                <c:pt idx="18">
                  <c:v>0.0</c:v>
                </c:pt>
                <c:pt idx="19">
                  <c:v>0.0</c:v>
                </c:pt>
                <c:pt idx="20">
                  <c:v>0.0</c:v>
                </c:pt>
                <c:pt idx="21">
                  <c:v>0.0</c:v>
                </c:pt>
                <c:pt idx="22">
                  <c:v>0.0</c:v>
                </c:pt>
                <c:pt idx="23">
                  <c:v>0.0</c:v>
                </c:pt>
                <c:pt idx="24">
                  <c:v>0.0</c:v>
                </c:pt>
                <c:pt idx="25">
                  <c:v>0.0</c:v>
                </c:pt>
                <c:pt idx="26">
                  <c:v>0.0</c:v>
                </c:pt>
              </c:numCache>
            </c:numRef>
          </c:val>
          <c:smooth val="0"/>
        </c:ser>
        <c:ser>
          <c:idx val="2"/>
          <c:order val="2"/>
          <c:tx>
            <c:strRef>
              <c:f>Sheet1!$D$1</c:f>
              <c:strCache>
                <c:ptCount val="1"/>
                <c:pt idx="0">
                  <c:v>Deficit</c:v>
                </c:pt>
              </c:strCache>
            </c:strRef>
          </c:tx>
          <c:spPr>
            <a:ln w="25400">
              <a:solidFill>
                <a:srgbClr val="8491B2"/>
              </a:solidFill>
              <a:prstDash val="dash"/>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Sheet1!$D$2:$D$28</c:f>
              <c:numCache>
                <c:formatCode>General</c:formatCode>
                <c:ptCount val="27"/>
                <c:pt idx="0">
                  <c:v>1.43</c:v>
                </c:pt>
                <c:pt idx="1">
                  <c:v>1.4263747478058353</c:v>
                </c:pt>
                <c:pt idx="2">
                  <c:v>1.429618349765967</c:v>
                </c:pt>
                <c:pt idx="3">
                  <c:v>1.4330929952662048</c:v>
                </c:pt>
                <c:pt idx="4">
                  <c:v>1.4367962645585954</c:v>
                </c:pt>
                <c:pt idx="5">
                  <c:v>1.4407068075295395</c:v>
                </c:pt>
                <c:pt idx="6">
                  <c:v>1.4447974788690219</c:v>
                </c:pt>
                <c:pt idx="7">
                  <c:v>1.4488997650574935</c:v>
                </c:pt>
                <c:pt idx="8">
                  <c:v>1.45301369907358</c:v>
                </c:pt>
                <c:pt idx="9">
                  <c:v>1.457139313989544</c:v>
                </c:pt>
                <c:pt idx="10">
                  <c:v>1.461276642971553</c:v>
                </c:pt>
                <c:pt idx="11">
                  <c:v>1.4654257192799442</c:v>
                </c:pt>
                <c:pt idx="12">
                  <c:v>1.4695865762694915</c:v>
                </c:pt>
                <c:pt idx="13">
                  <c:v>1.4737592473896772</c:v>
                </c:pt>
                <c:pt idx="14">
                  <c:v>1.4779437661849562</c:v>
                </c:pt>
                <c:pt idx="15">
                  <c:v>1.4821401662950282</c:v>
                </c:pt>
                <c:pt idx="16">
                  <c:v>1.4863484814551091</c:v>
                </c:pt>
                <c:pt idx="17">
                  <c:v>1.4905687454961996</c:v>
                </c:pt>
                <c:pt idx="18">
                  <c:v>1.4948009923453587</c:v>
                </c:pt>
                <c:pt idx="19">
                  <c:v>1.4990452560259764</c:v>
                </c:pt>
                <c:pt idx="20">
                  <c:v>1.5033015706580475</c:v>
                </c:pt>
                <c:pt idx="21">
                  <c:v>1.5075699704584444</c:v>
                </c:pt>
                <c:pt idx="22">
                  <c:v>1.5118504897411933</c:v>
                </c:pt>
                <c:pt idx="23">
                  <c:v>1.516143162917751</c:v>
                </c:pt>
                <c:pt idx="24">
                  <c:v>1.5204480244972798</c:v>
                </c:pt>
                <c:pt idx="25">
                  <c:v>1.5247651090869254</c:v>
                </c:pt>
                <c:pt idx="26">
                  <c:v>1.529094451392095</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txPr>
          <a:bodyPr/>
          <a:lstStyle/>
          <a:p>
            <a:pPr>
              <a:defRPr sz="1000"/>
            </a:pPr>
          </a:p>
        </c:txPr>
        <c:crossAx val="2140495176"/>
        <c:crosses val="autoZero"/>
        <c:auto val="1"/>
        <c:lblAlgn val="ctr"/>
        <c:lblOffset val="100"/>
        <c:noMultiLvlLbl val="0"/>
      </c:catAx>
      <c:valAx>
        <c:axId val="2140495176"/>
        <c:scaling>
          <c:max val="2.0"/>
          <c:min val="0.0"/>
        </c:scaling>
        <c:delete val="0"/>
        <c:axPos val="l"/>
        <c:majorGridlines>
          <c:spPr>
            <a:ln w="3810">
              <a:solidFill>
                <a:srgbClr val="DDDDDD"/>
              </a:solidFill>
            </a:ln>
          </c:spPr>
        </c:majorGridlines>
        <c:numFmt formatCode="0.0" sourceLinked="0"/>
        <c:majorTickMark val="out"/>
        <c:minorTickMark val="none"/>
        <c:tickLblPos val="nextTo"/>
        <c:txPr>
          <a:bodyPr/>
          <a:lstStyle/>
          <a:p>
            <a:pPr>
              <a:defRPr sz="10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Demand</c:v>
                </c:pt>
              </c:strCache>
            </c:strRef>
          </c:tx>
          <c:spPr>
            <a:ln w="25400">
              <a:solidFill>
                <a:srgbClr val="0A2373"/>
              </a:solidFill>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Sheet1!$B$2:$B$28</c:f>
              <c:numCache>
                <c:formatCode>General</c:formatCode>
                <c:ptCount val="27"/>
                <c:pt idx="0">
                  <c:v>1.43</c:v>
                </c:pt>
                <c:pt idx="1">
                  <c:v>1.4263747478058353</c:v>
                </c:pt>
                <c:pt idx="2">
                  <c:v>1.426235296664661</c:v>
                </c:pt>
                <c:pt idx="3">
                  <c:v>1.426318469365194</c:v>
                </c:pt>
                <c:pt idx="4">
                  <c:v>1.4266202662850729</c:v>
                </c:pt>
                <c:pt idx="5">
                  <c:v>1.427117966330297</c:v>
                </c:pt>
                <c:pt idx="6">
                  <c:v>1.4277833291298756</c:v>
                </c:pt>
                <c:pt idx="7">
                  <c:v>1.4284490021404292</c:v>
                </c:pt>
                <c:pt idx="8">
                  <c:v>1.4291149855065863</c:v>
                </c:pt>
                <c:pt idx="9">
                  <c:v>1.4297812793730433</c:v>
                </c:pt>
                <c:pt idx="10">
                  <c:v>1.430447883884565</c:v>
                </c:pt>
                <c:pt idx="11">
                  <c:v>1.4311147991859818</c:v>
                </c:pt>
                <c:pt idx="12">
                  <c:v>1.431782025422194</c:v>
                </c:pt>
                <c:pt idx="13">
                  <c:v>1.4324495627381675</c:v>
                </c:pt>
                <c:pt idx="14">
                  <c:v>1.4331174112789367</c:v>
                </c:pt>
                <c:pt idx="15">
                  <c:v>1.4337855711896028</c:v>
                </c:pt>
                <c:pt idx="16">
                  <c:v>1.434454042615336</c:v>
                </c:pt>
                <c:pt idx="17">
                  <c:v>1.4351228257013735</c:v>
                </c:pt>
                <c:pt idx="18">
                  <c:v>1.4357919205930194</c:v>
                </c:pt>
                <c:pt idx="19">
                  <c:v>1.4364613274356473</c:v>
                </c:pt>
                <c:pt idx="20">
                  <c:v>1.4371310463746971</c:v>
                </c:pt>
                <c:pt idx="21">
                  <c:v>1.4378010775556767</c:v>
                </c:pt>
                <c:pt idx="22">
                  <c:v>1.4384714211241623</c:v>
                </c:pt>
                <c:pt idx="23">
                  <c:v>1.439142077225798</c:v>
                </c:pt>
                <c:pt idx="24">
                  <c:v>1.4398130460062952</c:v>
                </c:pt>
                <c:pt idx="25">
                  <c:v>1.4404843276114345</c:v>
                </c:pt>
                <c:pt idx="26">
                  <c:v>1.4411559221870627</c:v>
                </c:pt>
              </c:numCache>
            </c:numRef>
          </c:val>
          <c:smooth val="0"/>
        </c:ser>
        <c:ser>
          <c:idx val="1"/>
          <c:order val="1"/>
          <c:tx>
            <c:strRef>
              <c:f>Sheet1!$C$1</c:f>
              <c:strCache>
                <c:ptCount val="1"/>
                <c:pt idx="0">
                  <c:v>Domestic production</c:v>
                </c:pt>
              </c:strCache>
            </c:strRef>
          </c:tx>
          <c:spPr>
            <a:ln w="25400">
              <a:solidFill>
                <a:srgbClr val="666666"/>
              </a:solidFill>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Sheet1!$C$2:$C$28</c:f>
              <c:numCache>
                <c:formatCode>General</c:formatCode>
                <c:ptCount val="27"/>
                <c:pt idx="0">
                  <c:v>0.0</c:v>
                </c:pt>
                <c:pt idx="1">
                  <c:v>0.0</c:v>
                </c:pt>
                <c:pt idx="2">
                  <c:v>0.0</c:v>
                </c:pt>
                <c:pt idx="3">
                  <c:v>0.0</c:v>
                </c:pt>
                <c:pt idx="4">
                  <c:v>0.0</c:v>
                </c:pt>
                <c:pt idx="5">
                  <c:v>0.0</c:v>
                </c:pt>
                <c:pt idx="6">
                  <c:v>0.0</c:v>
                </c:pt>
                <c:pt idx="7">
                  <c:v>0.0</c:v>
                </c:pt>
                <c:pt idx="8">
                  <c:v>0.0</c:v>
                </c:pt>
                <c:pt idx="9">
                  <c:v>0.0</c:v>
                </c:pt>
                <c:pt idx="10">
                  <c:v>0.0</c:v>
                </c:pt>
                <c:pt idx="11">
                  <c:v>0.0</c:v>
                </c:pt>
                <c:pt idx="12">
                  <c:v>0.0</c:v>
                </c:pt>
                <c:pt idx="13">
                  <c:v>0.0</c:v>
                </c:pt>
                <c:pt idx="14">
                  <c:v>0.0</c:v>
                </c:pt>
                <c:pt idx="15">
                  <c:v>0.0</c:v>
                </c:pt>
                <c:pt idx="16">
                  <c:v>0.0</c:v>
                </c:pt>
                <c:pt idx="17">
                  <c:v>0.0</c:v>
                </c:pt>
                <c:pt idx="18">
                  <c:v>0.0</c:v>
                </c:pt>
                <c:pt idx="19">
                  <c:v>0.0</c:v>
                </c:pt>
                <c:pt idx="20">
                  <c:v>0.0</c:v>
                </c:pt>
                <c:pt idx="21">
                  <c:v>0.0</c:v>
                </c:pt>
                <c:pt idx="22">
                  <c:v>0.0</c:v>
                </c:pt>
                <c:pt idx="23">
                  <c:v>0.0</c:v>
                </c:pt>
                <c:pt idx="24">
                  <c:v>0.0</c:v>
                </c:pt>
                <c:pt idx="25">
                  <c:v>0.0</c:v>
                </c:pt>
                <c:pt idx="26">
                  <c:v>0.0</c:v>
                </c:pt>
              </c:numCache>
            </c:numRef>
          </c:val>
          <c:smooth val="0"/>
        </c:ser>
        <c:ser>
          <c:idx val="2"/>
          <c:order val="2"/>
          <c:tx>
            <c:strRef>
              <c:f>Sheet1!$D$1</c:f>
              <c:strCache>
                <c:ptCount val="1"/>
                <c:pt idx="0">
                  <c:v>Deficit</c:v>
                </c:pt>
              </c:strCache>
            </c:strRef>
          </c:tx>
          <c:spPr>
            <a:ln w="25400">
              <a:solidFill>
                <a:srgbClr val="8491B2"/>
              </a:solidFill>
              <a:prstDash val="dash"/>
            </a:ln>
          </c:spPr>
          <c:marker>
            <c:symbol val="none"/>
          </c:marker>
          <c:cat>
            <c:strRef>
              <c:f>Sheet1!$A$2:$A$28</c:f>
              <c:strCache>
                <c:ptCount val="27"/>
                <c:pt idx="0">
                  <c:v>2024</c:v>
                </c:pt>
                <c:pt idx="1">
                  <c:v/>
                </c:pt>
                <c:pt idx="2">
                  <c:v/>
                </c:pt>
                <c:pt idx="3">
                  <c:v/>
                </c:pt>
                <c:pt idx="4">
                  <c:v/>
                </c:pt>
                <c:pt idx="5">
                  <c:v/>
                </c:pt>
                <c:pt idx="6">
                  <c:v>2030</c:v>
                </c:pt>
                <c:pt idx="7">
                  <c:v/>
                </c:pt>
                <c:pt idx="8">
                  <c:v/>
                </c:pt>
                <c:pt idx="9">
                  <c:v/>
                </c:pt>
                <c:pt idx="10">
                  <c:v/>
                </c:pt>
                <c:pt idx="11">
                  <c:v/>
                </c:pt>
                <c:pt idx="12">
                  <c:v/>
                </c:pt>
                <c:pt idx="13">
                  <c:v/>
                </c:pt>
                <c:pt idx="14">
                  <c:v/>
                </c:pt>
                <c:pt idx="15">
                  <c:v/>
                </c:pt>
                <c:pt idx="16">
                  <c:v>2040</c:v>
                </c:pt>
                <c:pt idx="17">
                  <c:v/>
                </c:pt>
                <c:pt idx="18">
                  <c:v/>
                </c:pt>
                <c:pt idx="19">
                  <c:v/>
                </c:pt>
                <c:pt idx="20">
                  <c:v/>
                </c:pt>
                <c:pt idx="21">
                  <c:v/>
                </c:pt>
                <c:pt idx="22">
                  <c:v/>
                </c:pt>
                <c:pt idx="23">
                  <c:v/>
                </c:pt>
                <c:pt idx="24">
                  <c:v/>
                </c:pt>
                <c:pt idx="25">
                  <c:v/>
                </c:pt>
                <c:pt idx="26">
                  <c:v>2050</c:v>
                </c:pt>
              </c:strCache>
            </c:strRef>
          </c:cat>
          <c:val>
            <c:numRef>
              <c:f>Sheet1!$D$2:$D$28</c:f>
              <c:numCache>
                <c:formatCode>General</c:formatCode>
                <c:ptCount val="27"/>
                <c:pt idx="0">
                  <c:v>1.43</c:v>
                </c:pt>
                <c:pt idx="1">
                  <c:v>1.4263747478058353</c:v>
                </c:pt>
                <c:pt idx="2">
                  <c:v>1.426235296664661</c:v>
                </c:pt>
                <c:pt idx="3">
                  <c:v>1.426318469365194</c:v>
                </c:pt>
                <c:pt idx="4">
                  <c:v>1.4266202662850729</c:v>
                </c:pt>
                <c:pt idx="5">
                  <c:v>1.427117966330297</c:v>
                </c:pt>
                <c:pt idx="6">
                  <c:v>1.4277833291298756</c:v>
                </c:pt>
                <c:pt idx="7">
                  <c:v>1.4284490021404292</c:v>
                </c:pt>
                <c:pt idx="8">
                  <c:v>1.4291149855065863</c:v>
                </c:pt>
                <c:pt idx="9">
                  <c:v>1.4297812793730433</c:v>
                </c:pt>
                <c:pt idx="10">
                  <c:v>1.430447883884565</c:v>
                </c:pt>
                <c:pt idx="11">
                  <c:v>1.4311147991859818</c:v>
                </c:pt>
                <c:pt idx="12">
                  <c:v>1.431782025422194</c:v>
                </c:pt>
                <c:pt idx="13">
                  <c:v>1.4324495627381675</c:v>
                </c:pt>
                <c:pt idx="14">
                  <c:v>1.4331174112789367</c:v>
                </c:pt>
                <c:pt idx="15">
                  <c:v>1.4337855711896028</c:v>
                </c:pt>
                <c:pt idx="16">
                  <c:v>1.434454042615336</c:v>
                </c:pt>
                <c:pt idx="17">
                  <c:v>1.4351228257013735</c:v>
                </c:pt>
                <c:pt idx="18">
                  <c:v>1.4357919205930194</c:v>
                </c:pt>
                <c:pt idx="19">
                  <c:v>1.4364613274356473</c:v>
                </c:pt>
                <c:pt idx="20">
                  <c:v>1.4371310463746971</c:v>
                </c:pt>
                <c:pt idx="21">
                  <c:v>1.4378010775556767</c:v>
                </c:pt>
                <c:pt idx="22">
                  <c:v>1.4384714211241623</c:v>
                </c:pt>
                <c:pt idx="23">
                  <c:v>1.439142077225798</c:v>
                </c:pt>
                <c:pt idx="24">
                  <c:v>1.4398130460062952</c:v>
                </c:pt>
                <c:pt idx="25">
                  <c:v>1.4404843276114345</c:v>
                </c:pt>
                <c:pt idx="26">
                  <c:v>1.4411559221870627</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txPr>
          <a:bodyPr/>
          <a:lstStyle/>
          <a:p>
            <a:pPr>
              <a:defRPr sz="1000"/>
            </a:pPr>
          </a:p>
        </c:txPr>
        <c:crossAx val="2140495176"/>
        <c:crosses val="autoZero"/>
        <c:auto val="1"/>
        <c:lblAlgn val="ctr"/>
        <c:lblOffset val="100"/>
        <c:noMultiLvlLbl val="0"/>
      </c:catAx>
      <c:valAx>
        <c:axId val="2140495176"/>
        <c:scaling>
          <c:max val="2.0"/>
          <c:min val="0.0"/>
        </c:scaling>
        <c:delete val="0"/>
        <c:axPos val="l"/>
        <c:majorGridlines>
          <c:spPr>
            <a:ln w="3810">
              <a:solidFill>
                <a:srgbClr val="DDDDDD"/>
              </a:solidFill>
            </a:ln>
          </c:spPr>
        </c:majorGridlines>
        <c:numFmt formatCode="0.0" sourceLinked="0"/>
        <c:majorTickMark val="out"/>
        <c:minorTickMark val="none"/>
        <c:tickLblPos val="nextTo"/>
        <c:txPr>
          <a:bodyPr/>
          <a:lstStyle/>
          <a:p>
            <a:pPr>
              <a:defRPr sz="10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The page establishes the client's storage and handling business, customer base, South African terminal platform and strategic lens. It separates published company facts (left column) from our implications for this assignment (right). Vopak has a broader portfolio across oil, gas, chemical and industrial terminals; the present fuel model must not be mistaken for a complete model of its business. Avoid attributing all terminal revenue solely to throughput; contract structures vary and no revenue calculation is asserted here. The South Africa expansion announcement supports NMPP connectivity context, not a fresh capacity or operating-status audit. No historical expansion capacity is used as current available capacity. The proposal explicitly requests the South African outlook, Walvis Bay assessment and broader African opportunity screening for the strategy board. Those priorities contextualise the following SCR; the model itself remains reusable and client-agnostic.</a:t>
            </a:r>
          </a:p>
          <a:p>
            <a:r>
              <a:t>Sources: [1] https://www.vopak.com/who-we-are/services : customer groups, terminal types and storage/handling service model. [2] https://www.vopak.com/who-we-are : predictable cash flows, asset performance and capital allocation. [3] https://www.vopak.com/newsroom/news/vopak-expands-further-south-africa?language_content_entity=en : Durban/Lesedi and NMPP connection. [4] external/sources/AIA_Vopak_ Annual Strategy Board Support_20260805.pdf, pp. 7-8. Corporate sources accessed 2 October 2026; historical expansion announcement used only for connection context.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Group strategy from the Half Year Report, page 11. The report does not set out a dedicated Africa expansion strategy, a Namibia/Walvis Bay investment commitment or standalone African earnings. Applications to South Africa, Walvis Bay and the wider African screen are our framing. Gas and industrial terminals are the stated Grow priority; do not imply the EUR 2.6bn group ambition is earmarked for African liquid fuels. Energy-transition investment ambition is EUR 1.4bn by 2030. Improve targets annual operating cash return of 13?17%; this is a group target, not a project hurdle rate. No model inputs change.</a:t>
            </a:r>
          </a:p>
          <a:p>
            <a:r>
              <a:t>Sources: Royal Vopak Half Year Report 2026, pp. 9, 11; https://www.vopak.com/system/files/Half_Year_Report_2026_v2.pdf#page=11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Client-focused economics follows About Vopak and precedes upfront financial evidence. Storage service fees underpin the business; product movements and storage/handling-related services are separate disclosed categories. Service revenues do not measure profit, and no local customer tariffs, contracts or earnings have been estimated. The study tests national South African flows and terminal requirements; Walvis Bay customer volumes, corridor access and competing facilities; and priority African markets with commercially accessible service demand. Data shown is H1 2026 consolidated revenue from the report, page 39; study implications are our analytical framing. All four service categories are shown, including Other services at EUR 16.8m / 2.5%. Values sum to EUR 677.1m; displayed shares sum to 100.1% due to rounding. No model inputs change.</a:t>
            </a:r>
          </a:p>
          <a:p>
            <a:r>
              <a:t>Sources: Vopak Half Year Report 2026, https://www.vopak.com/system/files/Half_Year_Report_2026_v2.pdf#page=39; AIA strategy proposal, pp. 7-8; agreed geographic scope.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Company background from the six-month report to 30 June 2026, separate from model assumptions. Group income and cash-flow figures are consolidated; EBITDA is an alternative performance measure excluding exceptional items. EPS and net profit include exceptional items. Product movements and storage/handling-related services are separate disclosed revenue categories; no separate service EBITDA or earnings is reported. Prior-year AVTL listing gains affect the net-profit comparison. Interpretation connects contracted capacity and service activity to the engagement; it is not an investment recommendation.</a:t>
            </a:r>
          </a:p>
          <a:p>
            <a:r>
              <a:t>Sources: https://www.vopak.com/system/files/Half_Year_Report_2026_v2.pdf, pp. 16-18, 29, 32-33, 39.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All regional figures use proportional reporting, excluding exceptional items. The basis includes Vopak's share of subsidiaries, joint ventures and associates and differs from IFRS consolidation; do not divide proportional EBITDA by consolidated revenue. Corporate amounts reconcile the table to the group. The report does not disclose standalone Africa net profit or storage-versus-handling earnings. Regional net profit is not allocated because finance costs and tax are not allocated to segments. Asia &amp; Middle East's prior-year commercial-resolution gain affects the EBITDA comparison. Proportional free cash flow is an APM after operating capex and lease adjustments; it is distinct from gross operating cash flow in the preceding page. All financial data remains upfront. Use regional contributions as portfolio context; the combined All other business units category is not an African earnings figure. Local evidence is required for South Africa, Walvis Bay and priority African markets.</a:t>
            </a:r>
          </a:p>
          <a:p>
            <a:r>
              <a:t>Sources: https://www.vopak.com/system/files/Half_Year_Report_2026_v2.pdf, pp. 23-25, 33, 56-57.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Source is the consolidated cash-flow statement, p. 32. Operating cash flow is positive: gross EUR 466.6m plus interest received EUR 5.4m less taxes EUR 53.4m gives net EUR 418.6m. After investing EUR -174.9m and financing EUR -251.8m, total net cash flows are EUR -8.1m. Exchange EUR +3.0m gives a cash-balance change of EUR -5.1m. The EUR 98.8m opening and EUR 93.7m closing cash balances include bank overdrafts. A negative corporate EBITDA contribution in the preceding chart is an earnings item, not operating cash flow. Proportional operating free cash flow is a separate APM, also positive at EUR 444.2m.</a:t>
            </a:r>
          </a:p>
          <a:p>
            <a:r>
              <a:t>Sources: https://www.vopak.com/system/files/Half_Year_Report_2026_v2.pdf#page=32; p. 57 for the separate proportional free-cash-flow metric.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This is an internal kickoff and build brief, combining a project question, reusable fuel model, proposed WS5 infrastructure model and delivery plan. The inherited evidence and current outputs help identify work to do; they are not validated forecasts or commercial recommendations. Existing source and code citations support individual exhibits, not a declaration that every input is verified. Geographic screening covers the agreed African priorities, while detailed modelling depends on data. Maps do not establish usable capacity or commercial access. Model, reviewer and business approval gates remain outstanding where recorded.</a:t>
            </a:r>
          </a:p>
          <a:p>
            <a:r>
              <a:t>Sources: Agreed engagement purpose, workstreams/WS0_governance/workplan/scope_and_roles.md, WS5 brief and GATE_CHECKLIST.md.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Frame the summary as a national South African fuel and infrastructure assessment, covering coastal and inland markets and existing and potential storage and handling opportunities. Durban and Lesedi are Vopak applications within that wider system, not the geographic boundary. Include the Walvis Bay storage and handling opportunity and priority African markets. These are analytical questions, not verified utilisation impacts or investment recommendations. Customer volumes, competing facilities and commercial access must support the opportunity assessment. The generic nine-scenario and workstream mechanics remain in the detailed pages. This is the engagement argument and proposed delivery programme, not a statement that the models are complete or validated. The client needs the South Africa outlook, Namibia/Walvis Bay assessment and wider African screening. Fuel balances must be linked to logistics, storage and commercially accessible volumes. Nine independent scenarios and M/M remain target capability. WS5 is a distinct authorised workstream whose first implementation is pending. Week-1 gate combines a reproducible fuel baseline with a sourced infrastructure inventory and selected first route. Manish develops, Nigel leads and Henry reviews; dates and breadth depend on evidence and shared capacity.</a:t>
            </a:r>
          </a:p>
          <a:p>
            <a:r>
              <a:t>Sources: AIA strategy proposal pp. 7-8; workstreams/WS0_governance/workplan/six_week_plan.md; workstreams/WS5_infrastructure_logistics/README.md; current engine and GATE_CHECKLIST.md.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This is the engagement-level SCR. Treat the resolution as the proposed</a:t>
            </a:r>
          </a:p>
          <a:p>
            <a:r>
              <a:t>analytical approach, not a finding about investment attractiveness.</a:t>
            </a:r>
          </a:p>
          <a:p>
            <a:r>
              <a:t>Source: AIA Annual Strategy Board Support proposal, August 2026, PDF pages 7-12.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The user agreed this anchor question. The proposal also includes</a:t>
            </a:r>
          </a:p>
          <a:p>
            <a:r>
              <a:t>competitor analysis, Walvis Bay and wider African screening. Specific investment</a:t>
            </a:r>
          </a:p>
          <a:p>
            <a:r>
              <a:t>decisions, market-share denominators and priority markets still need agreement.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Existing implementation has South African inputs within an intended</a:t>
            </a:r>
          </a:p>
          <a:p>
            <a:r>
              <a:t>SACU scope, monthly demand and annual supply. Wider African screening in the proposal</a:t>
            </a:r>
          </a:p>
          <a:p>
            <a:r>
              <a:t>does not automatically require a detailed model for every country. Confirm the</a:t>
            </a:r>
          </a:p>
          <a:p>
            <a:r>
              <a:t>required balance definition, treatment of trade and stocks, units and reporting dates.</a:t>
            </a:r>
          </a:p>
          <a:p>
            <a:r>
              <a:t>Supply in the H/M/L matrix includes domestic production and available imports. For</a:t>
            </a:r>
          </a:p>
          <a:p>
            <a:r>
              <a:t>non-producing countries, import availability can be the principal supply constraint.</a:t>
            </a:r>
          </a:p>
          <a:p>
            <a:r>
              <a:t>Required imports are calculated separately and are not assumed to materialise.</a:t>
            </a:r>
          </a:p>
          <a:p>
            <a:r>
              <a:t>The opposite corners show relative market tightness: H/L means high demand with low</a:t>
            </a:r>
          </a:p>
          <a:p>
            <a:r>
              <a:t>available supply (tight supply); L/H means low demand with high available supply</a:t>
            </a:r>
          </a:p>
          <a:p>
            <a:r>
              <a:t>(ample supply). M/M remains the baseline; these labels do not assert a quantified</a:t>
            </a:r>
          </a:p>
          <a:p>
            <a:r>
              <a:t>shortfall or surplus before the balances are calculated.</a:t>
            </a:r>
          </a:p>
          <a:p>
            <a:r>
              <a:t>This is the required scenario design, not a claim that the current engine supports it.</a:t>
            </a:r>
          </a:p>
          <a:p>
            <a:r>
              <a:t>Sources: CLAUDE.md; GATE_CHECKLIST.md; proposal PDF pages 8-12.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H/L means the two currently implemented high_demand/low_demand runs.</a:t>
            </a:r>
          </a:p>
          <a:p>
            <a:r>
              <a:t>No medium values are defined or interpolated. GDP per capita is constant-2015 ZAR.</a:t>
            </a:r>
          </a:p>
          <a:p>
            <a:r>
              <a:t>EV shares are calculated by the existing S-curve; H uses max 30%, midpoint 2040,</a:t>
            </a:r>
          </a:p>
          <a:p>
            <a:r>
              <a:t>slope 3; L uses max 90%, midpoint 2036, slope 2. Efficiency rates apply to new</a:t>
            </a:r>
          </a:p>
          <a:p>
            <a:r>
              <a:t>cohorts, not the entire fleet. Passengers use the same base path in both runs,</a:t>
            </a:r>
          </a:p>
          <a:p>
            <a:r>
              <a:t>despite scenario metadata referring to separate high/low passenger paths.</a:t>
            </a:r>
          </a:p>
          <a:p>
            <a:r>
              <a:t>OCGT mapping and history require reconciliation as shown in the appendix.</a:t>
            </a:r>
          </a:p>
          <a:p>
            <a:r>
              <a:t>Diesel output is diesel_50ppm for consistency with the earlier comparison; marine</a:t>
            </a:r>
          </a:p>
          <a:p>
            <a:r>
              <a:t>diesel_500ppm is additional and is included in the aggregate refinery-product balance.</a:t>
            </a:r>
          </a:p>
          <a:p>
            <a:r>
              <a:t>The displayed numbers are selected 2030 values from full annual paths, not constant</a:t>
            </a:r>
          </a:p>
          <a:p>
            <a:r>
              <a:t>assumptions over the forecast horizon. Shared fleet and sector inputs remain provisional.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Active 2026 YAML/CSV and code. Assumptions sourced from workbook remain unvalidated. This page is the module overview. The separate Vopak_Assumption_Inventory.pdf reference contains all 39 registered groups and 1,747 entries, including exact scalar values, annual observations, missing regional values and duplicate production records. Identical consecutive annual values are losslessly grouped into ranges. Its navigation and current-code conventions pages distinguish declared inputs from embedded implementation choices. Build the companion using LFM_INVENTORY_ONLY=1; keep the main presentation at 52 pages. PDF-only review; no model assumptions are changed.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Capacity is kbpd. Engine multiplies capacity by utilisation, 90%</a:t>
            </a:r>
          </a:p>
          <a:p>
            <a:r>
              <a:t>availability, 365 days, 1000 barrels/kbpd, 158.987 litres/barrel and asset product yield.</a:t>
            </a:r>
          </a:p>
          <a:p>
            <a:r>
              <a:t>Gasoline/diesel/jet yields: Natref 45/25/10%; Sasol 85/15/0%; Astron 45/25/10%.</a:t>
            </a:r>
          </a:p>
          <a:p>
            <a:r>
              <a:t>Enref, Sapref and PetroSA have zero effective utilisation in the shown 2030 paths;</a:t>
            </a:r>
          </a:p>
          <a:p>
            <a:r>
              <a:t>their listing is not an assertion of operating status. M and available imports remain</a:t>
            </a:r>
          </a:p>
          <a:p>
            <a:r>
              <a:t>undefined. Current production paths are tied to demand run names, not independent axes.</a:t>
            </a:r>
          </a:p>
          <a:p>
            <a:r>
              <a:t>The high-production CSV contains duplicate country/asset/year rows and invalid values</a:t>
            </a:r>
          </a:p>
          <a:p>
            <a:r>
              <a:t>(including calendar years in utilisation fields), consistent with the malformed workbook</a:t>
            </a:r>
          </a:p>
          <a:p>
            <a:r>
              <a:t>Production_High named range. The existing engine selects the first non-null row per</a:t>
            </a:r>
          </a:p>
          <a:p>
            <a:r>
              <a:t>asset/year. Values displayed are exactly those selected by that existing method.</a:t>
            </a:r>
          </a:p>
          <a:p>
            <a:r>
              <a:t>Repair extraction and validate utilisation before formal use; no source or engine input</a:t>
            </a:r>
          </a:p>
          <a:p>
            <a:r>
              <a:t>has been changed to create these slides. Nigel to review with Manish during baseline work.</a:t>
            </a:r>
          </a:p>
          <a:p/>
          <a:p>
            <a:r>
              <a:t>Round-2 operating-status evidence: Reviewed 2 October 2026. Published information is separate from 2030 model utilisation; it does not confirm current availability. ENREF terminal conversion announced (Engen, Apr 2021); SAPREF redevelopment programme (CEF, 9 Sep 2026); Natref disruption reported and end-September mitigation, October availability unverified (Sasol, 1 Sep 2026); Secunda operated in FY2026 (Sasol, 1 Sep 2026); Astron planned maintenance in March, October availability unverified (DMPR, 10 Mar 2026); PetroSA GTL reinstatement planned (CEF, 23 Sep 2026). Source links are printed and clickable on the page. No operational-status evidence changes model assumptions. Owner for outstanding current-availability confirmation: Manish; resolve before baseline freeze or refresh when a new operator statement is released.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The user explicitly requires rail, ports, roads, pipelines, power lines, power stations and airports in infrastructure scope. Storage and terminal handling remain part of WS5. This page defines inputs to source; it does not present invented capacity assumptions. Units and effective dates must be declared. Rail and road capacity must be derived from actual operating resources, access and cycle times, not merely a road or track on a map. Airport jet demand is allocated from WS2 aviation totals, not added to them. Power-station fuel use must reconcile to the generation module and industrial backup coverage; do not double count. WS5 records power-station assets and grid dependencies, while WS2 owns generation fuel calculations. Grid connections, MW limits and outages enter asset availability or backup-demand assumptions through an explicit reviewed mapping; this is not an implemented electrical load-flow or dispatch optimisation model. Gas pipes remain separate from liquid routes. All new inputs must be vintaged and registered before engine use.</a:t>
            </a:r>
          </a:p>
          <a:p>
            <a:r>
              <a:t>Sources: Agreed infrastructure scope; workstreams/WS5_infrastructure_logistics/README.md; src/lfm/model/demand/aviation.py and generation.py.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The model supplies part of the analytical evidence. It is not currently</a:t>
            </a:r>
          </a:p>
          <a:p>
            <a:r>
              <a:t>a port-routing or terminal-throughput engine. The authorised WS5 workstream develops the infrastructure layer; it is not yet implemented.</a:t>
            </a:r>
          </a:p>
          <a:p>
            <a:r>
              <a:t>Historical imports reconcile observed supply. In forecasts, distinguish required</a:t>
            </a:r>
          </a:p>
          <a:p>
            <a:r>
              <a:t>imports from imports actually available under the scenario. Available imports may</a:t>
            </a:r>
          </a:p>
          <a:p>
            <a:r>
              <a:t>depend on capacity, reliability and commercial access; capacity alone does not ensure</a:t>
            </a:r>
          </a:p>
          <a:p>
            <a:r>
              <a:t>delivery. Compare required and available imports to identify an unmet gap or surplus.</a:t>
            </a:r>
          </a:p>
          <a:p>
            <a:r>
              <a:t>Account consistently for exports and stock changes; do not add required imports to</a:t>
            </a:r>
          </a:p>
          <a:p>
            <a:r>
              <a:t>available imports. Throughput is a flow; storage capacity is a stock.</a:t>
            </a:r>
          </a:p>
          <a:p>
            <a:r>
              <a:t>Sources: CLAUDE.md; proposal PDF pages 8-12; proposed analytical framework.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WS1 sources and validates evidence; WS2 develops fuel calculations; WS5 models transport, handling and storage constraints. The partner owns the WS3 storyline; Manish develops supporting technical evidence and exhibits from week 1. WS4 builds a documented repeatable working process through practical analyst work. WS0 sets priorities and controls integration, reviews and acceptance across all five. Integration spans WS2, WS5 and WS3: Nigel leads, Manish builds and reconciles the interfaces, Henry reviews. Shared products, geography, periods and units, conservation, double counting and run-to-exhibit traceability must be checked. Manish, Nigel and Henry are a shared team, not five staffed teams. Workstreams are responsibilities and the architecture pages that follow explain their interfaces. Planned imports, independent scenarios and infrastructure are not asserted as implemented merely by naming their workstreams.</a:t>
            </a:r>
          </a:p>
          <a:p>
            <a:r>
              <a:t>Sources: workstreams/README.md; workstreams/WS0_governance/workplan/six_week_plan.md; workstreams/WS5_infrastructure_logistics/README.md; confirmed team roles.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This opens the Model Build sequence: why change is required, the whole-model design, the WS5 infrastructure extension, then the ordered build priorities. Existing reproducibility mechanisms do not prove validation. WS2 owns fuel calculations, WS5 infrastructure feasibility and WS3 client reporting. The following whole-model architecture distinguishes implemented and planned capabilities.</a:t>
            </a:r>
          </a:p>
          <a:p>
            <a:r>
              <a:t>Sources: Current Python engine, GATE_CHECKLIST.md, inherited workbook and WS5 brief.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This is the current-and-target whole-model design; the Python execution architecture is retained in the appendix. [E] means implemented but provisional, not validated. [H] means existing held baselines; [P] means planned, not implemented. [A] is engagement analysis rather than a generic engine calculation. Demand covers vehicles, aviation, power, industrial, marine and agriculture. Domestic supply includes refinery/synfuel production. Current balance computes demand minus domestic output; explicit exports, stock changes and feasible imports are not integrated and a deficit is not a complete import requirement. Infrastructure requires node conservation, shared capacity, compatibility and access; storage stock and handling flow must be treated separately. National demand must be allocated to markets using sourced inputs before route feasibility. Operational gas availability enters production assumptions where evidenced; gas networks are not liquid transport links. H/M/L supply encompasses domestic output and feasible imports; nine independent combinations and M/M are planned. Geography, product mapping, time, evidence and run configuration span all modules. The commercial layer interprets outputs against customers and competition, preserving a client-agnostic engine. Pricing optimisation, full gas-market modelling and detailed engineering are not implied. Missing data remains unknown. Code/input hashing and test mechanisms exist; historical reconciliation, reviewer acceptance and business approval remain open.</a:t>
            </a:r>
          </a:p>
          <a:p>
            <a:r>
              <a:t>Sources: src/lfm/model/demand/; src/lfm/model/supply/flows.py; src/lfm/cli.py; assumptions/2026/; workstreams/WS5_infrastructure_logistics/README.md; GATE_CHECKLIST.md; agreed project scope.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Authorised workstream, not implemented functionality. WS2 provides fuel demand and production. WS5 adds feasible imports, product-compatible network links, capacity pools and access, then terminal handling and usable storage. First test explicit allocations; defer least-cost optimisation until costs and requirements are agreed. Enforce node conservation and shared capacities once. Stock-cover calculations are screening estimates, not detailed tank design. Unknown capacity or access must not become zero or unlimited. Keep Vopak rights and commercial interpretations in engagement inputs. Gas pipelines inform production dependencies and cannot carry modelled petrol/diesel/jet volumes. Proposed code: src/lfm/model/infrastructure/; adapters in src/lfm/assumptions/; new registered inputs in assumptions/&lt;vintage&gt;/; reporting in src/lfm/reporting/. No parallel workstream codebase.</a:t>
            </a:r>
          </a:p>
          <a:p>
            <a:r>
              <a:t>Sources: workstreams/WS5_infrastructure_logistics/README.md; original workbook storage and terminal evidence; agreed scope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The sequence represents evidence dependencies, not strictly sequential staffing or a promise that data collection waits for coding. First-route development can proceed with clearly bounded test cases while fuel scenarios are reconciled. Multi-market opportunity claims require the appropriate market and infrastructure evidence. Full nine-scenario capability remains planned. The next section assigns weeks, owners and acceptance gates.</a:t>
            </a:r>
          </a:p>
          <a:p>
            <a:r>
              <a:t>Sources: Agreed build priorities; WS5 brief; six-week plan; GATE_CHECKLIST.md.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Week 5 targets review activity and findings, not guaranteed sign-off.</a:t>
            </a:r>
          </a:p>
          <a:p>
            <a:r>
              <a:t>Unresolved issues may remain beyond week 6. Manish is available 100%. Nigel is the</a:t>
            </a:r>
          </a:p>
          <a:p>
            <a:r>
              <a:t>modelling lead and Henry the reviewer. Confirm checkpoints and review timing. The</a:t>
            </a:r>
          </a:p>
          <a:p>
            <a:r>
              <a:t>full nine-scenario implementation follows the week-1 reference baseline and M/M definition.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Manish, Nigel and Henry are shared with existing workstreams. This schedule does not create additional resources or guarantee full national network completion. First route candidate is Durban to inland Gauteng; choose specific terminal pairing only after confirming connectivity, product and access. WS0 prioritises breadth against evidence and capacity. The existing national balance alone cannot establish served volumes or available storage. Detailed source/data contract and unresolved input owners and expiry triggers are in the WS5 brief. Formal use remains subject to root release gates.</a:t>
            </a:r>
          </a:p>
          <a:p>
            <a:r>
              <a:t>Sources: workstreams/WS5_infrastructure_logistics/README.md; workstreams/WS0_governance/workplan/six_week_plan.md.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Do not infer independent review or business approval from a passing</a:t>
            </a:r>
          </a:p>
          <a:p>
            <a:r>
              <a:t>test. The formal-use gate also requires recorded business-owner approval. The user</a:t>
            </a:r>
          </a:p>
          <a:p>
            <a:r>
              <a:t>confirmed Manish, Nigel and Henry's roles and Manish's full availability.</a:t>
            </a:r>
          </a:p>
          <a:p>
            <a:r>
              <a:t>Source: GATE_CHECKLIST.md and proposed delivery approach.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Daily internal check-in and written check-out; weekly technical and partner reviews; Henry challenges review gates. Partner owns the SCR and storyline; Manish supplies technical evidence. Monday HG check-in is already planned. Recurring slots, duration and client touchpoints at proposed weeks 1, 3, 5 and 6 remain to agree. This page does not schedule meetings or claim client commitment.</a:t>
            </a:r>
          </a:p>
          <a:p>
            <a:r>
              <a:t>Sources: Confirmed team roles; proposed engagement cadence; user-confirmed Monday HG check-in.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Record actual agreements and owners after the session. This deck</a:t>
            </a:r>
          </a:p>
          <a:p>
            <a:r>
              <a:t>proposes the approach and does not substitute for scope or delivery agreement.</a:t>
            </a:r>
          </a:p>
          <a:p>
            <a:r>
              <a:t>Week 1 defines M/M; the full nine-scenario matrix is a subsequent build task. Readiness</a:t>
            </a:r>
          </a:p>
          <a:p>
            <a:r>
              <a:t>to proceed is a development gate, not formal-use approval of unvalidated outputs.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Introduce the supporting evidence and model detail.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All current comparison figures are South African national totals.</a:t>
            </a:r>
          </a:p>
          <a:p>
            <a:r>
              <a:t>No demand or import volumes have been allocated to ports. Four port locations are</a:t>
            </a:r>
          </a:p>
          <a:p>
            <a:r>
              <a:t>shown because the existing report explicitly discusses them: Walvis Bay, Durban,</a:t>
            </a:r>
          </a:p>
          <a:p>
            <a:r>
              <a:t>Cape Town and Saldanha Bay. These markers do not imply ownership, commercial access</a:t>
            </a:r>
          </a:p>
          <a:p>
            <a:r>
              <a:t>or a validated port dataset. The six domestic production assets are Enref, Sapref,</a:t>
            </a:r>
          </a:p>
          <a:p>
            <a:r>
              <a:t>Natref, Sasol, Astron and PetroSA; presence in assumptions does not imply current operation.</a:t>
            </a:r>
          </a:p>
          <a:p>
            <a:r>
              <a:t>The country-level overview and enlarged callout show scope, not fuel flows or data</a:t>
            </a:r>
          </a:p>
          <a:p>
            <a:r>
              <a:t>readiness. Five Vopak-blue shades distinguish SACU, SADC excluding SACU, East,</a:t>
            </a:r>
          </a:p>
          <a:p>
            <a:r>
              <a:t>West and North Africa. SACU comprises South Africa, Botswana, Namibia, Lesotho and</a:t>
            </a:r>
          </a:p>
          <a:p>
            <a:r>
              <a:t>Eswatini. SADC excluding SACU comprises Angola, Comoros, DRC, Madagascar, Malawi,</a:t>
            </a:r>
          </a:p>
          <a:p>
            <a:r>
              <a:t>Mauritius, Mozambique, Seychelles, Tanzania, Zambia and Zimbabwe. To avoid double</a:t>
            </a:r>
          </a:p>
          <a:p>
            <a:r>
              <a:t>counting, SADC membership takes precedence over UN geographic subregions; East</a:t>
            </a:r>
          </a:p>
          <a:p>
            <a:r>
              <a:t>Africa on this page excludes all SADC members. North/West/East use the base-map</a:t>
            </a:r>
          </a:p>
          <a:p>
            <a:r>
              <a:t>UN-style subregion attributes. Grey means other markets requiring prioritisation.</a:t>
            </a:r>
          </a:p>
          <a:p>
            <a:r>
              <a:t>Small island members absent at this map scale are marked schematically. South Africa</a:t>
            </a:r>
          </a:p>
          <a:p>
            <a:r>
              <a:t>is outlined and identified as the current quantitative model coverage in the callout.</a:t>
            </a:r>
          </a:p>
          <a:p>
            <a:r>
              <a:t>Membership checked against https://sadc.int/member-states and https://www.sacu.int/about-sacu</a:t>
            </a:r>
          </a:p>
          <a:p>
            <a:r>
              <a:t>Regional convention: https://unstats.un.org/unsd/methodology/m49/</a:t>
            </a:r>
          </a:p>
          <a:p>
            <a:r>
              <a:t>Base map: Natural Earth public-domain 110m country boundaries, downloaded 1 October 2026:</a:t>
            </a:r>
          </a:p>
          <a:p>
            <a:r>
              <a:t>https://www.naturalearthdata.com/downloads/110m-cultural-vectors/110m-admin-0-countries/</a:t>
            </a:r>
          </a:p>
          <a:p>
            <a:r>
              <a:t>Port context: https://www.namport.com.na/ and</a:t>
            </a:r>
          </a:p>
          <a:p>
            <a:r>
              <a:t>https://www.transnetnationalportsauthority.net/ContactUs/Pages/Ports-Contact-Details.aspx</a:t>
            </a:r>
          </a:p>
          <a:p>
            <a:r>
              <a:t>Internal evidence: intermediary report PDF pp. 37-38 and 42-45.</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Capacity and fuel-yield entries are read directly from Excel Assumptions</a:t>
            </a:r>
          </a:p>
          <a:p>
            <a:r>
              <a:t>M93:R97 at build time. Capacity is thousand barrels/day, not storage or product-specific</a:t>
            </a:r>
          </a:p>
          <a:p>
            <a:r>
              <a:t>handling capacity. Product shares are workbook assumptions, not verified current yields.</a:t>
            </a:r>
          </a:p>
          <a:p>
            <a:r>
              <a:t>Locations: Enref and Sapref in Durban; Natref in Sasolburg (Free State); Sasol CTL in</a:t>
            </a:r>
          </a:p>
          <a:p>
            <a:r>
              <a:t>Secunda; Astron in Cape Town; PetroSA GTL at Mossel Bay. Coordinates are approximate.</a:t>
            </a:r>
          </a:p>
          <a:p>
            <a:r>
              <a:t>Refinery inclusion does not imply current operation: the displayed 2030 supply scenarios</a:t>
            </a:r>
          </a:p>
          <a:p>
            <a:r>
              <a:t>have zero utilisation at Enref, Sapref and PetroSA. Do not infer throughput from nameplate.</a:t>
            </a:r>
          </a:p>
          <a:p>
            <a:r>
              <a:t>Selected schematic connections: Durban to Jameson Park refined-products trunk;</a:t>
            </a:r>
          </a:p>
          <a:p>
            <a:r>
              <a:t>Sasolburg and Secunda to Jameson Park; Durban to Coalbrook/Natref crude; Saldanha to</a:t>
            </a:r>
          </a:p>
          <a:p>
            <a:r>
              <a:t>Astron crude. No claim that every pipeline, branch or terminal is mapped.</a:t>
            </a:r>
          </a:p>
          <a:p>
            <a:r>
              <a:t>Pipeline sources: https://www.transnet.net/getFile.ashx?id=5330 (Shippers Manual,</a:t>
            </a:r>
          </a:p>
          <a:p>
            <a:r>
              <a:t>September 2024, pp. 4, 19-20) and https://www.transnet.net/SubsiteRender.aspx?id=6794475</a:t>
            </a:r>
          </a:p>
          <a:p>
            <a:r>
              <a:t>Saldanha-Astron link: https://www.astronenergy.co.za/about-us/refinery/</a:t>
            </a:r>
          </a:p>
          <a:p>
            <a:r>
              <a:t>PetroSA location: https://www.petrosa.co.za/petrochemicals.html</a:t>
            </a:r>
          </a:p>
          <a:p>
            <a:r>
              <a:t>No pipeline constraint has been added to the model engine.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The gas network is infrastructure context, not an addition of gas transport capacity to petrol/diesel/jet supply. ROMPCO ends at Secunda; onward Sasol connections are separately identified. Gauteng is a schematic network node, not a specific terminal. Lilly is shown via Newcastle and Empangeni with Richards Bay connection and Durban South endpoint. Intermediate KZN offtakes are omitted for legibility. Pipeline geometry and site coordinates are approximate; operating availability, capacity and commercial access require validation. Any proposed LNG conversion is not represented as completed. Source owner for follow-up: Manish; Nigel reviews treatment before gas constraints enter production scenarios.</a:t>
            </a:r>
          </a:p>
          <a:p>
            <a:r>
              <a:t>Sources: https://www.rompco.co.za/ ; https://www.rompco.co.za/projects/ ; https://www.sasol.com/sites/default/files/2024-11/WSP%20Audit%20report_A7_03_Sasol_GNP_12.12.20.1067_Secunda%20Sasolburg_Final_20240905.pdf ; https://www.sasol.com/our-businesses/energy/business-energy-solutions/industry-solutions/piped-gas-solutions ; https://www.transnet.net/getFile.ashx?id=6341 ; Natural Earth public-domain outlines. Accessed 1 October 2026.</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Existing TNPA commercial-port inventory and source references; Natural Earth geography. Port presence does not establish liquid-fuel handling or spare capacity.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Major national corridors shown: N1, N2, N3, N4, N6, N7, N10, N12, N14, N17 and N18. This is not the full national-road inventory; N5, N8, N9 and local access routes require the WS5 inventory. Waypoints are approximate and cannot calculate travel distance, time or trucking capacity. N2 follows the established inland Eastern Cape corridor; do not infer completion of Wild Coast projects. Border connections represent South African approaches only. Tanker permissions, axle limits, traffic, access roads and terminal loading constraints must be validated. National roads are not dedicated fuel capacity. Port Nolloth remains separately classified from the eight commercial ports.</a:t>
            </a:r>
          </a:p>
          <a:p>
            <a:r>
              <a:t>Sources: https://www.nra.co.za/roads-network ; https://www.nra.co.za/interactive-map/index.html ; https://www.nra.co.za/uploads/62/BTW_APR_May24_digital.pdf ; https://www.nra.co.za/sanral-pages/view/state-of-the-national-road-network-during-easter-weekend-sanral-stop-over1 ; Northern Cape port feasibility source https://publishedetenders.blob.core.windows.net/publishedetenderscontainer/9083/Annexure%20D%20-%20Business%20Case%20V12%2020.05.2020%20R01%20Final.pdf ; Natural Earth. Sources identify corridors; geometry is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Existing TFR corridor families; schematic network, not confirmed fuel service. Sources retained from the previous combined map.</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Read Excel Market share C5=251667 m3 diesel and C6=76000 m3 petrol</a:t>
            </a:r>
          </a:p>
          <a:p>
            <a:r>
              <a:t>under C4=2024 for Durban. Lesedi C79=100000 m3 diesel and C80=40000 m3 petrol,</a:t>
            </a:r>
          </a:p>
          <a:p>
            <a:r>
              <a:t>under C78=2026; do not silently present these as the same vintage. Site location:</a:t>
            </a:r>
          </a:p>
          <a:p>
            <a:r>
              <a:t>https://www.vopak.com/terminals/vopak-terminal-lesedi?language_content_entity=en</a:t>
            </a:r>
          </a:p>
          <a:p>
            <a:r>
              <a:t>Provincial storage: Deficit Calculations AL1:AQ11. Underlying values are m3,</a:t>
            </a:r>
          </a:p>
          <a:p>
            <a:r>
              <a:t>consistent with the sheet's national litre totals calculated by multiplying by 1000.</a:t>
            </a:r>
          </a:p>
          <a:p>
            <a:r>
              <a:t>The map/table displays thousand m3; D/P remains a combined category. The source</a:t>
            </a:r>
          </a:p>
          <a:p>
            <a:r>
              <a:t>total-storage column also includes capacity outside the displayed three fuels and</a:t>
            </a:r>
          </a:p>
          <a:p>
            <a:r>
              <a:t>combined category; no false total reconciliation is asserted.</a:t>
            </a:r>
          </a:p>
          <a:p>
            <a:r>
              <a:t>The workbook's Market share sheet additionally contains historical throughput and</a:t>
            </a:r>
          </a:p>
          <a:p>
            <a:r>
              <a:t>forecast tank turns. These commercial assumptions are not currently wired into Python.</a:t>
            </a:r>
          </a:p>
          <a:p>
            <a:r>
              <a:t>Transnet's public Pipelines overview publishes 148 million litres/week for the NMPP,</a:t>
            </a:r>
          </a:p>
          <a:p>
            <a:r>
              <a:t>handling two diesel and two petrol grades plus jet. This is network throughput capacity,</a:t>
            </a:r>
          </a:p>
          <a:p>
            <a:r>
              <a:t>not fuel-specific allocation or spare capacity available to Vopak. It is a separately</a:t>
            </a:r>
          </a:p>
          <a:p>
            <a:r>
              <a:t>sourced infrastructure annotation, not an Excel-model assumption.</a:t>
            </a:r>
          </a:p>
          <a:p>
            <a:r>
              <a:t>https://www.transnet.net/SubsiteRender.aspx?id=6794475 (accessed 1 October 2026).</a:t>
            </a:r>
          </a:p>
          <a:p>
            <a:r>
              <a:t>The Excel cell Deficit Calculations AA3 contains 7.7 with label 'Pipeline Transport</a:t>
            </a:r>
          </a:p>
          <a:p>
            <a:r>
              <a:t>Lead Time' and units 'blpa'; the conflicting label/units requires review before use.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All eight TNPA commercial ports are shown: Saldanha, Cape Town, Mossel Bay, Port Elizabeth (Gqeberha), Ngqura, East London, Durban and Richards Bay. Port Nolloth is shown separately; TNPA identifies it as a ninth, leased port rather than one of the eight commercial ports. This is a South Africa page, not an inventory of every African port. Rail geometry and intermediate links are schematic. Corridor endpoints indicate infrastructure coverage, not fuel availability, current operational service, contracted access or spare capacity. Northern and Mpumalanga hinterlands are represented as a corridor family, not an exhaustive rail network. Pipelines provide selected context; refer to the preceding asset page for crude/product differentiation.</a:t>
            </a:r>
          </a:p>
          <a:p>
            <a:r>
              <a:t>Sources: https://www.transnet.net/RenderPage.aspx?id=24348201 ; https://www.transnetfreightrail-tfr.net/Business/Pages/IM-CORRIDORMAINTENANCEOVERVIEW.aspx ; https://www.gov.za/news/media-statements/transport-potential-private-sector-participation-rail-and-port-projects-04 ; Transnet Shippers Manual September 2024 https://www.transnet.net/getFile.ashx?id=5330 ; Natural Earth public-domain outlines. Accessed 1 October 2026. Locations approximate.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Completeness is bounded by the documented connections in Transnet's September 2024 manual. Product links include Durban-Jameson Park, Sasolburg-Klerksdorp, Sasolburg-Jameson Park, Secunda-Kendal (12 and 20 inch), Secunda-Jameson Park, Jameson Park-Kendal, Jameson Park-Alrode, Alrode-Langlaagte and Kendal-Waltloo. Crude: Durban-Coalbrook/NATREF and Western Cape Saldanha-Astron. Dedicated jet link: Sasolburg/NATREF-ORTIA. The manual lists ORTIA ex-JMP as a delivery point; transport mode and intervening routing are not inferred as a new direct pipeline. Witbank, Tarlton and Rustenburg are explicitly listed delivery points whose detailed branch topology remains to reconcile. Historical DJP is not presented as available operating capacity. ROMPCO, Sasol gas and Lilly remain on the separate gas map. This is not every private terminal pipe, nor verified operating capacity. WS5 owner Manish reconciles branches and effective dates before use as a routing dataset; Nigel reviews.</a:t>
            </a:r>
          </a:p>
          <a:p>
            <a:r>
              <a:t>Sources: https://www.transnet.net/getFile.ashx?id=5330 pp. 9, 19-20; https://www.astronenergy.co.za/about-us/refinery/ ; Transnet 2023 report https://www.transnet.net/getFile.ashx?id=728 identifies historic DJP decommissioning context. Geometry is schematic, with no travel-distance meaning.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South Africa, 2024, billion litres. Python historical backfill uses vintage</a:t>
            </a:r>
          </a:p>
          <a:p>
            <a:r>
              <a:t>2026 and the current high_demand configuration. Excel comparator is recorded RSA</a:t>
            </a:r>
          </a:p>
          <a:p>
            <a:r>
              <a:t>demand in the inherited workbook, not the workbook forecast. Existing compare_history</a:t>
            </a:r>
          </a:p>
          <a:p>
            <a:r>
              <a:t>functions calculate the figures at build time. Diesel includes provisional industrial</a:t>
            </a:r>
          </a:p>
          <a:p>
            <a:r>
              <a:t>and agriculture volumes alongside vehicles and generation. Opening fleet and sector</a:t>
            </a:r>
          </a:p>
          <a:p>
            <a:r>
              <a:t>baselines require review. Percentage difference = (Python - Excel) / Excel.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Existing reconciliation outputs; accounting attribution, not causal driver sensitivity. Diesel excludes marine 500 ppm on this historical comparison, consistent with the existing baseline comparison.</a:t>
            </a:r>
          </a:p>
          <a:p/>
          <a:p>
            <a:r>
              <a:t>Speaker note: Waterfall bars start at Excel recorded demand and end at the Python total. Intermediate values are the existing accounting decomposition; they are not independently estimated causal sensitivities. Different fuels use different vertical scales, stated on the page. Jet has no translation gap.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Accuracy is distinct from translation parity, traceability and reproducibility. Excel recorded totals are the inherited benchmark, not independent proof of the workbook's forecast accuracy. Python's explicit drivers support auditing but are not evidence that its forecasts are better. Petrol fleet stock differs substantially and Python mileage, consumption, fuel split, scrappage and segment split are provisional. Diesel's power assumptions and held-sector baselines need validation; Excel non-power already covers non-road uses. Jet calculation parity establishes translation consistency, not fit to recorded demand. Excel J23 includes jet and aviation gasoline whereas Python product is jet_a1; validate coverage. Source [5] identifies the official external sales portal; its values have not been reconciled in this assessment. Use consistent calendar year, geography, products and sector coverage, define tolerances before assessing error, and conduct a multi-year and held-out comparison. Manish assembles evidence, Nigel reviews methodology, Henry independently reviews before the gate is passed. This page does not rank the supply forecasts: those require separate production and import validation.</a:t>
            </a:r>
          </a:p>
          <a:p>
            <a:r>
              <a:t>Sources: [1] external/sources/Liquid Fuels Model - Supply Demand, 2025 - Reatile Copy.xlsx: Gasoline - DemandSupply K29/T29/X29; Diesel - DemandSupply K30/T30/M30; Jet - DemandSupply J23; fJetFuel H24 and E2:E4. [2] assumptions/2026/vehicles.yaml, generation.yaml, industrial.yaml, agriculture.yaml; src/lfm/model/demand/vehicles.py. [3] src/lfm/reporting/reconciliation.py and pptx/output/data/driver_reconciliation.json. [4] GATE_CHECKLIST.md. [5] https://www.energy.gov.za/files/media/media_SAVolumes.html (benchmark source identified; external totals not reconciled).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Inventory checked against assumptions/2026 YAML and 11 time-series CSVs.</a:t>
            </a:r>
          </a:p>
          <a:p>
            <a:r>
              <a:t>GDP, GDP per capita and population start in 2005; growth starts in 2020. Refinery series</a:t>
            </a:r>
          </a:p>
          <a:p>
            <a:r>
              <a:t>use country/asset identifiers for six ZAF assets. Other SACU countries remain placeholders.</a:t>
            </a:r>
          </a:p>
          <a:p>
            <a:r>
              <a:t>No claim of full annual completeness or equal depth across series. FX is null in macro.yaml.</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Prior intermediary report PDF pages 33-40 covers Namibia and corridors;</a:t>
            </a:r>
          </a:p>
          <a:p>
            <a:r>
              <a:t>pages 42-45 covers competitor and storage context. These are evidence leads from 2025,</a:t>
            </a:r>
          </a:p>
          <a:p>
            <a:r>
              <a:t>not independently verified current asset facts. Keep liquid-fuels evidence separate</a:t>
            </a:r>
          </a:p>
          <a:p>
            <a:r>
              <a:t>from LNG / power opportunities. Do not infer commercial access from nameplate capacity.</a:t>
            </a:r>
          </a:p>
          <a:p>
            <a:r>
              <a:t>No structured port-routing or terminal-throughput model exists in the current engine.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Demand segments are vehicles, aviation, generation, industrial, marine</a:t>
            </a:r>
          </a:p>
          <a:p>
            <a:r>
              <a:t>and agriculture. Demand runs monthly and supply annually. Reporting aligns the two.</a:t>
            </a:r>
          </a:p>
          <a:p>
            <a:r>
              <a:t>Client-agnostic means reusable calculations, not unlimited scope or validated coverage.</a:t>
            </a:r>
          </a:p>
          <a:p>
            <a:r>
              <a:t>Source: CLAUDE.md and current model architecture.</a:t>
            </a:r>
          </a:p>
          <a:p>
            <a:r>
              <a:t>Required geographic coverage exceeds current South African inputs. Regional screening</a:t>
            </a:r>
          </a:p>
          <a:p>
            <a:r>
              <a:t>uses comparable high-level evidence; it does not imply a detailed model in every market.</a:t>
            </a:r>
          </a:p>
          <a:p>
            <a:r>
              <a:t>Nine scenarios and the M/M baseline describe the required framework, not existing capability.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Actual workbook sheets and formula dependencies; external references remain unresolved.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This diagram describes the current implementation, not a target architecture. Received spreadsheets are extracted through src/lfm/scripts into vintaged assumptions; Excel is not read inside the pure engine. CLI governance checks occur before calculation. YamlDirectoryProvider reads inputs and SnapshotProvider preloads resolved values. Six demand modules emit monthly frames; reporting.aggregate produces annual totals. supply.flows computes domestic refinery output and balances demand against domestic production. The residual is not a verified feasible import allocation. cli.py saves demand_monthly.csv, demand_annual.csv, balance_annual.csv and provenance.json under runs/. Provenance includes input/code hashes, runtime packages, scenario, vintage, executor and open exceptions. Reporting and presentation builders consume model calculations; no model logic is duplicated in pptx/. The current high_demand and low_demand choices pair demand and supply assumptions; M and nine independent combinations are not implemented. Regional inputs beyond South Africa are incomplete. Marine, agriculture and industrial are held rather than independently calibrated sector models. The Next.js viewer is a separate read-only documentation interface, not a model execution frontend.</a:t>
            </a:r>
          </a:p>
          <a:p>
            <a:r>
              <a:t>Sources: src/lfm/cli.py; src/lfm/run.py; src/lfm/assumptions/yaml_provider.py; src/lfm/assumptions/snapshot.py; src/lfm/model/demand/__init__.py; src/lfm/model/supply/flows.py; src/lfm/reporting/aggregate.py; CLAUDE.md.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Proposed WS5 architecture and input contract; not implemented engine capability. Sources: workstreams/WS5_infrastructure_logistics/README.md; GATE_CHECKLIST.md; WS2 interfaces.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Saved annual balances pinned in pptx/story/current-results-runs.json. Includes all current output fuels and both diesel grades. Deficit is before imports, exports and stock changes; not a deliverability result. Outputs remain provisional.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Saved annual balances pinned in pptx/story/current-results-runs.json. Includes all current output fuels and both diesel grades. Deficit is before imports, exports and stock changes; not a deliverability result. Outputs remain provisional.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Saved annual balances pinned in pptx/story/current-results-runs.json. Includes all current output fuels and both diesel grades. Deficit is before imports, exports and stock changes; not a deliverability result. Outputs remain provisional.</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Saved annual balances pinned in pptx/story/current-results-runs.json. Includes all current output fuels and both diesel grades. Deficit is before imports, exports and stock changes; not a deliverability result. Outputs remain provisional.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Marine held baseline and GDP scaling; not an expansion of the core petrol, diesel and jet reporting scope. Excluded from core result totals.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vopak.com/who-we-are/services" TargetMode="External"/><Relationship Id="rId3" Type="http://schemas.openxmlformats.org/officeDocument/2006/relationships/hyperlink" Target="https://www.vopak.com/who-we-are" TargetMode="External"/><Relationship Id="rId4" Type="http://schemas.openxmlformats.org/officeDocument/2006/relationships/hyperlink" Target="https://www.vopak.com/newsroom/news/vopak-expands-further-south-africa?language_content_entity=en" TargetMode="Externa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vopak.com/system/files/Half_Year_Report_2026_v2.pdf#page=11"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vopak.com/system/files/Half_Year_Report_2026_v2.pdf#page=39"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vopak.com/system/files/Half_Year_Report_2026_v2.pdf#page=39"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vopak.com/system/files/Half_Year_Report_2026_v2.pdf#page=56"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vopak.com/system/files/Half_Year_Report_2026_v2.pdf#page=32"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engen-admin.engen.co.za/storage/app/uploads/public/60f/043/f7b/60f043f7b4f71965269047.pdf" TargetMode="External"/><Relationship Id="rId3" Type="http://schemas.openxmlformats.org/officeDocument/2006/relationships/hyperlink" Target="https://cefgroup.co.za/2026/09/10/cef-outlines-roadmap-to-rebuild-south-africas-refining-capacity-and-unlock-economic-opportunities-in-durban-south/" TargetMode="External"/><Relationship Id="rId4" Type="http://schemas.openxmlformats.org/officeDocument/2006/relationships/hyperlink" Target="https://sasol.com/media-centre/media-releases/natref-operational-update" TargetMode="External"/><Relationship Id="rId5" Type="http://schemas.openxmlformats.org/officeDocument/2006/relationships/hyperlink" Target="https://www.sasol.com/media-centre/media-releases/sasol-delivers-stronger-fy2026-performance-and-strengthens-financial-resilience" TargetMode="External"/><Relationship Id="rId6" Type="http://schemas.openxmlformats.org/officeDocument/2006/relationships/hyperlink" Target="https://www.gov.za/news/media-statements/mineral-and-petroleum-resources-fuel-supply-and-prices-10-mar-2026" TargetMode="External"/><Relationship Id="rId7" Type="http://schemas.openxmlformats.org/officeDocument/2006/relationships/hyperlink" Target="https://cefgroup.co.za/2026/09/23/cef-group-presents-five-year-financial-performance-governance-outcomes-and-sanpc-development-progress-to-parliament/" TargetMode="Externa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energy.gov.za/files/media/media_SAVolumes.html" TargetMode="Externa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6.xml"/><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9.xml"/><Relationship Id="rId3" Type="http://schemas.openxmlformats.org/officeDocument/2006/relationships/chart" Target="../charts/chart10.xml"/><Relationship Id="rId4" Type="http://schemas.openxmlformats.org/officeDocument/2006/relationships/chart" Target="../charts/chart11.xm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2.xml"/><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5.xml"/><Relationship Id="rId3" Type="http://schemas.openxmlformats.org/officeDocument/2006/relationships/chart" Target="../charts/chart16.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urban.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vopak-logo-white.png"/>
          <p:cNvPicPr>
            <a:picLocks noChangeAspect="1"/>
          </p:cNvPicPr>
          <p:nvPr/>
        </p:nvPicPr>
        <p:blipFill>
          <a:blip r:embed="rId3"/>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Analyst kickoff</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Coverage: SACU + priority African regions</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2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Vopak provides infrastructure that connects supply to markets</a:t>
            </a:r>
          </a:p>
        </p:txBody>
      </p:sp>
      <p:sp>
        <p:nvSpPr>
          <p:cNvPr id="3" name="Slide Number Placeholder"/>
          <p:cNvSpPr>
            <a:spLocks noGrp="1"/>
          </p:cNvSpPr>
          <p:nvPr>
            <p:ph type="sldNum" sz="quarter" idx="12"/>
          </p:nvPr>
        </p:nvSpPr>
        <p:spPr/>
        <p:txBody>
          <a:bodyPr/>
          <a:lstStyle/>
          <a:p>
            <a:fld id="{3D0387A1-D1FA-4088-B26A-7E33CA194F48}"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502920" y="1664208"/>
            <a:ext cx="10515600" cy="347472"/>
          </a:xfrm>
          <a:prstGeom prst="rect">
            <a:avLst/>
          </a:prstGeom>
          <a:noFill/>
        </p:spPr>
        <p:txBody>
          <a:bodyPr wrap="square" lIns="18288" rIns="18288" tIns="0" bIns="0">
            <a:spAutoFit/>
          </a:bodyPr>
          <a:lstStyle/>
          <a:p>
            <a:pPr>
              <a:spcAft>
                <a:spcPts val="800"/>
              </a:spcAft>
              <a:defRPr sz="1600" b="1">
                <a:solidFill>
                  <a:srgbClr val="000000"/>
                </a:solidFill>
                <a:latin typeface="Lato"/>
              </a:defRPr>
            </a:pPr>
            <a:r>
              <a:t>ABOUT VOPAK | Storage and handling infrastructure serving energy and manufacturing</a:t>
            </a:r>
          </a:p>
        </p:txBody>
      </p:sp>
      <p:sp>
        <p:nvSpPr>
          <p:cNvPr id="9" name="Trapezoid 8"/>
          <p:cNvSpPr/>
          <p:nvPr/>
        </p:nvSpPr>
        <p:spPr>
          <a:xfrm rot="10800000">
            <a:off x="1380744" y="2432304"/>
            <a:ext cx="685800" cy="228600"/>
          </a:xfrm>
          <a:prstGeom prst="trapezoid">
            <a:avLst/>
          </a:prstGeom>
          <a:noFill/>
          <a:ln w="1651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45336" y="2249424"/>
            <a:ext cx="320040" cy="182880"/>
          </a:xfrm>
          <a:prstGeom prst="rect">
            <a:avLst/>
          </a:prstGeom>
          <a:noFill/>
          <a:ln w="1651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682496" y="2194560"/>
            <a:ext cx="109728" cy="73152"/>
          </a:xfrm>
          <a:prstGeom prst="rect">
            <a:avLst/>
          </a:prstGeom>
          <a:noFill/>
          <a:ln w="1651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770632"/>
            <a:ext cx="2423160" cy="256032"/>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Receipt</a:t>
            </a:r>
          </a:p>
        </p:txBody>
      </p:sp>
      <p:sp>
        <p:nvSpPr>
          <p:cNvPr id="13" name="Right Arrow 12"/>
          <p:cNvSpPr/>
          <p:nvPr/>
        </p:nvSpPr>
        <p:spPr>
          <a:xfrm>
            <a:off x="2606040" y="2423160"/>
            <a:ext cx="438912" cy="109728"/>
          </a:xfrm>
          <a:prstGeom prst="rightArrow">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an 13"/>
          <p:cNvSpPr/>
          <p:nvPr/>
        </p:nvSpPr>
        <p:spPr>
          <a:xfrm>
            <a:off x="4123944" y="2249424"/>
            <a:ext cx="201168" cy="411480"/>
          </a:xfrm>
          <a:prstGeom prst="can">
            <a:avLst/>
          </a:prstGeom>
          <a:noFill/>
          <a:ln w="1651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n 14"/>
          <p:cNvSpPr/>
          <p:nvPr/>
        </p:nvSpPr>
        <p:spPr>
          <a:xfrm>
            <a:off x="4361688" y="2249424"/>
            <a:ext cx="201168" cy="411480"/>
          </a:xfrm>
          <a:prstGeom prst="can">
            <a:avLst/>
          </a:prstGeom>
          <a:noFill/>
          <a:ln w="1651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n 15"/>
          <p:cNvSpPr/>
          <p:nvPr/>
        </p:nvSpPr>
        <p:spPr>
          <a:xfrm>
            <a:off x="4599431" y="2249424"/>
            <a:ext cx="201168" cy="411480"/>
          </a:xfrm>
          <a:prstGeom prst="can">
            <a:avLst/>
          </a:prstGeom>
          <a:noFill/>
          <a:ln w="1651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29000" y="2770632"/>
            <a:ext cx="2423160" cy="256032"/>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Storage and handling</a:t>
            </a:r>
          </a:p>
        </p:txBody>
      </p:sp>
      <p:sp>
        <p:nvSpPr>
          <p:cNvPr id="18" name="Right Arrow 17"/>
          <p:cNvSpPr/>
          <p:nvPr/>
        </p:nvSpPr>
        <p:spPr>
          <a:xfrm>
            <a:off x="5349240" y="2423160"/>
            <a:ext cx="438912" cy="109728"/>
          </a:xfrm>
          <a:prstGeom prst="rightArrow">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67144" y="2267712"/>
            <a:ext cx="438912" cy="246888"/>
          </a:xfrm>
          <a:prstGeom prst="rect">
            <a:avLst/>
          </a:prstGeom>
          <a:noFill/>
          <a:ln w="1651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24344" y="2340864"/>
            <a:ext cx="210312" cy="173736"/>
          </a:xfrm>
          <a:prstGeom prst="rect">
            <a:avLst/>
          </a:prstGeom>
          <a:noFill/>
          <a:ln w="1651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976872" y="2523744"/>
            <a:ext cx="137160" cy="137160"/>
          </a:xfrm>
          <a:prstGeom prst="ellipse">
            <a:avLst/>
          </a:prstGeom>
          <a:noFill/>
          <a:ln w="1651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70064" y="2523744"/>
            <a:ext cx="137160" cy="137160"/>
          </a:xfrm>
          <a:prstGeom prst="ellipse">
            <a:avLst/>
          </a:prstGeom>
          <a:noFill/>
          <a:ln w="1651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72200" y="2770632"/>
            <a:ext cx="2423160" cy="256032"/>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Onward dispatch</a:t>
            </a:r>
          </a:p>
        </p:txBody>
      </p:sp>
      <p:sp>
        <p:nvSpPr>
          <p:cNvPr id="24" name="Right Arrow 23"/>
          <p:cNvSpPr/>
          <p:nvPr/>
        </p:nvSpPr>
        <p:spPr>
          <a:xfrm>
            <a:off x="8092440" y="2423160"/>
            <a:ext cx="438912" cy="109728"/>
          </a:xfrm>
          <a:prstGeom prst="rightArrow">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10344" y="2395728"/>
            <a:ext cx="658368" cy="265176"/>
          </a:xfrm>
          <a:prstGeom prst="rect">
            <a:avLst/>
          </a:prstGeom>
          <a:noFill/>
          <a:ln w="1651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683496" y="2240279"/>
            <a:ext cx="109728" cy="155448"/>
          </a:xfrm>
          <a:prstGeom prst="rect">
            <a:avLst/>
          </a:prstGeom>
          <a:noFill/>
          <a:ln w="1651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912096" y="2240279"/>
            <a:ext cx="109728" cy="155448"/>
          </a:xfrm>
          <a:prstGeom prst="rect">
            <a:avLst/>
          </a:prstGeom>
          <a:noFill/>
          <a:ln w="1651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20072" y="2487168"/>
            <a:ext cx="73152" cy="82296"/>
          </a:xfrm>
          <a:prstGeom prst="rect">
            <a:avLst/>
          </a:prstGeom>
          <a:noFill/>
          <a:ln w="1651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939528" y="2487168"/>
            <a:ext cx="73152" cy="82296"/>
          </a:xfrm>
          <a:prstGeom prst="rect">
            <a:avLst/>
          </a:prstGeom>
          <a:noFill/>
          <a:ln w="1651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140696" y="2487168"/>
            <a:ext cx="73152" cy="82296"/>
          </a:xfrm>
          <a:prstGeom prst="rect">
            <a:avLst/>
          </a:prstGeom>
          <a:noFill/>
          <a:ln w="1651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15400" y="2770632"/>
            <a:ext cx="2423160" cy="256032"/>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Customer markets</a:t>
            </a:r>
          </a:p>
        </p:txBody>
      </p:sp>
      <p:graphicFrame>
        <p:nvGraphicFramePr>
          <p:cNvPr id="32" name="Table 31"/>
          <p:cNvGraphicFramePr>
            <a:graphicFrameLocks noGrp="1"/>
          </p:cNvGraphicFramePr>
          <p:nvPr/>
        </p:nvGraphicFramePr>
        <p:xfrm>
          <a:off x="502920" y="3200400"/>
          <a:ext cx="10652760" cy="2423160"/>
        </p:xfrm>
        <a:graphic>
          <a:graphicData uri="http://schemas.openxmlformats.org/drawingml/2006/table">
            <a:tbl>
              <a:tblPr firstRow="1" bandRow="1">
                <a:tableStyleId>{2D5ABB26-0587-4C30-8999-92F81FD0307C}</a:tableStyleId>
              </a:tblPr>
              <a:tblGrid>
                <a:gridCol w="5303520"/>
                <a:gridCol w="5349240"/>
              </a:tblGrid>
              <a:tr h="484632">
                <a:tc>
                  <a:txBody>
                    <a:bodyPr/>
                    <a:lstStyle/>
                    <a:p>
                      <a:pPr>
                        <a:defRPr sz="1300" b="1">
                          <a:solidFill>
                            <a:srgbClr val="000000"/>
                          </a:solidFill>
                          <a:latin typeface="Lato"/>
                        </a:defRPr>
                      </a:pPr>
                      <a:r>
                        <a:t>What matters about the client</a:t>
                      </a:r>
                    </a:p>
                  </a:txBody>
                  <a:tcPr marL="146304" marR="146304" marT="27432" marB="27432" anchor="ctr">
                    <a:lnB w="4445" cap="flat">
                      <a:solidFill>
                        <a:srgbClr val="A0A0A0"/>
                      </a:solidFill>
                    </a:lnB>
                    <a:solidFill>
                      <a:srgbClr val="FFFFFF"/>
                    </a:solidFill>
                  </a:tcPr>
                </a:tc>
                <a:tc>
                  <a:txBody>
                    <a:bodyPr/>
                    <a:lstStyle/>
                    <a:p>
                      <a:pPr>
                        <a:defRPr sz="1300" b="1">
                          <a:solidFill>
                            <a:srgbClr val="000000"/>
                          </a:solidFill>
                          <a:latin typeface="Lato"/>
                        </a:defRPr>
                      </a:pPr>
                      <a:r>
                        <a:t>Implication for this engagement</a:t>
                      </a:r>
                    </a:p>
                  </a:txBody>
                  <a:tcPr marL="146304" marR="146304" marT="27432" marB="27432" anchor="ctr">
                    <a:lnB w="4445" cap="flat">
                      <a:solidFill>
                        <a:srgbClr val="A0A0A0"/>
                      </a:solidFill>
                    </a:lnB>
                    <a:solidFill>
                      <a:srgbClr val="FFFFFF"/>
                    </a:solidFill>
                  </a:tcPr>
                </a:tc>
              </a:tr>
              <a:tr h="484632">
                <a:tc>
                  <a:txBody>
                    <a:bodyPr/>
                    <a:lstStyle/>
                    <a:p>
                      <a:pPr>
                        <a:defRPr sz="1300" b="0">
                          <a:solidFill>
                            <a:srgbClr val="000000"/>
                          </a:solidFill>
                          <a:latin typeface="Lato"/>
                        </a:defRPr>
                      </a:pPr>
                      <a:r>
                        <a:t>Business model: storage and handling across oil, gas, chemicals and industrial terminals. [1]</a:t>
                      </a:r>
                    </a:p>
                  </a:txBody>
                  <a:tcPr marL="146304" marR="146304" marT="27432" marB="27432" anchor="ctr">
                    <a:lnB w="3175" cap="flat">
                      <a:solidFill>
                        <a:srgbClr val="B8B8B8"/>
                      </a:solidFill>
                    </a:lnB>
                    <a:solidFill>
                      <a:srgbClr val="FFFFFF"/>
                    </a:solidFill>
                  </a:tcPr>
                </a:tc>
                <a:tc>
                  <a:txBody>
                    <a:bodyPr/>
                    <a:lstStyle/>
                    <a:p>
                      <a:pPr>
                        <a:defRPr sz="1300" b="0">
                          <a:solidFill>
                            <a:srgbClr val="000000"/>
                          </a:solidFill>
                          <a:latin typeface="Lato"/>
                        </a:defRPr>
                      </a:pPr>
                      <a:r>
                        <a:t>Translate fuel flows into terminal throughput, handling and usable storage needs.</a:t>
                      </a:r>
                    </a:p>
                  </a:txBody>
                  <a:tcPr marL="146304" marR="146304" marT="27432" marB="27432" anchor="ctr">
                    <a:lnB w="3175" cap="flat">
                      <a:solidFill>
                        <a:srgbClr val="B8B8B8"/>
                      </a:solidFill>
                    </a:lnB>
                    <a:solidFill>
                      <a:srgbClr val="FFFFFF"/>
                    </a:solidFill>
                  </a:tcPr>
                </a:tc>
              </a:tr>
              <a:tr h="484632">
                <a:tc>
                  <a:txBody>
                    <a:bodyPr/>
                    <a:lstStyle/>
                    <a:p>
                      <a:pPr>
                        <a:defRPr sz="1300" b="0">
                          <a:solidFill>
                            <a:srgbClr val="000000"/>
                          </a:solidFill>
                          <a:latin typeface="Lato"/>
                        </a:defRPr>
                      </a:pPr>
                      <a:r>
                        <a:t>Customers: producers, manufacturers, distributors, governments and traders. [1]</a:t>
                      </a:r>
                    </a:p>
                  </a:txBody>
                  <a:tcPr marL="146304" marR="146304" marT="27432" marB="27432" anchor="ctr">
                    <a:lnB w="3175" cap="flat">
                      <a:solidFill>
                        <a:srgbClr val="B8B8B8"/>
                      </a:solidFill>
                    </a:lnB>
                    <a:solidFill>
                      <a:srgbClr val="FFFFFF"/>
                    </a:solidFill>
                  </a:tcPr>
                </a:tc>
                <a:tc>
                  <a:txBody>
                    <a:bodyPr/>
                    <a:lstStyle/>
                    <a:p>
                      <a:pPr>
                        <a:defRPr sz="1300" b="0">
                          <a:solidFill>
                            <a:srgbClr val="000000"/>
                          </a:solidFill>
                          <a:latin typeface="Lato"/>
                        </a:defRPr>
                      </a:pPr>
                      <a:r>
                        <a:t>Establish whose volumes could use each corridor, access needs and competing options.</a:t>
                      </a:r>
                    </a:p>
                  </a:txBody>
                  <a:tcPr marL="146304" marR="146304" marT="27432" marB="27432" anchor="ctr">
                    <a:lnB w="3175" cap="flat">
                      <a:solidFill>
                        <a:srgbClr val="B8B8B8"/>
                      </a:solidFill>
                    </a:lnB>
                    <a:solidFill>
                      <a:srgbClr val="FFFFFF"/>
                    </a:solidFill>
                  </a:tcPr>
                </a:tc>
              </a:tr>
              <a:tr h="484632">
                <a:tc>
                  <a:txBody>
                    <a:bodyPr/>
                    <a:lstStyle/>
                    <a:p>
                      <a:pPr>
                        <a:defRPr sz="1300" b="0">
                          <a:solidFill>
                            <a:srgbClr val="000000"/>
                          </a:solidFill>
                          <a:latin typeface="Lato"/>
                        </a:defRPr>
                      </a:pPr>
                      <a:r>
                        <a:t>South Africa: coastal Durban and inland Lesedi connect to the New Multi-Product Pipeline (NMPP). [3]</a:t>
                      </a:r>
                    </a:p>
                  </a:txBody>
                  <a:tcPr marL="146304" marR="146304" marT="27432" marB="27432" anchor="ctr">
                    <a:lnB w="3175" cap="flat">
                      <a:solidFill>
                        <a:srgbClr val="B8B8B8"/>
                      </a:solidFill>
                    </a:lnB>
                    <a:solidFill>
                      <a:srgbClr val="FFFFFF"/>
                    </a:solidFill>
                  </a:tcPr>
                </a:tc>
                <a:tc>
                  <a:txBody>
                    <a:bodyPr/>
                    <a:lstStyle/>
                    <a:p>
                      <a:pPr>
                        <a:defRPr sz="1300" b="0">
                          <a:solidFill>
                            <a:srgbClr val="000000"/>
                          </a:solidFill>
                          <a:latin typeface="Lato"/>
                        </a:defRPr>
                      </a:pPr>
                      <a:r>
                        <a:t>Assess coastal receipts, inland flows and terminal needs within the national fuel system.</a:t>
                      </a:r>
                    </a:p>
                  </a:txBody>
                  <a:tcPr marL="146304" marR="146304" marT="27432" marB="27432" anchor="ctr">
                    <a:lnB w="3175" cap="flat">
                      <a:solidFill>
                        <a:srgbClr val="B8B8B8"/>
                      </a:solidFill>
                    </a:lnB>
                    <a:solidFill>
                      <a:srgbClr val="FFFFFF"/>
                    </a:solidFill>
                  </a:tcPr>
                </a:tc>
              </a:tr>
              <a:tr h="484632">
                <a:tc>
                  <a:txBody>
                    <a:bodyPr/>
                    <a:lstStyle/>
                    <a:p>
                      <a:pPr>
                        <a:defRPr sz="1300" b="0">
                          <a:solidFill>
                            <a:srgbClr val="000000"/>
                          </a:solidFill>
                          <a:latin typeface="Lato"/>
                        </a:defRPr>
                      </a:pPr>
                      <a:r>
                        <a:t>Strategy: predictable cash flows, stronger assets and disciplined growth investment. [2]</a:t>
                      </a:r>
                    </a:p>
                  </a:txBody>
                  <a:tcPr marL="146304" marR="146304" marT="27432" marB="27432" anchor="ctr">
                    <a:lnB w="3175" cap="flat">
                      <a:solidFill>
                        <a:srgbClr val="B8B8B8"/>
                      </a:solidFill>
                    </a:lnB>
                    <a:solidFill>
                      <a:srgbClr val="FFFFFF"/>
                    </a:solidFill>
                  </a:tcPr>
                </a:tc>
                <a:tc>
                  <a:txBody>
                    <a:bodyPr/>
                    <a:lstStyle/>
                    <a:p>
                      <a:pPr>
                        <a:defRPr sz="1300" b="0">
                          <a:solidFill>
                            <a:srgbClr val="000000"/>
                          </a:solidFill>
                          <a:latin typeface="Lato"/>
                        </a:defRPr>
                      </a:pPr>
                      <a:r>
                        <a:t>Test sustained demand, utilisation and commercial access before calling a gap an opportunity.</a:t>
                      </a:r>
                    </a:p>
                  </a:txBody>
                  <a:tcPr marL="146304" marR="146304" marT="27432" marB="27432" anchor="ctr">
                    <a:lnB w="3175" cap="flat">
                      <a:solidFill>
                        <a:srgbClr val="B8B8B8"/>
                      </a:solidFill>
                    </a:lnB>
                    <a:solidFill>
                      <a:srgbClr val="FFFFFF"/>
                    </a:solidFill>
                  </a:tcPr>
                </a:tc>
              </a:tr>
            </a:tbl>
          </a:graphicData>
        </a:graphic>
      </p:graphicFrame>
      <p:sp>
        <p:nvSpPr>
          <p:cNvPr id="33" name="TextBox 32"/>
          <p:cNvSpPr txBox="1"/>
          <p:nvPr/>
        </p:nvSpPr>
        <p:spPr>
          <a:xfrm>
            <a:off x="502920" y="5852160"/>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This assignment: South Africa outlook | Namibia / Walvis Bay assessment | Priority African market screening. [4]</a:t>
            </a:r>
          </a:p>
        </p:txBody>
      </p:sp>
      <p:sp>
        <p:nvSpPr>
          <p:cNvPr id="34" name="TextBox 33"/>
          <p:cNvSpPr txBox="1"/>
          <p:nvPr/>
        </p:nvSpPr>
        <p:spPr>
          <a:xfrm>
            <a:off x="502920" y="6263640"/>
            <a:ext cx="256032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rPr>
                <a:hlinkClick r:id="rId2"/>
              </a:rPr>
              <a:t>[1] Vopak: Services</a:t>
            </a:r>
          </a:p>
        </p:txBody>
      </p:sp>
      <p:sp>
        <p:nvSpPr>
          <p:cNvPr id="35" name="TextBox 34"/>
          <p:cNvSpPr txBox="1"/>
          <p:nvPr/>
        </p:nvSpPr>
        <p:spPr>
          <a:xfrm>
            <a:off x="3154680" y="6263640"/>
            <a:ext cx="320040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rPr>
                <a:hlinkClick r:id="rId3"/>
              </a:rPr>
              <a:t>[2] Vopak: Who we are / strategy</a:t>
            </a:r>
          </a:p>
        </p:txBody>
      </p:sp>
      <p:sp>
        <p:nvSpPr>
          <p:cNvPr id="36" name="TextBox 35"/>
          <p:cNvSpPr txBox="1"/>
          <p:nvPr/>
        </p:nvSpPr>
        <p:spPr>
          <a:xfrm>
            <a:off x="6446520" y="6263640"/>
            <a:ext cx="438912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rPr>
                <a:hlinkClick r:id="rId4"/>
              </a:rPr>
              <a:t>[3] Vopak: South Africa expansion</a:t>
            </a:r>
          </a:p>
        </p:txBody>
      </p:sp>
      <p:sp>
        <p:nvSpPr>
          <p:cNvPr id="37" name="TextBox 36"/>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Sources: [1-3] Royal Vopak corporate and South Africa publications; [4] AIA proposal, August 2026, pp. 7-8. Implications are our analytical framing.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Vopak's strategy provides three lenses for African fuel infrastructure</a:t>
            </a:r>
          </a:p>
        </p:txBody>
      </p:sp>
      <p:sp>
        <p:nvSpPr>
          <p:cNvPr id="3" name="Slide Number Placeholder"/>
          <p:cNvSpPr>
            <a:spLocks noGrp="1"/>
          </p:cNvSpPr>
          <p:nvPr>
            <p:ph type="sldNum" sz="quarter" idx="12"/>
          </p:nvPr>
        </p:nvSpPr>
        <p:spPr/>
        <p:txBody>
          <a:bodyPr/>
          <a:lstStyle/>
          <a:p>
            <a:fld id="{A1EC0F5C-F89F-489C-98FB-267324F48DFB}"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502920" y="1645920"/>
            <a:ext cx="10515600" cy="320040"/>
          </a:xfrm>
          <a:prstGeom prst="rect">
            <a:avLst/>
          </a:prstGeom>
          <a:noFill/>
        </p:spPr>
        <p:txBody>
          <a:bodyPr wrap="square" lIns="18288" rIns="18288" tIns="0" bIns="0">
            <a:spAutoFit/>
          </a:bodyPr>
          <a:lstStyle/>
          <a:p>
            <a:pPr>
              <a:spcAft>
                <a:spcPts val="800"/>
              </a:spcAft>
              <a:defRPr sz="1400" b="0">
                <a:solidFill>
                  <a:srgbClr val="000000"/>
                </a:solidFill>
                <a:latin typeface="Lato"/>
              </a:defRPr>
            </a:pPr>
            <a:r>
              <a:t>Published group priorities | application to our study is our interpretation</a:t>
            </a:r>
          </a:p>
        </p:txBody>
      </p:sp>
      <p:sp>
        <p:nvSpPr>
          <p:cNvPr id="9" name="TextBox 8"/>
          <p:cNvSpPr txBox="1"/>
          <p:nvPr/>
        </p:nvSpPr>
        <p:spPr>
          <a:xfrm>
            <a:off x="1938528" y="2221992"/>
            <a:ext cx="3840480" cy="27432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What Vopak reports</a:t>
            </a:r>
          </a:p>
        </p:txBody>
      </p:sp>
      <p:sp>
        <p:nvSpPr>
          <p:cNvPr id="10" name="TextBox 9"/>
          <p:cNvSpPr txBox="1"/>
          <p:nvPr/>
        </p:nvSpPr>
        <p:spPr>
          <a:xfrm>
            <a:off x="6080760" y="2221992"/>
            <a:ext cx="4983480" cy="27432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What this means for the African study</a:t>
            </a:r>
          </a:p>
        </p:txBody>
      </p:sp>
      <p:sp>
        <p:nvSpPr>
          <p:cNvPr id="11" name="TextBox 10"/>
          <p:cNvSpPr txBox="1"/>
          <p:nvPr/>
        </p:nvSpPr>
        <p:spPr>
          <a:xfrm>
            <a:off x="502920" y="2697480"/>
            <a:ext cx="1325880" cy="292608"/>
          </a:xfrm>
          <a:prstGeom prst="rect">
            <a:avLst/>
          </a:prstGeom>
          <a:noFill/>
        </p:spPr>
        <p:txBody>
          <a:bodyPr wrap="square" lIns="18288" rIns="18288" tIns="0" bIns="0">
            <a:spAutoFit/>
          </a:bodyPr>
          <a:lstStyle/>
          <a:p>
            <a:pPr>
              <a:spcAft>
                <a:spcPts val="800"/>
              </a:spcAft>
              <a:defRPr sz="1800" b="1">
                <a:solidFill>
                  <a:srgbClr val="0A2373"/>
                </a:solidFill>
                <a:latin typeface="Lato"/>
              </a:defRPr>
            </a:pPr>
            <a:r>
              <a:t>Improve</a:t>
            </a:r>
          </a:p>
        </p:txBody>
      </p:sp>
      <p:sp>
        <p:nvSpPr>
          <p:cNvPr id="12" name="TextBox 11"/>
          <p:cNvSpPr txBox="1"/>
          <p:nvPr/>
        </p:nvSpPr>
        <p:spPr>
          <a:xfrm>
            <a:off x="1938528" y="2697480"/>
            <a:ext cx="3813048" cy="768096"/>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Improve financial and sustainability performance of existing assets. Target annual operating cash returns of 13–17%.</a:t>
            </a:r>
          </a:p>
        </p:txBody>
      </p:sp>
      <p:sp>
        <p:nvSpPr>
          <p:cNvPr id="13" name="TextBox 12"/>
          <p:cNvSpPr txBox="1"/>
          <p:nvPr/>
        </p:nvSpPr>
        <p:spPr>
          <a:xfrm>
            <a:off x="6080760" y="2697480"/>
            <a:ext cx="4983480" cy="768096"/>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South Africa: assess how changing national fuel flows affect terminal utilisation, handling demand, connectivity and operating performance.</a:t>
            </a:r>
          </a:p>
        </p:txBody>
      </p:sp>
      <p:cxnSp>
        <p:nvCxnSpPr>
          <p:cNvPr id="14" name="Connector 13"/>
          <p:cNvCxnSpPr/>
          <p:nvPr/>
        </p:nvCxnSpPr>
        <p:spPr>
          <a:xfrm>
            <a:off x="502920" y="3538728"/>
            <a:ext cx="10561320" cy="0"/>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02920" y="3639312"/>
            <a:ext cx="1325880" cy="292608"/>
          </a:xfrm>
          <a:prstGeom prst="rect">
            <a:avLst/>
          </a:prstGeom>
          <a:noFill/>
        </p:spPr>
        <p:txBody>
          <a:bodyPr wrap="square" lIns="18288" rIns="18288" tIns="0" bIns="0">
            <a:spAutoFit/>
          </a:bodyPr>
          <a:lstStyle/>
          <a:p>
            <a:pPr>
              <a:spcAft>
                <a:spcPts val="800"/>
              </a:spcAft>
              <a:defRPr sz="1800" b="1">
                <a:solidFill>
                  <a:srgbClr val="0A2373"/>
                </a:solidFill>
                <a:latin typeface="Lato"/>
              </a:defRPr>
            </a:pPr>
            <a:r>
              <a:t>Grow</a:t>
            </a:r>
          </a:p>
        </p:txBody>
      </p:sp>
      <p:sp>
        <p:nvSpPr>
          <p:cNvPr id="16" name="TextBox 15"/>
          <p:cNvSpPr txBox="1"/>
          <p:nvPr/>
        </p:nvSpPr>
        <p:spPr>
          <a:xfrm>
            <a:off x="1938528" y="3639312"/>
            <a:ext cx="3813048" cy="768096"/>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Prioritise gas and industrial terminals with attractive, long-term contracted returns. Group investment ambition: EUR 2.6bn through 2030.</a:t>
            </a:r>
          </a:p>
        </p:txBody>
      </p:sp>
      <p:sp>
        <p:nvSpPr>
          <p:cNvPr id="17" name="TextBox 16"/>
          <p:cNvSpPr txBox="1"/>
          <p:nvPr/>
        </p:nvSpPr>
        <p:spPr>
          <a:xfrm>
            <a:off x="6080760" y="3639312"/>
            <a:ext cx="4983480" cy="768096"/>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Walvis Bay / Namibia: test customer commitments, competing capacity and corridor access. Fuel deficits alone do not establish a viable terminal investment.</a:t>
            </a:r>
          </a:p>
        </p:txBody>
      </p:sp>
      <p:cxnSp>
        <p:nvCxnSpPr>
          <p:cNvPr id="18" name="Connector 17"/>
          <p:cNvCxnSpPr/>
          <p:nvPr/>
        </p:nvCxnSpPr>
        <p:spPr>
          <a:xfrm>
            <a:off x="502920" y="4480560"/>
            <a:ext cx="10561320" cy="0"/>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2920" y="4581144"/>
            <a:ext cx="1325880" cy="292608"/>
          </a:xfrm>
          <a:prstGeom prst="rect">
            <a:avLst/>
          </a:prstGeom>
          <a:noFill/>
        </p:spPr>
        <p:txBody>
          <a:bodyPr wrap="square" lIns="18288" rIns="18288" tIns="0" bIns="0">
            <a:spAutoFit/>
          </a:bodyPr>
          <a:lstStyle/>
          <a:p>
            <a:pPr>
              <a:spcAft>
                <a:spcPts val="800"/>
              </a:spcAft>
              <a:defRPr sz="1800" b="1">
                <a:solidFill>
                  <a:srgbClr val="0A2373"/>
                </a:solidFill>
                <a:latin typeface="Lato"/>
              </a:defRPr>
            </a:pPr>
            <a:r>
              <a:t>Accelerate</a:t>
            </a:r>
          </a:p>
        </p:txBody>
      </p:sp>
      <p:sp>
        <p:nvSpPr>
          <p:cNvPr id="20" name="TextBox 19"/>
          <p:cNvSpPr txBox="1"/>
          <p:nvPr/>
        </p:nvSpPr>
        <p:spPr>
          <a:xfrm>
            <a:off x="1938528" y="4581144"/>
            <a:ext cx="3813048" cy="768096"/>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Selective energy-transition investment: EUR 1.4bn ambition by 2030, including low-carbon fuels, sustainable feedstocks, ammonia and liquid CO2.</a:t>
            </a:r>
          </a:p>
        </p:txBody>
      </p:sp>
      <p:sp>
        <p:nvSpPr>
          <p:cNvPr id="21" name="TextBox 20"/>
          <p:cNvSpPr txBox="1"/>
          <p:nvPr/>
        </p:nvSpPr>
        <p:spPr>
          <a:xfrm>
            <a:off x="6080760" y="4581144"/>
            <a:ext cx="4983480" cy="768096"/>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Priority African markets: screen sustained service demand and transition compatibility. The agreed model scope remains petrol, diesel and jet.</a:t>
            </a:r>
          </a:p>
        </p:txBody>
      </p:sp>
      <p:cxnSp>
        <p:nvCxnSpPr>
          <p:cNvPr id="22" name="Connector 21"/>
          <p:cNvCxnSpPr/>
          <p:nvPr/>
        </p:nvCxnSpPr>
        <p:spPr>
          <a:xfrm>
            <a:off x="502920" y="5422392"/>
            <a:ext cx="10561320" cy="0"/>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2920" y="5715000"/>
            <a:ext cx="10515600" cy="438912"/>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The report provides group strategy; it does not set out a dedicated Africa expansion plan or a Walvis Bay investment commitment.</a:t>
            </a:r>
          </a:p>
        </p:txBody>
      </p:sp>
      <p:sp>
        <p:nvSpPr>
          <p:cNvPr id="24" name="TextBox 23"/>
          <p:cNvSpPr txBox="1"/>
          <p:nvPr/>
        </p:nvSpPr>
        <p:spPr>
          <a:xfrm>
            <a:off x="502920" y="6217920"/>
            <a:ext cx="10515600" cy="237744"/>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Commercial lens: sustained customer demand, usable infrastructure, contracted returns and investment requirements.</a:t>
            </a:r>
          </a:p>
        </p:txBody>
      </p:sp>
      <p:sp>
        <p:nvSpPr>
          <p:cNvPr id="25" name="TextBox 24"/>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rPr>
                <a:hlinkClick r:id="rId2"/>
              </a:rPr>
              <a:t>Source: Royal Vopak, Half Year Report 2026, pp. 9, 11. African study implications are our analytical framing, not company commitments.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African fuel opportunities depend on sustained demand for storage and handling</a:t>
            </a:r>
          </a:p>
        </p:txBody>
      </p:sp>
      <p:sp>
        <p:nvSpPr>
          <p:cNvPr id="3" name="Slide Number Placeholder"/>
          <p:cNvSpPr>
            <a:spLocks noGrp="1"/>
          </p:cNvSpPr>
          <p:nvPr>
            <p:ph type="sldNum" sz="quarter" idx="12"/>
          </p:nvPr>
        </p:nvSpPr>
        <p:spPr/>
        <p:txBody>
          <a:bodyPr/>
          <a:lstStyle/>
          <a:p>
            <a:fld id="{E12E2EC2-63D1-465A-98A6-54516C1520B4}"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502920" y="1645920"/>
            <a:ext cx="10515600" cy="36576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Fuel flows matter when they support sustained demand for terminal capacity and services</a:t>
            </a:r>
          </a:p>
        </p:txBody>
      </p:sp>
      <p:sp>
        <p:nvSpPr>
          <p:cNvPr id="9" name="TextBox 8"/>
          <p:cNvSpPr txBox="1"/>
          <p:nvPr/>
        </p:nvSpPr>
        <p:spPr>
          <a:xfrm>
            <a:off x="502920" y="2212848"/>
            <a:ext cx="2560320" cy="292608"/>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Storage services</a:t>
            </a:r>
          </a:p>
        </p:txBody>
      </p:sp>
      <p:sp>
        <p:nvSpPr>
          <p:cNvPr id="10" name="TextBox 9"/>
          <p:cNvSpPr txBox="1"/>
          <p:nvPr/>
        </p:nvSpPr>
        <p:spPr>
          <a:xfrm>
            <a:off x="502920" y="2606040"/>
            <a:ext cx="2560320" cy="365760"/>
          </a:xfrm>
          <a:prstGeom prst="rect">
            <a:avLst/>
          </a:prstGeom>
          <a:noFill/>
        </p:spPr>
        <p:txBody>
          <a:bodyPr wrap="square" lIns="18288" rIns="18288" tIns="0" bIns="0">
            <a:spAutoFit/>
          </a:bodyPr>
          <a:lstStyle/>
          <a:p>
            <a:pPr>
              <a:spcAft>
                <a:spcPts val="800"/>
              </a:spcAft>
              <a:defRPr sz="1900" b="1">
                <a:solidFill>
                  <a:srgbClr val="0A2373"/>
                </a:solidFill>
                <a:latin typeface="Lato"/>
              </a:defRPr>
            </a:pPr>
            <a:r>
              <a:t>EUR 551.0m  |  81.4%</a:t>
            </a:r>
          </a:p>
        </p:txBody>
      </p:sp>
      <p:sp>
        <p:nvSpPr>
          <p:cNvPr id="11" name="TextBox 10"/>
          <p:cNvSpPr txBox="1"/>
          <p:nvPr/>
        </p:nvSpPr>
        <p:spPr>
          <a:xfrm>
            <a:off x="502920" y="3054096"/>
            <a:ext cx="2560320" cy="22860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H1 2026 consolidated revenue</a:t>
            </a:r>
          </a:p>
        </p:txBody>
      </p:sp>
      <p:sp>
        <p:nvSpPr>
          <p:cNvPr id="12" name="TextBox 11"/>
          <p:cNvSpPr txBox="1"/>
          <p:nvPr/>
        </p:nvSpPr>
        <p:spPr>
          <a:xfrm>
            <a:off x="3200400" y="2212848"/>
            <a:ext cx="2560320" cy="292608"/>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Product movements</a:t>
            </a:r>
          </a:p>
        </p:txBody>
      </p:sp>
      <p:sp>
        <p:nvSpPr>
          <p:cNvPr id="13" name="TextBox 12"/>
          <p:cNvSpPr txBox="1"/>
          <p:nvPr/>
        </p:nvSpPr>
        <p:spPr>
          <a:xfrm>
            <a:off x="3200400" y="2606040"/>
            <a:ext cx="2560320" cy="365760"/>
          </a:xfrm>
          <a:prstGeom prst="rect">
            <a:avLst/>
          </a:prstGeom>
          <a:noFill/>
        </p:spPr>
        <p:txBody>
          <a:bodyPr wrap="square" lIns="18288" rIns="18288" tIns="0" bIns="0">
            <a:spAutoFit/>
          </a:bodyPr>
          <a:lstStyle/>
          <a:p>
            <a:pPr>
              <a:spcAft>
                <a:spcPts val="800"/>
              </a:spcAft>
              <a:defRPr sz="1900" b="1">
                <a:solidFill>
                  <a:srgbClr val="0A2373"/>
                </a:solidFill>
                <a:latin typeface="Lato"/>
              </a:defRPr>
            </a:pPr>
            <a:r>
              <a:t>EUR 40.4m  |  6.0%</a:t>
            </a:r>
          </a:p>
        </p:txBody>
      </p:sp>
      <p:sp>
        <p:nvSpPr>
          <p:cNvPr id="14" name="TextBox 13"/>
          <p:cNvSpPr txBox="1"/>
          <p:nvPr/>
        </p:nvSpPr>
        <p:spPr>
          <a:xfrm>
            <a:off x="3200400" y="3054096"/>
            <a:ext cx="2560320" cy="22860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H1 2026 consolidated revenue</a:t>
            </a:r>
          </a:p>
        </p:txBody>
      </p:sp>
      <p:sp>
        <p:nvSpPr>
          <p:cNvPr id="15" name="TextBox 14"/>
          <p:cNvSpPr txBox="1"/>
          <p:nvPr/>
        </p:nvSpPr>
        <p:spPr>
          <a:xfrm>
            <a:off x="5897880" y="2212848"/>
            <a:ext cx="2560320" cy="292608"/>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Storage / handling related</a:t>
            </a:r>
          </a:p>
        </p:txBody>
      </p:sp>
      <p:sp>
        <p:nvSpPr>
          <p:cNvPr id="16" name="TextBox 15"/>
          <p:cNvSpPr txBox="1"/>
          <p:nvPr/>
        </p:nvSpPr>
        <p:spPr>
          <a:xfrm>
            <a:off x="5897880" y="2606040"/>
            <a:ext cx="2560320" cy="365760"/>
          </a:xfrm>
          <a:prstGeom prst="rect">
            <a:avLst/>
          </a:prstGeom>
          <a:noFill/>
        </p:spPr>
        <p:txBody>
          <a:bodyPr wrap="square" lIns="18288" rIns="18288" tIns="0" bIns="0">
            <a:spAutoFit/>
          </a:bodyPr>
          <a:lstStyle/>
          <a:p>
            <a:pPr>
              <a:spcAft>
                <a:spcPts val="800"/>
              </a:spcAft>
              <a:defRPr sz="1900" b="1">
                <a:solidFill>
                  <a:srgbClr val="0A2373"/>
                </a:solidFill>
                <a:latin typeface="Lato"/>
              </a:defRPr>
            </a:pPr>
            <a:r>
              <a:t>EUR 68.9m  |  10.2%</a:t>
            </a:r>
          </a:p>
        </p:txBody>
      </p:sp>
      <p:sp>
        <p:nvSpPr>
          <p:cNvPr id="17" name="TextBox 16"/>
          <p:cNvSpPr txBox="1"/>
          <p:nvPr/>
        </p:nvSpPr>
        <p:spPr>
          <a:xfrm>
            <a:off x="5897880" y="3054096"/>
            <a:ext cx="2560320" cy="22860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H1 2026 consolidated revenue</a:t>
            </a:r>
          </a:p>
        </p:txBody>
      </p:sp>
      <p:sp>
        <p:nvSpPr>
          <p:cNvPr id="18" name="TextBox 17"/>
          <p:cNvSpPr txBox="1"/>
          <p:nvPr/>
        </p:nvSpPr>
        <p:spPr>
          <a:xfrm>
            <a:off x="8595360" y="2212848"/>
            <a:ext cx="2560320" cy="292608"/>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Other services</a:t>
            </a:r>
          </a:p>
        </p:txBody>
      </p:sp>
      <p:sp>
        <p:nvSpPr>
          <p:cNvPr id="19" name="TextBox 18"/>
          <p:cNvSpPr txBox="1"/>
          <p:nvPr/>
        </p:nvSpPr>
        <p:spPr>
          <a:xfrm>
            <a:off x="8595360" y="2606040"/>
            <a:ext cx="2560320" cy="365760"/>
          </a:xfrm>
          <a:prstGeom prst="rect">
            <a:avLst/>
          </a:prstGeom>
          <a:noFill/>
        </p:spPr>
        <p:txBody>
          <a:bodyPr wrap="square" lIns="18288" rIns="18288" tIns="0" bIns="0">
            <a:spAutoFit/>
          </a:bodyPr>
          <a:lstStyle/>
          <a:p>
            <a:pPr>
              <a:spcAft>
                <a:spcPts val="800"/>
              </a:spcAft>
              <a:defRPr sz="1900" b="1">
                <a:solidFill>
                  <a:srgbClr val="0A2373"/>
                </a:solidFill>
                <a:latin typeface="Lato"/>
              </a:defRPr>
            </a:pPr>
            <a:r>
              <a:t>EUR 16.8m  |  2.5%</a:t>
            </a:r>
          </a:p>
        </p:txBody>
      </p:sp>
      <p:sp>
        <p:nvSpPr>
          <p:cNvPr id="20" name="TextBox 19"/>
          <p:cNvSpPr txBox="1"/>
          <p:nvPr/>
        </p:nvSpPr>
        <p:spPr>
          <a:xfrm>
            <a:off x="8595360" y="3054096"/>
            <a:ext cx="2560320" cy="22860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H1 2026 consolidated revenue</a:t>
            </a:r>
          </a:p>
        </p:txBody>
      </p:sp>
      <p:sp>
        <p:nvSpPr>
          <p:cNvPr id="21" name="TextBox 20"/>
          <p:cNvSpPr txBox="1"/>
          <p:nvPr/>
        </p:nvSpPr>
        <p:spPr>
          <a:xfrm>
            <a:off x="502920" y="3310128"/>
            <a:ext cx="10515600" cy="210312"/>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All four categories reconcile to EUR 677.1m; displayed shares total 100.1% because of rounding.</a:t>
            </a:r>
          </a:p>
        </p:txBody>
      </p:sp>
      <p:sp>
        <p:nvSpPr>
          <p:cNvPr id="22" name="TextBox 21"/>
          <p:cNvSpPr txBox="1"/>
          <p:nvPr/>
        </p:nvSpPr>
        <p:spPr>
          <a:xfrm>
            <a:off x="502920" y="3502152"/>
            <a:ext cx="10515600" cy="320040"/>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Study implication: connect usable tank capacity and holding time to receipts, dispatch and throughput.</a:t>
            </a:r>
          </a:p>
        </p:txBody>
      </p:sp>
      <p:sp>
        <p:nvSpPr>
          <p:cNvPr id="23" name="Rectangle 22"/>
          <p:cNvSpPr/>
          <p:nvPr/>
        </p:nvSpPr>
        <p:spPr>
          <a:xfrm>
            <a:off x="502920" y="4078224"/>
            <a:ext cx="3337560" cy="1773936"/>
          </a:xfrm>
          <a:prstGeom prst="rect">
            <a:avLst/>
          </a:prstGeom>
          <a:no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8" y="4187952"/>
            <a:ext cx="3108960" cy="292608"/>
          </a:xfrm>
          <a:prstGeom prst="rect">
            <a:avLst/>
          </a:prstGeom>
          <a:noFill/>
        </p:spPr>
        <p:txBody>
          <a:bodyPr wrap="square" lIns="18288" rIns="18288" tIns="0" bIns="0">
            <a:spAutoFit/>
          </a:bodyPr>
          <a:lstStyle/>
          <a:p>
            <a:pPr>
              <a:spcAft>
                <a:spcPts val="800"/>
              </a:spcAft>
              <a:defRPr sz="1600" b="1">
                <a:solidFill>
                  <a:srgbClr val="000000"/>
                </a:solidFill>
                <a:latin typeface="Lato"/>
              </a:defRPr>
            </a:pPr>
            <a:r>
              <a:t>South Africa</a:t>
            </a:r>
          </a:p>
        </p:txBody>
      </p:sp>
      <p:sp>
        <p:nvSpPr>
          <p:cNvPr id="25" name="TextBox 24"/>
          <p:cNvSpPr txBox="1"/>
          <p:nvPr/>
        </p:nvSpPr>
        <p:spPr>
          <a:xfrm>
            <a:off x="612648" y="4599432"/>
            <a:ext cx="3108960" cy="576072"/>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Assess changing coastal receipts and inland flows across the national system.</a:t>
            </a:r>
          </a:p>
        </p:txBody>
      </p:sp>
      <p:sp>
        <p:nvSpPr>
          <p:cNvPr id="26" name="TextBox 25"/>
          <p:cNvSpPr txBox="1"/>
          <p:nvPr/>
        </p:nvSpPr>
        <p:spPr>
          <a:xfrm>
            <a:off x="612648" y="5248656"/>
            <a:ext cx="3108960" cy="50292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Client output: service demand, utilisation pressures and constraints for existing and potential terminals.</a:t>
            </a:r>
          </a:p>
        </p:txBody>
      </p:sp>
      <p:sp>
        <p:nvSpPr>
          <p:cNvPr id="27" name="Rectangle 26"/>
          <p:cNvSpPr/>
          <p:nvPr/>
        </p:nvSpPr>
        <p:spPr>
          <a:xfrm>
            <a:off x="4114800" y="4078224"/>
            <a:ext cx="3337560" cy="1773936"/>
          </a:xfrm>
          <a:prstGeom prst="rect">
            <a:avLst/>
          </a:prstGeom>
          <a:no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24528" y="4187952"/>
            <a:ext cx="3108960" cy="292608"/>
          </a:xfrm>
          <a:prstGeom prst="rect">
            <a:avLst/>
          </a:prstGeom>
          <a:noFill/>
        </p:spPr>
        <p:txBody>
          <a:bodyPr wrap="square" lIns="18288" rIns="18288" tIns="0" bIns="0">
            <a:spAutoFit/>
          </a:bodyPr>
          <a:lstStyle/>
          <a:p>
            <a:pPr>
              <a:spcAft>
                <a:spcPts val="800"/>
              </a:spcAft>
              <a:defRPr sz="1600" b="1">
                <a:solidFill>
                  <a:srgbClr val="000000"/>
                </a:solidFill>
                <a:latin typeface="Lato"/>
              </a:defRPr>
            </a:pPr>
            <a:r>
              <a:t>Walvis Bay / Namibia</a:t>
            </a:r>
          </a:p>
        </p:txBody>
      </p:sp>
      <p:sp>
        <p:nvSpPr>
          <p:cNvPr id="29" name="TextBox 28"/>
          <p:cNvSpPr txBox="1"/>
          <p:nvPr/>
        </p:nvSpPr>
        <p:spPr>
          <a:xfrm>
            <a:off x="4224528" y="4599432"/>
            <a:ext cx="3108960" cy="576072"/>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Test the customer volumes and corridors that could sustain a storage and handling proposition.</a:t>
            </a:r>
          </a:p>
        </p:txBody>
      </p:sp>
      <p:sp>
        <p:nvSpPr>
          <p:cNvPr id="30" name="TextBox 29"/>
          <p:cNvSpPr txBox="1"/>
          <p:nvPr/>
        </p:nvSpPr>
        <p:spPr>
          <a:xfrm>
            <a:off x="4224528" y="5248656"/>
            <a:ext cx="3108960" cy="50292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Client output: accessible demand, competing facilities, usable capacity and commercial conditions.</a:t>
            </a:r>
          </a:p>
        </p:txBody>
      </p:sp>
      <p:sp>
        <p:nvSpPr>
          <p:cNvPr id="31" name="Rectangle 30"/>
          <p:cNvSpPr/>
          <p:nvPr/>
        </p:nvSpPr>
        <p:spPr>
          <a:xfrm>
            <a:off x="7726680" y="4078224"/>
            <a:ext cx="3337560" cy="1773936"/>
          </a:xfrm>
          <a:prstGeom prst="rect">
            <a:avLst/>
          </a:prstGeom>
          <a:no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36408" y="4187952"/>
            <a:ext cx="3108960" cy="292608"/>
          </a:xfrm>
          <a:prstGeom prst="rect">
            <a:avLst/>
          </a:prstGeom>
          <a:noFill/>
        </p:spPr>
        <p:txBody>
          <a:bodyPr wrap="square" lIns="18288" rIns="18288" tIns="0" bIns="0">
            <a:spAutoFit/>
          </a:bodyPr>
          <a:lstStyle/>
          <a:p>
            <a:pPr>
              <a:spcAft>
                <a:spcPts val="800"/>
              </a:spcAft>
              <a:defRPr sz="1600" b="1">
                <a:solidFill>
                  <a:srgbClr val="000000"/>
                </a:solidFill>
                <a:latin typeface="Lato"/>
              </a:defRPr>
            </a:pPr>
            <a:r>
              <a:t>Priority African markets</a:t>
            </a:r>
          </a:p>
        </p:txBody>
      </p:sp>
      <p:sp>
        <p:nvSpPr>
          <p:cNvPr id="33" name="TextBox 32"/>
          <p:cNvSpPr txBox="1"/>
          <p:nvPr/>
        </p:nvSpPr>
        <p:spPr>
          <a:xfrm>
            <a:off x="7836408" y="4599432"/>
            <a:ext cx="3108960" cy="576072"/>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Screen for sustained fuel flows, customer needs and commercially accessible infrastructure.</a:t>
            </a:r>
          </a:p>
        </p:txBody>
      </p:sp>
      <p:sp>
        <p:nvSpPr>
          <p:cNvPr id="34" name="TextBox 33"/>
          <p:cNvSpPr txBox="1"/>
          <p:nvPr/>
        </p:nvSpPr>
        <p:spPr>
          <a:xfrm>
            <a:off x="7836408" y="5248656"/>
            <a:ext cx="3108960" cy="50292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Client output: markets to prioritise for detailed asset and customer assessment.</a:t>
            </a:r>
          </a:p>
        </p:txBody>
      </p:sp>
      <p:sp>
        <p:nvSpPr>
          <p:cNvPr id="35" name="TextBox 34"/>
          <p:cNvSpPr txBox="1"/>
          <p:nvPr/>
        </p:nvSpPr>
        <p:spPr>
          <a:xfrm>
            <a:off x="502920" y="6144768"/>
            <a:ext cx="10515600" cy="292608"/>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Commercial test: sustained customer volumes, compatible capacity, handling capability, access and contract terms.</a:t>
            </a:r>
          </a:p>
        </p:txBody>
      </p:sp>
      <p:sp>
        <p:nvSpPr>
          <p:cNvPr id="36" name="TextBox 35"/>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rPr>
                <a:hlinkClick r:id="rId2"/>
              </a:rPr>
              <a:t>Sources: Vopak Half Year Report 2026, p. 39 (all service revenues); AIA proposal, pp. 7–8. Study implications are our framing.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Group revenue growth alone does not establish attractive African terminal economics</a:t>
            </a:r>
          </a:p>
        </p:txBody>
      </p:sp>
      <p:sp>
        <p:nvSpPr>
          <p:cNvPr id="3" name="Slide Number Placeholder"/>
          <p:cNvSpPr>
            <a:spLocks noGrp="1"/>
          </p:cNvSpPr>
          <p:nvPr>
            <p:ph type="sldNum" sz="quarter" idx="12"/>
          </p:nvPr>
        </p:nvSpPr>
        <p:spPr/>
        <p:txBody>
          <a:bodyPr/>
          <a:lstStyle/>
          <a:p>
            <a:fld id="{7EA22A42-52CC-43A6-9014-354906943C6E}"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502920" y="1645920"/>
            <a:ext cx="10515600" cy="320040"/>
          </a:xfrm>
          <a:prstGeom prst="rect">
            <a:avLst/>
          </a:prstGeom>
          <a:noFill/>
        </p:spPr>
        <p:txBody>
          <a:bodyPr wrap="square" lIns="18288" rIns="18288" tIns="0" bIns="0">
            <a:spAutoFit/>
          </a:bodyPr>
          <a:lstStyle/>
          <a:p>
            <a:pPr>
              <a:spcAft>
                <a:spcPts val="800"/>
              </a:spcAft>
              <a:defRPr sz="1400" b="0">
                <a:solidFill>
                  <a:srgbClr val="000000"/>
                </a:solidFill>
                <a:latin typeface="Lato"/>
              </a:defRPr>
            </a:pPr>
            <a:r>
              <a:t>Vopak H1 2026 | six months to 30 June | EUR million unless stated | rounded to whole numbers</a:t>
            </a:r>
          </a:p>
        </p:txBody>
      </p:sp>
      <p:sp>
        <p:nvSpPr>
          <p:cNvPr id="9" name="TextBox 8"/>
          <p:cNvSpPr txBox="1"/>
          <p:nvPr/>
        </p:nvSpPr>
        <p:spPr>
          <a:xfrm>
            <a:off x="502920" y="2121408"/>
            <a:ext cx="5943600" cy="320040"/>
          </a:xfrm>
          <a:prstGeom prst="rect">
            <a:avLst/>
          </a:prstGeom>
          <a:noFill/>
        </p:spPr>
        <p:txBody>
          <a:bodyPr wrap="square" lIns="18288" rIns="18288" tIns="0" bIns="0">
            <a:spAutoFit/>
          </a:bodyPr>
          <a:lstStyle/>
          <a:p>
            <a:pPr>
              <a:spcAft>
                <a:spcPts val="800"/>
              </a:spcAft>
              <a:defRPr sz="1700" b="1">
                <a:solidFill>
                  <a:srgbClr val="000000"/>
                </a:solidFill>
                <a:latin typeface="Lato"/>
              </a:defRPr>
            </a:pPr>
            <a:r>
              <a:t>Group income and cash flows</a:t>
            </a:r>
          </a:p>
        </p:txBody>
      </p:sp>
      <p:sp>
        <p:nvSpPr>
          <p:cNvPr id="10" name="Rectangle 9"/>
          <p:cNvSpPr/>
          <p:nvPr/>
        </p:nvSpPr>
        <p:spPr>
          <a:xfrm>
            <a:off x="502920" y="2587752"/>
            <a:ext cx="246888" cy="10058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2542032"/>
            <a:ext cx="1051560" cy="219456"/>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H1 2026</a:t>
            </a:r>
          </a:p>
        </p:txBody>
      </p:sp>
      <p:sp>
        <p:nvSpPr>
          <p:cNvPr id="12" name="Rectangle 11"/>
          <p:cNvSpPr/>
          <p:nvPr/>
        </p:nvSpPr>
        <p:spPr>
          <a:xfrm>
            <a:off x="1965960" y="2587752"/>
            <a:ext cx="246888" cy="1005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13432" y="2542032"/>
            <a:ext cx="1051560" cy="219456"/>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H1 2025</a:t>
            </a:r>
          </a:p>
        </p:txBody>
      </p:sp>
      <p:cxnSp>
        <p:nvCxnSpPr>
          <p:cNvPr id="14" name="Connector 13"/>
          <p:cNvCxnSpPr/>
          <p:nvPr/>
        </p:nvCxnSpPr>
        <p:spPr>
          <a:xfrm>
            <a:off x="3858768" y="2852928"/>
            <a:ext cx="0" cy="2432304"/>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02920" y="2898648"/>
            <a:ext cx="2423160" cy="27432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Revenue</a:t>
            </a:r>
          </a:p>
        </p:txBody>
      </p:sp>
      <p:sp>
        <p:nvSpPr>
          <p:cNvPr id="16" name="Rectangle 15"/>
          <p:cNvSpPr/>
          <p:nvPr/>
        </p:nvSpPr>
        <p:spPr>
          <a:xfrm>
            <a:off x="3858768" y="2898648"/>
            <a:ext cx="185742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1908" y="2866644"/>
            <a:ext cx="5486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677</a:t>
            </a:r>
          </a:p>
        </p:txBody>
      </p:sp>
      <p:sp>
        <p:nvSpPr>
          <p:cNvPr id="18" name="Rectangle 17"/>
          <p:cNvSpPr/>
          <p:nvPr/>
        </p:nvSpPr>
        <p:spPr>
          <a:xfrm>
            <a:off x="3858768" y="3031236"/>
            <a:ext cx="1787194"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91682" y="2999232"/>
            <a:ext cx="5486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652</a:t>
            </a:r>
          </a:p>
        </p:txBody>
      </p:sp>
      <p:sp>
        <p:nvSpPr>
          <p:cNvPr id="20" name="TextBox 19"/>
          <p:cNvSpPr txBox="1"/>
          <p:nvPr/>
        </p:nvSpPr>
        <p:spPr>
          <a:xfrm>
            <a:off x="502920" y="3236976"/>
            <a:ext cx="2423160" cy="27432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EBITDA*</a:t>
            </a:r>
          </a:p>
        </p:txBody>
      </p:sp>
      <p:sp>
        <p:nvSpPr>
          <p:cNvPr id="21" name="Rectangle 20"/>
          <p:cNvSpPr/>
          <p:nvPr/>
        </p:nvSpPr>
        <p:spPr>
          <a:xfrm>
            <a:off x="3858768" y="3236976"/>
            <a:ext cx="1330726"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35214" y="3204972"/>
            <a:ext cx="5486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485</a:t>
            </a:r>
          </a:p>
        </p:txBody>
      </p:sp>
      <p:sp>
        <p:nvSpPr>
          <p:cNvPr id="23" name="Rectangle 22"/>
          <p:cNvSpPr/>
          <p:nvPr/>
        </p:nvSpPr>
        <p:spPr>
          <a:xfrm>
            <a:off x="3858768" y="3369564"/>
            <a:ext cx="1346911"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51399" y="3337560"/>
            <a:ext cx="5486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491</a:t>
            </a:r>
          </a:p>
        </p:txBody>
      </p:sp>
      <p:sp>
        <p:nvSpPr>
          <p:cNvPr id="25" name="TextBox 24"/>
          <p:cNvSpPr txBox="1"/>
          <p:nvPr/>
        </p:nvSpPr>
        <p:spPr>
          <a:xfrm>
            <a:off x="502920" y="3575304"/>
            <a:ext cx="2423160" cy="27432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EBIT</a:t>
            </a:r>
          </a:p>
        </p:txBody>
      </p:sp>
      <p:sp>
        <p:nvSpPr>
          <p:cNvPr id="26" name="Rectangle 25"/>
          <p:cNvSpPr/>
          <p:nvPr/>
        </p:nvSpPr>
        <p:spPr>
          <a:xfrm>
            <a:off x="3858768" y="3575304"/>
            <a:ext cx="854781"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9269" y="3543300"/>
            <a:ext cx="5486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312</a:t>
            </a:r>
          </a:p>
        </p:txBody>
      </p:sp>
      <p:sp>
        <p:nvSpPr>
          <p:cNvPr id="28" name="Rectangle 27"/>
          <p:cNvSpPr/>
          <p:nvPr/>
        </p:nvSpPr>
        <p:spPr>
          <a:xfrm>
            <a:off x="3858768" y="3707891"/>
            <a:ext cx="1200424"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04912" y="3675887"/>
            <a:ext cx="5486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438</a:t>
            </a:r>
          </a:p>
        </p:txBody>
      </p:sp>
      <p:sp>
        <p:nvSpPr>
          <p:cNvPr id="30" name="TextBox 29"/>
          <p:cNvSpPr txBox="1"/>
          <p:nvPr/>
        </p:nvSpPr>
        <p:spPr>
          <a:xfrm>
            <a:off x="502920" y="3913631"/>
            <a:ext cx="2423160" cy="27432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Net profit (ordinary holders)</a:t>
            </a:r>
          </a:p>
        </p:txBody>
      </p:sp>
      <p:sp>
        <p:nvSpPr>
          <p:cNvPr id="31" name="Rectangle 30"/>
          <p:cNvSpPr/>
          <p:nvPr/>
        </p:nvSpPr>
        <p:spPr>
          <a:xfrm>
            <a:off x="3858768" y="3913631"/>
            <a:ext cx="511332"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15820" y="3881627"/>
            <a:ext cx="5486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186</a:t>
            </a:r>
          </a:p>
        </p:txBody>
      </p:sp>
      <p:sp>
        <p:nvSpPr>
          <p:cNvPr id="33" name="Rectangle 32"/>
          <p:cNvSpPr/>
          <p:nvPr/>
        </p:nvSpPr>
        <p:spPr>
          <a:xfrm>
            <a:off x="3858768" y="4046219"/>
            <a:ext cx="873983"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78471" y="4014215"/>
            <a:ext cx="5486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319</a:t>
            </a:r>
          </a:p>
        </p:txBody>
      </p:sp>
      <p:sp>
        <p:nvSpPr>
          <p:cNvPr id="35" name="TextBox 34"/>
          <p:cNvSpPr txBox="1"/>
          <p:nvPr/>
        </p:nvSpPr>
        <p:spPr>
          <a:xfrm>
            <a:off x="502920" y="4251960"/>
            <a:ext cx="2423160" cy="27432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Operating cash (gross)</a:t>
            </a:r>
          </a:p>
        </p:txBody>
      </p:sp>
      <p:sp>
        <p:nvSpPr>
          <p:cNvPr id="36" name="Rectangle 35"/>
          <p:cNvSpPr/>
          <p:nvPr/>
        </p:nvSpPr>
        <p:spPr>
          <a:xfrm>
            <a:off x="3858768" y="4251960"/>
            <a:ext cx="1279977"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84465" y="4219956"/>
            <a:ext cx="5486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467</a:t>
            </a:r>
          </a:p>
        </p:txBody>
      </p:sp>
      <p:sp>
        <p:nvSpPr>
          <p:cNvPr id="38" name="Rectangle 37"/>
          <p:cNvSpPr/>
          <p:nvPr/>
        </p:nvSpPr>
        <p:spPr>
          <a:xfrm>
            <a:off x="3858768" y="4384548"/>
            <a:ext cx="1360078"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264566" y="4352544"/>
            <a:ext cx="5486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496</a:t>
            </a:r>
          </a:p>
        </p:txBody>
      </p:sp>
      <p:sp>
        <p:nvSpPr>
          <p:cNvPr id="40" name="TextBox 39"/>
          <p:cNvSpPr txBox="1"/>
          <p:nvPr/>
        </p:nvSpPr>
        <p:spPr>
          <a:xfrm>
            <a:off x="502920" y="4590288"/>
            <a:ext cx="2423160" cy="27432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Investing cash</a:t>
            </a:r>
          </a:p>
        </p:txBody>
      </p:sp>
      <p:sp>
        <p:nvSpPr>
          <p:cNvPr id="41" name="Rectangle 40"/>
          <p:cNvSpPr/>
          <p:nvPr/>
        </p:nvSpPr>
        <p:spPr>
          <a:xfrm>
            <a:off x="3378982" y="4590288"/>
            <a:ext cx="479785"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76062" y="4558283"/>
            <a:ext cx="5486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-175</a:t>
            </a:r>
          </a:p>
        </p:txBody>
      </p:sp>
      <p:sp>
        <p:nvSpPr>
          <p:cNvPr id="43" name="Rectangle 42"/>
          <p:cNvSpPr/>
          <p:nvPr/>
        </p:nvSpPr>
        <p:spPr>
          <a:xfrm>
            <a:off x="3045134" y="4722875"/>
            <a:ext cx="813633"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542214" y="4690871"/>
            <a:ext cx="5486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-297</a:t>
            </a:r>
          </a:p>
        </p:txBody>
      </p:sp>
      <p:sp>
        <p:nvSpPr>
          <p:cNvPr id="45" name="TextBox 44"/>
          <p:cNvSpPr txBox="1"/>
          <p:nvPr/>
        </p:nvSpPr>
        <p:spPr>
          <a:xfrm>
            <a:off x="502920" y="4928616"/>
            <a:ext cx="2423160" cy="27432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Financing cash</a:t>
            </a:r>
          </a:p>
        </p:txBody>
      </p:sp>
      <p:sp>
        <p:nvSpPr>
          <p:cNvPr id="46" name="Rectangle 45"/>
          <p:cNvSpPr/>
          <p:nvPr/>
        </p:nvSpPr>
        <p:spPr>
          <a:xfrm>
            <a:off x="3168030" y="4928616"/>
            <a:ext cx="690737"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665110" y="4896612"/>
            <a:ext cx="5486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-252</a:t>
            </a:r>
          </a:p>
        </p:txBody>
      </p:sp>
      <p:sp>
        <p:nvSpPr>
          <p:cNvPr id="48" name="Rectangle 47"/>
          <p:cNvSpPr/>
          <p:nvPr/>
        </p:nvSpPr>
        <p:spPr>
          <a:xfrm>
            <a:off x="3453597" y="5061203"/>
            <a:ext cx="405170"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50677" y="5029199"/>
            <a:ext cx="5486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-148</a:t>
            </a:r>
          </a:p>
        </p:txBody>
      </p:sp>
      <p:sp>
        <p:nvSpPr>
          <p:cNvPr id="50" name="TextBox 49"/>
          <p:cNvSpPr txBox="1"/>
          <p:nvPr/>
        </p:nvSpPr>
        <p:spPr>
          <a:xfrm>
            <a:off x="3813048" y="5312664"/>
            <a:ext cx="201168" cy="155448"/>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0</a:t>
            </a:r>
          </a:p>
        </p:txBody>
      </p:sp>
      <p:sp>
        <p:nvSpPr>
          <p:cNvPr id="51" name="TextBox 50"/>
          <p:cNvSpPr txBox="1"/>
          <p:nvPr/>
        </p:nvSpPr>
        <p:spPr>
          <a:xfrm>
            <a:off x="502920" y="5349240"/>
            <a:ext cx="5943600" cy="228600"/>
          </a:xfrm>
          <a:prstGeom prst="rect">
            <a:avLst/>
          </a:prstGeom>
          <a:noFill/>
        </p:spPr>
        <p:txBody>
          <a:bodyPr wrap="square" lIns="18288" rIns="18288" tIns="0" bIns="0">
            <a:spAutoFit/>
          </a:bodyPr>
          <a:lstStyle/>
          <a:p>
            <a:pPr>
              <a:spcAft>
                <a:spcPts val="800"/>
              </a:spcAft>
              <a:defRPr sz="1100" b="1">
                <a:solidFill>
                  <a:srgbClr val="000000"/>
                </a:solidFill>
                <a:latin typeface="Lato"/>
              </a:defRPr>
            </a:pPr>
            <a:r>
              <a:t>EPS, EUR/share: 2 / 3 (2026 / 2025; rounded)</a:t>
            </a:r>
          </a:p>
        </p:txBody>
      </p:sp>
      <p:sp>
        <p:nvSpPr>
          <p:cNvPr id="52" name="TextBox 51"/>
          <p:cNvSpPr txBox="1"/>
          <p:nvPr/>
        </p:nvSpPr>
        <p:spPr>
          <a:xfrm>
            <a:off x="6766560" y="2121408"/>
            <a:ext cx="4297680" cy="320040"/>
          </a:xfrm>
          <a:prstGeom prst="rect">
            <a:avLst/>
          </a:prstGeom>
          <a:noFill/>
        </p:spPr>
        <p:txBody>
          <a:bodyPr wrap="square" lIns="18288" rIns="18288" tIns="0" bIns="0">
            <a:spAutoFit/>
          </a:bodyPr>
          <a:lstStyle/>
          <a:p>
            <a:pPr>
              <a:spcAft>
                <a:spcPts val="800"/>
              </a:spcAft>
              <a:defRPr sz="1700" b="1">
                <a:solidFill>
                  <a:srgbClr val="000000"/>
                </a:solidFill>
                <a:latin typeface="Lato"/>
              </a:defRPr>
            </a:pPr>
            <a:r>
              <a:t>Revenue by service</a:t>
            </a:r>
          </a:p>
        </p:txBody>
      </p:sp>
      <p:sp>
        <p:nvSpPr>
          <p:cNvPr id="53" name="TextBox 52"/>
          <p:cNvSpPr txBox="1"/>
          <p:nvPr/>
        </p:nvSpPr>
        <p:spPr>
          <a:xfrm>
            <a:off x="6766560" y="2697480"/>
            <a:ext cx="4160520" cy="201168"/>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Storage services</a:t>
            </a:r>
          </a:p>
        </p:txBody>
      </p:sp>
      <p:sp>
        <p:nvSpPr>
          <p:cNvPr id="54" name="Rectangle 53"/>
          <p:cNvSpPr/>
          <p:nvPr/>
        </p:nvSpPr>
        <p:spPr>
          <a:xfrm>
            <a:off x="6766560" y="2962656"/>
            <a:ext cx="2455550"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784080" y="2907792"/>
            <a:ext cx="1371600" cy="22860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551  |  81%</a:t>
            </a:r>
          </a:p>
        </p:txBody>
      </p:sp>
      <p:sp>
        <p:nvSpPr>
          <p:cNvPr id="56" name="TextBox 55"/>
          <p:cNvSpPr txBox="1"/>
          <p:nvPr/>
        </p:nvSpPr>
        <p:spPr>
          <a:xfrm>
            <a:off x="6766560" y="3300984"/>
            <a:ext cx="4160520" cy="201168"/>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Product movements</a:t>
            </a:r>
          </a:p>
        </p:txBody>
      </p:sp>
      <p:sp>
        <p:nvSpPr>
          <p:cNvPr id="57" name="Rectangle 56"/>
          <p:cNvSpPr/>
          <p:nvPr/>
        </p:nvSpPr>
        <p:spPr>
          <a:xfrm>
            <a:off x="6766560" y="3566160"/>
            <a:ext cx="180044"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784080" y="3511296"/>
            <a:ext cx="1371600" cy="22860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40  |  6%</a:t>
            </a:r>
          </a:p>
        </p:txBody>
      </p:sp>
      <p:sp>
        <p:nvSpPr>
          <p:cNvPr id="59" name="TextBox 58"/>
          <p:cNvSpPr txBox="1"/>
          <p:nvPr/>
        </p:nvSpPr>
        <p:spPr>
          <a:xfrm>
            <a:off x="6766560" y="3904488"/>
            <a:ext cx="4160520" cy="201168"/>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Storage / handling related</a:t>
            </a:r>
          </a:p>
        </p:txBody>
      </p:sp>
      <p:sp>
        <p:nvSpPr>
          <p:cNvPr id="60" name="Rectangle 59"/>
          <p:cNvSpPr/>
          <p:nvPr/>
        </p:nvSpPr>
        <p:spPr>
          <a:xfrm>
            <a:off x="6766560" y="4169664"/>
            <a:ext cx="307055"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784080" y="4114800"/>
            <a:ext cx="1371600" cy="22860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69  |  10%</a:t>
            </a:r>
          </a:p>
        </p:txBody>
      </p:sp>
      <p:sp>
        <p:nvSpPr>
          <p:cNvPr id="62" name="TextBox 61"/>
          <p:cNvSpPr txBox="1"/>
          <p:nvPr/>
        </p:nvSpPr>
        <p:spPr>
          <a:xfrm>
            <a:off x="6766560" y="4507992"/>
            <a:ext cx="4160520" cy="201168"/>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Other services</a:t>
            </a:r>
          </a:p>
        </p:txBody>
      </p:sp>
      <p:sp>
        <p:nvSpPr>
          <p:cNvPr id="63" name="Rectangle 62"/>
          <p:cNvSpPr/>
          <p:nvPr/>
        </p:nvSpPr>
        <p:spPr>
          <a:xfrm>
            <a:off x="6766560" y="4773168"/>
            <a:ext cx="74869"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784080" y="4718304"/>
            <a:ext cx="1371600" cy="22860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17  |  2%</a:t>
            </a:r>
          </a:p>
        </p:txBody>
      </p:sp>
      <p:sp>
        <p:nvSpPr>
          <p:cNvPr id="65" name="TextBox 64"/>
          <p:cNvSpPr txBox="1"/>
          <p:nvPr/>
        </p:nvSpPr>
        <p:spPr>
          <a:xfrm>
            <a:off x="6766560" y="5321808"/>
            <a:ext cx="4251960" cy="54864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Service mix is revenue, not profit. Storage and handling earnings are not disclosed separately.</a:t>
            </a:r>
          </a:p>
        </p:txBody>
      </p:sp>
      <p:sp>
        <p:nvSpPr>
          <p:cNvPr id="66" name="TextBox 65"/>
          <p:cNvSpPr txBox="1"/>
          <p:nvPr/>
        </p:nvSpPr>
        <p:spPr>
          <a:xfrm>
            <a:off x="502920" y="5650992"/>
            <a:ext cx="5943600" cy="45720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*EBITDA excludes exceptional items (APM). EBIT and net profit include them. H1 2025 profit included the AVTL listing gain.</a:t>
            </a:r>
          </a:p>
        </p:txBody>
      </p:sp>
      <p:sp>
        <p:nvSpPr>
          <p:cNvPr id="67" name="TextBox 66"/>
          <p:cNvSpPr txBox="1"/>
          <p:nvPr/>
        </p:nvSpPr>
        <p:spPr>
          <a:xfrm>
            <a:off x="502920" y="6144768"/>
            <a:ext cx="10515600" cy="365760"/>
          </a:xfrm>
          <a:prstGeom prst="rect">
            <a:avLst/>
          </a:prstGeom>
          <a:noFill/>
        </p:spPr>
        <p:txBody>
          <a:bodyPr wrap="square" lIns="18288" rIns="18288" tIns="0" bIns="0">
            <a:spAutoFit/>
          </a:bodyPr>
          <a:lstStyle/>
          <a:p>
            <a:pPr>
              <a:spcAft>
                <a:spcPts val="800"/>
              </a:spcAft>
              <a:defRPr sz="1000" b="1">
                <a:solidFill>
                  <a:srgbClr val="000000"/>
                </a:solidFill>
                <a:latin typeface="Lato"/>
              </a:defRPr>
            </a:pPr>
            <a:r>
              <a:t>Study implication: assess contracted capacity, handling demand and costs in South Africa; test customer commitments at Walvis Bay; screen commercially accessible African flows.</a:t>
            </a:r>
          </a:p>
        </p:txBody>
      </p:sp>
      <p:sp>
        <p:nvSpPr>
          <p:cNvPr id="68" name="TextBox 67"/>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rPr>
                <a:hlinkClick r:id="rId2"/>
              </a:rPr>
              <a:t>Source: Royal Vopak, Half Year Report 2026; pp. 16–18, 29, 32–33, 39.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Regional earnings provide context; African opportunities need local asset economics</a:t>
            </a:r>
          </a:p>
        </p:txBody>
      </p:sp>
      <p:sp>
        <p:nvSpPr>
          <p:cNvPr id="3" name="Slide Number Placeholder"/>
          <p:cNvSpPr>
            <a:spLocks noGrp="1"/>
          </p:cNvSpPr>
          <p:nvPr>
            <p:ph type="sldNum" sz="quarter" idx="12"/>
          </p:nvPr>
        </p:nvSpPr>
        <p:spPr/>
        <p:txBody>
          <a:bodyPr/>
          <a:lstStyle/>
          <a:p>
            <a:fld id="{60867E8F-4263-4BE6-99F1-1FC82B9BF4CC}"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502920" y="1645920"/>
            <a:ext cx="10515600" cy="320040"/>
          </a:xfrm>
          <a:prstGeom prst="rect">
            <a:avLst/>
          </a:prstGeom>
          <a:noFill/>
        </p:spPr>
        <p:txBody>
          <a:bodyPr wrap="square" lIns="18288" rIns="18288" tIns="0" bIns="0">
            <a:spAutoFit/>
          </a:bodyPr>
          <a:lstStyle/>
          <a:p>
            <a:pPr>
              <a:spcAft>
                <a:spcPts val="800"/>
              </a:spcAft>
              <a:defRPr sz="1400" b="0">
                <a:solidFill>
                  <a:srgbClr val="000000"/>
                </a:solidFill>
                <a:latin typeface="Lato"/>
              </a:defRPr>
            </a:pPr>
            <a:r>
              <a:t>Vopak H1 2026 | six months to 30 June | EUR million unless stated</a:t>
            </a:r>
          </a:p>
        </p:txBody>
      </p:sp>
      <p:sp>
        <p:nvSpPr>
          <p:cNvPr id="9" name="TextBox 8"/>
          <p:cNvSpPr txBox="1"/>
          <p:nvPr/>
        </p:nvSpPr>
        <p:spPr>
          <a:xfrm>
            <a:off x="502920" y="2121408"/>
            <a:ext cx="10515600" cy="320040"/>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Proportional results, excluding exceptional items | common scale within each panel</a:t>
            </a:r>
          </a:p>
        </p:txBody>
      </p:sp>
      <p:sp>
        <p:nvSpPr>
          <p:cNvPr id="10" name="Rectangle 9"/>
          <p:cNvSpPr/>
          <p:nvPr/>
        </p:nvSpPr>
        <p:spPr>
          <a:xfrm>
            <a:off x="8229600" y="1901952"/>
            <a:ext cx="256032"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77072" y="1856231"/>
            <a:ext cx="1005840" cy="210312"/>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H1 2026</a:t>
            </a:r>
          </a:p>
        </p:txBody>
      </p:sp>
      <p:sp>
        <p:nvSpPr>
          <p:cNvPr id="12" name="Rectangle 11"/>
          <p:cNvSpPr/>
          <p:nvPr/>
        </p:nvSpPr>
        <p:spPr>
          <a:xfrm>
            <a:off x="9738360" y="1901952"/>
            <a:ext cx="256032"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85832" y="1856231"/>
            <a:ext cx="1005840" cy="210312"/>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H1 2025</a:t>
            </a:r>
          </a:p>
        </p:txBody>
      </p:sp>
      <p:sp>
        <p:nvSpPr>
          <p:cNvPr id="14" name="TextBox 13"/>
          <p:cNvSpPr txBox="1"/>
          <p:nvPr/>
        </p:nvSpPr>
        <p:spPr>
          <a:xfrm>
            <a:off x="502920" y="2633472"/>
            <a:ext cx="2286000" cy="27432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Business unit</a:t>
            </a:r>
          </a:p>
        </p:txBody>
      </p:sp>
      <p:sp>
        <p:nvSpPr>
          <p:cNvPr id="15" name="TextBox 14"/>
          <p:cNvSpPr txBox="1"/>
          <p:nvPr/>
        </p:nvSpPr>
        <p:spPr>
          <a:xfrm>
            <a:off x="2926080" y="2633472"/>
            <a:ext cx="3108960" cy="27432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Revenue</a:t>
            </a:r>
          </a:p>
        </p:txBody>
      </p:sp>
      <p:sp>
        <p:nvSpPr>
          <p:cNvPr id="16" name="TextBox 15"/>
          <p:cNvSpPr txBox="1"/>
          <p:nvPr/>
        </p:nvSpPr>
        <p:spPr>
          <a:xfrm>
            <a:off x="6675120" y="2633472"/>
            <a:ext cx="4297680" cy="27432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EBITDA</a:t>
            </a:r>
          </a:p>
        </p:txBody>
      </p:sp>
      <p:sp>
        <p:nvSpPr>
          <p:cNvPr id="17" name="TextBox 16"/>
          <p:cNvSpPr txBox="1"/>
          <p:nvPr/>
        </p:nvSpPr>
        <p:spPr>
          <a:xfrm>
            <a:off x="10058400" y="2578608"/>
            <a:ext cx="1097280" cy="457200"/>
          </a:xfrm>
          <a:prstGeom prst="rect">
            <a:avLst/>
          </a:prstGeom>
          <a:noFill/>
        </p:spPr>
        <p:txBody>
          <a:bodyPr wrap="square" lIns="18288" rIns="18288" tIns="0" bIns="0">
            <a:spAutoFit/>
          </a:bodyPr>
          <a:lstStyle/>
          <a:p>
            <a:pPr>
              <a:spcAft>
                <a:spcPts val="800"/>
              </a:spcAft>
              <a:defRPr sz="1000" b="1">
                <a:solidFill>
                  <a:srgbClr val="000000"/>
                </a:solidFill>
                <a:latin typeface="Lato"/>
              </a:defRPr>
            </a:pPr>
            <a:r>
              <a:t>Storage occupancy</a:t>
            </a:r>
          </a:p>
        </p:txBody>
      </p:sp>
      <p:cxnSp>
        <p:nvCxnSpPr>
          <p:cNvPr id="18" name="Connector 17"/>
          <p:cNvCxnSpPr/>
          <p:nvPr/>
        </p:nvCxnSpPr>
        <p:spPr>
          <a:xfrm>
            <a:off x="7342631" y="2971800"/>
            <a:ext cx="0" cy="2569464"/>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2920" y="3008376"/>
            <a:ext cx="2331720" cy="292608"/>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Asia &amp; Middle East</a:t>
            </a:r>
          </a:p>
        </p:txBody>
      </p:sp>
      <p:sp>
        <p:nvSpPr>
          <p:cNvPr id="20" name="TextBox 19"/>
          <p:cNvSpPr txBox="1"/>
          <p:nvPr/>
        </p:nvSpPr>
        <p:spPr>
          <a:xfrm>
            <a:off x="10561320" y="3040380"/>
            <a:ext cx="54864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89%</a:t>
            </a:r>
          </a:p>
        </p:txBody>
      </p:sp>
      <p:sp>
        <p:nvSpPr>
          <p:cNvPr id="21" name="Rectangle 20"/>
          <p:cNvSpPr/>
          <p:nvPr/>
        </p:nvSpPr>
        <p:spPr>
          <a:xfrm>
            <a:off x="2926080" y="3008376"/>
            <a:ext cx="1678594"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50394" y="2976372"/>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172.1</a:t>
            </a:r>
          </a:p>
        </p:txBody>
      </p:sp>
      <p:sp>
        <p:nvSpPr>
          <p:cNvPr id="23" name="Rectangle 22"/>
          <p:cNvSpPr/>
          <p:nvPr/>
        </p:nvSpPr>
        <p:spPr>
          <a:xfrm>
            <a:off x="7342631" y="3008376"/>
            <a:ext cx="1709108"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7460" y="2976372"/>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122.9</a:t>
            </a:r>
          </a:p>
        </p:txBody>
      </p:sp>
      <p:sp>
        <p:nvSpPr>
          <p:cNvPr id="25" name="Rectangle 24"/>
          <p:cNvSpPr/>
          <p:nvPr/>
        </p:nvSpPr>
        <p:spPr>
          <a:xfrm>
            <a:off x="2926080" y="3140964"/>
            <a:ext cx="1979005"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50805" y="3108960"/>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202.9</a:t>
            </a:r>
          </a:p>
        </p:txBody>
      </p:sp>
      <p:sp>
        <p:nvSpPr>
          <p:cNvPr id="27" name="Rectangle 26"/>
          <p:cNvSpPr/>
          <p:nvPr/>
        </p:nvSpPr>
        <p:spPr>
          <a:xfrm>
            <a:off x="7342631" y="3140964"/>
            <a:ext cx="2190273"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78625" y="3108960"/>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157.5</a:t>
            </a:r>
          </a:p>
        </p:txBody>
      </p:sp>
      <p:sp>
        <p:nvSpPr>
          <p:cNvPr id="29" name="TextBox 28"/>
          <p:cNvSpPr txBox="1"/>
          <p:nvPr/>
        </p:nvSpPr>
        <p:spPr>
          <a:xfrm>
            <a:off x="502920" y="3364992"/>
            <a:ext cx="2331720" cy="292608"/>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China &amp; North Asia</a:t>
            </a:r>
          </a:p>
        </p:txBody>
      </p:sp>
      <p:sp>
        <p:nvSpPr>
          <p:cNvPr id="30" name="TextBox 29"/>
          <p:cNvSpPr txBox="1"/>
          <p:nvPr/>
        </p:nvSpPr>
        <p:spPr>
          <a:xfrm>
            <a:off x="10561320" y="3396996"/>
            <a:ext cx="54864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82%</a:t>
            </a:r>
          </a:p>
        </p:txBody>
      </p:sp>
      <p:sp>
        <p:nvSpPr>
          <p:cNvPr id="31" name="Rectangle 30"/>
          <p:cNvSpPr/>
          <p:nvPr/>
        </p:nvSpPr>
        <p:spPr>
          <a:xfrm>
            <a:off x="2926080" y="3364992"/>
            <a:ext cx="751027"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22827" y="3332988"/>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77.0</a:t>
            </a:r>
          </a:p>
        </p:txBody>
      </p:sp>
      <p:sp>
        <p:nvSpPr>
          <p:cNvPr id="33" name="Rectangle 32"/>
          <p:cNvSpPr/>
          <p:nvPr/>
        </p:nvSpPr>
        <p:spPr>
          <a:xfrm>
            <a:off x="7342631" y="3364992"/>
            <a:ext cx="774592"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62944" y="3332988"/>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55.7</a:t>
            </a:r>
          </a:p>
        </p:txBody>
      </p:sp>
      <p:sp>
        <p:nvSpPr>
          <p:cNvPr id="35" name="Rectangle 34"/>
          <p:cNvSpPr/>
          <p:nvPr/>
        </p:nvSpPr>
        <p:spPr>
          <a:xfrm>
            <a:off x="2926080" y="3497580"/>
            <a:ext cx="781263"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53063" y="3465576"/>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80.1</a:t>
            </a:r>
          </a:p>
        </p:txBody>
      </p:sp>
      <p:sp>
        <p:nvSpPr>
          <p:cNvPr id="37" name="Rectangle 36"/>
          <p:cNvSpPr/>
          <p:nvPr/>
        </p:nvSpPr>
        <p:spPr>
          <a:xfrm>
            <a:off x="7342631" y="3497580"/>
            <a:ext cx="781545"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69897" y="3465576"/>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56.2</a:t>
            </a:r>
          </a:p>
        </p:txBody>
      </p:sp>
      <p:sp>
        <p:nvSpPr>
          <p:cNvPr id="39" name="TextBox 38"/>
          <p:cNvSpPr txBox="1"/>
          <p:nvPr/>
        </p:nvSpPr>
        <p:spPr>
          <a:xfrm>
            <a:off x="502920" y="3721608"/>
            <a:ext cx="2331720" cy="292608"/>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Netherlands</a:t>
            </a:r>
          </a:p>
        </p:txBody>
      </p:sp>
      <p:sp>
        <p:nvSpPr>
          <p:cNvPr id="40" name="TextBox 39"/>
          <p:cNvSpPr txBox="1"/>
          <p:nvPr/>
        </p:nvSpPr>
        <p:spPr>
          <a:xfrm>
            <a:off x="10561320" y="3753612"/>
            <a:ext cx="54864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93%</a:t>
            </a:r>
          </a:p>
        </p:txBody>
      </p:sp>
      <p:sp>
        <p:nvSpPr>
          <p:cNvPr id="41" name="Rectangle 40"/>
          <p:cNvSpPr/>
          <p:nvPr/>
        </p:nvSpPr>
        <p:spPr>
          <a:xfrm>
            <a:off x="2926080" y="3721608"/>
            <a:ext cx="262957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01370" y="3689604"/>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269.6</a:t>
            </a:r>
          </a:p>
        </p:txBody>
      </p:sp>
      <p:sp>
        <p:nvSpPr>
          <p:cNvPr id="43" name="Rectangle 42"/>
          <p:cNvSpPr/>
          <p:nvPr/>
        </p:nvSpPr>
        <p:spPr>
          <a:xfrm>
            <a:off x="7342631" y="3721608"/>
            <a:ext cx="2448934"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837286" y="3689604"/>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176.1</a:t>
            </a:r>
          </a:p>
        </p:txBody>
      </p:sp>
      <p:sp>
        <p:nvSpPr>
          <p:cNvPr id="45" name="Rectangle 44"/>
          <p:cNvSpPr/>
          <p:nvPr/>
        </p:nvSpPr>
        <p:spPr>
          <a:xfrm>
            <a:off x="2926080" y="3854196"/>
            <a:ext cx="2513502"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5302" y="3822191"/>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257.7</a:t>
            </a:r>
          </a:p>
        </p:txBody>
      </p:sp>
      <p:sp>
        <p:nvSpPr>
          <p:cNvPr id="47" name="Rectangle 46"/>
          <p:cNvSpPr/>
          <p:nvPr/>
        </p:nvSpPr>
        <p:spPr>
          <a:xfrm>
            <a:off x="7342631" y="3854196"/>
            <a:ext cx="2304307"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692659" y="3822191"/>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165.7</a:t>
            </a:r>
          </a:p>
        </p:txBody>
      </p:sp>
      <p:sp>
        <p:nvSpPr>
          <p:cNvPr id="49" name="TextBox 48"/>
          <p:cNvSpPr txBox="1"/>
          <p:nvPr/>
        </p:nvSpPr>
        <p:spPr>
          <a:xfrm>
            <a:off x="502920" y="4078224"/>
            <a:ext cx="2331720" cy="292608"/>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Singapore</a:t>
            </a:r>
          </a:p>
        </p:txBody>
      </p:sp>
      <p:sp>
        <p:nvSpPr>
          <p:cNvPr id="50" name="TextBox 49"/>
          <p:cNvSpPr txBox="1"/>
          <p:nvPr/>
        </p:nvSpPr>
        <p:spPr>
          <a:xfrm>
            <a:off x="10561320" y="4110228"/>
            <a:ext cx="54864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94%</a:t>
            </a:r>
          </a:p>
        </p:txBody>
      </p:sp>
      <p:sp>
        <p:nvSpPr>
          <p:cNvPr id="51" name="Rectangle 50"/>
          <p:cNvSpPr/>
          <p:nvPr/>
        </p:nvSpPr>
        <p:spPr>
          <a:xfrm>
            <a:off x="2926080" y="4078224"/>
            <a:ext cx="996817"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968617" y="4046220"/>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102.2</a:t>
            </a:r>
          </a:p>
        </p:txBody>
      </p:sp>
      <p:sp>
        <p:nvSpPr>
          <p:cNvPr id="53" name="Rectangle 52"/>
          <p:cNvSpPr/>
          <p:nvPr/>
        </p:nvSpPr>
        <p:spPr>
          <a:xfrm>
            <a:off x="7342631" y="4078224"/>
            <a:ext cx="1077753"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66105" y="4046220"/>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77.5</a:t>
            </a:r>
          </a:p>
        </p:txBody>
      </p:sp>
      <p:sp>
        <p:nvSpPr>
          <p:cNvPr id="55" name="Rectangle 54"/>
          <p:cNvSpPr/>
          <p:nvPr/>
        </p:nvSpPr>
        <p:spPr>
          <a:xfrm>
            <a:off x="2926080" y="4210812"/>
            <a:ext cx="1007546"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979346" y="4178807"/>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103.3</a:t>
            </a:r>
          </a:p>
        </p:txBody>
      </p:sp>
      <p:sp>
        <p:nvSpPr>
          <p:cNvPr id="57" name="Rectangle 56"/>
          <p:cNvSpPr/>
          <p:nvPr/>
        </p:nvSpPr>
        <p:spPr>
          <a:xfrm>
            <a:off x="7342631" y="4210812"/>
            <a:ext cx="1111129"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99481" y="4178807"/>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79.9</a:t>
            </a:r>
          </a:p>
        </p:txBody>
      </p:sp>
      <p:sp>
        <p:nvSpPr>
          <p:cNvPr id="59" name="TextBox 58"/>
          <p:cNvSpPr txBox="1"/>
          <p:nvPr/>
        </p:nvSpPr>
        <p:spPr>
          <a:xfrm>
            <a:off x="502920" y="4434840"/>
            <a:ext cx="2331720" cy="292608"/>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USA &amp; Canada</a:t>
            </a:r>
          </a:p>
        </p:txBody>
      </p:sp>
      <p:sp>
        <p:nvSpPr>
          <p:cNvPr id="60" name="TextBox 59"/>
          <p:cNvSpPr txBox="1"/>
          <p:nvPr/>
        </p:nvSpPr>
        <p:spPr>
          <a:xfrm>
            <a:off x="10561320" y="4466844"/>
            <a:ext cx="54864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94%</a:t>
            </a:r>
          </a:p>
        </p:txBody>
      </p:sp>
      <p:sp>
        <p:nvSpPr>
          <p:cNvPr id="61" name="Rectangle 60"/>
          <p:cNvSpPr/>
          <p:nvPr/>
        </p:nvSpPr>
        <p:spPr>
          <a:xfrm>
            <a:off x="2926080" y="4434840"/>
            <a:ext cx="1622023"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93823" y="4402836"/>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166.3</a:t>
            </a:r>
          </a:p>
        </p:txBody>
      </p:sp>
      <p:sp>
        <p:nvSpPr>
          <p:cNvPr id="63" name="Rectangle 62"/>
          <p:cNvSpPr/>
          <p:nvPr/>
        </p:nvSpPr>
        <p:spPr>
          <a:xfrm>
            <a:off x="7342631" y="4434840"/>
            <a:ext cx="1215428"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603780" y="4402836"/>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87.4</a:t>
            </a:r>
          </a:p>
        </p:txBody>
      </p:sp>
      <p:sp>
        <p:nvSpPr>
          <p:cNvPr id="65" name="Rectangle 64"/>
          <p:cNvSpPr/>
          <p:nvPr/>
        </p:nvSpPr>
        <p:spPr>
          <a:xfrm>
            <a:off x="2926080" y="4567427"/>
            <a:ext cx="1672742"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644542" y="4535423"/>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171.5</a:t>
            </a:r>
          </a:p>
        </p:txBody>
      </p:sp>
      <p:sp>
        <p:nvSpPr>
          <p:cNvPr id="67" name="Rectangle 66"/>
          <p:cNvSpPr/>
          <p:nvPr/>
        </p:nvSpPr>
        <p:spPr>
          <a:xfrm>
            <a:off x="7342631" y="4567427"/>
            <a:ext cx="1247413"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635765" y="4535423"/>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89.7</a:t>
            </a:r>
          </a:p>
        </p:txBody>
      </p:sp>
      <p:sp>
        <p:nvSpPr>
          <p:cNvPr id="69" name="TextBox 68"/>
          <p:cNvSpPr txBox="1"/>
          <p:nvPr/>
        </p:nvSpPr>
        <p:spPr>
          <a:xfrm>
            <a:off x="502920" y="4791456"/>
            <a:ext cx="2331720" cy="292608"/>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All other business units</a:t>
            </a:r>
          </a:p>
        </p:txBody>
      </p:sp>
      <p:sp>
        <p:nvSpPr>
          <p:cNvPr id="70" name="TextBox 69"/>
          <p:cNvSpPr txBox="1"/>
          <p:nvPr/>
        </p:nvSpPr>
        <p:spPr>
          <a:xfrm>
            <a:off x="10561320" y="4823460"/>
            <a:ext cx="54864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90%</a:t>
            </a:r>
          </a:p>
        </p:txBody>
      </p:sp>
      <p:sp>
        <p:nvSpPr>
          <p:cNvPr id="71" name="Rectangle 70"/>
          <p:cNvSpPr/>
          <p:nvPr/>
        </p:nvSpPr>
        <p:spPr>
          <a:xfrm>
            <a:off x="2926080" y="4791456"/>
            <a:ext cx="1663964"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635764" y="4759452"/>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170.6</a:t>
            </a:r>
          </a:p>
        </p:txBody>
      </p:sp>
      <p:sp>
        <p:nvSpPr>
          <p:cNvPr id="73" name="Rectangle 72"/>
          <p:cNvSpPr/>
          <p:nvPr/>
        </p:nvSpPr>
        <p:spPr>
          <a:xfrm>
            <a:off x="7342631" y="4791456"/>
            <a:ext cx="1642357"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030709" y="4759452"/>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118.1</a:t>
            </a:r>
          </a:p>
        </p:txBody>
      </p:sp>
      <p:sp>
        <p:nvSpPr>
          <p:cNvPr id="75" name="Rectangle 74"/>
          <p:cNvSpPr/>
          <p:nvPr/>
        </p:nvSpPr>
        <p:spPr>
          <a:xfrm>
            <a:off x="2926080" y="4924044"/>
            <a:ext cx="1494251"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466051" y="4892040"/>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153.2</a:t>
            </a:r>
          </a:p>
        </p:txBody>
      </p:sp>
      <p:sp>
        <p:nvSpPr>
          <p:cNvPr id="77" name="Rectangle 76"/>
          <p:cNvSpPr/>
          <p:nvPr/>
        </p:nvSpPr>
        <p:spPr>
          <a:xfrm>
            <a:off x="7342631" y="4924044"/>
            <a:ext cx="1572825"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961177" y="4892040"/>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113.1</a:t>
            </a:r>
          </a:p>
        </p:txBody>
      </p:sp>
      <p:sp>
        <p:nvSpPr>
          <p:cNvPr id="79" name="TextBox 78"/>
          <p:cNvSpPr txBox="1"/>
          <p:nvPr/>
        </p:nvSpPr>
        <p:spPr>
          <a:xfrm>
            <a:off x="502920" y="5148072"/>
            <a:ext cx="2331720" cy="292608"/>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Corporate / global</a:t>
            </a:r>
          </a:p>
        </p:txBody>
      </p:sp>
      <p:sp>
        <p:nvSpPr>
          <p:cNvPr id="80" name="TextBox 79"/>
          <p:cNvSpPr txBox="1"/>
          <p:nvPr/>
        </p:nvSpPr>
        <p:spPr>
          <a:xfrm>
            <a:off x="10561320" y="5180076"/>
            <a:ext cx="54864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a:t>
            </a:r>
          </a:p>
        </p:txBody>
      </p:sp>
      <p:sp>
        <p:nvSpPr>
          <p:cNvPr id="81" name="Rectangle 80"/>
          <p:cNvSpPr/>
          <p:nvPr/>
        </p:nvSpPr>
        <p:spPr>
          <a:xfrm>
            <a:off x="2926080" y="5148072"/>
            <a:ext cx="1092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081040" y="5116068"/>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11.2</a:t>
            </a:r>
          </a:p>
        </p:txBody>
      </p:sp>
      <p:sp>
        <p:nvSpPr>
          <p:cNvPr id="83" name="Rectangle 82"/>
          <p:cNvSpPr/>
          <p:nvPr/>
        </p:nvSpPr>
        <p:spPr>
          <a:xfrm>
            <a:off x="6822528" y="5148072"/>
            <a:ext cx="520103"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301320" y="5116068"/>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-37.4</a:t>
            </a:r>
          </a:p>
        </p:txBody>
      </p:sp>
      <p:sp>
        <p:nvSpPr>
          <p:cNvPr id="85" name="Rectangle 84"/>
          <p:cNvSpPr/>
          <p:nvPr/>
        </p:nvSpPr>
        <p:spPr>
          <a:xfrm>
            <a:off x="2926080" y="5280659"/>
            <a:ext cx="130698"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102498" y="5248655"/>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13.4</a:t>
            </a:r>
          </a:p>
        </p:txBody>
      </p:sp>
      <p:sp>
        <p:nvSpPr>
          <p:cNvPr id="87" name="Rectangle 86"/>
          <p:cNvSpPr/>
          <p:nvPr/>
        </p:nvSpPr>
        <p:spPr>
          <a:xfrm>
            <a:off x="6691807" y="5280659"/>
            <a:ext cx="650824"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170599" y="5248655"/>
            <a:ext cx="548640" cy="17373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-46.8</a:t>
            </a:r>
          </a:p>
        </p:txBody>
      </p:sp>
      <p:sp>
        <p:nvSpPr>
          <p:cNvPr id="89" name="TextBox 88"/>
          <p:cNvSpPr txBox="1"/>
          <p:nvPr/>
        </p:nvSpPr>
        <p:spPr>
          <a:xfrm>
            <a:off x="502920" y="5641848"/>
            <a:ext cx="10515600" cy="246888"/>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Group: revenue 969.0 / 982.1; EBITDA 600.3 / 615.3 (2026 / 2025); 2026 occupancy 91%.</a:t>
            </a:r>
          </a:p>
        </p:txBody>
      </p:sp>
      <p:sp>
        <p:nvSpPr>
          <p:cNvPr id="90" name="TextBox 89"/>
          <p:cNvSpPr txBox="1"/>
          <p:nvPr/>
        </p:nvSpPr>
        <p:spPr>
          <a:xfrm>
            <a:off x="502920" y="5952744"/>
            <a:ext cx="10515600" cy="384048"/>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Study implication: assess South African terminal utilisation and access; test Walvis Bay customer economics; compare priority African markets using local evidence, not group margins.</a:t>
            </a:r>
          </a:p>
        </p:txBody>
      </p:sp>
      <p:sp>
        <p:nvSpPr>
          <p:cNvPr id="91" name="TextBox 90"/>
          <p:cNvSpPr txBox="1"/>
          <p:nvPr/>
        </p:nvSpPr>
        <p:spPr>
          <a:xfrm>
            <a:off x="502920" y="6373368"/>
            <a:ext cx="10515600" cy="155448"/>
          </a:xfrm>
          <a:prstGeom prst="rect">
            <a:avLst/>
          </a:prstGeom>
          <a:noFill/>
        </p:spPr>
        <p:txBody>
          <a:bodyPr wrap="square" lIns="18288" rIns="18288" tIns="0" bIns="0">
            <a:spAutoFit/>
          </a:bodyPr>
          <a:lstStyle/>
          <a:p>
            <a:pPr>
              <a:spcAft>
                <a:spcPts val="800"/>
              </a:spcAft>
              <a:defRPr sz="850" b="0">
                <a:solidFill>
                  <a:srgbClr val="000000"/>
                </a:solidFill>
                <a:latin typeface="Lato"/>
              </a:defRPr>
            </a:pPr>
            <a:r>
              <a:t>Storage occupancy = average capacity rented / average storage capacity, weighted by ownership. Other business units is not a separate African result.</a:t>
            </a:r>
          </a:p>
        </p:txBody>
      </p:sp>
      <p:sp>
        <p:nvSpPr>
          <p:cNvPr id="92" name="TextBox 91"/>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rPr>
                <a:hlinkClick r:id="rId2"/>
              </a:rPr>
              <a:t>Source: Royal Vopak, Half Year Report 2026; pp. 23–25, 56–57. Interpretation is our analytical framing.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Vopak generates operating cash; investment and financing absorb that cash</a:t>
            </a:r>
          </a:p>
        </p:txBody>
      </p:sp>
      <p:sp>
        <p:nvSpPr>
          <p:cNvPr id="3" name="Slide Number Placeholder"/>
          <p:cNvSpPr>
            <a:spLocks noGrp="1"/>
          </p:cNvSpPr>
          <p:nvPr>
            <p:ph type="sldNum" sz="quarter" idx="12"/>
          </p:nvPr>
        </p:nvSpPr>
        <p:spPr/>
        <p:txBody>
          <a:bodyPr/>
          <a:lstStyle/>
          <a:p>
            <a:fld id="{88254841-3828-4253-967A-CDEEC880DCE3}"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502920" y="1645920"/>
            <a:ext cx="10515600" cy="320040"/>
          </a:xfrm>
          <a:prstGeom prst="rect">
            <a:avLst/>
          </a:prstGeom>
          <a:noFill/>
        </p:spPr>
        <p:txBody>
          <a:bodyPr wrap="square" lIns="18288" rIns="18288" tIns="0" bIns="0">
            <a:spAutoFit/>
          </a:bodyPr>
          <a:lstStyle/>
          <a:p>
            <a:pPr>
              <a:spcAft>
                <a:spcPts val="800"/>
              </a:spcAft>
              <a:defRPr sz="1400" b="0">
                <a:solidFill>
                  <a:srgbClr val="000000"/>
                </a:solidFill>
                <a:latin typeface="Lato"/>
              </a:defRPr>
            </a:pPr>
            <a:r>
              <a:t>Vopak H1 2026 | six months to 30 June | EUR million unless stated</a:t>
            </a:r>
          </a:p>
        </p:txBody>
      </p:sp>
      <p:sp>
        <p:nvSpPr>
          <p:cNvPr id="9" name="TextBox 8"/>
          <p:cNvSpPr txBox="1"/>
          <p:nvPr/>
        </p:nvSpPr>
        <p:spPr>
          <a:xfrm>
            <a:off x="502920" y="2121408"/>
            <a:ext cx="10515600" cy="36576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Net operating cash flow = 466.6 gross + 5.4 interest received − 53.4 tax paid = 418.6</a:t>
            </a:r>
          </a:p>
        </p:txBody>
      </p:sp>
      <p:sp>
        <p:nvSpPr>
          <p:cNvPr id="10" name="TextBox 9"/>
          <p:cNvSpPr txBox="1"/>
          <p:nvPr/>
        </p:nvSpPr>
        <p:spPr>
          <a:xfrm>
            <a:off x="502920" y="2542032"/>
            <a:ext cx="10515600" cy="22860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Net operating: EUR 418.6m / 454.9m. Proportional operating free cash flow: EUR 444.2m / 450.5m (2026 / 2025; separate APM).</a:t>
            </a:r>
          </a:p>
        </p:txBody>
      </p:sp>
      <p:cxnSp>
        <p:nvCxnSpPr>
          <p:cNvPr id="11" name="Connector 10"/>
          <p:cNvCxnSpPr/>
          <p:nvPr/>
        </p:nvCxnSpPr>
        <p:spPr>
          <a:xfrm>
            <a:off x="685800" y="5038915"/>
            <a:ext cx="10287000"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2920" y="4947475"/>
            <a:ext cx="228600" cy="201168"/>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0</a:t>
            </a:r>
          </a:p>
        </p:txBody>
      </p:sp>
      <p:sp>
        <p:nvSpPr>
          <p:cNvPr id="13" name="Rectangle 12"/>
          <p:cNvSpPr/>
          <p:nvPr/>
        </p:nvSpPr>
        <p:spPr>
          <a:xfrm>
            <a:off x="1005840" y="3005461"/>
            <a:ext cx="896112" cy="203345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712853"/>
            <a:ext cx="1234440" cy="246888"/>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+418.6</a:t>
            </a:r>
          </a:p>
        </p:txBody>
      </p:sp>
      <p:sp>
        <p:nvSpPr>
          <p:cNvPr id="15" name="TextBox 14"/>
          <p:cNvSpPr txBox="1"/>
          <p:nvPr/>
        </p:nvSpPr>
        <p:spPr>
          <a:xfrm>
            <a:off x="749808" y="5349240"/>
            <a:ext cx="1444752" cy="530352"/>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Operating</a:t>
            </a:r>
          </a:p>
          <a:p>
            <a:pPr>
              <a:spcAft>
                <a:spcPts val="800"/>
              </a:spcAft>
              <a:defRPr sz="1200" b="1">
                <a:solidFill>
                  <a:srgbClr val="000000"/>
                </a:solidFill>
                <a:latin typeface="Lato"/>
              </a:defRPr>
            </a:pPr>
            <a:r>
              <a:t>(net)</a:t>
            </a:r>
          </a:p>
        </p:txBody>
      </p:sp>
      <p:cxnSp>
        <p:nvCxnSpPr>
          <p:cNvPr id="16" name="Connector 15"/>
          <p:cNvCxnSpPr/>
          <p:nvPr/>
        </p:nvCxnSpPr>
        <p:spPr>
          <a:xfrm>
            <a:off x="1901952" y="3005461"/>
            <a:ext cx="777240" cy="0"/>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679192" y="3005461"/>
            <a:ext cx="896112" cy="8496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42032" y="2712853"/>
            <a:ext cx="1234440" cy="246888"/>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-174.9</a:t>
            </a:r>
          </a:p>
        </p:txBody>
      </p:sp>
      <p:sp>
        <p:nvSpPr>
          <p:cNvPr id="19" name="TextBox 18"/>
          <p:cNvSpPr txBox="1"/>
          <p:nvPr/>
        </p:nvSpPr>
        <p:spPr>
          <a:xfrm>
            <a:off x="2423160" y="5349240"/>
            <a:ext cx="1444752" cy="530352"/>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Investing</a:t>
            </a:r>
          </a:p>
        </p:txBody>
      </p:sp>
      <p:cxnSp>
        <p:nvCxnSpPr>
          <p:cNvPr id="20" name="Connector 19"/>
          <p:cNvCxnSpPr/>
          <p:nvPr/>
        </p:nvCxnSpPr>
        <p:spPr>
          <a:xfrm>
            <a:off x="3575304" y="3855081"/>
            <a:ext cx="777240" cy="0"/>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352544" y="3855081"/>
            <a:ext cx="896112" cy="1223181"/>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15383" y="3562473"/>
            <a:ext cx="1234440" cy="246888"/>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-251.8</a:t>
            </a:r>
          </a:p>
        </p:txBody>
      </p:sp>
      <p:sp>
        <p:nvSpPr>
          <p:cNvPr id="23" name="TextBox 22"/>
          <p:cNvSpPr txBox="1"/>
          <p:nvPr/>
        </p:nvSpPr>
        <p:spPr>
          <a:xfrm>
            <a:off x="4096511" y="5349240"/>
            <a:ext cx="1444752" cy="530352"/>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Financing</a:t>
            </a:r>
          </a:p>
        </p:txBody>
      </p:sp>
      <p:cxnSp>
        <p:nvCxnSpPr>
          <p:cNvPr id="24" name="Connector 23"/>
          <p:cNvCxnSpPr/>
          <p:nvPr/>
        </p:nvCxnSpPr>
        <p:spPr>
          <a:xfrm>
            <a:off x="5248656" y="5078263"/>
            <a:ext cx="777240" cy="0"/>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025896" y="5038915"/>
            <a:ext cx="896112" cy="39347"/>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88736" y="4746307"/>
            <a:ext cx="1234440" cy="246888"/>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-8.1</a:t>
            </a:r>
          </a:p>
        </p:txBody>
      </p:sp>
      <p:sp>
        <p:nvSpPr>
          <p:cNvPr id="27" name="TextBox 26"/>
          <p:cNvSpPr txBox="1"/>
          <p:nvPr/>
        </p:nvSpPr>
        <p:spPr>
          <a:xfrm>
            <a:off x="5769864" y="5349240"/>
            <a:ext cx="1444752" cy="530352"/>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Net cash</a:t>
            </a:r>
          </a:p>
          <a:p>
            <a:pPr>
              <a:spcAft>
                <a:spcPts val="800"/>
              </a:spcAft>
              <a:defRPr sz="1200" b="1">
                <a:solidFill>
                  <a:srgbClr val="000000"/>
                </a:solidFill>
                <a:latin typeface="Lato"/>
              </a:defRPr>
            </a:pPr>
            <a:r>
              <a:t>flows</a:t>
            </a:r>
          </a:p>
        </p:txBody>
      </p:sp>
      <p:sp>
        <p:nvSpPr>
          <p:cNvPr id="28" name="Rectangle 27"/>
          <p:cNvSpPr/>
          <p:nvPr/>
        </p:nvSpPr>
        <p:spPr>
          <a:xfrm>
            <a:off x="7699248" y="5063690"/>
            <a:ext cx="896112" cy="14573"/>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62088" y="4771082"/>
            <a:ext cx="1234440" cy="246888"/>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+3.0</a:t>
            </a:r>
          </a:p>
        </p:txBody>
      </p:sp>
      <p:sp>
        <p:nvSpPr>
          <p:cNvPr id="30" name="TextBox 29"/>
          <p:cNvSpPr txBox="1"/>
          <p:nvPr/>
        </p:nvSpPr>
        <p:spPr>
          <a:xfrm>
            <a:off x="7443216" y="5349240"/>
            <a:ext cx="1444752" cy="530352"/>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Exchange</a:t>
            </a:r>
          </a:p>
          <a:p>
            <a:pPr>
              <a:spcAft>
                <a:spcPts val="800"/>
              </a:spcAft>
              <a:defRPr sz="1200" b="1">
                <a:solidFill>
                  <a:srgbClr val="000000"/>
                </a:solidFill>
                <a:latin typeface="Lato"/>
              </a:defRPr>
            </a:pPr>
            <a:r>
              <a:t>differences</a:t>
            </a:r>
          </a:p>
        </p:txBody>
      </p:sp>
      <p:cxnSp>
        <p:nvCxnSpPr>
          <p:cNvPr id="31" name="Connector 30"/>
          <p:cNvCxnSpPr/>
          <p:nvPr/>
        </p:nvCxnSpPr>
        <p:spPr>
          <a:xfrm>
            <a:off x="8595360" y="5063690"/>
            <a:ext cx="777240" cy="0"/>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9372600" y="5038915"/>
            <a:ext cx="896112" cy="2477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35440" y="4746307"/>
            <a:ext cx="1234440" cy="246888"/>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-5.1</a:t>
            </a:r>
          </a:p>
        </p:txBody>
      </p:sp>
      <p:sp>
        <p:nvSpPr>
          <p:cNvPr id="34" name="TextBox 33"/>
          <p:cNvSpPr txBox="1"/>
          <p:nvPr/>
        </p:nvSpPr>
        <p:spPr>
          <a:xfrm>
            <a:off x="9116568" y="5349240"/>
            <a:ext cx="1444752" cy="530352"/>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Change in</a:t>
            </a:r>
          </a:p>
          <a:p>
            <a:pPr>
              <a:spcAft>
                <a:spcPts val="800"/>
              </a:spcAft>
              <a:defRPr sz="1200" b="1">
                <a:solidFill>
                  <a:srgbClr val="000000"/>
                </a:solidFill>
                <a:latin typeface="Lato"/>
              </a:defRPr>
            </a:pPr>
            <a:r>
              <a:t>cash balance</a:t>
            </a:r>
          </a:p>
        </p:txBody>
      </p:sp>
      <p:sp>
        <p:nvSpPr>
          <p:cNvPr id="35" name="TextBox 34"/>
          <p:cNvSpPr txBox="1"/>
          <p:nvPr/>
        </p:nvSpPr>
        <p:spPr>
          <a:xfrm>
            <a:off x="502920" y="5971032"/>
            <a:ext cx="10515600" cy="310896"/>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Study implication: test service cash generation in South Africa, investment and customer commitments at Walvis Bay, and funding requirements in priority African markets.</a:t>
            </a:r>
          </a:p>
        </p:txBody>
      </p:sp>
      <p:sp>
        <p:nvSpPr>
          <p:cNvPr id="36" name="TextBox 35"/>
          <p:cNvSpPr txBox="1"/>
          <p:nvPr/>
        </p:nvSpPr>
        <p:spPr>
          <a:xfrm>
            <a:off x="502920" y="6345936"/>
            <a:ext cx="10515600" cy="192024"/>
          </a:xfrm>
          <a:prstGeom prst="rect">
            <a:avLst/>
          </a:prstGeom>
          <a:noFill/>
        </p:spPr>
        <p:txBody>
          <a:bodyPr wrap="square" lIns="18288" rIns="18288" tIns="0" bIns="0">
            <a:spAutoFit/>
          </a:bodyPr>
          <a:lstStyle/>
          <a:p>
            <a:pPr>
              <a:spcAft>
                <a:spcPts val="800"/>
              </a:spcAft>
              <a:defRPr sz="950" b="0">
                <a:solidFill>
                  <a:srgbClr val="000000"/>
                </a:solidFill>
                <a:latin typeface="Lato"/>
              </a:defRPr>
            </a:pPr>
            <a:r>
              <a:t>Group operating cash is positive; total cash flow is −8.1m. Exchange +3.0m gives a −5.1m change: 98.8m opening → 93.7m closing.</a:t>
            </a:r>
          </a:p>
        </p:txBody>
      </p:sp>
      <p:sp>
        <p:nvSpPr>
          <p:cNvPr id="37" name="TextBox 36"/>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rPr>
                <a:hlinkClick r:id="rId2"/>
              </a:rPr>
              <a:t>Source: Royal Vopak, Half Year Report 2026; pp. 32, 57. Consolidated cash balances include bank overdrafts; proportional free cash flow is a separate APM.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794375"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794375" y="0"/>
            <a:ext cx="579437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75488"/>
            <a:ext cx="4617720" cy="274320"/>
          </a:xfrm>
          <a:prstGeom prst="rect">
            <a:avLst/>
          </a:prstGeom>
          <a:noFill/>
        </p:spPr>
        <p:txBody>
          <a:bodyPr wrap="square" lIns="18288" rIns="18288" tIns="0" bIns="0">
            <a:spAutoFit/>
          </a:bodyPr>
          <a:lstStyle/>
          <a:p>
            <a:pPr>
              <a:spcAft>
                <a:spcPts val="800"/>
              </a:spcAft>
              <a:defRPr sz="1100" b="1">
                <a:solidFill>
                  <a:srgbClr val="FFFFFF"/>
                </a:solidFill>
                <a:latin typeface="Lato"/>
              </a:defRPr>
            </a:pPr>
            <a:r>
              <a:t>ABOUT THIS DOCUMENT</a:t>
            </a:r>
          </a:p>
        </p:txBody>
      </p:sp>
      <p:sp>
        <p:nvSpPr>
          <p:cNvPr id="5" name="TextBox 4"/>
          <p:cNvSpPr txBox="1"/>
          <p:nvPr/>
        </p:nvSpPr>
        <p:spPr>
          <a:xfrm>
            <a:off x="548640" y="1033271"/>
            <a:ext cx="4663440" cy="914400"/>
          </a:xfrm>
          <a:prstGeom prst="rect">
            <a:avLst/>
          </a:prstGeom>
          <a:noFill/>
        </p:spPr>
        <p:txBody>
          <a:bodyPr wrap="square" lIns="18288" rIns="18288" tIns="0" bIns="0">
            <a:spAutoFit/>
          </a:bodyPr>
          <a:lstStyle/>
          <a:p>
            <a:pPr>
              <a:spcAft>
                <a:spcPts val="800"/>
              </a:spcAft>
              <a:defRPr sz="2700" b="1">
                <a:solidFill>
                  <a:srgbClr val="FFFFFF"/>
                </a:solidFill>
                <a:latin typeface="Lato"/>
              </a:defRPr>
            </a:pPr>
            <a:r>
              <a:t>Align scope and delivery expectations</a:t>
            </a:r>
          </a:p>
        </p:txBody>
      </p:sp>
      <p:sp>
        <p:nvSpPr>
          <p:cNvPr id="6" name="TextBox 5"/>
          <p:cNvSpPr txBox="1"/>
          <p:nvPr/>
        </p:nvSpPr>
        <p:spPr>
          <a:xfrm>
            <a:off x="548640" y="2011680"/>
            <a:ext cx="4572000" cy="320040"/>
          </a:xfrm>
          <a:prstGeom prst="rect">
            <a:avLst/>
          </a:prstGeom>
          <a:noFill/>
        </p:spPr>
        <p:txBody>
          <a:bodyPr wrap="square" lIns="18288" rIns="18288" tIns="0" bIns="0">
            <a:spAutoFit/>
          </a:bodyPr>
          <a:lstStyle/>
          <a:p>
            <a:pPr>
              <a:spcAft>
                <a:spcPts val="800"/>
              </a:spcAft>
              <a:defRPr sz="1700" b="1">
                <a:solidFill>
                  <a:srgbClr val="FFFFFF"/>
                </a:solidFill>
                <a:latin typeface="Lato"/>
              </a:defRPr>
            </a:pPr>
            <a:r>
              <a:t>A shared starting point</a:t>
            </a:r>
          </a:p>
        </p:txBody>
      </p:sp>
      <p:sp>
        <p:nvSpPr>
          <p:cNvPr id="7" name="TextBox 6"/>
          <p:cNvSpPr txBox="1"/>
          <p:nvPr/>
        </p:nvSpPr>
        <p:spPr>
          <a:xfrm>
            <a:off x="548640" y="2395728"/>
            <a:ext cx="4572000" cy="548640"/>
          </a:xfrm>
          <a:prstGeom prst="rect">
            <a:avLst/>
          </a:prstGeom>
          <a:noFill/>
        </p:spPr>
        <p:txBody>
          <a:bodyPr wrap="square" lIns="18288" rIns="18288" tIns="0" bIns="0">
            <a:spAutoFit/>
          </a:bodyPr>
          <a:lstStyle/>
          <a:p>
            <a:pPr>
              <a:spcAft>
                <a:spcPts val="800"/>
              </a:spcAft>
              <a:defRPr sz="1500" b="0">
                <a:solidFill>
                  <a:srgbClr val="FFFFFF"/>
                </a:solidFill>
                <a:latin typeface="Lato"/>
              </a:defRPr>
            </a:pPr>
            <a:r>
              <a:t>Align the team on the project question, required outputs and six-week priorities.</a:t>
            </a:r>
          </a:p>
        </p:txBody>
      </p:sp>
      <p:sp>
        <p:nvSpPr>
          <p:cNvPr id="8" name="TextBox 7"/>
          <p:cNvSpPr txBox="1"/>
          <p:nvPr/>
        </p:nvSpPr>
        <p:spPr>
          <a:xfrm>
            <a:off x="548640" y="2962656"/>
            <a:ext cx="4572000" cy="320040"/>
          </a:xfrm>
          <a:prstGeom prst="rect">
            <a:avLst/>
          </a:prstGeom>
          <a:noFill/>
        </p:spPr>
        <p:txBody>
          <a:bodyPr wrap="square" lIns="18288" rIns="18288" tIns="0" bIns="0">
            <a:spAutoFit/>
          </a:bodyPr>
          <a:lstStyle/>
          <a:p>
            <a:pPr>
              <a:spcAft>
                <a:spcPts val="800"/>
              </a:spcAft>
              <a:defRPr sz="1700" b="1">
                <a:solidFill>
                  <a:srgbClr val="FFFFFF"/>
                </a:solidFill>
                <a:latin typeface="Lato"/>
              </a:defRPr>
            </a:pPr>
            <a:r>
              <a:t>A model and infrastructure build brief</a:t>
            </a:r>
          </a:p>
        </p:txBody>
      </p:sp>
      <p:sp>
        <p:nvSpPr>
          <p:cNvPr id="9" name="TextBox 8"/>
          <p:cNvSpPr txBox="1"/>
          <p:nvPr/>
        </p:nvSpPr>
        <p:spPr>
          <a:xfrm>
            <a:off x="548640" y="3346704"/>
            <a:ext cx="4572000" cy="548640"/>
          </a:xfrm>
          <a:prstGeom prst="rect">
            <a:avLst/>
          </a:prstGeom>
          <a:noFill/>
        </p:spPr>
        <p:txBody>
          <a:bodyPr wrap="square" lIns="18288" rIns="18288" tIns="0" bIns="0">
            <a:spAutoFit/>
          </a:bodyPr>
          <a:lstStyle/>
          <a:p>
            <a:pPr>
              <a:spcAft>
                <a:spcPts val="800"/>
              </a:spcAft>
              <a:defRPr sz="1500" b="0">
                <a:solidFill>
                  <a:srgbClr val="FFFFFF"/>
                </a:solidFill>
                <a:latin typeface="Lato"/>
              </a:defRPr>
            </a:pPr>
            <a:r>
              <a:t>Connect the fuel model with transport, terminal and storage capacity.</a:t>
            </a:r>
          </a:p>
        </p:txBody>
      </p:sp>
      <p:sp>
        <p:nvSpPr>
          <p:cNvPr id="10" name="TextBox 9"/>
          <p:cNvSpPr txBox="1"/>
          <p:nvPr/>
        </p:nvSpPr>
        <p:spPr>
          <a:xfrm>
            <a:off x="548640" y="3913632"/>
            <a:ext cx="4572000" cy="320040"/>
          </a:xfrm>
          <a:prstGeom prst="rect">
            <a:avLst/>
          </a:prstGeom>
          <a:noFill/>
        </p:spPr>
        <p:txBody>
          <a:bodyPr wrap="square" lIns="18288" rIns="18288" tIns="0" bIns="0">
            <a:spAutoFit/>
          </a:bodyPr>
          <a:lstStyle/>
          <a:p>
            <a:pPr>
              <a:spcAft>
                <a:spcPts val="800"/>
              </a:spcAft>
              <a:defRPr sz="1700" b="1">
                <a:solidFill>
                  <a:srgbClr val="FFFFFF"/>
                </a:solidFill>
                <a:latin typeface="Lato"/>
              </a:defRPr>
            </a:pPr>
            <a:r>
              <a:t>An evidence-led working discussion</a:t>
            </a:r>
          </a:p>
        </p:txBody>
      </p:sp>
      <p:sp>
        <p:nvSpPr>
          <p:cNvPr id="11" name="TextBox 10"/>
          <p:cNvSpPr txBox="1"/>
          <p:nvPr/>
        </p:nvSpPr>
        <p:spPr>
          <a:xfrm>
            <a:off x="548640" y="4297680"/>
            <a:ext cx="4572000" cy="548640"/>
          </a:xfrm>
          <a:prstGeom prst="rect">
            <a:avLst/>
          </a:prstGeom>
          <a:noFill/>
        </p:spPr>
        <p:txBody>
          <a:bodyPr wrap="square" lIns="18288" rIns="18288" tIns="0" bIns="0">
            <a:spAutoFit/>
          </a:bodyPr>
          <a:lstStyle/>
          <a:p>
            <a:pPr>
              <a:spcAft>
                <a:spcPts val="800"/>
              </a:spcAft>
              <a:defRPr sz="1500" b="0">
                <a:solidFill>
                  <a:srgbClr val="FFFFFF"/>
                </a:solidFill>
                <a:latin typeface="Lato"/>
              </a:defRPr>
            </a:pPr>
            <a:r>
              <a:t>Show inherited data, Python results, discrepancies and the checks still needed.</a:t>
            </a:r>
          </a:p>
        </p:txBody>
      </p:sp>
      <p:sp>
        <p:nvSpPr>
          <p:cNvPr id="12" name="TextBox 11"/>
          <p:cNvSpPr txBox="1"/>
          <p:nvPr/>
        </p:nvSpPr>
        <p:spPr>
          <a:xfrm>
            <a:off x="548640" y="4864608"/>
            <a:ext cx="4572000" cy="320040"/>
          </a:xfrm>
          <a:prstGeom prst="rect">
            <a:avLst/>
          </a:prstGeom>
          <a:noFill/>
        </p:spPr>
        <p:txBody>
          <a:bodyPr wrap="square" lIns="18288" rIns="18288" tIns="0" bIns="0">
            <a:spAutoFit/>
          </a:bodyPr>
          <a:lstStyle/>
          <a:p>
            <a:pPr>
              <a:spcAft>
                <a:spcPts val="800"/>
              </a:spcAft>
              <a:defRPr sz="1700" b="1">
                <a:solidFill>
                  <a:srgbClr val="FFFFFF"/>
                </a:solidFill>
                <a:latin typeface="Lato"/>
              </a:defRPr>
            </a:pPr>
            <a:r>
              <a:t>A basis for delivery decisions</a:t>
            </a:r>
          </a:p>
        </p:txBody>
      </p:sp>
      <p:sp>
        <p:nvSpPr>
          <p:cNvPr id="13" name="TextBox 12"/>
          <p:cNvSpPr txBox="1"/>
          <p:nvPr/>
        </p:nvSpPr>
        <p:spPr>
          <a:xfrm>
            <a:off x="548640" y="5248656"/>
            <a:ext cx="4572000" cy="548640"/>
          </a:xfrm>
          <a:prstGeom prst="rect">
            <a:avLst/>
          </a:prstGeom>
          <a:noFill/>
        </p:spPr>
        <p:txBody>
          <a:bodyPr wrap="square" lIns="18288" rIns="18288" tIns="0" bIns="0">
            <a:spAutoFit/>
          </a:bodyPr>
          <a:lstStyle/>
          <a:p>
            <a:pPr>
              <a:spcAft>
                <a:spcPts val="800"/>
              </a:spcAft>
              <a:defRPr sz="1500" b="0">
                <a:solidFill>
                  <a:srgbClr val="FFFFFF"/>
                </a:solidFill>
                <a:latin typeface="Lato"/>
              </a:defRPr>
            </a:pPr>
            <a:r>
              <a:t>Agree the first baseline, workstream interfaces, review gates and responsibilities.</a:t>
            </a:r>
          </a:p>
        </p:txBody>
      </p:sp>
      <p:sp>
        <p:nvSpPr>
          <p:cNvPr id="14" name="TextBox 13"/>
          <p:cNvSpPr txBox="1"/>
          <p:nvPr/>
        </p:nvSpPr>
        <p:spPr>
          <a:xfrm>
            <a:off x="6336792" y="475488"/>
            <a:ext cx="4617720" cy="274320"/>
          </a:xfrm>
          <a:prstGeom prst="rect">
            <a:avLst/>
          </a:prstGeom>
          <a:noFill/>
        </p:spPr>
        <p:txBody>
          <a:bodyPr wrap="square" lIns="18288" rIns="18288" tIns="0" bIns="0">
            <a:spAutoFit/>
          </a:bodyPr>
          <a:lstStyle/>
          <a:p>
            <a:pPr>
              <a:spcAft>
                <a:spcPts val="800"/>
              </a:spcAft>
              <a:defRPr sz="1100" b="1">
                <a:solidFill>
                  <a:srgbClr val="000000"/>
                </a:solidFill>
                <a:latin typeface="Lato"/>
              </a:defRPr>
            </a:pPr>
            <a:r>
              <a:t>PURPOSE AND BOUNDARIES</a:t>
            </a:r>
          </a:p>
        </p:txBody>
      </p:sp>
      <p:sp>
        <p:nvSpPr>
          <p:cNvPr id="15" name="TextBox 14"/>
          <p:cNvSpPr txBox="1"/>
          <p:nvPr/>
        </p:nvSpPr>
        <p:spPr>
          <a:xfrm>
            <a:off x="6336792" y="1033271"/>
            <a:ext cx="4663440" cy="914400"/>
          </a:xfrm>
          <a:prstGeom prst="rect">
            <a:avLst/>
          </a:prstGeom>
          <a:noFill/>
        </p:spPr>
        <p:txBody>
          <a:bodyPr wrap="square" lIns="18288" rIns="18288" tIns="0" bIns="0">
            <a:spAutoFit/>
          </a:bodyPr>
          <a:lstStyle/>
          <a:p>
            <a:pPr>
              <a:spcAft>
                <a:spcPts val="800"/>
              </a:spcAft>
              <a:defRPr sz="2700" b="1">
                <a:solidFill>
                  <a:srgbClr val="000000"/>
                </a:solidFill>
                <a:latin typeface="Lato"/>
              </a:defRPr>
            </a:pPr>
            <a:r>
              <a:t>What this document is not</a:t>
            </a:r>
          </a:p>
        </p:txBody>
      </p:sp>
      <p:sp>
        <p:nvSpPr>
          <p:cNvPr id="16" name="TextBox 15"/>
          <p:cNvSpPr txBox="1"/>
          <p:nvPr/>
        </p:nvSpPr>
        <p:spPr>
          <a:xfrm>
            <a:off x="6336792" y="2011680"/>
            <a:ext cx="4572000" cy="320040"/>
          </a:xfrm>
          <a:prstGeom prst="rect">
            <a:avLst/>
          </a:prstGeom>
          <a:noFill/>
        </p:spPr>
        <p:txBody>
          <a:bodyPr wrap="square" lIns="18288" rIns="18288" tIns="0" bIns="0">
            <a:spAutoFit/>
          </a:bodyPr>
          <a:lstStyle/>
          <a:p>
            <a:pPr>
              <a:spcAft>
                <a:spcPts val="800"/>
              </a:spcAft>
              <a:defRPr sz="1700" b="1">
                <a:solidFill>
                  <a:srgbClr val="000000"/>
                </a:solidFill>
                <a:latin typeface="Lato"/>
              </a:defRPr>
            </a:pPr>
            <a:r>
              <a:t>A validated market forecast</a:t>
            </a:r>
          </a:p>
        </p:txBody>
      </p:sp>
      <p:sp>
        <p:nvSpPr>
          <p:cNvPr id="17" name="TextBox 16"/>
          <p:cNvSpPr txBox="1"/>
          <p:nvPr/>
        </p:nvSpPr>
        <p:spPr>
          <a:xfrm>
            <a:off x="6336792" y="2395728"/>
            <a:ext cx="4572000" cy="548640"/>
          </a:xfrm>
          <a:prstGeom prst="rect">
            <a:avLst/>
          </a:prstGeom>
          <a:noFill/>
        </p:spPr>
        <p:txBody>
          <a:bodyPr wrap="square" lIns="18288" rIns="18288" tIns="0" bIns="0">
            <a:spAutoFit/>
          </a:bodyPr>
          <a:lstStyle/>
          <a:p>
            <a:pPr>
              <a:spcAft>
                <a:spcPts val="800"/>
              </a:spcAft>
              <a:defRPr sz="1500" b="0">
                <a:solidFill>
                  <a:srgbClr val="000000"/>
                </a:solidFill>
                <a:latin typeface="Lato"/>
              </a:defRPr>
            </a:pPr>
            <a:r>
              <a:t>Current results include provisional assumptions and unresolved differences.</a:t>
            </a:r>
          </a:p>
        </p:txBody>
      </p:sp>
      <p:sp>
        <p:nvSpPr>
          <p:cNvPr id="18" name="TextBox 17"/>
          <p:cNvSpPr txBox="1"/>
          <p:nvPr/>
        </p:nvSpPr>
        <p:spPr>
          <a:xfrm>
            <a:off x="6336792" y="2962656"/>
            <a:ext cx="4572000" cy="320040"/>
          </a:xfrm>
          <a:prstGeom prst="rect">
            <a:avLst/>
          </a:prstGeom>
          <a:noFill/>
        </p:spPr>
        <p:txBody>
          <a:bodyPr wrap="square" lIns="18288" rIns="18288" tIns="0" bIns="0">
            <a:spAutoFit/>
          </a:bodyPr>
          <a:lstStyle/>
          <a:p>
            <a:pPr>
              <a:spcAft>
                <a:spcPts val="800"/>
              </a:spcAft>
              <a:defRPr sz="1700" b="1">
                <a:solidFill>
                  <a:srgbClr val="000000"/>
                </a:solidFill>
                <a:latin typeface="Lato"/>
              </a:defRPr>
            </a:pPr>
            <a:r>
              <a:t>An investment recommendation</a:t>
            </a:r>
          </a:p>
        </p:txBody>
      </p:sp>
      <p:sp>
        <p:nvSpPr>
          <p:cNvPr id="19" name="TextBox 18"/>
          <p:cNvSpPr txBox="1"/>
          <p:nvPr/>
        </p:nvSpPr>
        <p:spPr>
          <a:xfrm>
            <a:off x="6336792" y="3346704"/>
            <a:ext cx="4572000" cy="548640"/>
          </a:xfrm>
          <a:prstGeom prst="rect">
            <a:avLst/>
          </a:prstGeom>
          <a:noFill/>
        </p:spPr>
        <p:txBody>
          <a:bodyPr wrap="square" lIns="18288" rIns="18288" tIns="0" bIns="0">
            <a:spAutoFit/>
          </a:bodyPr>
          <a:lstStyle/>
          <a:p>
            <a:pPr>
              <a:spcAft>
                <a:spcPts val="800"/>
              </a:spcAft>
              <a:defRPr sz="1500" b="0">
                <a:solidFill>
                  <a:srgbClr val="000000"/>
                </a:solidFill>
                <a:latin typeface="Lato"/>
              </a:defRPr>
            </a:pPr>
            <a:r>
              <a:t>An import gap alone does not establish an accessible storage opportunity.</a:t>
            </a:r>
          </a:p>
        </p:txBody>
      </p:sp>
      <p:sp>
        <p:nvSpPr>
          <p:cNvPr id="20" name="TextBox 19"/>
          <p:cNvSpPr txBox="1"/>
          <p:nvPr/>
        </p:nvSpPr>
        <p:spPr>
          <a:xfrm>
            <a:off x="6336792" y="3913632"/>
            <a:ext cx="4572000" cy="320040"/>
          </a:xfrm>
          <a:prstGeom prst="rect">
            <a:avLst/>
          </a:prstGeom>
          <a:noFill/>
        </p:spPr>
        <p:txBody>
          <a:bodyPr wrap="square" lIns="18288" rIns="18288" tIns="0" bIns="0">
            <a:spAutoFit/>
          </a:bodyPr>
          <a:lstStyle/>
          <a:p>
            <a:pPr>
              <a:spcAft>
                <a:spcPts val="800"/>
              </a:spcAft>
              <a:defRPr sz="1700" b="1">
                <a:solidFill>
                  <a:srgbClr val="000000"/>
                </a:solidFill>
                <a:latin typeface="Lato"/>
              </a:defRPr>
            </a:pPr>
            <a:r>
              <a:t>A completed infrastructure model</a:t>
            </a:r>
          </a:p>
        </p:txBody>
      </p:sp>
      <p:sp>
        <p:nvSpPr>
          <p:cNvPr id="21" name="TextBox 20"/>
          <p:cNvSpPr txBox="1"/>
          <p:nvPr/>
        </p:nvSpPr>
        <p:spPr>
          <a:xfrm>
            <a:off x="6336792" y="4297680"/>
            <a:ext cx="4572000" cy="548640"/>
          </a:xfrm>
          <a:prstGeom prst="rect">
            <a:avLst/>
          </a:prstGeom>
          <a:noFill/>
        </p:spPr>
        <p:txBody>
          <a:bodyPr wrap="square" lIns="18288" rIns="18288" tIns="0" bIns="0">
            <a:spAutoFit/>
          </a:bodyPr>
          <a:lstStyle/>
          <a:p>
            <a:pPr>
              <a:spcAft>
                <a:spcPts val="800"/>
              </a:spcAft>
              <a:defRPr sz="1500" b="0">
                <a:solidFill>
                  <a:srgbClr val="000000"/>
                </a:solidFill>
                <a:latin typeface="Lato"/>
              </a:defRPr>
            </a:pPr>
            <a:r>
              <a:t>Maps show evidence and connectivity; usable capacity and access still need validation.</a:t>
            </a:r>
          </a:p>
        </p:txBody>
      </p:sp>
      <p:sp>
        <p:nvSpPr>
          <p:cNvPr id="22" name="TextBox 21"/>
          <p:cNvSpPr txBox="1"/>
          <p:nvPr/>
        </p:nvSpPr>
        <p:spPr>
          <a:xfrm>
            <a:off x="6336792" y="4864608"/>
            <a:ext cx="4572000" cy="320040"/>
          </a:xfrm>
          <a:prstGeom prst="rect">
            <a:avLst/>
          </a:prstGeom>
          <a:noFill/>
        </p:spPr>
        <p:txBody>
          <a:bodyPr wrap="square" lIns="18288" rIns="18288" tIns="0" bIns="0">
            <a:spAutoFit/>
          </a:bodyPr>
          <a:lstStyle/>
          <a:p>
            <a:pPr>
              <a:spcAft>
                <a:spcPts val="800"/>
              </a:spcAft>
              <a:defRPr sz="1700" b="1">
                <a:solidFill>
                  <a:srgbClr val="000000"/>
                </a:solidFill>
                <a:latin typeface="Lato"/>
              </a:defRPr>
            </a:pPr>
            <a:r>
              <a:t>A commitment to equal depth everywhere</a:t>
            </a:r>
          </a:p>
        </p:txBody>
      </p:sp>
      <p:sp>
        <p:nvSpPr>
          <p:cNvPr id="23" name="TextBox 22"/>
          <p:cNvSpPr txBox="1"/>
          <p:nvPr/>
        </p:nvSpPr>
        <p:spPr>
          <a:xfrm>
            <a:off x="6336792" y="5248656"/>
            <a:ext cx="4572000" cy="548640"/>
          </a:xfrm>
          <a:prstGeom prst="rect">
            <a:avLst/>
          </a:prstGeom>
          <a:noFill/>
        </p:spPr>
        <p:txBody>
          <a:bodyPr wrap="square" lIns="18288" rIns="18288" tIns="0" bIns="0">
            <a:spAutoFit/>
          </a:bodyPr>
          <a:lstStyle/>
          <a:p>
            <a:pPr>
              <a:spcAft>
                <a:spcPts val="800"/>
              </a:spcAft>
              <a:defRPr sz="1500" b="0">
                <a:solidFill>
                  <a:srgbClr val="000000"/>
                </a:solidFill>
                <a:latin typeface="Lato"/>
              </a:defRPr>
            </a:pPr>
            <a:r>
              <a:t>Regional screening and detailed country modelling have different evidence requirements.</a:t>
            </a:r>
          </a:p>
        </p:txBody>
      </p:sp>
      <p:sp>
        <p:nvSpPr>
          <p:cNvPr id="24" name="TextBox 23"/>
          <p:cNvSpPr txBox="1"/>
          <p:nvPr/>
        </p:nvSpPr>
        <p:spPr>
          <a:xfrm>
            <a:off x="548640" y="6409944"/>
            <a:ext cx="4617720" cy="228600"/>
          </a:xfrm>
          <a:prstGeom prst="rect">
            <a:avLst/>
          </a:prstGeom>
          <a:noFill/>
        </p:spPr>
        <p:txBody>
          <a:bodyPr wrap="square" lIns="18288" rIns="18288" tIns="0" bIns="0">
            <a:spAutoFit/>
          </a:bodyPr>
          <a:lstStyle/>
          <a:p>
            <a:pPr>
              <a:spcAft>
                <a:spcPts val="800"/>
              </a:spcAft>
              <a:defRPr sz="1000" b="0">
                <a:solidFill>
                  <a:srgbClr val="FFFFFF"/>
                </a:solidFill>
                <a:latin typeface="Lato"/>
              </a:defRPr>
            </a:pPr>
            <a:r>
              <a:t>Internal working discussion | 2 October 2026</a:t>
            </a:r>
          </a:p>
        </p:txBody>
      </p:sp>
      <p:pic>
        <p:nvPicPr>
          <p:cNvPr id="25" name="Picture 24" descr="image.png"/>
          <p:cNvPicPr>
            <a:picLocks noChangeAspect="1"/>
          </p:cNvPicPr>
          <p:nvPr/>
        </p:nvPicPr>
        <p:blipFill>
          <a:blip r:embed="rId2"/>
          <a:stretch>
            <a:fillRect/>
          </a:stretch>
        </p:blipFill>
        <p:spPr>
          <a:xfrm>
            <a:off x="10104120" y="6556248"/>
            <a:ext cx="777240" cy="173447"/>
          </a:xfrm>
          <a:prstGeom prst="rect">
            <a:avLst/>
          </a:prstGeom>
        </p:spPr>
      </p:pic>
      <p:sp>
        <p:nvSpPr>
          <p:cNvPr id="26" name="TextBox 25"/>
          <p:cNvSpPr txBox="1"/>
          <p:nvPr/>
        </p:nvSpPr>
        <p:spPr>
          <a:xfrm>
            <a:off x="11091672" y="6547104"/>
            <a:ext cx="201168"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Connect changing fuel flows to Vopak’s asset and growth decisions</a:t>
            </a:r>
          </a:p>
        </p:txBody>
      </p:sp>
      <p:sp>
        <p:nvSpPr>
          <p:cNvPr id="3" name="Slide Number Placeholder"/>
          <p:cNvSpPr>
            <a:spLocks noGrp="1"/>
          </p:cNvSpPr>
          <p:nvPr>
            <p:ph type="sldNum" sz="quarter" idx="12"/>
          </p:nvPr>
        </p:nvSpPr>
        <p:spPr/>
        <p:txBody>
          <a:bodyPr/>
          <a:lstStyle/>
          <a:p>
            <a:fld id="{D261B00D-79FA-476A-B945-E4C54B87DE0D}"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502920" y="1673352"/>
            <a:ext cx="10515600" cy="585216"/>
          </a:xfrm>
          <a:prstGeom prst="rect">
            <a:avLst/>
          </a:prstGeom>
          <a:noFill/>
        </p:spPr>
        <p:txBody>
          <a:bodyPr wrap="square" lIns="18288" rIns="18288" tIns="0" bIns="0">
            <a:spAutoFit/>
          </a:bodyPr>
          <a:lstStyle/>
          <a:p>
            <a:pPr>
              <a:spcAft>
                <a:spcPts val="800"/>
              </a:spcAft>
              <a:defRPr sz="2000" b="1">
                <a:solidFill>
                  <a:srgbClr val="000000"/>
                </a:solidFill>
                <a:latin typeface="Lato"/>
              </a:defRPr>
            </a:pPr>
            <a:r>
              <a:t>Where do changing liquid-fuel flows across South Africa, Walvis Bay and priority African markets create opportunities for Vopak?</a:t>
            </a:r>
          </a:p>
        </p:txBody>
      </p:sp>
      <p:graphicFrame>
        <p:nvGraphicFramePr>
          <p:cNvPr id="9" name="Table 8"/>
          <p:cNvGraphicFramePr>
            <a:graphicFrameLocks noGrp="1"/>
          </p:cNvGraphicFramePr>
          <p:nvPr/>
        </p:nvGraphicFramePr>
        <p:xfrm>
          <a:off x="457200" y="2423160"/>
          <a:ext cx="10652760" cy="3337560"/>
        </p:xfrm>
        <a:graphic>
          <a:graphicData uri="http://schemas.openxmlformats.org/drawingml/2006/table">
            <a:tbl>
              <a:tblPr firstRow="1" bandRow="1">
                <a:tableStyleId>{2D5ABB26-0587-4C30-8999-92F81FD0307C}</a:tableStyleId>
              </a:tblPr>
              <a:tblGrid>
                <a:gridCol w="2743200"/>
                <a:gridCol w="7909560"/>
              </a:tblGrid>
              <a:tr h="834390">
                <a:tc>
                  <a:txBody>
                    <a:bodyPr/>
                    <a:lstStyle/>
                    <a:p>
                      <a:pPr>
                        <a:defRPr sz="1500" b="1">
                          <a:solidFill>
                            <a:srgbClr val="000000"/>
                          </a:solidFill>
                          <a:latin typeface="Lato"/>
                        </a:defRPr>
                      </a:pPr>
                      <a:r>
                        <a:t>01  Project question</a:t>
                      </a:r>
                    </a:p>
                  </a:txBody>
                  <a:tcPr marL="146304" marR="146304" marT="109728" marB="109728" anchor="ctr">
                    <a:lnB w="3175" cap="flat">
                      <a:solidFill>
                        <a:srgbClr val="B8B8B8"/>
                      </a:solidFill>
                    </a:lnB>
                    <a:solidFill>
                      <a:srgbClr val="FFFFFF"/>
                    </a:solidFill>
                  </a:tcPr>
                </a:tc>
                <a:tc>
                  <a:txBody>
                    <a:bodyPr/>
                    <a:lstStyle/>
                    <a:p>
                      <a:pPr>
                        <a:defRPr sz="1500" b="0">
                          <a:solidFill>
                            <a:srgbClr val="000000"/>
                          </a:solidFill>
                          <a:latin typeface="Lato"/>
                        </a:defRPr>
                      </a:pPr>
                      <a:r>
                        <a:t>Where can changing South African liquid-fuel balances support Vopak storage and handling services; does Walvis Bay offer a credible opportunity; which African markets merit follow-up?</a:t>
                      </a:r>
                    </a:p>
                  </a:txBody>
                  <a:tcPr marL="146304" marR="146304" marT="109728" marB="109728" anchor="ctr">
                    <a:lnB w="3175" cap="flat">
                      <a:solidFill>
                        <a:srgbClr val="B8B8B8"/>
                      </a:solidFill>
                    </a:lnB>
                    <a:solidFill>
                      <a:srgbClr val="FFFFFF"/>
                    </a:solidFill>
                  </a:tcPr>
                </a:tc>
              </a:tr>
              <a:tr h="834390">
                <a:tc>
                  <a:txBody>
                    <a:bodyPr/>
                    <a:lstStyle/>
                    <a:p>
                      <a:pPr>
                        <a:defRPr sz="1500" b="1">
                          <a:solidFill>
                            <a:srgbClr val="000000"/>
                          </a:solidFill>
                          <a:latin typeface="Lato"/>
                        </a:defRPr>
                      </a:pPr>
                      <a:r>
                        <a:t>02  Analytical specifications</a:t>
                      </a:r>
                    </a:p>
                  </a:txBody>
                  <a:tcPr marL="146304" marR="146304" marT="109728" marB="109728" anchor="ctr">
                    <a:lnB w="3175" cap="flat">
                      <a:solidFill>
                        <a:srgbClr val="B8B8B8"/>
                      </a:solidFill>
                    </a:lnB>
                    <a:solidFill>
                      <a:srgbClr val="FFFFFF"/>
                    </a:solidFill>
                  </a:tcPr>
                </a:tc>
                <a:tc>
                  <a:txBody>
                    <a:bodyPr/>
                    <a:lstStyle/>
                    <a:p>
                      <a:pPr>
                        <a:defRPr sz="1500" b="0">
                          <a:solidFill>
                            <a:srgbClr val="000000"/>
                          </a:solidFill>
                          <a:latin typeface="Lato"/>
                        </a:defRPr>
                      </a:pPr>
                      <a:r>
                        <a:t>Map petrol, diesel and jet flows across South African ports, inland markets and infrastructure; assess customer demand, competing terminal operators, usable capacity and commercial access.</a:t>
                      </a:r>
                    </a:p>
                  </a:txBody>
                  <a:tcPr marL="146304" marR="146304" marT="109728" marB="109728" anchor="ctr">
                    <a:lnB w="3175" cap="flat">
                      <a:solidFill>
                        <a:srgbClr val="B8B8B8"/>
                      </a:solidFill>
                    </a:lnB>
                    <a:solidFill>
                      <a:srgbClr val="FFFFFF"/>
                    </a:solidFill>
                  </a:tcPr>
                </a:tc>
              </a:tr>
              <a:tr h="834390">
                <a:tc>
                  <a:txBody>
                    <a:bodyPr/>
                    <a:lstStyle/>
                    <a:p>
                      <a:pPr>
                        <a:defRPr sz="1500" b="1">
                          <a:solidFill>
                            <a:srgbClr val="000000"/>
                          </a:solidFill>
                          <a:latin typeface="Lato"/>
                        </a:defRPr>
                      </a:pPr>
                      <a:r>
                        <a:t>03  Model build</a:t>
                      </a:r>
                    </a:p>
                  </a:txBody>
                  <a:tcPr marL="146304" marR="146304" marT="109728" marB="109728" anchor="ctr">
                    <a:lnB w="3175" cap="flat">
                      <a:solidFill>
                        <a:srgbClr val="B8B8B8"/>
                      </a:solidFill>
                    </a:lnB>
                    <a:solidFill>
                      <a:srgbClr val="FFFFFF"/>
                    </a:solidFill>
                  </a:tcPr>
                </a:tc>
                <a:tc>
                  <a:txBody>
                    <a:bodyPr/>
                    <a:lstStyle/>
                    <a:p>
                      <a:pPr>
                        <a:defRPr sz="1500" b="0">
                          <a:solidFill>
                            <a:srgbClr val="000000"/>
                          </a:solidFill>
                          <a:latin typeface="Lato"/>
                        </a:defRPr>
                      </a:pPr>
                      <a:r>
                        <a:t>Build detailed South African fuel and infrastructure calculations; add focused Namibia/Walvis Bay analysis and SACU/African screening. Apply results to Vopak assets and growth options.</a:t>
                      </a:r>
                    </a:p>
                  </a:txBody>
                  <a:tcPr marL="146304" marR="146304" marT="109728" marB="109728" anchor="ctr">
                    <a:lnB w="3175" cap="flat">
                      <a:solidFill>
                        <a:srgbClr val="B8B8B8"/>
                      </a:solidFill>
                    </a:lnB>
                    <a:solidFill>
                      <a:srgbClr val="FFFFFF"/>
                    </a:solidFill>
                  </a:tcPr>
                </a:tc>
              </a:tr>
              <a:tr h="834390">
                <a:tc>
                  <a:txBody>
                    <a:bodyPr/>
                    <a:lstStyle/>
                    <a:p>
                      <a:pPr>
                        <a:defRPr sz="1500" b="1">
                          <a:solidFill>
                            <a:srgbClr val="000000"/>
                          </a:solidFill>
                          <a:latin typeface="Lato"/>
                        </a:defRPr>
                      </a:pPr>
                      <a:r>
                        <a:t>04  Delivery approach</a:t>
                      </a:r>
                    </a:p>
                  </a:txBody>
                  <a:tcPr marL="146304" marR="146304" marT="109728" marB="109728" anchor="ctr">
                    <a:lnB w="3175" cap="flat">
                      <a:solidFill>
                        <a:srgbClr val="B8B8B8"/>
                      </a:solidFill>
                    </a:lnB>
                    <a:solidFill>
                      <a:srgbClr val="FFFFFF"/>
                    </a:solidFill>
                  </a:tcPr>
                </a:tc>
                <a:tc>
                  <a:txBody>
                    <a:bodyPr/>
                    <a:lstStyle/>
                    <a:p>
                      <a:pPr>
                        <a:defRPr sz="1500" b="0">
                          <a:solidFill>
                            <a:srgbClr val="000000"/>
                          </a:solidFill>
                          <a:latin typeface="Lato"/>
                        </a:defRPr>
                      </a:pPr>
                      <a:r>
                        <a:t>Over six weeks, develop the board narrative: South African market changes, Vopak asset and growth opportunities, Walvis Bay and African priorities.</a:t>
                      </a:r>
                    </a:p>
                  </a:txBody>
                  <a:tcPr marL="146304" marR="146304" marT="109728" marB="109728" anchor="ctr">
                    <a:lnB w="3175" cap="flat">
                      <a:solidFill>
                        <a:srgbClr val="B8B8B8"/>
                      </a:solidFill>
                    </a:lnB>
                    <a:solidFill>
                      <a:srgbClr val="FFFFFF"/>
                    </a:solidFill>
                  </a:tcPr>
                </a:tc>
              </a:tr>
            </a:tbl>
          </a:graphicData>
        </a:graphic>
      </p:graphicFrame>
      <p:sp>
        <p:nvSpPr>
          <p:cNvPr id="10" name="TextBox 9"/>
          <p:cNvSpPr txBox="1"/>
          <p:nvPr/>
        </p:nvSpPr>
        <p:spPr>
          <a:xfrm>
            <a:off x="502920" y="6016752"/>
            <a:ext cx="10515600" cy="32004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The test: where can Vopak serve sustained customer demand through its existing assets or credible growth options?</a:t>
            </a:r>
          </a:p>
        </p:txBody>
      </p:sp>
      <p:sp>
        <p:nvSpPr>
          <p:cNvPr id="11" name="TextBox 10"/>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AIA proposal, pp. 7-8; agreed analytical framework; WS5 brief and six-week plan. Proposed build; current outputs remain provisional.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Frame the South African outlook, Walvis Bay case and African priorities</a:t>
            </a:r>
          </a:p>
        </p:txBody>
      </p:sp>
      <p:sp>
        <p:nvSpPr>
          <p:cNvPr id="3" name="Slide Number Placeholder"/>
          <p:cNvSpPr>
            <a:spLocks noGrp="1"/>
          </p:cNvSpPr>
          <p:nvPr>
            <p:ph type="sldNum" sz="quarter" idx="12"/>
          </p:nvPr>
        </p:nvSpPr>
        <p:spPr/>
        <p:txBody>
          <a:bodyPr/>
          <a:lstStyle/>
          <a:p>
            <a:fld id="{8CD07B47-B892-4FC0-81FD-DA2D63DE01FB}"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graphicFrame>
        <p:nvGraphicFramePr>
          <p:cNvPr id="8" name="Table 7"/>
          <p:cNvGraphicFramePr>
            <a:graphicFrameLocks noGrp="1"/>
          </p:cNvGraphicFramePr>
          <p:nvPr/>
        </p:nvGraphicFramePr>
        <p:xfrm>
          <a:off x="457200" y="1691640"/>
          <a:ext cx="10652760" cy="4160520"/>
        </p:xfrm>
        <a:graphic>
          <a:graphicData uri="http://schemas.openxmlformats.org/drawingml/2006/table">
            <a:tbl>
              <a:tblPr firstRow="1" bandRow="1">
                <a:tableStyleId>{2D5ABB26-0587-4C30-8999-92F81FD0307C}</a:tableStyleId>
              </a:tblPr>
              <a:tblGrid>
                <a:gridCol w="2743200"/>
                <a:gridCol w="7909560"/>
              </a:tblGrid>
              <a:tr h="1386840">
                <a:tc>
                  <a:txBody>
                    <a:bodyPr/>
                    <a:lstStyle/>
                    <a:p>
                      <a:pPr>
                        <a:defRPr sz="1900" b="1">
                          <a:solidFill>
                            <a:srgbClr val="000000"/>
                          </a:solidFill>
                          <a:latin typeface="Lato"/>
                        </a:defRPr>
                      </a:pPr>
                      <a:r>
                        <a:t>Situation</a:t>
                      </a:r>
                    </a:p>
                  </a:txBody>
                  <a:tcPr marL="685800" marR="146304" marT="109728" marB="109728" anchor="ctr">
                    <a:lnB w="3175" cap="flat">
                      <a:solidFill>
                        <a:srgbClr val="B8B8B8"/>
                      </a:solidFill>
                    </a:lnB>
                    <a:solidFill>
                      <a:srgbClr val="FFFFFF"/>
                    </a:solidFill>
                  </a:tcPr>
                </a:tc>
                <a:tc>
                  <a:txBody>
                    <a:bodyPr/>
                    <a:lstStyle/>
                    <a:p>
                      <a:pPr>
                        <a:defRPr sz="1900" b="0">
                          <a:solidFill>
                            <a:srgbClr val="000000"/>
                          </a:solidFill>
                          <a:latin typeface="Lato"/>
                        </a:defRPr>
                      </a:pPr>
                      <a:r>
                        <a:t>Vopak needs an updated South African liquid-fuels outlook, a focused assessment of Namibia and Walvis Bay, and a broader view of investment opportunities across Africa.</a:t>
                      </a:r>
                    </a:p>
                  </a:txBody>
                  <a:tcPr marL="146304" marR="146304" marT="109728" marB="109728" anchor="ctr">
                    <a:lnB w="3175" cap="flat">
                      <a:solidFill>
                        <a:srgbClr val="B8B8B8"/>
                      </a:solidFill>
                    </a:lnB>
                    <a:solidFill>
                      <a:srgbClr val="FFFFFF"/>
                    </a:solidFill>
                  </a:tcPr>
                </a:tc>
              </a:tr>
              <a:tr h="1386840">
                <a:tc>
                  <a:txBody>
                    <a:bodyPr/>
                    <a:lstStyle/>
                    <a:p>
                      <a:pPr>
                        <a:defRPr sz="1900" b="1">
                          <a:solidFill>
                            <a:srgbClr val="000000"/>
                          </a:solidFill>
                          <a:latin typeface="Lato"/>
                        </a:defRPr>
                      </a:pPr>
                      <a:r>
                        <a:t>Complication</a:t>
                      </a:r>
                    </a:p>
                  </a:txBody>
                  <a:tcPr marL="685800" marR="146304" marT="109728" marB="109728" anchor="ctr">
                    <a:lnB w="3175" cap="flat">
                      <a:solidFill>
                        <a:srgbClr val="B8B8B8"/>
                      </a:solidFill>
                    </a:lnB>
                    <a:solidFill>
                      <a:srgbClr val="FFFFFF"/>
                    </a:solidFill>
                  </a:tcPr>
                </a:tc>
                <a:tc>
                  <a:txBody>
                    <a:bodyPr/>
                    <a:lstStyle/>
                    <a:p>
                      <a:pPr>
                        <a:defRPr sz="1900" b="0">
                          <a:solidFill>
                            <a:srgbClr val="000000"/>
                          </a:solidFill>
                          <a:latin typeface="Lato"/>
                        </a:defRPr>
                      </a:pPr>
                      <a:r>
                        <a:t>Changing domestic production and imports can redirect coastal and inland fuel flows. Route constraints, competing operators and customer access determine which volumes Vopak can serve.</a:t>
                      </a:r>
                    </a:p>
                  </a:txBody>
                  <a:tcPr marL="146304" marR="146304" marT="109728" marB="109728" anchor="ctr">
                    <a:lnB w="3175" cap="flat">
                      <a:solidFill>
                        <a:srgbClr val="B8B8B8"/>
                      </a:solidFill>
                    </a:lnB>
                    <a:solidFill>
                      <a:srgbClr val="FFFFFF"/>
                    </a:solidFill>
                  </a:tcPr>
                </a:tc>
              </a:tr>
              <a:tr h="1386840">
                <a:tc>
                  <a:txBody>
                    <a:bodyPr/>
                    <a:lstStyle/>
                    <a:p>
                      <a:pPr>
                        <a:defRPr sz="1900" b="1">
                          <a:solidFill>
                            <a:srgbClr val="000000"/>
                          </a:solidFill>
                          <a:latin typeface="Lato"/>
                        </a:defRPr>
                      </a:pPr>
                      <a:r>
                        <a:t>Resolution</a:t>
                      </a:r>
                    </a:p>
                  </a:txBody>
                  <a:tcPr marL="685800" marR="146304" marT="109728" marB="109728" anchor="ctr">
                    <a:lnB w="3175" cap="flat">
                      <a:solidFill>
                        <a:srgbClr val="B8B8B8"/>
                      </a:solidFill>
                    </a:lnB>
                    <a:solidFill>
                      <a:srgbClr val="FFFFFF"/>
                    </a:solidFill>
                  </a:tcPr>
                </a:tc>
                <a:tc>
                  <a:txBody>
                    <a:bodyPr/>
                    <a:lstStyle/>
                    <a:p>
                      <a:pPr>
                        <a:defRPr sz="1900" b="0">
                          <a:solidFill>
                            <a:srgbClr val="000000"/>
                          </a:solidFill>
                          <a:latin typeface="Lato"/>
                        </a:defRPr>
                      </a:pPr>
                      <a:r>
                        <a:t>Update the South African liquid-fuels outlook, assess Namibia's storage, handling and corridor opportunities, and screen priority African markets for further consideration.</a:t>
                      </a:r>
                    </a:p>
                  </a:txBody>
                  <a:tcPr marL="146304" marR="146304" marT="109728" marB="109728" anchor="ctr">
                    <a:lnB w="3175" cap="flat">
                      <a:solidFill>
                        <a:srgbClr val="B8B8B8"/>
                      </a:solidFill>
                    </a:lnB>
                    <a:solidFill>
                      <a:srgbClr val="FFFFFF"/>
                    </a:solidFill>
                  </a:tcPr>
                </a:tc>
              </a:tr>
            </a:tbl>
          </a:graphicData>
        </a:graphic>
      </p:graphicFrame>
      <p:sp>
        <p:nvSpPr>
          <p:cNvPr id="9" name="context icon"/>
          <p:cNvSpPr/>
          <p:nvPr/>
        </p:nvSpPr>
        <p:spPr>
          <a:xfrm>
            <a:off x="658368" y="2211324"/>
            <a:ext cx="274320" cy="347472"/>
          </a:xfrm>
          <a:prstGeom prst="rect">
            <a:avLst/>
          </a:prstGeom>
          <a:no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ontext icon"/>
          <p:cNvSpPr/>
          <p:nvPr/>
        </p:nvSpPr>
        <p:spPr>
          <a:xfrm>
            <a:off x="713231" y="2302764"/>
            <a:ext cx="164592" cy="10972"/>
          </a:xfrm>
          <a:prstGeom prst="rect">
            <a:avLst/>
          </a:prstGeom>
          <a:solidFill>
            <a:srgbClr val="000000"/>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ontext icon"/>
          <p:cNvSpPr/>
          <p:nvPr/>
        </p:nvSpPr>
        <p:spPr>
          <a:xfrm>
            <a:off x="713231" y="2375916"/>
            <a:ext cx="164592" cy="10972"/>
          </a:xfrm>
          <a:prstGeom prst="rect">
            <a:avLst/>
          </a:prstGeom>
          <a:solidFill>
            <a:srgbClr val="000000"/>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ontext icon"/>
          <p:cNvSpPr/>
          <p:nvPr/>
        </p:nvSpPr>
        <p:spPr>
          <a:xfrm>
            <a:off x="713231" y="2449068"/>
            <a:ext cx="164592" cy="10972"/>
          </a:xfrm>
          <a:prstGeom prst="rect">
            <a:avLst/>
          </a:prstGeom>
          <a:solidFill>
            <a:srgbClr val="000000"/>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allenge icon"/>
          <p:cNvSpPr/>
          <p:nvPr/>
        </p:nvSpPr>
        <p:spPr>
          <a:xfrm>
            <a:off x="640080" y="3598164"/>
            <a:ext cx="365760" cy="329184"/>
          </a:xfrm>
          <a:prstGeom prst="triangle">
            <a:avLst/>
          </a:prstGeom>
          <a:no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3689604"/>
            <a:ext cx="128016" cy="210312"/>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t>
            </a:r>
          </a:p>
        </p:txBody>
      </p:sp>
      <p:sp>
        <p:nvSpPr>
          <p:cNvPr id="15" name="direction icon"/>
          <p:cNvSpPr/>
          <p:nvPr/>
        </p:nvSpPr>
        <p:spPr>
          <a:xfrm>
            <a:off x="640080" y="5039867"/>
            <a:ext cx="365760" cy="246888"/>
          </a:xfrm>
          <a:prstGeom prst="rightArrow">
            <a:avLst/>
          </a:prstGeom>
          <a:no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053328"/>
            <a:ext cx="10424160" cy="36576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The project requires both market modelling and commercial analysis.</a:t>
            </a:r>
          </a:p>
        </p:txBody>
      </p:sp>
      <p:sp>
        <p:nvSpPr>
          <p:cNvPr id="17" name="TextBox 16"/>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AIA strategy support proposal, August 2026, pp. 7-12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Determine which changing fuel flows Vopak could store and handle</a:t>
            </a:r>
          </a:p>
        </p:txBody>
      </p:sp>
      <p:sp>
        <p:nvSpPr>
          <p:cNvPr id="3" name="Slide Number Placeholder"/>
          <p:cNvSpPr>
            <a:spLocks noGrp="1"/>
          </p:cNvSpPr>
          <p:nvPr>
            <p:ph type="sldNum" sz="quarter" idx="12"/>
          </p:nvPr>
        </p:nvSpPr>
        <p:spPr/>
        <p:txBody>
          <a:bodyPr/>
          <a:lstStyle/>
          <a:p>
            <a:fld id="{A8835C6F-1BE6-42F8-9107-609F8FFD42BA}"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question icon"/>
          <p:cNvSpPr/>
          <p:nvPr/>
        </p:nvSpPr>
        <p:spPr>
          <a:xfrm>
            <a:off x="548640" y="1773936"/>
            <a:ext cx="365760" cy="365760"/>
          </a:xfrm>
          <a:prstGeom prst="ellipse">
            <a:avLst/>
          </a:prstGeom>
          <a:no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3" y="1796795"/>
            <a:ext cx="256032" cy="310896"/>
          </a:xfrm>
          <a:prstGeom prst="rect">
            <a:avLst/>
          </a:prstGeom>
          <a:noFill/>
        </p:spPr>
        <p:txBody>
          <a:bodyPr wrap="square" lIns="18288" rIns="18288" tIns="0" bIns="0">
            <a:spAutoFit/>
          </a:bodyPr>
          <a:lstStyle/>
          <a:p>
            <a:pPr algn="ctr">
              <a:spcAft>
                <a:spcPts val="800"/>
              </a:spcAft>
              <a:defRPr sz="2000" b="1">
                <a:solidFill>
                  <a:srgbClr val="000000"/>
                </a:solidFill>
                <a:latin typeface="Lato"/>
              </a:defRPr>
            </a:pPr>
            <a:r>
              <a:t>?</a:t>
            </a:r>
          </a:p>
        </p:txBody>
      </p:sp>
      <p:sp>
        <p:nvSpPr>
          <p:cNvPr id="10" name="TextBox 9"/>
          <p:cNvSpPr txBox="1"/>
          <p:nvPr/>
        </p:nvSpPr>
        <p:spPr>
          <a:xfrm>
            <a:off x="1078992" y="1691640"/>
            <a:ext cx="9966960" cy="1554480"/>
          </a:xfrm>
          <a:prstGeom prst="rect">
            <a:avLst/>
          </a:prstGeom>
          <a:noFill/>
        </p:spPr>
        <p:txBody>
          <a:bodyPr wrap="square" lIns="18288" rIns="18288" tIns="0" bIns="0">
            <a:spAutoFit/>
          </a:bodyPr>
          <a:lstStyle/>
          <a:p>
            <a:pPr>
              <a:spcAft>
                <a:spcPts val="800"/>
              </a:spcAft>
              <a:defRPr sz="2100" b="0">
                <a:solidFill>
                  <a:srgbClr val="000000"/>
                </a:solidFill>
                <a:latin typeface="Lato"/>
              </a:defRPr>
            </a:pPr>
            <a:r>
              <a:t>How will changing petrol, diesel and jet demand, domestic production and imports affect liquid-fuel balances and demand for Vopak storage and handling services?</a:t>
            </a:r>
          </a:p>
        </p:txBody>
      </p:sp>
      <p:sp>
        <p:nvSpPr>
          <p:cNvPr id="11" name="market icon"/>
          <p:cNvSpPr/>
          <p:nvPr/>
        </p:nvSpPr>
        <p:spPr>
          <a:xfrm>
            <a:off x="530352" y="3986783"/>
            <a:ext cx="68580" cy="146304"/>
          </a:xfrm>
          <a:prstGeom prst="rect">
            <a:avLst/>
          </a:prstGeom>
          <a:solidFill>
            <a:srgbClr val="000000"/>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arket icon"/>
          <p:cNvSpPr/>
          <p:nvPr/>
        </p:nvSpPr>
        <p:spPr>
          <a:xfrm>
            <a:off x="649224" y="3895344"/>
            <a:ext cx="68580" cy="237744"/>
          </a:xfrm>
          <a:prstGeom prst="rect">
            <a:avLst/>
          </a:prstGeom>
          <a:solidFill>
            <a:srgbClr val="000000"/>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market icon"/>
          <p:cNvSpPr/>
          <p:nvPr/>
        </p:nvSpPr>
        <p:spPr>
          <a:xfrm>
            <a:off x="768096" y="3785615"/>
            <a:ext cx="68580" cy="347472"/>
          </a:xfrm>
          <a:prstGeom prst="rect">
            <a:avLst/>
          </a:prstGeom>
          <a:solidFill>
            <a:srgbClr val="000000"/>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767328"/>
            <a:ext cx="4389120" cy="457200"/>
          </a:xfrm>
          <a:prstGeom prst="rect">
            <a:avLst/>
          </a:prstGeom>
          <a:noFill/>
        </p:spPr>
        <p:txBody>
          <a:bodyPr wrap="square" lIns="18288" rIns="18288" tIns="0" bIns="0">
            <a:spAutoFit/>
          </a:bodyPr>
          <a:lstStyle/>
          <a:p>
            <a:pPr>
              <a:spcAft>
                <a:spcPts val="800"/>
              </a:spcAft>
              <a:defRPr sz="2100" b="1">
                <a:solidFill>
                  <a:srgbClr val="000000"/>
                </a:solidFill>
                <a:latin typeface="Lato"/>
              </a:defRPr>
            </a:pPr>
            <a:r>
              <a:t>01  Market outlook</a:t>
            </a:r>
          </a:p>
        </p:txBody>
      </p:sp>
      <p:sp>
        <p:nvSpPr>
          <p:cNvPr id="15" name="TextBox 14"/>
          <p:cNvSpPr txBox="1"/>
          <p:nvPr/>
        </p:nvSpPr>
        <p:spPr>
          <a:xfrm>
            <a:off x="502920" y="4434840"/>
            <a:ext cx="4846320" cy="1554480"/>
          </a:xfrm>
          <a:prstGeom prst="rect">
            <a:avLst/>
          </a:prstGeom>
          <a:noFill/>
        </p:spPr>
        <p:txBody>
          <a:bodyPr wrap="square" lIns="18288" rIns="18288" tIns="0" bIns="0">
            <a:spAutoFit/>
          </a:bodyPr>
          <a:lstStyle/>
          <a:p>
            <a:pPr>
              <a:spcAft>
                <a:spcPts val="800"/>
              </a:spcAft>
              <a:defRPr sz="1800" b="0">
                <a:solidFill>
                  <a:srgbClr val="000000"/>
                </a:solidFill>
                <a:latin typeface="Lato"/>
              </a:defRPr>
            </a:pPr>
            <a:r>
              <a:t>How much must be imported after domestic production, and where could available imports still leave demand unmet?</a:t>
            </a:r>
          </a:p>
        </p:txBody>
      </p:sp>
      <p:sp>
        <p:nvSpPr>
          <p:cNvPr id="16" name="terminal icon"/>
          <p:cNvSpPr/>
          <p:nvPr/>
        </p:nvSpPr>
        <p:spPr>
          <a:xfrm>
            <a:off x="6016752" y="3849624"/>
            <a:ext cx="155448" cy="274320"/>
          </a:xfrm>
          <a:prstGeom prst="can">
            <a:avLst/>
          </a:prstGeom>
          <a:no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rminal icon"/>
          <p:cNvSpPr/>
          <p:nvPr/>
        </p:nvSpPr>
        <p:spPr>
          <a:xfrm>
            <a:off x="6217920" y="3785615"/>
            <a:ext cx="155448" cy="338328"/>
          </a:xfrm>
          <a:prstGeom prst="can">
            <a:avLst/>
          </a:prstGeom>
          <a:no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0528" y="3767328"/>
            <a:ext cx="4389120" cy="457200"/>
          </a:xfrm>
          <a:prstGeom prst="rect">
            <a:avLst/>
          </a:prstGeom>
          <a:noFill/>
        </p:spPr>
        <p:txBody>
          <a:bodyPr wrap="square" lIns="18288" rIns="18288" tIns="0" bIns="0">
            <a:spAutoFit/>
          </a:bodyPr>
          <a:lstStyle/>
          <a:p>
            <a:pPr>
              <a:spcAft>
                <a:spcPts val="800"/>
              </a:spcAft>
              <a:defRPr sz="2100" b="1">
                <a:solidFill>
                  <a:srgbClr val="000000"/>
                </a:solidFill>
                <a:latin typeface="Lato"/>
              </a:defRPr>
            </a:pPr>
            <a:r>
              <a:t>02  Commercial relevance</a:t>
            </a:r>
          </a:p>
        </p:txBody>
      </p:sp>
      <p:sp>
        <p:nvSpPr>
          <p:cNvPr id="19" name="TextBox 18"/>
          <p:cNvSpPr txBox="1"/>
          <p:nvPr/>
        </p:nvSpPr>
        <p:spPr>
          <a:xfrm>
            <a:off x="5989320" y="4434840"/>
            <a:ext cx="4846320" cy="1554480"/>
          </a:xfrm>
          <a:prstGeom prst="rect">
            <a:avLst/>
          </a:prstGeom>
          <a:noFill/>
        </p:spPr>
        <p:txBody>
          <a:bodyPr wrap="square" lIns="18288" rIns="18288" tIns="0" bIns="0">
            <a:spAutoFit/>
          </a:bodyPr>
          <a:lstStyle/>
          <a:p>
            <a:pPr>
              <a:spcAft>
                <a:spcPts val="800"/>
              </a:spcAft>
              <a:defRPr sz="1800" b="0">
                <a:solidFill>
                  <a:srgbClr val="000000"/>
                </a:solidFill>
                <a:latin typeface="Lato"/>
              </a:defRPr>
            </a:pPr>
            <a:r>
              <a:t>Which customer flows could Vopak store and handle through accessible terminals and corridors, considering competing operators?</a:t>
            </a:r>
          </a:p>
        </p:txBody>
      </p:sp>
      <p:sp>
        <p:nvSpPr>
          <p:cNvPr id="20" name="TextBox 19"/>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Agreed engagement question; AIA strategy support proposal, August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Define the markets, products and scenarios the model must cover</a:t>
            </a:r>
          </a:p>
        </p:txBody>
      </p:sp>
      <p:sp>
        <p:nvSpPr>
          <p:cNvPr id="3" name="Slide Number Placeholder"/>
          <p:cNvSpPr>
            <a:spLocks noGrp="1"/>
          </p:cNvSpPr>
          <p:nvPr>
            <p:ph type="sldNum" sz="quarter" idx="12"/>
          </p:nvPr>
        </p:nvSpPr>
        <p:spPr/>
        <p:txBody>
          <a:bodyPr/>
          <a:lstStyle/>
          <a:p>
            <a:fld id="{B557C904-58AB-449D-ADEF-1784A9777329}"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graphicFrame>
        <p:nvGraphicFramePr>
          <p:cNvPr id="8" name="Table 7"/>
          <p:cNvGraphicFramePr>
            <a:graphicFrameLocks noGrp="1"/>
          </p:cNvGraphicFramePr>
          <p:nvPr/>
        </p:nvGraphicFramePr>
        <p:xfrm>
          <a:off x="457200" y="1691640"/>
          <a:ext cx="6172200" cy="4160520"/>
        </p:xfrm>
        <a:graphic>
          <a:graphicData uri="http://schemas.openxmlformats.org/drawingml/2006/table">
            <a:tbl>
              <a:tblPr firstRow="1" bandRow="1">
                <a:tableStyleId>{2D5ABB26-0587-4C30-8999-92F81FD0307C}</a:tableStyleId>
              </a:tblPr>
              <a:tblGrid>
                <a:gridCol w="1737360"/>
                <a:gridCol w="4434840"/>
              </a:tblGrid>
              <a:tr h="693420">
                <a:tc>
                  <a:txBody>
                    <a:bodyPr/>
                    <a:lstStyle/>
                    <a:p>
                      <a:pPr>
                        <a:defRPr sz="1700" b="1">
                          <a:solidFill>
                            <a:srgbClr val="000000"/>
                          </a:solidFill>
                          <a:latin typeface="Lato"/>
                        </a:defRPr>
                      </a:pPr>
                      <a:r>
                        <a:t>Specification area</a:t>
                      </a:r>
                    </a:p>
                  </a:txBody>
                  <a:tcPr marL="146304" marR="146304" marT="54864" marB="54864" anchor="ctr">
                    <a:lnB w="4445" cap="flat">
                      <a:solidFill>
                        <a:srgbClr val="A0A0A0"/>
                      </a:solidFill>
                    </a:lnB>
                    <a:solidFill>
                      <a:srgbClr val="FFFFFF"/>
                    </a:solidFill>
                  </a:tcPr>
                </a:tc>
                <a:tc>
                  <a:txBody>
                    <a:bodyPr/>
                    <a:lstStyle/>
                    <a:p>
                      <a:pPr>
                        <a:defRPr sz="1700" b="1">
                          <a:solidFill>
                            <a:srgbClr val="000000"/>
                          </a:solidFill>
                          <a:latin typeface="Lato"/>
                        </a:defRPr>
                      </a:pPr>
                      <a:r>
                        <a:t>Scope and approach</a:t>
                      </a:r>
                    </a:p>
                  </a:txBody>
                  <a:tcPr marL="146304" marR="146304" marT="54864" marB="54864" anchor="ctr">
                    <a:lnB w="4445" cap="flat">
                      <a:solidFill>
                        <a:srgbClr val="A0A0A0"/>
                      </a:solidFill>
                    </a:lnB>
                    <a:solidFill>
                      <a:srgbClr val="FFFFFF"/>
                    </a:solidFill>
                  </a:tcPr>
                </a:tc>
              </a:tr>
              <a:tr h="693420">
                <a:tc>
                  <a:txBody>
                    <a:bodyPr/>
                    <a:lstStyle/>
                    <a:p>
                      <a:pPr>
                        <a:defRPr sz="1700" b="0">
                          <a:solidFill>
                            <a:srgbClr val="000000"/>
                          </a:solidFill>
                          <a:latin typeface="Lato"/>
                        </a:defRPr>
                      </a:pPr>
                      <a:r>
                        <a:t>Products and outputs</a:t>
                      </a:r>
                    </a:p>
                  </a:txBody>
                  <a:tcPr marL="146304" marR="146304" marT="54864" marB="54864" anchor="ctr">
                    <a:lnB w="3175" cap="flat">
                      <a:solidFill>
                        <a:srgbClr val="B8B8B8"/>
                      </a:solidFill>
                    </a:lnB>
                    <a:solidFill>
                      <a:srgbClr val="FFFFFF"/>
                    </a:solidFill>
                  </a:tcPr>
                </a:tc>
                <a:tc>
                  <a:txBody>
                    <a:bodyPr/>
                    <a:lstStyle/>
                    <a:p>
                      <a:pPr>
                        <a:defRPr sz="1700" b="0">
                          <a:solidFill>
                            <a:srgbClr val="000000"/>
                          </a:solidFill>
                          <a:latin typeface="Lato"/>
                        </a:defRPr>
                      </a:pPr>
                      <a:r>
                        <a:t>Petrol, diesel and jet demand, total supply, import requirements and balances</a:t>
                      </a:r>
                    </a:p>
                  </a:txBody>
                  <a:tcPr marL="146304" marR="146304" marT="54864" marB="54864" anchor="ctr">
                    <a:lnB w="3175" cap="flat">
                      <a:solidFill>
                        <a:srgbClr val="B8B8B8"/>
                      </a:solidFill>
                    </a:lnB>
                    <a:solidFill>
                      <a:srgbClr val="FFFFFF"/>
                    </a:solidFill>
                  </a:tcPr>
                </a:tc>
              </a:tr>
              <a:tr h="693420">
                <a:tc>
                  <a:txBody>
                    <a:bodyPr/>
                    <a:lstStyle/>
                    <a:p>
                      <a:pPr>
                        <a:defRPr sz="1700" b="0">
                          <a:solidFill>
                            <a:srgbClr val="000000"/>
                          </a:solidFill>
                          <a:latin typeface="Lato"/>
                        </a:defRPr>
                      </a:pPr>
                      <a:r>
                        <a:t>Geographic coverage</a:t>
                      </a:r>
                    </a:p>
                  </a:txBody>
                  <a:tcPr marL="146304" marR="146304" marT="54864" marB="54864" anchor="ctr">
                    <a:lnB w="3175" cap="flat">
                      <a:solidFill>
                        <a:srgbClr val="B8B8B8"/>
                      </a:solidFill>
                    </a:lnB>
                    <a:solidFill>
                      <a:srgbClr val="FFFFFF"/>
                    </a:solidFill>
                  </a:tcPr>
                </a:tc>
                <a:tc>
                  <a:txBody>
                    <a:bodyPr/>
                    <a:lstStyle/>
                    <a:p>
                      <a:pPr>
                        <a:defRPr sz="1700" b="0">
                          <a:solidFill>
                            <a:srgbClr val="000000"/>
                          </a:solidFill>
                          <a:latin typeface="Lato"/>
                        </a:defRPr>
                      </a:pPr>
                      <a:r>
                        <a:t>SACU; priority markets in East, West, Central and North Africa and SADC excluding SACU*</a:t>
                      </a:r>
                    </a:p>
                  </a:txBody>
                  <a:tcPr marL="146304" marR="146304" marT="54864" marB="54864" anchor="ctr">
                    <a:lnB w="3175" cap="flat">
                      <a:solidFill>
                        <a:srgbClr val="B8B8B8"/>
                      </a:solidFill>
                    </a:lnB>
                    <a:solidFill>
                      <a:srgbClr val="FFFFFF"/>
                    </a:solidFill>
                  </a:tcPr>
                </a:tc>
              </a:tr>
              <a:tr h="693420">
                <a:tc>
                  <a:txBody>
                    <a:bodyPr/>
                    <a:lstStyle/>
                    <a:p>
                      <a:pPr>
                        <a:defRPr sz="1700" b="0">
                          <a:solidFill>
                            <a:srgbClr val="000000"/>
                          </a:solidFill>
                          <a:latin typeface="Lato"/>
                        </a:defRPr>
                      </a:pPr>
                      <a:r>
                        <a:t>Time horizon</a:t>
                      </a:r>
                    </a:p>
                  </a:txBody>
                  <a:tcPr marL="146304" marR="146304" marT="54864" marB="54864" anchor="ctr">
                    <a:lnB w="3175" cap="flat">
                      <a:solidFill>
                        <a:srgbClr val="B8B8B8"/>
                      </a:solidFill>
                    </a:lnB>
                    <a:solidFill>
                      <a:srgbClr val="FFFFFF"/>
                    </a:solidFill>
                  </a:tcPr>
                </a:tc>
                <a:tc>
                  <a:txBody>
                    <a:bodyPr/>
                    <a:lstStyle/>
                    <a:p>
                      <a:pPr>
                        <a:defRPr sz="1700" b="0">
                          <a:solidFill>
                            <a:srgbClr val="000000"/>
                          </a:solidFill>
                          <a:latin typeface="Lato"/>
                        </a:defRPr>
                      </a:pPr>
                      <a:r>
                        <a:t>Use the existing 2024-2050 horizon. Agree near-term decision checkpoints</a:t>
                      </a:r>
                    </a:p>
                  </a:txBody>
                  <a:tcPr marL="146304" marR="146304" marT="54864" marB="54864" anchor="ctr">
                    <a:lnB w="3175" cap="flat">
                      <a:solidFill>
                        <a:srgbClr val="B8B8B8"/>
                      </a:solidFill>
                    </a:lnB>
                    <a:solidFill>
                      <a:srgbClr val="FFFFFF"/>
                    </a:solidFill>
                  </a:tcPr>
                </a:tc>
              </a:tr>
              <a:tr h="693420">
                <a:tc>
                  <a:txBody>
                    <a:bodyPr/>
                    <a:lstStyle/>
                    <a:p>
                      <a:pPr>
                        <a:defRPr sz="1700" b="0">
                          <a:solidFill>
                            <a:srgbClr val="000000"/>
                          </a:solidFill>
                          <a:latin typeface="Lato"/>
                        </a:defRPr>
                      </a:pPr>
                      <a:r>
                        <a:t>Scenarios</a:t>
                      </a:r>
                    </a:p>
                  </a:txBody>
                  <a:tcPr marL="146304" marR="146304" marT="54864" marB="54864" anchor="ctr">
                    <a:lnB w="3175" cap="flat">
                      <a:solidFill>
                        <a:srgbClr val="B8B8B8"/>
                      </a:solidFill>
                    </a:lnB>
                    <a:solidFill>
                      <a:srgbClr val="FFFFFF"/>
                    </a:solidFill>
                  </a:tcPr>
                </a:tc>
                <a:tc>
                  <a:txBody>
                    <a:bodyPr/>
                    <a:lstStyle/>
                    <a:p>
                      <a:pPr>
                        <a:defRPr sz="1700" b="0">
                          <a:solidFill>
                            <a:srgbClr val="000000"/>
                          </a:solidFill>
                          <a:latin typeface="Lato"/>
                        </a:defRPr>
                      </a:pPr>
                      <a:r>
                        <a:t>Independent H/M/L demand and supply; M/M baseline</a:t>
                      </a:r>
                    </a:p>
                  </a:txBody>
                  <a:tcPr marL="146304" marR="146304" marT="54864" marB="54864" anchor="ctr">
                    <a:lnB w="3175" cap="flat">
                      <a:solidFill>
                        <a:srgbClr val="B8B8B8"/>
                      </a:solidFill>
                    </a:lnB>
                    <a:solidFill>
                      <a:srgbClr val="FFFFFF"/>
                    </a:solidFill>
                  </a:tcPr>
                </a:tc>
              </a:tr>
              <a:tr h="693420">
                <a:tc>
                  <a:txBody>
                    <a:bodyPr/>
                    <a:lstStyle/>
                    <a:p>
                      <a:pPr>
                        <a:defRPr sz="1700" b="0">
                          <a:solidFill>
                            <a:srgbClr val="000000"/>
                          </a:solidFill>
                          <a:latin typeface="Lato"/>
                        </a:defRPr>
                      </a:pPr>
                      <a:r>
                        <a:t>Evidence and acceptance</a:t>
                      </a:r>
                    </a:p>
                  </a:txBody>
                  <a:tcPr marL="146304" marR="146304" marT="54864" marB="54864" anchor="ctr">
                    <a:lnB w="3175" cap="flat">
                      <a:solidFill>
                        <a:srgbClr val="B8B8B8"/>
                      </a:solidFill>
                    </a:lnB>
                    <a:solidFill>
                      <a:srgbClr val="FFFFFF"/>
                    </a:solidFill>
                  </a:tcPr>
                </a:tc>
                <a:tc>
                  <a:txBody>
                    <a:bodyPr/>
                    <a:lstStyle/>
                    <a:p>
                      <a:pPr>
                        <a:defRPr sz="1700" b="0">
                          <a:solidFill>
                            <a:srgbClr val="000000"/>
                          </a:solidFill>
                          <a:latin typeface="Lato"/>
                        </a:defRPr>
                      </a:pPr>
                      <a:r>
                        <a:t>Reconcile history; trace inputs; record review and limitations</a:t>
                      </a:r>
                    </a:p>
                  </a:txBody>
                  <a:tcPr marL="146304" marR="146304" marT="54864" marB="54864" anchor="ctr">
                    <a:lnB w="3175" cap="flat">
                      <a:solidFill>
                        <a:srgbClr val="B8B8B8"/>
                      </a:solidFill>
                    </a:lnB>
                    <a:solidFill>
                      <a:srgbClr val="FFFFFF"/>
                    </a:solidFill>
                  </a:tcPr>
                </a:tc>
              </a:tr>
            </a:tbl>
          </a:graphicData>
        </a:graphic>
      </p:graphicFrame>
      <p:cxnSp>
        <p:nvCxnSpPr>
          <p:cNvPr id="9" name="Requirements and scenario matrix divider"/>
          <p:cNvCxnSpPr/>
          <p:nvPr/>
        </p:nvCxnSpPr>
        <p:spPr>
          <a:xfrm>
            <a:off x="6784848" y="1783080"/>
            <a:ext cx="0" cy="4114800"/>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949440" y="1783080"/>
            <a:ext cx="4160520" cy="365760"/>
          </a:xfrm>
          <a:prstGeom prst="rect">
            <a:avLst/>
          </a:prstGeom>
          <a:noFill/>
        </p:spPr>
        <p:txBody>
          <a:bodyPr wrap="square" lIns="18288" rIns="18288" tIns="0" bIns="0">
            <a:spAutoFit/>
          </a:bodyPr>
          <a:lstStyle/>
          <a:p>
            <a:pPr>
              <a:spcAft>
                <a:spcPts val="800"/>
              </a:spcAft>
              <a:defRPr sz="2000" b="1">
                <a:solidFill>
                  <a:srgbClr val="000000"/>
                </a:solidFill>
                <a:latin typeface="Lato"/>
              </a:defRPr>
            </a:pPr>
            <a:r>
              <a:t>Demand-supply matrix</a:t>
            </a:r>
          </a:p>
        </p:txBody>
      </p:sp>
      <p:sp>
        <p:nvSpPr>
          <p:cNvPr id="11" name="TextBox 10"/>
          <p:cNvSpPr txBox="1"/>
          <p:nvPr/>
        </p:nvSpPr>
        <p:spPr>
          <a:xfrm>
            <a:off x="6949440" y="2240280"/>
            <a:ext cx="4160520" cy="365760"/>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Rows: demand  /  Columns: supply</a:t>
            </a:r>
          </a:p>
        </p:txBody>
      </p:sp>
      <p:graphicFrame>
        <p:nvGraphicFramePr>
          <p:cNvPr id="12" name="Table 11"/>
          <p:cNvGraphicFramePr>
            <a:graphicFrameLocks noGrp="1"/>
          </p:cNvGraphicFramePr>
          <p:nvPr/>
        </p:nvGraphicFramePr>
        <p:xfrm>
          <a:off x="6949440" y="2788920"/>
          <a:ext cx="4069080" cy="2148840"/>
        </p:xfrm>
        <a:graphic>
          <a:graphicData uri="http://schemas.openxmlformats.org/drawingml/2006/table">
            <a:tbl>
              <a:tblPr firstRow="1" bandRow="1">
                <a:tableStyleId>{2D5ABB26-0587-4C30-8999-92F81FD0307C}</a:tableStyleId>
              </a:tblPr>
              <a:tblGrid>
                <a:gridCol w="1325880"/>
                <a:gridCol w="914400"/>
                <a:gridCol w="914400"/>
                <a:gridCol w="914400"/>
              </a:tblGrid>
              <a:tr h="537210">
                <a:tc>
                  <a:txBody>
                    <a:bodyPr/>
                    <a:lstStyle/>
                    <a:p>
                      <a:pPr>
                        <a:defRPr sz="1600" b="1">
                          <a:solidFill>
                            <a:srgbClr val="000000"/>
                          </a:solidFill>
                          <a:latin typeface="Lato"/>
                        </a:defRPr>
                      </a:pPr>
                      <a:r>
                        <a:t>Demand / Supply</a:t>
                      </a:r>
                    </a:p>
                  </a:txBody>
                  <a:tcPr marL="146304" marR="146304" marT="54864" marB="54864" anchor="ctr">
                    <a:lnB w="4445" cap="flat">
                      <a:solidFill>
                        <a:srgbClr val="A0A0A0"/>
                      </a:solidFill>
                    </a:lnB>
                    <a:solidFill>
                      <a:srgbClr val="FFFFFF"/>
                    </a:solidFill>
                  </a:tcPr>
                </a:tc>
                <a:tc>
                  <a:txBody>
                    <a:bodyPr/>
                    <a:lstStyle/>
                    <a:p>
                      <a:pPr>
                        <a:defRPr sz="1600" b="1">
                          <a:solidFill>
                            <a:srgbClr val="000000"/>
                          </a:solidFill>
                          <a:latin typeface="Lato"/>
                        </a:defRPr>
                      </a:pPr>
                      <a:r>
                        <a:t>H</a:t>
                      </a:r>
                    </a:p>
                  </a:txBody>
                  <a:tcPr marL="146304" marR="146304" marT="54864" marB="54864" anchor="ctr">
                    <a:lnB w="4445" cap="flat">
                      <a:solidFill>
                        <a:srgbClr val="A0A0A0"/>
                      </a:solidFill>
                    </a:lnB>
                    <a:solidFill>
                      <a:srgbClr val="FFFFFF"/>
                    </a:solidFill>
                  </a:tcPr>
                </a:tc>
                <a:tc>
                  <a:txBody>
                    <a:bodyPr/>
                    <a:lstStyle/>
                    <a:p>
                      <a:pPr>
                        <a:defRPr sz="1600" b="1">
                          <a:solidFill>
                            <a:srgbClr val="000000"/>
                          </a:solidFill>
                          <a:latin typeface="Lato"/>
                        </a:defRPr>
                      </a:pPr>
                      <a:r>
                        <a:t>M</a:t>
                      </a:r>
                    </a:p>
                  </a:txBody>
                  <a:tcPr marL="146304" marR="146304" marT="54864" marB="54864" anchor="ctr">
                    <a:lnB w="4445" cap="flat">
                      <a:solidFill>
                        <a:srgbClr val="A0A0A0"/>
                      </a:solidFill>
                    </a:lnB>
                    <a:solidFill>
                      <a:srgbClr val="FFFFFF"/>
                    </a:solidFill>
                  </a:tcPr>
                </a:tc>
                <a:tc>
                  <a:txBody>
                    <a:bodyPr/>
                    <a:lstStyle/>
                    <a:p>
                      <a:pPr>
                        <a:defRPr sz="1600" b="1">
                          <a:solidFill>
                            <a:srgbClr val="000000"/>
                          </a:solidFill>
                          <a:latin typeface="Lato"/>
                        </a:defRPr>
                      </a:pPr>
                      <a:r>
                        <a:t>L</a:t>
                      </a:r>
                    </a:p>
                  </a:txBody>
                  <a:tcPr marL="146304" marR="146304" marT="54864" marB="54864" anchor="ctr">
                    <a:lnB w="4445" cap="flat">
                      <a:solidFill>
                        <a:srgbClr val="A0A0A0"/>
                      </a:solidFill>
                    </a:lnB>
                    <a:solidFill>
                      <a:srgbClr val="FFFFFF"/>
                    </a:solidFill>
                  </a:tcPr>
                </a:tc>
              </a:tr>
              <a:tr h="537210">
                <a:tc>
                  <a:txBody>
                    <a:bodyPr/>
                    <a:lstStyle/>
                    <a:p>
                      <a:pPr>
                        <a:defRPr sz="1600" b="0">
                          <a:solidFill>
                            <a:srgbClr val="000000"/>
                          </a:solidFill>
                          <a:latin typeface="Lato"/>
                        </a:defRPr>
                      </a:pPr>
                      <a:r>
                        <a:t>H</a:t>
                      </a:r>
                    </a:p>
                  </a:txBody>
                  <a:tcPr marL="146304" marR="146304" marT="54864" marB="54864" anchor="ctr">
                    <a:lnB w="3175" cap="flat">
                      <a:solidFill>
                        <a:srgbClr val="B8B8B8"/>
                      </a:solidFill>
                    </a:lnB>
                    <a:solidFill>
                      <a:srgbClr val="FFFFFF"/>
                    </a:solidFill>
                  </a:tcPr>
                </a:tc>
                <a:tc>
                  <a:txBody>
                    <a:bodyPr/>
                    <a:lstStyle/>
                    <a:p>
                      <a:pPr>
                        <a:defRPr sz="1600" b="0">
                          <a:solidFill>
                            <a:srgbClr val="000000"/>
                          </a:solidFill>
                          <a:latin typeface="Lato"/>
                        </a:defRPr>
                      </a:pPr>
                      <a:r>
                        <a:t>H/H</a:t>
                      </a:r>
                    </a:p>
                  </a:txBody>
                  <a:tcPr marL="146304" marR="146304" marT="54864" marB="54864" anchor="ctr">
                    <a:lnB w="3175" cap="flat">
                      <a:solidFill>
                        <a:srgbClr val="B8B8B8"/>
                      </a:solidFill>
                    </a:lnB>
                    <a:solidFill>
                      <a:srgbClr val="FFFFFF"/>
                    </a:solidFill>
                  </a:tcPr>
                </a:tc>
                <a:tc>
                  <a:txBody>
                    <a:bodyPr/>
                    <a:lstStyle/>
                    <a:p>
                      <a:pPr>
                        <a:defRPr sz="1600" b="0">
                          <a:solidFill>
                            <a:srgbClr val="000000"/>
                          </a:solidFill>
                          <a:latin typeface="Lato"/>
                        </a:defRPr>
                      </a:pPr>
                      <a:r>
                        <a:t>H/M</a:t>
                      </a:r>
                    </a:p>
                  </a:txBody>
                  <a:tcPr marL="146304" marR="146304" marT="54864" marB="54864" anchor="ctr">
                    <a:lnB w="3175" cap="flat">
                      <a:solidFill>
                        <a:srgbClr val="B8B8B8"/>
                      </a:solidFill>
                    </a:lnB>
                    <a:solidFill>
                      <a:srgbClr val="FFFFFF"/>
                    </a:solidFill>
                  </a:tcPr>
                </a:tc>
                <a:tc>
                  <a:txBody>
                    <a:bodyPr/>
                    <a:lstStyle/>
                    <a:p>
                      <a:pPr algn="ctr">
                        <a:spcAft>
                          <a:spcPts val="0"/>
                        </a:spcAft>
                        <a:defRPr sz="1500" b="1">
                          <a:solidFill>
                            <a:srgbClr val="000000"/>
                          </a:solidFill>
                          <a:latin typeface="Lato"/>
                        </a:defRPr>
                      </a:pPr>
                      <a:r>
                        <a:t>H/L</a:t>
                      </a:r>
                    </a:p>
                    <a:p>
                      <a:pPr algn="ctr">
                        <a:spcAft>
                          <a:spcPts val="0"/>
                        </a:spcAft>
                        <a:defRPr sz="1000" b="1">
                          <a:solidFill>
                            <a:srgbClr val="000000"/>
                          </a:solidFill>
                          <a:latin typeface="Lato"/>
                        </a:defRPr>
                      </a:pPr>
                      <a:r>
                        <a:t>Tight supply</a:t>
                      </a:r>
                    </a:p>
                  </a:txBody>
                  <a:tcPr marL="18288" marR="18288" marT="54864" marB="54864" anchor="ctr">
                    <a:lnB w="3175" cap="flat">
                      <a:solidFill>
                        <a:srgbClr val="B8B8B8"/>
                      </a:solidFill>
                    </a:lnB>
                    <a:solidFill>
                      <a:srgbClr val="EEEEEE"/>
                    </a:solidFill>
                  </a:tcPr>
                </a:tc>
              </a:tr>
              <a:tr h="537210">
                <a:tc>
                  <a:txBody>
                    <a:bodyPr/>
                    <a:lstStyle/>
                    <a:p>
                      <a:pPr>
                        <a:defRPr sz="1600" b="0">
                          <a:solidFill>
                            <a:srgbClr val="000000"/>
                          </a:solidFill>
                          <a:latin typeface="Lato"/>
                        </a:defRPr>
                      </a:pPr>
                      <a:r>
                        <a:t>M</a:t>
                      </a:r>
                    </a:p>
                  </a:txBody>
                  <a:tcPr marL="146304" marR="146304" marT="54864" marB="54864" anchor="ctr">
                    <a:lnB w="3175" cap="flat">
                      <a:solidFill>
                        <a:srgbClr val="B8B8B8"/>
                      </a:solidFill>
                    </a:lnB>
                    <a:solidFill>
                      <a:srgbClr val="FFFFFF"/>
                    </a:solidFill>
                  </a:tcPr>
                </a:tc>
                <a:tc>
                  <a:txBody>
                    <a:bodyPr/>
                    <a:lstStyle/>
                    <a:p>
                      <a:pPr>
                        <a:defRPr sz="1600" b="0">
                          <a:solidFill>
                            <a:srgbClr val="000000"/>
                          </a:solidFill>
                          <a:latin typeface="Lato"/>
                        </a:defRPr>
                      </a:pPr>
                      <a:r>
                        <a:t>M/H</a:t>
                      </a:r>
                    </a:p>
                  </a:txBody>
                  <a:tcPr marL="146304" marR="146304" marT="54864" marB="54864" anchor="ctr">
                    <a:lnB w="3175" cap="flat">
                      <a:solidFill>
                        <a:srgbClr val="B8B8B8"/>
                      </a:solidFill>
                    </a:lnB>
                    <a:solidFill>
                      <a:srgbClr val="FFFFFF"/>
                    </a:solidFill>
                  </a:tcPr>
                </a:tc>
                <a:tc>
                  <a:txBody>
                    <a:bodyPr/>
                    <a:lstStyle/>
                    <a:p>
                      <a:pPr algn="ctr">
                        <a:spcAft>
                          <a:spcPts val="0"/>
                        </a:spcAft>
                        <a:defRPr sz="1500" b="1">
                          <a:solidFill>
                            <a:srgbClr val="000000"/>
                          </a:solidFill>
                          <a:latin typeface="Lato"/>
                        </a:defRPr>
                      </a:pPr>
                      <a:r>
                        <a:t>M/M</a:t>
                      </a:r>
                    </a:p>
                    <a:p>
                      <a:pPr algn="ctr">
                        <a:spcAft>
                          <a:spcPts val="0"/>
                        </a:spcAft>
                        <a:defRPr sz="1000" b="1">
                          <a:solidFill>
                            <a:srgbClr val="000000"/>
                          </a:solidFill>
                          <a:latin typeface="Lato"/>
                        </a:defRPr>
                      </a:pPr>
                      <a:r>
                        <a:t>Baseline</a:t>
                      </a:r>
                    </a:p>
                  </a:txBody>
                  <a:tcPr marL="18288" marR="18288" marT="54864" marB="54864" anchor="ctr">
                    <a:lnB w="3175" cap="flat">
                      <a:solidFill>
                        <a:srgbClr val="B8B8B8"/>
                      </a:solidFill>
                    </a:lnB>
                    <a:solidFill>
                      <a:srgbClr val="EEEEEE"/>
                    </a:solidFill>
                  </a:tcPr>
                </a:tc>
                <a:tc>
                  <a:txBody>
                    <a:bodyPr/>
                    <a:lstStyle/>
                    <a:p>
                      <a:pPr>
                        <a:defRPr sz="1600" b="0">
                          <a:solidFill>
                            <a:srgbClr val="000000"/>
                          </a:solidFill>
                          <a:latin typeface="Lato"/>
                        </a:defRPr>
                      </a:pPr>
                      <a:r>
                        <a:t>M/L</a:t>
                      </a:r>
                    </a:p>
                  </a:txBody>
                  <a:tcPr marL="146304" marR="146304" marT="54864" marB="54864" anchor="ctr">
                    <a:lnB w="3175" cap="flat">
                      <a:solidFill>
                        <a:srgbClr val="B8B8B8"/>
                      </a:solidFill>
                    </a:lnB>
                    <a:solidFill>
                      <a:srgbClr val="FFFFFF"/>
                    </a:solidFill>
                  </a:tcPr>
                </a:tc>
              </a:tr>
              <a:tr h="537210">
                <a:tc>
                  <a:txBody>
                    <a:bodyPr/>
                    <a:lstStyle/>
                    <a:p>
                      <a:pPr>
                        <a:defRPr sz="1600" b="0">
                          <a:solidFill>
                            <a:srgbClr val="000000"/>
                          </a:solidFill>
                          <a:latin typeface="Lato"/>
                        </a:defRPr>
                      </a:pPr>
                      <a:r>
                        <a:t>L</a:t>
                      </a:r>
                    </a:p>
                  </a:txBody>
                  <a:tcPr marL="146304" marR="146304" marT="54864" marB="54864" anchor="ctr">
                    <a:lnB w="3175" cap="flat">
                      <a:solidFill>
                        <a:srgbClr val="B8B8B8"/>
                      </a:solidFill>
                    </a:lnB>
                    <a:solidFill>
                      <a:srgbClr val="FFFFFF"/>
                    </a:solidFill>
                  </a:tcPr>
                </a:tc>
                <a:tc>
                  <a:txBody>
                    <a:bodyPr/>
                    <a:lstStyle/>
                    <a:p>
                      <a:pPr algn="ctr">
                        <a:spcAft>
                          <a:spcPts val="0"/>
                        </a:spcAft>
                        <a:defRPr sz="1500" b="1">
                          <a:solidFill>
                            <a:srgbClr val="000000"/>
                          </a:solidFill>
                          <a:latin typeface="Lato"/>
                        </a:defRPr>
                      </a:pPr>
                      <a:r>
                        <a:t>L/H</a:t>
                      </a:r>
                    </a:p>
                    <a:p>
                      <a:pPr algn="ctr">
                        <a:spcAft>
                          <a:spcPts val="0"/>
                        </a:spcAft>
                        <a:defRPr sz="1000" b="1">
                          <a:solidFill>
                            <a:srgbClr val="000000"/>
                          </a:solidFill>
                          <a:latin typeface="Lato"/>
                        </a:defRPr>
                      </a:pPr>
                      <a:r>
                        <a:t>Ample supply</a:t>
                      </a:r>
                    </a:p>
                  </a:txBody>
                  <a:tcPr marL="18288" marR="18288" marT="54864" marB="54864" anchor="ctr">
                    <a:lnB w="3175" cap="flat">
                      <a:solidFill>
                        <a:srgbClr val="B8B8B8"/>
                      </a:solidFill>
                    </a:lnB>
                    <a:solidFill>
                      <a:srgbClr val="EEEEEE"/>
                    </a:solidFill>
                  </a:tcPr>
                </a:tc>
                <a:tc>
                  <a:txBody>
                    <a:bodyPr/>
                    <a:lstStyle/>
                    <a:p>
                      <a:pPr>
                        <a:defRPr sz="1600" b="0">
                          <a:solidFill>
                            <a:srgbClr val="000000"/>
                          </a:solidFill>
                          <a:latin typeface="Lato"/>
                        </a:defRPr>
                      </a:pPr>
                      <a:r>
                        <a:t>L/M</a:t>
                      </a:r>
                    </a:p>
                  </a:txBody>
                  <a:tcPr marL="146304" marR="146304" marT="54864" marB="54864" anchor="ctr">
                    <a:lnB w="3175" cap="flat">
                      <a:solidFill>
                        <a:srgbClr val="B8B8B8"/>
                      </a:solidFill>
                    </a:lnB>
                    <a:solidFill>
                      <a:srgbClr val="FFFFFF"/>
                    </a:solidFill>
                  </a:tcPr>
                </a:tc>
                <a:tc>
                  <a:txBody>
                    <a:bodyPr/>
                    <a:lstStyle/>
                    <a:p>
                      <a:pPr>
                        <a:defRPr sz="1600" b="0">
                          <a:solidFill>
                            <a:srgbClr val="000000"/>
                          </a:solidFill>
                          <a:latin typeface="Lato"/>
                        </a:defRPr>
                      </a:pPr>
                      <a:r>
                        <a:t>L/L</a:t>
                      </a:r>
                    </a:p>
                  </a:txBody>
                  <a:tcPr marL="146304" marR="146304" marT="54864" marB="54864" anchor="ctr">
                    <a:lnB w="3175" cap="flat">
                      <a:solidFill>
                        <a:srgbClr val="B8B8B8"/>
                      </a:solidFill>
                    </a:lnB>
                    <a:solidFill>
                      <a:srgbClr val="FFFFFF"/>
                    </a:solidFill>
                  </a:tcPr>
                </a:tc>
              </a:tr>
            </a:tbl>
          </a:graphicData>
        </a:graphic>
      </p:graphicFrame>
      <p:sp>
        <p:nvSpPr>
          <p:cNvPr id="13" name="TextBox 12"/>
          <p:cNvSpPr txBox="1"/>
          <p:nvPr/>
        </p:nvSpPr>
        <p:spPr>
          <a:xfrm>
            <a:off x="6949440" y="5486400"/>
            <a:ext cx="4114800" cy="256032"/>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H = High   M = Medium   L = Low</a:t>
            </a:r>
          </a:p>
        </p:txBody>
      </p:sp>
      <p:sp>
        <p:nvSpPr>
          <p:cNvPr id="14" name="TextBox 13"/>
          <p:cNvSpPr txBox="1"/>
          <p:nvPr/>
        </p:nvSpPr>
        <p:spPr>
          <a:xfrm>
            <a:off x="6949440" y="5779008"/>
            <a:ext cx="4114800" cy="228600"/>
          </a:xfrm>
          <a:prstGeom prst="rect">
            <a:avLst/>
          </a:prstGeom>
          <a:noFill/>
        </p:spPr>
        <p:txBody>
          <a:bodyPr wrap="square" lIns="18288" rIns="18288" tIns="0" bIns="0">
            <a:spAutoFit/>
          </a:bodyPr>
          <a:lstStyle/>
          <a:p>
            <a:pPr>
              <a:spcAft>
                <a:spcPts val="800"/>
              </a:spcAft>
              <a:defRPr sz="1150" b="0">
                <a:solidFill>
                  <a:srgbClr val="000000"/>
                </a:solidFill>
                <a:latin typeface="Lato"/>
              </a:defRPr>
            </a:pPr>
            <a:r>
              <a:t>Supply: domestic production + available imports</a:t>
            </a:r>
          </a:p>
        </p:txBody>
      </p:sp>
      <p:sp>
        <p:nvSpPr>
          <p:cNvPr id="15" name="TextBox 14"/>
          <p:cNvSpPr txBox="1"/>
          <p:nvPr/>
        </p:nvSpPr>
        <p:spPr>
          <a:xfrm>
            <a:off x="502920" y="6053328"/>
            <a:ext cx="10424160" cy="365760"/>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*Regional screening uses high-level data. Detailed country modelling follows agreed priorities and data availability; depth varies by market.</a:t>
            </a:r>
          </a:p>
        </p:txBody>
      </p:sp>
      <p:sp>
        <p:nvSpPr>
          <p:cNvPr id="16" name="TextBox 15"/>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Agreed geographic priorities and H/M/L scenario framework; AIA proposal, pp. 8-12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Trace how the major assumptions change petrol, diesel and jet demand</a:t>
            </a:r>
          </a:p>
        </p:txBody>
      </p:sp>
      <p:sp>
        <p:nvSpPr>
          <p:cNvPr id="3" name="Slide Number Placeholder"/>
          <p:cNvSpPr>
            <a:spLocks noGrp="1"/>
          </p:cNvSpPr>
          <p:nvPr>
            <p:ph type="sldNum" sz="quarter" idx="12"/>
          </p:nvPr>
        </p:nvSpPr>
        <p:spPr/>
        <p:txBody>
          <a:bodyPr/>
          <a:lstStyle/>
          <a:p>
            <a:fld id="{1164F131-A50B-4494-B76D-F50620E10CCC}"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502920" y="1627632"/>
            <a:ext cx="10469880" cy="320040"/>
          </a:xfrm>
          <a:prstGeom prst="rect">
            <a:avLst/>
          </a:prstGeom>
          <a:noFill/>
        </p:spPr>
        <p:txBody>
          <a:bodyPr wrap="square" lIns="18288" rIns="18288" tIns="0" bIns="0">
            <a:spAutoFit/>
          </a:bodyPr>
          <a:lstStyle/>
          <a:p>
            <a:pPr>
              <a:spcAft>
                <a:spcPts val="800"/>
              </a:spcAft>
              <a:defRPr sz="1500" b="0">
                <a:solidFill>
                  <a:srgbClr val="000000"/>
                </a:solidFill>
                <a:latin typeface="Lato"/>
              </a:defRPr>
            </a:pPr>
            <a:r>
              <a:t>South Africa | selected 2030 drivers + 2024 sector anchors; full inventory separate; M unset</a:t>
            </a:r>
          </a:p>
        </p:txBody>
      </p:sp>
      <p:graphicFrame>
        <p:nvGraphicFramePr>
          <p:cNvPr id="9" name="Table 8"/>
          <p:cNvGraphicFramePr>
            <a:graphicFrameLocks noGrp="1"/>
          </p:cNvGraphicFramePr>
          <p:nvPr/>
        </p:nvGraphicFramePr>
        <p:xfrm>
          <a:off x="457200" y="1965960"/>
          <a:ext cx="10652760" cy="2606040"/>
        </p:xfrm>
        <a:graphic>
          <a:graphicData uri="http://schemas.openxmlformats.org/drawingml/2006/table">
            <a:tbl>
              <a:tblPr firstRow="1" bandRow="1">
                <a:tableStyleId>{2D5ABB26-0587-4C30-8999-92F81FD0307C}</a:tableStyleId>
              </a:tblPr>
              <a:tblGrid>
                <a:gridCol w="2834640"/>
                <a:gridCol w="1508760"/>
                <a:gridCol w="1234440"/>
                <a:gridCol w="1508760"/>
                <a:gridCol w="3566160"/>
              </a:tblGrid>
              <a:tr h="325755">
                <a:tc>
                  <a:txBody>
                    <a:bodyPr/>
                    <a:lstStyle/>
                    <a:p>
                      <a:pPr>
                        <a:defRPr sz="1300" b="1">
                          <a:solidFill>
                            <a:srgbClr val="000000"/>
                          </a:solidFill>
                          <a:latin typeface="Lato"/>
                        </a:defRPr>
                      </a:pPr>
                      <a:r>
                        <a:t>Demand driver</a:t>
                      </a:r>
                    </a:p>
                  </a:txBody>
                  <a:tcPr marL="146304" marR="146304" marT="54864" marB="54864" anchor="ctr">
                    <a:lnB w="4445" cap="flat">
                      <a:solidFill>
                        <a:srgbClr val="A0A0A0"/>
                      </a:solidFill>
                    </a:lnB>
                    <a:solidFill>
                      <a:srgbClr val="FFFFFF"/>
                    </a:solidFill>
                  </a:tcPr>
                </a:tc>
                <a:tc>
                  <a:txBody>
                    <a:bodyPr/>
                    <a:lstStyle/>
                    <a:p>
                      <a:pPr>
                        <a:defRPr sz="1300" b="1">
                          <a:solidFill>
                            <a:srgbClr val="000000"/>
                          </a:solidFill>
                          <a:latin typeface="Lato"/>
                        </a:defRPr>
                      </a:pPr>
                      <a:r>
                        <a:t>H demand</a:t>
                      </a:r>
                    </a:p>
                  </a:txBody>
                  <a:tcPr marL="146304" marR="146304" marT="54864" marB="54864" anchor="ctr">
                    <a:lnB w="4445" cap="flat">
                      <a:solidFill>
                        <a:srgbClr val="A0A0A0"/>
                      </a:solidFill>
                    </a:lnB>
                    <a:solidFill>
                      <a:srgbClr val="FFFFFF"/>
                    </a:solidFill>
                  </a:tcPr>
                </a:tc>
                <a:tc>
                  <a:txBody>
                    <a:bodyPr/>
                    <a:lstStyle/>
                    <a:p>
                      <a:pPr>
                        <a:defRPr sz="1300" b="1">
                          <a:solidFill>
                            <a:srgbClr val="000000"/>
                          </a:solidFill>
                          <a:latin typeface="Lato"/>
                        </a:defRPr>
                      </a:pPr>
                      <a:r>
                        <a:t>M demand</a:t>
                      </a:r>
                    </a:p>
                  </a:txBody>
                  <a:tcPr marL="146304" marR="146304" marT="54864" marB="54864" anchor="ctr">
                    <a:lnB w="4445" cap="flat">
                      <a:solidFill>
                        <a:srgbClr val="A0A0A0"/>
                      </a:solidFill>
                    </a:lnB>
                    <a:solidFill>
                      <a:srgbClr val="FFFFFF"/>
                    </a:solidFill>
                  </a:tcPr>
                </a:tc>
                <a:tc>
                  <a:txBody>
                    <a:bodyPr/>
                    <a:lstStyle/>
                    <a:p>
                      <a:pPr>
                        <a:defRPr sz="1300" b="1">
                          <a:solidFill>
                            <a:srgbClr val="000000"/>
                          </a:solidFill>
                          <a:latin typeface="Lato"/>
                        </a:defRPr>
                      </a:pPr>
                      <a:r>
                        <a:t>L demand</a:t>
                      </a:r>
                    </a:p>
                  </a:txBody>
                  <a:tcPr marL="146304" marR="146304" marT="54864" marB="54864" anchor="ctr">
                    <a:lnB w="4445" cap="flat">
                      <a:solidFill>
                        <a:srgbClr val="A0A0A0"/>
                      </a:solidFill>
                    </a:lnB>
                    <a:solidFill>
                      <a:srgbClr val="FFFFFF"/>
                    </a:solidFill>
                  </a:tcPr>
                </a:tc>
                <a:tc>
                  <a:txBody>
                    <a:bodyPr/>
                    <a:lstStyle/>
                    <a:p>
                      <a:pPr>
                        <a:defRPr sz="1300" b="1">
                          <a:solidFill>
                            <a:srgbClr val="000000"/>
                          </a:solidFill>
                          <a:latin typeface="Lato"/>
                        </a:defRPr>
                      </a:pPr>
                      <a:r>
                        <a:t>Fuel affected / mechanism</a:t>
                      </a:r>
                    </a:p>
                  </a:txBody>
                  <a:tcPr marL="146304" marR="146304" marT="54864" marB="54864" anchor="ctr">
                    <a:lnB w="4445" cap="flat">
                      <a:solidFill>
                        <a:srgbClr val="A0A0A0"/>
                      </a:solidFill>
                    </a:lnB>
                    <a:solidFill>
                      <a:srgbClr val="FFFFFF"/>
                    </a:solidFill>
                  </a:tcPr>
                </a:tc>
              </a:tr>
              <a:tr h="325755">
                <a:tc>
                  <a:txBody>
                    <a:bodyPr/>
                    <a:lstStyle/>
                    <a:p>
                      <a:pPr>
                        <a:defRPr sz="1300" b="0">
                          <a:solidFill>
                            <a:srgbClr val="000000"/>
                          </a:solidFill>
                          <a:latin typeface="Lato"/>
                        </a:defRPr>
                      </a:pPr>
                      <a:r>
                        <a:t>GDP per capita, 2015 ZAR</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78,347</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Unset</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76,061</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Petrol, diesel, jet / GDP links</a:t>
                      </a:r>
                    </a:p>
                  </a:txBody>
                  <a:tcPr marL="146304" marR="146304" marT="54864" marB="54864" anchor="ctr">
                    <a:lnB w="3175" cap="flat">
                      <a:solidFill>
                        <a:srgbClr val="B8B8B8"/>
                      </a:solidFill>
                    </a:lnB>
                    <a:solidFill>
                      <a:srgbClr val="FFFFFF"/>
                    </a:solidFill>
                  </a:tcPr>
                </a:tc>
              </a:tr>
              <a:tr h="325755">
                <a:tc>
                  <a:txBody>
                    <a:bodyPr/>
                    <a:lstStyle/>
                    <a:p>
                      <a:pPr>
                        <a:defRPr sz="1300" b="0">
                          <a:solidFill>
                            <a:srgbClr val="000000"/>
                          </a:solidFill>
                          <a:latin typeface="Lato"/>
                        </a:defRPr>
                      </a:pPr>
                      <a:r>
                        <a:t>EV share of new vehicles</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1.03%</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Unset</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4.27%</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Petrol, diesel / ICE additions</a:t>
                      </a:r>
                    </a:p>
                  </a:txBody>
                  <a:tcPr marL="146304" marR="146304" marT="54864" marB="54864" anchor="ctr">
                    <a:lnB w="3175" cap="flat">
                      <a:solidFill>
                        <a:srgbClr val="B8B8B8"/>
                      </a:solidFill>
                    </a:lnB>
                    <a:solidFill>
                      <a:srgbClr val="FFFFFF"/>
                    </a:solidFill>
                  </a:tcPr>
                </a:tc>
              </a:tr>
              <a:tr h="325755">
                <a:tc>
                  <a:txBody>
                    <a:bodyPr/>
                    <a:lstStyle/>
                    <a:p>
                      <a:pPr>
                        <a:defRPr sz="1300" b="0">
                          <a:solidFill>
                            <a:srgbClr val="000000"/>
                          </a:solidFill>
                          <a:latin typeface="Lato"/>
                        </a:defRPr>
                      </a:pPr>
                      <a:r>
                        <a:t>Efficiency gain: petrol / diesel</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1.0% / 0.5%</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Unset</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1.5% / 1.0%</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Petrol, diesel / new cohorts</a:t>
                      </a:r>
                    </a:p>
                  </a:txBody>
                  <a:tcPr marL="146304" marR="146304" marT="54864" marB="54864" anchor="ctr">
                    <a:lnB w="3175" cap="flat">
                      <a:solidFill>
                        <a:srgbClr val="B8B8B8"/>
                      </a:solidFill>
                    </a:lnB>
                    <a:solidFill>
                      <a:srgbClr val="FFFFFF"/>
                    </a:solidFill>
                  </a:tcPr>
                </a:tc>
              </a:tr>
              <a:tr h="325755">
                <a:tc>
                  <a:txBody>
                    <a:bodyPr/>
                    <a:lstStyle/>
                    <a:p>
                      <a:pPr>
                        <a:defRPr sz="1300" b="0">
                          <a:solidFill>
                            <a:srgbClr val="000000"/>
                          </a:solidFill>
                          <a:latin typeface="Lato"/>
                        </a:defRPr>
                      </a:pPr>
                      <a:r>
                        <a:t>Departing passengers, million</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27.06</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Unset</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27.06</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Jet / shared passenger path</a:t>
                      </a:r>
                    </a:p>
                  </a:txBody>
                  <a:tcPr marL="146304" marR="146304" marT="54864" marB="54864" anchor="ctr">
                    <a:lnB w="3175" cap="flat">
                      <a:solidFill>
                        <a:srgbClr val="B8B8B8"/>
                      </a:solidFill>
                    </a:lnB>
                    <a:solidFill>
                      <a:srgbClr val="FFFFFF"/>
                    </a:solidFill>
                  </a:tcPr>
                </a:tc>
              </a:tr>
              <a:tr h="325755">
                <a:tc>
                  <a:txBody>
                    <a:bodyPr/>
                    <a:lstStyle/>
                    <a:p>
                      <a:pPr>
                        <a:defRPr sz="1300" b="0">
                          <a:solidFill>
                            <a:srgbClr val="000000"/>
                          </a:solidFill>
                          <a:latin typeface="Lato"/>
                        </a:defRPr>
                      </a:pPr>
                      <a:r>
                        <a:t>OCGT load factor</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70.0%</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Unset</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16.0%</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Diesel / power generation</a:t>
                      </a:r>
                    </a:p>
                  </a:txBody>
                  <a:tcPr marL="146304" marR="146304" marT="54864" marB="54864" anchor="ctr">
                    <a:lnB w="3175" cap="flat">
                      <a:solidFill>
                        <a:srgbClr val="B8B8B8"/>
                      </a:solidFill>
                    </a:lnB>
                    <a:solidFill>
                      <a:srgbClr val="FFFFFF"/>
                    </a:solidFill>
                  </a:tcPr>
                </a:tc>
              </a:tr>
              <a:tr h="325755">
                <a:tc>
                  <a:txBody>
                    <a:bodyPr/>
                    <a:lstStyle/>
                    <a:p>
                      <a:pPr>
                        <a:defRPr sz="1300" b="0">
                          <a:solidFill>
                            <a:srgbClr val="000000"/>
                          </a:solidFill>
                          <a:latin typeface="Lato"/>
                        </a:defRPr>
                      </a:pPr>
                      <a:r>
                        <a:t>Industry: 2024 anchor</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2.50 bn L</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Unset</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2.50 bn L</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Diesel / GDP elasticity 1</a:t>
                      </a:r>
                    </a:p>
                  </a:txBody>
                  <a:tcPr marL="146304" marR="146304" marT="54864" marB="54864" anchor="ctr">
                    <a:lnB w="3175" cap="flat">
                      <a:solidFill>
                        <a:srgbClr val="B8B8B8"/>
                      </a:solidFill>
                    </a:lnB>
                    <a:solidFill>
                      <a:srgbClr val="FFFFFF"/>
                    </a:solidFill>
                  </a:tcPr>
                </a:tc>
              </a:tr>
              <a:tr h="325755">
                <a:tc>
                  <a:txBody>
                    <a:bodyPr/>
                    <a:lstStyle/>
                    <a:p>
                      <a:pPr>
                        <a:defRPr sz="1300" b="0">
                          <a:solidFill>
                            <a:srgbClr val="000000"/>
                          </a:solidFill>
                          <a:latin typeface="Lato"/>
                        </a:defRPr>
                      </a:pPr>
                      <a:r>
                        <a:t>Agriculture: 2024 anchor</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0.70 bn L</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Unset</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0.70 bn L</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Diesel / GDP elasticity 0.2</a:t>
                      </a:r>
                    </a:p>
                  </a:txBody>
                  <a:tcPr marL="146304" marR="146304" marT="54864" marB="54864" anchor="ctr">
                    <a:lnB w="3175" cap="flat">
                      <a:solidFill>
                        <a:srgbClr val="B8B8B8"/>
                      </a:solidFill>
                    </a:lnB>
                    <a:solidFill>
                      <a:srgbClr val="FFFFFF"/>
                    </a:solidFill>
                  </a:tcPr>
                </a:tc>
              </a:tr>
            </a:tbl>
          </a:graphicData>
        </a:graphic>
      </p:graphicFrame>
      <p:sp>
        <p:nvSpPr>
          <p:cNvPr id="10" name="TextBox 9"/>
          <p:cNvSpPr txBox="1"/>
          <p:nvPr/>
        </p:nvSpPr>
        <p:spPr>
          <a:xfrm>
            <a:off x="502920" y="4663440"/>
            <a:ext cx="10469880" cy="274320"/>
          </a:xfrm>
          <a:prstGeom prst="rect">
            <a:avLst/>
          </a:prstGeom>
          <a:noFill/>
        </p:spPr>
        <p:txBody>
          <a:bodyPr wrap="square" lIns="18288" rIns="18288" tIns="0" bIns="0">
            <a:spAutoFit/>
          </a:bodyPr>
          <a:lstStyle/>
          <a:p>
            <a:pPr>
              <a:spcAft>
                <a:spcPts val="800"/>
              </a:spcAft>
              <a:defRPr sz="1600" b="1">
                <a:solidFill>
                  <a:srgbClr val="000000"/>
                </a:solidFill>
                <a:latin typeface="Lato"/>
              </a:defRPr>
            </a:pPr>
            <a:r>
              <a:t>Resulting demand, billion litres in 2030 (provisional)</a:t>
            </a:r>
          </a:p>
        </p:txBody>
      </p:sp>
      <p:graphicFrame>
        <p:nvGraphicFramePr>
          <p:cNvPr id="11" name="Table 10"/>
          <p:cNvGraphicFramePr>
            <a:graphicFrameLocks noGrp="1"/>
          </p:cNvGraphicFramePr>
          <p:nvPr/>
        </p:nvGraphicFramePr>
        <p:xfrm>
          <a:off x="457200" y="5029200"/>
          <a:ext cx="10652760" cy="914400"/>
        </p:xfrm>
        <a:graphic>
          <a:graphicData uri="http://schemas.openxmlformats.org/drawingml/2006/table">
            <a:tbl>
              <a:tblPr firstRow="1" bandRow="1">
                <a:tableStyleId>{2D5ABB26-0587-4C30-8999-92F81FD0307C}</a:tableStyleId>
              </a:tblPr>
              <a:tblGrid>
                <a:gridCol w="2834640"/>
                <a:gridCol w="1508760"/>
                <a:gridCol w="1234440"/>
                <a:gridCol w="1508760"/>
                <a:gridCol w="3566160"/>
              </a:tblGrid>
              <a:tr h="228600">
                <a:tc>
                  <a:txBody>
                    <a:bodyPr/>
                    <a:lstStyle/>
                    <a:p>
                      <a:pPr>
                        <a:defRPr sz="1200" b="1">
                          <a:solidFill>
                            <a:srgbClr val="000000"/>
                          </a:solidFill>
                          <a:latin typeface="Lato"/>
                        </a:defRPr>
                      </a:pPr>
                      <a:r>
                        <a:t>Output</a:t>
                      </a:r>
                    </a:p>
                  </a:txBody>
                  <a:tcPr marL="146304" marR="146304" marT="13716" marB="13716" anchor="ctr">
                    <a:lnB w="4445" cap="flat">
                      <a:solidFill>
                        <a:srgbClr val="A0A0A0"/>
                      </a:solidFill>
                    </a:lnB>
                    <a:solidFill>
                      <a:srgbClr val="FFFFFF"/>
                    </a:solidFill>
                  </a:tcPr>
                </a:tc>
                <a:tc>
                  <a:txBody>
                    <a:bodyPr/>
                    <a:lstStyle/>
                    <a:p>
                      <a:pPr>
                        <a:defRPr sz="1200" b="1">
                          <a:solidFill>
                            <a:srgbClr val="000000"/>
                          </a:solidFill>
                          <a:latin typeface="Lato"/>
                        </a:defRPr>
                      </a:pPr>
                      <a:r>
                        <a:t>H demand</a:t>
                      </a:r>
                    </a:p>
                  </a:txBody>
                  <a:tcPr marL="146304" marR="146304" marT="13716" marB="13716" anchor="ctr">
                    <a:lnB w="4445" cap="flat">
                      <a:solidFill>
                        <a:srgbClr val="A0A0A0"/>
                      </a:solidFill>
                    </a:lnB>
                    <a:solidFill>
                      <a:srgbClr val="FFFFFF"/>
                    </a:solidFill>
                  </a:tcPr>
                </a:tc>
                <a:tc>
                  <a:txBody>
                    <a:bodyPr/>
                    <a:lstStyle/>
                    <a:p>
                      <a:pPr>
                        <a:defRPr sz="1200" b="1">
                          <a:solidFill>
                            <a:srgbClr val="000000"/>
                          </a:solidFill>
                          <a:latin typeface="Lato"/>
                        </a:defRPr>
                      </a:pPr>
                      <a:r>
                        <a:t>M demand</a:t>
                      </a:r>
                    </a:p>
                  </a:txBody>
                  <a:tcPr marL="146304" marR="146304" marT="13716" marB="13716" anchor="ctr">
                    <a:lnB w="4445" cap="flat">
                      <a:solidFill>
                        <a:srgbClr val="A0A0A0"/>
                      </a:solidFill>
                    </a:lnB>
                    <a:solidFill>
                      <a:srgbClr val="FFFFFF"/>
                    </a:solidFill>
                  </a:tcPr>
                </a:tc>
                <a:tc>
                  <a:txBody>
                    <a:bodyPr/>
                    <a:lstStyle/>
                    <a:p>
                      <a:pPr>
                        <a:defRPr sz="1200" b="1">
                          <a:solidFill>
                            <a:srgbClr val="000000"/>
                          </a:solidFill>
                          <a:latin typeface="Lato"/>
                        </a:defRPr>
                      </a:pPr>
                      <a:r>
                        <a:t>L demand</a:t>
                      </a:r>
                    </a:p>
                  </a:txBody>
                  <a:tcPr marL="146304" marR="146304" marT="13716" marB="13716" anchor="ctr">
                    <a:lnB w="4445" cap="flat">
                      <a:solidFill>
                        <a:srgbClr val="A0A0A0"/>
                      </a:solidFill>
                    </a:lnB>
                    <a:solidFill>
                      <a:srgbClr val="FFFFFF"/>
                    </a:solidFill>
                  </a:tcPr>
                </a:tc>
                <a:tc>
                  <a:txBody>
                    <a:bodyPr/>
                    <a:lstStyle/>
                    <a:p>
                      <a:pPr>
                        <a:defRPr sz="1200" b="1">
                          <a:solidFill>
                            <a:srgbClr val="000000"/>
                          </a:solidFill>
                          <a:latin typeface="Lato"/>
                        </a:defRPr>
                      </a:pPr>
                      <a:r>
                        <a:t>Coverage</a:t>
                      </a:r>
                    </a:p>
                  </a:txBody>
                  <a:tcPr marL="146304" marR="146304" marT="13716" marB="13716" anchor="ctr">
                    <a:lnB w="4445" cap="flat">
                      <a:solidFill>
                        <a:srgbClr val="A0A0A0"/>
                      </a:solidFill>
                    </a:lnB>
                    <a:solidFill>
                      <a:srgbClr val="FFFFFF"/>
                    </a:solidFill>
                  </a:tcPr>
                </a:tc>
              </a:tr>
              <a:tr h="228600">
                <a:tc>
                  <a:txBody>
                    <a:bodyPr/>
                    <a:lstStyle/>
                    <a:p>
                      <a:pPr>
                        <a:defRPr sz="1200" b="0">
                          <a:solidFill>
                            <a:srgbClr val="000000"/>
                          </a:solidFill>
                          <a:latin typeface="Lato"/>
                        </a:defRPr>
                      </a:pPr>
                      <a:r>
                        <a:t>Petrol</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8.95</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Unset</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8.53</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Petrol 95</a:t>
                      </a:r>
                    </a:p>
                  </a:txBody>
                  <a:tcPr marL="146304" marR="146304" marT="13716" marB="13716" anchor="ctr">
                    <a:lnB w="3175" cap="flat">
                      <a:solidFill>
                        <a:srgbClr val="B8B8B8"/>
                      </a:solidFill>
                    </a:lnB>
                    <a:solidFill>
                      <a:srgbClr val="FFFFFF"/>
                    </a:solidFill>
                  </a:tcPr>
                </a:tc>
              </a:tr>
              <a:tr h="228600">
                <a:tc>
                  <a:txBody>
                    <a:bodyPr/>
                    <a:lstStyle/>
                    <a:p>
                      <a:pPr>
                        <a:defRPr sz="1200" b="0">
                          <a:solidFill>
                            <a:srgbClr val="000000"/>
                          </a:solidFill>
                          <a:latin typeface="Lato"/>
                        </a:defRPr>
                      </a:pPr>
                      <a:r>
                        <a:t>Diesel</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17.30</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Unset</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13.17</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50 ppm; marine 500 ppm excluded</a:t>
                      </a:r>
                    </a:p>
                  </a:txBody>
                  <a:tcPr marL="146304" marR="146304" marT="13716" marB="13716" anchor="ctr">
                    <a:lnB w="3175" cap="flat">
                      <a:solidFill>
                        <a:srgbClr val="B8B8B8"/>
                      </a:solidFill>
                    </a:lnB>
                    <a:solidFill>
                      <a:srgbClr val="FFFFFF"/>
                    </a:solidFill>
                  </a:tcPr>
                </a:tc>
              </a:tr>
              <a:tr h="228600">
                <a:tc>
                  <a:txBody>
                    <a:bodyPr/>
                    <a:lstStyle/>
                    <a:p>
                      <a:pPr>
                        <a:defRPr sz="1200" b="0">
                          <a:solidFill>
                            <a:srgbClr val="000000"/>
                          </a:solidFill>
                          <a:latin typeface="Lato"/>
                        </a:defRPr>
                      </a:pPr>
                      <a:r>
                        <a:t>Jet</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2.79</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Unset</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2.35</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Jet A1</a:t>
                      </a:r>
                    </a:p>
                  </a:txBody>
                  <a:tcPr marL="146304" marR="146304" marT="13716" marB="13716" anchor="ctr">
                    <a:lnB w="3175" cap="flat">
                      <a:solidFill>
                        <a:srgbClr val="B8B8B8"/>
                      </a:solidFill>
                    </a:lnB>
                    <a:solidFill>
                      <a:srgbClr val="FFFFFF"/>
                    </a:solidFill>
                  </a:tcPr>
                </a:tc>
              </a:tr>
            </a:tbl>
          </a:graphicData>
        </a:graphic>
      </p:graphicFrame>
      <p:sp>
        <p:nvSpPr>
          <p:cNvPr id="12" name="TextBox 11"/>
          <p:cNvSpPr txBox="1"/>
          <p:nvPr/>
        </p:nvSpPr>
        <p:spPr>
          <a:xfrm>
            <a:off x="502920" y="6080760"/>
            <a:ext cx="10469880" cy="32004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Industry/agriculture anchors are provisional shared inputs, not 2030 forecasts. Annual km: 17k / 28k / 70k (car / LCV / HCV).</a:t>
            </a:r>
          </a:p>
        </p:txBody>
      </p:sp>
      <p:sp>
        <p:nvSpPr>
          <p:cNvPr id="13" name="TextBox 12"/>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assumptions/2026; resolved high_demand / low_demand inputs; existing demand engine, 2030 snapshot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Identify the demand inputs to validate and the evidence still missing</a:t>
            </a:r>
          </a:p>
        </p:txBody>
      </p:sp>
      <p:sp>
        <p:nvSpPr>
          <p:cNvPr id="3" name="Slide Number Placeholder"/>
          <p:cNvSpPr>
            <a:spLocks noGrp="1"/>
          </p:cNvSpPr>
          <p:nvPr>
            <p:ph type="sldNum" sz="quarter" idx="12"/>
          </p:nvPr>
        </p:nvSpPr>
        <p:spPr/>
        <p:txBody>
          <a:bodyPr/>
          <a:lstStyle/>
          <a:p>
            <a:fld id="{684AFC85-1210-4C49-ACAC-BC3C686A703B}"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502920" y="1645920"/>
            <a:ext cx="10515600" cy="320040"/>
          </a:xfrm>
          <a:prstGeom prst="rect">
            <a:avLst/>
          </a:prstGeom>
          <a:noFill/>
        </p:spPr>
        <p:txBody>
          <a:bodyPr wrap="square" lIns="18288" rIns="18288" tIns="0" bIns="0">
            <a:spAutoFit/>
          </a:bodyPr>
          <a:lstStyle/>
          <a:p>
            <a:pPr>
              <a:spcAft>
                <a:spcPts val="800"/>
              </a:spcAft>
              <a:defRPr sz="1500" b="0">
                <a:solidFill>
                  <a:srgbClr val="000000"/>
                </a:solidFill>
                <a:latin typeface="Lato"/>
              </a:defRPr>
            </a:pPr>
            <a:r>
              <a:t>Active vintage: 2026 draft | module-level inventory; full declarations remain in the input register</a:t>
            </a:r>
          </a:p>
        </p:txBody>
      </p:sp>
      <p:graphicFrame>
        <p:nvGraphicFramePr>
          <p:cNvPr id="9" name="Table 8"/>
          <p:cNvGraphicFramePr>
            <a:graphicFrameLocks noGrp="1"/>
          </p:cNvGraphicFramePr>
          <p:nvPr/>
        </p:nvGraphicFramePr>
        <p:xfrm>
          <a:off x="457200" y="1938528"/>
          <a:ext cx="10652760" cy="3822191"/>
        </p:xfrm>
        <a:graphic>
          <a:graphicData uri="http://schemas.openxmlformats.org/drawingml/2006/table">
            <a:tbl>
              <a:tblPr firstRow="1" bandRow="1">
                <a:tableStyleId>{2D5ABB26-0587-4C30-8999-92F81FD0307C}</a:tableStyleId>
              </a:tblPr>
              <a:tblGrid>
                <a:gridCol w="1508760"/>
                <a:gridCol w="3703320"/>
                <a:gridCol w="1920240"/>
                <a:gridCol w="3520440"/>
              </a:tblGrid>
              <a:tr h="546027">
                <a:tc>
                  <a:txBody>
                    <a:bodyPr/>
                    <a:lstStyle/>
                    <a:p>
                      <a:pPr>
                        <a:lnSpc>
                          <a:spcPct val="100000"/>
                        </a:lnSpc>
                        <a:spcAft>
                          <a:spcPts val="0"/>
                        </a:spcAft>
                        <a:defRPr sz="1100" b="1">
                          <a:solidFill>
                            <a:srgbClr val="000000"/>
                          </a:solidFill>
                          <a:latin typeface="Lato"/>
                        </a:defRPr>
                      </a:pPr>
                      <a:r>
                        <a:t>Module / fuel</a:t>
                      </a:r>
                    </a:p>
                  </a:txBody>
                  <a:tcPr marL="146304" marR="146304" marT="22860" marB="22860" anchor="ctr">
                    <a:lnB w="4445" cap="flat">
                      <a:solidFill>
                        <a:srgbClr val="A0A0A0"/>
                      </a:solidFill>
                    </a:lnB>
                    <a:solidFill>
                      <a:srgbClr val="FFFFFF"/>
                    </a:solidFill>
                  </a:tcPr>
                </a:tc>
                <a:tc>
                  <a:txBody>
                    <a:bodyPr/>
                    <a:lstStyle/>
                    <a:p>
                      <a:pPr>
                        <a:lnSpc>
                          <a:spcPct val="100000"/>
                        </a:lnSpc>
                        <a:spcAft>
                          <a:spcPts val="0"/>
                        </a:spcAft>
                        <a:defRPr sz="1100" b="1">
                          <a:solidFill>
                            <a:srgbClr val="000000"/>
                          </a:solidFill>
                          <a:latin typeface="Lato"/>
                        </a:defRPr>
                      </a:pPr>
                      <a:r>
                        <a:t>Assumptions used</a:t>
                      </a:r>
                    </a:p>
                  </a:txBody>
                  <a:tcPr marL="146304" marR="146304" marT="22860" marB="22860" anchor="ctr">
                    <a:lnB w="4445" cap="flat">
                      <a:solidFill>
                        <a:srgbClr val="A0A0A0"/>
                      </a:solidFill>
                    </a:lnB>
                    <a:solidFill>
                      <a:srgbClr val="FFFFFF"/>
                    </a:solidFill>
                  </a:tcPr>
                </a:tc>
                <a:tc>
                  <a:txBody>
                    <a:bodyPr/>
                    <a:lstStyle/>
                    <a:p>
                      <a:pPr>
                        <a:lnSpc>
                          <a:spcPct val="100000"/>
                        </a:lnSpc>
                        <a:spcAft>
                          <a:spcPts val="0"/>
                        </a:spcAft>
                        <a:defRPr sz="1100" b="1">
                          <a:solidFill>
                            <a:srgbClr val="000000"/>
                          </a:solidFill>
                          <a:latin typeface="Lato"/>
                        </a:defRPr>
                      </a:pPr>
                      <a:r>
                        <a:t>H/L treatment</a:t>
                      </a:r>
                    </a:p>
                  </a:txBody>
                  <a:tcPr marL="146304" marR="146304" marT="22860" marB="22860" anchor="ctr">
                    <a:lnB w="4445" cap="flat">
                      <a:solidFill>
                        <a:srgbClr val="A0A0A0"/>
                      </a:solidFill>
                    </a:lnB>
                    <a:solidFill>
                      <a:srgbClr val="FFFFFF"/>
                    </a:solidFill>
                  </a:tcPr>
                </a:tc>
                <a:tc>
                  <a:txBody>
                    <a:bodyPr/>
                    <a:lstStyle/>
                    <a:p>
                      <a:pPr>
                        <a:lnSpc>
                          <a:spcPct val="100000"/>
                        </a:lnSpc>
                        <a:spcAft>
                          <a:spcPts val="0"/>
                        </a:spcAft>
                        <a:defRPr sz="1100" b="1">
                          <a:solidFill>
                            <a:srgbClr val="000000"/>
                          </a:solidFill>
                          <a:latin typeface="Lato"/>
                        </a:defRPr>
                      </a:pPr>
                      <a:r>
                        <a:t>Evidence / status</a:t>
                      </a:r>
                    </a:p>
                  </a:txBody>
                  <a:tcPr marL="146304" marR="146304" marT="22860" marB="22860" anchor="ctr">
                    <a:lnB w="4445" cap="flat">
                      <a:solidFill>
                        <a:srgbClr val="A0A0A0"/>
                      </a:solidFill>
                    </a:lnB>
                    <a:solidFill>
                      <a:srgbClr val="FFFFFF"/>
                    </a:solidFill>
                  </a:tcPr>
                </a:tc>
              </a:tr>
              <a:tr h="546027">
                <a:tc>
                  <a:txBody>
                    <a:bodyPr/>
                    <a:lstStyle/>
                    <a:p>
                      <a:pPr>
                        <a:lnSpc>
                          <a:spcPct val="100000"/>
                        </a:lnSpc>
                        <a:spcAft>
                          <a:spcPts val="0"/>
                        </a:spcAft>
                        <a:defRPr sz="1100" b="0">
                          <a:solidFill>
                            <a:srgbClr val="000000"/>
                          </a:solidFill>
                          <a:latin typeface="Lato"/>
                        </a:defRPr>
                      </a:pPr>
                      <a:r>
                        <a:t>Vehicles / petrol, diesel</a:t>
                      </a:r>
                    </a:p>
                  </a:txBody>
                  <a:tcPr marL="146304" marR="146304" marT="22860" marB="22860" anchor="ctr">
                    <a:lnB w="3175" cap="flat">
                      <a:solidFill>
                        <a:srgbClr val="B8B8B8"/>
                      </a:solidFill>
                    </a:lnB>
                    <a:solidFill>
                      <a:srgbClr val="FFFFFF"/>
                    </a:solidFill>
                  </a:tcPr>
                </a:tc>
                <a:tc>
                  <a:txBody>
                    <a:bodyPr/>
                    <a:lstStyle/>
                    <a:p>
                      <a:pPr>
                        <a:lnSpc>
                          <a:spcPct val="100000"/>
                        </a:lnSpc>
                        <a:spcAft>
                          <a:spcPts val="0"/>
                        </a:spcAft>
                        <a:defRPr sz="1100" b="0">
                          <a:solidFill>
                            <a:srgbClr val="000000"/>
                          </a:solidFill>
                          <a:latin typeface="Lato"/>
                        </a:defRPr>
                      </a:pPr>
                      <a:r>
                        <a:t>GDP per capita; sales regression; EV uptake; fleet cohorts; scrappage; mileage; fuel and segment mix; efficiency</a:t>
                      </a:r>
                    </a:p>
                  </a:txBody>
                  <a:tcPr marL="146304" marR="146304" marT="22860" marB="22860" anchor="ctr">
                    <a:lnB w="3175" cap="flat">
                      <a:solidFill>
                        <a:srgbClr val="B8B8B8"/>
                      </a:solidFill>
                    </a:lnB>
                    <a:solidFill>
                      <a:srgbClr val="FFFFFF"/>
                    </a:solidFill>
                  </a:tcPr>
                </a:tc>
                <a:tc>
                  <a:txBody>
                    <a:bodyPr/>
                    <a:lstStyle/>
                    <a:p>
                      <a:pPr>
                        <a:lnSpc>
                          <a:spcPct val="100000"/>
                        </a:lnSpc>
                        <a:spcAft>
                          <a:spcPts val="0"/>
                        </a:spcAft>
                        <a:defRPr sz="1100" b="0">
                          <a:solidFill>
                            <a:srgbClr val="000000"/>
                          </a:solidFill>
                          <a:latin typeface="Lato"/>
                        </a:defRPr>
                      </a:pPr>
                      <a:r>
                        <a:t>GDP, EV and efficiency vary; other parameters shared</a:t>
                      </a:r>
                    </a:p>
                  </a:txBody>
                  <a:tcPr marL="146304" marR="146304" marT="22860" marB="22860" anchor="ctr">
                    <a:lnB w="3175" cap="flat">
                      <a:solidFill>
                        <a:srgbClr val="B8B8B8"/>
                      </a:solidFill>
                    </a:lnB>
                    <a:solidFill>
                      <a:srgbClr val="FFFFFF"/>
                    </a:solidFill>
                  </a:tcPr>
                </a:tc>
                <a:tc>
                  <a:txBody>
                    <a:bodyPr/>
                    <a:lstStyle/>
                    <a:p>
                      <a:pPr>
                        <a:lnSpc>
                          <a:spcPct val="100000"/>
                        </a:lnSpc>
                        <a:spcAft>
                          <a:spcPts val="0"/>
                        </a:spcAft>
                        <a:defRPr sz="1100" b="0">
                          <a:solidFill>
                            <a:srgbClr val="000000"/>
                          </a:solidFill>
                          <a:latin typeface="Lato"/>
                        </a:defRPr>
                      </a:pPr>
                      <a:r>
                        <a:t>Workbook regression / EV inputs dated 24 Mar 2025. Fleet/activity parameters provisional; opening stock unresolved.</a:t>
                      </a:r>
                    </a:p>
                  </a:txBody>
                  <a:tcPr marL="146304" marR="146304" marT="22860" marB="22860" anchor="ctr">
                    <a:lnB w="3175" cap="flat">
                      <a:solidFill>
                        <a:srgbClr val="B8B8B8"/>
                      </a:solidFill>
                    </a:lnB>
                    <a:solidFill>
                      <a:srgbClr val="FFFFFF"/>
                    </a:solidFill>
                  </a:tcPr>
                </a:tc>
              </a:tr>
              <a:tr h="546027">
                <a:tc>
                  <a:txBody>
                    <a:bodyPr/>
                    <a:lstStyle/>
                    <a:p>
                      <a:pPr>
                        <a:lnSpc>
                          <a:spcPct val="100000"/>
                        </a:lnSpc>
                        <a:spcAft>
                          <a:spcPts val="0"/>
                        </a:spcAft>
                        <a:defRPr sz="1100" b="0">
                          <a:solidFill>
                            <a:srgbClr val="000000"/>
                          </a:solidFill>
                          <a:latin typeface="Lato"/>
                        </a:defRPr>
                      </a:pPr>
                      <a:r>
                        <a:t>Aviation / jet</a:t>
                      </a:r>
                    </a:p>
                  </a:txBody>
                  <a:tcPr marL="146304" marR="146304" marT="22860" marB="22860" anchor="ctr">
                    <a:lnB w="3175" cap="flat">
                      <a:solidFill>
                        <a:srgbClr val="B8B8B8"/>
                      </a:solidFill>
                    </a:lnB>
                    <a:solidFill>
                      <a:srgbClr val="FFFFFF"/>
                    </a:solidFill>
                  </a:tcPr>
                </a:tc>
                <a:tc>
                  <a:txBody>
                    <a:bodyPr/>
                    <a:lstStyle/>
                    <a:p>
                      <a:pPr>
                        <a:lnSpc>
                          <a:spcPct val="100000"/>
                        </a:lnSpc>
                        <a:spcAft>
                          <a:spcPts val="0"/>
                        </a:spcAft>
                        <a:defRPr sz="1100" b="0">
                          <a:solidFill>
                            <a:srgbClr val="000000"/>
                          </a:solidFill>
                          <a:latin typeface="Lato"/>
                        </a:defRPr>
                      </a:pPr>
                      <a:r>
                        <a:t>GDP per capita; departing passengers; regression coefficients; jet allocation; declared monthly profile</a:t>
                      </a:r>
                    </a:p>
                  </a:txBody>
                  <a:tcPr marL="146304" marR="146304" marT="22860" marB="22860" anchor="ctr">
                    <a:lnB w="3175" cap="flat">
                      <a:solidFill>
                        <a:srgbClr val="B8B8B8"/>
                      </a:solidFill>
                    </a:lnB>
                    <a:solidFill>
                      <a:srgbClr val="FFFFFF"/>
                    </a:solidFill>
                  </a:tcPr>
                </a:tc>
                <a:tc>
                  <a:txBody>
                    <a:bodyPr/>
                    <a:lstStyle/>
                    <a:p>
                      <a:pPr>
                        <a:lnSpc>
                          <a:spcPct val="100000"/>
                        </a:lnSpc>
                        <a:spcAft>
                          <a:spcPts val="0"/>
                        </a:spcAft>
                        <a:defRPr sz="1100" b="0">
                          <a:solidFill>
                            <a:srgbClr val="000000"/>
                          </a:solidFill>
                          <a:latin typeface="Lato"/>
                        </a:defRPr>
                      </a:pPr>
                      <a:r>
                        <a:t>GDP varies; passengers and coefficients shared</a:t>
                      </a:r>
                    </a:p>
                  </a:txBody>
                  <a:tcPr marL="146304" marR="146304" marT="22860" marB="22860" anchor="ctr">
                    <a:lnB w="3175" cap="flat">
                      <a:solidFill>
                        <a:srgbClr val="B8B8B8"/>
                      </a:solidFill>
                    </a:lnB>
                    <a:solidFill>
                      <a:srgbClr val="FFFFFF"/>
                    </a:solidFill>
                  </a:tcPr>
                </a:tc>
                <a:tc>
                  <a:txBody>
                    <a:bodyPr/>
                    <a:lstStyle/>
                    <a:p>
                      <a:pPr>
                        <a:lnSpc>
                          <a:spcPct val="100000"/>
                        </a:lnSpc>
                        <a:spcAft>
                          <a:spcPts val="0"/>
                        </a:spcAft>
                        <a:defRPr sz="1100" b="0">
                          <a:solidFill>
                            <a:srgbClr val="000000"/>
                          </a:solidFill>
                          <a:latin typeface="Lato"/>
                        </a:defRPr>
                      </a:pPr>
                      <a:r>
                        <a:t>Workbook RegJetFuel / PaxBaseScenario, 24 Mar 2025. Departures are the current proxy; arrivals, cargo and flight movements are not separately modelled. Validate fuel coverage; monthly profile not wired.</a:t>
                      </a:r>
                    </a:p>
                  </a:txBody>
                  <a:tcPr marL="146304" marR="146304" marT="22860" marB="22860" anchor="ctr">
                    <a:lnB w="3175" cap="flat">
                      <a:solidFill>
                        <a:srgbClr val="B8B8B8"/>
                      </a:solidFill>
                    </a:lnB>
                    <a:solidFill>
                      <a:srgbClr val="FFFFFF"/>
                    </a:solidFill>
                  </a:tcPr>
                </a:tc>
              </a:tr>
              <a:tr h="546027">
                <a:tc>
                  <a:txBody>
                    <a:bodyPr/>
                    <a:lstStyle/>
                    <a:p>
                      <a:pPr>
                        <a:lnSpc>
                          <a:spcPct val="100000"/>
                        </a:lnSpc>
                        <a:spcAft>
                          <a:spcPts val="0"/>
                        </a:spcAft>
                        <a:defRPr sz="1100" b="0">
                          <a:solidFill>
                            <a:srgbClr val="000000"/>
                          </a:solidFill>
                          <a:latin typeface="Lato"/>
                        </a:defRPr>
                      </a:pPr>
                      <a:r>
                        <a:t>Power / diesel</a:t>
                      </a:r>
                    </a:p>
                  </a:txBody>
                  <a:tcPr marL="146304" marR="146304" marT="22860" marB="22860" anchor="ctr">
                    <a:lnB w="3175" cap="flat">
                      <a:solidFill>
                        <a:srgbClr val="B8B8B8"/>
                      </a:solidFill>
                    </a:lnB>
                    <a:solidFill>
                      <a:srgbClr val="FFFFFF"/>
                    </a:solidFill>
                  </a:tcPr>
                </a:tc>
                <a:tc>
                  <a:txBody>
                    <a:bodyPr/>
                    <a:lstStyle/>
                    <a:p>
                      <a:pPr>
                        <a:lnSpc>
                          <a:spcPct val="100000"/>
                        </a:lnSpc>
                        <a:spcAft>
                          <a:spcPts val="0"/>
                        </a:spcAft>
                        <a:defRPr sz="1100" b="0">
                          <a:solidFill>
                            <a:srgbClr val="000000"/>
                          </a:solidFill>
                          <a:latin typeface="Lato"/>
                        </a:defRPr>
                      </a:pPr>
                      <a:r>
                        <a:t>OCGT MW; load factor; efficiency; energy per litre; operating days; commissioning coverage</a:t>
                      </a:r>
                    </a:p>
                  </a:txBody>
                  <a:tcPr marL="146304" marR="146304" marT="22860" marB="22860" anchor="ctr">
                    <a:lnB w="3175" cap="flat">
                      <a:solidFill>
                        <a:srgbClr val="B8B8B8"/>
                      </a:solidFill>
                    </a:lnB>
                    <a:solidFill>
                      <a:srgbClr val="FFFFFF"/>
                    </a:solidFill>
                  </a:tcPr>
                </a:tc>
                <a:tc>
                  <a:txBody>
                    <a:bodyPr/>
                    <a:lstStyle/>
                    <a:p>
                      <a:pPr>
                        <a:lnSpc>
                          <a:spcPct val="100000"/>
                        </a:lnSpc>
                        <a:spcAft>
                          <a:spcPts val="0"/>
                        </a:spcAft>
                        <a:defRPr sz="1100" b="0">
                          <a:solidFill>
                            <a:srgbClr val="000000"/>
                          </a:solidFill>
                          <a:latin typeface="Lato"/>
                        </a:defRPr>
                      </a:pPr>
                      <a:r>
                        <a:t>Load factor varies; capacity and conversions shared</a:t>
                      </a:r>
                    </a:p>
                  </a:txBody>
                  <a:tcPr marL="146304" marR="146304" marT="22860" marB="22860" anchor="ctr">
                    <a:lnB w="3175" cap="flat">
                      <a:solidFill>
                        <a:srgbClr val="B8B8B8"/>
                      </a:solidFill>
                    </a:lnB>
                    <a:solidFill>
                      <a:srgbClr val="FFFFFF"/>
                    </a:solidFill>
                  </a:tcPr>
                </a:tc>
                <a:tc>
                  <a:txBody>
                    <a:bodyPr/>
                    <a:lstStyle/>
                    <a:p>
                      <a:pPr>
                        <a:lnSpc>
                          <a:spcPct val="100000"/>
                        </a:lnSpc>
                        <a:spcAft>
                          <a:spcPts val="0"/>
                        </a:spcAft>
                        <a:defRPr sz="1100" b="0">
                          <a:solidFill>
                            <a:srgbClr val="000000"/>
                          </a:solidFill>
                          <a:latin typeface="Lato"/>
                        </a:defRPr>
                      </a:pPr>
                      <a:r>
                        <a:t>Workbook named ranges, 24 Mar 2025. Dispatch and commissioning need validation; load-shedding series not wired.</a:t>
                      </a:r>
                    </a:p>
                  </a:txBody>
                  <a:tcPr marL="146304" marR="146304" marT="22860" marB="22860" anchor="ctr">
                    <a:lnB w="3175" cap="flat">
                      <a:solidFill>
                        <a:srgbClr val="B8B8B8"/>
                      </a:solidFill>
                    </a:lnB>
                    <a:solidFill>
                      <a:srgbClr val="FFFFFF"/>
                    </a:solidFill>
                  </a:tcPr>
                </a:tc>
              </a:tr>
              <a:tr h="546027">
                <a:tc>
                  <a:txBody>
                    <a:bodyPr/>
                    <a:lstStyle/>
                    <a:p>
                      <a:pPr>
                        <a:lnSpc>
                          <a:spcPct val="100000"/>
                        </a:lnSpc>
                        <a:spcAft>
                          <a:spcPts val="0"/>
                        </a:spcAft>
                        <a:defRPr sz="1100" b="0">
                          <a:solidFill>
                            <a:srgbClr val="000000"/>
                          </a:solidFill>
                          <a:latin typeface="Lato"/>
                        </a:defRPr>
                      </a:pPr>
                      <a:r>
                        <a:t>Industry / diesel</a:t>
                      </a:r>
                    </a:p>
                  </a:txBody>
                  <a:tcPr marL="146304" marR="146304" marT="22860" marB="22860" anchor="ctr">
                    <a:lnB w="3175" cap="flat">
                      <a:solidFill>
                        <a:srgbClr val="B8B8B8"/>
                      </a:solidFill>
                    </a:lnB>
                    <a:solidFill>
                      <a:srgbClr val="FFFFFF"/>
                    </a:solidFill>
                  </a:tcPr>
                </a:tc>
                <a:tc>
                  <a:txBody>
                    <a:bodyPr/>
                    <a:lstStyle/>
                    <a:p>
                      <a:pPr>
                        <a:lnSpc>
                          <a:spcPct val="100000"/>
                        </a:lnSpc>
                        <a:spcAft>
                          <a:spcPts val="0"/>
                        </a:spcAft>
                        <a:defRPr sz="1100" b="0">
                          <a:solidFill>
                            <a:srgbClr val="000000"/>
                          </a:solidFill>
                          <a:latin typeface="Lato"/>
                        </a:defRPr>
                      </a:pPr>
                      <a:r>
                        <a:t>Base-year volume; GDP scaling; elasticity; declared product / monthly allocation</a:t>
                      </a:r>
                    </a:p>
                  </a:txBody>
                  <a:tcPr marL="146304" marR="146304" marT="22860" marB="22860" anchor="ctr">
                    <a:lnB w="3175" cap="flat">
                      <a:solidFill>
                        <a:srgbClr val="B8B8B8"/>
                      </a:solidFill>
                    </a:lnB>
                    <a:solidFill>
                      <a:srgbClr val="FFFFFF"/>
                    </a:solidFill>
                  </a:tcPr>
                </a:tc>
                <a:tc>
                  <a:txBody>
                    <a:bodyPr/>
                    <a:lstStyle/>
                    <a:p>
                      <a:pPr>
                        <a:lnSpc>
                          <a:spcPct val="100000"/>
                        </a:lnSpc>
                        <a:spcAft>
                          <a:spcPts val="0"/>
                        </a:spcAft>
                        <a:defRPr sz="1100" b="0">
                          <a:solidFill>
                            <a:srgbClr val="000000"/>
                          </a:solidFill>
                          <a:latin typeface="Lato"/>
                        </a:defRPr>
                      </a:pPr>
                      <a:r>
                        <a:t>Baseline / elasticity shared; macro path varies</a:t>
                      </a:r>
                    </a:p>
                  </a:txBody>
                  <a:tcPr marL="146304" marR="146304" marT="22860" marB="22860" anchor="ctr">
                    <a:lnB w="3175" cap="flat">
                      <a:solidFill>
                        <a:srgbClr val="B8B8B8"/>
                      </a:solidFill>
                    </a:lnB>
                    <a:solidFill>
                      <a:srgbClr val="FFFFFF"/>
                    </a:solidFill>
                  </a:tcPr>
                </a:tc>
                <a:tc>
                  <a:txBody>
                    <a:bodyPr/>
                    <a:lstStyle/>
                    <a:p>
                      <a:pPr>
                        <a:lnSpc>
                          <a:spcPct val="100000"/>
                        </a:lnSpc>
                        <a:spcAft>
                          <a:spcPts val="0"/>
                        </a:spcAft>
                        <a:defRPr sz="1100" b="0">
                          <a:solidFill>
                            <a:srgbClr val="000000"/>
                          </a:solidFill>
                          <a:latin typeface="Lato"/>
                        </a:defRPr>
                      </a:pPr>
                      <a:r>
                        <a:t>Provisional baseline and elasticity; no verified inventory/date; declared monthly profile not wired.</a:t>
                      </a:r>
                    </a:p>
                  </a:txBody>
                  <a:tcPr marL="146304" marR="146304" marT="22860" marB="22860" anchor="ctr">
                    <a:lnB w="3175" cap="flat">
                      <a:solidFill>
                        <a:srgbClr val="B8B8B8"/>
                      </a:solidFill>
                    </a:lnB>
                    <a:solidFill>
                      <a:srgbClr val="FFFFFF"/>
                    </a:solidFill>
                  </a:tcPr>
                </a:tc>
              </a:tr>
              <a:tr h="546027">
                <a:tc>
                  <a:txBody>
                    <a:bodyPr/>
                    <a:lstStyle/>
                    <a:p>
                      <a:pPr>
                        <a:lnSpc>
                          <a:spcPct val="100000"/>
                        </a:lnSpc>
                        <a:spcAft>
                          <a:spcPts val="0"/>
                        </a:spcAft>
                        <a:defRPr sz="1100" b="0">
                          <a:solidFill>
                            <a:srgbClr val="000000"/>
                          </a:solidFill>
                          <a:latin typeface="Lato"/>
                        </a:defRPr>
                      </a:pPr>
                      <a:r>
                        <a:t>Agriculture / diesel</a:t>
                      </a:r>
                    </a:p>
                  </a:txBody>
                  <a:tcPr marL="146304" marR="146304" marT="22860" marB="22860" anchor="ctr">
                    <a:lnB w="3175" cap="flat">
                      <a:solidFill>
                        <a:srgbClr val="B8B8B8"/>
                      </a:solidFill>
                    </a:lnB>
                    <a:solidFill>
                      <a:srgbClr val="FFFFFF"/>
                    </a:solidFill>
                  </a:tcPr>
                </a:tc>
                <a:tc>
                  <a:txBody>
                    <a:bodyPr/>
                    <a:lstStyle/>
                    <a:p>
                      <a:pPr>
                        <a:lnSpc>
                          <a:spcPct val="100000"/>
                        </a:lnSpc>
                        <a:spcAft>
                          <a:spcPts val="0"/>
                        </a:spcAft>
                        <a:defRPr sz="1100" b="0">
                          <a:solidFill>
                            <a:srgbClr val="000000"/>
                          </a:solidFill>
                          <a:latin typeface="Lato"/>
                        </a:defRPr>
                      </a:pPr>
                      <a:r>
                        <a:t>Base-year volume; GDP scaling; elasticity; product allocation</a:t>
                      </a:r>
                    </a:p>
                  </a:txBody>
                  <a:tcPr marL="146304" marR="146304" marT="22860" marB="22860" anchor="ctr">
                    <a:lnB w="3175" cap="flat">
                      <a:solidFill>
                        <a:srgbClr val="B8B8B8"/>
                      </a:solidFill>
                    </a:lnB>
                    <a:solidFill>
                      <a:srgbClr val="FFFFFF"/>
                    </a:solidFill>
                  </a:tcPr>
                </a:tc>
                <a:tc>
                  <a:txBody>
                    <a:bodyPr/>
                    <a:lstStyle/>
                    <a:p>
                      <a:pPr>
                        <a:lnSpc>
                          <a:spcPct val="100000"/>
                        </a:lnSpc>
                        <a:spcAft>
                          <a:spcPts val="0"/>
                        </a:spcAft>
                        <a:defRPr sz="1100" b="0">
                          <a:solidFill>
                            <a:srgbClr val="000000"/>
                          </a:solidFill>
                          <a:latin typeface="Lato"/>
                        </a:defRPr>
                      </a:pPr>
                      <a:r>
                        <a:t>Baseline / elasticity shared; macro path varies</a:t>
                      </a:r>
                    </a:p>
                  </a:txBody>
                  <a:tcPr marL="146304" marR="146304" marT="22860" marB="22860" anchor="ctr">
                    <a:lnB w="3175" cap="flat">
                      <a:solidFill>
                        <a:srgbClr val="B8B8B8"/>
                      </a:solidFill>
                    </a:lnB>
                    <a:solidFill>
                      <a:srgbClr val="FFFFFF"/>
                    </a:solidFill>
                  </a:tcPr>
                </a:tc>
                <a:tc>
                  <a:txBody>
                    <a:bodyPr/>
                    <a:lstStyle/>
                    <a:p>
                      <a:pPr>
                        <a:lnSpc>
                          <a:spcPct val="100000"/>
                        </a:lnSpc>
                        <a:spcAft>
                          <a:spcPts val="0"/>
                        </a:spcAft>
                        <a:defRPr sz="1100" b="0">
                          <a:solidFill>
                            <a:srgbClr val="000000"/>
                          </a:solidFill>
                          <a:latin typeface="Lato"/>
                        </a:defRPr>
                      </a:pPr>
                      <a:r>
                        <a:t>Provisional placeholders; hectares/activity driver still to build.</a:t>
                      </a:r>
                    </a:p>
                  </a:txBody>
                  <a:tcPr marL="146304" marR="146304" marT="22860" marB="22860" anchor="ctr">
                    <a:lnB w="3175" cap="flat">
                      <a:solidFill>
                        <a:srgbClr val="B8B8B8"/>
                      </a:solidFill>
                    </a:lnB>
                    <a:solidFill>
                      <a:srgbClr val="FFFFFF"/>
                    </a:solidFill>
                  </a:tcPr>
                </a:tc>
              </a:tr>
              <a:tr h="546029">
                <a:tc>
                  <a:txBody>
                    <a:bodyPr/>
                    <a:lstStyle/>
                    <a:p>
                      <a:pPr>
                        <a:lnSpc>
                          <a:spcPct val="100000"/>
                        </a:lnSpc>
                        <a:spcAft>
                          <a:spcPts val="0"/>
                        </a:spcAft>
                        <a:defRPr sz="1100" b="0">
                          <a:solidFill>
                            <a:srgbClr val="000000"/>
                          </a:solidFill>
                          <a:latin typeface="Lato"/>
                        </a:defRPr>
                      </a:pPr>
                      <a:r>
                        <a:t>Marine / diesel, fuel oil</a:t>
                      </a:r>
                    </a:p>
                  </a:txBody>
                  <a:tcPr marL="146304" marR="146304" marT="22860" marB="22860" anchor="ctr">
                    <a:lnB w="3175" cap="flat">
                      <a:solidFill>
                        <a:srgbClr val="B8B8B8"/>
                      </a:solidFill>
                    </a:lnB>
                    <a:solidFill>
                      <a:srgbClr val="FFFFFF"/>
                    </a:solidFill>
                  </a:tcPr>
                </a:tc>
                <a:tc>
                  <a:txBody>
                    <a:bodyPr/>
                    <a:lstStyle/>
                    <a:p>
                      <a:pPr>
                        <a:lnSpc>
                          <a:spcPct val="100000"/>
                        </a:lnSpc>
                        <a:spcAft>
                          <a:spcPts val="0"/>
                        </a:spcAft>
                        <a:defRPr sz="1100" b="0">
                          <a:solidFill>
                            <a:srgbClr val="000000"/>
                          </a:solidFill>
                          <a:latin typeface="Lato"/>
                        </a:defRPr>
                      </a:pPr>
                      <a:r>
                        <a:t>Base-year volume; GDP scaling; elasticity; product split</a:t>
                      </a:r>
                    </a:p>
                  </a:txBody>
                  <a:tcPr marL="146304" marR="146304" marT="22860" marB="22860" anchor="ctr">
                    <a:lnB w="3175" cap="flat">
                      <a:solidFill>
                        <a:srgbClr val="B8B8B8"/>
                      </a:solidFill>
                    </a:lnB>
                    <a:solidFill>
                      <a:srgbClr val="FFFFFF"/>
                    </a:solidFill>
                  </a:tcPr>
                </a:tc>
                <a:tc>
                  <a:txBody>
                    <a:bodyPr/>
                    <a:lstStyle/>
                    <a:p>
                      <a:pPr>
                        <a:lnSpc>
                          <a:spcPct val="100000"/>
                        </a:lnSpc>
                        <a:spcAft>
                          <a:spcPts val="0"/>
                        </a:spcAft>
                        <a:defRPr sz="1100" b="0">
                          <a:solidFill>
                            <a:srgbClr val="000000"/>
                          </a:solidFill>
                          <a:latin typeface="Lato"/>
                        </a:defRPr>
                      </a:pPr>
                      <a:r>
                        <a:t>Baseline / split shared; macro path varies</a:t>
                      </a:r>
                    </a:p>
                  </a:txBody>
                  <a:tcPr marL="146304" marR="146304" marT="22860" marB="22860" anchor="ctr">
                    <a:lnB w="3175" cap="flat">
                      <a:solidFill>
                        <a:srgbClr val="B8B8B8"/>
                      </a:solidFill>
                    </a:lnB>
                    <a:solidFill>
                      <a:srgbClr val="FFFFFF"/>
                    </a:solidFill>
                  </a:tcPr>
                </a:tc>
                <a:tc>
                  <a:txBody>
                    <a:bodyPr/>
                    <a:lstStyle/>
                    <a:p>
                      <a:pPr>
                        <a:lnSpc>
                          <a:spcPct val="100000"/>
                        </a:lnSpc>
                        <a:spcAft>
                          <a:spcPts val="0"/>
                        </a:spcAft>
                        <a:defRPr sz="1100" b="0">
                          <a:solidFill>
                            <a:srgbClr val="000000"/>
                          </a:solidFill>
                          <a:latin typeface="Lato"/>
                        </a:defRPr>
                      </a:pPr>
                      <a:r>
                        <a:t>Provisional baseline and split; port/bunker evidence still needed. Fuel oil shown separately.</a:t>
                      </a:r>
                    </a:p>
                  </a:txBody>
                  <a:tcPr marL="146304" marR="146304" marT="22860" marB="22860" anchor="ctr">
                    <a:lnB w="3175" cap="flat">
                      <a:solidFill>
                        <a:srgbClr val="B8B8B8"/>
                      </a:solidFill>
                    </a:lnB>
                    <a:solidFill>
                      <a:srgbClr val="FFFFFF"/>
                    </a:solidFill>
                  </a:tcPr>
                </a:tc>
              </a:tr>
            </a:tbl>
          </a:graphicData>
        </a:graphic>
      </p:graphicFrame>
      <p:sp>
        <p:nvSpPr>
          <p:cNvPr id="10" name="TextBox 9"/>
          <p:cNvSpPr txBox="1"/>
          <p:nvPr/>
        </p:nvSpPr>
        <p:spPr>
          <a:xfrm>
            <a:off x="502920" y="6263640"/>
            <a:ext cx="10515600" cy="182880"/>
          </a:xfrm>
          <a:prstGeom prst="rect">
            <a:avLst/>
          </a:prstGeom>
          <a:noFill/>
        </p:spPr>
        <p:txBody>
          <a:bodyPr wrap="square" lIns="18288" rIns="18288" tIns="0" bIns="0">
            <a:spAutoFit/>
          </a:bodyPr>
          <a:lstStyle/>
          <a:p>
            <a:pPr>
              <a:spcAft>
                <a:spcPts val="800"/>
              </a:spcAft>
              <a:defRPr sz="1000" b="1">
                <a:solidFill>
                  <a:srgbClr val="000000"/>
                </a:solidFill>
                <a:latin typeface="Lato"/>
              </a:defRPr>
            </a:pPr>
            <a:r>
              <a:t>Full values: companion Assumption Inventory PDF. All six modules require review; M is unset.</a:t>
            </a:r>
          </a:p>
        </p:txBody>
      </p:sp>
      <p:sp>
        <p:nvSpPr>
          <p:cNvPr id="11" name="TextBox 10"/>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assumptions/2026 YAML and CSV declarations; src/lfm/model/demand; assumption register. Input metadata unassessed; 2026 draft.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Establish domestic production before assessing import requirements</a:t>
            </a:r>
          </a:p>
        </p:txBody>
      </p:sp>
      <p:sp>
        <p:nvSpPr>
          <p:cNvPr id="3" name="Slide Number Placeholder"/>
          <p:cNvSpPr>
            <a:spLocks noGrp="1"/>
          </p:cNvSpPr>
          <p:nvPr>
            <p:ph type="sldNum" sz="quarter" idx="12"/>
          </p:nvPr>
        </p:nvSpPr>
        <p:spPr/>
        <p:txBody>
          <a:bodyPr/>
          <a:lstStyle/>
          <a:p>
            <a:fld id="{A50F73D1-4959-4977-9A18-564C08DDD1DD}"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502920" y="1627632"/>
            <a:ext cx="10469880" cy="320040"/>
          </a:xfrm>
          <a:prstGeom prst="rect">
            <a:avLst/>
          </a:prstGeom>
          <a:noFill/>
        </p:spPr>
        <p:txBody>
          <a:bodyPr wrap="square" lIns="18288" rIns="18288" tIns="0" bIns="0">
            <a:spAutoFit/>
          </a:bodyPr>
          <a:lstStyle/>
          <a:p>
            <a:pPr>
              <a:spcAft>
                <a:spcPts val="800"/>
              </a:spcAft>
              <a:defRPr sz="1400" b="0">
                <a:solidFill>
                  <a:srgbClr val="000000"/>
                </a:solidFill>
                <a:latin typeface="Lato"/>
              </a:defRPr>
            </a:pPr>
            <a:r>
              <a:t>South Africa | sources reviewed 2 Oct 2026 | utilisation columns are 2030 model assumptions</a:t>
            </a:r>
          </a:p>
        </p:txBody>
      </p:sp>
      <p:graphicFrame>
        <p:nvGraphicFramePr>
          <p:cNvPr id="9" name="Table 8"/>
          <p:cNvGraphicFramePr>
            <a:graphicFrameLocks noGrp="1"/>
          </p:cNvGraphicFramePr>
          <p:nvPr/>
        </p:nvGraphicFramePr>
        <p:xfrm>
          <a:off x="457200" y="1975104"/>
          <a:ext cx="10652760" cy="2267712"/>
        </p:xfrm>
        <a:graphic>
          <a:graphicData uri="http://schemas.openxmlformats.org/drawingml/2006/table">
            <a:tbl>
              <a:tblPr firstRow="1" bandRow="1">
                <a:tableStyleId>{2D5ABB26-0587-4C30-8999-92F81FD0307C}</a:tableStyleId>
              </a:tblPr>
              <a:tblGrid>
                <a:gridCol w="1051560"/>
                <a:gridCol w="3566160"/>
                <a:gridCol w="1554480"/>
                <a:gridCol w="1508760"/>
                <a:gridCol w="1508760"/>
                <a:gridCol w="1463040"/>
              </a:tblGrid>
              <a:tr h="323958">
                <a:tc>
                  <a:txBody>
                    <a:bodyPr/>
                    <a:lstStyle/>
                    <a:p>
                      <a:pPr>
                        <a:defRPr sz="1150" b="1">
                          <a:solidFill>
                            <a:srgbClr val="000000"/>
                          </a:solidFill>
                          <a:latin typeface="Lato"/>
                        </a:defRPr>
                      </a:pPr>
                      <a:r>
                        <a:t>Asset</a:t>
                      </a:r>
                    </a:p>
                  </a:txBody>
                  <a:tcPr marL="146304" marR="146304" marT="13716" marB="13716" anchor="ctr">
                    <a:lnB w="4445" cap="flat">
                      <a:solidFill>
                        <a:srgbClr val="A0A0A0"/>
                      </a:solidFill>
                    </a:lnB>
                    <a:solidFill>
                      <a:srgbClr val="FFFFFF"/>
                    </a:solidFill>
                  </a:tcPr>
                </a:tc>
                <a:tc>
                  <a:txBody>
                    <a:bodyPr/>
                    <a:lstStyle/>
                    <a:p>
                      <a:pPr>
                        <a:defRPr sz="1150" b="1">
                          <a:solidFill>
                            <a:srgbClr val="000000"/>
                          </a:solidFill>
                          <a:latin typeface="Lato"/>
                        </a:defRPr>
                      </a:pPr>
                      <a:r>
                        <a:t>Latest sourced status*</a:t>
                      </a:r>
                    </a:p>
                  </a:txBody>
                  <a:tcPr marL="146304" marR="146304" marT="13716" marB="13716" anchor="ctr">
                    <a:lnB w="4445" cap="flat">
                      <a:solidFill>
                        <a:srgbClr val="A0A0A0"/>
                      </a:solidFill>
                    </a:lnB>
                    <a:solidFill>
                      <a:srgbClr val="FFFFFF"/>
                    </a:solidFill>
                  </a:tcPr>
                </a:tc>
                <a:tc>
                  <a:txBody>
                    <a:bodyPr/>
                    <a:lstStyle/>
                    <a:p>
                      <a:pPr>
                        <a:defRPr sz="1150" b="1">
                          <a:solidFill>
                            <a:srgbClr val="000000"/>
                          </a:solidFill>
                          <a:latin typeface="Lato"/>
                        </a:defRPr>
                      </a:pPr>
                      <a:r>
                        <a:t>Model capacity, kbpd</a:t>
                      </a:r>
                    </a:p>
                  </a:txBody>
                  <a:tcPr marL="146304" marR="146304" marT="13716" marB="13716" anchor="ctr">
                    <a:lnB w="4445" cap="flat">
                      <a:solidFill>
                        <a:srgbClr val="A0A0A0"/>
                      </a:solidFill>
                    </a:lnB>
                    <a:solidFill>
                      <a:srgbClr val="FFFFFF"/>
                    </a:solidFill>
                  </a:tcPr>
                </a:tc>
                <a:tc>
                  <a:txBody>
                    <a:bodyPr/>
                    <a:lstStyle/>
                    <a:p>
                      <a:pPr>
                        <a:defRPr sz="1150" b="1">
                          <a:solidFill>
                            <a:srgbClr val="000000"/>
                          </a:solidFill>
                          <a:latin typeface="Lato"/>
                        </a:defRPr>
                      </a:pPr>
                      <a:r>
                        <a:t>2030 H util.</a:t>
                      </a:r>
                    </a:p>
                  </a:txBody>
                  <a:tcPr marL="146304" marR="146304" marT="13716" marB="13716" anchor="ctr">
                    <a:lnB w="4445" cap="flat">
                      <a:solidFill>
                        <a:srgbClr val="A0A0A0"/>
                      </a:solidFill>
                    </a:lnB>
                    <a:solidFill>
                      <a:srgbClr val="FFFFFF"/>
                    </a:solidFill>
                  </a:tcPr>
                </a:tc>
                <a:tc>
                  <a:txBody>
                    <a:bodyPr/>
                    <a:lstStyle/>
                    <a:p>
                      <a:pPr>
                        <a:defRPr sz="1150" b="1">
                          <a:solidFill>
                            <a:srgbClr val="000000"/>
                          </a:solidFill>
                          <a:latin typeface="Lato"/>
                        </a:defRPr>
                      </a:pPr>
                      <a:r>
                        <a:t>2030 M util.</a:t>
                      </a:r>
                    </a:p>
                  </a:txBody>
                  <a:tcPr marL="146304" marR="146304" marT="13716" marB="13716" anchor="ctr">
                    <a:lnB w="4445" cap="flat">
                      <a:solidFill>
                        <a:srgbClr val="A0A0A0"/>
                      </a:solidFill>
                    </a:lnB>
                    <a:solidFill>
                      <a:srgbClr val="FFFFFF"/>
                    </a:solidFill>
                  </a:tcPr>
                </a:tc>
                <a:tc>
                  <a:txBody>
                    <a:bodyPr/>
                    <a:lstStyle/>
                    <a:p>
                      <a:pPr>
                        <a:defRPr sz="1150" b="1">
                          <a:solidFill>
                            <a:srgbClr val="000000"/>
                          </a:solidFill>
                          <a:latin typeface="Lato"/>
                        </a:defRPr>
                      </a:pPr>
                      <a:r>
                        <a:t>2030 L util.</a:t>
                      </a:r>
                    </a:p>
                  </a:txBody>
                  <a:tcPr marL="146304" marR="146304" marT="13716" marB="13716" anchor="ctr">
                    <a:lnB w="4445" cap="flat">
                      <a:solidFill>
                        <a:srgbClr val="A0A0A0"/>
                      </a:solidFill>
                    </a:lnB>
                    <a:solidFill>
                      <a:srgbClr val="FFFFFF"/>
                    </a:solidFill>
                  </a:tcPr>
                </a:tc>
              </a:tr>
              <a:tr h="323958">
                <a:tc>
                  <a:txBody>
                    <a:bodyPr/>
                    <a:lstStyle/>
                    <a:p>
                      <a:pPr>
                        <a:defRPr sz="1150" b="0">
                          <a:solidFill>
                            <a:srgbClr val="000000"/>
                          </a:solidFill>
                          <a:latin typeface="Lato"/>
                        </a:defRPr>
                      </a:pPr>
                      <a:r>
                        <a:t>ENREF</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Terminal conversion announced; Oct status unverified [1]</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120</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0.0%</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Unset</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0.0%</a:t>
                      </a:r>
                    </a:p>
                  </a:txBody>
                  <a:tcPr marL="146304" marR="146304" marT="13716" marB="13716" anchor="ctr">
                    <a:lnB w="3175" cap="flat">
                      <a:solidFill>
                        <a:srgbClr val="B8B8B8"/>
                      </a:solidFill>
                    </a:lnB>
                    <a:solidFill>
                      <a:srgbClr val="FFFFFF"/>
                    </a:solidFill>
                  </a:tcPr>
                </a:tc>
              </a:tr>
              <a:tr h="323958">
                <a:tc>
                  <a:txBody>
                    <a:bodyPr/>
                    <a:lstStyle/>
                    <a:p>
                      <a:pPr>
                        <a:defRPr sz="1150" b="0">
                          <a:solidFill>
                            <a:srgbClr val="000000"/>
                          </a:solidFill>
                          <a:latin typeface="Lato"/>
                        </a:defRPr>
                      </a:pPr>
                      <a:r>
                        <a:t>SAPREF</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Redevelopment programme [2]</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180</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0.0%</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Unset</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0.0%</a:t>
                      </a:r>
                    </a:p>
                  </a:txBody>
                  <a:tcPr marL="146304" marR="146304" marT="13716" marB="13716" anchor="ctr">
                    <a:lnB w="3175" cap="flat">
                      <a:solidFill>
                        <a:srgbClr val="B8B8B8"/>
                      </a:solidFill>
                    </a:lnB>
                    <a:solidFill>
                      <a:srgbClr val="FFFFFF"/>
                    </a:solidFill>
                  </a:tcPr>
                </a:tc>
              </a:tr>
              <a:tr h="323958">
                <a:tc>
                  <a:txBody>
                    <a:bodyPr/>
                    <a:lstStyle/>
                    <a:p>
                      <a:pPr>
                        <a:defRPr sz="1150" b="0">
                          <a:solidFill>
                            <a:srgbClr val="000000"/>
                          </a:solidFill>
                          <a:latin typeface="Lato"/>
                        </a:defRPr>
                      </a:pPr>
                      <a:r>
                        <a:t>NATREF</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Disruption reported; Oct availability unverified [3]</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108.5</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85.0%</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Unset</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70.0%</a:t>
                      </a:r>
                    </a:p>
                  </a:txBody>
                  <a:tcPr marL="146304" marR="146304" marT="13716" marB="13716" anchor="ctr">
                    <a:lnB w="3175" cap="flat">
                      <a:solidFill>
                        <a:srgbClr val="B8B8B8"/>
                      </a:solidFill>
                    </a:lnB>
                    <a:solidFill>
                      <a:srgbClr val="FFFFFF"/>
                    </a:solidFill>
                  </a:tcPr>
                </a:tc>
              </a:tr>
              <a:tr h="323958">
                <a:tc>
                  <a:txBody>
                    <a:bodyPr/>
                    <a:lstStyle/>
                    <a:p>
                      <a:pPr>
                        <a:defRPr sz="1150" b="0">
                          <a:solidFill>
                            <a:srgbClr val="000000"/>
                          </a:solidFill>
                          <a:latin typeface="Lato"/>
                        </a:defRPr>
                      </a:pPr>
                      <a:r>
                        <a:t>SASOL</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Secunda operating in FY2026 [4]</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75</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94.4%</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Unset</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87.8%</a:t>
                      </a:r>
                    </a:p>
                  </a:txBody>
                  <a:tcPr marL="146304" marR="146304" marT="13716" marB="13716" anchor="ctr">
                    <a:lnB w="3175" cap="flat">
                      <a:solidFill>
                        <a:srgbClr val="B8B8B8"/>
                      </a:solidFill>
                    </a:lnB>
                    <a:solidFill>
                      <a:srgbClr val="FFFFFF"/>
                    </a:solidFill>
                  </a:tcPr>
                </a:tc>
              </a:tr>
              <a:tr h="323958">
                <a:tc>
                  <a:txBody>
                    <a:bodyPr/>
                    <a:lstStyle/>
                    <a:p>
                      <a:pPr>
                        <a:defRPr sz="1150" b="0">
                          <a:solidFill>
                            <a:srgbClr val="000000"/>
                          </a:solidFill>
                          <a:latin typeface="Lato"/>
                        </a:defRPr>
                      </a:pPr>
                      <a:r>
                        <a:t>ASTRON</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Mar maintenance; Oct availability unverified [5]</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100</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90.0%</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Unset</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80.0%</a:t>
                      </a:r>
                    </a:p>
                  </a:txBody>
                  <a:tcPr marL="146304" marR="146304" marT="13716" marB="13716" anchor="ctr">
                    <a:lnB w="3175" cap="flat">
                      <a:solidFill>
                        <a:srgbClr val="B8B8B8"/>
                      </a:solidFill>
                    </a:lnB>
                    <a:solidFill>
                      <a:srgbClr val="FFFFFF"/>
                    </a:solidFill>
                  </a:tcPr>
                </a:tc>
              </a:tr>
              <a:tr h="323964">
                <a:tc>
                  <a:txBody>
                    <a:bodyPr/>
                    <a:lstStyle/>
                    <a:p>
                      <a:pPr>
                        <a:defRPr sz="1150" b="0">
                          <a:solidFill>
                            <a:srgbClr val="000000"/>
                          </a:solidFill>
                          <a:latin typeface="Lato"/>
                        </a:defRPr>
                      </a:pPr>
                      <a:r>
                        <a:t>PETROSA</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GTL reinstatement planned [6]</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45</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0.0%</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Unset</a:t>
                      </a:r>
                    </a:p>
                  </a:txBody>
                  <a:tcPr marL="146304" marR="146304" marT="13716" marB="13716" anchor="ctr">
                    <a:lnB w="3175" cap="flat">
                      <a:solidFill>
                        <a:srgbClr val="B8B8B8"/>
                      </a:solidFill>
                    </a:lnB>
                    <a:solidFill>
                      <a:srgbClr val="FFFFFF"/>
                    </a:solidFill>
                  </a:tcPr>
                </a:tc>
                <a:tc>
                  <a:txBody>
                    <a:bodyPr/>
                    <a:lstStyle/>
                    <a:p>
                      <a:pPr>
                        <a:defRPr sz="1150" b="0">
                          <a:solidFill>
                            <a:srgbClr val="000000"/>
                          </a:solidFill>
                          <a:latin typeface="Lato"/>
                        </a:defRPr>
                      </a:pPr>
                      <a:r>
                        <a:t>0.0%</a:t>
                      </a:r>
                    </a:p>
                  </a:txBody>
                  <a:tcPr marL="146304" marR="146304" marT="13716" marB="13716" anchor="ctr">
                    <a:lnB w="3175" cap="flat">
                      <a:solidFill>
                        <a:srgbClr val="B8B8B8"/>
                      </a:solidFill>
                    </a:lnB>
                    <a:solidFill>
                      <a:srgbClr val="FFFFFF"/>
                    </a:solidFill>
                  </a:tcPr>
                </a:tc>
              </a:tr>
            </a:tbl>
          </a:graphicData>
        </a:graphic>
      </p:graphicFrame>
      <p:sp>
        <p:nvSpPr>
          <p:cNvPr id="10" name="TextBox 9"/>
          <p:cNvSpPr txBox="1"/>
          <p:nvPr/>
        </p:nvSpPr>
        <p:spPr>
          <a:xfrm>
            <a:off x="502920" y="4608576"/>
            <a:ext cx="10469880" cy="27432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Domestic output, bn litres | 90% availability; asset-specific product yields</a:t>
            </a:r>
          </a:p>
        </p:txBody>
      </p:sp>
      <p:graphicFrame>
        <p:nvGraphicFramePr>
          <p:cNvPr id="11" name="Table 10"/>
          <p:cNvGraphicFramePr>
            <a:graphicFrameLocks noGrp="1"/>
          </p:cNvGraphicFramePr>
          <p:nvPr/>
        </p:nvGraphicFramePr>
        <p:xfrm>
          <a:off x="457200" y="4937760"/>
          <a:ext cx="10652760" cy="731520"/>
        </p:xfrm>
        <a:graphic>
          <a:graphicData uri="http://schemas.openxmlformats.org/drawingml/2006/table">
            <a:tbl>
              <a:tblPr firstRow="1" bandRow="1">
                <a:tableStyleId>{2D5ABB26-0587-4C30-8999-92F81FD0307C}</a:tableStyleId>
              </a:tblPr>
              <a:tblGrid>
                <a:gridCol w="2834640"/>
                <a:gridCol w="1965960"/>
                <a:gridCol w="1965960"/>
                <a:gridCol w="1920240"/>
                <a:gridCol w="1965960"/>
              </a:tblGrid>
              <a:tr h="182880">
                <a:tc>
                  <a:txBody>
                    <a:bodyPr/>
                    <a:lstStyle/>
                    <a:p>
                      <a:pPr>
                        <a:defRPr sz="1100" b="1">
                          <a:solidFill>
                            <a:srgbClr val="000000"/>
                          </a:solidFill>
                          <a:latin typeface="Lato"/>
                        </a:defRPr>
                      </a:pPr>
                      <a:r>
                        <a:t>Product</a:t>
                      </a:r>
                    </a:p>
                  </a:txBody>
                  <a:tcPr marL="146304" marR="146304" marT="13716" marB="13716" anchor="ctr">
                    <a:lnB w="4445" cap="flat">
                      <a:solidFill>
                        <a:srgbClr val="A0A0A0"/>
                      </a:solidFill>
                    </a:lnB>
                    <a:solidFill>
                      <a:srgbClr val="FFFFFF"/>
                    </a:solidFill>
                  </a:tcPr>
                </a:tc>
                <a:tc>
                  <a:txBody>
                    <a:bodyPr/>
                    <a:lstStyle/>
                    <a:p>
                      <a:pPr>
                        <a:defRPr sz="1100" b="1">
                          <a:solidFill>
                            <a:srgbClr val="000000"/>
                          </a:solidFill>
                          <a:latin typeface="Lato"/>
                        </a:defRPr>
                      </a:pPr>
                      <a:r>
                        <a:t>H domestic</a:t>
                      </a:r>
                    </a:p>
                  </a:txBody>
                  <a:tcPr marL="146304" marR="146304" marT="13716" marB="13716" anchor="ctr">
                    <a:lnB w="4445" cap="flat">
                      <a:solidFill>
                        <a:srgbClr val="A0A0A0"/>
                      </a:solidFill>
                    </a:lnB>
                    <a:solidFill>
                      <a:srgbClr val="FFFFFF"/>
                    </a:solidFill>
                  </a:tcPr>
                </a:tc>
                <a:tc>
                  <a:txBody>
                    <a:bodyPr/>
                    <a:lstStyle/>
                    <a:p>
                      <a:pPr>
                        <a:defRPr sz="1100" b="1">
                          <a:solidFill>
                            <a:srgbClr val="000000"/>
                          </a:solidFill>
                          <a:latin typeface="Lato"/>
                        </a:defRPr>
                      </a:pPr>
                      <a:r>
                        <a:t>M domestic</a:t>
                      </a:r>
                    </a:p>
                  </a:txBody>
                  <a:tcPr marL="146304" marR="146304" marT="13716" marB="13716" anchor="ctr">
                    <a:lnB w="4445" cap="flat">
                      <a:solidFill>
                        <a:srgbClr val="A0A0A0"/>
                      </a:solidFill>
                    </a:lnB>
                    <a:solidFill>
                      <a:srgbClr val="FFFFFF"/>
                    </a:solidFill>
                  </a:tcPr>
                </a:tc>
                <a:tc>
                  <a:txBody>
                    <a:bodyPr/>
                    <a:lstStyle/>
                    <a:p>
                      <a:pPr>
                        <a:defRPr sz="1100" b="1">
                          <a:solidFill>
                            <a:srgbClr val="000000"/>
                          </a:solidFill>
                          <a:latin typeface="Lato"/>
                        </a:defRPr>
                      </a:pPr>
                      <a:r>
                        <a:t>L domestic</a:t>
                      </a:r>
                    </a:p>
                  </a:txBody>
                  <a:tcPr marL="146304" marR="146304" marT="13716" marB="13716" anchor="ctr">
                    <a:lnB w="4445" cap="flat">
                      <a:solidFill>
                        <a:srgbClr val="A0A0A0"/>
                      </a:solidFill>
                    </a:lnB>
                    <a:solidFill>
                      <a:srgbClr val="FFFFFF"/>
                    </a:solidFill>
                  </a:tcPr>
                </a:tc>
                <a:tc>
                  <a:txBody>
                    <a:bodyPr/>
                    <a:lstStyle/>
                    <a:p>
                      <a:pPr>
                        <a:defRPr sz="1100" b="1">
                          <a:solidFill>
                            <a:srgbClr val="000000"/>
                          </a:solidFill>
                          <a:latin typeface="Lato"/>
                        </a:defRPr>
                      </a:pPr>
                      <a:r>
                        <a:t>Available imports</a:t>
                      </a:r>
                    </a:p>
                  </a:txBody>
                  <a:tcPr marL="146304" marR="146304" marT="13716" marB="13716" anchor="ctr">
                    <a:lnB w="4445" cap="flat">
                      <a:solidFill>
                        <a:srgbClr val="A0A0A0"/>
                      </a:solidFill>
                    </a:lnB>
                    <a:solidFill>
                      <a:srgbClr val="FFFFFF"/>
                    </a:solidFill>
                  </a:tcPr>
                </a:tc>
              </a:tr>
              <a:tr h="182880">
                <a:tc>
                  <a:txBody>
                    <a:bodyPr/>
                    <a:lstStyle/>
                    <a:p>
                      <a:pPr>
                        <a:defRPr sz="1100" b="0">
                          <a:solidFill>
                            <a:srgbClr val="000000"/>
                          </a:solidFill>
                          <a:latin typeface="Lato"/>
                        </a:defRPr>
                      </a:pPr>
                      <a:r>
                        <a:t>Petrol</a:t>
                      </a:r>
                    </a:p>
                  </a:txBody>
                  <a:tcPr marL="146304" marR="146304" marT="13716" marB="13716" anchor="ctr">
                    <a:lnB w="3175" cap="flat">
                      <a:solidFill>
                        <a:srgbClr val="B8B8B8"/>
                      </a:solidFill>
                    </a:lnB>
                    <a:solidFill>
                      <a:srgbClr val="FFFFFF"/>
                    </a:solidFill>
                  </a:tcPr>
                </a:tc>
                <a:tc>
                  <a:txBody>
                    <a:bodyPr/>
                    <a:lstStyle/>
                    <a:p>
                      <a:pPr>
                        <a:defRPr sz="1100" b="0">
                          <a:solidFill>
                            <a:srgbClr val="000000"/>
                          </a:solidFill>
                          <a:latin typeface="Lato"/>
                        </a:defRPr>
                      </a:pPr>
                      <a:r>
                        <a:t>7.42</a:t>
                      </a:r>
                    </a:p>
                  </a:txBody>
                  <a:tcPr marL="146304" marR="146304" marT="13716" marB="13716" anchor="ctr">
                    <a:lnB w="3175" cap="flat">
                      <a:solidFill>
                        <a:srgbClr val="B8B8B8"/>
                      </a:solidFill>
                    </a:lnB>
                    <a:solidFill>
                      <a:srgbClr val="FFFFFF"/>
                    </a:solidFill>
                  </a:tcPr>
                </a:tc>
                <a:tc>
                  <a:txBody>
                    <a:bodyPr/>
                    <a:lstStyle/>
                    <a:p>
                      <a:pPr>
                        <a:defRPr sz="1100" b="0">
                          <a:solidFill>
                            <a:srgbClr val="000000"/>
                          </a:solidFill>
                          <a:latin typeface="Lato"/>
                        </a:defRPr>
                      </a:pPr>
                      <a:r>
                        <a:t>Unset</a:t>
                      </a:r>
                    </a:p>
                  </a:txBody>
                  <a:tcPr marL="146304" marR="146304" marT="13716" marB="13716" anchor="ctr">
                    <a:lnB w="3175" cap="flat">
                      <a:solidFill>
                        <a:srgbClr val="B8B8B8"/>
                      </a:solidFill>
                    </a:lnB>
                    <a:solidFill>
                      <a:srgbClr val="FFFFFF"/>
                    </a:solidFill>
                  </a:tcPr>
                </a:tc>
                <a:tc>
                  <a:txBody>
                    <a:bodyPr/>
                    <a:lstStyle/>
                    <a:p>
                      <a:pPr>
                        <a:defRPr sz="1100" b="0">
                          <a:solidFill>
                            <a:srgbClr val="000000"/>
                          </a:solidFill>
                          <a:latin typeface="Lato"/>
                        </a:defRPr>
                      </a:pPr>
                      <a:r>
                        <a:t>6.59</a:t>
                      </a:r>
                    </a:p>
                  </a:txBody>
                  <a:tcPr marL="146304" marR="146304" marT="13716" marB="13716" anchor="ctr">
                    <a:lnB w="3175" cap="flat">
                      <a:solidFill>
                        <a:srgbClr val="B8B8B8"/>
                      </a:solidFill>
                    </a:lnB>
                    <a:solidFill>
                      <a:srgbClr val="FFFFFF"/>
                    </a:solidFill>
                  </a:tcPr>
                </a:tc>
                <a:tc>
                  <a:txBody>
                    <a:bodyPr/>
                    <a:lstStyle/>
                    <a:p>
                      <a:pPr>
                        <a:defRPr sz="1100" b="0">
                          <a:solidFill>
                            <a:srgbClr val="000000"/>
                          </a:solidFill>
                          <a:latin typeface="Lato"/>
                        </a:defRPr>
                      </a:pPr>
                      <a:r>
                        <a:t>Not modelled</a:t>
                      </a:r>
                    </a:p>
                  </a:txBody>
                  <a:tcPr marL="146304" marR="146304" marT="13716" marB="13716" anchor="ctr">
                    <a:lnB w="3175" cap="flat">
                      <a:solidFill>
                        <a:srgbClr val="B8B8B8"/>
                      </a:solidFill>
                    </a:lnB>
                    <a:solidFill>
                      <a:srgbClr val="FFFFFF"/>
                    </a:solidFill>
                  </a:tcPr>
                </a:tc>
              </a:tr>
              <a:tr h="182880">
                <a:tc>
                  <a:txBody>
                    <a:bodyPr/>
                    <a:lstStyle/>
                    <a:p>
                      <a:pPr>
                        <a:defRPr sz="1100" b="0">
                          <a:solidFill>
                            <a:srgbClr val="000000"/>
                          </a:solidFill>
                          <a:latin typeface="Lato"/>
                        </a:defRPr>
                      </a:pPr>
                      <a:r>
                        <a:t>Diesel</a:t>
                      </a:r>
                    </a:p>
                  </a:txBody>
                  <a:tcPr marL="146304" marR="146304" marT="13716" marB="13716" anchor="ctr">
                    <a:lnB w="3175" cap="flat">
                      <a:solidFill>
                        <a:srgbClr val="B8B8B8"/>
                      </a:solidFill>
                    </a:lnB>
                    <a:solidFill>
                      <a:srgbClr val="FFFFFF"/>
                    </a:solidFill>
                  </a:tcPr>
                </a:tc>
                <a:tc>
                  <a:txBody>
                    <a:bodyPr/>
                    <a:lstStyle/>
                    <a:p>
                      <a:pPr>
                        <a:defRPr sz="1100" b="0">
                          <a:solidFill>
                            <a:srgbClr val="000000"/>
                          </a:solidFill>
                          <a:latin typeface="Lato"/>
                        </a:defRPr>
                      </a:pPr>
                      <a:r>
                        <a:t>2.93</a:t>
                      </a:r>
                    </a:p>
                  </a:txBody>
                  <a:tcPr marL="146304" marR="146304" marT="13716" marB="13716" anchor="ctr">
                    <a:lnB w="3175" cap="flat">
                      <a:solidFill>
                        <a:srgbClr val="B8B8B8"/>
                      </a:solidFill>
                    </a:lnB>
                    <a:solidFill>
                      <a:srgbClr val="FFFFFF"/>
                    </a:solidFill>
                  </a:tcPr>
                </a:tc>
                <a:tc>
                  <a:txBody>
                    <a:bodyPr/>
                    <a:lstStyle/>
                    <a:p>
                      <a:pPr>
                        <a:defRPr sz="1100" b="0">
                          <a:solidFill>
                            <a:srgbClr val="000000"/>
                          </a:solidFill>
                          <a:latin typeface="Lato"/>
                        </a:defRPr>
                      </a:pPr>
                      <a:r>
                        <a:t>Unset</a:t>
                      </a:r>
                    </a:p>
                  </a:txBody>
                  <a:tcPr marL="146304" marR="146304" marT="13716" marB="13716" anchor="ctr">
                    <a:lnB w="3175" cap="flat">
                      <a:solidFill>
                        <a:srgbClr val="B8B8B8"/>
                      </a:solidFill>
                    </a:lnB>
                    <a:solidFill>
                      <a:srgbClr val="FFFFFF"/>
                    </a:solidFill>
                  </a:tcPr>
                </a:tc>
                <a:tc>
                  <a:txBody>
                    <a:bodyPr/>
                    <a:lstStyle/>
                    <a:p>
                      <a:pPr>
                        <a:defRPr sz="1100" b="0">
                          <a:solidFill>
                            <a:srgbClr val="000000"/>
                          </a:solidFill>
                          <a:latin typeface="Lato"/>
                        </a:defRPr>
                      </a:pPr>
                      <a:r>
                        <a:t>2.55</a:t>
                      </a:r>
                    </a:p>
                  </a:txBody>
                  <a:tcPr marL="146304" marR="146304" marT="13716" marB="13716" anchor="ctr">
                    <a:lnB w="3175" cap="flat">
                      <a:solidFill>
                        <a:srgbClr val="B8B8B8"/>
                      </a:solidFill>
                    </a:lnB>
                    <a:solidFill>
                      <a:srgbClr val="FFFFFF"/>
                    </a:solidFill>
                  </a:tcPr>
                </a:tc>
                <a:tc>
                  <a:txBody>
                    <a:bodyPr/>
                    <a:lstStyle/>
                    <a:p>
                      <a:pPr>
                        <a:defRPr sz="1100" b="0">
                          <a:solidFill>
                            <a:srgbClr val="000000"/>
                          </a:solidFill>
                          <a:latin typeface="Lato"/>
                        </a:defRPr>
                      </a:pPr>
                      <a:r>
                        <a:t>Not modelled</a:t>
                      </a:r>
                    </a:p>
                  </a:txBody>
                  <a:tcPr marL="146304" marR="146304" marT="13716" marB="13716" anchor="ctr">
                    <a:lnB w="3175" cap="flat">
                      <a:solidFill>
                        <a:srgbClr val="B8B8B8"/>
                      </a:solidFill>
                    </a:lnB>
                    <a:solidFill>
                      <a:srgbClr val="FFFFFF"/>
                    </a:solidFill>
                  </a:tcPr>
                </a:tc>
              </a:tr>
              <a:tr h="182880">
                <a:tc>
                  <a:txBody>
                    <a:bodyPr/>
                    <a:lstStyle/>
                    <a:p>
                      <a:pPr>
                        <a:defRPr sz="1100" b="0">
                          <a:solidFill>
                            <a:srgbClr val="000000"/>
                          </a:solidFill>
                          <a:latin typeface="Lato"/>
                        </a:defRPr>
                      </a:pPr>
                      <a:r>
                        <a:t>Jet</a:t>
                      </a:r>
                    </a:p>
                  </a:txBody>
                  <a:tcPr marL="146304" marR="146304" marT="13716" marB="13716" anchor="ctr">
                    <a:lnB w="3175" cap="flat">
                      <a:solidFill>
                        <a:srgbClr val="B8B8B8"/>
                      </a:solidFill>
                    </a:lnB>
                    <a:solidFill>
                      <a:srgbClr val="FFFFFF"/>
                    </a:solidFill>
                  </a:tcPr>
                </a:tc>
                <a:tc>
                  <a:txBody>
                    <a:bodyPr/>
                    <a:lstStyle/>
                    <a:p>
                      <a:pPr>
                        <a:defRPr sz="1100" b="0">
                          <a:solidFill>
                            <a:srgbClr val="000000"/>
                          </a:solidFill>
                          <a:latin typeface="Lato"/>
                        </a:defRPr>
                      </a:pPr>
                      <a:r>
                        <a:t>0.95</a:t>
                      </a:r>
                    </a:p>
                  </a:txBody>
                  <a:tcPr marL="146304" marR="146304" marT="13716" marB="13716" anchor="ctr">
                    <a:lnB w="3175" cap="flat">
                      <a:solidFill>
                        <a:srgbClr val="B8B8B8"/>
                      </a:solidFill>
                    </a:lnB>
                    <a:solidFill>
                      <a:srgbClr val="FFFFFF"/>
                    </a:solidFill>
                  </a:tcPr>
                </a:tc>
                <a:tc>
                  <a:txBody>
                    <a:bodyPr/>
                    <a:lstStyle/>
                    <a:p>
                      <a:pPr>
                        <a:defRPr sz="1100" b="0">
                          <a:solidFill>
                            <a:srgbClr val="000000"/>
                          </a:solidFill>
                          <a:latin typeface="Lato"/>
                        </a:defRPr>
                      </a:pPr>
                      <a:r>
                        <a:t>Unset</a:t>
                      </a:r>
                    </a:p>
                  </a:txBody>
                  <a:tcPr marL="146304" marR="146304" marT="13716" marB="13716" anchor="ctr">
                    <a:lnB w="3175" cap="flat">
                      <a:solidFill>
                        <a:srgbClr val="B8B8B8"/>
                      </a:solidFill>
                    </a:lnB>
                    <a:solidFill>
                      <a:srgbClr val="FFFFFF"/>
                    </a:solidFill>
                  </a:tcPr>
                </a:tc>
                <a:tc>
                  <a:txBody>
                    <a:bodyPr/>
                    <a:lstStyle/>
                    <a:p>
                      <a:pPr>
                        <a:defRPr sz="1100" b="0">
                          <a:solidFill>
                            <a:srgbClr val="000000"/>
                          </a:solidFill>
                          <a:latin typeface="Lato"/>
                        </a:defRPr>
                      </a:pPr>
                      <a:r>
                        <a:t>0.81</a:t>
                      </a:r>
                    </a:p>
                  </a:txBody>
                  <a:tcPr marL="146304" marR="146304" marT="13716" marB="13716" anchor="ctr">
                    <a:lnB w="3175" cap="flat">
                      <a:solidFill>
                        <a:srgbClr val="B8B8B8"/>
                      </a:solidFill>
                    </a:lnB>
                    <a:solidFill>
                      <a:srgbClr val="FFFFFF"/>
                    </a:solidFill>
                  </a:tcPr>
                </a:tc>
                <a:tc>
                  <a:txBody>
                    <a:bodyPr/>
                    <a:lstStyle/>
                    <a:p>
                      <a:pPr>
                        <a:defRPr sz="1100" b="0">
                          <a:solidFill>
                            <a:srgbClr val="000000"/>
                          </a:solidFill>
                          <a:latin typeface="Lato"/>
                        </a:defRPr>
                      </a:pPr>
                      <a:r>
                        <a:t>Not modelled</a:t>
                      </a:r>
                    </a:p>
                  </a:txBody>
                  <a:tcPr marL="146304" marR="146304" marT="13716" marB="13716" anchor="ctr">
                    <a:lnB w="3175" cap="flat">
                      <a:solidFill>
                        <a:srgbClr val="B8B8B8"/>
                      </a:solidFill>
                    </a:lnB>
                    <a:solidFill>
                      <a:srgbClr val="FFFFFF"/>
                    </a:solidFill>
                  </a:tcPr>
                </a:tc>
              </a:tr>
            </a:tbl>
          </a:graphicData>
        </a:graphic>
      </p:graphicFrame>
      <p:sp>
        <p:nvSpPr>
          <p:cNvPr id="12" name="TextBox 11"/>
          <p:cNvSpPr txBox="1"/>
          <p:nvPr/>
        </p:nvSpPr>
        <p:spPr>
          <a:xfrm>
            <a:off x="502920" y="5833872"/>
            <a:ext cx="1737360" cy="228600"/>
          </a:xfrm>
          <a:prstGeom prst="rect">
            <a:avLst/>
          </a:prstGeom>
          <a:noFill/>
        </p:spPr>
        <p:txBody>
          <a:bodyPr wrap="square" lIns="18288" rIns="18288" tIns="0" bIns="0">
            <a:spAutoFit/>
          </a:bodyPr>
          <a:lstStyle/>
          <a:p>
            <a:pPr>
              <a:spcAft>
                <a:spcPts val="800"/>
              </a:spcAft>
              <a:defRPr sz="850" b="0">
                <a:solidFill>
                  <a:srgbClr val="000000"/>
                </a:solidFill>
                <a:latin typeface="Lato"/>
              </a:defRPr>
            </a:pPr>
            <a:r>
              <a:rPr u="sng">
                <a:hlinkClick r:id="rId2"/>
              </a:rPr>
              <a:t>[1] Engen, Apr 2021</a:t>
            </a:r>
          </a:p>
        </p:txBody>
      </p:sp>
      <p:sp>
        <p:nvSpPr>
          <p:cNvPr id="13" name="TextBox 12"/>
          <p:cNvSpPr txBox="1"/>
          <p:nvPr/>
        </p:nvSpPr>
        <p:spPr>
          <a:xfrm>
            <a:off x="2286000" y="5833872"/>
            <a:ext cx="1737360" cy="228600"/>
          </a:xfrm>
          <a:prstGeom prst="rect">
            <a:avLst/>
          </a:prstGeom>
          <a:noFill/>
        </p:spPr>
        <p:txBody>
          <a:bodyPr wrap="square" lIns="18288" rIns="18288" tIns="0" bIns="0">
            <a:spAutoFit/>
          </a:bodyPr>
          <a:lstStyle/>
          <a:p>
            <a:pPr>
              <a:spcAft>
                <a:spcPts val="800"/>
              </a:spcAft>
              <a:defRPr sz="850" b="0">
                <a:solidFill>
                  <a:srgbClr val="000000"/>
                </a:solidFill>
                <a:latin typeface="Lato"/>
              </a:defRPr>
            </a:pPr>
            <a:r>
              <a:rPr u="sng">
                <a:hlinkClick r:id="rId3"/>
              </a:rPr>
              <a:t>[2] CEF, 9 Sep 2026</a:t>
            </a:r>
          </a:p>
        </p:txBody>
      </p:sp>
      <p:sp>
        <p:nvSpPr>
          <p:cNvPr id="14" name="TextBox 13"/>
          <p:cNvSpPr txBox="1"/>
          <p:nvPr/>
        </p:nvSpPr>
        <p:spPr>
          <a:xfrm>
            <a:off x="4069080" y="5833872"/>
            <a:ext cx="1737360" cy="228600"/>
          </a:xfrm>
          <a:prstGeom prst="rect">
            <a:avLst/>
          </a:prstGeom>
          <a:noFill/>
        </p:spPr>
        <p:txBody>
          <a:bodyPr wrap="square" lIns="18288" rIns="18288" tIns="0" bIns="0">
            <a:spAutoFit/>
          </a:bodyPr>
          <a:lstStyle/>
          <a:p>
            <a:pPr>
              <a:spcAft>
                <a:spcPts val="800"/>
              </a:spcAft>
              <a:defRPr sz="850" b="0">
                <a:solidFill>
                  <a:srgbClr val="000000"/>
                </a:solidFill>
                <a:latin typeface="Lato"/>
              </a:defRPr>
            </a:pPr>
            <a:r>
              <a:rPr u="sng">
                <a:hlinkClick r:id="rId4"/>
              </a:rPr>
              <a:t>[3] Sasol, 1 Sep 2026</a:t>
            </a:r>
          </a:p>
        </p:txBody>
      </p:sp>
      <p:sp>
        <p:nvSpPr>
          <p:cNvPr id="15" name="TextBox 14"/>
          <p:cNvSpPr txBox="1"/>
          <p:nvPr/>
        </p:nvSpPr>
        <p:spPr>
          <a:xfrm>
            <a:off x="5852159" y="5833872"/>
            <a:ext cx="1737360" cy="228600"/>
          </a:xfrm>
          <a:prstGeom prst="rect">
            <a:avLst/>
          </a:prstGeom>
          <a:noFill/>
        </p:spPr>
        <p:txBody>
          <a:bodyPr wrap="square" lIns="18288" rIns="18288" tIns="0" bIns="0">
            <a:spAutoFit/>
          </a:bodyPr>
          <a:lstStyle/>
          <a:p>
            <a:pPr>
              <a:spcAft>
                <a:spcPts val="800"/>
              </a:spcAft>
              <a:defRPr sz="850" b="0">
                <a:solidFill>
                  <a:srgbClr val="000000"/>
                </a:solidFill>
                <a:latin typeface="Lato"/>
              </a:defRPr>
            </a:pPr>
            <a:r>
              <a:rPr u="sng">
                <a:hlinkClick r:id="rId5"/>
              </a:rPr>
              <a:t>[4] Sasol, 1 Sep 2026</a:t>
            </a:r>
          </a:p>
        </p:txBody>
      </p:sp>
      <p:sp>
        <p:nvSpPr>
          <p:cNvPr id="16" name="TextBox 15"/>
          <p:cNvSpPr txBox="1"/>
          <p:nvPr/>
        </p:nvSpPr>
        <p:spPr>
          <a:xfrm>
            <a:off x="7635240" y="5833872"/>
            <a:ext cx="1737360" cy="228600"/>
          </a:xfrm>
          <a:prstGeom prst="rect">
            <a:avLst/>
          </a:prstGeom>
          <a:noFill/>
        </p:spPr>
        <p:txBody>
          <a:bodyPr wrap="square" lIns="18288" rIns="18288" tIns="0" bIns="0">
            <a:spAutoFit/>
          </a:bodyPr>
          <a:lstStyle/>
          <a:p>
            <a:pPr>
              <a:spcAft>
                <a:spcPts val="800"/>
              </a:spcAft>
              <a:defRPr sz="850" b="0">
                <a:solidFill>
                  <a:srgbClr val="000000"/>
                </a:solidFill>
                <a:latin typeface="Lato"/>
              </a:defRPr>
            </a:pPr>
            <a:r>
              <a:rPr u="sng">
                <a:hlinkClick r:id="rId6"/>
              </a:rPr>
              <a:t>[5] DMPR, 10 Mar 2026</a:t>
            </a:r>
          </a:p>
        </p:txBody>
      </p:sp>
      <p:sp>
        <p:nvSpPr>
          <p:cNvPr id="17" name="TextBox 16"/>
          <p:cNvSpPr txBox="1"/>
          <p:nvPr/>
        </p:nvSpPr>
        <p:spPr>
          <a:xfrm>
            <a:off x="9418320" y="5833872"/>
            <a:ext cx="1737360" cy="228600"/>
          </a:xfrm>
          <a:prstGeom prst="rect">
            <a:avLst/>
          </a:prstGeom>
          <a:noFill/>
        </p:spPr>
        <p:txBody>
          <a:bodyPr wrap="square" lIns="18288" rIns="18288" tIns="0" bIns="0">
            <a:spAutoFit/>
          </a:bodyPr>
          <a:lstStyle/>
          <a:p>
            <a:pPr>
              <a:spcAft>
                <a:spcPts val="800"/>
              </a:spcAft>
              <a:defRPr sz="850" b="0">
                <a:solidFill>
                  <a:srgbClr val="000000"/>
                </a:solidFill>
                <a:latin typeface="Lato"/>
              </a:defRPr>
            </a:pPr>
            <a:r>
              <a:rPr u="sng">
                <a:hlinkClick r:id="rId7"/>
              </a:rPr>
              <a:t>[6] CEF, 23 Sep 2026</a:t>
            </a:r>
          </a:p>
        </p:txBody>
      </p:sp>
      <p:sp>
        <p:nvSpPr>
          <p:cNvPr id="18" name="TextBox 17"/>
          <p:cNvSpPr txBox="1"/>
          <p:nvPr/>
        </p:nvSpPr>
        <p:spPr>
          <a:xfrm>
            <a:off x="502920" y="6172200"/>
            <a:ext cx="10469880" cy="27432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*Published evidence, not confirmation of today’s availability. H/L production remains linked to demand; M and imports are unset.</a:t>
            </a:r>
          </a:p>
        </p:txBody>
      </p:sp>
      <p:sp>
        <p:nvSpPr>
          <p:cNvPr id="19" name="TextBox 18"/>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Sources: [1–6] linked operating evidence above; model capacity and 2030 output: supply.yaml; refinery_production.csv; supply.flows. Provisional.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Distinguish required imports from imports that can actually be delivered</a:t>
            </a:r>
          </a:p>
        </p:txBody>
      </p:sp>
      <p:sp>
        <p:nvSpPr>
          <p:cNvPr id="3" name="Slide Number Placeholder"/>
          <p:cNvSpPr>
            <a:spLocks noGrp="1"/>
          </p:cNvSpPr>
          <p:nvPr>
            <p:ph type="sldNum" sz="quarter" idx="12"/>
          </p:nvPr>
        </p:nvSpPr>
        <p:spPr/>
        <p:txBody>
          <a:bodyPr/>
          <a:lstStyle/>
          <a:p>
            <a:fld id="{14435440-C0D5-4D80-A21F-7E731CFB6FED}"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502920" y="1645920"/>
            <a:ext cx="10515600" cy="365760"/>
          </a:xfrm>
          <a:prstGeom prst="rect">
            <a:avLst/>
          </a:prstGeom>
          <a:noFill/>
        </p:spPr>
        <p:txBody>
          <a:bodyPr wrap="square" lIns="18288" rIns="18288" tIns="0" bIns="0">
            <a:spAutoFit/>
          </a:bodyPr>
          <a:lstStyle/>
          <a:p>
            <a:pPr>
              <a:spcAft>
                <a:spcPts val="800"/>
              </a:spcAft>
              <a:defRPr sz="1600" b="0">
                <a:solidFill>
                  <a:srgbClr val="000000"/>
                </a:solidFill>
                <a:latin typeface="Lato"/>
              </a:defRPr>
            </a:pPr>
            <a:r>
              <a:t>South Africa | billion litres | workbook imports and Python import requirements</a:t>
            </a:r>
          </a:p>
        </p:txBody>
      </p:sp>
      <p:graphicFrame>
        <p:nvGraphicFramePr>
          <p:cNvPr id="9" name="Table 8"/>
          <p:cNvGraphicFramePr>
            <a:graphicFrameLocks noGrp="1"/>
          </p:cNvGraphicFramePr>
          <p:nvPr/>
        </p:nvGraphicFramePr>
        <p:xfrm>
          <a:off x="457200" y="2240280"/>
          <a:ext cx="10469876" cy="1554480"/>
        </p:xfrm>
        <a:graphic>
          <a:graphicData uri="http://schemas.openxmlformats.org/drawingml/2006/table">
            <a:tbl>
              <a:tblPr firstRow="1" bandRow="1">
                <a:tableStyleId>{2D5ABB26-0587-4C30-8999-92F81FD0307C}</a:tableStyleId>
              </a:tblPr>
              <a:tblGrid>
                <a:gridCol w="1005840"/>
                <a:gridCol w="1965960"/>
                <a:gridCol w="1874519"/>
                <a:gridCol w="1874519"/>
                <a:gridCol w="1874519"/>
                <a:gridCol w="1874519"/>
              </a:tblGrid>
              <a:tr h="388620">
                <a:tc>
                  <a:txBody>
                    <a:bodyPr/>
                    <a:lstStyle/>
                    <a:p>
                      <a:pPr>
                        <a:defRPr sz="1500" b="1">
                          <a:solidFill>
                            <a:srgbClr val="000000"/>
                          </a:solidFill>
                          <a:latin typeface="Lato"/>
                        </a:defRPr>
                      </a:pPr>
                      <a:r>
                        <a:t>Fuel</a:t>
                      </a:r>
                    </a:p>
                  </a:txBody>
                  <a:tcPr marL="146304" marR="146304" marT="22860" marB="22860" anchor="ctr">
                    <a:lnB w="4445" cap="flat">
                      <a:solidFill>
                        <a:srgbClr val="A0A0A0"/>
                      </a:solidFill>
                    </a:lnB>
                    <a:solidFill>
                      <a:srgbClr val="FFFFFF"/>
                    </a:solidFill>
                  </a:tcPr>
                </a:tc>
                <a:tc>
                  <a:txBody>
                    <a:bodyPr/>
                    <a:lstStyle/>
                    <a:p>
                      <a:pPr>
                        <a:defRPr sz="1500" b="1">
                          <a:solidFill>
                            <a:srgbClr val="000000"/>
                          </a:solidFill>
                          <a:latin typeface="Lato"/>
                        </a:defRPr>
                      </a:pPr>
                      <a:r>
                        <a:t>2022 recorded imports</a:t>
                      </a:r>
                    </a:p>
                  </a:txBody>
                  <a:tcPr marL="146304" marR="146304" marT="22860" marB="22860" anchor="ctr">
                    <a:lnB w="4445" cap="flat">
                      <a:solidFill>
                        <a:srgbClr val="A0A0A0"/>
                      </a:solidFill>
                    </a:lnB>
                    <a:solidFill>
                      <a:srgbClr val="FFFFFF"/>
                    </a:solidFill>
                  </a:tcPr>
                </a:tc>
                <a:tc>
                  <a:txBody>
                    <a:bodyPr/>
                    <a:lstStyle/>
                    <a:p>
                      <a:pPr>
                        <a:defRPr sz="1500" b="1">
                          <a:solidFill>
                            <a:srgbClr val="000000"/>
                          </a:solidFill>
                          <a:latin typeface="Lato"/>
                        </a:defRPr>
                      </a:pPr>
                      <a:r>
                        <a:t>Excel 2030 H</a:t>
                      </a:r>
                    </a:p>
                  </a:txBody>
                  <a:tcPr marL="146304" marR="146304" marT="22860" marB="22860" anchor="ctr">
                    <a:lnB w="4445" cap="flat">
                      <a:solidFill>
                        <a:srgbClr val="A0A0A0"/>
                      </a:solidFill>
                    </a:lnB>
                    <a:solidFill>
                      <a:srgbClr val="FFFFFF"/>
                    </a:solidFill>
                  </a:tcPr>
                </a:tc>
                <a:tc>
                  <a:txBody>
                    <a:bodyPr/>
                    <a:lstStyle/>
                    <a:p>
                      <a:pPr>
                        <a:defRPr sz="1500" b="1">
                          <a:solidFill>
                            <a:srgbClr val="000000"/>
                          </a:solidFill>
                          <a:latin typeface="Lato"/>
                        </a:defRPr>
                      </a:pPr>
                      <a:r>
                        <a:t>Excel 2030 L</a:t>
                      </a:r>
                    </a:p>
                  </a:txBody>
                  <a:tcPr marL="146304" marR="146304" marT="22860" marB="22860" anchor="ctr">
                    <a:lnB w="4445" cap="flat">
                      <a:solidFill>
                        <a:srgbClr val="A0A0A0"/>
                      </a:solidFill>
                    </a:lnB>
                    <a:solidFill>
                      <a:srgbClr val="FFFFFF"/>
                    </a:solidFill>
                  </a:tcPr>
                </a:tc>
                <a:tc>
                  <a:txBody>
                    <a:bodyPr/>
                    <a:lstStyle/>
                    <a:p>
                      <a:pPr>
                        <a:defRPr sz="1500" b="1">
                          <a:solidFill>
                            <a:srgbClr val="000000"/>
                          </a:solidFill>
                          <a:latin typeface="Lato"/>
                        </a:defRPr>
                      </a:pPr>
                      <a:r>
                        <a:t>Python 2030 H</a:t>
                      </a:r>
                    </a:p>
                  </a:txBody>
                  <a:tcPr marL="146304" marR="146304" marT="22860" marB="22860" anchor="ctr">
                    <a:lnB w="4445" cap="flat">
                      <a:solidFill>
                        <a:srgbClr val="A0A0A0"/>
                      </a:solidFill>
                    </a:lnB>
                    <a:solidFill>
                      <a:srgbClr val="FFFFFF"/>
                    </a:solidFill>
                  </a:tcPr>
                </a:tc>
                <a:tc>
                  <a:txBody>
                    <a:bodyPr/>
                    <a:lstStyle/>
                    <a:p>
                      <a:pPr>
                        <a:defRPr sz="1500" b="1">
                          <a:solidFill>
                            <a:srgbClr val="000000"/>
                          </a:solidFill>
                          <a:latin typeface="Lato"/>
                        </a:defRPr>
                      </a:pPr>
                      <a:r>
                        <a:t>Python 2030 L</a:t>
                      </a:r>
                    </a:p>
                  </a:txBody>
                  <a:tcPr marL="146304" marR="146304" marT="22860" marB="22860" anchor="ctr">
                    <a:lnB w="4445" cap="flat">
                      <a:solidFill>
                        <a:srgbClr val="A0A0A0"/>
                      </a:solidFill>
                    </a:lnB>
                    <a:solidFill>
                      <a:srgbClr val="FFFFFF"/>
                    </a:solidFill>
                  </a:tcPr>
                </a:tc>
              </a:tr>
              <a:tr h="388620">
                <a:tc>
                  <a:txBody>
                    <a:bodyPr/>
                    <a:lstStyle/>
                    <a:p>
                      <a:pPr>
                        <a:defRPr sz="1500" b="0">
                          <a:solidFill>
                            <a:srgbClr val="000000"/>
                          </a:solidFill>
                          <a:latin typeface="Lato"/>
                        </a:defRPr>
                      </a:pPr>
                      <a:r>
                        <a:t>Petrol</a:t>
                      </a:r>
                    </a:p>
                  </a:txBody>
                  <a:tcPr marL="146304" marR="146304" marT="22860" marB="22860" anchor="ctr">
                    <a:lnB w="3175" cap="flat">
                      <a:solidFill>
                        <a:srgbClr val="B8B8B8"/>
                      </a:solidFill>
                    </a:lnB>
                    <a:solidFill>
                      <a:srgbClr val="FFFFFF"/>
                    </a:solidFill>
                  </a:tcPr>
                </a:tc>
                <a:tc>
                  <a:txBody>
                    <a:bodyPr/>
                    <a:lstStyle/>
                    <a:p>
                      <a:pPr>
                        <a:defRPr sz="1500" b="0">
                          <a:solidFill>
                            <a:srgbClr val="000000"/>
                          </a:solidFill>
                          <a:latin typeface="Lato"/>
                        </a:defRPr>
                      </a:pPr>
                      <a:r>
                        <a:t>5.46</a:t>
                      </a:r>
                    </a:p>
                  </a:txBody>
                  <a:tcPr marL="146304" marR="146304" marT="22860" marB="22860" anchor="ctr">
                    <a:lnB w="3175" cap="flat">
                      <a:solidFill>
                        <a:srgbClr val="B8B8B8"/>
                      </a:solidFill>
                    </a:lnB>
                    <a:solidFill>
                      <a:srgbClr val="FFFFFF"/>
                    </a:solidFill>
                  </a:tcPr>
                </a:tc>
                <a:tc>
                  <a:txBody>
                    <a:bodyPr/>
                    <a:lstStyle/>
                    <a:p>
                      <a:pPr>
                        <a:defRPr sz="1500" b="0">
                          <a:solidFill>
                            <a:srgbClr val="000000"/>
                          </a:solidFill>
                          <a:latin typeface="Lato"/>
                        </a:defRPr>
                      </a:pPr>
                      <a:r>
                        <a:t>2.56</a:t>
                      </a:r>
                    </a:p>
                  </a:txBody>
                  <a:tcPr marL="146304" marR="146304" marT="22860" marB="22860" anchor="ctr">
                    <a:lnB w="3175" cap="flat">
                      <a:solidFill>
                        <a:srgbClr val="B8B8B8"/>
                      </a:solidFill>
                    </a:lnB>
                    <a:solidFill>
                      <a:srgbClr val="FFFFFF"/>
                    </a:solidFill>
                  </a:tcPr>
                </a:tc>
                <a:tc>
                  <a:txBody>
                    <a:bodyPr/>
                    <a:lstStyle/>
                    <a:p>
                      <a:pPr>
                        <a:defRPr sz="1500" b="0">
                          <a:solidFill>
                            <a:srgbClr val="000000"/>
                          </a:solidFill>
                          <a:latin typeface="Lato"/>
                        </a:defRPr>
                      </a:pPr>
                      <a:r>
                        <a:t>4.39</a:t>
                      </a:r>
                    </a:p>
                  </a:txBody>
                  <a:tcPr marL="146304" marR="146304" marT="22860" marB="22860" anchor="ctr">
                    <a:lnB w="3175" cap="flat">
                      <a:solidFill>
                        <a:srgbClr val="B8B8B8"/>
                      </a:solidFill>
                    </a:lnB>
                    <a:solidFill>
                      <a:srgbClr val="FFFFFF"/>
                    </a:solidFill>
                  </a:tcPr>
                </a:tc>
                <a:tc>
                  <a:txBody>
                    <a:bodyPr/>
                    <a:lstStyle/>
                    <a:p>
                      <a:pPr>
                        <a:defRPr sz="1500" b="0">
                          <a:solidFill>
                            <a:srgbClr val="000000"/>
                          </a:solidFill>
                          <a:latin typeface="Lato"/>
                        </a:defRPr>
                      </a:pPr>
                      <a:r>
                        <a:t>1.53</a:t>
                      </a:r>
                    </a:p>
                  </a:txBody>
                  <a:tcPr marL="146304" marR="146304" marT="22860" marB="22860" anchor="ctr">
                    <a:lnB w="3175" cap="flat">
                      <a:solidFill>
                        <a:srgbClr val="B8B8B8"/>
                      </a:solidFill>
                    </a:lnB>
                    <a:solidFill>
                      <a:srgbClr val="FFFFFF"/>
                    </a:solidFill>
                  </a:tcPr>
                </a:tc>
                <a:tc>
                  <a:txBody>
                    <a:bodyPr/>
                    <a:lstStyle/>
                    <a:p>
                      <a:pPr>
                        <a:defRPr sz="1500" b="0">
                          <a:solidFill>
                            <a:srgbClr val="000000"/>
                          </a:solidFill>
                          <a:latin typeface="Lato"/>
                        </a:defRPr>
                      </a:pPr>
                      <a:r>
                        <a:t>1.94</a:t>
                      </a:r>
                    </a:p>
                  </a:txBody>
                  <a:tcPr marL="146304" marR="146304" marT="22860" marB="22860" anchor="ctr">
                    <a:lnB w="3175" cap="flat">
                      <a:solidFill>
                        <a:srgbClr val="B8B8B8"/>
                      </a:solidFill>
                    </a:lnB>
                    <a:solidFill>
                      <a:srgbClr val="FFFFFF"/>
                    </a:solidFill>
                  </a:tcPr>
                </a:tc>
              </a:tr>
              <a:tr h="388620">
                <a:tc>
                  <a:txBody>
                    <a:bodyPr/>
                    <a:lstStyle/>
                    <a:p>
                      <a:pPr>
                        <a:defRPr sz="1500" b="0">
                          <a:solidFill>
                            <a:srgbClr val="000000"/>
                          </a:solidFill>
                          <a:latin typeface="Lato"/>
                        </a:defRPr>
                      </a:pPr>
                      <a:r>
                        <a:t>Diesel</a:t>
                      </a:r>
                    </a:p>
                  </a:txBody>
                  <a:tcPr marL="146304" marR="146304" marT="22860" marB="22860" anchor="ctr">
                    <a:lnB w="3175" cap="flat">
                      <a:solidFill>
                        <a:srgbClr val="B8B8B8"/>
                      </a:solidFill>
                    </a:lnB>
                    <a:solidFill>
                      <a:srgbClr val="FFFFFF"/>
                    </a:solidFill>
                  </a:tcPr>
                </a:tc>
                <a:tc>
                  <a:txBody>
                    <a:bodyPr/>
                    <a:lstStyle/>
                    <a:p>
                      <a:pPr>
                        <a:defRPr sz="1500" b="0">
                          <a:solidFill>
                            <a:srgbClr val="000000"/>
                          </a:solidFill>
                          <a:latin typeface="Lato"/>
                        </a:defRPr>
                      </a:pPr>
                      <a:r>
                        <a:t>11.91</a:t>
                      </a:r>
                    </a:p>
                  </a:txBody>
                  <a:tcPr marL="146304" marR="146304" marT="22860" marB="22860" anchor="ctr">
                    <a:lnB w="3175" cap="flat">
                      <a:solidFill>
                        <a:srgbClr val="B8B8B8"/>
                      </a:solidFill>
                    </a:lnB>
                    <a:solidFill>
                      <a:srgbClr val="FFFFFF"/>
                    </a:solidFill>
                  </a:tcPr>
                </a:tc>
                <a:tc>
                  <a:txBody>
                    <a:bodyPr/>
                    <a:lstStyle/>
                    <a:p>
                      <a:pPr>
                        <a:defRPr sz="1500" b="0">
                          <a:solidFill>
                            <a:srgbClr val="000000"/>
                          </a:solidFill>
                          <a:latin typeface="Lato"/>
                        </a:defRPr>
                      </a:pPr>
                      <a:r>
                        <a:t>11.60</a:t>
                      </a:r>
                    </a:p>
                  </a:txBody>
                  <a:tcPr marL="146304" marR="146304" marT="22860" marB="22860" anchor="ctr">
                    <a:lnB w="3175" cap="flat">
                      <a:solidFill>
                        <a:srgbClr val="B8B8B8"/>
                      </a:solidFill>
                    </a:lnB>
                    <a:solidFill>
                      <a:srgbClr val="FFFFFF"/>
                    </a:solidFill>
                  </a:tcPr>
                </a:tc>
                <a:tc>
                  <a:txBody>
                    <a:bodyPr/>
                    <a:lstStyle/>
                    <a:p>
                      <a:pPr>
                        <a:defRPr sz="1500" b="0">
                          <a:solidFill>
                            <a:srgbClr val="000000"/>
                          </a:solidFill>
                          <a:latin typeface="Lato"/>
                        </a:defRPr>
                      </a:pPr>
                      <a:r>
                        <a:t>9.66</a:t>
                      </a:r>
                    </a:p>
                  </a:txBody>
                  <a:tcPr marL="146304" marR="146304" marT="22860" marB="22860" anchor="ctr">
                    <a:lnB w="3175" cap="flat">
                      <a:solidFill>
                        <a:srgbClr val="B8B8B8"/>
                      </a:solidFill>
                    </a:lnB>
                    <a:solidFill>
                      <a:srgbClr val="FFFFFF"/>
                    </a:solidFill>
                  </a:tcPr>
                </a:tc>
                <a:tc>
                  <a:txBody>
                    <a:bodyPr/>
                    <a:lstStyle/>
                    <a:p>
                      <a:pPr>
                        <a:defRPr sz="1500" b="0">
                          <a:solidFill>
                            <a:srgbClr val="000000"/>
                          </a:solidFill>
                          <a:latin typeface="Lato"/>
                        </a:defRPr>
                      </a:pPr>
                      <a:r>
                        <a:t>15.15</a:t>
                      </a:r>
                    </a:p>
                  </a:txBody>
                  <a:tcPr marL="146304" marR="146304" marT="22860" marB="22860" anchor="ctr">
                    <a:lnB w="3175" cap="flat">
                      <a:solidFill>
                        <a:srgbClr val="B8B8B8"/>
                      </a:solidFill>
                    </a:lnB>
                    <a:solidFill>
                      <a:srgbClr val="FFFFFF"/>
                    </a:solidFill>
                  </a:tcPr>
                </a:tc>
                <a:tc>
                  <a:txBody>
                    <a:bodyPr/>
                    <a:lstStyle/>
                    <a:p>
                      <a:pPr>
                        <a:defRPr sz="1500" b="0">
                          <a:solidFill>
                            <a:srgbClr val="000000"/>
                          </a:solidFill>
                          <a:latin typeface="Lato"/>
                        </a:defRPr>
                      </a:pPr>
                      <a:r>
                        <a:t>11.39</a:t>
                      </a:r>
                    </a:p>
                  </a:txBody>
                  <a:tcPr marL="146304" marR="146304" marT="22860" marB="22860" anchor="ctr">
                    <a:lnB w="3175" cap="flat">
                      <a:solidFill>
                        <a:srgbClr val="B8B8B8"/>
                      </a:solidFill>
                    </a:lnB>
                    <a:solidFill>
                      <a:srgbClr val="FFFFFF"/>
                    </a:solidFill>
                  </a:tcPr>
                </a:tc>
              </a:tr>
              <a:tr h="388620">
                <a:tc>
                  <a:txBody>
                    <a:bodyPr/>
                    <a:lstStyle/>
                    <a:p>
                      <a:pPr>
                        <a:defRPr sz="1500" b="0">
                          <a:solidFill>
                            <a:srgbClr val="000000"/>
                          </a:solidFill>
                          <a:latin typeface="Lato"/>
                        </a:defRPr>
                      </a:pPr>
                      <a:r>
                        <a:t>Jet</a:t>
                      </a:r>
                    </a:p>
                  </a:txBody>
                  <a:tcPr marL="146304" marR="146304" marT="22860" marB="22860" anchor="ctr">
                    <a:lnB w="3175" cap="flat">
                      <a:solidFill>
                        <a:srgbClr val="B8B8B8"/>
                      </a:solidFill>
                    </a:lnB>
                    <a:solidFill>
                      <a:srgbClr val="FFFFFF"/>
                    </a:solidFill>
                  </a:tcPr>
                </a:tc>
                <a:tc>
                  <a:txBody>
                    <a:bodyPr/>
                    <a:lstStyle/>
                    <a:p>
                      <a:pPr>
                        <a:defRPr sz="1500" b="0">
                          <a:solidFill>
                            <a:srgbClr val="000000"/>
                          </a:solidFill>
                          <a:latin typeface="Lato"/>
                        </a:defRPr>
                      </a:pPr>
                      <a:r>
                        <a:t>1.06</a:t>
                      </a:r>
                    </a:p>
                  </a:txBody>
                  <a:tcPr marL="146304" marR="146304" marT="22860" marB="22860" anchor="ctr">
                    <a:lnB w="3175" cap="flat">
                      <a:solidFill>
                        <a:srgbClr val="B8B8B8"/>
                      </a:solidFill>
                    </a:lnB>
                    <a:solidFill>
                      <a:srgbClr val="FFFFFF"/>
                    </a:solidFill>
                  </a:tcPr>
                </a:tc>
                <a:tc>
                  <a:txBody>
                    <a:bodyPr/>
                    <a:lstStyle/>
                    <a:p>
                      <a:pPr>
                        <a:defRPr sz="1500" b="0">
                          <a:solidFill>
                            <a:srgbClr val="000000"/>
                          </a:solidFill>
                          <a:latin typeface="Lato"/>
                        </a:defRPr>
                      </a:pPr>
                      <a:r>
                        <a:t>2.32</a:t>
                      </a:r>
                    </a:p>
                  </a:txBody>
                  <a:tcPr marL="146304" marR="146304" marT="22860" marB="22860" anchor="ctr">
                    <a:lnB w="3175" cap="flat">
                      <a:solidFill>
                        <a:srgbClr val="B8B8B8"/>
                      </a:solidFill>
                    </a:lnB>
                    <a:solidFill>
                      <a:srgbClr val="FFFFFF"/>
                    </a:solidFill>
                  </a:tcPr>
                </a:tc>
                <a:tc>
                  <a:txBody>
                    <a:bodyPr/>
                    <a:lstStyle/>
                    <a:p>
                      <a:pPr>
                        <a:defRPr sz="1500" b="0">
                          <a:solidFill>
                            <a:srgbClr val="000000"/>
                          </a:solidFill>
                          <a:latin typeface="Lato"/>
                        </a:defRPr>
                      </a:pPr>
                      <a:r>
                        <a:t>1.72</a:t>
                      </a:r>
                    </a:p>
                  </a:txBody>
                  <a:tcPr marL="146304" marR="146304" marT="22860" marB="22860" anchor="ctr">
                    <a:lnB w="3175" cap="flat">
                      <a:solidFill>
                        <a:srgbClr val="B8B8B8"/>
                      </a:solidFill>
                    </a:lnB>
                    <a:solidFill>
                      <a:srgbClr val="FFFFFF"/>
                    </a:solidFill>
                  </a:tcPr>
                </a:tc>
                <a:tc>
                  <a:txBody>
                    <a:bodyPr/>
                    <a:lstStyle/>
                    <a:p>
                      <a:pPr>
                        <a:defRPr sz="1500" b="0">
                          <a:solidFill>
                            <a:srgbClr val="000000"/>
                          </a:solidFill>
                          <a:latin typeface="Lato"/>
                        </a:defRPr>
                      </a:pPr>
                      <a:r>
                        <a:t>1.84</a:t>
                      </a:r>
                    </a:p>
                  </a:txBody>
                  <a:tcPr marL="146304" marR="146304" marT="22860" marB="22860" anchor="ctr">
                    <a:lnB w="3175" cap="flat">
                      <a:solidFill>
                        <a:srgbClr val="B8B8B8"/>
                      </a:solidFill>
                    </a:lnB>
                    <a:solidFill>
                      <a:srgbClr val="FFFFFF"/>
                    </a:solidFill>
                  </a:tcPr>
                </a:tc>
                <a:tc>
                  <a:txBody>
                    <a:bodyPr/>
                    <a:lstStyle/>
                    <a:p>
                      <a:pPr>
                        <a:defRPr sz="1500" b="0">
                          <a:solidFill>
                            <a:srgbClr val="000000"/>
                          </a:solidFill>
                          <a:latin typeface="Lato"/>
                        </a:defRPr>
                      </a:pPr>
                      <a:r>
                        <a:t>1.53</a:t>
                      </a:r>
                    </a:p>
                  </a:txBody>
                  <a:tcPr marL="146304" marR="146304" marT="22860" marB="22860" anchor="ctr">
                    <a:lnB w="3175" cap="flat">
                      <a:solidFill>
                        <a:srgbClr val="B8B8B8"/>
                      </a:solidFill>
                    </a:lnB>
                    <a:solidFill>
                      <a:srgbClr val="FFFFFF"/>
                    </a:solidFill>
                  </a:tcPr>
                </a:tc>
              </a:tr>
            </a:tbl>
          </a:graphicData>
        </a:graphic>
      </p:graphicFrame>
      <p:sp>
        <p:nvSpPr>
          <p:cNvPr id="10" name="TextBox 9"/>
          <p:cNvSpPr txBox="1"/>
          <p:nvPr/>
        </p:nvSpPr>
        <p:spPr>
          <a:xfrm>
            <a:off x="502920" y="3977639"/>
            <a:ext cx="10515600" cy="45720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H/L identify demand cases with linked production assumptions; import volumes can move differently by fuel.</a:t>
            </a:r>
          </a:p>
        </p:txBody>
      </p:sp>
      <p:graphicFrame>
        <p:nvGraphicFramePr>
          <p:cNvPr id="11" name="Table 10"/>
          <p:cNvGraphicFramePr>
            <a:graphicFrameLocks noGrp="1"/>
          </p:cNvGraphicFramePr>
          <p:nvPr/>
        </p:nvGraphicFramePr>
        <p:xfrm>
          <a:off x="457200" y="4526280"/>
          <a:ext cx="10469880" cy="1024128"/>
        </p:xfrm>
        <a:graphic>
          <a:graphicData uri="http://schemas.openxmlformats.org/drawingml/2006/table">
            <a:tbl>
              <a:tblPr firstRow="1" bandRow="1">
                <a:tableStyleId>{2D5ABB26-0587-4C30-8999-92F81FD0307C}</a:tableStyleId>
              </a:tblPr>
              <a:tblGrid>
                <a:gridCol w="1005840"/>
                <a:gridCol w="2880360"/>
                <a:gridCol w="2880360"/>
                <a:gridCol w="3703320"/>
              </a:tblGrid>
              <a:tr h="256032">
                <a:tc>
                  <a:txBody>
                    <a:bodyPr/>
                    <a:lstStyle/>
                    <a:p>
                      <a:pPr>
                        <a:defRPr sz="1200" b="1">
                          <a:solidFill>
                            <a:srgbClr val="000000"/>
                          </a:solidFill>
                          <a:latin typeface="Lato"/>
                        </a:defRPr>
                      </a:pPr>
                      <a:r>
                        <a:t>Fuel</a:t>
                      </a:r>
                    </a:p>
                  </a:txBody>
                  <a:tcPr marL="146304" marR="146304" marT="13716" marB="13716" anchor="ctr">
                    <a:lnB w="4445" cap="flat">
                      <a:solidFill>
                        <a:srgbClr val="A0A0A0"/>
                      </a:solidFill>
                    </a:lnB>
                    <a:solidFill>
                      <a:srgbClr val="FFFFFF"/>
                    </a:solidFill>
                  </a:tcPr>
                </a:tc>
                <a:tc>
                  <a:txBody>
                    <a:bodyPr/>
                    <a:lstStyle/>
                    <a:p>
                      <a:pPr>
                        <a:defRPr sz="1200" b="1">
                          <a:solidFill>
                            <a:srgbClr val="000000"/>
                          </a:solidFill>
                          <a:latin typeface="Lato"/>
                        </a:defRPr>
                      </a:pPr>
                      <a:r>
                        <a:t>Python minus Excel: H</a:t>
                      </a:r>
                    </a:p>
                  </a:txBody>
                  <a:tcPr marL="146304" marR="146304" marT="13716" marB="13716" anchor="ctr">
                    <a:lnB w="4445" cap="flat">
                      <a:solidFill>
                        <a:srgbClr val="A0A0A0"/>
                      </a:solidFill>
                    </a:lnB>
                    <a:solidFill>
                      <a:srgbClr val="FFFFFF"/>
                    </a:solidFill>
                  </a:tcPr>
                </a:tc>
                <a:tc>
                  <a:txBody>
                    <a:bodyPr/>
                    <a:lstStyle/>
                    <a:p>
                      <a:pPr>
                        <a:defRPr sz="1200" b="1">
                          <a:solidFill>
                            <a:srgbClr val="000000"/>
                          </a:solidFill>
                          <a:latin typeface="Lato"/>
                        </a:defRPr>
                      </a:pPr>
                      <a:r>
                        <a:t>Python minus Excel: L</a:t>
                      </a:r>
                    </a:p>
                  </a:txBody>
                  <a:tcPr marL="146304" marR="146304" marT="13716" marB="13716" anchor="ctr">
                    <a:lnB w="4445" cap="flat">
                      <a:solidFill>
                        <a:srgbClr val="A0A0A0"/>
                      </a:solidFill>
                    </a:lnB>
                    <a:solidFill>
                      <a:srgbClr val="FFFFFF"/>
                    </a:solidFill>
                  </a:tcPr>
                </a:tc>
                <a:tc>
                  <a:txBody>
                    <a:bodyPr/>
                    <a:lstStyle/>
                    <a:p>
                      <a:pPr>
                        <a:defRPr sz="1200" b="1">
                          <a:solidFill>
                            <a:srgbClr val="000000"/>
                          </a:solidFill>
                          <a:latin typeface="Lato"/>
                        </a:defRPr>
                      </a:pPr>
                      <a:r>
                        <a:t>Comparison in both cases</a:t>
                      </a:r>
                    </a:p>
                  </a:txBody>
                  <a:tcPr marL="146304" marR="146304" marT="13716" marB="13716" anchor="ctr">
                    <a:lnB w="4445" cap="flat">
                      <a:solidFill>
                        <a:srgbClr val="A0A0A0"/>
                      </a:solidFill>
                    </a:lnB>
                    <a:solidFill>
                      <a:srgbClr val="FFFFFF"/>
                    </a:solidFill>
                  </a:tcPr>
                </a:tc>
              </a:tr>
              <a:tr h="256032">
                <a:tc>
                  <a:txBody>
                    <a:bodyPr/>
                    <a:lstStyle/>
                    <a:p>
                      <a:pPr>
                        <a:defRPr sz="1200" b="0">
                          <a:solidFill>
                            <a:srgbClr val="000000"/>
                          </a:solidFill>
                          <a:latin typeface="Lato"/>
                        </a:defRPr>
                      </a:pPr>
                      <a:r>
                        <a:t>Petrol</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-1.03</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-2.44</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Excel higher</a:t>
                      </a:r>
                    </a:p>
                  </a:txBody>
                  <a:tcPr marL="146304" marR="146304" marT="13716" marB="13716" anchor="ctr">
                    <a:lnB w="3175" cap="flat">
                      <a:solidFill>
                        <a:srgbClr val="B8B8B8"/>
                      </a:solidFill>
                    </a:lnB>
                    <a:solidFill>
                      <a:srgbClr val="FFFFFF"/>
                    </a:solidFill>
                  </a:tcPr>
                </a:tc>
              </a:tr>
              <a:tr h="256032">
                <a:tc>
                  <a:txBody>
                    <a:bodyPr/>
                    <a:lstStyle/>
                    <a:p>
                      <a:pPr>
                        <a:defRPr sz="1200" b="0">
                          <a:solidFill>
                            <a:srgbClr val="000000"/>
                          </a:solidFill>
                          <a:latin typeface="Lato"/>
                        </a:defRPr>
                      </a:pPr>
                      <a:r>
                        <a:t>Diesel</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+3.55</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+1.73</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Python higher</a:t>
                      </a:r>
                    </a:p>
                  </a:txBody>
                  <a:tcPr marL="146304" marR="146304" marT="13716" marB="13716" anchor="ctr">
                    <a:lnB w="3175" cap="flat">
                      <a:solidFill>
                        <a:srgbClr val="B8B8B8"/>
                      </a:solidFill>
                    </a:lnB>
                    <a:solidFill>
                      <a:srgbClr val="FFFFFF"/>
                    </a:solidFill>
                  </a:tcPr>
                </a:tc>
              </a:tr>
              <a:tr h="256032">
                <a:tc>
                  <a:txBody>
                    <a:bodyPr/>
                    <a:lstStyle/>
                    <a:p>
                      <a:pPr>
                        <a:defRPr sz="1200" b="0">
                          <a:solidFill>
                            <a:srgbClr val="000000"/>
                          </a:solidFill>
                          <a:latin typeface="Lato"/>
                        </a:defRPr>
                      </a:pPr>
                      <a:r>
                        <a:t>Jet</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-0.47</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-0.19</a:t>
                      </a:r>
                    </a:p>
                  </a:txBody>
                  <a:tcPr marL="146304" marR="146304" marT="13716" marB="13716" anchor="ctr">
                    <a:lnB w="3175" cap="flat">
                      <a:solidFill>
                        <a:srgbClr val="B8B8B8"/>
                      </a:solidFill>
                    </a:lnB>
                    <a:solidFill>
                      <a:srgbClr val="FFFFFF"/>
                    </a:solidFill>
                  </a:tcPr>
                </a:tc>
                <a:tc>
                  <a:txBody>
                    <a:bodyPr/>
                    <a:lstStyle/>
                    <a:p>
                      <a:pPr>
                        <a:defRPr sz="1200" b="0">
                          <a:solidFill>
                            <a:srgbClr val="000000"/>
                          </a:solidFill>
                          <a:latin typeface="Lato"/>
                        </a:defRPr>
                      </a:pPr>
                      <a:r>
                        <a:t>Excel higher</a:t>
                      </a:r>
                    </a:p>
                  </a:txBody>
                  <a:tcPr marL="146304" marR="146304" marT="13716" marB="13716" anchor="ctr">
                    <a:lnB w="3175" cap="flat">
                      <a:solidFill>
                        <a:srgbClr val="B8B8B8"/>
                      </a:solidFill>
                    </a:lnB>
                    <a:solidFill>
                      <a:srgbClr val="FFFFFF"/>
                    </a:solidFill>
                  </a:tcPr>
                </a:tc>
              </a:tr>
            </a:tbl>
          </a:graphicData>
        </a:graphic>
      </p:graphicFrame>
      <p:sp>
        <p:nvSpPr>
          <p:cNvPr id="12" name="TextBox 11"/>
          <p:cNvSpPr txBox="1"/>
          <p:nvPr/>
        </p:nvSpPr>
        <p:spPr>
          <a:xfrm>
            <a:off x="502920" y="5669280"/>
            <a:ext cx="10515600" cy="457200"/>
          </a:xfrm>
          <a:prstGeom prst="rect">
            <a:avLst/>
          </a:prstGeom>
          <a:noFill/>
        </p:spPr>
        <p:txBody>
          <a:bodyPr wrap="square" lIns="18288" rIns="18288" tIns="0" bIns="0">
            <a:spAutoFit/>
          </a:bodyPr>
          <a:lstStyle/>
          <a:p>
            <a:pPr>
              <a:spcAft>
                <a:spcPts val="800"/>
              </a:spcAft>
              <a:defRPr sz="1150" b="0">
                <a:solidFill>
                  <a:srgbClr val="000000"/>
                </a:solidFill>
                <a:latin typeface="Lato"/>
              </a:defRPr>
            </a:pPr>
            <a:r>
              <a:t>Differences use unrounded values. Python shows demand less domestic production, including both diesel grades. Exports, stock changes and deliverable import limits remain to add. Neither model yet runs the independent nine-case matrix.</a:t>
            </a:r>
          </a:p>
        </p:txBody>
      </p:sp>
      <p:sp>
        <p:nvSpPr>
          <p:cNvPr id="13" name="TextBox 12"/>
          <p:cNvSpPr txBox="1"/>
          <p:nvPr/>
        </p:nvSpPr>
        <p:spPr>
          <a:xfrm>
            <a:off x="502920" y="6263640"/>
            <a:ext cx="1051560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Workbook history is unverified; Notes B7 flags partial 2023 coverage, so 2022 is shown. Excel forecasts contain external workbook links.</a:t>
            </a:r>
          </a:p>
        </p:txBody>
      </p:sp>
      <p:sp>
        <p:nvSpPr>
          <p:cNvPr id="14" name="TextBox 13"/>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Inherited workbook fImports D94/D58/D22 (2022), M102/V102, M66/V66, M30/V30 (2030); Python supply.flows.compute_balance. Provisional.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Define the infrastructure inputs needed to test feasible fuel flows</a:t>
            </a:r>
          </a:p>
        </p:txBody>
      </p:sp>
      <p:sp>
        <p:nvSpPr>
          <p:cNvPr id="3" name="Slide Number Placeholder"/>
          <p:cNvSpPr>
            <a:spLocks noGrp="1"/>
          </p:cNvSpPr>
          <p:nvPr>
            <p:ph type="sldNum" sz="quarter" idx="12"/>
          </p:nvPr>
        </p:nvSpPr>
        <p:spPr/>
        <p:txBody>
          <a:bodyPr/>
          <a:lstStyle/>
          <a:p>
            <a:fld id="{4C7A7DAC-9F8A-4771-A714-65E8FC70378A}"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502920" y="1664208"/>
            <a:ext cx="10515600" cy="329184"/>
          </a:xfrm>
          <a:prstGeom prst="rect">
            <a:avLst/>
          </a:prstGeom>
          <a:noFill/>
        </p:spPr>
        <p:txBody>
          <a:bodyPr wrap="square" lIns="18288" rIns="18288" tIns="0" bIns="0">
            <a:spAutoFit/>
          </a:bodyPr>
          <a:lstStyle/>
          <a:p>
            <a:pPr>
              <a:spcAft>
                <a:spcPts val="800"/>
              </a:spcAft>
              <a:defRPr sz="1600" b="1">
                <a:solidFill>
                  <a:srgbClr val="000000"/>
                </a:solidFill>
                <a:latin typeface="Lato"/>
              </a:defRPr>
            </a:pPr>
            <a:r>
              <a:t>Required inputs by asset class | sourced assumptions to build, not validated capacities</a:t>
            </a:r>
          </a:p>
        </p:txBody>
      </p:sp>
      <p:graphicFrame>
        <p:nvGraphicFramePr>
          <p:cNvPr id="9" name="Table 8"/>
          <p:cNvGraphicFramePr>
            <a:graphicFrameLocks noGrp="1"/>
          </p:cNvGraphicFramePr>
          <p:nvPr/>
        </p:nvGraphicFramePr>
        <p:xfrm>
          <a:off x="502920" y="2176272"/>
          <a:ext cx="10652760" cy="3611880"/>
        </p:xfrm>
        <a:graphic>
          <a:graphicData uri="http://schemas.openxmlformats.org/drawingml/2006/table">
            <a:tbl>
              <a:tblPr firstRow="1" bandRow="1">
                <a:tableStyleId>{2D5ABB26-0587-4C30-8999-92F81FD0307C}</a:tableStyleId>
              </a:tblPr>
              <a:tblGrid>
                <a:gridCol w="1572768"/>
                <a:gridCol w="5504688"/>
                <a:gridCol w="3575304"/>
              </a:tblGrid>
              <a:tr h="401320">
                <a:tc>
                  <a:txBody>
                    <a:bodyPr/>
                    <a:lstStyle/>
                    <a:p>
                      <a:pPr>
                        <a:lnSpc>
                          <a:spcPct val="100000"/>
                        </a:lnSpc>
                        <a:spcBef>
                          <a:spcPts val="0"/>
                        </a:spcBef>
                        <a:spcAft>
                          <a:spcPts val="0"/>
                        </a:spcAft>
                        <a:defRPr sz="1200" b="1">
                          <a:solidFill>
                            <a:srgbClr val="000000"/>
                          </a:solidFill>
                          <a:latin typeface="Lato"/>
                        </a:defRPr>
                      </a:pPr>
                      <a:r>
                        <a:t>Asset class</a:t>
                      </a:r>
                    </a:p>
                  </a:txBody>
                  <a:tcPr marL="146304" marR="146304" marT="22860" marB="22860" anchor="ctr">
                    <a:lnB w="4445" cap="flat">
                      <a:solidFill>
                        <a:srgbClr val="A0A0A0"/>
                      </a:solidFill>
                    </a:lnB>
                    <a:solidFill>
                      <a:srgbClr val="FFFFFF"/>
                    </a:solidFill>
                  </a:tcPr>
                </a:tc>
                <a:tc>
                  <a:txBody>
                    <a:bodyPr/>
                    <a:lstStyle/>
                    <a:p>
                      <a:pPr>
                        <a:lnSpc>
                          <a:spcPct val="100000"/>
                        </a:lnSpc>
                        <a:spcBef>
                          <a:spcPts val="0"/>
                        </a:spcBef>
                        <a:spcAft>
                          <a:spcPts val="0"/>
                        </a:spcAft>
                        <a:defRPr sz="1200" b="1">
                          <a:solidFill>
                            <a:srgbClr val="000000"/>
                          </a:solidFill>
                          <a:latin typeface="Lato"/>
                        </a:defRPr>
                      </a:pPr>
                      <a:r>
                        <a:t>Required assumptions</a:t>
                      </a:r>
                    </a:p>
                  </a:txBody>
                  <a:tcPr marL="146304" marR="146304" marT="22860" marB="22860" anchor="ctr">
                    <a:lnB w="4445" cap="flat">
                      <a:solidFill>
                        <a:srgbClr val="A0A0A0"/>
                      </a:solidFill>
                    </a:lnB>
                    <a:solidFill>
                      <a:srgbClr val="FFFFFF"/>
                    </a:solidFill>
                  </a:tcPr>
                </a:tc>
                <a:tc>
                  <a:txBody>
                    <a:bodyPr/>
                    <a:lstStyle/>
                    <a:p>
                      <a:pPr>
                        <a:lnSpc>
                          <a:spcPct val="100000"/>
                        </a:lnSpc>
                        <a:spcBef>
                          <a:spcPts val="0"/>
                        </a:spcBef>
                        <a:spcAft>
                          <a:spcPts val="0"/>
                        </a:spcAft>
                        <a:defRPr sz="1200" b="1">
                          <a:solidFill>
                            <a:srgbClr val="000000"/>
                          </a:solidFill>
                          <a:latin typeface="Lato"/>
                        </a:defRPr>
                      </a:pPr>
                      <a:r>
                        <a:t>Model connection</a:t>
                      </a:r>
                    </a:p>
                  </a:txBody>
                  <a:tcPr marL="146304" marR="146304" marT="22860" marB="22860" anchor="ctr">
                    <a:lnB w="4445" cap="flat">
                      <a:solidFill>
                        <a:srgbClr val="A0A0A0"/>
                      </a:solidFill>
                    </a:lnB>
                    <a:solidFill>
                      <a:srgbClr val="FFFFFF"/>
                    </a:solidFill>
                  </a:tcPr>
                </a:tc>
              </a:tr>
              <a:tr h="401320">
                <a:tc>
                  <a:txBody>
                    <a:bodyPr/>
                    <a:lstStyle/>
                    <a:p>
                      <a:pPr>
                        <a:lnSpc>
                          <a:spcPct val="100000"/>
                        </a:lnSpc>
                        <a:spcBef>
                          <a:spcPts val="0"/>
                        </a:spcBef>
                        <a:spcAft>
                          <a:spcPts val="0"/>
                        </a:spcAft>
                        <a:defRPr sz="1200" b="0">
                          <a:solidFill>
                            <a:srgbClr val="000000"/>
                          </a:solidFill>
                          <a:latin typeface="Lato"/>
                        </a:defRPr>
                      </a:pPr>
                      <a:r>
                        <a:t>Ports</a:t>
                      </a:r>
                    </a:p>
                  </a:txBody>
                  <a:tcPr marL="146304" marR="146304" marT="22860" marB="22860" anchor="ctr">
                    <a:lnB w="3175" cap="flat">
                      <a:solidFill>
                        <a:srgbClr val="B8B8B8"/>
                      </a:solidFill>
                    </a:lnB>
                    <a:solidFill>
                      <a:srgbClr val="FFFFFF"/>
                    </a:solidFill>
                  </a:tcPr>
                </a:tc>
                <a:tc>
                  <a:txBody>
                    <a:bodyPr/>
                    <a:lstStyle/>
                    <a:p>
                      <a:pPr>
                        <a:lnSpc>
                          <a:spcPct val="100000"/>
                        </a:lnSpc>
                        <a:spcBef>
                          <a:spcPts val="0"/>
                        </a:spcBef>
                        <a:spcAft>
                          <a:spcPts val="0"/>
                        </a:spcAft>
                        <a:defRPr sz="1200" b="0">
                          <a:solidFill>
                            <a:srgbClr val="000000"/>
                          </a:solidFill>
                          <a:latin typeface="Lato"/>
                        </a:defRPr>
                      </a:pPr>
                      <a:r>
                        <a:t>Berths, vessel / parcel limits, discharge rates, operating windows and terminal connections</a:t>
                      </a:r>
                    </a:p>
                  </a:txBody>
                  <a:tcPr marL="146304" marR="146304" marT="22860" marB="22860" anchor="ctr">
                    <a:lnB w="3175" cap="flat">
                      <a:solidFill>
                        <a:srgbClr val="B8B8B8"/>
                      </a:solidFill>
                    </a:lnB>
                    <a:solidFill>
                      <a:srgbClr val="FFFFFF"/>
                    </a:solidFill>
                  </a:tcPr>
                </a:tc>
                <a:tc>
                  <a:txBody>
                    <a:bodyPr/>
                    <a:lstStyle/>
                    <a:p>
                      <a:pPr>
                        <a:lnSpc>
                          <a:spcPct val="100000"/>
                        </a:lnSpc>
                        <a:spcBef>
                          <a:spcPts val="0"/>
                        </a:spcBef>
                        <a:spcAft>
                          <a:spcPts val="0"/>
                        </a:spcAft>
                        <a:defRPr sz="1200" b="0">
                          <a:solidFill>
                            <a:srgbClr val="000000"/>
                          </a:solidFill>
                          <a:latin typeface="Lato"/>
                        </a:defRPr>
                      </a:pPr>
                      <a:r>
                        <a:t>Import receipts and export dispatch</a:t>
                      </a:r>
                    </a:p>
                  </a:txBody>
                  <a:tcPr marL="146304" marR="146304" marT="22860" marB="22860" anchor="ctr">
                    <a:lnB w="3175" cap="flat">
                      <a:solidFill>
                        <a:srgbClr val="B8B8B8"/>
                      </a:solidFill>
                    </a:lnB>
                    <a:solidFill>
                      <a:srgbClr val="FFFFFF"/>
                    </a:solidFill>
                  </a:tcPr>
                </a:tc>
              </a:tr>
              <a:tr h="401320">
                <a:tc>
                  <a:txBody>
                    <a:bodyPr/>
                    <a:lstStyle/>
                    <a:p>
                      <a:pPr>
                        <a:lnSpc>
                          <a:spcPct val="100000"/>
                        </a:lnSpc>
                        <a:spcBef>
                          <a:spcPts val="0"/>
                        </a:spcBef>
                        <a:spcAft>
                          <a:spcPts val="0"/>
                        </a:spcAft>
                        <a:defRPr sz="1200" b="0">
                          <a:solidFill>
                            <a:srgbClr val="000000"/>
                          </a:solidFill>
                          <a:latin typeface="Lato"/>
                        </a:defRPr>
                      </a:pPr>
                      <a:r>
                        <a:t>Airports</a:t>
                      </a:r>
                    </a:p>
                  </a:txBody>
                  <a:tcPr marL="146304" marR="146304" marT="22860" marB="22860" anchor="ctr">
                    <a:lnB w="3175" cap="flat">
                      <a:solidFill>
                        <a:srgbClr val="B8B8B8"/>
                      </a:solidFill>
                    </a:lnB>
                    <a:solidFill>
                      <a:srgbClr val="FFFFFF"/>
                    </a:solidFill>
                  </a:tcPr>
                </a:tc>
                <a:tc>
                  <a:txBody>
                    <a:bodyPr/>
                    <a:lstStyle/>
                    <a:p>
                      <a:pPr>
                        <a:lnSpc>
                          <a:spcPct val="100000"/>
                        </a:lnSpc>
                        <a:spcBef>
                          <a:spcPts val="0"/>
                        </a:spcBef>
                        <a:spcAft>
                          <a:spcPts val="0"/>
                        </a:spcAft>
                        <a:defRPr sz="1200" b="0">
                          <a:solidFill>
                            <a:srgbClr val="000000"/>
                          </a:solidFill>
                          <a:latin typeface="Lato"/>
                        </a:defRPr>
                      </a:pPr>
                      <a:r>
                        <a:t>Jet demand allocation, supply routes, tankage, hydrant / receipt limits and stock cover</a:t>
                      </a:r>
                    </a:p>
                  </a:txBody>
                  <a:tcPr marL="146304" marR="146304" marT="22860" marB="22860" anchor="ctr">
                    <a:lnB w="3175" cap="flat">
                      <a:solidFill>
                        <a:srgbClr val="B8B8B8"/>
                      </a:solidFill>
                    </a:lnB>
                    <a:solidFill>
                      <a:srgbClr val="FFFFFF"/>
                    </a:solidFill>
                  </a:tcPr>
                </a:tc>
                <a:tc>
                  <a:txBody>
                    <a:bodyPr/>
                    <a:lstStyle/>
                    <a:p>
                      <a:pPr>
                        <a:lnSpc>
                          <a:spcPct val="100000"/>
                        </a:lnSpc>
                        <a:spcBef>
                          <a:spcPts val="0"/>
                        </a:spcBef>
                        <a:spcAft>
                          <a:spcPts val="0"/>
                        </a:spcAft>
                        <a:defRPr sz="1200" b="0">
                          <a:solidFill>
                            <a:srgbClr val="000000"/>
                          </a:solidFill>
                          <a:latin typeface="Lato"/>
                        </a:defRPr>
                      </a:pPr>
                      <a:r>
                        <a:t>Aviation fuel delivery and inventory</a:t>
                      </a:r>
                    </a:p>
                  </a:txBody>
                  <a:tcPr marL="146304" marR="146304" marT="22860" marB="22860" anchor="ctr">
                    <a:lnB w="3175" cap="flat">
                      <a:solidFill>
                        <a:srgbClr val="B8B8B8"/>
                      </a:solidFill>
                    </a:lnB>
                    <a:solidFill>
                      <a:srgbClr val="FFFFFF"/>
                    </a:solidFill>
                  </a:tcPr>
                </a:tc>
              </a:tr>
              <a:tr h="401320">
                <a:tc>
                  <a:txBody>
                    <a:bodyPr/>
                    <a:lstStyle/>
                    <a:p>
                      <a:pPr>
                        <a:lnSpc>
                          <a:spcPct val="100000"/>
                        </a:lnSpc>
                        <a:spcBef>
                          <a:spcPts val="0"/>
                        </a:spcBef>
                        <a:spcAft>
                          <a:spcPts val="0"/>
                        </a:spcAft>
                        <a:defRPr sz="1200" b="0">
                          <a:solidFill>
                            <a:srgbClr val="000000"/>
                          </a:solidFill>
                          <a:latin typeface="Lato"/>
                        </a:defRPr>
                      </a:pPr>
                      <a:r>
                        <a:t>Rail</a:t>
                      </a:r>
                    </a:p>
                  </a:txBody>
                  <a:tcPr marL="146304" marR="146304" marT="22860" marB="22860" anchor="ctr">
                    <a:lnB w="3175" cap="flat">
                      <a:solidFill>
                        <a:srgbClr val="B8B8B8"/>
                      </a:solidFill>
                    </a:lnB>
                    <a:solidFill>
                      <a:srgbClr val="FFFFFF"/>
                    </a:solidFill>
                  </a:tcPr>
                </a:tc>
                <a:tc>
                  <a:txBody>
                    <a:bodyPr/>
                    <a:lstStyle/>
                    <a:p>
                      <a:pPr>
                        <a:lnSpc>
                          <a:spcPct val="100000"/>
                        </a:lnSpc>
                        <a:spcBef>
                          <a:spcPts val="0"/>
                        </a:spcBef>
                        <a:spcAft>
                          <a:spcPts val="0"/>
                        </a:spcAft>
                        <a:defRPr sz="1200" b="0">
                          <a:solidFill>
                            <a:srgbClr val="000000"/>
                          </a:solidFill>
                          <a:latin typeface="Lato"/>
                        </a:defRPr>
                      </a:pPr>
                      <a:r>
                        <a:t>Fuel-compatible links, train paths, wagons, payload, turnaround and service reliability</a:t>
                      </a:r>
                    </a:p>
                  </a:txBody>
                  <a:tcPr marL="146304" marR="146304" marT="22860" marB="22860" anchor="ctr">
                    <a:lnB w="3175" cap="flat">
                      <a:solidFill>
                        <a:srgbClr val="B8B8B8"/>
                      </a:solidFill>
                    </a:lnB>
                    <a:solidFill>
                      <a:srgbClr val="FFFFFF"/>
                    </a:solidFill>
                  </a:tcPr>
                </a:tc>
                <a:tc>
                  <a:txBody>
                    <a:bodyPr/>
                    <a:lstStyle/>
                    <a:p>
                      <a:pPr>
                        <a:lnSpc>
                          <a:spcPct val="100000"/>
                        </a:lnSpc>
                        <a:spcBef>
                          <a:spcPts val="0"/>
                        </a:spcBef>
                        <a:spcAft>
                          <a:spcPts val="0"/>
                        </a:spcAft>
                        <a:defRPr sz="1200" b="0">
                          <a:solidFill>
                            <a:srgbClr val="000000"/>
                          </a:solidFill>
                          <a:latin typeface="Lato"/>
                        </a:defRPr>
                      </a:pPr>
                      <a:r>
                        <a:t>Feasible rail fuel throughput</a:t>
                      </a:r>
                    </a:p>
                  </a:txBody>
                  <a:tcPr marL="146304" marR="146304" marT="22860" marB="22860" anchor="ctr">
                    <a:lnB w="3175" cap="flat">
                      <a:solidFill>
                        <a:srgbClr val="B8B8B8"/>
                      </a:solidFill>
                    </a:lnB>
                    <a:solidFill>
                      <a:srgbClr val="FFFFFF"/>
                    </a:solidFill>
                  </a:tcPr>
                </a:tc>
              </a:tr>
              <a:tr h="401320">
                <a:tc>
                  <a:txBody>
                    <a:bodyPr/>
                    <a:lstStyle/>
                    <a:p>
                      <a:pPr>
                        <a:lnSpc>
                          <a:spcPct val="100000"/>
                        </a:lnSpc>
                        <a:spcBef>
                          <a:spcPts val="0"/>
                        </a:spcBef>
                        <a:spcAft>
                          <a:spcPts val="0"/>
                        </a:spcAft>
                        <a:defRPr sz="1200" b="0">
                          <a:solidFill>
                            <a:srgbClr val="000000"/>
                          </a:solidFill>
                          <a:latin typeface="Lato"/>
                        </a:defRPr>
                      </a:pPr>
                      <a:r>
                        <a:t>Roads</a:t>
                      </a:r>
                    </a:p>
                  </a:txBody>
                  <a:tcPr marL="146304" marR="146304" marT="22860" marB="22860" anchor="ctr">
                    <a:lnB w="3175" cap="flat">
                      <a:solidFill>
                        <a:srgbClr val="B8B8B8"/>
                      </a:solidFill>
                    </a:lnB>
                    <a:solidFill>
                      <a:srgbClr val="FFFFFF"/>
                    </a:solidFill>
                  </a:tcPr>
                </a:tc>
                <a:tc>
                  <a:txBody>
                    <a:bodyPr/>
                    <a:lstStyle/>
                    <a:p>
                      <a:pPr>
                        <a:lnSpc>
                          <a:spcPct val="100000"/>
                        </a:lnSpc>
                        <a:spcBef>
                          <a:spcPts val="0"/>
                        </a:spcBef>
                        <a:spcAft>
                          <a:spcPts val="0"/>
                        </a:spcAft>
                        <a:defRPr sz="1200" b="0">
                          <a:solidFill>
                            <a:srgbClr val="000000"/>
                          </a:solidFill>
                          <a:latin typeface="Lato"/>
                        </a:defRPr>
                      </a:pPr>
                      <a:r>
                        <a:t>Routes, tanker payloads, fleet availability, trip times, access and operating restrictions</a:t>
                      </a:r>
                    </a:p>
                  </a:txBody>
                  <a:tcPr marL="146304" marR="146304" marT="22860" marB="22860" anchor="ctr">
                    <a:lnB w="3175" cap="flat">
                      <a:solidFill>
                        <a:srgbClr val="B8B8B8"/>
                      </a:solidFill>
                    </a:lnB>
                    <a:solidFill>
                      <a:srgbClr val="FFFFFF"/>
                    </a:solidFill>
                  </a:tcPr>
                </a:tc>
                <a:tc>
                  <a:txBody>
                    <a:bodyPr/>
                    <a:lstStyle/>
                    <a:p>
                      <a:pPr>
                        <a:lnSpc>
                          <a:spcPct val="100000"/>
                        </a:lnSpc>
                        <a:spcBef>
                          <a:spcPts val="0"/>
                        </a:spcBef>
                        <a:spcAft>
                          <a:spcPts val="0"/>
                        </a:spcAft>
                        <a:defRPr sz="1200" b="0">
                          <a:solidFill>
                            <a:srgbClr val="000000"/>
                          </a:solidFill>
                          <a:latin typeface="Lato"/>
                        </a:defRPr>
                      </a:pPr>
                      <a:r>
                        <a:t>Feasible road fuel throughput</a:t>
                      </a:r>
                    </a:p>
                  </a:txBody>
                  <a:tcPr marL="146304" marR="146304" marT="22860" marB="22860" anchor="ctr">
                    <a:lnB w="3175" cap="flat">
                      <a:solidFill>
                        <a:srgbClr val="B8B8B8"/>
                      </a:solidFill>
                    </a:lnB>
                    <a:solidFill>
                      <a:srgbClr val="FFFFFF"/>
                    </a:solidFill>
                  </a:tcPr>
                </a:tc>
              </a:tr>
              <a:tr h="401320">
                <a:tc>
                  <a:txBody>
                    <a:bodyPr/>
                    <a:lstStyle/>
                    <a:p>
                      <a:pPr>
                        <a:lnSpc>
                          <a:spcPct val="100000"/>
                        </a:lnSpc>
                        <a:spcBef>
                          <a:spcPts val="0"/>
                        </a:spcBef>
                        <a:spcAft>
                          <a:spcPts val="0"/>
                        </a:spcAft>
                        <a:defRPr sz="1200" b="0">
                          <a:solidFill>
                            <a:srgbClr val="000000"/>
                          </a:solidFill>
                          <a:latin typeface="Lato"/>
                        </a:defRPr>
                      </a:pPr>
                      <a:r>
                        <a:t>Pipelines</a:t>
                      </a:r>
                    </a:p>
                  </a:txBody>
                  <a:tcPr marL="146304" marR="146304" marT="22860" marB="22860" anchor="ctr">
                    <a:lnB w="3175" cap="flat">
                      <a:solidFill>
                        <a:srgbClr val="B8B8B8"/>
                      </a:solidFill>
                    </a:lnB>
                    <a:solidFill>
                      <a:srgbClr val="FFFFFF"/>
                    </a:solidFill>
                  </a:tcPr>
                </a:tc>
                <a:tc>
                  <a:txBody>
                    <a:bodyPr/>
                    <a:lstStyle/>
                    <a:p>
                      <a:pPr>
                        <a:lnSpc>
                          <a:spcPct val="100000"/>
                        </a:lnSpc>
                        <a:spcBef>
                          <a:spcPts val="0"/>
                        </a:spcBef>
                        <a:spcAft>
                          <a:spcPts val="0"/>
                        </a:spcAft>
                        <a:defRPr sz="1200" b="0">
                          <a:solidFill>
                            <a:srgbClr val="000000"/>
                          </a:solidFill>
                          <a:latin typeface="Lato"/>
                        </a:defRPr>
                      </a:pPr>
                      <a:r>
                        <a:t>Product / gas type, direction, links, throughput, availability and shared capacity</a:t>
                      </a:r>
                    </a:p>
                  </a:txBody>
                  <a:tcPr marL="146304" marR="146304" marT="22860" marB="22860" anchor="ctr">
                    <a:lnB w="3175" cap="flat">
                      <a:solidFill>
                        <a:srgbClr val="B8B8B8"/>
                      </a:solidFill>
                    </a:lnB>
                    <a:solidFill>
                      <a:srgbClr val="FFFFFF"/>
                    </a:solidFill>
                  </a:tcPr>
                </a:tc>
                <a:tc>
                  <a:txBody>
                    <a:bodyPr/>
                    <a:lstStyle/>
                    <a:p>
                      <a:pPr>
                        <a:lnSpc>
                          <a:spcPct val="100000"/>
                        </a:lnSpc>
                        <a:spcBef>
                          <a:spcPts val="0"/>
                        </a:spcBef>
                        <a:spcAft>
                          <a:spcPts val="0"/>
                        </a:spcAft>
                        <a:defRPr sz="1200" b="0">
                          <a:solidFill>
                            <a:srgbClr val="000000"/>
                          </a:solidFill>
                          <a:latin typeface="Lato"/>
                        </a:defRPr>
                      </a:pPr>
                      <a:r>
                        <a:t>Liquid-fuel flows; gas dependencies separate</a:t>
                      </a:r>
                    </a:p>
                  </a:txBody>
                  <a:tcPr marL="146304" marR="146304" marT="22860" marB="22860" anchor="ctr">
                    <a:lnB w="3175" cap="flat">
                      <a:solidFill>
                        <a:srgbClr val="B8B8B8"/>
                      </a:solidFill>
                    </a:lnB>
                    <a:solidFill>
                      <a:srgbClr val="FFFFFF"/>
                    </a:solidFill>
                  </a:tcPr>
                </a:tc>
              </a:tr>
              <a:tr h="401320">
                <a:tc>
                  <a:txBody>
                    <a:bodyPr/>
                    <a:lstStyle/>
                    <a:p>
                      <a:pPr>
                        <a:lnSpc>
                          <a:spcPct val="100000"/>
                        </a:lnSpc>
                        <a:spcBef>
                          <a:spcPts val="0"/>
                        </a:spcBef>
                        <a:spcAft>
                          <a:spcPts val="0"/>
                        </a:spcAft>
                        <a:defRPr sz="1200" b="0">
                          <a:solidFill>
                            <a:srgbClr val="000000"/>
                          </a:solidFill>
                          <a:latin typeface="Lato"/>
                        </a:defRPr>
                      </a:pPr>
                      <a:r>
                        <a:t>Power lines</a:t>
                      </a:r>
                    </a:p>
                  </a:txBody>
                  <a:tcPr marL="146304" marR="146304" marT="22860" marB="22860" anchor="ctr">
                    <a:lnB w="3175" cap="flat">
                      <a:solidFill>
                        <a:srgbClr val="B8B8B8"/>
                      </a:solidFill>
                    </a:lnB>
                    <a:solidFill>
                      <a:srgbClr val="FFFFFF"/>
                    </a:solidFill>
                  </a:tcPr>
                </a:tc>
                <a:tc>
                  <a:txBody>
                    <a:bodyPr/>
                    <a:lstStyle/>
                    <a:p>
                      <a:pPr>
                        <a:lnSpc>
                          <a:spcPct val="100000"/>
                        </a:lnSpc>
                        <a:spcBef>
                          <a:spcPts val="0"/>
                        </a:spcBef>
                        <a:spcAft>
                          <a:spcPts val="0"/>
                        </a:spcAft>
                        <a:defRPr sz="1200" b="0">
                          <a:solidFill>
                            <a:srgbClr val="000000"/>
                          </a:solidFill>
                          <a:latin typeface="Lato"/>
                        </a:defRPr>
                      </a:pPr>
                      <a:r>
                        <a:t>Grid connections, transfer limits, outages and supply reliability at relevant assets</a:t>
                      </a:r>
                    </a:p>
                  </a:txBody>
                  <a:tcPr marL="146304" marR="146304" marT="22860" marB="22860" anchor="ctr">
                    <a:lnB w="3175" cap="flat">
                      <a:solidFill>
                        <a:srgbClr val="B8B8B8"/>
                      </a:solidFill>
                    </a:lnB>
                    <a:solidFill>
                      <a:srgbClr val="FFFFFF"/>
                    </a:solidFill>
                  </a:tcPr>
                </a:tc>
                <a:tc>
                  <a:txBody>
                    <a:bodyPr/>
                    <a:lstStyle/>
                    <a:p>
                      <a:pPr>
                        <a:lnSpc>
                          <a:spcPct val="100000"/>
                        </a:lnSpc>
                        <a:spcBef>
                          <a:spcPts val="0"/>
                        </a:spcBef>
                        <a:spcAft>
                          <a:spcPts val="0"/>
                        </a:spcAft>
                        <a:defRPr sz="1200" b="0">
                          <a:solidFill>
                            <a:srgbClr val="000000"/>
                          </a:solidFill>
                          <a:latin typeface="Lato"/>
                        </a:defRPr>
                      </a:pPr>
                      <a:r>
                        <a:t>Constraints on asset operations and backup demand</a:t>
                      </a:r>
                    </a:p>
                  </a:txBody>
                  <a:tcPr marL="146304" marR="146304" marT="22860" marB="22860" anchor="ctr">
                    <a:lnB w="3175" cap="flat">
                      <a:solidFill>
                        <a:srgbClr val="B8B8B8"/>
                      </a:solidFill>
                    </a:lnB>
                    <a:solidFill>
                      <a:srgbClr val="FFFFFF"/>
                    </a:solidFill>
                  </a:tcPr>
                </a:tc>
              </a:tr>
              <a:tr h="401320">
                <a:tc>
                  <a:txBody>
                    <a:bodyPr/>
                    <a:lstStyle/>
                    <a:p>
                      <a:pPr>
                        <a:lnSpc>
                          <a:spcPct val="100000"/>
                        </a:lnSpc>
                        <a:spcBef>
                          <a:spcPts val="0"/>
                        </a:spcBef>
                        <a:spcAft>
                          <a:spcPts val="0"/>
                        </a:spcAft>
                        <a:defRPr sz="1200" b="0">
                          <a:solidFill>
                            <a:srgbClr val="000000"/>
                          </a:solidFill>
                          <a:latin typeface="Lato"/>
                        </a:defRPr>
                      </a:pPr>
                      <a:r>
                        <a:t>Power stations</a:t>
                      </a:r>
                    </a:p>
                  </a:txBody>
                  <a:tcPr marL="146304" marR="146304" marT="22860" marB="22860" anchor="ctr">
                    <a:lnB w="3175" cap="flat">
                      <a:solidFill>
                        <a:srgbClr val="B8B8B8"/>
                      </a:solidFill>
                    </a:lnB>
                    <a:solidFill>
                      <a:srgbClr val="FFFFFF"/>
                    </a:solidFill>
                  </a:tcPr>
                </a:tc>
                <a:tc>
                  <a:txBody>
                    <a:bodyPr/>
                    <a:lstStyle/>
                    <a:p>
                      <a:pPr>
                        <a:lnSpc>
                          <a:spcPct val="100000"/>
                        </a:lnSpc>
                        <a:spcBef>
                          <a:spcPts val="0"/>
                        </a:spcBef>
                        <a:spcAft>
                          <a:spcPts val="0"/>
                        </a:spcAft>
                        <a:defRPr sz="1200" b="0">
                          <a:solidFill>
                            <a:srgbClr val="000000"/>
                          </a:solidFill>
                          <a:latin typeface="Lato"/>
                        </a:defRPr>
                      </a:pPr>
                      <a:r>
                        <a:t>Fuel / technology, MW, commissioning, availability, dispatch and efficiency</a:t>
                      </a:r>
                    </a:p>
                  </a:txBody>
                  <a:tcPr marL="146304" marR="146304" marT="22860" marB="22860" anchor="ctr">
                    <a:lnB w="3175" cap="flat">
                      <a:solidFill>
                        <a:srgbClr val="B8B8B8"/>
                      </a:solidFill>
                    </a:lnB>
                    <a:solidFill>
                      <a:srgbClr val="FFFFFF"/>
                    </a:solidFill>
                  </a:tcPr>
                </a:tc>
                <a:tc>
                  <a:txBody>
                    <a:bodyPr/>
                    <a:lstStyle/>
                    <a:p>
                      <a:pPr>
                        <a:lnSpc>
                          <a:spcPct val="100000"/>
                        </a:lnSpc>
                        <a:spcBef>
                          <a:spcPts val="0"/>
                        </a:spcBef>
                        <a:spcAft>
                          <a:spcPts val="0"/>
                        </a:spcAft>
                        <a:defRPr sz="1200" b="0">
                          <a:solidFill>
                            <a:srgbClr val="000000"/>
                          </a:solidFill>
                          <a:latin typeface="Lato"/>
                        </a:defRPr>
                      </a:pPr>
                      <a:r>
                        <a:t>Fuel demand and electricity supply context</a:t>
                      </a:r>
                    </a:p>
                  </a:txBody>
                  <a:tcPr marL="146304" marR="146304" marT="22860" marB="22860" anchor="ctr">
                    <a:lnB w="3175" cap="flat">
                      <a:solidFill>
                        <a:srgbClr val="B8B8B8"/>
                      </a:solidFill>
                    </a:lnB>
                    <a:solidFill>
                      <a:srgbClr val="FFFFFF"/>
                    </a:solidFill>
                  </a:tcPr>
                </a:tc>
              </a:tr>
              <a:tr h="401320">
                <a:tc>
                  <a:txBody>
                    <a:bodyPr/>
                    <a:lstStyle/>
                    <a:p>
                      <a:pPr>
                        <a:lnSpc>
                          <a:spcPct val="100000"/>
                        </a:lnSpc>
                        <a:spcBef>
                          <a:spcPts val="0"/>
                        </a:spcBef>
                        <a:spcAft>
                          <a:spcPts val="0"/>
                        </a:spcAft>
                        <a:defRPr sz="1200" b="0">
                          <a:solidFill>
                            <a:srgbClr val="000000"/>
                          </a:solidFill>
                          <a:latin typeface="Lato"/>
                        </a:defRPr>
                      </a:pPr>
                      <a:r>
                        <a:t>Tanks / storage</a:t>
                      </a:r>
                    </a:p>
                  </a:txBody>
                  <a:tcPr marL="146304" marR="146304" marT="22860" marB="22860" anchor="ctr">
                    <a:lnB w="3175" cap="flat">
                      <a:solidFill>
                        <a:srgbClr val="B8B8B8"/>
                      </a:solidFill>
                    </a:lnB>
                    <a:solidFill>
                      <a:srgbClr val="FFFFFF"/>
                    </a:solidFill>
                  </a:tcPr>
                </a:tc>
                <a:tc>
                  <a:txBody>
                    <a:bodyPr/>
                    <a:lstStyle/>
                    <a:p>
                      <a:pPr>
                        <a:lnSpc>
                          <a:spcPct val="100000"/>
                        </a:lnSpc>
                        <a:spcBef>
                          <a:spcPts val="0"/>
                        </a:spcBef>
                        <a:spcAft>
                          <a:spcPts val="0"/>
                        </a:spcAft>
                        <a:defRPr sz="1200" b="0">
                          <a:solidFill>
                            <a:srgbClr val="000000"/>
                          </a:solidFill>
                          <a:latin typeface="Lato"/>
                        </a:defRPr>
                      </a:pPr>
                      <a:r>
                        <a:t>Gross vs working capacity, segregation, commitments, stock cover and handling limits</a:t>
                      </a:r>
                    </a:p>
                  </a:txBody>
                  <a:tcPr marL="146304" marR="146304" marT="22860" marB="22860" anchor="ctr">
                    <a:lnB w="3175" cap="flat">
                      <a:solidFill>
                        <a:srgbClr val="B8B8B8"/>
                      </a:solidFill>
                    </a:lnB>
                    <a:solidFill>
                      <a:srgbClr val="FFFFFF"/>
                    </a:solidFill>
                  </a:tcPr>
                </a:tc>
                <a:tc>
                  <a:txBody>
                    <a:bodyPr/>
                    <a:lstStyle/>
                    <a:p>
                      <a:pPr>
                        <a:lnSpc>
                          <a:spcPct val="100000"/>
                        </a:lnSpc>
                        <a:spcBef>
                          <a:spcPts val="0"/>
                        </a:spcBef>
                        <a:spcAft>
                          <a:spcPts val="0"/>
                        </a:spcAft>
                        <a:defRPr sz="1200" b="0">
                          <a:solidFill>
                            <a:srgbClr val="000000"/>
                          </a:solidFill>
                          <a:latin typeface="Lato"/>
                        </a:defRPr>
                      </a:pPr>
                      <a:r>
                        <a:t>Usable inventory and handling constraints</a:t>
                      </a:r>
                    </a:p>
                  </a:txBody>
                  <a:tcPr marL="146304" marR="146304" marT="22860" marB="22860" anchor="ctr">
                    <a:lnB w="3175" cap="flat">
                      <a:solidFill>
                        <a:srgbClr val="B8B8B8"/>
                      </a:solidFill>
                    </a:lnB>
                    <a:solidFill>
                      <a:srgbClr val="FFFFFF"/>
                    </a:solidFill>
                  </a:tcPr>
                </a:tc>
              </a:tr>
            </a:tbl>
          </a:graphicData>
        </a:graphic>
      </p:graphicFrame>
      <p:sp>
        <p:nvSpPr>
          <p:cNvPr id="10" name="TextBox 9"/>
          <p:cNvSpPr txBox="1"/>
          <p:nvPr/>
        </p:nvSpPr>
        <p:spPr>
          <a:xfrm>
            <a:off x="502920" y="5943600"/>
            <a:ext cx="10515600" cy="292608"/>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Use source, vintage, units, owner and access basis for every input. Missing capacity remains unknown.</a:t>
            </a:r>
          </a:p>
        </p:txBody>
      </p:sp>
      <p:sp>
        <p:nvSpPr>
          <p:cNvPr id="11" name="TextBox 10"/>
          <p:cNvSpPr txBox="1"/>
          <p:nvPr/>
        </p:nvSpPr>
        <p:spPr>
          <a:xfrm>
            <a:off x="502920" y="6263640"/>
            <a:ext cx="10515600" cy="201168"/>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Fuel transport: m3/year | Storage: m3 | Electricity: MW / MWh. Do not convert power-line capacity directly into fuel throughput.</a:t>
            </a:r>
          </a:p>
        </p:txBody>
      </p:sp>
      <p:sp>
        <p:nvSpPr>
          <p:cNvPr id="12" name="TextBox 11"/>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Agreed infrastructure scope and WS5 input specification; aviation/generation modules. Requirements, not verified asset capacity or current capability.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Translate fuel balances into accessible storage and handling opportunities</a:t>
            </a:r>
          </a:p>
        </p:txBody>
      </p:sp>
      <p:sp>
        <p:nvSpPr>
          <p:cNvPr id="3" name="Slide Number Placeholder"/>
          <p:cNvSpPr>
            <a:spLocks noGrp="1"/>
          </p:cNvSpPr>
          <p:nvPr>
            <p:ph type="sldNum" sz="quarter" idx="12"/>
          </p:nvPr>
        </p:nvSpPr>
        <p:spPr/>
        <p:txBody>
          <a:bodyPr/>
          <a:lstStyle/>
          <a:p>
            <a:fld id="{B789583A-BD17-4815-8317-1251B31B67A3}"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502920" y="1645920"/>
            <a:ext cx="10515600" cy="365760"/>
          </a:xfrm>
          <a:prstGeom prst="rect">
            <a:avLst/>
          </a:prstGeom>
          <a:noFill/>
        </p:spPr>
        <p:txBody>
          <a:bodyPr wrap="square" lIns="18288" rIns="18288" tIns="0" bIns="0">
            <a:spAutoFit/>
          </a:bodyPr>
          <a:lstStyle/>
          <a:p>
            <a:pPr>
              <a:spcAft>
                <a:spcPts val="800"/>
              </a:spcAft>
              <a:defRPr sz="1500" b="0">
                <a:solidFill>
                  <a:srgbClr val="000000"/>
                </a:solidFill>
                <a:latin typeface="Lato"/>
              </a:defRPr>
            </a:pPr>
            <a:r>
              <a:t>Purpose: connect the national fuel outlook to evidence of demand for Vopak services</a:t>
            </a:r>
          </a:p>
        </p:txBody>
      </p:sp>
      <p:graphicFrame>
        <p:nvGraphicFramePr>
          <p:cNvPr id="9" name="Table 8"/>
          <p:cNvGraphicFramePr>
            <a:graphicFrameLocks noGrp="1"/>
          </p:cNvGraphicFramePr>
          <p:nvPr/>
        </p:nvGraphicFramePr>
        <p:xfrm>
          <a:off x="457200" y="2286000"/>
          <a:ext cx="10652760" cy="3502152"/>
        </p:xfrm>
        <a:graphic>
          <a:graphicData uri="http://schemas.openxmlformats.org/drawingml/2006/table">
            <a:tbl>
              <a:tblPr firstRow="1" bandRow="1">
                <a:tableStyleId>{2D5ABB26-0587-4C30-8999-92F81FD0307C}</a:tableStyleId>
              </a:tblPr>
              <a:tblGrid>
                <a:gridCol w="1965960"/>
                <a:gridCol w="4343400"/>
                <a:gridCol w="4343400"/>
              </a:tblGrid>
              <a:tr h="700430">
                <a:tc>
                  <a:txBody>
                    <a:bodyPr/>
                    <a:lstStyle/>
                    <a:p>
                      <a:pPr>
                        <a:lnSpc>
                          <a:spcPct val="100000"/>
                        </a:lnSpc>
                        <a:spcAft>
                          <a:spcPts val="0"/>
                        </a:spcAft>
                        <a:defRPr sz="1500" b="1">
                          <a:solidFill>
                            <a:srgbClr val="000000"/>
                          </a:solidFill>
                          <a:latin typeface="Lato"/>
                        </a:defRPr>
                      </a:pPr>
                      <a:r>
                        <a:t>Step</a:t>
                      </a:r>
                    </a:p>
                  </a:txBody>
                  <a:tcPr marL="146304" marR="146304" marT="36576" marB="36576" anchor="ctr">
                    <a:lnB w="4445" cap="flat">
                      <a:solidFill>
                        <a:srgbClr val="A0A0A0"/>
                      </a:solidFill>
                    </a:lnB>
                    <a:solidFill>
                      <a:srgbClr val="FFFFFF"/>
                    </a:solidFill>
                  </a:tcPr>
                </a:tc>
                <a:tc>
                  <a:txBody>
                    <a:bodyPr/>
                    <a:lstStyle/>
                    <a:p>
                      <a:pPr>
                        <a:lnSpc>
                          <a:spcPct val="100000"/>
                        </a:lnSpc>
                        <a:spcAft>
                          <a:spcPts val="0"/>
                        </a:spcAft>
                        <a:defRPr sz="1500" b="1">
                          <a:solidFill>
                            <a:srgbClr val="000000"/>
                          </a:solidFill>
                          <a:latin typeface="Lato"/>
                        </a:defRPr>
                      </a:pPr>
                      <a:r>
                        <a:t>Question to resolve</a:t>
                      </a:r>
                    </a:p>
                  </a:txBody>
                  <a:tcPr marL="146304" marR="146304" marT="36576" marB="36576" anchor="ctr">
                    <a:lnB w="4445" cap="flat">
                      <a:solidFill>
                        <a:srgbClr val="A0A0A0"/>
                      </a:solidFill>
                    </a:lnB>
                    <a:solidFill>
                      <a:srgbClr val="FFFFFF"/>
                    </a:solidFill>
                  </a:tcPr>
                </a:tc>
                <a:tc>
                  <a:txBody>
                    <a:bodyPr/>
                    <a:lstStyle/>
                    <a:p>
                      <a:pPr>
                        <a:lnSpc>
                          <a:spcPct val="100000"/>
                        </a:lnSpc>
                        <a:spcAft>
                          <a:spcPts val="0"/>
                        </a:spcAft>
                        <a:defRPr sz="1500" b="1">
                          <a:solidFill>
                            <a:srgbClr val="000000"/>
                          </a:solidFill>
                          <a:latin typeface="Lato"/>
                        </a:defRPr>
                      </a:pPr>
                      <a:r>
                        <a:t>Output for the next step</a:t>
                      </a:r>
                    </a:p>
                  </a:txBody>
                  <a:tcPr marL="146304" marR="146304" marT="36576" marB="36576" anchor="ctr">
                    <a:lnB w="4445" cap="flat">
                      <a:solidFill>
                        <a:srgbClr val="A0A0A0"/>
                      </a:solidFill>
                    </a:lnB>
                    <a:solidFill>
                      <a:srgbClr val="FFFFFF"/>
                    </a:solidFill>
                  </a:tcPr>
                </a:tc>
              </a:tr>
              <a:tr h="700430">
                <a:tc>
                  <a:txBody>
                    <a:bodyPr/>
                    <a:lstStyle/>
                    <a:p>
                      <a:pPr>
                        <a:lnSpc>
                          <a:spcPct val="100000"/>
                        </a:lnSpc>
                        <a:spcAft>
                          <a:spcPts val="0"/>
                        </a:spcAft>
                        <a:defRPr sz="1500" b="0">
                          <a:solidFill>
                            <a:srgbClr val="000000"/>
                          </a:solidFill>
                          <a:latin typeface="Lato"/>
                        </a:defRPr>
                      </a:pPr>
                      <a:r>
                        <a:t>01 National balance</a:t>
                      </a:r>
                    </a:p>
                  </a:txBody>
                  <a:tcPr marL="146304" marR="146304" marT="36576" marB="36576" anchor="ctr">
                    <a:lnB w="3175" cap="flat">
                      <a:solidFill>
                        <a:srgbClr val="B8B8B8"/>
                      </a:solidFill>
                    </a:lnB>
                    <a:solidFill>
                      <a:srgbClr val="FFFFFF"/>
                    </a:solidFill>
                  </a:tcPr>
                </a:tc>
                <a:tc>
                  <a:txBody>
                    <a:bodyPr/>
                    <a:lstStyle/>
                    <a:p>
                      <a:pPr>
                        <a:lnSpc>
                          <a:spcPct val="100000"/>
                        </a:lnSpc>
                        <a:spcAft>
                          <a:spcPts val="0"/>
                        </a:spcAft>
                        <a:defRPr sz="1500" b="0">
                          <a:solidFill>
                            <a:srgbClr val="000000"/>
                          </a:solidFill>
                          <a:latin typeface="Lato"/>
                        </a:defRPr>
                      </a:pPr>
                      <a:r>
                        <a:t>How much fuel must be imported after domestic production, exports and stock movements?</a:t>
                      </a:r>
                    </a:p>
                  </a:txBody>
                  <a:tcPr marL="146304" marR="146304" marT="36576" marB="36576" anchor="ctr">
                    <a:lnB w="3175" cap="flat">
                      <a:solidFill>
                        <a:srgbClr val="B8B8B8"/>
                      </a:solidFill>
                    </a:lnB>
                    <a:solidFill>
                      <a:srgbClr val="FFFFFF"/>
                    </a:solidFill>
                  </a:tcPr>
                </a:tc>
                <a:tc>
                  <a:txBody>
                    <a:bodyPr/>
                    <a:lstStyle/>
                    <a:p>
                      <a:pPr>
                        <a:lnSpc>
                          <a:spcPct val="100000"/>
                        </a:lnSpc>
                        <a:spcAft>
                          <a:spcPts val="0"/>
                        </a:spcAft>
                        <a:defRPr sz="1500" b="0">
                          <a:solidFill>
                            <a:srgbClr val="000000"/>
                          </a:solidFill>
                          <a:latin typeface="Lato"/>
                        </a:defRPr>
                      </a:pPr>
                      <a:r>
                        <a:t>Import requirement by fuel and period; compare with available supply to identify the unmet gap</a:t>
                      </a:r>
                    </a:p>
                  </a:txBody>
                  <a:tcPr marL="146304" marR="146304" marT="36576" marB="36576" anchor="ctr">
                    <a:lnB w="3175" cap="flat">
                      <a:solidFill>
                        <a:srgbClr val="B8B8B8"/>
                      </a:solidFill>
                    </a:lnB>
                    <a:solidFill>
                      <a:srgbClr val="FFFFFF"/>
                    </a:solidFill>
                  </a:tcPr>
                </a:tc>
              </a:tr>
              <a:tr h="700430">
                <a:tc>
                  <a:txBody>
                    <a:bodyPr/>
                    <a:lstStyle/>
                    <a:p>
                      <a:pPr>
                        <a:lnSpc>
                          <a:spcPct val="100000"/>
                        </a:lnSpc>
                        <a:spcAft>
                          <a:spcPts val="0"/>
                        </a:spcAft>
                        <a:defRPr sz="1500" b="0">
                          <a:solidFill>
                            <a:srgbClr val="000000"/>
                          </a:solidFill>
                          <a:latin typeface="Lato"/>
                        </a:defRPr>
                      </a:pPr>
                      <a:r>
                        <a:t>02 Feasible flows</a:t>
                      </a:r>
                    </a:p>
                  </a:txBody>
                  <a:tcPr marL="146304" marR="146304" marT="36576" marB="36576" anchor="ctr">
                    <a:lnB w="3175" cap="flat">
                      <a:solidFill>
                        <a:srgbClr val="B8B8B8"/>
                      </a:solidFill>
                    </a:lnB>
                    <a:solidFill>
                      <a:srgbClr val="FFFFFF"/>
                    </a:solidFill>
                  </a:tcPr>
                </a:tc>
                <a:tc>
                  <a:txBody>
                    <a:bodyPr/>
                    <a:lstStyle/>
                    <a:p>
                      <a:pPr>
                        <a:lnSpc>
                          <a:spcPct val="100000"/>
                        </a:lnSpc>
                        <a:spcAft>
                          <a:spcPts val="0"/>
                        </a:spcAft>
                        <a:defRPr sz="1500" b="0">
                          <a:solidFill>
                            <a:srgbClr val="000000"/>
                          </a:solidFill>
                          <a:latin typeface="Lato"/>
                        </a:defRPr>
                      </a:pPr>
                      <a:r>
                        <a:t>Which ports and inland routes can actually deliver the available volumes?</a:t>
                      </a:r>
                    </a:p>
                  </a:txBody>
                  <a:tcPr marL="146304" marR="146304" marT="36576" marB="36576" anchor="ctr">
                    <a:lnB w="3175" cap="flat">
                      <a:solidFill>
                        <a:srgbClr val="B8B8B8"/>
                      </a:solidFill>
                    </a:lnB>
                    <a:solidFill>
                      <a:srgbClr val="FFFFFF"/>
                    </a:solidFill>
                  </a:tcPr>
                </a:tc>
                <a:tc>
                  <a:txBody>
                    <a:bodyPr/>
                    <a:lstStyle/>
                    <a:p>
                      <a:pPr>
                        <a:lnSpc>
                          <a:spcPct val="100000"/>
                        </a:lnSpc>
                        <a:spcAft>
                          <a:spcPts val="0"/>
                        </a:spcAft>
                        <a:defRPr sz="1500" b="0">
                          <a:solidFill>
                            <a:srgbClr val="000000"/>
                          </a:solidFill>
                          <a:latin typeface="Lato"/>
                        </a:defRPr>
                      </a:pPr>
                      <a:r>
                        <a:t>Feasible flows and bottlenecks after transport, power and terminal-capacity constraints</a:t>
                      </a:r>
                    </a:p>
                  </a:txBody>
                  <a:tcPr marL="146304" marR="146304" marT="36576" marB="36576" anchor="ctr">
                    <a:lnB w="3175" cap="flat">
                      <a:solidFill>
                        <a:srgbClr val="B8B8B8"/>
                      </a:solidFill>
                    </a:lnB>
                    <a:solidFill>
                      <a:srgbClr val="FFFFFF"/>
                    </a:solidFill>
                  </a:tcPr>
                </a:tc>
              </a:tr>
              <a:tr h="700430">
                <a:tc>
                  <a:txBody>
                    <a:bodyPr/>
                    <a:lstStyle/>
                    <a:p>
                      <a:pPr>
                        <a:lnSpc>
                          <a:spcPct val="100000"/>
                        </a:lnSpc>
                        <a:spcAft>
                          <a:spcPts val="0"/>
                        </a:spcAft>
                        <a:defRPr sz="1500" b="0">
                          <a:solidFill>
                            <a:srgbClr val="000000"/>
                          </a:solidFill>
                          <a:latin typeface="Lato"/>
                        </a:defRPr>
                      </a:pPr>
                      <a:r>
                        <a:t>03 Commercial access</a:t>
                      </a:r>
                    </a:p>
                  </a:txBody>
                  <a:tcPr marL="146304" marR="146304" marT="36576" marB="36576" anchor="ctr">
                    <a:lnB w="3175" cap="flat">
                      <a:solidFill>
                        <a:srgbClr val="B8B8B8"/>
                      </a:solidFill>
                    </a:lnB>
                    <a:solidFill>
                      <a:srgbClr val="FFFFFF"/>
                    </a:solidFill>
                  </a:tcPr>
                </a:tc>
                <a:tc>
                  <a:txBody>
                    <a:bodyPr/>
                    <a:lstStyle/>
                    <a:p>
                      <a:pPr>
                        <a:lnSpc>
                          <a:spcPct val="100000"/>
                        </a:lnSpc>
                        <a:spcAft>
                          <a:spcPts val="0"/>
                        </a:spcAft>
                        <a:defRPr sz="1500" b="0">
                          <a:solidFill>
                            <a:srgbClr val="000000"/>
                          </a:solidFill>
                          <a:latin typeface="Lato"/>
                        </a:defRPr>
                      </a:pPr>
                      <a:r>
                        <a:t>Which customer flows could Vopak serve, given contracts, competitors and access?</a:t>
                      </a:r>
                    </a:p>
                  </a:txBody>
                  <a:tcPr marL="146304" marR="146304" marT="36576" marB="36576" anchor="ctr">
                    <a:lnB w="3175" cap="flat">
                      <a:solidFill>
                        <a:srgbClr val="B8B8B8"/>
                      </a:solidFill>
                    </a:lnB>
                    <a:solidFill>
                      <a:srgbClr val="FFFFFF"/>
                    </a:solidFill>
                  </a:tcPr>
                </a:tc>
                <a:tc>
                  <a:txBody>
                    <a:bodyPr/>
                    <a:lstStyle/>
                    <a:p>
                      <a:pPr>
                        <a:lnSpc>
                          <a:spcPct val="100000"/>
                        </a:lnSpc>
                        <a:spcAft>
                          <a:spcPts val="0"/>
                        </a:spcAft>
                        <a:defRPr sz="1500" b="0">
                          <a:solidFill>
                            <a:srgbClr val="000000"/>
                          </a:solidFill>
                          <a:latin typeface="Lato"/>
                        </a:defRPr>
                      </a:pPr>
                      <a:r>
                        <a:t>Customer volumes accessible to Vopak; assumptions and evidence gaps remain explicit</a:t>
                      </a:r>
                    </a:p>
                  </a:txBody>
                  <a:tcPr marL="146304" marR="146304" marT="36576" marB="36576" anchor="ctr">
                    <a:lnB w="3175" cap="flat">
                      <a:solidFill>
                        <a:srgbClr val="B8B8B8"/>
                      </a:solidFill>
                    </a:lnB>
                    <a:solidFill>
                      <a:srgbClr val="FFFFFF"/>
                    </a:solidFill>
                  </a:tcPr>
                </a:tc>
              </a:tr>
              <a:tr h="700432">
                <a:tc>
                  <a:txBody>
                    <a:bodyPr/>
                    <a:lstStyle/>
                    <a:p>
                      <a:pPr>
                        <a:lnSpc>
                          <a:spcPct val="100000"/>
                        </a:lnSpc>
                        <a:spcAft>
                          <a:spcPts val="0"/>
                        </a:spcAft>
                        <a:defRPr sz="1500" b="0">
                          <a:solidFill>
                            <a:srgbClr val="000000"/>
                          </a:solidFill>
                          <a:latin typeface="Lato"/>
                        </a:defRPr>
                      </a:pPr>
                      <a:r>
                        <a:t>04 Service needs</a:t>
                      </a:r>
                    </a:p>
                  </a:txBody>
                  <a:tcPr marL="146304" marR="146304" marT="36576" marB="36576" anchor="ctr">
                    <a:lnB w="3175" cap="flat">
                      <a:solidFill>
                        <a:srgbClr val="B8B8B8"/>
                      </a:solidFill>
                    </a:lnB>
                    <a:solidFill>
                      <a:srgbClr val="FFFFFF"/>
                    </a:solidFill>
                  </a:tcPr>
                </a:tc>
                <a:tc>
                  <a:txBody>
                    <a:bodyPr/>
                    <a:lstStyle/>
                    <a:p>
                      <a:pPr>
                        <a:lnSpc>
                          <a:spcPct val="100000"/>
                        </a:lnSpc>
                        <a:spcAft>
                          <a:spcPts val="0"/>
                        </a:spcAft>
                        <a:defRPr sz="1500" b="0">
                          <a:solidFill>
                            <a:srgbClr val="000000"/>
                          </a:solidFill>
                          <a:latin typeface="Lato"/>
                        </a:defRPr>
                      </a:pPr>
                      <a:r>
                        <a:t>What receipt, handling, dispatch and inventory needs follow from those flows?</a:t>
                      </a:r>
                    </a:p>
                  </a:txBody>
                  <a:tcPr marL="146304" marR="146304" marT="36576" marB="36576" anchor="ctr">
                    <a:lnB w="3175" cap="flat">
                      <a:solidFill>
                        <a:srgbClr val="B8B8B8"/>
                      </a:solidFill>
                    </a:lnB>
                    <a:solidFill>
                      <a:srgbClr val="FFFFFF"/>
                    </a:solidFill>
                  </a:tcPr>
                </a:tc>
                <a:tc>
                  <a:txBody>
                    <a:bodyPr/>
                    <a:lstStyle/>
                    <a:p>
                      <a:pPr>
                        <a:lnSpc>
                          <a:spcPct val="100000"/>
                        </a:lnSpc>
                        <a:spcAft>
                          <a:spcPts val="0"/>
                        </a:spcAft>
                        <a:defRPr sz="1500" b="0">
                          <a:solidFill>
                            <a:srgbClr val="000000"/>
                          </a:solidFill>
                          <a:latin typeface="Lato"/>
                        </a:defRPr>
                      </a:pPr>
                      <a:r>
                        <a:t>Terminal throughput, handling needs and usable storage; implications for existing assets and growth</a:t>
                      </a:r>
                    </a:p>
                  </a:txBody>
                  <a:tcPr marL="146304" marR="146304" marT="36576" marB="36576" anchor="ctr">
                    <a:lnB w="3175" cap="flat">
                      <a:solidFill>
                        <a:srgbClr val="B8B8B8"/>
                      </a:solidFill>
                    </a:lnB>
                    <a:solidFill>
                      <a:srgbClr val="FFFFFF"/>
                    </a:solidFill>
                  </a:tcPr>
                </a:tc>
              </a:tr>
            </a:tbl>
          </a:graphicData>
        </a:graphic>
      </p:graphicFrame>
      <p:sp>
        <p:nvSpPr>
          <p:cNvPr id="10" name="TextBox 9"/>
          <p:cNvSpPr txBox="1"/>
          <p:nvPr/>
        </p:nvSpPr>
        <p:spPr>
          <a:xfrm>
            <a:off x="502920" y="6080760"/>
            <a:ext cx="10515600" cy="365760"/>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Each step needs evidence: required imports are not guaranteed delivery. Throughput is a flow; storage is a stock.</a:t>
            </a:r>
          </a:p>
        </p:txBody>
      </p:sp>
      <p:sp>
        <p:nvSpPr>
          <p:cNvPr id="11" name="TextBox 10"/>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Model architecture; AIA proposal, pp. 8-12; proposed analytical approach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Organise the model build across five connected workstreams</a:t>
            </a:r>
          </a:p>
        </p:txBody>
      </p:sp>
      <p:sp>
        <p:nvSpPr>
          <p:cNvPr id="3" name="Slide Number Placeholder"/>
          <p:cNvSpPr>
            <a:spLocks noGrp="1"/>
          </p:cNvSpPr>
          <p:nvPr>
            <p:ph type="sldNum" sz="quarter" idx="12"/>
          </p:nvPr>
        </p:nvSpPr>
        <p:spPr/>
        <p:txBody>
          <a:bodyPr/>
          <a:lstStyle/>
          <a:p>
            <a:fld id="{88968C84-5A33-438C-BB1A-6C9058871D9D}"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Rectangle 7"/>
          <p:cNvSpPr/>
          <p:nvPr/>
        </p:nvSpPr>
        <p:spPr>
          <a:xfrm>
            <a:off x="502920" y="1709928"/>
            <a:ext cx="10652760" cy="5029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810512"/>
            <a:ext cx="10332720" cy="274320"/>
          </a:xfrm>
          <a:prstGeom prst="rect">
            <a:avLst/>
          </a:prstGeom>
          <a:noFill/>
        </p:spPr>
        <p:txBody>
          <a:bodyPr wrap="square" lIns="18288" rIns="18288" tIns="0" bIns="0">
            <a:spAutoFit/>
          </a:bodyPr>
          <a:lstStyle/>
          <a:p>
            <a:pPr>
              <a:spcAft>
                <a:spcPts val="800"/>
              </a:spcAft>
              <a:defRPr sz="1500" b="1">
                <a:solidFill>
                  <a:srgbClr val="FFFFFF"/>
                </a:solidFill>
                <a:latin typeface="Lato"/>
              </a:defRPr>
            </a:pPr>
            <a:r>
              <a:t>WS0  Governance: priorities, integration, ownership, review and acceptance</a:t>
            </a:r>
          </a:p>
        </p:txBody>
      </p:sp>
      <p:graphicFrame>
        <p:nvGraphicFramePr>
          <p:cNvPr id="10" name="Table 9"/>
          <p:cNvGraphicFramePr>
            <a:graphicFrameLocks noGrp="1"/>
          </p:cNvGraphicFramePr>
          <p:nvPr/>
        </p:nvGraphicFramePr>
        <p:xfrm>
          <a:off x="502920" y="2423160"/>
          <a:ext cx="10652760" cy="2880360"/>
        </p:xfrm>
        <a:graphic>
          <a:graphicData uri="http://schemas.openxmlformats.org/drawingml/2006/table">
            <a:tbl>
              <a:tblPr firstRow="1" bandRow="1">
                <a:tableStyleId>{2D5ABB26-0587-4C30-8999-92F81FD0307C}</a:tableStyleId>
              </a:tblPr>
              <a:tblGrid>
                <a:gridCol w="3429000"/>
                <a:gridCol w="7223760"/>
              </a:tblGrid>
              <a:tr h="480060">
                <a:tc>
                  <a:txBody>
                    <a:bodyPr/>
                    <a:lstStyle/>
                    <a:p>
                      <a:pPr>
                        <a:defRPr sz="1500" b="1">
                          <a:solidFill>
                            <a:srgbClr val="000000"/>
                          </a:solidFill>
                          <a:latin typeface="Lato"/>
                        </a:defRPr>
                      </a:pPr>
                      <a:r>
                        <a:t>Workstream</a:t>
                      </a:r>
                    </a:p>
                  </a:txBody>
                  <a:tcPr marL="146304" marR="146304" marT="54864" marB="54864" anchor="ctr">
                    <a:lnB w="4445" cap="flat">
                      <a:solidFill>
                        <a:srgbClr val="A0A0A0"/>
                      </a:solidFill>
                    </a:lnB>
                    <a:solidFill>
                      <a:srgbClr val="FFFFFF"/>
                    </a:solidFill>
                  </a:tcPr>
                </a:tc>
                <a:tc>
                  <a:txBody>
                    <a:bodyPr/>
                    <a:lstStyle/>
                    <a:p>
                      <a:pPr>
                        <a:defRPr sz="1500" b="1">
                          <a:solidFill>
                            <a:srgbClr val="000000"/>
                          </a:solidFill>
                          <a:latin typeface="Lato"/>
                        </a:defRPr>
                      </a:pPr>
                      <a:r>
                        <a:t>Role in the integrated model</a:t>
                      </a:r>
                    </a:p>
                  </a:txBody>
                  <a:tcPr marL="146304" marR="146304" marT="54864" marB="54864" anchor="ctr">
                    <a:lnB w="4445" cap="flat">
                      <a:solidFill>
                        <a:srgbClr val="A0A0A0"/>
                      </a:solidFill>
                    </a:lnB>
                    <a:solidFill>
                      <a:srgbClr val="FFFFFF"/>
                    </a:solidFill>
                  </a:tcPr>
                </a:tc>
              </a:tr>
              <a:tr h="480060">
                <a:tc>
                  <a:txBody>
                    <a:bodyPr/>
                    <a:lstStyle/>
                    <a:p>
                      <a:pPr>
                        <a:defRPr sz="1500" b="0">
                          <a:solidFill>
                            <a:srgbClr val="000000"/>
                          </a:solidFill>
                          <a:latin typeface="Lato"/>
                        </a:defRPr>
                      </a:pPr>
                      <a:r>
                        <a:t>WS1  Data validation</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Source inputs, reconcile history and record evidence quality and gaps</a:t>
                      </a:r>
                    </a:p>
                  </a:txBody>
                  <a:tcPr marL="146304" marR="146304" marT="54864" marB="54864" anchor="ctr">
                    <a:lnB w="3175" cap="flat">
                      <a:solidFill>
                        <a:srgbClr val="B8B8B8"/>
                      </a:solidFill>
                    </a:lnB>
                    <a:solidFill>
                      <a:srgbClr val="FFFFFF"/>
                    </a:solidFill>
                  </a:tcPr>
                </a:tc>
              </a:tr>
              <a:tr h="480060">
                <a:tc>
                  <a:txBody>
                    <a:bodyPr/>
                    <a:lstStyle/>
                    <a:p>
                      <a:pPr>
                        <a:defRPr sz="1500" b="0">
                          <a:solidFill>
                            <a:srgbClr val="000000"/>
                          </a:solidFill>
                          <a:latin typeface="Lato"/>
                        </a:defRPr>
                      </a:pPr>
                      <a:r>
                        <a:t>WS2  Fuel model</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Develop demand, production, imports and the scenario framework</a:t>
                      </a:r>
                    </a:p>
                  </a:txBody>
                  <a:tcPr marL="146304" marR="146304" marT="54864" marB="54864" anchor="ctr">
                    <a:lnB w="3175" cap="flat">
                      <a:solidFill>
                        <a:srgbClr val="B8B8B8"/>
                      </a:solidFill>
                    </a:lnB>
                    <a:solidFill>
                      <a:srgbClr val="FFFFFF"/>
                    </a:solidFill>
                  </a:tcPr>
                </a:tc>
              </a:tr>
              <a:tr h="480060">
                <a:tc>
                  <a:txBody>
                    <a:bodyPr/>
                    <a:lstStyle/>
                    <a:p>
                      <a:pPr>
                        <a:defRPr sz="1500" b="0">
                          <a:solidFill>
                            <a:srgbClr val="000000"/>
                          </a:solidFill>
                          <a:latin typeface="Lato"/>
                        </a:defRPr>
                      </a:pPr>
                      <a:r>
                        <a:t>WS3  Reporting and delivery</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Partner owns the storyline; analyst develops supporting evidence and exhibits</a:t>
                      </a:r>
                    </a:p>
                  </a:txBody>
                  <a:tcPr marL="146304" marR="146304" marT="54864" marB="54864" anchor="ctr">
                    <a:lnB w="3175" cap="flat">
                      <a:solidFill>
                        <a:srgbClr val="B8B8B8"/>
                      </a:solidFill>
                    </a:lnB>
                    <a:solidFill>
                      <a:srgbClr val="FFFFFF"/>
                    </a:solidFill>
                  </a:tcPr>
                </a:tc>
              </a:tr>
              <a:tr h="480060">
                <a:tc>
                  <a:txBody>
                    <a:bodyPr/>
                    <a:lstStyle/>
                    <a:p>
                      <a:pPr>
                        <a:defRPr sz="1500" b="0">
                          <a:solidFill>
                            <a:srgbClr val="000000"/>
                          </a:solidFill>
                          <a:latin typeface="Lato"/>
                        </a:defRPr>
                      </a:pPr>
                      <a:r>
                        <a:t>WS4  Analyst enablement</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Establish a documented working process for repeatable runs and refreshes</a:t>
                      </a:r>
                    </a:p>
                  </a:txBody>
                  <a:tcPr marL="146304" marR="146304" marT="54864" marB="54864" anchor="ctr">
                    <a:lnB w="3175" cap="flat">
                      <a:solidFill>
                        <a:srgbClr val="B8B8B8"/>
                      </a:solidFill>
                    </a:lnB>
                    <a:solidFill>
                      <a:srgbClr val="FFFFFF"/>
                    </a:solidFill>
                  </a:tcPr>
                </a:tc>
              </a:tr>
              <a:tr h="480060">
                <a:tc>
                  <a:txBody>
                    <a:bodyPr/>
                    <a:lstStyle/>
                    <a:p>
                      <a:pPr>
                        <a:defRPr sz="1500" b="0">
                          <a:solidFill>
                            <a:srgbClr val="000000"/>
                          </a:solidFill>
                          <a:latin typeface="Lato"/>
                        </a:defRPr>
                      </a:pPr>
                      <a:r>
                        <a:t>WS5  Infrastructure and logistics</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Model ports, airports, rail, roads, pipelines, storage and power dependencies</a:t>
                      </a:r>
                    </a:p>
                  </a:txBody>
                  <a:tcPr marL="146304" marR="146304" marT="54864" marB="54864" anchor="ctr">
                    <a:lnB w="3175" cap="flat">
                      <a:solidFill>
                        <a:srgbClr val="B8B8B8"/>
                      </a:solidFill>
                    </a:lnB>
                    <a:solidFill>
                      <a:srgbClr val="FFFFFF"/>
                    </a:solidFill>
                  </a:tcPr>
                </a:tc>
              </a:tr>
            </a:tbl>
          </a:graphicData>
        </a:graphic>
      </p:graphicFrame>
      <p:sp>
        <p:nvSpPr>
          <p:cNvPr id="11" name="TextBox 10"/>
          <p:cNvSpPr txBox="1"/>
          <p:nvPr/>
        </p:nvSpPr>
        <p:spPr>
          <a:xfrm>
            <a:off x="502920" y="5504688"/>
            <a:ext cx="10515600" cy="41148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Integration across WS2 / WS5 / WS3: Nigel leads; Manish builds and reconciles; Henry reviews.</a:t>
            </a:r>
          </a:p>
        </p:txBody>
      </p:sp>
      <p:sp>
        <p:nvSpPr>
          <p:cNvPr id="12" name="TextBox 11"/>
          <p:cNvSpPr txBox="1"/>
          <p:nvPr/>
        </p:nvSpPr>
        <p:spPr>
          <a:xfrm>
            <a:off x="502920" y="6007608"/>
            <a:ext cx="10515600" cy="384048"/>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Check shared products, geography, periods and units; conserve volumes; avoid double counting; trace every exhibit to its run.</a:t>
            </a:r>
          </a:p>
        </p:txBody>
      </p:sp>
      <p:sp>
        <p:nvSpPr>
          <p:cNvPr id="13" name="TextBox 12"/>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workstreams/README.md; confirmed team roles; WS5 brief and integrated six-week plan. Workstreams describe responsibilities, not separate teams.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Reconcile the fuel model and build the infrastructure layer</a:t>
            </a:r>
          </a:p>
        </p:txBody>
      </p:sp>
      <p:sp>
        <p:nvSpPr>
          <p:cNvPr id="3" name="Slide Number Placeholder"/>
          <p:cNvSpPr>
            <a:spLocks noGrp="1"/>
          </p:cNvSpPr>
          <p:nvPr>
            <p:ph type="sldNum" sz="quarter" idx="12"/>
          </p:nvPr>
        </p:nvSpPr>
        <p:spPr/>
        <p:txBody>
          <a:bodyPr/>
          <a:lstStyle/>
          <a:p>
            <a:fld id="{B2C18218-68F4-4968-A1E7-93C785E082A1}"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graphicFrame>
        <p:nvGraphicFramePr>
          <p:cNvPr id="8" name="Table 7"/>
          <p:cNvGraphicFramePr>
            <a:graphicFrameLocks noGrp="1"/>
          </p:cNvGraphicFramePr>
          <p:nvPr/>
        </p:nvGraphicFramePr>
        <p:xfrm>
          <a:off x="457200" y="1691640"/>
          <a:ext cx="10652760" cy="4160520"/>
        </p:xfrm>
        <a:graphic>
          <a:graphicData uri="http://schemas.openxmlformats.org/drawingml/2006/table">
            <a:tbl>
              <a:tblPr firstRow="1" bandRow="1">
                <a:tableStyleId>{2D5ABB26-0587-4C30-8999-92F81FD0307C}</a:tableStyleId>
              </a:tblPr>
              <a:tblGrid>
                <a:gridCol w="2743200"/>
                <a:gridCol w="7909560"/>
              </a:tblGrid>
              <a:tr h="1386840">
                <a:tc>
                  <a:txBody>
                    <a:bodyPr/>
                    <a:lstStyle/>
                    <a:p>
                      <a:pPr>
                        <a:defRPr sz="1900" b="1">
                          <a:solidFill>
                            <a:srgbClr val="000000"/>
                          </a:solidFill>
                          <a:latin typeface="Lato"/>
                        </a:defRPr>
                      </a:pPr>
                      <a:r>
                        <a:t>Situation</a:t>
                      </a:r>
                    </a:p>
                  </a:txBody>
                  <a:tcPr marL="685800" marR="146304" marT="109728" marB="109728" anchor="ctr">
                    <a:lnB w="3175" cap="flat">
                      <a:solidFill>
                        <a:srgbClr val="B8B8B8"/>
                      </a:solidFill>
                    </a:lnB>
                    <a:solidFill>
                      <a:srgbClr val="FFFFFF"/>
                    </a:solidFill>
                  </a:tcPr>
                </a:tc>
                <a:tc>
                  <a:txBody>
                    <a:bodyPr/>
                    <a:lstStyle/>
                    <a:p>
                      <a:pPr>
                        <a:defRPr sz="1900" b="0">
                          <a:solidFill>
                            <a:srgbClr val="000000"/>
                          </a:solidFill>
                          <a:latin typeface="Lato"/>
                        </a:defRPr>
                      </a:pPr>
                      <a:r>
                        <a:t>We inherit an Excel workbook, prior market analysis and a Python fuel model with repeatable runs and recorded inputs.</a:t>
                      </a:r>
                    </a:p>
                  </a:txBody>
                  <a:tcPr marL="146304" marR="146304" marT="109728" marB="109728" anchor="ctr">
                    <a:lnB w="3175" cap="flat">
                      <a:solidFill>
                        <a:srgbClr val="B8B8B8"/>
                      </a:solidFill>
                    </a:lnB>
                    <a:solidFill>
                      <a:srgbClr val="FFFFFF"/>
                    </a:solidFill>
                  </a:tcPr>
                </a:tc>
              </a:tr>
              <a:tr h="1386840">
                <a:tc>
                  <a:txBody>
                    <a:bodyPr/>
                    <a:lstStyle/>
                    <a:p>
                      <a:pPr>
                        <a:defRPr sz="1900" b="1">
                          <a:solidFill>
                            <a:srgbClr val="000000"/>
                          </a:solidFill>
                          <a:latin typeface="Lato"/>
                        </a:defRPr>
                      </a:pPr>
                      <a:r>
                        <a:t>Complication</a:t>
                      </a:r>
                    </a:p>
                  </a:txBody>
                  <a:tcPr marL="685800" marR="146304" marT="109728" marB="109728" anchor="ctr">
                    <a:lnB w="3175" cap="flat">
                      <a:solidFill>
                        <a:srgbClr val="B8B8B8"/>
                      </a:solidFill>
                    </a:lnB>
                    <a:solidFill>
                      <a:srgbClr val="FFFFFF"/>
                    </a:solidFill>
                  </a:tcPr>
                </a:tc>
                <a:tc>
                  <a:txBody>
                    <a:bodyPr/>
                    <a:lstStyle/>
                    <a:p>
                      <a:pPr>
                        <a:defRPr sz="1900" b="0">
                          <a:solidFill>
                            <a:srgbClr val="000000"/>
                          </a:solidFill>
                          <a:latin typeface="Lato"/>
                        </a:defRPr>
                      </a:pPr>
                      <a:r>
                        <a:t>The fuel baseline is not reconciled, scenarios need development, and the national balance does not show which routes and terminals can serve demand.</a:t>
                      </a:r>
                    </a:p>
                  </a:txBody>
                  <a:tcPr marL="146304" marR="146304" marT="109728" marB="109728" anchor="ctr">
                    <a:lnB w="3175" cap="flat">
                      <a:solidFill>
                        <a:srgbClr val="B8B8B8"/>
                      </a:solidFill>
                    </a:lnB>
                    <a:solidFill>
                      <a:srgbClr val="FFFFFF"/>
                    </a:solidFill>
                  </a:tcPr>
                </a:tc>
              </a:tr>
              <a:tr h="1386840">
                <a:tc>
                  <a:txBody>
                    <a:bodyPr/>
                    <a:lstStyle/>
                    <a:p>
                      <a:pPr>
                        <a:defRPr sz="1900" b="1">
                          <a:solidFill>
                            <a:srgbClr val="000000"/>
                          </a:solidFill>
                          <a:latin typeface="Lato"/>
                        </a:defRPr>
                      </a:pPr>
                      <a:r>
                        <a:t>Resolution</a:t>
                      </a:r>
                    </a:p>
                  </a:txBody>
                  <a:tcPr marL="685800" marR="146304" marT="109728" marB="109728" anchor="ctr">
                    <a:lnB w="3175" cap="flat">
                      <a:solidFill>
                        <a:srgbClr val="B8B8B8"/>
                      </a:solidFill>
                    </a:lnB>
                    <a:solidFill>
                      <a:srgbClr val="FFFFFF"/>
                    </a:solidFill>
                  </a:tcPr>
                </a:tc>
                <a:tc>
                  <a:txBody>
                    <a:bodyPr/>
                    <a:lstStyle/>
                    <a:p>
                      <a:pPr>
                        <a:defRPr sz="1900" b="0">
                          <a:solidFill>
                            <a:srgbClr val="000000"/>
                          </a:solidFill>
                          <a:latin typeface="Lato"/>
                        </a:defRPr>
                      </a:pPr>
                      <a:r>
                        <a:t>Validate the fuel model and add a connected infrastructure layer. Govern inputs, calculations and outputs so the team can reproduce and review the results.</a:t>
                      </a:r>
                    </a:p>
                  </a:txBody>
                  <a:tcPr marL="146304" marR="146304" marT="109728" marB="109728" anchor="ctr">
                    <a:lnB w="3175" cap="flat">
                      <a:solidFill>
                        <a:srgbClr val="B8B8B8"/>
                      </a:solidFill>
                    </a:lnB>
                    <a:solidFill>
                      <a:srgbClr val="FFFFFF"/>
                    </a:solidFill>
                  </a:tcPr>
                </a:tc>
              </a:tr>
            </a:tbl>
          </a:graphicData>
        </a:graphic>
      </p:graphicFrame>
      <p:sp>
        <p:nvSpPr>
          <p:cNvPr id="9" name="context icon"/>
          <p:cNvSpPr/>
          <p:nvPr/>
        </p:nvSpPr>
        <p:spPr>
          <a:xfrm>
            <a:off x="658368" y="2211324"/>
            <a:ext cx="274320" cy="347472"/>
          </a:xfrm>
          <a:prstGeom prst="rect">
            <a:avLst/>
          </a:prstGeom>
          <a:no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ontext icon"/>
          <p:cNvSpPr/>
          <p:nvPr/>
        </p:nvSpPr>
        <p:spPr>
          <a:xfrm>
            <a:off x="713231" y="2302764"/>
            <a:ext cx="164592" cy="10972"/>
          </a:xfrm>
          <a:prstGeom prst="rect">
            <a:avLst/>
          </a:prstGeom>
          <a:solidFill>
            <a:srgbClr val="000000"/>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ontext icon"/>
          <p:cNvSpPr/>
          <p:nvPr/>
        </p:nvSpPr>
        <p:spPr>
          <a:xfrm>
            <a:off x="713231" y="2375916"/>
            <a:ext cx="164592" cy="10972"/>
          </a:xfrm>
          <a:prstGeom prst="rect">
            <a:avLst/>
          </a:prstGeom>
          <a:solidFill>
            <a:srgbClr val="000000"/>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ontext icon"/>
          <p:cNvSpPr/>
          <p:nvPr/>
        </p:nvSpPr>
        <p:spPr>
          <a:xfrm>
            <a:off x="713231" y="2449068"/>
            <a:ext cx="164592" cy="10972"/>
          </a:xfrm>
          <a:prstGeom prst="rect">
            <a:avLst/>
          </a:prstGeom>
          <a:solidFill>
            <a:srgbClr val="000000"/>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allenge icon"/>
          <p:cNvSpPr/>
          <p:nvPr/>
        </p:nvSpPr>
        <p:spPr>
          <a:xfrm>
            <a:off x="640080" y="3598164"/>
            <a:ext cx="365760" cy="329184"/>
          </a:xfrm>
          <a:prstGeom prst="triangle">
            <a:avLst/>
          </a:prstGeom>
          <a:no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3689604"/>
            <a:ext cx="128016" cy="210312"/>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t>
            </a:r>
          </a:p>
        </p:txBody>
      </p:sp>
      <p:sp>
        <p:nvSpPr>
          <p:cNvPr id="15" name="direction icon"/>
          <p:cNvSpPr/>
          <p:nvPr/>
        </p:nvSpPr>
        <p:spPr>
          <a:xfrm>
            <a:off x="640080" y="5039867"/>
            <a:ext cx="365760" cy="246888"/>
          </a:xfrm>
          <a:prstGeom prst="rightArrow">
            <a:avLst/>
          </a:prstGeom>
          <a:no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053328"/>
            <a:ext cx="10424160" cy="36576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One integrated design; separate fuel, infrastructure and client-analysis responsibilities.</a:t>
            </a:r>
          </a:p>
        </p:txBody>
      </p:sp>
      <p:sp>
        <p:nvSpPr>
          <p:cNvPr id="17" name="TextBox 16"/>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Agreed modelling operating-system requirements; inherited workbook and report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Connect demand, production, imports and infrastructure in one model design</a:t>
            </a:r>
          </a:p>
        </p:txBody>
      </p:sp>
      <p:sp>
        <p:nvSpPr>
          <p:cNvPr id="3" name="Slide Number Placeholder"/>
          <p:cNvSpPr>
            <a:spLocks noGrp="1"/>
          </p:cNvSpPr>
          <p:nvPr>
            <p:ph type="sldNum" sz="quarter" idx="12"/>
          </p:nvPr>
        </p:nvSpPr>
        <p:spPr/>
        <p:txBody>
          <a:bodyPr/>
          <a:lstStyle/>
          <a:p>
            <a:fld id="{2C5232A0-877C-40C6-A1A9-4FC7587CF2C3}"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502920" y="1673352"/>
            <a:ext cx="10515600" cy="320040"/>
          </a:xfrm>
          <a:prstGeom prst="rect">
            <a:avLst/>
          </a:prstGeom>
          <a:noFill/>
        </p:spPr>
        <p:txBody>
          <a:bodyPr wrap="square" lIns="18288" rIns="18288" tIns="0" bIns="0">
            <a:spAutoFit/>
          </a:bodyPr>
          <a:lstStyle/>
          <a:p>
            <a:pPr>
              <a:spcAft>
                <a:spcPts val="300"/>
              </a:spcAft>
              <a:defRPr sz="1300" b="1">
                <a:solidFill>
                  <a:srgbClr val="000000"/>
                </a:solidFill>
                <a:latin typeface="Lato"/>
              </a:defRPr>
            </a:pPr>
            <a:r>
              <a:t>Whole-model design | [E] existing, provisional  [H] held baseline  [P] planned  [A] engagement analysis</a:t>
            </a:r>
          </a:p>
        </p:txBody>
      </p:sp>
      <p:sp>
        <p:nvSpPr>
          <p:cNvPr id="9" name="TextBox 8"/>
          <p:cNvSpPr txBox="1"/>
          <p:nvPr/>
        </p:nvSpPr>
        <p:spPr>
          <a:xfrm>
            <a:off x="502920" y="2029968"/>
            <a:ext cx="10515600" cy="292608"/>
          </a:xfrm>
          <a:prstGeom prst="rect">
            <a:avLst/>
          </a:prstGeom>
          <a:noFill/>
        </p:spPr>
        <p:txBody>
          <a:bodyPr wrap="square" lIns="18288" rIns="18288" tIns="0" bIns="0">
            <a:spAutoFit/>
          </a:bodyPr>
          <a:lstStyle/>
          <a:p>
            <a:pPr>
              <a:spcAft>
                <a:spcPts val="300"/>
              </a:spcAft>
              <a:defRPr sz="1200" b="0">
                <a:solidFill>
                  <a:srgbClr val="000000"/>
                </a:solidFill>
                <a:latin typeface="Lato"/>
              </a:defRPr>
            </a:pPr>
            <a:r>
              <a:t>Shared dimensions: market / country x fuel x time x scenario | SA populated; SACU + priority Africa extensions [P]</a:t>
            </a:r>
          </a:p>
        </p:txBody>
      </p:sp>
      <p:sp>
        <p:nvSpPr>
          <p:cNvPr id="10" name="Rectangle 9"/>
          <p:cNvSpPr/>
          <p:nvPr/>
        </p:nvSpPr>
        <p:spPr>
          <a:xfrm>
            <a:off x="502920" y="2560320"/>
            <a:ext cx="1600200" cy="3017520"/>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670048"/>
            <a:ext cx="1417320" cy="429768"/>
          </a:xfrm>
          <a:prstGeom prst="rect">
            <a:avLst/>
          </a:prstGeom>
          <a:noFill/>
        </p:spPr>
        <p:txBody>
          <a:bodyPr wrap="square" lIns="18288" rIns="18288" tIns="0" bIns="0">
            <a:spAutoFit/>
          </a:bodyPr>
          <a:lstStyle/>
          <a:p>
            <a:pPr>
              <a:spcAft>
                <a:spcPts val="300"/>
              </a:spcAft>
              <a:defRPr sz="1400" b="1">
                <a:solidFill>
                  <a:srgbClr val="000000"/>
                </a:solidFill>
                <a:latin typeface="Lato"/>
              </a:defRPr>
            </a:pPr>
            <a:r>
              <a:t>01 Evidence</a:t>
            </a:r>
          </a:p>
        </p:txBody>
      </p:sp>
      <p:sp>
        <p:nvSpPr>
          <p:cNvPr id="12" name="TextBox 11"/>
          <p:cNvSpPr txBox="1"/>
          <p:nvPr/>
        </p:nvSpPr>
        <p:spPr>
          <a:xfrm>
            <a:off x="594360" y="3072384"/>
            <a:ext cx="1417320" cy="2450591"/>
          </a:xfrm>
          <a:prstGeom prst="rect">
            <a:avLst/>
          </a:prstGeom>
          <a:noFill/>
        </p:spPr>
        <p:txBody>
          <a:bodyPr wrap="square" lIns="18288" rIns="18288" tIns="0" bIns="0">
            <a:spAutoFit/>
          </a:bodyPr>
          <a:lstStyle/>
          <a:p>
            <a:pPr>
              <a:spcAft>
                <a:spcPts val="300"/>
              </a:spcAft>
              <a:defRPr sz="1100" b="0">
                <a:solidFill>
                  <a:srgbClr val="000000"/>
                </a:solidFill>
                <a:latin typeface="Lato"/>
              </a:defRPr>
            </a:pPr>
            <a:r>
              <a:t>Excel + reports</a:t>
            </a:r>
          </a:p>
          <a:p>
            <a:pPr>
              <a:spcAft>
                <a:spcPts val="300"/>
              </a:spcAft>
              <a:defRPr sz="1100" b="0">
                <a:solidFill>
                  <a:srgbClr val="000000"/>
                </a:solidFill>
                <a:latin typeface="Lato"/>
              </a:defRPr>
            </a:pPr>
            <a:r>
              <a:t>Macro / population</a:t>
            </a:r>
          </a:p>
          <a:p>
            <a:pPr>
              <a:spcAft>
                <a:spcPts val="300"/>
              </a:spcAft>
              <a:defRPr sz="1100" b="0">
                <a:solidFill>
                  <a:srgbClr val="000000"/>
                </a:solidFill>
                <a:latin typeface="Lato"/>
              </a:defRPr>
            </a:pPr>
            <a:r>
              <a:t>Fleet + mileage</a:t>
            </a:r>
          </a:p>
          <a:p>
            <a:pPr>
              <a:spcAft>
                <a:spcPts val="300"/>
              </a:spcAft>
              <a:defRPr sz="1100" b="0">
                <a:solidFill>
                  <a:srgbClr val="000000"/>
                </a:solidFill>
                <a:latin typeface="Lato"/>
              </a:defRPr>
            </a:pPr>
            <a:r>
              <a:t>Energy + trade</a:t>
            </a:r>
          </a:p>
          <a:p>
            <a:pPr>
              <a:spcAft>
                <a:spcPts val="300"/>
              </a:spcAft>
              <a:defRPr sz="1100" b="0">
                <a:solidFill>
                  <a:srgbClr val="000000"/>
                </a:solidFill>
                <a:latin typeface="Lato"/>
              </a:defRPr>
            </a:pPr>
            <a:r>
              <a:t>Assets + routes</a:t>
            </a:r>
          </a:p>
          <a:p>
            <a:pPr>
              <a:spcAft>
                <a:spcPts val="300"/>
              </a:spcAft>
              <a:defRPr sz="1100" b="0">
                <a:solidFill>
                  <a:srgbClr val="000000"/>
                </a:solidFill>
                <a:latin typeface="Lato"/>
              </a:defRPr>
            </a:pPr>
            <a:r>
              <a:t>Customers / access</a:t>
            </a:r>
          </a:p>
          <a:p>
            <a:pPr>
              <a:spcAft>
                <a:spcPts val="300"/>
              </a:spcAft>
              <a:defRPr sz="1100" b="0">
                <a:solidFill>
                  <a:srgbClr val="000000"/>
                </a:solidFill>
                <a:latin typeface="Lato"/>
              </a:defRPr>
            </a:pPr>
          </a:p>
          <a:p>
            <a:pPr>
              <a:spcAft>
                <a:spcPts val="300"/>
              </a:spcAft>
              <a:defRPr sz="1100" b="0">
                <a:solidFill>
                  <a:srgbClr val="000000"/>
                </a:solidFill>
                <a:latin typeface="Lato"/>
              </a:defRPr>
            </a:pPr>
            <a:r>
              <a:t>Vintaged YAML/CSV [E]</a:t>
            </a:r>
          </a:p>
          <a:p>
            <a:pPr>
              <a:spcAft>
                <a:spcPts val="300"/>
              </a:spcAft>
              <a:defRPr sz="1100" b="0">
                <a:solidFill>
                  <a:srgbClr val="000000"/>
                </a:solidFill>
                <a:latin typeface="Lato"/>
              </a:defRPr>
            </a:pPr>
            <a:r>
              <a:t>Source register [E]</a:t>
            </a:r>
          </a:p>
        </p:txBody>
      </p:sp>
      <p:sp>
        <p:nvSpPr>
          <p:cNvPr id="13" name="Rectangle 12"/>
          <p:cNvSpPr/>
          <p:nvPr/>
        </p:nvSpPr>
        <p:spPr>
          <a:xfrm>
            <a:off x="2322576" y="2560320"/>
            <a:ext cx="2560320" cy="1965960"/>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14016" y="2670048"/>
            <a:ext cx="2377439" cy="429768"/>
          </a:xfrm>
          <a:prstGeom prst="rect">
            <a:avLst/>
          </a:prstGeom>
          <a:noFill/>
        </p:spPr>
        <p:txBody>
          <a:bodyPr wrap="square" lIns="18288" rIns="18288" tIns="0" bIns="0">
            <a:spAutoFit/>
          </a:bodyPr>
          <a:lstStyle/>
          <a:p>
            <a:pPr>
              <a:spcAft>
                <a:spcPts val="300"/>
              </a:spcAft>
              <a:defRPr sz="1400" b="1">
                <a:solidFill>
                  <a:srgbClr val="000000"/>
                </a:solidFill>
                <a:latin typeface="Lato"/>
              </a:defRPr>
            </a:pPr>
            <a:r>
              <a:t>02 Demand [E/H]</a:t>
            </a:r>
          </a:p>
        </p:txBody>
      </p:sp>
      <p:sp>
        <p:nvSpPr>
          <p:cNvPr id="15" name="TextBox 14"/>
          <p:cNvSpPr txBox="1"/>
          <p:nvPr/>
        </p:nvSpPr>
        <p:spPr>
          <a:xfrm>
            <a:off x="2414016" y="3072384"/>
            <a:ext cx="2377439" cy="1399031"/>
          </a:xfrm>
          <a:prstGeom prst="rect">
            <a:avLst/>
          </a:prstGeom>
          <a:noFill/>
        </p:spPr>
        <p:txBody>
          <a:bodyPr wrap="square" lIns="18288" rIns="18288" tIns="0" bIns="0">
            <a:spAutoFit/>
          </a:bodyPr>
          <a:lstStyle/>
          <a:p>
            <a:pPr>
              <a:spcAft>
                <a:spcPts val="300"/>
              </a:spcAft>
              <a:defRPr sz="1100" b="0">
                <a:solidFill>
                  <a:srgbClr val="000000"/>
                </a:solidFill>
                <a:latin typeface="Lato"/>
              </a:defRPr>
            </a:pPr>
            <a:r>
              <a:t>Vehicles: fleet, km, efficiency, EVs [E]</a:t>
            </a:r>
          </a:p>
          <a:p>
            <a:pPr>
              <a:spcAft>
                <a:spcPts val="300"/>
              </a:spcAft>
              <a:defRPr sz="1100" b="0">
                <a:solidFill>
                  <a:srgbClr val="000000"/>
                </a:solidFill>
                <a:latin typeface="Lato"/>
              </a:defRPr>
            </a:pPr>
            <a:r>
              <a:t>Aviation: GDP/capita + passengers [E]</a:t>
            </a:r>
          </a:p>
          <a:p>
            <a:pPr>
              <a:spcAft>
                <a:spcPts val="300"/>
              </a:spcAft>
              <a:defRPr sz="1100" b="0">
                <a:solidFill>
                  <a:srgbClr val="000000"/>
                </a:solidFill>
                <a:latin typeface="Lato"/>
              </a:defRPr>
            </a:pPr>
            <a:r>
              <a:t>Power: MW, dispatch, efficiency [E]</a:t>
            </a:r>
          </a:p>
          <a:p>
            <a:pPr>
              <a:spcAft>
                <a:spcPts val="300"/>
              </a:spcAft>
              <a:defRPr sz="1100" b="0">
                <a:solidFill>
                  <a:srgbClr val="000000"/>
                </a:solidFill>
                <a:latin typeface="Lato"/>
              </a:defRPr>
            </a:pPr>
            <a:r>
              <a:t>Industry / marine / agriculture: GDP-scaled baselines [H]</a:t>
            </a:r>
          </a:p>
        </p:txBody>
      </p:sp>
      <p:sp>
        <p:nvSpPr>
          <p:cNvPr id="16" name="Rectangle 15"/>
          <p:cNvSpPr/>
          <p:nvPr/>
        </p:nvSpPr>
        <p:spPr>
          <a:xfrm>
            <a:off x="2322576" y="4617720"/>
            <a:ext cx="2560320" cy="960120"/>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14016" y="4727448"/>
            <a:ext cx="2377439" cy="429768"/>
          </a:xfrm>
          <a:prstGeom prst="rect">
            <a:avLst/>
          </a:prstGeom>
          <a:noFill/>
        </p:spPr>
        <p:txBody>
          <a:bodyPr wrap="square" lIns="18288" rIns="18288" tIns="0" bIns="0">
            <a:spAutoFit/>
          </a:bodyPr>
          <a:lstStyle/>
          <a:p>
            <a:pPr>
              <a:spcAft>
                <a:spcPts val="300"/>
              </a:spcAft>
              <a:defRPr sz="1400" b="1">
                <a:solidFill>
                  <a:srgbClr val="000000"/>
                </a:solidFill>
                <a:latin typeface="Lato"/>
              </a:defRPr>
            </a:pPr>
            <a:r>
              <a:t>Domestic production [E]</a:t>
            </a:r>
          </a:p>
        </p:txBody>
      </p:sp>
      <p:sp>
        <p:nvSpPr>
          <p:cNvPr id="18" name="TextBox 17"/>
          <p:cNvSpPr txBox="1"/>
          <p:nvPr/>
        </p:nvSpPr>
        <p:spPr>
          <a:xfrm>
            <a:off x="2414016" y="5129783"/>
            <a:ext cx="2377439" cy="393192"/>
          </a:xfrm>
          <a:prstGeom prst="rect">
            <a:avLst/>
          </a:prstGeom>
          <a:noFill/>
        </p:spPr>
        <p:txBody>
          <a:bodyPr wrap="square" lIns="18288" rIns="18288" tIns="0" bIns="0">
            <a:spAutoFit/>
          </a:bodyPr>
          <a:lstStyle/>
          <a:p>
            <a:pPr>
              <a:spcAft>
                <a:spcPts val="300"/>
              </a:spcAft>
              <a:defRPr sz="1100" b="0">
                <a:solidFill>
                  <a:srgbClr val="000000"/>
                </a:solidFill>
                <a:latin typeface="Lato"/>
              </a:defRPr>
            </a:pPr>
            <a:r>
              <a:t>Capacity x utilisation x availability x product yields</a:t>
            </a:r>
          </a:p>
        </p:txBody>
      </p:sp>
      <p:sp>
        <p:nvSpPr>
          <p:cNvPr id="19" name="Rectangle 18"/>
          <p:cNvSpPr/>
          <p:nvPr/>
        </p:nvSpPr>
        <p:spPr>
          <a:xfrm>
            <a:off x="5102352" y="2560320"/>
            <a:ext cx="1737360" cy="3017520"/>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93792" y="2670048"/>
            <a:ext cx="1554480" cy="429768"/>
          </a:xfrm>
          <a:prstGeom prst="rect">
            <a:avLst/>
          </a:prstGeom>
          <a:noFill/>
        </p:spPr>
        <p:txBody>
          <a:bodyPr wrap="square" lIns="18288" rIns="18288" tIns="0" bIns="0">
            <a:spAutoFit/>
          </a:bodyPr>
          <a:lstStyle/>
          <a:p>
            <a:pPr>
              <a:spcAft>
                <a:spcPts val="300"/>
              </a:spcAft>
              <a:defRPr sz="1400" b="1">
                <a:solidFill>
                  <a:srgbClr val="000000"/>
                </a:solidFill>
                <a:latin typeface="Lato"/>
              </a:defRPr>
            </a:pPr>
            <a:r>
              <a:t>03 Fuel balance</a:t>
            </a:r>
          </a:p>
        </p:txBody>
      </p:sp>
      <p:sp>
        <p:nvSpPr>
          <p:cNvPr id="21" name="TextBox 20"/>
          <p:cNvSpPr txBox="1"/>
          <p:nvPr/>
        </p:nvSpPr>
        <p:spPr>
          <a:xfrm>
            <a:off x="5193792" y="3072384"/>
            <a:ext cx="1554480" cy="2450591"/>
          </a:xfrm>
          <a:prstGeom prst="rect">
            <a:avLst/>
          </a:prstGeom>
          <a:noFill/>
        </p:spPr>
        <p:txBody>
          <a:bodyPr wrap="square" lIns="18288" rIns="18288" tIns="0" bIns="0">
            <a:spAutoFit/>
          </a:bodyPr>
          <a:lstStyle/>
          <a:p>
            <a:pPr>
              <a:spcAft>
                <a:spcPts val="300"/>
              </a:spcAft>
              <a:defRPr sz="1100" b="0">
                <a:solidFill>
                  <a:srgbClr val="000000"/>
                </a:solidFill>
                <a:latin typeface="Lato"/>
              </a:defRPr>
            </a:pPr>
            <a:r>
              <a:t>Demand vs domestic output [E]</a:t>
            </a:r>
          </a:p>
          <a:p>
            <a:pPr>
              <a:spcAft>
                <a:spcPts val="300"/>
              </a:spcAft>
              <a:defRPr sz="1100" b="0">
                <a:solidFill>
                  <a:srgbClr val="000000"/>
                </a:solidFill>
                <a:latin typeface="Lato"/>
              </a:defRPr>
            </a:pPr>
          </a:p>
          <a:p>
            <a:pPr>
              <a:spcAft>
                <a:spcPts val="300"/>
              </a:spcAft>
              <a:defRPr sz="1100" b="0">
                <a:solidFill>
                  <a:srgbClr val="000000"/>
                </a:solidFill>
                <a:latin typeface="Lato"/>
              </a:defRPr>
            </a:pPr>
            <a:r>
              <a:t>Import requirement, exports + stock changes [P]</a:t>
            </a:r>
          </a:p>
          <a:p>
            <a:pPr>
              <a:spcAft>
                <a:spcPts val="300"/>
              </a:spcAft>
              <a:defRPr sz="1100" b="0">
                <a:solidFill>
                  <a:srgbClr val="000000"/>
                </a:solidFill>
                <a:latin typeface="Lato"/>
              </a:defRPr>
            </a:pPr>
          </a:p>
          <a:p>
            <a:pPr>
              <a:spcAft>
                <a:spcPts val="300"/>
              </a:spcAft>
              <a:defRPr sz="1100" b="0">
                <a:solidFill>
                  <a:srgbClr val="000000"/>
                </a:solidFill>
                <a:latin typeface="Lato"/>
              </a:defRPr>
            </a:pPr>
            <a:r>
              <a:t>Available imports [P]</a:t>
            </a:r>
          </a:p>
          <a:p>
            <a:pPr>
              <a:spcAft>
                <a:spcPts val="300"/>
              </a:spcAft>
              <a:defRPr sz="1100" b="0">
                <a:solidFill>
                  <a:srgbClr val="000000"/>
                </a:solidFill>
                <a:latin typeface="Lato"/>
              </a:defRPr>
            </a:pPr>
          </a:p>
          <a:p>
            <a:pPr>
              <a:spcAft>
                <a:spcPts val="300"/>
              </a:spcAft>
              <a:defRPr sz="1100" b="0">
                <a:solidFill>
                  <a:srgbClr val="000000"/>
                </a:solidFill>
                <a:latin typeface="Lato"/>
              </a:defRPr>
            </a:pPr>
            <a:r>
              <a:t>Remaining fuel gap [P]</a:t>
            </a:r>
          </a:p>
        </p:txBody>
      </p:sp>
      <p:sp>
        <p:nvSpPr>
          <p:cNvPr id="22" name="Rectangle 21"/>
          <p:cNvSpPr/>
          <p:nvPr/>
        </p:nvSpPr>
        <p:spPr>
          <a:xfrm>
            <a:off x="7059168" y="2560320"/>
            <a:ext cx="2103120" cy="3017520"/>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50607" y="2670048"/>
            <a:ext cx="1920239" cy="429768"/>
          </a:xfrm>
          <a:prstGeom prst="rect">
            <a:avLst/>
          </a:prstGeom>
          <a:noFill/>
        </p:spPr>
        <p:txBody>
          <a:bodyPr wrap="square" lIns="18288" rIns="18288" tIns="0" bIns="0">
            <a:spAutoFit/>
          </a:bodyPr>
          <a:lstStyle/>
          <a:p>
            <a:pPr>
              <a:spcAft>
                <a:spcPts val="300"/>
              </a:spcAft>
              <a:defRPr sz="1400" b="1">
                <a:solidFill>
                  <a:srgbClr val="000000"/>
                </a:solidFill>
                <a:latin typeface="Lato"/>
              </a:defRPr>
            </a:pPr>
            <a:r>
              <a:t>04 Infrastructure [P]</a:t>
            </a:r>
          </a:p>
        </p:txBody>
      </p:sp>
      <p:sp>
        <p:nvSpPr>
          <p:cNvPr id="24" name="TextBox 23"/>
          <p:cNvSpPr txBox="1"/>
          <p:nvPr/>
        </p:nvSpPr>
        <p:spPr>
          <a:xfrm>
            <a:off x="7150607" y="3072384"/>
            <a:ext cx="1920239" cy="2450591"/>
          </a:xfrm>
          <a:prstGeom prst="rect">
            <a:avLst/>
          </a:prstGeom>
          <a:noFill/>
        </p:spPr>
        <p:txBody>
          <a:bodyPr wrap="square" lIns="18288" rIns="18288" tIns="0" bIns="0">
            <a:spAutoFit/>
          </a:bodyPr>
          <a:lstStyle/>
          <a:p>
            <a:pPr>
              <a:spcAft>
                <a:spcPts val="300"/>
              </a:spcAft>
              <a:defRPr sz="1100" b="0">
                <a:solidFill>
                  <a:srgbClr val="000000"/>
                </a:solidFill>
                <a:latin typeface="Lato"/>
              </a:defRPr>
            </a:pPr>
            <a:r>
              <a:t>Ports / airports / terminals</a:t>
            </a:r>
          </a:p>
          <a:p>
            <a:pPr>
              <a:spcAft>
                <a:spcPts val="300"/>
              </a:spcAft>
              <a:defRPr sz="1100" b="0">
                <a:solidFill>
                  <a:srgbClr val="000000"/>
                </a:solidFill>
                <a:latin typeface="Lato"/>
              </a:defRPr>
            </a:pPr>
          </a:p>
          <a:p>
            <a:pPr>
              <a:spcAft>
                <a:spcPts val="300"/>
              </a:spcAft>
              <a:defRPr sz="1100" b="0">
                <a:solidFill>
                  <a:srgbClr val="000000"/>
                </a:solidFill>
                <a:latin typeface="Lato"/>
              </a:defRPr>
            </a:pPr>
            <a:r>
              <a:t>Pipeline / rail / road links</a:t>
            </a:r>
          </a:p>
          <a:p>
            <a:pPr>
              <a:spcAft>
                <a:spcPts val="300"/>
              </a:spcAft>
              <a:defRPr sz="1100" b="0">
                <a:solidFill>
                  <a:srgbClr val="000000"/>
                </a:solidFill>
                <a:latin typeface="Lato"/>
              </a:defRPr>
            </a:pPr>
            <a:r>
              <a:t>Power lines + power stations</a:t>
            </a:r>
          </a:p>
          <a:p>
            <a:pPr>
              <a:spcAft>
                <a:spcPts val="300"/>
              </a:spcAft>
              <a:defRPr sz="1100" b="0">
                <a:solidFill>
                  <a:srgbClr val="000000"/>
                </a:solidFill>
                <a:latin typeface="Lato"/>
              </a:defRPr>
            </a:pPr>
            <a:r>
              <a:t>Shared capacity + access</a:t>
            </a:r>
          </a:p>
          <a:p>
            <a:pPr>
              <a:spcAft>
                <a:spcPts val="300"/>
              </a:spcAft>
              <a:defRPr sz="1100" b="0">
                <a:solidFill>
                  <a:srgbClr val="000000"/>
                </a:solidFill>
                <a:latin typeface="Lato"/>
              </a:defRPr>
            </a:pPr>
          </a:p>
          <a:p>
            <a:pPr>
              <a:spcAft>
                <a:spcPts val="300"/>
              </a:spcAft>
              <a:defRPr sz="1100" b="0">
                <a:solidFill>
                  <a:srgbClr val="000000"/>
                </a:solidFill>
                <a:latin typeface="Lato"/>
              </a:defRPr>
            </a:pPr>
            <a:r>
              <a:t>Receipt / dispatch limits</a:t>
            </a:r>
          </a:p>
          <a:p>
            <a:pPr>
              <a:spcAft>
                <a:spcPts val="300"/>
              </a:spcAft>
              <a:defRPr sz="1100" b="0">
                <a:solidFill>
                  <a:srgbClr val="000000"/>
                </a:solidFill>
                <a:latin typeface="Lato"/>
              </a:defRPr>
            </a:pPr>
            <a:r>
              <a:t>Working tanks + stock cover</a:t>
            </a:r>
          </a:p>
          <a:p>
            <a:pPr>
              <a:spcAft>
                <a:spcPts val="300"/>
              </a:spcAft>
              <a:defRPr sz="1100" b="0">
                <a:solidFill>
                  <a:srgbClr val="000000"/>
                </a:solidFill>
                <a:latin typeface="Lato"/>
              </a:defRPr>
            </a:pPr>
          </a:p>
          <a:p>
            <a:pPr>
              <a:spcAft>
                <a:spcPts val="300"/>
              </a:spcAft>
              <a:defRPr sz="1100" b="0">
                <a:solidFill>
                  <a:srgbClr val="000000"/>
                </a:solidFill>
                <a:latin typeface="Lato"/>
              </a:defRPr>
            </a:pPr>
            <a:r>
              <a:t>Feasible flows + storage gaps</a:t>
            </a:r>
          </a:p>
        </p:txBody>
      </p:sp>
      <p:sp>
        <p:nvSpPr>
          <p:cNvPr id="25" name="Rectangle 24"/>
          <p:cNvSpPr/>
          <p:nvPr/>
        </p:nvSpPr>
        <p:spPr>
          <a:xfrm>
            <a:off x="9381744" y="2560320"/>
            <a:ext cx="1737360" cy="3017520"/>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73184" y="2670048"/>
            <a:ext cx="1554480" cy="429768"/>
          </a:xfrm>
          <a:prstGeom prst="rect">
            <a:avLst/>
          </a:prstGeom>
          <a:noFill/>
        </p:spPr>
        <p:txBody>
          <a:bodyPr wrap="square" lIns="18288" rIns="18288" tIns="0" bIns="0">
            <a:spAutoFit/>
          </a:bodyPr>
          <a:lstStyle/>
          <a:p>
            <a:pPr>
              <a:spcAft>
                <a:spcPts val="300"/>
              </a:spcAft>
              <a:defRPr sz="1400" b="1">
                <a:solidFill>
                  <a:srgbClr val="000000"/>
                </a:solidFill>
                <a:latin typeface="Lato"/>
              </a:defRPr>
            </a:pPr>
            <a:r>
              <a:t>05 Decisions</a:t>
            </a:r>
          </a:p>
        </p:txBody>
      </p:sp>
      <p:sp>
        <p:nvSpPr>
          <p:cNvPr id="27" name="TextBox 26"/>
          <p:cNvSpPr txBox="1"/>
          <p:nvPr/>
        </p:nvSpPr>
        <p:spPr>
          <a:xfrm>
            <a:off x="9473184" y="3072384"/>
            <a:ext cx="1554480" cy="2450591"/>
          </a:xfrm>
          <a:prstGeom prst="rect">
            <a:avLst/>
          </a:prstGeom>
          <a:noFill/>
        </p:spPr>
        <p:txBody>
          <a:bodyPr wrap="square" lIns="18288" rIns="18288" tIns="0" bIns="0">
            <a:spAutoFit/>
          </a:bodyPr>
          <a:lstStyle/>
          <a:p>
            <a:pPr>
              <a:spcAft>
                <a:spcPts val="300"/>
              </a:spcAft>
              <a:defRPr sz="1100" b="0">
                <a:solidFill>
                  <a:srgbClr val="000000"/>
                </a:solidFill>
                <a:latin typeface="Lato"/>
              </a:defRPr>
            </a:pPr>
            <a:r>
              <a:t>Run outputs + provenance [E]</a:t>
            </a:r>
          </a:p>
          <a:p>
            <a:pPr>
              <a:spcAft>
                <a:spcPts val="300"/>
              </a:spcAft>
              <a:defRPr sz="1100" b="0">
                <a:solidFill>
                  <a:srgbClr val="000000"/>
                </a:solidFill>
                <a:latin typeface="Lato"/>
              </a:defRPr>
            </a:pPr>
          </a:p>
          <a:p>
            <a:pPr>
              <a:spcAft>
                <a:spcPts val="300"/>
              </a:spcAft>
              <a:defRPr sz="1100" b="0">
                <a:solidFill>
                  <a:srgbClr val="000000"/>
                </a:solidFill>
                <a:latin typeface="Lato"/>
              </a:defRPr>
            </a:pPr>
            <a:r>
              <a:t>Competition + customer commitments [A]</a:t>
            </a:r>
          </a:p>
          <a:p>
            <a:pPr>
              <a:spcAft>
                <a:spcPts val="300"/>
              </a:spcAft>
              <a:defRPr sz="1100" b="0">
                <a:solidFill>
                  <a:srgbClr val="000000"/>
                </a:solidFill>
                <a:latin typeface="Lato"/>
              </a:defRPr>
            </a:pPr>
          </a:p>
          <a:p>
            <a:pPr>
              <a:spcAft>
                <a:spcPts val="300"/>
              </a:spcAft>
              <a:defRPr sz="1100" b="0">
                <a:solidFill>
                  <a:srgbClr val="000000"/>
                </a:solidFill>
                <a:latin typeface="Lato"/>
              </a:defRPr>
            </a:pPr>
            <a:r>
              <a:t>SA-wide Vopak opportunities [A]</a:t>
            </a:r>
          </a:p>
          <a:p>
            <a:pPr>
              <a:spcAft>
                <a:spcPts val="300"/>
              </a:spcAft>
              <a:defRPr sz="1100" b="0">
                <a:solidFill>
                  <a:srgbClr val="000000"/>
                </a:solidFill>
                <a:latin typeface="Lato"/>
              </a:defRPr>
            </a:pPr>
            <a:r>
              <a:t>Walvis Bay case [A]</a:t>
            </a:r>
          </a:p>
          <a:p>
            <a:pPr>
              <a:spcAft>
                <a:spcPts val="300"/>
              </a:spcAft>
              <a:defRPr sz="1100" b="0">
                <a:solidFill>
                  <a:srgbClr val="000000"/>
                </a:solidFill>
                <a:latin typeface="Lato"/>
              </a:defRPr>
            </a:pPr>
            <a:r>
              <a:t>African priorities [A]</a:t>
            </a:r>
          </a:p>
        </p:txBody>
      </p:sp>
      <p:sp>
        <p:nvSpPr>
          <p:cNvPr id="28" name="Right Arrow 27"/>
          <p:cNvSpPr/>
          <p:nvPr/>
        </p:nvSpPr>
        <p:spPr>
          <a:xfrm>
            <a:off x="2125979" y="3895344"/>
            <a:ext cx="173736" cy="128016"/>
          </a:xfrm>
          <a:prstGeom prst="rightArrow">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ight Arrow 28"/>
          <p:cNvSpPr/>
          <p:nvPr/>
        </p:nvSpPr>
        <p:spPr>
          <a:xfrm>
            <a:off x="4905756" y="3895344"/>
            <a:ext cx="173736" cy="128016"/>
          </a:xfrm>
          <a:prstGeom prst="rightArrow">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Arrow 29"/>
          <p:cNvSpPr/>
          <p:nvPr/>
        </p:nvSpPr>
        <p:spPr>
          <a:xfrm>
            <a:off x="6862572" y="3895344"/>
            <a:ext cx="173736" cy="128016"/>
          </a:xfrm>
          <a:prstGeom prst="rightArrow">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ight Arrow 30"/>
          <p:cNvSpPr/>
          <p:nvPr/>
        </p:nvSpPr>
        <p:spPr>
          <a:xfrm>
            <a:off x="9185148" y="3895344"/>
            <a:ext cx="173736" cy="128016"/>
          </a:xfrm>
          <a:prstGeom prst="rightArrow">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5724144"/>
            <a:ext cx="10515600" cy="274320"/>
          </a:xfrm>
          <a:prstGeom prst="rect">
            <a:avLst/>
          </a:prstGeom>
          <a:noFill/>
        </p:spPr>
        <p:txBody>
          <a:bodyPr wrap="square" lIns="18288" rIns="18288" tIns="0" bIns="0">
            <a:spAutoFit/>
          </a:bodyPr>
          <a:lstStyle/>
          <a:p>
            <a:pPr>
              <a:spcAft>
                <a:spcPts val="300"/>
              </a:spcAft>
              <a:defRPr sz="1200" b="1">
                <a:solidFill>
                  <a:srgbClr val="000000"/>
                </a:solidFill>
                <a:latin typeface="Lato"/>
              </a:defRPr>
            </a:pPr>
            <a:r>
              <a:t>Scenarios across the chain: two paired runs [E] -&gt; independent H/M/L demand x available supply; M/M baseline [P]</a:t>
            </a:r>
          </a:p>
        </p:txBody>
      </p:sp>
      <p:sp>
        <p:nvSpPr>
          <p:cNvPr id="33" name="TextBox 32"/>
          <p:cNvSpPr txBox="1"/>
          <p:nvPr/>
        </p:nvSpPr>
        <p:spPr>
          <a:xfrm>
            <a:off x="502920" y="6053328"/>
            <a:ext cx="10515600" cy="292608"/>
          </a:xfrm>
          <a:prstGeom prst="rect">
            <a:avLst/>
          </a:prstGeom>
          <a:noFill/>
        </p:spPr>
        <p:txBody>
          <a:bodyPr wrap="square" lIns="18288" rIns="18288" tIns="0" bIns="0">
            <a:spAutoFit/>
          </a:bodyPr>
          <a:lstStyle/>
          <a:p>
            <a:pPr>
              <a:spcAft>
                <a:spcPts val="300"/>
              </a:spcAft>
              <a:defRPr sz="1100" b="0">
                <a:solidFill>
                  <a:srgbClr val="000000"/>
                </a:solidFill>
                <a:latin typeface="Lato"/>
              </a:defRPr>
            </a:pPr>
            <a:r>
              <a:t>Controls across the chain: input resolution, code/input hashes, checks and exceptions [E]; reconciliation, review and approval remain open.</a:t>
            </a:r>
          </a:p>
        </p:txBody>
      </p:sp>
      <p:sp>
        <p:nvSpPr>
          <p:cNvPr id="34" name="TextBox 33"/>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src/lfm/model/ and cli.py; assumptions/2026; WS5 specification; agreed engagement scope. Status distinguishes implemented and proposed components.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Test which fuel flows the infrastructure can transport, handle and store</a:t>
            </a:r>
          </a:p>
        </p:txBody>
      </p:sp>
      <p:sp>
        <p:nvSpPr>
          <p:cNvPr id="3" name="Slide Number Placeholder"/>
          <p:cNvSpPr>
            <a:spLocks noGrp="1"/>
          </p:cNvSpPr>
          <p:nvPr>
            <p:ph type="sldNum" sz="quarter" idx="12"/>
          </p:nvPr>
        </p:nvSpPr>
        <p:spPr/>
        <p:txBody>
          <a:bodyPr/>
          <a:lstStyle/>
          <a:p>
            <a:fld id="{08046D85-4375-42AF-8D37-E0588F2F4288}"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502920" y="1673352"/>
            <a:ext cx="10515600" cy="457200"/>
          </a:xfrm>
          <a:prstGeom prst="rect">
            <a:avLst/>
          </a:prstGeom>
          <a:noFill/>
        </p:spPr>
        <p:txBody>
          <a:bodyPr wrap="square" lIns="18288" rIns="18288" tIns="0" bIns="0">
            <a:spAutoFit/>
          </a:bodyPr>
          <a:lstStyle/>
          <a:p>
            <a:pPr>
              <a:spcAft>
                <a:spcPts val="800"/>
              </a:spcAft>
              <a:defRPr sz="1700" b="1">
                <a:solidFill>
                  <a:srgbClr val="000000"/>
                </a:solidFill>
                <a:latin typeface="Lato"/>
              </a:defRPr>
            </a:pPr>
            <a:r>
              <a:t>WS5 | Liquid-fuel transport demand: allocate petrol, diesel and jet balances to feasible routes</a:t>
            </a:r>
          </a:p>
        </p:txBody>
      </p:sp>
      <p:sp>
        <p:nvSpPr>
          <p:cNvPr id="9" name="Rectangle 8"/>
          <p:cNvSpPr/>
          <p:nvPr/>
        </p:nvSpPr>
        <p:spPr>
          <a:xfrm>
            <a:off x="502920" y="2468880"/>
            <a:ext cx="2487168" cy="1993392"/>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624328"/>
            <a:ext cx="2304288" cy="50292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01  Fuel and markets</a:t>
            </a:r>
          </a:p>
        </p:txBody>
      </p:sp>
      <p:sp>
        <p:nvSpPr>
          <p:cNvPr id="11" name="TextBox 10"/>
          <p:cNvSpPr txBox="1"/>
          <p:nvPr/>
        </p:nvSpPr>
        <p:spPr>
          <a:xfrm>
            <a:off x="594360" y="3255264"/>
            <a:ext cx="2304288" cy="1024128"/>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WS2 petrol / diesel / jet</a:t>
            </a:r>
          </a:p>
          <a:p>
            <a:pPr>
              <a:spcAft>
                <a:spcPts val="800"/>
              </a:spcAft>
              <a:defRPr sz="1300" b="0">
                <a:solidFill>
                  <a:srgbClr val="000000"/>
                </a:solidFill>
                <a:latin typeface="Lato"/>
              </a:defRPr>
            </a:pPr>
            <a:r>
              <a:t>Production + feasible imports</a:t>
            </a:r>
          </a:p>
          <a:p>
            <a:pPr>
              <a:spcAft>
                <a:spcPts val="800"/>
              </a:spcAft>
              <a:defRPr sz="1300" b="0">
                <a:solidFill>
                  <a:srgbClr val="000000"/>
                </a:solidFill>
                <a:latin typeface="Lato"/>
              </a:defRPr>
            </a:pPr>
            <a:r>
              <a:t>Market / product / period</a:t>
            </a:r>
          </a:p>
        </p:txBody>
      </p:sp>
      <p:sp>
        <p:nvSpPr>
          <p:cNvPr id="12" name="Right Arrow 11"/>
          <p:cNvSpPr/>
          <p:nvPr/>
        </p:nvSpPr>
        <p:spPr>
          <a:xfrm>
            <a:off x="3008376" y="3383280"/>
            <a:ext cx="155448" cy="118872"/>
          </a:xfrm>
          <a:prstGeom prst="rightArrow">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191256" y="2468880"/>
            <a:ext cx="2487168" cy="1993392"/>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82696" y="2624328"/>
            <a:ext cx="2304288" cy="50292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02  Asset network</a:t>
            </a:r>
          </a:p>
        </p:txBody>
      </p:sp>
      <p:sp>
        <p:nvSpPr>
          <p:cNvPr id="15" name="TextBox 14"/>
          <p:cNvSpPr txBox="1"/>
          <p:nvPr/>
        </p:nvSpPr>
        <p:spPr>
          <a:xfrm>
            <a:off x="3282696" y="3255264"/>
            <a:ext cx="2304288" cy="1024128"/>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Ports / airports, rail / road</a:t>
            </a:r>
          </a:p>
          <a:p>
            <a:pPr>
              <a:spcAft>
                <a:spcPts val="800"/>
              </a:spcAft>
              <a:defRPr sz="1300" b="0">
                <a:solidFill>
                  <a:srgbClr val="000000"/>
                </a:solidFill>
                <a:latin typeface="Lato"/>
              </a:defRPr>
            </a:pPr>
            <a:r>
              <a:t>Pipelines + power lines</a:t>
            </a:r>
          </a:p>
          <a:p>
            <a:pPr>
              <a:spcAft>
                <a:spcPts val="800"/>
              </a:spcAft>
              <a:defRPr sz="1300" b="0">
                <a:solidFill>
                  <a:srgbClr val="000000"/>
                </a:solidFill>
                <a:latin typeface="Lato"/>
              </a:defRPr>
            </a:pPr>
            <a:r>
              <a:t>Power stations + access</a:t>
            </a:r>
          </a:p>
        </p:txBody>
      </p:sp>
      <p:sp>
        <p:nvSpPr>
          <p:cNvPr id="16" name="Right Arrow 15"/>
          <p:cNvSpPr/>
          <p:nvPr/>
        </p:nvSpPr>
        <p:spPr>
          <a:xfrm>
            <a:off x="5696712" y="3383280"/>
            <a:ext cx="155448" cy="118872"/>
          </a:xfrm>
          <a:prstGeom prst="rightArrow">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79592" y="2468880"/>
            <a:ext cx="2487168" cy="1993392"/>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71031" y="2624328"/>
            <a:ext cx="2304288" cy="50292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03  Terminals + tanks</a:t>
            </a:r>
          </a:p>
        </p:txBody>
      </p:sp>
      <p:sp>
        <p:nvSpPr>
          <p:cNvPr id="19" name="TextBox 18"/>
          <p:cNvSpPr txBox="1"/>
          <p:nvPr/>
        </p:nvSpPr>
        <p:spPr>
          <a:xfrm>
            <a:off x="5971031" y="3255264"/>
            <a:ext cx="2304288" cy="1024128"/>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Receipt / dispatch limits</a:t>
            </a:r>
          </a:p>
          <a:p>
            <a:pPr>
              <a:spcAft>
                <a:spcPts val="800"/>
              </a:spcAft>
              <a:defRPr sz="1300" b="0">
                <a:solidFill>
                  <a:srgbClr val="000000"/>
                </a:solidFill>
                <a:latin typeface="Lato"/>
              </a:defRPr>
            </a:pPr>
            <a:r>
              <a:t>Usable storage by product</a:t>
            </a:r>
          </a:p>
          <a:p>
            <a:pPr>
              <a:spcAft>
                <a:spcPts val="800"/>
              </a:spcAft>
              <a:defRPr sz="1300" b="0">
                <a:solidFill>
                  <a:srgbClr val="000000"/>
                </a:solidFill>
                <a:latin typeface="Lato"/>
              </a:defRPr>
            </a:pPr>
            <a:r>
              <a:t>Stock cover + commitments</a:t>
            </a:r>
          </a:p>
        </p:txBody>
      </p:sp>
      <p:sp>
        <p:nvSpPr>
          <p:cNvPr id="20" name="Right Arrow 19"/>
          <p:cNvSpPr/>
          <p:nvPr/>
        </p:nvSpPr>
        <p:spPr>
          <a:xfrm>
            <a:off x="8385048" y="3383280"/>
            <a:ext cx="155448" cy="118872"/>
          </a:xfrm>
          <a:prstGeom prst="rightArrow">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567928" y="2468880"/>
            <a:ext cx="2487168" cy="1993392"/>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59368" y="2624328"/>
            <a:ext cx="2304288" cy="50292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04  Decision outputs</a:t>
            </a:r>
          </a:p>
        </p:txBody>
      </p:sp>
      <p:sp>
        <p:nvSpPr>
          <p:cNvPr id="23" name="TextBox 22"/>
          <p:cNvSpPr txBox="1"/>
          <p:nvPr/>
        </p:nvSpPr>
        <p:spPr>
          <a:xfrm>
            <a:off x="8659368" y="3255264"/>
            <a:ext cx="2304288" cy="1024128"/>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Unmet volumes + bottlenecks</a:t>
            </a:r>
          </a:p>
          <a:p>
            <a:pPr>
              <a:spcAft>
                <a:spcPts val="800"/>
              </a:spcAft>
              <a:defRPr sz="1300" b="0">
                <a:solidFill>
                  <a:srgbClr val="000000"/>
                </a:solidFill>
                <a:latin typeface="Lato"/>
              </a:defRPr>
            </a:pPr>
            <a:r>
              <a:t>Required vs usable storage</a:t>
            </a:r>
          </a:p>
          <a:p>
            <a:pPr>
              <a:spcAft>
                <a:spcPts val="800"/>
              </a:spcAft>
              <a:defRPr sz="1300" b="0">
                <a:solidFill>
                  <a:srgbClr val="000000"/>
                </a:solidFill>
                <a:latin typeface="Lato"/>
              </a:defRPr>
            </a:pPr>
            <a:r>
              <a:t>Client-accessible opportunity</a:t>
            </a:r>
          </a:p>
        </p:txBody>
      </p:sp>
      <p:sp>
        <p:nvSpPr>
          <p:cNvPr id="24" name="TextBox 23"/>
          <p:cNvSpPr txBox="1"/>
          <p:nvPr/>
        </p:nvSpPr>
        <p:spPr>
          <a:xfrm>
            <a:off x="502920" y="4690872"/>
            <a:ext cx="10515600" cy="365760"/>
          </a:xfrm>
          <a:prstGeom prst="rect">
            <a:avLst/>
          </a:prstGeom>
          <a:noFill/>
        </p:spPr>
        <p:txBody>
          <a:bodyPr wrap="square" lIns="18288" rIns="18288" tIns="0" bIns="0">
            <a:spAutoFit/>
          </a:bodyPr>
          <a:lstStyle/>
          <a:p>
            <a:pPr>
              <a:spcAft>
                <a:spcPts val="800"/>
              </a:spcAft>
              <a:defRPr sz="1800" b="1">
                <a:solidFill>
                  <a:srgbClr val="000000"/>
                </a:solidFill>
                <a:latin typeface="Lato"/>
              </a:defRPr>
            </a:pPr>
            <a:r>
              <a:t>Transport and handling = flow (m3/year)     |     Storage = stock (m3)</a:t>
            </a:r>
          </a:p>
        </p:txBody>
      </p:sp>
      <p:sp>
        <p:nvSpPr>
          <p:cNvPr id="25" name="TextBox 24"/>
          <p:cNvSpPr txBox="1"/>
          <p:nvPr/>
        </p:nvSpPr>
        <p:spPr>
          <a:xfrm>
            <a:off x="502920" y="5175504"/>
            <a:ext cx="10515600" cy="640080"/>
          </a:xfrm>
          <a:prstGeom prst="rect">
            <a:avLst/>
          </a:prstGeom>
          <a:noFill/>
        </p:spPr>
        <p:txBody>
          <a:bodyPr wrap="square" lIns="18288" rIns="18288" tIns="0" bIns="0">
            <a:spAutoFit/>
          </a:bodyPr>
          <a:lstStyle/>
          <a:p>
            <a:pPr>
              <a:spcAft>
                <a:spcPts val="800"/>
              </a:spcAft>
              <a:defRPr sz="1500" b="0">
                <a:solidFill>
                  <a:srgbClr val="000000"/>
                </a:solidFill>
                <a:latin typeface="Lato"/>
              </a:defRPr>
            </a:pPr>
            <a:r>
              <a:t>Required working storage = annual throughput / days in year x stock-cover days.</a:t>
            </a:r>
          </a:p>
          <a:p>
            <a:pPr>
              <a:spcAft>
                <a:spcPts val="800"/>
              </a:spcAft>
              <a:defRPr sz="1500" b="0">
                <a:solidFill>
                  <a:srgbClr val="000000"/>
                </a:solidFill>
                <a:latin typeface="Lato"/>
              </a:defRPr>
            </a:pPr>
            <a:r>
              <a:t>Power lines and power stations inform asset availability and fuel demand; keep MW / MWh separate from fuel volumes.</a:t>
            </a:r>
          </a:p>
        </p:txBody>
      </p:sp>
      <p:sp>
        <p:nvSpPr>
          <p:cNvPr id="26" name="TextBox 25"/>
          <p:cNvSpPr txBox="1"/>
          <p:nvPr/>
        </p:nvSpPr>
        <p:spPr>
          <a:xfrm>
            <a:off x="502920" y="6035040"/>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First release: South Africa inventory + one evidenced Durban-to-Gauteng route. Unknown capacity remains unassessed.</a:t>
            </a:r>
          </a:p>
        </p:txBody>
      </p:sp>
      <p:sp>
        <p:nvSpPr>
          <p:cNvPr id="27" name="TextBox 26"/>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Agreed WS5 scope; workstreams/WS5_infrastructure_logistics/README.md; proposed architecture, not implemented capability.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Resolve the baseline before extending scenarios and market coverage</a:t>
            </a:r>
          </a:p>
        </p:txBody>
      </p:sp>
      <p:sp>
        <p:nvSpPr>
          <p:cNvPr id="3" name="Slide Number Placeholder"/>
          <p:cNvSpPr>
            <a:spLocks noGrp="1"/>
          </p:cNvSpPr>
          <p:nvPr>
            <p:ph type="sldNum" sz="quarter" idx="12"/>
          </p:nvPr>
        </p:nvSpPr>
        <p:spPr/>
        <p:txBody>
          <a:bodyPr/>
          <a:lstStyle/>
          <a:p>
            <a:fld id="{30C64314-93D7-4300-9B48-6968812230D3}"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graphicFrame>
        <p:nvGraphicFramePr>
          <p:cNvPr id="8" name="Table 7"/>
          <p:cNvGraphicFramePr>
            <a:graphicFrameLocks noGrp="1"/>
          </p:cNvGraphicFramePr>
          <p:nvPr/>
        </p:nvGraphicFramePr>
        <p:xfrm>
          <a:off x="457200" y="1691640"/>
          <a:ext cx="10652760" cy="4069080"/>
        </p:xfrm>
        <a:graphic>
          <a:graphicData uri="http://schemas.openxmlformats.org/drawingml/2006/table">
            <a:tbl>
              <a:tblPr firstRow="1" bandRow="1">
                <a:tableStyleId>{2D5ABB26-0587-4C30-8999-92F81FD0307C}</a:tableStyleId>
              </a:tblPr>
              <a:tblGrid>
                <a:gridCol w="2743200"/>
                <a:gridCol w="7909560"/>
              </a:tblGrid>
              <a:tr h="678180">
                <a:tc>
                  <a:txBody>
                    <a:bodyPr/>
                    <a:lstStyle/>
                    <a:p>
                      <a:pPr>
                        <a:defRPr sz="1700" b="1">
                          <a:solidFill>
                            <a:srgbClr val="000000"/>
                          </a:solidFill>
                          <a:latin typeface="Lato"/>
                        </a:defRPr>
                      </a:pPr>
                      <a:r>
                        <a:t>Build priority</a:t>
                      </a:r>
                    </a:p>
                  </a:txBody>
                  <a:tcPr marL="146304" marR="146304" marT="54864" marB="54864" anchor="ctr">
                    <a:lnB w="4445" cap="flat">
                      <a:solidFill>
                        <a:srgbClr val="A0A0A0"/>
                      </a:solidFill>
                    </a:lnB>
                    <a:solidFill>
                      <a:srgbClr val="FFFFFF"/>
                    </a:solidFill>
                  </a:tcPr>
                </a:tc>
                <a:tc>
                  <a:txBody>
                    <a:bodyPr/>
                    <a:lstStyle/>
                    <a:p>
                      <a:pPr>
                        <a:defRPr sz="1700" b="1">
                          <a:solidFill>
                            <a:srgbClr val="000000"/>
                          </a:solidFill>
                          <a:latin typeface="Lato"/>
                        </a:defRPr>
                      </a:pPr>
                      <a:r>
                        <a:t>Evidence needed to move forward</a:t>
                      </a:r>
                    </a:p>
                  </a:txBody>
                  <a:tcPr marL="146304" marR="146304" marT="54864" marB="54864" anchor="ctr">
                    <a:lnB w="4445" cap="flat">
                      <a:solidFill>
                        <a:srgbClr val="A0A0A0"/>
                      </a:solidFill>
                    </a:lnB>
                    <a:solidFill>
                      <a:srgbClr val="FFFFFF"/>
                    </a:solidFill>
                  </a:tcPr>
                </a:tc>
              </a:tr>
              <a:tr h="678180">
                <a:tc>
                  <a:txBody>
                    <a:bodyPr/>
                    <a:lstStyle/>
                    <a:p>
                      <a:pPr>
                        <a:defRPr sz="1700" b="0">
                          <a:solidFill>
                            <a:srgbClr val="000000"/>
                          </a:solidFill>
                          <a:latin typeface="Lato"/>
                        </a:defRPr>
                      </a:pPr>
                      <a:r>
                        <a:t>1  Establish the baseline</a:t>
                      </a:r>
                    </a:p>
                  </a:txBody>
                  <a:tcPr marL="146304" marR="146304" marT="54864" marB="54864" anchor="ctr">
                    <a:lnB w="3175" cap="flat">
                      <a:solidFill>
                        <a:srgbClr val="B8B8B8"/>
                      </a:solidFill>
                    </a:lnB>
                    <a:solidFill>
                      <a:srgbClr val="FFFFFF"/>
                    </a:solidFill>
                  </a:tcPr>
                </a:tc>
                <a:tc>
                  <a:txBody>
                    <a:bodyPr/>
                    <a:lstStyle/>
                    <a:p>
                      <a:pPr>
                        <a:defRPr sz="1700" b="0">
                          <a:solidFill>
                            <a:srgbClr val="000000"/>
                          </a:solidFill>
                          <a:latin typeface="Lato"/>
                        </a:defRPr>
                      </a:pPr>
                      <a:r>
                        <a:t>Explain Excel/Python differences; record the reference run and source the first infrastructure inventory</a:t>
                      </a:r>
                    </a:p>
                  </a:txBody>
                  <a:tcPr marL="146304" marR="146304" marT="54864" marB="54864" anchor="ctr">
                    <a:lnB w="3175" cap="flat">
                      <a:solidFill>
                        <a:srgbClr val="B8B8B8"/>
                      </a:solidFill>
                    </a:lnB>
                    <a:solidFill>
                      <a:srgbClr val="FFFFFF"/>
                    </a:solidFill>
                  </a:tcPr>
                </a:tc>
              </a:tr>
              <a:tr h="678180">
                <a:tc>
                  <a:txBody>
                    <a:bodyPr/>
                    <a:lstStyle/>
                    <a:p>
                      <a:pPr>
                        <a:defRPr sz="1700" b="0">
                          <a:solidFill>
                            <a:srgbClr val="000000"/>
                          </a:solidFill>
                          <a:latin typeface="Lato"/>
                        </a:defRPr>
                      </a:pPr>
                      <a:r>
                        <a:t>2  Complete fuel scenarios</a:t>
                      </a:r>
                    </a:p>
                  </a:txBody>
                  <a:tcPr marL="146304" marR="146304" marT="54864" marB="54864" anchor="ctr">
                    <a:lnB w="3175" cap="flat">
                      <a:solidFill>
                        <a:srgbClr val="B8B8B8"/>
                      </a:solidFill>
                    </a:lnB>
                    <a:solidFill>
                      <a:srgbClr val="FFFFFF"/>
                    </a:solidFill>
                  </a:tcPr>
                </a:tc>
                <a:tc>
                  <a:txBody>
                    <a:bodyPr/>
                    <a:lstStyle/>
                    <a:p>
                      <a:pPr>
                        <a:defRPr sz="1700" b="0">
                          <a:solidFill>
                            <a:srgbClr val="000000"/>
                          </a:solidFill>
                          <a:latin typeface="Lato"/>
                        </a:defRPr>
                      </a:pPr>
                      <a:r>
                        <a:t>Validate demand and production drivers; define imports and independent H/M/L cases with M/M baseline</a:t>
                      </a:r>
                    </a:p>
                  </a:txBody>
                  <a:tcPr marL="146304" marR="146304" marT="54864" marB="54864" anchor="ctr">
                    <a:lnB w="3175" cap="flat">
                      <a:solidFill>
                        <a:srgbClr val="B8B8B8"/>
                      </a:solidFill>
                    </a:lnB>
                    <a:solidFill>
                      <a:srgbClr val="FFFFFF"/>
                    </a:solidFill>
                  </a:tcPr>
                </a:tc>
              </a:tr>
              <a:tr h="678180">
                <a:tc>
                  <a:txBody>
                    <a:bodyPr/>
                    <a:lstStyle/>
                    <a:p>
                      <a:pPr>
                        <a:defRPr sz="1700" b="0">
                          <a:solidFill>
                            <a:srgbClr val="000000"/>
                          </a:solidFill>
                          <a:latin typeface="Lato"/>
                        </a:defRPr>
                      </a:pPr>
                      <a:r>
                        <a:t>3  Prove one infrastructure route</a:t>
                      </a:r>
                    </a:p>
                  </a:txBody>
                  <a:tcPr marL="146304" marR="146304" marT="54864" marB="54864" anchor="ctr">
                    <a:lnB w="3175" cap="flat">
                      <a:solidFill>
                        <a:srgbClr val="B8B8B8"/>
                      </a:solidFill>
                    </a:lnB>
                    <a:solidFill>
                      <a:srgbClr val="FFFFFF"/>
                    </a:solidFill>
                  </a:tcPr>
                </a:tc>
                <a:tc>
                  <a:txBody>
                    <a:bodyPr/>
                    <a:lstStyle/>
                    <a:p>
                      <a:pPr>
                        <a:defRPr sz="1700" b="0">
                          <a:solidFill>
                            <a:srgbClr val="000000"/>
                          </a:solidFill>
                          <a:latin typeface="Lato"/>
                        </a:defRPr>
                      </a:pPr>
                      <a:r>
                        <a:t>Reconcile route, handling and storage limits; demonstrate a feasible flow with no shared-capacity double counting</a:t>
                      </a:r>
                    </a:p>
                  </a:txBody>
                  <a:tcPr marL="146304" marR="146304" marT="54864" marB="54864" anchor="ctr">
                    <a:lnB w="3175" cap="flat">
                      <a:solidFill>
                        <a:srgbClr val="B8B8B8"/>
                      </a:solidFill>
                    </a:lnB>
                    <a:solidFill>
                      <a:srgbClr val="FFFFFF"/>
                    </a:solidFill>
                  </a:tcPr>
                </a:tc>
              </a:tr>
              <a:tr h="678180">
                <a:tc>
                  <a:txBody>
                    <a:bodyPr/>
                    <a:lstStyle/>
                    <a:p>
                      <a:pPr>
                        <a:defRPr sz="1700" b="0">
                          <a:solidFill>
                            <a:srgbClr val="000000"/>
                          </a:solidFill>
                          <a:latin typeface="Lato"/>
                        </a:defRPr>
                      </a:pPr>
                      <a:r>
                        <a:t>4  Extend the evidence</a:t>
                      </a:r>
                    </a:p>
                  </a:txBody>
                  <a:tcPr marL="146304" marR="146304" marT="54864" marB="54864" anchor="ctr">
                    <a:lnB w="3175" cap="flat">
                      <a:solidFill>
                        <a:srgbClr val="B8B8B8"/>
                      </a:solidFill>
                    </a:lnB>
                    <a:solidFill>
                      <a:srgbClr val="FFFFFF"/>
                    </a:solidFill>
                  </a:tcPr>
                </a:tc>
                <a:tc>
                  <a:txBody>
                    <a:bodyPr/>
                    <a:lstStyle/>
                    <a:p>
                      <a:pPr>
                        <a:defRPr sz="1700" b="0">
                          <a:solidFill>
                            <a:srgbClr val="000000"/>
                          </a:solidFill>
                          <a:latin typeface="Lato"/>
                        </a:defRPr>
                      </a:pPr>
                      <a:r>
                        <a:t>Agree market tiers: detailed South Africa; focused Namibia/Walvis Bay; SACU and wider African screening. Record evidence gaps and escalation criteria</a:t>
                      </a:r>
                    </a:p>
                  </a:txBody>
                  <a:tcPr marL="146304" marR="146304" marT="54864" marB="54864" anchor="ctr">
                    <a:lnB w="3175" cap="flat">
                      <a:solidFill>
                        <a:srgbClr val="B8B8B8"/>
                      </a:solidFill>
                    </a:lnB>
                    <a:solidFill>
                      <a:srgbClr val="FFFFFF"/>
                    </a:solidFill>
                  </a:tcPr>
                </a:tc>
              </a:tr>
              <a:tr h="678180">
                <a:tc>
                  <a:txBody>
                    <a:bodyPr/>
                    <a:lstStyle/>
                    <a:p>
                      <a:pPr>
                        <a:defRPr sz="1700" b="0">
                          <a:solidFill>
                            <a:srgbClr val="000000"/>
                          </a:solidFill>
                          <a:latin typeface="Lato"/>
                        </a:defRPr>
                      </a:pPr>
                      <a:r>
                        <a:t>5  Integrate decision outputs</a:t>
                      </a:r>
                    </a:p>
                  </a:txBody>
                  <a:tcPr marL="146304" marR="146304" marT="54864" marB="54864" anchor="ctr">
                    <a:lnB w="3175" cap="flat">
                      <a:solidFill>
                        <a:srgbClr val="B8B8B8"/>
                      </a:solidFill>
                    </a:lnB>
                    <a:solidFill>
                      <a:srgbClr val="FFFFFF"/>
                    </a:solidFill>
                  </a:tcPr>
                </a:tc>
                <a:tc>
                  <a:txBody>
                    <a:bodyPr/>
                    <a:lstStyle/>
                    <a:p>
                      <a:pPr>
                        <a:defRPr sz="1700" b="0">
                          <a:solidFill>
                            <a:srgbClr val="000000"/>
                          </a:solidFill>
                          <a:latin typeface="Lato"/>
                        </a:defRPr>
                      </a:pPr>
                      <a:r>
                        <a:t>Link balances to terminal implications and accessible opportunities; reproduce results and record review findings</a:t>
                      </a:r>
                    </a:p>
                  </a:txBody>
                  <a:tcPr marL="146304" marR="146304" marT="54864" marB="54864" anchor="ctr">
                    <a:lnB w="3175" cap="flat">
                      <a:solidFill>
                        <a:srgbClr val="B8B8B8"/>
                      </a:solidFill>
                    </a:lnB>
                    <a:solidFill>
                      <a:srgbClr val="FFFFFF"/>
                    </a:solidFill>
                  </a:tcPr>
                </a:tc>
              </a:tr>
            </a:tbl>
          </a:graphicData>
        </a:graphic>
      </p:graphicFrame>
      <p:sp>
        <p:nvSpPr>
          <p:cNvPr id="9" name="TextBox 8"/>
          <p:cNvSpPr txBox="1"/>
          <p:nvPr/>
        </p:nvSpPr>
        <p:spPr>
          <a:xfrm>
            <a:off x="502920" y="6053328"/>
            <a:ext cx="10424160" cy="36576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These dependencies shape the six-week delivery plan that follows; sourcing and storyboarding start immediately.</a:t>
            </a:r>
          </a:p>
        </p:txBody>
      </p:sp>
      <p:sp>
        <p:nvSpPr>
          <p:cNvPr id="10" name="TextBox 9"/>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Agreed build priorities, geographic scope and formal-use checklist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Coordinate model development, infrastructure analysis and reporting over six weeks</a:t>
            </a:r>
          </a:p>
        </p:txBody>
      </p:sp>
      <p:sp>
        <p:nvSpPr>
          <p:cNvPr id="3" name="Slide Number Placeholder"/>
          <p:cNvSpPr>
            <a:spLocks noGrp="1"/>
          </p:cNvSpPr>
          <p:nvPr>
            <p:ph type="sldNum" sz="quarter" idx="12"/>
          </p:nvPr>
        </p:nvSpPr>
        <p:spPr/>
        <p:txBody>
          <a:bodyPr/>
          <a:lstStyle/>
          <a:p>
            <a:fld id="{934CCCDA-520F-4888-B026-3DFF3E590780}"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Delivery approach</a:t>
            </a:r>
          </a:p>
        </p:txBody>
      </p:sp>
      <p:sp>
        <p:nvSpPr>
          <p:cNvPr id="8" name="TextBox 7"/>
          <p:cNvSpPr txBox="1"/>
          <p:nvPr/>
        </p:nvSpPr>
        <p:spPr>
          <a:xfrm>
            <a:off x="502920" y="1645920"/>
            <a:ext cx="10515600" cy="320040"/>
          </a:xfrm>
          <a:prstGeom prst="rect">
            <a:avLst/>
          </a:prstGeom>
          <a:noFill/>
        </p:spPr>
        <p:txBody>
          <a:bodyPr wrap="square" lIns="18288" rIns="18288" tIns="0" bIns="0">
            <a:spAutoFit/>
          </a:bodyPr>
          <a:lstStyle/>
          <a:p>
            <a:pPr>
              <a:spcAft>
                <a:spcPts val="800"/>
              </a:spcAft>
              <a:defRPr sz="1500" b="0">
                <a:solidFill>
                  <a:srgbClr val="000000"/>
                </a:solidFill>
                <a:latin typeface="Lato"/>
              </a:defRPr>
            </a:pPr>
            <a:r>
              <a:t>Proposed six-week programme | fuel model, infrastructure and client storyline progress together</a:t>
            </a:r>
          </a:p>
        </p:txBody>
      </p:sp>
      <p:sp>
        <p:nvSpPr>
          <p:cNvPr id="9" name="TextBox 8"/>
          <p:cNvSpPr txBox="1"/>
          <p:nvPr/>
        </p:nvSpPr>
        <p:spPr>
          <a:xfrm>
            <a:off x="594360" y="2039112"/>
            <a:ext cx="4389120" cy="27432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Activity / workstream</a:t>
            </a:r>
          </a:p>
        </p:txBody>
      </p:sp>
      <p:sp>
        <p:nvSpPr>
          <p:cNvPr id="10" name="TextBox 9"/>
          <p:cNvSpPr txBox="1"/>
          <p:nvPr/>
        </p:nvSpPr>
        <p:spPr>
          <a:xfrm>
            <a:off x="5257800" y="2039112"/>
            <a:ext cx="640080" cy="27432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W1</a:t>
            </a:r>
          </a:p>
        </p:txBody>
      </p:sp>
      <p:sp>
        <p:nvSpPr>
          <p:cNvPr id="11" name="TextBox 10"/>
          <p:cNvSpPr txBox="1"/>
          <p:nvPr/>
        </p:nvSpPr>
        <p:spPr>
          <a:xfrm>
            <a:off x="6245352" y="2039112"/>
            <a:ext cx="640080" cy="27432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W2</a:t>
            </a:r>
          </a:p>
        </p:txBody>
      </p:sp>
      <p:sp>
        <p:nvSpPr>
          <p:cNvPr id="12" name="TextBox 11"/>
          <p:cNvSpPr txBox="1"/>
          <p:nvPr/>
        </p:nvSpPr>
        <p:spPr>
          <a:xfrm>
            <a:off x="7232904" y="2039112"/>
            <a:ext cx="640080" cy="27432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W3</a:t>
            </a:r>
          </a:p>
        </p:txBody>
      </p:sp>
      <p:sp>
        <p:nvSpPr>
          <p:cNvPr id="13" name="TextBox 12"/>
          <p:cNvSpPr txBox="1"/>
          <p:nvPr/>
        </p:nvSpPr>
        <p:spPr>
          <a:xfrm>
            <a:off x="8220456" y="2039112"/>
            <a:ext cx="640080" cy="27432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W4</a:t>
            </a:r>
          </a:p>
        </p:txBody>
      </p:sp>
      <p:sp>
        <p:nvSpPr>
          <p:cNvPr id="14" name="TextBox 13"/>
          <p:cNvSpPr txBox="1"/>
          <p:nvPr/>
        </p:nvSpPr>
        <p:spPr>
          <a:xfrm>
            <a:off x="9208008" y="2039112"/>
            <a:ext cx="640080" cy="27432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W5</a:t>
            </a:r>
          </a:p>
        </p:txBody>
      </p:sp>
      <p:sp>
        <p:nvSpPr>
          <p:cNvPr id="15" name="TextBox 14"/>
          <p:cNvSpPr txBox="1"/>
          <p:nvPr/>
        </p:nvSpPr>
        <p:spPr>
          <a:xfrm>
            <a:off x="10195560" y="2039112"/>
            <a:ext cx="640080" cy="27432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W6</a:t>
            </a:r>
          </a:p>
        </p:txBody>
      </p:sp>
      <p:sp>
        <p:nvSpPr>
          <p:cNvPr id="16" name="TextBox 15"/>
          <p:cNvSpPr txBox="1"/>
          <p:nvPr/>
        </p:nvSpPr>
        <p:spPr>
          <a:xfrm>
            <a:off x="594360" y="2368296"/>
            <a:ext cx="4297680" cy="283464"/>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WS1/2  Baseline and Excel reconciliation</a:t>
            </a:r>
          </a:p>
        </p:txBody>
      </p:sp>
      <p:sp>
        <p:nvSpPr>
          <p:cNvPr id="17" name="Rectangle 16"/>
          <p:cNvSpPr/>
          <p:nvPr/>
        </p:nvSpPr>
        <p:spPr>
          <a:xfrm>
            <a:off x="5029200" y="2368296"/>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16752" y="2368296"/>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004304" y="2368296"/>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91856" y="2368296"/>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79408" y="2368296"/>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966960" y="2368296"/>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2807208"/>
            <a:ext cx="4297680" cy="283464"/>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WS2  Drivers, imports and H/M/L scenarios</a:t>
            </a:r>
          </a:p>
        </p:txBody>
      </p:sp>
      <p:sp>
        <p:nvSpPr>
          <p:cNvPr id="24" name="Rectangle 23"/>
          <p:cNvSpPr/>
          <p:nvPr/>
        </p:nvSpPr>
        <p:spPr>
          <a:xfrm>
            <a:off x="5029200" y="2807208"/>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16752" y="2807208"/>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004304" y="2807208"/>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991856" y="2807208"/>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79408" y="2807208"/>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966960" y="2807208"/>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3246120"/>
            <a:ext cx="4297680" cy="283464"/>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WS5  Asset inventory and usable capacity</a:t>
            </a:r>
          </a:p>
        </p:txBody>
      </p:sp>
      <p:sp>
        <p:nvSpPr>
          <p:cNvPr id="31" name="Rectangle 30"/>
          <p:cNvSpPr/>
          <p:nvPr/>
        </p:nvSpPr>
        <p:spPr>
          <a:xfrm>
            <a:off x="5029200" y="3246120"/>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16752" y="3246120"/>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004304" y="3246120"/>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91856" y="3246120"/>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979408" y="3246120"/>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966960" y="3246120"/>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3685032"/>
            <a:ext cx="4297680" cy="283464"/>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WS5  First route, handling and tank limits</a:t>
            </a:r>
          </a:p>
        </p:txBody>
      </p:sp>
      <p:sp>
        <p:nvSpPr>
          <p:cNvPr id="38" name="Rectangle 37"/>
          <p:cNvSpPr/>
          <p:nvPr/>
        </p:nvSpPr>
        <p:spPr>
          <a:xfrm>
            <a:off x="5029200" y="3685032"/>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016752" y="3685032"/>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004304" y="3685032"/>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91856" y="3685032"/>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979408" y="3685032"/>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66960" y="3685032"/>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4360" y="4123944"/>
            <a:ext cx="4297680" cy="283464"/>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WS2/5  Integrated flows and sensitivities</a:t>
            </a:r>
          </a:p>
        </p:txBody>
      </p:sp>
      <p:sp>
        <p:nvSpPr>
          <p:cNvPr id="45" name="Rectangle 44"/>
          <p:cNvSpPr/>
          <p:nvPr/>
        </p:nvSpPr>
        <p:spPr>
          <a:xfrm>
            <a:off x="5029200" y="4123944"/>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016752" y="4123944"/>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004304" y="4123944"/>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91856" y="4123944"/>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979408" y="4123944"/>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966960" y="4123944"/>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4360" y="4562856"/>
            <a:ext cx="4297680" cy="283464"/>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WS3  Walvis Bay, competitors, market screening</a:t>
            </a:r>
          </a:p>
        </p:txBody>
      </p:sp>
      <p:sp>
        <p:nvSpPr>
          <p:cNvPr id="52" name="Rectangle 51"/>
          <p:cNvSpPr/>
          <p:nvPr/>
        </p:nvSpPr>
        <p:spPr>
          <a:xfrm>
            <a:off x="5029200" y="4562856"/>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016752" y="4562856"/>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004304" y="4562856"/>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991856" y="4562856"/>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979408" y="4562856"/>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966960" y="4562856"/>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94360" y="5001768"/>
            <a:ext cx="4297680" cy="283464"/>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WS3  Partner-led storyline and evidence</a:t>
            </a:r>
          </a:p>
        </p:txBody>
      </p:sp>
      <p:sp>
        <p:nvSpPr>
          <p:cNvPr id="59" name="Rectangle 58"/>
          <p:cNvSpPr/>
          <p:nvPr/>
        </p:nvSpPr>
        <p:spPr>
          <a:xfrm>
            <a:off x="5029200" y="5001768"/>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016752" y="5001768"/>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004304" y="5001768"/>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91856" y="5001768"/>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979408" y="5001768"/>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966960" y="5001768"/>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4360" y="5440680"/>
            <a:ext cx="4297680" cy="283464"/>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WS0/3  Review and board pack / handover</a:t>
            </a:r>
          </a:p>
        </p:txBody>
      </p:sp>
      <p:sp>
        <p:nvSpPr>
          <p:cNvPr id="66" name="Rectangle 65"/>
          <p:cNvSpPr/>
          <p:nvPr/>
        </p:nvSpPr>
        <p:spPr>
          <a:xfrm>
            <a:off x="5029200" y="5440680"/>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016752" y="5440680"/>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004304" y="5440680"/>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991856" y="5440680"/>
            <a:ext cx="91440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979408" y="5440680"/>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966960" y="5440680"/>
            <a:ext cx="914400"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94360" y="5943600"/>
            <a:ext cx="10424160" cy="27432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W1 gate: reproducible baseline + sourced infrastructure inventory + first corridor agreed</a:t>
            </a:r>
          </a:p>
        </p:txBody>
      </p:sp>
      <p:sp>
        <p:nvSpPr>
          <p:cNvPr id="73" name="TextBox 72"/>
          <p:cNvSpPr txBox="1"/>
          <p:nvPr/>
        </p:nvSpPr>
        <p:spPr>
          <a:xfrm>
            <a:off x="594360" y="6281928"/>
            <a:ext cx="10424160" cy="219456"/>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W3: first route calculation  |  W4: integrated draft  |  W5: review findings  |  W6: board pack</a:t>
            </a:r>
          </a:p>
        </p:txBody>
      </p:sp>
      <p:sp>
        <p:nvSpPr>
          <p:cNvPr id="74" name="TextBox 73"/>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Proposed integrated workplan: model, client analysis and storyboard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Apply common review gates to the fuel and infrastructure models</a:t>
            </a:r>
          </a:p>
        </p:txBody>
      </p:sp>
      <p:sp>
        <p:nvSpPr>
          <p:cNvPr id="3" name="Slide Number Placeholder"/>
          <p:cNvSpPr>
            <a:spLocks noGrp="1"/>
          </p:cNvSpPr>
          <p:nvPr>
            <p:ph type="sldNum" sz="quarter" idx="12"/>
          </p:nvPr>
        </p:nvSpPr>
        <p:spPr/>
        <p:txBody>
          <a:bodyPr/>
          <a:lstStyle/>
          <a:p>
            <a:fld id="{C90FE0EE-D6F7-4554-BB95-59356CD985B4}"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Delivery approach</a:t>
            </a:r>
          </a:p>
        </p:txBody>
      </p:sp>
      <p:sp>
        <p:nvSpPr>
          <p:cNvPr id="8" name="TextBox 7"/>
          <p:cNvSpPr txBox="1"/>
          <p:nvPr/>
        </p:nvSpPr>
        <p:spPr>
          <a:xfrm>
            <a:off x="502920" y="1673352"/>
            <a:ext cx="10515600" cy="50292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Common acceptance criteria | Manish prepares evidence; Nigel reviews methodology; Henry challenges readiness</a:t>
            </a:r>
          </a:p>
        </p:txBody>
      </p:sp>
      <p:graphicFrame>
        <p:nvGraphicFramePr>
          <p:cNvPr id="9" name="Table 8"/>
          <p:cNvGraphicFramePr>
            <a:graphicFrameLocks noGrp="1"/>
          </p:cNvGraphicFramePr>
          <p:nvPr/>
        </p:nvGraphicFramePr>
        <p:xfrm>
          <a:off x="502920" y="2395728"/>
          <a:ext cx="10652760" cy="3291840"/>
        </p:xfrm>
        <a:graphic>
          <a:graphicData uri="http://schemas.openxmlformats.org/drawingml/2006/table">
            <a:tbl>
              <a:tblPr firstRow="1" bandRow="1">
                <a:tableStyleId>{2D5ABB26-0587-4C30-8999-92F81FD0307C}</a:tableStyleId>
              </a:tblPr>
              <a:tblGrid>
                <a:gridCol w="2194560"/>
                <a:gridCol w="4206240"/>
                <a:gridCol w="4251960"/>
              </a:tblGrid>
              <a:tr h="822960">
                <a:tc>
                  <a:txBody>
                    <a:bodyPr/>
                    <a:lstStyle/>
                    <a:p>
                      <a:pPr>
                        <a:defRPr sz="1600" b="1">
                          <a:solidFill>
                            <a:srgbClr val="000000"/>
                          </a:solidFill>
                          <a:latin typeface="Lato"/>
                        </a:defRPr>
                      </a:pPr>
                      <a:r>
                        <a:t>Review gate</a:t>
                      </a:r>
                    </a:p>
                  </a:txBody>
                  <a:tcPr marL="146304" marR="146304" marT="54864" marB="54864" anchor="ctr">
                    <a:lnB w="4445" cap="flat">
                      <a:solidFill>
                        <a:srgbClr val="A0A0A0"/>
                      </a:solidFill>
                    </a:lnB>
                    <a:solidFill>
                      <a:srgbClr val="FFFFFF"/>
                    </a:solidFill>
                  </a:tcPr>
                </a:tc>
                <a:tc>
                  <a:txBody>
                    <a:bodyPr/>
                    <a:lstStyle/>
                    <a:p>
                      <a:pPr>
                        <a:defRPr sz="1600" b="1">
                          <a:solidFill>
                            <a:srgbClr val="000000"/>
                          </a:solidFill>
                          <a:latin typeface="Lato"/>
                        </a:defRPr>
                      </a:pPr>
                      <a:r>
                        <a:t>Demand and supply</a:t>
                      </a:r>
                    </a:p>
                  </a:txBody>
                  <a:tcPr marL="146304" marR="146304" marT="54864" marB="54864" anchor="ctr">
                    <a:lnB w="4445" cap="flat">
                      <a:solidFill>
                        <a:srgbClr val="A0A0A0"/>
                      </a:solidFill>
                    </a:lnB>
                    <a:solidFill>
                      <a:srgbClr val="FFFFFF"/>
                    </a:solidFill>
                  </a:tcPr>
                </a:tc>
                <a:tc>
                  <a:txBody>
                    <a:bodyPr/>
                    <a:lstStyle/>
                    <a:p>
                      <a:pPr>
                        <a:defRPr sz="1600" b="1">
                          <a:solidFill>
                            <a:srgbClr val="000000"/>
                          </a:solidFill>
                          <a:latin typeface="Lato"/>
                        </a:defRPr>
                      </a:pPr>
                      <a:r>
                        <a:t>Infrastructure</a:t>
                      </a:r>
                    </a:p>
                  </a:txBody>
                  <a:tcPr marL="146304" marR="146304" marT="54864" marB="54864" anchor="ctr">
                    <a:lnB w="4445" cap="flat">
                      <a:solidFill>
                        <a:srgbClr val="A0A0A0"/>
                      </a:solidFill>
                    </a:lnB>
                    <a:solidFill>
                      <a:srgbClr val="FFFFFF"/>
                    </a:solidFill>
                  </a:tcPr>
                </a:tc>
              </a:tr>
              <a:tr h="822960">
                <a:tc>
                  <a:txBody>
                    <a:bodyPr/>
                    <a:lstStyle/>
                    <a:p>
                      <a:pPr>
                        <a:defRPr sz="1600" b="0">
                          <a:solidFill>
                            <a:srgbClr val="000000"/>
                          </a:solidFill>
                          <a:latin typeface="Lato"/>
                        </a:defRPr>
                      </a:pPr>
                      <a:r>
                        <a:t>1 Establish the baseline</a:t>
                      </a:r>
                    </a:p>
                  </a:txBody>
                  <a:tcPr marL="146304" marR="146304" marT="54864" marB="54864" anchor="ctr">
                    <a:lnB w="3175" cap="flat">
                      <a:solidFill>
                        <a:srgbClr val="B8B8B8"/>
                      </a:solidFill>
                    </a:lnB>
                    <a:solidFill>
                      <a:srgbClr val="FFFFFF"/>
                    </a:solidFill>
                  </a:tcPr>
                </a:tc>
                <a:tc>
                  <a:txBody>
                    <a:bodyPr/>
                    <a:lstStyle/>
                    <a:p>
                      <a:pPr>
                        <a:defRPr sz="1600" b="0">
                          <a:solidFill>
                            <a:srgbClr val="000000"/>
                          </a:solidFill>
                          <a:latin typeface="Lato"/>
                        </a:defRPr>
                      </a:pPr>
                      <a:r>
                        <a:t>Source inputs; reconcile Excel–Python differences; document production and imports</a:t>
                      </a:r>
                    </a:p>
                  </a:txBody>
                  <a:tcPr marL="146304" marR="146304" marT="54864" marB="54864" anchor="ctr">
                    <a:lnB w="3175" cap="flat">
                      <a:solidFill>
                        <a:srgbClr val="B8B8B8"/>
                      </a:solidFill>
                    </a:lnB>
                    <a:solidFill>
                      <a:srgbClr val="FFFFFF"/>
                    </a:solidFill>
                  </a:tcPr>
                </a:tc>
                <a:tc>
                  <a:txBody>
                    <a:bodyPr/>
                    <a:lstStyle/>
                    <a:p>
                      <a:pPr>
                        <a:defRPr sz="1600" b="0">
                          <a:solidFill>
                            <a:srgbClr val="000000"/>
                          </a:solidFill>
                          <a:latin typeface="Lato"/>
                        </a:defRPr>
                      </a:pPr>
                      <a:r>
                        <a:t>Source asset inventory; identify capacity, connectivity and access gaps</a:t>
                      </a:r>
                    </a:p>
                  </a:txBody>
                  <a:tcPr marL="146304" marR="146304" marT="54864" marB="54864" anchor="ctr">
                    <a:lnB w="3175" cap="flat">
                      <a:solidFill>
                        <a:srgbClr val="B8B8B8"/>
                      </a:solidFill>
                    </a:lnB>
                    <a:solidFill>
                      <a:srgbClr val="FFFFFF"/>
                    </a:solidFill>
                  </a:tcPr>
                </a:tc>
              </a:tr>
              <a:tr h="822960">
                <a:tc>
                  <a:txBody>
                    <a:bodyPr/>
                    <a:lstStyle/>
                    <a:p>
                      <a:pPr>
                        <a:defRPr sz="1600" b="0">
                          <a:solidFill>
                            <a:srgbClr val="000000"/>
                          </a:solidFill>
                          <a:latin typeface="Lato"/>
                        </a:defRPr>
                      </a:pPr>
                      <a:r>
                        <a:t>2 Demonstrate calculations</a:t>
                      </a:r>
                    </a:p>
                  </a:txBody>
                  <a:tcPr marL="146304" marR="146304" marT="54864" marB="54864" anchor="ctr">
                    <a:lnB w="3175" cap="flat">
                      <a:solidFill>
                        <a:srgbClr val="B8B8B8"/>
                      </a:solidFill>
                    </a:lnB>
                    <a:solidFill>
                      <a:srgbClr val="FFFFFF"/>
                    </a:solidFill>
                  </a:tcPr>
                </a:tc>
                <a:tc>
                  <a:txBody>
                    <a:bodyPr/>
                    <a:lstStyle/>
                    <a:p>
                      <a:pPr>
                        <a:defRPr sz="1600" b="0">
                          <a:solidFill>
                            <a:srgbClr val="000000"/>
                          </a:solidFill>
                          <a:latin typeface="Lato"/>
                        </a:defRPr>
                      </a:pPr>
                      <a:r>
                        <a:t>Trace demand drivers and production calculations; check balances</a:t>
                      </a:r>
                    </a:p>
                  </a:txBody>
                  <a:tcPr marL="146304" marR="146304" marT="54864" marB="54864" anchor="ctr">
                    <a:lnB w="3175" cap="flat">
                      <a:solidFill>
                        <a:srgbClr val="B8B8B8"/>
                      </a:solidFill>
                    </a:lnB>
                    <a:solidFill>
                      <a:srgbClr val="FFFFFF"/>
                    </a:solidFill>
                  </a:tcPr>
                </a:tc>
                <a:tc>
                  <a:txBody>
                    <a:bodyPr/>
                    <a:lstStyle/>
                    <a:p>
                      <a:pPr>
                        <a:defRPr sz="1600" b="0">
                          <a:solidFill>
                            <a:srgbClr val="000000"/>
                          </a:solidFill>
                          <a:latin typeface="Lato"/>
                        </a:defRPr>
                      </a:pPr>
                      <a:r>
                        <a:t>Demonstrate one corridor; check flows, handling limits and storage requirements</a:t>
                      </a:r>
                    </a:p>
                  </a:txBody>
                  <a:tcPr marL="146304" marR="146304" marT="54864" marB="54864" anchor="ctr">
                    <a:lnB w="3175" cap="flat">
                      <a:solidFill>
                        <a:srgbClr val="B8B8B8"/>
                      </a:solidFill>
                    </a:lnB>
                    <a:solidFill>
                      <a:srgbClr val="FFFFFF"/>
                    </a:solidFill>
                  </a:tcPr>
                </a:tc>
              </a:tr>
              <a:tr h="822960">
                <a:tc>
                  <a:txBody>
                    <a:bodyPr/>
                    <a:lstStyle/>
                    <a:p>
                      <a:pPr>
                        <a:defRPr sz="1600" b="0">
                          <a:solidFill>
                            <a:srgbClr val="000000"/>
                          </a:solidFill>
                          <a:latin typeface="Lato"/>
                        </a:defRPr>
                      </a:pPr>
                      <a:r>
                        <a:t>3 Test scenarios and outputs</a:t>
                      </a:r>
                    </a:p>
                  </a:txBody>
                  <a:tcPr marL="146304" marR="146304" marT="54864" marB="54864" anchor="ctr">
                    <a:lnB w="3175" cap="flat">
                      <a:solidFill>
                        <a:srgbClr val="B8B8B8"/>
                      </a:solidFill>
                    </a:lnB>
                    <a:solidFill>
                      <a:srgbClr val="FFFFFF"/>
                    </a:solidFill>
                  </a:tcPr>
                </a:tc>
                <a:tc>
                  <a:txBody>
                    <a:bodyPr/>
                    <a:lstStyle/>
                    <a:p>
                      <a:pPr>
                        <a:defRPr sz="1600" b="0">
                          <a:solidFill>
                            <a:srgbClr val="000000"/>
                          </a:solidFill>
                          <a:latin typeface="Lato"/>
                        </a:defRPr>
                      </a:pPr>
                      <a:r>
                        <a:t>Check scenario responses, import requirements and reproducible outputs</a:t>
                      </a:r>
                    </a:p>
                  </a:txBody>
                  <a:tcPr marL="146304" marR="146304" marT="54864" marB="54864" anchor="ctr">
                    <a:lnB w="3175" cap="flat">
                      <a:solidFill>
                        <a:srgbClr val="B8B8B8"/>
                      </a:solidFill>
                    </a:lnB>
                    <a:solidFill>
                      <a:srgbClr val="FFFFFF"/>
                    </a:solidFill>
                  </a:tcPr>
                </a:tc>
                <a:tc>
                  <a:txBody>
                    <a:bodyPr/>
                    <a:lstStyle/>
                    <a:p>
                      <a:pPr>
                        <a:defRPr sz="1600" b="0">
                          <a:solidFill>
                            <a:srgbClr val="000000"/>
                          </a:solidFill>
                          <a:latin typeface="Lato"/>
                        </a:defRPr>
                      </a:pPr>
                      <a:r>
                        <a:t>Check feasible flows, bottlenecks and storage needs under those scenarios</a:t>
                      </a:r>
                    </a:p>
                  </a:txBody>
                  <a:tcPr marL="146304" marR="146304" marT="54864" marB="54864" anchor="ctr">
                    <a:lnB w="3175" cap="flat">
                      <a:solidFill>
                        <a:srgbClr val="B8B8B8"/>
                      </a:solidFill>
                    </a:lnB>
                    <a:solidFill>
                      <a:srgbClr val="FFFFFF"/>
                    </a:solidFill>
                  </a:tcPr>
                </a:tc>
              </a:tr>
            </a:tbl>
          </a:graphicData>
        </a:graphic>
      </p:graphicFrame>
      <p:sp>
        <p:nvSpPr>
          <p:cNvPr id="10" name="TextBox 9"/>
          <p:cNvSpPr txBox="1"/>
          <p:nvPr/>
        </p:nvSpPr>
        <p:spPr>
          <a:xfrm>
            <a:off x="502920" y="5897880"/>
            <a:ext cx="10515600" cy="41148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Record checks, unresolved gaps and review findings at every gate. A passing run is not validation or approval.</a:t>
            </a:r>
          </a:p>
        </p:txBody>
      </p:sp>
      <p:sp>
        <p:nvSpPr>
          <p:cNvPr id="11" name="TextBox 10"/>
          <p:cNvSpPr txBox="1"/>
          <p:nvPr/>
        </p:nvSpPr>
        <p:spPr>
          <a:xfrm>
            <a:off x="502920" y="6318504"/>
            <a:ext cx="10515600" cy="18288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Timing sits on the Gantt. These are development review gates; formal-use requirements remain in GATE_CHECKLIST.md.</a:t>
            </a:r>
          </a:p>
        </p:txBody>
      </p:sp>
      <p:sp>
        <p:nvSpPr>
          <p:cNvPr id="12" name="TextBox 11"/>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WS5 brief and integrated six-week workplan; proposed milestones, not completed acceptance gates.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Make building, reviewing and accepting the work explicit</a:t>
            </a:r>
          </a:p>
        </p:txBody>
      </p:sp>
      <p:sp>
        <p:nvSpPr>
          <p:cNvPr id="3" name="Slide Number Placeholder"/>
          <p:cNvSpPr>
            <a:spLocks noGrp="1"/>
          </p:cNvSpPr>
          <p:nvPr>
            <p:ph type="sldNum" sz="quarter" idx="12"/>
          </p:nvPr>
        </p:nvSpPr>
        <p:spPr/>
        <p:txBody>
          <a:bodyPr/>
          <a:lstStyle/>
          <a:p>
            <a:fld id="{E18A3ABE-A8F5-4AD2-8F88-EED295C6A0DE}"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Delivery approach</a:t>
            </a:r>
          </a:p>
        </p:txBody>
      </p:sp>
      <p:graphicFrame>
        <p:nvGraphicFramePr>
          <p:cNvPr id="8" name="Table 7"/>
          <p:cNvGraphicFramePr>
            <a:graphicFrameLocks noGrp="1"/>
          </p:cNvGraphicFramePr>
          <p:nvPr/>
        </p:nvGraphicFramePr>
        <p:xfrm>
          <a:off x="457200" y="1691640"/>
          <a:ext cx="10652760" cy="1938528"/>
        </p:xfrm>
        <a:graphic>
          <a:graphicData uri="http://schemas.openxmlformats.org/drawingml/2006/table">
            <a:tbl>
              <a:tblPr firstRow="1" bandRow="1">
                <a:tableStyleId>{2D5ABB26-0587-4C30-8999-92F81FD0307C}</a:tableStyleId>
              </a:tblPr>
              <a:tblGrid>
                <a:gridCol w="3383280"/>
                <a:gridCol w="7269480"/>
              </a:tblGrid>
              <a:tr h="484632">
                <a:tc>
                  <a:txBody>
                    <a:bodyPr/>
                    <a:lstStyle/>
                    <a:p>
                      <a:pPr>
                        <a:defRPr sz="1800" b="1">
                          <a:solidFill>
                            <a:srgbClr val="000000"/>
                          </a:solidFill>
                          <a:latin typeface="Lato"/>
                        </a:defRPr>
                      </a:pPr>
                      <a:r>
                        <a:t>Role</a:t>
                      </a:r>
                    </a:p>
                  </a:txBody>
                  <a:tcPr marL="146304" marR="146304" marT="54864" marB="54864" anchor="ctr">
                    <a:lnB w="4445" cap="flat">
                      <a:solidFill>
                        <a:srgbClr val="A0A0A0"/>
                      </a:solidFill>
                    </a:lnB>
                    <a:solidFill>
                      <a:srgbClr val="FFFFFF"/>
                    </a:solidFill>
                  </a:tcPr>
                </a:tc>
                <a:tc>
                  <a:txBody>
                    <a:bodyPr/>
                    <a:lstStyle/>
                    <a:p>
                      <a:pPr>
                        <a:defRPr sz="1800" b="1">
                          <a:solidFill>
                            <a:srgbClr val="000000"/>
                          </a:solidFill>
                          <a:latin typeface="Lato"/>
                        </a:defRPr>
                      </a:pPr>
                      <a:r>
                        <a:t>Working responsibilities</a:t>
                      </a:r>
                    </a:p>
                  </a:txBody>
                  <a:tcPr marL="146304" marR="146304" marT="54864" marB="54864" anchor="ctr">
                    <a:lnB w="4445" cap="flat">
                      <a:solidFill>
                        <a:srgbClr val="A0A0A0"/>
                      </a:solidFill>
                    </a:lnB>
                    <a:solidFill>
                      <a:srgbClr val="FFFFFF"/>
                    </a:solidFill>
                  </a:tcPr>
                </a:tc>
              </a:tr>
              <a:tr h="484632">
                <a:tc>
                  <a:txBody>
                    <a:bodyPr/>
                    <a:lstStyle/>
                    <a:p>
                      <a:pPr>
                        <a:defRPr sz="1800" b="0">
                          <a:solidFill>
                            <a:srgbClr val="000000"/>
                          </a:solidFill>
                          <a:latin typeface="Lato"/>
                        </a:defRPr>
                      </a:pPr>
                      <a:r>
                        <a:t>Manish - Analyst</a:t>
                      </a:r>
                    </a:p>
                  </a:txBody>
                  <a:tcPr marL="146304" marR="146304" marT="54864" marB="54864" anchor="ctr">
                    <a:lnB w="3175" cap="flat">
                      <a:solidFill>
                        <a:srgbClr val="B8B8B8"/>
                      </a:solidFill>
                    </a:lnB>
                    <a:solidFill>
                      <a:srgbClr val="FFFFFF"/>
                    </a:solidFill>
                  </a:tcPr>
                </a:tc>
                <a:tc>
                  <a:txBody>
                    <a:bodyPr/>
                    <a:lstStyle/>
                    <a:p>
                      <a:pPr>
                        <a:defRPr sz="1800" b="0">
                          <a:solidFill>
                            <a:srgbClr val="000000"/>
                          </a:solidFill>
                          <a:latin typeface="Lato"/>
                        </a:defRPr>
                      </a:pPr>
                      <a:r>
                        <a:t>Sources evidence, develops calculations and records checks; available 100%.</a:t>
                      </a:r>
                    </a:p>
                  </a:txBody>
                  <a:tcPr marL="146304" marR="146304" marT="54864" marB="54864" anchor="ctr">
                    <a:lnB w="3175" cap="flat">
                      <a:solidFill>
                        <a:srgbClr val="B8B8B8"/>
                      </a:solidFill>
                    </a:lnB>
                    <a:solidFill>
                      <a:srgbClr val="FFFFFF"/>
                    </a:solidFill>
                  </a:tcPr>
                </a:tc>
              </a:tr>
              <a:tr h="484632">
                <a:tc>
                  <a:txBody>
                    <a:bodyPr/>
                    <a:lstStyle/>
                    <a:p>
                      <a:pPr>
                        <a:defRPr sz="1800" b="0">
                          <a:solidFill>
                            <a:srgbClr val="000000"/>
                          </a:solidFill>
                          <a:latin typeface="Lato"/>
                        </a:defRPr>
                      </a:pPr>
                      <a:r>
                        <a:t>Nigel - Modelling lead</a:t>
                      </a:r>
                    </a:p>
                  </a:txBody>
                  <a:tcPr marL="146304" marR="146304" marT="54864" marB="54864" anchor="ctr">
                    <a:lnB w="3175" cap="flat">
                      <a:solidFill>
                        <a:srgbClr val="B8B8B8"/>
                      </a:solidFill>
                    </a:lnB>
                    <a:solidFill>
                      <a:srgbClr val="FFFFFF"/>
                    </a:solidFill>
                  </a:tcPr>
                </a:tc>
                <a:tc>
                  <a:txBody>
                    <a:bodyPr/>
                    <a:lstStyle/>
                    <a:p>
                      <a:pPr>
                        <a:defRPr sz="1800" b="0">
                          <a:solidFill>
                            <a:srgbClr val="000000"/>
                          </a:solidFill>
                          <a:latin typeface="Lato"/>
                        </a:defRPr>
                      </a:pPr>
                      <a:r>
                        <a:t>Reviews methodology, priorities and interpretation.</a:t>
                      </a:r>
                    </a:p>
                  </a:txBody>
                  <a:tcPr marL="146304" marR="146304" marT="54864" marB="54864" anchor="ctr">
                    <a:lnB w="3175" cap="flat">
                      <a:solidFill>
                        <a:srgbClr val="B8B8B8"/>
                      </a:solidFill>
                    </a:lnB>
                    <a:solidFill>
                      <a:srgbClr val="FFFFFF"/>
                    </a:solidFill>
                  </a:tcPr>
                </a:tc>
              </a:tr>
              <a:tr h="484632">
                <a:tc>
                  <a:txBody>
                    <a:bodyPr/>
                    <a:lstStyle/>
                    <a:p>
                      <a:pPr>
                        <a:defRPr sz="1800" b="0">
                          <a:solidFill>
                            <a:srgbClr val="000000"/>
                          </a:solidFill>
                          <a:latin typeface="Lato"/>
                        </a:defRPr>
                      </a:pPr>
                      <a:r>
                        <a:t>Henry - Reviewer</a:t>
                      </a:r>
                    </a:p>
                  </a:txBody>
                  <a:tcPr marL="146304" marR="146304" marT="54864" marB="54864" anchor="ctr">
                    <a:lnB w="3175" cap="flat">
                      <a:solidFill>
                        <a:srgbClr val="B8B8B8"/>
                      </a:solidFill>
                    </a:lnB>
                    <a:solidFill>
                      <a:srgbClr val="FFFFFF"/>
                    </a:solidFill>
                  </a:tcPr>
                </a:tc>
                <a:tc>
                  <a:txBody>
                    <a:bodyPr/>
                    <a:lstStyle/>
                    <a:p>
                      <a:pPr>
                        <a:defRPr sz="1800" b="0">
                          <a:solidFill>
                            <a:srgbClr val="000000"/>
                          </a:solidFill>
                          <a:latin typeface="Lato"/>
                        </a:defRPr>
                      </a:pPr>
                      <a:r>
                        <a:t>Challenges the model before formal use.</a:t>
                      </a:r>
                    </a:p>
                  </a:txBody>
                  <a:tcPr marL="146304" marR="146304" marT="54864" marB="54864" anchor="ctr">
                    <a:lnB w="3175" cap="flat">
                      <a:solidFill>
                        <a:srgbClr val="B8B8B8"/>
                      </a:solidFill>
                    </a:lnB>
                    <a:solidFill>
                      <a:srgbClr val="FFFFFF"/>
                    </a:solidFill>
                  </a:tcPr>
                </a:tc>
              </a:tr>
            </a:tbl>
          </a:graphicData>
        </a:graphic>
      </p:graphicFrame>
      <p:graphicFrame>
        <p:nvGraphicFramePr>
          <p:cNvPr id="9" name="Table 8"/>
          <p:cNvGraphicFramePr>
            <a:graphicFrameLocks noGrp="1"/>
          </p:cNvGraphicFramePr>
          <p:nvPr/>
        </p:nvGraphicFramePr>
        <p:xfrm>
          <a:off x="457200" y="3822191"/>
          <a:ext cx="10652760" cy="1938528"/>
        </p:xfrm>
        <a:graphic>
          <a:graphicData uri="http://schemas.openxmlformats.org/drawingml/2006/table">
            <a:tbl>
              <a:tblPr firstRow="1" bandRow="1">
                <a:tableStyleId>{2D5ABB26-0587-4C30-8999-92F81FD0307C}</a:tableStyleId>
              </a:tblPr>
              <a:tblGrid>
                <a:gridCol w="3383280"/>
                <a:gridCol w="7269480"/>
              </a:tblGrid>
              <a:tr h="484632">
                <a:tc>
                  <a:txBody>
                    <a:bodyPr/>
                    <a:lstStyle/>
                    <a:p>
                      <a:pPr>
                        <a:defRPr sz="1800" b="1">
                          <a:solidFill>
                            <a:srgbClr val="000000"/>
                          </a:solidFill>
                          <a:latin typeface="Lato"/>
                        </a:defRPr>
                      </a:pPr>
                      <a:r>
                        <a:t>Completion criterion</a:t>
                      </a:r>
                    </a:p>
                  </a:txBody>
                  <a:tcPr marL="146304" marR="146304" marT="54864" marB="54864" anchor="ctr">
                    <a:lnB w="4445" cap="flat">
                      <a:solidFill>
                        <a:srgbClr val="A0A0A0"/>
                      </a:solidFill>
                    </a:lnB>
                    <a:solidFill>
                      <a:srgbClr val="FFFFFF"/>
                    </a:solidFill>
                  </a:tcPr>
                </a:tc>
                <a:tc>
                  <a:txBody>
                    <a:bodyPr/>
                    <a:lstStyle/>
                    <a:p>
                      <a:pPr>
                        <a:defRPr sz="1800" b="1">
                          <a:solidFill>
                            <a:srgbClr val="000000"/>
                          </a:solidFill>
                          <a:latin typeface="Lato"/>
                        </a:defRPr>
                      </a:pPr>
                      <a:r>
                        <a:t>Required evidence</a:t>
                      </a:r>
                    </a:p>
                  </a:txBody>
                  <a:tcPr marL="146304" marR="146304" marT="54864" marB="54864" anchor="ctr">
                    <a:lnB w="4445" cap="flat">
                      <a:solidFill>
                        <a:srgbClr val="A0A0A0"/>
                      </a:solidFill>
                    </a:lnB>
                    <a:solidFill>
                      <a:srgbClr val="FFFFFF"/>
                    </a:solidFill>
                  </a:tcPr>
                </a:tc>
              </a:tr>
              <a:tr h="484632">
                <a:tc>
                  <a:txBody>
                    <a:bodyPr/>
                    <a:lstStyle/>
                    <a:p>
                      <a:pPr>
                        <a:defRPr sz="1800" b="0">
                          <a:solidFill>
                            <a:srgbClr val="000000"/>
                          </a:solidFill>
                          <a:latin typeface="Lato"/>
                        </a:defRPr>
                      </a:pPr>
                      <a:r>
                        <a:t>Traceability</a:t>
                      </a:r>
                    </a:p>
                  </a:txBody>
                  <a:tcPr marL="146304" marR="146304" marT="54864" marB="54864" anchor="ctr">
                    <a:lnB w="3175" cap="flat">
                      <a:solidFill>
                        <a:srgbClr val="B8B8B8"/>
                      </a:solidFill>
                    </a:lnB>
                    <a:solidFill>
                      <a:srgbClr val="FFFFFF"/>
                    </a:solidFill>
                  </a:tcPr>
                </a:tc>
                <a:tc>
                  <a:txBody>
                    <a:bodyPr/>
                    <a:lstStyle/>
                    <a:p>
                      <a:pPr>
                        <a:defRPr sz="1800" b="0">
                          <a:solidFill>
                            <a:srgbClr val="000000"/>
                          </a:solidFill>
                          <a:latin typeface="Lato"/>
                        </a:defRPr>
                      </a:pPr>
                      <a:r>
                        <a:t>A traceable source and assumption owner.</a:t>
                      </a:r>
                    </a:p>
                  </a:txBody>
                  <a:tcPr marL="146304" marR="146304" marT="54864" marB="54864" anchor="ctr">
                    <a:lnB w="3175" cap="flat">
                      <a:solidFill>
                        <a:srgbClr val="B8B8B8"/>
                      </a:solidFill>
                    </a:lnB>
                    <a:solidFill>
                      <a:srgbClr val="FFFFFF"/>
                    </a:solidFill>
                  </a:tcPr>
                </a:tc>
              </a:tr>
              <a:tr h="484632">
                <a:tc>
                  <a:txBody>
                    <a:bodyPr/>
                    <a:lstStyle/>
                    <a:p>
                      <a:pPr>
                        <a:defRPr sz="1800" b="0">
                          <a:solidFill>
                            <a:srgbClr val="000000"/>
                          </a:solidFill>
                          <a:latin typeface="Lato"/>
                        </a:defRPr>
                      </a:pPr>
                      <a:r>
                        <a:t>Calculation and check</a:t>
                      </a:r>
                    </a:p>
                  </a:txBody>
                  <a:tcPr marL="146304" marR="146304" marT="54864" marB="54864" anchor="ctr">
                    <a:lnB w="3175" cap="flat">
                      <a:solidFill>
                        <a:srgbClr val="B8B8B8"/>
                      </a:solidFill>
                    </a:lnB>
                    <a:solidFill>
                      <a:srgbClr val="FFFFFF"/>
                    </a:solidFill>
                  </a:tcPr>
                </a:tc>
                <a:tc>
                  <a:txBody>
                    <a:bodyPr/>
                    <a:lstStyle/>
                    <a:p>
                      <a:pPr>
                        <a:defRPr sz="1800" b="0">
                          <a:solidFill>
                            <a:srgbClr val="000000"/>
                          </a:solidFill>
                          <a:latin typeface="Lato"/>
                        </a:defRPr>
                      </a:pPr>
                      <a:r>
                        <a:t>An explainable calculation and a relevant check.</a:t>
                      </a:r>
                    </a:p>
                  </a:txBody>
                  <a:tcPr marL="146304" marR="146304" marT="54864" marB="54864" anchor="ctr">
                    <a:lnB w="3175" cap="flat">
                      <a:solidFill>
                        <a:srgbClr val="B8B8B8"/>
                      </a:solidFill>
                    </a:lnB>
                    <a:solidFill>
                      <a:srgbClr val="FFFFFF"/>
                    </a:solidFill>
                  </a:tcPr>
                </a:tc>
              </a:tr>
              <a:tr h="484632">
                <a:tc>
                  <a:txBody>
                    <a:bodyPr/>
                    <a:lstStyle/>
                    <a:p>
                      <a:pPr>
                        <a:defRPr sz="1800" b="0">
                          <a:solidFill>
                            <a:srgbClr val="000000"/>
                          </a:solidFill>
                          <a:latin typeface="Lato"/>
                        </a:defRPr>
                      </a:pPr>
                      <a:r>
                        <a:t>Review record</a:t>
                      </a:r>
                    </a:p>
                  </a:txBody>
                  <a:tcPr marL="146304" marR="146304" marT="54864" marB="54864" anchor="ctr">
                    <a:lnB w="3175" cap="flat">
                      <a:solidFill>
                        <a:srgbClr val="B8B8B8"/>
                      </a:solidFill>
                    </a:lnB>
                    <a:solidFill>
                      <a:srgbClr val="FFFFFF"/>
                    </a:solidFill>
                  </a:tcPr>
                </a:tc>
                <a:tc>
                  <a:txBody>
                    <a:bodyPr/>
                    <a:lstStyle/>
                    <a:p>
                      <a:pPr>
                        <a:defRPr sz="1800" b="0">
                          <a:solidFill>
                            <a:srgbClr val="000000"/>
                          </a:solidFill>
                          <a:latin typeface="Lato"/>
                        </a:defRPr>
                      </a:pPr>
                      <a:r>
                        <a:t>Documented limitations and review findings.</a:t>
                      </a:r>
                    </a:p>
                  </a:txBody>
                  <a:tcPr marL="146304" marR="146304" marT="54864" marB="54864" anchor="ctr">
                    <a:lnB w="3175" cap="flat">
                      <a:solidFill>
                        <a:srgbClr val="B8B8B8"/>
                      </a:solidFill>
                    </a:lnB>
                    <a:solidFill>
                      <a:srgbClr val="FFFFFF"/>
                    </a:solidFill>
                  </a:tcPr>
                </a:tc>
              </a:tr>
            </a:tbl>
          </a:graphicData>
        </a:graphic>
      </p:graphicFrame>
      <p:sp>
        <p:nvSpPr>
          <p:cNvPr id="10" name="TextBox 9"/>
          <p:cNvSpPr txBox="1"/>
          <p:nvPr/>
        </p:nvSpPr>
        <p:spPr>
          <a:xfrm>
            <a:off x="502920" y="6053328"/>
            <a:ext cx="10424160" cy="36576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Team roles are confirmed. Agree review cadence and acceptance tolerances.</a:t>
            </a:r>
          </a:p>
        </p:txBody>
      </p:sp>
      <p:sp>
        <p:nvSpPr>
          <p:cNvPr id="11" name="TextBox 10"/>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Confirmed team roles and availability; formal-use checklist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Keep delivery aligned through check-ins, reviews and client touchpoints</a:t>
            </a:r>
          </a:p>
        </p:txBody>
      </p:sp>
      <p:sp>
        <p:nvSpPr>
          <p:cNvPr id="3" name="Slide Number Placeholder"/>
          <p:cNvSpPr>
            <a:spLocks noGrp="1"/>
          </p:cNvSpPr>
          <p:nvPr>
            <p:ph type="sldNum" sz="quarter" idx="12"/>
          </p:nvPr>
        </p:nvSpPr>
        <p:spPr/>
        <p:txBody>
          <a:bodyPr/>
          <a:lstStyle/>
          <a:p>
            <a:fld id="{2E270388-66EF-443A-B313-AFB94F421F6A}"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Delivery approach</a:t>
            </a:r>
          </a:p>
        </p:txBody>
      </p:sp>
      <p:sp>
        <p:nvSpPr>
          <p:cNvPr id="8" name="TextBox 7"/>
          <p:cNvSpPr txBox="1"/>
          <p:nvPr/>
        </p:nvSpPr>
        <p:spPr>
          <a:xfrm>
            <a:off x="502920" y="1645920"/>
            <a:ext cx="10515600" cy="457200"/>
          </a:xfrm>
          <a:prstGeom prst="rect">
            <a:avLst/>
          </a:prstGeom>
          <a:noFill/>
        </p:spPr>
        <p:txBody>
          <a:bodyPr wrap="square" lIns="18288" rIns="18288" tIns="0" bIns="0">
            <a:spAutoFit/>
          </a:bodyPr>
          <a:lstStyle/>
          <a:p>
            <a:pPr>
              <a:spcAft>
                <a:spcPts val="800"/>
              </a:spcAft>
              <a:defRPr sz="1400" b="0">
                <a:solidFill>
                  <a:srgbClr val="000000"/>
                </a:solidFill>
                <a:latin typeface="Lato"/>
              </a:defRPr>
            </a:pPr>
            <a:r>
              <a:t>Proposed working rhythm | Monday HG check-in already planned; recurring slots and client dates to agree</a:t>
            </a:r>
          </a:p>
        </p:txBody>
      </p:sp>
      <p:graphicFrame>
        <p:nvGraphicFramePr>
          <p:cNvPr id="9" name="Table 8"/>
          <p:cNvGraphicFramePr>
            <a:graphicFrameLocks noGrp="1"/>
          </p:cNvGraphicFramePr>
          <p:nvPr/>
        </p:nvGraphicFramePr>
        <p:xfrm>
          <a:off x="457200" y="2240280"/>
          <a:ext cx="10652759" cy="3611880"/>
        </p:xfrm>
        <a:graphic>
          <a:graphicData uri="http://schemas.openxmlformats.org/drawingml/2006/table">
            <a:tbl>
              <a:tblPr firstRow="1" bandRow="1">
                <a:tableStyleId>{2D5ABB26-0587-4C30-8999-92F81FD0307C}</a:tableStyleId>
              </a:tblPr>
              <a:tblGrid>
                <a:gridCol w="1874519"/>
                <a:gridCol w="3246120"/>
                <a:gridCol w="5532120"/>
              </a:tblGrid>
              <a:tr h="601980">
                <a:tc>
                  <a:txBody>
                    <a:bodyPr/>
                    <a:lstStyle/>
                    <a:p>
                      <a:pPr>
                        <a:lnSpc>
                          <a:spcPct val="100000"/>
                        </a:lnSpc>
                        <a:spcAft>
                          <a:spcPts val="0"/>
                        </a:spcAft>
                        <a:defRPr sz="1400" b="1">
                          <a:solidFill>
                            <a:srgbClr val="000000"/>
                          </a:solidFill>
                          <a:latin typeface="Lato"/>
                        </a:defRPr>
                      </a:pPr>
                      <a:r>
                        <a:t>Touchpoint</a:t>
                      </a:r>
                    </a:p>
                  </a:txBody>
                  <a:tcPr marL="146304" marR="146304" marT="41148" marB="41148" anchor="ctr">
                    <a:lnB w="4445" cap="flat">
                      <a:solidFill>
                        <a:srgbClr val="A0A0A0"/>
                      </a:solidFill>
                    </a:lnB>
                    <a:solidFill>
                      <a:srgbClr val="FFFFFF"/>
                    </a:solidFill>
                  </a:tcPr>
                </a:tc>
                <a:tc>
                  <a:txBody>
                    <a:bodyPr/>
                    <a:lstStyle/>
                    <a:p>
                      <a:pPr>
                        <a:lnSpc>
                          <a:spcPct val="100000"/>
                        </a:lnSpc>
                        <a:spcAft>
                          <a:spcPts val="0"/>
                        </a:spcAft>
                        <a:defRPr sz="1400" b="1">
                          <a:solidFill>
                            <a:srgbClr val="000000"/>
                          </a:solidFill>
                          <a:latin typeface="Lato"/>
                        </a:defRPr>
                      </a:pPr>
                      <a:r>
                        <a:t>Frequency and participants</a:t>
                      </a:r>
                    </a:p>
                  </a:txBody>
                  <a:tcPr marL="146304" marR="146304" marT="41148" marB="41148" anchor="ctr">
                    <a:lnB w="4445" cap="flat">
                      <a:solidFill>
                        <a:srgbClr val="A0A0A0"/>
                      </a:solidFill>
                    </a:lnB>
                    <a:solidFill>
                      <a:srgbClr val="FFFFFF"/>
                    </a:solidFill>
                  </a:tcPr>
                </a:tc>
                <a:tc>
                  <a:txBody>
                    <a:bodyPr/>
                    <a:lstStyle/>
                    <a:p>
                      <a:pPr>
                        <a:lnSpc>
                          <a:spcPct val="100000"/>
                        </a:lnSpc>
                        <a:spcAft>
                          <a:spcPts val="0"/>
                        </a:spcAft>
                        <a:defRPr sz="1400" b="1">
                          <a:solidFill>
                            <a:srgbClr val="000000"/>
                          </a:solidFill>
                          <a:latin typeface="Lato"/>
                        </a:defRPr>
                      </a:pPr>
                      <a:r>
                        <a:t>Required output</a:t>
                      </a:r>
                    </a:p>
                  </a:txBody>
                  <a:tcPr marL="146304" marR="146304" marT="41148" marB="41148" anchor="ctr">
                    <a:lnB w="4445" cap="flat">
                      <a:solidFill>
                        <a:srgbClr val="A0A0A0"/>
                      </a:solidFill>
                    </a:lnB>
                    <a:solidFill>
                      <a:srgbClr val="FFFFFF"/>
                    </a:solidFill>
                  </a:tcPr>
                </a:tc>
              </a:tr>
              <a:tr h="601980">
                <a:tc>
                  <a:txBody>
                    <a:bodyPr/>
                    <a:lstStyle/>
                    <a:p>
                      <a:pPr>
                        <a:lnSpc>
                          <a:spcPct val="100000"/>
                        </a:lnSpc>
                        <a:spcAft>
                          <a:spcPts val="0"/>
                        </a:spcAft>
                        <a:defRPr sz="1400" b="0">
                          <a:solidFill>
                            <a:srgbClr val="000000"/>
                          </a:solidFill>
                          <a:latin typeface="Lato"/>
                        </a:defRPr>
                      </a:pPr>
                      <a:r>
                        <a:t>Internal check-in</a:t>
                      </a:r>
                    </a:p>
                  </a:txBody>
                  <a:tcPr marL="146304" marR="146304" marT="41148" marB="41148" anchor="ctr">
                    <a:lnB w="3175" cap="flat">
                      <a:solidFill>
                        <a:srgbClr val="B8B8B8"/>
                      </a:solidFill>
                    </a:lnB>
                    <a:solidFill>
                      <a:srgbClr val="FFFFFF"/>
                    </a:solidFill>
                  </a:tcPr>
                </a:tc>
                <a:tc>
                  <a:txBody>
                    <a:bodyPr/>
                    <a:lstStyle/>
                    <a:p>
                      <a:pPr>
                        <a:lnSpc>
                          <a:spcPct val="100000"/>
                        </a:lnSpc>
                        <a:spcAft>
                          <a:spcPts val="0"/>
                        </a:spcAft>
                        <a:defRPr sz="1400" b="0">
                          <a:solidFill>
                            <a:srgbClr val="000000"/>
                          </a:solidFill>
                          <a:latin typeface="Lato"/>
                        </a:defRPr>
                      </a:pPr>
                      <a:r>
                        <a:t>Daily, 10–15 minutes; Manish + Nigel</a:t>
                      </a:r>
                    </a:p>
                  </a:txBody>
                  <a:tcPr marL="146304" marR="146304" marT="41148" marB="41148" anchor="ctr">
                    <a:lnB w="3175" cap="flat">
                      <a:solidFill>
                        <a:srgbClr val="B8B8B8"/>
                      </a:solidFill>
                    </a:lnB>
                    <a:solidFill>
                      <a:srgbClr val="FFFFFF"/>
                    </a:solidFill>
                  </a:tcPr>
                </a:tc>
                <a:tc>
                  <a:txBody>
                    <a:bodyPr/>
                    <a:lstStyle/>
                    <a:p>
                      <a:pPr>
                        <a:lnSpc>
                          <a:spcPct val="100000"/>
                        </a:lnSpc>
                        <a:spcAft>
                          <a:spcPts val="0"/>
                        </a:spcAft>
                        <a:defRPr sz="1400" b="0">
                          <a:solidFill>
                            <a:srgbClr val="000000"/>
                          </a:solidFill>
                          <a:latin typeface="Lato"/>
                        </a:defRPr>
                      </a:pPr>
                      <a:r>
                        <a:t>Today’s priorities, expected outputs, dependencies and blockers</a:t>
                      </a:r>
                    </a:p>
                  </a:txBody>
                  <a:tcPr marL="146304" marR="146304" marT="41148" marB="41148" anchor="ctr">
                    <a:lnB w="3175" cap="flat">
                      <a:solidFill>
                        <a:srgbClr val="B8B8B8"/>
                      </a:solidFill>
                    </a:lnB>
                    <a:solidFill>
                      <a:srgbClr val="FFFFFF"/>
                    </a:solidFill>
                  </a:tcPr>
                </a:tc>
              </a:tr>
              <a:tr h="601980">
                <a:tc>
                  <a:txBody>
                    <a:bodyPr/>
                    <a:lstStyle/>
                    <a:p>
                      <a:pPr>
                        <a:lnSpc>
                          <a:spcPct val="100000"/>
                        </a:lnSpc>
                        <a:spcAft>
                          <a:spcPts val="0"/>
                        </a:spcAft>
                        <a:defRPr sz="1400" b="0">
                          <a:solidFill>
                            <a:srgbClr val="000000"/>
                          </a:solidFill>
                          <a:latin typeface="Lato"/>
                        </a:defRPr>
                      </a:pPr>
                      <a:r>
                        <a:t>Internal check-out</a:t>
                      </a:r>
                    </a:p>
                  </a:txBody>
                  <a:tcPr marL="146304" marR="146304" marT="41148" marB="41148" anchor="ctr">
                    <a:lnB w="3175" cap="flat">
                      <a:solidFill>
                        <a:srgbClr val="B8B8B8"/>
                      </a:solidFill>
                    </a:lnB>
                    <a:solidFill>
                      <a:srgbClr val="FFFFFF"/>
                    </a:solidFill>
                  </a:tcPr>
                </a:tc>
                <a:tc>
                  <a:txBody>
                    <a:bodyPr/>
                    <a:lstStyle/>
                    <a:p>
                      <a:pPr>
                        <a:lnSpc>
                          <a:spcPct val="100000"/>
                        </a:lnSpc>
                        <a:spcAft>
                          <a:spcPts val="0"/>
                        </a:spcAft>
                        <a:defRPr sz="1400" b="0">
                          <a:solidFill>
                            <a:srgbClr val="000000"/>
                          </a:solidFill>
                          <a:latin typeface="Lato"/>
                        </a:defRPr>
                      </a:pPr>
                      <a:r>
                        <a:t>Daily written update; Manish to Nigel; call if blocked</a:t>
                      </a:r>
                    </a:p>
                  </a:txBody>
                  <a:tcPr marL="146304" marR="146304" marT="41148" marB="41148" anchor="ctr">
                    <a:lnB w="3175" cap="flat">
                      <a:solidFill>
                        <a:srgbClr val="B8B8B8"/>
                      </a:solidFill>
                    </a:lnB>
                    <a:solidFill>
                      <a:srgbClr val="FFFFFF"/>
                    </a:solidFill>
                  </a:tcPr>
                </a:tc>
                <a:tc>
                  <a:txBody>
                    <a:bodyPr/>
                    <a:lstStyle/>
                    <a:p>
                      <a:pPr>
                        <a:lnSpc>
                          <a:spcPct val="100000"/>
                        </a:lnSpc>
                        <a:spcAft>
                          <a:spcPts val="0"/>
                        </a:spcAft>
                        <a:defRPr sz="1400" b="0">
                          <a:solidFill>
                            <a:srgbClr val="000000"/>
                          </a:solidFill>
                          <a:latin typeface="Lato"/>
                        </a:defRPr>
                      </a:pPr>
                      <a:r>
                        <a:t>Completed work and evidence links; checks, changes, open gaps and next steps</a:t>
                      </a:r>
                    </a:p>
                  </a:txBody>
                  <a:tcPr marL="146304" marR="146304" marT="41148" marB="41148" anchor="ctr">
                    <a:lnB w="3175" cap="flat">
                      <a:solidFill>
                        <a:srgbClr val="B8B8B8"/>
                      </a:solidFill>
                    </a:lnB>
                    <a:solidFill>
                      <a:srgbClr val="FFFFFF"/>
                    </a:solidFill>
                  </a:tcPr>
                </a:tc>
              </a:tr>
              <a:tr h="601980">
                <a:tc>
                  <a:txBody>
                    <a:bodyPr/>
                    <a:lstStyle/>
                    <a:p>
                      <a:pPr>
                        <a:lnSpc>
                          <a:spcPct val="100000"/>
                        </a:lnSpc>
                        <a:spcAft>
                          <a:spcPts val="0"/>
                        </a:spcAft>
                        <a:defRPr sz="1400" b="0">
                          <a:solidFill>
                            <a:srgbClr val="000000"/>
                          </a:solidFill>
                          <a:latin typeface="Lato"/>
                        </a:defRPr>
                      </a:pPr>
                      <a:r>
                        <a:t>Technical review</a:t>
                      </a:r>
                    </a:p>
                  </a:txBody>
                  <a:tcPr marL="146304" marR="146304" marT="41148" marB="41148" anchor="ctr">
                    <a:lnB w="3175" cap="flat">
                      <a:solidFill>
                        <a:srgbClr val="B8B8B8"/>
                      </a:solidFill>
                    </a:lnB>
                    <a:solidFill>
                      <a:srgbClr val="FFFFFF"/>
                    </a:solidFill>
                  </a:tcPr>
                </a:tc>
                <a:tc>
                  <a:txBody>
                    <a:bodyPr/>
                    <a:lstStyle/>
                    <a:p>
                      <a:pPr>
                        <a:lnSpc>
                          <a:spcPct val="100000"/>
                        </a:lnSpc>
                        <a:spcAft>
                          <a:spcPts val="0"/>
                        </a:spcAft>
                        <a:defRPr sz="1400" b="0">
                          <a:solidFill>
                            <a:srgbClr val="000000"/>
                          </a:solidFill>
                          <a:latin typeface="Lato"/>
                        </a:defRPr>
                      </a:pPr>
                      <a:r>
                        <a:t>Weekly and at model gates; Manish + Nigel; Henry at gates</a:t>
                      </a:r>
                    </a:p>
                  </a:txBody>
                  <a:tcPr marL="146304" marR="146304" marT="41148" marB="41148" anchor="ctr">
                    <a:lnB w="3175" cap="flat">
                      <a:solidFill>
                        <a:srgbClr val="B8B8B8"/>
                      </a:solidFill>
                    </a:lnB>
                    <a:solidFill>
                      <a:srgbClr val="FFFFFF"/>
                    </a:solidFill>
                  </a:tcPr>
                </a:tc>
                <a:tc>
                  <a:txBody>
                    <a:bodyPr/>
                    <a:lstStyle/>
                    <a:p>
                      <a:pPr>
                        <a:lnSpc>
                          <a:spcPct val="100000"/>
                        </a:lnSpc>
                        <a:spcAft>
                          <a:spcPts val="0"/>
                        </a:spcAft>
                        <a:defRPr sz="1400" b="0">
                          <a:solidFill>
                            <a:srgbClr val="000000"/>
                          </a:solidFill>
                          <a:latin typeface="Lato"/>
                        </a:defRPr>
                      </a:pPr>
                      <a:r>
                        <a:t>Reconciled baseline, assumptions, calculation checks and integration evidence; review findings recorded</a:t>
                      </a:r>
                    </a:p>
                  </a:txBody>
                  <a:tcPr marL="146304" marR="146304" marT="41148" marB="41148" anchor="ctr">
                    <a:lnB w="3175" cap="flat">
                      <a:solidFill>
                        <a:srgbClr val="B8B8B8"/>
                      </a:solidFill>
                    </a:lnB>
                    <a:solidFill>
                      <a:srgbClr val="FFFFFF"/>
                    </a:solidFill>
                  </a:tcPr>
                </a:tc>
              </a:tr>
              <a:tr h="601980">
                <a:tc>
                  <a:txBody>
                    <a:bodyPr/>
                    <a:lstStyle/>
                    <a:p>
                      <a:pPr>
                        <a:lnSpc>
                          <a:spcPct val="100000"/>
                        </a:lnSpc>
                        <a:spcAft>
                          <a:spcPts val="0"/>
                        </a:spcAft>
                        <a:defRPr sz="1400" b="0">
                          <a:solidFill>
                            <a:srgbClr val="000000"/>
                          </a:solidFill>
                          <a:latin typeface="Lato"/>
                        </a:defRPr>
                      </a:pPr>
                      <a:r>
                        <a:t>Partner review</a:t>
                      </a:r>
                    </a:p>
                  </a:txBody>
                  <a:tcPr marL="146304" marR="146304" marT="41148" marB="41148" anchor="ctr">
                    <a:lnB w="3175" cap="flat">
                      <a:solidFill>
                        <a:srgbClr val="B8B8B8"/>
                      </a:solidFill>
                    </a:lnB>
                    <a:solidFill>
                      <a:srgbClr val="FFFFFF"/>
                    </a:solidFill>
                  </a:tcPr>
                </a:tc>
                <a:tc>
                  <a:txBody>
                    <a:bodyPr/>
                    <a:lstStyle/>
                    <a:p>
                      <a:pPr>
                        <a:lnSpc>
                          <a:spcPct val="100000"/>
                        </a:lnSpc>
                        <a:spcAft>
                          <a:spcPts val="0"/>
                        </a:spcAft>
                        <a:defRPr sz="1400" b="0">
                          <a:solidFill>
                            <a:srgbClr val="000000"/>
                          </a:solidFill>
                          <a:latin typeface="Lato"/>
                        </a:defRPr>
                      </a:pPr>
                      <a:r>
                        <a:t>Weekly proposed slot, before client checkpoints; partner + Nigel; Manish supports</a:t>
                      </a:r>
                    </a:p>
                  </a:txBody>
                  <a:tcPr marL="146304" marR="146304" marT="41148" marB="41148" anchor="ctr">
                    <a:lnB w="3175" cap="flat">
                      <a:solidFill>
                        <a:srgbClr val="B8B8B8"/>
                      </a:solidFill>
                    </a:lnB>
                    <a:solidFill>
                      <a:srgbClr val="FFFFFF"/>
                    </a:solidFill>
                  </a:tcPr>
                </a:tc>
                <a:tc>
                  <a:txBody>
                    <a:bodyPr/>
                    <a:lstStyle/>
                    <a:p>
                      <a:pPr>
                        <a:lnSpc>
                          <a:spcPct val="100000"/>
                        </a:lnSpc>
                        <a:spcAft>
                          <a:spcPts val="0"/>
                        </a:spcAft>
                        <a:defRPr sz="1400" b="0">
                          <a:solidFill>
                            <a:srgbClr val="000000"/>
                          </a:solidFill>
                          <a:latin typeface="Lato"/>
                        </a:defRPr>
                      </a:pPr>
                      <a:r>
                        <a:t>Partner-led SCR and storyline; technical evidence, emerging implications, gaps and decisions needed</a:t>
                      </a:r>
                    </a:p>
                  </a:txBody>
                  <a:tcPr marL="146304" marR="146304" marT="41148" marB="41148" anchor="ctr">
                    <a:lnB w="3175" cap="flat">
                      <a:solidFill>
                        <a:srgbClr val="B8B8B8"/>
                      </a:solidFill>
                    </a:lnB>
                    <a:solidFill>
                      <a:srgbClr val="FFFFFF"/>
                    </a:solidFill>
                  </a:tcPr>
                </a:tc>
              </a:tr>
              <a:tr h="601980">
                <a:tc>
                  <a:txBody>
                    <a:bodyPr/>
                    <a:lstStyle/>
                    <a:p>
                      <a:pPr>
                        <a:lnSpc>
                          <a:spcPct val="100000"/>
                        </a:lnSpc>
                        <a:spcAft>
                          <a:spcPts val="0"/>
                        </a:spcAft>
                        <a:defRPr sz="1400" b="0">
                          <a:solidFill>
                            <a:srgbClr val="000000"/>
                          </a:solidFill>
                          <a:latin typeface="Lato"/>
                        </a:defRPr>
                      </a:pPr>
                      <a:r>
                        <a:t>Client touchpoints</a:t>
                      </a:r>
                    </a:p>
                  </a:txBody>
                  <a:tcPr marL="146304" marR="146304" marT="41148" marB="41148" anchor="ctr">
                    <a:lnB w="3175" cap="flat">
                      <a:solidFill>
                        <a:srgbClr val="B8B8B8"/>
                      </a:solidFill>
                    </a:lnB>
                    <a:solidFill>
                      <a:srgbClr val="FFFFFF"/>
                    </a:solidFill>
                  </a:tcPr>
                </a:tc>
                <a:tc>
                  <a:txBody>
                    <a:bodyPr/>
                    <a:lstStyle/>
                    <a:p>
                      <a:pPr>
                        <a:lnSpc>
                          <a:spcPct val="100000"/>
                        </a:lnSpc>
                        <a:spcAft>
                          <a:spcPts val="0"/>
                        </a:spcAft>
                        <a:defRPr sz="1400" b="0">
                          <a:solidFill>
                            <a:srgbClr val="000000"/>
                          </a:solidFill>
                          <a:latin typeface="Lato"/>
                        </a:defRPr>
                      </a:pPr>
                      <a:r>
                        <a:t>Proposed weeks 1, 3, 5 and 6; partner leads, model team as needed</a:t>
                      </a:r>
                    </a:p>
                  </a:txBody>
                  <a:tcPr marL="146304" marR="146304" marT="41148" marB="41148" anchor="ctr">
                    <a:lnB w="3175" cap="flat">
                      <a:solidFill>
                        <a:srgbClr val="B8B8B8"/>
                      </a:solidFill>
                    </a:lnB>
                    <a:solidFill>
                      <a:srgbClr val="FFFFFF"/>
                    </a:solidFill>
                  </a:tcPr>
                </a:tc>
                <a:tc>
                  <a:txBody>
                    <a:bodyPr/>
                    <a:lstStyle/>
                    <a:p>
                      <a:pPr>
                        <a:lnSpc>
                          <a:spcPct val="100000"/>
                        </a:lnSpc>
                        <a:spcAft>
                          <a:spcPts val="0"/>
                        </a:spcAft>
                        <a:defRPr sz="1400" b="0">
                          <a:solidFill>
                            <a:srgbClr val="000000"/>
                          </a:solidFill>
                          <a:latin typeface="Lato"/>
                        </a:defRPr>
                      </a:pPr>
                      <a:r>
                        <a:t>W1: scope/data; W3: emerging findings; W5: draft implications; W6: final review and handover</a:t>
                      </a:r>
                    </a:p>
                  </a:txBody>
                  <a:tcPr marL="146304" marR="146304" marT="41148" marB="41148" anchor="ctr">
                    <a:lnB w="3175" cap="flat">
                      <a:solidFill>
                        <a:srgbClr val="B8B8B8"/>
                      </a:solidFill>
                    </a:lnB>
                    <a:solidFill>
                      <a:srgbClr val="FFFFFF"/>
                    </a:solidFill>
                  </a:tcPr>
                </a:tc>
              </a:tr>
            </a:tbl>
          </a:graphicData>
        </a:graphic>
      </p:graphicFrame>
      <p:sp>
        <p:nvSpPr>
          <p:cNvPr id="10" name="TextBox 9"/>
          <p:cNvSpPr txBox="1"/>
          <p:nvPr/>
        </p:nvSpPr>
        <p:spPr>
          <a:xfrm>
            <a:off x="502920" y="6080760"/>
            <a:ext cx="10515600" cy="365760"/>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Monday HG check-in: align the technical workstream, responsibilities and ways of working before delivery proceeds.</a:t>
            </a:r>
          </a:p>
        </p:txBody>
      </p:sp>
      <p:sp>
        <p:nvSpPr>
          <p:cNvPr id="11" name="TextBox 10"/>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Confirmed team roles; proposed engagement cadence; Monday HG check-in planned by user. Recurring slots and client dates to agree.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Agree the week-1 baseline, first corridor and acceptance criteria</a:t>
            </a:r>
          </a:p>
        </p:txBody>
      </p:sp>
      <p:sp>
        <p:nvSpPr>
          <p:cNvPr id="3" name="Slide Number Placeholder"/>
          <p:cNvSpPr>
            <a:spLocks noGrp="1"/>
          </p:cNvSpPr>
          <p:nvPr>
            <p:ph type="sldNum" sz="quarter" idx="12"/>
          </p:nvPr>
        </p:nvSpPr>
        <p:spPr/>
        <p:txBody>
          <a:bodyPr/>
          <a:lstStyle/>
          <a:p>
            <a:fld id="{073B75F2-60E8-4674-A2CC-87188D3268D8}"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Delivery approach</a:t>
            </a:r>
          </a:p>
        </p:txBody>
      </p:sp>
      <p:graphicFrame>
        <p:nvGraphicFramePr>
          <p:cNvPr id="8" name="Table 7"/>
          <p:cNvGraphicFramePr>
            <a:graphicFrameLocks noGrp="1"/>
          </p:cNvGraphicFramePr>
          <p:nvPr/>
        </p:nvGraphicFramePr>
        <p:xfrm>
          <a:off x="457200" y="1691640"/>
          <a:ext cx="10652760" cy="4389120"/>
        </p:xfrm>
        <a:graphic>
          <a:graphicData uri="http://schemas.openxmlformats.org/drawingml/2006/table">
            <a:tbl>
              <a:tblPr firstRow="1" bandRow="1">
                <a:tableStyleId>{2D5ABB26-0587-4C30-8999-92F81FD0307C}</a:tableStyleId>
              </a:tblPr>
              <a:tblGrid>
                <a:gridCol w="2743200"/>
                <a:gridCol w="7909560"/>
              </a:tblGrid>
              <a:tr h="1463040">
                <a:tc>
                  <a:txBody>
                    <a:bodyPr/>
                    <a:lstStyle/>
                    <a:p>
                      <a:pPr>
                        <a:defRPr sz="2000" b="1">
                          <a:solidFill>
                            <a:srgbClr val="000000"/>
                          </a:solidFill>
                          <a:latin typeface="Lato"/>
                        </a:defRPr>
                      </a:pPr>
                      <a:r>
                        <a:t>Decisions for this session</a:t>
                      </a:r>
                    </a:p>
                  </a:txBody>
                  <a:tcPr marL="146304" marR="146304" marT="109728" marB="109728" anchor="ctr">
                    <a:lnB w="3175" cap="flat">
                      <a:solidFill>
                        <a:srgbClr val="B8B8B8"/>
                      </a:solidFill>
                    </a:lnB>
                    <a:solidFill>
                      <a:srgbClr val="FFFFFF"/>
                    </a:solidFill>
                  </a:tcPr>
                </a:tc>
                <a:tc>
                  <a:txBody>
                    <a:bodyPr/>
                    <a:lstStyle/>
                    <a:p>
                      <a:pPr>
                        <a:defRPr sz="2000" b="0">
                          <a:solidFill>
                            <a:srgbClr val="000000"/>
                          </a:solidFill>
                          <a:latin typeface="Lato"/>
                        </a:defRPr>
                      </a:pPr>
                      <a:r>
                        <a:t>1. Confirm baseline data and M/M assumptions: demand, domestic production and available imports.</a:t>
                      </a:r>
                    </a:p>
                    <a:p>
                      <a:pPr>
                        <a:defRPr sz="2000" b="0">
                          <a:solidFill>
                            <a:srgbClr val="000000"/>
                          </a:solidFill>
                          <a:latin typeface="Lato"/>
                        </a:defRPr>
                      </a:pPr>
                      <a:r>
                        <a:t>2. Agree reporting checkpoints and reconciliation tolerances.</a:t>
                      </a:r>
                    </a:p>
                  </a:txBody>
                  <a:tcPr marL="146304" marR="146304" marT="109728" marB="109728" anchor="ctr">
                    <a:lnB w="3175" cap="flat">
                      <a:solidFill>
                        <a:srgbClr val="B8B8B8"/>
                      </a:solidFill>
                    </a:lnB>
                    <a:solidFill>
                      <a:srgbClr val="FFFFFF"/>
                    </a:solidFill>
                  </a:tcPr>
                </a:tc>
              </a:tr>
              <a:tr h="1463040">
                <a:tc>
                  <a:txBody>
                    <a:bodyPr/>
                    <a:lstStyle/>
                    <a:p>
                      <a:pPr>
                        <a:defRPr sz="2000" b="1">
                          <a:solidFill>
                            <a:srgbClr val="000000"/>
                          </a:solidFill>
                          <a:latin typeface="Lato"/>
                        </a:defRPr>
                      </a:pPr>
                      <a:r>
                        <a:t>Week-1 baseline</a:t>
                      </a:r>
                    </a:p>
                  </a:txBody>
                  <a:tcPr marL="146304" marR="146304" marT="109728" marB="109728" anchor="ctr">
                    <a:lnB w="3175" cap="flat">
                      <a:solidFill>
                        <a:srgbClr val="B8B8B8"/>
                      </a:solidFill>
                    </a:lnB>
                    <a:solidFill>
                      <a:srgbClr val="FFFFFF"/>
                    </a:solidFill>
                  </a:tcPr>
                </a:tc>
                <a:tc>
                  <a:txBody>
                    <a:bodyPr/>
                    <a:lstStyle/>
                    <a:p>
                      <a:pPr>
                        <a:defRPr sz="2000" b="0">
                          <a:solidFill>
                            <a:srgbClr val="000000"/>
                          </a:solidFill>
                          <a:latin typeface="Lato"/>
                        </a:defRPr>
                      </a:pPr>
                      <a:r>
                        <a:t>Document historical demand, domestic production and imports. Produce a reproducible reference run and an initial reconciliation against Excel.</a:t>
                      </a:r>
                    </a:p>
                  </a:txBody>
                  <a:tcPr marL="146304" marR="146304" marT="109728" marB="109728" anchor="ctr">
                    <a:lnB w="3175" cap="flat">
                      <a:solidFill>
                        <a:srgbClr val="B8B8B8"/>
                      </a:solidFill>
                    </a:lnB>
                    <a:solidFill>
                      <a:srgbClr val="FFFFFF"/>
                    </a:solidFill>
                  </a:tcPr>
                </a:tc>
              </a:tr>
              <a:tr h="1463040">
                <a:tc>
                  <a:txBody>
                    <a:bodyPr/>
                    <a:lstStyle/>
                    <a:p>
                      <a:pPr>
                        <a:defRPr sz="2000" b="1">
                          <a:solidFill>
                            <a:srgbClr val="000000"/>
                          </a:solidFill>
                          <a:latin typeface="Lato"/>
                        </a:defRPr>
                      </a:pPr>
                      <a:r>
                        <a:t>Baseline gate</a:t>
                      </a:r>
                    </a:p>
                  </a:txBody>
                  <a:tcPr marL="146304" marR="146304" marT="109728" marB="109728" anchor="ctr">
                    <a:lnB w="3175" cap="flat">
                      <a:solidFill>
                        <a:srgbClr val="B8B8B8"/>
                      </a:solidFill>
                    </a:lnB>
                    <a:solidFill>
                      <a:srgbClr val="FFFFFF"/>
                    </a:solidFill>
                  </a:tcPr>
                </a:tc>
                <a:tc>
                  <a:txBody>
                    <a:bodyPr/>
                    <a:lstStyle/>
                    <a:p>
                      <a:pPr>
                        <a:defRPr sz="2000" b="0">
                          <a:solidFill>
                            <a:srgbClr val="000000"/>
                          </a:solidFill>
                          <a:latin typeface="Lato"/>
                        </a:defRPr>
                      </a:pPr>
                      <a:r>
                        <a:t>Record inputs and assumptions; reproduce the run; explain material differences or assign owners and resolution dates. Nigel reviews the baseline; Henry confirms readiness to proceed.</a:t>
                      </a:r>
                    </a:p>
                  </a:txBody>
                  <a:tcPr marL="146304" marR="146304" marT="109728" marB="109728" anchor="ctr">
                    <a:lnB w="3175" cap="flat">
                      <a:solidFill>
                        <a:srgbClr val="B8B8B8"/>
                      </a:solidFill>
                    </a:lnB>
                    <a:solidFill>
                      <a:srgbClr val="FFFFFF"/>
                    </a:solidFill>
                  </a:tcPr>
                </a:tc>
              </a:tr>
            </a:tbl>
          </a:graphicData>
        </a:graphic>
      </p:graphicFrame>
      <p:sp>
        <p:nvSpPr>
          <p:cNvPr id="9" name="TextBox 8"/>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Proposed week-1 baseline and readiness gate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sedi.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vopak-logo-white.png"/>
          <p:cNvPicPr>
            <a:picLocks noChangeAspect="1"/>
          </p:cNvPicPr>
          <p:nvPr/>
        </p:nvPicPr>
        <p:blipFill>
          <a:blip r:embed="rId3"/>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600" b="0">
                <a:solidFill>
                  <a:srgbClr val="FFFFFF"/>
                </a:solidFill>
                <a:latin typeface="Lato"/>
              </a:defRPr>
            </a:pPr>
            <a:r>
              <a:t>Appendix</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Evidence and model detail</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2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Separate current South African model coverage from wider African screening</a:t>
            </a:r>
          </a:p>
        </p:txBody>
      </p:sp>
      <p:sp>
        <p:nvSpPr>
          <p:cNvPr id="3" name="Slide Number Placeholder"/>
          <p:cNvSpPr>
            <a:spLocks noGrp="1"/>
          </p:cNvSpPr>
          <p:nvPr>
            <p:ph type="sldNum" sz="quarter" idx="12"/>
          </p:nvPr>
        </p:nvSpPr>
        <p:spPr/>
        <p:txBody>
          <a:bodyPr/>
          <a:lstStyle/>
          <a:p>
            <a:fld id="{36FB5200-2236-4523-8524-35819752D3BE}"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sp>
        <p:nvSpPr>
          <p:cNvPr id="5" name="TextBox 4"/>
          <p:cNvSpPr txBox="1"/>
          <p:nvPr/>
        </p:nvSpPr>
        <p:spPr>
          <a:xfrm>
            <a:off x="548640" y="1664208"/>
            <a:ext cx="5303520" cy="320040"/>
          </a:xfrm>
          <a:prstGeom prst="rect">
            <a:avLst/>
          </a:prstGeom>
          <a:noFill/>
        </p:spPr>
        <p:txBody>
          <a:bodyPr wrap="square" lIns="18288" rIns="18288" tIns="0" bIns="0">
            <a:spAutoFit/>
          </a:bodyPr>
          <a:lstStyle/>
          <a:p>
            <a:pPr>
              <a:spcAft>
                <a:spcPts val="800"/>
              </a:spcAft>
              <a:defRPr sz="1800" b="1">
                <a:solidFill>
                  <a:srgbClr val="000000"/>
                </a:solidFill>
                <a:latin typeface="Lato"/>
              </a:defRPr>
            </a:pPr>
            <a:r>
              <a:t>Africa: agreed regional scope</a:t>
            </a:r>
          </a:p>
        </p:txBody>
      </p:sp>
      <p:sp>
        <p:nvSpPr>
          <p:cNvPr id="6" name="Africa overview: United Republic of Tanzania"/>
          <p:cNvSpPr/>
          <p:nvPr/>
        </p:nvSpPr>
        <p:spPr>
          <a:xfrm>
            <a:off x="3552517" y="4031681"/>
            <a:ext cx="622293" cy="571238"/>
          </a:xfrm>
          <a:custGeom>
            <a:avLst/>
            <a:gdLst/>
            <a:ahLst/>
            <a:cxnLst/>
            <a:rect l="l" t="t" r="r" b="b"/>
            <a:pathLst>
              <a:path w="622293" h="571238">
                <a:moveTo>
                  <a:pt x="258729" y="0"/>
                </a:moveTo>
                <a:lnTo>
                  <a:pt x="268305" y="5824"/>
                </a:lnTo>
                <a:lnTo>
                  <a:pt x="473877" y="113866"/>
                </a:lnTo>
                <a:lnTo>
                  <a:pt x="477744" y="144633"/>
                </a:lnTo>
                <a:lnTo>
                  <a:pt x="559117" y="197650"/>
                </a:lnTo>
                <a:lnTo>
                  <a:pt x="532943" y="262998"/>
                </a:lnTo>
                <a:lnTo>
                  <a:pt x="536301" y="293054"/>
                </a:lnTo>
                <a:lnTo>
                  <a:pt x="572597" y="312377"/>
                </a:lnTo>
                <a:lnTo>
                  <a:pt x="574298" y="326166"/>
                </a:lnTo>
                <a:lnTo>
                  <a:pt x="558690" y="358194"/>
                </a:lnTo>
                <a:lnTo>
                  <a:pt x="561940" y="374312"/>
                </a:lnTo>
                <a:lnTo>
                  <a:pt x="558226" y="399647"/>
                </a:lnTo>
                <a:lnTo>
                  <a:pt x="578025" y="432892"/>
                </a:lnTo>
                <a:lnTo>
                  <a:pt x="601488" y="485187"/>
                </a:lnTo>
                <a:lnTo>
                  <a:pt x="622293" y="496785"/>
                </a:lnTo>
                <a:lnTo>
                  <a:pt x="622293" y="496786"/>
                </a:lnTo>
                <a:lnTo>
                  <a:pt x="577189" y="527534"/>
                </a:lnTo>
                <a:lnTo>
                  <a:pt x="515199" y="548129"/>
                </a:lnTo>
                <a:lnTo>
                  <a:pt x="481188" y="547259"/>
                </a:lnTo>
                <a:lnTo>
                  <a:pt x="460985" y="563168"/>
                </a:lnTo>
                <a:lnTo>
                  <a:pt x="421519" y="564535"/>
                </a:lnTo>
                <a:lnTo>
                  <a:pt x="406718" y="571238"/>
                </a:lnTo>
                <a:lnTo>
                  <a:pt x="338592" y="556293"/>
                </a:lnTo>
                <a:lnTo>
                  <a:pt x="295935" y="560583"/>
                </a:lnTo>
                <a:lnTo>
                  <a:pt x="280062" y="488454"/>
                </a:lnTo>
                <a:lnTo>
                  <a:pt x="260834" y="463722"/>
                </a:lnTo>
                <a:lnTo>
                  <a:pt x="249432" y="449057"/>
                </a:lnTo>
                <a:lnTo>
                  <a:pt x="193854" y="439163"/>
                </a:lnTo>
                <a:lnTo>
                  <a:pt x="161680" y="423239"/>
                </a:lnTo>
                <a:lnTo>
                  <a:pt x="125651" y="414313"/>
                </a:lnTo>
                <a:lnTo>
                  <a:pt x="103053" y="405431"/>
                </a:lnTo>
                <a:lnTo>
                  <a:pt x="79370" y="391930"/>
                </a:lnTo>
                <a:lnTo>
                  <a:pt x="79370" y="391930"/>
                </a:lnTo>
                <a:lnTo>
                  <a:pt x="48755" y="325104"/>
                </a:lnTo>
                <a:lnTo>
                  <a:pt x="15875" y="295406"/>
                </a:lnTo>
                <a:lnTo>
                  <a:pt x="4535" y="264645"/>
                </a:lnTo>
                <a:lnTo>
                  <a:pt x="10204" y="237066"/>
                </a:lnTo>
                <a:lnTo>
                  <a:pt x="0" y="188274"/>
                </a:lnTo>
                <a:lnTo>
                  <a:pt x="23443" y="185749"/>
                </a:lnTo>
                <a:lnTo>
                  <a:pt x="44011" y="166536"/>
                </a:lnTo>
                <a:lnTo>
                  <a:pt x="66077" y="138876"/>
                </a:lnTo>
                <a:lnTo>
                  <a:pt x="80063" y="127778"/>
                </a:lnTo>
                <a:lnTo>
                  <a:pt x="79540" y="110541"/>
                </a:lnTo>
                <a:lnTo>
                  <a:pt x="67331" y="98519"/>
                </a:lnTo>
                <a:lnTo>
                  <a:pt x="64044" y="77635"/>
                </a:lnTo>
                <a:lnTo>
                  <a:pt x="64044" y="77634"/>
                </a:lnTo>
                <a:lnTo>
                  <a:pt x="80408" y="70921"/>
                </a:lnTo>
                <a:lnTo>
                  <a:pt x="83686" y="39718"/>
                </a:lnTo>
                <a:lnTo>
                  <a:pt x="61177" y="9793"/>
                </a:lnTo>
                <a:lnTo>
                  <a:pt x="81062" y="3423"/>
                </a:lnTo>
                <a:lnTo>
                  <a:pt x="143215" y="4102"/>
                </a:lnTo>
                <a:lnTo>
                  <a:pt x="258729" y="0"/>
                </a:lnTo>
                <a:close/>
              </a:path>
            </a:pathLst>
          </a:custGeom>
          <a:solidFill>
            <a:srgbClr val="536598"/>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frica overview: Western Sahara"/>
          <p:cNvSpPr/>
          <p:nvPr/>
        </p:nvSpPr>
        <p:spPr>
          <a:xfrm>
            <a:off x="921777" y="2514533"/>
            <a:ext cx="476123" cy="353038"/>
          </a:xfrm>
          <a:custGeom>
            <a:avLst/>
            <a:gdLst/>
            <a:ahLst/>
            <a:cxnLst/>
            <a:rect l="l" t="t" r="r" b="b"/>
            <a:pathLst>
              <a:path w="476123" h="353038">
                <a:moveTo>
                  <a:pt x="476096" y="0"/>
                </a:moveTo>
                <a:lnTo>
                  <a:pt x="476123" y="3551"/>
                </a:lnTo>
                <a:lnTo>
                  <a:pt x="475030" y="13825"/>
                </a:lnTo>
                <a:lnTo>
                  <a:pt x="474866" y="94157"/>
                </a:lnTo>
                <a:lnTo>
                  <a:pt x="288793" y="91384"/>
                </a:lnTo>
                <a:lnTo>
                  <a:pt x="290618" y="227088"/>
                </a:lnTo>
                <a:lnTo>
                  <a:pt x="237497" y="231848"/>
                </a:lnTo>
                <a:lnTo>
                  <a:pt x="223634" y="259088"/>
                </a:lnTo>
                <a:lnTo>
                  <a:pt x="234386" y="335679"/>
                </a:lnTo>
                <a:lnTo>
                  <a:pt x="12372" y="335347"/>
                </a:lnTo>
                <a:lnTo>
                  <a:pt x="0" y="353038"/>
                </a:lnTo>
                <a:lnTo>
                  <a:pt x="2437" y="330628"/>
                </a:lnTo>
                <a:lnTo>
                  <a:pt x="3427" y="330711"/>
                </a:lnTo>
                <a:lnTo>
                  <a:pt x="131100" y="326475"/>
                </a:lnTo>
                <a:lnTo>
                  <a:pt x="137910" y="307365"/>
                </a:lnTo>
                <a:lnTo>
                  <a:pt x="161135" y="283540"/>
                </a:lnTo>
                <a:lnTo>
                  <a:pt x="179847" y="210307"/>
                </a:lnTo>
                <a:lnTo>
                  <a:pt x="258658" y="153076"/>
                </a:lnTo>
                <a:lnTo>
                  <a:pt x="285315" y="86212"/>
                </a:lnTo>
                <a:lnTo>
                  <a:pt x="303034" y="82328"/>
                </a:lnTo>
                <a:lnTo>
                  <a:pt x="321497" y="40996"/>
                </a:lnTo>
                <a:lnTo>
                  <a:pt x="369192" y="35301"/>
                </a:lnTo>
                <a:lnTo>
                  <a:pt x="389706" y="42189"/>
                </a:lnTo>
                <a:lnTo>
                  <a:pt x="415449" y="42189"/>
                </a:lnTo>
                <a:lnTo>
                  <a:pt x="433721" y="30121"/>
                </a:lnTo>
                <a:lnTo>
                  <a:pt x="468766" y="28413"/>
                </a:lnTo>
                <a:lnTo>
                  <a:pt x="467466" y="0"/>
                </a:lnTo>
                <a:lnTo>
                  <a:pt x="476096" y="0"/>
                </a:lnTo>
                <a:close/>
              </a:path>
            </a:pathLst>
          </a:custGeom>
          <a:solidFill>
            <a:srgbClr val="CED3E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frica overview: Democratic Republic of the Congo"/>
          <p:cNvSpPr/>
          <p:nvPr/>
        </p:nvSpPr>
        <p:spPr>
          <a:xfrm>
            <a:off x="2579801" y="3702539"/>
            <a:ext cx="1076699" cy="981858"/>
          </a:xfrm>
          <a:custGeom>
            <a:avLst/>
            <a:gdLst/>
            <a:ahLst/>
            <a:cxnLst/>
            <a:rect l="l" t="t" r="r" b="b"/>
            <a:pathLst>
              <a:path w="1076699" h="981858">
                <a:moveTo>
                  <a:pt x="972716" y="517416"/>
                </a:moveTo>
                <a:lnTo>
                  <a:pt x="982920" y="566208"/>
                </a:lnTo>
                <a:lnTo>
                  <a:pt x="977251" y="593787"/>
                </a:lnTo>
                <a:lnTo>
                  <a:pt x="988591" y="624548"/>
                </a:lnTo>
                <a:lnTo>
                  <a:pt x="1021471" y="654246"/>
                </a:lnTo>
                <a:lnTo>
                  <a:pt x="1052086" y="721072"/>
                </a:lnTo>
                <a:lnTo>
                  <a:pt x="1052086" y="721072"/>
                </a:lnTo>
                <a:lnTo>
                  <a:pt x="1029753" y="715676"/>
                </a:lnTo>
                <a:lnTo>
                  <a:pt x="953605" y="724627"/>
                </a:lnTo>
                <a:lnTo>
                  <a:pt x="938409" y="730966"/>
                </a:lnTo>
                <a:lnTo>
                  <a:pt x="922252" y="764821"/>
                </a:lnTo>
                <a:lnTo>
                  <a:pt x="934940" y="788210"/>
                </a:lnTo>
                <a:lnTo>
                  <a:pt x="924871" y="851002"/>
                </a:lnTo>
                <a:lnTo>
                  <a:pt x="917851" y="904237"/>
                </a:lnTo>
                <a:lnTo>
                  <a:pt x="933168" y="913673"/>
                </a:lnTo>
                <a:lnTo>
                  <a:pt x="972803" y="934313"/>
                </a:lnTo>
                <a:lnTo>
                  <a:pt x="988363" y="924668"/>
                </a:lnTo>
                <a:lnTo>
                  <a:pt x="993103" y="981858"/>
                </a:lnTo>
                <a:lnTo>
                  <a:pt x="949715" y="981419"/>
                </a:lnTo>
                <a:lnTo>
                  <a:pt x="926429" y="952231"/>
                </a:lnTo>
                <a:lnTo>
                  <a:pt x="905541" y="929632"/>
                </a:lnTo>
                <a:lnTo>
                  <a:pt x="862097" y="922221"/>
                </a:lnTo>
                <a:lnTo>
                  <a:pt x="849376" y="894430"/>
                </a:lnTo>
                <a:lnTo>
                  <a:pt x="814718" y="911173"/>
                </a:lnTo>
                <a:lnTo>
                  <a:pt x="769319" y="903776"/>
                </a:lnTo>
                <a:lnTo>
                  <a:pt x="750373" y="879697"/>
                </a:lnTo>
                <a:lnTo>
                  <a:pt x="714376" y="874804"/>
                </a:lnTo>
                <a:lnTo>
                  <a:pt x="687807" y="876084"/>
                </a:lnTo>
                <a:lnTo>
                  <a:pt x="684555" y="859599"/>
                </a:lnTo>
                <a:lnTo>
                  <a:pt x="664999" y="858265"/>
                </a:lnTo>
                <a:lnTo>
                  <a:pt x="639180" y="855137"/>
                </a:lnTo>
                <a:lnTo>
                  <a:pt x="604062" y="863080"/>
                </a:lnTo>
                <a:lnTo>
                  <a:pt x="579426" y="861778"/>
                </a:lnTo>
                <a:lnTo>
                  <a:pt x="565393" y="866643"/>
                </a:lnTo>
                <a:lnTo>
                  <a:pt x="568425" y="803531"/>
                </a:lnTo>
                <a:lnTo>
                  <a:pt x="549514" y="783850"/>
                </a:lnTo>
                <a:lnTo>
                  <a:pt x="545354" y="751233"/>
                </a:lnTo>
                <a:lnTo>
                  <a:pt x="553707" y="719263"/>
                </a:lnTo>
                <a:lnTo>
                  <a:pt x="542216" y="698801"/>
                </a:lnTo>
                <a:lnTo>
                  <a:pt x="541176" y="665431"/>
                </a:lnTo>
                <a:lnTo>
                  <a:pt x="472387" y="665894"/>
                </a:lnTo>
                <a:lnTo>
                  <a:pt x="477324" y="646786"/>
                </a:lnTo>
                <a:lnTo>
                  <a:pt x="448399" y="646986"/>
                </a:lnTo>
                <a:lnTo>
                  <a:pt x="445344" y="656176"/>
                </a:lnTo>
                <a:lnTo>
                  <a:pt x="410181" y="658248"/>
                </a:lnTo>
                <a:lnTo>
                  <a:pt x="395958" y="689154"/>
                </a:lnTo>
                <a:lnTo>
                  <a:pt x="387462" y="702416"/>
                </a:lnTo>
                <a:lnTo>
                  <a:pt x="356135" y="694926"/>
                </a:lnTo>
                <a:lnTo>
                  <a:pt x="337429" y="702386"/>
                </a:lnTo>
                <a:lnTo>
                  <a:pt x="299940" y="706675"/>
                </a:lnTo>
                <a:lnTo>
                  <a:pt x="278229" y="678945"/>
                </a:lnTo>
                <a:lnTo>
                  <a:pt x="265200" y="661794"/>
                </a:lnTo>
                <a:lnTo>
                  <a:pt x="248929" y="629991"/>
                </a:lnTo>
                <a:lnTo>
                  <a:pt x="234945" y="590471"/>
                </a:lnTo>
                <a:lnTo>
                  <a:pt x="67649" y="589769"/>
                </a:lnTo>
                <a:lnTo>
                  <a:pt x="47765" y="596141"/>
                </a:lnTo>
                <a:lnTo>
                  <a:pt x="31341" y="595149"/>
                </a:lnTo>
                <a:lnTo>
                  <a:pt x="7942" y="602278"/>
                </a:lnTo>
                <a:lnTo>
                  <a:pt x="0" y="585828"/>
                </a:lnTo>
                <a:lnTo>
                  <a:pt x="14420" y="580226"/>
                </a:lnTo>
                <a:lnTo>
                  <a:pt x="16195" y="557106"/>
                </a:lnTo>
                <a:lnTo>
                  <a:pt x="25470" y="543471"/>
                </a:lnTo>
                <a:lnTo>
                  <a:pt x="46101" y="532325"/>
                </a:lnTo>
                <a:lnTo>
                  <a:pt x="60996" y="537727"/>
                </a:lnTo>
                <a:lnTo>
                  <a:pt x="80384" y="517424"/>
                </a:lnTo>
                <a:lnTo>
                  <a:pt x="111266" y="517947"/>
                </a:lnTo>
                <a:lnTo>
                  <a:pt x="114899" y="532961"/>
                </a:lnTo>
                <a:lnTo>
                  <a:pt x="136078" y="542356"/>
                </a:lnTo>
                <a:lnTo>
                  <a:pt x="169435" y="509117"/>
                </a:lnTo>
                <a:lnTo>
                  <a:pt x="202461" y="483218"/>
                </a:lnTo>
                <a:lnTo>
                  <a:pt x="216790" y="466245"/>
                </a:lnTo>
                <a:lnTo>
                  <a:pt x="214892" y="422610"/>
                </a:lnTo>
                <a:lnTo>
                  <a:pt x="239513" y="371089"/>
                </a:lnTo>
                <a:lnTo>
                  <a:pt x="265490" y="343769"/>
                </a:lnTo>
                <a:lnTo>
                  <a:pt x="302817" y="318207"/>
                </a:lnTo>
                <a:lnTo>
                  <a:pt x="309333" y="301289"/>
                </a:lnTo>
                <a:lnTo>
                  <a:pt x="310745" y="281839"/>
                </a:lnTo>
                <a:lnTo>
                  <a:pt x="319985" y="263435"/>
                </a:lnTo>
                <a:lnTo>
                  <a:pt x="317018" y="233378"/>
                </a:lnTo>
                <a:lnTo>
                  <a:pt x="324084" y="186380"/>
                </a:lnTo>
                <a:lnTo>
                  <a:pt x="335164" y="153292"/>
                </a:lnTo>
                <a:lnTo>
                  <a:pt x="352144" y="124933"/>
                </a:lnTo>
                <a:lnTo>
                  <a:pt x="355505" y="92902"/>
                </a:lnTo>
                <a:lnTo>
                  <a:pt x="360602" y="55916"/>
                </a:lnTo>
                <a:lnTo>
                  <a:pt x="382675" y="28989"/>
                </a:lnTo>
                <a:lnTo>
                  <a:pt x="413032" y="11910"/>
                </a:lnTo>
                <a:lnTo>
                  <a:pt x="459684" y="29934"/>
                </a:lnTo>
                <a:lnTo>
                  <a:pt x="495793" y="49498"/>
                </a:lnTo>
                <a:lnTo>
                  <a:pt x="537265" y="54719"/>
                </a:lnTo>
                <a:lnTo>
                  <a:pt x="579558" y="65071"/>
                </a:lnTo>
                <a:lnTo>
                  <a:pt x="596509" y="33043"/>
                </a:lnTo>
                <a:lnTo>
                  <a:pt x="604296" y="28956"/>
                </a:lnTo>
                <a:lnTo>
                  <a:pt x="630133" y="34282"/>
                </a:lnTo>
                <a:lnTo>
                  <a:pt x="693250" y="7813"/>
                </a:lnTo>
                <a:lnTo>
                  <a:pt x="715615" y="19032"/>
                </a:lnTo>
                <a:lnTo>
                  <a:pt x="733973" y="17441"/>
                </a:lnTo>
                <a:lnTo>
                  <a:pt x="742475" y="4544"/>
                </a:lnTo>
                <a:lnTo>
                  <a:pt x="763545" y="0"/>
                </a:lnTo>
                <a:lnTo>
                  <a:pt x="806195" y="5580"/>
                </a:lnTo>
                <a:lnTo>
                  <a:pt x="842553" y="6801"/>
                </a:lnTo>
                <a:lnTo>
                  <a:pt x="861270" y="1175"/>
                </a:lnTo>
                <a:lnTo>
                  <a:pt x="895612" y="44957"/>
                </a:lnTo>
                <a:lnTo>
                  <a:pt x="921068" y="51388"/>
                </a:lnTo>
                <a:lnTo>
                  <a:pt x="936244" y="42482"/>
                </a:lnTo>
                <a:lnTo>
                  <a:pt x="962459" y="45972"/>
                </a:lnTo>
                <a:lnTo>
                  <a:pt x="994032" y="34753"/>
                </a:lnTo>
                <a:lnTo>
                  <a:pt x="1007497" y="57405"/>
                </a:lnTo>
                <a:lnTo>
                  <a:pt x="1057406" y="92648"/>
                </a:lnTo>
                <a:lnTo>
                  <a:pt x="1057407" y="92649"/>
                </a:lnTo>
                <a:lnTo>
                  <a:pt x="1053976" y="154662"/>
                </a:lnTo>
                <a:lnTo>
                  <a:pt x="1076699" y="161844"/>
                </a:lnTo>
                <a:lnTo>
                  <a:pt x="1058473" y="180675"/>
                </a:lnTo>
                <a:lnTo>
                  <a:pt x="1036694" y="194761"/>
                </a:lnTo>
                <a:lnTo>
                  <a:pt x="1015017" y="222418"/>
                </a:lnTo>
                <a:lnTo>
                  <a:pt x="1003090" y="247076"/>
                </a:lnTo>
                <a:lnTo>
                  <a:pt x="999900" y="289647"/>
                </a:lnTo>
                <a:lnTo>
                  <a:pt x="986766" y="309911"/>
                </a:lnTo>
                <a:lnTo>
                  <a:pt x="986292" y="349895"/>
                </a:lnTo>
                <a:lnTo>
                  <a:pt x="969988" y="364678"/>
                </a:lnTo>
                <a:lnTo>
                  <a:pt x="967887" y="396237"/>
                </a:lnTo>
                <a:lnTo>
                  <a:pt x="960100" y="400326"/>
                </a:lnTo>
                <a:lnTo>
                  <a:pt x="954853" y="429339"/>
                </a:lnTo>
                <a:lnTo>
                  <a:pt x="969109" y="453451"/>
                </a:lnTo>
                <a:lnTo>
                  <a:pt x="972716" y="517416"/>
                </a:lnTo>
                <a:close/>
              </a:path>
            </a:pathLst>
          </a:custGeom>
          <a:solidFill>
            <a:srgbClr val="536598"/>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frica overview: Somalia"/>
          <p:cNvSpPr/>
          <p:nvPr/>
        </p:nvSpPr>
        <p:spPr>
          <a:xfrm>
            <a:off x="4212480" y="3343568"/>
            <a:ext cx="575592" cy="727001"/>
          </a:xfrm>
          <a:custGeom>
            <a:avLst/>
            <a:gdLst/>
            <a:ahLst/>
            <a:cxnLst/>
            <a:rect l="l" t="t" r="r" b="b"/>
            <a:pathLst>
              <a:path w="575592" h="727001">
                <a:moveTo>
                  <a:pt x="34247" y="727001"/>
                </a:moveTo>
                <a:lnTo>
                  <a:pt x="678" y="683249"/>
                </a:lnTo>
                <a:lnTo>
                  <a:pt x="0" y="490052"/>
                </a:lnTo>
                <a:lnTo>
                  <a:pt x="49552" y="429889"/>
                </a:lnTo>
                <a:lnTo>
                  <a:pt x="65059" y="413171"/>
                </a:lnTo>
                <a:lnTo>
                  <a:pt x="101402" y="412192"/>
                </a:lnTo>
                <a:lnTo>
                  <a:pt x="151927" y="374804"/>
                </a:lnTo>
                <a:lnTo>
                  <a:pt x="225782" y="372467"/>
                </a:lnTo>
                <a:lnTo>
                  <a:pt x="385986" y="213288"/>
                </a:lnTo>
                <a:lnTo>
                  <a:pt x="425519" y="169024"/>
                </a:lnTo>
                <a:lnTo>
                  <a:pt x="451110" y="136454"/>
                </a:lnTo>
                <a:lnTo>
                  <a:pt x="451115" y="108783"/>
                </a:lnTo>
                <a:lnTo>
                  <a:pt x="451130" y="55279"/>
                </a:lnTo>
                <a:lnTo>
                  <a:pt x="451329" y="33432"/>
                </a:lnTo>
                <a:lnTo>
                  <a:pt x="451681" y="32565"/>
                </a:lnTo>
                <a:lnTo>
                  <a:pt x="451681" y="32565"/>
                </a:lnTo>
                <a:lnTo>
                  <a:pt x="469797" y="31519"/>
                </a:lnTo>
                <a:lnTo>
                  <a:pt x="495925" y="23640"/>
                </a:lnTo>
                <a:lnTo>
                  <a:pt x="525981" y="18301"/>
                </a:lnTo>
                <a:lnTo>
                  <a:pt x="552810" y="145"/>
                </a:lnTo>
                <a:lnTo>
                  <a:pt x="574307" y="0"/>
                </a:lnTo>
                <a:lnTo>
                  <a:pt x="575592" y="14664"/>
                </a:lnTo>
                <a:lnTo>
                  <a:pt x="570357" y="45511"/>
                </a:lnTo>
                <a:lnTo>
                  <a:pt x="570571" y="73387"/>
                </a:lnTo>
                <a:lnTo>
                  <a:pt x="558602" y="92542"/>
                </a:lnTo>
                <a:lnTo>
                  <a:pt x="542626" y="149872"/>
                </a:lnTo>
                <a:lnTo>
                  <a:pt x="515331" y="209113"/>
                </a:lnTo>
                <a:lnTo>
                  <a:pt x="480282" y="276843"/>
                </a:lnTo>
                <a:lnTo>
                  <a:pt x="431631" y="354568"/>
                </a:lnTo>
                <a:lnTo>
                  <a:pt x="383229" y="413952"/>
                </a:lnTo>
                <a:lnTo>
                  <a:pt x="316557" y="486298"/>
                </a:lnTo>
                <a:lnTo>
                  <a:pt x="259820" y="529232"/>
                </a:lnTo>
                <a:lnTo>
                  <a:pt x="175017" y="581892"/>
                </a:lnTo>
                <a:lnTo>
                  <a:pt x="122169" y="622232"/>
                </a:lnTo>
                <a:lnTo>
                  <a:pt x="60124" y="686477"/>
                </a:lnTo>
                <a:lnTo>
                  <a:pt x="47050" y="714443"/>
                </a:lnTo>
                <a:lnTo>
                  <a:pt x="34247" y="727001"/>
                </a:lnTo>
                <a:close/>
              </a:path>
            </a:pathLst>
          </a:custGeom>
          <a:solidFill>
            <a:srgbClr val="8491B2"/>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frica overview: Kenya"/>
          <p:cNvSpPr/>
          <p:nvPr/>
        </p:nvSpPr>
        <p:spPr>
          <a:xfrm>
            <a:off x="3810671" y="3689285"/>
            <a:ext cx="451361" cy="540046"/>
          </a:xfrm>
          <a:custGeom>
            <a:avLst/>
            <a:gdLst/>
            <a:ahLst/>
            <a:cxnLst/>
            <a:rect l="l" t="t" r="r" b="b"/>
            <a:pathLst>
              <a:path w="451361" h="540046">
                <a:moveTo>
                  <a:pt x="300963" y="540046"/>
                </a:moveTo>
                <a:lnTo>
                  <a:pt x="219590" y="487029"/>
                </a:lnTo>
                <a:lnTo>
                  <a:pt x="215723" y="456262"/>
                </a:lnTo>
                <a:lnTo>
                  <a:pt x="10151" y="348220"/>
                </a:lnTo>
                <a:lnTo>
                  <a:pt x="575" y="342396"/>
                </a:lnTo>
                <a:lnTo>
                  <a:pt x="0" y="286188"/>
                </a:lnTo>
                <a:lnTo>
                  <a:pt x="16239" y="264699"/>
                </a:lnTo>
                <a:lnTo>
                  <a:pt x="44137" y="229593"/>
                </a:lnTo>
                <a:lnTo>
                  <a:pt x="64767" y="190935"/>
                </a:lnTo>
                <a:lnTo>
                  <a:pt x="39827" y="130056"/>
                </a:lnTo>
                <a:lnTo>
                  <a:pt x="33197" y="103440"/>
                </a:lnTo>
                <a:lnTo>
                  <a:pt x="6318" y="66619"/>
                </a:lnTo>
                <a:lnTo>
                  <a:pt x="41195" y="34944"/>
                </a:lnTo>
                <a:lnTo>
                  <a:pt x="79622" y="0"/>
                </a:lnTo>
                <a:lnTo>
                  <a:pt x="109070" y="8898"/>
                </a:lnTo>
                <a:lnTo>
                  <a:pt x="109070" y="38665"/>
                </a:lnTo>
                <a:lnTo>
                  <a:pt x="128438" y="56119"/>
                </a:lnTo>
                <a:lnTo>
                  <a:pt x="167897" y="56119"/>
                </a:lnTo>
                <a:lnTo>
                  <a:pt x="239660" y="101159"/>
                </a:lnTo>
                <a:lnTo>
                  <a:pt x="257578" y="101695"/>
                </a:lnTo>
                <a:lnTo>
                  <a:pt x="270854" y="100233"/>
                </a:lnTo>
                <a:lnTo>
                  <a:pt x="283404" y="106350"/>
                </a:lnTo>
                <a:lnTo>
                  <a:pt x="321211" y="110522"/>
                </a:lnTo>
                <a:lnTo>
                  <a:pt x="337967" y="88421"/>
                </a:lnTo>
                <a:lnTo>
                  <a:pt x="389758" y="66240"/>
                </a:lnTo>
                <a:lnTo>
                  <a:pt x="412624" y="84162"/>
                </a:lnTo>
                <a:lnTo>
                  <a:pt x="451361" y="84172"/>
                </a:lnTo>
                <a:lnTo>
                  <a:pt x="401809" y="144335"/>
                </a:lnTo>
                <a:lnTo>
                  <a:pt x="402487" y="337532"/>
                </a:lnTo>
                <a:lnTo>
                  <a:pt x="436056" y="381284"/>
                </a:lnTo>
                <a:lnTo>
                  <a:pt x="396351" y="402461"/>
                </a:lnTo>
                <a:lnTo>
                  <a:pt x="382352" y="424589"/>
                </a:lnTo>
                <a:lnTo>
                  <a:pt x="361103" y="428476"/>
                </a:lnTo>
                <a:lnTo>
                  <a:pt x="353062" y="465845"/>
                </a:lnTo>
                <a:lnTo>
                  <a:pt x="334856" y="487243"/>
                </a:lnTo>
                <a:lnTo>
                  <a:pt x="323791" y="522531"/>
                </a:lnTo>
                <a:lnTo>
                  <a:pt x="300963" y="540046"/>
                </a:lnTo>
                <a:close/>
              </a:path>
            </a:pathLst>
          </a:custGeom>
          <a:solidFill>
            <a:srgbClr val="8491B2"/>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frica overview: Sudan"/>
          <p:cNvSpPr/>
          <p:nvPr/>
        </p:nvSpPr>
        <p:spPr>
          <a:xfrm>
            <a:off x="3132809" y="2814523"/>
            <a:ext cx="933916" cy="730337"/>
          </a:xfrm>
          <a:custGeom>
            <a:avLst/>
            <a:gdLst/>
            <a:ahLst/>
            <a:cxnLst/>
            <a:rect l="l" t="t" r="r" b="b"/>
            <a:pathLst>
              <a:path w="933916" h="730337">
                <a:moveTo>
                  <a:pt x="149134" y="730337"/>
                </a:moveTo>
                <a:lnTo>
                  <a:pt x="105959" y="707154"/>
                </a:lnTo>
                <a:lnTo>
                  <a:pt x="86298" y="691882"/>
                </a:lnTo>
                <a:lnTo>
                  <a:pt x="82656" y="675399"/>
                </a:lnTo>
                <a:lnTo>
                  <a:pt x="91867" y="653329"/>
                </a:lnTo>
                <a:lnTo>
                  <a:pt x="91700" y="631688"/>
                </a:lnTo>
                <a:lnTo>
                  <a:pt x="59002" y="598530"/>
                </a:lnTo>
                <a:lnTo>
                  <a:pt x="52574" y="575835"/>
                </a:lnTo>
                <a:lnTo>
                  <a:pt x="53258" y="562989"/>
                </a:lnTo>
                <a:lnTo>
                  <a:pt x="32422" y="547357"/>
                </a:lnTo>
                <a:lnTo>
                  <a:pt x="31794" y="516550"/>
                </a:lnTo>
                <a:lnTo>
                  <a:pt x="19911" y="496088"/>
                </a:lnTo>
                <a:lnTo>
                  <a:pt x="0" y="499157"/>
                </a:lnTo>
                <a:lnTo>
                  <a:pt x="5714" y="479679"/>
                </a:lnTo>
                <a:lnTo>
                  <a:pt x="20396" y="457570"/>
                </a:lnTo>
                <a:lnTo>
                  <a:pt x="13974" y="435605"/>
                </a:lnTo>
                <a:lnTo>
                  <a:pt x="32610" y="419339"/>
                </a:lnTo>
                <a:lnTo>
                  <a:pt x="20789" y="406948"/>
                </a:lnTo>
                <a:lnTo>
                  <a:pt x="35781" y="374201"/>
                </a:lnTo>
                <a:lnTo>
                  <a:pt x="61669" y="335144"/>
                </a:lnTo>
                <a:lnTo>
                  <a:pt x="110556" y="338850"/>
                </a:lnTo>
                <a:lnTo>
                  <a:pt x="107765" y="128320"/>
                </a:lnTo>
                <a:lnTo>
                  <a:pt x="108464" y="106070"/>
                </a:lnTo>
                <a:lnTo>
                  <a:pt x="173661" y="105909"/>
                </a:lnTo>
                <a:lnTo>
                  <a:pt x="173661" y="0"/>
                </a:lnTo>
                <a:lnTo>
                  <a:pt x="401566" y="0"/>
                </a:lnTo>
                <a:lnTo>
                  <a:pt x="621534" y="0"/>
                </a:lnTo>
                <a:lnTo>
                  <a:pt x="846391" y="0"/>
                </a:lnTo>
                <a:lnTo>
                  <a:pt x="864674" y="52035"/>
                </a:lnTo>
                <a:lnTo>
                  <a:pt x="852240" y="61656"/>
                </a:lnTo>
                <a:lnTo>
                  <a:pt x="860477" y="116255"/>
                </a:lnTo>
                <a:lnTo>
                  <a:pt x="881289" y="179572"/>
                </a:lnTo>
                <a:lnTo>
                  <a:pt x="902887" y="192631"/>
                </a:lnTo>
                <a:lnTo>
                  <a:pt x="933916" y="212230"/>
                </a:lnTo>
                <a:lnTo>
                  <a:pt x="905225" y="242501"/>
                </a:lnTo>
                <a:lnTo>
                  <a:pt x="863469" y="251220"/>
                </a:lnTo>
                <a:lnTo>
                  <a:pt x="845614" y="267480"/>
                </a:lnTo>
                <a:lnTo>
                  <a:pt x="840022" y="302732"/>
                </a:lnTo>
                <a:lnTo>
                  <a:pt x="815606" y="380660"/>
                </a:lnTo>
                <a:lnTo>
                  <a:pt x="821632" y="401895"/>
                </a:lnTo>
                <a:lnTo>
                  <a:pt x="812601" y="447440"/>
                </a:lnTo>
                <a:lnTo>
                  <a:pt x="789551" y="499683"/>
                </a:lnTo>
                <a:lnTo>
                  <a:pt x="755357" y="525957"/>
                </a:lnTo>
                <a:lnTo>
                  <a:pt x="731044" y="566471"/>
                </a:lnTo>
                <a:lnTo>
                  <a:pt x="725347" y="588151"/>
                </a:lnTo>
                <a:lnTo>
                  <a:pt x="698492" y="603005"/>
                </a:lnTo>
                <a:lnTo>
                  <a:pt x="681720" y="658507"/>
                </a:lnTo>
                <a:lnTo>
                  <a:pt x="682478" y="706187"/>
                </a:lnTo>
                <a:lnTo>
                  <a:pt x="681821" y="664834"/>
                </a:lnTo>
                <a:lnTo>
                  <a:pt x="673973" y="663785"/>
                </a:lnTo>
                <a:lnTo>
                  <a:pt x="674946" y="637381"/>
                </a:lnTo>
                <a:lnTo>
                  <a:pt x="668133" y="619172"/>
                </a:lnTo>
                <a:lnTo>
                  <a:pt x="638935" y="598231"/>
                </a:lnTo>
                <a:lnTo>
                  <a:pt x="632122" y="559991"/>
                </a:lnTo>
                <a:lnTo>
                  <a:pt x="638935" y="520840"/>
                </a:lnTo>
                <a:lnTo>
                  <a:pt x="612657" y="517199"/>
                </a:lnTo>
                <a:lnTo>
                  <a:pt x="608764" y="529035"/>
                </a:lnTo>
                <a:lnTo>
                  <a:pt x="574700" y="531766"/>
                </a:lnTo>
                <a:lnTo>
                  <a:pt x="588325" y="547244"/>
                </a:lnTo>
                <a:lnTo>
                  <a:pt x="593192" y="579111"/>
                </a:lnTo>
                <a:lnTo>
                  <a:pt x="562047" y="608246"/>
                </a:lnTo>
                <a:lnTo>
                  <a:pt x="533822" y="646486"/>
                </a:lnTo>
                <a:lnTo>
                  <a:pt x="504624" y="651949"/>
                </a:lnTo>
                <a:lnTo>
                  <a:pt x="456934" y="620993"/>
                </a:lnTo>
                <a:lnTo>
                  <a:pt x="435523" y="631918"/>
                </a:lnTo>
                <a:lnTo>
                  <a:pt x="429683" y="647396"/>
                </a:lnTo>
                <a:lnTo>
                  <a:pt x="400485" y="657412"/>
                </a:lnTo>
                <a:lnTo>
                  <a:pt x="398538" y="668337"/>
                </a:lnTo>
                <a:lnTo>
                  <a:pt x="342089" y="668337"/>
                </a:lnTo>
                <a:lnTo>
                  <a:pt x="334303" y="657412"/>
                </a:lnTo>
                <a:lnTo>
                  <a:pt x="293426" y="655591"/>
                </a:lnTo>
                <a:lnTo>
                  <a:pt x="272987" y="664696"/>
                </a:lnTo>
                <a:lnTo>
                  <a:pt x="257415" y="660143"/>
                </a:lnTo>
                <a:lnTo>
                  <a:pt x="228217" y="629187"/>
                </a:lnTo>
                <a:lnTo>
                  <a:pt x="218484" y="614619"/>
                </a:lnTo>
                <a:lnTo>
                  <a:pt x="177607" y="621903"/>
                </a:lnTo>
                <a:lnTo>
                  <a:pt x="162035" y="646486"/>
                </a:lnTo>
                <a:lnTo>
                  <a:pt x="147436" y="693831"/>
                </a:lnTo>
                <a:lnTo>
                  <a:pt x="127970" y="703846"/>
                </a:lnTo>
                <a:lnTo>
                  <a:pt x="110561" y="709625"/>
                </a:lnTo>
                <a:lnTo>
                  <a:pt x="149134" y="730337"/>
                </a:lnTo>
                <a:close/>
              </a:path>
            </a:pathLst>
          </a:custGeom>
          <a:solidFill>
            <a:srgbClr val="CED3E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frica overview: Chad"/>
          <p:cNvSpPr/>
          <p:nvPr/>
        </p:nvSpPr>
        <p:spPr>
          <a:xfrm>
            <a:off x="2656793" y="2739758"/>
            <a:ext cx="586572" cy="847916"/>
          </a:xfrm>
          <a:custGeom>
            <a:avLst/>
            <a:gdLst/>
            <a:ahLst/>
            <a:cxnLst/>
            <a:rect l="l" t="t" r="r" b="b"/>
            <a:pathLst>
              <a:path w="586572" h="847916">
                <a:moveTo>
                  <a:pt x="583781" y="203085"/>
                </a:moveTo>
                <a:lnTo>
                  <a:pt x="586572" y="413615"/>
                </a:lnTo>
                <a:lnTo>
                  <a:pt x="537685" y="409909"/>
                </a:lnTo>
                <a:lnTo>
                  <a:pt x="511797" y="448966"/>
                </a:lnTo>
                <a:lnTo>
                  <a:pt x="496805" y="481713"/>
                </a:lnTo>
                <a:lnTo>
                  <a:pt x="508626" y="494104"/>
                </a:lnTo>
                <a:lnTo>
                  <a:pt x="489990" y="510370"/>
                </a:lnTo>
                <a:lnTo>
                  <a:pt x="496412" y="532335"/>
                </a:lnTo>
                <a:lnTo>
                  <a:pt x="481730" y="554444"/>
                </a:lnTo>
                <a:lnTo>
                  <a:pt x="476016" y="573922"/>
                </a:lnTo>
                <a:lnTo>
                  <a:pt x="495927" y="570853"/>
                </a:lnTo>
                <a:lnTo>
                  <a:pt x="507810" y="591315"/>
                </a:lnTo>
                <a:lnTo>
                  <a:pt x="508438" y="622122"/>
                </a:lnTo>
                <a:lnTo>
                  <a:pt x="529274" y="637754"/>
                </a:lnTo>
                <a:lnTo>
                  <a:pt x="528590" y="650600"/>
                </a:lnTo>
                <a:lnTo>
                  <a:pt x="492702" y="659643"/>
                </a:lnTo>
                <a:lnTo>
                  <a:pt x="463941" y="681113"/>
                </a:lnTo>
                <a:lnTo>
                  <a:pt x="422955" y="738978"/>
                </a:lnTo>
                <a:lnTo>
                  <a:pt x="369597" y="763548"/>
                </a:lnTo>
                <a:lnTo>
                  <a:pt x="314850" y="760253"/>
                </a:lnTo>
                <a:lnTo>
                  <a:pt x="298862" y="765128"/>
                </a:lnTo>
                <a:lnTo>
                  <a:pt x="304476" y="783798"/>
                </a:lnTo>
                <a:lnTo>
                  <a:pt x="274912" y="802338"/>
                </a:lnTo>
                <a:lnTo>
                  <a:pt x="250839" y="823043"/>
                </a:lnTo>
                <a:lnTo>
                  <a:pt x="179466" y="843333"/>
                </a:lnTo>
                <a:lnTo>
                  <a:pt x="165304" y="831324"/>
                </a:lnTo>
                <a:lnTo>
                  <a:pt x="155914" y="830288"/>
                </a:lnTo>
                <a:lnTo>
                  <a:pt x="145464" y="843930"/>
                </a:lnTo>
                <a:lnTo>
                  <a:pt x="98592" y="847916"/>
                </a:lnTo>
                <a:lnTo>
                  <a:pt x="107472" y="833549"/>
                </a:lnTo>
                <a:lnTo>
                  <a:pt x="89601" y="796990"/>
                </a:lnTo>
                <a:lnTo>
                  <a:pt x="81615" y="775036"/>
                </a:lnTo>
                <a:lnTo>
                  <a:pt x="56923" y="766033"/>
                </a:lnTo>
                <a:lnTo>
                  <a:pt x="23461" y="735080"/>
                </a:lnTo>
                <a:lnTo>
                  <a:pt x="35777" y="710053"/>
                </a:lnTo>
                <a:lnTo>
                  <a:pt x="61614" y="715381"/>
                </a:lnTo>
                <a:lnTo>
                  <a:pt x="77610" y="711605"/>
                </a:lnTo>
                <a:lnTo>
                  <a:pt x="109274" y="712124"/>
                </a:lnTo>
                <a:lnTo>
                  <a:pt x="78416" y="663916"/>
                </a:lnTo>
                <a:lnTo>
                  <a:pt x="80490" y="628687"/>
                </a:lnTo>
                <a:lnTo>
                  <a:pt x="76703" y="593499"/>
                </a:lnTo>
                <a:lnTo>
                  <a:pt x="54164" y="559538"/>
                </a:lnTo>
                <a:lnTo>
                  <a:pt x="59833" y="534557"/>
                </a:lnTo>
                <a:lnTo>
                  <a:pt x="23475" y="533336"/>
                </a:lnTo>
                <a:lnTo>
                  <a:pt x="23601" y="499222"/>
                </a:lnTo>
                <a:lnTo>
                  <a:pt x="0" y="479575"/>
                </a:lnTo>
                <a:lnTo>
                  <a:pt x="24478" y="409715"/>
                </a:lnTo>
                <a:lnTo>
                  <a:pt x="96793" y="359707"/>
                </a:lnTo>
                <a:lnTo>
                  <a:pt x="99782" y="290727"/>
                </a:lnTo>
                <a:lnTo>
                  <a:pt x="121625" y="183106"/>
                </a:lnTo>
                <a:lnTo>
                  <a:pt x="133957" y="160278"/>
                </a:lnTo>
                <a:lnTo>
                  <a:pt x="110367" y="142097"/>
                </a:lnTo>
                <a:lnTo>
                  <a:pt x="109455" y="125230"/>
                </a:lnTo>
                <a:lnTo>
                  <a:pt x="88242" y="111438"/>
                </a:lnTo>
                <a:lnTo>
                  <a:pt x="74319" y="28998"/>
                </a:lnTo>
                <a:lnTo>
                  <a:pt x="131553" y="0"/>
                </a:lnTo>
                <a:lnTo>
                  <a:pt x="357667" y="101543"/>
                </a:lnTo>
                <a:lnTo>
                  <a:pt x="583781" y="203085"/>
                </a:lnTo>
                <a:close/>
              </a:path>
            </a:pathLst>
          </a:custGeom>
          <a:solidFill>
            <a:srgbClr val="BFC7D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frica overview: South Africa"/>
          <p:cNvSpPr/>
          <p:nvPr/>
        </p:nvSpPr>
        <p:spPr>
          <a:xfrm>
            <a:off x="2815792" y="5152914"/>
            <a:ext cx="934589" cy="675025"/>
          </a:xfrm>
          <a:custGeom>
            <a:avLst/>
            <a:gdLst/>
            <a:ahLst/>
            <a:cxnLst/>
            <a:rect l="l" t="t" r="r" b="b"/>
            <a:pathLst>
              <a:path w="934589" h="675025">
                <a:moveTo>
                  <a:pt x="0" y="343954"/>
                </a:moveTo>
                <a:lnTo>
                  <a:pt x="27159" y="317726"/>
                </a:lnTo>
                <a:lnTo>
                  <a:pt x="49547" y="332246"/>
                </a:lnTo>
                <a:lnTo>
                  <a:pt x="59104" y="354923"/>
                </a:lnTo>
                <a:lnTo>
                  <a:pt x="84539" y="358787"/>
                </a:lnTo>
                <a:lnTo>
                  <a:pt x="120185" y="368815"/>
                </a:lnTo>
                <a:lnTo>
                  <a:pt x="150642" y="364942"/>
                </a:lnTo>
                <a:lnTo>
                  <a:pt x="201246" y="337823"/>
                </a:lnTo>
                <a:lnTo>
                  <a:pt x="201305" y="141948"/>
                </a:lnTo>
                <a:lnTo>
                  <a:pt x="216609" y="149912"/>
                </a:lnTo>
                <a:lnTo>
                  <a:pt x="250222" y="200305"/>
                </a:lnTo>
                <a:lnTo>
                  <a:pt x="244998" y="232620"/>
                </a:lnTo>
                <a:lnTo>
                  <a:pt x="257648" y="251240"/>
                </a:lnTo>
                <a:lnTo>
                  <a:pt x="298257" y="245830"/>
                </a:lnTo>
                <a:lnTo>
                  <a:pt x="326607" y="222162"/>
                </a:lnTo>
                <a:lnTo>
                  <a:pt x="353455" y="206208"/>
                </a:lnTo>
                <a:lnTo>
                  <a:pt x="367330" y="180805"/>
                </a:lnTo>
                <a:lnTo>
                  <a:pt x="394986" y="168513"/>
                </a:lnTo>
                <a:lnTo>
                  <a:pt x="418880" y="174954"/>
                </a:lnTo>
                <a:lnTo>
                  <a:pt x="445962" y="189808"/>
                </a:lnTo>
                <a:lnTo>
                  <a:pt x="492105" y="192431"/>
                </a:lnTo>
                <a:lnTo>
                  <a:pt x="528360" y="180081"/>
                </a:lnTo>
                <a:lnTo>
                  <a:pt x="534096" y="163536"/>
                </a:lnTo>
                <a:lnTo>
                  <a:pt x="544063" y="138160"/>
                </a:lnTo>
                <a:lnTo>
                  <a:pt x="574909" y="133915"/>
                </a:lnTo>
                <a:lnTo>
                  <a:pt x="591954" y="113993"/>
                </a:lnTo>
                <a:lnTo>
                  <a:pt x="610833" y="78652"/>
                </a:lnTo>
                <a:lnTo>
                  <a:pt x="661733" y="39058"/>
                </a:lnTo>
                <a:lnTo>
                  <a:pt x="741951" y="0"/>
                </a:lnTo>
                <a:lnTo>
                  <a:pt x="765016" y="579"/>
                </a:lnTo>
                <a:lnTo>
                  <a:pt x="792447" y="9562"/>
                </a:lnTo>
                <a:lnTo>
                  <a:pt x="811551" y="3196"/>
                </a:lnTo>
                <a:lnTo>
                  <a:pt x="841686" y="8496"/>
                </a:lnTo>
                <a:lnTo>
                  <a:pt x="868841" y="83141"/>
                </a:lnTo>
                <a:lnTo>
                  <a:pt x="883592" y="120820"/>
                </a:lnTo>
                <a:lnTo>
                  <a:pt x="873491" y="179947"/>
                </a:lnTo>
                <a:lnTo>
                  <a:pt x="878331" y="198989"/>
                </a:lnTo>
                <a:lnTo>
                  <a:pt x="849722" y="189276"/>
                </a:lnTo>
                <a:lnTo>
                  <a:pt x="833334" y="193056"/>
                </a:lnTo>
                <a:lnTo>
                  <a:pt x="827981" y="208499"/>
                </a:lnTo>
                <a:lnTo>
                  <a:pt x="812501" y="228410"/>
                </a:lnTo>
                <a:lnTo>
                  <a:pt x="813031" y="246748"/>
                </a:lnTo>
                <a:lnTo>
                  <a:pt x="846866" y="275495"/>
                </a:lnTo>
                <a:lnTo>
                  <a:pt x="880047" y="269770"/>
                </a:lnTo>
                <a:lnTo>
                  <a:pt x="891590" y="246217"/>
                </a:lnTo>
                <a:lnTo>
                  <a:pt x="934589" y="246661"/>
                </a:lnTo>
                <a:lnTo>
                  <a:pt x="920424" y="285268"/>
                </a:lnTo>
                <a:lnTo>
                  <a:pt x="913727" y="329333"/>
                </a:lnTo>
                <a:lnTo>
                  <a:pt x="899058" y="353273"/>
                </a:lnTo>
                <a:lnTo>
                  <a:pt x="860372" y="380054"/>
                </a:lnTo>
                <a:lnTo>
                  <a:pt x="849292" y="387723"/>
                </a:lnTo>
                <a:lnTo>
                  <a:pt x="825265" y="414664"/>
                </a:lnTo>
                <a:lnTo>
                  <a:pt x="809451" y="441914"/>
                </a:lnTo>
                <a:lnTo>
                  <a:pt x="777301" y="479913"/>
                </a:lnTo>
                <a:lnTo>
                  <a:pt x="713228" y="534634"/>
                </a:lnTo>
                <a:lnTo>
                  <a:pt x="673215" y="566450"/>
                </a:lnTo>
                <a:lnTo>
                  <a:pt x="630403" y="590582"/>
                </a:lnTo>
                <a:lnTo>
                  <a:pt x="571151" y="611159"/>
                </a:lnTo>
                <a:lnTo>
                  <a:pt x="542249" y="613921"/>
                </a:lnTo>
                <a:lnTo>
                  <a:pt x="534934" y="628644"/>
                </a:lnTo>
                <a:lnTo>
                  <a:pt x="500478" y="620806"/>
                </a:lnTo>
                <a:lnTo>
                  <a:pt x="472414" y="630900"/>
                </a:lnTo>
                <a:lnTo>
                  <a:pt x="410970" y="620680"/>
                </a:lnTo>
                <a:lnTo>
                  <a:pt x="376623" y="627148"/>
                </a:lnTo>
                <a:lnTo>
                  <a:pt x="353150" y="624372"/>
                </a:lnTo>
                <a:lnTo>
                  <a:pt x="294679" y="645307"/>
                </a:lnTo>
                <a:lnTo>
                  <a:pt x="246278" y="653705"/>
                </a:lnTo>
                <a:lnTo>
                  <a:pt x="211254" y="673750"/>
                </a:lnTo>
                <a:lnTo>
                  <a:pt x="185467" y="675025"/>
                </a:lnTo>
                <a:lnTo>
                  <a:pt x="161479" y="656114"/>
                </a:lnTo>
                <a:lnTo>
                  <a:pt x="142319" y="655144"/>
                </a:lnTo>
                <a:lnTo>
                  <a:pt x="117903" y="631467"/>
                </a:lnTo>
                <a:lnTo>
                  <a:pt x="115225" y="638820"/>
                </a:lnTo>
                <a:lnTo>
                  <a:pt x="107690" y="624566"/>
                </a:lnTo>
                <a:lnTo>
                  <a:pt x="108006" y="593470"/>
                </a:lnTo>
                <a:lnTo>
                  <a:pt x="89587" y="557929"/>
                </a:lnTo>
                <a:lnTo>
                  <a:pt x="107883" y="548269"/>
                </a:lnTo>
                <a:lnTo>
                  <a:pt x="106401" y="507564"/>
                </a:lnTo>
                <a:lnTo>
                  <a:pt x="69276" y="457928"/>
                </a:lnTo>
                <a:lnTo>
                  <a:pt x="40787" y="413003"/>
                </a:lnTo>
                <a:lnTo>
                  <a:pt x="40702" y="412860"/>
                </a:lnTo>
                <a:lnTo>
                  <a:pt x="0" y="343954"/>
                </a:lnTo>
                <a:close/>
              </a:path>
            </a:pathLst>
          </a:custGeom>
          <a:solidFill>
            <a:srgbClr val="0A2373"/>
          </a:solidFill>
          <a:ln w="139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frica overview: Lesotho"/>
          <p:cNvSpPr/>
          <p:nvPr/>
        </p:nvSpPr>
        <p:spPr>
          <a:xfrm>
            <a:off x="3419814" y="5500623"/>
            <a:ext cx="131862" cy="105943"/>
          </a:xfrm>
          <a:custGeom>
            <a:avLst/>
            <a:gdLst/>
            <a:ahLst/>
            <a:cxnLst/>
            <a:rect l="l" t="t" r="r" b="b"/>
            <a:pathLst>
              <a:path w="131862" h="105943">
                <a:moveTo>
                  <a:pt x="112195" y="16340"/>
                </a:moveTo>
                <a:lnTo>
                  <a:pt x="131862" y="32345"/>
                </a:lnTo>
                <a:lnTo>
                  <a:pt x="114471" y="58141"/>
                </a:lnTo>
                <a:lnTo>
                  <a:pt x="104832" y="75445"/>
                </a:lnTo>
                <a:lnTo>
                  <a:pt x="73236" y="83728"/>
                </a:lnTo>
                <a:lnTo>
                  <a:pt x="62812" y="100673"/>
                </a:lnTo>
                <a:lnTo>
                  <a:pt x="42527" y="105943"/>
                </a:lnTo>
                <a:lnTo>
                  <a:pt x="0" y="65151"/>
                </a:lnTo>
                <a:lnTo>
                  <a:pt x="30231" y="31567"/>
                </a:lnTo>
                <a:lnTo>
                  <a:pt x="60949" y="10818"/>
                </a:lnTo>
                <a:lnTo>
                  <a:pt x="87445" y="0"/>
                </a:lnTo>
                <a:lnTo>
                  <a:pt x="112195" y="16340"/>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frica overview: Zimbabwe"/>
          <p:cNvSpPr/>
          <p:nvPr/>
        </p:nvSpPr>
        <p:spPr>
          <a:xfrm>
            <a:off x="3321450" y="4803756"/>
            <a:ext cx="430050" cy="358720"/>
          </a:xfrm>
          <a:custGeom>
            <a:avLst/>
            <a:gdLst/>
            <a:ahLst/>
            <a:cxnLst/>
            <a:rect l="l" t="t" r="r" b="b"/>
            <a:pathLst>
              <a:path w="430050" h="358720">
                <a:moveTo>
                  <a:pt x="336028" y="357654"/>
                </a:moveTo>
                <a:lnTo>
                  <a:pt x="305893" y="352354"/>
                </a:lnTo>
                <a:lnTo>
                  <a:pt x="286789" y="358720"/>
                </a:lnTo>
                <a:lnTo>
                  <a:pt x="259358" y="349737"/>
                </a:lnTo>
                <a:lnTo>
                  <a:pt x="236293" y="349158"/>
                </a:lnTo>
                <a:lnTo>
                  <a:pt x="200150" y="325194"/>
                </a:lnTo>
                <a:lnTo>
                  <a:pt x="156310" y="317054"/>
                </a:lnTo>
                <a:lnTo>
                  <a:pt x="139634" y="283421"/>
                </a:lnTo>
                <a:lnTo>
                  <a:pt x="139493" y="264713"/>
                </a:lnTo>
                <a:lnTo>
                  <a:pt x="115215" y="259009"/>
                </a:lnTo>
                <a:lnTo>
                  <a:pt x="51055" y="200754"/>
                </a:lnTo>
                <a:lnTo>
                  <a:pt x="33231" y="170064"/>
                </a:lnTo>
                <a:lnTo>
                  <a:pt x="21823" y="160603"/>
                </a:lnTo>
                <a:lnTo>
                  <a:pt x="0" y="118202"/>
                </a:lnTo>
                <a:lnTo>
                  <a:pt x="63366" y="124010"/>
                </a:lnTo>
                <a:lnTo>
                  <a:pt x="81782" y="130118"/>
                </a:lnTo>
                <a:lnTo>
                  <a:pt x="100924" y="128888"/>
                </a:lnTo>
                <a:lnTo>
                  <a:pt x="132322" y="94564"/>
                </a:lnTo>
                <a:lnTo>
                  <a:pt x="181625" y="50946"/>
                </a:lnTo>
                <a:lnTo>
                  <a:pt x="201919" y="46775"/>
                </a:lnTo>
                <a:lnTo>
                  <a:pt x="208813" y="28388"/>
                </a:lnTo>
                <a:lnTo>
                  <a:pt x="241092" y="7260"/>
                </a:lnTo>
                <a:lnTo>
                  <a:pt x="284032" y="0"/>
                </a:lnTo>
                <a:lnTo>
                  <a:pt x="287700" y="19785"/>
                </a:lnTo>
                <a:lnTo>
                  <a:pt x="334988" y="18729"/>
                </a:lnTo>
                <a:lnTo>
                  <a:pt x="361262" y="29922"/>
                </a:lnTo>
                <a:lnTo>
                  <a:pt x="373481" y="43045"/>
                </a:lnTo>
                <a:lnTo>
                  <a:pt x="400478" y="46898"/>
                </a:lnTo>
                <a:lnTo>
                  <a:pt x="429925" y="63940"/>
                </a:lnTo>
                <a:lnTo>
                  <a:pt x="430050" y="131064"/>
                </a:lnTo>
                <a:lnTo>
                  <a:pt x="418997" y="167819"/>
                </a:lnTo>
                <a:lnTo>
                  <a:pt x="416565" y="207452"/>
                </a:lnTo>
                <a:lnTo>
                  <a:pt x="425676" y="223161"/>
                </a:lnTo>
                <a:lnTo>
                  <a:pt x="419272" y="254383"/>
                </a:lnTo>
                <a:lnTo>
                  <a:pt x="410709" y="259209"/>
                </a:lnTo>
                <a:lnTo>
                  <a:pt x="395759" y="297458"/>
                </a:lnTo>
                <a:lnTo>
                  <a:pt x="336028" y="357654"/>
                </a:lnTo>
                <a:close/>
              </a:path>
            </a:pathLst>
          </a:custGeom>
          <a:solidFill>
            <a:srgbClr val="536598"/>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frica overview: Botswana"/>
          <p:cNvSpPr/>
          <p:nvPr/>
        </p:nvSpPr>
        <p:spPr>
          <a:xfrm>
            <a:off x="3017079" y="4917995"/>
            <a:ext cx="540664" cy="486159"/>
          </a:xfrm>
          <a:custGeom>
            <a:avLst/>
            <a:gdLst/>
            <a:ahLst/>
            <a:cxnLst/>
            <a:rect l="l" t="t" r="r" b="b"/>
            <a:pathLst>
              <a:path w="540664" h="486159">
                <a:moveTo>
                  <a:pt x="540664" y="234919"/>
                </a:moveTo>
                <a:lnTo>
                  <a:pt x="460446" y="273977"/>
                </a:lnTo>
                <a:lnTo>
                  <a:pt x="409546" y="313571"/>
                </a:lnTo>
                <a:lnTo>
                  <a:pt x="390667" y="348912"/>
                </a:lnTo>
                <a:lnTo>
                  <a:pt x="373622" y="368834"/>
                </a:lnTo>
                <a:lnTo>
                  <a:pt x="342776" y="373079"/>
                </a:lnTo>
                <a:lnTo>
                  <a:pt x="332809" y="398455"/>
                </a:lnTo>
                <a:lnTo>
                  <a:pt x="327073" y="415000"/>
                </a:lnTo>
                <a:lnTo>
                  <a:pt x="290818" y="427350"/>
                </a:lnTo>
                <a:lnTo>
                  <a:pt x="244675" y="424727"/>
                </a:lnTo>
                <a:lnTo>
                  <a:pt x="217593" y="409873"/>
                </a:lnTo>
                <a:lnTo>
                  <a:pt x="193699" y="403432"/>
                </a:lnTo>
                <a:lnTo>
                  <a:pt x="166043" y="415724"/>
                </a:lnTo>
                <a:lnTo>
                  <a:pt x="152168" y="441127"/>
                </a:lnTo>
                <a:lnTo>
                  <a:pt x="125320" y="457081"/>
                </a:lnTo>
                <a:lnTo>
                  <a:pt x="96970" y="480749"/>
                </a:lnTo>
                <a:lnTo>
                  <a:pt x="56361" y="486159"/>
                </a:lnTo>
                <a:lnTo>
                  <a:pt x="43711" y="467539"/>
                </a:lnTo>
                <a:lnTo>
                  <a:pt x="48935" y="435224"/>
                </a:lnTo>
                <a:lnTo>
                  <a:pt x="15322" y="384831"/>
                </a:lnTo>
                <a:lnTo>
                  <a:pt x="18" y="376867"/>
                </a:lnTo>
                <a:lnTo>
                  <a:pt x="0" y="222077"/>
                </a:lnTo>
                <a:lnTo>
                  <a:pt x="55881" y="220229"/>
                </a:lnTo>
                <a:lnTo>
                  <a:pt x="57554" y="31312"/>
                </a:lnTo>
                <a:lnTo>
                  <a:pt x="99756" y="29558"/>
                </a:lnTo>
                <a:lnTo>
                  <a:pt x="187166" y="10990"/>
                </a:lnTo>
                <a:lnTo>
                  <a:pt x="208831" y="32852"/>
                </a:lnTo>
                <a:lnTo>
                  <a:pt x="245021" y="12067"/>
                </a:lnTo>
                <a:lnTo>
                  <a:pt x="262218" y="11949"/>
                </a:lnTo>
                <a:lnTo>
                  <a:pt x="294178" y="0"/>
                </a:lnTo>
                <a:lnTo>
                  <a:pt x="304371" y="3963"/>
                </a:lnTo>
                <a:lnTo>
                  <a:pt x="326194" y="46364"/>
                </a:lnTo>
                <a:lnTo>
                  <a:pt x="337602" y="55825"/>
                </a:lnTo>
                <a:lnTo>
                  <a:pt x="355426" y="86515"/>
                </a:lnTo>
                <a:lnTo>
                  <a:pt x="419586" y="144770"/>
                </a:lnTo>
                <a:lnTo>
                  <a:pt x="443864" y="150474"/>
                </a:lnTo>
                <a:lnTo>
                  <a:pt x="444005" y="169182"/>
                </a:lnTo>
                <a:lnTo>
                  <a:pt x="460681" y="202815"/>
                </a:lnTo>
                <a:lnTo>
                  <a:pt x="504521" y="210955"/>
                </a:lnTo>
                <a:lnTo>
                  <a:pt x="540664" y="234919"/>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frica overview: Namibia"/>
          <p:cNvSpPr/>
          <p:nvPr/>
        </p:nvSpPr>
        <p:spPr>
          <a:xfrm>
            <a:off x="2554394" y="4879785"/>
            <a:ext cx="756863" cy="641944"/>
          </a:xfrm>
          <a:custGeom>
            <a:avLst/>
            <a:gdLst/>
            <a:ahLst/>
            <a:cxnLst/>
            <a:rect l="l" t="t" r="r" b="b"/>
            <a:pathLst>
              <a:path w="756863" h="641944">
                <a:moveTo>
                  <a:pt x="462703" y="415077"/>
                </a:moveTo>
                <a:lnTo>
                  <a:pt x="462644" y="610952"/>
                </a:lnTo>
                <a:lnTo>
                  <a:pt x="412040" y="638071"/>
                </a:lnTo>
                <a:lnTo>
                  <a:pt x="381583" y="641944"/>
                </a:lnTo>
                <a:lnTo>
                  <a:pt x="345937" y="631916"/>
                </a:lnTo>
                <a:lnTo>
                  <a:pt x="320502" y="628052"/>
                </a:lnTo>
                <a:lnTo>
                  <a:pt x="310945" y="605375"/>
                </a:lnTo>
                <a:lnTo>
                  <a:pt x="288557" y="590855"/>
                </a:lnTo>
                <a:lnTo>
                  <a:pt x="261398" y="617083"/>
                </a:lnTo>
                <a:lnTo>
                  <a:pt x="219267" y="577017"/>
                </a:lnTo>
                <a:lnTo>
                  <a:pt x="197080" y="538286"/>
                </a:lnTo>
                <a:lnTo>
                  <a:pt x="184565" y="486652"/>
                </a:lnTo>
                <a:lnTo>
                  <a:pt x="170590" y="448231"/>
                </a:lnTo>
                <a:lnTo>
                  <a:pt x="151594" y="366561"/>
                </a:lnTo>
                <a:lnTo>
                  <a:pt x="150322" y="303112"/>
                </a:lnTo>
                <a:lnTo>
                  <a:pt x="143066" y="274184"/>
                </a:lnTo>
                <a:lnTo>
                  <a:pt x="121008" y="252325"/>
                </a:lnTo>
                <a:lnTo>
                  <a:pt x="91746" y="208507"/>
                </a:lnTo>
                <a:lnTo>
                  <a:pt x="61946" y="144882"/>
                </a:lnTo>
                <a:lnTo>
                  <a:pt x="49571" y="111586"/>
                </a:lnTo>
                <a:lnTo>
                  <a:pt x="3443" y="59812"/>
                </a:lnTo>
                <a:lnTo>
                  <a:pt x="0" y="19121"/>
                </a:lnTo>
                <a:lnTo>
                  <a:pt x="27285" y="9033"/>
                </a:lnTo>
                <a:lnTo>
                  <a:pt x="61222" y="0"/>
                </a:lnTo>
                <a:lnTo>
                  <a:pt x="97975" y="1584"/>
                </a:lnTo>
                <a:lnTo>
                  <a:pt x="131772" y="25565"/>
                </a:lnTo>
                <a:lnTo>
                  <a:pt x="140344" y="21837"/>
                </a:lnTo>
                <a:lnTo>
                  <a:pt x="370154" y="19549"/>
                </a:lnTo>
                <a:lnTo>
                  <a:pt x="409435" y="44960"/>
                </a:lnTo>
                <a:lnTo>
                  <a:pt x="546688" y="52467"/>
                </a:lnTo>
                <a:lnTo>
                  <a:pt x="650882" y="30854"/>
                </a:lnTo>
                <a:lnTo>
                  <a:pt x="697303" y="18801"/>
                </a:lnTo>
                <a:lnTo>
                  <a:pt x="734067" y="21854"/>
                </a:lnTo>
                <a:lnTo>
                  <a:pt x="756438" y="33808"/>
                </a:lnTo>
                <a:lnTo>
                  <a:pt x="756863" y="38210"/>
                </a:lnTo>
                <a:lnTo>
                  <a:pt x="724903" y="50159"/>
                </a:lnTo>
                <a:lnTo>
                  <a:pt x="707706" y="50277"/>
                </a:lnTo>
                <a:lnTo>
                  <a:pt x="671516" y="71062"/>
                </a:lnTo>
                <a:lnTo>
                  <a:pt x="649851" y="49200"/>
                </a:lnTo>
                <a:lnTo>
                  <a:pt x="562441" y="67768"/>
                </a:lnTo>
                <a:lnTo>
                  <a:pt x="520239" y="69522"/>
                </a:lnTo>
                <a:lnTo>
                  <a:pt x="518566" y="258439"/>
                </a:lnTo>
                <a:lnTo>
                  <a:pt x="462685" y="260287"/>
                </a:lnTo>
                <a:lnTo>
                  <a:pt x="462703" y="415077"/>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frica overview: Senegal"/>
          <p:cNvSpPr/>
          <p:nvPr/>
        </p:nvSpPr>
        <p:spPr>
          <a:xfrm>
            <a:off x="889937" y="3101005"/>
            <a:ext cx="349066" cy="226257"/>
          </a:xfrm>
          <a:custGeom>
            <a:avLst/>
            <a:gdLst/>
            <a:ahLst/>
            <a:cxnLst/>
            <a:rect l="l" t="t" r="r" b="b"/>
            <a:pathLst>
              <a:path w="349066" h="226257">
                <a:moveTo>
                  <a:pt x="51665" y="159281"/>
                </a:moveTo>
                <a:lnTo>
                  <a:pt x="28286" y="117990"/>
                </a:lnTo>
                <a:lnTo>
                  <a:pt x="0" y="99108"/>
                </a:lnTo>
                <a:lnTo>
                  <a:pt x="24937" y="89035"/>
                </a:lnTo>
                <a:lnTo>
                  <a:pt x="52403" y="51801"/>
                </a:lnTo>
                <a:lnTo>
                  <a:pt x="65874" y="24567"/>
                </a:lnTo>
                <a:lnTo>
                  <a:pt x="85286" y="7563"/>
                </a:lnTo>
                <a:lnTo>
                  <a:pt x="113464" y="12141"/>
                </a:lnTo>
                <a:lnTo>
                  <a:pt x="141126" y="582"/>
                </a:lnTo>
                <a:lnTo>
                  <a:pt x="172782" y="0"/>
                </a:lnTo>
                <a:lnTo>
                  <a:pt x="199872" y="15590"/>
                </a:lnTo>
                <a:lnTo>
                  <a:pt x="237503" y="29640"/>
                </a:lnTo>
                <a:lnTo>
                  <a:pt x="271807" y="68658"/>
                </a:lnTo>
                <a:lnTo>
                  <a:pt x="309219" y="105085"/>
                </a:lnTo>
                <a:lnTo>
                  <a:pt x="311819" y="138079"/>
                </a:lnTo>
                <a:lnTo>
                  <a:pt x="322997" y="168450"/>
                </a:lnTo>
                <a:lnTo>
                  <a:pt x="344218" y="183345"/>
                </a:lnTo>
                <a:lnTo>
                  <a:pt x="349066" y="203854"/>
                </a:lnTo>
                <a:lnTo>
                  <a:pt x="346455" y="220376"/>
                </a:lnTo>
                <a:lnTo>
                  <a:pt x="338271" y="223367"/>
                </a:lnTo>
                <a:lnTo>
                  <a:pt x="307359" y="219174"/>
                </a:lnTo>
                <a:lnTo>
                  <a:pt x="303105" y="225072"/>
                </a:lnTo>
                <a:lnTo>
                  <a:pt x="290607" y="226257"/>
                </a:lnTo>
                <a:lnTo>
                  <a:pt x="249858" y="213328"/>
                </a:lnTo>
                <a:lnTo>
                  <a:pt x="222495" y="212781"/>
                </a:lnTo>
                <a:lnTo>
                  <a:pt x="117726" y="210555"/>
                </a:lnTo>
                <a:lnTo>
                  <a:pt x="102527" y="216527"/>
                </a:lnTo>
                <a:lnTo>
                  <a:pt x="83754" y="214819"/>
                </a:lnTo>
                <a:lnTo>
                  <a:pt x="53721" y="223459"/>
                </a:lnTo>
                <a:lnTo>
                  <a:pt x="44420" y="182805"/>
                </a:lnTo>
                <a:lnTo>
                  <a:pt x="96023" y="183925"/>
                </a:lnTo>
                <a:lnTo>
                  <a:pt x="109646" y="176496"/>
                </a:lnTo>
                <a:lnTo>
                  <a:pt x="119805" y="176060"/>
                </a:lnTo>
                <a:lnTo>
                  <a:pt x="140818" y="163812"/>
                </a:lnTo>
                <a:lnTo>
                  <a:pt x="165137" y="175019"/>
                </a:lnTo>
                <a:lnTo>
                  <a:pt x="189770" y="175954"/>
                </a:lnTo>
                <a:lnTo>
                  <a:pt x="214303" y="164049"/>
                </a:lnTo>
                <a:lnTo>
                  <a:pt x="202850" y="148721"/>
                </a:lnTo>
                <a:lnTo>
                  <a:pt x="184157" y="157651"/>
                </a:lnTo>
                <a:lnTo>
                  <a:pt x="166564" y="157403"/>
                </a:lnTo>
                <a:lnTo>
                  <a:pt x="144187" y="144350"/>
                </a:lnTo>
                <a:lnTo>
                  <a:pt x="126214" y="145205"/>
                </a:lnTo>
                <a:lnTo>
                  <a:pt x="113411" y="157762"/>
                </a:lnTo>
                <a:lnTo>
                  <a:pt x="51665" y="159281"/>
                </a:lnTo>
                <a:close/>
              </a:path>
            </a:pathLst>
          </a:custGeom>
          <a:solidFill>
            <a:srgbClr val="AAB3C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frica overview: Mali"/>
          <p:cNvSpPr/>
          <p:nvPr/>
        </p:nvSpPr>
        <p:spPr>
          <a:xfrm>
            <a:off x="1199156" y="2656766"/>
            <a:ext cx="932084" cy="789069"/>
          </a:xfrm>
          <a:custGeom>
            <a:avLst/>
            <a:gdLst/>
            <a:ahLst/>
            <a:cxnLst/>
            <a:rect l="l" t="t" r="r" b="b"/>
            <a:pathLst>
              <a:path w="932084" h="789069">
                <a:moveTo>
                  <a:pt x="37236" y="664615"/>
                </a:moveTo>
                <a:lnTo>
                  <a:pt x="39847" y="648093"/>
                </a:lnTo>
                <a:lnTo>
                  <a:pt x="34999" y="627584"/>
                </a:lnTo>
                <a:lnTo>
                  <a:pt x="13778" y="612689"/>
                </a:lnTo>
                <a:lnTo>
                  <a:pt x="2600" y="582318"/>
                </a:lnTo>
                <a:lnTo>
                  <a:pt x="0" y="549324"/>
                </a:lnTo>
                <a:lnTo>
                  <a:pt x="19080" y="539658"/>
                </a:lnTo>
                <a:lnTo>
                  <a:pt x="28611" y="508414"/>
                </a:lnTo>
                <a:lnTo>
                  <a:pt x="46582" y="507192"/>
                </a:lnTo>
                <a:lnTo>
                  <a:pt x="86171" y="521963"/>
                </a:lnTo>
                <a:lnTo>
                  <a:pt x="118142" y="511476"/>
                </a:lnTo>
                <a:lnTo>
                  <a:pt x="140059" y="514996"/>
                </a:lnTo>
                <a:lnTo>
                  <a:pt x="148564" y="503202"/>
                </a:lnTo>
                <a:lnTo>
                  <a:pt x="376044" y="502396"/>
                </a:lnTo>
                <a:lnTo>
                  <a:pt x="388656" y="465263"/>
                </a:lnTo>
                <a:lnTo>
                  <a:pt x="378834" y="458726"/>
                </a:lnTo>
                <a:lnTo>
                  <a:pt x="351474" y="229840"/>
                </a:lnTo>
                <a:lnTo>
                  <a:pt x="324111" y="953"/>
                </a:lnTo>
                <a:lnTo>
                  <a:pt x="410876" y="0"/>
                </a:lnTo>
                <a:lnTo>
                  <a:pt x="602117" y="115718"/>
                </a:lnTo>
                <a:lnTo>
                  <a:pt x="793358" y="231433"/>
                </a:lnTo>
                <a:lnTo>
                  <a:pt x="806837" y="256284"/>
                </a:lnTo>
                <a:lnTo>
                  <a:pt x="842134" y="271452"/>
                </a:lnTo>
                <a:lnTo>
                  <a:pt x="868387" y="280078"/>
                </a:lnTo>
                <a:lnTo>
                  <a:pt x="869037" y="313820"/>
                </a:lnTo>
                <a:lnTo>
                  <a:pt x="931926" y="308628"/>
                </a:lnTo>
                <a:lnTo>
                  <a:pt x="932084" y="430770"/>
                </a:lnTo>
                <a:lnTo>
                  <a:pt x="901085" y="466194"/>
                </a:lnTo>
                <a:lnTo>
                  <a:pt x="896257" y="498873"/>
                </a:lnTo>
                <a:lnTo>
                  <a:pt x="845899" y="507284"/>
                </a:lnTo>
                <a:lnTo>
                  <a:pt x="768543" y="511843"/>
                </a:lnTo>
                <a:lnTo>
                  <a:pt x="747581" y="530691"/>
                </a:lnTo>
                <a:lnTo>
                  <a:pt x="711248" y="532773"/>
                </a:lnTo>
                <a:lnTo>
                  <a:pt x="674899" y="533017"/>
                </a:lnTo>
                <a:lnTo>
                  <a:pt x="660749" y="522843"/>
                </a:lnTo>
                <a:lnTo>
                  <a:pt x="629539" y="530392"/>
                </a:lnTo>
                <a:lnTo>
                  <a:pt x="576550" y="552391"/>
                </a:lnTo>
                <a:lnTo>
                  <a:pt x="565733" y="568969"/>
                </a:lnTo>
                <a:lnTo>
                  <a:pt x="521747" y="592743"/>
                </a:lnTo>
                <a:lnTo>
                  <a:pt x="514036" y="606367"/>
                </a:lnTo>
                <a:lnTo>
                  <a:pt x="490276" y="617166"/>
                </a:lnTo>
                <a:lnTo>
                  <a:pt x="462860" y="610015"/>
                </a:lnTo>
                <a:lnTo>
                  <a:pt x="447326" y="622958"/>
                </a:lnTo>
                <a:lnTo>
                  <a:pt x="439005" y="659329"/>
                </a:lnTo>
                <a:lnTo>
                  <a:pt x="394004" y="703284"/>
                </a:lnTo>
                <a:lnTo>
                  <a:pt x="395314" y="721248"/>
                </a:lnTo>
                <a:lnTo>
                  <a:pt x="379852" y="743728"/>
                </a:lnTo>
                <a:lnTo>
                  <a:pt x="383607" y="774517"/>
                </a:lnTo>
                <a:lnTo>
                  <a:pt x="360216" y="782376"/>
                </a:lnTo>
                <a:lnTo>
                  <a:pt x="346977" y="789069"/>
                </a:lnTo>
                <a:lnTo>
                  <a:pt x="338202" y="766385"/>
                </a:lnTo>
                <a:lnTo>
                  <a:pt x="321833" y="772366"/>
                </a:lnTo>
                <a:lnTo>
                  <a:pt x="312054" y="771331"/>
                </a:lnTo>
                <a:lnTo>
                  <a:pt x="301619" y="786808"/>
                </a:lnTo>
                <a:lnTo>
                  <a:pt x="257838" y="786370"/>
                </a:lnTo>
                <a:lnTo>
                  <a:pt x="242144" y="778407"/>
                </a:lnTo>
                <a:lnTo>
                  <a:pt x="234754" y="783225"/>
                </a:lnTo>
                <a:lnTo>
                  <a:pt x="217438" y="767937"/>
                </a:lnTo>
                <a:lnTo>
                  <a:pt x="220444" y="752144"/>
                </a:lnTo>
                <a:lnTo>
                  <a:pt x="213360" y="745956"/>
                </a:lnTo>
                <a:lnTo>
                  <a:pt x="201284" y="751173"/>
                </a:lnTo>
                <a:lnTo>
                  <a:pt x="203496" y="733918"/>
                </a:lnTo>
                <a:lnTo>
                  <a:pt x="215118" y="720267"/>
                </a:lnTo>
                <a:lnTo>
                  <a:pt x="191885" y="698050"/>
                </a:lnTo>
                <a:lnTo>
                  <a:pt x="185129" y="683423"/>
                </a:lnTo>
                <a:lnTo>
                  <a:pt x="172532" y="671771"/>
                </a:lnTo>
                <a:lnTo>
                  <a:pt x="161185" y="670380"/>
                </a:lnTo>
                <a:lnTo>
                  <a:pt x="147562" y="677807"/>
                </a:lnTo>
                <a:lnTo>
                  <a:pt x="129246" y="684901"/>
                </a:lnTo>
                <a:lnTo>
                  <a:pt x="113699" y="696378"/>
                </a:lnTo>
                <a:lnTo>
                  <a:pt x="89434" y="692141"/>
                </a:lnTo>
                <a:lnTo>
                  <a:pt x="73696" y="678674"/>
                </a:lnTo>
                <a:lnTo>
                  <a:pt x="64301" y="676905"/>
                </a:lnTo>
                <a:lnTo>
                  <a:pt x="49503" y="683973"/>
                </a:lnTo>
                <a:lnTo>
                  <a:pt x="40512" y="684034"/>
                </a:lnTo>
                <a:lnTo>
                  <a:pt x="37236" y="664615"/>
                </a:lnTo>
                <a:close/>
              </a:path>
            </a:pathLst>
          </a:custGeom>
          <a:solidFill>
            <a:srgbClr val="AAB3C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frica overview: Mauritania"/>
          <p:cNvSpPr/>
          <p:nvPr/>
        </p:nvSpPr>
        <p:spPr>
          <a:xfrm>
            <a:off x="921777" y="2528358"/>
            <a:ext cx="688255" cy="677732"/>
          </a:xfrm>
          <a:custGeom>
            <a:avLst/>
            <a:gdLst/>
            <a:ahLst/>
            <a:cxnLst/>
            <a:rect l="l" t="t" r="r" b="b"/>
            <a:pathLst>
              <a:path w="688255" h="677732">
                <a:moveTo>
                  <a:pt x="0" y="339213"/>
                </a:moveTo>
                <a:lnTo>
                  <a:pt x="12372" y="321522"/>
                </a:lnTo>
                <a:lnTo>
                  <a:pt x="234386" y="321854"/>
                </a:lnTo>
                <a:lnTo>
                  <a:pt x="223634" y="245263"/>
                </a:lnTo>
                <a:lnTo>
                  <a:pt x="237497" y="218023"/>
                </a:lnTo>
                <a:lnTo>
                  <a:pt x="290618" y="213263"/>
                </a:lnTo>
                <a:lnTo>
                  <a:pt x="288793" y="77559"/>
                </a:lnTo>
                <a:lnTo>
                  <a:pt x="474866" y="80332"/>
                </a:lnTo>
                <a:lnTo>
                  <a:pt x="475030" y="0"/>
                </a:lnTo>
                <a:lnTo>
                  <a:pt x="688255" y="128408"/>
                </a:lnTo>
                <a:lnTo>
                  <a:pt x="601490" y="129361"/>
                </a:lnTo>
                <a:lnTo>
                  <a:pt x="628853" y="358248"/>
                </a:lnTo>
                <a:lnTo>
                  <a:pt x="656213" y="587134"/>
                </a:lnTo>
                <a:lnTo>
                  <a:pt x="666035" y="593671"/>
                </a:lnTo>
                <a:lnTo>
                  <a:pt x="653423" y="630804"/>
                </a:lnTo>
                <a:lnTo>
                  <a:pt x="425943" y="631610"/>
                </a:lnTo>
                <a:lnTo>
                  <a:pt x="417438" y="643404"/>
                </a:lnTo>
                <a:lnTo>
                  <a:pt x="395521" y="639884"/>
                </a:lnTo>
                <a:lnTo>
                  <a:pt x="363550" y="650371"/>
                </a:lnTo>
                <a:lnTo>
                  <a:pt x="323961" y="635600"/>
                </a:lnTo>
                <a:lnTo>
                  <a:pt x="305990" y="636822"/>
                </a:lnTo>
                <a:lnTo>
                  <a:pt x="296459" y="668066"/>
                </a:lnTo>
                <a:lnTo>
                  <a:pt x="277379" y="677732"/>
                </a:lnTo>
                <a:lnTo>
                  <a:pt x="239967" y="641305"/>
                </a:lnTo>
                <a:lnTo>
                  <a:pt x="205663" y="602287"/>
                </a:lnTo>
                <a:lnTo>
                  <a:pt x="168032" y="588237"/>
                </a:lnTo>
                <a:lnTo>
                  <a:pt x="140942" y="572647"/>
                </a:lnTo>
                <a:lnTo>
                  <a:pt x="109286" y="573229"/>
                </a:lnTo>
                <a:lnTo>
                  <a:pt x="81624" y="584788"/>
                </a:lnTo>
                <a:lnTo>
                  <a:pt x="53446" y="580210"/>
                </a:lnTo>
                <a:lnTo>
                  <a:pt x="34034" y="597214"/>
                </a:lnTo>
                <a:lnTo>
                  <a:pt x="29124" y="568636"/>
                </a:lnTo>
                <a:lnTo>
                  <a:pt x="44950" y="542486"/>
                </a:lnTo>
                <a:lnTo>
                  <a:pt x="51991" y="492552"/>
                </a:lnTo>
                <a:lnTo>
                  <a:pt x="45725" y="440141"/>
                </a:lnTo>
                <a:lnTo>
                  <a:pt x="38878" y="413777"/>
                </a:lnTo>
                <a:lnTo>
                  <a:pt x="44537" y="387328"/>
                </a:lnTo>
                <a:lnTo>
                  <a:pt x="29882" y="362118"/>
                </a:lnTo>
                <a:lnTo>
                  <a:pt x="0" y="339213"/>
                </a:lnTo>
                <a:close/>
              </a:path>
            </a:pathLst>
          </a:custGeom>
          <a:solidFill>
            <a:srgbClr val="AAB3C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frica overview: Benin"/>
          <p:cNvSpPr/>
          <p:nvPr/>
        </p:nvSpPr>
        <p:spPr>
          <a:xfrm>
            <a:off x="1932936" y="3332378"/>
            <a:ext cx="171483" cy="323169"/>
          </a:xfrm>
          <a:custGeom>
            <a:avLst/>
            <a:gdLst/>
            <a:ahLst/>
            <a:cxnLst/>
            <a:rect l="l" t="t" r="r" b="b"/>
            <a:pathLst>
              <a:path w="171483" h="323169">
                <a:moveTo>
                  <a:pt x="108814" y="316981"/>
                </a:moveTo>
                <a:lnTo>
                  <a:pt x="61960" y="323169"/>
                </a:lnTo>
                <a:lnTo>
                  <a:pt x="47997" y="286581"/>
                </a:lnTo>
                <a:lnTo>
                  <a:pt x="50578" y="164783"/>
                </a:lnTo>
                <a:lnTo>
                  <a:pt x="39158" y="153855"/>
                </a:lnTo>
                <a:lnTo>
                  <a:pt x="37005" y="127827"/>
                </a:lnTo>
                <a:lnTo>
                  <a:pt x="17317" y="109254"/>
                </a:lnTo>
                <a:lnTo>
                  <a:pt x="0" y="93598"/>
                </a:lnTo>
                <a:lnTo>
                  <a:pt x="7213" y="65673"/>
                </a:lnTo>
                <a:lnTo>
                  <a:pt x="26710" y="59671"/>
                </a:lnTo>
                <a:lnTo>
                  <a:pt x="38258" y="36484"/>
                </a:lnTo>
                <a:lnTo>
                  <a:pt x="65970" y="31528"/>
                </a:lnTo>
                <a:lnTo>
                  <a:pt x="78357" y="15671"/>
                </a:lnTo>
                <a:lnTo>
                  <a:pt x="97388" y="137"/>
                </a:lnTo>
                <a:lnTo>
                  <a:pt x="117711" y="0"/>
                </a:lnTo>
                <a:lnTo>
                  <a:pt x="160942" y="30520"/>
                </a:lnTo>
                <a:lnTo>
                  <a:pt x="158733" y="48140"/>
                </a:lnTo>
                <a:lnTo>
                  <a:pt x="171483" y="79600"/>
                </a:lnTo>
                <a:lnTo>
                  <a:pt x="160312" y="100950"/>
                </a:lnTo>
                <a:lnTo>
                  <a:pt x="166286" y="115215"/>
                </a:lnTo>
                <a:lnTo>
                  <a:pt x="138785" y="148047"/>
                </a:lnTo>
                <a:lnTo>
                  <a:pt x="121321" y="164304"/>
                </a:lnTo>
                <a:lnTo>
                  <a:pt x="110633" y="197757"/>
                </a:lnTo>
                <a:lnTo>
                  <a:pt x="112066" y="231493"/>
                </a:lnTo>
                <a:lnTo>
                  <a:pt x="108814" y="316981"/>
                </a:lnTo>
                <a:close/>
              </a:path>
            </a:pathLst>
          </a:custGeom>
          <a:solidFill>
            <a:srgbClr val="AAB3C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frica overview: Niger"/>
          <p:cNvSpPr/>
          <p:nvPr/>
        </p:nvSpPr>
        <p:spPr>
          <a:xfrm>
            <a:off x="1905911" y="2736472"/>
            <a:ext cx="884839" cy="626426"/>
          </a:xfrm>
          <a:custGeom>
            <a:avLst/>
            <a:gdLst/>
            <a:ahLst/>
            <a:cxnLst/>
            <a:rect l="l" t="t" r="r" b="b"/>
            <a:pathLst>
              <a:path w="884839" h="626426">
                <a:moveTo>
                  <a:pt x="825201" y="32284"/>
                </a:moveTo>
                <a:lnTo>
                  <a:pt x="839124" y="114724"/>
                </a:lnTo>
                <a:lnTo>
                  <a:pt x="860337" y="128516"/>
                </a:lnTo>
                <a:lnTo>
                  <a:pt x="861249" y="145383"/>
                </a:lnTo>
                <a:lnTo>
                  <a:pt x="884839" y="163564"/>
                </a:lnTo>
                <a:lnTo>
                  <a:pt x="872507" y="186392"/>
                </a:lnTo>
                <a:lnTo>
                  <a:pt x="850664" y="294013"/>
                </a:lnTo>
                <a:lnTo>
                  <a:pt x="847675" y="362993"/>
                </a:lnTo>
                <a:lnTo>
                  <a:pt x="775360" y="413001"/>
                </a:lnTo>
                <a:lnTo>
                  <a:pt x="750882" y="482861"/>
                </a:lnTo>
                <a:lnTo>
                  <a:pt x="774483" y="502508"/>
                </a:lnTo>
                <a:lnTo>
                  <a:pt x="774357" y="536622"/>
                </a:lnTo>
                <a:lnTo>
                  <a:pt x="810715" y="537843"/>
                </a:lnTo>
                <a:lnTo>
                  <a:pt x="805046" y="562824"/>
                </a:lnTo>
                <a:lnTo>
                  <a:pt x="789044" y="565867"/>
                </a:lnTo>
                <a:lnTo>
                  <a:pt x="787219" y="582752"/>
                </a:lnTo>
                <a:lnTo>
                  <a:pt x="776675" y="583924"/>
                </a:lnTo>
                <a:lnTo>
                  <a:pt x="738313" y="525861"/>
                </a:lnTo>
                <a:lnTo>
                  <a:pt x="725007" y="523751"/>
                </a:lnTo>
                <a:lnTo>
                  <a:pt x="680678" y="553395"/>
                </a:lnTo>
                <a:lnTo>
                  <a:pt x="636782" y="537920"/>
                </a:lnTo>
                <a:lnTo>
                  <a:pt x="606270" y="534826"/>
                </a:lnTo>
                <a:lnTo>
                  <a:pt x="589910" y="542272"/>
                </a:lnTo>
                <a:lnTo>
                  <a:pt x="556676" y="540663"/>
                </a:lnTo>
                <a:lnTo>
                  <a:pt x="523234" y="563264"/>
                </a:lnTo>
                <a:lnTo>
                  <a:pt x="494321" y="564561"/>
                </a:lnTo>
                <a:lnTo>
                  <a:pt x="425708" y="537148"/>
                </a:lnTo>
                <a:lnTo>
                  <a:pt x="398839" y="550168"/>
                </a:lnTo>
                <a:lnTo>
                  <a:pt x="369909" y="549264"/>
                </a:lnTo>
                <a:lnTo>
                  <a:pt x="348648" y="529233"/>
                </a:lnTo>
                <a:lnTo>
                  <a:pt x="291821" y="509443"/>
                </a:lnTo>
                <a:lnTo>
                  <a:pt x="230893" y="515725"/>
                </a:lnTo>
                <a:lnTo>
                  <a:pt x="216130" y="527194"/>
                </a:lnTo>
                <a:lnTo>
                  <a:pt x="208155" y="557695"/>
                </a:lnTo>
                <a:lnTo>
                  <a:pt x="191904" y="579079"/>
                </a:lnTo>
                <a:lnTo>
                  <a:pt x="187967" y="626426"/>
                </a:lnTo>
                <a:lnTo>
                  <a:pt x="144736" y="595906"/>
                </a:lnTo>
                <a:lnTo>
                  <a:pt x="124413" y="596043"/>
                </a:lnTo>
                <a:lnTo>
                  <a:pt x="105382" y="611577"/>
                </a:lnTo>
                <a:lnTo>
                  <a:pt x="106665" y="575255"/>
                </a:lnTo>
                <a:lnTo>
                  <a:pt x="41298" y="563226"/>
                </a:lnTo>
                <a:lnTo>
                  <a:pt x="39537" y="537561"/>
                </a:lnTo>
                <a:lnTo>
                  <a:pt x="7613" y="502930"/>
                </a:lnTo>
                <a:lnTo>
                  <a:pt x="0" y="478772"/>
                </a:lnTo>
                <a:lnTo>
                  <a:pt x="4493" y="453067"/>
                </a:lnTo>
                <a:lnTo>
                  <a:pt x="40826" y="450985"/>
                </a:lnTo>
                <a:lnTo>
                  <a:pt x="61788" y="432137"/>
                </a:lnTo>
                <a:lnTo>
                  <a:pt x="139144" y="427578"/>
                </a:lnTo>
                <a:lnTo>
                  <a:pt x="189502" y="419167"/>
                </a:lnTo>
                <a:lnTo>
                  <a:pt x="194330" y="386488"/>
                </a:lnTo>
                <a:lnTo>
                  <a:pt x="225329" y="351064"/>
                </a:lnTo>
                <a:lnTo>
                  <a:pt x="225171" y="228922"/>
                </a:lnTo>
                <a:lnTo>
                  <a:pt x="305116" y="205271"/>
                </a:lnTo>
                <a:lnTo>
                  <a:pt x="469260" y="101086"/>
                </a:lnTo>
                <a:lnTo>
                  <a:pt x="663524" y="0"/>
                </a:lnTo>
                <a:lnTo>
                  <a:pt x="753208" y="22867"/>
                </a:lnTo>
                <a:lnTo>
                  <a:pt x="785095" y="51995"/>
                </a:lnTo>
                <a:lnTo>
                  <a:pt x="825201" y="32284"/>
                </a:lnTo>
                <a:close/>
              </a:path>
            </a:pathLst>
          </a:custGeom>
          <a:solidFill>
            <a:srgbClr val="AAB3C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frica overview: Nigeria"/>
          <p:cNvSpPr/>
          <p:nvPr/>
        </p:nvSpPr>
        <p:spPr>
          <a:xfrm>
            <a:off x="2041750" y="3245915"/>
            <a:ext cx="673821" cy="510481"/>
          </a:xfrm>
          <a:custGeom>
            <a:avLst/>
            <a:gdLst/>
            <a:ahLst/>
            <a:cxnLst/>
            <a:rect l="l" t="t" r="r" b="b"/>
            <a:pathLst>
              <a:path w="673821" h="510481">
                <a:moveTo>
                  <a:pt x="0" y="403444"/>
                </a:moveTo>
                <a:lnTo>
                  <a:pt x="3252" y="317956"/>
                </a:lnTo>
                <a:lnTo>
                  <a:pt x="1819" y="284220"/>
                </a:lnTo>
                <a:lnTo>
                  <a:pt x="12507" y="250767"/>
                </a:lnTo>
                <a:lnTo>
                  <a:pt x="29971" y="234510"/>
                </a:lnTo>
                <a:lnTo>
                  <a:pt x="57472" y="201678"/>
                </a:lnTo>
                <a:lnTo>
                  <a:pt x="51498" y="187413"/>
                </a:lnTo>
                <a:lnTo>
                  <a:pt x="62669" y="166063"/>
                </a:lnTo>
                <a:lnTo>
                  <a:pt x="49919" y="134603"/>
                </a:lnTo>
                <a:lnTo>
                  <a:pt x="52128" y="116983"/>
                </a:lnTo>
                <a:lnTo>
                  <a:pt x="56065" y="69636"/>
                </a:lnTo>
                <a:lnTo>
                  <a:pt x="72316" y="48252"/>
                </a:lnTo>
                <a:lnTo>
                  <a:pt x="80291" y="17751"/>
                </a:lnTo>
                <a:lnTo>
                  <a:pt x="95054" y="6282"/>
                </a:lnTo>
                <a:lnTo>
                  <a:pt x="155982" y="0"/>
                </a:lnTo>
                <a:lnTo>
                  <a:pt x="212809" y="19790"/>
                </a:lnTo>
                <a:lnTo>
                  <a:pt x="234070" y="39821"/>
                </a:lnTo>
                <a:lnTo>
                  <a:pt x="263000" y="40725"/>
                </a:lnTo>
                <a:lnTo>
                  <a:pt x="289869" y="27705"/>
                </a:lnTo>
                <a:lnTo>
                  <a:pt x="358482" y="55118"/>
                </a:lnTo>
                <a:lnTo>
                  <a:pt x="387395" y="53821"/>
                </a:lnTo>
                <a:lnTo>
                  <a:pt x="420837" y="31220"/>
                </a:lnTo>
                <a:lnTo>
                  <a:pt x="454071" y="32829"/>
                </a:lnTo>
                <a:lnTo>
                  <a:pt x="470431" y="25383"/>
                </a:lnTo>
                <a:lnTo>
                  <a:pt x="500943" y="28477"/>
                </a:lnTo>
                <a:lnTo>
                  <a:pt x="544839" y="43952"/>
                </a:lnTo>
                <a:lnTo>
                  <a:pt x="589168" y="14308"/>
                </a:lnTo>
                <a:lnTo>
                  <a:pt x="602474" y="16418"/>
                </a:lnTo>
                <a:lnTo>
                  <a:pt x="640836" y="74481"/>
                </a:lnTo>
                <a:lnTo>
                  <a:pt x="651380" y="73309"/>
                </a:lnTo>
                <a:lnTo>
                  <a:pt x="673821" y="94433"/>
                </a:lnTo>
                <a:lnTo>
                  <a:pt x="667642" y="104011"/>
                </a:lnTo>
                <a:lnTo>
                  <a:pt x="664648" y="121639"/>
                </a:lnTo>
                <a:lnTo>
                  <a:pt x="616888" y="162678"/>
                </a:lnTo>
                <a:lnTo>
                  <a:pt x="601906" y="196525"/>
                </a:lnTo>
                <a:lnTo>
                  <a:pt x="593908" y="224090"/>
                </a:lnTo>
                <a:lnTo>
                  <a:pt x="581882" y="235909"/>
                </a:lnTo>
                <a:lnTo>
                  <a:pt x="570441" y="273034"/>
                </a:lnTo>
                <a:lnTo>
                  <a:pt x="540122" y="294881"/>
                </a:lnTo>
                <a:lnTo>
                  <a:pt x="531339" y="321718"/>
                </a:lnTo>
                <a:lnTo>
                  <a:pt x="518603" y="343078"/>
                </a:lnTo>
                <a:lnTo>
                  <a:pt x="513301" y="365123"/>
                </a:lnTo>
                <a:lnTo>
                  <a:pt x="474354" y="382994"/>
                </a:lnTo>
                <a:lnTo>
                  <a:pt x="442525" y="361200"/>
                </a:lnTo>
                <a:lnTo>
                  <a:pt x="421033" y="362080"/>
                </a:lnTo>
                <a:lnTo>
                  <a:pt x="387269" y="393120"/>
                </a:lnTo>
                <a:lnTo>
                  <a:pt x="370854" y="393597"/>
                </a:lnTo>
                <a:lnTo>
                  <a:pt x="343889" y="444767"/>
                </a:lnTo>
                <a:lnTo>
                  <a:pt x="329305" y="482299"/>
                </a:lnTo>
                <a:lnTo>
                  <a:pt x="270448" y="501385"/>
                </a:lnTo>
                <a:lnTo>
                  <a:pt x="248932" y="498596"/>
                </a:lnTo>
                <a:lnTo>
                  <a:pt x="227132" y="510481"/>
                </a:lnTo>
                <a:lnTo>
                  <a:pt x="181784" y="509322"/>
                </a:lnTo>
                <a:lnTo>
                  <a:pt x="151432" y="476148"/>
                </a:lnTo>
                <a:lnTo>
                  <a:pt x="132767" y="437759"/>
                </a:lnTo>
                <a:lnTo>
                  <a:pt x="92631" y="402817"/>
                </a:lnTo>
                <a:lnTo>
                  <a:pt x="50030" y="403472"/>
                </a:lnTo>
                <a:lnTo>
                  <a:pt x="0" y="403444"/>
                </a:lnTo>
                <a:close/>
              </a:path>
            </a:pathLst>
          </a:custGeom>
          <a:solidFill>
            <a:srgbClr val="AAB3C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frica overview: Cameroon"/>
          <p:cNvSpPr/>
          <p:nvPr/>
        </p:nvSpPr>
        <p:spPr>
          <a:xfrm>
            <a:off x="2370405" y="3299296"/>
            <a:ext cx="426558" cy="590374"/>
          </a:xfrm>
          <a:custGeom>
            <a:avLst/>
            <a:gdLst/>
            <a:ahLst/>
            <a:cxnLst/>
            <a:rect l="l" t="t" r="r" b="b"/>
            <a:pathLst>
              <a:path w="426558" h="590374">
                <a:moveTo>
                  <a:pt x="340552" y="0"/>
                </a:moveTo>
                <a:lnTo>
                  <a:pt x="363091" y="33961"/>
                </a:lnTo>
                <a:lnTo>
                  <a:pt x="366878" y="69149"/>
                </a:lnTo>
                <a:lnTo>
                  <a:pt x="364804" y="104378"/>
                </a:lnTo>
                <a:lnTo>
                  <a:pt x="395662" y="152586"/>
                </a:lnTo>
                <a:lnTo>
                  <a:pt x="363998" y="152067"/>
                </a:lnTo>
                <a:lnTo>
                  <a:pt x="348002" y="155843"/>
                </a:lnTo>
                <a:lnTo>
                  <a:pt x="322165" y="150515"/>
                </a:lnTo>
                <a:lnTo>
                  <a:pt x="309849" y="175542"/>
                </a:lnTo>
                <a:lnTo>
                  <a:pt x="343311" y="206495"/>
                </a:lnTo>
                <a:lnTo>
                  <a:pt x="368003" y="215498"/>
                </a:lnTo>
                <a:lnTo>
                  <a:pt x="375989" y="237452"/>
                </a:lnTo>
                <a:lnTo>
                  <a:pt x="393860" y="274011"/>
                </a:lnTo>
                <a:lnTo>
                  <a:pt x="384980" y="288378"/>
                </a:lnTo>
                <a:lnTo>
                  <a:pt x="356469" y="342125"/>
                </a:lnTo>
                <a:lnTo>
                  <a:pt x="342863" y="351753"/>
                </a:lnTo>
                <a:lnTo>
                  <a:pt x="338489" y="392866"/>
                </a:lnTo>
                <a:lnTo>
                  <a:pt x="344132" y="415202"/>
                </a:lnTo>
                <a:lnTo>
                  <a:pt x="339564" y="431006"/>
                </a:lnTo>
                <a:lnTo>
                  <a:pt x="366356" y="458702"/>
                </a:lnTo>
                <a:lnTo>
                  <a:pt x="371190" y="477743"/>
                </a:lnTo>
                <a:lnTo>
                  <a:pt x="392120" y="505113"/>
                </a:lnTo>
                <a:lnTo>
                  <a:pt x="418048" y="522178"/>
                </a:lnTo>
                <a:lnTo>
                  <a:pt x="420579" y="546369"/>
                </a:lnTo>
                <a:lnTo>
                  <a:pt x="426558" y="561736"/>
                </a:lnTo>
                <a:lnTo>
                  <a:pt x="422480" y="590374"/>
                </a:lnTo>
                <a:lnTo>
                  <a:pt x="377433" y="577839"/>
                </a:lnTo>
                <a:lnTo>
                  <a:pt x="331596" y="563845"/>
                </a:lnTo>
                <a:lnTo>
                  <a:pt x="260050" y="561765"/>
                </a:lnTo>
                <a:lnTo>
                  <a:pt x="252992" y="558874"/>
                </a:lnTo>
                <a:lnTo>
                  <a:pt x="219433" y="565705"/>
                </a:lnTo>
                <a:lnTo>
                  <a:pt x="184980" y="558601"/>
                </a:lnTo>
                <a:lnTo>
                  <a:pt x="158038" y="562086"/>
                </a:lnTo>
                <a:lnTo>
                  <a:pt x="65783" y="560876"/>
                </a:lnTo>
                <a:lnTo>
                  <a:pt x="74062" y="519003"/>
                </a:lnTo>
                <a:lnTo>
                  <a:pt x="51905" y="483940"/>
                </a:lnTo>
                <a:lnTo>
                  <a:pt x="26039" y="474945"/>
                </a:lnTo>
                <a:lnTo>
                  <a:pt x="14519" y="451181"/>
                </a:lnTo>
                <a:lnTo>
                  <a:pt x="0" y="443575"/>
                </a:lnTo>
                <a:lnTo>
                  <a:pt x="650" y="428918"/>
                </a:lnTo>
                <a:lnTo>
                  <a:pt x="15234" y="391386"/>
                </a:lnTo>
                <a:lnTo>
                  <a:pt x="42199" y="340216"/>
                </a:lnTo>
                <a:lnTo>
                  <a:pt x="58614" y="339739"/>
                </a:lnTo>
                <a:lnTo>
                  <a:pt x="92378" y="308699"/>
                </a:lnTo>
                <a:lnTo>
                  <a:pt x="113870" y="307819"/>
                </a:lnTo>
                <a:lnTo>
                  <a:pt x="145699" y="329613"/>
                </a:lnTo>
                <a:lnTo>
                  <a:pt x="184646" y="311742"/>
                </a:lnTo>
                <a:lnTo>
                  <a:pt x="189948" y="289697"/>
                </a:lnTo>
                <a:lnTo>
                  <a:pt x="202684" y="268337"/>
                </a:lnTo>
                <a:lnTo>
                  <a:pt x="211467" y="241500"/>
                </a:lnTo>
                <a:lnTo>
                  <a:pt x="241786" y="219653"/>
                </a:lnTo>
                <a:lnTo>
                  <a:pt x="253227" y="182528"/>
                </a:lnTo>
                <a:lnTo>
                  <a:pt x="265253" y="170709"/>
                </a:lnTo>
                <a:lnTo>
                  <a:pt x="273251" y="143144"/>
                </a:lnTo>
                <a:lnTo>
                  <a:pt x="288233" y="109297"/>
                </a:lnTo>
                <a:lnTo>
                  <a:pt x="335993" y="68258"/>
                </a:lnTo>
                <a:lnTo>
                  <a:pt x="338987" y="50630"/>
                </a:lnTo>
                <a:lnTo>
                  <a:pt x="345166" y="41052"/>
                </a:lnTo>
                <a:lnTo>
                  <a:pt x="322725" y="19928"/>
                </a:lnTo>
                <a:lnTo>
                  <a:pt x="324550" y="3043"/>
                </a:lnTo>
                <a:lnTo>
                  <a:pt x="340552" y="0"/>
                </a:lnTo>
                <a:close/>
              </a:path>
            </a:pathLst>
          </a:custGeom>
          <a:solidFill>
            <a:srgbClr val="BFC7D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frica overview: Togo"/>
          <p:cNvSpPr/>
          <p:nvPr/>
        </p:nvSpPr>
        <p:spPr>
          <a:xfrm>
            <a:off x="1886327" y="3396919"/>
            <a:ext cx="108569" cy="269941"/>
          </a:xfrm>
          <a:custGeom>
            <a:avLst/>
            <a:gdLst/>
            <a:ahLst/>
            <a:cxnLst/>
            <a:rect l="l" t="t" r="r" b="b"/>
            <a:pathLst>
              <a:path w="108569" h="269941">
                <a:moveTo>
                  <a:pt x="53822" y="1132"/>
                </a:moveTo>
                <a:lnTo>
                  <a:pt x="46609" y="29057"/>
                </a:lnTo>
                <a:lnTo>
                  <a:pt x="63926" y="44713"/>
                </a:lnTo>
                <a:lnTo>
                  <a:pt x="83614" y="63286"/>
                </a:lnTo>
                <a:lnTo>
                  <a:pt x="85767" y="89314"/>
                </a:lnTo>
                <a:lnTo>
                  <a:pt x="97187" y="100242"/>
                </a:lnTo>
                <a:lnTo>
                  <a:pt x="94606" y="222040"/>
                </a:lnTo>
                <a:lnTo>
                  <a:pt x="108569" y="258628"/>
                </a:lnTo>
                <a:lnTo>
                  <a:pt x="62924" y="269941"/>
                </a:lnTo>
                <a:lnTo>
                  <a:pt x="50271" y="251318"/>
                </a:lnTo>
                <a:lnTo>
                  <a:pt x="35160" y="217674"/>
                </a:lnTo>
                <a:lnTo>
                  <a:pt x="30657" y="191295"/>
                </a:lnTo>
                <a:lnTo>
                  <a:pt x="43190" y="143525"/>
                </a:lnTo>
                <a:lnTo>
                  <a:pt x="28969" y="124180"/>
                </a:lnTo>
                <a:lnTo>
                  <a:pt x="23567" y="82400"/>
                </a:lnTo>
                <a:lnTo>
                  <a:pt x="23662" y="43885"/>
                </a:lnTo>
                <a:lnTo>
                  <a:pt x="0" y="16535"/>
                </a:lnTo>
                <a:lnTo>
                  <a:pt x="4172" y="0"/>
                </a:lnTo>
                <a:lnTo>
                  <a:pt x="53822" y="1132"/>
                </a:lnTo>
                <a:close/>
              </a:path>
            </a:pathLst>
          </a:custGeom>
          <a:solidFill>
            <a:srgbClr val="AAB3C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frica overview: Ghana"/>
          <p:cNvSpPr/>
          <p:nvPr/>
        </p:nvSpPr>
        <p:spPr>
          <a:xfrm>
            <a:off x="1705217" y="3392694"/>
            <a:ext cx="244034" cy="338783"/>
          </a:xfrm>
          <a:custGeom>
            <a:avLst/>
            <a:gdLst/>
            <a:ahLst/>
            <a:cxnLst/>
            <a:rect l="l" t="t" r="r" b="b"/>
            <a:pathLst>
              <a:path w="244034" h="338783">
                <a:moveTo>
                  <a:pt x="185282" y="4225"/>
                </a:moveTo>
                <a:lnTo>
                  <a:pt x="181110" y="20760"/>
                </a:lnTo>
                <a:lnTo>
                  <a:pt x="204772" y="48110"/>
                </a:lnTo>
                <a:lnTo>
                  <a:pt x="204677" y="86625"/>
                </a:lnTo>
                <a:lnTo>
                  <a:pt x="210079" y="128405"/>
                </a:lnTo>
                <a:lnTo>
                  <a:pt x="224300" y="147750"/>
                </a:lnTo>
                <a:lnTo>
                  <a:pt x="211767" y="195520"/>
                </a:lnTo>
                <a:lnTo>
                  <a:pt x="216270" y="221899"/>
                </a:lnTo>
                <a:lnTo>
                  <a:pt x="231381" y="255543"/>
                </a:lnTo>
                <a:lnTo>
                  <a:pt x="244034" y="274166"/>
                </a:lnTo>
                <a:lnTo>
                  <a:pt x="155153" y="305211"/>
                </a:lnTo>
                <a:lnTo>
                  <a:pt x="123633" y="323398"/>
                </a:lnTo>
                <a:lnTo>
                  <a:pt x="72548" y="338783"/>
                </a:lnTo>
                <a:lnTo>
                  <a:pt x="22011" y="323720"/>
                </a:lnTo>
                <a:lnTo>
                  <a:pt x="24586" y="302794"/>
                </a:lnTo>
                <a:lnTo>
                  <a:pt x="0" y="257108"/>
                </a:lnTo>
                <a:lnTo>
                  <a:pt x="14785" y="197219"/>
                </a:lnTo>
                <a:lnTo>
                  <a:pt x="38675" y="152673"/>
                </a:lnTo>
                <a:lnTo>
                  <a:pt x="23634" y="77213"/>
                </a:lnTo>
                <a:lnTo>
                  <a:pt x="15901" y="37284"/>
                </a:lnTo>
                <a:lnTo>
                  <a:pt x="17233" y="7195"/>
                </a:lnTo>
                <a:lnTo>
                  <a:pt x="115711" y="4695"/>
                </a:lnTo>
                <a:lnTo>
                  <a:pt x="140757" y="8561"/>
                </a:lnTo>
                <a:lnTo>
                  <a:pt x="159062" y="0"/>
                </a:lnTo>
                <a:lnTo>
                  <a:pt x="185282" y="4225"/>
                </a:lnTo>
                <a:close/>
              </a:path>
            </a:pathLst>
          </a:custGeom>
          <a:solidFill>
            <a:srgbClr val="AAB3C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frica overview: Ivory Coast"/>
          <p:cNvSpPr/>
          <p:nvPr/>
        </p:nvSpPr>
        <p:spPr>
          <a:xfrm>
            <a:off x="1401429" y="3423151"/>
            <a:ext cx="342463" cy="328064"/>
          </a:xfrm>
          <a:custGeom>
            <a:avLst/>
            <a:gdLst/>
            <a:ahLst/>
            <a:cxnLst/>
            <a:rect l="l" t="t" r="r" b="b"/>
            <a:pathLst>
              <a:path w="342463" h="328064">
                <a:moveTo>
                  <a:pt x="32481" y="16840"/>
                </a:moveTo>
                <a:lnTo>
                  <a:pt x="39871" y="12022"/>
                </a:lnTo>
                <a:lnTo>
                  <a:pt x="55565" y="19985"/>
                </a:lnTo>
                <a:lnTo>
                  <a:pt x="99346" y="20423"/>
                </a:lnTo>
                <a:lnTo>
                  <a:pt x="109781" y="4946"/>
                </a:lnTo>
                <a:lnTo>
                  <a:pt x="119560" y="5981"/>
                </a:lnTo>
                <a:lnTo>
                  <a:pt x="135929" y="0"/>
                </a:lnTo>
                <a:lnTo>
                  <a:pt x="144704" y="22684"/>
                </a:lnTo>
                <a:lnTo>
                  <a:pt x="157943" y="15991"/>
                </a:lnTo>
                <a:lnTo>
                  <a:pt x="181334" y="8132"/>
                </a:lnTo>
                <a:lnTo>
                  <a:pt x="206828" y="19695"/>
                </a:lnTo>
                <a:lnTo>
                  <a:pt x="216736" y="37235"/>
                </a:lnTo>
                <a:lnTo>
                  <a:pt x="242227" y="48434"/>
                </a:lnTo>
                <a:lnTo>
                  <a:pt x="262058" y="35095"/>
                </a:lnTo>
                <a:lnTo>
                  <a:pt x="288622" y="33080"/>
                </a:lnTo>
                <a:lnTo>
                  <a:pt x="327422" y="46756"/>
                </a:lnTo>
                <a:lnTo>
                  <a:pt x="342463" y="122216"/>
                </a:lnTo>
                <a:lnTo>
                  <a:pt x="318573" y="166762"/>
                </a:lnTo>
                <a:lnTo>
                  <a:pt x="303788" y="226651"/>
                </a:lnTo>
                <a:lnTo>
                  <a:pt x="328374" y="272337"/>
                </a:lnTo>
                <a:lnTo>
                  <a:pt x="325799" y="293263"/>
                </a:lnTo>
                <a:lnTo>
                  <a:pt x="300006" y="293803"/>
                </a:lnTo>
                <a:lnTo>
                  <a:pt x="260450" y="283434"/>
                </a:lnTo>
                <a:lnTo>
                  <a:pt x="224104" y="284046"/>
                </a:lnTo>
                <a:lnTo>
                  <a:pt x="156947" y="293304"/>
                </a:lnTo>
                <a:lnTo>
                  <a:pt x="117587" y="308611"/>
                </a:lnTo>
                <a:lnTo>
                  <a:pt x="61451" y="328064"/>
                </a:lnTo>
                <a:lnTo>
                  <a:pt x="50497" y="326670"/>
                </a:lnTo>
                <a:lnTo>
                  <a:pt x="54851" y="282991"/>
                </a:lnTo>
                <a:lnTo>
                  <a:pt x="60273" y="276352"/>
                </a:lnTo>
                <a:lnTo>
                  <a:pt x="58548" y="255456"/>
                </a:lnTo>
                <a:lnTo>
                  <a:pt x="34536" y="233242"/>
                </a:lnTo>
                <a:lnTo>
                  <a:pt x="16527" y="229697"/>
                </a:lnTo>
                <a:lnTo>
                  <a:pt x="0" y="215138"/>
                </a:lnTo>
                <a:lnTo>
                  <a:pt x="12326" y="191577"/>
                </a:lnTo>
                <a:lnTo>
                  <a:pt x="6657" y="165940"/>
                </a:lnTo>
                <a:lnTo>
                  <a:pt x="9273" y="150515"/>
                </a:lnTo>
                <a:lnTo>
                  <a:pt x="18265" y="150455"/>
                </a:lnTo>
                <a:lnTo>
                  <a:pt x="21604" y="127324"/>
                </a:lnTo>
                <a:lnTo>
                  <a:pt x="17225" y="117082"/>
                </a:lnTo>
                <a:lnTo>
                  <a:pt x="22642" y="109709"/>
                </a:lnTo>
                <a:lnTo>
                  <a:pt x="43697" y="103332"/>
                </a:lnTo>
                <a:lnTo>
                  <a:pt x="29693" y="60876"/>
                </a:lnTo>
                <a:lnTo>
                  <a:pt x="16626" y="38956"/>
                </a:lnTo>
                <a:lnTo>
                  <a:pt x="21177" y="20951"/>
                </a:lnTo>
                <a:lnTo>
                  <a:pt x="32481" y="16840"/>
                </a:lnTo>
                <a:close/>
              </a:path>
            </a:pathLst>
          </a:custGeom>
          <a:solidFill>
            <a:srgbClr val="AAB3C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frica overview: Guinea"/>
          <p:cNvSpPr/>
          <p:nvPr/>
        </p:nvSpPr>
        <p:spPr>
          <a:xfrm>
            <a:off x="1031370" y="3313786"/>
            <a:ext cx="413756" cy="279875"/>
          </a:xfrm>
          <a:custGeom>
            <a:avLst/>
            <a:gdLst/>
            <a:ahLst/>
            <a:cxnLst/>
            <a:rect l="l" t="t" r="r" b="b"/>
            <a:pathLst>
              <a:path w="413756" h="279875">
                <a:moveTo>
                  <a:pt x="81062" y="0"/>
                </a:moveTo>
                <a:lnTo>
                  <a:pt x="108425" y="547"/>
                </a:lnTo>
                <a:lnTo>
                  <a:pt x="149174" y="13476"/>
                </a:lnTo>
                <a:lnTo>
                  <a:pt x="161672" y="12291"/>
                </a:lnTo>
                <a:lnTo>
                  <a:pt x="165926" y="6393"/>
                </a:lnTo>
                <a:lnTo>
                  <a:pt x="196838" y="10586"/>
                </a:lnTo>
                <a:lnTo>
                  <a:pt x="205022" y="7595"/>
                </a:lnTo>
                <a:lnTo>
                  <a:pt x="208298" y="27014"/>
                </a:lnTo>
                <a:lnTo>
                  <a:pt x="217289" y="26953"/>
                </a:lnTo>
                <a:lnTo>
                  <a:pt x="232087" y="19885"/>
                </a:lnTo>
                <a:lnTo>
                  <a:pt x="241482" y="21654"/>
                </a:lnTo>
                <a:lnTo>
                  <a:pt x="257220" y="35121"/>
                </a:lnTo>
                <a:lnTo>
                  <a:pt x="281485" y="39358"/>
                </a:lnTo>
                <a:lnTo>
                  <a:pt x="297032" y="27881"/>
                </a:lnTo>
                <a:lnTo>
                  <a:pt x="315348" y="20787"/>
                </a:lnTo>
                <a:lnTo>
                  <a:pt x="328971" y="13360"/>
                </a:lnTo>
                <a:lnTo>
                  <a:pt x="340318" y="14751"/>
                </a:lnTo>
                <a:lnTo>
                  <a:pt x="352915" y="26403"/>
                </a:lnTo>
                <a:lnTo>
                  <a:pt x="359671" y="41030"/>
                </a:lnTo>
                <a:lnTo>
                  <a:pt x="382904" y="63247"/>
                </a:lnTo>
                <a:lnTo>
                  <a:pt x="371282" y="76898"/>
                </a:lnTo>
                <a:lnTo>
                  <a:pt x="369070" y="94153"/>
                </a:lnTo>
                <a:lnTo>
                  <a:pt x="381146" y="88936"/>
                </a:lnTo>
                <a:lnTo>
                  <a:pt x="388230" y="95124"/>
                </a:lnTo>
                <a:lnTo>
                  <a:pt x="385224" y="110917"/>
                </a:lnTo>
                <a:lnTo>
                  <a:pt x="402540" y="126205"/>
                </a:lnTo>
                <a:lnTo>
                  <a:pt x="391236" y="130316"/>
                </a:lnTo>
                <a:lnTo>
                  <a:pt x="386685" y="148321"/>
                </a:lnTo>
                <a:lnTo>
                  <a:pt x="399752" y="170241"/>
                </a:lnTo>
                <a:lnTo>
                  <a:pt x="413756" y="212697"/>
                </a:lnTo>
                <a:lnTo>
                  <a:pt x="392701" y="219074"/>
                </a:lnTo>
                <a:lnTo>
                  <a:pt x="387284" y="226447"/>
                </a:lnTo>
                <a:lnTo>
                  <a:pt x="391663" y="236689"/>
                </a:lnTo>
                <a:lnTo>
                  <a:pt x="388324" y="259820"/>
                </a:lnTo>
                <a:lnTo>
                  <a:pt x="379332" y="259880"/>
                </a:lnTo>
                <a:lnTo>
                  <a:pt x="363298" y="258521"/>
                </a:lnTo>
                <a:lnTo>
                  <a:pt x="351736" y="279875"/>
                </a:lnTo>
                <a:lnTo>
                  <a:pt x="335708" y="279616"/>
                </a:lnTo>
                <a:lnTo>
                  <a:pt x="324678" y="268320"/>
                </a:lnTo>
                <a:lnTo>
                  <a:pt x="328423" y="247020"/>
                </a:lnTo>
                <a:lnTo>
                  <a:pt x="304722" y="214535"/>
                </a:lnTo>
                <a:lnTo>
                  <a:pt x="289913" y="220504"/>
                </a:lnTo>
                <a:lnTo>
                  <a:pt x="277807" y="221686"/>
                </a:lnTo>
                <a:lnTo>
                  <a:pt x="262195" y="224726"/>
                </a:lnTo>
                <a:lnTo>
                  <a:pt x="262828" y="205281"/>
                </a:lnTo>
                <a:lnTo>
                  <a:pt x="253731" y="191405"/>
                </a:lnTo>
                <a:lnTo>
                  <a:pt x="255567" y="175986"/>
                </a:lnTo>
                <a:lnTo>
                  <a:pt x="243278" y="153693"/>
                </a:lnTo>
                <a:lnTo>
                  <a:pt x="227499" y="134726"/>
                </a:lnTo>
                <a:lnTo>
                  <a:pt x="182156" y="134667"/>
                </a:lnTo>
                <a:lnTo>
                  <a:pt x="168943" y="144660"/>
                </a:lnTo>
                <a:lnTo>
                  <a:pt x="153319" y="145866"/>
                </a:lnTo>
                <a:lnTo>
                  <a:pt x="143637" y="157303"/>
                </a:lnTo>
                <a:lnTo>
                  <a:pt x="137103" y="172019"/>
                </a:lnTo>
                <a:lnTo>
                  <a:pt x="106796" y="195336"/>
                </a:lnTo>
                <a:lnTo>
                  <a:pt x="81930" y="163955"/>
                </a:lnTo>
                <a:lnTo>
                  <a:pt x="59883" y="143196"/>
                </a:lnTo>
                <a:lnTo>
                  <a:pt x="45368" y="136325"/>
                </a:lnTo>
                <a:lnTo>
                  <a:pt x="31216" y="125785"/>
                </a:lnTo>
                <a:lnTo>
                  <a:pt x="24779" y="102352"/>
                </a:lnTo>
                <a:lnTo>
                  <a:pt x="16484" y="90670"/>
                </a:lnTo>
                <a:lnTo>
                  <a:pt x="0" y="81981"/>
                </a:lnTo>
                <a:lnTo>
                  <a:pt x="25207" y="56131"/>
                </a:lnTo>
                <a:lnTo>
                  <a:pt x="42413" y="57115"/>
                </a:lnTo>
                <a:lnTo>
                  <a:pt x="57198" y="48213"/>
                </a:lnTo>
                <a:lnTo>
                  <a:pt x="69705" y="48128"/>
                </a:lnTo>
                <a:lnTo>
                  <a:pt x="78642" y="41098"/>
                </a:lnTo>
                <a:lnTo>
                  <a:pt x="73816" y="23524"/>
                </a:lnTo>
                <a:lnTo>
                  <a:pt x="80026" y="17979"/>
                </a:lnTo>
                <a:lnTo>
                  <a:pt x="81062" y="0"/>
                </a:lnTo>
                <a:close/>
              </a:path>
            </a:pathLst>
          </a:custGeom>
          <a:solidFill>
            <a:srgbClr val="AAB3C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frica overview: Guinea-Bissau"/>
          <p:cNvSpPr/>
          <p:nvPr/>
        </p:nvSpPr>
        <p:spPr>
          <a:xfrm>
            <a:off x="943658" y="3311560"/>
            <a:ext cx="168774" cy="84207"/>
          </a:xfrm>
          <a:custGeom>
            <a:avLst/>
            <a:gdLst/>
            <a:ahLst/>
            <a:cxnLst/>
            <a:rect l="l" t="t" r="r" b="b"/>
            <a:pathLst>
              <a:path w="168774" h="84207">
                <a:moveTo>
                  <a:pt x="0" y="12904"/>
                </a:moveTo>
                <a:lnTo>
                  <a:pt x="30033" y="4264"/>
                </a:lnTo>
                <a:lnTo>
                  <a:pt x="48806" y="5972"/>
                </a:lnTo>
                <a:lnTo>
                  <a:pt x="64005" y="0"/>
                </a:lnTo>
                <a:lnTo>
                  <a:pt x="168774" y="2226"/>
                </a:lnTo>
                <a:lnTo>
                  <a:pt x="167738" y="20205"/>
                </a:lnTo>
                <a:lnTo>
                  <a:pt x="161528" y="25750"/>
                </a:lnTo>
                <a:lnTo>
                  <a:pt x="166354" y="43324"/>
                </a:lnTo>
                <a:lnTo>
                  <a:pt x="157417" y="50354"/>
                </a:lnTo>
                <a:lnTo>
                  <a:pt x="144910" y="50439"/>
                </a:lnTo>
                <a:lnTo>
                  <a:pt x="130125" y="59341"/>
                </a:lnTo>
                <a:lnTo>
                  <a:pt x="112919" y="58357"/>
                </a:lnTo>
                <a:lnTo>
                  <a:pt x="87712" y="84207"/>
                </a:lnTo>
                <a:lnTo>
                  <a:pt x="57446" y="62035"/>
                </a:lnTo>
                <a:lnTo>
                  <a:pt x="33576" y="58528"/>
                </a:lnTo>
                <a:lnTo>
                  <a:pt x="20561" y="43576"/>
                </a:lnTo>
                <a:lnTo>
                  <a:pt x="20892" y="35505"/>
                </a:lnTo>
                <a:lnTo>
                  <a:pt x="3607" y="24250"/>
                </a:lnTo>
                <a:lnTo>
                  <a:pt x="0" y="12904"/>
                </a:lnTo>
                <a:close/>
              </a:path>
            </a:pathLst>
          </a:custGeom>
          <a:solidFill>
            <a:srgbClr val="AAB3C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frica overview: Liberia"/>
          <p:cNvSpPr/>
          <p:nvPr/>
        </p:nvSpPr>
        <p:spPr>
          <a:xfrm>
            <a:off x="1240653" y="3528321"/>
            <a:ext cx="221049" cy="221968"/>
          </a:xfrm>
          <a:custGeom>
            <a:avLst/>
            <a:gdLst/>
            <a:ahLst/>
            <a:cxnLst/>
            <a:rect l="l" t="t" r="r" b="b"/>
            <a:pathLst>
              <a:path w="221049" h="221968">
                <a:moveTo>
                  <a:pt x="170049" y="45345"/>
                </a:moveTo>
                <a:lnTo>
                  <a:pt x="167433" y="60770"/>
                </a:lnTo>
                <a:lnTo>
                  <a:pt x="173102" y="86407"/>
                </a:lnTo>
                <a:lnTo>
                  <a:pt x="160776" y="109968"/>
                </a:lnTo>
                <a:lnTo>
                  <a:pt x="177303" y="124527"/>
                </a:lnTo>
                <a:lnTo>
                  <a:pt x="195312" y="128072"/>
                </a:lnTo>
                <a:lnTo>
                  <a:pt x="219324" y="150286"/>
                </a:lnTo>
                <a:lnTo>
                  <a:pt x="221049" y="171182"/>
                </a:lnTo>
                <a:lnTo>
                  <a:pt x="215627" y="177821"/>
                </a:lnTo>
                <a:lnTo>
                  <a:pt x="211273" y="221500"/>
                </a:lnTo>
                <a:lnTo>
                  <a:pt x="196422" y="221968"/>
                </a:lnTo>
                <a:lnTo>
                  <a:pt x="137990" y="196688"/>
                </a:lnTo>
                <a:lnTo>
                  <a:pt x="86477" y="156320"/>
                </a:lnTo>
                <a:lnTo>
                  <a:pt x="38177" y="127302"/>
                </a:lnTo>
                <a:lnTo>
                  <a:pt x="0" y="93084"/>
                </a:lnTo>
                <a:lnTo>
                  <a:pt x="13549" y="76116"/>
                </a:lnTo>
                <a:lnTo>
                  <a:pt x="16559" y="60690"/>
                </a:lnTo>
                <a:lnTo>
                  <a:pt x="42134" y="31905"/>
                </a:lnTo>
                <a:lnTo>
                  <a:pt x="68524" y="7151"/>
                </a:lnTo>
                <a:lnTo>
                  <a:pt x="80630" y="5969"/>
                </a:lnTo>
                <a:lnTo>
                  <a:pt x="95439" y="0"/>
                </a:lnTo>
                <a:lnTo>
                  <a:pt x="119140" y="32485"/>
                </a:lnTo>
                <a:lnTo>
                  <a:pt x="115395" y="53785"/>
                </a:lnTo>
                <a:lnTo>
                  <a:pt x="126425" y="65081"/>
                </a:lnTo>
                <a:lnTo>
                  <a:pt x="142453" y="65340"/>
                </a:lnTo>
                <a:lnTo>
                  <a:pt x="154015" y="43986"/>
                </a:lnTo>
                <a:lnTo>
                  <a:pt x="170049" y="45345"/>
                </a:lnTo>
                <a:close/>
              </a:path>
            </a:pathLst>
          </a:custGeom>
          <a:solidFill>
            <a:srgbClr val="AAB3C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frica overview: Sierra Leone"/>
          <p:cNvSpPr/>
          <p:nvPr/>
        </p:nvSpPr>
        <p:spPr>
          <a:xfrm>
            <a:off x="1138166" y="3448453"/>
            <a:ext cx="171011" cy="172952"/>
          </a:xfrm>
          <a:custGeom>
            <a:avLst/>
            <a:gdLst/>
            <a:ahLst/>
            <a:cxnLst/>
            <a:rect l="l" t="t" r="r" b="b"/>
            <a:pathLst>
              <a:path w="171011" h="172952">
                <a:moveTo>
                  <a:pt x="0" y="60669"/>
                </a:moveTo>
                <a:lnTo>
                  <a:pt x="30307" y="37352"/>
                </a:lnTo>
                <a:lnTo>
                  <a:pt x="36841" y="22636"/>
                </a:lnTo>
                <a:lnTo>
                  <a:pt x="46523" y="11199"/>
                </a:lnTo>
                <a:lnTo>
                  <a:pt x="62147" y="9993"/>
                </a:lnTo>
                <a:lnTo>
                  <a:pt x="75360" y="0"/>
                </a:lnTo>
                <a:lnTo>
                  <a:pt x="120703" y="59"/>
                </a:lnTo>
                <a:lnTo>
                  <a:pt x="136482" y="19026"/>
                </a:lnTo>
                <a:lnTo>
                  <a:pt x="148771" y="41319"/>
                </a:lnTo>
                <a:lnTo>
                  <a:pt x="146935" y="56738"/>
                </a:lnTo>
                <a:lnTo>
                  <a:pt x="156032" y="70614"/>
                </a:lnTo>
                <a:lnTo>
                  <a:pt x="155399" y="90059"/>
                </a:lnTo>
                <a:lnTo>
                  <a:pt x="171011" y="87019"/>
                </a:lnTo>
                <a:lnTo>
                  <a:pt x="144621" y="111773"/>
                </a:lnTo>
                <a:lnTo>
                  <a:pt x="119046" y="140558"/>
                </a:lnTo>
                <a:lnTo>
                  <a:pt x="116036" y="155984"/>
                </a:lnTo>
                <a:lnTo>
                  <a:pt x="102487" y="172952"/>
                </a:lnTo>
                <a:lnTo>
                  <a:pt x="87214" y="169017"/>
                </a:lnTo>
                <a:lnTo>
                  <a:pt x="46400" y="147653"/>
                </a:lnTo>
                <a:lnTo>
                  <a:pt x="16866" y="119241"/>
                </a:lnTo>
                <a:lnTo>
                  <a:pt x="6946" y="99868"/>
                </a:lnTo>
                <a:lnTo>
                  <a:pt x="0" y="60669"/>
                </a:lnTo>
                <a:close/>
              </a:path>
            </a:pathLst>
          </a:custGeom>
          <a:solidFill>
            <a:srgbClr val="AAB3C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frica overview: Burkina Faso"/>
          <p:cNvSpPr/>
          <p:nvPr/>
        </p:nvSpPr>
        <p:spPr>
          <a:xfrm>
            <a:off x="1579008" y="3179609"/>
            <a:ext cx="433568" cy="291976"/>
          </a:xfrm>
          <a:custGeom>
            <a:avLst/>
            <a:gdLst/>
            <a:ahLst/>
            <a:cxnLst/>
            <a:rect l="l" t="t" r="r" b="b"/>
            <a:pathLst>
              <a:path w="433568" h="291976">
                <a:moveTo>
                  <a:pt x="3755" y="251674"/>
                </a:moveTo>
                <a:lnTo>
                  <a:pt x="0" y="220885"/>
                </a:lnTo>
                <a:lnTo>
                  <a:pt x="15462" y="198405"/>
                </a:lnTo>
                <a:lnTo>
                  <a:pt x="14152" y="180441"/>
                </a:lnTo>
                <a:lnTo>
                  <a:pt x="59153" y="136486"/>
                </a:lnTo>
                <a:lnTo>
                  <a:pt x="67474" y="100115"/>
                </a:lnTo>
                <a:lnTo>
                  <a:pt x="83008" y="87172"/>
                </a:lnTo>
                <a:lnTo>
                  <a:pt x="110424" y="94323"/>
                </a:lnTo>
                <a:lnTo>
                  <a:pt x="134184" y="83524"/>
                </a:lnTo>
                <a:lnTo>
                  <a:pt x="141895" y="69900"/>
                </a:lnTo>
                <a:lnTo>
                  <a:pt x="185881" y="46126"/>
                </a:lnTo>
                <a:lnTo>
                  <a:pt x="196698" y="29548"/>
                </a:lnTo>
                <a:lnTo>
                  <a:pt x="249687" y="7549"/>
                </a:lnTo>
                <a:lnTo>
                  <a:pt x="280897" y="0"/>
                </a:lnTo>
                <a:lnTo>
                  <a:pt x="295047" y="10174"/>
                </a:lnTo>
                <a:lnTo>
                  <a:pt x="331396" y="9930"/>
                </a:lnTo>
                <a:lnTo>
                  <a:pt x="326903" y="35635"/>
                </a:lnTo>
                <a:lnTo>
                  <a:pt x="334516" y="59793"/>
                </a:lnTo>
                <a:lnTo>
                  <a:pt x="366440" y="94424"/>
                </a:lnTo>
                <a:lnTo>
                  <a:pt x="368201" y="120089"/>
                </a:lnTo>
                <a:lnTo>
                  <a:pt x="433568" y="132118"/>
                </a:lnTo>
                <a:lnTo>
                  <a:pt x="432285" y="168440"/>
                </a:lnTo>
                <a:lnTo>
                  <a:pt x="419898" y="184297"/>
                </a:lnTo>
                <a:lnTo>
                  <a:pt x="392186" y="189253"/>
                </a:lnTo>
                <a:lnTo>
                  <a:pt x="380638" y="212440"/>
                </a:lnTo>
                <a:lnTo>
                  <a:pt x="361141" y="218442"/>
                </a:lnTo>
                <a:lnTo>
                  <a:pt x="311491" y="217310"/>
                </a:lnTo>
                <a:lnTo>
                  <a:pt x="285271" y="213085"/>
                </a:lnTo>
                <a:lnTo>
                  <a:pt x="266966" y="221646"/>
                </a:lnTo>
                <a:lnTo>
                  <a:pt x="241920" y="217780"/>
                </a:lnTo>
                <a:lnTo>
                  <a:pt x="143442" y="220280"/>
                </a:lnTo>
                <a:lnTo>
                  <a:pt x="142110" y="250369"/>
                </a:lnTo>
                <a:lnTo>
                  <a:pt x="149843" y="290298"/>
                </a:lnTo>
                <a:lnTo>
                  <a:pt x="111043" y="276622"/>
                </a:lnTo>
                <a:lnTo>
                  <a:pt x="84479" y="278637"/>
                </a:lnTo>
                <a:lnTo>
                  <a:pt x="64648" y="291976"/>
                </a:lnTo>
                <a:lnTo>
                  <a:pt x="39157" y="280777"/>
                </a:lnTo>
                <a:lnTo>
                  <a:pt x="29249" y="263237"/>
                </a:lnTo>
                <a:lnTo>
                  <a:pt x="3755" y="251674"/>
                </a:lnTo>
                <a:close/>
              </a:path>
            </a:pathLst>
          </a:custGeom>
          <a:solidFill>
            <a:srgbClr val="AAB3C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frica overview: Central African Republic"/>
          <p:cNvSpPr/>
          <p:nvPr/>
        </p:nvSpPr>
        <p:spPr>
          <a:xfrm>
            <a:off x="2708894" y="3390358"/>
            <a:ext cx="732177" cy="470674"/>
          </a:xfrm>
          <a:custGeom>
            <a:avLst/>
            <a:gdLst/>
            <a:ahLst/>
            <a:cxnLst/>
            <a:rect l="l" t="t" r="r" b="b"/>
            <a:pathLst>
              <a:path w="732177" h="470674">
                <a:moveTo>
                  <a:pt x="732177" y="313356"/>
                </a:moveTo>
                <a:lnTo>
                  <a:pt x="713460" y="318982"/>
                </a:lnTo>
                <a:lnTo>
                  <a:pt x="677102" y="317761"/>
                </a:lnTo>
                <a:lnTo>
                  <a:pt x="634452" y="312181"/>
                </a:lnTo>
                <a:lnTo>
                  <a:pt x="613382" y="316725"/>
                </a:lnTo>
                <a:lnTo>
                  <a:pt x="604880" y="329622"/>
                </a:lnTo>
                <a:lnTo>
                  <a:pt x="586522" y="331213"/>
                </a:lnTo>
                <a:lnTo>
                  <a:pt x="564157" y="319994"/>
                </a:lnTo>
                <a:lnTo>
                  <a:pt x="501040" y="346463"/>
                </a:lnTo>
                <a:lnTo>
                  <a:pt x="475203" y="341137"/>
                </a:lnTo>
                <a:lnTo>
                  <a:pt x="467416" y="345224"/>
                </a:lnTo>
                <a:lnTo>
                  <a:pt x="450465" y="377252"/>
                </a:lnTo>
                <a:lnTo>
                  <a:pt x="408172" y="366900"/>
                </a:lnTo>
                <a:lnTo>
                  <a:pt x="366700" y="361679"/>
                </a:lnTo>
                <a:lnTo>
                  <a:pt x="330591" y="342115"/>
                </a:lnTo>
                <a:lnTo>
                  <a:pt x="283939" y="324091"/>
                </a:lnTo>
                <a:lnTo>
                  <a:pt x="253582" y="341170"/>
                </a:lnTo>
                <a:lnTo>
                  <a:pt x="231509" y="368097"/>
                </a:lnTo>
                <a:lnTo>
                  <a:pt x="226412" y="405083"/>
                </a:lnTo>
                <a:lnTo>
                  <a:pt x="189949" y="402123"/>
                </a:lnTo>
                <a:lnTo>
                  <a:pt x="151576" y="393213"/>
                </a:lnTo>
                <a:lnTo>
                  <a:pt x="117788" y="421319"/>
                </a:lnTo>
                <a:lnTo>
                  <a:pt x="88069" y="470674"/>
                </a:lnTo>
                <a:lnTo>
                  <a:pt x="82090" y="455307"/>
                </a:lnTo>
                <a:lnTo>
                  <a:pt x="79559" y="431116"/>
                </a:lnTo>
                <a:lnTo>
                  <a:pt x="53631" y="414051"/>
                </a:lnTo>
                <a:lnTo>
                  <a:pt x="32701" y="386681"/>
                </a:lnTo>
                <a:lnTo>
                  <a:pt x="27867" y="367640"/>
                </a:lnTo>
                <a:lnTo>
                  <a:pt x="1075" y="339944"/>
                </a:lnTo>
                <a:lnTo>
                  <a:pt x="5643" y="324140"/>
                </a:lnTo>
                <a:lnTo>
                  <a:pt x="0" y="301804"/>
                </a:lnTo>
                <a:lnTo>
                  <a:pt x="4374" y="260691"/>
                </a:lnTo>
                <a:lnTo>
                  <a:pt x="17980" y="251063"/>
                </a:lnTo>
                <a:lnTo>
                  <a:pt x="46491" y="197316"/>
                </a:lnTo>
                <a:lnTo>
                  <a:pt x="93363" y="193330"/>
                </a:lnTo>
                <a:lnTo>
                  <a:pt x="103813" y="179688"/>
                </a:lnTo>
                <a:lnTo>
                  <a:pt x="113203" y="180724"/>
                </a:lnTo>
                <a:lnTo>
                  <a:pt x="127365" y="192733"/>
                </a:lnTo>
                <a:lnTo>
                  <a:pt x="198738" y="172443"/>
                </a:lnTo>
                <a:lnTo>
                  <a:pt x="222811" y="151738"/>
                </a:lnTo>
                <a:lnTo>
                  <a:pt x="252375" y="133198"/>
                </a:lnTo>
                <a:lnTo>
                  <a:pt x="246761" y="114528"/>
                </a:lnTo>
                <a:lnTo>
                  <a:pt x="262749" y="109653"/>
                </a:lnTo>
                <a:lnTo>
                  <a:pt x="317496" y="112948"/>
                </a:lnTo>
                <a:lnTo>
                  <a:pt x="370854" y="88378"/>
                </a:lnTo>
                <a:lnTo>
                  <a:pt x="411840" y="30513"/>
                </a:lnTo>
                <a:lnTo>
                  <a:pt x="440601" y="9043"/>
                </a:lnTo>
                <a:lnTo>
                  <a:pt x="476489" y="0"/>
                </a:lnTo>
                <a:lnTo>
                  <a:pt x="482917" y="22695"/>
                </a:lnTo>
                <a:lnTo>
                  <a:pt x="515615" y="55853"/>
                </a:lnTo>
                <a:lnTo>
                  <a:pt x="515782" y="77494"/>
                </a:lnTo>
                <a:lnTo>
                  <a:pt x="506571" y="99564"/>
                </a:lnTo>
                <a:lnTo>
                  <a:pt x="510213" y="116047"/>
                </a:lnTo>
                <a:lnTo>
                  <a:pt x="529874" y="131319"/>
                </a:lnTo>
                <a:lnTo>
                  <a:pt x="573049" y="154502"/>
                </a:lnTo>
                <a:lnTo>
                  <a:pt x="604092" y="175933"/>
                </a:lnTo>
                <a:lnTo>
                  <a:pt x="604613" y="193171"/>
                </a:lnTo>
                <a:lnTo>
                  <a:pt x="642740" y="220790"/>
                </a:lnTo>
                <a:lnTo>
                  <a:pt x="666368" y="243739"/>
                </a:lnTo>
                <a:lnTo>
                  <a:pt x="680682" y="275554"/>
                </a:lnTo>
                <a:lnTo>
                  <a:pt x="723060" y="296543"/>
                </a:lnTo>
                <a:lnTo>
                  <a:pt x="732177" y="313356"/>
                </a:lnTo>
                <a:close/>
              </a:path>
            </a:pathLst>
          </a:custGeom>
          <a:solidFill>
            <a:srgbClr val="BFC7D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frica overview: Republic of the Congo"/>
          <p:cNvSpPr/>
          <p:nvPr/>
        </p:nvSpPr>
        <p:spPr>
          <a:xfrm>
            <a:off x="2518087" y="3783571"/>
            <a:ext cx="417219" cy="464917"/>
          </a:xfrm>
          <a:custGeom>
            <a:avLst/>
            <a:gdLst/>
            <a:ahLst/>
            <a:cxnLst/>
            <a:rect l="l" t="t" r="r" b="b"/>
            <a:pathLst>
              <a:path w="417219" h="464917">
                <a:moveTo>
                  <a:pt x="417219" y="11870"/>
                </a:moveTo>
                <a:lnTo>
                  <a:pt x="413858" y="43901"/>
                </a:lnTo>
                <a:lnTo>
                  <a:pt x="396878" y="72260"/>
                </a:lnTo>
                <a:lnTo>
                  <a:pt x="385798" y="105348"/>
                </a:lnTo>
                <a:lnTo>
                  <a:pt x="378732" y="152346"/>
                </a:lnTo>
                <a:lnTo>
                  <a:pt x="381699" y="182403"/>
                </a:lnTo>
                <a:lnTo>
                  <a:pt x="372459" y="200807"/>
                </a:lnTo>
                <a:lnTo>
                  <a:pt x="371047" y="220257"/>
                </a:lnTo>
                <a:lnTo>
                  <a:pt x="364531" y="237175"/>
                </a:lnTo>
                <a:lnTo>
                  <a:pt x="327204" y="262737"/>
                </a:lnTo>
                <a:lnTo>
                  <a:pt x="301227" y="290057"/>
                </a:lnTo>
                <a:lnTo>
                  <a:pt x="276606" y="341578"/>
                </a:lnTo>
                <a:lnTo>
                  <a:pt x="278504" y="385213"/>
                </a:lnTo>
                <a:lnTo>
                  <a:pt x="264175" y="402186"/>
                </a:lnTo>
                <a:lnTo>
                  <a:pt x="231149" y="428085"/>
                </a:lnTo>
                <a:lnTo>
                  <a:pt x="197792" y="461324"/>
                </a:lnTo>
                <a:lnTo>
                  <a:pt x="176613" y="451929"/>
                </a:lnTo>
                <a:lnTo>
                  <a:pt x="172980" y="436915"/>
                </a:lnTo>
                <a:lnTo>
                  <a:pt x="142098" y="436392"/>
                </a:lnTo>
                <a:lnTo>
                  <a:pt x="122710" y="456695"/>
                </a:lnTo>
                <a:lnTo>
                  <a:pt x="107815" y="451293"/>
                </a:lnTo>
                <a:lnTo>
                  <a:pt x="86569" y="433098"/>
                </a:lnTo>
                <a:lnTo>
                  <a:pt x="69439" y="442018"/>
                </a:lnTo>
                <a:lnTo>
                  <a:pt x="46556" y="464917"/>
                </a:lnTo>
                <a:lnTo>
                  <a:pt x="0" y="408744"/>
                </a:lnTo>
                <a:lnTo>
                  <a:pt x="43163" y="379471"/>
                </a:lnTo>
                <a:lnTo>
                  <a:pt x="21785" y="344401"/>
                </a:lnTo>
                <a:lnTo>
                  <a:pt x="41226" y="331065"/>
                </a:lnTo>
                <a:lnTo>
                  <a:pt x="79479" y="324570"/>
                </a:lnTo>
                <a:lnTo>
                  <a:pt x="83991" y="301066"/>
                </a:lnTo>
                <a:lnTo>
                  <a:pt x="114284" y="326535"/>
                </a:lnTo>
                <a:lnTo>
                  <a:pt x="164332" y="328766"/>
                </a:lnTo>
                <a:lnTo>
                  <a:pt x="181725" y="303705"/>
                </a:lnTo>
                <a:lnTo>
                  <a:pt x="188882" y="268444"/>
                </a:lnTo>
                <a:lnTo>
                  <a:pt x="182701" y="227035"/>
                </a:lnTo>
                <a:lnTo>
                  <a:pt x="155880" y="195671"/>
                </a:lnTo>
                <a:lnTo>
                  <a:pt x="180424" y="134247"/>
                </a:lnTo>
                <a:lnTo>
                  <a:pt x="166274" y="123706"/>
                </a:lnTo>
                <a:lnTo>
                  <a:pt x="124092" y="128028"/>
                </a:lnTo>
                <a:lnTo>
                  <a:pt x="108246" y="100624"/>
                </a:lnTo>
                <a:lnTo>
                  <a:pt x="112368" y="77490"/>
                </a:lnTo>
                <a:lnTo>
                  <a:pt x="183914" y="79570"/>
                </a:lnTo>
                <a:lnTo>
                  <a:pt x="229751" y="93564"/>
                </a:lnTo>
                <a:lnTo>
                  <a:pt x="274798" y="106099"/>
                </a:lnTo>
                <a:lnTo>
                  <a:pt x="278876" y="77461"/>
                </a:lnTo>
                <a:lnTo>
                  <a:pt x="308595" y="28106"/>
                </a:lnTo>
                <a:lnTo>
                  <a:pt x="342383" y="0"/>
                </a:lnTo>
                <a:lnTo>
                  <a:pt x="380756" y="8910"/>
                </a:lnTo>
                <a:lnTo>
                  <a:pt x="417219" y="11870"/>
                </a:lnTo>
                <a:close/>
              </a:path>
            </a:pathLst>
          </a:custGeom>
          <a:solidFill>
            <a:srgbClr val="BFC7D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frica overview: Gabon"/>
          <p:cNvSpPr/>
          <p:nvPr/>
        </p:nvSpPr>
        <p:spPr>
          <a:xfrm>
            <a:off x="2387933" y="3857897"/>
            <a:ext cx="319036" cy="334418"/>
          </a:xfrm>
          <a:custGeom>
            <a:avLst/>
            <a:gdLst/>
            <a:ahLst/>
            <a:cxnLst/>
            <a:rect l="l" t="t" r="r" b="b"/>
            <a:pathLst>
              <a:path w="319036" h="334418">
                <a:moveTo>
                  <a:pt x="140510" y="3485"/>
                </a:moveTo>
                <a:lnTo>
                  <a:pt x="167452" y="0"/>
                </a:lnTo>
                <a:lnTo>
                  <a:pt x="201905" y="7104"/>
                </a:lnTo>
                <a:lnTo>
                  <a:pt x="235464" y="273"/>
                </a:lnTo>
                <a:lnTo>
                  <a:pt x="242522" y="3164"/>
                </a:lnTo>
                <a:lnTo>
                  <a:pt x="238400" y="26298"/>
                </a:lnTo>
                <a:lnTo>
                  <a:pt x="254246" y="53702"/>
                </a:lnTo>
                <a:lnTo>
                  <a:pt x="296428" y="49380"/>
                </a:lnTo>
                <a:lnTo>
                  <a:pt x="310578" y="59921"/>
                </a:lnTo>
                <a:lnTo>
                  <a:pt x="286034" y="121345"/>
                </a:lnTo>
                <a:lnTo>
                  <a:pt x="312855" y="152709"/>
                </a:lnTo>
                <a:lnTo>
                  <a:pt x="319036" y="194118"/>
                </a:lnTo>
                <a:lnTo>
                  <a:pt x="311879" y="229379"/>
                </a:lnTo>
                <a:lnTo>
                  <a:pt x="294486" y="254440"/>
                </a:lnTo>
                <a:lnTo>
                  <a:pt x="244438" y="252209"/>
                </a:lnTo>
                <a:lnTo>
                  <a:pt x="214145" y="226740"/>
                </a:lnTo>
                <a:lnTo>
                  <a:pt x="209633" y="250244"/>
                </a:lnTo>
                <a:lnTo>
                  <a:pt x="171380" y="256739"/>
                </a:lnTo>
                <a:lnTo>
                  <a:pt x="151939" y="270075"/>
                </a:lnTo>
                <a:lnTo>
                  <a:pt x="173317" y="305145"/>
                </a:lnTo>
                <a:lnTo>
                  <a:pt x="130154" y="334418"/>
                </a:lnTo>
                <a:lnTo>
                  <a:pt x="71894" y="280887"/>
                </a:lnTo>
                <a:lnTo>
                  <a:pt x="34427" y="237124"/>
                </a:lnTo>
                <a:lnTo>
                  <a:pt x="0" y="182338"/>
                </a:lnTo>
                <a:lnTo>
                  <a:pt x="1819" y="164718"/>
                </a:lnTo>
                <a:lnTo>
                  <a:pt x="14197" y="147762"/>
                </a:lnTo>
                <a:lnTo>
                  <a:pt x="27970" y="109151"/>
                </a:lnTo>
                <a:lnTo>
                  <a:pt x="39395" y="69828"/>
                </a:lnTo>
                <a:lnTo>
                  <a:pt x="58523" y="66764"/>
                </a:lnTo>
                <a:lnTo>
                  <a:pt x="141000" y="67307"/>
                </a:lnTo>
                <a:lnTo>
                  <a:pt x="140510" y="3485"/>
                </a:lnTo>
                <a:close/>
              </a:path>
            </a:pathLst>
          </a:custGeom>
          <a:solidFill>
            <a:srgbClr val="BFC7D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frica overview: Equatorial Guinea"/>
          <p:cNvSpPr/>
          <p:nvPr/>
        </p:nvSpPr>
        <p:spPr>
          <a:xfrm>
            <a:off x="2416711" y="3860172"/>
            <a:ext cx="112222" cy="67553"/>
          </a:xfrm>
          <a:custGeom>
            <a:avLst/>
            <a:gdLst/>
            <a:ahLst/>
            <a:cxnLst/>
            <a:rect l="l" t="t" r="r" b="b"/>
            <a:pathLst>
              <a:path w="112222" h="67553">
                <a:moveTo>
                  <a:pt x="19477" y="0"/>
                </a:moveTo>
                <a:lnTo>
                  <a:pt x="111732" y="1210"/>
                </a:lnTo>
                <a:lnTo>
                  <a:pt x="112222" y="65032"/>
                </a:lnTo>
                <a:lnTo>
                  <a:pt x="29745" y="64489"/>
                </a:lnTo>
                <a:lnTo>
                  <a:pt x="10617" y="67553"/>
                </a:lnTo>
                <a:lnTo>
                  <a:pt x="0" y="59556"/>
                </a:lnTo>
                <a:lnTo>
                  <a:pt x="19477" y="0"/>
                </a:lnTo>
                <a:close/>
              </a:path>
            </a:pathLst>
          </a:custGeom>
          <a:solidFill>
            <a:srgbClr val="BFC7D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frica overview: Zambia"/>
          <p:cNvSpPr/>
          <p:nvPr/>
        </p:nvSpPr>
        <p:spPr>
          <a:xfrm>
            <a:off x="3130033" y="4418215"/>
            <a:ext cx="657514" cy="515659"/>
          </a:xfrm>
          <a:custGeom>
            <a:avLst/>
            <a:gdLst/>
            <a:ahLst/>
            <a:cxnLst/>
            <a:rect l="l" t="t" r="r" b="b"/>
            <a:pathLst>
              <a:path w="657514" h="515659">
                <a:moveTo>
                  <a:pt x="501854" y="5396"/>
                </a:moveTo>
                <a:lnTo>
                  <a:pt x="525537" y="18897"/>
                </a:lnTo>
                <a:lnTo>
                  <a:pt x="548135" y="27779"/>
                </a:lnTo>
                <a:lnTo>
                  <a:pt x="584164" y="36705"/>
                </a:lnTo>
                <a:lnTo>
                  <a:pt x="616338" y="52629"/>
                </a:lnTo>
                <a:lnTo>
                  <a:pt x="643097" y="76289"/>
                </a:lnTo>
                <a:lnTo>
                  <a:pt x="657514" y="121307"/>
                </a:lnTo>
                <a:lnTo>
                  <a:pt x="647855" y="135679"/>
                </a:lnTo>
                <a:lnTo>
                  <a:pt x="636459" y="178672"/>
                </a:lnTo>
                <a:lnTo>
                  <a:pt x="647351" y="222616"/>
                </a:lnTo>
                <a:lnTo>
                  <a:pt x="629512" y="241077"/>
                </a:lnTo>
                <a:lnTo>
                  <a:pt x="612301" y="290346"/>
                </a:lnTo>
                <a:lnTo>
                  <a:pt x="642113" y="304082"/>
                </a:lnTo>
                <a:lnTo>
                  <a:pt x="470076" y="347796"/>
                </a:lnTo>
                <a:lnTo>
                  <a:pt x="475449" y="385541"/>
                </a:lnTo>
                <a:lnTo>
                  <a:pt x="432509" y="392801"/>
                </a:lnTo>
                <a:lnTo>
                  <a:pt x="400230" y="413929"/>
                </a:lnTo>
                <a:lnTo>
                  <a:pt x="393336" y="432316"/>
                </a:lnTo>
                <a:lnTo>
                  <a:pt x="373042" y="436487"/>
                </a:lnTo>
                <a:lnTo>
                  <a:pt x="323739" y="480105"/>
                </a:lnTo>
                <a:lnTo>
                  <a:pt x="292341" y="514429"/>
                </a:lnTo>
                <a:lnTo>
                  <a:pt x="273199" y="515659"/>
                </a:lnTo>
                <a:lnTo>
                  <a:pt x="254783" y="509551"/>
                </a:lnTo>
                <a:lnTo>
                  <a:pt x="191417" y="503743"/>
                </a:lnTo>
                <a:lnTo>
                  <a:pt x="181224" y="499780"/>
                </a:lnTo>
                <a:lnTo>
                  <a:pt x="180799" y="495378"/>
                </a:lnTo>
                <a:lnTo>
                  <a:pt x="158428" y="483424"/>
                </a:lnTo>
                <a:lnTo>
                  <a:pt x="121664" y="480371"/>
                </a:lnTo>
                <a:lnTo>
                  <a:pt x="75243" y="492424"/>
                </a:lnTo>
                <a:lnTo>
                  <a:pt x="38247" y="459295"/>
                </a:lnTo>
                <a:lnTo>
                  <a:pt x="0" y="415905"/>
                </a:lnTo>
                <a:lnTo>
                  <a:pt x="2610" y="247153"/>
                </a:lnTo>
                <a:lnTo>
                  <a:pt x="120659" y="247822"/>
                </a:lnTo>
                <a:lnTo>
                  <a:pt x="115828" y="229514"/>
                </a:lnTo>
                <a:lnTo>
                  <a:pt x="124274" y="209650"/>
                </a:lnTo>
                <a:lnTo>
                  <a:pt x="114310" y="184776"/>
                </a:lnTo>
                <a:lnTo>
                  <a:pt x="120759" y="159054"/>
                </a:lnTo>
                <a:lnTo>
                  <a:pt x="114767" y="142589"/>
                </a:lnTo>
                <a:lnTo>
                  <a:pt x="134323" y="143923"/>
                </a:lnTo>
                <a:lnTo>
                  <a:pt x="137575" y="160408"/>
                </a:lnTo>
                <a:lnTo>
                  <a:pt x="164144" y="159128"/>
                </a:lnTo>
                <a:lnTo>
                  <a:pt x="200141" y="164021"/>
                </a:lnTo>
                <a:lnTo>
                  <a:pt x="219087" y="188100"/>
                </a:lnTo>
                <a:lnTo>
                  <a:pt x="264486" y="195497"/>
                </a:lnTo>
                <a:lnTo>
                  <a:pt x="299144" y="178754"/>
                </a:lnTo>
                <a:lnTo>
                  <a:pt x="311865" y="206545"/>
                </a:lnTo>
                <a:lnTo>
                  <a:pt x="355309" y="213956"/>
                </a:lnTo>
                <a:lnTo>
                  <a:pt x="376197" y="236555"/>
                </a:lnTo>
                <a:lnTo>
                  <a:pt x="399483" y="265743"/>
                </a:lnTo>
                <a:lnTo>
                  <a:pt x="442871" y="266182"/>
                </a:lnTo>
                <a:lnTo>
                  <a:pt x="438131" y="208992"/>
                </a:lnTo>
                <a:lnTo>
                  <a:pt x="422571" y="218637"/>
                </a:lnTo>
                <a:lnTo>
                  <a:pt x="382936" y="197997"/>
                </a:lnTo>
                <a:lnTo>
                  <a:pt x="367619" y="188561"/>
                </a:lnTo>
                <a:lnTo>
                  <a:pt x="374639" y="135326"/>
                </a:lnTo>
                <a:lnTo>
                  <a:pt x="384708" y="72534"/>
                </a:lnTo>
                <a:lnTo>
                  <a:pt x="372020" y="49145"/>
                </a:lnTo>
                <a:lnTo>
                  <a:pt x="388177" y="15290"/>
                </a:lnTo>
                <a:lnTo>
                  <a:pt x="403373" y="8951"/>
                </a:lnTo>
                <a:lnTo>
                  <a:pt x="479521" y="0"/>
                </a:lnTo>
                <a:lnTo>
                  <a:pt x="501854" y="5396"/>
                </a:lnTo>
                <a:close/>
              </a:path>
            </a:pathLst>
          </a:custGeom>
          <a:solidFill>
            <a:srgbClr val="536598"/>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frica overview: Malawi"/>
          <p:cNvSpPr/>
          <p:nvPr/>
        </p:nvSpPr>
        <p:spPr>
          <a:xfrm>
            <a:off x="3742334" y="4470844"/>
            <a:ext cx="174825" cy="401513"/>
          </a:xfrm>
          <a:custGeom>
            <a:avLst/>
            <a:gdLst/>
            <a:ahLst/>
            <a:cxnLst/>
            <a:rect l="l" t="t" r="r" b="b"/>
            <a:pathLst>
              <a:path w="174825" h="401513">
                <a:moveTo>
                  <a:pt x="4037" y="0"/>
                </a:moveTo>
                <a:lnTo>
                  <a:pt x="59615" y="9894"/>
                </a:lnTo>
                <a:lnTo>
                  <a:pt x="71017" y="24559"/>
                </a:lnTo>
                <a:lnTo>
                  <a:pt x="90245" y="49291"/>
                </a:lnTo>
                <a:lnTo>
                  <a:pt x="106118" y="121420"/>
                </a:lnTo>
                <a:lnTo>
                  <a:pt x="90245" y="161727"/>
                </a:lnTo>
                <a:lnTo>
                  <a:pt x="106118" y="230671"/>
                </a:lnTo>
                <a:lnTo>
                  <a:pt x="125800" y="229898"/>
                </a:lnTo>
                <a:lnTo>
                  <a:pt x="146255" y="246997"/>
                </a:lnTo>
                <a:lnTo>
                  <a:pt x="170003" y="285353"/>
                </a:lnTo>
                <a:lnTo>
                  <a:pt x="174825" y="353546"/>
                </a:lnTo>
                <a:lnTo>
                  <a:pt x="150286" y="364714"/>
                </a:lnTo>
                <a:lnTo>
                  <a:pt x="132981" y="401513"/>
                </a:lnTo>
                <a:lnTo>
                  <a:pt x="95988" y="368751"/>
                </a:lnTo>
                <a:lnTo>
                  <a:pt x="91792" y="331366"/>
                </a:lnTo>
                <a:lnTo>
                  <a:pt x="103719" y="306708"/>
                </a:lnTo>
                <a:lnTo>
                  <a:pt x="100429" y="285457"/>
                </a:lnTo>
                <a:lnTo>
                  <a:pt x="78046" y="272036"/>
                </a:lnTo>
                <a:lnTo>
                  <a:pt x="62449" y="276909"/>
                </a:lnTo>
                <a:lnTo>
                  <a:pt x="29812" y="251453"/>
                </a:lnTo>
                <a:lnTo>
                  <a:pt x="0" y="237717"/>
                </a:lnTo>
                <a:lnTo>
                  <a:pt x="17211" y="188448"/>
                </a:lnTo>
                <a:lnTo>
                  <a:pt x="35050" y="169987"/>
                </a:lnTo>
                <a:lnTo>
                  <a:pt x="24158" y="126043"/>
                </a:lnTo>
                <a:lnTo>
                  <a:pt x="35554" y="83050"/>
                </a:lnTo>
                <a:lnTo>
                  <a:pt x="45213" y="68678"/>
                </a:lnTo>
                <a:lnTo>
                  <a:pt x="30796" y="23660"/>
                </a:lnTo>
                <a:lnTo>
                  <a:pt x="4037" y="0"/>
                </a:lnTo>
                <a:close/>
              </a:path>
            </a:pathLst>
          </a:custGeom>
          <a:solidFill>
            <a:srgbClr val="536598"/>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frica overview: Mozambique"/>
          <p:cNvSpPr/>
          <p:nvPr/>
        </p:nvSpPr>
        <p:spPr>
          <a:xfrm>
            <a:off x="3600109" y="4528466"/>
            <a:ext cx="600717" cy="871109"/>
          </a:xfrm>
          <a:custGeom>
            <a:avLst/>
            <a:gdLst/>
            <a:ahLst/>
            <a:cxnLst/>
            <a:rect l="l" t="t" r="r" b="b"/>
            <a:pathLst>
              <a:path w="600717" h="871109">
                <a:moveTo>
                  <a:pt x="248343" y="63798"/>
                </a:moveTo>
                <a:lnTo>
                  <a:pt x="291000" y="59508"/>
                </a:lnTo>
                <a:lnTo>
                  <a:pt x="359126" y="74453"/>
                </a:lnTo>
                <a:lnTo>
                  <a:pt x="373927" y="67750"/>
                </a:lnTo>
                <a:lnTo>
                  <a:pt x="413393" y="66383"/>
                </a:lnTo>
                <a:lnTo>
                  <a:pt x="433596" y="50474"/>
                </a:lnTo>
                <a:lnTo>
                  <a:pt x="467607" y="51344"/>
                </a:lnTo>
                <a:lnTo>
                  <a:pt x="529597" y="30749"/>
                </a:lnTo>
                <a:lnTo>
                  <a:pt x="574701" y="1"/>
                </a:lnTo>
                <a:lnTo>
                  <a:pt x="574701" y="0"/>
                </a:lnTo>
                <a:lnTo>
                  <a:pt x="574701" y="0"/>
                </a:lnTo>
                <a:lnTo>
                  <a:pt x="583874" y="23778"/>
                </a:lnTo>
                <a:lnTo>
                  <a:pt x="581542" y="76616"/>
                </a:lnTo>
                <a:lnTo>
                  <a:pt x="588547" y="123152"/>
                </a:lnTo>
                <a:lnTo>
                  <a:pt x="590747" y="206036"/>
                </a:lnTo>
                <a:lnTo>
                  <a:pt x="600717" y="232012"/>
                </a:lnTo>
                <a:lnTo>
                  <a:pt x="583810" y="269907"/>
                </a:lnTo>
                <a:lnTo>
                  <a:pt x="561814" y="306739"/>
                </a:lnTo>
                <a:lnTo>
                  <a:pt x="525717" y="339627"/>
                </a:lnTo>
                <a:lnTo>
                  <a:pt x="473888" y="359787"/>
                </a:lnTo>
                <a:lnTo>
                  <a:pt x="409983" y="385528"/>
                </a:lnTo>
                <a:lnTo>
                  <a:pt x="345928" y="442451"/>
                </a:lnTo>
                <a:lnTo>
                  <a:pt x="324114" y="452134"/>
                </a:lnTo>
                <a:lnTo>
                  <a:pt x="284537" y="489818"/>
                </a:lnTo>
                <a:lnTo>
                  <a:pt x="261178" y="502080"/>
                </a:lnTo>
                <a:lnTo>
                  <a:pt x="256388" y="539896"/>
                </a:lnTo>
                <a:lnTo>
                  <a:pt x="283274" y="580060"/>
                </a:lnTo>
                <a:lnTo>
                  <a:pt x="294460" y="611164"/>
                </a:lnTo>
                <a:lnTo>
                  <a:pt x="295164" y="627030"/>
                </a:lnTo>
                <a:lnTo>
                  <a:pt x="305181" y="624379"/>
                </a:lnTo>
                <a:lnTo>
                  <a:pt x="303559" y="676395"/>
                </a:lnTo>
                <a:lnTo>
                  <a:pt x="294366" y="701034"/>
                </a:lnTo>
                <a:lnTo>
                  <a:pt x="307728" y="710113"/>
                </a:lnTo>
                <a:lnTo>
                  <a:pt x="299296" y="732179"/>
                </a:lnTo>
                <a:lnTo>
                  <a:pt x="275598" y="751045"/>
                </a:lnTo>
                <a:lnTo>
                  <a:pt x="228832" y="768969"/>
                </a:lnTo>
                <a:lnTo>
                  <a:pt x="160652" y="797675"/>
                </a:lnTo>
                <a:lnTo>
                  <a:pt x="135788" y="817285"/>
                </a:lnTo>
                <a:lnTo>
                  <a:pt x="140648" y="839626"/>
                </a:lnTo>
                <a:lnTo>
                  <a:pt x="155139" y="843195"/>
                </a:lnTo>
                <a:lnTo>
                  <a:pt x="150272" y="871109"/>
                </a:lnTo>
                <a:lnTo>
                  <a:pt x="107273" y="870665"/>
                </a:lnTo>
                <a:lnTo>
                  <a:pt x="102404" y="847221"/>
                </a:lnTo>
                <a:lnTo>
                  <a:pt x="94014" y="823437"/>
                </a:lnTo>
                <a:lnTo>
                  <a:pt x="89174" y="804395"/>
                </a:lnTo>
                <a:lnTo>
                  <a:pt x="99275" y="745268"/>
                </a:lnTo>
                <a:lnTo>
                  <a:pt x="84524" y="707589"/>
                </a:lnTo>
                <a:lnTo>
                  <a:pt x="57369" y="632944"/>
                </a:lnTo>
                <a:lnTo>
                  <a:pt x="117100" y="572748"/>
                </a:lnTo>
                <a:lnTo>
                  <a:pt x="132050" y="534499"/>
                </a:lnTo>
                <a:lnTo>
                  <a:pt x="140613" y="529673"/>
                </a:lnTo>
                <a:lnTo>
                  <a:pt x="147017" y="498451"/>
                </a:lnTo>
                <a:lnTo>
                  <a:pt x="137906" y="482742"/>
                </a:lnTo>
                <a:lnTo>
                  <a:pt x="140338" y="443109"/>
                </a:lnTo>
                <a:lnTo>
                  <a:pt x="151391" y="406354"/>
                </a:lnTo>
                <a:lnTo>
                  <a:pt x="151266" y="339230"/>
                </a:lnTo>
                <a:lnTo>
                  <a:pt x="121819" y="322188"/>
                </a:lnTo>
                <a:lnTo>
                  <a:pt x="94822" y="318335"/>
                </a:lnTo>
                <a:lnTo>
                  <a:pt x="82603" y="305212"/>
                </a:lnTo>
                <a:lnTo>
                  <a:pt x="56329" y="294019"/>
                </a:lnTo>
                <a:lnTo>
                  <a:pt x="9041" y="295075"/>
                </a:lnTo>
                <a:lnTo>
                  <a:pt x="5373" y="275290"/>
                </a:lnTo>
                <a:lnTo>
                  <a:pt x="0" y="237545"/>
                </a:lnTo>
                <a:lnTo>
                  <a:pt x="172037" y="193831"/>
                </a:lnTo>
                <a:lnTo>
                  <a:pt x="204674" y="219287"/>
                </a:lnTo>
                <a:lnTo>
                  <a:pt x="220271" y="214414"/>
                </a:lnTo>
                <a:lnTo>
                  <a:pt x="242654" y="227835"/>
                </a:lnTo>
                <a:lnTo>
                  <a:pt x="245944" y="249086"/>
                </a:lnTo>
                <a:lnTo>
                  <a:pt x="234017" y="273744"/>
                </a:lnTo>
                <a:lnTo>
                  <a:pt x="238213" y="311129"/>
                </a:lnTo>
                <a:lnTo>
                  <a:pt x="275206" y="343891"/>
                </a:lnTo>
                <a:lnTo>
                  <a:pt x="292511" y="307092"/>
                </a:lnTo>
                <a:lnTo>
                  <a:pt x="317050" y="295924"/>
                </a:lnTo>
                <a:lnTo>
                  <a:pt x="312228" y="227731"/>
                </a:lnTo>
                <a:lnTo>
                  <a:pt x="288480" y="189375"/>
                </a:lnTo>
                <a:lnTo>
                  <a:pt x="268025" y="172276"/>
                </a:lnTo>
                <a:lnTo>
                  <a:pt x="248343" y="173049"/>
                </a:lnTo>
                <a:lnTo>
                  <a:pt x="232470" y="104105"/>
                </a:lnTo>
                <a:lnTo>
                  <a:pt x="248343" y="63798"/>
                </a:lnTo>
                <a:close/>
              </a:path>
            </a:pathLst>
          </a:custGeom>
          <a:solidFill>
            <a:srgbClr val="536598"/>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frica overview: eSwatini"/>
          <p:cNvSpPr/>
          <p:nvPr/>
        </p:nvSpPr>
        <p:spPr>
          <a:xfrm>
            <a:off x="3628293" y="5342190"/>
            <a:ext cx="79089" cy="86219"/>
          </a:xfrm>
          <a:custGeom>
            <a:avLst/>
            <a:gdLst/>
            <a:ahLst/>
            <a:cxnLst/>
            <a:rect l="l" t="t" r="r" b="b"/>
            <a:pathLst>
              <a:path w="79089" h="86219">
                <a:moveTo>
                  <a:pt x="79089" y="56941"/>
                </a:moveTo>
                <a:lnTo>
                  <a:pt x="67546" y="80494"/>
                </a:lnTo>
                <a:lnTo>
                  <a:pt x="34365" y="86219"/>
                </a:lnTo>
                <a:lnTo>
                  <a:pt x="530" y="57472"/>
                </a:lnTo>
                <a:lnTo>
                  <a:pt x="0" y="39134"/>
                </a:lnTo>
                <a:lnTo>
                  <a:pt x="15480" y="19223"/>
                </a:lnTo>
                <a:lnTo>
                  <a:pt x="20833" y="3780"/>
                </a:lnTo>
                <a:lnTo>
                  <a:pt x="37221" y="0"/>
                </a:lnTo>
                <a:lnTo>
                  <a:pt x="65830" y="9713"/>
                </a:lnTo>
                <a:lnTo>
                  <a:pt x="74220" y="33497"/>
                </a:lnTo>
                <a:lnTo>
                  <a:pt x="79089" y="56941"/>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frica overview: Angola"/>
          <p:cNvSpPr/>
          <p:nvPr/>
        </p:nvSpPr>
        <p:spPr>
          <a:xfrm>
            <a:off x="2564643" y="4216669"/>
            <a:ext cx="61259" cy="71698"/>
          </a:xfrm>
          <a:custGeom>
            <a:avLst/>
            <a:gdLst/>
            <a:ahLst/>
            <a:cxnLst/>
            <a:rect l="l" t="t" r="r" b="b"/>
            <a:pathLst>
              <a:path w="61259" h="71698">
                <a:moveTo>
                  <a:pt x="61259" y="18195"/>
                </a:moveTo>
                <a:lnTo>
                  <a:pt x="40628" y="29341"/>
                </a:lnTo>
                <a:lnTo>
                  <a:pt x="31353" y="42976"/>
                </a:lnTo>
                <a:lnTo>
                  <a:pt x="29578" y="66096"/>
                </a:lnTo>
                <a:lnTo>
                  <a:pt x="15158" y="71698"/>
                </a:lnTo>
                <a:lnTo>
                  <a:pt x="0" y="31819"/>
                </a:lnTo>
                <a:lnTo>
                  <a:pt x="22883" y="8920"/>
                </a:lnTo>
                <a:lnTo>
                  <a:pt x="40013" y="0"/>
                </a:lnTo>
                <a:lnTo>
                  <a:pt x="61259" y="18195"/>
                </a:lnTo>
                <a:close/>
              </a:path>
            </a:pathLst>
          </a:custGeom>
          <a:solidFill>
            <a:srgbClr val="536598"/>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frica overview: Angola"/>
          <p:cNvSpPr/>
          <p:nvPr/>
        </p:nvSpPr>
        <p:spPr>
          <a:xfrm>
            <a:off x="2549060" y="4292308"/>
            <a:ext cx="705247" cy="639944"/>
          </a:xfrm>
          <a:custGeom>
            <a:avLst/>
            <a:gdLst/>
            <a:ahLst/>
            <a:cxnLst/>
            <a:rect l="l" t="t" r="r" b="b"/>
            <a:pathLst>
              <a:path w="705247" h="639944">
                <a:moveTo>
                  <a:pt x="38683" y="12509"/>
                </a:moveTo>
                <a:lnTo>
                  <a:pt x="62082" y="5380"/>
                </a:lnTo>
                <a:lnTo>
                  <a:pt x="78506" y="6372"/>
                </a:lnTo>
                <a:lnTo>
                  <a:pt x="98390" y="0"/>
                </a:lnTo>
                <a:lnTo>
                  <a:pt x="265686" y="702"/>
                </a:lnTo>
                <a:lnTo>
                  <a:pt x="279670" y="40222"/>
                </a:lnTo>
                <a:lnTo>
                  <a:pt x="295941" y="72025"/>
                </a:lnTo>
                <a:lnTo>
                  <a:pt x="308970" y="89176"/>
                </a:lnTo>
                <a:lnTo>
                  <a:pt x="330681" y="116906"/>
                </a:lnTo>
                <a:lnTo>
                  <a:pt x="368170" y="112617"/>
                </a:lnTo>
                <a:lnTo>
                  <a:pt x="386876" y="105157"/>
                </a:lnTo>
                <a:lnTo>
                  <a:pt x="418203" y="112647"/>
                </a:lnTo>
                <a:lnTo>
                  <a:pt x="426699" y="99385"/>
                </a:lnTo>
                <a:lnTo>
                  <a:pt x="440922" y="68479"/>
                </a:lnTo>
                <a:lnTo>
                  <a:pt x="476085" y="66407"/>
                </a:lnTo>
                <a:lnTo>
                  <a:pt x="479140" y="57217"/>
                </a:lnTo>
                <a:lnTo>
                  <a:pt x="508065" y="57017"/>
                </a:lnTo>
                <a:lnTo>
                  <a:pt x="503128" y="76125"/>
                </a:lnTo>
                <a:lnTo>
                  <a:pt x="571917" y="75662"/>
                </a:lnTo>
                <a:lnTo>
                  <a:pt x="572957" y="109032"/>
                </a:lnTo>
                <a:lnTo>
                  <a:pt x="584448" y="129494"/>
                </a:lnTo>
                <a:lnTo>
                  <a:pt x="576095" y="161464"/>
                </a:lnTo>
                <a:lnTo>
                  <a:pt x="580255" y="194081"/>
                </a:lnTo>
                <a:lnTo>
                  <a:pt x="599166" y="213762"/>
                </a:lnTo>
                <a:lnTo>
                  <a:pt x="596134" y="276874"/>
                </a:lnTo>
                <a:lnTo>
                  <a:pt x="610167" y="272009"/>
                </a:lnTo>
                <a:lnTo>
                  <a:pt x="634803" y="273311"/>
                </a:lnTo>
                <a:lnTo>
                  <a:pt x="669921" y="265368"/>
                </a:lnTo>
                <a:lnTo>
                  <a:pt x="695740" y="268496"/>
                </a:lnTo>
                <a:lnTo>
                  <a:pt x="701732" y="284961"/>
                </a:lnTo>
                <a:lnTo>
                  <a:pt x="695283" y="310683"/>
                </a:lnTo>
                <a:lnTo>
                  <a:pt x="705247" y="335557"/>
                </a:lnTo>
                <a:lnTo>
                  <a:pt x="696801" y="355421"/>
                </a:lnTo>
                <a:lnTo>
                  <a:pt x="701632" y="373729"/>
                </a:lnTo>
                <a:lnTo>
                  <a:pt x="583583" y="373060"/>
                </a:lnTo>
                <a:lnTo>
                  <a:pt x="580973" y="541812"/>
                </a:lnTo>
                <a:lnTo>
                  <a:pt x="619220" y="585202"/>
                </a:lnTo>
                <a:lnTo>
                  <a:pt x="656216" y="618331"/>
                </a:lnTo>
                <a:lnTo>
                  <a:pt x="552022" y="639944"/>
                </a:lnTo>
                <a:lnTo>
                  <a:pt x="414769" y="632437"/>
                </a:lnTo>
                <a:lnTo>
                  <a:pt x="375488" y="607026"/>
                </a:lnTo>
                <a:lnTo>
                  <a:pt x="145678" y="609314"/>
                </a:lnTo>
                <a:lnTo>
                  <a:pt x="137106" y="613042"/>
                </a:lnTo>
                <a:lnTo>
                  <a:pt x="103309" y="589061"/>
                </a:lnTo>
                <a:lnTo>
                  <a:pt x="66556" y="587477"/>
                </a:lnTo>
                <a:lnTo>
                  <a:pt x="32619" y="596510"/>
                </a:lnTo>
                <a:lnTo>
                  <a:pt x="5334" y="606598"/>
                </a:lnTo>
                <a:lnTo>
                  <a:pt x="0" y="573253"/>
                </a:lnTo>
                <a:lnTo>
                  <a:pt x="7848" y="526617"/>
                </a:lnTo>
                <a:lnTo>
                  <a:pt x="27410" y="478064"/>
                </a:lnTo>
                <a:lnTo>
                  <a:pt x="30360" y="455302"/>
                </a:lnTo>
                <a:lnTo>
                  <a:pt x="48755" y="407494"/>
                </a:lnTo>
                <a:lnTo>
                  <a:pt x="62270" y="385761"/>
                </a:lnTo>
                <a:lnTo>
                  <a:pt x="94836" y="351061"/>
                </a:lnTo>
                <a:lnTo>
                  <a:pt x="113024" y="327461"/>
                </a:lnTo>
                <a:lnTo>
                  <a:pt x="118977" y="288174"/>
                </a:lnTo>
                <a:lnTo>
                  <a:pt x="116009" y="258114"/>
                </a:lnTo>
                <a:lnTo>
                  <a:pt x="99055" y="239154"/>
                </a:lnTo>
                <a:lnTo>
                  <a:pt x="83955" y="206978"/>
                </a:lnTo>
                <a:lnTo>
                  <a:pt x="70031" y="175159"/>
                </a:lnTo>
                <a:lnTo>
                  <a:pt x="73075" y="164136"/>
                </a:lnTo>
                <a:lnTo>
                  <a:pt x="90500" y="143110"/>
                </a:lnTo>
                <a:lnTo>
                  <a:pt x="73300" y="91873"/>
                </a:lnTo>
                <a:lnTo>
                  <a:pt x="61693" y="56370"/>
                </a:lnTo>
                <a:lnTo>
                  <a:pt x="33292" y="22816"/>
                </a:lnTo>
                <a:lnTo>
                  <a:pt x="38683" y="12509"/>
                </a:lnTo>
                <a:close/>
              </a:path>
            </a:pathLst>
          </a:custGeom>
          <a:solidFill>
            <a:srgbClr val="536598"/>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frica overview: Burundi"/>
          <p:cNvSpPr/>
          <p:nvPr/>
        </p:nvSpPr>
        <p:spPr>
          <a:xfrm>
            <a:off x="3534654" y="4105850"/>
            <a:ext cx="97926" cy="114105"/>
          </a:xfrm>
          <a:custGeom>
            <a:avLst/>
            <a:gdLst/>
            <a:ahLst/>
            <a:cxnLst/>
            <a:rect l="l" t="t" r="r" b="b"/>
            <a:pathLst>
              <a:path w="97926" h="114105">
                <a:moveTo>
                  <a:pt x="81907" y="3466"/>
                </a:moveTo>
                <a:lnTo>
                  <a:pt x="85194" y="24350"/>
                </a:lnTo>
                <a:lnTo>
                  <a:pt x="97403" y="36372"/>
                </a:lnTo>
                <a:lnTo>
                  <a:pt x="97926" y="53609"/>
                </a:lnTo>
                <a:lnTo>
                  <a:pt x="83940" y="64707"/>
                </a:lnTo>
                <a:lnTo>
                  <a:pt x="61874" y="92367"/>
                </a:lnTo>
                <a:lnTo>
                  <a:pt x="41306" y="111580"/>
                </a:lnTo>
                <a:lnTo>
                  <a:pt x="17863" y="114105"/>
                </a:lnTo>
                <a:lnTo>
                  <a:pt x="14256" y="50140"/>
                </a:lnTo>
                <a:lnTo>
                  <a:pt x="0" y="26028"/>
                </a:lnTo>
                <a:lnTo>
                  <a:pt x="34427" y="30196"/>
                </a:lnTo>
                <a:lnTo>
                  <a:pt x="51785" y="0"/>
                </a:lnTo>
                <a:lnTo>
                  <a:pt x="81907" y="3466"/>
                </a:lnTo>
                <a:close/>
              </a:path>
            </a:pathLst>
          </a:custGeom>
          <a:solidFill>
            <a:srgbClr val="8491B2"/>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frica overview: Madagascar"/>
          <p:cNvSpPr/>
          <p:nvPr/>
        </p:nvSpPr>
        <p:spPr>
          <a:xfrm>
            <a:off x="4341351" y="4619870"/>
            <a:ext cx="409455" cy="719204"/>
          </a:xfrm>
          <a:custGeom>
            <a:avLst/>
            <a:gdLst/>
            <a:ahLst/>
            <a:cxnLst/>
            <a:rect l="l" t="t" r="r" b="b"/>
            <a:pathLst>
              <a:path w="409455" h="719204">
                <a:moveTo>
                  <a:pt x="356560" y="22767"/>
                </a:moveTo>
                <a:lnTo>
                  <a:pt x="371609" y="45331"/>
                </a:lnTo>
                <a:lnTo>
                  <a:pt x="385643" y="80360"/>
                </a:lnTo>
                <a:lnTo>
                  <a:pt x="394766" y="144162"/>
                </a:lnTo>
                <a:lnTo>
                  <a:pt x="409455" y="168968"/>
                </a:lnTo>
                <a:lnTo>
                  <a:pt x="403818" y="194402"/>
                </a:lnTo>
                <a:lnTo>
                  <a:pt x="393793" y="210004"/>
                </a:lnTo>
                <a:lnTo>
                  <a:pt x="374536" y="178925"/>
                </a:lnTo>
                <a:lnTo>
                  <a:pt x="363878" y="194621"/>
                </a:lnTo>
                <a:lnTo>
                  <a:pt x="374691" y="233911"/>
                </a:lnTo>
                <a:lnTo>
                  <a:pt x="369658" y="256398"/>
                </a:lnTo>
                <a:lnTo>
                  <a:pt x="354014" y="268649"/>
                </a:lnTo>
                <a:lnTo>
                  <a:pt x="350443" y="313571"/>
                </a:lnTo>
                <a:lnTo>
                  <a:pt x="328115" y="375395"/>
                </a:lnTo>
                <a:lnTo>
                  <a:pt x="300152" y="448484"/>
                </a:lnTo>
                <a:lnTo>
                  <a:pt x="265127" y="548965"/>
                </a:lnTo>
                <a:lnTo>
                  <a:pt x="243412" y="622708"/>
                </a:lnTo>
                <a:lnTo>
                  <a:pt x="217789" y="684211"/>
                </a:lnTo>
                <a:lnTo>
                  <a:pt x="171682" y="696772"/>
                </a:lnTo>
                <a:lnTo>
                  <a:pt x="122191" y="719204"/>
                </a:lnTo>
                <a:lnTo>
                  <a:pt x="89540" y="705663"/>
                </a:lnTo>
                <a:lnTo>
                  <a:pt x="44534" y="686689"/>
                </a:lnTo>
                <a:lnTo>
                  <a:pt x="28889" y="658704"/>
                </a:lnTo>
                <a:lnTo>
                  <a:pt x="25148" y="611685"/>
                </a:lnTo>
                <a:lnTo>
                  <a:pt x="5185" y="569405"/>
                </a:lnTo>
                <a:lnTo>
                  <a:pt x="0" y="531246"/>
                </a:lnTo>
                <a:lnTo>
                  <a:pt x="10154" y="493011"/>
                </a:lnTo>
                <a:lnTo>
                  <a:pt x="36255" y="483827"/>
                </a:lnTo>
                <a:lnTo>
                  <a:pt x="36407" y="466175"/>
                </a:lnTo>
                <a:lnTo>
                  <a:pt x="63504" y="425969"/>
                </a:lnTo>
                <a:lnTo>
                  <a:pt x="68610" y="392190"/>
                </a:lnTo>
                <a:lnTo>
                  <a:pt x="55459" y="367080"/>
                </a:lnTo>
                <a:lnTo>
                  <a:pt x="44719" y="333636"/>
                </a:lnTo>
                <a:lnTo>
                  <a:pt x="40189" y="284767"/>
                </a:lnTo>
                <a:lnTo>
                  <a:pt x="59997" y="255097"/>
                </a:lnTo>
                <a:lnTo>
                  <a:pt x="67596" y="221458"/>
                </a:lnTo>
                <a:lnTo>
                  <a:pt x="95853" y="219503"/>
                </a:lnTo>
                <a:lnTo>
                  <a:pt x="127476" y="208631"/>
                </a:lnTo>
                <a:lnTo>
                  <a:pt x="148467" y="199036"/>
                </a:lnTo>
                <a:lnTo>
                  <a:pt x="173370" y="198324"/>
                </a:lnTo>
                <a:lnTo>
                  <a:pt x="205681" y="168102"/>
                </a:lnTo>
                <a:lnTo>
                  <a:pt x="252336" y="135439"/>
                </a:lnTo>
                <a:lnTo>
                  <a:pt x="269349" y="108758"/>
                </a:lnTo>
                <a:lnTo>
                  <a:pt x="261629" y="86093"/>
                </a:lnTo>
                <a:lnTo>
                  <a:pt x="285711" y="92468"/>
                </a:lnTo>
                <a:lnTo>
                  <a:pt x="316962" y="55614"/>
                </a:lnTo>
                <a:lnTo>
                  <a:pt x="318008" y="23724"/>
                </a:lnTo>
                <a:lnTo>
                  <a:pt x="336781" y="0"/>
                </a:lnTo>
                <a:lnTo>
                  <a:pt x="356560" y="22767"/>
                </a:lnTo>
                <a:close/>
              </a:path>
            </a:pathLst>
          </a:custGeom>
          <a:solidFill>
            <a:srgbClr val="536598"/>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frica overview: Gambia"/>
          <p:cNvSpPr/>
          <p:nvPr/>
        </p:nvSpPr>
        <p:spPr>
          <a:xfrm>
            <a:off x="934357" y="3245355"/>
            <a:ext cx="169883" cy="39575"/>
          </a:xfrm>
          <a:custGeom>
            <a:avLst/>
            <a:gdLst/>
            <a:ahLst/>
            <a:cxnLst/>
            <a:rect l="l" t="t" r="r" b="b"/>
            <a:pathLst>
              <a:path w="169883" h="39575">
                <a:moveTo>
                  <a:pt x="7245" y="14931"/>
                </a:moveTo>
                <a:lnTo>
                  <a:pt x="68991" y="13412"/>
                </a:lnTo>
                <a:lnTo>
                  <a:pt x="81794" y="855"/>
                </a:lnTo>
                <a:lnTo>
                  <a:pt x="99767" y="0"/>
                </a:lnTo>
                <a:lnTo>
                  <a:pt x="122144" y="13053"/>
                </a:lnTo>
                <a:lnTo>
                  <a:pt x="139737" y="13301"/>
                </a:lnTo>
                <a:lnTo>
                  <a:pt x="158430" y="4371"/>
                </a:lnTo>
                <a:lnTo>
                  <a:pt x="169883" y="19699"/>
                </a:lnTo>
                <a:lnTo>
                  <a:pt x="145350" y="31604"/>
                </a:lnTo>
                <a:lnTo>
                  <a:pt x="120717" y="30669"/>
                </a:lnTo>
                <a:lnTo>
                  <a:pt x="96398" y="19462"/>
                </a:lnTo>
                <a:lnTo>
                  <a:pt x="75385" y="31710"/>
                </a:lnTo>
                <a:lnTo>
                  <a:pt x="65226" y="32146"/>
                </a:lnTo>
                <a:lnTo>
                  <a:pt x="51603" y="39575"/>
                </a:lnTo>
                <a:lnTo>
                  <a:pt x="0" y="38455"/>
                </a:lnTo>
                <a:lnTo>
                  <a:pt x="7245" y="14931"/>
                </a:lnTo>
                <a:close/>
              </a:path>
            </a:pathLst>
          </a:custGeom>
          <a:solidFill>
            <a:srgbClr val="AAB3CE"/>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Africa overview: Tunisia"/>
          <p:cNvSpPr/>
          <p:nvPr/>
        </p:nvSpPr>
        <p:spPr>
          <a:xfrm>
            <a:off x="2315734" y="2000433"/>
            <a:ext cx="224747" cy="373497"/>
          </a:xfrm>
          <a:custGeom>
            <a:avLst/>
            <a:gdLst/>
            <a:ahLst/>
            <a:cxnLst/>
            <a:rect l="l" t="t" r="r" b="b"/>
            <a:pathLst>
              <a:path w="224747" h="373497">
                <a:moveTo>
                  <a:pt x="110985" y="373497"/>
                </a:moveTo>
                <a:lnTo>
                  <a:pt x="86803" y="278291"/>
                </a:lnTo>
                <a:lnTo>
                  <a:pt x="51852" y="256887"/>
                </a:lnTo>
                <a:lnTo>
                  <a:pt x="51363" y="244049"/>
                </a:lnTo>
                <a:lnTo>
                  <a:pt x="4998" y="212452"/>
                </a:lnTo>
                <a:lnTo>
                  <a:pt x="0" y="172503"/>
                </a:lnTo>
                <a:lnTo>
                  <a:pt x="34951" y="142922"/>
                </a:lnTo>
                <a:lnTo>
                  <a:pt x="48296" y="99182"/>
                </a:lnTo>
                <a:lnTo>
                  <a:pt x="39307" y="48623"/>
                </a:lnTo>
                <a:lnTo>
                  <a:pt x="50824" y="21403"/>
                </a:lnTo>
                <a:lnTo>
                  <a:pt x="112564" y="0"/>
                </a:lnTo>
                <a:lnTo>
                  <a:pt x="152250" y="6363"/>
                </a:lnTo>
                <a:lnTo>
                  <a:pt x="150585" y="33197"/>
                </a:lnTo>
                <a:lnTo>
                  <a:pt x="198673" y="13677"/>
                </a:lnTo>
                <a:lnTo>
                  <a:pt x="202707" y="23865"/>
                </a:lnTo>
                <a:lnTo>
                  <a:pt x="174360" y="49852"/>
                </a:lnTo>
                <a:lnTo>
                  <a:pt x="173979" y="74384"/>
                </a:lnTo>
                <a:lnTo>
                  <a:pt x="193608" y="87561"/>
                </a:lnTo>
                <a:lnTo>
                  <a:pt x="186143" y="133462"/>
                </a:lnTo>
                <a:lnTo>
                  <a:pt x="148825" y="160125"/>
                </a:lnTo>
                <a:lnTo>
                  <a:pt x="159600" y="189031"/>
                </a:lnTo>
                <a:lnTo>
                  <a:pt x="188920" y="189932"/>
                </a:lnTo>
                <a:lnTo>
                  <a:pt x="203188" y="215145"/>
                </a:lnTo>
                <a:lnTo>
                  <a:pt x="224747" y="223437"/>
                </a:lnTo>
                <a:lnTo>
                  <a:pt x="221542" y="264173"/>
                </a:lnTo>
                <a:lnTo>
                  <a:pt x="193907" y="279399"/>
                </a:lnTo>
                <a:lnTo>
                  <a:pt x="176452" y="296391"/>
                </a:lnTo>
                <a:lnTo>
                  <a:pt x="137522" y="316828"/>
                </a:lnTo>
                <a:lnTo>
                  <a:pt x="143551" y="338797"/>
                </a:lnTo>
                <a:lnTo>
                  <a:pt x="138644" y="361205"/>
                </a:lnTo>
                <a:lnTo>
                  <a:pt x="110985" y="373497"/>
                </a:lnTo>
                <a:close/>
              </a:path>
            </a:pathLst>
          </a:custGeom>
          <a:solidFill>
            <a:srgbClr val="CED3E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frica overview: Algeria"/>
          <p:cNvSpPr/>
          <p:nvPr/>
        </p:nvSpPr>
        <p:spPr>
          <a:xfrm>
            <a:off x="1396807" y="2012716"/>
            <a:ext cx="1172628" cy="957870"/>
          </a:xfrm>
          <a:custGeom>
            <a:avLst/>
            <a:gdLst/>
            <a:ahLst/>
            <a:cxnLst/>
            <a:rect l="l" t="t" r="r" b="b"/>
            <a:pathLst>
              <a:path w="1172628" h="957870">
                <a:moveTo>
                  <a:pt x="0" y="515642"/>
                </a:moveTo>
                <a:lnTo>
                  <a:pt x="1093" y="505368"/>
                </a:lnTo>
                <a:lnTo>
                  <a:pt x="1066" y="501817"/>
                </a:lnTo>
                <a:lnTo>
                  <a:pt x="583" y="438978"/>
                </a:lnTo>
                <a:lnTo>
                  <a:pt x="92135" y="399841"/>
                </a:lnTo>
                <a:lnTo>
                  <a:pt x="148749" y="391754"/>
                </a:lnTo>
                <a:lnTo>
                  <a:pt x="195152" y="377502"/>
                </a:lnTo>
                <a:lnTo>
                  <a:pt x="216836" y="350944"/>
                </a:lnTo>
                <a:lnTo>
                  <a:pt x="283121" y="329955"/>
                </a:lnTo>
                <a:lnTo>
                  <a:pt x="285556" y="290691"/>
                </a:lnTo>
                <a:lnTo>
                  <a:pt x="318354" y="286066"/>
                </a:lnTo>
                <a:lnTo>
                  <a:pt x="344000" y="266451"/>
                </a:lnTo>
                <a:lnTo>
                  <a:pt x="418194" y="257512"/>
                </a:lnTo>
                <a:lnTo>
                  <a:pt x="428589" y="236901"/>
                </a:lnTo>
                <a:lnTo>
                  <a:pt x="413651" y="225631"/>
                </a:lnTo>
                <a:lnTo>
                  <a:pt x="394068" y="169642"/>
                </a:lnTo>
                <a:lnTo>
                  <a:pt x="390694" y="137386"/>
                </a:lnTo>
                <a:lnTo>
                  <a:pt x="369324" y="103418"/>
                </a:lnTo>
                <a:lnTo>
                  <a:pt x="423824" y="74437"/>
                </a:lnTo>
                <a:lnTo>
                  <a:pt x="485117" y="65219"/>
                </a:lnTo>
                <a:lnTo>
                  <a:pt x="520909" y="43336"/>
                </a:lnTo>
                <a:lnTo>
                  <a:pt x="575507" y="27193"/>
                </a:lnTo>
                <a:lnTo>
                  <a:pt x="671588" y="17739"/>
                </a:lnTo>
                <a:lnTo>
                  <a:pt x="765362" y="13436"/>
                </a:lnTo>
                <a:lnTo>
                  <a:pt x="793955" y="21313"/>
                </a:lnTo>
                <a:lnTo>
                  <a:pt x="847343" y="410"/>
                </a:lnTo>
                <a:lnTo>
                  <a:pt x="907923" y="0"/>
                </a:lnTo>
                <a:lnTo>
                  <a:pt x="930980" y="12340"/>
                </a:lnTo>
                <a:lnTo>
                  <a:pt x="969751" y="9120"/>
                </a:lnTo>
                <a:lnTo>
                  <a:pt x="958234" y="36340"/>
                </a:lnTo>
                <a:lnTo>
                  <a:pt x="967223" y="86899"/>
                </a:lnTo>
                <a:lnTo>
                  <a:pt x="953878" y="130639"/>
                </a:lnTo>
                <a:lnTo>
                  <a:pt x="918927" y="160220"/>
                </a:lnTo>
                <a:lnTo>
                  <a:pt x="923925" y="200169"/>
                </a:lnTo>
                <a:lnTo>
                  <a:pt x="970290" y="231766"/>
                </a:lnTo>
                <a:lnTo>
                  <a:pt x="970779" y="244604"/>
                </a:lnTo>
                <a:lnTo>
                  <a:pt x="1005730" y="266008"/>
                </a:lnTo>
                <a:lnTo>
                  <a:pt x="1029912" y="361214"/>
                </a:lnTo>
                <a:lnTo>
                  <a:pt x="1048252" y="408040"/>
                </a:lnTo>
                <a:lnTo>
                  <a:pt x="1051334" y="432682"/>
                </a:lnTo>
                <a:lnTo>
                  <a:pt x="1041349" y="475949"/>
                </a:lnTo>
                <a:lnTo>
                  <a:pt x="1045445" y="500129"/>
                </a:lnTo>
                <a:lnTo>
                  <a:pt x="1038241" y="529155"/>
                </a:lnTo>
                <a:lnTo>
                  <a:pt x="1043186" y="562501"/>
                </a:lnTo>
                <a:lnTo>
                  <a:pt x="1020686" y="584663"/>
                </a:lnTo>
                <a:lnTo>
                  <a:pt x="1054208" y="623319"/>
                </a:lnTo>
                <a:lnTo>
                  <a:pt x="1056338" y="646045"/>
                </a:lnTo>
                <a:lnTo>
                  <a:pt x="1076497" y="675619"/>
                </a:lnTo>
                <a:lnTo>
                  <a:pt x="1103002" y="665902"/>
                </a:lnTo>
                <a:lnTo>
                  <a:pt x="1147750" y="690544"/>
                </a:lnTo>
                <a:lnTo>
                  <a:pt x="1172628" y="723756"/>
                </a:lnTo>
                <a:lnTo>
                  <a:pt x="978364" y="824842"/>
                </a:lnTo>
                <a:lnTo>
                  <a:pt x="814220" y="929027"/>
                </a:lnTo>
                <a:lnTo>
                  <a:pt x="734275" y="952678"/>
                </a:lnTo>
                <a:lnTo>
                  <a:pt x="671386" y="957870"/>
                </a:lnTo>
                <a:lnTo>
                  <a:pt x="670736" y="924128"/>
                </a:lnTo>
                <a:lnTo>
                  <a:pt x="644483" y="915502"/>
                </a:lnTo>
                <a:lnTo>
                  <a:pt x="609186" y="900334"/>
                </a:lnTo>
                <a:lnTo>
                  <a:pt x="595707" y="875483"/>
                </a:lnTo>
                <a:lnTo>
                  <a:pt x="404466" y="759768"/>
                </a:lnTo>
                <a:lnTo>
                  <a:pt x="213225" y="644050"/>
                </a:lnTo>
                <a:lnTo>
                  <a:pt x="0" y="515642"/>
                </a:lnTo>
                <a:close/>
              </a:path>
            </a:pathLst>
          </a:custGeom>
          <a:solidFill>
            <a:srgbClr val="CED3E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Africa overview: Eritrea"/>
          <p:cNvSpPr/>
          <p:nvPr/>
        </p:nvSpPr>
        <p:spPr>
          <a:xfrm>
            <a:off x="3948415" y="3026753"/>
            <a:ext cx="383130" cy="293969"/>
          </a:xfrm>
          <a:custGeom>
            <a:avLst/>
            <a:gdLst/>
            <a:ahLst/>
            <a:cxnLst/>
            <a:rect l="l" t="t" r="r" b="b"/>
            <a:pathLst>
              <a:path w="383130" h="293969">
                <a:moveTo>
                  <a:pt x="6026" y="189665"/>
                </a:moveTo>
                <a:lnTo>
                  <a:pt x="0" y="168430"/>
                </a:lnTo>
                <a:lnTo>
                  <a:pt x="24416" y="90502"/>
                </a:lnTo>
                <a:lnTo>
                  <a:pt x="30008" y="55250"/>
                </a:lnTo>
                <a:lnTo>
                  <a:pt x="47863" y="38990"/>
                </a:lnTo>
                <a:lnTo>
                  <a:pt x="89619" y="30271"/>
                </a:lnTo>
                <a:lnTo>
                  <a:pt x="118310" y="0"/>
                </a:lnTo>
                <a:lnTo>
                  <a:pt x="151222" y="61398"/>
                </a:lnTo>
                <a:lnTo>
                  <a:pt x="166841" y="110079"/>
                </a:lnTo>
                <a:lnTo>
                  <a:pt x="197919" y="135911"/>
                </a:lnTo>
                <a:lnTo>
                  <a:pt x="275303" y="186007"/>
                </a:lnTo>
                <a:lnTo>
                  <a:pt x="306806" y="216239"/>
                </a:lnTo>
                <a:lnTo>
                  <a:pt x="337527" y="246843"/>
                </a:lnTo>
                <a:lnTo>
                  <a:pt x="355257" y="265064"/>
                </a:lnTo>
                <a:lnTo>
                  <a:pt x="383130" y="281016"/>
                </a:lnTo>
                <a:lnTo>
                  <a:pt x="366033" y="293969"/>
                </a:lnTo>
                <a:lnTo>
                  <a:pt x="341763" y="289364"/>
                </a:lnTo>
                <a:lnTo>
                  <a:pt x="322385" y="272203"/>
                </a:lnTo>
                <a:lnTo>
                  <a:pt x="299074" y="241110"/>
                </a:lnTo>
                <a:lnTo>
                  <a:pt x="273938" y="224073"/>
                </a:lnTo>
                <a:lnTo>
                  <a:pt x="259278" y="205759"/>
                </a:lnTo>
                <a:lnTo>
                  <a:pt x="209935" y="184495"/>
                </a:lnTo>
                <a:lnTo>
                  <a:pt x="171064" y="183860"/>
                </a:lnTo>
                <a:lnTo>
                  <a:pt x="157389" y="172771"/>
                </a:lnTo>
                <a:lnTo>
                  <a:pt x="124142" y="185244"/>
                </a:lnTo>
                <a:lnTo>
                  <a:pt x="89736" y="161168"/>
                </a:lnTo>
                <a:lnTo>
                  <a:pt x="72031" y="200749"/>
                </a:lnTo>
                <a:lnTo>
                  <a:pt x="6026" y="189665"/>
                </a:lnTo>
                <a:close/>
              </a:path>
            </a:pathLst>
          </a:custGeom>
          <a:solidFill>
            <a:srgbClr val="8491B2"/>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Africa overview: Morocco"/>
          <p:cNvSpPr/>
          <p:nvPr/>
        </p:nvSpPr>
        <p:spPr>
          <a:xfrm>
            <a:off x="924214" y="2084759"/>
            <a:ext cx="901182" cy="760485"/>
          </a:xfrm>
          <a:custGeom>
            <a:avLst/>
            <a:gdLst/>
            <a:ahLst/>
            <a:cxnLst/>
            <a:rect l="l" t="t" r="r" b="b"/>
            <a:pathLst>
              <a:path w="901182" h="760485">
                <a:moveTo>
                  <a:pt x="841917" y="31375"/>
                </a:moveTo>
                <a:lnTo>
                  <a:pt x="863287" y="65343"/>
                </a:lnTo>
                <a:lnTo>
                  <a:pt x="866661" y="97599"/>
                </a:lnTo>
                <a:lnTo>
                  <a:pt x="886244" y="153588"/>
                </a:lnTo>
                <a:lnTo>
                  <a:pt x="901182" y="164858"/>
                </a:lnTo>
                <a:lnTo>
                  <a:pt x="890787" y="185469"/>
                </a:lnTo>
                <a:lnTo>
                  <a:pt x="816593" y="194408"/>
                </a:lnTo>
                <a:lnTo>
                  <a:pt x="790947" y="214023"/>
                </a:lnTo>
                <a:lnTo>
                  <a:pt x="758149" y="218648"/>
                </a:lnTo>
                <a:lnTo>
                  <a:pt x="755714" y="257912"/>
                </a:lnTo>
                <a:lnTo>
                  <a:pt x="689429" y="278901"/>
                </a:lnTo>
                <a:lnTo>
                  <a:pt x="667745" y="305459"/>
                </a:lnTo>
                <a:lnTo>
                  <a:pt x="621342" y="319711"/>
                </a:lnTo>
                <a:lnTo>
                  <a:pt x="564728" y="327798"/>
                </a:lnTo>
                <a:lnTo>
                  <a:pt x="473176" y="366935"/>
                </a:lnTo>
                <a:lnTo>
                  <a:pt x="473659" y="429774"/>
                </a:lnTo>
                <a:lnTo>
                  <a:pt x="465029" y="429774"/>
                </a:lnTo>
                <a:lnTo>
                  <a:pt x="466329" y="458187"/>
                </a:lnTo>
                <a:lnTo>
                  <a:pt x="431284" y="459895"/>
                </a:lnTo>
                <a:lnTo>
                  <a:pt x="413012" y="471963"/>
                </a:lnTo>
                <a:lnTo>
                  <a:pt x="387269" y="471963"/>
                </a:lnTo>
                <a:lnTo>
                  <a:pt x="366755" y="465075"/>
                </a:lnTo>
                <a:lnTo>
                  <a:pt x="319060" y="470770"/>
                </a:lnTo>
                <a:lnTo>
                  <a:pt x="300597" y="512102"/>
                </a:lnTo>
                <a:lnTo>
                  <a:pt x="282878" y="515986"/>
                </a:lnTo>
                <a:lnTo>
                  <a:pt x="256221" y="582850"/>
                </a:lnTo>
                <a:lnTo>
                  <a:pt x="177410" y="640081"/>
                </a:lnTo>
                <a:lnTo>
                  <a:pt x="158698" y="713314"/>
                </a:lnTo>
                <a:lnTo>
                  <a:pt x="135473" y="737139"/>
                </a:lnTo>
                <a:lnTo>
                  <a:pt x="128663" y="756249"/>
                </a:lnTo>
                <a:lnTo>
                  <a:pt x="990" y="760485"/>
                </a:lnTo>
                <a:lnTo>
                  <a:pt x="0" y="760402"/>
                </a:lnTo>
                <a:lnTo>
                  <a:pt x="2675" y="735823"/>
                </a:lnTo>
                <a:lnTo>
                  <a:pt x="24451" y="721372"/>
                </a:lnTo>
                <a:lnTo>
                  <a:pt x="43002" y="693735"/>
                </a:lnTo>
                <a:lnTo>
                  <a:pt x="39346" y="675786"/>
                </a:lnTo>
                <a:lnTo>
                  <a:pt x="58837" y="638365"/>
                </a:lnTo>
                <a:lnTo>
                  <a:pt x="90393" y="604647"/>
                </a:lnTo>
                <a:lnTo>
                  <a:pt x="109479" y="596101"/>
                </a:lnTo>
                <a:lnTo>
                  <a:pt x="124485" y="565167"/>
                </a:lnTo>
                <a:lnTo>
                  <a:pt x="125830" y="536914"/>
                </a:lnTo>
                <a:lnTo>
                  <a:pt x="146295" y="504130"/>
                </a:lnTo>
                <a:lnTo>
                  <a:pt x="184060" y="484800"/>
                </a:lnTo>
                <a:lnTo>
                  <a:pt x="219996" y="430637"/>
                </a:lnTo>
                <a:lnTo>
                  <a:pt x="221035" y="429895"/>
                </a:lnTo>
                <a:lnTo>
                  <a:pt x="249539" y="409527"/>
                </a:lnTo>
                <a:lnTo>
                  <a:pt x="302258" y="403669"/>
                </a:lnTo>
                <a:lnTo>
                  <a:pt x="346930" y="367420"/>
                </a:lnTo>
                <a:lnTo>
                  <a:pt x="375354" y="353289"/>
                </a:lnTo>
                <a:lnTo>
                  <a:pt x="422680" y="309005"/>
                </a:lnTo>
                <a:lnTo>
                  <a:pt x="408512" y="243021"/>
                </a:lnTo>
                <a:lnTo>
                  <a:pt x="430051" y="197391"/>
                </a:lnTo>
                <a:lnTo>
                  <a:pt x="437654" y="169464"/>
                </a:lnTo>
                <a:lnTo>
                  <a:pt x="474119" y="133635"/>
                </a:lnTo>
                <a:lnTo>
                  <a:pt x="530999" y="109408"/>
                </a:lnTo>
                <a:lnTo>
                  <a:pt x="573044" y="87482"/>
                </a:lnTo>
                <a:lnTo>
                  <a:pt x="610927" y="32570"/>
                </a:lnTo>
                <a:lnTo>
                  <a:pt x="628748" y="0"/>
                </a:lnTo>
                <a:lnTo>
                  <a:pt x="670481" y="255"/>
                </a:lnTo>
                <a:lnTo>
                  <a:pt x="704659" y="22767"/>
                </a:lnTo>
                <a:lnTo>
                  <a:pt x="758571" y="19100"/>
                </a:lnTo>
                <a:lnTo>
                  <a:pt x="817291" y="30808"/>
                </a:lnTo>
                <a:lnTo>
                  <a:pt x="841917" y="31375"/>
                </a:lnTo>
                <a:close/>
              </a:path>
            </a:pathLst>
          </a:custGeom>
          <a:solidFill>
            <a:srgbClr val="CED3E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frica overview: Egypt"/>
          <p:cNvSpPr/>
          <p:nvPr/>
        </p:nvSpPr>
        <p:spPr>
          <a:xfrm>
            <a:off x="3289466" y="2306144"/>
            <a:ext cx="689734" cy="508379"/>
          </a:xfrm>
          <a:custGeom>
            <a:avLst/>
            <a:gdLst/>
            <a:ahLst/>
            <a:cxnLst/>
            <a:rect l="l" t="t" r="r" b="b"/>
            <a:pathLst>
              <a:path w="689734" h="508379">
                <a:moveTo>
                  <a:pt x="689734" y="508379"/>
                </a:moveTo>
                <a:lnTo>
                  <a:pt x="464877" y="508379"/>
                </a:lnTo>
                <a:lnTo>
                  <a:pt x="244909" y="508379"/>
                </a:lnTo>
                <a:lnTo>
                  <a:pt x="17004" y="508379"/>
                </a:lnTo>
                <a:lnTo>
                  <a:pt x="17004" y="313077"/>
                </a:lnTo>
                <a:lnTo>
                  <a:pt x="17004" y="124475"/>
                </a:lnTo>
                <a:lnTo>
                  <a:pt x="0" y="81753"/>
                </a:lnTo>
                <a:lnTo>
                  <a:pt x="14601" y="49009"/>
                </a:lnTo>
                <a:lnTo>
                  <a:pt x="5828" y="26326"/>
                </a:lnTo>
                <a:lnTo>
                  <a:pt x="26348" y="877"/>
                </a:lnTo>
                <a:lnTo>
                  <a:pt x="101778" y="0"/>
                </a:lnTo>
                <a:lnTo>
                  <a:pt x="156333" y="14024"/>
                </a:lnTo>
                <a:lnTo>
                  <a:pt x="212621" y="29695"/>
                </a:lnTo>
                <a:lnTo>
                  <a:pt x="238873" y="37954"/>
                </a:lnTo>
                <a:lnTo>
                  <a:pt x="282520" y="21152"/>
                </a:lnTo>
                <a:lnTo>
                  <a:pt x="305855" y="5955"/>
                </a:lnTo>
                <a:lnTo>
                  <a:pt x="355853" y="1582"/>
                </a:lnTo>
                <a:lnTo>
                  <a:pt x="396163" y="8278"/>
                </a:lnTo>
                <a:lnTo>
                  <a:pt x="411609" y="34583"/>
                </a:lnTo>
                <a:lnTo>
                  <a:pt x="424765" y="17255"/>
                </a:lnTo>
                <a:lnTo>
                  <a:pt x="470202" y="29785"/>
                </a:lnTo>
                <a:lnTo>
                  <a:pt x="514393" y="32788"/>
                </a:lnTo>
                <a:lnTo>
                  <a:pt x="542287" y="19428"/>
                </a:lnTo>
                <a:lnTo>
                  <a:pt x="542288" y="19428"/>
                </a:lnTo>
                <a:lnTo>
                  <a:pt x="573911" y="96768"/>
                </a:lnTo>
                <a:lnTo>
                  <a:pt x="579544" y="110544"/>
                </a:lnTo>
                <a:lnTo>
                  <a:pt x="563621" y="131860"/>
                </a:lnTo>
                <a:lnTo>
                  <a:pt x="551421" y="171924"/>
                </a:lnTo>
                <a:lnTo>
                  <a:pt x="535999" y="199539"/>
                </a:lnTo>
                <a:lnTo>
                  <a:pt x="522781" y="208799"/>
                </a:lnTo>
                <a:lnTo>
                  <a:pt x="503888" y="191686"/>
                </a:lnTo>
                <a:lnTo>
                  <a:pt x="478300" y="168017"/>
                </a:lnTo>
                <a:lnTo>
                  <a:pt x="437848" y="91995"/>
                </a:lnTo>
                <a:lnTo>
                  <a:pt x="432021" y="96803"/>
                </a:lnTo>
                <a:lnTo>
                  <a:pt x="455513" y="152765"/>
                </a:lnTo>
                <a:lnTo>
                  <a:pt x="490318" y="206084"/>
                </a:lnTo>
                <a:lnTo>
                  <a:pt x="533166" y="288693"/>
                </a:lnTo>
                <a:lnTo>
                  <a:pt x="554104" y="317528"/>
                </a:lnTo>
                <a:lnTo>
                  <a:pt x="572314" y="347483"/>
                </a:lnTo>
                <a:lnTo>
                  <a:pt x="623187" y="406195"/>
                </a:lnTo>
                <a:lnTo>
                  <a:pt x="611922" y="415441"/>
                </a:lnTo>
                <a:lnTo>
                  <a:pt x="613751" y="449911"/>
                </a:lnTo>
                <a:lnTo>
                  <a:pt x="679782" y="497514"/>
                </a:lnTo>
                <a:lnTo>
                  <a:pt x="689734" y="508379"/>
                </a:lnTo>
                <a:close/>
              </a:path>
            </a:pathLst>
          </a:custGeom>
          <a:solidFill>
            <a:srgbClr val="CED3E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Africa overview: Libya"/>
          <p:cNvSpPr/>
          <p:nvPr/>
        </p:nvSpPr>
        <p:spPr>
          <a:xfrm>
            <a:off x="2417493" y="2223870"/>
            <a:ext cx="898321" cy="718973"/>
          </a:xfrm>
          <a:custGeom>
            <a:avLst/>
            <a:gdLst/>
            <a:ahLst/>
            <a:cxnLst/>
            <a:rect l="l" t="t" r="r" b="b"/>
            <a:pathLst>
              <a:path w="898321" h="718973">
                <a:moveTo>
                  <a:pt x="888977" y="590653"/>
                </a:moveTo>
                <a:lnTo>
                  <a:pt x="888977" y="696562"/>
                </a:lnTo>
                <a:lnTo>
                  <a:pt x="823780" y="696723"/>
                </a:lnTo>
                <a:lnTo>
                  <a:pt x="823081" y="718973"/>
                </a:lnTo>
                <a:lnTo>
                  <a:pt x="596967" y="617431"/>
                </a:lnTo>
                <a:lnTo>
                  <a:pt x="370853" y="515888"/>
                </a:lnTo>
                <a:lnTo>
                  <a:pt x="313619" y="544886"/>
                </a:lnTo>
                <a:lnTo>
                  <a:pt x="273513" y="564597"/>
                </a:lnTo>
                <a:lnTo>
                  <a:pt x="241626" y="535469"/>
                </a:lnTo>
                <a:lnTo>
                  <a:pt x="151942" y="512602"/>
                </a:lnTo>
                <a:lnTo>
                  <a:pt x="127064" y="479390"/>
                </a:lnTo>
                <a:lnTo>
                  <a:pt x="82316" y="454748"/>
                </a:lnTo>
                <a:lnTo>
                  <a:pt x="55811" y="464465"/>
                </a:lnTo>
                <a:lnTo>
                  <a:pt x="35652" y="434891"/>
                </a:lnTo>
                <a:lnTo>
                  <a:pt x="33522" y="412165"/>
                </a:lnTo>
                <a:lnTo>
                  <a:pt x="0" y="373509"/>
                </a:lnTo>
                <a:lnTo>
                  <a:pt x="22500" y="351347"/>
                </a:lnTo>
                <a:lnTo>
                  <a:pt x="17555" y="318001"/>
                </a:lnTo>
                <a:lnTo>
                  <a:pt x="24759" y="288975"/>
                </a:lnTo>
                <a:lnTo>
                  <a:pt x="20663" y="264795"/>
                </a:lnTo>
                <a:lnTo>
                  <a:pt x="30648" y="221528"/>
                </a:lnTo>
                <a:lnTo>
                  <a:pt x="27566" y="196886"/>
                </a:lnTo>
                <a:lnTo>
                  <a:pt x="9226" y="150060"/>
                </a:lnTo>
                <a:lnTo>
                  <a:pt x="36885" y="137768"/>
                </a:lnTo>
                <a:lnTo>
                  <a:pt x="41792" y="115360"/>
                </a:lnTo>
                <a:lnTo>
                  <a:pt x="35763" y="93391"/>
                </a:lnTo>
                <a:lnTo>
                  <a:pt x="74693" y="72954"/>
                </a:lnTo>
                <a:lnTo>
                  <a:pt x="92148" y="55962"/>
                </a:lnTo>
                <a:lnTo>
                  <a:pt x="119783" y="40736"/>
                </a:lnTo>
                <a:lnTo>
                  <a:pt x="122988" y="0"/>
                </a:lnTo>
                <a:lnTo>
                  <a:pt x="189575" y="18255"/>
                </a:lnTo>
                <a:lnTo>
                  <a:pt x="213384" y="13692"/>
                </a:lnTo>
                <a:lnTo>
                  <a:pt x="260746" y="22542"/>
                </a:lnTo>
                <a:lnTo>
                  <a:pt x="335974" y="46242"/>
                </a:lnTo>
                <a:lnTo>
                  <a:pt x="362524" y="93381"/>
                </a:lnTo>
                <a:lnTo>
                  <a:pt x="413416" y="103674"/>
                </a:lnTo>
                <a:lnTo>
                  <a:pt x="493323" y="125875"/>
                </a:lnTo>
                <a:lnTo>
                  <a:pt x="553719" y="152243"/>
                </a:lnTo>
                <a:lnTo>
                  <a:pt x="581364" y="138484"/>
                </a:lnTo>
                <a:lnTo>
                  <a:pt x="608537" y="114091"/>
                </a:lnTo>
                <a:lnTo>
                  <a:pt x="595327" y="73465"/>
                </a:lnTo>
                <a:lnTo>
                  <a:pt x="613108" y="47668"/>
                </a:lnTo>
                <a:lnTo>
                  <a:pt x="653958" y="22815"/>
                </a:lnTo>
                <a:lnTo>
                  <a:pt x="692989" y="15581"/>
                </a:lnTo>
                <a:lnTo>
                  <a:pt x="769682" y="26433"/>
                </a:lnTo>
                <a:lnTo>
                  <a:pt x="789016" y="50145"/>
                </a:lnTo>
                <a:lnTo>
                  <a:pt x="810125" y="50369"/>
                </a:lnTo>
                <a:lnTo>
                  <a:pt x="828174" y="59417"/>
                </a:lnTo>
                <a:lnTo>
                  <a:pt x="884506" y="65638"/>
                </a:lnTo>
                <a:lnTo>
                  <a:pt x="898321" y="83151"/>
                </a:lnTo>
                <a:lnTo>
                  <a:pt x="877801" y="108600"/>
                </a:lnTo>
                <a:lnTo>
                  <a:pt x="886574" y="131283"/>
                </a:lnTo>
                <a:lnTo>
                  <a:pt x="871973" y="164027"/>
                </a:lnTo>
                <a:lnTo>
                  <a:pt x="888977" y="206749"/>
                </a:lnTo>
                <a:lnTo>
                  <a:pt x="888977" y="395351"/>
                </a:lnTo>
                <a:lnTo>
                  <a:pt x="888977" y="590653"/>
                </a:lnTo>
                <a:close/>
              </a:path>
            </a:pathLst>
          </a:custGeom>
          <a:solidFill>
            <a:srgbClr val="CED3E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Africa overview: Ethiopia"/>
          <p:cNvSpPr/>
          <p:nvPr/>
        </p:nvSpPr>
        <p:spPr>
          <a:xfrm>
            <a:off x="3757415" y="3187921"/>
            <a:ext cx="841051" cy="611886"/>
          </a:xfrm>
          <a:custGeom>
            <a:avLst/>
            <a:gdLst/>
            <a:ahLst/>
            <a:cxnLst/>
            <a:rect l="l" t="t" r="r" b="b"/>
            <a:pathLst>
              <a:path w="841051" h="611886">
                <a:moveTo>
                  <a:pt x="841051" y="368935"/>
                </a:moveTo>
                <a:lnTo>
                  <a:pt x="680847" y="528114"/>
                </a:lnTo>
                <a:lnTo>
                  <a:pt x="606992" y="530451"/>
                </a:lnTo>
                <a:lnTo>
                  <a:pt x="556467" y="567839"/>
                </a:lnTo>
                <a:lnTo>
                  <a:pt x="520124" y="568818"/>
                </a:lnTo>
                <a:lnTo>
                  <a:pt x="504617" y="585536"/>
                </a:lnTo>
                <a:lnTo>
                  <a:pt x="465880" y="585526"/>
                </a:lnTo>
                <a:lnTo>
                  <a:pt x="443014" y="567604"/>
                </a:lnTo>
                <a:lnTo>
                  <a:pt x="391223" y="589785"/>
                </a:lnTo>
                <a:lnTo>
                  <a:pt x="374467" y="611886"/>
                </a:lnTo>
                <a:lnTo>
                  <a:pt x="336660" y="607714"/>
                </a:lnTo>
                <a:lnTo>
                  <a:pt x="324110" y="601597"/>
                </a:lnTo>
                <a:lnTo>
                  <a:pt x="310834" y="603059"/>
                </a:lnTo>
                <a:lnTo>
                  <a:pt x="292916" y="602523"/>
                </a:lnTo>
                <a:lnTo>
                  <a:pt x="221153" y="557483"/>
                </a:lnTo>
                <a:lnTo>
                  <a:pt x="181694" y="557483"/>
                </a:lnTo>
                <a:lnTo>
                  <a:pt x="162326" y="540029"/>
                </a:lnTo>
                <a:lnTo>
                  <a:pt x="162326" y="510262"/>
                </a:lnTo>
                <a:lnTo>
                  <a:pt x="132878" y="501364"/>
                </a:lnTo>
                <a:lnTo>
                  <a:pt x="99373" y="443650"/>
                </a:lnTo>
                <a:lnTo>
                  <a:pt x="73481" y="431354"/>
                </a:lnTo>
                <a:lnTo>
                  <a:pt x="63548" y="410146"/>
                </a:lnTo>
                <a:lnTo>
                  <a:pt x="34815" y="384298"/>
                </a:lnTo>
                <a:lnTo>
                  <a:pt x="0" y="380499"/>
                </a:lnTo>
                <a:lnTo>
                  <a:pt x="19310" y="350289"/>
                </a:lnTo>
                <a:lnTo>
                  <a:pt x="49397" y="348986"/>
                </a:lnTo>
                <a:lnTo>
                  <a:pt x="57872" y="332789"/>
                </a:lnTo>
                <a:lnTo>
                  <a:pt x="57114" y="285109"/>
                </a:lnTo>
                <a:lnTo>
                  <a:pt x="73886" y="229607"/>
                </a:lnTo>
                <a:lnTo>
                  <a:pt x="100741" y="214753"/>
                </a:lnTo>
                <a:lnTo>
                  <a:pt x="106438" y="193073"/>
                </a:lnTo>
                <a:lnTo>
                  <a:pt x="130751" y="152559"/>
                </a:lnTo>
                <a:lnTo>
                  <a:pt x="164945" y="126285"/>
                </a:lnTo>
                <a:lnTo>
                  <a:pt x="187995" y="74042"/>
                </a:lnTo>
                <a:lnTo>
                  <a:pt x="197026" y="28497"/>
                </a:lnTo>
                <a:lnTo>
                  <a:pt x="263031" y="39581"/>
                </a:lnTo>
                <a:lnTo>
                  <a:pt x="280736" y="0"/>
                </a:lnTo>
                <a:lnTo>
                  <a:pt x="315142" y="24076"/>
                </a:lnTo>
                <a:lnTo>
                  <a:pt x="348389" y="11603"/>
                </a:lnTo>
                <a:lnTo>
                  <a:pt x="362064" y="22692"/>
                </a:lnTo>
                <a:lnTo>
                  <a:pt x="400935" y="23327"/>
                </a:lnTo>
                <a:lnTo>
                  <a:pt x="450278" y="44591"/>
                </a:lnTo>
                <a:lnTo>
                  <a:pt x="464938" y="62905"/>
                </a:lnTo>
                <a:lnTo>
                  <a:pt x="490074" y="79942"/>
                </a:lnTo>
                <a:lnTo>
                  <a:pt x="513385" y="111035"/>
                </a:lnTo>
                <a:lnTo>
                  <a:pt x="532763" y="128196"/>
                </a:lnTo>
                <a:lnTo>
                  <a:pt x="512833" y="151650"/>
                </a:lnTo>
                <a:lnTo>
                  <a:pt x="493657" y="176513"/>
                </a:lnTo>
                <a:lnTo>
                  <a:pt x="498069" y="191156"/>
                </a:lnTo>
                <a:lnTo>
                  <a:pt x="498975" y="207289"/>
                </a:lnTo>
                <a:lnTo>
                  <a:pt x="530642" y="208175"/>
                </a:lnTo>
                <a:lnTo>
                  <a:pt x="544293" y="204414"/>
                </a:lnTo>
                <a:lnTo>
                  <a:pt x="556874" y="213867"/>
                </a:lnTo>
                <a:lnTo>
                  <a:pt x="544510" y="232657"/>
                </a:lnTo>
                <a:lnTo>
                  <a:pt x="565450" y="261861"/>
                </a:lnTo>
                <a:lnTo>
                  <a:pt x="586362" y="287395"/>
                </a:lnTo>
                <a:lnTo>
                  <a:pt x="608006" y="306323"/>
                </a:lnTo>
                <a:lnTo>
                  <a:pt x="793368" y="369260"/>
                </a:lnTo>
                <a:lnTo>
                  <a:pt x="841051" y="368935"/>
                </a:lnTo>
                <a:close/>
              </a:path>
            </a:pathLst>
          </a:custGeom>
          <a:solidFill>
            <a:srgbClr val="8491B2"/>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Africa overview: Djibouti"/>
          <p:cNvSpPr/>
          <p:nvPr/>
        </p:nvSpPr>
        <p:spPr>
          <a:xfrm>
            <a:off x="4251072" y="3307769"/>
            <a:ext cx="93888" cy="94019"/>
          </a:xfrm>
          <a:custGeom>
            <a:avLst/>
            <a:gdLst/>
            <a:ahLst/>
            <a:cxnLst/>
            <a:rect l="l" t="t" r="r" b="b"/>
            <a:pathLst>
              <a:path w="93888" h="94019">
                <a:moveTo>
                  <a:pt x="39106" y="8348"/>
                </a:moveTo>
                <a:lnTo>
                  <a:pt x="63376" y="12953"/>
                </a:lnTo>
                <a:lnTo>
                  <a:pt x="80473" y="0"/>
                </a:lnTo>
                <a:lnTo>
                  <a:pt x="93888" y="16414"/>
                </a:lnTo>
                <a:lnTo>
                  <a:pt x="92104" y="38435"/>
                </a:lnTo>
                <a:lnTo>
                  <a:pt x="59760" y="51126"/>
                </a:lnTo>
                <a:lnTo>
                  <a:pt x="84106" y="65637"/>
                </a:lnTo>
                <a:lnTo>
                  <a:pt x="63217" y="94019"/>
                </a:lnTo>
                <a:lnTo>
                  <a:pt x="50636" y="84566"/>
                </a:lnTo>
                <a:lnTo>
                  <a:pt x="36985" y="88327"/>
                </a:lnTo>
                <a:lnTo>
                  <a:pt x="5318" y="87441"/>
                </a:lnTo>
                <a:lnTo>
                  <a:pt x="4412" y="71308"/>
                </a:lnTo>
                <a:lnTo>
                  <a:pt x="0" y="56665"/>
                </a:lnTo>
                <a:lnTo>
                  <a:pt x="19176" y="31802"/>
                </a:lnTo>
                <a:lnTo>
                  <a:pt x="39106" y="8348"/>
                </a:lnTo>
                <a:close/>
              </a:path>
            </a:pathLst>
          </a:custGeom>
          <a:solidFill>
            <a:srgbClr val="8491B2"/>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frica overview: Somaliland"/>
          <p:cNvSpPr/>
          <p:nvPr/>
        </p:nvSpPr>
        <p:spPr>
          <a:xfrm>
            <a:off x="4301925" y="3373406"/>
            <a:ext cx="362236" cy="183775"/>
          </a:xfrm>
          <a:custGeom>
            <a:avLst/>
            <a:gdLst/>
            <a:ahLst/>
            <a:cxnLst/>
            <a:rect l="l" t="t" r="r" b="b"/>
            <a:pathLst>
              <a:path w="362236" h="183775">
                <a:moveTo>
                  <a:pt x="362236" y="2727"/>
                </a:moveTo>
                <a:lnTo>
                  <a:pt x="362236" y="2727"/>
                </a:lnTo>
                <a:lnTo>
                  <a:pt x="361884" y="3594"/>
                </a:lnTo>
                <a:lnTo>
                  <a:pt x="361685" y="25441"/>
                </a:lnTo>
                <a:lnTo>
                  <a:pt x="361670" y="78945"/>
                </a:lnTo>
                <a:lnTo>
                  <a:pt x="361665" y="106616"/>
                </a:lnTo>
                <a:lnTo>
                  <a:pt x="336074" y="139186"/>
                </a:lnTo>
                <a:lnTo>
                  <a:pt x="296541" y="183450"/>
                </a:lnTo>
                <a:lnTo>
                  <a:pt x="248858" y="183775"/>
                </a:lnTo>
                <a:lnTo>
                  <a:pt x="63496" y="120838"/>
                </a:lnTo>
                <a:lnTo>
                  <a:pt x="41852" y="101910"/>
                </a:lnTo>
                <a:lnTo>
                  <a:pt x="20940" y="76376"/>
                </a:lnTo>
                <a:lnTo>
                  <a:pt x="0" y="47172"/>
                </a:lnTo>
                <a:lnTo>
                  <a:pt x="12364" y="28382"/>
                </a:lnTo>
                <a:lnTo>
                  <a:pt x="33253" y="0"/>
                </a:lnTo>
                <a:lnTo>
                  <a:pt x="51698" y="9775"/>
                </a:lnTo>
                <a:lnTo>
                  <a:pt x="62811" y="31708"/>
                </a:lnTo>
                <a:lnTo>
                  <a:pt x="88387" y="53910"/>
                </a:lnTo>
                <a:lnTo>
                  <a:pt x="116532" y="54087"/>
                </a:lnTo>
                <a:lnTo>
                  <a:pt x="169975" y="40519"/>
                </a:lnTo>
                <a:lnTo>
                  <a:pt x="231683" y="34233"/>
                </a:lnTo>
                <a:lnTo>
                  <a:pt x="281588" y="17756"/>
                </a:lnTo>
                <a:lnTo>
                  <a:pt x="309704" y="14265"/>
                </a:lnTo>
                <a:lnTo>
                  <a:pt x="329954" y="4590"/>
                </a:lnTo>
                <a:lnTo>
                  <a:pt x="362236" y="2726"/>
                </a:lnTo>
                <a:lnTo>
                  <a:pt x="362236" y="2727"/>
                </a:lnTo>
                <a:close/>
              </a:path>
            </a:pathLst>
          </a:custGeom>
          <a:solidFill>
            <a:srgbClr val="8491B2"/>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Africa overview: Uganda"/>
          <p:cNvSpPr/>
          <p:nvPr/>
        </p:nvSpPr>
        <p:spPr>
          <a:xfrm>
            <a:off x="3566093" y="3755904"/>
            <a:ext cx="309345" cy="301940"/>
          </a:xfrm>
          <a:custGeom>
            <a:avLst/>
            <a:gdLst/>
            <a:ahLst/>
            <a:cxnLst/>
            <a:rect l="l" t="t" r="r" b="b"/>
            <a:pathLst>
              <a:path w="309345" h="301940">
                <a:moveTo>
                  <a:pt x="245153" y="275777"/>
                </a:moveTo>
                <a:lnTo>
                  <a:pt x="129639" y="279879"/>
                </a:lnTo>
                <a:lnTo>
                  <a:pt x="67486" y="279200"/>
                </a:lnTo>
                <a:lnTo>
                  <a:pt x="47601" y="285570"/>
                </a:lnTo>
                <a:lnTo>
                  <a:pt x="13722" y="301940"/>
                </a:lnTo>
                <a:lnTo>
                  <a:pt x="0" y="296530"/>
                </a:lnTo>
                <a:lnTo>
                  <a:pt x="474" y="256546"/>
                </a:lnTo>
                <a:lnTo>
                  <a:pt x="13608" y="236282"/>
                </a:lnTo>
                <a:lnTo>
                  <a:pt x="16798" y="193711"/>
                </a:lnTo>
                <a:lnTo>
                  <a:pt x="28725" y="169053"/>
                </a:lnTo>
                <a:lnTo>
                  <a:pt x="50402" y="141396"/>
                </a:lnTo>
                <a:lnTo>
                  <a:pt x="72181" y="127310"/>
                </a:lnTo>
                <a:lnTo>
                  <a:pt x="90407" y="108479"/>
                </a:lnTo>
                <a:lnTo>
                  <a:pt x="67684" y="101297"/>
                </a:lnTo>
                <a:lnTo>
                  <a:pt x="71115" y="39284"/>
                </a:lnTo>
                <a:lnTo>
                  <a:pt x="71114" y="39283"/>
                </a:lnTo>
                <a:lnTo>
                  <a:pt x="94455" y="24819"/>
                </a:lnTo>
                <a:lnTo>
                  <a:pt x="130506" y="36680"/>
                </a:lnTo>
                <a:lnTo>
                  <a:pt x="176142" y="24267"/>
                </a:lnTo>
                <a:lnTo>
                  <a:pt x="216029" y="24390"/>
                </a:lnTo>
                <a:lnTo>
                  <a:pt x="250896" y="0"/>
                </a:lnTo>
                <a:lnTo>
                  <a:pt x="277775" y="36821"/>
                </a:lnTo>
                <a:lnTo>
                  <a:pt x="284405" y="63437"/>
                </a:lnTo>
                <a:lnTo>
                  <a:pt x="309345" y="124316"/>
                </a:lnTo>
                <a:lnTo>
                  <a:pt x="288715" y="162974"/>
                </a:lnTo>
                <a:lnTo>
                  <a:pt x="260817" y="198080"/>
                </a:lnTo>
                <a:lnTo>
                  <a:pt x="244578" y="219569"/>
                </a:lnTo>
                <a:lnTo>
                  <a:pt x="245153" y="275777"/>
                </a:lnTo>
                <a:close/>
              </a:path>
            </a:pathLst>
          </a:custGeom>
          <a:solidFill>
            <a:srgbClr val="8491B2"/>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frica overview: Rwanda"/>
          <p:cNvSpPr/>
          <p:nvPr/>
        </p:nvSpPr>
        <p:spPr>
          <a:xfrm>
            <a:off x="3534654" y="4041474"/>
            <a:ext cx="101549" cy="94572"/>
          </a:xfrm>
          <a:custGeom>
            <a:avLst/>
            <a:gdLst/>
            <a:ahLst/>
            <a:cxnLst/>
            <a:rect l="l" t="t" r="r" b="b"/>
            <a:pathLst>
              <a:path w="101549" h="94572">
                <a:moveTo>
                  <a:pt x="79040" y="0"/>
                </a:moveTo>
                <a:lnTo>
                  <a:pt x="101549" y="29925"/>
                </a:lnTo>
                <a:lnTo>
                  <a:pt x="98271" y="61128"/>
                </a:lnTo>
                <a:lnTo>
                  <a:pt x="81907" y="67841"/>
                </a:lnTo>
                <a:lnTo>
                  <a:pt x="81907" y="67842"/>
                </a:lnTo>
                <a:lnTo>
                  <a:pt x="51785" y="64376"/>
                </a:lnTo>
                <a:lnTo>
                  <a:pt x="34427" y="94572"/>
                </a:lnTo>
                <a:lnTo>
                  <a:pt x="0" y="90404"/>
                </a:lnTo>
                <a:lnTo>
                  <a:pt x="5247" y="61391"/>
                </a:lnTo>
                <a:lnTo>
                  <a:pt x="13034" y="57302"/>
                </a:lnTo>
                <a:lnTo>
                  <a:pt x="15135" y="25743"/>
                </a:lnTo>
                <a:lnTo>
                  <a:pt x="31439" y="10960"/>
                </a:lnTo>
                <a:lnTo>
                  <a:pt x="45161" y="16370"/>
                </a:lnTo>
                <a:lnTo>
                  <a:pt x="79040" y="0"/>
                </a:lnTo>
                <a:close/>
              </a:path>
            </a:pathLst>
          </a:custGeom>
          <a:solidFill>
            <a:srgbClr val="8491B2"/>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frica overview: South Sudan"/>
          <p:cNvSpPr/>
          <p:nvPr/>
        </p:nvSpPr>
        <p:spPr>
          <a:xfrm>
            <a:off x="3243370" y="3331722"/>
            <a:ext cx="646923" cy="463465"/>
          </a:xfrm>
          <a:custGeom>
            <a:avLst/>
            <a:gdLst/>
            <a:ahLst/>
            <a:cxnLst/>
            <a:rect l="l" t="t" r="r" b="b"/>
            <a:pathLst>
              <a:path w="646923" h="463465">
                <a:moveTo>
                  <a:pt x="393837" y="463465"/>
                </a:moveTo>
                <a:lnTo>
                  <a:pt x="343928" y="428222"/>
                </a:lnTo>
                <a:lnTo>
                  <a:pt x="330463" y="405570"/>
                </a:lnTo>
                <a:lnTo>
                  <a:pt x="298890" y="416789"/>
                </a:lnTo>
                <a:lnTo>
                  <a:pt x="272675" y="413299"/>
                </a:lnTo>
                <a:lnTo>
                  <a:pt x="257499" y="422205"/>
                </a:lnTo>
                <a:lnTo>
                  <a:pt x="232043" y="415774"/>
                </a:lnTo>
                <a:lnTo>
                  <a:pt x="197701" y="371992"/>
                </a:lnTo>
                <a:lnTo>
                  <a:pt x="188584" y="355179"/>
                </a:lnTo>
                <a:lnTo>
                  <a:pt x="146206" y="334190"/>
                </a:lnTo>
                <a:lnTo>
                  <a:pt x="131892" y="302375"/>
                </a:lnTo>
                <a:lnTo>
                  <a:pt x="108264" y="279426"/>
                </a:lnTo>
                <a:lnTo>
                  <a:pt x="70137" y="251807"/>
                </a:lnTo>
                <a:lnTo>
                  <a:pt x="69616" y="234569"/>
                </a:lnTo>
                <a:lnTo>
                  <a:pt x="38573" y="213138"/>
                </a:lnTo>
                <a:lnTo>
                  <a:pt x="0" y="192426"/>
                </a:lnTo>
                <a:lnTo>
                  <a:pt x="17409" y="186647"/>
                </a:lnTo>
                <a:lnTo>
                  <a:pt x="36875" y="176632"/>
                </a:lnTo>
                <a:lnTo>
                  <a:pt x="51474" y="129287"/>
                </a:lnTo>
                <a:lnTo>
                  <a:pt x="67046" y="104704"/>
                </a:lnTo>
                <a:lnTo>
                  <a:pt x="107923" y="97420"/>
                </a:lnTo>
                <a:lnTo>
                  <a:pt x="117656" y="111988"/>
                </a:lnTo>
                <a:lnTo>
                  <a:pt x="146854" y="142944"/>
                </a:lnTo>
                <a:lnTo>
                  <a:pt x="162426" y="147497"/>
                </a:lnTo>
                <a:lnTo>
                  <a:pt x="182865" y="138392"/>
                </a:lnTo>
                <a:lnTo>
                  <a:pt x="223742" y="140213"/>
                </a:lnTo>
                <a:lnTo>
                  <a:pt x="231528" y="151138"/>
                </a:lnTo>
                <a:lnTo>
                  <a:pt x="287977" y="151138"/>
                </a:lnTo>
                <a:lnTo>
                  <a:pt x="289924" y="140213"/>
                </a:lnTo>
                <a:lnTo>
                  <a:pt x="319122" y="130197"/>
                </a:lnTo>
                <a:lnTo>
                  <a:pt x="324962" y="114719"/>
                </a:lnTo>
                <a:lnTo>
                  <a:pt x="346373" y="103794"/>
                </a:lnTo>
                <a:lnTo>
                  <a:pt x="394063" y="134750"/>
                </a:lnTo>
                <a:lnTo>
                  <a:pt x="423261" y="129287"/>
                </a:lnTo>
                <a:lnTo>
                  <a:pt x="451486" y="91047"/>
                </a:lnTo>
                <a:lnTo>
                  <a:pt x="482631" y="61912"/>
                </a:lnTo>
                <a:lnTo>
                  <a:pt x="477764" y="30045"/>
                </a:lnTo>
                <a:lnTo>
                  <a:pt x="464139" y="14567"/>
                </a:lnTo>
                <a:lnTo>
                  <a:pt x="498203" y="11836"/>
                </a:lnTo>
                <a:lnTo>
                  <a:pt x="502096" y="0"/>
                </a:lnTo>
                <a:lnTo>
                  <a:pt x="528374" y="3641"/>
                </a:lnTo>
                <a:lnTo>
                  <a:pt x="521561" y="42792"/>
                </a:lnTo>
                <a:lnTo>
                  <a:pt x="528374" y="81032"/>
                </a:lnTo>
                <a:lnTo>
                  <a:pt x="557572" y="101973"/>
                </a:lnTo>
                <a:lnTo>
                  <a:pt x="564385" y="120182"/>
                </a:lnTo>
                <a:lnTo>
                  <a:pt x="563412" y="146586"/>
                </a:lnTo>
                <a:lnTo>
                  <a:pt x="571260" y="147635"/>
                </a:lnTo>
                <a:lnTo>
                  <a:pt x="571917" y="188988"/>
                </a:lnTo>
                <a:lnTo>
                  <a:pt x="563442" y="205185"/>
                </a:lnTo>
                <a:lnTo>
                  <a:pt x="533355" y="206488"/>
                </a:lnTo>
                <a:lnTo>
                  <a:pt x="514045" y="236698"/>
                </a:lnTo>
                <a:lnTo>
                  <a:pt x="548860" y="240497"/>
                </a:lnTo>
                <a:lnTo>
                  <a:pt x="577593" y="266345"/>
                </a:lnTo>
                <a:lnTo>
                  <a:pt x="587526" y="287553"/>
                </a:lnTo>
                <a:lnTo>
                  <a:pt x="613418" y="299849"/>
                </a:lnTo>
                <a:lnTo>
                  <a:pt x="646923" y="357563"/>
                </a:lnTo>
                <a:lnTo>
                  <a:pt x="608496" y="392507"/>
                </a:lnTo>
                <a:lnTo>
                  <a:pt x="573619" y="424182"/>
                </a:lnTo>
                <a:lnTo>
                  <a:pt x="538752" y="448572"/>
                </a:lnTo>
                <a:lnTo>
                  <a:pt x="498865" y="448449"/>
                </a:lnTo>
                <a:lnTo>
                  <a:pt x="453229" y="460862"/>
                </a:lnTo>
                <a:lnTo>
                  <a:pt x="417178" y="449001"/>
                </a:lnTo>
                <a:lnTo>
                  <a:pt x="393837" y="463465"/>
                </a:lnTo>
                <a:close/>
              </a:path>
            </a:pathLst>
          </a:custGeom>
          <a:solidFill>
            <a:srgbClr val="8491B2"/>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Island location: Comoros"/>
          <p:cNvSpPr/>
          <p:nvPr/>
        </p:nvSpPr>
        <p:spPr>
          <a:xfrm>
            <a:off x="4316516" y="4574377"/>
            <a:ext cx="54864" cy="54864"/>
          </a:xfrm>
          <a:prstGeom prst="ellipse">
            <a:avLst/>
          </a:prstGeom>
          <a:solidFill>
            <a:srgbClr val="53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Island location: Mauritius"/>
          <p:cNvSpPr/>
          <p:nvPr/>
        </p:nvSpPr>
        <p:spPr>
          <a:xfrm>
            <a:off x="5121554" y="5025176"/>
            <a:ext cx="54864" cy="54864"/>
          </a:xfrm>
          <a:prstGeom prst="ellipse">
            <a:avLst/>
          </a:prstGeom>
          <a:solidFill>
            <a:srgbClr val="53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Island location: Seychelles"/>
          <p:cNvSpPr/>
          <p:nvPr/>
        </p:nvSpPr>
        <p:spPr>
          <a:xfrm>
            <a:off x="5005334" y="4197827"/>
            <a:ext cx="54864" cy="54864"/>
          </a:xfrm>
          <a:prstGeom prst="ellipse">
            <a:avLst/>
          </a:prstGeom>
          <a:solidFill>
            <a:srgbClr val="53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Island location: Cabo Verde"/>
          <p:cNvSpPr/>
          <p:nvPr/>
        </p:nvSpPr>
        <p:spPr>
          <a:xfrm>
            <a:off x="523768" y="3153034"/>
            <a:ext cx="54864" cy="54864"/>
          </a:xfrm>
          <a:prstGeom prst="ellipse">
            <a:avLst/>
          </a:prstGeom>
          <a:solidFill>
            <a:srgbClr val="AAB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2682849" y="5148072"/>
            <a:ext cx="1133856" cy="715975"/>
          </a:xfrm>
          <a:prstGeom prst="rect">
            <a:avLst/>
          </a:prstGeom>
          <a:noFill/>
          <a:ln w="9525">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flipV="1">
            <a:off x="3816705" y="3154680"/>
            <a:ext cx="2264055" cy="1993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816705" y="5864047"/>
            <a:ext cx="2264055" cy="1252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1792223" y="2655417"/>
            <a:ext cx="1645920" cy="502920"/>
          </a:xfrm>
          <a:prstGeom prst="rect">
            <a:avLst/>
          </a:prstGeom>
          <a:noFill/>
        </p:spPr>
        <p:txBody>
          <a:bodyPr wrap="square" lIns="18288" rIns="18288" tIns="0" bIns="0">
            <a:spAutoFit/>
          </a:bodyPr>
          <a:lstStyle/>
          <a:p>
            <a:pPr algn="ctr">
              <a:spcAft>
                <a:spcPts val="0"/>
              </a:spcAft>
              <a:defRPr sz="900" b="1">
                <a:solidFill>
                  <a:srgbClr val="000000"/>
                </a:solidFill>
                <a:latin typeface="Lato"/>
              </a:defRPr>
            </a:pPr>
            <a:r>
              <a:t>NORTH AFRICA</a:t>
            </a:r>
          </a:p>
        </p:txBody>
      </p:sp>
      <p:sp>
        <p:nvSpPr>
          <p:cNvPr id="66" name="TextBox 65"/>
          <p:cNvSpPr txBox="1"/>
          <p:nvPr/>
        </p:nvSpPr>
        <p:spPr>
          <a:xfrm>
            <a:off x="941831" y="3503980"/>
            <a:ext cx="1645920" cy="502920"/>
          </a:xfrm>
          <a:prstGeom prst="rect">
            <a:avLst/>
          </a:prstGeom>
          <a:noFill/>
        </p:spPr>
        <p:txBody>
          <a:bodyPr wrap="square" lIns="18288" rIns="18288" tIns="0" bIns="0">
            <a:spAutoFit/>
          </a:bodyPr>
          <a:lstStyle/>
          <a:p>
            <a:pPr algn="ctr">
              <a:spcAft>
                <a:spcPts val="0"/>
              </a:spcAft>
              <a:defRPr sz="900" b="1">
                <a:solidFill>
                  <a:srgbClr val="000000"/>
                </a:solidFill>
                <a:latin typeface="Lato"/>
              </a:defRPr>
            </a:pPr>
            <a:r>
              <a:t>WEST AFRICA</a:t>
            </a:r>
          </a:p>
        </p:txBody>
      </p:sp>
      <p:sp>
        <p:nvSpPr>
          <p:cNvPr id="67" name="TextBox 66"/>
          <p:cNvSpPr txBox="1"/>
          <p:nvPr/>
        </p:nvSpPr>
        <p:spPr>
          <a:xfrm>
            <a:off x="3209544" y="3663086"/>
            <a:ext cx="1645920" cy="502920"/>
          </a:xfrm>
          <a:prstGeom prst="rect">
            <a:avLst/>
          </a:prstGeom>
          <a:noFill/>
        </p:spPr>
        <p:txBody>
          <a:bodyPr wrap="square" lIns="18288" rIns="18288" tIns="0" bIns="0">
            <a:spAutoFit/>
          </a:bodyPr>
          <a:lstStyle/>
          <a:p>
            <a:pPr algn="ctr">
              <a:spcAft>
                <a:spcPts val="0"/>
              </a:spcAft>
              <a:defRPr sz="900" b="1">
                <a:solidFill>
                  <a:srgbClr val="000000"/>
                </a:solidFill>
                <a:latin typeface="Lato"/>
              </a:defRPr>
            </a:pPr>
            <a:r>
              <a:t>EAST AFRICA</a:t>
            </a:r>
          </a:p>
        </p:txBody>
      </p:sp>
      <p:cxnSp>
        <p:nvCxnSpPr>
          <p:cNvPr id="68" name="Connector 67"/>
          <p:cNvCxnSpPr/>
          <p:nvPr/>
        </p:nvCxnSpPr>
        <p:spPr>
          <a:xfrm flipV="1">
            <a:off x="2121408" y="4617720"/>
            <a:ext cx="1014983" cy="20116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502919" y="4572000"/>
            <a:ext cx="1645920" cy="502920"/>
          </a:xfrm>
          <a:prstGeom prst="rect">
            <a:avLst/>
          </a:prstGeom>
          <a:noFill/>
        </p:spPr>
        <p:txBody>
          <a:bodyPr wrap="square" lIns="18288" rIns="18288" tIns="0" bIns="0">
            <a:spAutoFit/>
          </a:bodyPr>
          <a:lstStyle/>
          <a:p>
            <a:pPr algn="ctr">
              <a:spcAft>
                <a:spcPts val="0"/>
              </a:spcAft>
              <a:defRPr sz="900" b="1">
                <a:solidFill>
                  <a:srgbClr val="000000"/>
                </a:solidFill>
                <a:latin typeface="Lato"/>
              </a:defRPr>
            </a:pPr>
            <a:r>
              <a:t>SADC</a:t>
            </a:r>
          </a:p>
          <a:p>
            <a:pPr algn="ctr">
              <a:spcAft>
                <a:spcPts val="0"/>
              </a:spcAft>
              <a:defRPr sz="900" b="1">
                <a:solidFill>
                  <a:srgbClr val="000000"/>
                </a:solidFill>
                <a:latin typeface="Lato"/>
              </a:defRPr>
            </a:pPr>
            <a:r>
              <a:t>excluding SACU</a:t>
            </a:r>
          </a:p>
        </p:txBody>
      </p:sp>
      <p:sp>
        <p:nvSpPr>
          <p:cNvPr id="70" name="TextBox 69"/>
          <p:cNvSpPr txBox="1"/>
          <p:nvPr/>
        </p:nvSpPr>
        <p:spPr>
          <a:xfrm>
            <a:off x="1905609" y="3928262"/>
            <a:ext cx="1645920" cy="502920"/>
          </a:xfrm>
          <a:prstGeom prst="rect">
            <a:avLst/>
          </a:prstGeom>
          <a:noFill/>
        </p:spPr>
        <p:txBody>
          <a:bodyPr wrap="square" lIns="18288" rIns="18288" tIns="0" bIns="0">
            <a:spAutoFit/>
          </a:bodyPr>
          <a:lstStyle/>
          <a:p>
            <a:pPr algn="ctr">
              <a:spcAft>
                <a:spcPts val="0"/>
              </a:spcAft>
              <a:defRPr sz="900" b="1">
                <a:solidFill>
                  <a:srgbClr val="000000"/>
                </a:solidFill>
                <a:latin typeface="Lato"/>
              </a:defRPr>
            </a:pPr>
            <a:r>
              <a:t>CENTRAL AFRICA</a:t>
            </a:r>
          </a:p>
        </p:txBody>
      </p:sp>
      <p:sp>
        <p:nvSpPr>
          <p:cNvPr id="71" name="TextBox 70"/>
          <p:cNvSpPr txBox="1"/>
          <p:nvPr/>
        </p:nvSpPr>
        <p:spPr>
          <a:xfrm>
            <a:off x="2359151" y="5360212"/>
            <a:ext cx="1645920" cy="502920"/>
          </a:xfrm>
          <a:prstGeom prst="rect">
            <a:avLst/>
          </a:prstGeom>
          <a:noFill/>
        </p:spPr>
        <p:txBody>
          <a:bodyPr wrap="square" lIns="18288" rIns="18288" tIns="0" bIns="0">
            <a:spAutoFit/>
          </a:bodyPr>
          <a:lstStyle/>
          <a:p>
            <a:pPr algn="ctr">
              <a:spcAft>
                <a:spcPts val="0"/>
              </a:spcAft>
              <a:defRPr sz="900" b="1">
                <a:solidFill>
                  <a:srgbClr val="FFFFFF"/>
                </a:solidFill>
                <a:latin typeface="Lato"/>
              </a:defRPr>
            </a:pPr>
            <a:r>
              <a:t>SACU</a:t>
            </a:r>
          </a:p>
        </p:txBody>
      </p:sp>
      <p:sp>
        <p:nvSpPr>
          <p:cNvPr id="72" name="TextBox 71"/>
          <p:cNvSpPr txBox="1"/>
          <p:nvPr/>
        </p:nvSpPr>
        <p:spPr>
          <a:xfrm>
            <a:off x="6080760" y="1664208"/>
            <a:ext cx="5029200" cy="365760"/>
          </a:xfrm>
          <a:prstGeom prst="rect">
            <a:avLst/>
          </a:prstGeom>
          <a:noFill/>
        </p:spPr>
        <p:txBody>
          <a:bodyPr wrap="square" lIns="18288" rIns="18288" tIns="0" bIns="0">
            <a:spAutoFit/>
          </a:bodyPr>
          <a:lstStyle/>
          <a:p>
            <a:pPr>
              <a:spcAft>
                <a:spcPts val="800"/>
              </a:spcAft>
              <a:defRPr sz="2000" b="1">
                <a:solidFill>
                  <a:srgbClr val="000000"/>
                </a:solidFill>
                <a:latin typeface="Lato"/>
              </a:defRPr>
            </a:pPr>
            <a:r>
              <a:t>South Africa: current model coverage</a:t>
            </a:r>
          </a:p>
        </p:txBody>
      </p:sp>
      <p:sp>
        <p:nvSpPr>
          <p:cNvPr id="73" name="TextBox 72"/>
          <p:cNvSpPr txBox="1"/>
          <p:nvPr/>
        </p:nvSpPr>
        <p:spPr>
          <a:xfrm>
            <a:off x="6080760" y="2121408"/>
            <a:ext cx="5029200" cy="868680"/>
          </a:xfrm>
          <a:prstGeom prst="rect">
            <a:avLst/>
          </a:prstGeom>
          <a:noFill/>
        </p:spPr>
        <p:txBody>
          <a:bodyPr wrap="square" lIns="18288" rIns="18288" tIns="0" bIns="0">
            <a:spAutoFit/>
          </a:bodyPr>
          <a:lstStyle/>
          <a:p>
            <a:pPr>
              <a:spcAft>
                <a:spcPts val="800"/>
              </a:spcAft>
              <a:defRPr sz="1600" b="0">
                <a:solidFill>
                  <a:srgbClr val="000000"/>
                </a:solidFill>
                <a:latin typeface="Lato"/>
              </a:defRPr>
            </a:pPr>
            <a:r>
              <a:t>South African results appear on pp. 38–40 and 47–51. National demand and six production assets are covered; port allocations remain to build.</a:t>
            </a:r>
          </a:p>
        </p:txBody>
      </p:sp>
      <p:sp>
        <p:nvSpPr>
          <p:cNvPr id="74" name="Rectangle 73"/>
          <p:cNvSpPr/>
          <p:nvPr/>
        </p:nvSpPr>
        <p:spPr>
          <a:xfrm>
            <a:off x="6080760" y="3154680"/>
            <a:ext cx="5029200" cy="2834640"/>
          </a:xfrm>
          <a:prstGeom prst="rect">
            <a:avLst/>
          </a:prstGeom>
          <a:solidFill>
            <a:srgbClr val="FFFFFF"/>
          </a:solidFill>
          <a:ln w="8255">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South Africa detail: South Africa"/>
          <p:cNvSpPr/>
          <p:nvPr/>
        </p:nvSpPr>
        <p:spPr>
          <a:xfrm>
            <a:off x="6840370" y="3354676"/>
            <a:ext cx="3090173" cy="2385862"/>
          </a:xfrm>
          <a:custGeom>
            <a:avLst/>
            <a:gdLst/>
            <a:ahLst/>
            <a:cxnLst/>
            <a:rect l="l" t="t" r="r" b="b"/>
            <a:pathLst>
              <a:path w="3090173" h="2385862">
                <a:moveTo>
                  <a:pt x="0" y="1215700"/>
                </a:moveTo>
                <a:lnTo>
                  <a:pt x="89797" y="1122997"/>
                </a:lnTo>
                <a:lnTo>
                  <a:pt x="163824" y="1174318"/>
                </a:lnTo>
                <a:lnTo>
                  <a:pt x="195423" y="1254467"/>
                </a:lnTo>
                <a:lnTo>
                  <a:pt x="279524" y="1268125"/>
                </a:lnTo>
                <a:lnTo>
                  <a:pt x="397384" y="1303569"/>
                </a:lnTo>
                <a:lnTo>
                  <a:pt x="498088" y="1289882"/>
                </a:lnTo>
                <a:lnTo>
                  <a:pt x="665409" y="1194031"/>
                </a:lnTo>
                <a:lnTo>
                  <a:pt x="665603" y="501711"/>
                </a:lnTo>
                <a:lnTo>
                  <a:pt x="716207" y="529861"/>
                </a:lnTo>
                <a:lnTo>
                  <a:pt x="827344" y="707973"/>
                </a:lnTo>
                <a:lnTo>
                  <a:pt x="810073" y="822191"/>
                </a:lnTo>
                <a:lnTo>
                  <a:pt x="851900" y="888004"/>
                </a:lnTo>
                <a:lnTo>
                  <a:pt x="986170" y="868882"/>
                </a:lnTo>
                <a:lnTo>
                  <a:pt x="1079910" y="785226"/>
                </a:lnTo>
                <a:lnTo>
                  <a:pt x="1168680" y="728839"/>
                </a:lnTo>
                <a:lnTo>
                  <a:pt x="1214557" y="639052"/>
                </a:lnTo>
                <a:lnTo>
                  <a:pt x="1306001" y="595606"/>
                </a:lnTo>
                <a:lnTo>
                  <a:pt x="1385007" y="618370"/>
                </a:lnTo>
                <a:lnTo>
                  <a:pt x="1474552" y="670873"/>
                </a:lnTo>
                <a:lnTo>
                  <a:pt x="1627120" y="680143"/>
                </a:lnTo>
                <a:lnTo>
                  <a:pt x="1746994" y="636494"/>
                </a:lnTo>
                <a:lnTo>
                  <a:pt x="1765961" y="578015"/>
                </a:lnTo>
                <a:lnTo>
                  <a:pt x="1798916" y="488324"/>
                </a:lnTo>
                <a:lnTo>
                  <a:pt x="1900909" y="473319"/>
                </a:lnTo>
                <a:lnTo>
                  <a:pt x="1957267" y="402906"/>
                </a:lnTo>
                <a:lnTo>
                  <a:pt x="2019689" y="277993"/>
                </a:lnTo>
                <a:lnTo>
                  <a:pt x="2187988" y="138048"/>
                </a:lnTo>
                <a:lnTo>
                  <a:pt x="2453224" y="0"/>
                </a:lnTo>
                <a:lnTo>
                  <a:pt x="2529489" y="2044"/>
                </a:lnTo>
                <a:lnTo>
                  <a:pt x="2620187" y="33798"/>
                </a:lnTo>
                <a:lnTo>
                  <a:pt x="2683355" y="11295"/>
                </a:lnTo>
                <a:lnTo>
                  <a:pt x="2782993" y="30030"/>
                </a:lnTo>
                <a:lnTo>
                  <a:pt x="2872781" y="293861"/>
                </a:lnTo>
                <a:lnTo>
                  <a:pt x="2921554" y="427035"/>
                </a:lnTo>
                <a:lnTo>
                  <a:pt x="2888154" y="636020"/>
                </a:lnTo>
                <a:lnTo>
                  <a:pt x="2904157" y="703324"/>
                </a:lnTo>
                <a:lnTo>
                  <a:pt x="2809565" y="668994"/>
                </a:lnTo>
                <a:lnTo>
                  <a:pt x="2755376" y="682352"/>
                </a:lnTo>
                <a:lnTo>
                  <a:pt x="2737678" y="736937"/>
                </a:lnTo>
                <a:lnTo>
                  <a:pt x="2686493" y="807312"/>
                </a:lnTo>
                <a:lnTo>
                  <a:pt x="2688246" y="872127"/>
                </a:lnTo>
                <a:lnTo>
                  <a:pt x="2800120" y="973732"/>
                </a:lnTo>
                <a:lnTo>
                  <a:pt x="2909833" y="953496"/>
                </a:lnTo>
                <a:lnTo>
                  <a:pt x="2947999" y="870248"/>
                </a:lnTo>
                <a:lnTo>
                  <a:pt x="3090173" y="871817"/>
                </a:lnTo>
                <a:lnTo>
                  <a:pt x="3043337" y="1008276"/>
                </a:lnTo>
                <a:lnTo>
                  <a:pt x="3021193" y="1164021"/>
                </a:lnTo>
                <a:lnTo>
                  <a:pt x="2972691" y="1248635"/>
                </a:lnTo>
                <a:lnTo>
                  <a:pt x="2844776" y="1343295"/>
                </a:lnTo>
                <a:lnTo>
                  <a:pt x="2808141" y="1370399"/>
                </a:lnTo>
                <a:lnTo>
                  <a:pt x="2728699" y="1465621"/>
                </a:lnTo>
                <a:lnTo>
                  <a:pt x="2676409" y="1561937"/>
                </a:lnTo>
                <a:lnTo>
                  <a:pt x="2570106" y="1696245"/>
                </a:lnTo>
                <a:lnTo>
                  <a:pt x="2358254" y="1889653"/>
                </a:lnTo>
                <a:lnTo>
                  <a:pt x="2225951" y="2002108"/>
                </a:lnTo>
                <a:lnTo>
                  <a:pt x="2084397" y="2087400"/>
                </a:lnTo>
                <a:lnTo>
                  <a:pt x="1888481" y="2160129"/>
                </a:lnTo>
                <a:lnTo>
                  <a:pt x="1792920" y="2169893"/>
                </a:lnTo>
                <a:lnTo>
                  <a:pt x="1768732" y="2221931"/>
                </a:lnTo>
                <a:lnTo>
                  <a:pt x="1654805" y="2194227"/>
                </a:lnTo>
                <a:lnTo>
                  <a:pt x="1562014" y="2229904"/>
                </a:lnTo>
                <a:lnTo>
                  <a:pt x="1358852" y="2193781"/>
                </a:lnTo>
                <a:lnTo>
                  <a:pt x="1245284" y="2216642"/>
                </a:lnTo>
                <a:lnTo>
                  <a:pt x="1167672" y="2206830"/>
                </a:lnTo>
                <a:lnTo>
                  <a:pt x="974342" y="2280827"/>
                </a:lnTo>
                <a:lnTo>
                  <a:pt x="814306" y="2310508"/>
                </a:lnTo>
                <a:lnTo>
                  <a:pt x="698500" y="2381358"/>
                </a:lnTo>
                <a:lnTo>
                  <a:pt x="613236" y="2385862"/>
                </a:lnTo>
                <a:lnTo>
                  <a:pt x="533920" y="2319023"/>
                </a:lnTo>
                <a:lnTo>
                  <a:pt x="470568" y="2315594"/>
                </a:lnTo>
                <a:lnTo>
                  <a:pt x="389838" y="2231909"/>
                </a:lnTo>
                <a:lnTo>
                  <a:pt x="380984" y="2257899"/>
                </a:lnTo>
                <a:lnTo>
                  <a:pt x="356069" y="2207517"/>
                </a:lnTo>
                <a:lnTo>
                  <a:pt x="357115" y="2097610"/>
                </a:lnTo>
                <a:lnTo>
                  <a:pt x="296214" y="1971991"/>
                </a:lnTo>
                <a:lnTo>
                  <a:pt x="356709" y="1937845"/>
                </a:lnTo>
                <a:lnTo>
                  <a:pt x="351807" y="1793976"/>
                </a:lnTo>
                <a:lnTo>
                  <a:pt x="229055" y="1618537"/>
                </a:lnTo>
                <a:lnTo>
                  <a:pt x="134860" y="1459751"/>
                </a:lnTo>
                <a:lnTo>
                  <a:pt x="134580" y="1459247"/>
                </a:lnTo>
                <a:lnTo>
                  <a:pt x="0" y="1215700"/>
                </a:lnTo>
                <a:close/>
              </a:path>
            </a:pathLst>
          </a:custGeom>
          <a:solidFill>
            <a:srgbClr val="0A2373"/>
          </a:solidFill>
          <a:ln w="139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outh Africa detail: Lesotho"/>
          <p:cNvSpPr/>
          <p:nvPr/>
        </p:nvSpPr>
        <p:spPr>
          <a:xfrm>
            <a:off x="8837537" y="4583647"/>
            <a:ext cx="435996" cy="374455"/>
          </a:xfrm>
          <a:custGeom>
            <a:avLst/>
            <a:gdLst/>
            <a:ahLst/>
            <a:cxnLst/>
            <a:rect l="l" t="t" r="r" b="b"/>
            <a:pathLst>
              <a:path w="435996" h="374455">
                <a:moveTo>
                  <a:pt x="370968" y="57753"/>
                </a:moveTo>
                <a:lnTo>
                  <a:pt x="435996" y="114324"/>
                </a:lnTo>
                <a:lnTo>
                  <a:pt x="378494" y="205497"/>
                </a:lnTo>
                <a:lnTo>
                  <a:pt x="346625" y="266660"/>
                </a:lnTo>
                <a:lnTo>
                  <a:pt x="242152" y="295933"/>
                </a:lnTo>
                <a:lnTo>
                  <a:pt x="207686" y="355827"/>
                </a:lnTo>
                <a:lnTo>
                  <a:pt x="140614" y="374455"/>
                </a:lnTo>
                <a:lnTo>
                  <a:pt x="0" y="230276"/>
                </a:lnTo>
                <a:lnTo>
                  <a:pt x="99959" y="111573"/>
                </a:lnTo>
                <a:lnTo>
                  <a:pt x="201525" y="38234"/>
                </a:lnTo>
                <a:lnTo>
                  <a:pt x="289133" y="0"/>
                </a:lnTo>
                <a:lnTo>
                  <a:pt x="370968" y="57753"/>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South Africa detail: Zimbabwe"/>
          <p:cNvSpPr/>
          <p:nvPr/>
        </p:nvSpPr>
        <p:spPr>
          <a:xfrm>
            <a:off x="9269444" y="3337560"/>
            <a:ext cx="397683" cy="50914"/>
          </a:xfrm>
          <a:custGeom>
            <a:avLst/>
            <a:gdLst/>
            <a:ahLst/>
            <a:cxnLst/>
            <a:rect l="l" t="t" r="r" b="b"/>
            <a:pathLst>
              <a:path w="397683" h="50914">
                <a:moveTo>
                  <a:pt x="353919" y="47146"/>
                </a:moveTo>
                <a:lnTo>
                  <a:pt x="254281" y="28411"/>
                </a:lnTo>
                <a:lnTo>
                  <a:pt x="191113" y="50914"/>
                </a:lnTo>
                <a:lnTo>
                  <a:pt x="100415" y="19160"/>
                </a:lnTo>
                <a:lnTo>
                  <a:pt x="24150" y="17116"/>
                </a:lnTo>
                <a:lnTo>
                  <a:pt x="0" y="0"/>
                </a:lnTo>
                <a:lnTo>
                  <a:pt x="397683" y="0"/>
                </a:lnTo>
                <a:lnTo>
                  <a:pt x="353919" y="47146"/>
                </a:lnTo>
                <a:close/>
              </a:path>
            </a:pathLst>
          </a:custGeom>
          <a:solidFill>
            <a:srgbClr val="536598"/>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outh Africa detail: Botswana"/>
          <p:cNvSpPr/>
          <p:nvPr/>
        </p:nvSpPr>
        <p:spPr>
          <a:xfrm>
            <a:off x="7505918" y="3337560"/>
            <a:ext cx="1787676" cy="905120"/>
          </a:xfrm>
          <a:custGeom>
            <a:avLst/>
            <a:gdLst/>
            <a:ahLst/>
            <a:cxnLst/>
            <a:rect l="l" t="t" r="r" b="b"/>
            <a:pathLst>
              <a:path w="1787676" h="905120">
                <a:moveTo>
                  <a:pt x="1787676" y="17116"/>
                </a:moveTo>
                <a:lnTo>
                  <a:pt x="1522440" y="155164"/>
                </a:lnTo>
                <a:lnTo>
                  <a:pt x="1354141" y="295109"/>
                </a:lnTo>
                <a:lnTo>
                  <a:pt x="1291719" y="420022"/>
                </a:lnTo>
                <a:lnTo>
                  <a:pt x="1235361" y="490435"/>
                </a:lnTo>
                <a:lnTo>
                  <a:pt x="1133368" y="505440"/>
                </a:lnTo>
                <a:lnTo>
                  <a:pt x="1100413" y="595131"/>
                </a:lnTo>
                <a:lnTo>
                  <a:pt x="1081446" y="653610"/>
                </a:lnTo>
                <a:lnTo>
                  <a:pt x="961572" y="697259"/>
                </a:lnTo>
                <a:lnTo>
                  <a:pt x="809004" y="687989"/>
                </a:lnTo>
                <a:lnTo>
                  <a:pt x="719459" y="635486"/>
                </a:lnTo>
                <a:lnTo>
                  <a:pt x="640453" y="612722"/>
                </a:lnTo>
                <a:lnTo>
                  <a:pt x="549009" y="656168"/>
                </a:lnTo>
                <a:lnTo>
                  <a:pt x="503132" y="745955"/>
                </a:lnTo>
                <a:lnTo>
                  <a:pt x="414362" y="802342"/>
                </a:lnTo>
                <a:lnTo>
                  <a:pt x="320622" y="885998"/>
                </a:lnTo>
                <a:lnTo>
                  <a:pt x="186352" y="905120"/>
                </a:lnTo>
                <a:lnTo>
                  <a:pt x="144525" y="839307"/>
                </a:lnTo>
                <a:lnTo>
                  <a:pt x="161796" y="725089"/>
                </a:lnTo>
                <a:lnTo>
                  <a:pt x="50659" y="546977"/>
                </a:lnTo>
                <a:lnTo>
                  <a:pt x="55" y="518827"/>
                </a:lnTo>
                <a:lnTo>
                  <a:pt x="0" y="0"/>
                </a:lnTo>
                <a:lnTo>
                  <a:pt x="1763526" y="0"/>
                </a:lnTo>
                <a:lnTo>
                  <a:pt x="1787676" y="17116"/>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South Africa detail: Namibia"/>
          <p:cNvSpPr/>
          <p:nvPr/>
        </p:nvSpPr>
        <p:spPr>
          <a:xfrm>
            <a:off x="6429431" y="3337560"/>
            <a:ext cx="1076542" cy="1320685"/>
          </a:xfrm>
          <a:custGeom>
            <a:avLst/>
            <a:gdLst/>
            <a:ahLst/>
            <a:cxnLst/>
            <a:rect l="l" t="t" r="r" b="b"/>
            <a:pathLst>
              <a:path w="1076542" h="1320685">
                <a:moveTo>
                  <a:pt x="1076542" y="518827"/>
                </a:moveTo>
                <a:lnTo>
                  <a:pt x="1076348" y="1211147"/>
                </a:lnTo>
                <a:lnTo>
                  <a:pt x="909027" y="1306998"/>
                </a:lnTo>
                <a:lnTo>
                  <a:pt x="808323" y="1320685"/>
                </a:lnTo>
                <a:lnTo>
                  <a:pt x="690463" y="1285241"/>
                </a:lnTo>
                <a:lnTo>
                  <a:pt x="606362" y="1271583"/>
                </a:lnTo>
                <a:lnTo>
                  <a:pt x="574763" y="1191434"/>
                </a:lnTo>
                <a:lnTo>
                  <a:pt x="500736" y="1140113"/>
                </a:lnTo>
                <a:lnTo>
                  <a:pt x="410939" y="1232816"/>
                </a:lnTo>
                <a:lnTo>
                  <a:pt x="271632" y="1091204"/>
                </a:lnTo>
                <a:lnTo>
                  <a:pt x="198274" y="954309"/>
                </a:lnTo>
                <a:lnTo>
                  <a:pt x="156892" y="771809"/>
                </a:lnTo>
                <a:lnTo>
                  <a:pt x="110685" y="636009"/>
                </a:lnTo>
                <a:lnTo>
                  <a:pt x="47876" y="347351"/>
                </a:lnTo>
                <a:lnTo>
                  <a:pt x="43672" y="123090"/>
                </a:lnTo>
                <a:lnTo>
                  <a:pt x="19678" y="20846"/>
                </a:lnTo>
                <a:lnTo>
                  <a:pt x="0" y="0"/>
                </a:lnTo>
                <a:lnTo>
                  <a:pt x="1076487" y="0"/>
                </a:lnTo>
                <a:lnTo>
                  <a:pt x="1076542" y="518827"/>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outh Africa detail: Mozambique"/>
          <p:cNvSpPr/>
          <p:nvPr/>
        </p:nvSpPr>
        <p:spPr>
          <a:xfrm>
            <a:off x="9623363" y="3337560"/>
            <a:ext cx="526477" cy="888933"/>
          </a:xfrm>
          <a:custGeom>
            <a:avLst/>
            <a:gdLst/>
            <a:ahLst/>
            <a:cxnLst/>
            <a:rect l="l" t="t" r="r" b="b"/>
            <a:pathLst>
              <a:path w="526477" h="888933">
                <a:moveTo>
                  <a:pt x="526477" y="0"/>
                </a:moveTo>
                <a:lnTo>
                  <a:pt x="526477" y="546131"/>
                </a:lnTo>
                <a:lnTo>
                  <a:pt x="341501" y="629383"/>
                </a:lnTo>
                <a:lnTo>
                  <a:pt x="259288" y="698693"/>
                </a:lnTo>
                <a:lnTo>
                  <a:pt x="275359" y="777660"/>
                </a:lnTo>
                <a:lnTo>
                  <a:pt x="323270" y="790272"/>
                </a:lnTo>
                <a:lnTo>
                  <a:pt x="307180" y="888933"/>
                </a:lnTo>
                <a:lnTo>
                  <a:pt x="165006" y="887364"/>
                </a:lnTo>
                <a:lnTo>
                  <a:pt x="148907" y="804502"/>
                </a:lnTo>
                <a:lnTo>
                  <a:pt x="121164" y="720440"/>
                </a:lnTo>
                <a:lnTo>
                  <a:pt x="105161" y="653136"/>
                </a:lnTo>
                <a:lnTo>
                  <a:pt x="138561" y="444151"/>
                </a:lnTo>
                <a:lnTo>
                  <a:pt x="89788" y="310977"/>
                </a:lnTo>
                <a:lnTo>
                  <a:pt x="0" y="47146"/>
                </a:lnTo>
                <a:lnTo>
                  <a:pt x="43764" y="0"/>
                </a:lnTo>
                <a:close/>
              </a:path>
            </a:pathLst>
          </a:custGeom>
          <a:solidFill>
            <a:srgbClr val="536598"/>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South Africa detail: eSwatini"/>
          <p:cNvSpPr/>
          <p:nvPr/>
        </p:nvSpPr>
        <p:spPr>
          <a:xfrm>
            <a:off x="9526863" y="4023670"/>
            <a:ext cx="261506" cy="304738"/>
          </a:xfrm>
          <a:custGeom>
            <a:avLst/>
            <a:gdLst/>
            <a:ahLst/>
            <a:cxnLst/>
            <a:rect l="l" t="t" r="r" b="b"/>
            <a:pathLst>
              <a:path w="261506" h="304738">
                <a:moveTo>
                  <a:pt x="261506" y="201254"/>
                </a:moveTo>
                <a:lnTo>
                  <a:pt x="223340" y="284502"/>
                </a:lnTo>
                <a:lnTo>
                  <a:pt x="113627" y="304738"/>
                </a:lnTo>
                <a:lnTo>
                  <a:pt x="1753" y="203133"/>
                </a:lnTo>
                <a:lnTo>
                  <a:pt x="0" y="138318"/>
                </a:lnTo>
                <a:lnTo>
                  <a:pt x="51185" y="67943"/>
                </a:lnTo>
                <a:lnTo>
                  <a:pt x="68883" y="13358"/>
                </a:lnTo>
                <a:lnTo>
                  <a:pt x="123072" y="0"/>
                </a:lnTo>
                <a:lnTo>
                  <a:pt x="217664" y="34330"/>
                </a:lnTo>
                <a:lnTo>
                  <a:pt x="245407" y="118392"/>
                </a:lnTo>
                <a:lnTo>
                  <a:pt x="261506" y="201254"/>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368796" y="4087368"/>
            <a:ext cx="1371600" cy="228600"/>
          </a:xfrm>
          <a:prstGeom prst="rect">
            <a:avLst/>
          </a:prstGeom>
          <a:noFill/>
        </p:spPr>
        <p:txBody>
          <a:bodyPr wrap="square" lIns="18288" rIns="18288" tIns="0" bIns="0">
            <a:spAutoFit/>
          </a:bodyPr>
          <a:lstStyle/>
          <a:p>
            <a:pPr algn="ctr">
              <a:spcAft>
                <a:spcPts val="800"/>
              </a:spcAft>
              <a:defRPr sz="900" b="1">
                <a:solidFill>
                  <a:srgbClr val="FFFFFF"/>
                </a:solidFill>
                <a:latin typeface="Lato"/>
              </a:defRPr>
            </a:pPr>
            <a:r>
              <a:t>NAMIBIA</a:t>
            </a:r>
          </a:p>
        </p:txBody>
      </p:sp>
      <p:sp>
        <p:nvSpPr>
          <p:cNvPr id="83" name="TextBox 82"/>
          <p:cNvSpPr txBox="1"/>
          <p:nvPr/>
        </p:nvSpPr>
        <p:spPr>
          <a:xfrm>
            <a:off x="7680960" y="3525012"/>
            <a:ext cx="1371600" cy="228600"/>
          </a:xfrm>
          <a:prstGeom prst="rect">
            <a:avLst/>
          </a:prstGeom>
          <a:noFill/>
        </p:spPr>
        <p:txBody>
          <a:bodyPr wrap="square" lIns="18288" rIns="18288" tIns="0" bIns="0">
            <a:spAutoFit/>
          </a:bodyPr>
          <a:lstStyle/>
          <a:p>
            <a:pPr algn="ctr">
              <a:spcAft>
                <a:spcPts val="800"/>
              </a:spcAft>
              <a:defRPr sz="900" b="1">
                <a:solidFill>
                  <a:srgbClr val="FFFFFF"/>
                </a:solidFill>
                <a:latin typeface="Lato"/>
              </a:defRPr>
            </a:pPr>
            <a:r>
              <a:t>BOTSWANA</a:t>
            </a:r>
          </a:p>
        </p:txBody>
      </p:sp>
      <p:sp>
        <p:nvSpPr>
          <p:cNvPr id="84" name="TextBox 83"/>
          <p:cNvSpPr txBox="1"/>
          <p:nvPr/>
        </p:nvSpPr>
        <p:spPr>
          <a:xfrm>
            <a:off x="7643469" y="4649724"/>
            <a:ext cx="1371600" cy="228600"/>
          </a:xfrm>
          <a:prstGeom prst="rect">
            <a:avLst/>
          </a:prstGeom>
          <a:noFill/>
        </p:spPr>
        <p:txBody>
          <a:bodyPr wrap="square" lIns="18288" rIns="18288" tIns="0" bIns="0">
            <a:spAutoFit/>
          </a:bodyPr>
          <a:lstStyle/>
          <a:p>
            <a:pPr algn="ctr">
              <a:spcAft>
                <a:spcPts val="800"/>
              </a:spcAft>
              <a:defRPr sz="900" b="1">
                <a:solidFill>
                  <a:srgbClr val="FFFFFF"/>
                </a:solidFill>
                <a:latin typeface="Lato"/>
              </a:defRPr>
            </a:pPr>
            <a:r>
              <a:t>SOUTH AFRICA</a:t>
            </a:r>
          </a:p>
        </p:txBody>
      </p:sp>
      <p:cxnSp>
        <p:nvCxnSpPr>
          <p:cNvPr id="85" name="Connector 84"/>
          <p:cNvCxnSpPr/>
          <p:nvPr/>
        </p:nvCxnSpPr>
        <p:spPr>
          <a:xfrm flipV="1">
            <a:off x="6494526" y="3291840"/>
            <a:ext cx="454914" cy="2237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sp>
        <p:nvSpPr>
          <p:cNvPr id="86" name="Oval 85"/>
          <p:cNvSpPr/>
          <p:nvPr/>
        </p:nvSpPr>
        <p:spPr>
          <a:xfrm>
            <a:off x="6435090" y="3456203"/>
            <a:ext cx="118872" cy="118872"/>
          </a:xfrm>
          <a:prstGeom prst="ellipse">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492240" y="3182112"/>
            <a:ext cx="1371600" cy="228600"/>
          </a:xfrm>
          <a:prstGeom prst="rect">
            <a:avLst/>
          </a:prstGeom>
          <a:noFill/>
        </p:spPr>
        <p:txBody>
          <a:bodyPr wrap="square" lIns="18288" rIns="18288" tIns="0" bIns="0">
            <a:spAutoFit/>
          </a:bodyPr>
          <a:lstStyle/>
          <a:p>
            <a:pPr>
              <a:spcAft>
                <a:spcPts val="800"/>
              </a:spcAft>
              <a:defRPr sz="1100" b="1">
                <a:solidFill>
                  <a:srgbClr val="000000"/>
                </a:solidFill>
                <a:latin typeface="Lato"/>
              </a:defRPr>
            </a:pPr>
            <a:r>
              <a:t>Walvis Bay</a:t>
            </a:r>
          </a:p>
        </p:txBody>
      </p:sp>
      <p:cxnSp>
        <p:nvCxnSpPr>
          <p:cNvPr id="88" name="Connector 87"/>
          <p:cNvCxnSpPr/>
          <p:nvPr/>
        </p:nvCxnSpPr>
        <p:spPr>
          <a:xfrm>
            <a:off x="9593107" y="4812807"/>
            <a:ext cx="968213" cy="37184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sp>
        <p:nvSpPr>
          <p:cNvPr id="89" name="Oval 88"/>
          <p:cNvSpPr/>
          <p:nvPr/>
        </p:nvSpPr>
        <p:spPr>
          <a:xfrm>
            <a:off x="9533671" y="4753371"/>
            <a:ext cx="118872" cy="118872"/>
          </a:xfrm>
          <a:prstGeom prst="ellipse">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0104120" y="5074920"/>
            <a:ext cx="1371600" cy="228600"/>
          </a:xfrm>
          <a:prstGeom prst="rect">
            <a:avLst/>
          </a:prstGeom>
          <a:noFill/>
        </p:spPr>
        <p:txBody>
          <a:bodyPr wrap="square" lIns="18288" rIns="18288" tIns="0" bIns="0">
            <a:spAutoFit/>
          </a:bodyPr>
          <a:lstStyle/>
          <a:p>
            <a:pPr>
              <a:spcAft>
                <a:spcPts val="800"/>
              </a:spcAft>
              <a:defRPr sz="1100" b="1">
                <a:solidFill>
                  <a:srgbClr val="000000"/>
                </a:solidFill>
                <a:latin typeface="Lato"/>
              </a:defRPr>
            </a:pPr>
            <a:r>
              <a:t>Durban</a:t>
            </a:r>
          </a:p>
        </p:txBody>
      </p:sp>
      <p:cxnSp>
        <p:nvCxnSpPr>
          <p:cNvPr id="91" name="Connector 90"/>
          <p:cNvCxnSpPr/>
          <p:nvPr/>
        </p:nvCxnSpPr>
        <p:spPr>
          <a:xfrm flipH="1">
            <a:off x="6858000" y="5570113"/>
            <a:ext cx="373212" cy="2729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sp>
        <p:nvSpPr>
          <p:cNvPr id="92" name="Oval 91"/>
          <p:cNvSpPr/>
          <p:nvPr/>
        </p:nvSpPr>
        <p:spPr>
          <a:xfrm>
            <a:off x="7171776" y="5510677"/>
            <a:ext cx="118872" cy="118872"/>
          </a:xfrm>
          <a:prstGeom prst="ellipse">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400800" y="5733288"/>
            <a:ext cx="1371600" cy="228600"/>
          </a:xfrm>
          <a:prstGeom prst="rect">
            <a:avLst/>
          </a:prstGeom>
          <a:noFill/>
        </p:spPr>
        <p:txBody>
          <a:bodyPr wrap="square" lIns="18288" rIns="18288" tIns="0" bIns="0">
            <a:spAutoFit/>
          </a:bodyPr>
          <a:lstStyle/>
          <a:p>
            <a:pPr>
              <a:spcAft>
                <a:spcPts val="800"/>
              </a:spcAft>
              <a:defRPr sz="1100" b="1">
                <a:solidFill>
                  <a:srgbClr val="000000"/>
                </a:solidFill>
                <a:latin typeface="Lato"/>
              </a:defRPr>
            </a:pPr>
            <a:r>
              <a:t>Cape Town</a:t>
            </a:r>
          </a:p>
        </p:txBody>
      </p:sp>
      <p:cxnSp>
        <p:nvCxnSpPr>
          <p:cNvPr id="94" name="Connector 93"/>
          <p:cNvCxnSpPr/>
          <p:nvPr/>
        </p:nvCxnSpPr>
        <p:spPr>
          <a:xfrm flipH="1" flipV="1">
            <a:off x="6656832" y="5157216"/>
            <a:ext cx="484403" cy="2479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sp>
        <p:nvSpPr>
          <p:cNvPr id="95" name="Oval 94"/>
          <p:cNvSpPr/>
          <p:nvPr/>
        </p:nvSpPr>
        <p:spPr>
          <a:xfrm>
            <a:off x="7081799" y="5345719"/>
            <a:ext cx="118872" cy="118872"/>
          </a:xfrm>
          <a:prstGeom prst="ellipse">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199632" y="5047488"/>
            <a:ext cx="1371600" cy="228600"/>
          </a:xfrm>
          <a:prstGeom prst="rect">
            <a:avLst/>
          </a:prstGeom>
          <a:noFill/>
        </p:spPr>
        <p:txBody>
          <a:bodyPr wrap="square" lIns="18288" rIns="18288" tIns="0" bIns="0">
            <a:spAutoFit/>
          </a:bodyPr>
          <a:lstStyle/>
          <a:p>
            <a:pPr>
              <a:spcAft>
                <a:spcPts val="800"/>
              </a:spcAft>
              <a:defRPr sz="1100" b="1">
                <a:solidFill>
                  <a:srgbClr val="000000"/>
                </a:solidFill>
                <a:latin typeface="Lato"/>
              </a:defRPr>
            </a:pPr>
            <a:r>
              <a:t>Saldanha Bay</a:t>
            </a:r>
          </a:p>
        </p:txBody>
      </p:sp>
      <p:sp>
        <p:nvSpPr>
          <p:cNvPr id="97" name="Rectangle 96"/>
          <p:cNvSpPr/>
          <p:nvPr/>
        </p:nvSpPr>
        <p:spPr>
          <a:xfrm>
            <a:off x="548640" y="6016752"/>
            <a:ext cx="128016" cy="128016"/>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731520" y="5993892"/>
            <a:ext cx="201168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SACU</a:t>
            </a:r>
          </a:p>
        </p:txBody>
      </p:sp>
      <p:sp>
        <p:nvSpPr>
          <p:cNvPr id="99" name="Rectangle 98"/>
          <p:cNvSpPr/>
          <p:nvPr/>
        </p:nvSpPr>
        <p:spPr>
          <a:xfrm>
            <a:off x="1828800" y="6016752"/>
            <a:ext cx="128016" cy="128016"/>
          </a:xfrm>
          <a:prstGeom prst="rect">
            <a:avLst/>
          </a:prstGeom>
          <a:solidFill>
            <a:srgbClr val="53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2011680" y="5993892"/>
            <a:ext cx="201168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SADC excluding SACU</a:t>
            </a:r>
          </a:p>
        </p:txBody>
      </p:sp>
      <p:sp>
        <p:nvSpPr>
          <p:cNvPr id="101" name="Rectangle 100"/>
          <p:cNvSpPr/>
          <p:nvPr/>
        </p:nvSpPr>
        <p:spPr>
          <a:xfrm>
            <a:off x="4069080" y="6016752"/>
            <a:ext cx="128016" cy="128016"/>
          </a:xfrm>
          <a:prstGeom prst="rect">
            <a:avLst/>
          </a:prstGeom>
          <a:solidFill>
            <a:srgbClr val="84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4251960" y="5993892"/>
            <a:ext cx="201168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East Africa</a:t>
            </a:r>
          </a:p>
        </p:txBody>
      </p:sp>
      <p:sp>
        <p:nvSpPr>
          <p:cNvPr id="103" name="Rectangle 102"/>
          <p:cNvSpPr/>
          <p:nvPr/>
        </p:nvSpPr>
        <p:spPr>
          <a:xfrm>
            <a:off x="548640" y="6272784"/>
            <a:ext cx="128016" cy="128016"/>
          </a:xfrm>
          <a:prstGeom prst="rect">
            <a:avLst/>
          </a:prstGeom>
          <a:solidFill>
            <a:srgbClr val="AAB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31520" y="6249924"/>
            <a:ext cx="201168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West Africa</a:t>
            </a:r>
          </a:p>
        </p:txBody>
      </p:sp>
      <p:sp>
        <p:nvSpPr>
          <p:cNvPr id="105" name="Rectangle 104"/>
          <p:cNvSpPr/>
          <p:nvPr/>
        </p:nvSpPr>
        <p:spPr>
          <a:xfrm>
            <a:off x="1828800" y="6272784"/>
            <a:ext cx="128016" cy="128016"/>
          </a:xfrm>
          <a:prstGeom prst="rect">
            <a:avLst/>
          </a:prstGeom>
          <a:solidFill>
            <a:srgbClr val="CED3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011680" y="6249924"/>
            <a:ext cx="201168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North Africa</a:t>
            </a:r>
          </a:p>
        </p:txBody>
      </p:sp>
      <p:sp>
        <p:nvSpPr>
          <p:cNvPr id="107" name="Rectangle 106"/>
          <p:cNvSpPr/>
          <p:nvPr/>
        </p:nvSpPr>
        <p:spPr>
          <a:xfrm>
            <a:off x="4069080" y="6272784"/>
            <a:ext cx="128016" cy="128016"/>
          </a:xfrm>
          <a:prstGeom prst="rect">
            <a:avLst/>
          </a:prstGeom>
          <a:solidFill>
            <a:srgbClr val="BFC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251960" y="6249924"/>
            <a:ext cx="201168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Central Africa</a:t>
            </a:r>
          </a:p>
        </p:txBody>
      </p:sp>
      <p:sp>
        <p:nvSpPr>
          <p:cNvPr id="109" name="TextBox 108"/>
          <p:cNvSpPr txBox="1"/>
          <p:nvPr/>
        </p:nvSpPr>
        <p:spPr>
          <a:xfrm>
            <a:off x="6080760" y="6089904"/>
            <a:ext cx="5029200" cy="338328"/>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Colours = scope, not data readiness. SADC takes precedence over East/Central subregions; grey = other markets.</a:t>
            </a:r>
          </a:p>
        </p:txBody>
      </p:sp>
      <p:sp>
        <p:nvSpPr>
          <p:cNvPr id="110" name="TextBox 109"/>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Repository inputs; intermediary report PDF pp. 37-38, 42-45; Natural Earth outlines; approximate port locations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Locate the assets that produce South Africa’s liquid fuels</a:t>
            </a:r>
          </a:p>
        </p:txBody>
      </p:sp>
      <p:sp>
        <p:nvSpPr>
          <p:cNvPr id="3" name="Slide Number Placeholder"/>
          <p:cNvSpPr>
            <a:spLocks noGrp="1"/>
          </p:cNvSpPr>
          <p:nvPr>
            <p:ph type="sldNum" sz="quarter" idx="12"/>
          </p:nvPr>
        </p:nvSpPr>
        <p:spPr/>
        <p:txBody>
          <a:bodyPr/>
          <a:lstStyle/>
          <a:p>
            <a:fld id="{ACBD44D6-72D9-4813-A0C4-3DCBDF499222}"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sp>
        <p:nvSpPr>
          <p:cNvPr id="5" name="Freeform 4"/>
          <p:cNvSpPr/>
          <p:nvPr/>
        </p:nvSpPr>
        <p:spPr>
          <a:xfrm>
            <a:off x="1069568" y="2536309"/>
            <a:ext cx="3919244" cy="3025970"/>
          </a:xfrm>
          <a:custGeom>
            <a:avLst/>
            <a:gdLst/>
            <a:ahLst/>
            <a:cxnLst/>
            <a:rect l="l" t="t" r="r" b="b"/>
            <a:pathLst>
              <a:path w="3919244" h="3025970">
                <a:moveTo>
                  <a:pt x="0" y="1541863"/>
                </a:moveTo>
                <a:lnTo>
                  <a:pt x="113889" y="1424288"/>
                </a:lnTo>
                <a:lnTo>
                  <a:pt x="207777" y="1489378"/>
                </a:lnTo>
                <a:lnTo>
                  <a:pt x="247853" y="1591030"/>
                </a:lnTo>
                <a:lnTo>
                  <a:pt x="354518" y="1608353"/>
                </a:lnTo>
                <a:lnTo>
                  <a:pt x="503998" y="1653307"/>
                </a:lnTo>
                <a:lnTo>
                  <a:pt x="631721" y="1635947"/>
                </a:lnTo>
                <a:lnTo>
                  <a:pt x="843933" y="1514379"/>
                </a:lnTo>
                <a:lnTo>
                  <a:pt x="844179" y="636316"/>
                </a:lnTo>
                <a:lnTo>
                  <a:pt x="908360" y="672018"/>
                </a:lnTo>
                <a:lnTo>
                  <a:pt x="1049314" y="897917"/>
                </a:lnTo>
                <a:lnTo>
                  <a:pt x="1027409" y="1042778"/>
                </a:lnTo>
                <a:lnTo>
                  <a:pt x="1080459" y="1126248"/>
                </a:lnTo>
                <a:lnTo>
                  <a:pt x="1250752" y="1101996"/>
                </a:lnTo>
                <a:lnTo>
                  <a:pt x="1369641" y="995896"/>
                </a:lnTo>
                <a:lnTo>
                  <a:pt x="1482228" y="924380"/>
                </a:lnTo>
                <a:lnTo>
                  <a:pt x="1540413" y="810504"/>
                </a:lnTo>
                <a:lnTo>
                  <a:pt x="1656391" y="755402"/>
                </a:lnTo>
                <a:lnTo>
                  <a:pt x="1756593" y="784273"/>
                </a:lnTo>
                <a:lnTo>
                  <a:pt x="1870163" y="850862"/>
                </a:lnTo>
                <a:lnTo>
                  <a:pt x="2063664" y="862620"/>
                </a:lnTo>
                <a:lnTo>
                  <a:pt x="2215700" y="807260"/>
                </a:lnTo>
                <a:lnTo>
                  <a:pt x="2239756" y="733091"/>
                </a:lnTo>
                <a:lnTo>
                  <a:pt x="2281552" y="619337"/>
                </a:lnTo>
                <a:lnTo>
                  <a:pt x="2410908" y="600307"/>
                </a:lnTo>
                <a:lnTo>
                  <a:pt x="2482387" y="511001"/>
                </a:lnTo>
                <a:lnTo>
                  <a:pt x="2561557" y="352576"/>
                </a:lnTo>
                <a:lnTo>
                  <a:pt x="2775009" y="175084"/>
                </a:lnTo>
                <a:lnTo>
                  <a:pt x="3111406" y="0"/>
                </a:lnTo>
                <a:lnTo>
                  <a:pt x="3208132" y="2592"/>
                </a:lnTo>
                <a:lnTo>
                  <a:pt x="3323163" y="42865"/>
                </a:lnTo>
                <a:lnTo>
                  <a:pt x="3403278" y="14325"/>
                </a:lnTo>
                <a:lnTo>
                  <a:pt x="3529650" y="38085"/>
                </a:lnTo>
                <a:lnTo>
                  <a:pt x="3643527" y="372700"/>
                </a:lnTo>
                <a:lnTo>
                  <a:pt x="3705385" y="541605"/>
                </a:lnTo>
                <a:lnTo>
                  <a:pt x="3663024" y="806658"/>
                </a:lnTo>
                <a:lnTo>
                  <a:pt x="3683320" y="892020"/>
                </a:lnTo>
                <a:lnTo>
                  <a:pt x="3563350" y="848479"/>
                </a:lnTo>
                <a:lnTo>
                  <a:pt x="3494623" y="865421"/>
                </a:lnTo>
                <a:lnTo>
                  <a:pt x="3472177" y="934651"/>
                </a:lnTo>
                <a:lnTo>
                  <a:pt x="3407259" y="1023907"/>
                </a:lnTo>
                <a:lnTo>
                  <a:pt x="3409483" y="1106111"/>
                </a:lnTo>
                <a:lnTo>
                  <a:pt x="3551371" y="1234977"/>
                </a:lnTo>
                <a:lnTo>
                  <a:pt x="3690520" y="1209312"/>
                </a:lnTo>
                <a:lnTo>
                  <a:pt x="3738925" y="1103728"/>
                </a:lnTo>
                <a:lnTo>
                  <a:pt x="3919244" y="1105718"/>
                </a:lnTo>
                <a:lnTo>
                  <a:pt x="3859842" y="1278788"/>
                </a:lnTo>
                <a:lnTo>
                  <a:pt x="3831757" y="1476318"/>
                </a:lnTo>
                <a:lnTo>
                  <a:pt x="3770242" y="1583634"/>
                </a:lnTo>
                <a:lnTo>
                  <a:pt x="3608008" y="1703691"/>
                </a:lnTo>
                <a:lnTo>
                  <a:pt x="3561544" y="1738066"/>
                </a:lnTo>
                <a:lnTo>
                  <a:pt x="3460788" y="1858835"/>
                </a:lnTo>
                <a:lnTo>
                  <a:pt x="3394470" y="1980993"/>
                </a:lnTo>
                <a:lnTo>
                  <a:pt x="3259646" y="2151335"/>
                </a:lnTo>
                <a:lnTo>
                  <a:pt x="2990956" y="2396632"/>
                </a:lnTo>
                <a:lnTo>
                  <a:pt x="2823157" y="2539258"/>
                </a:lnTo>
                <a:lnTo>
                  <a:pt x="2643625" y="2647434"/>
                </a:lnTo>
                <a:lnTo>
                  <a:pt x="2395146" y="2739675"/>
                </a:lnTo>
                <a:lnTo>
                  <a:pt x="2273947" y="2752059"/>
                </a:lnTo>
                <a:lnTo>
                  <a:pt x="2243269" y="2818058"/>
                </a:lnTo>
                <a:lnTo>
                  <a:pt x="2098776" y="2782921"/>
                </a:lnTo>
                <a:lnTo>
                  <a:pt x="1981091" y="2828170"/>
                </a:lnTo>
                <a:lnTo>
                  <a:pt x="1723422" y="2782356"/>
                </a:lnTo>
                <a:lnTo>
                  <a:pt x="1579384" y="2811350"/>
                </a:lnTo>
                <a:lnTo>
                  <a:pt x="1480950" y="2798905"/>
                </a:lnTo>
                <a:lnTo>
                  <a:pt x="1235751" y="2892756"/>
                </a:lnTo>
                <a:lnTo>
                  <a:pt x="1032778" y="2930399"/>
                </a:lnTo>
                <a:lnTo>
                  <a:pt x="885901" y="3020258"/>
                </a:lnTo>
                <a:lnTo>
                  <a:pt x="777762" y="3025970"/>
                </a:lnTo>
                <a:lnTo>
                  <a:pt x="677166" y="2941199"/>
                </a:lnTo>
                <a:lnTo>
                  <a:pt x="596818" y="2936850"/>
                </a:lnTo>
                <a:lnTo>
                  <a:pt x="494428" y="2830713"/>
                </a:lnTo>
                <a:lnTo>
                  <a:pt x="483199" y="2863676"/>
                </a:lnTo>
                <a:lnTo>
                  <a:pt x="451600" y="2799777"/>
                </a:lnTo>
                <a:lnTo>
                  <a:pt x="452927" y="2660383"/>
                </a:lnTo>
                <a:lnTo>
                  <a:pt x="375686" y="2501061"/>
                </a:lnTo>
                <a:lnTo>
                  <a:pt x="452411" y="2457754"/>
                </a:lnTo>
                <a:lnTo>
                  <a:pt x="446194" y="2275286"/>
                </a:lnTo>
                <a:lnTo>
                  <a:pt x="290509" y="2052778"/>
                </a:lnTo>
                <a:lnTo>
                  <a:pt x="171042" y="1851390"/>
                </a:lnTo>
                <a:lnTo>
                  <a:pt x="170686" y="1850751"/>
                </a:lnTo>
                <a:lnTo>
                  <a:pt x="0" y="1541863"/>
                </a:lnTo>
                <a:close/>
              </a:path>
            </a:pathLst>
          </a:custGeom>
          <a:solidFill>
            <a:srgbClr val="CED3E3"/>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3602560" y="4095003"/>
            <a:ext cx="552970" cy="474919"/>
          </a:xfrm>
          <a:custGeom>
            <a:avLst/>
            <a:gdLst/>
            <a:ahLst/>
            <a:cxnLst/>
            <a:rect l="l" t="t" r="r" b="b"/>
            <a:pathLst>
              <a:path w="552970" h="474919">
                <a:moveTo>
                  <a:pt x="470496" y="73248"/>
                </a:moveTo>
                <a:lnTo>
                  <a:pt x="552970" y="144997"/>
                </a:lnTo>
                <a:lnTo>
                  <a:pt x="480042" y="260630"/>
                </a:lnTo>
                <a:lnTo>
                  <a:pt x="439622" y="338203"/>
                </a:lnTo>
                <a:lnTo>
                  <a:pt x="307119" y="375330"/>
                </a:lnTo>
                <a:lnTo>
                  <a:pt x="263407" y="451293"/>
                </a:lnTo>
                <a:lnTo>
                  <a:pt x="178340" y="474919"/>
                </a:lnTo>
                <a:lnTo>
                  <a:pt x="0" y="292057"/>
                </a:lnTo>
                <a:lnTo>
                  <a:pt x="126777" y="141508"/>
                </a:lnTo>
                <a:lnTo>
                  <a:pt x="255593" y="48492"/>
                </a:lnTo>
                <a:lnTo>
                  <a:pt x="366705" y="0"/>
                </a:lnTo>
                <a:lnTo>
                  <a:pt x="470496" y="73248"/>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3577326" y="2039112"/>
            <a:ext cx="1384861" cy="540062"/>
          </a:xfrm>
          <a:custGeom>
            <a:avLst/>
            <a:gdLst/>
            <a:ahLst/>
            <a:cxnLst/>
            <a:rect l="l" t="t" r="r" b="b"/>
            <a:pathLst>
              <a:path w="1384861" h="540062">
                <a:moveTo>
                  <a:pt x="1021892" y="535282"/>
                </a:moveTo>
                <a:lnTo>
                  <a:pt x="895520" y="511522"/>
                </a:lnTo>
                <a:lnTo>
                  <a:pt x="815405" y="540062"/>
                </a:lnTo>
                <a:lnTo>
                  <a:pt x="700374" y="499789"/>
                </a:lnTo>
                <a:lnTo>
                  <a:pt x="603648" y="497197"/>
                </a:lnTo>
                <a:lnTo>
                  <a:pt x="452078" y="389770"/>
                </a:lnTo>
                <a:lnTo>
                  <a:pt x="268234" y="353281"/>
                </a:lnTo>
                <a:lnTo>
                  <a:pt x="198304" y="202510"/>
                </a:lnTo>
                <a:lnTo>
                  <a:pt x="197714" y="118648"/>
                </a:lnTo>
                <a:lnTo>
                  <a:pt x="95902" y="93081"/>
                </a:lnTo>
                <a:lnTo>
                  <a:pt x="0" y="0"/>
                </a:lnTo>
                <a:lnTo>
                  <a:pt x="1384861" y="0"/>
                </a:lnTo>
                <a:lnTo>
                  <a:pt x="1370979" y="72343"/>
                </a:lnTo>
                <a:lnTo>
                  <a:pt x="1335068" y="93978"/>
                </a:lnTo>
                <a:lnTo>
                  <a:pt x="1272374" y="265438"/>
                </a:lnTo>
                <a:lnTo>
                  <a:pt x="1021892" y="535282"/>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913673" y="2039112"/>
            <a:ext cx="2267301" cy="1623445"/>
          </a:xfrm>
          <a:custGeom>
            <a:avLst/>
            <a:gdLst/>
            <a:ahLst/>
            <a:cxnLst/>
            <a:rect l="l" t="t" r="r" b="b"/>
            <a:pathLst>
              <a:path w="2267301" h="1623445">
                <a:moveTo>
                  <a:pt x="2267301" y="497197"/>
                </a:moveTo>
                <a:lnTo>
                  <a:pt x="1930904" y="672281"/>
                </a:lnTo>
                <a:lnTo>
                  <a:pt x="1717452" y="849773"/>
                </a:lnTo>
                <a:lnTo>
                  <a:pt x="1638282" y="1008198"/>
                </a:lnTo>
                <a:lnTo>
                  <a:pt x="1566803" y="1097504"/>
                </a:lnTo>
                <a:lnTo>
                  <a:pt x="1437447" y="1116534"/>
                </a:lnTo>
                <a:lnTo>
                  <a:pt x="1395651" y="1230288"/>
                </a:lnTo>
                <a:lnTo>
                  <a:pt x="1371595" y="1304457"/>
                </a:lnTo>
                <a:lnTo>
                  <a:pt x="1219559" y="1359817"/>
                </a:lnTo>
                <a:lnTo>
                  <a:pt x="1026058" y="1348059"/>
                </a:lnTo>
                <a:lnTo>
                  <a:pt x="912488" y="1281470"/>
                </a:lnTo>
                <a:lnTo>
                  <a:pt x="812286" y="1252599"/>
                </a:lnTo>
                <a:lnTo>
                  <a:pt x="696308" y="1307701"/>
                </a:lnTo>
                <a:lnTo>
                  <a:pt x="638123" y="1421577"/>
                </a:lnTo>
                <a:lnTo>
                  <a:pt x="525536" y="1493093"/>
                </a:lnTo>
                <a:lnTo>
                  <a:pt x="406647" y="1599193"/>
                </a:lnTo>
                <a:lnTo>
                  <a:pt x="236354" y="1623445"/>
                </a:lnTo>
                <a:lnTo>
                  <a:pt x="183304" y="1539975"/>
                </a:lnTo>
                <a:lnTo>
                  <a:pt x="205209" y="1395114"/>
                </a:lnTo>
                <a:lnTo>
                  <a:pt x="64255" y="1169215"/>
                </a:lnTo>
                <a:lnTo>
                  <a:pt x="74" y="1133513"/>
                </a:lnTo>
                <a:lnTo>
                  <a:pt x="0" y="439625"/>
                </a:lnTo>
                <a:lnTo>
                  <a:pt x="234339" y="431345"/>
                </a:lnTo>
                <a:lnTo>
                  <a:pt x="237912" y="0"/>
                </a:lnTo>
                <a:lnTo>
                  <a:pt x="1663653" y="0"/>
                </a:lnTo>
                <a:lnTo>
                  <a:pt x="1759555" y="93081"/>
                </a:lnTo>
                <a:lnTo>
                  <a:pt x="1861367" y="118648"/>
                </a:lnTo>
                <a:lnTo>
                  <a:pt x="1861957" y="202510"/>
                </a:lnTo>
                <a:lnTo>
                  <a:pt x="1931887" y="353281"/>
                </a:lnTo>
                <a:lnTo>
                  <a:pt x="2115731" y="389770"/>
                </a:lnTo>
                <a:lnTo>
                  <a:pt x="2267301" y="497197"/>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749808" y="2039112"/>
            <a:ext cx="1401777" cy="2150504"/>
          </a:xfrm>
          <a:custGeom>
            <a:avLst/>
            <a:gdLst/>
            <a:ahLst/>
            <a:cxnLst/>
            <a:rect l="l" t="t" r="r" b="b"/>
            <a:pathLst>
              <a:path w="1401777" h="2150504">
                <a:moveTo>
                  <a:pt x="1163939" y="1133513"/>
                </a:moveTo>
                <a:lnTo>
                  <a:pt x="1163693" y="2011576"/>
                </a:lnTo>
                <a:lnTo>
                  <a:pt x="951481" y="2133144"/>
                </a:lnTo>
                <a:lnTo>
                  <a:pt x="823758" y="2150504"/>
                </a:lnTo>
                <a:lnTo>
                  <a:pt x="674278" y="2105550"/>
                </a:lnTo>
                <a:lnTo>
                  <a:pt x="567613" y="2088227"/>
                </a:lnTo>
                <a:lnTo>
                  <a:pt x="527537" y="1986575"/>
                </a:lnTo>
                <a:lnTo>
                  <a:pt x="433649" y="1921485"/>
                </a:lnTo>
                <a:lnTo>
                  <a:pt x="319760" y="2039060"/>
                </a:lnTo>
                <a:lnTo>
                  <a:pt x="143078" y="1859454"/>
                </a:lnTo>
                <a:lnTo>
                  <a:pt x="50038" y="1685832"/>
                </a:lnTo>
                <a:lnTo>
                  <a:pt x="0" y="1465156"/>
                </a:lnTo>
                <a:lnTo>
                  <a:pt x="0" y="0"/>
                </a:lnTo>
                <a:lnTo>
                  <a:pt x="1401777" y="0"/>
                </a:lnTo>
                <a:lnTo>
                  <a:pt x="1398204" y="431345"/>
                </a:lnTo>
                <a:lnTo>
                  <a:pt x="1163865" y="439625"/>
                </a:lnTo>
                <a:lnTo>
                  <a:pt x="1163939" y="1133513"/>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599218" y="2039112"/>
            <a:ext cx="1049892" cy="1602915"/>
          </a:xfrm>
          <a:custGeom>
            <a:avLst/>
            <a:gdLst/>
            <a:ahLst/>
            <a:cxnLst/>
            <a:rect l="l" t="t" r="r" b="b"/>
            <a:pathLst>
              <a:path w="1049892" h="1602915">
                <a:moveTo>
                  <a:pt x="848599" y="0"/>
                </a:moveTo>
                <a:lnTo>
                  <a:pt x="834596" y="118168"/>
                </a:lnTo>
                <a:lnTo>
                  <a:pt x="947343" y="298216"/>
                </a:lnTo>
                <a:lnTo>
                  <a:pt x="994250" y="437647"/>
                </a:lnTo>
                <a:lnTo>
                  <a:pt x="997203" y="508772"/>
                </a:lnTo>
                <a:lnTo>
                  <a:pt x="1039211" y="496884"/>
                </a:lnTo>
                <a:lnTo>
                  <a:pt x="1032409" y="730061"/>
                </a:lnTo>
                <a:lnTo>
                  <a:pt x="993857" y="840510"/>
                </a:lnTo>
                <a:lnTo>
                  <a:pt x="1049892" y="881213"/>
                </a:lnTo>
                <a:lnTo>
                  <a:pt x="1014534" y="980125"/>
                </a:lnTo>
                <a:lnTo>
                  <a:pt x="915154" y="1064701"/>
                </a:lnTo>
                <a:lnTo>
                  <a:pt x="719036" y="1145049"/>
                </a:lnTo>
                <a:lnTo>
                  <a:pt x="433122" y="1273730"/>
                </a:lnTo>
                <a:lnTo>
                  <a:pt x="328853" y="1361635"/>
                </a:lnTo>
                <a:lnTo>
                  <a:pt x="349235" y="1461788"/>
                </a:lnTo>
                <a:lnTo>
                  <a:pt x="410000" y="1477785"/>
                </a:lnTo>
                <a:lnTo>
                  <a:pt x="389594" y="1602915"/>
                </a:lnTo>
                <a:lnTo>
                  <a:pt x="209275" y="1600925"/>
                </a:lnTo>
                <a:lnTo>
                  <a:pt x="188857" y="1495832"/>
                </a:lnTo>
                <a:lnTo>
                  <a:pt x="153670" y="1389217"/>
                </a:lnTo>
                <a:lnTo>
                  <a:pt x="133374" y="1303855"/>
                </a:lnTo>
                <a:lnTo>
                  <a:pt x="175735" y="1038802"/>
                </a:lnTo>
                <a:lnTo>
                  <a:pt x="113877" y="869897"/>
                </a:lnTo>
                <a:lnTo>
                  <a:pt x="0" y="535282"/>
                </a:lnTo>
                <a:lnTo>
                  <a:pt x="250482" y="265438"/>
                </a:lnTo>
                <a:lnTo>
                  <a:pt x="313176" y="93978"/>
                </a:lnTo>
                <a:lnTo>
                  <a:pt x="349087" y="72343"/>
                </a:lnTo>
                <a:lnTo>
                  <a:pt x="362969" y="0"/>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476827" y="3384788"/>
            <a:ext cx="331666" cy="386498"/>
          </a:xfrm>
          <a:custGeom>
            <a:avLst/>
            <a:gdLst/>
            <a:ahLst/>
            <a:cxnLst/>
            <a:rect l="l" t="t" r="r" b="b"/>
            <a:pathLst>
              <a:path w="331666" h="386498">
                <a:moveTo>
                  <a:pt x="331666" y="255249"/>
                </a:moveTo>
                <a:lnTo>
                  <a:pt x="283261" y="360833"/>
                </a:lnTo>
                <a:lnTo>
                  <a:pt x="144112" y="386498"/>
                </a:lnTo>
                <a:lnTo>
                  <a:pt x="2224" y="257632"/>
                </a:lnTo>
                <a:lnTo>
                  <a:pt x="0" y="175428"/>
                </a:lnTo>
                <a:lnTo>
                  <a:pt x="64918" y="86172"/>
                </a:lnTo>
                <a:lnTo>
                  <a:pt x="87364" y="16942"/>
                </a:lnTo>
                <a:lnTo>
                  <a:pt x="156091" y="0"/>
                </a:lnTo>
                <a:lnTo>
                  <a:pt x="276061" y="43541"/>
                </a:lnTo>
                <a:lnTo>
                  <a:pt x="311248" y="150156"/>
                </a:lnTo>
                <a:lnTo>
                  <a:pt x="331666" y="255249"/>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673352"/>
            <a:ext cx="1481328" cy="274320"/>
          </a:xfrm>
          <a:prstGeom prst="rect">
            <a:avLst/>
          </a:prstGeom>
          <a:noFill/>
        </p:spPr>
        <p:txBody>
          <a:bodyPr wrap="square" lIns="18288" rIns="18288" tIns="0" bIns="0">
            <a:spAutoFit/>
          </a:bodyPr>
          <a:lstStyle/>
          <a:p>
            <a:pPr>
              <a:spcAft>
                <a:spcPts val="800"/>
              </a:spcAft>
              <a:defRPr sz="1050" b="1">
                <a:solidFill>
                  <a:srgbClr val="0A2373"/>
                </a:solidFill>
                <a:latin typeface="Lato"/>
              </a:defRPr>
            </a:pPr>
            <a:r>
              <a:t>1 Production</a:t>
            </a:r>
          </a:p>
        </p:txBody>
      </p:sp>
      <p:sp>
        <p:nvSpPr>
          <p:cNvPr id="13" name="TextBox 12"/>
          <p:cNvSpPr txBox="1"/>
          <p:nvPr/>
        </p:nvSpPr>
        <p:spPr>
          <a:xfrm>
            <a:off x="2075688"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2 Pipelines</a:t>
            </a:r>
          </a:p>
        </p:txBody>
      </p:sp>
      <p:sp>
        <p:nvSpPr>
          <p:cNvPr id="14" name="TextBox 13"/>
          <p:cNvSpPr txBox="1"/>
          <p:nvPr/>
        </p:nvSpPr>
        <p:spPr>
          <a:xfrm>
            <a:off x="3602736"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3 Ports</a:t>
            </a:r>
          </a:p>
        </p:txBody>
      </p:sp>
      <p:sp>
        <p:nvSpPr>
          <p:cNvPr id="15" name="TextBox 14"/>
          <p:cNvSpPr txBox="1"/>
          <p:nvPr/>
        </p:nvSpPr>
        <p:spPr>
          <a:xfrm>
            <a:off x="5129783"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4 Roads</a:t>
            </a:r>
          </a:p>
        </p:txBody>
      </p:sp>
      <p:sp>
        <p:nvSpPr>
          <p:cNvPr id="16" name="TextBox 15"/>
          <p:cNvSpPr txBox="1"/>
          <p:nvPr/>
        </p:nvSpPr>
        <p:spPr>
          <a:xfrm>
            <a:off x="6656831"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5 Rail</a:t>
            </a:r>
          </a:p>
        </p:txBody>
      </p:sp>
      <p:sp>
        <p:nvSpPr>
          <p:cNvPr id="17" name="TextBox 16"/>
          <p:cNvSpPr txBox="1"/>
          <p:nvPr/>
        </p:nvSpPr>
        <p:spPr>
          <a:xfrm>
            <a:off x="8183879"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6 Storage</a:t>
            </a:r>
          </a:p>
        </p:txBody>
      </p:sp>
      <p:sp>
        <p:nvSpPr>
          <p:cNvPr id="18" name="TextBox 17"/>
          <p:cNvSpPr txBox="1"/>
          <p:nvPr/>
        </p:nvSpPr>
        <p:spPr>
          <a:xfrm>
            <a:off x="9710928"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7 Corridors</a:t>
            </a:r>
          </a:p>
        </p:txBody>
      </p:sp>
      <p:sp>
        <p:nvSpPr>
          <p:cNvPr id="19" name="Oval 18"/>
          <p:cNvSpPr/>
          <p:nvPr/>
        </p:nvSpPr>
        <p:spPr>
          <a:xfrm>
            <a:off x="4510552" y="4337730"/>
            <a:ext cx="100584" cy="100584"/>
          </a:xfrm>
          <a:prstGeom prst="ellipse">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4560844" y="4388022"/>
            <a:ext cx="440924" cy="138257"/>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681728" y="4434840"/>
            <a:ext cx="9601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ENREF / SAPREF</a:t>
            </a:r>
          </a:p>
        </p:txBody>
      </p:sp>
      <p:sp>
        <p:nvSpPr>
          <p:cNvPr id="22" name="Oval 21"/>
          <p:cNvSpPr/>
          <p:nvPr/>
        </p:nvSpPr>
        <p:spPr>
          <a:xfrm>
            <a:off x="3754526" y="3607856"/>
            <a:ext cx="100584" cy="100584"/>
          </a:xfrm>
          <a:prstGeom prst="ellipse">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a:off x="3063240" y="3658148"/>
            <a:ext cx="741578" cy="200620"/>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743200" y="3767328"/>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NATREF</a:t>
            </a:r>
          </a:p>
        </p:txBody>
      </p:sp>
      <p:sp>
        <p:nvSpPr>
          <p:cNvPr id="25" name="Oval 24"/>
          <p:cNvSpPr/>
          <p:nvPr/>
        </p:nvSpPr>
        <p:spPr>
          <a:xfrm>
            <a:off x="4068348" y="3546043"/>
            <a:ext cx="100584" cy="100584"/>
          </a:xfrm>
          <a:prstGeom prst="ellipse">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flipV="1">
            <a:off x="4118640" y="3200400"/>
            <a:ext cx="151608" cy="395935"/>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50208" y="3108960"/>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Sasol CTL</a:t>
            </a:r>
          </a:p>
        </p:txBody>
      </p:sp>
      <p:sp>
        <p:nvSpPr>
          <p:cNvPr id="28" name="Oval 27"/>
          <p:cNvSpPr/>
          <p:nvPr/>
        </p:nvSpPr>
        <p:spPr>
          <a:xfrm>
            <a:off x="1536374" y="5286329"/>
            <a:ext cx="100584" cy="100584"/>
          </a:xfrm>
          <a:prstGeom prst="ellipse">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flipH="1">
            <a:off x="914400" y="5336621"/>
            <a:ext cx="672266" cy="241219"/>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94360" y="5486400"/>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Astron</a:t>
            </a:r>
          </a:p>
        </p:txBody>
      </p:sp>
      <p:sp>
        <p:nvSpPr>
          <p:cNvPr id="31" name="Oval 30"/>
          <p:cNvSpPr/>
          <p:nvPr/>
        </p:nvSpPr>
        <p:spPr>
          <a:xfrm>
            <a:off x="2349459" y="5352897"/>
            <a:ext cx="100584" cy="100584"/>
          </a:xfrm>
          <a:prstGeom prst="ellipse">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flipH="1">
            <a:off x="2331720" y="5403189"/>
            <a:ext cx="68031" cy="448970"/>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011680" y="5760720"/>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PetroSA</a:t>
            </a:r>
          </a:p>
        </p:txBody>
      </p:sp>
      <p:cxnSp>
        <p:nvCxnSpPr>
          <p:cNvPr id="34" name="Connector 33"/>
          <p:cNvCxnSpPr/>
          <p:nvPr/>
        </p:nvCxnSpPr>
        <p:spPr>
          <a:xfrm>
            <a:off x="6309360" y="2057400"/>
            <a:ext cx="0" cy="3977640"/>
          </a:xfrm>
          <a:prstGeom prst="line">
            <a:avLst/>
          </a:prstGeom>
          <a:ln w="5080">
            <a:solidFill>
              <a:srgbClr val="A0A0A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492240" y="2103120"/>
            <a:ext cx="4572000" cy="457200"/>
          </a:xfrm>
          <a:prstGeom prst="rect">
            <a:avLst/>
          </a:prstGeom>
          <a:noFill/>
        </p:spPr>
        <p:txBody>
          <a:bodyPr wrap="square" lIns="18288" rIns="18288" tIns="0" bIns="0">
            <a:spAutoFit/>
          </a:bodyPr>
          <a:lstStyle/>
          <a:p>
            <a:pPr>
              <a:spcAft>
                <a:spcPts val="800"/>
              </a:spcAft>
              <a:defRPr sz="1800" b="1">
                <a:solidFill>
                  <a:srgbClr val="000000"/>
                </a:solidFill>
                <a:latin typeface="Lato"/>
              </a:defRPr>
            </a:pPr>
            <a:r>
              <a:t>Establish the domestic supply points</a:t>
            </a:r>
          </a:p>
        </p:txBody>
      </p:sp>
      <p:graphicFrame>
        <p:nvGraphicFramePr>
          <p:cNvPr id="36" name="Table 35"/>
          <p:cNvGraphicFramePr>
            <a:graphicFrameLocks noGrp="1"/>
          </p:cNvGraphicFramePr>
          <p:nvPr/>
        </p:nvGraphicFramePr>
        <p:xfrm>
          <a:off x="6492240" y="2743200"/>
          <a:ext cx="4526280" cy="2377440"/>
        </p:xfrm>
        <a:graphic>
          <a:graphicData uri="http://schemas.openxmlformats.org/drawingml/2006/table">
            <a:tbl>
              <a:tblPr firstRow="1" bandRow="1">
                <a:tableStyleId>{2D5ABB26-0587-4C30-8999-92F81FD0307C}</a:tableStyleId>
              </a:tblPr>
              <a:tblGrid>
                <a:gridCol w="1554480"/>
                <a:gridCol w="640080"/>
                <a:gridCol w="777240"/>
                <a:gridCol w="777240"/>
                <a:gridCol w="777240"/>
              </a:tblGrid>
              <a:tr h="339634">
                <a:tc>
                  <a:txBody>
                    <a:bodyPr/>
                    <a:lstStyle/>
                    <a:p>
                      <a:pPr>
                        <a:defRPr sz="1200" b="1">
                          <a:solidFill>
                            <a:srgbClr val="000000"/>
                          </a:solidFill>
                          <a:latin typeface="Lato"/>
                        </a:defRPr>
                      </a:pPr>
                      <a:r>
                        <a:t>Asset</a:t>
                      </a:r>
                    </a:p>
                  </a:txBody>
                  <a:tcPr marL="146304" marR="146304" marT="54864" marB="54864" anchor="ctr">
                    <a:lnB w="4445" cap="flat">
                      <a:solidFill>
                        <a:srgbClr val="A0A0A0"/>
                      </a:solidFill>
                    </a:lnB>
                    <a:solidFill>
                      <a:srgbClr val="FFFFFF"/>
                    </a:solidFill>
                  </a:tcPr>
                </a:tc>
                <a:tc>
                  <a:txBody>
                    <a:bodyPr/>
                    <a:lstStyle/>
                    <a:p>
                      <a:pPr>
                        <a:defRPr sz="1200" b="1">
                          <a:solidFill>
                            <a:srgbClr val="000000"/>
                          </a:solidFill>
                          <a:latin typeface="Lato"/>
                        </a:defRPr>
                      </a:pPr>
                      <a:r>
                        <a:t>kbpd</a:t>
                      </a:r>
                    </a:p>
                  </a:txBody>
                  <a:tcPr marL="146304" marR="146304" marT="54864" marB="54864" anchor="ctr">
                    <a:lnB w="4445" cap="flat">
                      <a:solidFill>
                        <a:srgbClr val="A0A0A0"/>
                      </a:solidFill>
                    </a:lnB>
                    <a:solidFill>
                      <a:srgbClr val="FFFFFF"/>
                    </a:solidFill>
                  </a:tcPr>
                </a:tc>
                <a:tc>
                  <a:txBody>
                    <a:bodyPr/>
                    <a:lstStyle/>
                    <a:p>
                      <a:pPr>
                        <a:defRPr sz="1200" b="1">
                          <a:solidFill>
                            <a:srgbClr val="000000"/>
                          </a:solidFill>
                          <a:latin typeface="Lato"/>
                        </a:defRPr>
                      </a:pPr>
                      <a:r>
                        <a:t>Petrol</a:t>
                      </a:r>
                    </a:p>
                  </a:txBody>
                  <a:tcPr marL="146304" marR="146304" marT="54864" marB="54864" anchor="ctr">
                    <a:lnB w="4445" cap="flat">
                      <a:solidFill>
                        <a:srgbClr val="A0A0A0"/>
                      </a:solidFill>
                    </a:lnB>
                    <a:solidFill>
                      <a:srgbClr val="FFFFFF"/>
                    </a:solidFill>
                  </a:tcPr>
                </a:tc>
                <a:tc>
                  <a:txBody>
                    <a:bodyPr/>
                    <a:lstStyle/>
                    <a:p>
                      <a:pPr>
                        <a:defRPr sz="1200" b="1">
                          <a:solidFill>
                            <a:srgbClr val="000000"/>
                          </a:solidFill>
                          <a:latin typeface="Lato"/>
                        </a:defRPr>
                      </a:pPr>
                      <a:r>
                        <a:t>Diesel</a:t>
                      </a:r>
                    </a:p>
                  </a:txBody>
                  <a:tcPr marL="146304" marR="146304" marT="54864" marB="54864" anchor="ctr">
                    <a:lnB w="4445" cap="flat">
                      <a:solidFill>
                        <a:srgbClr val="A0A0A0"/>
                      </a:solidFill>
                    </a:lnB>
                    <a:solidFill>
                      <a:srgbClr val="FFFFFF"/>
                    </a:solidFill>
                  </a:tcPr>
                </a:tc>
                <a:tc>
                  <a:txBody>
                    <a:bodyPr/>
                    <a:lstStyle/>
                    <a:p>
                      <a:pPr>
                        <a:defRPr sz="1200" b="1">
                          <a:solidFill>
                            <a:srgbClr val="000000"/>
                          </a:solidFill>
                          <a:latin typeface="Lato"/>
                        </a:defRPr>
                      </a:pPr>
                      <a:r>
                        <a:t>Jet</a:t>
                      </a:r>
                    </a:p>
                  </a:txBody>
                  <a:tcPr marL="146304" marR="146304" marT="54864" marB="54864" anchor="ctr">
                    <a:lnB w="4445" cap="flat">
                      <a:solidFill>
                        <a:srgbClr val="A0A0A0"/>
                      </a:solidFill>
                    </a:lnB>
                    <a:solidFill>
                      <a:srgbClr val="FFFFFF"/>
                    </a:solidFill>
                  </a:tcPr>
                </a:tc>
              </a:tr>
              <a:tr h="339634">
                <a:tc>
                  <a:txBody>
                    <a:bodyPr/>
                    <a:lstStyle/>
                    <a:p>
                      <a:pPr>
                        <a:defRPr sz="1200" b="0">
                          <a:solidFill>
                            <a:srgbClr val="000000"/>
                          </a:solidFill>
                          <a:latin typeface="Lato"/>
                        </a:defRPr>
                      </a:pPr>
                      <a:r>
                        <a:t>ENREF</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120</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45%</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25%</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0%</a:t>
                      </a:r>
                    </a:p>
                  </a:txBody>
                  <a:tcPr marL="146304" marR="146304" marT="54864" marB="54864" anchor="ctr">
                    <a:lnB w="3175" cap="flat">
                      <a:solidFill>
                        <a:srgbClr val="B8B8B8"/>
                      </a:solidFill>
                    </a:lnB>
                    <a:solidFill>
                      <a:srgbClr val="FFFFFF"/>
                    </a:solidFill>
                  </a:tcPr>
                </a:tc>
              </a:tr>
              <a:tr h="339634">
                <a:tc>
                  <a:txBody>
                    <a:bodyPr/>
                    <a:lstStyle/>
                    <a:p>
                      <a:pPr>
                        <a:defRPr sz="1200" b="0">
                          <a:solidFill>
                            <a:srgbClr val="000000"/>
                          </a:solidFill>
                          <a:latin typeface="Lato"/>
                        </a:defRPr>
                      </a:pPr>
                      <a:r>
                        <a:t>SAPREF</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180</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45%</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25%</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10%</a:t>
                      </a:r>
                    </a:p>
                  </a:txBody>
                  <a:tcPr marL="146304" marR="146304" marT="54864" marB="54864" anchor="ctr">
                    <a:lnB w="3175" cap="flat">
                      <a:solidFill>
                        <a:srgbClr val="B8B8B8"/>
                      </a:solidFill>
                    </a:lnB>
                    <a:solidFill>
                      <a:srgbClr val="FFFFFF"/>
                    </a:solidFill>
                  </a:tcPr>
                </a:tc>
              </a:tr>
              <a:tr h="339634">
                <a:tc>
                  <a:txBody>
                    <a:bodyPr/>
                    <a:lstStyle/>
                    <a:p>
                      <a:pPr>
                        <a:defRPr sz="1200" b="0">
                          <a:solidFill>
                            <a:srgbClr val="000000"/>
                          </a:solidFill>
                          <a:latin typeface="Lato"/>
                        </a:defRPr>
                      </a:pPr>
                      <a:r>
                        <a:t>NATREF</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108.5</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45%</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25%</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10%</a:t>
                      </a:r>
                    </a:p>
                  </a:txBody>
                  <a:tcPr marL="146304" marR="146304" marT="54864" marB="54864" anchor="ctr">
                    <a:lnB w="3175" cap="flat">
                      <a:solidFill>
                        <a:srgbClr val="B8B8B8"/>
                      </a:solidFill>
                    </a:lnB>
                    <a:solidFill>
                      <a:srgbClr val="FFFFFF"/>
                    </a:solidFill>
                  </a:tcPr>
                </a:tc>
              </a:tr>
              <a:tr h="339634">
                <a:tc>
                  <a:txBody>
                    <a:bodyPr/>
                    <a:lstStyle/>
                    <a:p>
                      <a:pPr>
                        <a:defRPr sz="1200" b="0">
                          <a:solidFill>
                            <a:srgbClr val="000000"/>
                          </a:solidFill>
                          <a:latin typeface="Lato"/>
                        </a:defRPr>
                      </a:pPr>
                      <a:r>
                        <a:t>SASOL</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75</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85%</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15%</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0%</a:t>
                      </a:r>
                    </a:p>
                  </a:txBody>
                  <a:tcPr marL="146304" marR="146304" marT="54864" marB="54864" anchor="ctr">
                    <a:lnB w="3175" cap="flat">
                      <a:solidFill>
                        <a:srgbClr val="B8B8B8"/>
                      </a:solidFill>
                    </a:lnB>
                    <a:solidFill>
                      <a:srgbClr val="FFFFFF"/>
                    </a:solidFill>
                  </a:tcPr>
                </a:tc>
              </a:tr>
              <a:tr h="339634">
                <a:tc>
                  <a:txBody>
                    <a:bodyPr/>
                    <a:lstStyle/>
                    <a:p>
                      <a:pPr>
                        <a:defRPr sz="1200" b="0">
                          <a:solidFill>
                            <a:srgbClr val="000000"/>
                          </a:solidFill>
                          <a:latin typeface="Lato"/>
                        </a:defRPr>
                      </a:pPr>
                      <a:r>
                        <a:t>ASTRON</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100</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45%</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25%</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10%</a:t>
                      </a:r>
                    </a:p>
                  </a:txBody>
                  <a:tcPr marL="146304" marR="146304" marT="54864" marB="54864" anchor="ctr">
                    <a:lnB w="3175" cap="flat">
                      <a:solidFill>
                        <a:srgbClr val="B8B8B8"/>
                      </a:solidFill>
                    </a:lnB>
                    <a:solidFill>
                      <a:srgbClr val="FFFFFF"/>
                    </a:solidFill>
                  </a:tcPr>
                </a:tc>
              </a:tr>
              <a:tr h="339636">
                <a:tc>
                  <a:txBody>
                    <a:bodyPr/>
                    <a:lstStyle/>
                    <a:p>
                      <a:pPr>
                        <a:defRPr sz="1200" b="0">
                          <a:solidFill>
                            <a:srgbClr val="000000"/>
                          </a:solidFill>
                          <a:latin typeface="Lato"/>
                        </a:defRPr>
                      </a:pPr>
                      <a:r>
                        <a:t>PETROSA</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45</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85%</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15%</a:t>
                      </a:r>
                    </a:p>
                  </a:txBody>
                  <a:tcPr marL="146304" marR="146304" marT="54864" marB="54864" anchor="ctr">
                    <a:lnB w="3175" cap="flat">
                      <a:solidFill>
                        <a:srgbClr val="B8B8B8"/>
                      </a:solidFill>
                    </a:lnB>
                    <a:solidFill>
                      <a:srgbClr val="FFFFFF"/>
                    </a:solidFill>
                  </a:tcPr>
                </a:tc>
                <a:tc>
                  <a:txBody>
                    <a:bodyPr/>
                    <a:lstStyle/>
                    <a:p>
                      <a:pPr>
                        <a:defRPr sz="1200" b="0">
                          <a:solidFill>
                            <a:srgbClr val="000000"/>
                          </a:solidFill>
                          <a:latin typeface="Lato"/>
                        </a:defRPr>
                      </a:pPr>
                      <a:r>
                        <a:t>0%</a:t>
                      </a:r>
                    </a:p>
                  </a:txBody>
                  <a:tcPr marL="146304" marR="146304" marT="54864" marB="54864" anchor="ctr">
                    <a:lnB w="3175" cap="flat">
                      <a:solidFill>
                        <a:srgbClr val="B8B8B8"/>
                      </a:solidFill>
                    </a:lnB>
                    <a:solidFill>
                      <a:srgbClr val="FFFFFF"/>
                    </a:solidFill>
                  </a:tcPr>
                </a:tc>
              </a:tr>
            </a:tbl>
          </a:graphicData>
        </a:graphic>
      </p:graphicFrame>
      <p:sp>
        <p:nvSpPr>
          <p:cNvPr id="37" name="TextBox 36"/>
          <p:cNvSpPr txBox="1"/>
          <p:nvPr/>
        </p:nvSpPr>
        <p:spPr>
          <a:xfrm>
            <a:off x="6492240" y="5330952"/>
            <a:ext cx="4526280" cy="658368"/>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Workbook capacity and yield assumptions. Inclusion does not establish current operation; utilisation and availability determine model output.</a:t>
            </a:r>
          </a:p>
        </p:txBody>
      </p:sp>
      <p:sp>
        <p:nvSpPr>
          <p:cNvPr id="38" name="Oval 37"/>
          <p:cNvSpPr/>
          <p:nvPr/>
        </p:nvSpPr>
        <p:spPr>
          <a:xfrm>
            <a:off x="594360" y="6245352"/>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8952" y="6199632"/>
            <a:ext cx="530352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Production assets | approximate site locations</a:t>
            </a:r>
          </a:p>
        </p:txBody>
      </p:sp>
      <p:sp>
        <p:nvSpPr>
          <p:cNvPr id="40" name="TextBox 39"/>
          <p:cNvSpPr txBox="1"/>
          <p:nvPr/>
        </p:nvSpPr>
        <p:spPr>
          <a:xfrm>
            <a:off x="6492240" y="6217920"/>
            <a:ext cx="4526280" cy="27432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Same map extent on all seven pages. Connections are schematic; no route-capacity or fuel-service claim.</a:t>
            </a:r>
          </a:p>
        </p:txBody>
      </p:sp>
      <p:sp>
        <p:nvSpPr>
          <p:cNvPr id="41" name="TextBox 40"/>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Excel Assumptions M93:R97; Transnet Shippers Manual (2024), pp. 4, 19-20; Astron; Natural Earth; schematic routes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Trace pipeline connections between supply points and inland markets</a:t>
            </a:r>
          </a:p>
        </p:txBody>
      </p:sp>
      <p:sp>
        <p:nvSpPr>
          <p:cNvPr id="3" name="Slide Number Placeholder"/>
          <p:cNvSpPr>
            <a:spLocks noGrp="1"/>
          </p:cNvSpPr>
          <p:nvPr>
            <p:ph type="sldNum" sz="quarter" idx="12"/>
          </p:nvPr>
        </p:nvSpPr>
        <p:spPr/>
        <p:txBody>
          <a:bodyPr/>
          <a:lstStyle/>
          <a:p>
            <a:fld id="{F05F2453-2E7B-4ED2-BCDE-C5BFE304BABB}"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sp>
        <p:nvSpPr>
          <p:cNvPr id="5" name="Freeform 4"/>
          <p:cNvSpPr/>
          <p:nvPr/>
        </p:nvSpPr>
        <p:spPr>
          <a:xfrm>
            <a:off x="1069568" y="2536309"/>
            <a:ext cx="3919244" cy="3025970"/>
          </a:xfrm>
          <a:custGeom>
            <a:avLst/>
            <a:gdLst/>
            <a:ahLst/>
            <a:cxnLst/>
            <a:rect l="l" t="t" r="r" b="b"/>
            <a:pathLst>
              <a:path w="3919244" h="3025970">
                <a:moveTo>
                  <a:pt x="0" y="1541863"/>
                </a:moveTo>
                <a:lnTo>
                  <a:pt x="113889" y="1424288"/>
                </a:lnTo>
                <a:lnTo>
                  <a:pt x="207777" y="1489378"/>
                </a:lnTo>
                <a:lnTo>
                  <a:pt x="247853" y="1591030"/>
                </a:lnTo>
                <a:lnTo>
                  <a:pt x="354518" y="1608353"/>
                </a:lnTo>
                <a:lnTo>
                  <a:pt x="503998" y="1653307"/>
                </a:lnTo>
                <a:lnTo>
                  <a:pt x="631721" y="1635947"/>
                </a:lnTo>
                <a:lnTo>
                  <a:pt x="843933" y="1514379"/>
                </a:lnTo>
                <a:lnTo>
                  <a:pt x="844179" y="636316"/>
                </a:lnTo>
                <a:lnTo>
                  <a:pt x="908360" y="672018"/>
                </a:lnTo>
                <a:lnTo>
                  <a:pt x="1049314" y="897917"/>
                </a:lnTo>
                <a:lnTo>
                  <a:pt x="1027409" y="1042778"/>
                </a:lnTo>
                <a:lnTo>
                  <a:pt x="1080459" y="1126248"/>
                </a:lnTo>
                <a:lnTo>
                  <a:pt x="1250752" y="1101996"/>
                </a:lnTo>
                <a:lnTo>
                  <a:pt x="1369641" y="995896"/>
                </a:lnTo>
                <a:lnTo>
                  <a:pt x="1482228" y="924380"/>
                </a:lnTo>
                <a:lnTo>
                  <a:pt x="1540413" y="810504"/>
                </a:lnTo>
                <a:lnTo>
                  <a:pt x="1656391" y="755402"/>
                </a:lnTo>
                <a:lnTo>
                  <a:pt x="1756593" y="784273"/>
                </a:lnTo>
                <a:lnTo>
                  <a:pt x="1870163" y="850862"/>
                </a:lnTo>
                <a:lnTo>
                  <a:pt x="2063664" y="862620"/>
                </a:lnTo>
                <a:lnTo>
                  <a:pt x="2215700" y="807260"/>
                </a:lnTo>
                <a:lnTo>
                  <a:pt x="2239756" y="733091"/>
                </a:lnTo>
                <a:lnTo>
                  <a:pt x="2281552" y="619337"/>
                </a:lnTo>
                <a:lnTo>
                  <a:pt x="2410908" y="600307"/>
                </a:lnTo>
                <a:lnTo>
                  <a:pt x="2482387" y="511001"/>
                </a:lnTo>
                <a:lnTo>
                  <a:pt x="2561557" y="352576"/>
                </a:lnTo>
                <a:lnTo>
                  <a:pt x="2775009" y="175084"/>
                </a:lnTo>
                <a:lnTo>
                  <a:pt x="3111406" y="0"/>
                </a:lnTo>
                <a:lnTo>
                  <a:pt x="3208132" y="2592"/>
                </a:lnTo>
                <a:lnTo>
                  <a:pt x="3323163" y="42865"/>
                </a:lnTo>
                <a:lnTo>
                  <a:pt x="3403278" y="14325"/>
                </a:lnTo>
                <a:lnTo>
                  <a:pt x="3529650" y="38085"/>
                </a:lnTo>
                <a:lnTo>
                  <a:pt x="3643527" y="372700"/>
                </a:lnTo>
                <a:lnTo>
                  <a:pt x="3705385" y="541605"/>
                </a:lnTo>
                <a:lnTo>
                  <a:pt x="3663024" y="806658"/>
                </a:lnTo>
                <a:lnTo>
                  <a:pt x="3683320" y="892020"/>
                </a:lnTo>
                <a:lnTo>
                  <a:pt x="3563350" y="848479"/>
                </a:lnTo>
                <a:lnTo>
                  <a:pt x="3494623" y="865421"/>
                </a:lnTo>
                <a:lnTo>
                  <a:pt x="3472177" y="934651"/>
                </a:lnTo>
                <a:lnTo>
                  <a:pt x="3407259" y="1023907"/>
                </a:lnTo>
                <a:lnTo>
                  <a:pt x="3409483" y="1106111"/>
                </a:lnTo>
                <a:lnTo>
                  <a:pt x="3551371" y="1234977"/>
                </a:lnTo>
                <a:lnTo>
                  <a:pt x="3690520" y="1209312"/>
                </a:lnTo>
                <a:lnTo>
                  <a:pt x="3738925" y="1103728"/>
                </a:lnTo>
                <a:lnTo>
                  <a:pt x="3919244" y="1105718"/>
                </a:lnTo>
                <a:lnTo>
                  <a:pt x="3859842" y="1278788"/>
                </a:lnTo>
                <a:lnTo>
                  <a:pt x="3831757" y="1476318"/>
                </a:lnTo>
                <a:lnTo>
                  <a:pt x="3770242" y="1583634"/>
                </a:lnTo>
                <a:lnTo>
                  <a:pt x="3608008" y="1703691"/>
                </a:lnTo>
                <a:lnTo>
                  <a:pt x="3561544" y="1738066"/>
                </a:lnTo>
                <a:lnTo>
                  <a:pt x="3460788" y="1858835"/>
                </a:lnTo>
                <a:lnTo>
                  <a:pt x="3394470" y="1980993"/>
                </a:lnTo>
                <a:lnTo>
                  <a:pt x="3259646" y="2151335"/>
                </a:lnTo>
                <a:lnTo>
                  <a:pt x="2990956" y="2396632"/>
                </a:lnTo>
                <a:lnTo>
                  <a:pt x="2823157" y="2539258"/>
                </a:lnTo>
                <a:lnTo>
                  <a:pt x="2643625" y="2647434"/>
                </a:lnTo>
                <a:lnTo>
                  <a:pt x="2395146" y="2739675"/>
                </a:lnTo>
                <a:lnTo>
                  <a:pt x="2273947" y="2752059"/>
                </a:lnTo>
                <a:lnTo>
                  <a:pt x="2243269" y="2818058"/>
                </a:lnTo>
                <a:lnTo>
                  <a:pt x="2098776" y="2782921"/>
                </a:lnTo>
                <a:lnTo>
                  <a:pt x="1981091" y="2828170"/>
                </a:lnTo>
                <a:lnTo>
                  <a:pt x="1723422" y="2782356"/>
                </a:lnTo>
                <a:lnTo>
                  <a:pt x="1579384" y="2811350"/>
                </a:lnTo>
                <a:lnTo>
                  <a:pt x="1480950" y="2798905"/>
                </a:lnTo>
                <a:lnTo>
                  <a:pt x="1235751" y="2892756"/>
                </a:lnTo>
                <a:lnTo>
                  <a:pt x="1032778" y="2930399"/>
                </a:lnTo>
                <a:lnTo>
                  <a:pt x="885901" y="3020258"/>
                </a:lnTo>
                <a:lnTo>
                  <a:pt x="777762" y="3025970"/>
                </a:lnTo>
                <a:lnTo>
                  <a:pt x="677166" y="2941199"/>
                </a:lnTo>
                <a:lnTo>
                  <a:pt x="596818" y="2936850"/>
                </a:lnTo>
                <a:lnTo>
                  <a:pt x="494428" y="2830713"/>
                </a:lnTo>
                <a:lnTo>
                  <a:pt x="483199" y="2863676"/>
                </a:lnTo>
                <a:lnTo>
                  <a:pt x="451600" y="2799777"/>
                </a:lnTo>
                <a:lnTo>
                  <a:pt x="452927" y="2660383"/>
                </a:lnTo>
                <a:lnTo>
                  <a:pt x="375686" y="2501061"/>
                </a:lnTo>
                <a:lnTo>
                  <a:pt x="452411" y="2457754"/>
                </a:lnTo>
                <a:lnTo>
                  <a:pt x="446194" y="2275286"/>
                </a:lnTo>
                <a:lnTo>
                  <a:pt x="290509" y="2052778"/>
                </a:lnTo>
                <a:lnTo>
                  <a:pt x="171042" y="1851390"/>
                </a:lnTo>
                <a:lnTo>
                  <a:pt x="170686" y="1850751"/>
                </a:lnTo>
                <a:lnTo>
                  <a:pt x="0" y="1541863"/>
                </a:lnTo>
                <a:close/>
              </a:path>
            </a:pathLst>
          </a:custGeom>
          <a:solidFill>
            <a:srgbClr val="CED3E3"/>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3602560" y="4095003"/>
            <a:ext cx="552970" cy="474919"/>
          </a:xfrm>
          <a:custGeom>
            <a:avLst/>
            <a:gdLst/>
            <a:ahLst/>
            <a:cxnLst/>
            <a:rect l="l" t="t" r="r" b="b"/>
            <a:pathLst>
              <a:path w="552970" h="474919">
                <a:moveTo>
                  <a:pt x="470496" y="73248"/>
                </a:moveTo>
                <a:lnTo>
                  <a:pt x="552970" y="144997"/>
                </a:lnTo>
                <a:lnTo>
                  <a:pt x="480042" y="260630"/>
                </a:lnTo>
                <a:lnTo>
                  <a:pt x="439622" y="338203"/>
                </a:lnTo>
                <a:lnTo>
                  <a:pt x="307119" y="375330"/>
                </a:lnTo>
                <a:lnTo>
                  <a:pt x="263407" y="451293"/>
                </a:lnTo>
                <a:lnTo>
                  <a:pt x="178340" y="474919"/>
                </a:lnTo>
                <a:lnTo>
                  <a:pt x="0" y="292057"/>
                </a:lnTo>
                <a:lnTo>
                  <a:pt x="126777" y="141508"/>
                </a:lnTo>
                <a:lnTo>
                  <a:pt x="255593" y="48492"/>
                </a:lnTo>
                <a:lnTo>
                  <a:pt x="366705" y="0"/>
                </a:lnTo>
                <a:lnTo>
                  <a:pt x="470496" y="73248"/>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3577326" y="2039112"/>
            <a:ext cx="1384861" cy="540062"/>
          </a:xfrm>
          <a:custGeom>
            <a:avLst/>
            <a:gdLst/>
            <a:ahLst/>
            <a:cxnLst/>
            <a:rect l="l" t="t" r="r" b="b"/>
            <a:pathLst>
              <a:path w="1384861" h="540062">
                <a:moveTo>
                  <a:pt x="1021892" y="535282"/>
                </a:moveTo>
                <a:lnTo>
                  <a:pt x="895520" y="511522"/>
                </a:lnTo>
                <a:lnTo>
                  <a:pt x="815405" y="540062"/>
                </a:lnTo>
                <a:lnTo>
                  <a:pt x="700374" y="499789"/>
                </a:lnTo>
                <a:lnTo>
                  <a:pt x="603648" y="497197"/>
                </a:lnTo>
                <a:lnTo>
                  <a:pt x="452078" y="389770"/>
                </a:lnTo>
                <a:lnTo>
                  <a:pt x="268234" y="353281"/>
                </a:lnTo>
                <a:lnTo>
                  <a:pt x="198304" y="202510"/>
                </a:lnTo>
                <a:lnTo>
                  <a:pt x="197714" y="118648"/>
                </a:lnTo>
                <a:lnTo>
                  <a:pt x="95902" y="93081"/>
                </a:lnTo>
                <a:lnTo>
                  <a:pt x="0" y="0"/>
                </a:lnTo>
                <a:lnTo>
                  <a:pt x="1384861" y="0"/>
                </a:lnTo>
                <a:lnTo>
                  <a:pt x="1370979" y="72343"/>
                </a:lnTo>
                <a:lnTo>
                  <a:pt x="1335068" y="93978"/>
                </a:lnTo>
                <a:lnTo>
                  <a:pt x="1272374" y="265438"/>
                </a:lnTo>
                <a:lnTo>
                  <a:pt x="1021892" y="535282"/>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913673" y="2039112"/>
            <a:ext cx="2267301" cy="1623445"/>
          </a:xfrm>
          <a:custGeom>
            <a:avLst/>
            <a:gdLst/>
            <a:ahLst/>
            <a:cxnLst/>
            <a:rect l="l" t="t" r="r" b="b"/>
            <a:pathLst>
              <a:path w="2267301" h="1623445">
                <a:moveTo>
                  <a:pt x="2267301" y="497197"/>
                </a:moveTo>
                <a:lnTo>
                  <a:pt x="1930904" y="672281"/>
                </a:lnTo>
                <a:lnTo>
                  <a:pt x="1717452" y="849773"/>
                </a:lnTo>
                <a:lnTo>
                  <a:pt x="1638282" y="1008198"/>
                </a:lnTo>
                <a:lnTo>
                  <a:pt x="1566803" y="1097504"/>
                </a:lnTo>
                <a:lnTo>
                  <a:pt x="1437447" y="1116534"/>
                </a:lnTo>
                <a:lnTo>
                  <a:pt x="1395651" y="1230288"/>
                </a:lnTo>
                <a:lnTo>
                  <a:pt x="1371595" y="1304457"/>
                </a:lnTo>
                <a:lnTo>
                  <a:pt x="1219559" y="1359817"/>
                </a:lnTo>
                <a:lnTo>
                  <a:pt x="1026058" y="1348059"/>
                </a:lnTo>
                <a:lnTo>
                  <a:pt x="912488" y="1281470"/>
                </a:lnTo>
                <a:lnTo>
                  <a:pt x="812286" y="1252599"/>
                </a:lnTo>
                <a:lnTo>
                  <a:pt x="696308" y="1307701"/>
                </a:lnTo>
                <a:lnTo>
                  <a:pt x="638123" y="1421577"/>
                </a:lnTo>
                <a:lnTo>
                  <a:pt x="525536" y="1493093"/>
                </a:lnTo>
                <a:lnTo>
                  <a:pt x="406647" y="1599193"/>
                </a:lnTo>
                <a:lnTo>
                  <a:pt x="236354" y="1623445"/>
                </a:lnTo>
                <a:lnTo>
                  <a:pt x="183304" y="1539975"/>
                </a:lnTo>
                <a:lnTo>
                  <a:pt x="205209" y="1395114"/>
                </a:lnTo>
                <a:lnTo>
                  <a:pt x="64255" y="1169215"/>
                </a:lnTo>
                <a:lnTo>
                  <a:pt x="74" y="1133513"/>
                </a:lnTo>
                <a:lnTo>
                  <a:pt x="0" y="439625"/>
                </a:lnTo>
                <a:lnTo>
                  <a:pt x="234339" y="431345"/>
                </a:lnTo>
                <a:lnTo>
                  <a:pt x="237912" y="0"/>
                </a:lnTo>
                <a:lnTo>
                  <a:pt x="1663653" y="0"/>
                </a:lnTo>
                <a:lnTo>
                  <a:pt x="1759555" y="93081"/>
                </a:lnTo>
                <a:lnTo>
                  <a:pt x="1861367" y="118648"/>
                </a:lnTo>
                <a:lnTo>
                  <a:pt x="1861957" y="202510"/>
                </a:lnTo>
                <a:lnTo>
                  <a:pt x="1931887" y="353281"/>
                </a:lnTo>
                <a:lnTo>
                  <a:pt x="2115731" y="389770"/>
                </a:lnTo>
                <a:lnTo>
                  <a:pt x="2267301" y="497197"/>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749808" y="2039112"/>
            <a:ext cx="1401777" cy="2150504"/>
          </a:xfrm>
          <a:custGeom>
            <a:avLst/>
            <a:gdLst/>
            <a:ahLst/>
            <a:cxnLst/>
            <a:rect l="l" t="t" r="r" b="b"/>
            <a:pathLst>
              <a:path w="1401777" h="2150504">
                <a:moveTo>
                  <a:pt x="1163939" y="1133513"/>
                </a:moveTo>
                <a:lnTo>
                  <a:pt x="1163693" y="2011576"/>
                </a:lnTo>
                <a:lnTo>
                  <a:pt x="951481" y="2133144"/>
                </a:lnTo>
                <a:lnTo>
                  <a:pt x="823758" y="2150504"/>
                </a:lnTo>
                <a:lnTo>
                  <a:pt x="674278" y="2105550"/>
                </a:lnTo>
                <a:lnTo>
                  <a:pt x="567613" y="2088227"/>
                </a:lnTo>
                <a:lnTo>
                  <a:pt x="527537" y="1986575"/>
                </a:lnTo>
                <a:lnTo>
                  <a:pt x="433649" y="1921485"/>
                </a:lnTo>
                <a:lnTo>
                  <a:pt x="319760" y="2039060"/>
                </a:lnTo>
                <a:lnTo>
                  <a:pt x="143078" y="1859454"/>
                </a:lnTo>
                <a:lnTo>
                  <a:pt x="50038" y="1685832"/>
                </a:lnTo>
                <a:lnTo>
                  <a:pt x="0" y="1465156"/>
                </a:lnTo>
                <a:lnTo>
                  <a:pt x="0" y="0"/>
                </a:lnTo>
                <a:lnTo>
                  <a:pt x="1401777" y="0"/>
                </a:lnTo>
                <a:lnTo>
                  <a:pt x="1398204" y="431345"/>
                </a:lnTo>
                <a:lnTo>
                  <a:pt x="1163865" y="439625"/>
                </a:lnTo>
                <a:lnTo>
                  <a:pt x="1163939" y="1133513"/>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599218" y="2039112"/>
            <a:ext cx="1049892" cy="1602915"/>
          </a:xfrm>
          <a:custGeom>
            <a:avLst/>
            <a:gdLst/>
            <a:ahLst/>
            <a:cxnLst/>
            <a:rect l="l" t="t" r="r" b="b"/>
            <a:pathLst>
              <a:path w="1049892" h="1602915">
                <a:moveTo>
                  <a:pt x="848599" y="0"/>
                </a:moveTo>
                <a:lnTo>
                  <a:pt x="834596" y="118168"/>
                </a:lnTo>
                <a:lnTo>
                  <a:pt x="947343" y="298216"/>
                </a:lnTo>
                <a:lnTo>
                  <a:pt x="994250" y="437647"/>
                </a:lnTo>
                <a:lnTo>
                  <a:pt x="997203" y="508772"/>
                </a:lnTo>
                <a:lnTo>
                  <a:pt x="1039211" y="496884"/>
                </a:lnTo>
                <a:lnTo>
                  <a:pt x="1032409" y="730061"/>
                </a:lnTo>
                <a:lnTo>
                  <a:pt x="993857" y="840510"/>
                </a:lnTo>
                <a:lnTo>
                  <a:pt x="1049892" y="881213"/>
                </a:lnTo>
                <a:lnTo>
                  <a:pt x="1014534" y="980125"/>
                </a:lnTo>
                <a:lnTo>
                  <a:pt x="915154" y="1064701"/>
                </a:lnTo>
                <a:lnTo>
                  <a:pt x="719036" y="1145049"/>
                </a:lnTo>
                <a:lnTo>
                  <a:pt x="433122" y="1273730"/>
                </a:lnTo>
                <a:lnTo>
                  <a:pt x="328853" y="1361635"/>
                </a:lnTo>
                <a:lnTo>
                  <a:pt x="349235" y="1461788"/>
                </a:lnTo>
                <a:lnTo>
                  <a:pt x="410000" y="1477785"/>
                </a:lnTo>
                <a:lnTo>
                  <a:pt x="389594" y="1602915"/>
                </a:lnTo>
                <a:lnTo>
                  <a:pt x="209275" y="1600925"/>
                </a:lnTo>
                <a:lnTo>
                  <a:pt x="188857" y="1495832"/>
                </a:lnTo>
                <a:lnTo>
                  <a:pt x="153670" y="1389217"/>
                </a:lnTo>
                <a:lnTo>
                  <a:pt x="133374" y="1303855"/>
                </a:lnTo>
                <a:lnTo>
                  <a:pt x="175735" y="1038802"/>
                </a:lnTo>
                <a:lnTo>
                  <a:pt x="113877" y="869897"/>
                </a:lnTo>
                <a:lnTo>
                  <a:pt x="0" y="535282"/>
                </a:lnTo>
                <a:lnTo>
                  <a:pt x="250482" y="265438"/>
                </a:lnTo>
                <a:lnTo>
                  <a:pt x="313176" y="93978"/>
                </a:lnTo>
                <a:lnTo>
                  <a:pt x="349087" y="72343"/>
                </a:lnTo>
                <a:lnTo>
                  <a:pt x="362969" y="0"/>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476827" y="3384788"/>
            <a:ext cx="331666" cy="386498"/>
          </a:xfrm>
          <a:custGeom>
            <a:avLst/>
            <a:gdLst/>
            <a:ahLst/>
            <a:cxnLst/>
            <a:rect l="l" t="t" r="r" b="b"/>
            <a:pathLst>
              <a:path w="331666" h="386498">
                <a:moveTo>
                  <a:pt x="331666" y="255249"/>
                </a:moveTo>
                <a:lnTo>
                  <a:pt x="283261" y="360833"/>
                </a:lnTo>
                <a:lnTo>
                  <a:pt x="144112" y="386498"/>
                </a:lnTo>
                <a:lnTo>
                  <a:pt x="2224" y="257632"/>
                </a:lnTo>
                <a:lnTo>
                  <a:pt x="0" y="175428"/>
                </a:lnTo>
                <a:lnTo>
                  <a:pt x="64918" y="86172"/>
                </a:lnTo>
                <a:lnTo>
                  <a:pt x="87364" y="16942"/>
                </a:lnTo>
                <a:lnTo>
                  <a:pt x="156091" y="0"/>
                </a:lnTo>
                <a:lnTo>
                  <a:pt x="276061" y="43541"/>
                </a:lnTo>
                <a:lnTo>
                  <a:pt x="311248" y="150156"/>
                </a:lnTo>
                <a:lnTo>
                  <a:pt x="331666" y="255249"/>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1 Production</a:t>
            </a:r>
          </a:p>
        </p:txBody>
      </p:sp>
      <p:sp>
        <p:nvSpPr>
          <p:cNvPr id="13" name="TextBox 12"/>
          <p:cNvSpPr txBox="1"/>
          <p:nvPr/>
        </p:nvSpPr>
        <p:spPr>
          <a:xfrm>
            <a:off x="2075688" y="1673352"/>
            <a:ext cx="1481328" cy="274320"/>
          </a:xfrm>
          <a:prstGeom prst="rect">
            <a:avLst/>
          </a:prstGeom>
          <a:noFill/>
        </p:spPr>
        <p:txBody>
          <a:bodyPr wrap="square" lIns="18288" rIns="18288" tIns="0" bIns="0">
            <a:spAutoFit/>
          </a:bodyPr>
          <a:lstStyle/>
          <a:p>
            <a:pPr>
              <a:spcAft>
                <a:spcPts val="800"/>
              </a:spcAft>
              <a:defRPr sz="1050" b="1">
                <a:solidFill>
                  <a:srgbClr val="0A2373"/>
                </a:solidFill>
                <a:latin typeface="Lato"/>
              </a:defRPr>
            </a:pPr>
            <a:r>
              <a:t>2 Pipelines</a:t>
            </a:r>
          </a:p>
        </p:txBody>
      </p:sp>
      <p:sp>
        <p:nvSpPr>
          <p:cNvPr id="14" name="TextBox 13"/>
          <p:cNvSpPr txBox="1"/>
          <p:nvPr/>
        </p:nvSpPr>
        <p:spPr>
          <a:xfrm>
            <a:off x="3602736"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3 Ports</a:t>
            </a:r>
          </a:p>
        </p:txBody>
      </p:sp>
      <p:sp>
        <p:nvSpPr>
          <p:cNvPr id="15" name="TextBox 14"/>
          <p:cNvSpPr txBox="1"/>
          <p:nvPr/>
        </p:nvSpPr>
        <p:spPr>
          <a:xfrm>
            <a:off x="5129783"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4 Roads</a:t>
            </a:r>
          </a:p>
        </p:txBody>
      </p:sp>
      <p:sp>
        <p:nvSpPr>
          <p:cNvPr id="16" name="TextBox 15"/>
          <p:cNvSpPr txBox="1"/>
          <p:nvPr/>
        </p:nvSpPr>
        <p:spPr>
          <a:xfrm>
            <a:off x="6656831"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5 Rail</a:t>
            </a:r>
          </a:p>
        </p:txBody>
      </p:sp>
      <p:sp>
        <p:nvSpPr>
          <p:cNvPr id="17" name="TextBox 16"/>
          <p:cNvSpPr txBox="1"/>
          <p:nvPr/>
        </p:nvSpPr>
        <p:spPr>
          <a:xfrm>
            <a:off x="8183879"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6 Storage</a:t>
            </a:r>
          </a:p>
        </p:txBody>
      </p:sp>
      <p:sp>
        <p:nvSpPr>
          <p:cNvPr id="18" name="TextBox 17"/>
          <p:cNvSpPr txBox="1"/>
          <p:nvPr/>
        </p:nvSpPr>
        <p:spPr>
          <a:xfrm>
            <a:off x="9710928"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7 Corridors</a:t>
            </a:r>
          </a:p>
        </p:txBody>
      </p:sp>
      <p:cxnSp>
        <p:nvCxnSpPr>
          <p:cNvPr id="19" name="Connector 18"/>
          <p:cNvCxnSpPr/>
          <p:nvPr/>
        </p:nvCxnSpPr>
        <p:spPr>
          <a:xfrm flipH="1" flipV="1">
            <a:off x="3933200" y="3570183"/>
            <a:ext cx="627644" cy="817839"/>
          </a:xfrm>
          <a:prstGeom prst="line">
            <a:avLst/>
          </a:prstGeom>
          <a:ln w="1905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3804818" y="3570183"/>
            <a:ext cx="128382" cy="87965"/>
          </a:xfrm>
          <a:prstGeom prst="line">
            <a:avLst/>
          </a:prstGeom>
          <a:ln w="1905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3521903" y="3658148"/>
            <a:ext cx="282915" cy="9510"/>
          </a:xfrm>
          <a:prstGeom prst="line">
            <a:avLst/>
          </a:prstGeom>
          <a:ln w="1905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933200" y="3570183"/>
            <a:ext cx="185440" cy="26152"/>
          </a:xfrm>
          <a:prstGeom prst="line">
            <a:avLst/>
          </a:prstGeom>
          <a:ln w="1905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4073469" y="3484595"/>
            <a:ext cx="45171" cy="111740"/>
          </a:xfrm>
          <a:prstGeom prst="line">
            <a:avLst/>
          </a:prstGeom>
          <a:ln w="1905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3916558" y="3396630"/>
            <a:ext cx="156911" cy="87965"/>
          </a:xfrm>
          <a:prstGeom prst="line">
            <a:avLst/>
          </a:prstGeom>
          <a:ln w="1905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3871386" y="3541654"/>
            <a:ext cx="61814" cy="28529"/>
          </a:xfrm>
          <a:prstGeom prst="line">
            <a:avLst/>
          </a:prstGeom>
          <a:ln w="1905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3840480" y="3513124"/>
            <a:ext cx="30906" cy="28530"/>
          </a:xfrm>
          <a:prstGeom prst="line">
            <a:avLst/>
          </a:prstGeom>
          <a:ln w="1905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4006900" y="4059935"/>
            <a:ext cx="553944" cy="328087"/>
          </a:xfrm>
          <a:prstGeom prst="line">
            <a:avLst/>
          </a:prstGeom>
          <a:ln w="15240">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3804818" y="3658148"/>
            <a:ext cx="202082" cy="401787"/>
          </a:xfrm>
          <a:prstGeom prst="line">
            <a:avLst/>
          </a:prstGeom>
          <a:ln w="15240">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451152" y="5136916"/>
            <a:ext cx="135514" cy="199705"/>
          </a:xfrm>
          <a:prstGeom prst="line">
            <a:avLst/>
          </a:prstGeom>
          <a:ln w="15240">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4779568" y="2443276"/>
            <a:ext cx="748894" cy="886785"/>
          </a:xfrm>
          <a:prstGeom prst="line">
            <a:avLst/>
          </a:prstGeom>
          <a:ln w="13970">
            <a:solidFill>
              <a:srgbClr val="0A2373"/>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4118640" y="3330061"/>
            <a:ext cx="660928" cy="266274"/>
          </a:xfrm>
          <a:prstGeom prst="line">
            <a:avLst/>
          </a:prstGeom>
          <a:ln w="13970">
            <a:solidFill>
              <a:srgbClr val="0A2373"/>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3804818" y="3596335"/>
            <a:ext cx="313822" cy="61813"/>
          </a:xfrm>
          <a:prstGeom prst="line">
            <a:avLst/>
          </a:prstGeom>
          <a:ln w="13970">
            <a:solidFill>
              <a:srgbClr val="0A2373"/>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3852367" y="3513124"/>
            <a:ext cx="266273" cy="83211"/>
          </a:xfrm>
          <a:prstGeom prst="line">
            <a:avLst/>
          </a:prstGeom>
          <a:ln w="13970">
            <a:solidFill>
              <a:srgbClr val="0A2373"/>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118640" y="3596335"/>
            <a:ext cx="183063" cy="285293"/>
          </a:xfrm>
          <a:prstGeom prst="line">
            <a:avLst/>
          </a:prstGeom>
          <a:ln w="13970">
            <a:solidFill>
              <a:srgbClr val="0A2373"/>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01703" y="3881628"/>
            <a:ext cx="465978" cy="237744"/>
          </a:xfrm>
          <a:prstGeom prst="line">
            <a:avLst/>
          </a:prstGeom>
          <a:ln w="13970">
            <a:solidFill>
              <a:srgbClr val="0A2373"/>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67681" y="4119372"/>
            <a:ext cx="38039" cy="11887"/>
          </a:xfrm>
          <a:prstGeom prst="line">
            <a:avLst/>
          </a:prstGeom>
          <a:ln w="13970">
            <a:solidFill>
              <a:srgbClr val="0A2373"/>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4553712" y="4119372"/>
            <a:ext cx="213969" cy="285292"/>
          </a:xfrm>
          <a:prstGeom prst="line">
            <a:avLst/>
          </a:prstGeom>
          <a:ln w="1397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4510552" y="4337730"/>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754526" y="3607856"/>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068348" y="3546043"/>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536374" y="5286329"/>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349459" y="5352897"/>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Diamond 42"/>
          <p:cNvSpPr/>
          <p:nvPr/>
        </p:nvSpPr>
        <p:spPr>
          <a:xfrm>
            <a:off x="3802075" y="3462832"/>
            <a:ext cx="100584" cy="100584"/>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flipH="1" flipV="1">
            <a:off x="3611880" y="2971800"/>
            <a:ext cx="240487" cy="541324"/>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291840" y="2880360"/>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Gauteng</a:t>
            </a:r>
          </a:p>
        </p:txBody>
      </p:sp>
      <p:sp>
        <p:nvSpPr>
          <p:cNvPr id="46" name="Diamond 45"/>
          <p:cNvSpPr/>
          <p:nvPr/>
        </p:nvSpPr>
        <p:spPr>
          <a:xfrm>
            <a:off x="3882908" y="3519891"/>
            <a:ext cx="100584" cy="100584"/>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flipH="1" flipV="1">
            <a:off x="3227832" y="3429000"/>
            <a:ext cx="705368" cy="141183"/>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907792" y="3337560"/>
            <a:ext cx="822959"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Jameson Park</a:t>
            </a:r>
          </a:p>
        </p:txBody>
      </p:sp>
      <p:sp>
        <p:nvSpPr>
          <p:cNvPr id="49" name="Oval 48"/>
          <p:cNvSpPr/>
          <p:nvPr/>
        </p:nvSpPr>
        <p:spPr>
          <a:xfrm>
            <a:off x="5478170" y="2392984"/>
            <a:ext cx="100584" cy="100584"/>
          </a:xfrm>
          <a:prstGeom prst="ellipse">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flipH="1" flipV="1">
            <a:off x="4892040" y="2377440"/>
            <a:ext cx="636422" cy="65836"/>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4572000" y="2286000"/>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Temane</a:t>
            </a:r>
          </a:p>
        </p:txBody>
      </p:sp>
      <p:sp>
        <p:nvSpPr>
          <p:cNvPr id="52" name="Oval 51"/>
          <p:cNvSpPr/>
          <p:nvPr/>
        </p:nvSpPr>
        <p:spPr>
          <a:xfrm>
            <a:off x="4729276" y="3279769"/>
            <a:ext cx="100584" cy="100584"/>
          </a:xfrm>
          <a:prstGeom prst="ellipse">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 name="Connector 52"/>
          <p:cNvCxnSpPr/>
          <p:nvPr/>
        </p:nvCxnSpPr>
        <p:spPr>
          <a:xfrm flipV="1">
            <a:off x="4779568" y="3108960"/>
            <a:ext cx="112472" cy="221101"/>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572000" y="3017520"/>
            <a:ext cx="75438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Komatipoort</a:t>
            </a:r>
          </a:p>
        </p:txBody>
      </p:sp>
      <p:sp>
        <p:nvSpPr>
          <p:cNvPr id="55" name="Oval 54"/>
          <p:cNvSpPr/>
          <p:nvPr/>
        </p:nvSpPr>
        <p:spPr>
          <a:xfrm>
            <a:off x="3754526" y="3607856"/>
            <a:ext cx="100584" cy="100584"/>
          </a:xfrm>
          <a:prstGeom prst="ellipse">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H="1">
            <a:off x="2834640" y="3658148"/>
            <a:ext cx="970178" cy="200620"/>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2514600" y="3767328"/>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Sasolburg</a:t>
            </a:r>
          </a:p>
        </p:txBody>
      </p:sp>
      <p:sp>
        <p:nvSpPr>
          <p:cNvPr id="58" name="Oval 57"/>
          <p:cNvSpPr/>
          <p:nvPr/>
        </p:nvSpPr>
        <p:spPr>
          <a:xfrm>
            <a:off x="4068348" y="3546043"/>
            <a:ext cx="100584" cy="100584"/>
          </a:xfrm>
          <a:prstGeom prst="ellipse">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flipV="1">
            <a:off x="4118640" y="3200400"/>
            <a:ext cx="151608" cy="395935"/>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950208" y="3108960"/>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Secunda</a:t>
            </a:r>
          </a:p>
        </p:txBody>
      </p:sp>
      <p:sp>
        <p:nvSpPr>
          <p:cNvPr id="61" name="Oval 60"/>
          <p:cNvSpPr/>
          <p:nvPr/>
        </p:nvSpPr>
        <p:spPr>
          <a:xfrm>
            <a:off x="4510552" y="4337730"/>
            <a:ext cx="100584" cy="100584"/>
          </a:xfrm>
          <a:prstGeom prst="ellipse">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a:off x="4560844" y="4388022"/>
            <a:ext cx="440924" cy="202266"/>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4681728" y="4498848"/>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Durban</a:t>
            </a:r>
          </a:p>
        </p:txBody>
      </p:sp>
      <p:sp>
        <p:nvSpPr>
          <p:cNvPr id="64" name="Oval 63"/>
          <p:cNvSpPr/>
          <p:nvPr/>
        </p:nvSpPr>
        <p:spPr>
          <a:xfrm>
            <a:off x="1400860" y="5086624"/>
            <a:ext cx="100584" cy="100584"/>
          </a:xfrm>
          <a:prstGeom prst="ellipse">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flipH="1">
            <a:off x="822960" y="5136916"/>
            <a:ext cx="628192" cy="11156"/>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502920" y="5056632"/>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Saldanha</a:t>
            </a:r>
          </a:p>
        </p:txBody>
      </p:sp>
      <p:sp>
        <p:nvSpPr>
          <p:cNvPr id="67" name="Oval 66"/>
          <p:cNvSpPr/>
          <p:nvPr/>
        </p:nvSpPr>
        <p:spPr>
          <a:xfrm>
            <a:off x="1536374" y="5286329"/>
            <a:ext cx="100584" cy="100584"/>
          </a:xfrm>
          <a:prstGeom prst="ellipse">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Connector 67"/>
          <p:cNvCxnSpPr/>
          <p:nvPr/>
        </p:nvCxnSpPr>
        <p:spPr>
          <a:xfrm flipH="1">
            <a:off x="914400" y="5336621"/>
            <a:ext cx="672266" cy="241219"/>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594360" y="5486400"/>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Astron</a:t>
            </a:r>
          </a:p>
        </p:txBody>
      </p:sp>
      <p:sp>
        <p:nvSpPr>
          <p:cNvPr id="70" name="TextBox 69"/>
          <p:cNvSpPr txBox="1"/>
          <p:nvPr/>
        </p:nvSpPr>
        <p:spPr>
          <a:xfrm>
            <a:off x="4389120" y="2688336"/>
            <a:ext cx="777240" cy="182880"/>
          </a:xfrm>
          <a:prstGeom prst="rect">
            <a:avLst/>
          </a:prstGeom>
          <a:noFill/>
        </p:spPr>
        <p:txBody>
          <a:bodyPr wrap="square" lIns="18288" rIns="18288" tIns="0" bIns="0">
            <a:spAutoFit/>
          </a:bodyPr>
          <a:lstStyle/>
          <a:p>
            <a:pPr>
              <a:spcAft>
                <a:spcPts val="800"/>
              </a:spcAft>
              <a:defRPr sz="900" b="1">
                <a:solidFill>
                  <a:srgbClr val="000000"/>
                </a:solidFill>
                <a:latin typeface="Lato"/>
              </a:defRPr>
            </a:pPr>
            <a:r>
              <a:t>ROMPCO</a:t>
            </a:r>
          </a:p>
        </p:txBody>
      </p:sp>
      <p:sp>
        <p:nvSpPr>
          <p:cNvPr id="71" name="TextBox 70"/>
          <p:cNvSpPr txBox="1"/>
          <p:nvPr/>
        </p:nvSpPr>
        <p:spPr>
          <a:xfrm>
            <a:off x="4663440" y="3977639"/>
            <a:ext cx="548640" cy="182880"/>
          </a:xfrm>
          <a:prstGeom prst="rect">
            <a:avLst/>
          </a:prstGeom>
          <a:noFill/>
        </p:spPr>
        <p:txBody>
          <a:bodyPr wrap="square" lIns="18288" rIns="18288" tIns="0" bIns="0">
            <a:spAutoFit/>
          </a:bodyPr>
          <a:lstStyle/>
          <a:p>
            <a:pPr>
              <a:spcAft>
                <a:spcPts val="800"/>
              </a:spcAft>
              <a:defRPr sz="900" b="1">
                <a:solidFill>
                  <a:srgbClr val="000000"/>
                </a:solidFill>
                <a:latin typeface="Lato"/>
              </a:defRPr>
            </a:pPr>
            <a:r>
              <a:t>Lilly</a:t>
            </a:r>
          </a:p>
        </p:txBody>
      </p:sp>
      <p:cxnSp>
        <p:nvCxnSpPr>
          <p:cNvPr id="72" name="Connector 71"/>
          <p:cNvCxnSpPr/>
          <p:nvPr/>
        </p:nvCxnSpPr>
        <p:spPr>
          <a:xfrm>
            <a:off x="6309360" y="2057400"/>
            <a:ext cx="0" cy="3977640"/>
          </a:xfrm>
          <a:prstGeom prst="line">
            <a:avLst/>
          </a:prstGeom>
          <a:ln w="5080">
            <a:solidFill>
              <a:srgbClr val="A0A0A0"/>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92240" y="2103120"/>
            <a:ext cx="4526280" cy="502920"/>
          </a:xfrm>
          <a:prstGeom prst="rect">
            <a:avLst/>
          </a:prstGeom>
          <a:noFill/>
        </p:spPr>
        <p:txBody>
          <a:bodyPr wrap="square" lIns="18288" rIns="18288" tIns="0" bIns="0">
            <a:spAutoFit/>
          </a:bodyPr>
          <a:lstStyle/>
          <a:p>
            <a:pPr>
              <a:spcAft>
                <a:spcPts val="800"/>
              </a:spcAft>
              <a:defRPr sz="1800" b="1">
                <a:solidFill>
                  <a:srgbClr val="000000"/>
                </a:solidFill>
                <a:latin typeface="Lato"/>
              </a:defRPr>
            </a:pPr>
            <a:r>
              <a:t>Connect supply points to inland markets</a:t>
            </a:r>
          </a:p>
        </p:txBody>
      </p:sp>
      <p:sp>
        <p:nvSpPr>
          <p:cNvPr id="74" name="TextBox 73"/>
          <p:cNvSpPr txBox="1"/>
          <p:nvPr/>
        </p:nvSpPr>
        <p:spPr>
          <a:xfrm>
            <a:off x="6492240" y="2788920"/>
            <a:ext cx="4526280" cy="27432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Liquid products</a:t>
            </a:r>
          </a:p>
        </p:txBody>
      </p:sp>
      <p:sp>
        <p:nvSpPr>
          <p:cNvPr id="75" name="TextBox 74"/>
          <p:cNvSpPr txBox="1"/>
          <p:nvPr/>
        </p:nvSpPr>
        <p:spPr>
          <a:xfrm>
            <a:off x="6492240" y="3081527"/>
            <a:ext cx="4526280" cy="484632"/>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Durban–Jameson Park; Sasolburg and Secunda branches; inland depots.</a:t>
            </a:r>
          </a:p>
        </p:txBody>
      </p:sp>
      <p:sp>
        <p:nvSpPr>
          <p:cNvPr id="76" name="TextBox 75"/>
          <p:cNvSpPr txBox="1"/>
          <p:nvPr/>
        </p:nvSpPr>
        <p:spPr>
          <a:xfrm>
            <a:off x="6492240" y="3584448"/>
            <a:ext cx="4526280" cy="27432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Crude</a:t>
            </a:r>
          </a:p>
        </p:txBody>
      </p:sp>
      <p:sp>
        <p:nvSpPr>
          <p:cNvPr id="77" name="TextBox 76"/>
          <p:cNvSpPr txBox="1"/>
          <p:nvPr/>
        </p:nvSpPr>
        <p:spPr>
          <a:xfrm>
            <a:off x="6492240" y="3877056"/>
            <a:ext cx="4526280" cy="484632"/>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Durban–NATREF and Saldanha–Astron supply links.</a:t>
            </a:r>
          </a:p>
        </p:txBody>
      </p:sp>
      <p:sp>
        <p:nvSpPr>
          <p:cNvPr id="78" name="TextBox 77"/>
          <p:cNvSpPr txBox="1"/>
          <p:nvPr/>
        </p:nvSpPr>
        <p:spPr>
          <a:xfrm>
            <a:off x="6492240" y="4379976"/>
            <a:ext cx="4526280" cy="27432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Gas dependencies</a:t>
            </a:r>
          </a:p>
        </p:txBody>
      </p:sp>
      <p:sp>
        <p:nvSpPr>
          <p:cNvPr id="79" name="TextBox 78"/>
          <p:cNvSpPr txBox="1"/>
          <p:nvPr/>
        </p:nvSpPr>
        <p:spPr>
          <a:xfrm>
            <a:off x="6492240" y="4672584"/>
            <a:ext cx="4526280" cy="484632"/>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ROMPCO: Temane–Secunda. Sasolburg/Gauteng connections and Lilly to KwaZulu-Natal.</a:t>
            </a:r>
          </a:p>
        </p:txBody>
      </p:sp>
      <p:sp>
        <p:nvSpPr>
          <p:cNvPr id="80" name="TextBox 79"/>
          <p:cNvSpPr txBox="1"/>
          <p:nvPr/>
        </p:nvSpPr>
        <p:spPr>
          <a:xfrm>
            <a:off x="6492240" y="5175504"/>
            <a:ext cx="4526280" cy="27432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Capacity is a separate input</a:t>
            </a:r>
          </a:p>
        </p:txBody>
      </p:sp>
      <p:sp>
        <p:nvSpPr>
          <p:cNvPr id="81" name="TextBox 80"/>
          <p:cNvSpPr txBox="1"/>
          <p:nvPr/>
        </p:nvSpPr>
        <p:spPr>
          <a:xfrm>
            <a:off x="6492240" y="5468112"/>
            <a:ext cx="4526280" cy="484632"/>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Connectivity does not prove availability, access rights or spare capacity.</a:t>
            </a:r>
          </a:p>
        </p:txBody>
      </p:sp>
      <p:cxnSp>
        <p:nvCxnSpPr>
          <p:cNvPr id="82" name="Connector 81"/>
          <p:cNvCxnSpPr/>
          <p:nvPr/>
        </p:nvCxnSpPr>
        <p:spPr>
          <a:xfrm>
            <a:off x="594360" y="6300216"/>
            <a:ext cx="320040" cy="0"/>
          </a:xfrm>
          <a:prstGeom prst="line">
            <a:avLst/>
          </a:prstGeom>
          <a:ln w="19050">
            <a:solidFill>
              <a:srgbClr val="0A2373"/>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987552" y="6190488"/>
            <a:ext cx="109728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Products</a:t>
            </a:r>
          </a:p>
        </p:txBody>
      </p:sp>
      <p:cxnSp>
        <p:nvCxnSpPr>
          <p:cNvPr id="84" name="Connector 83"/>
          <p:cNvCxnSpPr/>
          <p:nvPr/>
        </p:nvCxnSpPr>
        <p:spPr>
          <a:xfrm>
            <a:off x="2103120" y="6300216"/>
            <a:ext cx="320040" cy="0"/>
          </a:xfrm>
          <a:prstGeom prst="line">
            <a:avLst/>
          </a:prstGeom>
          <a:ln w="1905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2496312" y="6190488"/>
            <a:ext cx="109728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Crude</a:t>
            </a:r>
          </a:p>
        </p:txBody>
      </p:sp>
      <p:cxnSp>
        <p:nvCxnSpPr>
          <p:cNvPr id="86" name="Connector 85"/>
          <p:cNvCxnSpPr/>
          <p:nvPr/>
        </p:nvCxnSpPr>
        <p:spPr>
          <a:xfrm>
            <a:off x="3383280" y="6300216"/>
            <a:ext cx="320040" cy="0"/>
          </a:xfrm>
          <a:prstGeom prst="line">
            <a:avLst/>
          </a:prstGeom>
          <a:ln w="1905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3776472" y="6190488"/>
            <a:ext cx="109728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Gas</a:t>
            </a:r>
          </a:p>
        </p:txBody>
      </p:sp>
      <p:sp>
        <p:nvSpPr>
          <p:cNvPr id="88" name="TextBox 87"/>
          <p:cNvSpPr txBox="1"/>
          <p:nvPr/>
        </p:nvSpPr>
        <p:spPr>
          <a:xfrm>
            <a:off x="6492240" y="6217920"/>
            <a:ext cx="4526280" cy="27432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Same map extent on all seven pages. Connections are schematic; no route-capacity or fuel-service claim.</a:t>
            </a:r>
          </a:p>
        </p:txBody>
      </p:sp>
      <p:sp>
        <p:nvSpPr>
          <p:cNvPr id="89" name="TextBox 88"/>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Transnet Shippers Manual (2024); Astron; ROMPCO; Sasol GNP audit (2024) and Piped Gas Solutions; Transnet Lilly notice. Schematic.</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Locate the ports through which imported fuel enters the system</a:t>
            </a:r>
          </a:p>
        </p:txBody>
      </p:sp>
      <p:sp>
        <p:nvSpPr>
          <p:cNvPr id="3" name="Slide Number Placeholder"/>
          <p:cNvSpPr>
            <a:spLocks noGrp="1"/>
          </p:cNvSpPr>
          <p:nvPr>
            <p:ph type="sldNum" sz="quarter" idx="12"/>
          </p:nvPr>
        </p:nvSpPr>
        <p:spPr/>
        <p:txBody>
          <a:bodyPr/>
          <a:lstStyle/>
          <a:p>
            <a:fld id="{C64A2B04-6ABF-4A67-B85D-A75A681E41CD}"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sp>
        <p:nvSpPr>
          <p:cNvPr id="5" name="Freeform 4"/>
          <p:cNvSpPr/>
          <p:nvPr/>
        </p:nvSpPr>
        <p:spPr>
          <a:xfrm>
            <a:off x="1069568" y="2536309"/>
            <a:ext cx="3919244" cy="3025970"/>
          </a:xfrm>
          <a:custGeom>
            <a:avLst/>
            <a:gdLst/>
            <a:ahLst/>
            <a:cxnLst/>
            <a:rect l="l" t="t" r="r" b="b"/>
            <a:pathLst>
              <a:path w="3919244" h="3025970">
                <a:moveTo>
                  <a:pt x="0" y="1541863"/>
                </a:moveTo>
                <a:lnTo>
                  <a:pt x="113889" y="1424288"/>
                </a:lnTo>
                <a:lnTo>
                  <a:pt x="207777" y="1489378"/>
                </a:lnTo>
                <a:lnTo>
                  <a:pt x="247853" y="1591030"/>
                </a:lnTo>
                <a:lnTo>
                  <a:pt x="354518" y="1608353"/>
                </a:lnTo>
                <a:lnTo>
                  <a:pt x="503998" y="1653307"/>
                </a:lnTo>
                <a:lnTo>
                  <a:pt x="631721" y="1635947"/>
                </a:lnTo>
                <a:lnTo>
                  <a:pt x="843933" y="1514379"/>
                </a:lnTo>
                <a:lnTo>
                  <a:pt x="844179" y="636316"/>
                </a:lnTo>
                <a:lnTo>
                  <a:pt x="908360" y="672018"/>
                </a:lnTo>
                <a:lnTo>
                  <a:pt x="1049314" y="897917"/>
                </a:lnTo>
                <a:lnTo>
                  <a:pt x="1027409" y="1042778"/>
                </a:lnTo>
                <a:lnTo>
                  <a:pt x="1080459" y="1126248"/>
                </a:lnTo>
                <a:lnTo>
                  <a:pt x="1250752" y="1101996"/>
                </a:lnTo>
                <a:lnTo>
                  <a:pt x="1369641" y="995896"/>
                </a:lnTo>
                <a:lnTo>
                  <a:pt x="1482228" y="924380"/>
                </a:lnTo>
                <a:lnTo>
                  <a:pt x="1540413" y="810504"/>
                </a:lnTo>
                <a:lnTo>
                  <a:pt x="1656391" y="755402"/>
                </a:lnTo>
                <a:lnTo>
                  <a:pt x="1756593" y="784273"/>
                </a:lnTo>
                <a:lnTo>
                  <a:pt x="1870163" y="850862"/>
                </a:lnTo>
                <a:lnTo>
                  <a:pt x="2063664" y="862620"/>
                </a:lnTo>
                <a:lnTo>
                  <a:pt x="2215700" y="807260"/>
                </a:lnTo>
                <a:lnTo>
                  <a:pt x="2239756" y="733091"/>
                </a:lnTo>
                <a:lnTo>
                  <a:pt x="2281552" y="619337"/>
                </a:lnTo>
                <a:lnTo>
                  <a:pt x="2410908" y="600307"/>
                </a:lnTo>
                <a:lnTo>
                  <a:pt x="2482387" y="511001"/>
                </a:lnTo>
                <a:lnTo>
                  <a:pt x="2561557" y="352576"/>
                </a:lnTo>
                <a:lnTo>
                  <a:pt x="2775009" y="175084"/>
                </a:lnTo>
                <a:lnTo>
                  <a:pt x="3111406" y="0"/>
                </a:lnTo>
                <a:lnTo>
                  <a:pt x="3208132" y="2592"/>
                </a:lnTo>
                <a:lnTo>
                  <a:pt x="3323163" y="42865"/>
                </a:lnTo>
                <a:lnTo>
                  <a:pt x="3403278" y="14325"/>
                </a:lnTo>
                <a:lnTo>
                  <a:pt x="3529650" y="38085"/>
                </a:lnTo>
                <a:lnTo>
                  <a:pt x="3643527" y="372700"/>
                </a:lnTo>
                <a:lnTo>
                  <a:pt x="3705385" y="541605"/>
                </a:lnTo>
                <a:lnTo>
                  <a:pt x="3663024" y="806658"/>
                </a:lnTo>
                <a:lnTo>
                  <a:pt x="3683320" y="892020"/>
                </a:lnTo>
                <a:lnTo>
                  <a:pt x="3563350" y="848479"/>
                </a:lnTo>
                <a:lnTo>
                  <a:pt x="3494623" y="865421"/>
                </a:lnTo>
                <a:lnTo>
                  <a:pt x="3472177" y="934651"/>
                </a:lnTo>
                <a:lnTo>
                  <a:pt x="3407259" y="1023907"/>
                </a:lnTo>
                <a:lnTo>
                  <a:pt x="3409483" y="1106111"/>
                </a:lnTo>
                <a:lnTo>
                  <a:pt x="3551371" y="1234977"/>
                </a:lnTo>
                <a:lnTo>
                  <a:pt x="3690520" y="1209312"/>
                </a:lnTo>
                <a:lnTo>
                  <a:pt x="3738925" y="1103728"/>
                </a:lnTo>
                <a:lnTo>
                  <a:pt x="3919244" y="1105718"/>
                </a:lnTo>
                <a:lnTo>
                  <a:pt x="3859842" y="1278788"/>
                </a:lnTo>
                <a:lnTo>
                  <a:pt x="3831757" y="1476318"/>
                </a:lnTo>
                <a:lnTo>
                  <a:pt x="3770242" y="1583634"/>
                </a:lnTo>
                <a:lnTo>
                  <a:pt x="3608008" y="1703691"/>
                </a:lnTo>
                <a:lnTo>
                  <a:pt x="3561544" y="1738066"/>
                </a:lnTo>
                <a:lnTo>
                  <a:pt x="3460788" y="1858835"/>
                </a:lnTo>
                <a:lnTo>
                  <a:pt x="3394470" y="1980993"/>
                </a:lnTo>
                <a:lnTo>
                  <a:pt x="3259646" y="2151335"/>
                </a:lnTo>
                <a:lnTo>
                  <a:pt x="2990956" y="2396632"/>
                </a:lnTo>
                <a:lnTo>
                  <a:pt x="2823157" y="2539258"/>
                </a:lnTo>
                <a:lnTo>
                  <a:pt x="2643625" y="2647434"/>
                </a:lnTo>
                <a:lnTo>
                  <a:pt x="2395146" y="2739675"/>
                </a:lnTo>
                <a:lnTo>
                  <a:pt x="2273947" y="2752059"/>
                </a:lnTo>
                <a:lnTo>
                  <a:pt x="2243269" y="2818058"/>
                </a:lnTo>
                <a:lnTo>
                  <a:pt x="2098776" y="2782921"/>
                </a:lnTo>
                <a:lnTo>
                  <a:pt x="1981091" y="2828170"/>
                </a:lnTo>
                <a:lnTo>
                  <a:pt x="1723422" y="2782356"/>
                </a:lnTo>
                <a:lnTo>
                  <a:pt x="1579384" y="2811350"/>
                </a:lnTo>
                <a:lnTo>
                  <a:pt x="1480950" y="2798905"/>
                </a:lnTo>
                <a:lnTo>
                  <a:pt x="1235751" y="2892756"/>
                </a:lnTo>
                <a:lnTo>
                  <a:pt x="1032778" y="2930399"/>
                </a:lnTo>
                <a:lnTo>
                  <a:pt x="885901" y="3020258"/>
                </a:lnTo>
                <a:lnTo>
                  <a:pt x="777762" y="3025970"/>
                </a:lnTo>
                <a:lnTo>
                  <a:pt x="677166" y="2941199"/>
                </a:lnTo>
                <a:lnTo>
                  <a:pt x="596818" y="2936850"/>
                </a:lnTo>
                <a:lnTo>
                  <a:pt x="494428" y="2830713"/>
                </a:lnTo>
                <a:lnTo>
                  <a:pt x="483199" y="2863676"/>
                </a:lnTo>
                <a:lnTo>
                  <a:pt x="451600" y="2799777"/>
                </a:lnTo>
                <a:lnTo>
                  <a:pt x="452927" y="2660383"/>
                </a:lnTo>
                <a:lnTo>
                  <a:pt x="375686" y="2501061"/>
                </a:lnTo>
                <a:lnTo>
                  <a:pt x="452411" y="2457754"/>
                </a:lnTo>
                <a:lnTo>
                  <a:pt x="446194" y="2275286"/>
                </a:lnTo>
                <a:lnTo>
                  <a:pt x="290509" y="2052778"/>
                </a:lnTo>
                <a:lnTo>
                  <a:pt x="171042" y="1851390"/>
                </a:lnTo>
                <a:lnTo>
                  <a:pt x="170686" y="1850751"/>
                </a:lnTo>
                <a:lnTo>
                  <a:pt x="0" y="1541863"/>
                </a:lnTo>
                <a:close/>
              </a:path>
            </a:pathLst>
          </a:custGeom>
          <a:solidFill>
            <a:srgbClr val="CED3E3"/>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3602560" y="4095003"/>
            <a:ext cx="552970" cy="474919"/>
          </a:xfrm>
          <a:custGeom>
            <a:avLst/>
            <a:gdLst/>
            <a:ahLst/>
            <a:cxnLst/>
            <a:rect l="l" t="t" r="r" b="b"/>
            <a:pathLst>
              <a:path w="552970" h="474919">
                <a:moveTo>
                  <a:pt x="470496" y="73248"/>
                </a:moveTo>
                <a:lnTo>
                  <a:pt x="552970" y="144997"/>
                </a:lnTo>
                <a:lnTo>
                  <a:pt x="480042" y="260630"/>
                </a:lnTo>
                <a:lnTo>
                  <a:pt x="439622" y="338203"/>
                </a:lnTo>
                <a:lnTo>
                  <a:pt x="307119" y="375330"/>
                </a:lnTo>
                <a:lnTo>
                  <a:pt x="263407" y="451293"/>
                </a:lnTo>
                <a:lnTo>
                  <a:pt x="178340" y="474919"/>
                </a:lnTo>
                <a:lnTo>
                  <a:pt x="0" y="292057"/>
                </a:lnTo>
                <a:lnTo>
                  <a:pt x="126777" y="141508"/>
                </a:lnTo>
                <a:lnTo>
                  <a:pt x="255593" y="48492"/>
                </a:lnTo>
                <a:lnTo>
                  <a:pt x="366705" y="0"/>
                </a:lnTo>
                <a:lnTo>
                  <a:pt x="470496" y="73248"/>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3577326" y="2039112"/>
            <a:ext cx="1384861" cy="540062"/>
          </a:xfrm>
          <a:custGeom>
            <a:avLst/>
            <a:gdLst/>
            <a:ahLst/>
            <a:cxnLst/>
            <a:rect l="l" t="t" r="r" b="b"/>
            <a:pathLst>
              <a:path w="1384861" h="540062">
                <a:moveTo>
                  <a:pt x="1021892" y="535282"/>
                </a:moveTo>
                <a:lnTo>
                  <a:pt x="895520" y="511522"/>
                </a:lnTo>
                <a:lnTo>
                  <a:pt x="815405" y="540062"/>
                </a:lnTo>
                <a:lnTo>
                  <a:pt x="700374" y="499789"/>
                </a:lnTo>
                <a:lnTo>
                  <a:pt x="603648" y="497197"/>
                </a:lnTo>
                <a:lnTo>
                  <a:pt x="452078" y="389770"/>
                </a:lnTo>
                <a:lnTo>
                  <a:pt x="268234" y="353281"/>
                </a:lnTo>
                <a:lnTo>
                  <a:pt x="198304" y="202510"/>
                </a:lnTo>
                <a:lnTo>
                  <a:pt x="197714" y="118648"/>
                </a:lnTo>
                <a:lnTo>
                  <a:pt x="95902" y="93081"/>
                </a:lnTo>
                <a:lnTo>
                  <a:pt x="0" y="0"/>
                </a:lnTo>
                <a:lnTo>
                  <a:pt x="1384861" y="0"/>
                </a:lnTo>
                <a:lnTo>
                  <a:pt x="1370979" y="72343"/>
                </a:lnTo>
                <a:lnTo>
                  <a:pt x="1335068" y="93978"/>
                </a:lnTo>
                <a:lnTo>
                  <a:pt x="1272374" y="265438"/>
                </a:lnTo>
                <a:lnTo>
                  <a:pt x="1021892" y="535282"/>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913673" y="2039112"/>
            <a:ext cx="2267301" cy="1623445"/>
          </a:xfrm>
          <a:custGeom>
            <a:avLst/>
            <a:gdLst/>
            <a:ahLst/>
            <a:cxnLst/>
            <a:rect l="l" t="t" r="r" b="b"/>
            <a:pathLst>
              <a:path w="2267301" h="1623445">
                <a:moveTo>
                  <a:pt x="2267301" y="497197"/>
                </a:moveTo>
                <a:lnTo>
                  <a:pt x="1930904" y="672281"/>
                </a:lnTo>
                <a:lnTo>
                  <a:pt x="1717452" y="849773"/>
                </a:lnTo>
                <a:lnTo>
                  <a:pt x="1638282" y="1008198"/>
                </a:lnTo>
                <a:lnTo>
                  <a:pt x="1566803" y="1097504"/>
                </a:lnTo>
                <a:lnTo>
                  <a:pt x="1437447" y="1116534"/>
                </a:lnTo>
                <a:lnTo>
                  <a:pt x="1395651" y="1230288"/>
                </a:lnTo>
                <a:lnTo>
                  <a:pt x="1371595" y="1304457"/>
                </a:lnTo>
                <a:lnTo>
                  <a:pt x="1219559" y="1359817"/>
                </a:lnTo>
                <a:lnTo>
                  <a:pt x="1026058" y="1348059"/>
                </a:lnTo>
                <a:lnTo>
                  <a:pt x="912488" y="1281470"/>
                </a:lnTo>
                <a:lnTo>
                  <a:pt x="812286" y="1252599"/>
                </a:lnTo>
                <a:lnTo>
                  <a:pt x="696308" y="1307701"/>
                </a:lnTo>
                <a:lnTo>
                  <a:pt x="638123" y="1421577"/>
                </a:lnTo>
                <a:lnTo>
                  <a:pt x="525536" y="1493093"/>
                </a:lnTo>
                <a:lnTo>
                  <a:pt x="406647" y="1599193"/>
                </a:lnTo>
                <a:lnTo>
                  <a:pt x="236354" y="1623445"/>
                </a:lnTo>
                <a:lnTo>
                  <a:pt x="183304" y="1539975"/>
                </a:lnTo>
                <a:lnTo>
                  <a:pt x="205209" y="1395114"/>
                </a:lnTo>
                <a:lnTo>
                  <a:pt x="64255" y="1169215"/>
                </a:lnTo>
                <a:lnTo>
                  <a:pt x="74" y="1133513"/>
                </a:lnTo>
                <a:lnTo>
                  <a:pt x="0" y="439625"/>
                </a:lnTo>
                <a:lnTo>
                  <a:pt x="234339" y="431345"/>
                </a:lnTo>
                <a:lnTo>
                  <a:pt x="237912" y="0"/>
                </a:lnTo>
                <a:lnTo>
                  <a:pt x="1663653" y="0"/>
                </a:lnTo>
                <a:lnTo>
                  <a:pt x="1759555" y="93081"/>
                </a:lnTo>
                <a:lnTo>
                  <a:pt x="1861367" y="118648"/>
                </a:lnTo>
                <a:lnTo>
                  <a:pt x="1861957" y="202510"/>
                </a:lnTo>
                <a:lnTo>
                  <a:pt x="1931887" y="353281"/>
                </a:lnTo>
                <a:lnTo>
                  <a:pt x="2115731" y="389770"/>
                </a:lnTo>
                <a:lnTo>
                  <a:pt x="2267301" y="497197"/>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749808" y="2039112"/>
            <a:ext cx="1401777" cy="2150504"/>
          </a:xfrm>
          <a:custGeom>
            <a:avLst/>
            <a:gdLst/>
            <a:ahLst/>
            <a:cxnLst/>
            <a:rect l="l" t="t" r="r" b="b"/>
            <a:pathLst>
              <a:path w="1401777" h="2150504">
                <a:moveTo>
                  <a:pt x="1163939" y="1133513"/>
                </a:moveTo>
                <a:lnTo>
                  <a:pt x="1163693" y="2011576"/>
                </a:lnTo>
                <a:lnTo>
                  <a:pt x="951481" y="2133144"/>
                </a:lnTo>
                <a:lnTo>
                  <a:pt x="823758" y="2150504"/>
                </a:lnTo>
                <a:lnTo>
                  <a:pt x="674278" y="2105550"/>
                </a:lnTo>
                <a:lnTo>
                  <a:pt x="567613" y="2088227"/>
                </a:lnTo>
                <a:lnTo>
                  <a:pt x="527537" y="1986575"/>
                </a:lnTo>
                <a:lnTo>
                  <a:pt x="433649" y="1921485"/>
                </a:lnTo>
                <a:lnTo>
                  <a:pt x="319760" y="2039060"/>
                </a:lnTo>
                <a:lnTo>
                  <a:pt x="143078" y="1859454"/>
                </a:lnTo>
                <a:lnTo>
                  <a:pt x="50038" y="1685832"/>
                </a:lnTo>
                <a:lnTo>
                  <a:pt x="0" y="1465156"/>
                </a:lnTo>
                <a:lnTo>
                  <a:pt x="0" y="0"/>
                </a:lnTo>
                <a:lnTo>
                  <a:pt x="1401777" y="0"/>
                </a:lnTo>
                <a:lnTo>
                  <a:pt x="1398204" y="431345"/>
                </a:lnTo>
                <a:lnTo>
                  <a:pt x="1163865" y="439625"/>
                </a:lnTo>
                <a:lnTo>
                  <a:pt x="1163939" y="1133513"/>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599218" y="2039112"/>
            <a:ext cx="1049892" cy="1602915"/>
          </a:xfrm>
          <a:custGeom>
            <a:avLst/>
            <a:gdLst/>
            <a:ahLst/>
            <a:cxnLst/>
            <a:rect l="l" t="t" r="r" b="b"/>
            <a:pathLst>
              <a:path w="1049892" h="1602915">
                <a:moveTo>
                  <a:pt x="848599" y="0"/>
                </a:moveTo>
                <a:lnTo>
                  <a:pt x="834596" y="118168"/>
                </a:lnTo>
                <a:lnTo>
                  <a:pt x="947343" y="298216"/>
                </a:lnTo>
                <a:lnTo>
                  <a:pt x="994250" y="437647"/>
                </a:lnTo>
                <a:lnTo>
                  <a:pt x="997203" y="508772"/>
                </a:lnTo>
                <a:lnTo>
                  <a:pt x="1039211" y="496884"/>
                </a:lnTo>
                <a:lnTo>
                  <a:pt x="1032409" y="730061"/>
                </a:lnTo>
                <a:lnTo>
                  <a:pt x="993857" y="840510"/>
                </a:lnTo>
                <a:lnTo>
                  <a:pt x="1049892" y="881213"/>
                </a:lnTo>
                <a:lnTo>
                  <a:pt x="1014534" y="980125"/>
                </a:lnTo>
                <a:lnTo>
                  <a:pt x="915154" y="1064701"/>
                </a:lnTo>
                <a:lnTo>
                  <a:pt x="719036" y="1145049"/>
                </a:lnTo>
                <a:lnTo>
                  <a:pt x="433122" y="1273730"/>
                </a:lnTo>
                <a:lnTo>
                  <a:pt x="328853" y="1361635"/>
                </a:lnTo>
                <a:lnTo>
                  <a:pt x="349235" y="1461788"/>
                </a:lnTo>
                <a:lnTo>
                  <a:pt x="410000" y="1477785"/>
                </a:lnTo>
                <a:lnTo>
                  <a:pt x="389594" y="1602915"/>
                </a:lnTo>
                <a:lnTo>
                  <a:pt x="209275" y="1600925"/>
                </a:lnTo>
                <a:lnTo>
                  <a:pt x="188857" y="1495832"/>
                </a:lnTo>
                <a:lnTo>
                  <a:pt x="153670" y="1389217"/>
                </a:lnTo>
                <a:lnTo>
                  <a:pt x="133374" y="1303855"/>
                </a:lnTo>
                <a:lnTo>
                  <a:pt x="175735" y="1038802"/>
                </a:lnTo>
                <a:lnTo>
                  <a:pt x="113877" y="869897"/>
                </a:lnTo>
                <a:lnTo>
                  <a:pt x="0" y="535282"/>
                </a:lnTo>
                <a:lnTo>
                  <a:pt x="250482" y="265438"/>
                </a:lnTo>
                <a:lnTo>
                  <a:pt x="313176" y="93978"/>
                </a:lnTo>
                <a:lnTo>
                  <a:pt x="349087" y="72343"/>
                </a:lnTo>
                <a:lnTo>
                  <a:pt x="362969" y="0"/>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476827" y="3384788"/>
            <a:ext cx="331666" cy="386498"/>
          </a:xfrm>
          <a:custGeom>
            <a:avLst/>
            <a:gdLst/>
            <a:ahLst/>
            <a:cxnLst/>
            <a:rect l="l" t="t" r="r" b="b"/>
            <a:pathLst>
              <a:path w="331666" h="386498">
                <a:moveTo>
                  <a:pt x="331666" y="255249"/>
                </a:moveTo>
                <a:lnTo>
                  <a:pt x="283261" y="360833"/>
                </a:lnTo>
                <a:lnTo>
                  <a:pt x="144112" y="386498"/>
                </a:lnTo>
                <a:lnTo>
                  <a:pt x="2224" y="257632"/>
                </a:lnTo>
                <a:lnTo>
                  <a:pt x="0" y="175428"/>
                </a:lnTo>
                <a:lnTo>
                  <a:pt x="64918" y="86172"/>
                </a:lnTo>
                <a:lnTo>
                  <a:pt x="87364" y="16942"/>
                </a:lnTo>
                <a:lnTo>
                  <a:pt x="156091" y="0"/>
                </a:lnTo>
                <a:lnTo>
                  <a:pt x="276061" y="43541"/>
                </a:lnTo>
                <a:lnTo>
                  <a:pt x="311248" y="150156"/>
                </a:lnTo>
                <a:lnTo>
                  <a:pt x="331666" y="255249"/>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1 Production</a:t>
            </a:r>
          </a:p>
        </p:txBody>
      </p:sp>
      <p:sp>
        <p:nvSpPr>
          <p:cNvPr id="13" name="TextBox 12"/>
          <p:cNvSpPr txBox="1"/>
          <p:nvPr/>
        </p:nvSpPr>
        <p:spPr>
          <a:xfrm>
            <a:off x="2075688"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2 Pipelines</a:t>
            </a:r>
          </a:p>
        </p:txBody>
      </p:sp>
      <p:sp>
        <p:nvSpPr>
          <p:cNvPr id="14" name="TextBox 13"/>
          <p:cNvSpPr txBox="1"/>
          <p:nvPr/>
        </p:nvSpPr>
        <p:spPr>
          <a:xfrm>
            <a:off x="3602736" y="1673352"/>
            <a:ext cx="1481328" cy="274320"/>
          </a:xfrm>
          <a:prstGeom prst="rect">
            <a:avLst/>
          </a:prstGeom>
          <a:noFill/>
        </p:spPr>
        <p:txBody>
          <a:bodyPr wrap="square" lIns="18288" rIns="18288" tIns="0" bIns="0">
            <a:spAutoFit/>
          </a:bodyPr>
          <a:lstStyle/>
          <a:p>
            <a:pPr>
              <a:spcAft>
                <a:spcPts val="800"/>
              </a:spcAft>
              <a:defRPr sz="1050" b="1">
                <a:solidFill>
                  <a:srgbClr val="0A2373"/>
                </a:solidFill>
                <a:latin typeface="Lato"/>
              </a:defRPr>
            </a:pPr>
            <a:r>
              <a:t>3 Ports</a:t>
            </a:r>
          </a:p>
        </p:txBody>
      </p:sp>
      <p:sp>
        <p:nvSpPr>
          <p:cNvPr id="15" name="TextBox 14"/>
          <p:cNvSpPr txBox="1"/>
          <p:nvPr/>
        </p:nvSpPr>
        <p:spPr>
          <a:xfrm>
            <a:off x="5129783"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4 Roads</a:t>
            </a:r>
          </a:p>
        </p:txBody>
      </p:sp>
      <p:sp>
        <p:nvSpPr>
          <p:cNvPr id="16" name="TextBox 15"/>
          <p:cNvSpPr txBox="1"/>
          <p:nvPr/>
        </p:nvSpPr>
        <p:spPr>
          <a:xfrm>
            <a:off x="6656831"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5 Rail</a:t>
            </a:r>
          </a:p>
        </p:txBody>
      </p:sp>
      <p:sp>
        <p:nvSpPr>
          <p:cNvPr id="17" name="TextBox 16"/>
          <p:cNvSpPr txBox="1"/>
          <p:nvPr/>
        </p:nvSpPr>
        <p:spPr>
          <a:xfrm>
            <a:off x="8183879"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6 Storage</a:t>
            </a:r>
          </a:p>
        </p:txBody>
      </p:sp>
      <p:sp>
        <p:nvSpPr>
          <p:cNvPr id="18" name="TextBox 17"/>
          <p:cNvSpPr txBox="1"/>
          <p:nvPr/>
        </p:nvSpPr>
        <p:spPr>
          <a:xfrm>
            <a:off x="9710928"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7 Corridors</a:t>
            </a:r>
          </a:p>
        </p:txBody>
      </p:sp>
      <p:cxnSp>
        <p:nvCxnSpPr>
          <p:cNvPr id="19" name="Connector 18"/>
          <p:cNvCxnSpPr/>
          <p:nvPr/>
        </p:nvCxnSpPr>
        <p:spPr>
          <a:xfrm flipH="1" flipV="1">
            <a:off x="3933200" y="3570183"/>
            <a:ext cx="627644" cy="817839"/>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3804818" y="3570183"/>
            <a:ext cx="128382" cy="87965"/>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3521903" y="3658148"/>
            <a:ext cx="282915" cy="9510"/>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933200" y="3570183"/>
            <a:ext cx="185440" cy="26152"/>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4073469" y="3484595"/>
            <a:ext cx="45171" cy="111740"/>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3916558" y="3396630"/>
            <a:ext cx="156911" cy="87965"/>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3871386" y="3541654"/>
            <a:ext cx="61814" cy="28529"/>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3840480" y="3513124"/>
            <a:ext cx="30906" cy="28530"/>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4006900" y="4059935"/>
            <a:ext cx="553944" cy="328087"/>
          </a:xfrm>
          <a:prstGeom prst="line">
            <a:avLst/>
          </a:prstGeom>
          <a:ln w="8255">
            <a:solidFill>
              <a:srgbClr val="A0A0A0"/>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3804818" y="3658148"/>
            <a:ext cx="202082" cy="401787"/>
          </a:xfrm>
          <a:prstGeom prst="line">
            <a:avLst/>
          </a:prstGeom>
          <a:ln w="8255">
            <a:solidFill>
              <a:srgbClr val="A0A0A0"/>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451152" y="5136916"/>
            <a:ext cx="135514" cy="199705"/>
          </a:xfrm>
          <a:prstGeom prst="line">
            <a:avLst/>
          </a:prstGeom>
          <a:ln w="8255">
            <a:solidFill>
              <a:srgbClr val="A0A0A0"/>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4779568" y="2443276"/>
            <a:ext cx="748894" cy="886785"/>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4118640" y="3330061"/>
            <a:ext cx="660928" cy="266274"/>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3804818" y="3596335"/>
            <a:ext cx="313822" cy="61813"/>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3852367" y="3513124"/>
            <a:ext cx="266273" cy="83211"/>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118640" y="3596335"/>
            <a:ext cx="183063" cy="285293"/>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01703" y="3881628"/>
            <a:ext cx="465978" cy="237744"/>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67681" y="4119372"/>
            <a:ext cx="38039" cy="11887"/>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4553712" y="4119372"/>
            <a:ext cx="213969" cy="285292"/>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4510552" y="4337730"/>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754526" y="3607856"/>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068348" y="3546043"/>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536374" y="5286329"/>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349459" y="5352897"/>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144097" y="4187952"/>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flipH="1" flipV="1">
            <a:off x="822960" y="4133087"/>
            <a:ext cx="371429" cy="105157"/>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02920" y="4041648"/>
            <a:ext cx="89154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Port Nolloth*</a:t>
            </a:r>
          </a:p>
        </p:txBody>
      </p:sp>
      <p:sp>
        <p:nvSpPr>
          <p:cNvPr id="46" name="Rectangle 45"/>
          <p:cNvSpPr/>
          <p:nvPr/>
        </p:nvSpPr>
        <p:spPr>
          <a:xfrm>
            <a:off x="1400860" y="5086624"/>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flipH="1" flipV="1">
            <a:off x="777240" y="5120640"/>
            <a:ext cx="673912" cy="16276"/>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457200" y="5029200"/>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Saldanha</a:t>
            </a:r>
          </a:p>
        </p:txBody>
      </p:sp>
      <p:sp>
        <p:nvSpPr>
          <p:cNvPr id="49" name="Rectangle 48"/>
          <p:cNvSpPr/>
          <p:nvPr/>
        </p:nvSpPr>
        <p:spPr>
          <a:xfrm>
            <a:off x="1514977" y="5295839"/>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flipH="1">
            <a:off x="886968" y="5346131"/>
            <a:ext cx="678301" cy="249996"/>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66928" y="5504688"/>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Cape Town</a:t>
            </a:r>
          </a:p>
        </p:txBody>
      </p:sp>
      <p:sp>
        <p:nvSpPr>
          <p:cNvPr id="52" name="Rectangle 51"/>
          <p:cNvSpPr/>
          <p:nvPr/>
        </p:nvSpPr>
        <p:spPr>
          <a:xfrm>
            <a:off x="2397008" y="5360029"/>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 name="Connector 52"/>
          <p:cNvCxnSpPr/>
          <p:nvPr/>
        </p:nvCxnSpPr>
        <p:spPr>
          <a:xfrm flipH="1">
            <a:off x="2331720" y="5410321"/>
            <a:ext cx="115580" cy="414406"/>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2011680" y="5733288"/>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Mossel Bay</a:t>
            </a:r>
          </a:p>
        </p:txBody>
      </p:sp>
      <p:sp>
        <p:nvSpPr>
          <p:cNvPr id="55" name="Rectangle 54"/>
          <p:cNvSpPr/>
          <p:nvPr/>
        </p:nvSpPr>
        <p:spPr>
          <a:xfrm>
            <a:off x="3226734" y="5307726"/>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a:off x="3277026" y="5358018"/>
            <a:ext cx="444582" cy="448422"/>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3401568" y="5715000"/>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Gqeberha</a:t>
            </a:r>
          </a:p>
        </p:txBody>
      </p:sp>
      <p:sp>
        <p:nvSpPr>
          <p:cNvPr id="58" name="Rectangle 57"/>
          <p:cNvSpPr/>
          <p:nvPr/>
        </p:nvSpPr>
        <p:spPr>
          <a:xfrm>
            <a:off x="3240999" y="5269687"/>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a:off x="3291291" y="5319979"/>
            <a:ext cx="1143549" cy="102413"/>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4114800" y="5330952"/>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Ngqura</a:t>
            </a:r>
          </a:p>
        </p:txBody>
      </p:sp>
      <p:sp>
        <p:nvSpPr>
          <p:cNvPr id="61" name="Rectangle 60"/>
          <p:cNvSpPr/>
          <p:nvPr/>
        </p:nvSpPr>
        <p:spPr>
          <a:xfrm>
            <a:off x="3768791" y="5086624"/>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a:off x="3819083" y="5136916"/>
            <a:ext cx="1100389" cy="75163"/>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4599432" y="5120640"/>
            <a:ext cx="75438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East London</a:t>
            </a:r>
          </a:p>
        </p:txBody>
      </p:sp>
      <p:sp>
        <p:nvSpPr>
          <p:cNvPr id="64" name="Rectangle 63"/>
          <p:cNvSpPr/>
          <p:nvPr/>
        </p:nvSpPr>
        <p:spPr>
          <a:xfrm>
            <a:off x="4510552" y="433773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4560844" y="4388022"/>
            <a:ext cx="468356" cy="65105"/>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4709160" y="4361688"/>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Durban</a:t>
            </a:r>
          </a:p>
        </p:txBody>
      </p:sp>
      <p:sp>
        <p:nvSpPr>
          <p:cNvPr id="67" name="Rectangle 66"/>
          <p:cNvSpPr/>
          <p:nvPr/>
        </p:nvSpPr>
        <p:spPr>
          <a:xfrm>
            <a:off x="4755428" y="4080967"/>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Connector 67"/>
          <p:cNvCxnSpPr/>
          <p:nvPr/>
        </p:nvCxnSpPr>
        <p:spPr>
          <a:xfrm flipV="1">
            <a:off x="4805720" y="3867911"/>
            <a:ext cx="159472" cy="263348"/>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645152" y="3776472"/>
            <a:ext cx="822959"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Richards Bay</a:t>
            </a:r>
          </a:p>
        </p:txBody>
      </p:sp>
      <p:sp>
        <p:nvSpPr>
          <p:cNvPr id="70" name="Diamond 69"/>
          <p:cNvSpPr/>
          <p:nvPr/>
        </p:nvSpPr>
        <p:spPr>
          <a:xfrm>
            <a:off x="3802075" y="3462832"/>
            <a:ext cx="100584" cy="100584"/>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Diamond 70"/>
          <p:cNvSpPr/>
          <p:nvPr/>
        </p:nvSpPr>
        <p:spPr>
          <a:xfrm>
            <a:off x="3882908" y="3519891"/>
            <a:ext cx="100584" cy="100584"/>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Connector 71"/>
          <p:cNvCxnSpPr/>
          <p:nvPr/>
        </p:nvCxnSpPr>
        <p:spPr>
          <a:xfrm>
            <a:off x="6309360" y="2057400"/>
            <a:ext cx="0" cy="3977640"/>
          </a:xfrm>
          <a:prstGeom prst="line">
            <a:avLst/>
          </a:prstGeom>
          <a:ln w="5080">
            <a:solidFill>
              <a:srgbClr val="A0A0A0"/>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92240" y="2103120"/>
            <a:ext cx="4526280" cy="502920"/>
          </a:xfrm>
          <a:prstGeom prst="rect">
            <a:avLst/>
          </a:prstGeom>
          <a:noFill/>
        </p:spPr>
        <p:txBody>
          <a:bodyPr wrap="square" lIns="18288" rIns="18288" tIns="0" bIns="0">
            <a:spAutoFit/>
          </a:bodyPr>
          <a:lstStyle/>
          <a:p>
            <a:pPr>
              <a:spcAft>
                <a:spcPts val="800"/>
              </a:spcAft>
              <a:defRPr sz="1800" b="1">
                <a:solidFill>
                  <a:srgbClr val="000000"/>
                </a:solidFill>
                <a:latin typeface="Lato"/>
              </a:defRPr>
            </a:pPr>
            <a:r>
              <a:t>Add the coastal import entry points</a:t>
            </a:r>
          </a:p>
        </p:txBody>
      </p:sp>
      <p:sp>
        <p:nvSpPr>
          <p:cNvPr id="74" name="TextBox 73"/>
          <p:cNvSpPr txBox="1"/>
          <p:nvPr/>
        </p:nvSpPr>
        <p:spPr>
          <a:xfrm>
            <a:off x="6492240" y="2788920"/>
            <a:ext cx="4526280" cy="27432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Eight commercial ports</a:t>
            </a:r>
          </a:p>
        </p:txBody>
      </p:sp>
      <p:sp>
        <p:nvSpPr>
          <p:cNvPr id="75" name="TextBox 74"/>
          <p:cNvSpPr txBox="1"/>
          <p:nvPr/>
        </p:nvSpPr>
        <p:spPr>
          <a:xfrm>
            <a:off x="6492240" y="3081527"/>
            <a:ext cx="4526280" cy="484632"/>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Saldanha, Cape Town, Mossel Bay, Gqeberha, Ngqura, East London, Durban and Richards Bay.</a:t>
            </a:r>
          </a:p>
        </p:txBody>
      </p:sp>
      <p:sp>
        <p:nvSpPr>
          <p:cNvPr id="76" name="TextBox 75"/>
          <p:cNvSpPr txBox="1"/>
          <p:nvPr/>
        </p:nvSpPr>
        <p:spPr>
          <a:xfrm>
            <a:off x="6492240" y="3584448"/>
            <a:ext cx="4526280" cy="27432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Port Nolloth shown separately</a:t>
            </a:r>
          </a:p>
        </p:txBody>
      </p:sp>
      <p:sp>
        <p:nvSpPr>
          <p:cNvPr id="77" name="TextBox 76"/>
          <p:cNvSpPr txBox="1"/>
          <p:nvPr/>
        </p:nvSpPr>
        <p:spPr>
          <a:xfrm>
            <a:off x="6492240" y="3877056"/>
            <a:ext cx="4526280" cy="484632"/>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Non-commercial port; inclusion does not imply fuel import service.</a:t>
            </a:r>
          </a:p>
        </p:txBody>
      </p:sp>
      <p:sp>
        <p:nvSpPr>
          <p:cNvPr id="78" name="TextBox 77"/>
          <p:cNvSpPr txBox="1"/>
          <p:nvPr/>
        </p:nvSpPr>
        <p:spPr>
          <a:xfrm>
            <a:off x="6492240" y="4379976"/>
            <a:ext cx="4526280" cy="27432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Test handling capability</a:t>
            </a:r>
          </a:p>
        </p:txBody>
      </p:sp>
      <p:sp>
        <p:nvSpPr>
          <p:cNvPr id="79" name="TextBox 78"/>
          <p:cNvSpPr txBox="1"/>
          <p:nvPr/>
        </p:nvSpPr>
        <p:spPr>
          <a:xfrm>
            <a:off x="6492240" y="4672584"/>
            <a:ext cx="4526280" cy="484632"/>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Berths, draft, product compatibility, receipt rates, storage connections and access.</a:t>
            </a:r>
          </a:p>
        </p:txBody>
      </p:sp>
      <p:sp>
        <p:nvSpPr>
          <p:cNvPr id="80" name="TextBox 79"/>
          <p:cNvSpPr txBox="1"/>
          <p:nvPr/>
        </p:nvSpPr>
        <p:spPr>
          <a:xfrm>
            <a:off x="6492240" y="5175504"/>
            <a:ext cx="4526280" cy="27432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Allocate imports explicitly</a:t>
            </a:r>
          </a:p>
        </p:txBody>
      </p:sp>
      <p:sp>
        <p:nvSpPr>
          <p:cNvPr id="81" name="TextBox 80"/>
          <p:cNvSpPr txBox="1"/>
          <p:nvPr/>
        </p:nvSpPr>
        <p:spPr>
          <a:xfrm>
            <a:off x="6492240" y="5468112"/>
            <a:ext cx="4526280" cy="484632"/>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National import requirements are not yet assigned to ports.</a:t>
            </a:r>
          </a:p>
        </p:txBody>
      </p:sp>
      <p:cxnSp>
        <p:nvCxnSpPr>
          <p:cNvPr id="82" name="Connector 81"/>
          <p:cNvCxnSpPr/>
          <p:nvPr/>
        </p:nvCxnSpPr>
        <p:spPr>
          <a:xfrm>
            <a:off x="594360" y="6300216"/>
            <a:ext cx="320040" cy="0"/>
          </a:xfrm>
          <a:prstGeom prst="line">
            <a:avLst/>
          </a:prstGeom>
          <a:ln w="17780">
            <a:solidFill>
              <a:srgbClr val="A0A0A0"/>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987552" y="6190488"/>
            <a:ext cx="109728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Pipelines</a:t>
            </a:r>
          </a:p>
        </p:txBody>
      </p:sp>
      <p:sp>
        <p:nvSpPr>
          <p:cNvPr id="84" name="TextBox 83"/>
          <p:cNvSpPr txBox="1"/>
          <p:nvPr/>
        </p:nvSpPr>
        <p:spPr>
          <a:xfrm>
            <a:off x="2103120" y="6190488"/>
            <a:ext cx="365760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Squares: ports; circles: production</a:t>
            </a:r>
          </a:p>
        </p:txBody>
      </p:sp>
      <p:sp>
        <p:nvSpPr>
          <p:cNvPr id="85" name="TextBox 84"/>
          <p:cNvSpPr txBox="1"/>
          <p:nvPr/>
        </p:nvSpPr>
        <p:spPr>
          <a:xfrm>
            <a:off x="6492240" y="6217920"/>
            <a:ext cx="4526280" cy="27432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Same map extent on all seven pages. Connections are schematic; no route-capacity or fuel-service claim.</a:t>
            </a:r>
          </a:p>
        </p:txBody>
      </p:sp>
      <p:sp>
        <p:nvSpPr>
          <p:cNvPr id="86" name="TextBox 85"/>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TNPA port inventory and existing sources; Natural Earth. Schematic locations; fuel handling to validate.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Add road connections to inland markets and border crossings</a:t>
            </a:r>
          </a:p>
        </p:txBody>
      </p:sp>
      <p:sp>
        <p:nvSpPr>
          <p:cNvPr id="3" name="Slide Number Placeholder"/>
          <p:cNvSpPr>
            <a:spLocks noGrp="1"/>
          </p:cNvSpPr>
          <p:nvPr>
            <p:ph type="sldNum" sz="quarter" idx="12"/>
          </p:nvPr>
        </p:nvSpPr>
        <p:spPr/>
        <p:txBody>
          <a:bodyPr/>
          <a:lstStyle/>
          <a:p>
            <a:fld id="{4F2E96A9-4FF7-4D73-A90C-B6238E902456}"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sp>
        <p:nvSpPr>
          <p:cNvPr id="5" name="Freeform 4"/>
          <p:cNvSpPr/>
          <p:nvPr/>
        </p:nvSpPr>
        <p:spPr>
          <a:xfrm>
            <a:off x="1069568" y="2536309"/>
            <a:ext cx="3919244" cy="3025970"/>
          </a:xfrm>
          <a:custGeom>
            <a:avLst/>
            <a:gdLst/>
            <a:ahLst/>
            <a:cxnLst/>
            <a:rect l="l" t="t" r="r" b="b"/>
            <a:pathLst>
              <a:path w="3919244" h="3025970">
                <a:moveTo>
                  <a:pt x="0" y="1541863"/>
                </a:moveTo>
                <a:lnTo>
                  <a:pt x="113889" y="1424288"/>
                </a:lnTo>
                <a:lnTo>
                  <a:pt x="207777" y="1489378"/>
                </a:lnTo>
                <a:lnTo>
                  <a:pt x="247853" y="1591030"/>
                </a:lnTo>
                <a:lnTo>
                  <a:pt x="354518" y="1608353"/>
                </a:lnTo>
                <a:lnTo>
                  <a:pt x="503998" y="1653307"/>
                </a:lnTo>
                <a:lnTo>
                  <a:pt x="631721" y="1635947"/>
                </a:lnTo>
                <a:lnTo>
                  <a:pt x="843933" y="1514379"/>
                </a:lnTo>
                <a:lnTo>
                  <a:pt x="844179" y="636316"/>
                </a:lnTo>
                <a:lnTo>
                  <a:pt x="908360" y="672018"/>
                </a:lnTo>
                <a:lnTo>
                  <a:pt x="1049314" y="897917"/>
                </a:lnTo>
                <a:lnTo>
                  <a:pt x="1027409" y="1042778"/>
                </a:lnTo>
                <a:lnTo>
                  <a:pt x="1080459" y="1126248"/>
                </a:lnTo>
                <a:lnTo>
                  <a:pt x="1250752" y="1101996"/>
                </a:lnTo>
                <a:lnTo>
                  <a:pt x="1369641" y="995896"/>
                </a:lnTo>
                <a:lnTo>
                  <a:pt x="1482228" y="924380"/>
                </a:lnTo>
                <a:lnTo>
                  <a:pt x="1540413" y="810504"/>
                </a:lnTo>
                <a:lnTo>
                  <a:pt x="1656391" y="755402"/>
                </a:lnTo>
                <a:lnTo>
                  <a:pt x="1756593" y="784273"/>
                </a:lnTo>
                <a:lnTo>
                  <a:pt x="1870163" y="850862"/>
                </a:lnTo>
                <a:lnTo>
                  <a:pt x="2063664" y="862620"/>
                </a:lnTo>
                <a:lnTo>
                  <a:pt x="2215700" y="807260"/>
                </a:lnTo>
                <a:lnTo>
                  <a:pt x="2239756" y="733091"/>
                </a:lnTo>
                <a:lnTo>
                  <a:pt x="2281552" y="619337"/>
                </a:lnTo>
                <a:lnTo>
                  <a:pt x="2410908" y="600307"/>
                </a:lnTo>
                <a:lnTo>
                  <a:pt x="2482387" y="511001"/>
                </a:lnTo>
                <a:lnTo>
                  <a:pt x="2561557" y="352576"/>
                </a:lnTo>
                <a:lnTo>
                  <a:pt x="2775009" y="175084"/>
                </a:lnTo>
                <a:lnTo>
                  <a:pt x="3111406" y="0"/>
                </a:lnTo>
                <a:lnTo>
                  <a:pt x="3208132" y="2592"/>
                </a:lnTo>
                <a:lnTo>
                  <a:pt x="3323163" y="42865"/>
                </a:lnTo>
                <a:lnTo>
                  <a:pt x="3403278" y="14325"/>
                </a:lnTo>
                <a:lnTo>
                  <a:pt x="3529650" y="38085"/>
                </a:lnTo>
                <a:lnTo>
                  <a:pt x="3643527" y="372700"/>
                </a:lnTo>
                <a:lnTo>
                  <a:pt x="3705385" y="541605"/>
                </a:lnTo>
                <a:lnTo>
                  <a:pt x="3663024" y="806658"/>
                </a:lnTo>
                <a:lnTo>
                  <a:pt x="3683320" y="892020"/>
                </a:lnTo>
                <a:lnTo>
                  <a:pt x="3563350" y="848479"/>
                </a:lnTo>
                <a:lnTo>
                  <a:pt x="3494623" y="865421"/>
                </a:lnTo>
                <a:lnTo>
                  <a:pt x="3472177" y="934651"/>
                </a:lnTo>
                <a:lnTo>
                  <a:pt x="3407259" y="1023907"/>
                </a:lnTo>
                <a:lnTo>
                  <a:pt x="3409483" y="1106111"/>
                </a:lnTo>
                <a:lnTo>
                  <a:pt x="3551371" y="1234977"/>
                </a:lnTo>
                <a:lnTo>
                  <a:pt x="3690520" y="1209312"/>
                </a:lnTo>
                <a:lnTo>
                  <a:pt x="3738925" y="1103728"/>
                </a:lnTo>
                <a:lnTo>
                  <a:pt x="3919244" y="1105718"/>
                </a:lnTo>
                <a:lnTo>
                  <a:pt x="3859842" y="1278788"/>
                </a:lnTo>
                <a:lnTo>
                  <a:pt x="3831757" y="1476318"/>
                </a:lnTo>
                <a:lnTo>
                  <a:pt x="3770242" y="1583634"/>
                </a:lnTo>
                <a:lnTo>
                  <a:pt x="3608008" y="1703691"/>
                </a:lnTo>
                <a:lnTo>
                  <a:pt x="3561544" y="1738066"/>
                </a:lnTo>
                <a:lnTo>
                  <a:pt x="3460788" y="1858835"/>
                </a:lnTo>
                <a:lnTo>
                  <a:pt x="3394470" y="1980993"/>
                </a:lnTo>
                <a:lnTo>
                  <a:pt x="3259646" y="2151335"/>
                </a:lnTo>
                <a:lnTo>
                  <a:pt x="2990956" y="2396632"/>
                </a:lnTo>
                <a:lnTo>
                  <a:pt x="2823157" y="2539258"/>
                </a:lnTo>
                <a:lnTo>
                  <a:pt x="2643625" y="2647434"/>
                </a:lnTo>
                <a:lnTo>
                  <a:pt x="2395146" y="2739675"/>
                </a:lnTo>
                <a:lnTo>
                  <a:pt x="2273947" y="2752059"/>
                </a:lnTo>
                <a:lnTo>
                  <a:pt x="2243269" y="2818058"/>
                </a:lnTo>
                <a:lnTo>
                  <a:pt x="2098776" y="2782921"/>
                </a:lnTo>
                <a:lnTo>
                  <a:pt x="1981091" y="2828170"/>
                </a:lnTo>
                <a:lnTo>
                  <a:pt x="1723422" y="2782356"/>
                </a:lnTo>
                <a:lnTo>
                  <a:pt x="1579384" y="2811350"/>
                </a:lnTo>
                <a:lnTo>
                  <a:pt x="1480950" y="2798905"/>
                </a:lnTo>
                <a:lnTo>
                  <a:pt x="1235751" y="2892756"/>
                </a:lnTo>
                <a:lnTo>
                  <a:pt x="1032778" y="2930399"/>
                </a:lnTo>
                <a:lnTo>
                  <a:pt x="885901" y="3020258"/>
                </a:lnTo>
                <a:lnTo>
                  <a:pt x="777762" y="3025970"/>
                </a:lnTo>
                <a:lnTo>
                  <a:pt x="677166" y="2941199"/>
                </a:lnTo>
                <a:lnTo>
                  <a:pt x="596818" y="2936850"/>
                </a:lnTo>
                <a:lnTo>
                  <a:pt x="494428" y="2830713"/>
                </a:lnTo>
                <a:lnTo>
                  <a:pt x="483199" y="2863676"/>
                </a:lnTo>
                <a:lnTo>
                  <a:pt x="451600" y="2799777"/>
                </a:lnTo>
                <a:lnTo>
                  <a:pt x="452927" y="2660383"/>
                </a:lnTo>
                <a:lnTo>
                  <a:pt x="375686" y="2501061"/>
                </a:lnTo>
                <a:lnTo>
                  <a:pt x="452411" y="2457754"/>
                </a:lnTo>
                <a:lnTo>
                  <a:pt x="446194" y="2275286"/>
                </a:lnTo>
                <a:lnTo>
                  <a:pt x="290509" y="2052778"/>
                </a:lnTo>
                <a:lnTo>
                  <a:pt x="171042" y="1851390"/>
                </a:lnTo>
                <a:lnTo>
                  <a:pt x="170686" y="1850751"/>
                </a:lnTo>
                <a:lnTo>
                  <a:pt x="0" y="1541863"/>
                </a:lnTo>
                <a:close/>
              </a:path>
            </a:pathLst>
          </a:custGeom>
          <a:solidFill>
            <a:srgbClr val="CED3E3"/>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3602560" y="4095003"/>
            <a:ext cx="552970" cy="474919"/>
          </a:xfrm>
          <a:custGeom>
            <a:avLst/>
            <a:gdLst/>
            <a:ahLst/>
            <a:cxnLst/>
            <a:rect l="l" t="t" r="r" b="b"/>
            <a:pathLst>
              <a:path w="552970" h="474919">
                <a:moveTo>
                  <a:pt x="470496" y="73248"/>
                </a:moveTo>
                <a:lnTo>
                  <a:pt x="552970" y="144997"/>
                </a:lnTo>
                <a:lnTo>
                  <a:pt x="480042" y="260630"/>
                </a:lnTo>
                <a:lnTo>
                  <a:pt x="439622" y="338203"/>
                </a:lnTo>
                <a:lnTo>
                  <a:pt x="307119" y="375330"/>
                </a:lnTo>
                <a:lnTo>
                  <a:pt x="263407" y="451293"/>
                </a:lnTo>
                <a:lnTo>
                  <a:pt x="178340" y="474919"/>
                </a:lnTo>
                <a:lnTo>
                  <a:pt x="0" y="292057"/>
                </a:lnTo>
                <a:lnTo>
                  <a:pt x="126777" y="141508"/>
                </a:lnTo>
                <a:lnTo>
                  <a:pt x="255593" y="48492"/>
                </a:lnTo>
                <a:lnTo>
                  <a:pt x="366705" y="0"/>
                </a:lnTo>
                <a:lnTo>
                  <a:pt x="470496" y="73248"/>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3577326" y="2039112"/>
            <a:ext cx="1384861" cy="540062"/>
          </a:xfrm>
          <a:custGeom>
            <a:avLst/>
            <a:gdLst/>
            <a:ahLst/>
            <a:cxnLst/>
            <a:rect l="l" t="t" r="r" b="b"/>
            <a:pathLst>
              <a:path w="1384861" h="540062">
                <a:moveTo>
                  <a:pt x="1021892" y="535282"/>
                </a:moveTo>
                <a:lnTo>
                  <a:pt x="895520" y="511522"/>
                </a:lnTo>
                <a:lnTo>
                  <a:pt x="815405" y="540062"/>
                </a:lnTo>
                <a:lnTo>
                  <a:pt x="700374" y="499789"/>
                </a:lnTo>
                <a:lnTo>
                  <a:pt x="603648" y="497197"/>
                </a:lnTo>
                <a:lnTo>
                  <a:pt x="452078" y="389770"/>
                </a:lnTo>
                <a:lnTo>
                  <a:pt x="268234" y="353281"/>
                </a:lnTo>
                <a:lnTo>
                  <a:pt x="198304" y="202510"/>
                </a:lnTo>
                <a:lnTo>
                  <a:pt x="197714" y="118648"/>
                </a:lnTo>
                <a:lnTo>
                  <a:pt x="95902" y="93081"/>
                </a:lnTo>
                <a:lnTo>
                  <a:pt x="0" y="0"/>
                </a:lnTo>
                <a:lnTo>
                  <a:pt x="1384861" y="0"/>
                </a:lnTo>
                <a:lnTo>
                  <a:pt x="1370979" y="72343"/>
                </a:lnTo>
                <a:lnTo>
                  <a:pt x="1335068" y="93978"/>
                </a:lnTo>
                <a:lnTo>
                  <a:pt x="1272374" y="265438"/>
                </a:lnTo>
                <a:lnTo>
                  <a:pt x="1021892" y="535282"/>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913673" y="2039112"/>
            <a:ext cx="2267301" cy="1623445"/>
          </a:xfrm>
          <a:custGeom>
            <a:avLst/>
            <a:gdLst/>
            <a:ahLst/>
            <a:cxnLst/>
            <a:rect l="l" t="t" r="r" b="b"/>
            <a:pathLst>
              <a:path w="2267301" h="1623445">
                <a:moveTo>
                  <a:pt x="2267301" y="497197"/>
                </a:moveTo>
                <a:lnTo>
                  <a:pt x="1930904" y="672281"/>
                </a:lnTo>
                <a:lnTo>
                  <a:pt x="1717452" y="849773"/>
                </a:lnTo>
                <a:lnTo>
                  <a:pt x="1638282" y="1008198"/>
                </a:lnTo>
                <a:lnTo>
                  <a:pt x="1566803" y="1097504"/>
                </a:lnTo>
                <a:lnTo>
                  <a:pt x="1437447" y="1116534"/>
                </a:lnTo>
                <a:lnTo>
                  <a:pt x="1395651" y="1230288"/>
                </a:lnTo>
                <a:lnTo>
                  <a:pt x="1371595" y="1304457"/>
                </a:lnTo>
                <a:lnTo>
                  <a:pt x="1219559" y="1359817"/>
                </a:lnTo>
                <a:lnTo>
                  <a:pt x="1026058" y="1348059"/>
                </a:lnTo>
                <a:lnTo>
                  <a:pt x="912488" y="1281470"/>
                </a:lnTo>
                <a:lnTo>
                  <a:pt x="812286" y="1252599"/>
                </a:lnTo>
                <a:lnTo>
                  <a:pt x="696308" y="1307701"/>
                </a:lnTo>
                <a:lnTo>
                  <a:pt x="638123" y="1421577"/>
                </a:lnTo>
                <a:lnTo>
                  <a:pt x="525536" y="1493093"/>
                </a:lnTo>
                <a:lnTo>
                  <a:pt x="406647" y="1599193"/>
                </a:lnTo>
                <a:lnTo>
                  <a:pt x="236354" y="1623445"/>
                </a:lnTo>
                <a:lnTo>
                  <a:pt x="183304" y="1539975"/>
                </a:lnTo>
                <a:lnTo>
                  <a:pt x="205209" y="1395114"/>
                </a:lnTo>
                <a:lnTo>
                  <a:pt x="64255" y="1169215"/>
                </a:lnTo>
                <a:lnTo>
                  <a:pt x="74" y="1133513"/>
                </a:lnTo>
                <a:lnTo>
                  <a:pt x="0" y="439625"/>
                </a:lnTo>
                <a:lnTo>
                  <a:pt x="234339" y="431345"/>
                </a:lnTo>
                <a:lnTo>
                  <a:pt x="237912" y="0"/>
                </a:lnTo>
                <a:lnTo>
                  <a:pt x="1663653" y="0"/>
                </a:lnTo>
                <a:lnTo>
                  <a:pt x="1759555" y="93081"/>
                </a:lnTo>
                <a:lnTo>
                  <a:pt x="1861367" y="118648"/>
                </a:lnTo>
                <a:lnTo>
                  <a:pt x="1861957" y="202510"/>
                </a:lnTo>
                <a:lnTo>
                  <a:pt x="1931887" y="353281"/>
                </a:lnTo>
                <a:lnTo>
                  <a:pt x="2115731" y="389770"/>
                </a:lnTo>
                <a:lnTo>
                  <a:pt x="2267301" y="497197"/>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749808" y="2039112"/>
            <a:ext cx="1401777" cy="2150504"/>
          </a:xfrm>
          <a:custGeom>
            <a:avLst/>
            <a:gdLst/>
            <a:ahLst/>
            <a:cxnLst/>
            <a:rect l="l" t="t" r="r" b="b"/>
            <a:pathLst>
              <a:path w="1401777" h="2150504">
                <a:moveTo>
                  <a:pt x="1163939" y="1133513"/>
                </a:moveTo>
                <a:lnTo>
                  <a:pt x="1163693" y="2011576"/>
                </a:lnTo>
                <a:lnTo>
                  <a:pt x="951481" y="2133144"/>
                </a:lnTo>
                <a:lnTo>
                  <a:pt x="823758" y="2150504"/>
                </a:lnTo>
                <a:lnTo>
                  <a:pt x="674278" y="2105550"/>
                </a:lnTo>
                <a:lnTo>
                  <a:pt x="567613" y="2088227"/>
                </a:lnTo>
                <a:lnTo>
                  <a:pt x="527537" y="1986575"/>
                </a:lnTo>
                <a:lnTo>
                  <a:pt x="433649" y="1921485"/>
                </a:lnTo>
                <a:lnTo>
                  <a:pt x="319760" y="2039060"/>
                </a:lnTo>
                <a:lnTo>
                  <a:pt x="143078" y="1859454"/>
                </a:lnTo>
                <a:lnTo>
                  <a:pt x="50038" y="1685832"/>
                </a:lnTo>
                <a:lnTo>
                  <a:pt x="0" y="1465156"/>
                </a:lnTo>
                <a:lnTo>
                  <a:pt x="0" y="0"/>
                </a:lnTo>
                <a:lnTo>
                  <a:pt x="1401777" y="0"/>
                </a:lnTo>
                <a:lnTo>
                  <a:pt x="1398204" y="431345"/>
                </a:lnTo>
                <a:lnTo>
                  <a:pt x="1163865" y="439625"/>
                </a:lnTo>
                <a:lnTo>
                  <a:pt x="1163939" y="1133513"/>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599218" y="2039112"/>
            <a:ext cx="1049892" cy="1602915"/>
          </a:xfrm>
          <a:custGeom>
            <a:avLst/>
            <a:gdLst/>
            <a:ahLst/>
            <a:cxnLst/>
            <a:rect l="l" t="t" r="r" b="b"/>
            <a:pathLst>
              <a:path w="1049892" h="1602915">
                <a:moveTo>
                  <a:pt x="848599" y="0"/>
                </a:moveTo>
                <a:lnTo>
                  <a:pt x="834596" y="118168"/>
                </a:lnTo>
                <a:lnTo>
                  <a:pt x="947343" y="298216"/>
                </a:lnTo>
                <a:lnTo>
                  <a:pt x="994250" y="437647"/>
                </a:lnTo>
                <a:lnTo>
                  <a:pt x="997203" y="508772"/>
                </a:lnTo>
                <a:lnTo>
                  <a:pt x="1039211" y="496884"/>
                </a:lnTo>
                <a:lnTo>
                  <a:pt x="1032409" y="730061"/>
                </a:lnTo>
                <a:lnTo>
                  <a:pt x="993857" y="840510"/>
                </a:lnTo>
                <a:lnTo>
                  <a:pt x="1049892" y="881213"/>
                </a:lnTo>
                <a:lnTo>
                  <a:pt x="1014534" y="980125"/>
                </a:lnTo>
                <a:lnTo>
                  <a:pt x="915154" y="1064701"/>
                </a:lnTo>
                <a:lnTo>
                  <a:pt x="719036" y="1145049"/>
                </a:lnTo>
                <a:lnTo>
                  <a:pt x="433122" y="1273730"/>
                </a:lnTo>
                <a:lnTo>
                  <a:pt x="328853" y="1361635"/>
                </a:lnTo>
                <a:lnTo>
                  <a:pt x="349235" y="1461788"/>
                </a:lnTo>
                <a:lnTo>
                  <a:pt x="410000" y="1477785"/>
                </a:lnTo>
                <a:lnTo>
                  <a:pt x="389594" y="1602915"/>
                </a:lnTo>
                <a:lnTo>
                  <a:pt x="209275" y="1600925"/>
                </a:lnTo>
                <a:lnTo>
                  <a:pt x="188857" y="1495832"/>
                </a:lnTo>
                <a:lnTo>
                  <a:pt x="153670" y="1389217"/>
                </a:lnTo>
                <a:lnTo>
                  <a:pt x="133374" y="1303855"/>
                </a:lnTo>
                <a:lnTo>
                  <a:pt x="175735" y="1038802"/>
                </a:lnTo>
                <a:lnTo>
                  <a:pt x="113877" y="869897"/>
                </a:lnTo>
                <a:lnTo>
                  <a:pt x="0" y="535282"/>
                </a:lnTo>
                <a:lnTo>
                  <a:pt x="250482" y="265438"/>
                </a:lnTo>
                <a:lnTo>
                  <a:pt x="313176" y="93978"/>
                </a:lnTo>
                <a:lnTo>
                  <a:pt x="349087" y="72343"/>
                </a:lnTo>
                <a:lnTo>
                  <a:pt x="362969" y="0"/>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476827" y="3384788"/>
            <a:ext cx="331666" cy="386498"/>
          </a:xfrm>
          <a:custGeom>
            <a:avLst/>
            <a:gdLst/>
            <a:ahLst/>
            <a:cxnLst/>
            <a:rect l="l" t="t" r="r" b="b"/>
            <a:pathLst>
              <a:path w="331666" h="386498">
                <a:moveTo>
                  <a:pt x="331666" y="255249"/>
                </a:moveTo>
                <a:lnTo>
                  <a:pt x="283261" y="360833"/>
                </a:lnTo>
                <a:lnTo>
                  <a:pt x="144112" y="386498"/>
                </a:lnTo>
                <a:lnTo>
                  <a:pt x="2224" y="257632"/>
                </a:lnTo>
                <a:lnTo>
                  <a:pt x="0" y="175428"/>
                </a:lnTo>
                <a:lnTo>
                  <a:pt x="64918" y="86172"/>
                </a:lnTo>
                <a:lnTo>
                  <a:pt x="87364" y="16942"/>
                </a:lnTo>
                <a:lnTo>
                  <a:pt x="156091" y="0"/>
                </a:lnTo>
                <a:lnTo>
                  <a:pt x="276061" y="43541"/>
                </a:lnTo>
                <a:lnTo>
                  <a:pt x="311248" y="150156"/>
                </a:lnTo>
                <a:lnTo>
                  <a:pt x="331666" y="255249"/>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1 Production</a:t>
            </a:r>
          </a:p>
        </p:txBody>
      </p:sp>
      <p:sp>
        <p:nvSpPr>
          <p:cNvPr id="13" name="TextBox 12"/>
          <p:cNvSpPr txBox="1"/>
          <p:nvPr/>
        </p:nvSpPr>
        <p:spPr>
          <a:xfrm>
            <a:off x="2075688"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2 Pipelines</a:t>
            </a:r>
          </a:p>
        </p:txBody>
      </p:sp>
      <p:sp>
        <p:nvSpPr>
          <p:cNvPr id="14" name="TextBox 13"/>
          <p:cNvSpPr txBox="1"/>
          <p:nvPr/>
        </p:nvSpPr>
        <p:spPr>
          <a:xfrm>
            <a:off x="3602736"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3 Ports</a:t>
            </a:r>
          </a:p>
        </p:txBody>
      </p:sp>
      <p:sp>
        <p:nvSpPr>
          <p:cNvPr id="15" name="TextBox 14"/>
          <p:cNvSpPr txBox="1"/>
          <p:nvPr/>
        </p:nvSpPr>
        <p:spPr>
          <a:xfrm>
            <a:off x="5129783" y="1673352"/>
            <a:ext cx="1481328" cy="274320"/>
          </a:xfrm>
          <a:prstGeom prst="rect">
            <a:avLst/>
          </a:prstGeom>
          <a:noFill/>
        </p:spPr>
        <p:txBody>
          <a:bodyPr wrap="square" lIns="18288" rIns="18288" tIns="0" bIns="0">
            <a:spAutoFit/>
          </a:bodyPr>
          <a:lstStyle/>
          <a:p>
            <a:pPr>
              <a:spcAft>
                <a:spcPts val="800"/>
              </a:spcAft>
              <a:defRPr sz="1050" b="1">
                <a:solidFill>
                  <a:srgbClr val="0A2373"/>
                </a:solidFill>
                <a:latin typeface="Lato"/>
              </a:defRPr>
            </a:pPr>
            <a:r>
              <a:t>4 Roads</a:t>
            </a:r>
          </a:p>
        </p:txBody>
      </p:sp>
      <p:sp>
        <p:nvSpPr>
          <p:cNvPr id="16" name="TextBox 15"/>
          <p:cNvSpPr txBox="1"/>
          <p:nvPr/>
        </p:nvSpPr>
        <p:spPr>
          <a:xfrm>
            <a:off x="6656831"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5 Rail</a:t>
            </a:r>
          </a:p>
        </p:txBody>
      </p:sp>
      <p:sp>
        <p:nvSpPr>
          <p:cNvPr id="17" name="TextBox 16"/>
          <p:cNvSpPr txBox="1"/>
          <p:nvPr/>
        </p:nvSpPr>
        <p:spPr>
          <a:xfrm>
            <a:off x="8183879"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6 Storage</a:t>
            </a:r>
          </a:p>
        </p:txBody>
      </p:sp>
      <p:sp>
        <p:nvSpPr>
          <p:cNvPr id="18" name="TextBox 17"/>
          <p:cNvSpPr txBox="1"/>
          <p:nvPr/>
        </p:nvSpPr>
        <p:spPr>
          <a:xfrm>
            <a:off x="9710928"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7 Corridors</a:t>
            </a:r>
          </a:p>
        </p:txBody>
      </p:sp>
      <p:cxnSp>
        <p:nvCxnSpPr>
          <p:cNvPr id="19" name="Connector 18"/>
          <p:cNvCxnSpPr/>
          <p:nvPr/>
        </p:nvCxnSpPr>
        <p:spPr>
          <a:xfrm flipH="1" flipV="1">
            <a:off x="3933200" y="3570183"/>
            <a:ext cx="627644" cy="817839"/>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3804818" y="3570183"/>
            <a:ext cx="128382" cy="87965"/>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3521903" y="3658148"/>
            <a:ext cx="282915" cy="9510"/>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933200" y="3570183"/>
            <a:ext cx="185440" cy="26152"/>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4073469" y="3484595"/>
            <a:ext cx="45171" cy="111740"/>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3916558" y="3396630"/>
            <a:ext cx="156911" cy="87965"/>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3871386" y="3541654"/>
            <a:ext cx="61814" cy="28529"/>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3840480" y="3513124"/>
            <a:ext cx="30906" cy="28530"/>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4006900" y="4059935"/>
            <a:ext cx="553944" cy="328087"/>
          </a:xfrm>
          <a:prstGeom prst="line">
            <a:avLst/>
          </a:prstGeom>
          <a:ln w="8255">
            <a:solidFill>
              <a:srgbClr val="A0A0A0"/>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3804818" y="3658148"/>
            <a:ext cx="202082" cy="401787"/>
          </a:xfrm>
          <a:prstGeom prst="line">
            <a:avLst/>
          </a:prstGeom>
          <a:ln w="8255">
            <a:solidFill>
              <a:srgbClr val="A0A0A0"/>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451152" y="5136916"/>
            <a:ext cx="135514" cy="199705"/>
          </a:xfrm>
          <a:prstGeom prst="line">
            <a:avLst/>
          </a:prstGeom>
          <a:ln w="8255">
            <a:solidFill>
              <a:srgbClr val="A0A0A0"/>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4779568" y="2443276"/>
            <a:ext cx="748894" cy="886785"/>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4118640" y="3330061"/>
            <a:ext cx="660928" cy="266274"/>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3804818" y="3596335"/>
            <a:ext cx="313822" cy="61813"/>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3852367" y="3513124"/>
            <a:ext cx="266273" cy="83211"/>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118640" y="3596335"/>
            <a:ext cx="183063" cy="285293"/>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01703" y="3881628"/>
            <a:ext cx="465978" cy="237744"/>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67681" y="4119372"/>
            <a:ext cx="38039" cy="11887"/>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4553712" y="4119372"/>
            <a:ext cx="213969" cy="285292"/>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1565269" y="5284317"/>
            <a:ext cx="242499" cy="61814"/>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807768" y="4975250"/>
            <a:ext cx="744139" cy="309067"/>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2551907" y="4587727"/>
            <a:ext cx="599115" cy="387523"/>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151022" y="4207337"/>
            <a:ext cx="263896" cy="380390"/>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414918" y="3857853"/>
            <a:ext cx="242499" cy="349484"/>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657417" y="3513124"/>
            <a:ext cx="194950" cy="344729"/>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852367" y="3406140"/>
            <a:ext cx="33284" cy="106984"/>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885651" y="2966313"/>
            <a:ext cx="299557" cy="439827"/>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185208" y="2569281"/>
            <a:ext cx="128382" cy="397032"/>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565269" y="5346131"/>
            <a:ext cx="475488" cy="28529"/>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040757" y="5374660"/>
            <a:ext cx="406543" cy="35661"/>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2447300" y="5358018"/>
            <a:ext cx="76078" cy="52303"/>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523378" y="5358018"/>
            <a:ext cx="216347" cy="21397"/>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2739725" y="5358018"/>
            <a:ext cx="537301" cy="21397"/>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277026" y="5270052"/>
            <a:ext cx="299558" cy="87966"/>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576584" y="5136916"/>
            <a:ext cx="242499" cy="133136"/>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819083" y="4794564"/>
            <a:ext cx="206837" cy="342352"/>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025920" y="4547311"/>
            <a:ext cx="152156" cy="247253"/>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178076" y="4547311"/>
            <a:ext cx="244876" cy="45171"/>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422952" y="4388022"/>
            <a:ext cx="137892" cy="204460"/>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560844" y="4119372"/>
            <a:ext cx="206837" cy="268650"/>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767681" y="3815059"/>
            <a:ext cx="40417" cy="304313"/>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4548957" y="3703320"/>
            <a:ext cx="259141" cy="111739"/>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4311213" y="3591580"/>
            <a:ext cx="237744" cy="111740"/>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852367" y="3513124"/>
            <a:ext cx="73700" cy="71324"/>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926067" y="3584448"/>
            <a:ext cx="175931" cy="206837"/>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4101998" y="3791285"/>
            <a:ext cx="7132" cy="216347"/>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109130" y="4007632"/>
            <a:ext cx="154534" cy="218724"/>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4263664" y="4226356"/>
            <a:ext cx="145024" cy="95098"/>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4408688" y="4321454"/>
            <a:ext cx="152156" cy="66568"/>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3296046" y="3294400"/>
            <a:ext cx="363748" cy="92720"/>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659794" y="3387120"/>
            <a:ext cx="225857" cy="19020"/>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885651" y="3406140"/>
            <a:ext cx="247254" cy="28529"/>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132905" y="3339571"/>
            <a:ext cx="413674" cy="95098"/>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546579" y="3332439"/>
            <a:ext cx="240122" cy="7132"/>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3414918" y="4207337"/>
            <a:ext cx="118872" cy="380390"/>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3533790" y="4587727"/>
            <a:ext cx="40416" cy="280538"/>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3574206" y="4868265"/>
            <a:ext cx="128382" cy="159289"/>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3702588" y="5027554"/>
            <a:ext cx="116495" cy="109362"/>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1565269" y="5239146"/>
            <a:ext cx="64191" cy="106985"/>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1629460" y="5032308"/>
            <a:ext cx="64191" cy="206838"/>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1638970" y="4799319"/>
            <a:ext cx="54681" cy="232989"/>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flipV="1">
            <a:off x="1434510" y="4338096"/>
            <a:ext cx="204460" cy="461223"/>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flipV="1">
            <a:off x="1372697" y="4124126"/>
            <a:ext cx="61813" cy="213970"/>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3265139" y="5029931"/>
            <a:ext cx="9510" cy="271028"/>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3129625" y="4770790"/>
            <a:ext cx="135514" cy="259141"/>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2908523" y="4426061"/>
            <a:ext cx="221102" cy="344729"/>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2592324" y="4335719"/>
            <a:ext cx="316199" cy="90342"/>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1995586" y="4050426"/>
            <a:ext cx="596738" cy="285293"/>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1933773" y="3408517"/>
            <a:ext cx="61813" cy="641909"/>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2461564" y="5270052"/>
            <a:ext cx="61814" cy="87966"/>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2461564" y="4975250"/>
            <a:ext cx="90343" cy="294802"/>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2551907" y="4873020"/>
            <a:ext cx="135514" cy="102230"/>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2687421" y="4426061"/>
            <a:ext cx="221102" cy="446959"/>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2908523" y="4114617"/>
            <a:ext cx="164043" cy="311444"/>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072566" y="3857853"/>
            <a:ext cx="197328" cy="256764"/>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269894" y="3670035"/>
            <a:ext cx="254386" cy="187818"/>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524280" y="3634374"/>
            <a:ext cx="102230" cy="35661"/>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626510" y="3513124"/>
            <a:ext cx="225857" cy="121250"/>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852367" y="3434669"/>
            <a:ext cx="280538" cy="78455"/>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434510" y="4209714"/>
            <a:ext cx="358994" cy="128382"/>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793504" y="4050426"/>
            <a:ext cx="202082" cy="159288"/>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1995586" y="3812682"/>
            <a:ext cx="758403" cy="237744"/>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753989" y="3693810"/>
            <a:ext cx="309068" cy="118872"/>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063057" y="3544031"/>
            <a:ext cx="463600" cy="149779"/>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526657" y="3489350"/>
            <a:ext cx="261519" cy="54681"/>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88176" y="3432291"/>
            <a:ext cx="97475" cy="57059"/>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3852367" y="3513124"/>
            <a:ext cx="92720" cy="11888"/>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3945087" y="3525012"/>
            <a:ext cx="156911" cy="52303"/>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4101998" y="3577315"/>
            <a:ext cx="209215" cy="14265"/>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4311213" y="3591580"/>
            <a:ext cx="197327" cy="38039"/>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072566" y="3967215"/>
            <a:ext cx="19020" cy="147402"/>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3063057" y="3693810"/>
            <a:ext cx="28529" cy="273405"/>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063057" y="3429914"/>
            <a:ext cx="216347" cy="263896"/>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3262762" y="3294400"/>
            <a:ext cx="16642" cy="135514"/>
          </a:xfrm>
          <a:prstGeom prst="line">
            <a:avLst/>
          </a:prstGeom>
          <a:ln w="16510">
            <a:solidFill>
              <a:srgbClr val="0A2373"/>
            </a:solidFill>
          </a:ln>
        </p:spPr>
        <p:style>
          <a:lnRef idx="2">
            <a:schemeClr val="accent1"/>
          </a:lnRef>
          <a:fillRef idx="0">
            <a:schemeClr val="accent1"/>
          </a:fillRef>
          <a:effectRef idx="1">
            <a:schemeClr val="accent1"/>
          </a:effectRef>
          <a:fontRef idx="minor">
            <a:schemeClr val="tx1"/>
          </a:fontRef>
        </p:style>
      </p:cxnSp>
      <p:sp>
        <p:nvSpPr>
          <p:cNvPr id="113" name="Oval 112"/>
          <p:cNvSpPr/>
          <p:nvPr/>
        </p:nvSpPr>
        <p:spPr>
          <a:xfrm>
            <a:off x="4510552" y="4337730"/>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3754526" y="3607856"/>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068348" y="3546043"/>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1536374" y="5286329"/>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2349459" y="5352897"/>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44097" y="4187952"/>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9" name="Connector 118"/>
          <p:cNvCxnSpPr/>
          <p:nvPr/>
        </p:nvCxnSpPr>
        <p:spPr>
          <a:xfrm flipH="1" flipV="1">
            <a:off x="822960" y="4133087"/>
            <a:ext cx="371429" cy="105157"/>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502920" y="4041648"/>
            <a:ext cx="89154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Port Nolloth*</a:t>
            </a:r>
          </a:p>
        </p:txBody>
      </p:sp>
      <p:sp>
        <p:nvSpPr>
          <p:cNvPr id="121" name="Rectangle 120"/>
          <p:cNvSpPr/>
          <p:nvPr/>
        </p:nvSpPr>
        <p:spPr>
          <a:xfrm>
            <a:off x="1400860" y="5086624"/>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2" name="Connector 121"/>
          <p:cNvCxnSpPr/>
          <p:nvPr/>
        </p:nvCxnSpPr>
        <p:spPr>
          <a:xfrm flipH="1" flipV="1">
            <a:off x="777240" y="5120640"/>
            <a:ext cx="673912" cy="16276"/>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457200" y="5029200"/>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Saldanha</a:t>
            </a:r>
          </a:p>
        </p:txBody>
      </p:sp>
      <p:sp>
        <p:nvSpPr>
          <p:cNvPr id="124" name="Rectangle 123"/>
          <p:cNvSpPr/>
          <p:nvPr/>
        </p:nvSpPr>
        <p:spPr>
          <a:xfrm>
            <a:off x="1514977" y="5295839"/>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5" name="Connector 124"/>
          <p:cNvCxnSpPr/>
          <p:nvPr/>
        </p:nvCxnSpPr>
        <p:spPr>
          <a:xfrm flipH="1">
            <a:off x="886968" y="5346131"/>
            <a:ext cx="678301" cy="249996"/>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566928" y="5504688"/>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Cape Town</a:t>
            </a:r>
          </a:p>
        </p:txBody>
      </p:sp>
      <p:sp>
        <p:nvSpPr>
          <p:cNvPr id="127" name="Rectangle 126"/>
          <p:cNvSpPr/>
          <p:nvPr/>
        </p:nvSpPr>
        <p:spPr>
          <a:xfrm>
            <a:off x="2397008" y="5360029"/>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8" name="Connector 127"/>
          <p:cNvCxnSpPr/>
          <p:nvPr/>
        </p:nvCxnSpPr>
        <p:spPr>
          <a:xfrm flipH="1">
            <a:off x="2331720" y="5410321"/>
            <a:ext cx="115580" cy="414406"/>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2011680" y="5733288"/>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Mossel Bay</a:t>
            </a:r>
          </a:p>
        </p:txBody>
      </p:sp>
      <p:sp>
        <p:nvSpPr>
          <p:cNvPr id="130" name="Rectangle 129"/>
          <p:cNvSpPr/>
          <p:nvPr/>
        </p:nvSpPr>
        <p:spPr>
          <a:xfrm>
            <a:off x="3226734" y="5307726"/>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1" name="Connector 130"/>
          <p:cNvCxnSpPr/>
          <p:nvPr/>
        </p:nvCxnSpPr>
        <p:spPr>
          <a:xfrm>
            <a:off x="3277026" y="5358018"/>
            <a:ext cx="444582" cy="448422"/>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3401568" y="5715000"/>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Gqeberha</a:t>
            </a:r>
          </a:p>
        </p:txBody>
      </p:sp>
      <p:sp>
        <p:nvSpPr>
          <p:cNvPr id="133" name="Rectangle 132"/>
          <p:cNvSpPr/>
          <p:nvPr/>
        </p:nvSpPr>
        <p:spPr>
          <a:xfrm>
            <a:off x="3240999" y="5269687"/>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4" name="Connector 133"/>
          <p:cNvCxnSpPr/>
          <p:nvPr/>
        </p:nvCxnSpPr>
        <p:spPr>
          <a:xfrm>
            <a:off x="3291291" y="5319979"/>
            <a:ext cx="1143549" cy="102413"/>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4114800" y="5330952"/>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Ngqura</a:t>
            </a:r>
          </a:p>
        </p:txBody>
      </p:sp>
      <p:sp>
        <p:nvSpPr>
          <p:cNvPr id="136" name="Rectangle 135"/>
          <p:cNvSpPr/>
          <p:nvPr/>
        </p:nvSpPr>
        <p:spPr>
          <a:xfrm>
            <a:off x="3768791" y="5086624"/>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7" name="Connector 136"/>
          <p:cNvCxnSpPr/>
          <p:nvPr/>
        </p:nvCxnSpPr>
        <p:spPr>
          <a:xfrm>
            <a:off x="3819083" y="5136916"/>
            <a:ext cx="1100389" cy="75163"/>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4599432" y="5120640"/>
            <a:ext cx="75438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East London</a:t>
            </a:r>
          </a:p>
        </p:txBody>
      </p:sp>
      <p:sp>
        <p:nvSpPr>
          <p:cNvPr id="139" name="Rectangle 138"/>
          <p:cNvSpPr/>
          <p:nvPr/>
        </p:nvSpPr>
        <p:spPr>
          <a:xfrm>
            <a:off x="4510552" y="4337730"/>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0" name="Connector 139"/>
          <p:cNvCxnSpPr/>
          <p:nvPr/>
        </p:nvCxnSpPr>
        <p:spPr>
          <a:xfrm>
            <a:off x="4560844" y="4388022"/>
            <a:ext cx="468356" cy="65105"/>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4709160" y="4361688"/>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Durban</a:t>
            </a:r>
          </a:p>
        </p:txBody>
      </p:sp>
      <p:sp>
        <p:nvSpPr>
          <p:cNvPr id="142" name="Rectangle 141"/>
          <p:cNvSpPr/>
          <p:nvPr/>
        </p:nvSpPr>
        <p:spPr>
          <a:xfrm>
            <a:off x="4755428" y="4080967"/>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3" name="Connector 142"/>
          <p:cNvCxnSpPr/>
          <p:nvPr/>
        </p:nvCxnSpPr>
        <p:spPr>
          <a:xfrm flipV="1">
            <a:off x="4805720" y="3867911"/>
            <a:ext cx="159472" cy="263348"/>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4645152" y="3776472"/>
            <a:ext cx="822959"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Richards Bay</a:t>
            </a:r>
          </a:p>
        </p:txBody>
      </p:sp>
      <p:sp>
        <p:nvSpPr>
          <p:cNvPr id="145" name="Diamond 144"/>
          <p:cNvSpPr/>
          <p:nvPr/>
        </p:nvSpPr>
        <p:spPr>
          <a:xfrm>
            <a:off x="3802075" y="3462832"/>
            <a:ext cx="100584" cy="100584"/>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6" name="Connector 145"/>
          <p:cNvCxnSpPr/>
          <p:nvPr/>
        </p:nvCxnSpPr>
        <p:spPr>
          <a:xfrm flipH="1" flipV="1">
            <a:off x="3611880" y="2971800"/>
            <a:ext cx="240487" cy="541324"/>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47" name="TextBox 146"/>
          <p:cNvSpPr txBox="1"/>
          <p:nvPr/>
        </p:nvSpPr>
        <p:spPr>
          <a:xfrm>
            <a:off x="3291840" y="2880360"/>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Gauteng</a:t>
            </a:r>
          </a:p>
        </p:txBody>
      </p:sp>
      <p:sp>
        <p:nvSpPr>
          <p:cNvPr id="148" name="Diamond 147"/>
          <p:cNvSpPr/>
          <p:nvPr/>
        </p:nvSpPr>
        <p:spPr>
          <a:xfrm>
            <a:off x="3882908" y="3519891"/>
            <a:ext cx="100584" cy="100584"/>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9" name="Connector 148"/>
          <p:cNvCxnSpPr/>
          <p:nvPr/>
        </p:nvCxnSpPr>
        <p:spPr>
          <a:xfrm flipH="1" flipV="1">
            <a:off x="3227832" y="3429000"/>
            <a:ext cx="705368" cy="141183"/>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50" name="TextBox 149"/>
          <p:cNvSpPr txBox="1"/>
          <p:nvPr/>
        </p:nvSpPr>
        <p:spPr>
          <a:xfrm>
            <a:off x="2907792" y="3337560"/>
            <a:ext cx="822959"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Jameson Park</a:t>
            </a:r>
          </a:p>
        </p:txBody>
      </p:sp>
      <p:sp>
        <p:nvSpPr>
          <p:cNvPr id="151" name="TextBox 150"/>
          <p:cNvSpPr txBox="1"/>
          <p:nvPr/>
        </p:nvSpPr>
        <p:spPr>
          <a:xfrm>
            <a:off x="3174796" y="4416552"/>
            <a:ext cx="384048" cy="18288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N1</a:t>
            </a:r>
          </a:p>
        </p:txBody>
      </p:sp>
      <p:sp>
        <p:nvSpPr>
          <p:cNvPr id="152" name="TextBox 151"/>
          <p:cNvSpPr txBox="1"/>
          <p:nvPr/>
        </p:nvSpPr>
        <p:spPr>
          <a:xfrm>
            <a:off x="2889503" y="5367528"/>
            <a:ext cx="384048" cy="18288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N2</a:t>
            </a:r>
          </a:p>
        </p:txBody>
      </p:sp>
      <p:sp>
        <p:nvSpPr>
          <p:cNvPr id="153" name="TextBox 152"/>
          <p:cNvSpPr txBox="1"/>
          <p:nvPr/>
        </p:nvSpPr>
        <p:spPr>
          <a:xfrm>
            <a:off x="4220870" y="4059935"/>
            <a:ext cx="384048" cy="18288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N3</a:t>
            </a:r>
          </a:p>
        </p:txBody>
      </p:sp>
      <p:sp>
        <p:nvSpPr>
          <p:cNvPr id="154" name="TextBox 153"/>
          <p:cNvSpPr txBox="1"/>
          <p:nvPr/>
        </p:nvSpPr>
        <p:spPr>
          <a:xfrm>
            <a:off x="4197096" y="3322929"/>
            <a:ext cx="384048" cy="18288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N4</a:t>
            </a:r>
          </a:p>
        </p:txBody>
      </p:sp>
      <p:sp>
        <p:nvSpPr>
          <p:cNvPr id="155" name="TextBox 154"/>
          <p:cNvSpPr txBox="1"/>
          <p:nvPr/>
        </p:nvSpPr>
        <p:spPr>
          <a:xfrm>
            <a:off x="1510588" y="4535424"/>
            <a:ext cx="384048" cy="18288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N7</a:t>
            </a:r>
          </a:p>
        </p:txBody>
      </p:sp>
      <p:sp>
        <p:nvSpPr>
          <p:cNvPr id="156" name="TextBox 155"/>
          <p:cNvSpPr txBox="1"/>
          <p:nvPr/>
        </p:nvSpPr>
        <p:spPr>
          <a:xfrm>
            <a:off x="3246120" y="3941064"/>
            <a:ext cx="384048" cy="18288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N12</a:t>
            </a:r>
          </a:p>
        </p:txBody>
      </p:sp>
      <p:cxnSp>
        <p:nvCxnSpPr>
          <p:cNvPr id="157" name="Connector 156"/>
          <p:cNvCxnSpPr/>
          <p:nvPr/>
        </p:nvCxnSpPr>
        <p:spPr>
          <a:xfrm>
            <a:off x="6309360" y="2057400"/>
            <a:ext cx="0" cy="3977640"/>
          </a:xfrm>
          <a:prstGeom prst="line">
            <a:avLst/>
          </a:prstGeom>
          <a:ln w="5080">
            <a:solidFill>
              <a:srgbClr val="A0A0A0"/>
            </a:solidFill>
          </a:ln>
        </p:spPr>
        <p:style>
          <a:lnRef idx="2">
            <a:schemeClr val="accent1"/>
          </a:lnRef>
          <a:fillRef idx="0">
            <a:schemeClr val="accent1"/>
          </a:fillRef>
          <a:effectRef idx="1">
            <a:schemeClr val="accent1"/>
          </a:effectRef>
          <a:fontRef idx="minor">
            <a:schemeClr val="tx1"/>
          </a:fontRef>
        </p:style>
      </p:cxnSp>
      <p:sp>
        <p:nvSpPr>
          <p:cNvPr id="158" name="TextBox 157"/>
          <p:cNvSpPr txBox="1"/>
          <p:nvPr/>
        </p:nvSpPr>
        <p:spPr>
          <a:xfrm>
            <a:off x="6492240" y="2103120"/>
            <a:ext cx="4526280" cy="502920"/>
          </a:xfrm>
          <a:prstGeom prst="rect">
            <a:avLst/>
          </a:prstGeom>
          <a:noFill/>
        </p:spPr>
        <p:txBody>
          <a:bodyPr wrap="square" lIns="18288" rIns="18288" tIns="0" bIns="0">
            <a:spAutoFit/>
          </a:bodyPr>
          <a:lstStyle/>
          <a:p>
            <a:pPr>
              <a:spcAft>
                <a:spcPts val="800"/>
              </a:spcAft>
              <a:defRPr sz="1800" b="1">
                <a:solidFill>
                  <a:srgbClr val="000000"/>
                </a:solidFill>
                <a:latin typeface="Lato"/>
              </a:defRPr>
            </a:pPr>
            <a:r>
              <a:t>Extend connections by road</a:t>
            </a:r>
          </a:p>
        </p:txBody>
      </p:sp>
      <p:sp>
        <p:nvSpPr>
          <p:cNvPr id="159" name="TextBox 158"/>
          <p:cNvSpPr txBox="1"/>
          <p:nvPr/>
        </p:nvSpPr>
        <p:spPr>
          <a:xfrm>
            <a:off x="6492240" y="2788920"/>
            <a:ext cx="4526280" cy="27432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Coastal to inland</a:t>
            </a:r>
          </a:p>
        </p:txBody>
      </p:sp>
      <p:sp>
        <p:nvSpPr>
          <p:cNvPr id="160" name="TextBox 159"/>
          <p:cNvSpPr txBox="1"/>
          <p:nvPr/>
        </p:nvSpPr>
        <p:spPr>
          <a:xfrm>
            <a:off x="6492240" y="3081527"/>
            <a:ext cx="4526280" cy="484632"/>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N3 connects Durban with Gauteng; N1 links Cape Town and inland markets.</a:t>
            </a:r>
          </a:p>
        </p:txBody>
      </p:sp>
      <p:sp>
        <p:nvSpPr>
          <p:cNvPr id="161" name="TextBox 160"/>
          <p:cNvSpPr txBox="1"/>
          <p:nvPr/>
        </p:nvSpPr>
        <p:spPr>
          <a:xfrm>
            <a:off x="6492240" y="3584448"/>
            <a:ext cx="4526280" cy="27432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Regional and border links</a:t>
            </a:r>
          </a:p>
        </p:txBody>
      </p:sp>
      <p:sp>
        <p:nvSpPr>
          <p:cNvPr id="162" name="TextBox 161"/>
          <p:cNvSpPr txBox="1"/>
          <p:nvPr/>
        </p:nvSpPr>
        <p:spPr>
          <a:xfrm>
            <a:off x="6492240" y="3877056"/>
            <a:ext cx="4526280" cy="484632"/>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N2, N4, N7 and other selected national corridors extend market reach.</a:t>
            </a:r>
          </a:p>
        </p:txBody>
      </p:sp>
      <p:sp>
        <p:nvSpPr>
          <p:cNvPr id="163" name="TextBox 162"/>
          <p:cNvSpPr txBox="1"/>
          <p:nvPr/>
        </p:nvSpPr>
        <p:spPr>
          <a:xfrm>
            <a:off x="6492240" y="4379976"/>
            <a:ext cx="4526280" cy="27432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Translate roads into fuel capacity</a:t>
            </a:r>
          </a:p>
        </p:txBody>
      </p:sp>
      <p:sp>
        <p:nvSpPr>
          <p:cNvPr id="164" name="TextBox 163"/>
          <p:cNvSpPr txBox="1"/>
          <p:nvPr/>
        </p:nvSpPr>
        <p:spPr>
          <a:xfrm>
            <a:off x="6492240" y="4672584"/>
            <a:ext cx="4526280" cy="484632"/>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Tanker fleet, cycles, permissions, loading slots and receiving capacity are required.</a:t>
            </a:r>
          </a:p>
        </p:txBody>
      </p:sp>
      <p:sp>
        <p:nvSpPr>
          <p:cNvPr id="165" name="TextBox 164"/>
          <p:cNvSpPr txBox="1"/>
          <p:nvPr/>
        </p:nvSpPr>
        <p:spPr>
          <a:xfrm>
            <a:off x="6492240" y="5175504"/>
            <a:ext cx="4526280" cy="27432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Earlier layers remain context</a:t>
            </a:r>
          </a:p>
        </p:txBody>
      </p:sp>
      <p:sp>
        <p:nvSpPr>
          <p:cNvPr id="166" name="TextBox 165"/>
          <p:cNvSpPr txBox="1"/>
          <p:nvPr/>
        </p:nvSpPr>
        <p:spPr>
          <a:xfrm>
            <a:off x="6492240" y="5468112"/>
            <a:ext cx="4526280" cy="484632"/>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Production, pipes and ports are subdued; selected roads are highlighted.</a:t>
            </a:r>
          </a:p>
        </p:txBody>
      </p:sp>
      <p:cxnSp>
        <p:nvCxnSpPr>
          <p:cNvPr id="167" name="Connector 166"/>
          <p:cNvCxnSpPr/>
          <p:nvPr/>
        </p:nvCxnSpPr>
        <p:spPr>
          <a:xfrm>
            <a:off x="594360" y="6300216"/>
            <a:ext cx="320040" cy="0"/>
          </a:xfrm>
          <a:prstGeom prst="line">
            <a:avLst/>
          </a:prstGeom>
          <a:ln w="17780">
            <a:solidFill>
              <a:srgbClr val="A0A0A0"/>
            </a:solidFill>
          </a:ln>
        </p:spPr>
        <p:style>
          <a:lnRef idx="2">
            <a:schemeClr val="accent1"/>
          </a:lnRef>
          <a:fillRef idx="0">
            <a:schemeClr val="accent1"/>
          </a:fillRef>
          <a:effectRef idx="1">
            <a:schemeClr val="accent1"/>
          </a:effectRef>
          <a:fontRef idx="minor">
            <a:schemeClr val="tx1"/>
          </a:fontRef>
        </p:style>
      </p:cxnSp>
      <p:sp>
        <p:nvSpPr>
          <p:cNvPr id="168" name="TextBox 167"/>
          <p:cNvSpPr txBox="1"/>
          <p:nvPr/>
        </p:nvSpPr>
        <p:spPr>
          <a:xfrm>
            <a:off x="987552" y="6190488"/>
            <a:ext cx="109728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Pipelines</a:t>
            </a:r>
          </a:p>
        </p:txBody>
      </p:sp>
      <p:cxnSp>
        <p:nvCxnSpPr>
          <p:cNvPr id="169" name="Connector 168"/>
          <p:cNvCxnSpPr/>
          <p:nvPr/>
        </p:nvCxnSpPr>
        <p:spPr>
          <a:xfrm>
            <a:off x="2103120" y="6300216"/>
            <a:ext cx="320040" cy="0"/>
          </a:xfrm>
          <a:prstGeom prst="line">
            <a:avLst/>
          </a:prstGeom>
          <a:ln w="17780">
            <a:solidFill>
              <a:srgbClr val="0A2373"/>
            </a:solidFill>
          </a:ln>
        </p:spPr>
        <p:style>
          <a:lnRef idx="2">
            <a:schemeClr val="accent1"/>
          </a:lnRef>
          <a:fillRef idx="0">
            <a:schemeClr val="accent1"/>
          </a:fillRef>
          <a:effectRef idx="1">
            <a:schemeClr val="accent1"/>
          </a:effectRef>
          <a:fontRef idx="minor">
            <a:schemeClr val="tx1"/>
          </a:fontRef>
        </p:style>
      </p:cxnSp>
      <p:sp>
        <p:nvSpPr>
          <p:cNvPr id="170" name="TextBox 169"/>
          <p:cNvSpPr txBox="1"/>
          <p:nvPr/>
        </p:nvSpPr>
        <p:spPr>
          <a:xfrm>
            <a:off x="2496312" y="6190488"/>
            <a:ext cx="109728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Roads</a:t>
            </a:r>
          </a:p>
        </p:txBody>
      </p:sp>
      <p:sp>
        <p:nvSpPr>
          <p:cNvPr id="171" name="TextBox 170"/>
          <p:cNvSpPr txBox="1"/>
          <p:nvPr/>
        </p:nvSpPr>
        <p:spPr>
          <a:xfrm>
            <a:off x="6492240" y="6217920"/>
            <a:ext cx="4526280" cy="27432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Same map extent on all seven pages. Connections are schematic; no route-capacity or fuel-service claim.</a:t>
            </a:r>
          </a:p>
        </p:txBody>
      </p:sp>
      <p:sp>
        <p:nvSpPr>
          <p:cNvPr id="172" name="TextBox 171"/>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SANRAL national network and corridor publications; Natural Earth; approximate waypoints, not a route-capacity dataset.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Add rail connections and identify where fuel service needs verification</a:t>
            </a:r>
          </a:p>
        </p:txBody>
      </p:sp>
      <p:sp>
        <p:nvSpPr>
          <p:cNvPr id="3" name="Slide Number Placeholder"/>
          <p:cNvSpPr>
            <a:spLocks noGrp="1"/>
          </p:cNvSpPr>
          <p:nvPr>
            <p:ph type="sldNum" sz="quarter" idx="12"/>
          </p:nvPr>
        </p:nvSpPr>
        <p:spPr/>
        <p:txBody>
          <a:bodyPr/>
          <a:lstStyle/>
          <a:p>
            <a:fld id="{4AA8C1A1-A560-4E0B-BD10-0B8E736A4715}"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sp>
        <p:nvSpPr>
          <p:cNvPr id="5" name="Freeform 4"/>
          <p:cNvSpPr/>
          <p:nvPr/>
        </p:nvSpPr>
        <p:spPr>
          <a:xfrm>
            <a:off x="1069568" y="2536309"/>
            <a:ext cx="3919244" cy="3025970"/>
          </a:xfrm>
          <a:custGeom>
            <a:avLst/>
            <a:gdLst/>
            <a:ahLst/>
            <a:cxnLst/>
            <a:rect l="l" t="t" r="r" b="b"/>
            <a:pathLst>
              <a:path w="3919244" h="3025970">
                <a:moveTo>
                  <a:pt x="0" y="1541863"/>
                </a:moveTo>
                <a:lnTo>
                  <a:pt x="113889" y="1424288"/>
                </a:lnTo>
                <a:lnTo>
                  <a:pt x="207777" y="1489378"/>
                </a:lnTo>
                <a:lnTo>
                  <a:pt x="247853" y="1591030"/>
                </a:lnTo>
                <a:lnTo>
                  <a:pt x="354518" y="1608353"/>
                </a:lnTo>
                <a:lnTo>
                  <a:pt x="503998" y="1653307"/>
                </a:lnTo>
                <a:lnTo>
                  <a:pt x="631721" y="1635947"/>
                </a:lnTo>
                <a:lnTo>
                  <a:pt x="843933" y="1514379"/>
                </a:lnTo>
                <a:lnTo>
                  <a:pt x="844179" y="636316"/>
                </a:lnTo>
                <a:lnTo>
                  <a:pt x="908360" y="672018"/>
                </a:lnTo>
                <a:lnTo>
                  <a:pt x="1049314" y="897917"/>
                </a:lnTo>
                <a:lnTo>
                  <a:pt x="1027409" y="1042778"/>
                </a:lnTo>
                <a:lnTo>
                  <a:pt x="1080459" y="1126248"/>
                </a:lnTo>
                <a:lnTo>
                  <a:pt x="1250752" y="1101996"/>
                </a:lnTo>
                <a:lnTo>
                  <a:pt x="1369641" y="995896"/>
                </a:lnTo>
                <a:lnTo>
                  <a:pt x="1482228" y="924380"/>
                </a:lnTo>
                <a:lnTo>
                  <a:pt x="1540413" y="810504"/>
                </a:lnTo>
                <a:lnTo>
                  <a:pt x="1656391" y="755402"/>
                </a:lnTo>
                <a:lnTo>
                  <a:pt x="1756593" y="784273"/>
                </a:lnTo>
                <a:lnTo>
                  <a:pt x="1870163" y="850862"/>
                </a:lnTo>
                <a:lnTo>
                  <a:pt x="2063664" y="862620"/>
                </a:lnTo>
                <a:lnTo>
                  <a:pt x="2215700" y="807260"/>
                </a:lnTo>
                <a:lnTo>
                  <a:pt x="2239756" y="733091"/>
                </a:lnTo>
                <a:lnTo>
                  <a:pt x="2281552" y="619337"/>
                </a:lnTo>
                <a:lnTo>
                  <a:pt x="2410908" y="600307"/>
                </a:lnTo>
                <a:lnTo>
                  <a:pt x="2482387" y="511001"/>
                </a:lnTo>
                <a:lnTo>
                  <a:pt x="2561557" y="352576"/>
                </a:lnTo>
                <a:lnTo>
                  <a:pt x="2775009" y="175084"/>
                </a:lnTo>
                <a:lnTo>
                  <a:pt x="3111406" y="0"/>
                </a:lnTo>
                <a:lnTo>
                  <a:pt x="3208132" y="2592"/>
                </a:lnTo>
                <a:lnTo>
                  <a:pt x="3323163" y="42865"/>
                </a:lnTo>
                <a:lnTo>
                  <a:pt x="3403278" y="14325"/>
                </a:lnTo>
                <a:lnTo>
                  <a:pt x="3529650" y="38085"/>
                </a:lnTo>
                <a:lnTo>
                  <a:pt x="3643527" y="372700"/>
                </a:lnTo>
                <a:lnTo>
                  <a:pt x="3705385" y="541605"/>
                </a:lnTo>
                <a:lnTo>
                  <a:pt x="3663024" y="806658"/>
                </a:lnTo>
                <a:lnTo>
                  <a:pt x="3683320" y="892020"/>
                </a:lnTo>
                <a:lnTo>
                  <a:pt x="3563350" y="848479"/>
                </a:lnTo>
                <a:lnTo>
                  <a:pt x="3494623" y="865421"/>
                </a:lnTo>
                <a:lnTo>
                  <a:pt x="3472177" y="934651"/>
                </a:lnTo>
                <a:lnTo>
                  <a:pt x="3407259" y="1023907"/>
                </a:lnTo>
                <a:lnTo>
                  <a:pt x="3409483" y="1106111"/>
                </a:lnTo>
                <a:lnTo>
                  <a:pt x="3551371" y="1234977"/>
                </a:lnTo>
                <a:lnTo>
                  <a:pt x="3690520" y="1209312"/>
                </a:lnTo>
                <a:lnTo>
                  <a:pt x="3738925" y="1103728"/>
                </a:lnTo>
                <a:lnTo>
                  <a:pt x="3919244" y="1105718"/>
                </a:lnTo>
                <a:lnTo>
                  <a:pt x="3859842" y="1278788"/>
                </a:lnTo>
                <a:lnTo>
                  <a:pt x="3831757" y="1476318"/>
                </a:lnTo>
                <a:lnTo>
                  <a:pt x="3770242" y="1583634"/>
                </a:lnTo>
                <a:lnTo>
                  <a:pt x="3608008" y="1703691"/>
                </a:lnTo>
                <a:lnTo>
                  <a:pt x="3561544" y="1738066"/>
                </a:lnTo>
                <a:lnTo>
                  <a:pt x="3460788" y="1858835"/>
                </a:lnTo>
                <a:lnTo>
                  <a:pt x="3394470" y="1980993"/>
                </a:lnTo>
                <a:lnTo>
                  <a:pt x="3259646" y="2151335"/>
                </a:lnTo>
                <a:lnTo>
                  <a:pt x="2990956" y="2396632"/>
                </a:lnTo>
                <a:lnTo>
                  <a:pt x="2823157" y="2539258"/>
                </a:lnTo>
                <a:lnTo>
                  <a:pt x="2643625" y="2647434"/>
                </a:lnTo>
                <a:lnTo>
                  <a:pt x="2395146" y="2739675"/>
                </a:lnTo>
                <a:lnTo>
                  <a:pt x="2273947" y="2752059"/>
                </a:lnTo>
                <a:lnTo>
                  <a:pt x="2243269" y="2818058"/>
                </a:lnTo>
                <a:lnTo>
                  <a:pt x="2098776" y="2782921"/>
                </a:lnTo>
                <a:lnTo>
                  <a:pt x="1981091" y="2828170"/>
                </a:lnTo>
                <a:lnTo>
                  <a:pt x="1723422" y="2782356"/>
                </a:lnTo>
                <a:lnTo>
                  <a:pt x="1579384" y="2811350"/>
                </a:lnTo>
                <a:lnTo>
                  <a:pt x="1480950" y="2798905"/>
                </a:lnTo>
                <a:lnTo>
                  <a:pt x="1235751" y="2892756"/>
                </a:lnTo>
                <a:lnTo>
                  <a:pt x="1032778" y="2930399"/>
                </a:lnTo>
                <a:lnTo>
                  <a:pt x="885901" y="3020258"/>
                </a:lnTo>
                <a:lnTo>
                  <a:pt x="777762" y="3025970"/>
                </a:lnTo>
                <a:lnTo>
                  <a:pt x="677166" y="2941199"/>
                </a:lnTo>
                <a:lnTo>
                  <a:pt x="596818" y="2936850"/>
                </a:lnTo>
                <a:lnTo>
                  <a:pt x="494428" y="2830713"/>
                </a:lnTo>
                <a:lnTo>
                  <a:pt x="483199" y="2863676"/>
                </a:lnTo>
                <a:lnTo>
                  <a:pt x="451600" y="2799777"/>
                </a:lnTo>
                <a:lnTo>
                  <a:pt x="452927" y="2660383"/>
                </a:lnTo>
                <a:lnTo>
                  <a:pt x="375686" y="2501061"/>
                </a:lnTo>
                <a:lnTo>
                  <a:pt x="452411" y="2457754"/>
                </a:lnTo>
                <a:lnTo>
                  <a:pt x="446194" y="2275286"/>
                </a:lnTo>
                <a:lnTo>
                  <a:pt x="290509" y="2052778"/>
                </a:lnTo>
                <a:lnTo>
                  <a:pt x="171042" y="1851390"/>
                </a:lnTo>
                <a:lnTo>
                  <a:pt x="170686" y="1850751"/>
                </a:lnTo>
                <a:lnTo>
                  <a:pt x="0" y="1541863"/>
                </a:lnTo>
                <a:close/>
              </a:path>
            </a:pathLst>
          </a:custGeom>
          <a:solidFill>
            <a:srgbClr val="CED3E3"/>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3602560" y="4095003"/>
            <a:ext cx="552970" cy="474919"/>
          </a:xfrm>
          <a:custGeom>
            <a:avLst/>
            <a:gdLst/>
            <a:ahLst/>
            <a:cxnLst/>
            <a:rect l="l" t="t" r="r" b="b"/>
            <a:pathLst>
              <a:path w="552970" h="474919">
                <a:moveTo>
                  <a:pt x="470496" y="73248"/>
                </a:moveTo>
                <a:lnTo>
                  <a:pt x="552970" y="144997"/>
                </a:lnTo>
                <a:lnTo>
                  <a:pt x="480042" y="260630"/>
                </a:lnTo>
                <a:lnTo>
                  <a:pt x="439622" y="338203"/>
                </a:lnTo>
                <a:lnTo>
                  <a:pt x="307119" y="375330"/>
                </a:lnTo>
                <a:lnTo>
                  <a:pt x="263407" y="451293"/>
                </a:lnTo>
                <a:lnTo>
                  <a:pt x="178340" y="474919"/>
                </a:lnTo>
                <a:lnTo>
                  <a:pt x="0" y="292057"/>
                </a:lnTo>
                <a:lnTo>
                  <a:pt x="126777" y="141508"/>
                </a:lnTo>
                <a:lnTo>
                  <a:pt x="255593" y="48492"/>
                </a:lnTo>
                <a:lnTo>
                  <a:pt x="366705" y="0"/>
                </a:lnTo>
                <a:lnTo>
                  <a:pt x="470496" y="73248"/>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3577326" y="2039112"/>
            <a:ext cx="1384861" cy="540062"/>
          </a:xfrm>
          <a:custGeom>
            <a:avLst/>
            <a:gdLst/>
            <a:ahLst/>
            <a:cxnLst/>
            <a:rect l="l" t="t" r="r" b="b"/>
            <a:pathLst>
              <a:path w="1384861" h="540062">
                <a:moveTo>
                  <a:pt x="1021892" y="535282"/>
                </a:moveTo>
                <a:lnTo>
                  <a:pt x="895520" y="511522"/>
                </a:lnTo>
                <a:lnTo>
                  <a:pt x="815405" y="540062"/>
                </a:lnTo>
                <a:lnTo>
                  <a:pt x="700374" y="499789"/>
                </a:lnTo>
                <a:lnTo>
                  <a:pt x="603648" y="497197"/>
                </a:lnTo>
                <a:lnTo>
                  <a:pt x="452078" y="389770"/>
                </a:lnTo>
                <a:lnTo>
                  <a:pt x="268234" y="353281"/>
                </a:lnTo>
                <a:lnTo>
                  <a:pt x="198304" y="202510"/>
                </a:lnTo>
                <a:lnTo>
                  <a:pt x="197714" y="118648"/>
                </a:lnTo>
                <a:lnTo>
                  <a:pt x="95902" y="93081"/>
                </a:lnTo>
                <a:lnTo>
                  <a:pt x="0" y="0"/>
                </a:lnTo>
                <a:lnTo>
                  <a:pt x="1384861" y="0"/>
                </a:lnTo>
                <a:lnTo>
                  <a:pt x="1370979" y="72343"/>
                </a:lnTo>
                <a:lnTo>
                  <a:pt x="1335068" y="93978"/>
                </a:lnTo>
                <a:lnTo>
                  <a:pt x="1272374" y="265438"/>
                </a:lnTo>
                <a:lnTo>
                  <a:pt x="1021892" y="535282"/>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913673" y="2039112"/>
            <a:ext cx="2267301" cy="1623445"/>
          </a:xfrm>
          <a:custGeom>
            <a:avLst/>
            <a:gdLst/>
            <a:ahLst/>
            <a:cxnLst/>
            <a:rect l="l" t="t" r="r" b="b"/>
            <a:pathLst>
              <a:path w="2267301" h="1623445">
                <a:moveTo>
                  <a:pt x="2267301" y="497197"/>
                </a:moveTo>
                <a:lnTo>
                  <a:pt x="1930904" y="672281"/>
                </a:lnTo>
                <a:lnTo>
                  <a:pt x="1717452" y="849773"/>
                </a:lnTo>
                <a:lnTo>
                  <a:pt x="1638282" y="1008198"/>
                </a:lnTo>
                <a:lnTo>
                  <a:pt x="1566803" y="1097504"/>
                </a:lnTo>
                <a:lnTo>
                  <a:pt x="1437447" y="1116534"/>
                </a:lnTo>
                <a:lnTo>
                  <a:pt x="1395651" y="1230288"/>
                </a:lnTo>
                <a:lnTo>
                  <a:pt x="1371595" y="1304457"/>
                </a:lnTo>
                <a:lnTo>
                  <a:pt x="1219559" y="1359817"/>
                </a:lnTo>
                <a:lnTo>
                  <a:pt x="1026058" y="1348059"/>
                </a:lnTo>
                <a:lnTo>
                  <a:pt x="912488" y="1281470"/>
                </a:lnTo>
                <a:lnTo>
                  <a:pt x="812286" y="1252599"/>
                </a:lnTo>
                <a:lnTo>
                  <a:pt x="696308" y="1307701"/>
                </a:lnTo>
                <a:lnTo>
                  <a:pt x="638123" y="1421577"/>
                </a:lnTo>
                <a:lnTo>
                  <a:pt x="525536" y="1493093"/>
                </a:lnTo>
                <a:lnTo>
                  <a:pt x="406647" y="1599193"/>
                </a:lnTo>
                <a:lnTo>
                  <a:pt x="236354" y="1623445"/>
                </a:lnTo>
                <a:lnTo>
                  <a:pt x="183304" y="1539975"/>
                </a:lnTo>
                <a:lnTo>
                  <a:pt x="205209" y="1395114"/>
                </a:lnTo>
                <a:lnTo>
                  <a:pt x="64255" y="1169215"/>
                </a:lnTo>
                <a:lnTo>
                  <a:pt x="74" y="1133513"/>
                </a:lnTo>
                <a:lnTo>
                  <a:pt x="0" y="439625"/>
                </a:lnTo>
                <a:lnTo>
                  <a:pt x="234339" y="431345"/>
                </a:lnTo>
                <a:lnTo>
                  <a:pt x="237912" y="0"/>
                </a:lnTo>
                <a:lnTo>
                  <a:pt x="1663653" y="0"/>
                </a:lnTo>
                <a:lnTo>
                  <a:pt x="1759555" y="93081"/>
                </a:lnTo>
                <a:lnTo>
                  <a:pt x="1861367" y="118648"/>
                </a:lnTo>
                <a:lnTo>
                  <a:pt x="1861957" y="202510"/>
                </a:lnTo>
                <a:lnTo>
                  <a:pt x="1931887" y="353281"/>
                </a:lnTo>
                <a:lnTo>
                  <a:pt x="2115731" y="389770"/>
                </a:lnTo>
                <a:lnTo>
                  <a:pt x="2267301" y="497197"/>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749808" y="2039112"/>
            <a:ext cx="1401777" cy="2150504"/>
          </a:xfrm>
          <a:custGeom>
            <a:avLst/>
            <a:gdLst/>
            <a:ahLst/>
            <a:cxnLst/>
            <a:rect l="l" t="t" r="r" b="b"/>
            <a:pathLst>
              <a:path w="1401777" h="2150504">
                <a:moveTo>
                  <a:pt x="1163939" y="1133513"/>
                </a:moveTo>
                <a:lnTo>
                  <a:pt x="1163693" y="2011576"/>
                </a:lnTo>
                <a:lnTo>
                  <a:pt x="951481" y="2133144"/>
                </a:lnTo>
                <a:lnTo>
                  <a:pt x="823758" y="2150504"/>
                </a:lnTo>
                <a:lnTo>
                  <a:pt x="674278" y="2105550"/>
                </a:lnTo>
                <a:lnTo>
                  <a:pt x="567613" y="2088227"/>
                </a:lnTo>
                <a:lnTo>
                  <a:pt x="527537" y="1986575"/>
                </a:lnTo>
                <a:lnTo>
                  <a:pt x="433649" y="1921485"/>
                </a:lnTo>
                <a:lnTo>
                  <a:pt x="319760" y="2039060"/>
                </a:lnTo>
                <a:lnTo>
                  <a:pt x="143078" y="1859454"/>
                </a:lnTo>
                <a:lnTo>
                  <a:pt x="50038" y="1685832"/>
                </a:lnTo>
                <a:lnTo>
                  <a:pt x="0" y="1465156"/>
                </a:lnTo>
                <a:lnTo>
                  <a:pt x="0" y="0"/>
                </a:lnTo>
                <a:lnTo>
                  <a:pt x="1401777" y="0"/>
                </a:lnTo>
                <a:lnTo>
                  <a:pt x="1398204" y="431345"/>
                </a:lnTo>
                <a:lnTo>
                  <a:pt x="1163865" y="439625"/>
                </a:lnTo>
                <a:lnTo>
                  <a:pt x="1163939" y="1133513"/>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599218" y="2039112"/>
            <a:ext cx="1049892" cy="1602915"/>
          </a:xfrm>
          <a:custGeom>
            <a:avLst/>
            <a:gdLst/>
            <a:ahLst/>
            <a:cxnLst/>
            <a:rect l="l" t="t" r="r" b="b"/>
            <a:pathLst>
              <a:path w="1049892" h="1602915">
                <a:moveTo>
                  <a:pt x="848599" y="0"/>
                </a:moveTo>
                <a:lnTo>
                  <a:pt x="834596" y="118168"/>
                </a:lnTo>
                <a:lnTo>
                  <a:pt x="947343" y="298216"/>
                </a:lnTo>
                <a:lnTo>
                  <a:pt x="994250" y="437647"/>
                </a:lnTo>
                <a:lnTo>
                  <a:pt x="997203" y="508772"/>
                </a:lnTo>
                <a:lnTo>
                  <a:pt x="1039211" y="496884"/>
                </a:lnTo>
                <a:lnTo>
                  <a:pt x="1032409" y="730061"/>
                </a:lnTo>
                <a:lnTo>
                  <a:pt x="993857" y="840510"/>
                </a:lnTo>
                <a:lnTo>
                  <a:pt x="1049892" y="881213"/>
                </a:lnTo>
                <a:lnTo>
                  <a:pt x="1014534" y="980125"/>
                </a:lnTo>
                <a:lnTo>
                  <a:pt x="915154" y="1064701"/>
                </a:lnTo>
                <a:lnTo>
                  <a:pt x="719036" y="1145049"/>
                </a:lnTo>
                <a:lnTo>
                  <a:pt x="433122" y="1273730"/>
                </a:lnTo>
                <a:lnTo>
                  <a:pt x="328853" y="1361635"/>
                </a:lnTo>
                <a:lnTo>
                  <a:pt x="349235" y="1461788"/>
                </a:lnTo>
                <a:lnTo>
                  <a:pt x="410000" y="1477785"/>
                </a:lnTo>
                <a:lnTo>
                  <a:pt x="389594" y="1602915"/>
                </a:lnTo>
                <a:lnTo>
                  <a:pt x="209275" y="1600925"/>
                </a:lnTo>
                <a:lnTo>
                  <a:pt x="188857" y="1495832"/>
                </a:lnTo>
                <a:lnTo>
                  <a:pt x="153670" y="1389217"/>
                </a:lnTo>
                <a:lnTo>
                  <a:pt x="133374" y="1303855"/>
                </a:lnTo>
                <a:lnTo>
                  <a:pt x="175735" y="1038802"/>
                </a:lnTo>
                <a:lnTo>
                  <a:pt x="113877" y="869897"/>
                </a:lnTo>
                <a:lnTo>
                  <a:pt x="0" y="535282"/>
                </a:lnTo>
                <a:lnTo>
                  <a:pt x="250482" y="265438"/>
                </a:lnTo>
                <a:lnTo>
                  <a:pt x="313176" y="93978"/>
                </a:lnTo>
                <a:lnTo>
                  <a:pt x="349087" y="72343"/>
                </a:lnTo>
                <a:lnTo>
                  <a:pt x="362969" y="0"/>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476827" y="3384788"/>
            <a:ext cx="331666" cy="386498"/>
          </a:xfrm>
          <a:custGeom>
            <a:avLst/>
            <a:gdLst/>
            <a:ahLst/>
            <a:cxnLst/>
            <a:rect l="l" t="t" r="r" b="b"/>
            <a:pathLst>
              <a:path w="331666" h="386498">
                <a:moveTo>
                  <a:pt x="331666" y="255249"/>
                </a:moveTo>
                <a:lnTo>
                  <a:pt x="283261" y="360833"/>
                </a:lnTo>
                <a:lnTo>
                  <a:pt x="144112" y="386498"/>
                </a:lnTo>
                <a:lnTo>
                  <a:pt x="2224" y="257632"/>
                </a:lnTo>
                <a:lnTo>
                  <a:pt x="0" y="175428"/>
                </a:lnTo>
                <a:lnTo>
                  <a:pt x="64918" y="86172"/>
                </a:lnTo>
                <a:lnTo>
                  <a:pt x="87364" y="16942"/>
                </a:lnTo>
                <a:lnTo>
                  <a:pt x="156091" y="0"/>
                </a:lnTo>
                <a:lnTo>
                  <a:pt x="276061" y="43541"/>
                </a:lnTo>
                <a:lnTo>
                  <a:pt x="311248" y="150156"/>
                </a:lnTo>
                <a:lnTo>
                  <a:pt x="331666" y="255249"/>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1 Production</a:t>
            </a:r>
          </a:p>
        </p:txBody>
      </p:sp>
      <p:sp>
        <p:nvSpPr>
          <p:cNvPr id="13" name="TextBox 12"/>
          <p:cNvSpPr txBox="1"/>
          <p:nvPr/>
        </p:nvSpPr>
        <p:spPr>
          <a:xfrm>
            <a:off x="2075688"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2 Pipelines</a:t>
            </a:r>
          </a:p>
        </p:txBody>
      </p:sp>
      <p:sp>
        <p:nvSpPr>
          <p:cNvPr id="14" name="TextBox 13"/>
          <p:cNvSpPr txBox="1"/>
          <p:nvPr/>
        </p:nvSpPr>
        <p:spPr>
          <a:xfrm>
            <a:off x="3602736"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3 Ports</a:t>
            </a:r>
          </a:p>
        </p:txBody>
      </p:sp>
      <p:sp>
        <p:nvSpPr>
          <p:cNvPr id="15" name="TextBox 14"/>
          <p:cNvSpPr txBox="1"/>
          <p:nvPr/>
        </p:nvSpPr>
        <p:spPr>
          <a:xfrm>
            <a:off x="5129783"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4 Roads</a:t>
            </a:r>
          </a:p>
        </p:txBody>
      </p:sp>
      <p:sp>
        <p:nvSpPr>
          <p:cNvPr id="16" name="TextBox 15"/>
          <p:cNvSpPr txBox="1"/>
          <p:nvPr/>
        </p:nvSpPr>
        <p:spPr>
          <a:xfrm>
            <a:off x="6656831" y="1673352"/>
            <a:ext cx="1481328" cy="274320"/>
          </a:xfrm>
          <a:prstGeom prst="rect">
            <a:avLst/>
          </a:prstGeom>
          <a:noFill/>
        </p:spPr>
        <p:txBody>
          <a:bodyPr wrap="square" lIns="18288" rIns="18288" tIns="0" bIns="0">
            <a:spAutoFit/>
          </a:bodyPr>
          <a:lstStyle/>
          <a:p>
            <a:pPr>
              <a:spcAft>
                <a:spcPts val="800"/>
              </a:spcAft>
              <a:defRPr sz="1050" b="1">
                <a:solidFill>
                  <a:srgbClr val="0A2373"/>
                </a:solidFill>
                <a:latin typeface="Lato"/>
              </a:defRPr>
            </a:pPr>
            <a:r>
              <a:t>5 Rail</a:t>
            </a:r>
          </a:p>
        </p:txBody>
      </p:sp>
      <p:sp>
        <p:nvSpPr>
          <p:cNvPr id="17" name="TextBox 16"/>
          <p:cNvSpPr txBox="1"/>
          <p:nvPr/>
        </p:nvSpPr>
        <p:spPr>
          <a:xfrm>
            <a:off x="8183879"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6 Storage</a:t>
            </a:r>
          </a:p>
        </p:txBody>
      </p:sp>
      <p:sp>
        <p:nvSpPr>
          <p:cNvPr id="18" name="TextBox 17"/>
          <p:cNvSpPr txBox="1"/>
          <p:nvPr/>
        </p:nvSpPr>
        <p:spPr>
          <a:xfrm>
            <a:off x="9710928"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7 Corridors</a:t>
            </a:r>
          </a:p>
        </p:txBody>
      </p:sp>
      <p:cxnSp>
        <p:nvCxnSpPr>
          <p:cNvPr id="19" name="Connector 18"/>
          <p:cNvCxnSpPr/>
          <p:nvPr/>
        </p:nvCxnSpPr>
        <p:spPr>
          <a:xfrm flipH="1" flipV="1">
            <a:off x="3933200" y="3570183"/>
            <a:ext cx="627644" cy="817839"/>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3804818" y="3570183"/>
            <a:ext cx="128382" cy="87965"/>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3521903" y="3658148"/>
            <a:ext cx="282915" cy="9510"/>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933200" y="3570183"/>
            <a:ext cx="185440" cy="26152"/>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4073469" y="3484595"/>
            <a:ext cx="45171" cy="111740"/>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3916558" y="3396630"/>
            <a:ext cx="156911" cy="87965"/>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3871386" y="3541654"/>
            <a:ext cx="61814" cy="28529"/>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3840480" y="3513124"/>
            <a:ext cx="30906" cy="28530"/>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4006900" y="4059935"/>
            <a:ext cx="553944" cy="328087"/>
          </a:xfrm>
          <a:prstGeom prst="line">
            <a:avLst/>
          </a:prstGeom>
          <a:ln w="8255">
            <a:solidFill>
              <a:srgbClr val="A0A0A0"/>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3804818" y="3658148"/>
            <a:ext cx="202082" cy="401787"/>
          </a:xfrm>
          <a:prstGeom prst="line">
            <a:avLst/>
          </a:prstGeom>
          <a:ln w="8255">
            <a:solidFill>
              <a:srgbClr val="A0A0A0"/>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451152" y="5136916"/>
            <a:ext cx="135514" cy="199705"/>
          </a:xfrm>
          <a:prstGeom prst="line">
            <a:avLst/>
          </a:prstGeom>
          <a:ln w="8255">
            <a:solidFill>
              <a:srgbClr val="A0A0A0"/>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4779568" y="2443276"/>
            <a:ext cx="748894" cy="886785"/>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4118640" y="3330061"/>
            <a:ext cx="660928" cy="266274"/>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3804818" y="3596335"/>
            <a:ext cx="313822" cy="61813"/>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3852367" y="3513124"/>
            <a:ext cx="266273" cy="83211"/>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118640" y="3596335"/>
            <a:ext cx="183063" cy="285293"/>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01703" y="3881628"/>
            <a:ext cx="465978" cy="237744"/>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67681" y="4119372"/>
            <a:ext cx="38039" cy="11887"/>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4553712" y="4119372"/>
            <a:ext cx="213969" cy="285292"/>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1565269" y="5284317"/>
            <a:ext cx="242499" cy="6181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807768" y="4975250"/>
            <a:ext cx="744139" cy="3090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2551907" y="4587727"/>
            <a:ext cx="599115" cy="38752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151022" y="4207337"/>
            <a:ext cx="263896" cy="3803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414918" y="3857853"/>
            <a:ext cx="242499" cy="3494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657417" y="3513124"/>
            <a:ext cx="194950" cy="3447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852367" y="3406140"/>
            <a:ext cx="33284" cy="1069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885651" y="2966313"/>
            <a:ext cx="299557" cy="43982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185208" y="2569281"/>
            <a:ext cx="128382" cy="39703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565269" y="5346131"/>
            <a:ext cx="475488" cy="285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040757" y="5374660"/>
            <a:ext cx="406543" cy="356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2447300" y="5358018"/>
            <a:ext cx="76078" cy="523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523378" y="5358018"/>
            <a:ext cx="216347" cy="2139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2739725" y="5358018"/>
            <a:ext cx="537301" cy="2139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277026" y="5270052"/>
            <a:ext cx="299558" cy="8796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576584" y="5136916"/>
            <a:ext cx="242499" cy="13313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819083" y="4794564"/>
            <a:ext cx="206837" cy="3423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025920" y="4547311"/>
            <a:ext cx="152156" cy="2472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178076" y="4547311"/>
            <a:ext cx="244876" cy="45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422952" y="4388022"/>
            <a:ext cx="137892" cy="20446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560844" y="4119372"/>
            <a:ext cx="206837" cy="26865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767681" y="3815059"/>
            <a:ext cx="40417" cy="30431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4548957" y="3703320"/>
            <a:ext cx="259141" cy="1117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4311213" y="3591580"/>
            <a:ext cx="237744" cy="11174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852367" y="3513124"/>
            <a:ext cx="73700" cy="7132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926067" y="3584448"/>
            <a:ext cx="175931" cy="20683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4101998" y="3791285"/>
            <a:ext cx="7132" cy="21634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109130" y="4007632"/>
            <a:ext cx="154534" cy="21872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4263664" y="4226356"/>
            <a:ext cx="145024" cy="95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4408688" y="4321454"/>
            <a:ext cx="152156" cy="6656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3296046" y="3294400"/>
            <a:ext cx="363748" cy="9272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659794" y="3387120"/>
            <a:ext cx="225857" cy="1902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885651" y="3406140"/>
            <a:ext cx="247254" cy="285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132905" y="3339571"/>
            <a:ext cx="413674" cy="95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546579" y="3332439"/>
            <a:ext cx="240122" cy="713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3414918" y="4207337"/>
            <a:ext cx="118872" cy="3803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3533790" y="4587727"/>
            <a:ext cx="40416" cy="28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3574206" y="4868265"/>
            <a:ext cx="128382" cy="15928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3702588" y="5027554"/>
            <a:ext cx="116495" cy="10936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1565269" y="5239146"/>
            <a:ext cx="64191" cy="10698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1629460" y="5032308"/>
            <a:ext cx="64191" cy="2068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1638970" y="4799319"/>
            <a:ext cx="54681" cy="23298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flipV="1">
            <a:off x="1434510" y="4338096"/>
            <a:ext cx="204460" cy="46122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flipV="1">
            <a:off x="1372697" y="4124126"/>
            <a:ext cx="61813" cy="21397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3265139" y="5029931"/>
            <a:ext cx="9510" cy="2710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3129625" y="4770790"/>
            <a:ext cx="135514" cy="25914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2908523" y="4426061"/>
            <a:ext cx="221102" cy="3447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2592324" y="4335719"/>
            <a:ext cx="316199" cy="90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1995586" y="4050426"/>
            <a:ext cx="596738" cy="28529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1933773" y="3408517"/>
            <a:ext cx="61813" cy="6419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2461564" y="5270052"/>
            <a:ext cx="61814" cy="8796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2461564" y="4975250"/>
            <a:ext cx="90343" cy="2948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2551907" y="4873020"/>
            <a:ext cx="135514" cy="10223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2687421" y="4426061"/>
            <a:ext cx="221102" cy="4469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2908523" y="4114617"/>
            <a:ext cx="164043" cy="3114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072566" y="3857853"/>
            <a:ext cx="197328" cy="256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269894" y="3670035"/>
            <a:ext cx="254386" cy="18781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524280" y="3634374"/>
            <a:ext cx="102230" cy="356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626510" y="3513124"/>
            <a:ext cx="225857" cy="12125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852367" y="3434669"/>
            <a:ext cx="280538" cy="784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434510" y="4209714"/>
            <a:ext cx="358994" cy="128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793504" y="4050426"/>
            <a:ext cx="202082" cy="15928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1995586" y="3812682"/>
            <a:ext cx="758403" cy="2377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753989" y="3693810"/>
            <a:ext cx="309068" cy="1188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063057" y="3544031"/>
            <a:ext cx="463600" cy="1497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526657" y="3489350"/>
            <a:ext cx="261519" cy="546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88176" y="3432291"/>
            <a:ext cx="97475" cy="570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3852367" y="3513124"/>
            <a:ext cx="92720" cy="1188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3945087" y="3525012"/>
            <a:ext cx="156911" cy="523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4101998" y="3577315"/>
            <a:ext cx="209215" cy="1426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4311213" y="3591580"/>
            <a:ext cx="197327" cy="380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072566" y="3967215"/>
            <a:ext cx="19020" cy="1474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3063057" y="3693810"/>
            <a:ext cx="28529" cy="2734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063057" y="3429914"/>
            <a:ext cx="216347" cy="26389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3262762" y="3294400"/>
            <a:ext cx="16642" cy="13551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3852367" y="3513124"/>
            <a:ext cx="708477" cy="874898"/>
          </a:xfrm>
          <a:prstGeom prst="line">
            <a:avLst/>
          </a:prstGeom>
          <a:ln w="2032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a:off x="3072566" y="3513124"/>
            <a:ext cx="779801" cy="601493"/>
          </a:xfrm>
          <a:prstGeom prst="line">
            <a:avLst/>
          </a:prstGeom>
          <a:ln w="2032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a:off x="2891881" y="4114617"/>
            <a:ext cx="180685" cy="456468"/>
          </a:xfrm>
          <a:prstGeom prst="line">
            <a:avLst/>
          </a:prstGeom>
          <a:ln w="2032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a:off x="1565269" y="4571085"/>
            <a:ext cx="1326612" cy="775046"/>
          </a:xfrm>
          <a:prstGeom prst="line">
            <a:avLst/>
          </a:prstGeom>
          <a:ln w="2032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a:off x="3414918" y="3513124"/>
            <a:ext cx="437449" cy="694213"/>
          </a:xfrm>
          <a:prstGeom prst="line">
            <a:avLst/>
          </a:prstGeom>
          <a:ln w="2032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3414918" y="4207337"/>
            <a:ext cx="404165" cy="929579"/>
          </a:xfrm>
          <a:prstGeom prst="line">
            <a:avLst/>
          </a:prstGeom>
          <a:ln w="2032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H="1">
            <a:off x="2891881" y="4207337"/>
            <a:ext cx="523037" cy="363748"/>
          </a:xfrm>
          <a:prstGeom prst="line">
            <a:avLst/>
          </a:prstGeom>
          <a:ln w="2032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2891881" y="4571085"/>
            <a:ext cx="385145" cy="786933"/>
          </a:xfrm>
          <a:prstGeom prst="line">
            <a:avLst/>
          </a:prstGeom>
          <a:ln w="2032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2891881" y="4571085"/>
            <a:ext cx="399410" cy="748894"/>
          </a:xfrm>
          <a:prstGeom prst="line">
            <a:avLst/>
          </a:prstGeom>
          <a:ln w="2032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H="1">
            <a:off x="1451152" y="3888760"/>
            <a:ext cx="1200608" cy="1248156"/>
          </a:xfrm>
          <a:prstGeom prst="line">
            <a:avLst/>
          </a:prstGeom>
          <a:ln w="2032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2651760" y="3888760"/>
            <a:ext cx="420806" cy="225857"/>
          </a:xfrm>
          <a:prstGeom prst="line">
            <a:avLst/>
          </a:prstGeom>
          <a:ln w="2032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H="1">
            <a:off x="2891881" y="4114617"/>
            <a:ext cx="180685" cy="456468"/>
          </a:xfrm>
          <a:prstGeom prst="line">
            <a:avLst/>
          </a:prstGeom>
          <a:ln w="2032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3852367" y="3513124"/>
            <a:ext cx="458846" cy="78456"/>
          </a:xfrm>
          <a:prstGeom prst="line">
            <a:avLst/>
          </a:prstGeom>
          <a:ln w="2032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4311213" y="3591580"/>
            <a:ext cx="494507" cy="539679"/>
          </a:xfrm>
          <a:prstGeom prst="line">
            <a:avLst/>
          </a:prstGeom>
          <a:ln w="20320">
            <a:solidFill>
              <a:srgbClr val="0A2373"/>
            </a:solidFill>
            <a:prstDash val="dashDot"/>
          </a:ln>
        </p:spPr>
        <p:style>
          <a:lnRef idx="2">
            <a:schemeClr val="accent1"/>
          </a:lnRef>
          <a:fillRef idx="0">
            <a:schemeClr val="accent1"/>
          </a:fillRef>
          <a:effectRef idx="1">
            <a:schemeClr val="accent1"/>
          </a:effectRef>
          <a:fontRef idx="minor">
            <a:schemeClr val="tx1"/>
          </a:fontRef>
        </p:style>
      </p:cxnSp>
      <p:sp>
        <p:nvSpPr>
          <p:cNvPr id="127" name="Oval 126"/>
          <p:cNvSpPr/>
          <p:nvPr/>
        </p:nvSpPr>
        <p:spPr>
          <a:xfrm>
            <a:off x="4510552" y="4337730"/>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3754526" y="3607856"/>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4068348" y="3546043"/>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536374" y="5286329"/>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2349459" y="5352897"/>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44097" y="4187952"/>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Connector 132"/>
          <p:cNvCxnSpPr/>
          <p:nvPr/>
        </p:nvCxnSpPr>
        <p:spPr>
          <a:xfrm flipH="1" flipV="1">
            <a:off x="822960" y="4133087"/>
            <a:ext cx="371429" cy="105157"/>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502920" y="4041648"/>
            <a:ext cx="89154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Port Nolloth*</a:t>
            </a:r>
          </a:p>
        </p:txBody>
      </p:sp>
      <p:sp>
        <p:nvSpPr>
          <p:cNvPr id="135" name="Rectangle 134"/>
          <p:cNvSpPr/>
          <p:nvPr/>
        </p:nvSpPr>
        <p:spPr>
          <a:xfrm>
            <a:off x="1400860" y="5086624"/>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6" name="Connector 135"/>
          <p:cNvCxnSpPr/>
          <p:nvPr/>
        </p:nvCxnSpPr>
        <p:spPr>
          <a:xfrm flipH="1" flipV="1">
            <a:off x="777240" y="5120640"/>
            <a:ext cx="673912" cy="16276"/>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457200" y="5029200"/>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Saldanha</a:t>
            </a:r>
          </a:p>
        </p:txBody>
      </p:sp>
      <p:sp>
        <p:nvSpPr>
          <p:cNvPr id="138" name="Rectangle 137"/>
          <p:cNvSpPr/>
          <p:nvPr/>
        </p:nvSpPr>
        <p:spPr>
          <a:xfrm>
            <a:off x="1514977" y="5295839"/>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9" name="Connector 138"/>
          <p:cNvCxnSpPr/>
          <p:nvPr/>
        </p:nvCxnSpPr>
        <p:spPr>
          <a:xfrm flipH="1">
            <a:off x="886968" y="5346131"/>
            <a:ext cx="678301" cy="249996"/>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566928" y="5504688"/>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Cape Town</a:t>
            </a:r>
          </a:p>
        </p:txBody>
      </p:sp>
      <p:sp>
        <p:nvSpPr>
          <p:cNvPr id="141" name="Rectangle 140"/>
          <p:cNvSpPr/>
          <p:nvPr/>
        </p:nvSpPr>
        <p:spPr>
          <a:xfrm>
            <a:off x="2397008" y="5360029"/>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Connector 141"/>
          <p:cNvCxnSpPr/>
          <p:nvPr/>
        </p:nvCxnSpPr>
        <p:spPr>
          <a:xfrm flipH="1">
            <a:off x="2331720" y="5410321"/>
            <a:ext cx="115580" cy="414406"/>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2011680" y="5733288"/>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Mossel Bay</a:t>
            </a:r>
          </a:p>
        </p:txBody>
      </p:sp>
      <p:sp>
        <p:nvSpPr>
          <p:cNvPr id="144" name="Rectangle 143"/>
          <p:cNvSpPr/>
          <p:nvPr/>
        </p:nvSpPr>
        <p:spPr>
          <a:xfrm>
            <a:off x="3226734" y="5307726"/>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5" name="Connector 144"/>
          <p:cNvCxnSpPr/>
          <p:nvPr/>
        </p:nvCxnSpPr>
        <p:spPr>
          <a:xfrm>
            <a:off x="3277026" y="5358018"/>
            <a:ext cx="444582" cy="448422"/>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46" name="TextBox 145"/>
          <p:cNvSpPr txBox="1"/>
          <p:nvPr/>
        </p:nvSpPr>
        <p:spPr>
          <a:xfrm>
            <a:off x="3401568" y="5715000"/>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Gqeberha</a:t>
            </a:r>
          </a:p>
        </p:txBody>
      </p:sp>
      <p:sp>
        <p:nvSpPr>
          <p:cNvPr id="147" name="Rectangle 146"/>
          <p:cNvSpPr/>
          <p:nvPr/>
        </p:nvSpPr>
        <p:spPr>
          <a:xfrm>
            <a:off x="3240999" y="5269687"/>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8" name="Connector 147"/>
          <p:cNvCxnSpPr/>
          <p:nvPr/>
        </p:nvCxnSpPr>
        <p:spPr>
          <a:xfrm>
            <a:off x="3291291" y="5319979"/>
            <a:ext cx="1143549" cy="102413"/>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49" name="TextBox 148"/>
          <p:cNvSpPr txBox="1"/>
          <p:nvPr/>
        </p:nvSpPr>
        <p:spPr>
          <a:xfrm>
            <a:off x="4114800" y="5330952"/>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Ngqura</a:t>
            </a:r>
          </a:p>
        </p:txBody>
      </p:sp>
      <p:sp>
        <p:nvSpPr>
          <p:cNvPr id="150" name="Rectangle 149"/>
          <p:cNvSpPr/>
          <p:nvPr/>
        </p:nvSpPr>
        <p:spPr>
          <a:xfrm>
            <a:off x="3768791" y="5086624"/>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1" name="Connector 150"/>
          <p:cNvCxnSpPr/>
          <p:nvPr/>
        </p:nvCxnSpPr>
        <p:spPr>
          <a:xfrm>
            <a:off x="3819083" y="5136916"/>
            <a:ext cx="1100389" cy="75163"/>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52" name="TextBox 151"/>
          <p:cNvSpPr txBox="1"/>
          <p:nvPr/>
        </p:nvSpPr>
        <p:spPr>
          <a:xfrm>
            <a:off x="4599432" y="5120640"/>
            <a:ext cx="75438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East London</a:t>
            </a:r>
          </a:p>
        </p:txBody>
      </p:sp>
      <p:sp>
        <p:nvSpPr>
          <p:cNvPr id="153" name="Rectangle 152"/>
          <p:cNvSpPr/>
          <p:nvPr/>
        </p:nvSpPr>
        <p:spPr>
          <a:xfrm>
            <a:off x="4510552" y="4337730"/>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4" name="Connector 153"/>
          <p:cNvCxnSpPr/>
          <p:nvPr/>
        </p:nvCxnSpPr>
        <p:spPr>
          <a:xfrm>
            <a:off x="4560844" y="4388022"/>
            <a:ext cx="468356" cy="65105"/>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55" name="TextBox 154"/>
          <p:cNvSpPr txBox="1"/>
          <p:nvPr/>
        </p:nvSpPr>
        <p:spPr>
          <a:xfrm>
            <a:off x="4709160" y="4361688"/>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Durban</a:t>
            </a:r>
          </a:p>
        </p:txBody>
      </p:sp>
      <p:sp>
        <p:nvSpPr>
          <p:cNvPr id="156" name="Rectangle 155"/>
          <p:cNvSpPr/>
          <p:nvPr/>
        </p:nvSpPr>
        <p:spPr>
          <a:xfrm>
            <a:off x="4755428" y="4080967"/>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7" name="Connector 156"/>
          <p:cNvCxnSpPr/>
          <p:nvPr/>
        </p:nvCxnSpPr>
        <p:spPr>
          <a:xfrm flipV="1">
            <a:off x="4805720" y="3867911"/>
            <a:ext cx="159472" cy="263348"/>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58" name="TextBox 157"/>
          <p:cNvSpPr txBox="1"/>
          <p:nvPr/>
        </p:nvSpPr>
        <p:spPr>
          <a:xfrm>
            <a:off x="4645152" y="3776472"/>
            <a:ext cx="822959"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Richards Bay</a:t>
            </a:r>
          </a:p>
        </p:txBody>
      </p:sp>
      <p:sp>
        <p:nvSpPr>
          <p:cNvPr id="159" name="Diamond 158"/>
          <p:cNvSpPr/>
          <p:nvPr/>
        </p:nvSpPr>
        <p:spPr>
          <a:xfrm>
            <a:off x="3802075" y="3462832"/>
            <a:ext cx="100584" cy="100584"/>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0" name="Connector 159"/>
          <p:cNvCxnSpPr/>
          <p:nvPr/>
        </p:nvCxnSpPr>
        <p:spPr>
          <a:xfrm flipH="1" flipV="1">
            <a:off x="3611880" y="2971800"/>
            <a:ext cx="240487" cy="541324"/>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61" name="TextBox 160"/>
          <p:cNvSpPr txBox="1"/>
          <p:nvPr/>
        </p:nvSpPr>
        <p:spPr>
          <a:xfrm>
            <a:off x="3291840" y="2880360"/>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Gauteng</a:t>
            </a:r>
          </a:p>
        </p:txBody>
      </p:sp>
      <p:sp>
        <p:nvSpPr>
          <p:cNvPr id="162" name="Diamond 161"/>
          <p:cNvSpPr/>
          <p:nvPr/>
        </p:nvSpPr>
        <p:spPr>
          <a:xfrm>
            <a:off x="3882908" y="3519891"/>
            <a:ext cx="100584" cy="100584"/>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3" name="Connector 162"/>
          <p:cNvCxnSpPr/>
          <p:nvPr/>
        </p:nvCxnSpPr>
        <p:spPr>
          <a:xfrm flipH="1" flipV="1">
            <a:off x="3227832" y="3429000"/>
            <a:ext cx="705368" cy="141183"/>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64" name="TextBox 163"/>
          <p:cNvSpPr txBox="1"/>
          <p:nvPr/>
        </p:nvSpPr>
        <p:spPr>
          <a:xfrm>
            <a:off x="2907792" y="3337560"/>
            <a:ext cx="822959"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Jameson Park</a:t>
            </a:r>
          </a:p>
        </p:txBody>
      </p:sp>
      <p:cxnSp>
        <p:nvCxnSpPr>
          <p:cNvPr id="165" name="Connector 164"/>
          <p:cNvCxnSpPr/>
          <p:nvPr/>
        </p:nvCxnSpPr>
        <p:spPr>
          <a:xfrm>
            <a:off x="6309360" y="2057400"/>
            <a:ext cx="0" cy="3977640"/>
          </a:xfrm>
          <a:prstGeom prst="line">
            <a:avLst/>
          </a:prstGeom>
          <a:ln w="5080">
            <a:solidFill>
              <a:srgbClr val="A0A0A0"/>
            </a:solidFill>
          </a:ln>
        </p:spPr>
        <p:style>
          <a:lnRef idx="2">
            <a:schemeClr val="accent1"/>
          </a:lnRef>
          <a:fillRef idx="0">
            <a:schemeClr val="accent1"/>
          </a:fillRef>
          <a:effectRef idx="1">
            <a:schemeClr val="accent1"/>
          </a:effectRef>
          <a:fontRef idx="minor">
            <a:schemeClr val="tx1"/>
          </a:fontRef>
        </p:style>
      </p:cxnSp>
      <p:sp>
        <p:nvSpPr>
          <p:cNvPr id="166" name="TextBox 165"/>
          <p:cNvSpPr txBox="1"/>
          <p:nvPr/>
        </p:nvSpPr>
        <p:spPr>
          <a:xfrm>
            <a:off x="6492240" y="2103120"/>
            <a:ext cx="4526280" cy="502920"/>
          </a:xfrm>
          <a:prstGeom prst="rect">
            <a:avLst/>
          </a:prstGeom>
          <a:noFill/>
        </p:spPr>
        <p:txBody>
          <a:bodyPr wrap="square" lIns="18288" rIns="18288" tIns="0" bIns="0">
            <a:spAutoFit/>
          </a:bodyPr>
          <a:lstStyle/>
          <a:p>
            <a:pPr>
              <a:spcAft>
                <a:spcPts val="800"/>
              </a:spcAft>
              <a:defRPr sz="1800" b="1">
                <a:solidFill>
                  <a:srgbClr val="000000"/>
                </a:solidFill>
                <a:latin typeface="Lato"/>
              </a:defRPr>
            </a:pPr>
            <a:r>
              <a:t>Add rail and test actual fuel service</a:t>
            </a:r>
          </a:p>
        </p:txBody>
      </p:sp>
      <p:sp>
        <p:nvSpPr>
          <p:cNvPr id="167" name="TextBox 166"/>
          <p:cNvSpPr txBox="1"/>
          <p:nvPr/>
        </p:nvSpPr>
        <p:spPr>
          <a:xfrm>
            <a:off x="6492240" y="2788920"/>
            <a:ext cx="4526280" cy="27432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Coastal–Gauteng routes</a:t>
            </a:r>
          </a:p>
        </p:txBody>
      </p:sp>
      <p:sp>
        <p:nvSpPr>
          <p:cNvPr id="168" name="TextBox 167"/>
          <p:cNvSpPr txBox="1"/>
          <p:nvPr/>
        </p:nvSpPr>
        <p:spPr>
          <a:xfrm>
            <a:off x="6492240" y="3081527"/>
            <a:ext cx="4526280" cy="484632"/>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Durban, Cape Town and Eastern Cape connections.</a:t>
            </a:r>
          </a:p>
        </p:txBody>
      </p:sp>
      <p:sp>
        <p:nvSpPr>
          <p:cNvPr id="169" name="TextBox 168"/>
          <p:cNvSpPr txBox="1"/>
          <p:nvPr/>
        </p:nvSpPr>
        <p:spPr>
          <a:xfrm>
            <a:off x="6492240" y="3584448"/>
            <a:ext cx="4526280" cy="27432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Other major network families</a:t>
            </a:r>
          </a:p>
        </p:txBody>
      </p:sp>
      <p:sp>
        <p:nvSpPr>
          <p:cNvPr id="170" name="TextBox 169"/>
          <p:cNvSpPr txBox="1"/>
          <p:nvPr/>
        </p:nvSpPr>
        <p:spPr>
          <a:xfrm>
            <a:off x="6492240" y="3877056"/>
            <a:ext cx="4526280" cy="484632"/>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Sishen–Saldanha; Northern Cape–Nelson Mandela Bay; eastern hinterland–Richards Bay.</a:t>
            </a:r>
          </a:p>
        </p:txBody>
      </p:sp>
      <p:sp>
        <p:nvSpPr>
          <p:cNvPr id="171" name="TextBox 170"/>
          <p:cNvSpPr txBox="1"/>
          <p:nvPr/>
        </p:nvSpPr>
        <p:spPr>
          <a:xfrm>
            <a:off x="6492240" y="4379976"/>
            <a:ext cx="4526280" cy="27432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Network presence is not fuel service</a:t>
            </a:r>
          </a:p>
        </p:txBody>
      </p:sp>
      <p:sp>
        <p:nvSpPr>
          <p:cNvPr id="172" name="TextBox 171"/>
          <p:cNvSpPr txBox="1"/>
          <p:nvPr/>
        </p:nvSpPr>
        <p:spPr>
          <a:xfrm>
            <a:off x="6492240" y="4672584"/>
            <a:ext cx="4526280" cy="484632"/>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Confirm fuel wagons, slots, sidings, service reliability and terminal interfaces.</a:t>
            </a:r>
          </a:p>
        </p:txBody>
      </p:sp>
      <p:sp>
        <p:nvSpPr>
          <p:cNvPr id="173" name="TextBox 172"/>
          <p:cNvSpPr txBox="1"/>
          <p:nvPr/>
        </p:nvSpPr>
        <p:spPr>
          <a:xfrm>
            <a:off x="6492240" y="5175504"/>
            <a:ext cx="4526280" cy="27432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Avoid treating bulk routes as fuel routes</a:t>
            </a:r>
          </a:p>
        </p:txBody>
      </p:sp>
      <p:sp>
        <p:nvSpPr>
          <p:cNvPr id="174" name="TextBox 173"/>
          <p:cNvSpPr txBox="1"/>
          <p:nvPr/>
        </p:nvSpPr>
        <p:spPr>
          <a:xfrm>
            <a:off x="6492240" y="5468112"/>
            <a:ext cx="4526280" cy="484632"/>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Iron ore and manganese corridors illustrate the network, not available fuel capacity.</a:t>
            </a:r>
          </a:p>
        </p:txBody>
      </p:sp>
      <p:cxnSp>
        <p:nvCxnSpPr>
          <p:cNvPr id="175" name="Connector 174"/>
          <p:cNvCxnSpPr/>
          <p:nvPr/>
        </p:nvCxnSpPr>
        <p:spPr>
          <a:xfrm>
            <a:off x="594360" y="6300216"/>
            <a:ext cx="320040" cy="0"/>
          </a:xfrm>
          <a:prstGeom prst="line">
            <a:avLst/>
          </a:prstGeom>
          <a:ln w="17780">
            <a:solidFill>
              <a:srgbClr val="A0A0A0"/>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987552" y="6190488"/>
            <a:ext cx="109728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Pipelines</a:t>
            </a:r>
          </a:p>
        </p:txBody>
      </p:sp>
      <p:cxnSp>
        <p:nvCxnSpPr>
          <p:cNvPr id="177" name="Connector 176"/>
          <p:cNvCxnSpPr/>
          <p:nvPr/>
        </p:nvCxnSpPr>
        <p:spPr>
          <a:xfrm>
            <a:off x="2103120" y="6300216"/>
            <a:ext cx="320040" cy="0"/>
          </a:xfrm>
          <a:prstGeom prst="line">
            <a:avLst/>
          </a:prstGeom>
          <a:ln w="17780">
            <a:solidFill>
              <a:srgbClr val="A0A0A0"/>
            </a:solidFill>
          </a:ln>
        </p:spPr>
        <p:style>
          <a:lnRef idx="2">
            <a:schemeClr val="accent1"/>
          </a:lnRef>
          <a:fillRef idx="0">
            <a:schemeClr val="accent1"/>
          </a:fillRef>
          <a:effectRef idx="1">
            <a:schemeClr val="accent1"/>
          </a:effectRef>
          <a:fontRef idx="minor">
            <a:schemeClr val="tx1"/>
          </a:fontRef>
        </p:style>
      </p:cxnSp>
      <p:sp>
        <p:nvSpPr>
          <p:cNvPr id="178" name="TextBox 177"/>
          <p:cNvSpPr txBox="1"/>
          <p:nvPr/>
        </p:nvSpPr>
        <p:spPr>
          <a:xfrm>
            <a:off x="2496312" y="6190488"/>
            <a:ext cx="109728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Roads</a:t>
            </a:r>
          </a:p>
        </p:txBody>
      </p:sp>
      <p:cxnSp>
        <p:nvCxnSpPr>
          <p:cNvPr id="179" name="Connector 178"/>
          <p:cNvCxnSpPr/>
          <p:nvPr/>
        </p:nvCxnSpPr>
        <p:spPr>
          <a:xfrm>
            <a:off x="3383280" y="6300216"/>
            <a:ext cx="320040" cy="0"/>
          </a:xfrm>
          <a:prstGeom prst="line">
            <a:avLst/>
          </a:prstGeom>
          <a:ln w="17780">
            <a:solidFill>
              <a:srgbClr val="0A2373"/>
            </a:solidFill>
            <a:prstDash val="dashDot"/>
          </a:ln>
        </p:spPr>
        <p:style>
          <a:lnRef idx="2">
            <a:schemeClr val="accent1"/>
          </a:lnRef>
          <a:fillRef idx="0">
            <a:schemeClr val="accent1"/>
          </a:fillRef>
          <a:effectRef idx="1">
            <a:schemeClr val="accent1"/>
          </a:effectRef>
          <a:fontRef idx="minor">
            <a:schemeClr val="tx1"/>
          </a:fontRef>
        </p:style>
      </p:cxnSp>
      <p:sp>
        <p:nvSpPr>
          <p:cNvPr id="180" name="TextBox 179"/>
          <p:cNvSpPr txBox="1"/>
          <p:nvPr/>
        </p:nvSpPr>
        <p:spPr>
          <a:xfrm>
            <a:off x="3776472" y="6190488"/>
            <a:ext cx="109728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Rail</a:t>
            </a:r>
          </a:p>
        </p:txBody>
      </p:sp>
      <p:sp>
        <p:nvSpPr>
          <p:cNvPr id="181" name="TextBox 180"/>
          <p:cNvSpPr txBox="1"/>
          <p:nvPr/>
        </p:nvSpPr>
        <p:spPr>
          <a:xfrm>
            <a:off x="6492240" y="6217920"/>
            <a:ext cx="4526280" cy="27432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Same map extent on all seven pages. Connections are schematic; no route-capacity or fuel-service claim.</a:t>
            </a:r>
          </a:p>
        </p:txBody>
      </p:sp>
      <p:sp>
        <p:nvSpPr>
          <p:cNvPr id="182" name="TextBox 181"/>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TFR corridor overview; Department of Transport rail/port corridors; Natural Earth. Route presence is not fuel service.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Locate storage across operators and reconcile capacity by product</a:t>
            </a:r>
          </a:p>
        </p:txBody>
      </p:sp>
      <p:sp>
        <p:nvSpPr>
          <p:cNvPr id="3" name="Slide Number Placeholder"/>
          <p:cNvSpPr>
            <a:spLocks noGrp="1"/>
          </p:cNvSpPr>
          <p:nvPr>
            <p:ph type="sldNum" sz="quarter" idx="12"/>
          </p:nvPr>
        </p:nvSpPr>
        <p:spPr/>
        <p:txBody>
          <a:bodyPr/>
          <a:lstStyle/>
          <a:p>
            <a:fld id="{7BA0A51C-5DFF-4340-BADB-B20DDA723BB5}"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sp>
        <p:nvSpPr>
          <p:cNvPr id="5" name="Freeform 4"/>
          <p:cNvSpPr/>
          <p:nvPr/>
        </p:nvSpPr>
        <p:spPr>
          <a:xfrm>
            <a:off x="1069568" y="2536309"/>
            <a:ext cx="3919244" cy="3025970"/>
          </a:xfrm>
          <a:custGeom>
            <a:avLst/>
            <a:gdLst/>
            <a:ahLst/>
            <a:cxnLst/>
            <a:rect l="l" t="t" r="r" b="b"/>
            <a:pathLst>
              <a:path w="3919244" h="3025970">
                <a:moveTo>
                  <a:pt x="0" y="1541863"/>
                </a:moveTo>
                <a:lnTo>
                  <a:pt x="113889" y="1424288"/>
                </a:lnTo>
                <a:lnTo>
                  <a:pt x="207777" y="1489378"/>
                </a:lnTo>
                <a:lnTo>
                  <a:pt x="247853" y="1591030"/>
                </a:lnTo>
                <a:lnTo>
                  <a:pt x="354518" y="1608353"/>
                </a:lnTo>
                <a:lnTo>
                  <a:pt x="503998" y="1653307"/>
                </a:lnTo>
                <a:lnTo>
                  <a:pt x="631721" y="1635947"/>
                </a:lnTo>
                <a:lnTo>
                  <a:pt x="843933" y="1514379"/>
                </a:lnTo>
                <a:lnTo>
                  <a:pt x="844179" y="636316"/>
                </a:lnTo>
                <a:lnTo>
                  <a:pt x="908360" y="672018"/>
                </a:lnTo>
                <a:lnTo>
                  <a:pt x="1049314" y="897917"/>
                </a:lnTo>
                <a:lnTo>
                  <a:pt x="1027409" y="1042778"/>
                </a:lnTo>
                <a:lnTo>
                  <a:pt x="1080459" y="1126248"/>
                </a:lnTo>
                <a:lnTo>
                  <a:pt x="1250752" y="1101996"/>
                </a:lnTo>
                <a:lnTo>
                  <a:pt x="1369641" y="995896"/>
                </a:lnTo>
                <a:lnTo>
                  <a:pt x="1482228" y="924380"/>
                </a:lnTo>
                <a:lnTo>
                  <a:pt x="1540413" y="810504"/>
                </a:lnTo>
                <a:lnTo>
                  <a:pt x="1656391" y="755402"/>
                </a:lnTo>
                <a:lnTo>
                  <a:pt x="1756593" y="784273"/>
                </a:lnTo>
                <a:lnTo>
                  <a:pt x="1870163" y="850862"/>
                </a:lnTo>
                <a:lnTo>
                  <a:pt x="2063664" y="862620"/>
                </a:lnTo>
                <a:lnTo>
                  <a:pt x="2215700" y="807260"/>
                </a:lnTo>
                <a:lnTo>
                  <a:pt x="2239756" y="733091"/>
                </a:lnTo>
                <a:lnTo>
                  <a:pt x="2281552" y="619337"/>
                </a:lnTo>
                <a:lnTo>
                  <a:pt x="2410908" y="600307"/>
                </a:lnTo>
                <a:lnTo>
                  <a:pt x="2482387" y="511001"/>
                </a:lnTo>
                <a:lnTo>
                  <a:pt x="2561557" y="352576"/>
                </a:lnTo>
                <a:lnTo>
                  <a:pt x="2775009" y="175084"/>
                </a:lnTo>
                <a:lnTo>
                  <a:pt x="3111406" y="0"/>
                </a:lnTo>
                <a:lnTo>
                  <a:pt x="3208132" y="2592"/>
                </a:lnTo>
                <a:lnTo>
                  <a:pt x="3323163" y="42865"/>
                </a:lnTo>
                <a:lnTo>
                  <a:pt x="3403278" y="14325"/>
                </a:lnTo>
                <a:lnTo>
                  <a:pt x="3529650" y="38085"/>
                </a:lnTo>
                <a:lnTo>
                  <a:pt x="3643527" y="372700"/>
                </a:lnTo>
                <a:lnTo>
                  <a:pt x="3705385" y="541605"/>
                </a:lnTo>
                <a:lnTo>
                  <a:pt x="3663024" y="806658"/>
                </a:lnTo>
                <a:lnTo>
                  <a:pt x="3683320" y="892020"/>
                </a:lnTo>
                <a:lnTo>
                  <a:pt x="3563350" y="848479"/>
                </a:lnTo>
                <a:lnTo>
                  <a:pt x="3494623" y="865421"/>
                </a:lnTo>
                <a:lnTo>
                  <a:pt x="3472177" y="934651"/>
                </a:lnTo>
                <a:lnTo>
                  <a:pt x="3407259" y="1023907"/>
                </a:lnTo>
                <a:lnTo>
                  <a:pt x="3409483" y="1106111"/>
                </a:lnTo>
                <a:lnTo>
                  <a:pt x="3551371" y="1234977"/>
                </a:lnTo>
                <a:lnTo>
                  <a:pt x="3690520" y="1209312"/>
                </a:lnTo>
                <a:lnTo>
                  <a:pt x="3738925" y="1103728"/>
                </a:lnTo>
                <a:lnTo>
                  <a:pt x="3919244" y="1105718"/>
                </a:lnTo>
                <a:lnTo>
                  <a:pt x="3859842" y="1278788"/>
                </a:lnTo>
                <a:lnTo>
                  <a:pt x="3831757" y="1476318"/>
                </a:lnTo>
                <a:lnTo>
                  <a:pt x="3770242" y="1583634"/>
                </a:lnTo>
                <a:lnTo>
                  <a:pt x="3608008" y="1703691"/>
                </a:lnTo>
                <a:lnTo>
                  <a:pt x="3561544" y="1738066"/>
                </a:lnTo>
                <a:lnTo>
                  <a:pt x="3460788" y="1858835"/>
                </a:lnTo>
                <a:lnTo>
                  <a:pt x="3394470" y="1980993"/>
                </a:lnTo>
                <a:lnTo>
                  <a:pt x="3259646" y="2151335"/>
                </a:lnTo>
                <a:lnTo>
                  <a:pt x="2990956" y="2396632"/>
                </a:lnTo>
                <a:lnTo>
                  <a:pt x="2823157" y="2539258"/>
                </a:lnTo>
                <a:lnTo>
                  <a:pt x="2643625" y="2647434"/>
                </a:lnTo>
                <a:lnTo>
                  <a:pt x="2395146" y="2739675"/>
                </a:lnTo>
                <a:lnTo>
                  <a:pt x="2273947" y="2752059"/>
                </a:lnTo>
                <a:lnTo>
                  <a:pt x="2243269" y="2818058"/>
                </a:lnTo>
                <a:lnTo>
                  <a:pt x="2098776" y="2782921"/>
                </a:lnTo>
                <a:lnTo>
                  <a:pt x="1981091" y="2828170"/>
                </a:lnTo>
                <a:lnTo>
                  <a:pt x="1723422" y="2782356"/>
                </a:lnTo>
                <a:lnTo>
                  <a:pt x="1579384" y="2811350"/>
                </a:lnTo>
                <a:lnTo>
                  <a:pt x="1480950" y="2798905"/>
                </a:lnTo>
                <a:lnTo>
                  <a:pt x="1235751" y="2892756"/>
                </a:lnTo>
                <a:lnTo>
                  <a:pt x="1032778" y="2930399"/>
                </a:lnTo>
                <a:lnTo>
                  <a:pt x="885901" y="3020258"/>
                </a:lnTo>
                <a:lnTo>
                  <a:pt x="777762" y="3025970"/>
                </a:lnTo>
                <a:lnTo>
                  <a:pt x="677166" y="2941199"/>
                </a:lnTo>
                <a:lnTo>
                  <a:pt x="596818" y="2936850"/>
                </a:lnTo>
                <a:lnTo>
                  <a:pt x="494428" y="2830713"/>
                </a:lnTo>
                <a:lnTo>
                  <a:pt x="483199" y="2863676"/>
                </a:lnTo>
                <a:lnTo>
                  <a:pt x="451600" y="2799777"/>
                </a:lnTo>
                <a:lnTo>
                  <a:pt x="452927" y="2660383"/>
                </a:lnTo>
                <a:lnTo>
                  <a:pt x="375686" y="2501061"/>
                </a:lnTo>
                <a:lnTo>
                  <a:pt x="452411" y="2457754"/>
                </a:lnTo>
                <a:lnTo>
                  <a:pt x="446194" y="2275286"/>
                </a:lnTo>
                <a:lnTo>
                  <a:pt x="290509" y="2052778"/>
                </a:lnTo>
                <a:lnTo>
                  <a:pt x="171042" y="1851390"/>
                </a:lnTo>
                <a:lnTo>
                  <a:pt x="170686" y="1850751"/>
                </a:lnTo>
                <a:lnTo>
                  <a:pt x="0" y="1541863"/>
                </a:lnTo>
                <a:close/>
              </a:path>
            </a:pathLst>
          </a:custGeom>
          <a:solidFill>
            <a:srgbClr val="CED3E3"/>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3602560" y="4095003"/>
            <a:ext cx="552970" cy="474919"/>
          </a:xfrm>
          <a:custGeom>
            <a:avLst/>
            <a:gdLst/>
            <a:ahLst/>
            <a:cxnLst/>
            <a:rect l="l" t="t" r="r" b="b"/>
            <a:pathLst>
              <a:path w="552970" h="474919">
                <a:moveTo>
                  <a:pt x="470496" y="73248"/>
                </a:moveTo>
                <a:lnTo>
                  <a:pt x="552970" y="144997"/>
                </a:lnTo>
                <a:lnTo>
                  <a:pt x="480042" y="260630"/>
                </a:lnTo>
                <a:lnTo>
                  <a:pt x="439622" y="338203"/>
                </a:lnTo>
                <a:lnTo>
                  <a:pt x="307119" y="375330"/>
                </a:lnTo>
                <a:lnTo>
                  <a:pt x="263407" y="451293"/>
                </a:lnTo>
                <a:lnTo>
                  <a:pt x="178340" y="474919"/>
                </a:lnTo>
                <a:lnTo>
                  <a:pt x="0" y="292057"/>
                </a:lnTo>
                <a:lnTo>
                  <a:pt x="126777" y="141508"/>
                </a:lnTo>
                <a:lnTo>
                  <a:pt x="255593" y="48492"/>
                </a:lnTo>
                <a:lnTo>
                  <a:pt x="366705" y="0"/>
                </a:lnTo>
                <a:lnTo>
                  <a:pt x="470496" y="73248"/>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3577326" y="2039112"/>
            <a:ext cx="1384861" cy="540062"/>
          </a:xfrm>
          <a:custGeom>
            <a:avLst/>
            <a:gdLst/>
            <a:ahLst/>
            <a:cxnLst/>
            <a:rect l="l" t="t" r="r" b="b"/>
            <a:pathLst>
              <a:path w="1384861" h="540062">
                <a:moveTo>
                  <a:pt x="1021892" y="535282"/>
                </a:moveTo>
                <a:lnTo>
                  <a:pt x="895520" y="511522"/>
                </a:lnTo>
                <a:lnTo>
                  <a:pt x="815405" y="540062"/>
                </a:lnTo>
                <a:lnTo>
                  <a:pt x="700374" y="499789"/>
                </a:lnTo>
                <a:lnTo>
                  <a:pt x="603648" y="497197"/>
                </a:lnTo>
                <a:lnTo>
                  <a:pt x="452078" y="389770"/>
                </a:lnTo>
                <a:lnTo>
                  <a:pt x="268234" y="353281"/>
                </a:lnTo>
                <a:lnTo>
                  <a:pt x="198304" y="202510"/>
                </a:lnTo>
                <a:lnTo>
                  <a:pt x="197714" y="118648"/>
                </a:lnTo>
                <a:lnTo>
                  <a:pt x="95902" y="93081"/>
                </a:lnTo>
                <a:lnTo>
                  <a:pt x="0" y="0"/>
                </a:lnTo>
                <a:lnTo>
                  <a:pt x="1384861" y="0"/>
                </a:lnTo>
                <a:lnTo>
                  <a:pt x="1370979" y="72343"/>
                </a:lnTo>
                <a:lnTo>
                  <a:pt x="1335068" y="93978"/>
                </a:lnTo>
                <a:lnTo>
                  <a:pt x="1272374" y="265438"/>
                </a:lnTo>
                <a:lnTo>
                  <a:pt x="1021892" y="535282"/>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913673" y="2039112"/>
            <a:ext cx="2267301" cy="1623445"/>
          </a:xfrm>
          <a:custGeom>
            <a:avLst/>
            <a:gdLst/>
            <a:ahLst/>
            <a:cxnLst/>
            <a:rect l="l" t="t" r="r" b="b"/>
            <a:pathLst>
              <a:path w="2267301" h="1623445">
                <a:moveTo>
                  <a:pt x="2267301" y="497197"/>
                </a:moveTo>
                <a:lnTo>
                  <a:pt x="1930904" y="672281"/>
                </a:lnTo>
                <a:lnTo>
                  <a:pt x="1717452" y="849773"/>
                </a:lnTo>
                <a:lnTo>
                  <a:pt x="1638282" y="1008198"/>
                </a:lnTo>
                <a:lnTo>
                  <a:pt x="1566803" y="1097504"/>
                </a:lnTo>
                <a:lnTo>
                  <a:pt x="1437447" y="1116534"/>
                </a:lnTo>
                <a:lnTo>
                  <a:pt x="1395651" y="1230288"/>
                </a:lnTo>
                <a:lnTo>
                  <a:pt x="1371595" y="1304457"/>
                </a:lnTo>
                <a:lnTo>
                  <a:pt x="1219559" y="1359817"/>
                </a:lnTo>
                <a:lnTo>
                  <a:pt x="1026058" y="1348059"/>
                </a:lnTo>
                <a:lnTo>
                  <a:pt x="912488" y="1281470"/>
                </a:lnTo>
                <a:lnTo>
                  <a:pt x="812286" y="1252599"/>
                </a:lnTo>
                <a:lnTo>
                  <a:pt x="696308" y="1307701"/>
                </a:lnTo>
                <a:lnTo>
                  <a:pt x="638123" y="1421577"/>
                </a:lnTo>
                <a:lnTo>
                  <a:pt x="525536" y="1493093"/>
                </a:lnTo>
                <a:lnTo>
                  <a:pt x="406647" y="1599193"/>
                </a:lnTo>
                <a:lnTo>
                  <a:pt x="236354" y="1623445"/>
                </a:lnTo>
                <a:lnTo>
                  <a:pt x="183304" y="1539975"/>
                </a:lnTo>
                <a:lnTo>
                  <a:pt x="205209" y="1395114"/>
                </a:lnTo>
                <a:lnTo>
                  <a:pt x="64255" y="1169215"/>
                </a:lnTo>
                <a:lnTo>
                  <a:pt x="74" y="1133513"/>
                </a:lnTo>
                <a:lnTo>
                  <a:pt x="0" y="439625"/>
                </a:lnTo>
                <a:lnTo>
                  <a:pt x="234339" y="431345"/>
                </a:lnTo>
                <a:lnTo>
                  <a:pt x="237912" y="0"/>
                </a:lnTo>
                <a:lnTo>
                  <a:pt x="1663653" y="0"/>
                </a:lnTo>
                <a:lnTo>
                  <a:pt x="1759555" y="93081"/>
                </a:lnTo>
                <a:lnTo>
                  <a:pt x="1861367" y="118648"/>
                </a:lnTo>
                <a:lnTo>
                  <a:pt x="1861957" y="202510"/>
                </a:lnTo>
                <a:lnTo>
                  <a:pt x="1931887" y="353281"/>
                </a:lnTo>
                <a:lnTo>
                  <a:pt x="2115731" y="389770"/>
                </a:lnTo>
                <a:lnTo>
                  <a:pt x="2267301" y="497197"/>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749808" y="2039112"/>
            <a:ext cx="1401777" cy="2150504"/>
          </a:xfrm>
          <a:custGeom>
            <a:avLst/>
            <a:gdLst/>
            <a:ahLst/>
            <a:cxnLst/>
            <a:rect l="l" t="t" r="r" b="b"/>
            <a:pathLst>
              <a:path w="1401777" h="2150504">
                <a:moveTo>
                  <a:pt x="1163939" y="1133513"/>
                </a:moveTo>
                <a:lnTo>
                  <a:pt x="1163693" y="2011576"/>
                </a:lnTo>
                <a:lnTo>
                  <a:pt x="951481" y="2133144"/>
                </a:lnTo>
                <a:lnTo>
                  <a:pt x="823758" y="2150504"/>
                </a:lnTo>
                <a:lnTo>
                  <a:pt x="674278" y="2105550"/>
                </a:lnTo>
                <a:lnTo>
                  <a:pt x="567613" y="2088227"/>
                </a:lnTo>
                <a:lnTo>
                  <a:pt x="527537" y="1986575"/>
                </a:lnTo>
                <a:lnTo>
                  <a:pt x="433649" y="1921485"/>
                </a:lnTo>
                <a:lnTo>
                  <a:pt x="319760" y="2039060"/>
                </a:lnTo>
                <a:lnTo>
                  <a:pt x="143078" y="1859454"/>
                </a:lnTo>
                <a:lnTo>
                  <a:pt x="50038" y="1685832"/>
                </a:lnTo>
                <a:lnTo>
                  <a:pt x="0" y="1465156"/>
                </a:lnTo>
                <a:lnTo>
                  <a:pt x="0" y="0"/>
                </a:lnTo>
                <a:lnTo>
                  <a:pt x="1401777" y="0"/>
                </a:lnTo>
                <a:lnTo>
                  <a:pt x="1398204" y="431345"/>
                </a:lnTo>
                <a:lnTo>
                  <a:pt x="1163865" y="439625"/>
                </a:lnTo>
                <a:lnTo>
                  <a:pt x="1163939" y="1133513"/>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599218" y="2039112"/>
            <a:ext cx="1049892" cy="1602915"/>
          </a:xfrm>
          <a:custGeom>
            <a:avLst/>
            <a:gdLst/>
            <a:ahLst/>
            <a:cxnLst/>
            <a:rect l="l" t="t" r="r" b="b"/>
            <a:pathLst>
              <a:path w="1049892" h="1602915">
                <a:moveTo>
                  <a:pt x="848599" y="0"/>
                </a:moveTo>
                <a:lnTo>
                  <a:pt x="834596" y="118168"/>
                </a:lnTo>
                <a:lnTo>
                  <a:pt x="947343" y="298216"/>
                </a:lnTo>
                <a:lnTo>
                  <a:pt x="994250" y="437647"/>
                </a:lnTo>
                <a:lnTo>
                  <a:pt x="997203" y="508772"/>
                </a:lnTo>
                <a:lnTo>
                  <a:pt x="1039211" y="496884"/>
                </a:lnTo>
                <a:lnTo>
                  <a:pt x="1032409" y="730061"/>
                </a:lnTo>
                <a:lnTo>
                  <a:pt x="993857" y="840510"/>
                </a:lnTo>
                <a:lnTo>
                  <a:pt x="1049892" y="881213"/>
                </a:lnTo>
                <a:lnTo>
                  <a:pt x="1014534" y="980125"/>
                </a:lnTo>
                <a:lnTo>
                  <a:pt x="915154" y="1064701"/>
                </a:lnTo>
                <a:lnTo>
                  <a:pt x="719036" y="1145049"/>
                </a:lnTo>
                <a:lnTo>
                  <a:pt x="433122" y="1273730"/>
                </a:lnTo>
                <a:lnTo>
                  <a:pt x="328853" y="1361635"/>
                </a:lnTo>
                <a:lnTo>
                  <a:pt x="349235" y="1461788"/>
                </a:lnTo>
                <a:lnTo>
                  <a:pt x="410000" y="1477785"/>
                </a:lnTo>
                <a:lnTo>
                  <a:pt x="389594" y="1602915"/>
                </a:lnTo>
                <a:lnTo>
                  <a:pt x="209275" y="1600925"/>
                </a:lnTo>
                <a:lnTo>
                  <a:pt x="188857" y="1495832"/>
                </a:lnTo>
                <a:lnTo>
                  <a:pt x="153670" y="1389217"/>
                </a:lnTo>
                <a:lnTo>
                  <a:pt x="133374" y="1303855"/>
                </a:lnTo>
                <a:lnTo>
                  <a:pt x="175735" y="1038802"/>
                </a:lnTo>
                <a:lnTo>
                  <a:pt x="113877" y="869897"/>
                </a:lnTo>
                <a:lnTo>
                  <a:pt x="0" y="535282"/>
                </a:lnTo>
                <a:lnTo>
                  <a:pt x="250482" y="265438"/>
                </a:lnTo>
                <a:lnTo>
                  <a:pt x="313176" y="93978"/>
                </a:lnTo>
                <a:lnTo>
                  <a:pt x="349087" y="72343"/>
                </a:lnTo>
                <a:lnTo>
                  <a:pt x="362969" y="0"/>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476827" y="3384788"/>
            <a:ext cx="331666" cy="386498"/>
          </a:xfrm>
          <a:custGeom>
            <a:avLst/>
            <a:gdLst/>
            <a:ahLst/>
            <a:cxnLst/>
            <a:rect l="l" t="t" r="r" b="b"/>
            <a:pathLst>
              <a:path w="331666" h="386498">
                <a:moveTo>
                  <a:pt x="331666" y="255249"/>
                </a:moveTo>
                <a:lnTo>
                  <a:pt x="283261" y="360833"/>
                </a:lnTo>
                <a:lnTo>
                  <a:pt x="144112" y="386498"/>
                </a:lnTo>
                <a:lnTo>
                  <a:pt x="2224" y="257632"/>
                </a:lnTo>
                <a:lnTo>
                  <a:pt x="0" y="175428"/>
                </a:lnTo>
                <a:lnTo>
                  <a:pt x="64918" y="86172"/>
                </a:lnTo>
                <a:lnTo>
                  <a:pt x="87364" y="16942"/>
                </a:lnTo>
                <a:lnTo>
                  <a:pt x="156091" y="0"/>
                </a:lnTo>
                <a:lnTo>
                  <a:pt x="276061" y="43541"/>
                </a:lnTo>
                <a:lnTo>
                  <a:pt x="311248" y="150156"/>
                </a:lnTo>
                <a:lnTo>
                  <a:pt x="331666" y="255249"/>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1 Production</a:t>
            </a:r>
          </a:p>
        </p:txBody>
      </p:sp>
      <p:sp>
        <p:nvSpPr>
          <p:cNvPr id="13" name="TextBox 12"/>
          <p:cNvSpPr txBox="1"/>
          <p:nvPr/>
        </p:nvSpPr>
        <p:spPr>
          <a:xfrm>
            <a:off x="2075688"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2 Pipelines</a:t>
            </a:r>
          </a:p>
        </p:txBody>
      </p:sp>
      <p:sp>
        <p:nvSpPr>
          <p:cNvPr id="14" name="TextBox 13"/>
          <p:cNvSpPr txBox="1"/>
          <p:nvPr/>
        </p:nvSpPr>
        <p:spPr>
          <a:xfrm>
            <a:off x="3602736"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3 Ports</a:t>
            </a:r>
          </a:p>
        </p:txBody>
      </p:sp>
      <p:sp>
        <p:nvSpPr>
          <p:cNvPr id="15" name="TextBox 14"/>
          <p:cNvSpPr txBox="1"/>
          <p:nvPr/>
        </p:nvSpPr>
        <p:spPr>
          <a:xfrm>
            <a:off x="5129783"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4 Roads</a:t>
            </a:r>
          </a:p>
        </p:txBody>
      </p:sp>
      <p:sp>
        <p:nvSpPr>
          <p:cNvPr id="16" name="TextBox 15"/>
          <p:cNvSpPr txBox="1"/>
          <p:nvPr/>
        </p:nvSpPr>
        <p:spPr>
          <a:xfrm>
            <a:off x="6656831"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5 Rail</a:t>
            </a:r>
          </a:p>
        </p:txBody>
      </p:sp>
      <p:sp>
        <p:nvSpPr>
          <p:cNvPr id="17" name="TextBox 16"/>
          <p:cNvSpPr txBox="1"/>
          <p:nvPr/>
        </p:nvSpPr>
        <p:spPr>
          <a:xfrm>
            <a:off x="8183879" y="1673352"/>
            <a:ext cx="1481328" cy="274320"/>
          </a:xfrm>
          <a:prstGeom prst="rect">
            <a:avLst/>
          </a:prstGeom>
          <a:noFill/>
        </p:spPr>
        <p:txBody>
          <a:bodyPr wrap="square" lIns="18288" rIns="18288" tIns="0" bIns="0">
            <a:spAutoFit/>
          </a:bodyPr>
          <a:lstStyle/>
          <a:p>
            <a:pPr>
              <a:spcAft>
                <a:spcPts val="800"/>
              </a:spcAft>
              <a:defRPr sz="1050" b="1">
                <a:solidFill>
                  <a:srgbClr val="0A2373"/>
                </a:solidFill>
                <a:latin typeface="Lato"/>
              </a:defRPr>
            </a:pPr>
            <a:r>
              <a:t>6 Storage</a:t>
            </a:r>
          </a:p>
        </p:txBody>
      </p:sp>
      <p:sp>
        <p:nvSpPr>
          <p:cNvPr id="18" name="TextBox 17"/>
          <p:cNvSpPr txBox="1"/>
          <p:nvPr/>
        </p:nvSpPr>
        <p:spPr>
          <a:xfrm>
            <a:off x="9710928"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7 Corridors</a:t>
            </a:r>
          </a:p>
        </p:txBody>
      </p:sp>
      <p:cxnSp>
        <p:nvCxnSpPr>
          <p:cNvPr id="19" name="Connector 18"/>
          <p:cNvCxnSpPr/>
          <p:nvPr/>
        </p:nvCxnSpPr>
        <p:spPr>
          <a:xfrm flipH="1" flipV="1">
            <a:off x="3933200" y="3570183"/>
            <a:ext cx="627644" cy="817839"/>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3804818" y="3570183"/>
            <a:ext cx="128382" cy="87965"/>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3521903" y="3658148"/>
            <a:ext cx="282915" cy="9510"/>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933200" y="3570183"/>
            <a:ext cx="185440" cy="26152"/>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4073469" y="3484595"/>
            <a:ext cx="45171" cy="111740"/>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3916558" y="3396630"/>
            <a:ext cx="156911" cy="87965"/>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3871386" y="3541654"/>
            <a:ext cx="61814" cy="28529"/>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3840480" y="3513124"/>
            <a:ext cx="30906" cy="28530"/>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4006900" y="4059935"/>
            <a:ext cx="553944" cy="328087"/>
          </a:xfrm>
          <a:prstGeom prst="line">
            <a:avLst/>
          </a:prstGeom>
          <a:ln w="8255">
            <a:solidFill>
              <a:srgbClr val="A0A0A0"/>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3804818" y="3658148"/>
            <a:ext cx="202082" cy="401787"/>
          </a:xfrm>
          <a:prstGeom prst="line">
            <a:avLst/>
          </a:prstGeom>
          <a:ln w="8255">
            <a:solidFill>
              <a:srgbClr val="A0A0A0"/>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451152" y="5136916"/>
            <a:ext cx="135514" cy="199705"/>
          </a:xfrm>
          <a:prstGeom prst="line">
            <a:avLst/>
          </a:prstGeom>
          <a:ln w="8255">
            <a:solidFill>
              <a:srgbClr val="A0A0A0"/>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4779568" y="2443276"/>
            <a:ext cx="748894" cy="886785"/>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4118640" y="3330061"/>
            <a:ext cx="660928" cy="266274"/>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3804818" y="3596335"/>
            <a:ext cx="313822" cy="61813"/>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3852367" y="3513124"/>
            <a:ext cx="266273" cy="83211"/>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118640" y="3596335"/>
            <a:ext cx="183063" cy="285293"/>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01703" y="3881628"/>
            <a:ext cx="465978" cy="237744"/>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67681" y="4119372"/>
            <a:ext cx="38039" cy="11887"/>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4553712" y="4119372"/>
            <a:ext cx="213969" cy="285292"/>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1565269" y="5284317"/>
            <a:ext cx="242499" cy="6181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807768" y="4975250"/>
            <a:ext cx="744139" cy="3090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2551907" y="4587727"/>
            <a:ext cx="599115" cy="38752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151022" y="4207337"/>
            <a:ext cx="263896" cy="3803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414918" y="3857853"/>
            <a:ext cx="242499" cy="3494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657417" y="3513124"/>
            <a:ext cx="194950" cy="3447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852367" y="3406140"/>
            <a:ext cx="33284" cy="1069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885651" y="2966313"/>
            <a:ext cx="299557" cy="43982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185208" y="2569281"/>
            <a:ext cx="128382" cy="39703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565269" y="5346131"/>
            <a:ext cx="475488" cy="285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040757" y="5374660"/>
            <a:ext cx="406543" cy="356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2447300" y="5358018"/>
            <a:ext cx="76078" cy="523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523378" y="5358018"/>
            <a:ext cx="216347" cy="2139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2739725" y="5358018"/>
            <a:ext cx="537301" cy="2139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277026" y="5270052"/>
            <a:ext cx="299558" cy="8796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576584" y="5136916"/>
            <a:ext cx="242499" cy="13313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819083" y="4794564"/>
            <a:ext cx="206837" cy="3423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025920" y="4547311"/>
            <a:ext cx="152156" cy="2472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178076" y="4547311"/>
            <a:ext cx="244876" cy="45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422952" y="4388022"/>
            <a:ext cx="137892" cy="20446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560844" y="4119372"/>
            <a:ext cx="206837" cy="26865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767681" y="3815059"/>
            <a:ext cx="40417" cy="30431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4548957" y="3703320"/>
            <a:ext cx="259141" cy="1117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4311213" y="3591580"/>
            <a:ext cx="237744" cy="11174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852367" y="3513124"/>
            <a:ext cx="73700" cy="7132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926067" y="3584448"/>
            <a:ext cx="175931" cy="20683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4101998" y="3791285"/>
            <a:ext cx="7132" cy="21634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109130" y="4007632"/>
            <a:ext cx="154534" cy="21872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4263664" y="4226356"/>
            <a:ext cx="145024" cy="95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4408688" y="4321454"/>
            <a:ext cx="152156" cy="6656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3296046" y="3294400"/>
            <a:ext cx="363748" cy="9272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659794" y="3387120"/>
            <a:ext cx="225857" cy="1902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885651" y="3406140"/>
            <a:ext cx="247254" cy="285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132905" y="3339571"/>
            <a:ext cx="413674" cy="95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546579" y="3332439"/>
            <a:ext cx="240122" cy="713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3414918" y="4207337"/>
            <a:ext cx="118872" cy="3803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3533790" y="4587727"/>
            <a:ext cx="40416" cy="28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3574206" y="4868265"/>
            <a:ext cx="128382" cy="15928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3702588" y="5027554"/>
            <a:ext cx="116495" cy="10936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1565269" y="5239146"/>
            <a:ext cx="64191" cy="10698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1629460" y="5032308"/>
            <a:ext cx="64191" cy="2068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1638970" y="4799319"/>
            <a:ext cx="54681" cy="23298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flipV="1">
            <a:off x="1434510" y="4338096"/>
            <a:ext cx="204460" cy="46122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flipV="1">
            <a:off x="1372697" y="4124126"/>
            <a:ext cx="61813" cy="21397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3265139" y="5029931"/>
            <a:ext cx="9510" cy="2710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3129625" y="4770790"/>
            <a:ext cx="135514" cy="25914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2908523" y="4426061"/>
            <a:ext cx="221102" cy="3447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2592324" y="4335719"/>
            <a:ext cx="316199" cy="90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1995586" y="4050426"/>
            <a:ext cx="596738" cy="28529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1933773" y="3408517"/>
            <a:ext cx="61813" cy="6419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2461564" y="5270052"/>
            <a:ext cx="61814" cy="8796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2461564" y="4975250"/>
            <a:ext cx="90343" cy="2948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2551907" y="4873020"/>
            <a:ext cx="135514" cy="10223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2687421" y="4426061"/>
            <a:ext cx="221102" cy="4469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2908523" y="4114617"/>
            <a:ext cx="164043" cy="3114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072566" y="3857853"/>
            <a:ext cx="197328" cy="256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269894" y="3670035"/>
            <a:ext cx="254386" cy="18781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524280" y="3634374"/>
            <a:ext cx="102230" cy="356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626510" y="3513124"/>
            <a:ext cx="225857" cy="12125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852367" y="3434669"/>
            <a:ext cx="280538" cy="784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434510" y="4209714"/>
            <a:ext cx="358994" cy="128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793504" y="4050426"/>
            <a:ext cx="202082" cy="15928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1995586" y="3812682"/>
            <a:ext cx="758403" cy="2377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753989" y="3693810"/>
            <a:ext cx="309068" cy="1188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063057" y="3544031"/>
            <a:ext cx="463600" cy="1497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526657" y="3489350"/>
            <a:ext cx="261519" cy="546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88176" y="3432291"/>
            <a:ext cx="97475" cy="570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3852367" y="3513124"/>
            <a:ext cx="92720" cy="1188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3945087" y="3525012"/>
            <a:ext cx="156911" cy="523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4101998" y="3577315"/>
            <a:ext cx="209215" cy="1426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4311213" y="3591580"/>
            <a:ext cx="197327" cy="380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072566" y="3967215"/>
            <a:ext cx="19020" cy="1474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3063057" y="3693810"/>
            <a:ext cx="28529" cy="2734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063057" y="3429914"/>
            <a:ext cx="216347" cy="26389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3262762" y="3294400"/>
            <a:ext cx="16642" cy="13551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3852367" y="3513124"/>
            <a:ext cx="708477" cy="874898"/>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a:off x="3072566" y="3513124"/>
            <a:ext cx="779801" cy="601493"/>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a:off x="2891881" y="4114617"/>
            <a:ext cx="180685" cy="456468"/>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a:off x="1565269" y="4571085"/>
            <a:ext cx="1326612" cy="775046"/>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a:off x="3414918" y="3513124"/>
            <a:ext cx="437449" cy="694213"/>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3414918" y="4207337"/>
            <a:ext cx="404165" cy="929579"/>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H="1">
            <a:off x="2891881" y="4207337"/>
            <a:ext cx="523037" cy="363748"/>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2891881" y="4571085"/>
            <a:ext cx="385145" cy="786933"/>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2891881" y="4571085"/>
            <a:ext cx="399410" cy="748894"/>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H="1">
            <a:off x="1451152" y="3888760"/>
            <a:ext cx="1200608" cy="1248156"/>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2651760" y="3888760"/>
            <a:ext cx="420806" cy="225857"/>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H="1">
            <a:off x="2891881" y="4114617"/>
            <a:ext cx="180685" cy="456468"/>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3852367" y="3513124"/>
            <a:ext cx="458846" cy="78456"/>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4311213" y="3591580"/>
            <a:ext cx="494507" cy="539679"/>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127" name="Oval 126"/>
          <p:cNvSpPr/>
          <p:nvPr/>
        </p:nvSpPr>
        <p:spPr>
          <a:xfrm>
            <a:off x="4510552" y="4337730"/>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3754526" y="3607856"/>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4068348" y="3546043"/>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536374" y="5286329"/>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2349459" y="5352897"/>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44097" y="4187952"/>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400860" y="5086624"/>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514977" y="5295839"/>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2397008" y="5360029"/>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3226734" y="5307726"/>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3240999" y="5269687"/>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3768791" y="5086624"/>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4510552" y="4337730"/>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4755428" y="4080967"/>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Diamond 140"/>
          <p:cNvSpPr/>
          <p:nvPr/>
        </p:nvSpPr>
        <p:spPr>
          <a:xfrm>
            <a:off x="3802075" y="3462832"/>
            <a:ext cx="100584" cy="100584"/>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Diamond 141"/>
          <p:cNvSpPr/>
          <p:nvPr/>
        </p:nvSpPr>
        <p:spPr>
          <a:xfrm>
            <a:off x="3882908" y="3519891"/>
            <a:ext cx="100584" cy="100584"/>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Diamond 142"/>
          <p:cNvSpPr/>
          <p:nvPr/>
        </p:nvSpPr>
        <p:spPr>
          <a:xfrm>
            <a:off x="1888236" y="5127040"/>
            <a:ext cx="100584" cy="100584"/>
          </a:xfrm>
          <a:prstGeom prst="diamond">
            <a:avLst/>
          </a:prstGeom>
          <a:no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4" name="Connector 143"/>
          <p:cNvCxnSpPr/>
          <p:nvPr/>
        </p:nvCxnSpPr>
        <p:spPr>
          <a:xfrm flipH="1">
            <a:off x="822960" y="5177332"/>
            <a:ext cx="1115568" cy="546812"/>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502920" y="5632704"/>
            <a:ext cx="1645920" cy="21945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Western Cape</a:t>
            </a:r>
          </a:p>
        </p:txBody>
      </p:sp>
      <p:sp>
        <p:nvSpPr>
          <p:cNvPr id="146" name="Diamond 145"/>
          <p:cNvSpPr/>
          <p:nvPr/>
        </p:nvSpPr>
        <p:spPr>
          <a:xfrm>
            <a:off x="2125979" y="4318711"/>
            <a:ext cx="100584" cy="100584"/>
          </a:xfrm>
          <a:prstGeom prst="diamond">
            <a:avLst/>
          </a:prstGeom>
          <a:no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7" name="Connector 146"/>
          <p:cNvCxnSpPr/>
          <p:nvPr/>
        </p:nvCxnSpPr>
        <p:spPr>
          <a:xfrm flipH="1">
            <a:off x="822960" y="4369003"/>
            <a:ext cx="1353312" cy="38404"/>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502920" y="4315968"/>
            <a:ext cx="1645920" cy="21945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Northern Cape</a:t>
            </a:r>
          </a:p>
        </p:txBody>
      </p:sp>
      <p:sp>
        <p:nvSpPr>
          <p:cNvPr id="149" name="Diamond 148"/>
          <p:cNvSpPr/>
          <p:nvPr/>
        </p:nvSpPr>
        <p:spPr>
          <a:xfrm>
            <a:off x="3314700" y="4889296"/>
            <a:ext cx="100584" cy="100584"/>
          </a:xfrm>
          <a:prstGeom prst="diamond">
            <a:avLst/>
          </a:prstGeom>
          <a:no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0" name="Connector 149"/>
          <p:cNvCxnSpPr/>
          <p:nvPr/>
        </p:nvCxnSpPr>
        <p:spPr>
          <a:xfrm flipH="1">
            <a:off x="3154680" y="4939588"/>
            <a:ext cx="210312" cy="802843"/>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2834640" y="5650992"/>
            <a:ext cx="1645920" cy="21945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Eastern Cape</a:t>
            </a:r>
          </a:p>
        </p:txBody>
      </p:sp>
      <p:sp>
        <p:nvSpPr>
          <p:cNvPr id="152" name="Diamond 151"/>
          <p:cNvSpPr/>
          <p:nvPr/>
        </p:nvSpPr>
        <p:spPr>
          <a:xfrm>
            <a:off x="3433572" y="4104741"/>
            <a:ext cx="100584" cy="100584"/>
          </a:xfrm>
          <a:prstGeom prst="diamond">
            <a:avLst/>
          </a:prstGeom>
          <a:no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3" name="Connector 152"/>
          <p:cNvCxnSpPr/>
          <p:nvPr/>
        </p:nvCxnSpPr>
        <p:spPr>
          <a:xfrm flipH="1">
            <a:off x="2788920" y="4155033"/>
            <a:ext cx="694944" cy="462687"/>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2468880" y="4526280"/>
            <a:ext cx="1645920" cy="21945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Free State</a:t>
            </a:r>
          </a:p>
        </p:txBody>
      </p:sp>
      <p:sp>
        <p:nvSpPr>
          <p:cNvPr id="155" name="Diamond 154"/>
          <p:cNvSpPr/>
          <p:nvPr/>
        </p:nvSpPr>
        <p:spPr>
          <a:xfrm>
            <a:off x="3076956" y="3581704"/>
            <a:ext cx="100584" cy="100584"/>
          </a:xfrm>
          <a:prstGeom prst="diamond">
            <a:avLst/>
          </a:prstGeom>
          <a:no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6" name="Connector 155"/>
          <p:cNvCxnSpPr/>
          <p:nvPr/>
        </p:nvCxnSpPr>
        <p:spPr>
          <a:xfrm flipH="1" flipV="1">
            <a:off x="1874519" y="3493008"/>
            <a:ext cx="1252729" cy="138988"/>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1554480" y="3401568"/>
            <a:ext cx="1645920" cy="21945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North West</a:t>
            </a:r>
          </a:p>
        </p:txBody>
      </p:sp>
      <p:sp>
        <p:nvSpPr>
          <p:cNvPr id="158" name="Diamond 157"/>
          <p:cNvSpPr/>
          <p:nvPr/>
        </p:nvSpPr>
        <p:spPr>
          <a:xfrm>
            <a:off x="3837736" y="3462832"/>
            <a:ext cx="100584" cy="100584"/>
          </a:xfrm>
          <a:prstGeom prst="diamond">
            <a:avLst/>
          </a:prstGeom>
          <a:no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9" name="Connector 158"/>
          <p:cNvCxnSpPr/>
          <p:nvPr/>
        </p:nvCxnSpPr>
        <p:spPr>
          <a:xfrm flipH="1" flipV="1">
            <a:off x="3520440" y="3154680"/>
            <a:ext cx="367588" cy="358444"/>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3200400" y="3063240"/>
            <a:ext cx="1645920" cy="21945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Gauteng</a:t>
            </a:r>
          </a:p>
        </p:txBody>
      </p:sp>
      <p:sp>
        <p:nvSpPr>
          <p:cNvPr id="161" name="Diamond 160"/>
          <p:cNvSpPr/>
          <p:nvPr/>
        </p:nvSpPr>
        <p:spPr>
          <a:xfrm>
            <a:off x="4123029" y="2868472"/>
            <a:ext cx="100584" cy="100584"/>
          </a:xfrm>
          <a:prstGeom prst="diamond">
            <a:avLst/>
          </a:prstGeom>
          <a:no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2" name="Connector 161"/>
          <p:cNvCxnSpPr/>
          <p:nvPr/>
        </p:nvCxnSpPr>
        <p:spPr>
          <a:xfrm flipV="1">
            <a:off x="4173321" y="2651760"/>
            <a:ext cx="78638" cy="267004"/>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63" name="TextBox 162"/>
          <p:cNvSpPr txBox="1"/>
          <p:nvPr/>
        </p:nvSpPr>
        <p:spPr>
          <a:xfrm>
            <a:off x="3931920" y="2560320"/>
            <a:ext cx="1645920" cy="21945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Limpopo</a:t>
            </a:r>
          </a:p>
        </p:txBody>
      </p:sp>
      <p:sp>
        <p:nvSpPr>
          <p:cNvPr id="164" name="Diamond 163"/>
          <p:cNvSpPr/>
          <p:nvPr/>
        </p:nvSpPr>
        <p:spPr>
          <a:xfrm>
            <a:off x="4265676" y="3415284"/>
            <a:ext cx="100584" cy="100584"/>
          </a:xfrm>
          <a:prstGeom prst="diamond">
            <a:avLst/>
          </a:prstGeom>
          <a:no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5" name="Connector 164"/>
          <p:cNvCxnSpPr/>
          <p:nvPr/>
        </p:nvCxnSpPr>
        <p:spPr>
          <a:xfrm flipV="1">
            <a:off x="4315968" y="3291840"/>
            <a:ext cx="502920" cy="173736"/>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66" name="TextBox 165"/>
          <p:cNvSpPr txBox="1"/>
          <p:nvPr/>
        </p:nvSpPr>
        <p:spPr>
          <a:xfrm>
            <a:off x="4498848" y="3200400"/>
            <a:ext cx="1645920" cy="21945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Mpumalanga</a:t>
            </a:r>
          </a:p>
        </p:txBody>
      </p:sp>
      <p:sp>
        <p:nvSpPr>
          <p:cNvPr id="167" name="Diamond 166"/>
          <p:cNvSpPr/>
          <p:nvPr/>
        </p:nvSpPr>
        <p:spPr>
          <a:xfrm>
            <a:off x="4336999" y="4009644"/>
            <a:ext cx="100584" cy="100584"/>
          </a:xfrm>
          <a:prstGeom prst="diamond">
            <a:avLst/>
          </a:prstGeom>
          <a:no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8" name="Connector 167"/>
          <p:cNvCxnSpPr/>
          <p:nvPr/>
        </p:nvCxnSpPr>
        <p:spPr>
          <a:xfrm>
            <a:off x="4387291" y="4059935"/>
            <a:ext cx="202997" cy="283465"/>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69" name="TextBox 168"/>
          <p:cNvSpPr txBox="1"/>
          <p:nvPr/>
        </p:nvSpPr>
        <p:spPr>
          <a:xfrm>
            <a:off x="4270248" y="4251960"/>
            <a:ext cx="1645920" cy="219456"/>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KwaZulu-Natal</a:t>
            </a:r>
          </a:p>
        </p:txBody>
      </p:sp>
      <p:sp>
        <p:nvSpPr>
          <p:cNvPr id="170" name="Oval 169"/>
          <p:cNvSpPr/>
          <p:nvPr/>
        </p:nvSpPr>
        <p:spPr>
          <a:xfrm>
            <a:off x="3882908" y="3519891"/>
            <a:ext cx="100584" cy="100584"/>
          </a:xfrm>
          <a:prstGeom prst="ellipse">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1" name="Connector 170"/>
          <p:cNvCxnSpPr/>
          <p:nvPr/>
        </p:nvCxnSpPr>
        <p:spPr>
          <a:xfrm flipH="1">
            <a:off x="3383280" y="3570183"/>
            <a:ext cx="549920" cy="206289"/>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72" name="TextBox 171"/>
          <p:cNvSpPr txBox="1"/>
          <p:nvPr/>
        </p:nvSpPr>
        <p:spPr>
          <a:xfrm>
            <a:off x="3063240" y="3685032"/>
            <a:ext cx="822959"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Vopak Lesedi</a:t>
            </a:r>
          </a:p>
        </p:txBody>
      </p:sp>
      <p:sp>
        <p:nvSpPr>
          <p:cNvPr id="173" name="Oval 172"/>
          <p:cNvSpPr/>
          <p:nvPr/>
        </p:nvSpPr>
        <p:spPr>
          <a:xfrm>
            <a:off x="4510552" y="4337730"/>
            <a:ext cx="100584" cy="100584"/>
          </a:xfrm>
          <a:prstGeom prst="ellipse">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4" name="Connector 173"/>
          <p:cNvCxnSpPr/>
          <p:nvPr/>
        </p:nvCxnSpPr>
        <p:spPr>
          <a:xfrm>
            <a:off x="4560844" y="4388022"/>
            <a:ext cx="102596" cy="504018"/>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75" name="TextBox 174"/>
          <p:cNvSpPr txBox="1"/>
          <p:nvPr/>
        </p:nvSpPr>
        <p:spPr>
          <a:xfrm>
            <a:off x="4343400" y="4800600"/>
            <a:ext cx="822959"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Vopak Durban</a:t>
            </a:r>
          </a:p>
        </p:txBody>
      </p:sp>
      <p:cxnSp>
        <p:nvCxnSpPr>
          <p:cNvPr id="176" name="Connector 175"/>
          <p:cNvCxnSpPr/>
          <p:nvPr/>
        </p:nvCxnSpPr>
        <p:spPr>
          <a:xfrm>
            <a:off x="6309360" y="2057400"/>
            <a:ext cx="0" cy="3977640"/>
          </a:xfrm>
          <a:prstGeom prst="line">
            <a:avLst/>
          </a:prstGeom>
          <a:ln w="5080">
            <a:solidFill>
              <a:srgbClr val="A0A0A0"/>
            </a:solidFill>
          </a:ln>
        </p:spPr>
        <p:style>
          <a:lnRef idx="2">
            <a:schemeClr val="accent1"/>
          </a:lnRef>
          <a:fillRef idx="0">
            <a:schemeClr val="accent1"/>
          </a:fillRef>
          <a:effectRef idx="1">
            <a:schemeClr val="accent1"/>
          </a:effectRef>
          <a:fontRef idx="minor">
            <a:schemeClr val="tx1"/>
          </a:fontRef>
        </p:style>
      </p:cxnSp>
      <p:sp>
        <p:nvSpPr>
          <p:cNvPr id="177" name="TextBox 176"/>
          <p:cNvSpPr txBox="1"/>
          <p:nvPr/>
        </p:nvSpPr>
        <p:spPr>
          <a:xfrm>
            <a:off x="6492240" y="2103120"/>
            <a:ext cx="4572000" cy="457200"/>
          </a:xfrm>
          <a:prstGeom prst="rect">
            <a:avLst/>
          </a:prstGeom>
          <a:noFill/>
        </p:spPr>
        <p:txBody>
          <a:bodyPr wrap="square" lIns="18288" rIns="18288" tIns="0" bIns="0">
            <a:spAutoFit/>
          </a:bodyPr>
          <a:lstStyle/>
          <a:p>
            <a:pPr>
              <a:spcAft>
                <a:spcPts val="800"/>
              </a:spcAft>
              <a:defRPr sz="1800" b="1">
                <a:solidFill>
                  <a:srgbClr val="000000"/>
                </a:solidFill>
                <a:latin typeface="Lato"/>
              </a:defRPr>
            </a:pPr>
            <a:r>
              <a:t>Add storage and handling to the network</a:t>
            </a:r>
          </a:p>
        </p:txBody>
      </p:sp>
      <p:sp>
        <p:nvSpPr>
          <p:cNvPr id="178" name="TextBox 177"/>
          <p:cNvSpPr txBox="1"/>
          <p:nvPr/>
        </p:nvSpPr>
        <p:spPr>
          <a:xfrm>
            <a:off x="6492240" y="2578608"/>
            <a:ext cx="4572000" cy="27432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Workbook provincial capacity (2024), thousand m3</a:t>
            </a:r>
          </a:p>
        </p:txBody>
      </p:sp>
      <p:graphicFrame>
        <p:nvGraphicFramePr>
          <p:cNvPr id="179" name="Table 178"/>
          <p:cNvGraphicFramePr>
            <a:graphicFrameLocks noGrp="1"/>
          </p:cNvGraphicFramePr>
          <p:nvPr/>
        </p:nvGraphicFramePr>
        <p:xfrm>
          <a:off x="6492240" y="2944368"/>
          <a:ext cx="4526280" cy="2377440"/>
        </p:xfrm>
        <a:graphic>
          <a:graphicData uri="http://schemas.openxmlformats.org/drawingml/2006/table">
            <a:tbl>
              <a:tblPr firstRow="1" bandRow="1">
                <a:tableStyleId>{2D5ABB26-0587-4C30-8999-92F81FD0307C}</a:tableStyleId>
              </a:tblPr>
              <a:tblGrid>
                <a:gridCol w="1828800"/>
                <a:gridCol w="685800"/>
                <a:gridCol w="685800"/>
                <a:gridCol w="594360"/>
                <a:gridCol w="731520"/>
              </a:tblGrid>
              <a:tr h="237744">
                <a:tc>
                  <a:txBody>
                    <a:bodyPr/>
                    <a:lstStyle/>
                    <a:p>
                      <a:pPr>
                        <a:defRPr sz="1050" b="1">
                          <a:solidFill>
                            <a:srgbClr val="000000"/>
                          </a:solidFill>
                          <a:latin typeface="Lato"/>
                        </a:defRPr>
                      </a:pPr>
                      <a:r>
                        <a:t>Province</a:t>
                      </a:r>
                    </a:p>
                  </a:txBody>
                  <a:tcPr marL="146304" marR="146304" marT="9144" marB="9144" anchor="ctr">
                    <a:lnB w="4445" cap="flat">
                      <a:solidFill>
                        <a:srgbClr val="A0A0A0"/>
                      </a:solidFill>
                    </a:lnB>
                    <a:solidFill>
                      <a:srgbClr val="FFFFFF"/>
                    </a:solidFill>
                  </a:tcPr>
                </a:tc>
                <a:tc>
                  <a:txBody>
                    <a:bodyPr/>
                    <a:lstStyle/>
                    <a:p>
                      <a:pPr>
                        <a:defRPr sz="1050" b="1">
                          <a:solidFill>
                            <a:srgbClr val="000000"/>
                          </a:solidFill>
                          <a:latin typeface="Lato"/>
                        </a:defRPr>
                      </a:pPr>
                      <a:r>
                        <a:t>Petrol</a:t>
                      </a:r>
                    </a:p>
                  </a:txBody>
                  <a:tcPr marL="146304" marR="146304" marT="9144" marB="9144" anchor="ctr">
                    <a:lnB w="4445" cap="flat">
                      <a:solidFill>
                        <a:srgbClr val="A0A0A0"/>
                      </a:solidFill>
                    </a:lnB>
                    <a:solidFill>
                      <a:srgbClr val="FFFFFF"/>
                    </a:solidFill>
                  </a:tcPr>
                </a:tc>
                <a:tc>
                  <a:txBody>
                    <a:bodyPr/>
                    <a:lstStyle/>
                    <a:p>
                      <a:pPr>
                        <a:defRPr sz="1050" b="1">
                          <a:solidFill>
                            <a:srgbClr val="000000"/>
                          </a:solidFill>
                          <a:latin typeface="Lato"/>
                        </a:defRPr>
                      </a:pPr>
                      <a:r>
                        <a:t>Diesel</a:t>
                      </a:r>
                    </a:p>
                  </a:txBody>
                  <a:tcPr marL="146304" marR="146304" marT="9144" marB="9144" anchor="ctr">
                    <a:lnB w="4445" cap="flat">
                      <a:solidFill>
                        <a:srgbClr val="A0A0A0"/>
                      </a:solidFill>
                    </a:lnB>
                    <a:solidFill>
                      <a:srgbClr val="FFFFFF"/>
                    </a:solidFill>
                  </a:tcPr>
                </a:tc>
                <a:tc>
                  <a:txBody>
                    <a:bodyPr/>
                    <a:lstStyle/>
                    <a:p>
                      <a:pPr>
                        <a:defRPr sz="1050" b="1">
                          <a:solidFill>
                            <a:srgbClr val="000000"/>
                          </a:solidFill>
                          <a:latin typeface="Lato"/>
                        </a:defRPr>
                      </a:pPr>
                      <a:r>
                        <a:t>Jet</a:t>
                      </a:r>
                    </a:p>
                  </a:txBody>
                  <a:tcPr marL="146304" marR="146304" marT="9144" marB="9144" anchor="ctr">
                    <a:lnB w="4445" cap="flat">
                      <a:solidFill>
                        <a:srgbClr val="A0A0A0"/>
                      </a:solidFill>
                    </a:lnB>
                    <a:solidFill>
                      <a:srgbClr val="FFFFFF"/>
                    </a:solidFill>
                  </a:tcPr>
                </a:tc>
                <a:tc>
                  <a:txBody>
                    <a:bodyPr/>
                    <a:lstStyle/>
                    <a:p>
                      <a:pPr>
                        <a:defRPr sz="1050" b="1">
                          <a:solidFill>
                            <a:srgbClr val="000000"/>
                          </a:solidFill>
                          <a:latin typeface="Lato"/>
                        </a:defRPr>
                      </a:pPr>
                      <a:r>
                        <a:t>D/P*</a:t>
                      </a:r>
                    </a:p>
                  </a:txBody>
                  <a:tcPr marL="146304" marR="146304" marT="9144" marB="9144" anchor="ctr">
                    <a:lnB w="4445" cap="flat">
                      <a:solidFill>
                        <a:srgbClr val="A0A0A0"/>
                      </a:solidFill>
                    </a:lnB>
                    <a:solidFill>
                      <a:srgbClr val="FFFFFF"/>
                    </a:solidFill>
                  </a:tcPr>
                </a:tc>
              </a:tr>
              <a:tr h="237744">
                <a:tc>
                  <a:txBody>
                    <a:bodyPr/>
                    <a:lstStyle/>
                    <a:p>
                      <a:pPr>
                        <a:defRPr sz="1050" b="0">
                          <a:solidFill>
                            <a:srgbClr val="000000"/>
                          </a:solidFill>
                          <a:latin typeface="Lato"/>
                        </a:defRPr>
                      </a:pPr>
                      <a:r>
                        <a:t>KwaZulu-Natal</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342.9</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445.6</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69.6</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225.2</a:t>
                      </a:r>
                    </a:p>
                  </a:txBody>
                  <a:tcPr marL="146304" marR="146304" marT="9144" marB="9144" anchor="ctr">
                    <a:lnB w="3175" cap="flat">
                      <a:solidFill>
                        <a:srgbClr val="B8B8B8"/>
                      </a:solidFill>
                    </a:lnB>
                    <a:solidFill>
                      <a:srgbClr val="FFFFFF"/>
                    </a:solidFill>
                  </a:tcPr>
                </a:tc>
              </a:tr>
              <a:tr h="237744">
                <a:tc>
                  <a:txBody>
                    <a:bodyPr/>
                    <a:lstStyle/>
                    <a:p>
                      <a:pPr>
                        <a:defRPr sz="1050" b="0">
                          <a:solidFill>
                            <a:srgbClr val="000000"/>
                          </a:solidFill>
                          <a:latin typeface="Lato"/>
                        </a:defRPr>
                      </a:pPr>
                      <a:r>
                        <a:t>Gauteng</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266.7</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237.3</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60.0</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78.9</a:t>
                      </a:r>
                    </a:p>
                  </a:txBody>
                  <a:tcPr marL="146304" marR="146304" marT="9144" marB="9144" anchor="ctr">
                    <a:lnB w="3175" cap="flat">
                      <a:solidFill>
                        <a:srgbClr val="B8B8B8"/>
                      </a:solidFill>
                    </a:lnB>
                    <a:solidFill>
                      <a:srgbClr val="FFFFFF"/>
                    </a:solidFill>
                  </a:tcPr>
                </a:tc>
              </a:tr>
              <a:tr h="237744">
                <a:tc>
                  <a:txBody>
                    <a:bodyPr/>
                    <a:lstStyle/>
                    <a:p>
                      <a:pPr>
                        <a:defRPr sz="1050" b="0">
                          <a:solidFill>
                            <a:srgbClr val="000000"/>
                          </a:solidFill>
                          <a:latin typeface="Lato"/>
                        </a:defRPr>
                      </a:pPr>
                      <a:r>
                        <a:t>Western Cape</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124.0</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153.2</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26.1</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0.0</a:t>
                      </a:r>
                    </a:p>
                  </a:txBody>
                  <a:tcPr marL="146304" marR="146304" marT="9144" marB="9144" anchor="ctr">
                    <a:lnB w="3175" cap="flat">
                      <a:solidFill>
                        <a:srgbClr val="B8B8B8"/>
                      </a:solidFill>
                    </a:lnB>
                    <a:solidFill>
                      <a:srgbClr val="FFFFFF"/>
                    </a:solidFill>
                  </a:tcPr>
                </a:tc>
              </a:tr>
              <a:tr h="237744">
                <a:tc>
                  <a:txBody>
                    <a:bodyPr/>
                    <a:lstStyle/>
                    <a:p>
                      <a:pPr>
                        <a:defRPr sz="1050" b="0">
                          <a:solidFill>
                            <a:srgbClr val="000000"/>
                          </a:solidFill>
                          <a:latin typeface="Lato"/>
                        </a:defRPr>
                      </a:pPr>
                      <a:r>
                        <a:t>Eastern Cape</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76.1</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69.9</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18.3</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54.6</a:t>
                      </a:r>
                    </a:p>
                  </a:txBody>
                  <a:tcPr marL="146304" marR="146304" marT="9144" marB="9144" anchor="ctr">
                    <a:lnB w="3175" cap="flat">
                      <a:solidFill>
                        <a:srgbClr val="B8B8B8"/>
                      </a:solidFill>
                    </a:lnB>
                    <a:solidFill>
                      <a:srgbClr val="FFFFFF"/>
                    </a:solidFill>
                  </a:tcPr>
                </a:tc>
              </a:tr>
              <a:tr h="237744">
                <a:tc>
                  <a:txBody>
                    <a:bodyPr/>
                    <a:lstStyle/>
                    <a:p>
                      <a:pPr>
                        <a:defRPr sz="1050" b="0">
                          <a:solidFill>
                            <a:srgbClr val="000000"/>
                          </a:solidFill>
                          <a:latin typeface="Lato"/>
                        </a:defRPr>
                      </a:pPr>
                      <a:r>
                        <a:t>Mpumalanga</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30.1</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50.5</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0.0</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0.0</a:t>
                      </a:r>
                    </a:p>
                  </a:txBody>
                  <a:tcPr marL="146304" marR="146304" marT="9144" marB="9144" anchor="ctr">
                    <a:lnB w="3175" cap="flat">
                      <a:solidFill>
                        <a:srgbClr val="B8B8B8"/>
                      </a:solidFill>
                    </a:lnB>
                    <a:solidFill>
                      <a:srgbClr val="FFFFFF"/>
                    </a:solidFill>
                  </a:tcPr>
                </a:tc>
              </a:tr>
              <a:tr h="237744">
                <a:tc>
                  <a:txBody>
                    <a:bodyPr/>
                    <a:lstStyle/>
                    <a:p>
                      <a:pPr>
                        <a:defRPr sz="1050" b="0">
                          <a:solidFill>
                            <a:srgbClr val="000000"/>
                          </a:solidFill>
                          <a:latin typeface="Lato"/>
                        </a:defRPr>
                      </a:pPr>
                      <a:r>
                        <a:t>Free State</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34.2</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36.4</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0.4</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0.0</a:t>
                      </a:r>
                    </a:p>
                  </a:txBody>
                  <a:tcPr marL="146304" marR="146304" marT="9144" marB="9144" anchor="ctr">
                    <a:lnB w="3175" cap="flat">
                      <a:solidFill>
                        <a:srgbClr val="B8B8B8"/>
                      </a:solidFill>
                    </a:lnB>
                    <a:solidFill>
                      <a:srgbClr val="FFFFFF"/>
                    </a:solidFill>
                  </a:tcPr>
                </a:tc>
              </a:tr>
              <a:tr h="237744">
                <a:tc>
                  <a:txBody>
                    <a:bodyPr/>
                    <a:lstStyle/>
                    <a:p>
                      <a:pPr>
                        <a:defRPr sz="1050" b="0">
                          <a:solidFill>
                            <a:srgbClr val="000000"/>
                          </a:solidFill>
                          <a:latin typeface="Lato"/>
                        </a:defRPr>
                      </a:pPr>
                      <a:r>
                        <a:t>North West</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17.8</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8.5</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0.0</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9.1</a:t>
                      </a:r>
                    </a:p>
                  </a:txBody>
                  <a:tcPr marL="146304" marR="146304" marT="9144" marB="9144" anchor="ctr">
                    <a:lnB w="3175" cap="flat">
                      <a:solidFill>
                        <a:srgbClr val="B8B8B8"/>
                      </a:solidFill>
                    </a:lnB>
                    <a:solidFill>
                      <a:srgbClr val="FFFFFF"/>
                    </a:solidFill>
                  </a:tcPr>
                </a:tc>
              </a:tr>
              <a:tr h="237744">
                <a:tc>
                  <a:txBody>
                    <a:bodyPr/>
                    <a:lstStyle/>
                    <a:p>
                      <a:pPr>
                        <a:defRPr sz="1050" b="0">
                          <a:solidFill>
                            <a:srgbClr val="000000"/>
                          </a:solidFill>
                          <a:latin typeface="Lato"/>
                        </a:defRPr>
                      </a:pPr>
                      <a:r>
                        <a:t>Limpopo</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10.8</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9.3</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0.0</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0.0</a:t>
                      </a:r>
                    </a:p>
                  </a:txBody>
                  <a:tcPr marL="146304" marR="146304" marT="9144" marB="9144" anchor="ctr">
                    <a:lnB w="3175" cap="flat">
                      <a:solidFill>
                        <a:srgbClr val="B8B8B8"/>
                      </a:solidFill>
                    </a:lnB>
                    <a:solidFill>
                      <a:srgbClr val="FFFFFF"/>
                    </a:solidFill>
                  </a:tcPr>
                </a:tc>
              </a:tr>
              <a:tr h="237744">
                <a:tc>
                  <a:txBody>
                    <a:bodyPr/>
                    <a:lstStyle/>
                    <a:p>
                      <a:pPr>
                        <a:defRPr sz="1050" b="0">
                          <a:solidFill>
                            <a:srgbClr val="000000"/>
                          </a:solidFill>
                          <a:latin typeface="Lato"/>
                        </a:defRPr>
                      </a:pPr>
                      <a:r>
                        <a:t>Northern Cape</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1.5</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3.2</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3.3</a:t>
                      </a:r>
                    </a:p>
                  </a:txBody>
                  <a:tcPr marL="146304" marR="146304" marT="9144" marB="9144" anchor="ctr">
                    <a:lnB w="3175" cap="flat">
                      <a:solidFill>
                        <a:srgbClr val="B8B8B8"/>
                      </a:solidFill>
                    </a:lnB>
                    <a:solidFill>
                      <a:srgbClr val="FFFFFF"/>
                    </a:solidFill>
                  </a:tcPr>
                </a:tc>
                <a:tc>
                  <a:txBody>
                    <a:bodyPr/>
                    <a:lstStyle/>
                    <a:p>
                      <a:pPr>
                        <a:defRPr sz="1050" b="0">
                          <a:solidFill>
                            <a:srgbClr val="000000"/>
                          </a:solidFill>
                          <a:latin typeface="Lato"/>
                        </a:defRPr>
                      </a:pPr>
                      <a:r>
                        <a:t>0.0</a:t>
                      </a:r>
                    </a:p>
                  </a:txBody>
                  <a:tcPr marL="146304" marR="146304" marT="9144" marB="9144" anchor="ctr">
                    <a:lnB w="3175" cap="flat">
                      <a:solidFill>
                        <a:srgbClr val="B8B8B8"/>
                      </a:solidFill>
                    </a:lnB>
                    <a:solidFill>
                      <a:srgbClr val="FFFFFF"/>
                    </a:solidFill>
                  </a:tcPr>
                </a:tc>
              </a:tr>
            </a:tbl>
          </a:graphicData>
        </a:graphic>
      </p:graphicFrame>
      <p:sp>
        <p:nvSpPr>
          <p:cNvPr id="180" name="TextBox 179"/>
          <p:cNvSpPr txBox="1"/>
          <p:nvPr/>
        </p:nvSpPr>
        <p:spPr>
          <a:xfrm>
            <a:off x="6492240" y="5504688"/>
            <a:ext cx="4526280" cy="50292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*D/P is shared petrol/diesel capacity; allocate once. Gross tank capacity does not establish usable storage or handling throughput.</a:t>
            </a:r>
          </a:p>
        </p:txBody>
      </p:sp>
      <p:sp>
        <p:nvSpPr>
          <p:cNvPr id="181" name="TextBox 180"/>
          <p:cNvSpPr txBox="1"/>
          <p:nvPr/>
        </p:nvSpPr>
        <p:spPr>
          <a:xfrm>
            <a:off x="594360" y="5797296"/>
            <a:ext cx="5532120" cy="210312"/>
          </a:xfrm>
          <a:prstGeom prst="rect">
            <a:avLst/>
          </a:prstGeom>
          <a:noFill/>
        </p:spPr>
        <p:txBody>
          <a:bodyPr wrap="square" lIns="18288" rIns="18288" tIns="0" bIns="0">
            <a:spAutoFit/>
          </a:bodyPr>
          <a:lstStyle/>
          <a:p>
            <a:pPr>
              <a:spcAft>
                <a:spcPts val="800"/>
              </a:spcAft>
              <a:defRPr sz="850" b="0">
                <a:solidFill>
                  <a:srgbClr val="000000"/>
                </a:solidFill>
                <a:latin typeface="Lato"/>
              </a:defRPr>
            </a:pPr>
            <a:r>
              <a:t>Vopak workbook, thousand m3: Durban 2024 P76 / D251.7; Lesedi 2026 P40 / D100.</a:t>
            </a:r>
          </a:p>
        </p:txBody>
      </p:sp>
      <p:sp>
        <p:nvSpPr>
          <p:cNvPr id="182" name="TextBox 181"/>
          <p:cNvSpPr txBox="1"/>
          <p:nvPr/>
        </p:nvSpPr>
        <p:spPr>
          <a:xfrm>
            <a:off x="594360" y="6044184"/>
            <a:ext cx="5532120" cy="438912"/>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Hollow diamonds: provincial coverage, not tank sites. Blue circles: identified Vopak terminals.</a:t>
            </a:r>
          </a:p>
        </p:txBody>
      </p:sp>
      <p:sp>
        <p:nvSpPr>
          <p:cNvPr id="183" name="TextBox 182"/>
          <p:cNvSpPr txBox="1"/>
          <p:nvPr/>
        </p:nvSpPr>
        <p:spPr>
          <a:xfrm>
            <a:off x="6492240" y="6217920"/>
            <a:ext cx="4526280" cy="27432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Other operator sites, usable capacity and handling rates remain to source.</a:t>
            </a:r>
          </a:p>
        </p:txBody>
      </p:sp>
      <p:sp>
        <p:nvSpPr>
          <p:cNvPr id="184" name="TextBox 183"/>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Excel Market share C5:C6, C79:C80; Deficit Calculations AL1:AQ11; Transnet Pipelines public overview, accessed 1 Oct 2026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Bring the national network together into corridor families to assess</a:t>
            </a:r>
          </a:p>
        </p:txBody>
      </p:sp>
      <p:sp>
        <p:nvSpPr>
          <p:cNvPr id="3" name="Slide Number Placeholder"/>
          <p:cNvSpPr>
            <a:spLocks noGrp="1"/>
          </p:cNvSpPr>
          <p:nvPr>
            <p:ph type="sldNum" sz="quarter" idx="12"/>
          </p:nvPr>
        </p:nvSpPr>
        <p:spPr/>
        <p:txBody>
          <a:bodyPr/>
          <a:lstStyle/>
          <a:p>
            <a:fld id="{C5343785-6A10-4CC9-8D58-7228B2F232D4}"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sp>
        <p:nvSpPr>
          <p:cNvPr id="5" name="Freeform 4"/>
          <p:cNvSpPr/>
          <p:nvPr/>
        </p:nvSpPr>
        <p:spPr>
          <a:xfrm>
            <a:off x="1069568" y="2536309"/>
            <a:ext cx="3919244" cy="3025970"/>
          </a:xfrm>
          <a:custGeom>
            <a:avLst/>
            <a:gdLst/>
            <a:ahLst/>
            <a:cxnLst/>
            <a:rect l="l" t="t" r="r" b="b"/>
            <a:pathLst>
              <a:path w="3919244" h="3025970">
                <a:moveTo>
                  <a:pt x="0" y="1541863"/>
                </a:moveTo>
                <a:lnTo>
                  <a:pt x="113889" y="1424288"/>
                </a:lnTo>
                <a:lnTo>
                  <a:pt x="207777" y="1489378"/>
                </a:lnTo>
                <a:lnTo>
                  <a:pt x="247853" y="1591030"/>
                </a:lnTo>
                <a:lnTo>
                  <a:pt x="354518" y="1608353"/>
                </a:lnTo>
                <a:lnTo>
                  <a:pt x="503998" y="1653307"/>
                </a:lnTo>
                <a:lnTo>
                  <a:pt x="631721" y="1635947"/>
                </a:lnTo>
                <a:lnTo>
                  <a:pt x="843933" y="1514379"/>
                </a:lnTo>
                <a:lnTo>
                  <a:pt x="844179" y="636316"/>
                </a:lnTo>
                <a:lnTo>
                  <a:pt x="908360" y="672018"/>
                </a:lnTo>
                <a:lnTo>
                  <a:pt x="1049314" y="897917"/>
                </a:lnTo>
                <a:lnTo>
                  <a:pt x="1027409" y="1042778"/>
                </a:lnTo>
                <a:lnTo>
                  <a:pt x="1080459" y="1126248"/>
                </a:lnTo>
                <a:lnTo>
                  <a:pt x="1250752" y="1101996"/>
                </a:lnTo>
                <a:lnTo>
                  <a:pt x="1369641" y="995896"/>
                </a:lnTo>
                <a:lnTo>
                  <a:pt x="1482228" y="924380"/>
                </a:lnTo>
                <a:lnTo>
                  <a:pt x="1540413" y="810504"/>
                </a:lnTo>
                <a:lnTo>
                  <a:pt x="1656391" y="755402"/>
                </a:lnTo>
                <a:lnTo>
                  <a:pt x="1756593" y="784273"/>
                </a:lnTo>
                <a:lnTo>
                  <a:pt x="1870163" y="850862"/>
                </a:lnTo>
                <a:lnTo>
                  <a:pt x="2063664" y="862620"/>
                </a:lnTo>
                <a:lnTo>
                  <a:pt x="2215700" y="807260"/>
                </a:lnTo>
                <a:lnTo>
                  <a:pt x="2239756" y="733091"/>
                </a:lnTo>
                <a:lnTo>
                  <a:pt x="2281552" y="619337"/>
                </a:lnTo>
                <a:lnTo>
                  <a:pt x="2410908" y="600307"/>
                </a:lnTo>
                <a:lnTo>
                  <a:pt x="2482387" y="511001"/>
                </a:lnTo>
                <a:lnTo>
                  <a:pt x="2561557" y="352576"/>
                </a:lnTo>
                <a:lnTo>
                  <a:pt x="2775009" y="175084"/>
                </a:lnTo>
                <a:lnTo>
                  <a:pt x="3111406" y="0"/>
                </a:lnTo>
                <a:lnTo>
                  <a:pt x="3208132" y="2592"/>
                </a:lnTo>
                <a:lnTo>
                  <a:pt x="3323163" y="42865"/>
                </a:lnTo>
                <a:lnTo>
                  <a:pt x="3403278" y="14325"/>
                </a:lnTo>
                <a:lnTo>
                  <a:pt x="3529650" y="38085"/>
                </a:lnTo>
                <a:lnTo>
                  <a:pt x="3643527" y="372700"/>
                </a:lnTo>
                <a:lnTo>
                  <a:pt x="3705385" y="541605"/>
                </a:lnTo>
                <a:lnTo>
                  <a:pt x="3663024" y="806658"/>
                </a:lnTo>
                <a:lnTo>
                  <a:pt x="3683320" y="892020"/>
                </a:lnTo>
                <a:lnTo>
                  <a:pt x="3563350" y="848479"/>
                </a:lnTo>
                <a:lnTo>
                  <a:pt x="3494623" y="865421"/>
                </a:lnTo>
                <a:lnTo>
                  <a:pt x="3472177" y="934651"/>
                </a:lnTo>
                <a:lnTo>
                  <a:pt x="3407259" y="1023907"/>
                </a:lnTo>
                <a:lnTo>
                  <a:pt x="3409483" y="1106111"/>
                </a:lnTo>
                <a:lnTo>
                  <a:pt x="3551371" y="1234977"/>
                </a:lnTo>
                <a:lnTo>
                  <a:pt x="3690520" y="1209312"/>
                </a:lnTo>
                <a:lnTo>
                  <a:pt x="3738925" y="1103728"/>
                </a:lnTo>
                <a:lnTo>
                  <a:pt x="3919244" y="1105718"/>
                </a:lnTo>
                <a:lnTo>
                  <a:pt x="3859842" y="1278788"/>
                </a:lnTo>
                <a:lnTo>
                  <a:pt x="3831757" y="1476318"/>
                </a:lnTo>
                <a:lnTo>
                  <a:pt x="3770242" y="1583634"/>
                </a:lnTo>
                <a:lnTo>
                  <a:pt x="3608008" y="1703691"/>
                </a:lnTo>
                <a:lnTo>
                  <a:pt x="3561544" y="1738066"/>
                </a:lnTo>
                <a:lnTo>
                  <a:pt x="3460788" y="1858835"/>
                </a:lnTo>
                <a:lnTo>
                  <a:pt x="3394470" y="1980993"/>
                </a:lnTo>
                <a:lnTo>
                  <a:pt x="3259646" y="2151335"/>
                </a:lnTo>
                <a:lnTo>
                  <a:pt x="2990956" y="2396632"/>
                </a:lnTo>
                <a:lnTo>
                  <a:pt x="2823157" y="2539258"/>
                </a:lnTo>
                <a:lnTo>
                  <a:pt x="2643625" y="2647434"/>
                </a:lnTo>
                <a:lnTo>
                  <a:pt x="2395146" y="2739675"/>
                </a:lnTo>
                <a:lnTo>
                  <a:pt x="2273947" y="2752059"/>
                </a:lnTo>
                <a:lnTo>
                  <a:pt x="2243269" y="2818058"/>
                </a:lnTo>
                <a:lnTo>
                  <a:pt x="2098776" y="2782921"/>
                </a:lnTo>
                <a:lnTo>
                  <a:pt x="1981091" y="2828170"/>
                </a:lnTo>
                <a:lnTo>
                  <a:pt x="1723422" y="2782356"/>
                </a:lnTo>
                <a:lnTo>
                  <a:pt x="1579384" y="2811350"/>
                </a:lnTo>
                <a:lnTo>
                  <a:pt x="1480950" y="2798905"/>
                </a:lnTo>
                <a:lnTo>
                  <a:pt x="1235751" y="2892756"/>
                </a:lnTo>
                <a:lnTo>
                  <a:pt x="1032778" y="2930399"/>
                </a:lnTo>
                <a:lnTo>
                  <a:pt x="885901" y="3020258"/>
                </a:lnTo>
                <a:lnTo>
                  <a:pt x="777762" y="3025970"/>
                </a:lnTo>
                <a:lnTo>
                  <a:pt x="677166" y="2941199"/>
                </a:lnTo>
                <a:lnTo>
                  <a:pt x="596818" y="2936850"/>
                </a:lnTo>
                <a:lnTo>
                  <a:pt x="494428" y="2830713"/>
                </a:lnTo>
                <a:lnTo>
                  <a:pt x="483199" y="2863676"/>
                </a:lnTo>
                <a:lnTo>
                  <a:pt x="451600" y="2799777"/>
                </a:lnTo>
                <a:lnTo>
                  <a:pt x="452927" y="2660383"/>
                </a:lnTo>
                <a:lnTo>
                  <a:pt x="375686" y="2501061"/>
                </a:lnTo>
                <a:lnTo>
                  <a:pt x="452411" y="2457754"/>
                </a:lnTo>
                <a:lnTo>
                  <a:pt x="446194" y="2275286"/>
                </a:lnTo>
                <a:lnTo>
                  <a:pt x="290509" y="2052778"/>
                </a:lnTo>
                <a:lnTo>
                  <a:pt x="171042" y="1851390"/>
                </a:lnTo>
                <a:lnTo>
                  <a:pt x="170686" y="1850751"/>
                </a:lnTo>
                <a:lnTo>
                  <a:pt x="0" y="1541863"/>
                </a:lnTo>
                <a:close/>
              </a:path>
            </a:pathLst>
          </a:custGeom>
          <a:solidFill>
            <a:srgbClr val="CED3E3"/>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3602560" y="4095003"/>
            <a:ext cx="552970" cy="474919"/>
          </a:xfrm>
          <a:custGeom>
            <a:avLst/>
            <a:gdLst/>
            <a:ahLst/>
            <a:cxnLst/>
            <a:rect l="l" t="t" r="r" b="b"/>
            <a:pathLst>
              <a:path w="552970" h="474919">
                <a:moveTo>
                  <a:pt x="470496" y="73248"/>
                </a:moveTo>
                <a:lnTo>
                  <a:pt x="552970" y="144997"/>
                </a:lnTo>
                <a:lnTo>
                  <a:pt x="480042" y="260630"/>
                </a:lnTo>
                <a:lnTo>
                  <a:pt x="439622" y="338203"/>
                </a:lnTo>
                <a:lnTo>
                  <a:pt x="307119" y="375330"/>
                </a:lnTo>
                <a:lnTo>
                  <a:pt x="263407" y="451293"/>
                </a:lnTo>
                <a:lnTo>
                  <a:pt x="178340" y="474919"/>
                </a:lnTo>
                <a:lnTo>
                  <a:pt x="0" y="292057"/>
                </a:lnTo>
                <a:lnTo>
                  <a:pt x="126777" y="141508"/>
                </a:lnTo>
                <a:lnTo>
                  <a:pt x="255593" y="48492"/>
                </a:lnTo>
                <a:lnTo>
                  <a:pt x="366705" y="0"/>
                </a:lnTo>
                <a:lnTo>
                  <a:pt x="470496" y="73248"/>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3577326" y="2039112"/>
            <a:ext cx="1384861" cy="540062"/>
          </a:xfrm>
          <a:custGeom>
            <a:avLst/>
            <a:gdLst/>
            <a:ahLst/>
            <a:cxnLst/>
            <a:rect l="l" t="t" r="r" b="b"/>
            <a:pathLst>
              <a:path w="1384861" h="540062">
                <a:moveTo>
                  <a:pt x="1021892" y="535282"/>
                </a:moveTo>
                <a:lnTo>
                  <a:pt x="895520" y="511522"/>
                </a:lnTo>
                <a:lnTo>
                  <a:pt x="815405" y="540062"/>
                </a:lnTo>
                <a:lnTo>
                  <a:pt x="700374" y="499789"/>
                </a:lnTo>
                <a:lnTo>
                  <a:pt x="603648" y="497197"/>
                </a:lnTo>
                <a:lnTo>
                  <a:pt x="452078" y="389770"/>
                </a:lnTo>
                <a:lnTo>
                  <a:pt x="268234" y="353281"/>
                </a:lnTo>
                <a:lnTo>
                  <a:pt x="198304" y="202510"/>
                </a:lnTo>
                <a:lnTo>
                  <a:pt x="197714" y="118648"/>
                </a:lnTo>
                <a:lnTo>
                  <a:pt x="95902" y="93081"/>
                </a:lnTo>
                <a:lnTo>
                  <a:pt x="0" y="0"/>
                </a:lnTo>
                <a:lnTo>
                  <a:pt x="1384861" y="0"/>
                </a:lnTo>
                <a:lnTo>
                  <a:pt x="1370979" y="72343"/>
                </a:lnTo>
                <a:lnTo>
                  <a:pt x="1335068" y="93978"/>
                </a:lnTo>
                <a:lnTo>
                  <a:pt x="1272374" y="265438"/>
                </a:lnTo>
                <a:lnTo>
                  <a:pt x="1021892" y="535282"/>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913673" y="2039112"/>
            <a:ext cx="2267301" cy="1623445"/>
          </a:xfrm>
          <a:custGeom>
            <a:avLst/>
            <a:gdLst/>
            <a:ahLst/>
            <a:cxnLst/>
            <a:rect l="l" t="t" r="r" b="b"/>
            <a:pathLst>
              <a:path w="2267301" h="1623445">
                <a:moveTo>
                  <a:pt x="2267301" y="497197"/>
                </a:moveTo>
                <a:lnTo>
                  <a:pt x="1930904" y="672281"/>
                </a:lnTo>
                <a:lnTo>
                  <a:pt x="1717452" y="849773"/>
                </a:lnTo>
                <a:lnTo>
                  <a:pt x="1638282" y="1008198"/>
                </a:lnTo>
                <a:lnTo>
                  <a:pt x="1566803" y="1097504"/>
                </a:lnTo>
                <a:lnTo>
                  <a:pt x="1437447" y="1116534"/>
                </a:lnTo>
                <a:lnTo>
                  <a:pt x="1395651" y="1230288"/>
                </a:lnTo>
                <a:lnTo>
                  <a:pt x="1371595" y="1304457"/>
                </a:lnTo>
                <a:lnTo>
                  <a:pt x="1219559" y="1359817"/>
                </a:lnTo>
                <a:lnTo>
                  <a:pt x="1026058" y="1348059"/>
                </a:lnTo>
                <a:lnTo>
                  <a:pt x="912488" y="1281470"/>
                </a:lnTo>
                <a:lnTo>
                  <a:pt x="812286" y="1252599"/>
                </a:lnTo>
                <a:lnTo>
                  <a:pt x="696308" y="1307701"/>
                </a:lnTo>
                <a:lnTo>
                  <a:pt x="638123" y="1421577"/>
                </a:lnTo>
                <a:lnTo>
                  <a:pt x="525536" y="1493093"/>
                </a:lnTo>
                <a:lnTo>
                  <a:pt x="406647" y="1599193"/>
                </a:lnTo>
                <a:lnTo>
                  <a:pt x="236354" y="1623445"/>
                </a:lnTo>
                <a:lnTo>
                  <a:pt x="183304" y="1539975"/>
                </a:lnTo>
                <a:lnTo>
                  <a:pt x="205209" y="1395114"/>
                </a:lnTo>
                <a:lnTo>
                  <a:pt x="64255" y="1169215"/>
                </a:lnTo>
                <a:lnTo>
                  <a:pt x="74" y="1133513"/>
                </a:lnTo>
                <a:lnTo>
                  <a:pt x="0" y="439625"/>
                </a:lnTo>
                <a:lnTo>
                  <a:pt x="234339" y="431345"/>
                </a:lnTo>
                <a:lnTo>
                  <a:pt x="237912" y="0"/>
                </a:lnTo>
                <a:lnTo>
                  <a:pt x="1663653" y="0"/>
                </a:lnTo>
                <a:lnTo>
                  <a:pt x="1759555" y="93081"/>
                </a:lnTo>
                <a:lnTo>
                  <a:pt x="1861367" y="118648"/>
                </a:lnTo>
                <a:lnTo>
                  <a:pt x="1861957" y="202510"/>
                </a:lnTo>
                <a:lnTo>
                  <a:pt x="1931887" y="353281"/>
                </a:lnTo>
                <a:lnTo>
                  <a:pt x="2115731" y="389770"/>
                </a:lnTo>
                <a:lnTo>
                  <a:pt x="2267301" y="497197"/>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749808" y="2039112"/>
            <a:ext cx="1401777" cy="2150504"/>
          </a:xfrm>
          <a:custGeom>
            <a:avLst/>
            <a:gdLst/>
            <a:ahLst/>
            <a:cxnLst/>
            <a:rect l="l" t="t" r="r" b="b"/>
            <a:pathLst>
              <a:path w="1401777" h="2150504">
                <a:moveTo>
                  <a:pt x="1163939" y="1133513"/>
                </a:moveTo>
                <a:lnTo>
                  <a:pt x="1163693" y="2011576"/>
                </a:lnTo>
                <a:lnTo>
                  <a:pt x="951481" y="2133144"/>
                </a:lnTo>
                <a:lnTo>
                  <a:pt x="823758" y="2150504"/>
                </a:lnTo>
                <a:lnTo>
                  <a:pt x="674278" y="2105550"/>
                </a:lnTo>
                <a:lnTo>
                  <a:pt x="567613" y="2088227"/>
                </a:lnTo>
                <a:lnTo>
                  <a:pt x="527537" y="1986575"/>
                </a:lnTo>
                <a:lnTo>
                  <a:pt x="433649" y="1921485"/>
                </a:lnTo>
                <a:lnTo>
                  <a:pt x="319760" y="2039060"/>
                </a:lnTo>
                <a:lnTo>
                  <a:pt x="143078" y="1859454"/>
                </a:lnTo>
                <a:lnTo>
                  <a:pt x="50038" y="1685832"/>
                </a:lnTo>
                <a:lnTo>
                  <a:pt x="0" y="1465156"/>
                </a:lnTo>
                <a:lnTo>
                  <a:pt x="0" y="0"/>
                </a:lnTo>
                <a:lnTo>
                  <a:pt x="1401777" y="0"/>
                </a:lnTo>
                <a:lnTo>
                  <a:pt x="1398204" y="431345"/>
                </a:lnTo>
                <a:lnTo>
                  <a:pt x="1163865" y="439625"/>
                </a:lnTo>
                <a:lnTo>
                  <a:pt x="1163939" y="1133513"/>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599218" y="2039112"/>
            <a:ext cx="1049892" cy="1602915"/>
          </a:xfrm>
          <a:custGeom>
            <a:avLst/>
            <a:gdLst/>
            <a:ahLst/>
            <a:cxnLst/>
            <a:rect l="l" t="t" r="r" b="b"/>
            <a:pathLst>
              <a:path w="1049892" h="1602915">
                <a:moveTo>
                  <a:pt x="848599" y="0"/>
                </a:moveTo>
                <a:lnTo>
                  <a:pt x="834596" y="118168"/>
                </a:lnTo>
                <a:lnTo>
                  <a:pt x="947343" y="298216"/>
                </a:lnTo>
                <a:lnTo>
                  <a:pt x="994250" y="437647"/>
                </a:lnTo>
                <a:lnTo>
                  <a:pt x="997203" y="508772"/>
                </a:lnTo>
                <a:lnTo>
                  <a:pt x="1039211" y="496884"/>
                </a:lnTo>
                <a:lnTo>
                  <a:pt x="1032409" y="730061"/>
                </a:lnTo>
                <a:lnTo>
                  <a:pt x="993857" y="840510"/>
                </a:lnTo>
                <a:lnTo>
                  <a:pt x="1049892" y="881213"/>
                </a:lnTo>
                <a:lnTo>
                  <a:pt x="1014534" y="980125"/>
                </a:lnTo>
                <a:lnTo>
                  <a:pt x="915154" y="1064701"/>
                </a:lnTo>
                <a:lnTo>
                  <a:pt x="719036" y="1145049"/>
                </a:lnTo>
                <a:lnTo>
                  <a:pt x="433122" y="1273730"/>
                </a:lnTo>
                <a:lnTo>
                  <a:pt x="328853" y="1361635"/>
                </a:lnTo>
                <a:lnTo>
                  <a:pt x="349235" y="1461788"/>
                </a:lnTo>
                <a:lnTo>
                  <a:pt x="410000" y="1477785"/>
                </a:lnTo>
                <a:lnTo>
                  <a:pt x="389594" y="1602915"/>
                </a:lnTo>
                <a:lnTo>
                  <a:pt x="209275" y="1600925"/>
                </a:lnTo>
                <a:lnTo>
                  <a:pt x="188857" y="1495832"/>
                </a:lnTo>
                <a:lnTo>
                  <a:pt x="153670" y="1389217"/>
                </a:lnTo>
                <a:lnTo>
                  <a:pt x="133374" y="1303855"/>
                </a:lnTo>
                <a:lnTo>
                  <a:pt x="175735" y="1038802"/>
                </a:lnTo>
                <a:lnTo>
                  <a:pt x="113877" y="869897"/>
                </a:lnTo>
                <a:lnTo>
                  <a:pt x="0" y="535282"/>
                </a:lnTo>
                <a:lnTo>
                  <a:pt x="250482" y="265438"/>
                </a:lnTo>
                <a:lnTo>
                  <a:pt x="313176" y="93978"/>
                </a:lnTo>
                <a:lnTo>
                  <a:pt x="349087" y="72343"/>
                </a:lnTo>
                <a:lnTo>
                  <a:pt x="362969" y="0"/>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476827" y="3384788"/>
            <a:ext cx="331666" cy="386498"/>
          </a:xfrm>
          <a:custGeom>
            <a:avLst/>
            <a:gdLst/>
            <a:ahLst/>
            <a:cxnLst/>
            <a:rect l="l" t="t" r="r" b="b"/>
            <a:pathLst>
              <a:path w="331666" h="386498">
                <a:moveTo>
                  <a:pt x="331666" y="255249"/>
                </a:moveTo>
                <a:lnTo>
                  <a:pt x="283261" y="360833"/>
                </a:lnTo>
                <a:lnTo>
                  <a:pt x="144112" y="386498"/>
                </a:lnTo>
                <a:lnTo>
                  <a:pt x="2224" y="257632"/>
                </a:lnTo>
                <a:lnTo>
                  <a:pt x="0" y="175428"/>
                </a:lnTo>
                <a:lnTo>
                  <a:pt x="64918" y="86172"/>
                </a:lnTo>
                <a:lnTo>
                  <a:pt x="87364" y="16942"/>
                </a:lnTo>
                <a:lnTo>
                  <a:pt x="156091" y="0"/>
                </a:lnTo>
                <a:lnTo>
                  <a:pt x="276061" y="43541"/>
                </a:lnTo>
                <a:lnTo>
                  <a:pt x="311248" y="150156"/>
                </a:lnTo>
                <a:lnTo>
                  <a:pt x="331666" y="255249"/>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1 Production</a:t>
            </a:r>
          </a:p>
        </p:txBody>
      </p:sp>
      <p:sp>
        <p:nvSpPr>
          <p:cNvPr id="13" name="TextBox 12"/>
          <p:cNvSpPr txBox="1"/>
          <p:nvPr/>
        </p:nvSpPr>
        <p:spPr>
          <a:xfrm>
            <a:off x="2075688"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2 Pipelines</a:t>
            </a:r>
          </a:p>
        </p:txBody>
      </p:sp>
      <p:sp>
        <p:nvSpPr>
          <p:cNvPr id="14" name="TextBox 13"/>
          <p:cNvSpPr txBox="1"/>
          <p:nvPr/>
        </p:nvSpPr>
        <p:spPr>
          <a:xfrm>
            <a:off x="3602736"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3 Ports</a:t>
            </a:r>
          </a:p>
        </p:txBody>
      </p:sp>
      <p:sp>
        <p:nvSpPr>
          <p:cNvPr id="15" name="TextBox 14"/>
          <p:cNvSpPr txBox="1"/>
          <p:nvPr/>
        </p:nvSpPr>
        <p:spPr>
          <a:xfrm>
            <a:off x="5129783"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4 Roads</a:t>
            </a:r>
          </a:p>
        </p:txBody>
      </p:sp>
      <p:sp>
        <p:nvSpPr>
          <p:cNvPr id="16" name="TextBox 15"/>
          <p:cNvSpPr txBox="1"/>
          <p:nvPr/>
        </p:nvSpPr>
        <p:spPr>
          <a:xfrm>
            <a:off x="6656831"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5 Rail</a:t>
            </a:r>
          </a:p>
        </p:txBody>
      </p:sp>
      <p:sp>
        <p:nvSpPr>
          <p:cNvPr id="17" name="TextBox 16"/>
          <p:cNvSpPr txBox="1"/>
          <p:nvPr/>
        </p:nvSpPr>
        <p:spPr>
          <a:xfrm>
            <a:off x="8183879" y="1673352"/>
            <a:ext cx="1481328" cy="274320"/>
          </a:xfrm>
          <a:prstGeom prst="rect">
            <a:avLst/>
          </a:prstGeom>
          <a:noFill/>
        </p:spPr>
        <p:txBody>
          <a:bodyPr wrap="square" lIns="18288" rIns="18288" tIns="0" bIns="0">
            <a:spAutoFit/>
          </a:bodyPr>
          <a:lstStyle/>
          <a:p>
            <a:pPr>
              <a:spcAft>
                <a:spcPts val="800"/>
              </a:spcAft>
              <a:defRPr sz="1050" b="0">
                <a:solidFill>
                  <a:srgbClr val="000000"/>
                </a:solidFill>
                <a:latin typeface="Lato"/>
              </a:defRPr>
            </a:pPr>
            <a:r>
              <a:t>6 Storage</a:t>
            </a:r>
          </a:p>
        </p:txBody>
      </p:sp>
      <p:sp>
        <p:nvSpPr>
          <p:cNvPr id="18" name="TextBox 17"/>
          <p:cNvSpPr txBox="1"/>
          <p:nvPr/>
        </p:nvSpPr>
        <p:spPr>
          <a:xfrm>
            <a:off x="9710928" y="1673352"/>
            <a:ext cx="1481328" cy="274320"/>
          </a:xfrm>
          <a:prstGeom prst="rect">
            <a:avLst/>
          </a:prstGeom>
          <a:noFill/>
        </p:spPr>
        <p:txBody>
          <a:bodyPr wrap="square" lIns="18288" rIns="18288" tIns="0" bIns="0">
            <a:spAutoFit/>
          </a:bodyPr>
          <a:lstStyle/>
          <a:p>
            <a:pPr>
              <a:spcAft>
                <a:spcPts val="800"/>
              </a:spcAft>
              <a:defRPr sz="1050" b="1">
                <a:solidFill>
                  <a:srgbClr val="0A2373"/>
                </a:solidFill>
                <a:latin typeface="Lato"/>
              </a:defRPr>
            </a:pPr>
            <a:r>
              <a:t>7 Corridors</a:t>
            </a:r>
          </a:p>
        </p:txBody>
      </p:sp>
      <p:cxnSp>
        <p:nvCxnSpPr>
          <p:cNvPr id="19" name="Connector 18"/>
          <p:cNvCxnSpPr/>
          <p:nvPr/>
        </p:nvCxnSpPr>
        <p:spPr>
          <a:xfrm flipH="1" flipV="1">
            <a:off x="3933200" y="3570183"/>
            <a:ext cx="627644" cy="817839"/>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3804818" y="3570183"/>
            <a:ext cx="128382" cy="87965"/>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3521903" y="3658148"/>
            <a:ext cx="282915" cy="9510"/>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933200" y="3570183"/>
            <a:ext cx="185440" cy="26152"/>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4073469" y="3484595"/>
            <a:ext cx="45171" cy="111740"/>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3916558" y="3396630"/>
            <a:ext cx="156911" cy="87965"/>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3871386" y="3541654"/>
            <a:ext cx="61814" cy="28529"/>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3840480" y="3513124"/>
            <a:ext cx="30906" cy="28530"/>
          </a:xfrm>
          <a:prstGeom prst="line">
            <a:avLst/>
          </a:prstGeom>
          <a:ln w="889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4006900" y="4059935"/>
            <a:ext cx="553944" cy="328087"/>
          </a:xfrm>
          <a:prstGeom prst="line">
            <a:avLst/>
          </a:prstGeom>
          <a:ln w="8255">
            <a:solidFill>
              <a:srgbClr val="A0A0A0"/>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3804818" y="3658148"/>
            <a:ext cx="202082" cy="401787"/>
          </a:xfrm>
          <a:prstGeom prst="line">
            <a:avLst/>
          </a:prstGeom>
          <a:ln w="8255">
            <a:solidFill>
              <a:srgbClr val="A0A0A0"/>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451152" y="5136916"/>
            <a:ext cx="135514" cy="199705"/>
          </a:xfrm>
          <a:prstGeom prst="line">
            <a:avLst/>
          </a:prstGeom>
          <a:ln w="8255">
            <a:solidFill>
              <a:srgbClr val="A0A0A0"/>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4779568" y="2443276"/>
            <a:ext cx="748894" cy="886785"/>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4118640" y="3330061"/>
            <a:ext cx="660928" cy="266274"/>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3804818" y="3596335"/>
            <a:ext cx="313822" cy="61813"/>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3852367" y="3513124"/>
            <a:ext cx="266273" cy="83211"/>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118640" y="3596335"/>
            <a:ext cx="183063" cy="285293"/>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01703" y="3881628"/>
            <a:ext cx="465978" cy="237744"/>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67681" y="4119372"/>
            <a:ext cx="38039" cy="11887"/>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4553712" y="4119372"/>
            <a:ext cx="213969" cy="285292"/>
          </a:xfrm>
          <a:prstGeom prst="line">
            <a:avLst/>
          </a:prstGeom>
          <a:ln w="7620">
            <a:solidFill>
              <a:srgbClr val="A0A0A0"/>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1565269" y="5284317"/>
            <a:ext cx="242499" cy="6181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807768" y="4975250"/>
            <a:ext cx="744139" cy="3090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2551907" y="4587727"/>
            <a:ext cx="599115" cy="38752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151022" y="4207337"/>
            <a:ext cx="263896" cy="3803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414918" y="3857853"/>
            <a:ext cx="242499" cy="3494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657417" y="3513124"/>
            <a:ext cx="194950" cy="3447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852367" y="3406140"/>
            <a:ext cx="33284" cy="1069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885651" y="2966313"/>
            <a:ext cx="299557" cy="43982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185208" y="2569281"/>
            <a:ext cx="128382" cy="39703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565269" y="5346131"/>
            <a:ext cx="475488" cy="285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040757" y="5374660"/>
            <a:ext cx="406543" cy="356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2447300" y="5358018"/>
            <a:ext cx="76078" cy="523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523378" y="5358018"/>
            <a:ext cx="216347" cy="2139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2739725" y="5358018"/>
            <a:ext cx="537301" cy="2139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277026" y="5270052"/>
            <a:ext cx="299558" cy="8796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576584" y="5136916"/>
            <a:ext cx="242499" cy="13313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819083" y="4794564"/>
            <a:ext cx="206837" cy="3423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025920" y="4547311"/>
            <a:ext cx="152156" cy="2472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178076" y="4547311"/>
            <a:ext cx="244876" cy="45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422952" y="4388022"/>
            <a:ext cx="137892" cy="20446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560844" y="4119372"/>
            <a:ext cx="206837" cy="26865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767681" y="3815059"/>
            <a:ext cx="40417" cy="30431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4548957" y="3703320"/>
            <a:ext cx="259141" cy="1117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4311213" y="3591580"/>
            <a:ext cx="237744" cy="11174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852367" y="3513124"/>
            <a:ext cx="73700" cy="7132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926067" y="3584448"/>
            <a:ext cx="175931" cy="20683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4101998" y="3791285"/>
            <a:ext cx="7132" cy="21634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109130" y="4007632"/>
            <a:ext cx="154534" cy="21872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4263664" y="4226356"/>
            <a:ext cx="145024" cy="95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4408688" y="4321454"/>
            <a:ext cx="152156" cy="6656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3296046" y="3294400"/>
            <a:ext cx="363748" cy="9272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659794" y="3387120"/>
            <a:ext cx="225857" cy="1902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885651" y="3406140"/>
            <a:ext cx="247254" cy="285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132905" y="3339571"/>
            <a:ext cx="413674" cy="95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546579" y="3332439"/>
            <a:ext cx="240122" cy="713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3414918" y="4207337"/>
            <a:ext cx="118872" cy="3803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3533790" y="4587727"/>
            <a:ext cx="40416" cy="28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3574206" y="4868265"/>
            <a:ext cx="128382" cy="15928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3702588" y="5027554"/>
            <a:ext cx="116495" cy="10936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1565269" y="5239146"/>
            <a:ext cx="64191" cy="10698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1629460" y="5032308"/>
            <a:ext cx="64191" cy="2068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1638970" y="4799319"/>
            <a:ext cx="54681" cy="23298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flipV="1">
            <a:off x="1434510" y="4338096"/>
            <a:ext cx="204460" cy="46122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flipV="1">
            <a:off x="1372697" y="4124126"/>
            <a:ext cx="61813" cy="21397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3265139" y="5029931"/>
            <a:ext cx="9510" cy="2710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3129625" y="4770790"/>
            <a:ext cx="135514" cy="25914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2908523" y="4426061"/>
            <a:ext cx="221102" cy="3447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2592324" y="4335719"/>
            <a:ext cx="316199" cy="90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1995586" y="4050426"/>
            <a:ext cx="596738" cy="28529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1933773" y="3408517"/>
            <a:ext cx="61813" cy="6419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2461564" y="5270052"/>
            <a:ext cx="61814" cy="8796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2461564" y="4975250"/>
            <a:ext cx="90343" cy="2948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2551907" y="4873020"/>
            <a:ext cx="135514" cy="10223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2687421" y="4426061"/>
            <a:ext cx="221102" cy="4469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2908523" y="4114617"/>
            <a:ext cx="164043" cy="3114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072566" y="3857853"/>
            <a:ext cx="197328" cy="256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269894" y="3670035"/>
            <a:ext cx="254386" cy="18781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524280" y="3634374"/>
            <a:ext cx="102230" cy="356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626510" y="3513124"/>
            <a:ext cx="225857" cy="12125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852367" y="3434669"/>
            <a:ext cx="280538" cy="784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434510" y="4209714"/>
            <a:ext cx="358994" cy="128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793504" y="4050426"/>
            <a:ext cx="202082" cy="15928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1995586" y="3812682"/>
            <a:ext cx="758403" cy="2377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753989" y="3693810"/>
            <a:ext cx="309068" cy="1188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063057" y="3544031"/>
            <a:ext cx="463600" cy="1497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526657" y="3489350"/>
            <a:ext cx="261519" cy="546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88176" y="3432291"/>
            <a:ext cx="97475" cy="570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3852367" y="3513124"/>
            <a:ext cx="92720" cy="1188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3945087" y="3525012"/>
            <a:ext cx="156911" cy="523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4101998" y="3577315"/>
            <a:ext cx="209215" cy="1426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4311213" y="3591580"/>
            <a:ext cx="197327" cy="380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072566" y="3967215"/>
            <a:ext cx="19020" cy="1474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3063057" y="3693810"/>
            <a:ext cx="28529" cy="2734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063057" y="3429914"/>
            <a:ext cx="216347" cy="26389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3262762" y="3294400"/>
            <a:ext cx="16642" cy="13551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3852367" y="3513124"/>
            <a:ext cx="708477" cy="874898"/>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a:off x="3072566" y="3513124"/>
            <a:ext cx="779801" cy="601493"/>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a:off x="2891881" y="4114617"/>
            <a:ext cx="180685" cy="456468"/>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a:off x="1565269" y="4571085"/>
            <a:ext cx="1326612" cy="775046"/>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a:off x="3414918" y="3513124"/>
            <a:ext cx="437449" cy="694213"/>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3414918" y="4207337"/>
            <a:ext cx="404165" cy="929579"/>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H="1">
            <a:off x="2891881" y="4207337"/>
            <a:ext cx="523037" cy="363748"/>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2891881" y="4571085"/>
            <a:ext cx="385145" cy="786933"/>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2891881" y="4571085"/>
            <a:ext cx="399410" cy="748894"/>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H="1">
            <a:off x="1451152" y="3888760"/>
            <a:ext cx="1200608" cy="1248156"/>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2651760" y="3888760"/>
            <a:ext cx="420806" cy="225857"/>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H="1">
            <a:off x="2891881" y="4114617"/>
            <a:ext cx="180685" cy="456468"/>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3852367" y="3513124"/>
            <a:ext cx="458846" cy="78456"/>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4311213" y="3591580"/>
            <a:ext cx="494507" cy="539679"/>
          </a:xfrm>
          <a:prstGeom prst="line">
            <a:avLst/>
          </a:prstGeom>
          <a:ln w="10160">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127" name="Oval 126"/>
          <p:cNvSpPr/>
          <p:nvPr/>
        </p:nvSpPr>
        <p:spPr>
          <a:xfrm>
            <a:off x="4510552" y="4337730"/>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3754526" y="3607856"/>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4068348" y="3546043"/>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536374" y="5286329"/>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2349459" y="5352897"/>
            <a:ext cx="100584" cy="100584"/>
          </a:xfrm>
          <a:prstGeom prst="ellipse">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44097" y="4187952"/>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Connector 132"/>
          <p:cNvCxnSpPr/>
          <p:nvPr/>
        </p:nvCxnSpPr>
        <p:spPr>
          <a:xfrm flipH="1" flipV="1">
            <a:off x="822960" y="4133087"/>
            <a:ext cx="371429" cy="105157"/>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502920" y="4041648"/>
            <a:ext cx="89154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Port Nolloth*</a:t>
            </a:r>
          </a:p>
        </p:txBody>
      </p:sp>
      <p:sp>
        <p:nvSpPr>
          <p:cNvPr id="135" name="Rectangle 134"/>
          <p:cNvSpPr/>
          <p:nvPr/>
        </p:nvSpPr>
        <p:spPr>
          <a:xfrm>
            <a:off x="1400860" y="5086624"/>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6" name="Connector 135"/>
          <p:cNvCxnSpPr/>
          <p:nvPr/>
        </p:nvCxnSpPr>
        <p:spPr>
          <a:xfrm flipH="1" flipV="1">
            <a:off x="777240" y="5120640"/>
            <a:ext cx="673912" cy="16276"/>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457200" y="5029200"/>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Saldanha</a:t>
            </a:r>
          </a:p>
        </p:txBody>
      </p:sp>
      <p:sp>
        <p:nvSpPr>
          <p:cNvPr id="138" name="Rectangle 137"/>
          <p:cNvSpPr/>
          <p:nvPr/>
        </p:nvSpPr>
        <p:spPr>
          <a:xfrm>
            <a:off x="1514977" y="5295839"/>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9" name="Connector 138"/>
          <p:cNvCxnSpPr/>
          <p:nvPr/>
        </p:nvCxnSpPr>
        <p:spPr>
          <a:xfrm flipH="1">
            <a:off x="886968" y="5346131"/>
            <a:ext cx="678301" cy="249996"/>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566928" y="5504688"/>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Cape Town</a:t>
            </a:r>
          </a:p>
        </p:txBody>
      </p:sp>
      <p:sp>
        <p:nvSpPr>
          <p:cNvPr id="141" name="Rectangle 140"/>
          <p:cNvSpPr/>
          <p:nvPr/>
        </p:nvSpPr>
        <p:spPr>
          <a:xfrm>
            <a:off x="2397008" y="5360029"/>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Connector 141"/>
          <p:cNvCxnSpPr/>
          <p:nvPr/>
        </p:nvCxnSpPr>
        <p:spPr>
          <a:xfrm flipH="1">
            <a:off x="2331720" y="5410321"/>
            <a:ext cx="115580" cy="414406"/>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2011680" y="5733288"/>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Mossel Bay</a:t>
            </a:r>
          </a:p>
        </p:txBody>
      </p:sp>
      <p:sp>
        <p:nvSpPr>
          <p:cNvPr id="144" name="Rectangle 143"/>
          <p:cNvSpPr/>
          <p:nvPr/>
        </p:nvSpPr>
        <p:spPr>
          <a:xfrm>
            <a:off x="3226734" y="5307726"/>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5" name="Connector 144"/>
          <p:cNvCxnSpPr/>
          <p:nvPr/>
        </p:nvCxnSpPr>
        <p:spPr>
          <a:xfrm>
            <a:off x="3277026" y="5358018"/>
            <a:ext cx="444582" cy="448422"/>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46" name="TextBox 145"/>
          <p:cNvSpPr txBox="1"/>
          <p:nvPr/>
        </p:nvSpPr>
        <p:spPr>
          <a:xfrm>
            <a:off x="3401568" y="5715000"/>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Gqeberha</a:t>
            </a:r>
          </a:p>
        </p:txBody>
      </p:sp>
      <p:sp>
        <p:nvSpPr>
          <p:cNvPr id="147" name="Rectangle 146"/>
          <p:cNvSpPr/>
          <p:nvPr/>
        </p:nvSpPr>
        <p:spPr>
          <a:xfrm>
            <a:off x="3240999" y="5269687"/>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8" name="Connector 147"/>
          <p:cNvCxnSpPr/>
          <p:nvPr/>
        </p:nvCxnSpPr>
        <p:spPr>
          <a:xfrm>
            <a:off x="3291291" y="5319979"/>
            <a:ext cx="1143549" cy="102413"/>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49" name="TextBox 148"/>
          <p:cNvSpPr txBox="1"/>
          <p:nvPr/>
        </p:nvSpPr>
        <p:spPr>
          <a:xfrm>
            <a:off x="4114800" y="5330952"/>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Ngqura</a:t>
            </a:r>
          </a:p>
        </p:txBody>
      </p:sp>
      <p:sp>
        <p:nvSpPr>
          <p:cNvPr id="150" name="Rectangle 149"/>
          <p:cNvSpPr/>
          <p:nvPr/>
        </p:nvSpPr>
        <p:spPr>
          <a:xfrm>
            <a:off x="3768791" y="5086624"/>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1" name="Connector 150"/>
          <p:cNvCxnSpPr/>
          <p:nvPr/>
        </p:nvCxnSpPr>
        <p:spPr>
          <a:xfrm>
            <a:off x="3819083" y="5136916"/>
            <a:ext cx="1100389" cy="75163"/>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52" name="TextBox 151"/>
          <p:cNvSpPr txBox="1"/>
          <p:nvPr/>
        </p:nvSpPr>
        <p:spPr>
          <a:xfrm>
            <a:off x="4599432" y="5120640"/>
            <a:ext cx="75438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East London</a:t>
            </a:r>
          </a:p>
        </p:txBody>
      </p:sp>
      <p:sp>
        <p:nvSpPr>
          <p:cNvPr id="153" name="Rectangle 152"/>
          <p:cNvSpPr/>
          <p:nvPr/>
        </p:nvSpPr>
        <p:spPr>
          <a:xfrm>
            <a:off x="4510552" y="4337730"/>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4" name="Connector 153"/>
          <p:cNvCxnSpPr/>
          <p:nvPr/>
        </p:nvCxnSpPr>
        <p:spPr>
          <a:xfrm>
            <a:off x="4560844" y="4388022"/>
            <a:ext cx="468356" cy="65105"/>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55" name="TextBox 154"/>
          <p:cNvSpPr txBox="1"/>
          <p:nvPr/>
        </p:nvSpPr>
        <p:spPr>
          <a:xfrm>
            <a:off x="4709160" y="4361688"/>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Durban</a:t>
            </a:r>
          </a:p>
        </p:txBody>
      </p:sp>
      <p:sp>
        <p:nvSpPr>
          <p:cNvPr id="156" name="Rectangle 155"/>
          <p:cNvSpPr/>
          <p:nvPr/>
        </p:nvSpPr>
        <p:spPr>
          <a:xfrm>
            <a:off x="4755428" y="4080967"/>
            <a:ext cx="100584" cy="100584"/>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7" name="Connector 156"/>
          <p:cNvCxnSpPr/>
          <p:nvPr/>
        </p:nvCxnSpPr>
        <p:spPr>
          <a:xfrm flipV="1">
            <a:off x="4805720" y="3867911"/>
            <a:ext cx="159472" cy="263348"/>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58" name="TextBox 157"/>
          <p:cNvSpPr txBox="1"/>
          <p:nvPr/>
        </p:nvSpPr>
        <p:spPr>
          <a:xfrm>
            <a:off x="4645152" y="3776472"/>
            <a:ext cx="822959"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Richards Bay</a:t>
            </a:r>
          </a:p>
        </p:txBody>
      </p:sp>
      <p:sp>
        <p:nvSpPr>
          <p:cNvPr id="159" name="Diamond 158"/>
          <p:cNvSpPr/>
          <p:nvPr/>
        </p:nvSpPr>
        <p:spPr>
          <a:xfrm>
            <a:off x="3802075" y="3462832"/>
            <a:ext cx="100584" cy="100584"/>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0" name="Connector 159"/>
          <p:cNvCxnSpPr/>
          <p:nvPr/>
        </p:nvCxnSpPr>
        <p:spPr>
          <a:xfrm flipH="1" flipV="1">
            <a:off x="3611880" y="2971800"/>
            <a:ext cx="240487" cy="541324"/>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61" name="TextBox 160"/>
          <p:cNvSpPr txBox="1"/>
          <p:nvPr/>
        </p:nvSpPr>
        <p:spPr>
          <a:xfrm>
            <a:off x="3291840" y="2880360"/>
            <a:ext cx="731520"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Gauteng</a:t>
            </a:r>
          </a:p>
        </p:txBody>
      </p:sp>
      <p:sp>
        <p:nvSpPr>
          <p:cNvPr id="162" name="Diamond 161"/>
          <p:cNvSpPr/>
          <p:nvPr/>
        </p:nvSpPr>
        <p:spPr>
          <a:xfrm>
            <a:off x="3882908" y="3519891"/>
            <a:ext cx="100584" cy="100584"/>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3" name="Connector 162"/>
          <p:cNvCxnSpPr/>
          <p:nvPr/>
        </p:nvCxnSpPr>
        <p:spPr>
          <a:xfrm flipH="1" flipV="1">
            <a:off x="3227832" y="3429000"/>
            <a:ext cx="705368" cy="141183"/>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64" name="TextBox 163"/>
          <p:cNvSpPr txBox="1"/>
          <p:nvPr/>
        </p:nvSpPr>
        <p:spPr>
          <a:xfrm>
            <a:off x="2907792" y="3337560"/>
            <a:ext cx="822959" cy="228600"/>
          </a:xfrm>
          <a:prstGeom prst="rect">
            <a:avLst/>
          </a:prstGeom>
          <a:solidFill>
            <a:srgbClr val="FFFFFF"/>
          </a:solidFill>
        </p:spPr>
        <p:txBody>
          <a:bodyPr wrap="square" lIns="18288" rIns="18288" tIns="0" bIns="0">
            <a:spAutoFit/>
          </a:bodyPr>
          <a:lstStyle/>
          <a:p>
            <a:pPr>
              <a:spcAft>
                <a:spcPts val="800"/>
              </a:spcAft>
              <a:defRPr sz="900" b="1">
                <a:solidFill>
                  <a:srgbClr val="000000"/>
                </a:solidFill>
                <a:latin typeface="Lato"/>
              </a:defRPr>
            </a:pPr>
            <a:r>
              <a:t>Jameson Park</a:t>
            </a:r>
          </a:p>
        </p:txBody>
      </p:sp>
      <p:sp>
        <p:nvSpPr>
          <p:cNvPr id="165" name="Diamond 164"/>
          <p:cNvSpPr/>
          <p:nvPr/>
        </p:nvSpPr>
        <p:spPr>
          <a:xfrm>
            <a:off x="1888236" y="5127040"/>
            <a:ext cx="100584" cy="100584"/>
          </a:xfrm>
          <a:prstGeom prst="diamond">
            <a:avLst/>
          </a:prstGeom>
          <a:noFill/>
          <a:ln w="1016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Diamond 165"/>
          <p:cNvSpPr/>
          <p:nvPr/>
        </p:nvSpPr>
        <p:spPr>
          <a:xfrm>
            <a:off x="2125979" y="4318711"/>
            <a:ext cx="100584" cy="100584"/>
          </a:xfrm>
          <a:prstGeom prst="diamond">
            <a:avLst/>
          </a:prstGeom>
          <a:noFill/>
          <a:ln w="1016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Diamond 166"/>
          <p:cNvSpPr/>
          <p:nvPr/>
        </p:nvSpPr>
        <p:spPr>
          <a:xfrm>
            <a:off x="3314700" y="4889296"/>
            <a:ext cx="100584" cy="100584"/>
          </a:xfrm>
          <a:prstGeom prst="diamond">
            <a:avLst/>
          </a:prstGeom>
          <a:noFill/>
          <a:ln w="1016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Diamond 167"/>
          <p:cNvSpPr/>
          <p:nvPr/>
        </p:nvSpPr>
        <p:spPr>
          <a:xfrm>
            <a:off x="3433572" y="4104741"/>
            <a:ext cx="100584" cy="100584"/>
          </a:xfrm>
          <a:prstGeom prst="diamond">
            <a:avLst/>
          </a:prstGeom>
          <a:noFill/>
          <a:ln w="1016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Diamond 168"/>
          <p:cNvSpPr/>
          <p:nvPr/>
        </p:nvSpPr>
        <p:spPr>
          <a:xfrm>
            <a:off x="3076956" y="3581704"/>
            <a:ext cx="100584" cy="100584"/>
          </a:xfrm>
          <a:prstGeom prst="diamond">
            <a:avLst/>
          </a:prstGeom>
          <a:noFill/>
          <a:ln w="1016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Diamond 169"/>
          <p:cNvSpPr/>
          <p:nvPr/>
        </p:nvSpPr>
        <p:spPr>
          <a:xfrm>
            <a:off x="3837736" y="3462832"/>
            <a:ext cx="100584" cy="100584"/>
          </a:xfrm>
          <a:prstGeom prst="diamond">
            <a:avLst/>
          </a:prstGeom>
          <a:noFill/>
          <a:ln w="1016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Diamond 170"/>
          <p:cNvSpPr/>
          <p:nvPr/>
        </p:nvSpPr>
        <p:spPr>
          <a:xfrm>
            <a:off x="4123029" y="2868472"/>
            <a:ext cx="100584" cy="100584"/>
          </a:xfrm>
          <a:prstGeom prst="diamond">
            <a:avLst/>
          </a:prstGeom>
          <a:noFill/>
          <a:ln w="1016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Diamond 171"/>
          <p:cNvSpPr/>
          <p:nvPr/>
        </p:nvSpPr>
        <p:spPr>
          <a:xfrm>
            <a:off x="4265676" y="3415284"/>
            <a:ext cx="100584" cy="100584"/>
          </a:xfrm>
          <a:prstGeom prst="diamond">
            <a:avLst/>
          </a:prstGeom>
          <a:noFill/>
          <a:ln w="1016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Diamond 172"/>
          <p:cNvSpPr/>
          <p:nvPr/>
        </p:nvSpPr>
        <p:spPr>
          <a:xfrm>
            <a:off x="4336999" y="4009644"/>
            <a:ext cx="100584" cy="100584"/>
          </a:xfrm>
          <a:prstGeom prst="diamond">
            <a:avLst/>
          </a:prstGeom>
          <a:noFill/>
          <a:ln w="1016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3882908" y="3519891"/>
            <a:ext cx="100584" cy="100584"/>
          </a:xfrm>
          <a:prstGeom prst="ellipse">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4510552" y="4337730"/>
            <a:ext cx="100584" cy="100584"/>
          </a:xfrm>
          <a:prstGeom prst="ellipse">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6" name="Connector 175"/>
          <p:cNvCxnSpPr/>
          <p:nvPr/>
        </p:nvCxnSpPr>
        <p:spPr>
          <a:xfrm flipV="1">
            <a:off x="1565269" y="5284317"/>
            <a:ext cx="242499" cy="61814"/>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1807768" y="4975250"/>
            <a:ext cx="744139" cy="309067"/>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2551907" y="4587727"/>
            <a:ext cx="599115" cy="387523"/>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3151022" y="4207337"/>
            <a:ext cx="263896" cy="380390"/>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3414918" y="3857853"/>
            <a:ext cx="242499" cy="349484"/>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3657417" y="3513124"/>
            <a:ext cx="194950" cy="344729"/>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3852367" y="3406140"/>
            <a:ext cx="33284" cy="106984"/>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3885651" y="2966313"/>
            <a:ext cx="299557" cy="439827"/>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4185208" y="2569281"/>
            <a:ext cx="128382" cy="397032"/>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1565269" y="5346131"/>
            <a:ext cx="475488" cy="28529"/>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2040757" y="5374660"/>
            <a:ext cx="406543" cy="35661"/>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447300" y="5358018"/>
            <a:ext cx="76078" cy="52303"/>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2523378" y="5358018"/>
            <a:ext cx="216347" cy="21397"/>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739725" y="5358018"/>
            <a:ext cx="537301" cy="21397"/>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3277026" y="5270052"/>
            <a:ext cx="299558" cy="87966"/>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3576584" y="5136916"/>
            <a:ext cx="242499" cy="133136"/>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3819083" y="4794564"/>
            <a:ext cx="206837" cy="342352"/>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4025920" y="4547311"/>
            <a:ext cx="152156" cy="247253"/>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4178076" y="4547311"/>
            <a:ext cx="244876" cy="45171"/>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4422952" y="4388022"/>
            <a:ext cx="137892" cy="204460"/>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4560844" y="4119372"/>
            <a:ext cx="206837" cy="268650"/>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4767681" y="3815059"/>
            <a:ext cx="40417" cy="304313"/>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H="1" flipV="1">
            <a:off x="4548957" y="3703320"/>
            <a:ext cx="259141" cy="111739"/>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H="1" flipV="1">
            <a:off x="4311213" y="3591580"/>
            <a:ext cx="237744" cy="111740"/>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3852367" y="3513124"/>
            <a:ext cx="73700" cy="71324"/>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3926067" y="3584448"/>
            <a:ext cx="175931" cy="206837"/>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a:off x="4101998" y="3791285"/>
            <a:ext cx="7132" cy="216347"/>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4109130" y="4007632"/>
            <a:ext cx="154534" cy="218724"/>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4263664" y="4226356"/>
            <a:ext cx="145024" cy="95098"/>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4408688" y="4321454"/>
            <a:ext cx="152156" cy="66568"/>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3296046" y="3294400"/>
            <a:ext cx="363748" cy="92720"/>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3659794" y="3387120"/>
            <a:ext cx="225857" cy="19020"/>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3885651" y="3406140"/>
            <a:ext cx="247254" cy="28529"/>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4132905" y="3339571"/>
            <a:ext cx="413674" cy="95098"/>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4546579" y="3332439"/>
            <a:ext cx="240122" cy="7132"/>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3414918" y="4207337"/>
            <a:ext cx="118872" cy="380390"/>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3533790" y="4587727"/>
            <a:ext cx="40416" cy="280538"/>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3574206" y="4868265"/>
            <a:ext cx="128382" cy="159289"/>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a:off x="3702588" y="5027554"/>
            <a:ext cx="116495" cy="109362"/>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flipV="1">
            <a:off x="1565269" y="5239146"/>
            <a:ext cx="64191" cy="106985"/>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flipV="1">
            <a:off x="1629460" y="5032308"/>
            <a:ext cx="64191" cy="206838"/>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flipH="1" flipV="1">
            <a:off x="1638970" y="4799319"/>
            <a:ext cx="54681" cy="232989"/>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flipH="1" flipV="1">
            <a:off x="1434510" y="4338096"/>
            <a:ext cx="204460" cy="461223"/>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flipH="1" flipV="1">
            <a:off x="1372697" y="4124126"/>
            <a:ext cx="61813" cy="213970"/>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flipH="1" flipV="1">
            <a:off x="3265139" y="5029931"/>
            <a:ext cx="9510" cy="271028"/>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flipH="1" flipV="1">
            <a:off x="3129625" y="4770790"/>
            <a:ext cx="135514" cy="259141"/>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H="1" flipV="1">
            <a:off x="2908523" y="4426061"/>
            <a:ext cx="221102" cy="344729"/>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flipH="1" flipV="1">
            <a:off x="2592324" y="4335719"/>
            <a:ext cx="316199" cy="90342"/>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flipH="1" flipV="1">
            <a:off x="1995586" y="4050426"/>
            <a:ext cx="596738" cy="285293"/>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flipH="1" flipV="1">
            <a:off x="1933773" y="3408517"/>
            <a:ext cx="61813" cy="641909"/>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flipH="1" flipV="1">
            <a:off x="2461564" y="5270052"/>
            <a:ext cx="61814" cy="87966"/>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flipV="1">
            <a:off x="2461564" y="4975250"/>
            <a:ext cx="90343" cy="294802"/>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flipV="1">
            <a:off x="2551907" y="4873020"/>
            <a:ext cx="135514" cy="102230"/>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flipV="1">
            <a:off x="2687421" y="4426061"/>
            <a:ext cx="221102" cy="446959"/>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flipV="1">
            <a:off x="2908523" y="4114617"/>
            <a:ext cx="164043" cy="311444"/>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3072566" y="3857853"/>
            <a:ext cx="197328" cy="256764"/>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flipV="1">
            <a:off x="3269894" y="3670035"/>
            <a:ext cx="254386" cy="187818"/>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flipV="1">
            <a:off x="3524280" y="3634374"/>
            <a:ext cx="102230" cy="35661"/>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flipV="1">
            <a:off x="3626510" y="3513124"/>
            <a:ext cx="225857" cy="121250"/>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flipV="1">
            <a:off x="3852367" y="3434669"/>
            <a:ext cx="280538" cy="78455"/>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V="1">
            <a:off x="1434510" y="4209714"/>
            <a:ext cx="358994" cy="128382"/>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1793504" y="4050426"/>
            <a:ext cx="202082" cy="159288"/>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flipV="1">
            <a:off x="1995586" y="3812682"/>
            <a:ext cx="758403" cy="237744"/>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2753989" y="3693810"/>
            <a:ext cx="309068" cy="118872"/>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V="1">
            <a:off x="3063057" y="3544031"/>
            <a:ext cx="463600" cy="149779"/>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V="1">
            <a:off x="3526657" y="3489350"/>
            <a:ext cx="261519" cy="54681"/>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flipV="1">
            <a:off x="3788176" y="3432291"/>
            <a:ext cx="97475" cy="57059"/>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3852367" y="3513124"/>
            <a:ext cx="92720" cy="11888"/>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3945087" y="3525012"/>
            <a:ext cx="156911" cy="52303"/>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4101998" y="3577315"/>
            <a:ext cx="209215" cy="14265"/>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4311213" y="3591580"/>
            <a:ext cx="197327" cy="38039"/>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flipV="1">
            <a:off x="3072566" y="3967215"/>
            <a:ext cx="19020" cy="147402"/>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flipH="1" flipV="1">
            <a:off x="3063057" y="3693810"/>
            <a:ext cx="28529" cy="273405"/>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flipV="1">
            <a:off x="3063057" y="3429914"/>
            <a:ext cx="216347" cy="263896"/>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H="1" flipV="1">
            <a:off x="3262762" y="3294400"/>
            <a:ext cx="16642" cy="135514"/>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451152" y="5032308"/>
            <a:ext cx="242499" cy="104608"/>
          </a:xfrm>
          <a:prstGeom prst="line">
            <a:avLst/>
          </a:prstGeom>
          <a:ln w="15875">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a:off x="3852367" y="3513124"/>
            <a:ext cx="708477" cy="874898"/>
          </a:xfrm>
          <a:prstGeom prst="line">
            <a:avLst/>
          </a:prstGeom>
          <a:ln w="1270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H="1">
            <a:off x="3072566" y="3513124"/>
            <a:ext cx="779801" cy="601493"/>
          </a:xfrm>
          <a:prstGeom prst="line">
            <a:avLst/>
          </a:prstGeom>
          <a:ln w="1270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H="1">
            <a:off x="2891881" y="4114617"/>
            <a:ext cx="180685" cy="456468"/>
          </a:xfrm>
          <a:prstGeom prst="line">
            <a:avLst/>
          </a:prstGeom>
          <a:ln w="1270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H="1">
            <a:off x="1565269" y="4571085"/>
            <a:ext cx="1326612" cy="775046"/>
          </a:xfrm>
          <a:prstGeom prst="line">
            <a:avLst/>
          </a:prstGeom>
          <a:ln w="1270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H="1">
            <a:off x="3414918" y="3513124"/>
            <a:ext cx="437449" cy="694213"/>
          </a:xfrm>
          <a:prstGeom prst="line">
            <a:avLst/>
          </a:prstGeom>
          <a:ln w="1270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a:off x="3414918" y="4207337"/>
            <a:ext cx="404165" cy="929579"/>
          </a:xfrm>
          <a:prstGeom prst="line">
            <a:avLst/>
          </a:prstGeom>
          <a:ln w="1270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H="1">
            <a:off x="2891881" y="4207337"/>
            <a:ext cx="523037" cy="363748"/>
          </a:xfrm>
          <a:prstGeom prst="line">
            <a:avLst/>
          </a:prstGeom>
          <a:ln w="1270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a:off x="2891881" y="4571085"/>
            <a:ext cx="385145" cy="786933"/>
          </a:xfrm>
          <a:prstGeom prst="line">
            <a:avLst/>
          </a:prstGeom>
          <a:ln w="1270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a:off x="2891881" y="4571085"/>
            <a:ext cx="399410" cy="748894"/>
          </a:xfrm>
          <a:prstGeom prst="line">
            <a:avLst/>
          </a:prstGeom>
          <a:ln w="1270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H="1">
            <a:off x="1451152" y="3888760"/>
            <a:ext cx="1200608" cy="1248156"/>
          </a:xfrm>
          <a:prstGeom prst="line">
            <a:avLst/>
          </a:prstGeom>
          <a:ln w="1270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a:off x="2651760" y="3888760"/>
            <a:ext cx="420806" cy="225857"/>
          </a:xfrm>
          <a:prstGeom prst="line">
            <a:avLst/>
          </a:prstGeom>
          <a:ln w="1270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H="1">
            <a:off x="2891881" y="4114617"/>
            <a:ext cx="180685" cy="456468"/>
          </a:xfrm>
          <a:prstGeom prst="line">
            <a:avLst/>
          </a:prstGeom>
          <a:ln w="1270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a:off x="3852367" y="3513124"/>
            <a:ext cx="458846" cy="78456"/>
          </a:xfrm>
          <a:prstGeom prst="line">
            <a:avLst/>
          </a:prstGeom>
          <a:ln w="1270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a:off x="4311213" y="3591580"/>
            <a:ext cx="494507" cy="539679"/>
          </a:xfrm>
          <a:prstGeom prst="line">
            <a:avLst/>
          </a:prstGeom>
          <a:ln w="12700">
            <a:solidFill>
              <a:srgbClr val="0A2373"/>
            </a:solidFill>
            <a:prstDash val="dash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H="1" flipV="1">
            <a:off x="3933200" y="3570183"/>
            <a:ext cx="627644" cy="817839"/>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H="1">
            <a:off x="3804818" y="3570183"/>
            <a:ext cx="128382" cy="87965"/>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H="1">
            <a:off x="3521903" y="3658148"/>
            <a:ext cx="282915" cy="951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a:off x="3933200" y="3570183"/>
            <a:ext cx="185440" cy="26152"/>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H="1" flipV="1">
            <a:off x="4073469" y="3484595"/>
            <a:ext cx="45171" cy="11174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H="1" flipV="1">
            <a:off x="3916558" y="3396630"/>
            <a:ext cx="156911" cy="87965"/>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H="1" flipV="1">
            <a:off x="3871386" y="3541654"/>
            <a:ext cx="61814" cy="28529"/>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H="1" flipV="1">
            <a:off x="3840480" y="3513124"/>
            <a:ext cx="30906" cy="2853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H="1" flipV="1">
            <a:off x="4006900" y="4059935"/>
            <a:ext cx="553944" cy="328087"/>
          </a:xfrm>
          <a:prstGeom prst="line">
            <a:avLst/>
          </a:prstGeom>
          <a:ln w="1651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H="1" flipV="1">
            <a:off x="3804818" y="3658148"/>
            <a:ext cx="202082" cy="401787"/>
          </a:xfrm>
          <a:prstGeom prst="line">
            <a:avLst/>
          </a:prstGeom>
          <a:ln w="1651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451152" y="5136916"/>
            <a:ext cx="135514" cy="199705"/>
          </a:xfrm>
          <a:prstGeom prst="line">
            <a:avLst/>
          </a:prstGeom>
          <a:ln w="1651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H="1" flipV="1">
            <a:off x="3933200" y="3570183"/>
            <a:ext cx="627644" cy="817839"/>
          </a:xfrm>
          <a:prstGeom prst="line">
            <a:avLst/>
          </a:prstGeom>
          <a:ln w="3429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H="1" flipV="1">
            <a:off x="3852367" y="3513124"/>
            <a:ext cx="80833" cy="57059"/>
          </a:xfrm>
          <a:prstGeom prst="line">
            <a:avLst/>
          </a:prstGeom>
          <a:ln w="3429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6309360" y="2057400"/>
            <a:ext cx="0" cy="3977640"/>
          </a:xfrm>
          <a:prstGeom prst="line">
            <a:avLst/>
          </a:prstGeom>
          <a:ln w="5080">
            <a:solidFill>
              <a:srgbClr val="A0A0A0"/>
            </a:solidFill>
          </a:ln>
        </p:spPr>
        <p:style>
          <a:lnRef idx="2">
            <a:schemeClr val="accent1"/>
          </a:lnRef>
          <a:fillRef idx="0">
            <a:schemeClr val="accent1"/>
          </a:fillRef>
          <a:effectRef idx="1">
            <a:schemeClr val="accent1"/>
          </a:effectRef>
          <a:fontRef idx="minor">
            <a:schemeClr val="tx1"/>
          </a:fontRef>
        </p:style>
      </p:cxnSp>
      <p:sp>
        <p:nvSpPr>
          <p:cNvPr id="280" name="TextBox 279"/>
          <p:cNvSpPr txBox="1"/>
          <p:nvPr/>
        </p:nvSpPr>
        <p:spPr>
          <a:xfrm>
            <a:off x="6492240" y="2103120"/>
            <a:ext cx="4526280" cy="502920"/>
          </a:xfrm>
          <a:prstGeom prst="rect">
            <a:avLst/>
          </a:prstGeom>
          <a:noFill/>
        </p:spPr>
        <p:txBody>
          <a:bodyPr wrap="square" lIns="18288" rIns="18288" tIns="0" bIns="0">
            <a:spAutoFit/>
          </a:bodyPr>
          <a:lstStyle/>
          <a:p>
            <a:pPr>
              <a:spcAft>
                <a:spcPts val="800"/>
              </a:spcAft>
              <a:defRPr sz="1800" b="1">
                <a:solidFill>
                  <a:srgbClr val="000000"/>
                </a:solidFill>
                <a:latin typeface="Lato"/>
              </a:defRPr>
            </a:pPr>
            <a:r>
              <a:t>National corridor families to assess</a:t>
            </a:r>
          </a:p>
        </p:txBody>
      </p:sp>
      <p:sp>
        <p:nvSpPr>
          <p:cNvPr id="281" name="TextBox 280"/>
          <p:cNvSpPr txBox="1"/>
          <p:nvPr/>
        </p:nvSpPr>
        <p:spPr>
          <a:xfrm>
            <a:off x="6492240" y="2761488"/>
            <a:ext cx="4526280" cy="219456"/>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Durban - Gauteng</a:t>
            </a:r>
          </a:p>
        </p:txBody>
      </p:sp>
      <p:sp>
        <p:nvSpPr>
          <p:cNvPr id="282" name="TextBox 281"/>
          <p:cNvSpPr txBox="1"/>
          <p:nvPr/>
        </p:nvSpPr>
        <p:spPr>
          <a:xfrm>
            <a:off x="6492240" y="2980944"/>
            <a:ext cx="4526280" cy="201168"/>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N3, NMPP and rail; first corridor to test.</a:t>
            </a:r>
          </a:p>
        </p:txBody>
      </p:sp>
      <p:sp>
        <p:nvSpPr>
          <p:cNvPr id="283" name="TextBox 282"/>
          <p:cNvSpPr txBox="1"/>
          <p:nvPr/>
        </p:nvSpPr>
        <p:spPr>
          <a:xfrm>
            <a:off x="6492240" y="3182112"/>
            <a:ext cx="4526280" cy="219456"/>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Richards Bay - eastern hinterland</a:t>
            </a:r>
          </a:p>
        </p:txBody>
      </p:sp>
      <p:sp>
        <p:nvSpPr>
          <p:cNvPr id="284" name="TextBox 283"/>
          <p:cNvSpPr txBox="1"/>
          <p:nvPr/>
        </p:nvSpPr>
        <p:spPr>
          <a:xfrm>
            <a:off x="6492240" y="3401568"/>
            <a:ext cx="4526280" cy="201168"/>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Ermelo / Mpumalanga and Gauteng connections.</a:t>
            </a:r>
          </a:p>
        </p:txBody>
      </p:sp>
      <p:sp>
        <p:nvSpPr>
          <p:cNvPr id="285" name="TextBox 284"/>
          <p:cNvSpPr txBox="1"/>
          <p:nvPr/>
        </p:nvSpPr>
        <p:spPr>
          <a:xfrm>
            <a:off x="6492240" y="3602736"/>
            <a:ext cx="4526280" cy="219456"/>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Cape Town / Saldanha - inland</a:t>
            </a:r>
          </a:p>
        </p:txBody>
      </p:sp>
      <p:sp>
        <p:nvSpPr>
          <p:cNvPr id="286" name="TextBox 285"/>
          <p:cNvSpPr txBox="1"/>
          <p:nvPr/>
        </p:nvSpPr>
        <p:spPr>
          <a:xfrm>
            <a:off x="6492240" y="3822191"/>
            <a:ext cx="4526280" cy="201168"/>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N1, N7 and rail; Saldanha - Astron crude link.</a:t>
            </a:r>
          </a:p>
        </p:txBody>
      </p:sp>
      <p:sp>
        <p:nvSpPr>
          <p:cNvPr id="287" name="TextBox 286"/>
          <p:cNvSpPr txBox="1"/>
          <p:nvPr/>
        </p:nvSpPr>
        <p:spPr>
          <a:xfrm>
            <a:off x="6492240" y="4023360"/>
            <a:ext cx="4526280" cy="219456"/>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Mossel Bay - coast and inland</a:t>
            </a:r>
          </a:p>
        </p:txBody>
      </p:sp>
      <p:sp>
        <p:nvSpPr>
          <p:cNvPr id="288" name="TextBox 287"/>
          <p:cNvSpPr txBox="1"/>
          <p:nvPr/>
        </p:nvSpPr>
        <p:spPr>
          <a:xfrm>
            <a:off x="6492240" y="4242816"/>
            <a:ext cx="4526280" cy="201168"/>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N2 / N12 connections; validate product service.</a:t>
            </a:r>
          </a:p>
        </p:txBody>
      </p:sp>
      <p:sp>
        <p:nvSpPr>
          <p:cNvPr id="289" name="TextBox 288"/>
          <p:cNvSpPr txBox="1"/>
          <p:nvPr/>
        </p:nvSpPr>
        <p:spPr>
          <a:xfrm>
            <a:off x="6492240" y="4443984"/>
            <a:ext cx="4526280" cy="219456"/>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Gqeberha / Ngqura - inland</a:t>
            </a:r>
          </a:p>
        </p:txBody>
      </p:sp>
      <p:sp>
        <p:nvSpPr>
          <p:cNvPr id="290" name="TextBox 289"/>
          <p:cNvSpPr txBox="1"/>
          <p:nvPr/>
        </p:nvSpPr>
        <p:spPr>
          <a:xfrm>
            <a:off x="6492240" y="4663440"/>
            <a:ext cx="4526280" cy="201168"/>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N10 and rail towards Northern Cape / Free State.</a:t>
            </a:r>
          </a:p>
        </p:txBody>
      </p:sp>
      <p:sp>
        <p:nvSpPr>
          <p:cNvPr id="291" name="TextBox 290"/>
          <p:cNvSpPr txBox="1"/>
          <p:nvPr/>
        </p:nvSpPr>
        <p:spPr>
          <a:xfrm>
            <a:off x="6492240" y="4864608"/>
            <a:ext cx="4526280" cy="219456"/>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East London - Free State / Gauteng</a:t>
            </a:r>
          </a:p>
        </p:txBody>
      </p:sp>
      <p:sp>
        <p:nvSpPr>
          <p:cNvPr id="292" name="TextBox 291"/>
          <p:cNvSpPr txBox="1"/>
          <p:nvPr/>
        </p:nvSpPr>
        <p:spPr>
          <a:xfrm>
            <a:off x="6492240" y="5084064"/>
            <a:ext cx="4526280" cy="201168"/>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N6 and rail connections; validate fuel service.</a:t>
            </a:r>
          </a:p>
        </p:txBody>
      </p:sp>
      <p:sp>
        <p:nvSpPr>
          <p:cNvPr id="293" name="TextBox 292"/>
          <p:cNvSpPr txBox="1"/>
          <p:nvPr/>
        </p:nvSpPr>
        <p:spPr>
          <a:xfrm>
            <a:off x="6492240" y="5285232"/>
            <a:ext cx="4526280" cy="219456"/>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Northern and border approaches</a:t>
            </a:r>
          </a:p>
        </p:txBody>
      </p:sp>
      <p:sp>
        <p:nvSpPr>
          <p:cNvPr id="294" name="TextBox 293"/>
          <p:cNvSpPr txBox="1"/>
          <p:nvPr/>
        </p:nvSpPr>
        <p:spPr>
          <a:xfrm>
            <a:off x="6492240" y="5504688"/>
            <a:ext cx="4526280" cy="201168"/>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N1 north; N4 / N17 east-west; N7 / N14 / N18 west.</a:t>
            </a:r>
          </a:p>
        </p:txBody>
      </p:sp>
      <p:sp>
        <p:nvSpPr>
          <p:cNvPr id="295" name="TextBox 294"/>
          <p:cNvSpPr txBox="1"/>
          <p:nvPr/>
        </p:nvSpPr>
        <p:spPr>
          <a:xfrm>
            <a:off x="6492240" y="5806440"/>
            <a:ext cx="4526280" cy="384048"/>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All eight commercial ports are represented. These are national screening families, not validated fuel flows or an exhaustive local-route inventory.</a:t>
            </a:r>
          </a:p>
        </p:txBody>
      </p:sp>
      <p:cxnSp>
        <p:nvCxnSpPr>
          <p:cNvPr id="296" name="Connector 295"/>
          <p:cNvCxnSpPr/>
          <p:nvPr/>
        </p:nvCxnSpPr>
        <p:spPr>
          <a:xfrm>
            <a:off x="594360" y="6300216"/>
            <a:ext cx="320040" cy="0"/>
          </a:xfrm>
          <a:prstGeom prst="line">
            <a:avLst/>
          </a:prstGeom>
          <a:ln w="17780">
            <a:solidFill>
              <a:srgbClr val="0A2373"/>
            </a:solidFill>
          </a:ln>
        </p:spPr>
        <p:style>
          <a:lnRef idx="2">
            <a:schemeClr val="accent1"/>
          </a:lnRef>
          <a:fillRef idx="0">
            <a:schemeClr val="accent1"/>
          </a:fillRef>
          <a:effectRef idx="1">
            <a:schemeClr val="accent1"/>
          </a:effectRef>
          <a:fontRef idx="minor">
            <a:schemeClr val="tx1"/>
          </a:fontRef>
        </p:style>
      </p:cxnSp>
      <p:sp>
        <p:nvSpPr>
          <p:cNvPr id="297" name="TextBox 296"/>
          <p:cNvSpPr txBox="1"/>
          <p:nvPr/>
        </p:nvSpPr>
        <p:spPr>
          <a:xfrm>
            <a:off x="987552" y="6190488"/>
            <a:ext cx="109728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Pipelines</a:t>
            </a:r>
          </a:p>
        </p:txBody>
      </p:sp>
      <p:cxnSp>
        <p:nvCxnSpPr>
          <p:cNvPr id="298" name="Connector 297"/>
          <p:cNvCxnSpPr/>
          <p:nvPr/>
        </p:nvCxnSpPr>
        <p:spPr>
          <a:xfrm>
            <a:off x="2103120" y="6300216"/>
            <a:ext cx="320040" cy="0"/>
          </a:xfrm>
          <a:prstGeom prst="line">
            <a:avLst/>
          </a:prstGeom>
          <a:ln w="17780">
            <a:solidFill>
              <a:srgbClr val="0A2373"/>
            </a:solidFill>
          </a:ln>
        </p:spPr>
        <p:style>
          <a:lnRef idx="2">
            <a:schemeClr val="accent1"/>
          </a:lnRef>
          <a:fillRef idx="0">
            <a:schemeClr val="accent1"/>
          </a:fillRef>
          <a:effectRef idx="1">
            <a:schemeClr val="accent1"/>
          </a:effectRef>
          <a:fontRef idx="minor">
            <a:schemeClr val="tx1"/>
          </a:fontRef>
        </p:style>
      </p:cxnSp>
      <p:sp>
        <p:nvSpPr>
          <p:cNvPr id="299" name="TextBox 298"/>
          <p:cNvSpPr txBox="1"/>
          <p:nvPr/>
        </p:nvSpPr>
        <p:spPr>
          <a:xfrm>
            <a:off x="2496312" y="6190488"/>
            <a:ext cx="109728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Roads</a:t>
            </a:r>
          </a:p>
        </p:txBody>
      </p:sp>
      <p:cxnSp>
        <p:nvCxnSpPr>
          <p:cNvPr id="300" name="Connector 299"/>
          <p:cNvCxnSpPr/>
          <p:nvPr/>
        </p:nvCxnSpPr>
        <p:spPr>
          <a:xfrm>
            <a:off x="3383280" y="6300216"/>
            <a:ext cx="320040" cy="0"/>
          </a:xfrm>
          <a:prstGeom prst="line">
            <a:avLst/>
          </a:prstGeom>
          <a:ln w="17780">
            <a:solidFill>
              <a:srgbClr val="0A2373"/>
            </a:solidFill>
            <a:prstDash val="dashDot"/>
          </a:ln>
        </p:spPr>
        <p:style>
          <a:lnRef idx="2">
            <a:schemeClr val="accent1"/>
          </a:lnRef>
          <a:fillRef idx="0">
            <a:schemeClr val="accent1"/>
          </a:fillRef>
          <a:effectRef idx="1">
            <a:schemeClr val="accent1"/>
          </a:effectRef>
          <a:fontRef idx="minor">
            <a:schemeClr val="tx1"/>
          </a:fontRef>
        </p:style>
      </p:cxnSp>
      <p:sp>
        <p:nvSpPr>
          <p:cNvPr id="301" name="TextBox 300"/>
          <p:cNvSpPr txBox="1"/>
          <p:nvPr/>
        </p:nvSpPr>
        <p:spPr>
          <a:xfrm>
            <a:off x="3776472" y="6190488"/>
            <a:ext cx="109728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Rail</a:t>
            </a:r>
          </a:p>
        </p:txBody>
      </p:sp>
      <p:cxnSp>
        <p:nvCxnSpPr>
          <p:cNvPr id="302" name="Connector 301"/>
          <p:cNvCxnSpPr/>
          <p:nvPr/>
        </p:nvCxnSpPr>
        <p:spPr>
          <a:xfrm>
            <a:off x="4663440" y="6300216"/>
            <a:ext cx="320040" cy="0"/>
          </a:xfrm>
          <a:prstGeom prst="line">
            <a:avLst/>
          </a:prstGeom>
          <a:ln w="34290">
            <a:solidFill>
              <a:srgbClr val="0A2373"/>
            </a:solidFill>
          </a:ln>
        </p:spPr>
        <p:style>
          <a:lnRef idx="2">
            <a:schemeClr val="accent1"/>
          </a:lnRef>
          <a:fillRef idx="0">
            <a:schemeClr val="accent1"/>
          </a:fillRef>
          <a:effectRef idx="1">
            <a:schemeClr val="accent1"/>
          </a:effectRef>
          <a:fontRef idx="minor">
            <a:schemeClr val="tx1"/>
          </a:fontRef>
        </p:style>
      </p:cxnSp>
      <p:sp>
        <p:nvSpPr>
          <p:cNvPr id="303" name="TextBox 302"/>
          <p:cNvSpPr txBox="1"/>
          <p:nvPr/>
        </p:nvSpPr>
        <p:spPr>
          <a:xfrm>
            <a:off x="5047488" y="6190488"/>
            <a:ext cx="1143000" cy="22860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First test</a:t>
            </a:r>
          </a:p>
        </p:txBody>
      </p:sp>
      <p:sp>
        <p:nvSpPr>
          <p:cNvPr id="304" name="TextBox 303"/>
          <p:cNvSpPr txBox="1"/>
          <p:nvPr/>
        </p:nvSpPr>
        <p:spPr>
          <a:xfrm>
            <a:off x="6492240" y="6217920"/>
            <a:ext cx="4526280" cy="27432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Same map extent on all seven pages. Connections are schematic; no route-capacity or fuel-service claim.</a:t>
            </a:r>
          </a:p>
        </p:txBody>
      </p:sp>
      <p:sp>
        <p:nvSpPr>
          <p:cNvPr id="305" name="TextBox 304"/>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TNPA; Transnet Freight Rail; Department of Transport; SANRAL national corridors. Schematic routes; see following network pages.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Trace the documented liquid-pipeline links and delivery points</a:t>
            </a:r>
          </a:p>
        </p:txBody>
      </p:sp>
      <p:sp>
        <p:nvSpPr>
          <p:cNvPr id="3" name="Slide Number Placeholder"/>
          <p:cNvSpPr>
            <a:spLocks noGrp="1"/>
          </p:cNvSpPr>
          <p:nvPr>
            <p:ph type="sldNum" sz="quarter" idx="12"/>
          </p:nvPr>
        </p:nvSpPr>
        <p:spPr/>
        <p:txBody>
          <a:bodyPr/>
          <a:lstStyle/>
          <a:p>
            <a:fld id="{909C1AE6-B77C-4702-B85B-0288A7CE6260}"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sp>
        <p:nvSpPr>
          <p:cNvPr id="5" name="TextBox 4"/>
          <p:cNvSpPr txBox="1"/>
          <p:nvPr/>
        </p:nvSpPr>
        <p:spPr>
          <a:xfrm>
            <a:off x="502920" y="1655064"/>
            <a:ext cx="10515600" cy="365760"/>
          </a:xfrm>
          <a:prstGeom prst="rect">
            <a:avLst/>
          </a:prstGeom>
          <a:noFill/>
        </p:spPr>
        <p:txBody>
          <a:bodyPr wrap="square" lIns="18288" rIns="18288" tIns="0" bIns="0">
            <a:spAutoFit/>
          </a:bodyPr>
          <a:lstStyle/>
          <a:p>
            <a:pPr>
              <a:spcAft>
                <a:spcPts val="800"/>
              </a:spcAft>
              <a:defRPr sz="1700" b="0">
                <a:solidFill>
                  <a:srgbClr val="000000"/>
                </a:solidFill>
                <a:latin typeface="Lato"/>
              </a:defRPr>
            </a:pPr>
            <a:r>
              <a:t>Liquid-pipeline connections | network schematic, not geographic routing</a:t>
            </a:r>
          </a:p>
        </p:txBody>
      </p:sp>
      <p:cxnSp>
        <p:nvCxnSpPr>
          <p:cNvPr id="6" name="Connector 5"/>
          <p:cNvCxnSpPr/>
          <p:nvPr/>
        </p:nvCxnSpPr>
        <p:spPr>
          <a:xfrm flipV="1">
            <a:off x="1508760" y="3995928"/>
            <a:ext cx="2377440" cy="1307592"/>
          </a:xfrm>
          <a:prstGeom prst="line">
            <a:avLst/>
          </a:prstGeom>
          <a:ln w="1905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508760" y="2551176"/>
            <a:ext cx="0" cy="1444752"/>
          </a:xfrm>
          <a:prstGeom prst="line">
            <a:avLst/>
          </a:prstGeom>
          <a:ln w="1905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08760" y="3995928"/>
            <a:ext cx="2377440" cy="0"/>
          </a:xfrm>
          <a:prstGeom prst="line">
            <a:avLst/>
          </a:prstGeom>
          <a:ln w="1905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6200" y="2551176"/>
            <a:ext cx="2377440" cy="0"/>
          </a:xfrm>
          <a:prstGeom prst="line">
            <a:avLst/>
          </a:prstGeom>
          <a:ln w="1905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86200" y="2551176"/>
            <a:ext cx="0" cy="1444752"/>
          </a:xfrm>
          <a:prstGeom prst="line">
            <a:avLst/>
          </a:prstGeom>
          <a:ln w="1905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3886200" y="2551176"/>
            <a:ext cx="2377440" cy="1444752"/>
          </a:xfrm>
          <a:prstGeom prst="line">
            <a:avLst/>
          </a:prstGeom>
          <a:ln w="1905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886200" y="3995928"/>
            <a:ext cx="2377440" cy="0"/>
          </a:xfrm>
          <a:prstGeom prst="line">
            <a:avLst/>
          </a:prstGeom>
          <a:ln w="1905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263640" y="3995928"/>
            <a:ext cx="2377440" cy="0"/>
          </a:xfrm>
          <a:prstGeom prst="line">
            <a:avLst/>
          </a:prstGeom>
          <a:ln w="1905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263640" y="2551176"/>
            <a:ext cx="2377440" cy="0"/>
          </a:xfrm>
          <a:prstGeom prst="line">
            <a:avLst/>
          </a:prstGeom>
          <a:ln w="1905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508760" y="3995928"/>
            <a:ext cx="0" cy="1307592"/>
          </a:xfrm>
          <a:prstGeom prst="line">
            <a:avLst/>
          </a:prstGeom>
          <a:ln w="19050">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508760" y="3995928"/>
            <a:ext cx="4754880" cy="1307592"/>
          </a:xfrm>
          <a:prstGeom prst="line">
            <a:avLst/>
          </a:prstGeom>
          <a:ln w="19050">
            <a:solidFill>
              <a:srgbClr val="536598"/>
            </a:solidFill>
            <a:prstDash val="sysDot"/>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94360" y="5084064"/>
            <a:ext cx="1828800" cy="438912"/>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5157216"/>
            <a:ext cx="1737360" cy="274320"/>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Durban</a:t>
            </a:r>
          </a:p>
        </p:txBody>
      </p:sp>
      <p:sp>
        <p:nvSpPr>
          <p:cNvPr id="19" name="Rectangle 18"/>
          <p:cNvSpPr/>
          <p:nvPr/>
        </p:nvSpPr>
        <p:spPr>
          <a:xfrm>
            <a:off x="2971800" y="3776472"/>
            <a:ext cx="1828800" cy="438912"/>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26664" y="3849624"/>
            <a:ext cx="1737360" cy="274320"/>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Jameson Park</a:t>
            </a:r>
          </a:p>
        </p:txBody>
      </p:sp>
      <p:sp>
        <p:nvSpPr>
          <p:cNvPr id="21" name="Rectangle 20"/>
          <p:cNvSpPr/>
          <p:nvPr/>
        </p:nvSpPr>
        <p:spPr>
          <a:xfrm>
            <a:off x="2971800" y="2331720"/>
            <a:ext cx="1828800" cy="438912"/>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26664" y="2404872"/>
            <a:ext cx="1737360" cy="274320"/>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Secunda</a:t>
            </a:r>
          </a:p>
        </p:txBody>
      </p:sp>
      <p:sp>
        <p:nvSpPr>
          <p:cNvPr id="23" name="Rectangle 22"/>
          <p:cNvSpPr/>
          <p:nvPr/>
        </p:nvSpPr>
        <p:spPr>
          <a:xfrm>
            <a:off x="594360" y="3776472"/>
            <a:ext cx="1828800" cy="438912"/>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3849624"/>
            <a:ext cx="1737360" cy="274320"/>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Sasolburg / NATREF</a:t>
            </a:r>
          </a:p>
        </p:txBody>
      </p:sp>
      <p:sp>
        <p:nvSpPr>
          <p:cNvPr id="25" name="Rectangle 24"/>
          <p:cNvSpPr/>
          <p:nvPr/>
        </p:nvSpPr>
        <p:spPr>
          <a:xfrm>
            <a:off x="594360" y="2331720"/>
            <a:ext cx="1828800" cy="438912"/>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2404872"/>
            <a:ext cx="1737360" cy="274320"/>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Klerksdorp</a:t>
            </a:r>
          </a:p>
        </p:txBody>
      </p:sp>
      <p:sp>
        <p:nvSpPr>
          <p:cNvPr id="27" name="Rectangle 26"/>
          <p:cNvSpPr/>
          <p:nvPr/>
        </p:nvSpPr>
        <p:spPr>
          <a:xfrm>
            <a:off x="5349240" y="2331720"/>
            <a:ext cx="1828800" cy="438912"/>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04103" y="2404872"/>
            <a:ext cx="1737360" cy="274320"/>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Kendal</a:t>
            </a:r>
          </a:p>
        </p:txBody>
      </p:sp>
      <p:sp>
        <p:nvSpPr>
          <p:cNvPr id="29" name="Rectangle 28"/>
          <p:cNvSpPr/>
          <p:nvPr/>
        </p:nvSpPr>
        <p:spPr>
          <a:xfrm>
            <a:off x="7726679" y="2331720"/>
            <a:ext cx="1828800" cy="438912"/>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81544" y="2404872"/>
            <a:ext cx="1737360" cy="274320"/>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Waltloo</a:t>
            </a:r>
          </a:p>
        </p:txBody>
      </p:sp>
      <p:sp>
        <p:nvSpPr>
          <p:cNvPr id="31" name="Rectangle 30"/>
          <p:cNvSpPr/>
          <p:nvPr/>
        </p:nvSpPr>
        <p:spPr>
          <a:xfrm>
            <a:off x="5349240" y="3776472"/>
            <a:ext cx="1828800" cy="438912"/>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04103" y="3849624"/>
            <a:ext cx="1737360" cy="274320"/>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Alrode</a:t>
            </a:r>
          </a:p>
        </p:txBody>
      </p:sp>
      <p:sp>
        <p:nvSpPr>
          <p:cNvPr id="33" name="Rectangle 32"/>
          <p:cNvSpPr/>
          <p:nvPr/>
        </p:nvSpPr>
        <p:spPr>
          <a:xfrm>
            <a:off x="7726679" y="3776472"/>
            <a:ext cx="1828800" cy="438912"/>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81544" y="3849624"/>
            <a:ext cx="1737360" cy="274320"/>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Langlaagte</a:t>
            </a:r>
          </a:p>
        </p:txBody>
      </p:sp>
      <p:sp>
        <p:nvSpPr>
          <p:cNvPr id="35" name="Rectangle 34"/>
          <p:cNvSpPr/>
          <p:nvPr/>
        </p:nvSpPr>
        <p:spPr>
          <a:xfrm>
            <a:off x="5349240" y="5084064"/>
            <a:ext cx="1828800" cy="438912"/>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04103" y="5157216"/>
            <a:ext cx="1737360" cy="274320"/>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OR Tambo</a:t>
            </a:r>
          </a:p>
        </p:txBody>
      </p:sp>
      <p:sp>
        <p:nvSpPr>
          <p:cNvPr id="37" name="TextBox 36"/>
          <p:cNvSpPr txBox="1"/>
          <p:nvPr/>
        </p:nvSpPr>
        <p:spPr>
          <a:xfrm>
            <a:off x="7635240" y="2926080"/>
            <a:ext cx="3383280" cy="50292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Secunda - Kendal includes parallel 12-inch and 20-inch lines.</a:t>
            </a:r>
          </a:p>
        </p:txBody>
      </p:sp>
      <p:sp>
        <p:nvSpPr>
          <p:cNvPr id="38" name="TextBox 37"/>
          <p:cNvSpPr txBox="1"/>
          <p:nvPr/>
        </p:nvSpPr>
        <p:spPr>
          <a:xfrm>
            <a:off x="594360" y="5632704"/>
            <a:ext cx="3840480" cy="256032"/>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Durban - Jameson Park: NMPP trunk</a:t>
            </a:r>
          </a:p>
        </p:txBody>
      </p:sp>
      <p:sp>
        <p:nvSpPr>
          <p:cNvPr id="39" name="TextBox 38"/>
          <p:cNvSpPr txBox="1"/>
          <p:nvPr/>
        </p:nvSpPr>
        <p:spPr>
          <a:xfrm>
            <a:off x="7635240" y="4617720"/>
            <a:ext cx="3429000" cy="329184"/>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Further documented delivery points</a:t>
            </a:r>
          </a:p>
        </p:txBody>
      </p:sp>
      <p:sp>
        <p:nvSpPr>
          <p:cNvPr id="40" name="TextBox 39"/>
          <p:cNvSpPr txBox="1"/>
          <p:nvPr/>
        </p:nvSpPr>
        <p:spPr>
          <a:xfrm>
            <a:off x="7635240" y="5047488"/>
            <a:ext cx="3383280" cy="704088"/>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Witbank, Tarlton, Rustenburg; OR Tambo also served ex-Jameson Park. Detailed branch routing to reconcile.</a:t>
            </a:r>
          </a:p>
        </p:txBody>
      </p:sp>
      <p:sp>
        <p:nvSpPr>
          <p:cNvPr id="41" name="TextBox 40"/>
          <p:cNvSpPr txBox="1"/>
          <p:nvPr/>
        </p:nvSpPr>
        <p:spPr>
          <a:xfrm>
            <a:off x="502920" y="5998464"/>
            <a:ext cx="6675120" cy="237744"/>
          </a:xfrm>
          <a:prstGeom prst="rect">
            <a:avLst/>
          </a:prstGeom>
          <a:noFill/>
        </p:spPr>
        <p:txBody>
          <a:bodyPr wrap="square" lIns="18288" rIns="18288" tIns="0" bIns="0">
            <a:spAutoFit/>
          </a:bodyPr>
          <a:lstStyle/>
          <a:p>
            <a:pPr>
              <a:spcAft>
                <a:spcPts val="800"/>
              </a:spcAft>
              <a:defRPr sz="1200" b="1">
                <a:solidFill>
                  <a:srgbClr val="000000"/>
                </a:solidFill>
                <a:latin typeface="Lato"/>
              </a:defRPr>
            </a:pPr>
            <a:r>
              <a:t>Western Cape: Saldanha - Astron refinery crude pipeline</a:t>
            </a:r>
          </a:p>
        </p:txBody>
      </p:sp>
      <p:cxnSp>
        <p:nvCxnSpPr>
          <p:cNvPr id="42" name="Connector 41"/>
          <p:cNvCxnSpPr/>
          <p:nvPr/>
        </p:nvCxnSpPr>
        <p:spPr>
          <a:xfrm>
            <a:off x="502920" y="6364224"/>
            <a:ext cx="457200" cy="0"/>
          </a:xfrm>
          <a:prstGeom prst="line">
            <a:avLst/>
          </a:prstGeom>
          <a:ln w="1905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51560" y="6263640"/>
            <a:ext cx="1280160" cy="18288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Products</a:t>
            </a:r>
          </a:p>
        </p:txBody>
      </p:sp>
      <p:cxnSp>
        <p:nvCxnSpPr>
          <p:cNvPr id="44" name="Connector 43"/>
          <p:cNvCxnSpPr/>
          <p:nvPr/>
        </p:nvCxnSpPr>
        <p:spPr>
          <a:xfrm>
            <a:off x="2468880" y="6364224"/>
            <a:ext cx="457200" cy="0"/>
          </a:xfrm>
          <a:prstGeom prst="line">
            <a:avLst/>
          </a:prstGeom>
          <a:ln w="19050">
            <a:solidFill>
              <a:srgbClr val="000000"/>
            </a:solidFill>
            <a:prstDash val="dash"/>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017520" y="6263640"/>
            <a:ext cx="1280160" cy="18288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Crude</a:t>
            </a:r>
          </a:p>
        </p:txBody>
      </p:sp>
      <p:cxnSp>
        <p:nvCxnSpPr>
          <p:cNvPr id="46" name="Connector 45"/>
          <p:cNvCxnSpPr/>
          <p:nvPr/>
        </p:nvCxnSpPr>
        <p:spPr>
          <a:xfrm>
            <a:off x="4251960" y="6364224"/>
            <a:ext cx="457200" cy="0"/>
          </a:xfrm>
          <a:prstGeom prst="line">
            <a:avLst/>
          </a:prstGeom>
          <a:ln w="19050">
            <a:solidFill>
              <a:srgbClr val="536598"/>
            </a:solidFill>
            <a:prstDash val="sysDot"/>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4800600" y="6263640"/>
            <a:ext cx="1280160" cy="18288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Jet</a:t>
            </a:r>
          </a:p>
        </p:txBody>
      </p:sp>
      <p:sp>
        <p:nvSpPr>
          <p:cNvPr id="48" name="TextBox 47"/>
          <p:cNvSpPr txBox="1"/>
          <p:nvPr/>
        </p:nvSpPr>
        <p:spPr>
          <a:xfrm>
            <a:off x="6035040" y="6263640"/>
            <a:ext cx="4846320" cy="182880"/>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Gas: see ROMPCO / Sasol / Lilly page.</a:t>
            </a:r>
          </a:p>
        </p:txBody>
      </p:sp>
      <p:sp>
        <p:nvSpPr>
          <p:cNvPr id="49" name="TextBox 48"/>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Transnet Shippers Manual, September 2024, pp. 9, 19-20; Astron refinery overview. Schematic; branch inventory still to reconcile.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Reconcile the 2024 baseline by fuel and demand component</a:t>
            </a:r>
          </a:p>
        </p:txBody>
      </p:sp>
      <p:sp>
        <p:nvSpPr>
          <p:cNvPr id="3" name="Slide Number Placeholder"/>
          <p:cNvSpPr>
            <a:spLocks noGrp="1"/>
          </p:cNvSpPr>
          <p:nvPr>
            <p:ph type="sldNum" sz="quarter" idx="12"/>
          </p:nvPr>
        </p:nvSpPr>
        <p:spPr/>
        <p:txBody>
          <a:bodyPr/>
          <a:lstStyle/>
          <a:p>
            <a:fld id="{D997B1F2-1C43-4F5C-AC13-66298FA1DAB2}"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sp>
        <p:nvSpPr>
          <p:cNvPr id="5" name="TextBox 4"/>
          <p:cNvSpPr txBox="1"/>
          <p:nvPr/>
        </p:nvSpPr>
        <p:spPr>
          <a:xfrm>
            <a:off x="502920" y="1664208"/>
            <a:ext cx="10515600" cy="320040"/>
          </a:xfrm>
          <a:prstGeom prst="rect">
            <a:avLst/>
          </a:prstGeom>
          <a:noFill/>
        </p:spPr>
        <p:txBody>
          <a:bodyPr wrap="square" lIns="18288" rIns="18288" tIns="0" bIns="0">
            <a:spAutoFit/>
          </a:bodyPr>
          <a:lstStyle/>
          <a:p>
            <a:pPr>
              <a:spcAft>
                <a:spcPts val="800"/>
              </a:spcAft>
              <a:defRPr sz="1600" b="0">
                <a:solidFill>
                  <a:srgbClr val="000000"/>
                </a:solidFill>
                <a:latin typeface="Lato"/>
              </a:defRPr>
            </a:pPr>
            <a:r>
              <a:t>South Africa, 2024 | billion litres | current high_demand configuration</a:t>
            </a:r>
          </a:p>
        </p:txBody>
      </p:sp>
      <p:sp>
        <p:nvSpPr>
          <p:cNvPr id="6" name="TextBox 5"/>
          <p:cNvSpPr txBox="1"/>
          <p:nvPr/>
        </p:nvSpPr>
        <p:spPr>
          <a:xfrm>
            <a:off x="475488" y="2103120"/>
            <a:ext cx="2103120" cy="301752"/>
          </a:xfrm>
          <a:prstGeom prst="rect">
            <a:avLst/>
          </a:prstGeom>
          <a:noFill/>
        </p:spPr>
        <p:txBody>
          <a:bodyPr wrap="square" lIns="18288" rIns="18288" tIns="0" bIns="0">
            <a:spAutoFit/>
          </a:bodyPr>
          <a:lstStyle/>
          <a:p>
            <a:pPr>
              <a:spcAft>
                <a:spcPts val="800"/>
              </a:spcAft>
              <a:defRPr sz="1800" b="1">
                <a:solidFill>
                  <a:srgbClr val="000000"/>
                </a:solidFill>
                <a:latin typeface="Lato"/>
              </a:defRPr>
            </a:pPr>
            <a:r>
              <a:t>Petrol</a:t>
            </a:r>
          </a:p>
        </p:txBody>
      </p:sp>
      <p:sp>
        <p:nvSpPr>
          <p:cNvPr id="7" name="TextBox 6"/>
          <p:cNvSpPr txBox="1"/>
          <p:nvPr/>
        </p:nvSpPr>
        <p:spPr>
          <a:xfrm>
            <a:off x="475488" y="2478024"/>
            <a:ext cx="2194560" cy="22860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Totals: 9.05 / 7.93</a:t>
            </a:r>
          </a:p>
        </p:txBody>
      </p:sp>
      <p:graphicFrame>
        <p:nvGraphicFramePr>
          <p:cNvPr id="8" name="Chart 7"/>
          <p:cNvGraphicFramePr>
            <a:graphicFrameLocks noGrp="1"/>
          </p:cNvGraphicFramePr>
          <p:nvPr/>
        </p:nvGraphicFramePr>
        <p:xfrm>
          <a:off x="475488" y="2761488"/>
          <a:ext cx="2103120" cy="2240280"/>
        </p:xfrm>
        <a:graphic>
          <a:graphicData uri="http://schemas.openxmlformats.org/drawingml/2006/chart">
            <c:chart xmlns:c="http://schemas.openxmlformats.org/drawingml/2006/chart" r:id="rId2"/>
          </a:graphicData>
        </a:graphic>
      </p:graphicFrame>
      <p:sp>
        <p:nvSpPr>
          <p:cNvPr id="9" name="Rectangle 8"/>
          <p:cNvSpPr/>
          <p:nvPr/>
        </p:nvSpPr>
        <p:spPr>
          <a:xfrm>
            <a:off x="512064" y="5102352"/>
            <a:ext cx="73152" cy="73152"/>
          </a:xfrm>
          <a:prstGeom prst="rect">
            <a:avLst/>
          </a:prstGeom>
          <a:solidFill>
            <a:srgbClr val="B7B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5038344"/>
            <a:ext cx="19202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Recorded total</a:t>
            </a:r>
          </a:p>
        </p:txBody>
      </p:sp>
      <p:sp>
        <p:nvSpPr>
          <p:cNvPr id="11" name="Rectangle 10"/>
          <p:cNvSpPr/>
          <p:nvPr/>
        </p:nvSpPr>
        <p:spPr>
          <a:xfrm>
            <a:off x="512064" y="5266944"/>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5202936"/>
            <a:ext cx="19202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Passenger</a:t>
            </a:r>
          </a:p>
        </p:txBody>
      </p:sp>
      <p:sp>
        <p:nvSpPr>
          <p:cNvPr id="13" name="Rectangle 12"/>
          <p:cNvSpPr/>
          <p:nvPr/>
        </p:nvSpPr>
        <p:spPr>
          <a:xfrm>
            <a:off x="512064" y="5431536"/>
            <a:ext cx="73152" cy="73152"/>
          </a:xfrm>
          <a:prstGeom prst="rect">
            <a:avLst/>
          </a:prstGeom>
          <a:solidFill>
            <a:srgbClr val="53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367528"/>
            <a:ext cx="19202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Light commercial</a:t>
            </a:r>
          </a:p>
        </p:txBody>
      </p:sp>
      <p:sp>
        <p:nvSpPr>
          <p:cNvPr id="15" name="TextBox 14"/>
          <p:cNvSpPr txBox="1"/>
          <p:nvPr/>
        </p:nvSpPr>
        <p:spPr>
          <a:xfrm>
            <a:off x="2715768" y="2103120"/>
            <a:ext cx="2103120" cy="301752"/>
          </a:xfrm>
          <a:prstGeom prst="rect">
            <a:avLst/>
          </a:prstGeom>
          <a:noFill/>
        </p:spPr>
        <p:txBody>
          <a:bodyPr wrap="square" lIns="18288" rIns="18288" tIns="0" bIns="0">
            <a:spAutoFit/>
          </a:bodyPr>
          <a:lstStyle/>
          <a:p>
            <a:pPr>
              <a:spcAft>
                <a:spcPts val="800"/>
              </a:spcAft>
              <a:defRPr sz="1800" b="1">
                <a:solidFill>
                  <a:srgbClr val="000000"/>
                </a:solidFill>
                <a:latin typeface="Lato"/>
              </a:defRPr>
            </a:pPr>
            <a:r>
              <a:t>Diesel</a:t>
            </a:r>
          </a:p>
        </p:txBody>
      </p:sp>
      <p:sp>
        <p:nvSpPr>
          <p:cNvPr id="16" name="TextBox 15"/>
          <p:cNvSpPr txBox="1"/>
          <p:nvPr/>
        </p:nvSpPr>
        <p:spPr>
          <a:xfrm>
            <a:off x="2715768" y="2478024"/>
            <a:ext cx="2194560" cy="22860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Totals: 11.88 / 15.28</a:t>
            </a:r>
          </a:p>
        </p:txBody>
      </p:sp>
      <p:graphicFrame>
        <p:nvGraphicFramePr>
          <p:cNvPr id="17" name="Chart 16"/>
          <p:cNvGraphicFramePr>
            <a:graphicFrameLocks noGrp="1"/>
          </p:cNvGraphicFramePr>
          <p:nvPr/>
        </p:nvGraphicFramePr>
        <p:xfrm>
          <a:off x="2715768" y="2761488"/>
          <a:ext cx="2103120" cy="2240280"/>
        </p:xfrm>
        <a:graphic>
          <a:graphicData uri="http://schemas.openxmlformats.org/drawingml/2006/chart">
            <c:chart xmlns:c="http://schemas.openxmlformats.org/drawingml/2006/chart" r:id="rId3"/>
          </a:graphicData>
        </a:graphic>
      </p:graphicFrame>
      <p:sp>
        <p:nvSpPr>
          <p:cNvPr id="18" name="Rectangle 17"/>
          <p:cNvSpPr/>
          <p:nvPr/>
        </p:nvSpPr>
        <p:spPr>
          <a:xfrm>
            <a:off x="2752344" y="5102352"/>
            <a:ext cx="73152" cy="73152"/>
          </a:xfrm>
          <a:prstGeom prst="rect">
            <a:avLst/>
          </a:prstGeom>
          <a:solidFill>
            <a:srgbClr val="B7B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80360" y="5038344"/>
            <a:ext cx="19202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Excel non-power</a:t>
            </a:r>
          </a:p>
        </p:txBody>
      </p:sp>
      <p:sp>
        <p:nvSpPr>
          <p:cNvPr id="20" name="Rectangle 19"/>
          <p:cNvSpPr/>
          <p:nvPr/>
        </p:nvSpPr>
        <p:spPr>
          <a:xfrm>
            <a:off x="2752344" y="5266944"/>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80360" y="5202936"/>
            <a:ext cx="19202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Road</a:t>
            </a:r>
          </a:p>
        </p:txBody>
      </p:sp>
      <p:sp>
        <p:nvSpPr>
          <p:cNvPr id="22" name="Rectangle 21"/>
          <p:cNvSpPr/>
          <p:nvPr/>
        </p:nvSpPr>
        <p:spPr>
          <a:xfrm>
            <a:off x="2752344" y="5431536"/>
            <a:ext cx="73152" cy="73152"/>
          </a:xfrm>
          <a:prstGeom prst="rect">
            <a:avLst/>
          </a:prstGeom>
          <a:solidFill>
            <a:srgbClr val="53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80360" y="5367528"/>
            <a:ext cx="19202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Power</a:t>
            </a:r>
          </a:p>
        </p:txBody>
      </p:sp>
      <p:sp>
        <p:nvSpPr>
          <p:cNvPr id="24" name="Rectangle 23"/>
          <p:cNvSpPr/>
          <p:nvPr/>
        </p:nvSpPr>
        <p:spPr>
          <a:xfrm>
            <a:off x="2752344" y="5596128"/>
            <a:ext cx="73152" cy="73152"/>
          </a:xfrm>
          <a:prstGeom prst="rect">
            <a:avLst/>
          </a:prstGeom>
          <a:solidFill>
            <a:srgbClr val="84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80360" y="5532120"/>
            <a:ext cx="19202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Industrial</a:t>
            </a:r>
          </a:p>
        </p:txBody>
      </p:sp>
      <p:sp>
        <p:nvSpPr>
          <p:cNvPr id="26" name="Rectangle 25"/>
          <p:cNvSpPr/>
          <p:nvPr/>
        </p:nvSpPr>
        <p:spPr>
          <a:xfrm>
            <a:off x="2752344" y="5760720"/>
            <a:ext cx="73152" cy="73152"/>
          </a:xfrm>
          <a:prstGeom prst="rect">
            <a:avLst/>
          </a:prstGeom>
          <a:solidFill>
            <a:srgbClr val="CED3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80360" y="5696712"/>
            <a:ext cx="19202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Agriculture</a:t>
            </a:r>
          </a:p>
        </p:txBody>
      </p:sp>
      <p:sp>
        <p:nvSpPr>
          <p:cNvPr id="28" name="TextBox 27"/>
          <p:cNvSpPr txBox="1"/>
          <p:nvPr/>
        </p:nvSpPr>
        <p:spPr>
          <a:xfrm>
            <a:off x="4956048" y="2103120"/>
            <a:ext cx="2103120" cy="301752"/>
          </a:xfrm>
          <a:prstGeom prst="rect">
            <a:avLst/>
          </a:prstGeom>
          <a:noFill/>
        </p:spPr>
        <p:txBody>
          <a:bodyPr wrap="square" lIns="18288" rIns="18288" tIns="0" bIns="0">
            <a:spAutoFit/>
          </a:bodyPr>
          <a:lstStyle/>
          <a:p>
            <a:pPr>
              <a:spcAft>
                <a:spcPts val="800"/>
              </a:spcAft>
              <a:defRPr sz="1800" b="1">
                <a:solidFill>
                  <a:srgbClr val="000000"/>
                </a:solidFill>
                <a:latin typeface="Lato"/>
              </a:defRPr>
            </a:pPr>
            <a:r>
              <a:t>Jet</a:t>
            </a:r>
          </a:p>
        </p:txBody>
      </p:sp>
      <p:sp>
        <p:nvSpPr>
          <p:cNvPr id="29" name="TextBox 28"/>
          <p:cNvSpPr txBox="1"/>
          <p:nvPr/>
        </p:nvSpPr>
        <p:spPr>
          <a:xfrm>
            <a:off x="4956048" y="2478024"/>
            <a:ext cx="2194560" cy="228600"/>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Totals: 1.87 / 1.60</a:t>
            </a:r>
          </a:p>
        </p:txBody>
      </p:sp>
      <p:graphicFrame>
        <p:nvGraphicFramePr>
          <p:cNvPr id="30" name="Chart 29"/>
          <p:cNvGraphicFramePr>
            <a:graphicFrameLocks noGrp="1"/>
          </p:cNvGraphicFramePr>
          <p:nvPr/>
        </p:nvGraphicFramePr>
        <p:xfrm>
          <a:off x="4956048" y="2761488"/>
          <a:ext cx="2103120" cy="2240280"/>
        </p:xfrm>
        <a:graphic>
          <a:graphicData uri="http://schemas.openxmlformats.org/drawingml/2006/chart">
            <c:chart xmlns:c="http://schemas.openxmlformats.org/drawingml/2006/chart" r:id="rId4"/>
          </a:graphicData>
        </a:graphic>
      </p:graphicFrame>
      <p:sp>
        <p:nvSpPr>
          <p:cNvPr id="31" name="Rectangle 30"/>
          <p:cNvSpPr/>
          <p:nvPr/>
        </p:nvSpPr>
        <p:spPr>
          <a:xfrm>
            <a:off x="4992624" y="5102352"/>
            <a:ext cx="73152" cy="73152"/>
          </a:xfrm>
          <a:prstGeom prst="rect">
            <a:avLst/>
          </a:prstGeom>
          <a:solidFill>
            <a:srgbClr val="B7B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20640" y="5038344"/>
            <a:ext cx="19202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Recorded total</a:t>
            </a:r>
          </a:p>
        </p:txBody>
      </p:sp>
      <p:sp>
        <p:nvSpPr>
          <p:cNvPr id="33" name="Rectangle 32"/>
          <p:cNvSpPr/>
          <p:nvPr/>
        </p:nvSpPr>
        <p:spPr>
          <a:xfrm>
            <a:off x="4992624" y="5266944"/>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20640" y="5202936"/>
            <a:ext cx="192024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Calculated demand</a:t>
            </a:r>
          </a:p>
        </p:txBody>
      </p:sp>
      <p:sp>
        <p:nvSpPr>
          <p:cNvPr id="35" name="TextBox 34"/>
          <p:cNvSpPr txBox="1"/>
          <p:nvPr/>
        </p:nvSpPr>
        <p:spPr>
          <a:xfrm>
            <a:off x="7360920" y="2103120"/>
            <a:ext cx="3749039" cy="320040"/>
          </a:xfrm>
          <a:prstGeom prst="rect">
            <a:avLst/>
          </a:prstGeom>
          <a:noFill/>
        </p:spPr>
        <p:txBody>
          <a:bodyPr wrap="square" lIns="18288" rIns="18288" tIns="0" bIns="0">
            <a:spAutoFit/>
          </a:bodyPr>
          <a:lstStyle/>
          <a:p>
            <a:pPr>
              <a:spcAft>
                <a:spcPts val="800"/>
              </a:spcAft>
              <a:defRPr sz="1800" b="1">
                <a:solidFill>
                  <a:srgbClr val="000000"/>
                </a:solidFill>
                <a:latin typeface="Lato"/>
              </a:defRPr>
            </a:pPr>
            <a:r>
              <a:t>Assumptions to reconcile</a:t>
            </a:r>
          </a:p>
        </p:txBody>
      </p:sp>
      <p:sp>
        <p:nvSpPr>
          <p:cNvPr id="36" name="TextBox 35"/>
          <p:cNvSpPr txBox="1"/>
          <p:nvPr/>
        </p:nvSpPr>
        <p:spPr>
          <a:xfrm>
            <a:off x="7360920" y="2606040"/>
            <a:ext cx="3749039" cy="32004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Petrol: fleet and use per vehicle</a:t>
            </a:r>
          </a:p>
        </p:txBody>
      </p:sp>
      <p:sp>
        <p:nvSpPr>
          <p:cNvPr id="37" name="TextBox 36"/>
          <p:cNvSpPr txBox="1"/>
          <p:nvPr/>
        </p:nvSpPr>
        <p:spPr>
          <a:xfrm>
            <a:off x="7360920" y="2953512"/>
            <a:ext cx="3749039" cy="621792"/>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Fleet: 9.44m vs 4.68m.</a:t>
            </a:r>
          </a:p>
          <a:p>
            <a:pPr>
              <a:spcAft>
                <a:spcPts val="800"/>
              </a:spcAft>
              <a:defRPr sz="1300" b="0">
                <a:solidFill>
                  <a:srgbClr val="000000"/>
                </a:solidFill>
                <a:latin typeface="Lato"/>
              </a:defRPr>
            </a:pPr>
            <a:r>
              <a:t>Implied litres/vehicle: 958 vs 1,693.</a:t>
            </a:r>
          </a:p>
        </p:txBody>
      </p:sp>
      <p:sp>
        <p:nvSpPr>
          <p:cNvPr id="38" name="TextBox 37"/>
          <p:cNvSpPr txBox="1"/>
          <p:nvPr/>
        </p:nvSpPr>
        <p:spPr>
          <a:xfrm>
            <a:off x="7360920" y="3703320"/>
            <a:ext cx="3749039" cy="32004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Diesel: power + sector baselines</a:t>
            </a:r>
          </a:p>
        </p:txBody>
      </p:sp>
      <p:sp>
        <p:nvSpPr>
          <p:cNvPr id="39" name="TextBox 38"/>
          <p:cNvSpPr txBox="1"/>
          <p:nvPr/>
        </p:nvSpPr>
        <p:spPr>
          <a:xfrm>
            <a:off x="7360920" y="4050791"/>
            <a:ext cx="3749039" cy="987552"/>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Power: 0.50 vs 3.58 bn litres.</a:t>
            </a:r>
          </a:p>
          <a:p>
            <a:pPr>
              <a:spcAft>
                <a:spcPts val="800"/>
              </a:spcAft>
              <a:defRPr sz="1300" b="0">
                <a:solidFill>
                  <a:srgbClr val="000000"/>
                </a:solidFill>
                <a:latin typeface="Lato"/>
              </a:defRPr>
            </a:pPr>
            <a:r>
              <a:t>Python adds industrial 2.50 and agriculture 0.70 bn litres. Excel non-power already includes non-road uses.</a:t>
            </a:r>
          </a:p>
        </p:txBody>
      </p:sp>
      <p:sp>
        <p:nvSpPr>
          <p:cNvPr id="40" name="TextBox 39"/>
          <p:cNvSpPr txBox="1"/>
          <p:nvPr/>
        </p:nvSpPr>
        <p:spPr>
          <a:xfrm>
            <a:off x="7360920" y="5175504"/>
            <a:ext cx="3749039" cy="32004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Jet: recorded vs calculated</a:t>
            </a:r>
          </a:p>
        </p:txBody>
      </p:sp>
      <p:sp>
        <p:nvSpPr>
          <p:cNvPr id="41" name="TextBox 40"/>
          <p:cNvSpPr txBox="1"/>
          <p:nvPr/>
        </p:nvSpPr>
        <p:spPr>
          <a:xfrm>
            <a:off x="7360920" y="5522976"/>
            <a:ext cx="3749039" cy="548640"/>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Python matches the Excel calculation; the 0.26 gap is against recorded demand.</a:t>
            </a:r>
          </a:p>
        </p:txBody>
      </p:sp>
      <p:sp>
        <p:nvSpPr>
          <p:cNvPr id="42" name="TextBox 41"/>
          <p:cNvSpPr txBox="1"/>
          <p:nvPr/>
        </p:nvSpPr>
        <p:spPr>
          <a:xfrm>
            <a:off x="502920" y="6053328"/>
            <a:ext cx="10424160" cy="36576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Excel aggregates remain unsplit where sector mapping is unresolved. Panel scales differ; driver bridges follow.</a:t>
            </a:r>
          </a:p>
        </p:txBody>
      </p:sp>
      <p:sp>
        <p:nvSpPr>
          <p:cNvPr id="43" name="TextBox 42"/>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lfm.scripts.compare_history; assumptions vintage 2026; inherited workbook RSA demand; generated 1 October 2026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Trace the components behind the Excel–Python demand differences</a:t>
            </a:r>
          </a:p>
        </p:txBody>
      </p:sp>
      <p:sp>
        <p:nvSpPr>
          <p:cNvPr id="3" name="Slide Number Placeholder"/>
          <p:cNvSpPr>
            <a:spLocks noGrp="1"/>
          </p:cNvSpPr>
          <p:nvPr>
            <p:ph type="sldNum" sz="quarter" idx="12"/>
          </p:nvPr>
        </p:nvSpPr>
        <p:spPr/>
        <p:txBody>
          <a:bodyPr/>
          <a:lstStyle/>
          <a:p>
            <a:fld id="{532DAF0E-B108-4E0F-BA5E-881A64499815}"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sp>
        <p:nvSpPr>
          <p:cNvPr id="5" name="TextBox 4"/>
          <p:cNvSpPr txBox="1"/>
          <p:nvPr/>
        </p:nvSpPr>
        <p:spPr>
          <a:xfrm>
            <a:off x="502920" y="1645920"/>
            <a:ext cx="10515600" cy="365760"/>
          </a:xfrm>
          <a:prstGeom prst="rect">
            <a:avLst/>
          </a:prstGeom>
          <a:noFill/>
        </p:spPr>
        <p:txBody>
          <a:bodyPr wrap="square" lIns="18288" rIns="18288" tIns="0" bIns="0">
            <a:spAutoFit/>
          </a:bodyPr>
          <a:lstStyle/>
          <a:p>
            <a:pPr>
              <a:spcAft>
                <a:spcPts val="800"/>
              </a:spcAft>
              <a:defRPr sz="1400" b="0">
                <a:solidFill>
                  <a:srgbClr val="000000"/>
                </a:solidFill>
                <a:latin typeface="Lato"/>
              </a:defRPr>
            </a:pPr>
            <a:r>
              <a:t>2024 | billion litres | Excel recorded total → reconciliation components → Python total</a:t>
            </a:r>
          </a:p>
        </p:txBody>
      </p:sp>
      <p:sp>
        <p:nvSpPr>
          <p:cNvPr id="6" name="TextBox 5"/>
          <p:cNvSpPr txBox="1"/>
          <p:nvPr/>
        </p:nvSpPr>
        <p:spPr>
          <a:xfrm>
            <a:off x="502920" y="2176272"/>
            <a:ext cx="3383280" cy="274320"/>
          </a:xfrm>
          <a:prstGeom prst="rect">
            <a:avLst/>
          </a:prstGeom>
          <a:noFill/>
        </p:spPr>
        <p:txBody>
          <a:bodyPr wrap="square" lIns="18288" rIns="18288" tIns="0" bIns="0">
            <a:spAutoFit/>
          </a:bodyPr>
          <a:lstStyle/>
          <a:p>
            <a:pPr>
              <a:spcAft>
                <a:spcPts val="800"/>
              </a:spcAft>
              <a:defRPr sz="1900" b="1">
                <a:solidFill>
                  <a:srgbClr val="000000"/>
                </a:solidFill>
                <a:latin typeface="Lato"/>
              </a:defRPr>
            </a:pPr>
            <a:r>
              <a:t>Petrol</a:t>
            </a:r>
          </a:p>
        </p:txBody>
      </p:sp>
      <p:sp>
        <p:nvSpPr>
          <p:cNvPr id="7" name="TextBox 6"/>
          <p:cNvSpPr txBox="1"/>
          <p:nvPr/>
        </p:nvSpPr>
        <p:spPr>
          <a:xfrm>
            <a:off x="502920" y="2569464"/>
            <a:ext cx="3383280" cy="27432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Net difference: -1.12 bn L</a:t>
            </a:r>
          </a:p>
        </p:txBody>
      </p:sp>
      <p:cxnSp>
        <p:nvCxnSpPr>
          <p:cNvPr id="8" name="Connector 7"/>
          <p:cNvCxnSpPr/>
          <p:nvPr/>
        </p:nvCxnSpPr>
        <p:spPr>
          <a:xfrm>
            <a:off x="548640" y="4754880"/>
            <a:ext cx="3355848" cy="0"/>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704088" y="3335983"/>
            <a:ext cx="438912" cy="1418896"/>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3098239"/>
            <a:ext cx="731520" cy="201168"/>
          </a:xfrm>
          <a:prstGeom prst="rect">
            <a:avLst/>
          </a:prstGeom>
          <a:noFill/>
        </p:spPr>
        <p:txBody>
          <a:bodyPr wrap="square" lIns="18288" rIns="18288" tIns="0" bIns="0">
            <a:spAutoFit/>
          </a:bodyPr>
          <a:lstStyle/>
          <a:p>
            <a:pPr algn="ctr">
              <a:spcAft>
                <a:spcPts val="800"/>
              </a:spcAft>
              <a:defRPr sz="1000" b="1">
                <a:solidFill>
                  <a:srgbClr val="000000"/>
                </a:solidFill>
                <a:latin typeface="Lato"/>
              </a:defRPr>
            </a:pPr>
            <a:r>
              <a:t>9.05</a:t>
            </a:r>
          </a:p>
        </p:txBody>
      </p:sp>
      <p:sp>
        <p:nvSpPr>
          <p:cNvPr id="11" name="TextBox 10"/>
          <p:cNvSpPr txBox="1"/>
          <p:nvPr/>
        </p:nvSpPr>
        <p:spPr>
          <a:xfrm>
            <a:off x="502920" y="4855464"/>
            <a:ext cx="841248" cy="512064"/>
          </a:xfrm>
          <a:prstGeom prst="rect">
            <a:avLst/>
          </a:prstGeom>
          <a:noFill/>
        </p:spPr>
        <p:txBody>
          <a:bodyPr wrap="square" lIns="18288" rIns="18288" tIns="0" bIns="0">
            <a:spAutoFit/>
          </a:bodyPr>
          <a:lstStyle/>
          <a:p>
            <a:pPr algn="ctr">
              <a:spcAft>
                <a:spcPts val="0"/>
              </a:spcAft>
              <a:defRPr sz="900" b="1">
                <a:solidFill>
                  <a:srgbClr val="000000"/>
                </a:solidFill>
                <a:latin typeface="Lato"/>
              </a:defRPr>
            </a:pPr>
            <a:r>
              <a:t>Excel</a:t>
            </a:r>
          </a:p>
          <a:p>
            <a:pPr algn="ctr">
              <a:spcAft>
                <a:spcPts val="0"/>
              </a:spcAft>
              <a:defRPr sz="900" b="1">
                <a:solidFill>
                  <a:srgbClr val="000000"/>
                </a:solidFill>
                <a:latin typeface="Lato"/>
              </a:defRPr>
            </a:pPr>
            <a:r>
              <a:t>recorded</a:t>
            </a:r>
          </a:p>
        </p:txBody>
      </p:sp>
      <p:cxnSp>
        <p:nvCxnSpPr>
          <p:cNvPr id="12" name="Connector 11"/>
          <p:cNvCxnSpPr/>
          <p:nvPr/>
        </p:nvCxnSpPr>
        <p:spPr>
          <a:xfrm>
            <a:off x="1143000" y="3335983"/>
            <a:ext cx="402336" cy="0"/>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545336" y="3335983"/>
            <a:ext cx="438912" cy="989016"/>
          </a:xfrm>
          <a:prstGeom prst="rect">
            <a:avLst/>
          </a:prstGeom>
          <a:solidFill>
            <a:srgbClr val="CED3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99032" y="3098239"/>
            <a:ext cx="731520" cy="201168"/>
          </a:xfrm>
          <a:prstGeom prst="rect">
            <a:avLst/>
          </a:prstGeom>
          <a:noFill/>
        </p:spPr>
        <p:txBody>
          <a:bodyPr wrap="square" lIns="18288" rIns="18288" tIns="0" bIns="0">
            <a:spAutoFit/>
          </a:bodyPr>
          <a:lstStyle/>
          <a:p>
            <a:pPr algn="ctr">
              <a:spcAft>
                <a:spcPts val="800"/>
              </a:spcAft>
              <a:defRPr sz="1000" b="1">
                <a:solidFill>
                  <a:srgbClr val="000000"/>
                </a:solidFill>
                <a:latin typeface="Lato"/>
              </a:defRPr>
            </a:pPr>
            <a:r>
              <a:t>-6.31</a:t>
            </a:r>
          </a:p>
        </p:txBody>
      </p:sp>
      <p:sp>
        <p:nvSpPr>
          <p:cNvPr id="15" name="TextBox 14"/>
          <p:cNvSpPr txBox="1"/>
          <p:nvPr/>
        </p:nvSpPr>
        <p:spPr>
          <a:xfrm>
            <a:off x="1344168" y="4855464"/>
            <a:ext cx="841248" cy="512064"/>
          </a:xfrm>
          <a:prstGeom prst="rect">
            <a:avLst/>
          </a:prstGeom>
          <a:noFill/>
        </p:spPr>
        <p:txBody>
          <a:bodyPr wrap="square" lIns="18288" rIns="18288" tIns="0" bIns="0">
            <a:spAutoFit/>
          </a:bodyPr>
          <a:lstStyle/>
          <a:p>
            <a:pPr algn="ctr">
              <a:spcAft>
                <a:spcPts val="0"/>
              </a:spcAft>
              <a:defRPr sz="900" b="0">
                <a:solidFill>
                  <a:srgbClr val="000000"/>
                </a:solidFill>
                <a:latin typeface="Lato"/>
              </a:defRPr>
            </a:pPr>
            <a:r>
              <a:t>Fleet /</a:t>
            </a:r>
          </a:p>
          <a:p>
            <a:pPr algn="ctr">
              <a:spcAft>
                <a:spcPts val="0"/>
              </a:spcAft>
              <a:defRPr sz="900" b="0">
                <a:solidFill>
                  <a:srgbClr val="000000"/>
                </a:solidFill>
                <a:latin typeface="Lato"/>
              </a:defRPr>
            </a:pPr>
            <a:r>
              <a:t>coverage</a:t>
            </a:r>
          </a:p>
        </p:txBody>
      </p:sp>
      <p:cxnSp>
        <p:nvCxnSpPr>
          <p:cNvPr id="16" name="Connector 15"/>
          <p:cNvCxnSpPr/>
          <p:nvPr/>
        </p:nvCxnSpPr>
        <p:spPr>
          <a:xfrm>
            <a:off x="1984248" y="4324999"/>
            <a:ext cx="402336" cy="0"/>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386584" y="3511285"/>
            <a:ext cx="438912" cy="813714"/>
          </a:xfrm>
          <a:prstGeom prst="rect">
            <a:avLst/>
          </a:prstGeom>
          <a:solidFill>
            <a:srgbClr val="53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40280" y="3273541"/>
            <a:ext cx="731520" cy="201168"/>
          </a:xfrm>
          <a:prstGeom prst="rect">
            <a:avLst/>
          </a:prstGeom>
          <a:noFill/>
        </p:spPr>
        <p:txBody>
          <a:bodyPr wrap="square" lIns="18288" rIns="18288" tIns="0" bIns="0">
            <a:spAutoFit/>
          </a:bodyPr>
          <a:lstStyle/>
          <a:p>
            <a:pPr algn="ctr">
              <a:spcAft>
                <a:spcPts val="800"/>
              </a:spcAft>
              <a:defRPr sz="1000" b="1">
                <a:solidFill>
                  <a:srgbClr val="000000"/>
                </a:solidFill>
                <a:latin typeface="Lato"/>
              </a:defRPr>
            </a:pPr>
            <a:r>
              <a:t>+5.19</a:t>
            </a:r>
          </a:p>
        </p:txBody>
      </p:sp>
      <p:sp>
        <p:nvSpPr>
          <p:cNvPr id="19" name="TextBox 18"/>
          <p:cNvSpPr txBox="1"/>
          <p:nvPr/>
        </p:nvSpPr>
        <p:spPr>
          <a:xfrm>
            <a:off x="2185416" y="4855464"/>
            <a:ext cx="841248" cy="512064"/>
          </a:xfrm>
          <a:prstGeom prst="rect">
            <a:avLst/>
          </a:prstGeom>
          <a:noFill/>
        </p:spPr>
        <p:txBody>
          <a:bodyPr wrap="square" lIns="18288" rIns="18288" tIns="0" bIns="0">
            <a:spAutoFit/>
          </a:bodyPr>
          <a:lstStyle/>
          <a:p>
            <a:pPr algn="ctr">
              <a:spcAft>
                <a:spcPts val="0"/>
              </a:spcAft>
              <a:defRPr sz="900" b="0">
                <a:solidFill>
                  <a:srgbClr val="000000"/>
                </a:solidFill>
                <a:latin typeface="Lato"/>
              </a:defRPr>
            </a:pPr>
            <a:r>
              <a:t>Use per</a:t>
            </a:r>
          </a:p>
          <a:p>
            <a:pPr algn="ctr">
              <a:spcAft>
                <a:spcPts val="0"/>
              </a:spcAft>
              <a:defRPr sz="900" b="0">
                <a:solidFill>
                  <a:srgbClr val="000000"/>
                </a:solidFill>
                <a:latin typeface="Lato"/>
              </a:defRPr>
            </a:pPr>
            <a:r>
              <a:t>vehicle</a:t>
            </a:r>
          </a:p>
        </p:txBody>
      </p:sp>
      <p:cxnSp>
        <p:nvCxnSpPr>
          <p:cNvPr id="20" name="Connector 19"/>
          <p:cNvCxnSpPr/>
          <p:nvPr/>
        </p:nvCxnSpPr>
        <p:spPr>
          <a:xfrm>
            <a:off x="2825496" y="3511285"/>
            <a:ext cx="402336" cy="0"/>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227832" y="3511285"/>
            <a:ext cx="438912" cy="124359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81528" y="3273541"/>
            <a:ext cx="731520" cy="201168"/>
          </a:xfrm>
          <a:prstGeom prst="rect">
            <a:avLst/>
          </a:prstGeom>
          <a:noFill/>
        </p:spPr>
        <p:txBody>
          <a:bodyPr wrap="square" lIns="18288" rIns="18288" tIns="0" bIns="0">
            <a:spAutoFit/>
          </a:bodyPr>
          <a:lstStyle/>
          <a:p>
            <a:pPr algn="ctr">
              <a:spcAft>
                <a:spcPts val="800"/>
              </a:spcAft>
              <a:defRPr sz="1000" b="1">
                <a:solidFill>
                  <a:srgbClr val="000000"/>
                </a:solidFill>
                <a:latin typeface="Lato"/>
              </a:defRPr>
            </a:pPr>
            <a:r>
              <a:t>7.93</a:t>
            </a:r>
          </a:p>
        </p:txBody>
      </p:sp>
      <p:sp>
        <p:nvSpPr>
          <p:cNvPr id="23" name="TextBox 22"/>
          <p:cNvSpPr txBox="1"/>
          <p:nvPr/>
        </p:nvSpPr>
        <p:spPr>
          <a:xfrm>
            <a:off x="3026664" y="4855464"/>
            <a:ext cx="841248" cy="512064"/>
          </a:xfrm>
          <a:prstGeom prst="rect">
            <a:avLst/>
          </a:prstGeom>
          <a:noFill/>
        </p:spPr>
        <p:txBody>
          <a:bodyPr wrap="square" lIns="18288" rIns="18288" tIns="0" bIns="0">
            <a:spAutoFit/>
          </a:bodyPr>
          <a:lstStyle/>
          <a:p>
            <a:pPr algn="ctr">
              <a:spcAft>
                <a:spcPts val="0"/>
              </a:spcAft>
              <a:defRPr sz="900" b="1">
                <a:solidFill>
                  <a:srgbClr val="000000"/>
                </a:solidFill>
                <a:latin typeface="Lato"/>
              </a:defRPr>
            </a:pPr>
            <a:r>
              <a:t>Python</a:t>
            </a:r>
          </a:p>
        </p:txBody>
      </p:sp>
      <p:sp>
        <p:nvSpPr>
          <p:cNvPr id="24" name="TextBox 23"/>
          <p:cNvSpPr txBox="1"/>
          <p:nvPr/>
        </p:nvSpPr>
        <p:spPr>
          <a:xfrm>
            <a:off x="502920" y="5532120"/>
            <a:ext cx="3429000" cy="676656"/>
          </a:xfrm>
          <a:prstGeom prst="rect">
            <a:avLst/>
          </a:prstGeom>
          <a:noFill/>
        </p:spPr>
        <p:txBody>
          <a:bodyPr wrap="square" lIns="18288" rIns="18288" tIns="0" bIns="0">
            <a:spAutoFit/>
          </a:bodyPr>
          <a:lstStyle/>
          <a:p>
            <a:pPr>
              <a:spcAft>
                <a:spcPts val="0"/>
              </a:spcAft>
              <a:defRPr sz="1100" b="0">
                <a:solidFill>
                  <a:srgbClr val="000000"/>
                </a:solidFill>
                <a:latin typeface="Lato"/>
              </a:defRPr>
            </a:pPr>
            <a:r>
              <a:t>Fewer vehicles: −6.31 bn L.</a:t>
            </a:r>
          </a:p>
          <a:p>
            <a:pPr>
              <a:spcAft>
                <a:spcPts val="0"/>
              </a:spcAft>
              <a:defRPr sz="1100" b="0">
                <a:solidFill>
                  <a:srgbClr val="000000"/>
                </a:solidFill>
                <a:latin typeface="Lato"/>
              </a:defRPr>
            </a:pPr>
            <a:r>
              <a:t>Higher use per vehicle: +5.19 bn L.</a:t>
            </a:r>
          </a:p>
          <a:p>
            <a:pPr>
              <a:spcAft>
                <a:spcPts val="0"/>
              </a:spcAft>
              <a:defRPr sz="1100" b="0">
                <a:solidFill>
                  <a:srgbClr val="000000"/>
                </a:solidFill>
                <a:latin typeface="Lato"/>
              </a:defRPr>
            </a:pPr>
            <a:r>
              <a:t>Check fleet coverage, mileage and economy.</a:t>
            </a:r>
          </a:p>
        </p:txBody>
      </p:sp>
      <p:sp>
        <p:nvSpPr>
          <p:cNvPr id="25" name="TextBox 24"/>
          <p:cNvSpPr txBox="1"/>
          <p:nvPr/>
        </p:nvSpPr>
        <p:spPr>
          <a:xfrm>
            <a:off x="4160520" y="2176272"/>
            <a:ext cx="3383280" cy="274320"/>
          </a:xfrm>
          <a:prstGeom prst="rect">
            <a:avLst/>
          </a:prstGeom>
          <a:noFill/>
        </p:spPr>
        <p:txBody>
          <a:bodyPr wrap="square" lIns="18288" rIns="18288" tIns="0" bIns="0">
            <a:spAutoFit/>
          </a:bodyPr>
          <a:lstStyle/>
          <a:p>
            <a:pPr>
              <a:spcAft>
                <a:spcPts val="800"/>
              </a:spcAft>
              <a:defRPr sz="1900" b="1">
                <a:solidFill>
                  <a:srgbClr val="000000"/>
                </a:solidFill>
                <a:latin typeface="Lato"/>
              </a:defRPr>
            </a:pPr>
            <a:r>
              <a:t>Diesel</a:t>
            </a:r>
          </a:p>
        </p:txBody>
      </p:sp>
      <p:sp>
        <p:nvSpPr>
          <p:cNvPr id="26" name="TextBox 25"/>
          <p:cNvSpPr txBox="1"/>
          <p:nvPr/>
        </p:nvSpPr>
        <p:spPr>
          <a:xfrm>
            <a:off x="4160520" y="2569464"/>
            <a:ext cx="3383280" cy="27432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Net difference: +3.41 bn L</a:t>
            </a:r>
          </a:p>
        </p:txBody>
      </p:sp>
      <p:cxnSp>
        <p:nvCxnSpPr>
          <p:cNvPr id="27" name="Connector 26"/>
          <p:cNvCxnSpPr/>
          <p:nvPr/>
        </p:nvCxnSpPr>
        <p:spPr>
          <a:xfrm>
            <a:off x="4206240" y="4754880"/>
            <a:ext cx="3355848" cy="0"/>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4244644" y="3827006"/>
            <a:ext cx="392582" cy="927873"/>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98340" y="3589262"/>
            <a:ext cx="685190" cy="201168"/>
          </a:xfrm>
          <a:prstGeom prst="rect">
            <a:avLst/>
          </a:prstGeom>
          <a:noFill/>
        </p:spPr>
        <p:txBody>
          <a:bodyPr wrap="square" lIns="18288" rIns="18288" tIns="0" bIns="0">
            <a:spAutoFit/>
          </a:bodyPr>
          <a:lstStyle/>
          <a:p>
            <a:pPr algn="ctr">
              <a:spcAft>
                <a:spcPts val="800"/>
              </a:spcAft>
              <a:defRPr sz="1000" b="1">
                <a:solidFill>
                  <a:srgbClr val="000000"/>
                </a:solidFill>
                <a:latin typeface="Lato"/>
              </a:defRPr>
            </a:pPr>
            <a:r>
              <a:t>11.88</a:t>
            </a:r>
          </a:p>
        </p:txBody>
      </p:sp>
      <p:sp>
        <p:nvSpPr>
          <p:cNvPr id="30" name="TextBox 29"/>
          <p:cNvSpPr txBox="1"/>
          <p:nvPr/>
        </p:nvSpPr>
        <p:spPr>
          <a:xfrm>
            <a:off x="4160520" y="4855464"/>
            <a:ext cx="560832" cy="512064"/>
          </a:xfrm>
          <a:prstGeom prst="rect">
            <a:avLst/>
          </a:prstGeom>
          <a:noFill/>
        </p:spPr>
        <p:txBody>
          <a:bodyPr wrap="square" lIns="18288" rIns="18288" tIns="0" bIns="0">
            <a:spAutoFit/>
          </a:bodyPr>
          <a:lstStyle/>
          <a:p>
            <a:pPr algn="ctr">
              <a:spcAft>
                <a:spcPts val="0"/>
              </a:spcAft>
              <a:defRPr sz="850" b="1">
                <a:solidFill>
                  <a:srgbClr val="000000"/>
                </a:solidFill>
                <a:latin typeface="Lato"/>
              </a:defRPr>
            </a:pPr>
            <a:r>
              <a:t>Excel</a:t>
            </a:r>
          </a:p>
          <a:p>
            <a:pPr algn="ctr">
              <a:spcAft>
                <a:spcPts val="0"/>
              </a:spcAft>
              <a:defRPr sz="850" b="1">
                <a:solidFill>
                  <a:srgbClr val="000000"/>
                </a:solidFill>
                <a:latin typeface="Lato"/>
              </a:defRPr>
            </a:pPr>
            <a:r>
              <a:t>recorded</a:t>
            </a:r>
          </a:p>
        </p:txBody>
      </p:sp>
      <p:cxnSp>
        <p:nvCxnSpPr>
          <p:cNvPr id="31" name="Connector 30"/>
          <p:cNvCxnSpPr/>
          <p:nvPr/>
        </p:nvCxnSpPr>
        <p:spPr>
          <a:xfrm>
            <a:off x="4637227" y="3827006"/>
            <a:ext cx="168249" cy="0"/>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4805476" y="3585948"/>
            <a:ext cx="392582" cy="241058"/>
          </a:xfrm>
          <a:prstGeom prst="rect">
            <a:avLst/>
          </a:prstGeom>
          <a:solidFill>
            <a:srgbClr val="53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59172" y="3348204"/>
            <a:ext cx="685190" cy="201168"/>
          </a:xfrm>
          <a:prstGeom prst="rect">
            <a:avLst/>
          </a:prstGeom>
          <a:noFill/>
        </p:spPr>
        <p:txBody>
          <a:bodyPr wrap="square" lIns="18288" rIns="18288" tIns="0" bIns="0">
            <a:spAutoFit/>
          </a:bodyPr>
          <a:lstStyle/>
          <a:p>
            <a:pPr algn="ctr">
              <a:spcAft>
                <a:spcPts val="800"/>
              </a:spcAft>
              <a:defRPr sz="1000" b="1">
                <a:solidFill>
                  <a:srgbClr val="000000"/>
                </a:solidFill>
                <a:latin typeface="Lato"/>
              </a:defRPr>
            </a:pPr>
            <a:r>
              <a:t>+3.09</a:t>
            </a:r>
          </a:p>
        </p:txBody>
      </p:sp>
      <p:sp>
        <p:nvSpPr>
          <p:cNvPr id="34" name="TextBox 33"/>
          <p:cNvSpPr txBox="1"/>
          <p:nvPr/>
        </p:nvSpPr>
        <p:spPr>
          <a:xfrm>
            <a:off x="4721352" y="4855464"/>
            <a:ext cx="560832" cy="512064"/>
          </a:xfrm>
          <a:prstGeom prst="rect">
            <a:avLst/>
          </a:prstGeom>
          <a:noFill/>
        </p:spPr>
        <p:txBody>
          <a:bodyPr wrap="square" lIns="18288" rIns="18288" tIns="0" bIns="0">
            <a:spAutoFit/>
          </a:bodyPr>
          <a:lstStyle/>
          <a:p>
            <a:pPr algn="ctr">
              <a:spcAft>
                <a:spcPts val="0"/>
              </a:spcAft>
              <a:defRPr sz="850" b="0">
                <a:solidFill>
                  <a:srgbClr val="000000"/>
                </a:solidFill>
                <a:latin typeface="Lato"/>
              </a:defRPr>
            </a:pPr>
            <a:r>
              <a:t>Power</a:t>
            </a:r>
          </a:p>
          <a:p>
            <a:pPr algn="ctr">
              <a:spcAft>
                <a:spcPts val="0"/>
              </a:spcAft>
              <a:defRPr sz="850" b="0">
                <a:solidFill>
                  <a:srgbClr val="000000"/>
                </a:solidFill>
                <a:latin typeface="Lato"/>
              </a:defRPr>
            </a:pPr>
            <a:r>
              <a:t>basis</a:t>
            </a:r>
          </a:p>
        </p:txBody>
      </p:sp>
      <p:cxnSp>
        <p:nvCxnSpPr>
          <p:cNvPr id="35" name="Connector 34"/>
          <p:cNvCxnSpPr/>
          <p:nvPr/>
        </p:nvCxnSpPr>
        <p:spPr>
          <a:xfrm>
            <a:off x="5198059" y="3585948"/>
            <a:ext cx="168249" cy="0"/>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5366308" y="3390663"/>
            <a:ext cx="392582" cy="195285"/>
          </a:xfrm>
          <a:prstGeom prst="rect">
            <a:avLst/>
          </a:prstGeom>
          <a:solidFill>
            <a:srgbClr val="53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20004" y="3152919"/>
            <a:ext cx="685190" cy="201168"/>
          </a:xfrm>
          <a:prstGeom prst="rect">
            <a:avLst/>
          </a:prstGeom>
          <a:noFill/>
        </p:spPr>
        <p:txBody>
          <a:bodyPr wrap="square" lIns="18288" rIns="18288" tIns="0" bIns="0">
            <a:spAutoFit/>
          </a:bodyPr>
          <a:lstStyle/>
          <a:p>
            <a:pPr algn="ctr">
              <a:spcAft>
                <a:spcPts val="800"/>
              </a:spcAft>
              <a:defRPr sz="1000" b="1">
                <a:solidFill>
                  <a:srgbClr val="000000"/>
                </a:solidFill>
                <a:latin typeface="Lato"/>
              </a:defRPr>
            </a:pPr>
            <a:r>
              <a:t>+2.50</a:t>
            </a:r>
          </a:p>
        </p:txBody>
      </p:sp>
      <p:sp>
        <p:nvSpPr>
          <p:cNvPr id="38" name="TextBox 37"/>
          <p:cNvSpPr txBox="1"/>
          <p:nvPr/>
        </p:nvSpPr>
        <p:spPr>
          <a:xfrm>
            <a:off x="5282184" y="4855464"/>
            <a:ext cx="560832" cy="512064"/>
          </a:xfrm>
          <a:prstGeom prst="rect">
            <a:avLst/>
          </a:prstGeom>
          <a:noFill/>
        </p:spPr>
        <p:txBody>
          <a:bodyPr wrap="square" lIns="18288" rIns="18288" tIns="0" bIns="0">
            <a:spAutoFit/>
          </a:bodyPr>
          <a:lstStyle/>
          <a:p>
            <a:pPr algn="ctr">
              <a:spcAft>
                <a:spcPts val="0"/>
              </a:spcAft>
              <a:defRPr sz="850" b="0">
                <a:solidFill>
                  <a:srgbClr val="000000"/>
                </a:solidFill>
                <a:latin typeface="Lato"/>
              </a:defRPr>
            </a:pPr>
            <a:r>
              <a:t>Industry</a:t>
            </a:r>
          </a:p>
          <a:p>
            <a:pPr algn="ctr">
              <a:spcAft>
                <a:spcPts val="0"/>
              </a:spcAft>
              <a:defRPr sz="850" b="0">
                <a:solidFill>
                  <a:srgbClr val="000000"/>
                </a:solidFill>
                <a:latin typeface="Lato"/>
              </a:defRPr>
            </a:pPr>
            <a:r>
              <a:t>anchor</a:t>
            </a:r>
          </a:p>
        </p:txBody>
      </p:sp>
      <p:cxnSp>
        <p:nvCxnSpPr>
          <p:cNvPr id="39" name="Connector 38"/>
          <p:cNvCxnSpPr/>
          <p:nvPr/>
        </p:nvCxnSpPr>
        <p:spPr>
          <a:xfrm>
            <a:off x="5758891" y="3390663"/>
            <a:ext cx="168249" cy="0"/>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927140" y="3335983"/>
            <a:ext cx="392582" cy="54679"/>
          </a:xfrm>
          <a:prstGeom prst="rect">
            <a:avLst/>
          </a:prstGeom>
          <a:solidFill>
            <a:srgbClr val="53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780836" y="3098239"/>
            <a:ext cx="685190" cy="201168"/>
          </a:xfrm>
          <a:prstGeom prst="rect">
            <a:avLst/>
          </a:prstGeom>
          <a:noFill/>
        </p:spPr>
        <p:txBody>
          <a:bodyPr wrap="square" lIns="18288" rIns="18288" tIns="0" bIns="0">
            <a:spAutoFit/>
          </a:bodyPr>
          <a:lstStyle/>
          <a:p>
            <a:pPr algn="ctr">
              <a:spcAft>
                <a:spcPts val="800"/>
              </a:spcAft>
              <a:defRPr sz="1000" b="1">
                <a:solidFill>
                  <a:srgbClr val="000000"/>
                </a:solidFill>
                <a:latin typeface="Lato"/>
              </a:defRPr>
            </a:pPr>
            <a:r>
              <a:t>+0.70</a:t>
            </a:r>
          </a:p>
        </p:txBody>
      </p:sp>
      <p:sp>
        <p:nvSpPr>
          <p:cNvPr id="42" name="TextBox 41"/>
          <p:cNvSpPr txBox="1"/>
          <p:nvPr/>
        </p:nvSpPr>
        <p:spPr>
          <a:xfrm>
            <a:off x="5843016" y="4855464"/>
            <a:ext cx="560832" cy="512064"/>
          </a:xfrm>
          <a:prstGeom prst="rect">
            <a:avLst/>
          </a:prstGeom>
          <a:noFill/>
        </p:spPr>
        <p:txBody>
          <a:bodyPr wrap="square" lIns="18288" rIns="18288" tIns="0" bIns="0">
            <a:spAutoFit/>
          </a:bodyPr>
          <a:lstStyle/>
          <a:p>
            <a:pPr algn="ctr">
              <a:spcAft>
                <a:spcPts val="0"/>
              </a:spcAft>
              <a:defRPr sz="850" b="0">
                <a:solidFill>
                  <a:srgbClr val="000000"/>
                </a:solidFill>
                <a:latin typeface="Lato"/>
              </a:defRPr>
            </a:pPr>
            <a:r>
              <a:t>Agri.</a:t>
            </a:r>
          </a:p>
          <a:p>
            <a:pPr algn="ctr">
              <a:spcAft>
                <a:spcPts val="0"/>
              </a:spcAft>
              <a:defRPr sz="850" b="0">
                <a:solidFill>
                  <a:srgbClr val="000000"/>
                </a:solidFill>
                <a:latin typeface="Lato"/>
              </a:defRPr>
            </a:pPr>
            <a:r>
              <a:t>anchor</a:t>
            </a:r>
          </a:p>
        </p:txBody>
      </p:sp>
      <p:cxnSp>
        <p:nvCxnSpPr>
          <p:cNvPr id="43" name="Connector 42"/>
          <p:cNvCxnSpPr/>
          <p:nvPr/>
        </p:nvCxnSpPr>
        <p:spPr>
          <a:xfrm>
            <a:off x="6319723" y="3335983"/>
            <a:ext cx="168249" cy="0"/>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6487972" y="3335983"/>
            <a:ext cx="392582" cy="224947"/>
          </a:xfrm>
          <a:prstGeom prst="rect">
            <a:avLst/>
          </a:prstGeom>
          <a:solidFill>
            <a:srgbClr val="CED3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41668" y="3098239"/>
            <a:ext cx="685190" cy="201168"/>
          </a:xfrm>
          <a:prstGeom prst="rect">
            <a:avLst/>
          </a:prstGeom>
          <a:noFill/>
        </p:spPr>
        <p:txBody>
          <a:bodyPr wrap="square" lIns="18288" rIns="18288" tIns="0" bIns="0">
            <a:spAutoFit/>
          </a:bodyPr>
          <a:lstStyle/>
          <a:p>
            <a:pPr algn="ctr">
              <a:spcAft>
                <a:spcPts val="800"/>
              </a:spcAft>
              <a:defRPr sz="1000" b="1">
                <a:solidFill>
                  <a:srgbClr val="000000"/>
                </a:solidFill>
                <a:latin typeface="Lato"/>
              </a:defRPr>
            </a:pPr>
            <a:r>
              <a:t>-2.88</a:t>
            </a:r>
          </a:p>
        </p:txBody>
      </p:sp>
      <p:sp>
        <p:nvSpPr>
          <p:cNvPr id="46" name="TextBox 45"/>
          <p:cNvSpPr txBox="1"/>
          <p:nvPr/>
        </p:nvSpPr>
        <p:spPr>
          <a:xfrm>
            <a:off x="6403848" y="4855464"/>
            <a:ext cx="560832" cy="512064"/>
          </a:xfrm>
          <a:prstGeom prst="rect">
            <a:avLst/>
          </a:prstGeom>
          <a:noFill/>
        </p:spPr>
        <p:txBody>
          <a:bodyPr wrap="square" lIns="18288" rIns="18288" tIns="0" bIns="0">
            <a:spAutoFit/>
          </a:bodyPr>
          <a:lstStyle/>
          <a:p>
            <a:pPr algn="ctr">
              <a:spcAft>
                <a:spcPts val="0"/>
              </a:spcAft>
              <a:defRPr sz="850" b="0">
                <a:solidFill>
                  <a:srgbClr val="000000"/>
                </a:solidFill>
                <a:latin typeface="Lato"/>
              </a:defRPr>
            </a:pPr>
            <a:r>
              <a:t>Road vs</a:t>
            </a:r>
          </a:p>
          <a:p>
            <a:pPr algn="ctr">
              <a:spcAft>
                <a:spcPts val="0"/>
              </a:spcAft>
              <a:defRPr sz="850" b="0">
                <a:solidFill>
                  <a:srgbClr val="000000"/>
                </a:solidFill>
                <a:latin typeface="Lato"/>
              </a:defRPr>
            </a:pPr>
            <a:r>
              <a:t>rest</a:t>
            </a:r>
          </a:p>
        </p:txBody>
      </p:sp>
      <p:cxnSp>
        <p:nvCxnSpPr>
          <p:cNvPr id="47" name="Connector 46"/>
          <p:cNvCxnSpPr/>
          <p:nvPr/>
        </p:nvCxnSpPr>
        <p:spPr>
          <a:xfrm>
            <a:off x="6880555" y="3560931"/>
            <a:ext cx="168249" cy="0"/>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7048804" y="3560931"/>
            <a:ext cx="392582" cy="119394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902500" y="3323187"/>
            <a:ext cx="685190" cy="201168"/>
          </a:xfrm>
          <a:prstGeom prst="rect">
            <a:avLst/>
          </a:prstGeom>
          <a:noFill/>
        </p:spPr>
        <p:txBody>
          <a:bodyPr wrap="square" lIns="18288" rIns="18288" tIns="0" bIns="0">
            <a:spAutoFit/>
          </a:bodyPr>
          <a:lstStyle/>
          <a:p>
            <a:pPr algn="ctr">
              <a:spcAft>
                <a:spcPts val="800"/>
              </a:spcAft>
              <a:defRPr sz="1000" b="1">
                <a:solidFill>
                  <a:srgbClr val="000000"/>
                </a:solidFill>
                <a:latin typeface="Lato"/>
              </a:defRPr>
            </a:pPr>
            <a:r>
              <a:t>15.28</a:t>
            </a:r>
          </a:p>
        </p:txBody>
      </p:sp>
      <p:sp>
        <p:nvSpPr>
          <p:cNvPr id="50" name="TextBox 49"/>
          <p:cNvSpPr txBox="1"/>
          <p:nvPr/>
        </p:nvSpPr>
        <p:spPr>
          <a:xfrm>
            <a:off x="6964680" y="4855464"/>
            <a:ext cx="560832" cy="512064"/>
          </a:xfrm>
          <a:prstGeom prst="rect">
            <a:avLst/>
          </a:prstGeom>
          <a:noFill/>
        </p:spPr>
        <p:txBody>
          <a:bodyPr wrap="square" lIns="18288" rIns="18288" tIns="0" bIns="0">
            <a:spAutoFit/>
          </a:bodyPr>
          <a:lstStyle/>
          <a:p>
            <a:pPr algn="ctr">
              <a:spcAft>
                <a:spcPts val="0"/>
              </a:spcAft>
              <a:defRPr sz="850" b="1">
                <a:solidFill>
                  <a:srgbClr val="000000"/>
                </a:solidFill>
                <a:latin typeface="Lato"/>
              </a:defRPr>
            </a:pPr>
            <a:r>
              <a:t>Python</a:t>
            </a:r>
          </a:p>
        </p:txBody>
      </p:sp>
      <p:sp>
        <p:nvSpPr>
          <p:cNvPr id="51" name="TextBox 50"/>
          <p:cNvSpPr txBox="1"/>
          <p:nvPr/>
        </p:nvSpPr>
        <p:spPr>
          <a:xfrm>
            <a:off x="4160520" y="5532120"/>
            <a:ext cx="3429000" cy="676656"/>
          </a:xfrm>
          <a:prstGeom prst="rect">
            <a:avLst/>
          </a:prstGeom>
          <a:noFill/>
        </p:spPr>
        <p:txBody>
          <a:bodyPr wrap="square" lIns="18288" rIns="18288" tIns="0" bIns="0">
            <a:spAutoFit/>
          </a:bodyPr>
          <a:lstStyle/>
          <a:p>
            <a:pPr>
              <a:spcAft>
                <a:spcPts val="0"/>
              </a:spcAft>
              <a:defRPr sz="1100" b="0">
                <a:solidFill>
                  <a:srgbClr val="000000"/>
                </a:solidFill>
                <a:latin typeface="Lato"/>
              </a:defRPr>
            </a:pPr>
            <a:r>
              <a:t>Power and sector anchors increase demand.</a:t>
            </a:r>
          </a:p>
          <a:p>
            <a:pPr>
              <a:spcAft>
                <a:spcPts val="0"/>
              </a:spcAft>
              <a:defRPr sz="1100" b="0">
                <a:solidFill>
                  <a:srgbClr val="000000"/>
                </a:solidFill>
                <a:latin typeface="Lato"/>
              </a:defRPr>
            </a:pPr>
            <a:r>
              <a:t>Road/non-power definitions partly offset this.</a:t>
            </a:r>
          </a:p>
          <a:p>
            <a:pPr>
              <a:spcAft>
                <a:spcPts val="0"/>
              </a:spcAft>
              <a:defRPr sz="1100" b="0">
                <a:solidFill>
                  <a:srgbClr val="000000"/>
                </a:solidFill>
                <a:latin typeface="Lato"/>
              </a:defRPr>
            </a:pPr>
            <a:r>
              <a:t>Validate dispatch and possible overlap.</a:t>
            </a:r>
          </a:p>
        </p:txBody>
      </p:sp>
      <p:sp>
        <p:nvSpPr>
          <p:cNvPr id="52" name="TextBox 51"/>
          <p:cNvSpPr txBox="1"/>
          <p:nvPr/>
        </p:nvSpPr>
        <p:spPr>
          <a:xfrm>
            <a:off x="7818120" y="2176272"/>
            <a:ext cx="3383280" cy="274320"/>
          </a:xfrm>
          <a:prstGeom prst="rect">
            <a:avLst/>
          </a:prstGeom>
          <a:noFill/>
        </p:spPr>
        <p:txBody>
          <a:bodyPr wrap="square" lIns="18288" rIns="18288" tIns="0" bIns="0">
            <a:spAutoFit/>
          </a:bodyPr>
          <a:lstStyle/>
          <a:p>
            <a:pPr>
              <a:spcAft>
                <a:spcPts val="800"/>
              </a:spcAft>
              <a:defRPr sz="1900" b="1">
                <a:solidFill>
                  <a:srgbClr val="000000"/>
                </a:solidFill>
                <a:latin typeface="Lato"/>
              </a:defRPr>
            </a:pPr>
            <a:r>
              <a:t>Jet</a:t>
            </a:r>
          </a:p>
        </p:txBody>
      </p:sp>
      <p:sp>
        <p:nvSpPr>
          <p:cNvPr id="53" name="TextBox 52"/>
          <p:cNvSpPr txBox="1"/>
          <p:nvPr/>
        </p:nvSpPr>
        <p:spPr>
          <a:xfrm>
            <a:off x="7818120" y="2569464"/>
            <a:ext cx="3383280" cy="27432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Net difference: -0.26 bn L</a:t>
            </a:r>
          </a:p>
        </p:txBody>
      </p:sp>
      <p:cxnSp>
        <p:nvCxnSpPr>
          <p:cNvPr id="54" name="Connector 53"/>
          <p:cNvCxnSpPr/>
          <p:nvPr/>
        </p:nvCxnSpPr>
        <p:spPr>
          <a:xfrm>
            <a:off x="7863840" y="4754880"/>
            <a:ext cx="3355848" cy="0"/>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8019288" y="3335983"/>
            <a:ext cx="438912" cy="1418896"/>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872984" y="3098239"/>
            <a:ext cx="731520" cy="201168"/>
          </a:xfrm>
          <a:prstGeom prst="rect">
            <a:avLst/>
          </a:prstGeom>
          <a:noFill/>
        </p:spPr>
        <p:txBody>
          <a:bodyPr wrap="square" lIns="18288" rIns="18288" tIns="0" bIns="0">
            <a:spAutoFit/>
          </a:bodyPr>
          <a:lstStyle/>
          <a:p>
            <a:pPr algn="ctr">
              <a:spcAft>
                <a:spcPts val="800"/>
              </a:spcAft>
              <a:defRPr sz="1000" b="1">
                <a:solidFill>
                  <a:srgbClr val="000000"/>
                </a:solidFill>
                <a:latin typeface="Lato"/>
              </a:defRPr>
            </a:pPr>
            <a:r>
              <a:t>1.87</a:t>
            </a:r>
          </a:p>
        </p:txBody>
      </p:sp>
      <p:sp>
        <p:nvSpPr>
          <p:cNvPr id="57" name="TextBox 56"/>
          <p:cNvSpPr txBox="1"/>
          <p:nvPr/>
        </p:nvSpPr>
        <p:spPr>
          <a:xfrm>
            <a:off x="7818120" y="4855464"/>
            <a:ext cx="841248" cy="512064"/>
          </a:xfrm>
          <a:prstGeom prst="rect">
            <a:avLst/>
          </a:prstGeom>
          <a:noFill/>
        </p:spPr>
        <p:txBody>
          <a:bodyPr wrap="square" lIns="18288" rIns="18288" tIns="0" bIns="0">
            <a:spAutoFit/>
          </a:bodyPr>
          <a:lstStyle/>
          <a:p>
            <a:pPr algn="ctr">
              <a:spcAft>
                <a:spcPts val="0"/>
              </a:spcAft>
              <a:defRPr sz="900" b="1">
                <a:solidFill>
                  <a:srgbClr val="000000"/>
                </a:solidFill>
                <a:latin typeface="Lato"/>
              </a:defRPr>
            </a:pPr>
            <a:r>
              <a:t>Excel</a:t>
            </a:r>
          </a:p>
          <a:p>
            <a:pPr algn="ctr">
              <a:spcAft>
                <a:spcPts val="0"/>
              </a:spcAft>
              <a:defRPr sz="900" b="1">
                <a:solidFill>
                  <a:srgbClr val="000000"/>
                </a:solidFill>
                <a:latin typeface="Lato"/>
              </a:defRPr>
            </a:pPr>
            <a:r>
              <a:t>recorded</a:t>
            </a:r>
          </a:p>
        </p:txBody>
      </p:sp>
      <p:cxnSp>
        <p:nvCxnSpPr>
          <p:cNvPr id="58" name="Connector 57"/>
          <p:cNvCxnSpPr/>
          <p:nvPr/>
        </p:nvCxnSpPr>
        <p:spPr>
          <a:xfrm>
            <a:off x="8458200" y="3335983"/>
            <a:ext cx="402336" cy="0"/>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8860536" y="3335983"/>
            <a:ext cx="438912" cy="201195"/>
          </a:xfrm>
          <a:prstGeom prst="rect">
            <a:avLst/>
          </a:prstGeom>
          <a:solidFill>
            <a:srgbClr val="CED3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714232" y="3098239"/>
            <a:ext cx="731520" cy="201168"/>
          </a:xfrm>
          <a:prstGeom prst="rect">
            <a:avLst/>
          </a:prstGeom>
          <a:noFill/>
        </p:spPr>
        <p:txBody>
          <a:bodyPr wrap="square" lIns="18288" rIns="18288" tIns="0" bIns="0">
            <a:spAutoFit/>
          </a:bodyPr>
          <a:lstStyle/>
          <a:p>
            <a:pPr algn="ctr">
              <a:spcAft>
                <a:spcPts val="800"/>
              </a:spcAft>
              <a:defRPr sz="1000" b="1">
                <a:solidFill>
                  <a:srgbClr val="000000"/>
                </a:solidFill>
                <a:latin typeface="Lato"/>
              </a:defRPr>
            </a:pPr>
            <a:r>
              <a:t>-0.26</a:t>
            </a:r>
          </a:p>
        </p:txBody>
      </p:sp>
      <p:sp>
        <p:nvSpPr>
          <p:cNvPr id="61" name="TextBox 60"/>
          <p:cNvSpPr txBox="1"/>
          <p:nvPr/>
        </p:nvSpPr>
        <p:spPr>
          <a:xfrm>
            <a:off x="8659368" y="4855464"/>
            <a:ext cx="841248" cy="512064"/>
          </a:xfrm>
          <a:prstGeom prst="rect">
            <a:avLst/>
          </a:prstGeom>
          <a:noFill/>
        </p:spPr>
        <p:txBody>
          <a:bodyPr wrap="square" lIns="18288" rIns="18288" tIns="0" bIns="0">
            <a:spAutoFit/>
          </a:bodyPr>
          <a:lstStyle/>
          <a:p>
            <a:pPr algn="ctr">
              <a:spcAft>
                <a:spcPts val="0"/>
              </a:spcAft>
              <a:defRPr sz="900" b="0">
                <a:solidFill>
                  <a:srgbClr val="000000"/>
                </a:solidFill>
                <a:latin typeface="Lato"/>
              </a:defRPr>
            </a:pPr>
            <a:r>
              <a:t>Regression /</a:t>
            </a:r>
          </a:p>
          <a:p>
            <a:pPr algn="ctr">
              <a:spcAft>
                <a:spcPts val="0"/>
              </a:spcAft>
              <a:defRPr sz="900" b="0">
                <a:solidFill>
                  <a:srgbClr val="000000"/>
                </a:solidFill>
                <a:latin typeface="Lato"/>
              </a:defRPr>
            </a:pPr>
            <a:r>
              <a:t>recorded</a:t>
            </a:r>
          </a:p>
        </p:txBody>
      </p:sp>
      <p:cxnSp>
        <p:nvCxnSpPr>
          <p:cNvPr id="62" name="Connector 61"/>
          <p:cNvCxnSpPr/>
          <p:nvPr/>
        </p:nvCxnSpPr>
        <p:spPr>
          <a:xfrm>
            <a:off x="9299448" y="3537178"/>
            <a:ext cx="402336" cy="0"/>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701784" y="3537178"/>
            <a:ext cx="438912" cy="0"/>
          </a:xfrm>
          <a:prstGeom prst="line">
            <a:avLst/>
          </a:prstGeom>
          <a:ln w="16510">
            <a:solidFill>
              <a:srgbClr val="A0A0A0"/>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9555480" y="3299434"/>
            <a:ext cx="731520" cy="201168"/>
          </a:xfrm>
          <a:prstGeom prst="rect">
            <a:avLst/>
          </a:prstGeom>
          <a:noFill/>
        </p:spPr>
        <p:txBody>
          <a:bodyPr wrap="square" lIns="18288" rIns="18288" tIns="0" bIns="0">
            <a:spAutoFit/>
          </a:bodyPr>
          <a:lstStyle/>
          <a:p>
            <a:pPr algn="ctr">
              <a:spcAft>
                <a:spcPts val="800"/>
              </a:spcAft>
              <a:defRPr sz="1000" b="1">
                <a:solidFill>
                  <a:srgbClr val="000000"/>
                </a:solidFill>
                <a:latin typeface="Lato"/>
              </a:defRPr>
            </a:pPr>
            <a:r>
              <a:t>+0.00</a:t>
            </a:r>
          </a:p>
        </p:txBody>
      </p:sp>
      <p:sp>
        <p:nvSpPr>
          <p:cNvPr id="65" name="TextBox 64"/>
          <p:cNvSpPr txBox="1"/>
          <p:nvPr/>
        </p:nvSpPr>
        <p:spPr>
          <a:xfrm>
            <a:off x="9500616" y="4855464"/>
            <a:ext cx="841248" cy="512064"/>
          </a:xfrm>
          <a:prstGeom prst="rect">
            <a:avLst/>
          </a:prstGeom>
          <a:noFill/>
        </p:spPr>
        <p:txBody>
          <a:bodyPr wrap="square" lIns="18288" rIns="18288" tIns="0" bIns="0">
            <a:spAutoFit/>
          </a:bodyPr>
          <a:lstStyle/>
          <a:p>
            <a:pPr algn="ctr">
              <a:spcAft>
                <a:spcPts val="0"/>
              </a:spcAft>
              <a:defRPr sz="900" b="0">
                <a:solidFill>
                  <a:srgbClr val="000000"/>
                </a:solidFill>
                <a:latin typeface="Lato"/>
              </a:defRPr>
            </a:pPr>
            <a:r>
              <a:t>Translation</a:t>
            </a:r>
          </a:p>
          <a:p>
            <a:pPr algn="ctr">
              <a:spcAft>
                <a:spcPts val="0"/>
              </a:spcAft>
              <a:defRPr sz="900" b="0">
                <a:solidFill>
                  <a:srgbClr val="000000"/>
                </a:solidFill>
                <a:latin typeface="Lato"/>
              </a:defRPr>
            </a:pPr>
            <a:r>
              <a:t>(no gap)</a:t>
            </a:r>
          </a:p>
        </p:txBody>
      </p:sp>
      <p:cxnSp>
        <p:nvCxnSpPr>
          <p:cNvPr id="66" name="Connector 65"/>
          <p:cNvCxnSpPr/>
          <p:nvPr/>
        </p:nvCxnSpPr>
        <p:spPr>
          <a:xfrm>
            <a:off x="10140696" y="3537178"/>
            <a:ext cx="402336" cy="0"/>
          </a:xfrm>
          <a:prstGeom prst="line">
            <a:avLst/>
          </a:prstGeom>
          <a:ln w="6350">
            <a:solidFill>
              <a:srgbClr val="A0A0A0"/>
            </a:solidFill>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10543032" y="3537178"/>
            <a:ext cx="438912" cy="1217701"/>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396728" y="3299434"/>
            <a:ext cx="731520" cy="201168"/>
          </a:xfrm>
          <a:prstGeom prst="rect">
            <a:avLst/>
          </a:prstGeom>
          <a:noFill/>
        </p:spPr>
        <p:txBody>
          <a:bodyPr wrap="square" lIns="18288" rIns="18288" tIns="0" bIns="0">
            <a:spAutoFit/>
          </a:bodyPr>
          <a:lstStyle/>
          <a:p>
            <a:pPr algn="ctr">
              <a:spcAft>
                <a:spcPts val="800"/>
              </a:spcAft>
              <a:defRPr sz="1000" b="1">
                <a:solidFill>
                  <a:srgbClr val="000000"/>
                </a:solidFill>
                <a:latin typeface="Lato"/>
              </a:defRPr>
            </a:pPr>
            <a:r>
              <a:t>1.60</a:t>
            </a:r>
          </a:p>
        </p:txBody>
      </p:sp>
      <p:sp>
        <p:nvSpPr>
          <p:cNvPr id="69" name="TextBox 68"/>
          <p:cNvSpPr txBox="1"/>
          <p:nvPr/>
        </p:nvSpPr>
        <p:spPr>
          <a:xfrm>
            <a:off x="10341864" y="4855464"/>
            <a:ext cx="841248" cy="512064"/>
          </a:xfrm>
          <a:prstGeom prst="rect">
            <a:avLst/>
          </a:prstGeom>
          <a:noFill/>
        </p:spPr>
        <p:txBody>
          <a:bodyPr wrap="square" lIns="18288" rIns="18288" tIns="0" bIns="0">
            <a:spAutoFit/>
          </a:bodyPr>
          <a:lstStyle/>
          <a:p>
            <a:pPr algn="ctr">
              <a:spcAft>
                <a:spcPts val="0"/>
              </a:spcAft>
              <a:defRPr sz="900" b="1">
                <a:solidFill>
                  <a:srgbClr val="000000"/>
                </a:solidFill>
                <a:latin typeface="Lato"/>
              </a:defRPr>
            </a:pPr>
            <a:r>
              <a:t>Python</a:t>
            </a:r>
          </a:p>
        </p:txBody>
      </p:sp>
      <p:sp>
        <p:nvSpPr>
          <p:cNvPr id="70" name="TextBox 69"/>
          <p:cNvSpPr txBox="1"/>
          <p:nvPr/>
        </p:nvSpPr>
        <p:spPr>
          <a:xfrm>
            <a:off x="7818120" y="5532120"/>
            <a:ext cx="3429000" cy="676656"/>
          </a:xfrm>
          <a:prstGeom prst="rect">
            <a:avLst/>
          </a:prstGeom>
          <a:noFill/>
        </p:spPr>
        <p:txBody>
          <a:bodyPr wrap="square" lIns="18288" rIns="18288" tIns="0" bIns="0">
            <a:spAutoFit/>
          </a:bodyPr>
          <a:lstStyle/>
          <a:p>
            <a:pPr>
              <a:spcAft>
                <a:spcPts val="0"/>
              </a:spcAft>
              <a:defRPr sz="1100" b="0">
                <a:solidFill>
                  <a:srgbClr val="000000"/>
                </a:solidFill>
                <a:latin typeface="Lato"/>
              </a:defRPr>
            </a:pPr>
            <a:r>
              <a:t>Python matches Excel’s calculated demand.</a:t>
            </a:r>
          </a:p>
          <a:p>
            <a:pPr>
              <a:spcAft>
                <a:spcPts val="0"/>
              </a:spcAft>
              <a:defRPr sz="1100" b="0">
                <a:solidFill>
                  <a:srgbClr val="000000"/>
                </a:solidFill>
                <a:latin typeface="Lato"/>
              </a:defRPr>
            </a:pPr>
            <a:r>
              <a:t>The gap is against recorded demand.</a:t>
            </a:r>
          </a:p>
          <a:p>
            <a:pPr>
              <a:spcAft>
                <a:spcPts val="0"/>
              </a:spcAft>
              <a:defRPr sz="1100" b="0">
                <a:solidFill>
                  <a:srgbClr val="000000"/>
                </a:solidFill>
                <a:latin typeface="Lato"/>
              </a:defRPr>
            </a:pPr>
            <a:r>
              <a:t>Review regression fit and fuel definitions.</a:t>
            </a:r>
          </a:p>
        </p:txBody>
      </p:sp>
      <p:sp>
        <p:nvSpPr>
          <p:cNvPr id="71" name="TextBox 70"/>
          <p:cNvSpPr txBox="1"/>
          <p:nvPr/>
        </p:nvSpPr>
        <p:spPr>
          <a:xfrm>
            <a:off x="502920" y="6309360"/>
            <a:ext cx="10515600" cy="182880"/>
          </a:xfrm>
          <a:prstGeom prst="rect">
            <a:avLst/>
          </a:prstGeom>
          <a:noFill/>
        </p:spPr>
        <p:txBody>
          <a:bodyPr wrap="square" lIns="18288" rIns="18288" tIns="0" bIns="0">
            <a:spAutoFit/>
          </a:bodyPr>
          <a:lstStyle/>
          <a:p>
            <a:pPr>
              <a:spcAft>
                <a:spcPts val="800"/>
              </a:spcAft>
              <a:defRPr sz="900" b="0">
                <a:solidFill>
                  <a:srgbClr val="000000"/>
                </a:solidFill>
                <a:latin typeface="Lato"/>
              </a:defRPr>
            </a:pPr>
            <a:r>
              <a:t>Bar labels show totals or signed changes; + adds demand, − reduces it. Each fuel has its own scale. Bridges reconcile totals; they do not prove causation.</a:t>
            </a:r>
          </a:p>
        </p:txBody>
      </p:sp>
      <p:sp>
        <p:nvSpPr>
          <p:cNvPr id="72" name="TextBox 71"/>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lfm.reporting.reconciliation; Gasoline K29/T29/X29; Diesel K30/T30/M30; fJetFuel H24; Jet DemandSupply J23. Provisional.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Validate the evidence before choosing a reference model</a:t>
            </a:r>
          </a:p>
        </p:txBody>
      </p:sp>
      <p:sp>
        <p:nvSpPr>
          <p:cNvPr id="3" name="Slide Number Placeholder"/>
          <p:cNvSpPr>
            <a:spLocks noGrp="1"/>
          </p:cNvSpPr>
          <p:nvPr>
            <p:ph type="sldNum" sz="quarter" idx="12"/>
          </p:nvPr>
        </p:nvSpPr>
        <p:spPr/>
        <p:txBody>
          <a:bodyPr/>
          <a:lstStyle/>
          <a:p>
            <a:fld id="{50927326-A7F7-47AB-9ABB-12DCD8979204}"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sp>
        <p:nvSpPr>
          <p:cNvPr id="5" name="TextBox 4"/>
          <p:cNvSpPr txBox="1"/>
          <p:nvPr/>
        </p:nvSpPr>
        <p:spPr>
          <a:xfrm>
            <a:off x="502920" y="1664208"/>
            <a:ext cx="10515600" cy="566928"/>
          </a:xfrm>
          <a:prstGeom prst="rect">
            <a:avLst/>
          </a:prstGeom>
          <a:noFill/>
        </p:spPr>
        <p:txBody>
          <a:bodyPr wrap="square" lIns="18288" rIns="18288" tIns="0" bIns="0">
            <a:spAutoFit/>
          </a:bodyPr>
          <a:lstStyle/>
          <a:p>
            <a:pPr>
              <a:spcAft>
                <a:spcPts val="800"/>
              </a:spcAft>
              <a:defRPr sz="1900" b="1">
                <a:solidFill>
                  <a:srgbClr val="000000"/>
                </a:solidFill>
                <a:latin typeface="Lato"/>
              </a:defRPr>
            </a:pPr>
            <a:r>
              <a:t>Use Excel as a provisional historical reference; validate Python before relying on its forecasts.</a:t>
            </a:r>
          </a:p>
        </p:txBody>
      </p:sp>
      <p:graphicFrame>
        <p:nvGraphicFramePr>
          <p:cNvPr id="6" name="Table 5"/>
          <p:cNvGraphicFramePr>
            <a:graphicFrameLocks noGrp="1"/>
          </p:cNvGraphicFramePr>
          <p:nvPr/>
        </p:nvGraphicFramePr>
        <p:xfrm>
          <a:off x="502920" y="2423160"/>
          <a:ext cx="10652760" cy="2697480"/>
        </p:xfrm>
        <a:graphic>
          <a:graphicData uri="http://schemas.openxmlformats.org/drawingml/2006/table">
            <a:tbl>
              <a:tblPr firstRow="1" bandRow="1">
                <a:tableStyleId>{2D5ABB26-0587-4C30-8999-92F81FD0307C}</a:tableStyleId>
              </a:tblPr>
              <a:tblGrid>
                <a:gridCol w="822960"/>
                <a:gridCol w="2788920"/>
                <a:gridCol w="3383280"/>
                <a:gridCol w="3657600"/>
              </a:tblGrid>
              <a:tr h="674370">
                <a:tc>
                  <a:txBody>
                    <a:bodyPr/>
                    <a:lstStyle/>
                    <a:p>
                      <a:pPr>
                        <a:defRPr sz="1300" b="1">
                          <a:solidFill>
                            <a:srgbClr val="000000"/>
                          </a:solidFill>
                          <a:latin typeface="Lato"/>
                        </a:defRPr>
                      </a:pPr>
                      <a:r>
                        <a:t>Test</a:t>
                      </a:r>
                    </a:p>
                  </a:txBody>
                  <a:tcPr marL="146304" marR="146304" marT="54864" marB="54864" anchor="ctr">
                    <a:lnB w="4445" cap="flat">
                      <a:solidFill>
                        <a:srgbClr val="A0A0A0"/>
                      </a:solidFill>
                    </a:lnB>
                    <a:solidFill>
                      <a:srgbClr val="FFFFFF"/>
                    </a:solidFill>
                  </a:tcPr>
                </a:tc>
                <a:tc>
                  <a:txBody>
                    <a:bodyPr/>
                    <a:lstStyle/>
                    <a:p>
                      <a:pPr>
                        <a:defRPr sz="1300" b="1">
                          <a:solidFill>
                            <a:srgbClr val="000000"/>
                          </a:solidFill>
                          <a:latin typeface="Lato"/>
                        </a:defRPr>
                      </a:pPr>
                      <a:r>
                        <a:t>Excel evidence</a:t>
                      </a:r>
                    </a:p>
                  </a:txBody>
                  <a:tcPr marL="146304" marR="146304" marT="54864" marB="54864" anchor="ctr">
                    <a:lnB w="4445" cap="flat">
                      <a:solidFill>
                        <a:srgbClr val="A0A0A0"/>
                      </a:solidFill>
                    </a:lnB>
                    <a:solidFill>
                      <a:srgbClr val="FFFFFF"/>
                    </a:solidFill>
                  </a:tcPr>
                </a:tc>
                <a:tc>
                  <a:txBody>
                    <a:bodyPr/>
                    <a:lstStyle/>
                    <a:p>
                      <a:pPr>
                        <a:defRPr sz="1300" b="1">
                          <a:solidFill>
                            <a:srgbClr val="000000"/>
                          </a:solidFill>
                          <a:latin typeface="Lato"/>
                        </a:defRPr>
                      </a:pPr>
                      <a:r>
                        <a:t>Python evidence</a:t>
                      </a:r>
                    </a:p>
                  </a:txBody>
                  <a:tcPr marL="146304" marR="146304" marT="54864" marB="54864" anchor="ctr">
                    <a:lnB w="4445" cap="flat">
                      <a:solidFill>
                        <a:srgbClr val="A0A0A0"/>
                      </a:solidFill>
                    </a:lnB>
                    <a:solidFill>
                      <a:srgbClr val="FFFFFF"/>
                    </a:solidFill>
                  </a:tcPr>
                </a:tc>
                <a:tc>
                  <a:txBody>
                    <a:bodyPr/>
                    <a:lstStyle/>
                    <a:p>
                      <a:pPr>
                        <a:defRPr sz="1300" b="1">
                          <a:solidFill>
                            <a:srgbClr val="000000"/>
                          </a:solidFill>
                          <a:latin typeface="Lato"/>
                        </a:defRPr>
                      </a:pPr>
                      <a:r>
                        <a:t>Assessment / next check</a:t>
                      </a:r>
                    </a:p>
                  </a:txBody>
                  <a:tcPr marL="146304" marR="146304" marT="54864" marB="54864" anchor="ctr">
                    <a:lnB w="4445" cap="flat">
                      <a:solidFill>
                        <a:srgbClr val="A0A0A0"/>
                      </a:solidFill>
                    </a:lnB>
                    <a:solidFill>
                      <a:srgbClr val="FFFFFF"/>
                    </a:solidFill>
                  </a:tcPr>
                </a:tc>
              </a:tr>
              <a:tr h="674370">
                <a:tc>
                  <a:txBody>
                    <a:bodyPr/>
                    <a:lstStyle/>
                    <a:p>
                      <a:pPr>
                        <a:defRPr sz="1300" b="0">
                          <a:solidFill>
                            <a:srgbClr val="000000"/>
                          </a:solidFill>
                          <a:latin typeface="Lato"/>
                        </a:defRPr>
                      </a:pPr>
                      <a:r>
                        <a:t>Petrol</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9.05 bn litres recorded; 9.44m vehicles. Litres/vehicle is inferred from the total. [1]</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7.93 bn litres; cohort fleet 4.68m. Mileage, fuel use and scrappage include provisional inputs. [2]</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No accuracy winner. Reconcile fleet coverage and validate kilometres and fuel consumption.</a:t>
                      </a:r>
                    </a:p>
                  </a:txBody>
                  <a:tcPr marL="146304" marR="146304" marT="54864" marB="54864" anchor="ctr">
                    <a:lnB w="3175" cap="flat">
                      <a:solidFill>
                        <a:srgbClr val="B8B8B8"/>
                      </a:solidFill>
                    </a:lnB>
                    <a:solidFill>
                      <a:srgbClr val="FFFFFF"/>
                    </a:solidFill>
                  </a:tcPr>
                </a:tc>
              </a:tr>
              <a:tr h="674370">
                <a:tc>
                  <a:txBody>
                    <a:bodyPr/>
                    <a:lstStyle/>
                    <a:p>
                      <a:pPr>
                        <a:defRPr sz="1300" b="0">
                          <a:solidFill>
                            <a:srgbClr val="000000"/>
                          </a:solidFill>
                          <a:latin typeface="Lato"/>
                        </a:defRPr>
                      </a:pPr>
                      <a:r>
                        <a:t>Diesel</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11.88 bn litres total; power 0.50; remaining 11.38 includes non-road demand. [1]</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15.28 bn litres; power 3.58 plus industrial 2.50 and agriculture 0.70 placeholders. [2,3]</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Python uplift is not validated. Check power history and sector overlap before accepting it.</a:t>
                      </a:r>
                    </a:p>
                  </a:txBody>
                  <a:tcPr marL="146304" marR="146304" marT="54864" marB="54864" anchor="ctr">
                    <a:lnB w="3175" cap="flat">
                      <a:solidFill>
                        <a:srgbClr val="B8B8B8"/>
                      </a:solidFill>
                    </a:lnB>
                    <a:solidFill>
                      <a:srgbClr val="FFFFFF"/>
                    </a:solidFill>
                  </a:tcPr>
                </a:tc>
              </a:tr>
              <a:tr h="674370">
                <a:tc>
                  <a:txBody>
                    <a:bodyPr/>
                    <a:lstStyle/>
                    <a:p>
                      <a:pPr>
                        <a:defRPr sz="1300" b="0">
                          <a:solidFill>
                            <a:srgbClr val="000000"/>
                          </a:solidFill>
                          <a:latin typeface="Lato"/>
                        </a:defRPr>
                      </a:pPr>
                      <a:r>
                        <a:t>Jet</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Recorded demand 1.87; regression calculates 1.60 bn litres. [1]</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Same regression result: 1.60 bn litres, matching Excel to numerical precision. [3]</a:t>
                      </a:r>
                    </a:p>
                  </a:txBody>
                  <a:tcPr marL="146304" marR="146304" marT="54864" marB="54864" anchor="ctr">
                    <a:lnB w="3175" cap="flat">
                      <a:solidFill>
                        <a:srgbClr val="B8B8B8"/>
                      </a:solidFill>
                    </a:lnB>
                    <a:solidFill>
                      <a:srgbClr val="FFFFFF"/>
                    </a:solidFill>
                  </a:tcPr>
                </a:tc>
                <a:tc>
                  <a:txBody>
                    <a:bodyPr/>
                    <a:lstStyle/>
                    <a:p>
                      <a:pPr>
                        <a:defRPr sz="1300" b="0">
                          <a:solidFill>
                            <a:srgbClr val="000000"/>
                          </a:solidFill>
                          <a:latin typeface="Lato"/>
                        </a:defRPr>
                      </a:pPr>
                      <a:r>
                        <a:t>Translation agrees; accuracy is unproven. Check product coverage and fit to observed demand.</a:t>
                      </a:r>
                    </a:p>
                  </a:txBody>
                  <a:tcPr marL="146304" marR="146304" marT="54864" marB="54864" anchor="ctr">
                    <a:lnB w="3175" cap="flat">
                      <a:solidFill>
                        <a:srgbClr val="B8B8B8"/>
                      </a:solidFill>
                    </a:lnB>
                    <a:solidFill>
                      <a:srgbClr val="FFFFFF"/>
                    </a:solidFill>
                  </a:tcPr>
                </a:tc>
              </a:tr>
            </a:tbl>
          </a:graphicData>
        </a:graphic>
      </p:graphicFrame>
      <p:sp>
        <p:nvSpPr>
          <p:cNvPr id="7" name="TextBox 6"/>
          <p:cNvSpPr txBox="1"/>
          <p:nvPr/>
        </p:nvSpPr>
        <p:spPr>
          <a:xfrm>
            <a:off x="502920" y="5294376"/>
            <a:ext cx="10515600" cy="50292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Decision gate: compare both against independent, like-for-like actuals across several historical years; then test forecasts on held-out years. [4,5]</a:t>
            </a:r>
          </a:p>
        </p:txBody>
      </p:sp>
      <p:sp>
        <p:nvSpPr>
          <p:cNvPr id="8" name="TextBox 7"/>
          <p:cNvSpPr txBox="1"/>
          <p:nvPr/>
        </p:nvSpPr>
        <p:spPr>
          <a:xfrm>
            <a:off x="502920" y="5870448"/>
            <a:ext cx="10561320" cy="164592"/>
          </a:xfrm>
          <a:prstGeom prst="rect">
            <a:avLst/>
          </a:prstGeom>
          <a:noFill/>
        </p:spPr>
        <p:txBody>
          <a:bodyPr wrap="square" lIns="18288" rIns="18288" tIns="0" bIns="0">
            <a:spAutoFit/>
          </a:bodyPr>
          <a:lstStyle/>
          <a:p>
            <a:pPr>
              <a:spcAft>
                <a:spcPts val="800"/>
              </a:spcAft>
              <a:defRPr sz="750" b="0">
                <a:solidFill>
                  <a:srgbClr val="000000"/>
                </a:solidFill>
                <a:latin typeface="Lato"/>
              </a:defRPr>
            </a:pPr>
            <a:r>
              <a:t>[1] Inherited workbook: Gasoline - DemandSupply K29/T29/X29; Diesel - DemandSupply K30/T30/M30; Jet - DemandSupply J23; fJetFuel H24.</a:t>
            </a:r>
          </a:p>
        </p:txBody>
      </p:sp>
      <p:sp>
        <p:nvSpPr>
          <p:cNvPr id="9" name="TextBox 8"/>
          <p:cNvSpPr txBox="1"/>
          <p:nvPr/>
        </p:nvSpPr>
        <p:spPr>
          <a:xfrm>
            <a:off x="502920" y="5993892"/>
            <a:ext cx="10561320" cy="164592"/>
          </a:xfrm>
          <a:prstGeom prst="rect">
            <a:avLst/>
          </a:prstGeom>
          <a:noFill/>
        </p:spPr>
        <p:txBody>
          <a:bodyPr wrap="square" lIns="18288" rIns="18288" tIns="0" bIns="0">
            <a:spAutoFit/>
          </a:bodyPr>
          <a:lstStyle/>
          <a:p>
            <a:pPr>
              <a:spcAft>
                <a:spcPts val="800"/>
              </a:spcAft>
              <a:defRPr sz="750" b="0">
                <a:solidFill>
                  <a:srgbClr val="000000"/>
                </a:solidFill>
                <a:latin typeface="Lato"/>
              </a:defRPr>
            </a:pPr>
            <a:r>
              <a:t>[2] assumptions/2026/vehicles.yaml, generation.yaml, industrial.yaml, agriculture.yaml; src/lfm/model/demand/vehicles.py.</a:t>
            </a:r>
          </a:p>
        </p:txBody>
      </p:sp>
      <p:sp>
        <p:nvSpPr>
          <p:cNvPr id="10" name="TextBox 9"/>
          <p:cNvSpPr txBox="1"/>
          <p:nvPr/>
        </p:nvSpPr>
        <p:spPr>
          <a:xfrm>
            <a:off x="502920" y="6117336"/>
            <a:ext cx="10561320" cy="164592"/>
          </a:xfrm>
          <a:prstGeom prst="rect">
            <a:avLst/>
          </a:prstGeom>
          <a:noFill/>
        </p:spPr>
        <p:txBody>
          <a:bodyPr wrap="square" lIns="18288" rIns="18288" tIns="0" bIns="0">
            <a:spAutoFit/>
          </a:bodyPr>
          <a:lstStyle/>
          <a:p>
            <a:pPr>
              <a:spcAft>
                <a:spcPts val="800"/>
              </a:spcAft>
              <a:defRPr sz="750" b="0">
                <a:solidFill>
                  <a:srgbClr val="000000"/>
                </a:solidFill>
                <a:latin typeface="Lato"/>
              </a:defRPr>
            </a:pPr>
            <a:r>
              <a:t>[3] src/lfm/reporting/reconciliation.py; pptx/output/data/driver_reconciliation.json (2024, high_demand).</a:t>
            </a:r>
          </a:p>
        </p:txBody>
      </p:sp>
      <p:sp>
        <p:nvSpPr>
          <p:cNvPr id="11" name="TextBox 10"/>
          <p:cNvSpPr txBox="1"/>
          <p:nvPr/>
        </p:nvSpPr>
        <p:spPr>
          <a:xfrm>
            <a:off x="502920" y="6240780"/>
            <a:ext cx="10561320" cy="164592"/>
          </a:xfrm>
          <a:prstGeom prst="rect">
            <a:avLst/>
          </a:prstGeom>
          <a:noFill/>
        </p:spPr>
        <p:txBody>
          <a:bodyPr wrap="square" lIns="18288" rIns="18288" tIns="0" bIns="0">
            <a:spAutoFit/>
          </a:bodyPr>
          <a:lstStyle/>
          <a:p>
            <a:pPr>
              <a:spcAft>
                <a:spcPts val="800"/>
              </a:spcAft>
              <a:defRPr sz="750" b="0">
                <a:solidFill>
                  <a:srgbClr val="000000"/>
                </a:solidFill>
                <a:latin typeface="Lato"/>
              </a:defRPr>
            </a:pPr>
            <a:r>
              <a:rPr>
                <a:hlinkClick r:id="rId2"/>
              </a:rPr>
              <a:t>[4] GATE_CHECKLIST.md: independent review and business approval outstanding. [5] DMRE SA Fuel Sales Volume portal: external benchmark to reconcile, not yet validated here.</a:t>
            </a:r>
          </a:p>
        </p:txBody>
      </p:sp>
      <p:sp>
        <p:nvSpPr>
          <p:cNvPr id="12" name="TextBox 11"/>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Cell-level workbook inspection; Python code and assumption audit; 2024 reconciliation. Assessment is provisional, not model approval.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Validate the existing macro and sector inputs before extending coverage</a:t>
            </a:r>
          </a:p>
        </p:txBody>
      </p:sp>
      <p:sp>
        <p:nvSpPr>
          <p:cNvPr id="3" name="Slide Number Placeholder"/>
          <p:cNvSpPr>
            <a:spLocks noGrp="1"/>
          </p:cNvSpPr>
          <p:nvPr>
            <p:ph type="sldNum" sz="quarter" idx="12"/>
          </p:nvPr>
        </p:nvSpPr>
        <p:spPr/>
        <p:txBody>
          <a:bodyPr/>
          <a:lstStyle/>
          <a:p>
            <a:fld id="{4F5A200F-C28C-462C-A93E-89067AE701D1}"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graphicFrame>
        <p:nvGraphicFramePr>
          <p:cNvPr id="5" name="Table 4"/>
          <p:cNvGraphicFramePr>
            <a:graphicFrameLocks noGrp="1"/>
          </p:cNvGraphicFramePr>
          <p:nvPr/>
        </p:nvGraphicFramePr>
        <p:xfrm>
          <a:off x="457200" y="1691640"/>
          <a:ext cx="10652760" cy="4206240"/>
        </p:xfrm>
        <a:graphic>
          <a:graphicData uri="http://schemas.openxmlformats.org/drawingml/2006/table">
            <a:tbl>
              <a:tblPr firstRow="1" bandRow="1">
                <a:tableStyleId>{2D5ABB26-0587-4C30-8999-92F81FD0307C}</a:tableStyleId>
              </a:tblPr>
              <a:tblGrid>
                <a:gridCol w="1920240"/>
                <a:gridCol w="4160520"/>
                <a:gridCol w="4572000"/>
              </a:tblGrid>
              <a:tr h="701040">
                <a:tc>
                  <a:txBody>
                    <a:bodyPr/>
                    <a:lstStyle/>
                    <a:p>
                      <a:pPr>
                        <a:defRPr sz="1500" b="1">
                          <a:solidFill>
                            <a:srgbClr val="000000"/>
                          </a:solidFill>
                          <a:latin typeface="Lato"/>
                        </a:defRPr>
                      </a:pPr>
                      <a:r>
                        <a:t>Data family</a:t>
                      </a:r>
                    </a:p>
                  </a:txBody>
                  <a:tcPr marL="146304" marR="146304" marT="54864" marB="54864" anchor="ctr">
                    <a:lnB w="4445" cap="flat">
                      <a:solidFill>
                        <a:srgbClr val="A0A0A0"/>
                      </a:solidFill>
                    </a:lnB>
                    <a:solidFill>
                      <a:srgbClr val="FFFFFF"/>
                    </a:solidFill>
                  </a:tcPr>
                </a:tc>
                <a:tc>
                  <a:txBody>
                    <a:bodyPr/>
                    <a:lstStyle/>
                    <a:p>
                      <a:pPr>
                        <a:defRPr sz="1500" b="1">
                          <a:solidFill>
                            <a:srgbClr val="000000"/>
                          </a:solidFill>
                          <a:latin typeface="Lato"/>
                        </a:defRPr>
                      </a:pPr>
                      <a:r>
                        <a:t>Already in the repository</a:t>
                      </a:r>
                    </a:p>
                  </a:txBody>
                  <a:tcPr marL="146304" marR="146304" marT="54864" marB="54864" anchor="ctr">
                    <a:lnB w="4445" cap="flat">
                      <a:solidFill>
                        <a:srgbClr val="A0A0A0"/>
                      </a:solidFill>
                    </a:lnB>
                    <a:solidFill>
                      <a:srgbClr val="FFFFFF"/>
                    </a:solidFill>
                  </a:tcPr>
                </a:tc>
                <a:tc>
                  <a:txBody>
                    <a:bodyPr/>
                    <a:lstStyle/>
                    <a:p>
                      <a:pPr>
                        <a:defRPr sz="1500" b="1">
                          <a:solidFill>
                            <a:srgbClr val="000000"/>
                          </a:solidFill>
                          <a:latin typeface="Lato"/>
                        </a:defRPr>
                      </a:pPr>
                      <a:r>
                        <a:t>Validation or extension needed</a:t>
                      </a:r>
                    </a:p>
                  </a:txBody>
                  <a:tcPr marL="146304" marR="146304" marT="54864" marB="54864" anchor="ctr">
                    <a:lnB w="4445" cap="flat">
                      <a:solidFill>
                        <a:srgbClr val="A0A0A0"/>
                      </a:solidFill>
                    </a:lnB>
                    <a:solidFill>
                      <a:srgbClr val="FFFFFF"/>
                    </a:solidFill>
                  </a:tcPr>
                </a:tc>
              </a:tr>
              <a:tr h="701040">
                <a:tc>
                  <a:txBody>
                    <a:bodyPr/>
                    <a:lstStyle/>
                    <a:p>
                      <a:pPr>
                        <a:defRPr sz="1500" b="0">
                          <a:solidFill>
                            <a:srgbClr val="000000"/>
                          </a:solidFill>
                          <a:latin typeface="Lato"/>
                        </a:defRPr>
                      </a:pPr>
                      <a:r>
                        <a:t>Macro drivers</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GDP, GDP per capita and population: 2005-2050; GDP growth: 2020-2050</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Separate history from projections; refresh sources; FX remains blank</a:t>
                      </a:r>
                    </a:p>
                  </a:txBody>
                  <a:tcPr marL="146304" marR="146304" marT="54864" marB="54864" anchor="ctr">
                    <a:lnB w="3175" cap="flat">
                      <a:solidFill>
                        <a:srgbClr val="B8B8B8"/>
                      </a:solidFill>
                    </a:lnB>
                    <a:solidFill>
                      <a:srgbClr val="FFFFFF"/>
                    </a:solidFill>
                  </a:tcPr>
                </a:tc>
              </a:tr>
              <a:tr h="701040">
                <a:tc>
                  <a:txBody>
                    <a:bodyPr/>
                    <a:lstStyle/>
                    <a:p>
                      <a:pPr>
                        <a:defRPr sz="1500" b="0">
                          <a:solidFill>
                            <a:srgbClr val="000000"/>
                          </a:solidFill>
                          <a:latin typeface="Lato"/>
                        </a:defRPr>
                      </a:pPr>
                      <a:r>
                        <a:t>Demand benchmarks</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Petrol, diesel and jet history in one CSV; comparison uses years through 2024</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Reconcile totals, fuel definitions and provisional sector baselines</a:t>
                      </a:r>
                    </a:p>
                  </a:txBody>
                  <a:tcPr marL="146304" marR="146304" marT="54864" marB="54864" anchor="ctr">
                    <a:lnB w="3175" cap="flat">
                      <a:solidFill>
                        <a:srgbClr val="B8B8B8"/>
                      </a:solidFill>
                    </a:lnB>
                    <a:solidFill>
                      <a:srgbClr val="FFFFFF"/>
                    </a:solidFill>
                  </a:tcPr>
                </a:tc>
              </a:tr>
              <a:tr h="701040">
                <a:tc>
                  <a:txBody>
                    <a:bodyPr/>
                    <a:lstStyle/>
                    <a:p>
                      <a:pPr>
                        <a:defRPr sz="1500" b="0">
                          <a:solidFill>
                            <a:srgbClr val="000000"/>
                          </a:solidFill>
                          <a:latin typeface="Lato"/>
                        </a:defRPr>
                      </a:pPr>
                      <a:r>
                        <a:t>Transport and power</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Vehicle assumptions; efficiency series 2020-2050; passengers 2017-2050; OCGT series</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Review opening fleet, adoption, efficiencies and power-sector assumptions</a:t>
                      </a:r>
                    </a:p>
                  </a:txBody>
                  <a:tcPr marL="146304" marR="146304" marT="54864" marB="54864" anchor="ctr">
                    <a:lnB w="3175" cap="flat">
                      <a:solidFill>
                        <a:srgbClr val="B8B8B8"/>
                      </a:solidFill>
                    </a:lnB>
                    <a:solidFill>
                      <a:srgbClr val="FFFFFF"/>
                    </a:solidFill>
                  </a:tcPr>
                </a:tc>
              </a:tr>
              <a:tr h="701040">
                <a:tc>
                  <a:txBody>
                    <a:bodyPr/>
                    <a:lstStyle/>
                    <a:p>
                      <a:pPr>
                        <a:defRPr sz="1500" b="0">
                          <a:solidFill>
                            <a:srgbClr val="000000"/>
                          </a:solidFill>
                          <a:latin typeface="Lato"/>
                        </a:defRPr>
                      </a:pPr>
                      <a:r>
                        <a:t>Domestic production</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Six South African refinery / synfuel assets; series 2008-2050; capacity and product mix</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Check operating status, utilisation and forecast assumptions</a:t>
                      </a:r>
                    </a:p>
                  </a:txBody>
                  <a:tcPr marL="146304" marR="146304" marT="54864" marB="54864" anchor="ctr">
                    <a:lnB w="3175" cap="flat">
                      <a:solidFill>
                        <a:srgbClr val="B8B8B8"/>
                      </a:solidFill>
                    </a:lnB>
                    <a:solidFill>
                      <a:srgbClr val="FFFFFF"/>
                    </a:solidFill>
                  </a:tcPr>
                </a:tc>
              </a:tr>
              <a:tr h="701040">
                <a:tc>
                  <a:txBody>
                    <a:bodyPr/>
                    <a:lstStyle/>
                    <a:p>
                      <a:pPr>
                        <a:defRPr sz="1500" b="0">
                          <a:solidFill>
                            <a:srgbClr val="000000"/>
                          </a:solidFill>
                          <a:latin typeface="Lato"/>
                        </a:defRPr>
                      </a:pPr>
                      <a:r>
                        <a:t>Geographic extension</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Structured time series currently cover South Africa</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Source other SACU countries and priority African screening data</a:t>
                      </a:r>
                    </a:p>
                  </a:txBody>
                  <a:tcPr marL="146304" marR="146304" marT="54864" marB="54864" anchor="ctr">
                    <a:lnB w="3175" cap="flat">
                      <a:solidFill>
                        <a:srgbClr val="B8B8B8"/>
                      </a:solidFill>
                    </a:lnB>
                    <a:solidFill>
                      <a:srgbClr val="FFFFFF"/>
                    </a:solidFill>
                  </a:tcPr>
                </a:tc>
              </a:tr>
            </a:tbl>
          </a:graphicData>
        </a:graphic>
      </p:graphicFrame>
      <p:sp>
        <p:nvSpPr>
          <p:cNvPr id="6" name="TextBox 5"/>
          <p:cNvSpPr txBox="1"/>
          <p:nvPr/>
        </p:nvSpPr>
        <p:spPr>
          <a:xfrm>
            <a:off x="502920" y="6053328"/>
            <a:ext cx="10424160" cy="36576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Available inputs are not yet validated inputs. Date ranges combine historical and forecast entries.</a:t>
            </a:r>
          </a:p>
        </p:txBody>
      </p:sp>
      <p:sp>
        <p:nvSpPr>
          <p:cNvPr id="7" name="TextBox 6"/>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assumptions/2026 YAML files and 11 time-series CSVs; repository inventory, 1 October 2026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Centralise and validate the infrastructure and market-access evidence</a:t>
            </a:r>
          </a:p>
        </p:txBody>
      </p:sp>
      <p:sp>
        <p:nvSpPr>
          <p:cNvPr id="3" name="Slide Number Placeholder"/>
          <p:cNvSpPr>
            <a:spLocks noGrp="1"/>
          </p:cNvSpPr>
          <p:nvPr>
            <p:ph type="sldNum" sz="quarter" idx="12"/>
          </p:nvPr>
        </p:nvSpPr>
        <p:spPr/>
        <p:txBody>
          <a:bodyPr/>
          <a:lstStyle/>
          <a:p>
            <a:fld id="{A9E5A168-410F-4440-A3B6-0D2521CA639F}"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graphicFrame>
        <p:nvGraphicFramePr>
          <p:cNvPr id="5" name="Table 4"/>
          <p:cNvGraphicFramePr>
            <a:graphicFrameLocks noGrp="1"/>
          </p:cNvGraphicFramePr>
          <p:nvPr/>
        </p:nvGraphicFramePr>
        <p:xfrm>
          <a:off x="457200" y="1691640"/>
          <a:ext cx="10652760" cy="4206240"/>
        </p:xfrm>
        <a:graphic>
          <a:graphicData uri="http://schemas.openxmlformats.org/drawingml/2006/table">
            <a:tbl>
              <a:tblPr firstRow="1" bandRow="1">
                <a:tableStyleId>{2D5ABB26-0587-4C30-8999-92F81FD0307C}</a:tableStyleId>
              </a:tblPr>
              <a:tblGrid>
                <a:gridCol w="1920240"/>
                <a:gridCol w="4160520"/>
                <a:gridCol w="4572000"/>
              </a:tblGrid>
              <a:tr h="701040">
                <a:tc>
                  <a:txBody>
                    <a:bodyPr/>
                    <a:lstStyle/>
                    <a:p>
                      <a:pPr>
                        <a:defRPr sz="1500" b="1">
                          <a:solidFill>
                            <a:srgbClr val="000000"/>
                          </a:solidFill>
                          <a:latin typeface="Lato"/>
                        </a:defRPr>
                      </a:pPr>
                      <a:r>
                        <a:t>Evidence family</a:t>
                      </a:r>
                    </a:p>
                  </a:txBody>
                  <a:tcPr marL="146304" marR="146304" marT="54864" marB="54864" anchor="ctr">
                    <a:lnB w="4445" cap="flat">
                      <a:solidFill>
                        <a:srgbClr val="A0A0A0"/>
                      </a:solidFill>
                    </a:lnB>
                    <a:solidFill>
                      <a:srgbClr val="FFFFFF"/>
                    </a:solidFill>
                  </a:tcPr>
                </a:tc>
                <a:tc>
                  <a:txBody>
                    <a:bodyPr/>
                    <a:lstStyle/>
                    <a:p>
                      <a:pPr>
                        <a:defRPr sz="1500" b="1">
                          <a:solidFill>
                            <a:srgbClr val="000000"/>
                          </a:solidFill>
                          <a:latin typeface="Lato"/>
                        </a:defRPr>
                      </a:pPr>
                      <a:r>
                        <a:t>Material already held</a:t>
                      </a:r>
                    </a:p>
                  </a:txBody>
                  <a:tcPr marL="146304" marR="146304" marT="54864" marB="54864" anchor="ctr">
                    <a:lnB w="4445" cap="flat">
                      <a:solidFill>
                        <a:srgbClr val="A0A0A0"/>
                      </a:solidFill>
                    </a:lnB>
                    <a:solidFill>
                      <a:srgbClr val="FFFFFF"/>
                    </a:solidFill>
                  </a:tcPr>
                </a:tc>
                <a:tc>
                  <a:txBody>
                    <a:bodyPr/>
                    <a:lstStyle/>
                    <a:p>
                      <a:pPr>
                        <a:defRPr sz="1500" b="1">
                          <a:solidFill>
                            <a:srgbClr val="000000"/>
                          </a:solidFill>
                          <a:latin typeface="Lato"/>
                        </a:defRPr>
                      </a:pPr>
                      <a:r>
                        <a:t>Dataset to assemble and validate</a:t>
                      </a:r>
                    </a:p>
                  </a:txBody>
                  <a:tcPr marL="146304" marR="146304" marT="54864" marB="54864" anchor="ctr">
                    <a:lnB w="4445" cap="flat">
                      <a:solidFill>
                        <a:srgbClr val="A0A0A0"/>
                      </a:solidFill>
                    </a:lnB>
                    <a:solidFill>
                      <a:srgbClr val="FFFFFF"/>
                    </a:solidFill>
                  </a:tcPr>
                </a:tc>
              </a:tr>
              <a:tr h="701040">
                <a:tc>
                  <a:txBody>
                    <a:bodyPr/>
                    <a:lstStyle/>
                    <a:p>
                      <a:pPr>
                        <a:defRPr sz="1500" b="0">
                          <a:solidFill>
                            <a:srgbClr val="000000"/>
                          </a:solidFill>
                          <a:latin typeface="Lato"/>
                        </a:defRPr>
                      </a:pPr>
                      <a:r>
                        <a:t>Ports and terminals</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Excel: Durban and Lesedi capacity / throughput; report: Walvis Bay and competitor evidence</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Reconcile site, operator, fuel, capacity, throughput and vintage; add missing ports</a:t>
                      </a:r>
                    </a:p>
                  </a:txBody>
                  <a:tcPr marL="146304" marR="146304" marT="54864" marB="54864" anchor="ctr">
                    <a:lnB w="3175" cap="flat">
                      <a:solidFill>
                        <a:srgbClr val="B8B8B8"/>
                      </a:solidFill>
                    </a:lnB>
                    <a:solidFill>
                      <a:srgbClr val="FFFFFF"/>
                    </a:solidFill>
                  </a:tcPr>
                </a:tc>
              </a:tr>
              <a:tr h="701040">
                <a:tc>
                  <a:txBody>
                    <a:bodyPr/>
                    <a:lstStyle/>
                    <a:p>
                      <a:pPr>
                        <a:defRPr sz="1500" b="0">
                          <a:solidFill>
                            <a:srgbClr val="000000"/>
                          </a:solidFill>
                          <a:latin typeface="Lato"/>
                        </a:defRPr>
                      </a:pPr>
                      <a:r>
                        <a:t>Inland corridors</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Prior report: Trans-Kalahari, Trans-Cunene and Walvis Bay-Ndola-Lubumbashi routes</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Origin-destination, mode, capacity, cost, transit time and constraints</a:t>
                      </a:r>
                    </a:p>
                  </a:txBody>
                  <a:tcPr marL="146304" marR="146304" marT="54864" marB="54864" anchor="ctr">
                    <a:lnB w="3175" cap="flat">
                      <a:solidFill>
                        <a:srgbClr val="B8B8B8"/>
                      </a:solidFill>
                    </a:lnB>
                    <a:solidFill>
                      <a:srgbClr val="FFFFFF"/>
                    </a:solidFill>
                  </a:tcPr>
                </a:tc>
              </a:tr>
              <a:tr h="701040">
                <a:tc>
                  <a:txBody>
                    <a:bodyPr/>
                    <a:lstStyle/>
                    <a:p>
                      <a:pPr>
                        <a:defRPr sz="1500" b="0">
                          <a:solidFill>
                            <a:srgbClr val="000000"/>
                          </a:solidFill>
                          <a:latin typeface="Lato"/>
                        </a:defRPr>
                      </a:pPr>
                      <a:r>
                        <a:t>Imports and market access</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Prior report: import trends, competitors and potential regional offtakers</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Trade by product and route; feasible supply, access rights and contracts</a:t>
                      </a:r>
                    </a:p>
                  </a:txBody>
                  <a:tcPr marL="146304" marR="146304" marT="54864" marB="54864" anchor="ctr">
                    <a:lnB w="3175" cap="flat">
                      <a:solidFill>
                        <a:srgbClr val="B8B8B8"/>
                      </a:solidFill>
                    </a:lnB>
                    <a:solidFill>
                      <a:srgbClr val="FFFFFF"/>
                    </a:solidFill>
                  </a:tcPr>
                </a:tc>
              </a:tr>
              <a:tr h="701040">
                <a:tc>
                  <a:txBody>
                    <a:bodyPr/>
                    <a:lstStyle/>
                    <a:p>
                      <a:pPr>
                        <a:defRPr sz="1500" b="0">
                          <a:solidFill>
                            <a:srgbClr val="000000"/>
                          </a:solidFill>
                          <a:latin typeface="Lato"/>
                        </a:defRPr>
                      </a:pPr>
                      <a:r>
                        <a:t>Storage requirements</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Excel: provincial fuel storage, terminal capacities and tank turns</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Validate usable capacity, stock cover, utilisation, source dates and commitments</a:t>
                      </a:r>
                    </a:p>
                  </a:txBody>
                  <a:tcPr marL="146304" marR="146304" marT="54864" marB="54864" anchor="ctr">
                    <a:lnB w="3175" cap="flat">
                      <a:solidFill>
                        <a:srgbClr val="B8B8B8"/>
                      </a:solidFill>
                    </a:lnB>
                    <a:solidFill>
                      <a:srgbClr val="FFFFFF"/>
                    </a:solidFill>
                  </a:tcPr>
                </a:tc>
              </a:tr>
              <a:tr h="701040">
                <a:tc>
                  <a:txBody>
                    <a:bodyPr/>
                    <a:lstStyle/>
                    <a:p>
                      <a:pPr>
                        <a:defRPr sz="1500" b="0">
                          <a:solidFill>
                            <a:srgbClr val="000000"/>
                          </a:solidFill>
                          <a:latin typeface="Lato"/>
                        </a:defRPr>
                      </a:pPr>
                      <a:r>
                        <a:t>Regional opportunities</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Namibia / Walvis Bay assessment; proposal calls for wider African screening</a:t>
                      </a:r>
                    </a:p>
                  </a:txBody>
                  <a:tcPr marL="146304" marR="146304" marT="54864" marB="54864" anchor="ctr">
                    <a:lnB w="3175" cap="flat">
                      <a:solidFill>
                        <a:srgbClr val="B8B8B8"/>
                      </a:solidFill>
                    </a:lnB>
                    <a:solidFill>
                      <a:srgbClr val="FFFFFF"/>
                    </a:solidFill>
                  </a:tcPr>
                </a:tc>
                <a:tc>
                  <a:txBody>
                    <a:bodyPr/>
                    <a:lstStyle/>
                    <a:p>
                      <a:pPr>
                        <a:defRPr sz="1500" b="0">
                          <a:solidFill>
                            <a:srgbClr val="000000"/>
                          </a:solidFill>
                          <a:latin typeface="Lato"/>
                        </a:defRPr>
                      </a:pPr>
                      <a:r>
                        <a:t>Comparable screening data for East, West, Central and North Africa and SADC excluding SACU</a:t>
                      </a:r>
                    </a:p>
                  </a:txBody>
                  <a:tcPr marL="146304" marR="146304" marT="54864" marB="54864" anchor="ctr">
                    <a:lnB w="3175" cap="flat">
                      <a:solidFill>
                        <a:srgbClr val="B8B8B8"/>
                      </a:solidFill>
                    </a:lnB>
                    <a:solidFill>
                      <a:srgbClr val="FFFFFF"/>
                    </a:solidFill>
                  </a:tcPr>
                </a:tc>
              </a:tr>
            </a:tbl>
          </a:graphicData>
        </a:graphic>
      </p:graphicFrame>
      <p:sp>
        <p:nvSpPr>
          <p:cNvPr id="6" name="TextBox 5"/>
          <p:cNvSpPr txBox="1"/>
          <p:nvPr/>
        </p:nvSpPr>
        <p:spPr>
          <a:xfrm>
            <a:off x="502920" y="6053328"/>
            <a:ext cx="10424160" cy="36576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Centralise WS5 evidence in the master assumptions registry; consume a pinned, registered snapshot. Local Excel entries remain unvalidated and unwired.</a:t>
            </a:r>
          </a:p>
        </p:txBody>
      </p:sp>
      <p:sp>
        <p:nvSpPr>
          <p:cNvPr id="7" name="TextBox 6"/>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Excel Market share / Deficit Calculations; prior report pp. 33-45; master-assumptions-repo README and infrastructure domains (2 Oct 2026). Integration planned.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Match analytical depth and client outputs to the agreed market scope</a:t>
            </a:r>
          </a:p>
        </p:txBody>
      </p:sp>
      <p:sp>
        <p:nvSpPr>
          <p:cNvPr id="3" name="Slide Number Placeholder"/>
          <p:cNvSpPr>
            <a:spLocks noGrp="1"/>
          </p:cNvSpPr>
          <p:nvPr>
            <p:ph type="sldNum" sz="quarter" idx="12"/>
          </p:nvPr>
        </p:nvSpPr>
        <p:spPr/>
        <p:txBody>
          <a:bodyPr/>
          <a:lstStyle/>
          <a:p>
            <a:fld id="{A2DC442C-A8C2-4FA0-AC8A-F99F0D953B17}"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graphicFrame>
        <p:nvGraphicFramePr>
          <p:cNvPr id="5" name="Table 4"/>
          <p:cNvGraphicFramePr>
            <a:graphicFrameLocks noGrp="1"/>
          </p:cNvGraphicFramePr>
          <p:nvPr/>
        </p:nvGraphicFramePr>
        <p:xfrm>
          <a:off x="457200" y="1691640"/>
          <a:ext cx="10652760" cy="4160520"/>
        </p:xfrm>
        <a:graphic>
          <a:graphicData uri="http://schemas.openxmlformats.org/drawingml/2006/table">
            <a:tbl>
              <a:tblPr firstRow="1" bandRow="1">
                <a:tableStyleId>{2D5ABB26-0587-4C30-8999-92F81FD0307C}</a:tableStyleId>
              </a:tblPr>
              <a:tblGrid>
                <a:gridCol w="2743200"/>
                <a:gridCol w="7909560"/>
              </a:tblGrid>
              <a:tr h="1386840">
                <a:tc>
                  <a:txBody>
                    <a:bodyPr/>
                    <a:lstStyle/>
                    <a:p>
                      <a:pPr>
                        <a:defRPr sz="1900" b="1">
                          <a:solidFill>
                            <a:srgbClr val="000000"/>
                          </a:solidFill>
                          <a:latin typeface="Lato"/>
                        </a:defRPr>
                      </a:pPr>
                      <a:r>
                        <a:t>Core calculation chain</a:t>
                      </a:r>
                    </a:p>
                  </a:txBody>
                  <a:tcPr marL="146304" marR="146304" marT="109728" marB="109728" anchor="ctr">
                    <a:lnB w="3175" cap="flat">
                      <a:solidFill>
                        <a:srgbClr val="B8B8B8"/>
                      </a:solidFill>
                    </a:lnB>
                    <a:solidFill>
                      <a:srgbClr val="FFFFFF"/>
                    </a:solidFill>
                  </a:tcPr>
                </a:tc>
                <a:tc>
                  <a:txBody>
                    <a:bodyPr/>
                    <a:lstStyle/>
                    <a:p>
                      <a:pPr>
                        <a:defRPr sz="1900" b="0">
                          <a:solidFill>
                            <a:srgbClr val="000000"/>
                          </a:solidFill>
                          <a:latin typeface="Lato"/>
                        </a:defRPr>
                      </a:pPr>
                      <a:r>
                        <a:t>Current engine: South African demand and domestic production; paired H/L runs. Target: available imports, nine independent H/M/L cases and M/M baseline. Remaining gaps require deliverable-import evidence.</a:t>
                      </a:r>
                    </a:p>
                  </a:txBody>
                  <a:tcPr marL="146304" marR="146304" marT="109728" marB="109728" anchor="ctr">
                    <a:lnB w="3175" cap="flat">
                      <a:solidFill>
                        <a:srgbClr val="B8B8B8"/>
                      </a:solidFill>
                    </a:lnB>
                    <a:solidFill>
                      <a:srgbClr val="FFFFFF"/>
                    </a:solidFill>
                  </a:tcPr>
                </a:tc>
              </a:tr>
              <a:tr h="1386840">
                <a:tc>
                  <a:txBody>
                    <a:bodyPr/>
                    <a:lstStyle/>
                    <a:p>
                      <a:pPr>
                        <a:defRPr sz="1900" b="1">
                          <a:solidFill>
                            <a:srgbClr val="000000"/>
                          </a:solidFill>
                          <a:latin typeface="Lato"/>
                        </a:defRPr>
                      </a:pPr>
                      <a:r>
                        <a:t>Market coverage and data</a:t>
                      </a:r>
                    </a:p>
                  </a:txBody>
                  <a:tcPr marL="146304" marR="146304" marT="109728" marB="109728" anchor="ctr">
                    <a:lnB w="3175" cap="flat">
                      <a:solidFill>
                        <a:srgbClr val="B8B8B8"/>
                      </a:solidFill>
                    </a:lnB>
                    <a:solidFill>
                      <a:srgbClr val="FFFFFF"/>
                    </a:solidFill>
                  </a:tcPr>
                </a:tc>
                <a:tc>
                  <a:txBody>
                    <a:bodyPr/>
                    <a:lstStyle/>
                    <a:p>
                      <a:pPr>
                        <a:defRPr sz="1900" b="0">
                          <a:solidFill>
                            <a:srgbClr val="000000"/>
                          </a:solidFill>
                          <a:latin typeface="Lato"/>
                        </a:defRPr>
                      </a:pPr>
                      <a:r>
                        <a:t>SACU, with a Namibia/Walvis Bay focus; screen East, West, Central and North Africa and SADC excluding SACU. Gather consumption, production and trade data, plus port, storage and corridor evidence.</a:t>
                      </a:r>
                    </a:p>
                  </a:txBody>
                  <a:tcPr marL="146304" marR="146304" marT="109728" marB="109728" anchor="ctr">
                    <a:lnB w="3175" cap="flat">
                      <a:solidFill>
                        <a:srgbClr val="B8B8B8"/>
                      </a:solidFill>
                    </a:lnB>
                    <a:solidFill>
                      <a:srgbClr val="FFFFFF"/>
                    </a:solidFill>
                  </a:tcPr>
                </a:tc>
              </a:tr>
              <a:tr h="1386840">
                <a:tc>
                  <a:txBody>
                    <a:bodyPr/>
                    <a:lstStyle/>
                    <a:p>
                      <a:pPr>
                        <a:defRPr sz="1900" b="1">
                          <a:solidFill>
                            <a:srgbClr val="000000"/>
                          </a:solidFill>
                          <a:latin typeface="Lato"/>
                        </a:defRPr>
                      </a:pPr>
                      <a:r>
                        <a:t>Vopak reporting and analysis</a:t>
                      </a:r>
                    </a:p>
                  </a:txBody>
                  <a:tcPr marL="146304" marR="146304" marT="109728" marB="109728" anchor="ctr">
                    <a:lnB w="3175" cap="flat">
                      <a:solidFill>
                        <a:srgbClr val="B8B8B8"/>
                      </a:solidFill>
                    </a:lnB>
                    <a:solidFill>
                      <a:srgbClr val="FFFFFF"/>
                    </a:solidFill>
                  </a:tcPr>
                </a:tc>
                <a:tc>
                  <a:txBody>
                    <a:bodyPr/>
                    <a:lstStyle/>
                    <a:p>
                      <a:pPr>
                        <a:defRPr sz="1900" b="0">
                          <a:solidFill>
                            <a:srgbClr val="000000"/>
                          </a:solidFill>
                          <a:latin typeface="Lato"/>
                        </a:defRPr>
                      </a:pPr>
                      <a:r>
                        <a:t>Board outlook: balances, imports, sensitivities and changes since the previous study. Assess logistics, market access, competing terminals, Walvis Bay storage and priority African opportunities.</a:t>
                      </a:r>
                    </a:p>
                  </a:txBody>
                  <a:tcPr marL="146304" marR="146304" marT="109728" marB="109728" anchor="ctr">
                    <a:lnB w="3175" cap="flat">
                      <a:solidFill>
                        <a:srgbClr val="B8B8B8"/>
                      </a:solidFill>
                    </a:lnB>
                    <a:solidFill>
                      <a:srgbClr val="FFFFFF"/>
                    </a:solidFill>
                  </a:tcPr>
                </a:tc>
              </a:tr>
            </a:tbl>
          </a:graphicData>
        </a:graphic>
      </p:graphicFrame>
      <p:sp>
        <p:nvSpPr>
          <p:cNvPr id="6" name="TextBox 5"/>
          <p:cNvSpPr txBox="1"/>
          <p:nvPr/>
        </p:nvSpPr>
        <p:spPr>
          <a:xfrm>
            <a:off x="502920" y="6053328"/>
            <a:ext cx="10424160" cy="36576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Keep Vopak-specific commercial assumptions and interpretations separate from reusable calculations.</a:t>
            </a:r>
          </a:p>
        </p:txBody>
      </p:sp>
      <p:sp>
        <p:nvSpPr>
          <p:cNvPr id="7" name="TextBox 6"/>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Agreed requirements; AIA proposal; current model architecture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Trace how Excel turns assumptions into forecasts, balances and storage views</a:t>
            </a:r>
          </a:p>
        </p:txBody>
      </p:sp>
      <p:sp>
        <p:nvSpPr>
          <p:cNvPr id="3" name="Slide Number Placeholder"/>
          <p:cNvSpPr>
            <a:spLocks noGrp="1"/>
          </p:cNvSpPr>
          <p:nvPr>
            <p:ph type="sldNum" sz="quarter" idx="12"/>
          </p:nvPr>
        </p:nvSpPr>
        <p:spPr/>
        <p:txBody>
          <a:bodyPr/>
          <a:lstStyle/>
          <a:p>
            <a:fld id="{E9C6ED52-9246-45E9-864E-12B2C215ACBF}"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sp>
        <p:nvSpPr>
          <p:cNvPr id="5" name="TextBox 4"/>
          <p:cNvSpPr txBox="1"/>
          <p:nvPr/>
        </p:nvSpPr>
        <p:spPr>
          <a:xfrm>
            <a:off x="502920" y="1645920"/>
            <a:ext cx="10515600" cy="320040"/>
          </a:xfrm>
          <a:prstGeom prst="rect">
            <a:avLst/>
          </a:prstGeom>
          <a:noFill/>
        </p:spPr>
        <p:txBody>
          <a:bodyPr wrap="square" lIns="18288" rIns="18288" tIns="0" bIns="0">
            <a:spAutoFit/>
          </a:bodyPr>
          <a:lstStyle/>
          <a:p>
            <a:pPr>
              <a:spcAft>
                <a:spcPts val="800"/>
              </a:spcAft>
              <a:defRPr sz="1600" b="0">
                <a:solidFill>
                  <a:srgbClr val="000000"/>
                </a:solidFill>
                <a:latin typeface="Lato"/>
              </a:defRPr>
            </a:pPr>
            <a:r>
              <a:t>Inherited workbook | sheet-level calculation and reporting structure</a:t>
            </a:r>
          </a:p>
        </p:txBody>
      </p:sp>
      <p:sp>
        <p:nvSpPr>
          <p:cNvPr id="6" name="Rectangle 5"/>
          <p:cNvSpPr/>
          <p:nvPr/>
        </p:nvSpPr>
        <p:spPr>
          <a:xfrm>
            <a:off x="502920" y="2423160"/>
            <a:ext cx="2468880" cy="2148840"/>
          </a:xfrm>
          <a:prstGeom prst="rect">
            <a:avLst/>
          </a:prstGeom>
          <a:no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560320"/>
            <a:ext cx="2286000" cy="41148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01 Inputs &amp; fits</a:t>
            </a:r>
          </a:p>
        </p:txBody>
      </p:sp>
      <p:sp>
        <p:nvSpPr>
          <p:cNvPr id="8" name="TextBox 7"/>
          <p:cNvSpPr txBox="1"/>
          <p:nvPr/>
        </p:nvSpPr>
        <p:spPr>
          <a:xfrm>
            <a:off x="594360" y="3108960"/>
            <a:ext cx="2286000" cy="1371600"/>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Assumptions</a:t>
            </a:r>
          </a:p>
          <a:p>
            <a:pPr>
              <a:spcAft>
                <a:spcPts val="800"/>
              </a:spcAft>
              <a:defRPr sz="1200" b="0">
                <a:solidFill>
                  <a:srgbClr val="000000"/>
                </a:solidFill>
                <a:latin typeface="Lato"/>
              </a:defRPr>
            </a:pPr>
            <a:r>
              <a:t>RegGasoline / RegDiesel</a:t>
            </a:r>
          </a:p>
          <a:p>
            <a:pPr>
              <a:spcAft>
                <a:spcPts val="800"/>
              </a:spcAft>
              <a:defRPr sz="1200" b="0">
                <a:solidFill>
                  <a:srgbClr val="000000"/>
                </a:solidFill>
                <a:latin typeface="Lato"/>
              </a:defRPr>
            </a:pPr>
            <a:r>
              <a:t>RegJetFuel / RegEV</a:t>
            </a:r>
          </a:p>
          <a:p>
            <a:pPr>
              <a:spcAft>
                <a:spcPts val="800"/>
              </a:spcAft>
              <a:defRPr sz="1200" b="0">
                <a:solidFill>
                  <a:srgbClr val="000000"/>
                </a:solidFill>
                <a:latin typeface="Lato"/>
              </a:defRPr>
            </a:pPr>
            <a:r>
              <a:t>Passenger data sheets</a:t>
            </a:r>
          </a:p>
        </p:txBody>
      </p:sp>
      <p:sp>
        <p:nvSpPr>
          <p:cNvPr id="9" name="Right Arrow 8"/>
          <p:cNvSpPr/>
          <p:nvPr/>
        </p:nvSpPr>
        <p:spPr>
          <a:xfrm>
            <a:off x="2990088" y="3337560"/>
            <a:ext cx="219456" cy="182880"/>
          </a:xfrm>
          <a:prstGeom prst="rightArrow">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27832" y="2423160"/>
            <a:ext cx="2468880" cy="2148840"/>
          </a:xfrm>
          <a:prstGeom prst="rect">
            <a:avLst/>
          </a:prstGeom>
          <a:no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19272" y="2560320"/>
            <a:ext cx="2286000" cy="41148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02 Forecasts</a:t>
            </a:r>
          </a:p>
        </p:txBody>
      </p:sp>
      <p:sp>
        <p:nvSpPr>
          <p:cNvPr id="12" name="TextBox 11"/>
          <p:cNvSpPr txBox="1"/>
          <p:nvPr/>
        </p:nvSpPr>
        <p:spPr>
          <a:xfrm>
            <a:off x="3319272" y="3108960"/>
            <a:ext cx="2286000" cy="1371600"/>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fGasoline / fDiesel</a:t>
            </a:r>
          </a:p>
          <a:p>
            <a:pPr>
              <a:spcAft>
                <a:spcPts val="800"/>
              </a:spcAft>
              <a:defRPr sz="1200" b="0">
                <a:solidFill>
                  <a:srgbClr val="000000"/>
                </a:solidFill>
                <a:latin typeface="Lato"/>
              </a:defRPr>
            </a:pPr>
            <a:r>
              <a:t>fJetFuel / fEV Penetration</a:t>
            </a:r>
          </a:p>
          <a:p>
            <a:pPr>
              <a:spcAft>
                <a:spcPts val="800"/>
              </a:spcAft>
              <a:defRPr sz="1200" b="0">
                <a:solidFill>
                  <a:srgbClr val="000000"/>
                </a:solidFill>
                <a:latin typeface="Lato"/>
              </a:defRPr>
            </a:pPr>
            <a:r>
              <a:t>Supply Forecast</a:t>
            </a:r>
          </a:p>
        </p:txBody>
      </p:sp>
      <p:sp>
        <p:nvSpPr>
          <p:cNvPr id="13" name="Right Arrow 12"/>
          <p:cNvSpPr/>
          <p:nvPr/>
        </p:nvSpPr>
        <p:spPr>
          <a:xfrm>
            <a:off x="5715000" y="3337560"/>
            <a:ext cx="219456" cy="182880"/>
          </a:xfrm>
          <a:prstGeom prst="rightArrow">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52744" y="2423160"/>
            <a:ext cx="2468880" cy="2148840"/>
          </a:xfrm>
          <a:prstGeom prst="rect">
            <a:avLst/>
          </a:prstGeom>
          <a:no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44183" y="2560320"/>
            <a:ext cx="2286000" cy="41148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03 Balances &amp; imports</a:t>
            </a:r>
          </a:p>
        </p:txBody>
      </p:sp>
      <p:sp>
        <p:nvSpPr>
          <p:cNvPr id="16" name="TextBox 15"/>
          <p:cNvSpPr txBox="1"/>
          <p:nvPr/>
        </p:nvSpPr>
        <p:spPr>
          <a:xfrm>
            <a:off x="6044183" y="3108960"/>
            <a:ext cx="2286000" cy="1371600"/>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Fuel DemandSupply sheets</a:t>
            </a:r>
          </a:p>
          <a:p>
            <a:pPr>
              <a:spcAft>
                <a:spcPts val="800"/>
              </a:spcAft>
              <a:defRPr sz="1200" b="0">
                <a:solidFill>
                  <a:srgbClr val="000000"/>
                </a:solidFill>
                <a:latin typeface="Lato"/>
              </a:defRPr>
            </a:pPr>
            <a:r>
              <a:t>Total LF - DemandSupply</a:t>
            </a:r>
          </a:p>
          <a:p>
            <a:pPr>
              <a:spcAft>
                <a:spcPts val="800"/>
              </a:spcAft>
              <a:defRPr sz="1200" b="0">
                <a:solidFill>
                  <a:srgbClr val="000000"/>
                </a:solidFill>
                <a:latin typeface="Lato"/>
              </a:defRPr>
            </a:pPr>
            <a:r>
              <a:t>fImports</a:t>
            </a:r>
          </a:p>
          <a:p>
            <a:pPr>
              <a:spcAft>
                <a:spcPts val="800"/>
              </a:spcAft>
              <a:defRPr sz="1200" b="0">
                <a:solidFill>
                  <a:srgbClr val="000000"/>
                </a:solidFill>
                <a:latin typeface="Lato"/>
              </a:defRPr>
            </a:pPr>
            <a:r>
              <a:t>Regional allocations</a:t>
            </a:r>
          </a:p>
        </p:txBody>
      </p:sp>
      <p:sp>
        <p:nvSpPr>
          <p:cNvPr id="17" name="Right Arrow 16"/>
          <p:cNvSpPr/>
          <p:nvPr/>
        </p:nvSpPr>
        <p:spPr>
          <a:xfrm>
            <a:off x="8439912" y="3337560"/>
            <a:ext cx="219456" cy="182880"/>
          </a:xfrm>
          <a:prstGeom prst="rightArrow">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77656" y="2423160"/>
            <a:ext cx="2468880" cy="2148840"/>
          </a:xfrm>
          <a:prstGeom prst="rect">
            <a:avLst/>
          </a:prstGeom>
          <a:no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69096" y="2560320"/>
            <a:ext cx="2286000" cy="411480"/>
          </a:xfrm>
          <a:prstGeom prst="rect">
            <a:avLst/>
          </a:prstGeom>
          <a:noFill/>
        </p:spPr>
        <p:txBody>
          <a:bodyPr wrap="square" lIns="18288" rIns="18288" tIns="0" bIns="0">
            <a:spAutoFit/>
          </a:bodyPr>
          <a:lstStyle/>
          <a:p>
            <a:pPr>
              <a:spcAft>
                <a:spcPts val="800"/>
              </a:spcAft>
              <a:defRPr sz="1400" b="1">
                <a:solidFill>
                  <a:srgbClr val="000000"/>
                </a:solidFill>
                <a:latin typeface="Lato"/>
              </a:defRPr>
            </a:pPr>
            <a:r>
              <a:t>04 Storage &amp; client use</a:t>
            </a:r>
          </a:p>
        </p:txBody>
      </p:sp>
      <p:sp>
        <p:nvSpPr>
          <p:cNvPr id="20" name="TextBox 19"/>
          <p:cNvSpPr txBox="1"/>
          <p:nvPr/>
        </p:nvSpPr>
        <p:spPr>
          <a:xfrm>
            <a:off x="8769096" y="3108960"/>
            <a:ext cx="2286000" cy="1371600"/>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Deficit Calculations</a:t>
            </a:r>
          </a:p>
          <a:p>
            <a:pPr>
              <a:spcAft>
                <a:spcPts val="800"/>
              </a:spcAft>
              <a:defRPr sz="1200" b="0">
                <a:solidFill>
                  <a:srgbClr val="000000"/>
                </a:solidFill>
                <a:latin typeface="Lato"/>
              </a:defRPr>
            </a:pPr>
            <a:r>
              <a:t>Market share</a:t>
            </a:r>
          </a:p>
          <a:p>
            <a:pPr>
              <a:spcAft>
                <a:spcPts val="800"/>
              </a:spcAft>
              <a:defRPr sz="1200" b="0">
                <a:solidFill>
                  <a:srgbClr val="000000"/>
                </a:solidFill>
                <a:latin typeface="Lato"/>
              </a:defRPr>
            </a:pPr>
            <a:r>
              <a:t>Summary</a:t>
            </a:r>
          </a:p>
          <a:p>
            <a:pPr>
              <a:spcAft>
                <a:spcPts val="800"/>
              </a:spcAft>
              <a:defRPr sz="1200" b="0">
                <a:solidFill>
                  <a:srgbClr val="000000"/>
                </a:solidFill>
                <a:latin typeface="Lato"/>
              </a:defRPr>
            </a:pPr>
            <a:r>
              <a:t>Storage / throughput views</a:t>
            </a:r>
          </a:p>
        </p:txBody>
      </p:sp>
      <p:sp>
        <p:nvSpPr>
          <p:cNvPr id="21" name="TextBox 20"/>
          <p:cNvSpPr txBox="1"/>
          <p:nvPr/>
        </p:nvSpPr>
        <p:spPr>
          <a:xfrm>
            <a:off x="502920" y="4892040"/>
            <a:ext cx="10515600" cy="274320"/>
          </a:xfrm>
          <a:prstGeom prst="rect">
            <a:avLst/>
          </a:prstGeom>
          <a:noFill/>
        </p:spPr>
        <p:txBody>
          <a:bodyPr wrap="square" lIns="18288" rIns="18288" tIns="0" bIns="0">
            <a:spAutoFit/>
          </a:bodyPr>
          <a:lstStyle/>
          <a:p>
            <a:pPr>
              <a:spcAft>
                <a:spcPts val="800"/>
              </a:spcAft>
              <a:defRPr sz="1700" b="1">
                <a:solidFill>
                  <a:srgbClr val="000000"/>
                </a:solidFill>
                <a:latin typeface="Lato"/>
              </a:defRPr>
            </a:pPr>
            <a:r>
              <a:t>Scenario logic and limitations</a:t>
            </a:r>
          </a:p>
        </p:txBody>
      </p:sp>
      <p:sp>
        <p:nvSpPr>
          <p:cNvPr id="22" name="TextBox 21"/>
          <p:cNvSpPr txBox="1"/>
          <p:nvPr/>
        </p:nvSpPr>
        <p:spPr>
          <a:xfrm>
            <a:off x="502920" y="5349240"/>
            <a:ext cx="10515600" cy="457200"/>
          </a:xfrm>
          <a:prstGeom prst="rect">
            <a:avLst/>
          </a:prstGeom>
          <a:noFill/>
        </p:spPr>
        <p:txBody>
          <a:bodyPr wrap="square" lIns="18288" rIns="18288" tIns="0" bIns="0">
            <a:spAutoFit/>
          </a:bodyPr>
          <a:lstStyle/>
          <a:p>
            <a:pPr>
              <a:spcAft>
                <a:spcPts val="800"/>
              </a:spcAft>
              <a:defRPr sz="1500" b="0">
                <a:solidFill>
                  <a:srgbClr val="000000"/>
                </a:solidFill>
                <a:latin typeface="Lato"/>
              </a:defRPr>
            </a:pPr>
            <a:r>
              <a:t>High/low demand and production assumptions feed workbook formulas; this is not yet the independent nine-case H/M/L matrix.</a:t>
            </a:r>
          </a:p>
        </p:txBody>
      </p:sp>
      <p:sp>
        <p:nvSpPr>
          <p:cNvPr id="23" name="TextBox 22"/>
          <p:cNvSpPr txBox="1"/>
          <p:nvPr/>
        </p:nvSpPr>
        <p:spPr>
          <a:xfrm>
            <a:off x="502920" y="5897880"/>
            <a:ext cx="10515600" cy="457200"/>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fImports contains external workbook references. Cached values, regional allocation formulas and storage/market-share assumptions need reconciliation.</a:t>
            </a:r>
          </a:p>
        </p:txBody>
      </p:sp>
      <p:sp>
        <p:nvSpPr>
          <p:cNvPr id="24" name="TextBox 23"/>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Inherited Liquid Fuels Model workbook; actual sheet names and formulas including fImports external links. Schematic calculation flow.</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Trace how Python resolves inputs, calculates balances and records each run</a:t>
            </a:r>
          </a:p>
        </p:txBody>
      </p:sp>
      <p:sp>
        <p:nvSpPr>
          <p:cNvPr id="3" name="Slide Number Placeholder"/>
          <p:cNvSpPr>
            <a:spLocks noGrp="1"/>
          </p:cNvSpPr>
          <p:nvPr>
            <p:ph type="sldNum" sz="quarter" idx="12"/>
          </p:nvPr>
        </p:nvSpPr>
        <p:spPr/>
        <p:txBody>
          <a:bodyPr/>
          <a:lstStyle/>
          <a:p>
            <a:fld id="{7F0D8AC5-B30B-4818-9B37-823CDE5DA5F5}"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sp>
        <p:nvSpPr>
          <p:cNvPr id="5" name="TextBox 4"/>
          <p:cNvSpPr txBox="1"/>
          <p:nvPr/>
        </p:nvSpPr>
        <p:spPr>
          <a:xfrm>
            <a:off x="502920" y="1673352"/>
            <a:ext cx="10515600" cy="347472"/>
          </a:xfrm>
          <a:prstGeom prst="rect">
            <a:avLst/>
          </a:prstGeom>
          <a:noFill/>
        </p:spPr>
        <p:txBody>
          <a:bodyPr wrap="square" lIns="18288" rIns="18288" tIns="0" bIns="0">
            <a:spAutoFit/>
          </a:bodyPr>
          <a:lstStyle/>
          <a:p>
            <a:pPr>
              <a:spcAft>
                <a:spcPts val="800"/>
              </a:spcAft>
              <a:defRPr sz="1900" b="1">
                <a:solidFill>
                  <a:srgbClr val="000000"/>
                </a:solidFill>
                <a:latin typeface="Lato"/>
              </a:defRPr>
            </a:pPr>
            <a:r>
              <a:t>One run = code version + assumption vintage + scenario</a:t>
            </a:r>
          </a:p>
        </p:txBody>
      </p:sp>
      <p:sp>
        <p:nvSpPr>
          <p:cNvPr id="6" name="TextBox 5"/>
          <p:cNvSpPr txBox="1"/>
          <p:nvPr/>
        </p:nvSpPr>
        <p:spPr>
          <a:xfrm>
            <a:off x="502920" y="2075688"/>
            <a:ext cx="10515600" cy="320040"/>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CLI coordinates the run, checks declared inputs and records provenance  |  src/lfm/cli.py + run.py</a:t>
            </a:r>
          </a:p>
        </p:txBody>
      </p:sp>
      <p:sp>
        <p:nvSpPr>
          <p:cNvPr id="7" name="Rectangle 6"/>
          <p:cNvSpPr/>
          <p:nvPr/>
        </p:nvSpPr>
        <p:spPr>
          <a:xfrm>
            <a:off x="502920" y="2633472"/>
            <a:ext cx="1920240" cy="248716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2743200"/>
            <a:ext cx="1700784" cy="36576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01  Inputs</a:t>
            </a:r>
          </a:p>
        </p:txBody>
      </p:sp>
      <p:sp>
        <p:nvSpPr>
          <p:cNvPr id="9" name="TextBox 8"/>
          <p:cNvSpPr txBox="1"/>
          <p:nvPr/>
        </p:nvSpPr>
        <p:spPr>
          <a:xfrm>
            <a:off x="612648" y="3218688"/>
            <a:ext cx="1700784" cy="1847088"/>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Received Excel / sources</a:t>
            </a:r>
          </a:p>
          <a:p>
            <a:pPr>
              <a:spcAft>
                <a:spcPts val="800"/>
              </a:spcAft>
              <a:defRPr sz="1200" b="0">
                <a:solidFill>
                  <a:srgbClr val="000000"/>
                </a:solidFill>
                <a:latin typeface="Lato"/>
              </a:defRPr>
            </a:pPr>
          </a:p>
          <a:p>
            <a:pPr>
              <a:spcAft>
                <a:spcPts val="800"/>
              </a:spcAft>
              <a:defRPr sz="1200" b="0">
                <a:solidFill>
                  <a:srgbClr val="000000"/>
                </a:solidFill>
                <a:latin typeface="Lato"/>
              </a:defRPr>
            </a:pPr>
            <a:r>
              <a:t>Vintaged YAML + CSV</a:t>
            </a:r>
          </a:p>
          <a:p>
            <a:pPr>
              <a:spcAft>
                <a:spcPts val="800"/>
              </a:spcAft>
              <a:defRPr sz="1200" b="0">
                <a:solidFill>
                  <a:srgbClr val="000000"/>
                </a:solidFill>
                <a:latin typeface="Lato"/>
              </a:defRPr>
            </a:pPr>
            <a:r>
              <a:t>assumptions/2026/</a:t>
            </a:r>
          </a:p>
          <a:p>
            <a:pPr>
              <a:spcAft>
                <a:spcPts val="800"/>
              </a:spcAft>
              <a:defRPr sz="1200" b="0">
                <a:solidFill>
                  <a:srgbClr val="000000"/>
                </a:solidFill>
                <a:latin typeface="Lato"/>
              </a:defRPr>
            </a:pPr>
          </a:p>
          <a:p>
            <a:pPr>
              <a:spcAft>
                <a:spcPts val="800"/>
              </a:spcAft>
              <a:defRPr sz="1200" b="0">
                <a:solidFill>
                  <a:srgbClr val="000000"/>
                </a:solidFill>
                <a:latin typeface="Lato"/>
              </a:defRPr>
            </a:pPr>
            <a:r>
              <a:t>Register + exceptions</a:t>
            </a:r>
          </a:p>
        </p:txBody>
      </p:sp>
      <p:sp>
        <p:nvSpPr>
          <p:cNvPr id="10" name="Right Arrow 9"/>
          <p:cNvSpPr/>
          <p:nvPr/>
        </p:nvSpPr>
        <p:spPr>
          <a:xfrm>
            <a:off x="2450592" y="3703320"/>
            <a:ext cx="228600" cy="146304"/>
          </a:xfrm>
          <a:prstGeom prst="rightArrow">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06624" y="2633472"/>
            <a:ext cx="1938528" cy="248716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16352" y="2743200"/>
            <a:ext cx="1719072" cy="36576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02  Resolve inputs</a:t>
            </a:r>
          </a:p>
        </p:txBody>
      </p:sp>
      <p:sp>
        <p:nvSpPr>
          <p:cNvPr id="13" name="TextBox 12"/>
          <p:cNvSpPr txBox="1"/>
          <p:nvPr/>
        </p:nvSpPr>
        <p:spPr>
          <a:xfrm>
            <a:off x="2816352" y="3218688"/>
            <a:ext cx="1719072" cy="1847088"/>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YamlDirectoryProvider</a:t>
            </a:r>
          </a:p>
          <a:p>
            <a:pPr>
              <a:spcAft>
                <a:spcPts val="800"/>
              </a:spcAft>
              <a:defRPr sz="1200" b="0">
                <a:solidFill>
                  <a:srgbClr val="000000"/>
                </a:solidFill>
                <a:latin typeface="Lato"/>
              </a:defRPr>
            </a:pPr>
            <a:r>
              <a:t>loads files</a:t>
            </a:r>
          </a:p>
          <a:p>
            <a:pPr>
              <a:spcAft>
                <a:spcPts val="800"/>
              </a:spcAft>
              <a:defRPr sz="1200" b="0">
                <a:solidFill>
                  <a:srgbClr val="000000"/>
                </a:solidFill>
                <a:latin typeface="Lato"/>
              </a:defRPr>
            </a:pPr>
          </a:p>
          <a:p>
            <a:pPr>
              <a:spcAft>
                <a:spcPts val="800"/>
              </a:spcAft>
              <a:defRPr sz="1200" b="0">
                <a:solidFill>
                  <a:srgbClr val="000000"/>
                </a:solidFill>
                <a:latin typeface="Lato"/>
              </a:defRPr>
            </a:pPr>
            <a:r>
              <a:t>SnapshotProvider</a:t>
            </a:r>
          </a:p>
          <a:p>
            <a:pPr>
              <a:spcAft>
                <a:spcPts val="800"/>
              </a:spcAft>
              <a:defRPr sz="1200" b="0">
                <a:solidFill>
                  <a:srgbClr val="000000"/>
                </a:solidFill>
                <a:latin typeface="Lato"/>
              </a:defRPr>
            </a:pPr>
            <a:r>
              <a:t>resolves inputs into</a:t>
            </a:r>
          </a:p>
          <a:p>
            <a:pPr>
              <a:spcAft>
                <a:spcPts val="800"/>
              </a:spcAft>
              <a:defRPr sz="1200" b="0">
                <a:solidFill>
                  <a:srgbClr val="000000"/>
                </a:solidFill>
                <a:latin typeface="Lato"/>
              </a:defRPr>
            </a:pPr>
            <a:r>
              <a:t>memory for the run</a:t>
            </a:r>
          </a:p>
        </p:txBody>
      </p:sp>
      <p:sp>
        <p:nvSpPr>
          <p:cNvPr id="14" name="Right Arrow 13"/>
          <p:cNvSpPr/>
          <p:nvPr/>
        </p:nvSpPr>
        <p:spPr>
          <a:xfrm>
            <a:off x="4672584" y="3703320"/>
            <a:ext cx="228600" cy="146304"/>
          </a:xfrm>
          <a:prstGeom prst="rightArrow">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937760" y="2633472"/>
            <a:ext cx="3502152" cy="134416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47488" y="2743200"/>
            <a:ext cx="3282696" cy="36576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03  Demand modules</a:t>
            </a:r>
          </a:p>
        </p:txBody>
      </p:sp>
      <p:sp>
        <p:nvSpPr>
          <p:cNvPr id="17" name="TextBox 16"/>
          <p:cNvSpPr txBox="1"/>
          <p:nvPr/>
        </p:nvSpPr>
        <p:spPr>
          <a:xfrm>
            <a:off x="5047488" y="3218688"/>
            <a:ext cx="3282696" cy="704088"/>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Vehicles | Aviation | Power</a:t>
            </a:r>
          </a:p>
          <a:p>
            <a:pPr>
              <a:spcAft>
                <a:spcPts val="800"/>
              </a:spcAft>
              <a:defRPr sz="1300" b="0">
                <a:solidFill>
                  <a:srgbClr val="000000"/>
                </a:solidFill>
                <a:latin typeface="Lato"/>
              </a:defRPr>
            </a:pPr>
            <a:r>
              <a:t>Industrial* | Marine* | Agriculture*</a:t>
            </a:r>
          </a:p>
        </p:txBody>
      </p:sp>
      <p:sp>
        <p:nvSpPr>
          <p:cNvPr id="18" name="Rectangle 17"/>
          <p:cNvSpPr/>
          <p:nvPr/>
        </p:nvSpPr>
        <p:spPr>
          <a:xfrm>
            <a:off x="4937760" y="4123944"/>
            <a:ext cx="3502152" cy="996696"/>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47488" y="4233672"/>
            <a:ext cx="3282696" cy="36576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Domestic production</a:t>
            </a:r>
          </a:p>
        </p:txBody>
      </p:sp>
      <p:sp>
        <p:nvSpPr>
          <p:cNvPr id="20" name="TextBox 19"/>
          <p:cNvSpPr txBox="1"/>
          <p:nvPr/>
        </p:nvSpPr>
        <p:spPr>
          <a:xfrm>
            <a:off x="5047488" y="4709159"/>
            <a:ext cx="3282696" cy="356616"/>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Refinery capacity x utilisation x availability x product yields</a:t>
            </a:r>
          </a:p>
        </p:txBody>
      </p:sp>
      <p:sp>
        <p:nvSpPr>
          <p:cNvPr id="21" name="Right Arrow 20"/>
          <p:cNvSpPr/>
          <p:nvPr/>
        </p:nvSpPr>
        <p:spPr>
          <a:xfrm>
            <a:off x="8476488" y="3703320"/>
            <a:ext cx="228600" cy="146304"/>
          </a:xfrm>
          <a:prstGeom prst="rightArrow">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750808" y="2633472"/>
            <a:ext cx="2286000" cy="248716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0536" y="2743200"/>
            <a:ext cx="2066543" cy="36576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04  Balance + save</a:t>
            </a:r>
          </a:p>
        </p:txBody>
      </p:sp>
      <p:sp>
        <p:nvSpPr>
          <p:cNvPr id="24" name="TextBox 23"/>
          <p:cNvSpPr txBox="1"/>
          <p:nvPr/>
        </p:nvSpPr>
        <p:spPr>
          <a:xfrm>
            <a:off x="8860536" y="3218688"/>
            <a:ext cx="2066543" cy="1847088"/>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Annual demand less</a:t>
            </a:r>
          </a:p>
          <a:p>
            <a:pPr>
              <a:spcAft>
                <a:spcPts val="800"/>
              </a:spcAft>
              <a:defRPr sz="1200" b="0">
                <a:solidFill>
                  <a:srgbClr val="000000"/>
                </a:solidFill>
                <a:latin typeface="Lato"/>
              </a:defRPr>
            </a:pPr>
            <a:r>
              <a:t>domestic production</a:t>
            </a:r>
          </a:p>
          <a:p>
            <a:pPr>
              <a:spcAft>
                <a:spcPts val="800"/>
              </a:spcAft>
              <a:defRPr sz="1200" b="0">
                <a:solidFill>
                  <a:srgbClr val="000000"/>
                </a:solidFill>
                <a:latin typeface="Lato"/>
              </a:defRPr>
            </a:pPr>
          </a:p>
          <a:p>
            <a:pPr>
              <a:spcAft>
                <a:spcPts val="800"/>
              </a:spcAft>
              <a:defRPr sz="1200" b="0">
                <a:solidFill>
                  <a:srgbClr val="000000"/>
                </a:solidFill>
                <a:latin typeface="Lato"/>
              </a:defRPr>
            </a:pPr>
            <a:r>
              <a:t>Monthly / annual CSVs</a:t>
            </a:r>
          </a:p>
          <a:p>
            <a:pPr>
              <a:spcAft>
                <a:spcPts val="800"/>
              </a:spcAft>
              <a:defRPr sz="1200" b="0">
                <a:solidFill>
                  <a:srgbClr val="000000"/>
                </a:solidFill>
                <a:latin typeface="Lato"/>
              </a:defRPr>
            </a:pPr>
            <a:r>
              <a:t>Balance CSV</a:t>
            </a:r>
          </a:p>
          <a:p>
            <a:pPr>
              <a:spcAft>
                <a:spcPts val="800"/>
              </a:spcAft>
              <a:defRPr sz="1200" b="0">
                <a:solidFill>
                  <a:srgbClr val="000000"/>
                </a:solidFill>
                <a:latin typeface="Lato"/>
              </a:defRPr>
            </a:pPr>
            <a:r>
              <a:t>provenance.json</a:t>
            </a:r>
          </a:p>
        </p:txBody>
      </p:sp>
      <p:sp>
        <p:nvSpPr>
          <p:cNvPr id="25" name="TextBox 24"/>
          <p:cNvSpPr txBox="1"/>
          <p:nvPr/>
        </p:nvSpPr>
        <p:spPr>
          <a:xfrm>
            <a:off x="4937760" y="5257800"/>
            <a:ext cx="3520440" cy="530352"/>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Pure calculation engine: src/lfm/model/</a:t>
            </a:r>
          </a:p>
          <a:p>
            <a:pPr>
              <a:spcAft>
                <a:spcPts val="800"/>
              </a:spcAft>
              <a:defRPr sz="1100" b="0">
                <a:solidFill>
                  <a:srgbClr val="000000"/>
                </a:solidFill>
                <a:latin typeface="Lato"/>
              </a:defRPr>
            </a:pPr>
            <a:r>
              <a:t>Shared geography, products and time dimensions</a:t>
            </a:r>
          </a:p>
        </p:txBody>
      </p:sp>
      <p:sp>
        <p:nvSpPr>
          <p:cNvPr id="26" name="TextBox 25"/>
          <p:cNvSpPr txBox="1"/>
          <p:nvPr/>
        </p:nvSpPr>
        <p:spPr>
          <a:xfrm>
            <a:off x="8750808" y="5257800"/>
            <a:ext cx="2286000" cy="530352"/>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Reporting consumes outputs</a:t>
            </a:r>
          </a:p>
          <a:p>
            <a:pPr>
              <a:spcAft>
                <a:spcPts val="800"/>
              </a:spcAft>
              <a:defRPr sz="1100" b="0">
                <a:solidFill>
                  <a:srgbClr val="000000"/>
                </a:solidFill>
                <a:latin typeface="Lato"/>
              </a:defRPr>
            </a:pPr>
            <a:r>
              <a:t>Excel reports and PowerPoint</a:t>
            </a:r>
          </a:p>
        </p:txBody>
      </p:sp>
      <p:sp>
        <p:nvSpPr>
          <p:cNvPr id="27" name="TextBox 26"/>
          <p:cNvSpPr txBox="1"/>
          <p:nvPr/>
        </p:nvSpPr>
        <p:spPr>
          <a:xfrm>
            <a:off x="502920" y="5925312"/>
            <a:ext cx="10515600" cy="237744"/>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*Held sectors use provisional baselines scaled by GDP. Current data: South Africa; scenarios: high_demand / low_demand.</a:t>
            </a:r>
          </a:p>
        </p:txBody>
      </p:sp>
      <p:sp>
        <p:nvSpPr>
          <p:cNvPr id="28" name="TextBox 27"/>
          <p:cNvSpPr txBox="1"/>
          <p:nvPr/>
        </p:nvSpPr>
        <p:spPr>
          <a:xfrm>
            <a:off x="502920" y="6245352"/>
            <a:ext cx="10515600" cy="182880"/>
          </a:xfrm>
          <a:prstGeom prst="rect">
            <a:avLst/>
          </a:prstGeom>
          <a:noFill/>
        </p:spPr>
        <p:txBody>
          <a:bodyPr wrap="square" lIns="18288" rIns="18288" tIns="0" bIns="0">
            <a:spAutoFit/>
          </a:bodyPr>
          <a:lstStyle/>
          <a:p>
            <a:pPr>
              <a:spcAft>
                <a:spcPts val="800"/>
              </a:spcAft>
              <a:defRPr sz="1100" b="1">
                <a:solidFill>
                  <a:srgbClr val="000000"/>
                </a:solidFill>
                <a:latin typeface="Lato"/>
              </a:defRPr>
            </a:pPr>
            <a:r>
              <a:t>Target extensions: independent H/M/L scenarios, available imports and WS5 infrastructure; see the Model Build section.</a:t>
            </a:r>
          </a:p>
        </p:txBody>
      </p:sp>
      <p:sp>
        <p:nvSpPr>
          <p:cNvPr id="29" name="TextBox 28"/>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src/lfm/cli.py; run.py; assumptions/yaml_provider.py and snapshot.py; model/demand/; model/supply/flows.py; reporting/</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Trace how infrastructure inputs become feasible flows and storage requirements</a:t>
            </a:r>
          </a:p>
        </p:txBody>
      </p:sp>
      <p:sp>
        <p:nvSpPr>
          <p:cNvPr id="3" name="Slide Number Placeholder"/>
          <p:cNvSpPr>
            <a:spLocks noGrp="1"/>
          </p:cNvSpPr>
          <p:nvPr>
            <p:ph type="sldNum" sz="quarter" idx="12"/>
          </p:nvPr>
        </p:nvSpPr>
        <p:spPr/>
        <p:txBody>
          <a:bodyPr/>
          <a:lstStyle/>
          <a:p>
            <a:fld id="{225092B4-5643-4D7D-A5AF-4FBB42978396}"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sp>
        <p:nvSpPr>
          <p:cNvPr id="5" name="TextBox 4"/>
          <p:cNvSpPr txBox="1"/>
          <p:nvPr/>
        </p:nvSpPr>
        <p:spPr>
          <a:xfrm>
            <a:off x="502920" y="1664208"/>
            <a:ext cx="10515600" cy="365760"/>
          </a:xfrm>
          <a:prstGeom prst="rect">
            <a:avLst/>
          </a:prstGeom>
          <a:noFill/>
        </p:spPr>
        <p:txBody>
          <a:bodyPr wrap="square" lIns="18288" rIns="18288" tIns="0" bIns="0">
            <a:spAutoFit/>
          </a:bodyPr>
          <a:lstStyle/>
          <a:p>
            <a:pPr>
              <a:spcAft>
                <a:spcPts val="800"/>
              </a:spcAft>
              <a:defRPr sz="1500" b="0">
                <a:solidFill>
                  <a:srgbClr val="000000"/>
                </a:solidFill>
                <a:latin typeface="Lato"/>
              </a:defRPr>
            </a:pPr>
            <a:r>
              <a:t>Target architecture | inputs and source material exist; allocation and constraint engine still to build</a:t>
            </a:r>
          </a:p>
        </p:txBody>
      </p:sp>
      <p:sp>
        <p:nvSpPr>
          <p:cNvPr id="6" name="Rectangle 5"/>
          <p:cNvSpPr/>
          <p:nvPr/>
        </p:nvSpPr>
        <p:spPr>
          <a:xfrm>
            <a:off x="502920" y="2331720"/>
            <a:ext cx="3383280" cy="1298448"/>
          </a:xfrm>
          <a:prstGeom prst="rect">
            <a:avLst/>
          </a:prstGeom>
          <a:no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2441448"/>
            <a:ext cx="3145536" cy="338328"/>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01 Govern inputs</a:t>
            </a:r>
          </a:p>
        </p:txBody>
      </p:sp>
      <p:sp>
        <p:nvSpPr>
          <p:cNvPr id="8" name="TextBox 7"/>
          <p:cNvSpPr txBox="1"/>
          <p:nvPr/>
        </p:nvSpPr>
        <p:spPr>
          <a:xfrm>
            <a:off x="612648" y="2862072"/>
            <a:ext cx="3145536" cy="658368"/>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Asset IDs, source, unit, vintage, owner, status and missing-data flags.</a:t>
            </a:r>
          </a:p>
        </p:txBody>
      </p:sp>
      <p:sp>
        <p:nvSpPr>
          <p:cNvPr id="9" name="Right Arrow 8"/>
          <p:cNvSpPr/>
          <p:nvPr/>
        </p:nvSpPr>
        <p:spPr>
          <a:xfrm>
            <a:off x="3922776" y="2898648"/>
            <a:ext cx="201168" cy="146304"/>
          </a:xfrm>
          <a:prstGeom prst="rightArrow">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60520" y="2331720"/>
            <a:ext cx="3383280" cy="1298448"/>
          </a:xfrm>
          <a:prstGeom prst="rect">
            <a:avLst/>
          </a:prstGeom>
          <a:no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70248" y="2441448"/>
            <a:ext cx="3145536" cy="338328"/>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02 Build the network</a:t>
            </a:r>
          </a:p>
        </p:txBody>
      </p:sp>
      <p:sp>
        <p:nvSpPr>
          <p:cNvPr id="12" name="TextBox 11"/>
          <p:cNvSpPr txBox="1"/>
          <p:nvPr/>
        </p:nvSpPr>
        <p:spPr>
          <a:xfrm>
            <a:off x="4270248" y="2862072"/>
            <a:ext cx="3145536" cy="658368"/>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Ports, production, tanks and demand nodes; pipeline, road and rail connections.</a:t>
            </a:r>
          </a:p>
        </p:txBody>
      </p:sp>
      <p:sp>
        <p:nvSpPr>
          <p:cNvPr id="13" name="Right Arrow 12"/>
          <p:cNvSpPr/>
          <p:nvPr/>
        </p:nvSpPr>
        <p:spPr>
          <a:xfrm>
            <a:off x="7580375" y="2898648"/>
            <a:ext cx="201168" cy="146304"/>
          </a:xfrm>
          <a:prstGeom prst="rightArrow">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818120" y="2331720"/>
            <a:ext cx="3383280" cy="1298448"/>
          </a:xfrm>
          <a:prstGeom prst="rect">
            <a:avLst/>
          </a:prstGeom>
          <a:no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27848" y="2441448"/>
            <a:ext cx="3145536" cy="338328"/>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03 Allocate fuel flows</a:t>
            </a:r>
          </a:p>
        </p:txBody>
      </p:sp>
      <p:sp>
        <p:nvSpPr>
          <p:cNvPr id="16" name="TextBox 15"/>
          <p:cNvSpPr txBox="1"/>
          <p:nvPr/>
        </p:nvSpPr>
        <p:spPr>
          <a:xfrm>
            <a:off x="7927848" y="2862072"/>
            <a:ext cx="3145536" cy="658368"/>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Link WS2 demand, production and available imports to origins and destinations.</a:t>
            </a:r>
          </a:p>
        </p:txBody>
      </p:sp>
      <p:sp>
        <p:nvSpPr>
          <p:cNvPr id="17" name="Rectangle 16"/>
          <p:cNvSpPr/>
          <p:nvPr/>
        </p:nvSpPr>
        <p:spPr>
          <a:xfrm>
            <a:off x="502920" y="3886200"/>
            <a:ext cx="3383280" cy="1298448"/>
          </a:xfrm>
          <a:prstGeom prst="rect">
            <a:avLst/>
          </a:prstGeom>
          <a:no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995928"/>
            <a:ext cx="3145536" cy="338328"/>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04 Apply constraints</a:t>
            </a:r>
          </a:p>
        </p:txBody>
      </p:sp>
      <p:sp>
        <p:nvSpPr>
          <p:cNvPr id="19" name="TextBox 18"/>
          <p:cNvSpPr txBox="1"/>
          <p:nvPr/>
        </p:nvSpPr>
        <p:spPr>
          <a:xfrm>
            <a:off x="612648" y="4416552"/>
            <a:ext cx="3145536" cy="658368"/>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Product compatibility, shared capacity, access, reliability, receipt and dispatch.</a:t>
            </a:r>
          </a:p>
        </p:txBody>
      </p:sp>
      <p:sp>
        <p:nvSpPr>
          <p:cNvPr id="20" name="Right Arrow 19"/>
          <p:cNvSpPr/>
          <p:nvPr/>
        </p:nvSpPr>
        <p:spPr>
          <a:xfrm>
            <a:off x="3922776" y="4453128"/>
            <a:ext cx="201168" cy="146304"/>
          </a:xfrm>
          <a:prstGeom prst="rightArrow">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60520" y="3886200"/>
            <a:ext cx="3383280" cy="1298448"/>
          </a:xfrm>
          <a:prstGeom prst="rect">
            <a:avLst/>
          </a:prstGeom>
          <a:no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70248" y="3995928"/>
            <a:ext cx="3145536" cy="338328"/>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05 Test tank requirements</a:t>
            </a:r>
          </a:p>
        </p:txBody>
      </p:sp>
      <p:sp>
        <p:nvSpPr>
          <p:cNvPr id="23" name="TextBox 22"/>
          <p:cNvSpPr txBox="1"/>
          <p:nvPr/>
        </p:nvSpPr>
        <p:spPr>
          <a:xfrm>
            <a:off x="4270248" y="4416552"/>
            <a:ext cx="3145536" cy="658368"/>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Working stock, stock-cover days, usable capacity and commitments; keep stock separate from flow.</a:t>
            </a:r>
          </a:p>
        </p:txBody>
      </p:sp>
      <p:sp>
        <p:nvSpPr>
          <p:cNvPr id="24" name="Right Arrow 23"/>
          <p:cNvSpPr/>
          <p:nvPr/>
        </p:nvSpPr>
        <p:spPr>
          <a:xfrm>
            <a:off x="7580375" y="4453128"/>
            <a:ext cx="201168" cy="146304"/>
          </a:xfrm>
          <a:prstGeom prst="rightArrow">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818120" y="3886200"/>
            <a:ext cx="3383280" cy="1298448"/>
          </a:xfrm>
          <a:prstGeom prst="rect">
            <a:avLst/>
          </a:prstGeom>
          <a:no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27848" y="3995928"/>
            <a:ext cx="3145536" cy="338328"/>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06 Save and report</a:t>
            </a:r>
          </a:p>
        </p:txBody>
      </p:sp>
      <p:sp>
        <p:nvSpPr>
          <p:cNvPr id="27" name="TextBox 26"/>
          <p:cNvSpPr txBox="1"/>
          <p:nvPr/>
        </p:nvSpPr>
        <p:spPr>
          <a:xfrm>
            <a:off x="7927848" y="4416552"/>
            <a:ext cx="3145536" cy="658368"/>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Feasible, unmet and unassessed volumes; bottlenecks, storage gaps and run provenance.</a:t>
            </a:r>
          </a:p>
        </p:txBody>
      </p:sp>
      <p:cxnSp>
        <p:nvCxnSpPr>
          <p:cNvPr id="28" name="Connector 27"/>
          <p:cNvCxnSpPr/>
          <p:nvPr/>
        </p:nvCxnSpPr>
        <p:spPr>
          <a:xfrm>
            <a:off x="11173968" y="2980944"/>
            <a:ext cx="0" cy="749808"/>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365760" y="3730752"/>
            <a:ext cx="10808208"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65760" y="3730752"/>
            <a:ext cx="0" cy="795528"/>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65760" y="4526280"/>
            <a:ext cx="137160"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02920" y="5669280"/>
            <a:ext cx="10515600" cy="36576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Checks across the chain: node conservation • shared-capacity accounting • manual corridor tie-out • scenario response</a:t>
            </a:r>
          </a:p>
        </p:txBody>
      </p:sp>
      <p:sp>
        <p:nvSpPr>
          <p:cNvPr id="33" name="TextBox 32"/>
          <p:cNvSpPr txBox="1"/>
          <p:nvPr/>
        </p:nvSpPr>
        <p:spPr>
          <a:xfrm>
            <a:off x="502920" y="6126480"/>
            <a:ext cx="10515600" cy="347472"/>
          </a:xfrm>
          <a:prstGeom prst="rect">
            <a:avLst/>
          </a:prstGeom>
          <a:noFill/>
        </p:spPr>
        <p:txBody>
          <a:bodyPr wrap="square" lIns="18288" rIns="18288" tIns="0" bIns="0">
            <a:spAutoFit/>
          </a:bodyPr>
          <a:lstStyle/>
          <a:p>
            <a:pPr>
              <a:spcAft>
                <a:spcPts val="800"/>
              </a:spcAft>
              <a:defRPr sz="1100" b="0">
                <a:solidFill>
                  <a:srgbClr val="000000"/>
                </a:solidFill>
                <a:latin typeface="Lato"/>
              </a:defRPr>
            </a:pPr>
            <a:r>
              <a:t>Power and gas dependencies inform availability; airports and power stations receive fuel-demand allocations. Commercial interpretation remains in WS3.</a:t>
            </a:r>
          </a:p>
        </p:txBody>
      </p:sp>
      <p:sp>
        <p:nvSpPr>
          <p:cNvPr id="34" name="TextBox 33"/>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WS5 infrastructure input contract and proposed build; WS2 model interfaces; GATE_CHECKLIST.md. Engine not yet implemented.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Compare demand with domestic production to quantify the gap before imports</a:t>
            </a:r>
          </a:p>
        </p:txBody>
      </p:sp>
      <p:sp>
        <p:nvSpPr>
          <p:cNvPr id="3" name="Slide Number Placeholder"/>
          <p:cNvSpPr>
            <a:spLocks noGrp="1"/>
          </p:cNvSpPr>
          <p:nvPr>
            <p:ph type="sldNum" sz="quarter" idx="12"/>
          </p:nvPr>
        </p:nvSpPr>
        <p:spPr/>
        <p:txBody>
          <a:bodyPr/>
          <a:lstStyle/>
          <a:p>
            <a:fld id="{3003EC38-DF58-4E86-9C12-128A1ABCA7F0}"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sp>
        <p:nvSpPr>
          <p:cNvPr id="5" name="TextBox 4"/>
          <p:cNvSpPr txBox="1"/>
          <p:nvPr/>
        </p:nvSpPr>
        <p:spPr>
          <a:xfrm>
            <a:off x="502920" y="1645920"/>
            <a:ext cx="10515600" cy="320040"/>
          </a:xfrm>
          <a:prstGeom prst="rect">
            <a:avLst/>
          </a:prstGeom>
          <a:noFill/>
        </p:spPr>
        <p:txBody>
          <a:bodyPr wrap="square" lIns="18288" rIns="18288" tIns="0" bIns="0">
            <a:spAutoFit/>
          </a:bodyPr>
          <a:lstStyle/>
          <a:p>
            <a:pPr>
              <a:spcAft>
                <a:spcPts val="800"/>
              </a:spcAft>
              <a:defRPr sz="1500" b="0">
                <a:solidFill>
                  <a:srgbClr val="000000"/>
                </a:solidFill>
                <a:latin typeface="Lato"/>
              </a:defRPr>
            </a:pPr>
            <a:r>
              <a:t>South Africa | 2024–2050 | billion litres per year | current paired scenarios; provisional</a:t>
            </a:r>
          </a:p>
        </p:txBody>
      </p:sp>
      <p:sp>
        <p:nvSpPr>
          <p:cNvPr id="6" name="TextBox 5"/>
          <p:cNvSpPr txBox="1"/>
          <p:nvPr/>
        </p:nvSpPr>
        <p:spPr>
          <a:xfrm>
            <a:off x="502920" y="5943600"/>
            <a:ext cx="10515600" cy="228600"/>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Core total: petrol + both diesel grades + jet; excludes fuel oil.</a:t>
            </a:r>
          </a:p>
        </p:txBody>
      </p:sp>
      <p:cxnSp>
        <p:nvCxnSpPr>
          <p:cNvPr id="7" name="Legend: Demand"/>
          <p:cNvCxnSpPr/>
          <p:nvPr/>
        </p:nvCxnSpPr>
        <p:spPr>
          <a:xfrm>
            <a:off x="502920" y="2167128"/>
            <a:ext cx="502920" cy="0"/>
          </a:xfrm>
          <a:prstGeom prst="line">
            <a:avLst/>
          </a:prstGeom>
          <a:ln w="25400">
            <a:solidFill>
              <a:srgbClr val="0A237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124712" y="2057400"/>
            <a:ext cx="3017520" cy="274320"/>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Demand</a:t>
            </a:r>
          </a:p>
        </p:txBody>
      </p:sp>
      <p:cxnSp>
        <p:nvCxnSpPr>
          <p:cNvPr id="9" name="Legend: Domestic production"/>
          <p:cNvCxnSpPr/>
          <p:nvPr/>
        </p:nvCxnSpPr>
        <p:spPr>
          <a:xfrm>
            <a:off x="2834640" y="2167128"/>
            <a:ext cx="502920" cy="0"/>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456432" y="2057400"/>
            <a:ext cx="3017520" cy="274320"/>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Domestic production</a:t>
            </a:r>
          </a:p>
        </p:txBody>
      </p:sp>
      <p:cxnSp>
        <p:nvCxnSpPr>
          <p:cNvPr id="11" name="Legend: Deficit"/>
          <p:cNvCxnSpPr/>
          <p:nvPr/>
        </p:nvCxnSpPr>
        <p:spPr>
          <a:xfrm>
            <a:off x="6400800" y="2167128"/>
            <a:ext cx="502920" cy="0"/>
          </a:xfrm>
          <a:prstGeom prst="line">
            <a:avLst/>
          </a:prstGeom>
          <a:ln w="25400">
            <a:solidFill>
              <a:srgbClr val="8491B2"/>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022592" y="2057400"/>
            <a:ext cx="3017520" cy="274320"/>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Deficit</a:t>
            </a:r>
          </a:p>
        </p:txBody>
      </p:sp>
      <p:sp>
        <p:nvSpPr>
          <p:cNvPr id="13" name="TextBox 12"/>
          <p:cNvSpPr txBox="1"/>
          <p:nvPr/>
        </p:nvSpPr>
        <p:spPr>
          <a:xfrm>
            <a:off x="502920" y="2514600"/>
            <a:ext cx="5029200" cy="274320"/>
          </a:xfrm>
          <a:prstGeom prst="rect">
            <a:avLst/>
          </a:prstGeom>
          <a:noFill/>
        </p:spPr>
        <p:txBody>
          <a:bodyPr wrap="square" lIns="18288" rIns="18288" tIns="0" bIns="0">
            <a:spAutoFit/>
          </a:bodyPr>
          <a:lstStyle/>
          <a:p>
            <a:pPr>
              <a:spcAft>
                <a:spcPts val="800"/>
              </a:spcAft>
              <a:defRPr sz="1800" b="1">
                <a:solidFill>
                  <a:srgbClr val="000000"/>
                </a:solidFill>
                <a:latin typeface="Lato"/>
              </a:defRPr>
            </a:pPr>
            <a:r>
              <a:t>High Demand</a:t>
            </a:r>
          </a:p>
        </p:txBody>
      </p:sp>
      <p:graphicFrame>
        <p:nvGraphicFramePr>
          <p:cNvPr id="14" name="Chart 13"/>
          <p:cNvGraphicFramePr>
            <a:graphicFrameLocks noGrp="1"/>
          </p:cNvGraphicFramePr>
          <p:nvPr/>
        </p:nvGraphicFramePr>
        <p:xfrm>
          <a:off x="502920" y="2852928"/>
          <a:ext cx="5120640" cy="2697480"/>
        </p:xfrm>
        <a:graphic>
          <a:graphicData uri="http://schemas.openxmlformats.org/drawingml/2006/chart">
            <c:chart xmlns:c="http://schemas.openxmlformats.org/drawingml/2006/chart" r:id="rId2"/>
          </a:graphicData>
        </a:graphic>
      </p:graphicFrame>
      <p:sp>
        <p:nvSpPr>
          <p:cNvPr id="15" name="TextBox 14"/>
          <p:cNvSpPr txBox="1"/>
          <p:nvPr/>
        </p:nvSpPr>
        <p:spPr>
          <a:xfrm>
            <a:off x="502920" y="5596128"/>
            <a:ext cx="5120640" cy="27432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2050 deficit: 33.8 bn litres</a:t>
            </a:r>
          </a:p>
        </p:txBody>
      </p:sp>
      <p:sp>
        <p:nvSpPr>
          <p:cNvPr id="16" name="TextBox 15"/>
          <p:cNvSpPr txBox="1"/>
          <p:nvPr/>
        </p:nvSpPr>
        <p:spPr>
          <a:xfrm>
            <a:off x="5943600" y="2514600"/>
            <a:ext cx="5029200" cy="274320"/>
          </a:xfrm>
          <a:prstGeom prst="rect">
            <a:avLst/>
          </a:prstGeom>
          <a:noFill/>
        </p:spPr>
        <p:txBody>
          <a:bodyPr wrap="square" lIns="18288" rIns="18288" tIns="0" bIns="0">
            <a:spAutoFit/>
          </a:bodyPr>
          <a:lstStyle/>
          <a:p>
            <a:pPr>
              <a:spcAft>
                <a:spcPts val="800"/>
              </a:spcAft>
              <a:defRPr sz="1800" b="1">
                <a:solidFill>
                  <a:srgbClr val="000000"/>
                </a:solidFill>
                <a:latin typeface="Lato"/>
              </a:defRPr>
            </a:pPr>
            <a:r>
              <a:t>Low Demand</a:t>
            </a:r>
          </a:p>
        </p:txBody>
      </p:sp>
      <p:graphicFrame>
        <p:nvGraphicFramePr>
          <p:cNvPr id="17" name="Chart 16"/>
          <p:cNvGraphicFramePr>
            <a:graphicFrameLocks noGrp="1"/>
          </p:cNvGraphicFramePr>
          <p:nvPr/>
        </p:nvGraphicFramePr>
        <p:xfrm>
          <a:off x="5943600" y="2852928"/>
          <a:ext cx="5120640" cy="2697480"/>
        </p:xfrm>
        <a:graphic>
          <a:graphicData uri="http://schemas.openxmlformats.org/drawingml/2006/chart">
            <c:chart xmlns:c="http://schemas.openxmlformats.org/drawingml/2006/chart" r:id="rId3"/>
          </a:graphicData>
        </a:graphic>
      </p:graphicFrame>
      <p:sp>
        <p:nvSpPr>
          <p:cNvPr id="18" name="TextBox 17"/>
          <p:cNvSpPr txBox="1"/>
          <p:nvPr/>
        </p:nvSpPr>
        <p:spPr>
          <a:xfrm>
            <a:off x="5943600" y="5596128"/>
            <a:ext cx="5120640" cy="27432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2050 deficit: 20.1 bn litres</a:t>
            </a:r>
          </a:p>
        </p:txBody>
      </p:sp>
      <p:sp>
        <p:nvSpPr>
          <p:cNvPr id="19" name="TextBox 18"/>
          <p:cNvSpPr txBox="1"/>
          <p:nvPr/>
        </p:nvSpPr>
        <p:spPr>
          <a:xfrm>
            <a:off x="502920" y="6272784"/>
            <a:ext cx="10515600" cy="201168"/>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Deficit = demand − domestic production; not unmet demand after imports. Trade, stocks and import constraints remain unresolved.</a:t>
            </a:r>
          </a:p>
        </p:txBody>
      </p:sp>
      <p:sp>
        <p:nvSpPr>
          <p:cNvPr id="20" name="TextBox 19"/>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Saved Python 2026 high_demand / low_demand runs, 2 Oct 2026; balance_annual.csv; exact run paths in current-results-runs.json. 43 open exceptions.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Compare petrol, diesel and jet demand across the current scenarios</a:t>
            </a:r>
          </a:p>
        </p:txBody>
      </p:sp>
      <p:sp>
        <p:nvSpPr>
          <p:cNvPr id="3" name="Slide Number Placeholder"/>
          <p:cNvSpPr>
            <a:spLocks noGrp="1"/>
          </p:cNvSpPr>
          <p:nvPr>
            <p:ph type="sldNum" sz="quarter" idx="12"/>
          </p:nvPr>
        </p:nvSpPr>
        <p:spPr/>
        <p:txBody>
          <a:bodyPr/>
          <a:lstStyle/>
          <a:p>
            <a:fld id="{E12D38C9-FF1A-4A99-A859-4CDBE5CC48AD}"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sp>
        <p:nvSpPr>
          <p:cNvPr id="5" name="TextBox 4"/>
          <p:cNvSpPr txBox="1"/>
          <p:nvPr/>
        </p:nvSpPr>
        <p:spPr>
          <a:xfrm>
            <a:off x="502920" y="1645920"/>
            <a:ext cx="10515600" cy="320040"/>
          </a:xfrm>
          <a:prstGeom prst="rect">
            <a:avLst/>
          </a:prstGeom>
          <a:noFill/>
        </p:spPr>
        <p:txBody>
          <a:bodyPr wrap="square" lIns="18288" rIns="18288" tIns="0" bIns="0">
            <a:spAutoFit/>
          </a:bodyPr>
          <a:lstStyle/>
          <a:p>
            <a:pPr>
              <a:spcAft>
                <a:spcPts val="800"/>
              </a:spcAft>
              <a:defRPr sz="1500" b="0">
                <a:solidFill>
                  <a:srgbClr val="000000"/>
                </a:solidFill>
                <a:latin typeface="Lato"/>
              </a:defRPr>
            </a:pPr>
            <a:r>
              <a:t>South Africa | 2024–2050 | billion litres per year | current paired scenarios; provisional</a:t>
            </a:r>
          </a:p>
        </p:txBody>
      </p:sp>
      <p:cxnSp>
        <p:nvCxnSpPr>
          <p:cNvPr id="6" name="Legend: High-demand run"/>
          <p:cNvCxnSpPr/>
          <p:nvPr/>
        </p:nvCxnSpPr>
        <p:spPr>
          <a:xfrm>
            <a:off x="502920" y="2121408"/>
            <a:ext cx="502920" cy="0"/>
          </a:xfrm>
          <a:prstGeom prst="line">
            <a:avLst/>
          </a:prstGeom>
          <a:ln w="25400">
            <a:solidFill>
              <a:srgbClr val="0A237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4712" y="2011680"/>
            <a:ext cx="3017520" cy="274320"/>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High-demand run</a:t>
            </a:r>
          </a:p>
        </p:txBody>
      </p:sp>
      <p:cxnSp>
        <p:nvCxnSpPr>
          <p:cNvPr id="8" name="Legend: Low-demand run"/>
          <p:cNvCxnSpPr/>
          <p:nvPr/>
        </p:nvCxnSpPr>
        <p:spPr>
          <a:xfrm>
            <a:off x="3749039" y="2121408"/>
            <a:ext cx="502920" cy="0"/>
          </a:xfrm>
          <a:prstGeom prst="line">
            <a:avLst/>
          </a:prstGeom>
          <a:ln w="25400">
            <a:solidFill>
              <a:srgbClr val="8491B2"/>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370831" y="2011680"/>
            <a:ext cx="3017520" cy="274320"/>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Low-demand run</a:t>
            </a:r>
          </a:p>
        </p:txBody>
      </p:sp>
      <p:sp>
        <p:nvSpPr>
          <p:cNvPr id="10" name="TextBox 9"/>
          <p:cNvSpPr txBox="1"/>
          <p:nvPr/>
        </p:nvSpPr>
        <p:spPr>
          <a:xfrm>
            <a:off x="502920" y="2423160"/>
            <a:ext cx="5120640" cy="274320"/>
          </a:xfrm>
          <a:prstGeom prst="rect">
            <a:avLst/>
          </a:prstGeom>
          <a:noFill/>
        </p:spPr>
        <p:txBody>
          <a:bodyPr wrap="square" lIns="18288" rIns="18288" tIns="0" bIns="0">
            <a:spAutoFit/>
          </a:bodyPr>
          <a:lstStyle/>
          <a:p>
            <a:pPr>
              <a:spcAft>
                <a:spcPts val="800"/>
              </a:spcAft>
              <a:defRPr sz="1600" b="1">
                <a:solidFill>
                  <a:srgbClr val="000000"/>
                </a:solidFill>
                <a:latin typeface="Lato"/>
              </a:defRPr>
            </a:pPr>
            <a:r>
              <a:t>Petrol</a:t>
            </a:r>
          </a:p>
        </p:txBody>
      </p:sp>
      <p:graphicFrame>
        <p:nvGraphicFramePr>
          <p:cNvPr id="11" name="Chart 10"/>
          <p:cNvGraphicFramePr>
            <a:graphicFrameLocks noGrp="1"/>
          </p:cNvGraphicFramePr>
          <p:nvPr/>
        </p:nvGraphicFramePr>
        <p:xfrm>
          <a:off x="502920" y="2715768"/>
          <a:ext cx="5120640" cy="1389888"/>
        </p:xfrm>
        <a:graphic>
          <a:graphicData uri="http://schemas.openxmlformats.org/drawingml/2006/chart">
            <c:chart xmlns:c="http://schemas.openxmlformats.org/drawingml/2006/chart" r:id="rId2"/>
          </a:graphicData>
        </a:graphic>
      </p:graphicFrame>
      <p:sp>
        <p:nvSpPr>
          <p:cNvPr id="12" name="TextBox 11"/>
          <p:cNvSpPr txBox="1"/>
          <p:nvPr/>
        </p:nvSpPr>
        <p:spPr>
          <a:xfrm>
            <a:off x="5943600" y="2423160"/>
            <a:ext cx="5120640" cy="274320"/>
          </a:xfrm>
          <a:prstGeom prst="rect">
            <a:avLst/>
          </a:prstGeom>
          <a:noFill/>
        </p:spPr>
        <p:txBody>
          <a:bodyPr wrap="square" lIns="18288" rIns="18288" tIns="0" bIns="0">
            <a:spAutoFit/>
          </a:bodyPr>
          <a:lstStyle/>
          <a:p>
            <a:pPr>
              <a:spcAft>
                <a:spcPts val="800"/>
              </a:spcAft>
              <a:defRPr sz="1600" b="1">
                <a:solidFill>
                  <a:srgbClr val="000000"/>
                </a:solidFill>
                <a:latin typeface="Lato"/>
              </a:defRPr>
            </a:pPr>
            <a:r>
              <a:t>Diesel — both grades</a:t>
            </a:r>
          </a:p>
        </p:txBody>
      </p:sp>
      <p:graphicFrame>
        <p:nvGraphicFramePr>
          <p:cNvPr id="13" name="Chart 12"/>
          <p:cNvGraphicFramePr>
            <a:graphicFrameLocks noGrp="1"/>
          </p:cNvGraphicFramePr>
          <p:nvPr/>
        </p:nvGraphicFramePr>
        <p:xfrm>
          <a:off x="5943600" y="2715768"/>
          <a:ext cx="5120640" cy="1389888"/>
        </p:xfrm>
        <a:graphic>
          <a:graphicData uri="http://schemas.openxmlformats.org/drawingml/2006/chart">
            <c:chart xmlns:c="http://schemas.openxmlformats.org/drawingml/2006/chart" r:id="rId3"/>
          </a:graphicData>
        </a:graphic>
      </p:graphicFrame>
      <p:sp>
        <p:nvSpPr>
          <p:cNvPr id="14" name="TextBox 13"/>
          <p:cNvSpPr txBox="1"/>
          <p:nvPr/>
        </p:nvSpPr>
        <p:spPr>
          <a:xfrm>
            <a:off x="502920" y="4114800"/>
            <a:ext cx="5120640" cy="274320"/>
          </a:xfrm>
          <a:prstGeom prst="rect">
            <a:avLst/>
          </a:prstGeom>
          <a:noFill/>
        </p:spPr>
        <p:txBody>
          <a:bodyPr wrap="square" lIns="18288" rIns="18288" tIns="0" bIns="0">
            <a:spAutoFit/>
          </a:bodyPr>
          <a:lstStyle/>
          <a:p>
            <a:pPr>
              <a:spcAft>
                <a:spcPts val="800"/>
              </a:spcAft>
              <a:defRPr sz="1600" b="1">
                <a:solidFill>
                  <a:srgbClr val="000000"/>
                </a:solidFill>
                <a:latin typeface="Lato"/>
              </a:defRPr>
            </a:pPr>
            <a:r>
              <a:t>Jet</a:t>
            </a:r>
          </a:p>
        </p:txBody>
      </p:sp>
      <p:graphicFrame>
        <p:nvGraphicFramePr>
          <p:cNvPr id="15" name="Chart 14"/>
          <p:cNvGraphicFramePr>
            <a:graphicFrameLocks noGrp="1"/>
          </p:cNvGraphicFramePr>
          <p:nvPr/>
        </p:nvGraphicFramePr>
        <p:xfrm>
          <a:off x="502920" y="4407408"/>
          <a:ext cx="5120640" cy="1389888"/>
        </p:xfrm>
        <a:graphic>
          <a:graphicData uri="http://schemas.openxmlformats.org/drawingml/2006/chart">
            <c:chart xmlns:c="http://schemas.openxmlformats.org/drawingml/2006/chart" r:id="rId4"/>
          </a:graphicData>
        </a:graphic>
      </p:graphicFrame>
      <p:sp>
        <p:nvSpPr>
          <p:cNvPr id="16" name="TextBox 15"/>
          <p:cNvSpPr txBox="1"/>
          <p:nvPr/>
        </p:nvSpPr>
        <p:spPr>
          <a:xfrm>
            <a:off x="5943600" y="4114800"/>
            <a:ext cx="5120640" cy="274320"/>
          </a:xfrm>
          <a:prstGeom prst="rect">
            <a:avLst/>
          </a:prstGeom>
          <a:noFill/>
        </p:spPr>
        <p:txBody>
          <a:bodyPr wrap="square" lIns="18288" rIns="18288" tIns="0" bIns="0">
            <a:spAutoFit/>
          </a:bodyPr>
          <a:lstStyle/>
          <a:p>
            <a:pPr>
              <a:spcAft>
                <a:spcPts val="800"/>
              </a:spcAft>
              <a:defRPr sz="1600" b="1">
                <a:solidFill>
                  <a:srgbClr val="000000"/>
                </a:solidFill>
                <a:latin typeface="Lato"/>
              </a:defRPr>
            </a:pPr>
            <a:r>
              <a:t>Reporting scope</a:t>
            </a:r>
          </a:p>
        </p:txBody>
      </p:sp>
      <p:sp>
        <p:nvSpPr>
          <p:cNvPr id="17" name="TextBox 16"/>
          <p:cNvSpPr txBox="1"/>
          <p:nvPr/>
        </p:nvSpPr>
        <p:spPr>
          <a:xfrm>
            <a:off x="5943600" y="4572000"/>
            <a:ext cx="4937760" cy="914400"/>
          </a:xfrm>
          <a:prstGeom prst="rect">
            <a:avLst/>
          </a:prstGeom>
          <a:noFill/>
        </p:spPr>
        <p:txBody>
          <a:bodyPr wrap="square" lIns="18288" rIns="18288" tIns="0" bIns="0">
            <a:spAutoFit/>
          </a:bodyPr>
          <a:lstStyle/>
          <a:p>
            <a:pPr>
              <a:spcAft>
                <a:spcPts val="800"/>
              </a:spcAft>
              <a:defRPr sz="1500" b="0">
                <a:solidFill>
                  <a:srgbClr val="000000"/>
                </a:solidFill>
                <a:latin typeface="Lato"/>
              </a:defRPr>
            </a:pPr>
            <a:r>
              <a:t>Petrol, diesel (both grades) and jet.</a:t>
            </a:r>
          </a:p>
          <a:p>
            <a:pPr>
              <a:spcAft>
                <a:spcPts val="800"/>
              </a:spcAft>
              <a:defRPr sz="1500" b="0">
                <a:solidFill>
                  <a:srgbClr val="000000"/>
                </a:solidFill>
                <a:latin typeface="Lato"/>
              </a:defRPr>
            </a:pPr>
            <a:r>
              <a:t>Fuel oil is a separate provisional marine output; see the supplementary page.</a:t>
            </a:r>
          </a:p>
        </p:txBody>
      </p:sp>
      <p:sp>
        <p:nvSpPr>
          <p:cNvPr id="18" name="TextBox 17"/>
          <p:cNvSpPr txBox="1"/>
          <p:nvPr/>
        </p:nvSpPr>
        <p:spPr>
          <a:xfrm>
            <a:off x="502920" y="5943600"/>
            <a:ext cx="10515600" cy="246888"/>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Axes differ by fuel. Core totals exclude fuel oil; no numerical model assumptions have changed.</a:t>
            </a:r>
          </a:p>
        </p:txBody>
      </p:sp>
      <p:sp>
        <p:nvSpPr>
          <p:cNvPr id="19" name="TextBox 18"/>
          <p:cNvSpPr txBox="1"/>
          <p:nvPr/>
        </p:nvSpPr>
        <p:spPr>
          <a:xfrm>
            <a:off x="502920" y="6272784"/>
            <a:ext cx="10515600" cy="201168"/>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Deficit = demand − domestic production; not unmet demand after imports. Trade, stocks and import constraints remain unresolved.</a:t>
            </a:r>
          </a:p>
        </p:txBody>
      </p:sp>
      <p:sp>
        <p:nvSpPr>
          <p:cNvPr id="20" name="TextBox 19"/>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Saved Python 2026 high_demand / low_demand runs, 2 Oct 2026; balance_annual.csv; exact run paths in current-results-runs.json. 43 open exceptions.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Compare domestic production by fuel across the current scenarios</a:t>
            </a:r>
          </a:p>
        </p:txBody>
      </p:sp>
      <p:sp>
        <p:nvSpPr>
          <p:cNvPr id="3" name="Slide Number Placeholder"/>
          <p:cNvSpPr>
            <a:spLocks noGrp="1"/>
          </p:cNvSpPr>
          <p:nvPr>
            <p:ph type="sldNum" sz="quarter" idx="12"/>
          </p:nvPr>
        </p:nvSpPr>
        <p:spPr/>
        <p:txBody>
          <a:bodyPr/>
          <a:lstStyle/>
          <a:p>
            <a:fld id="{5FD5BD9A-FA62-4A2A-B63A-CC827A15E545}"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sp>
        <p:nvSpPr>
          <p:cNvPr id="5" name="TextBox 4"/>
          <p:cNvSpPr txBox="1"/>
          <p:nvPr/>
        </p:nvSpPr>
        <p:spPr>
          <a:xfrm>
            <a:off x="502920" y="1645920"/>
            <a:ext cx="10515600" cy="320040"/>
          </a:xfrm>
          <a:prstGeom prst="rect">
            <a:avLst/>
          </a:prstGeom>
          <a:noFill/>
        </p:spPr>
        <p:txBody>
          <a:bodyPr wrap="square" lIns="18288" rIns="18288" tIns="0" bIns="0">
            <a:spAutoFit/>
          </a:bodyPr>
          <a:lstStyle/>
          <a:p>
            <a:pPr>
              <a:spcAft>
                <a:spcPts val="800"/>
              </a:spcAft>
              <a:defRPr sz="1500" b="0">
                <a:solidFill>
                  <a:srgbClr val="000000"/>
                </a:solidFill>
                <a:latin typeface="Lato"/>
              </a:defRPr>
            </a:pPr>
            <a:r>
              <a:t>South Africa | 2024–2050 | billion litres per year | current paired scenarios; provisional</a:t>
            </a:r>
          </a:p>
        </p:txBody>
      </p:sp>
      <p:cxnSp>
        <p:nvCxnSpPr>
          <p:cNvPr id="6" name="Legend: High-demand run"/>
          <p:cNvCxnSpPr/>
          <p:nvPr/>
        </p:nvCxnSpPr>
        <p:spPr>
          <a:xfrm>
            <a:off x="502920" y="2121408"/>
            <a:ext cx="502920" cy="0"/>
          </a:xfrm>
          <a:prstGeom prst="line">
            <a:avLst/>
          </a:prstGeom>
          <a:ln w="25400">
            <a:solidFill>
              <a:srgbClr val="0A237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4712" y="2011680"/>
            <a:ext cx="3017520" cy="274320"/>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High-demand run</a:t>
            </a:r>
          </a:p>
        </p:txBody>
      </p:sp>
      <p:cxnSp>
        <p:nvCxnSpPr>
          <p:cNvPr id="8" name="Legend: Low-demand run"/>
          <p:cNvCxnSpPr/>
          <p:nvPr/>
        </p:nvCxnSpPr>
        <p:spPr>
          <a:xfrm>
            <a:off x="3749039" y="2121408"/>
            <a:ext cx="502920" cy="0"/>
          </a:xfrm>
          <a:prstGeom prst="line">
            <a:avLst/>
          </a:prstGeom>
          <a:ln w="25400">
            <a:solidFill>
              <a:srgbClr val="8491B2"/>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370831" y="2011680"/>
            <a:ext cx="3017520" cy="274320"/>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Low-demand run</a:t>
            </a:r>
          </a:p>
        </p:txBody>
      </p:sp>
      <p:sp>
        <p:nvSpPr>
          <p:cNvPr id="10" name="TextBox 9"/>
          <p:cNvSpPr txBox="1"/>
          <p:nvPr/>
        </p:nvSpPr>
        <p:spPr>
          <a:xfrm>
            <a:off x="502920" y="2423160"/>
            <a:ext cx="5120640" cy="274320"/>
          </a:xfrm>
          <a:prstGeom prst="rect">
            <a:avLst/>
          </a:prstGeom>
          <a:noFill/>
        </p:spPr>
        <p:txBody>
          <a:bodyPr wrap="square" lIns="18288" rIns="18288" tIns="0" bIns="0">
            <a:spAutoFit/>
          </a:bodyPr>
          <a:lstStyle/>
          <a:p>
            <a:pPr>
              <a:spcAft>
                <a:spcPts val="800"/>
              </a:spcAft>
              <a:defRPr sz="1600" b="1">
                <a:solidFill>
                  <a:srgbClr val="000000"/>
                </a:solidFill>
                <a:latin typeface="Lato"/>
              </a:defRPr>
            </a:pPr>
            <a:r>
              <a:t>Petrol</a:t>
            </a:r>
          </a:p>
        </p:txBody>
      </p:sp>
      <p:graphicFrame>
        <p:nvGraphicFramePr>
          <p:cNvPr id="11" name="Chart 10"/>
          <p:cNvGraphicFramePr>
            <a:graphicFrameLocks noGrp="1"/>
          </p:cNvGraphicFramePr>
          <p:nvPr/>
        </p:nvGraphicFramePr>
        <p:xfrm>
          <a:off x="502920" y="2715768"/>
          <a:ext cx="5120640" cy="1389888"/>
        </p:xfrm>
        <a:graphic>
          <a:graphicData uri="http://schemas.openxmlformats.org/drawingml/2006/chart">
            <c:chart xmlns:c="http://schemas.openxmlformats.org/drawingml/2006/chart" r:id="rId2"/>
          </a:graphicData>
        </a:graphic>
      </p:graphicFrame>
      <p:sp>
        <p:nvSpPr>
          <p:cNvPr id="12" name="TextBox 11"/>
          <p:cNvSpPr txBox="1"/>
          <p:nvPr/>
        </p:nvSpPr>
        <p:spPr>
          <a:xfrm>
            <a:off x="5943600" y="2423160"/>
            <a:ext cx="5120640" cy="274320"/>
          </a:xfrm>
          <a:prstGeom prst="rect">
            <a:avLst/>
          </a:prstGeom>
          <a:noFill/>
        </p:spPr>
        <p:txBody>
          <a:bodyPr wrap="square" lIns="18288" rIns="18288" tIns="0" bIns="0">
            <a:spAutoFit/>
          </a:bodyPr>
          <a:lstStyle/>
          <a:p>
            <a:pPr>
              <a:spcAft>
                <a:spcPts val="800"/>
              </a:spcAft>
              <a:defRPr sz="1600" b="1">
                <a:solidFill>
                  <a:srgbClr val="000000"/>
                </a:solidFill>
                <a:latin typeface="Lato"/>
              </a:defRPr>
            </a:pPr>
            <a:r>
              <a:t>Diesel — both grades</a:t>
            </a:r>
          </a:p>
        </p:txBody>
      </p:sp>
      <p:graphicFrame>
        <p:nvGraphicFramePr>
          <p:cNvPr id="13" name="Chart 12"/>
          <p:cNvGraphicFramePr>
            <a:graphicFrameLocks noGrp="1"/>
          </p:cNvGraphicFramePr>
          <p:nvPr/>
        </p:nvGraphicFramePr>
        <p:xfrm>
          <a:off x="5943600" y="2715768"/>
          <a:ext cx="5120640" cy="1389888"/>
        </p:xfrm>
        <a:graphic>
          <a:graphicData uri="http://schemas.openxmlformats.org/drawingml/2006/chart">
            <c:chart xmlns:c="http://schemas.openxmlformats.org/drawingml/2006/chart" r:id="rId3"/>
          </a:graphicData>
        </a:graphic>
      </p:graphicFrame>
      <p:sp>
        <p:nvSpPr>
          <p:cNvPr id="14" name="TextBox 13"/>
          <p:cNvSpPr txBox="1"/>
          <p:nvPr/>
        </p:nvSpPr>
        <p:spPr>
          <a:xfrm>
            <a:off x="502920" y="4114800"/>
            <a:ext cx="5120640" cy="274320"/>
          </a:xfrm>
          <a:prstGeom prst="rect">
            <a:avLst/>
          </a:prstGeom>
          <a:noFill/>
        </p:spPr>
        <p:txBody>
          <a:bodyPr wrap="square" lIns="18288" rIns="18288" tIns="0" bIns="0">
            <a:spAutoFit/>
          </a:bodyPr>
          <a:lstStyle/>
          <a:p>
            <a:pPr>
              <a:spcAft>
                <a:spcPts val="800"/>
              </a:spcAft>
              <a:defRPr sz="1600" b="1">
                <a:solidFill>
                  <a:srgbClr val="000000"/>
                </a:solidFill>
                <a:latin typeface="Lato"/>
              </a:defRPr>
            </a:pPr>
            <a:r>
              <a:t>Jet</a:t>
            </a:r>
          </a:p>
        </p:txBody>
      </p:sp>
      <p:graphicFrame>
        <p:nvGraphicFramePr>
          <p:cNvPr id="15" name="Chart 14"/>
          <p:cNvGraphicFramePr>
            <a:graphicFrameLocks noGrp="1"/>
          </p:cNvGraphicFramePr>
          <p:nvPr/>
        </p:nvGraphicFramePr>
        <p:xfrm>
          <a:off x="502920" y="4407408"/>
          <a:ext cx="5120640" cy="1389888"/>
        </p:xfrm>
        <a:graphic>
          <a:graphicData uri="http://schemas.openxmlformats.org/drawingml/2006/chart">
            <c:chart xmlns:c="http://schemas.openxmlformats.org/drawingml/2006/chart" r:id="rId4"/>
          </a:graphicData>
        </a:graphic>
      </p:graphicFrame>
      <p:sp>
        <p:nvSpPr>
          <p:cNvPr id="16" name="TextBox 15"/>
          <p:cNvSpPr txBox="1"/>
          <p:nvPr/>
        </p:nvSpPr>
        <p:spPr>
          <a:xfrm>
            <a:off x="5943600" y="4114800"/>
            <a:ext cx="5120640" cy="274320"/>
          </a:xfrm>
          <a:prstGeom prst="rect">
            <a:avLst/>
          </a:prstGeom>
          <a:noFill/>
        </p:spPr>
        <p:txBody>
          <a:bodyPr wrap="square" lIns="18288" rIns="18288" tIns="0" bIns="0">
            <a:spAutoFit/>
          </a:bodyPr>
          <a:lstStyle/>
          <a:p>
            <a:pPr>
              <a:spcAft>
                <a:spcPts val="800"/>
              </a:spcAft>
              <a:defRPr sz="1600" b="1">
                <a:solidFill>
                  <a:srgbClr val="000000"/>
                </a:solidFill>
                <a:latin typeface="Lato"/>
              </a:defRPr>
            </a:pPr>
            <a:r>
              <a:t>Reporting scope</a:t>
            </a:r>
          </a:p>
        </p:txBody>
      </p:sp>
      <p:sp>
        <p:nvSpPr>
          <p:cNvPr id="17" name="TextBox 16"/>
          <p:cNvSpPr txBox="1"/>
          <p:nvPr/>
        </p:nvSpPr>
        <p:spPr>
          <a:xfrm>
            <a:off x="5943600" y="4572000"/>
            <a:ext cx="4937760" cy="914400"/>
          </a:xfrm>
          <a:prstGeom prst="rect">
            <a:avLst/>
          </a:prstGeom>
          <a:noFill/>
        </p:spPr>
        <p:txBody>
          <a:bodyPr wrap="square" lIns="18288" rIns="18288" tIns="0" bIns="0">
            <a:spAutoFit/>
          </a:bodyPr>
          <a:lstStyle/>
          <a:p>
            <a:pPr>
              <a:spcAft>
                <a:spcPts val="800"/>
              </a:spcAft>
              <a:defRPr sz="1500" b="0">
                <a:solidFill>
                  <a:srgbClr val="000000"/>
                </a:solidFill>
                <a:latin typeface="Lato"/>
              </a:defRPr>
            </a:pPr>
            <a:r>
              <a:t>Petrol, diesel (both grades) and jet.</a:t>
            </a:r>
          </a:p>
          <a:p>
            <a:pPr>
              <a:spcAft>
                <a:spcPts val="800"/>
              </a:spcAft>
              <a:defRPr sz="1500" b="0">
                <a:solidFill>
                  <a:srgbClr val="000000"/>
                </a:solidFill>
                <a:latin typeface="Lato"/>
              </a:defRPr>
            </a:pPr>
            <a:r>
              <a:t>Fuel oil is a separate provisional marine output; see the supplementary page.</a:t>
            </a:r>
          </a:p>
        </p:txBody>
      </p:sp>
      <p:sp>
        <p:nvSpPr>
          <p:cNvPr id="18" name="TextBox 17"/>
          <p:cNvSpPr txBox="1"/>
          <p:nvPr/>
        </p:nvSpPr>
        <p:spPr>
          <a:xfrm>
            <a:off x="502920" y="5943600"/>
            <a:ext cx="10515600" cy="246888"/>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Axes differ by fuel. Core totals exclude fuel oil; no numerical model assumptions have changed.</a:t>
            </a:r>
          </a:p>
        </p:txBody>
      </p:sp>
      <p:sp>
        <p:nvSpPr>
          <p:cNvPr id="19" name="TextBox 18"/>
          <p:cNvSpPr txBox="1"/>
          <p:nvPr/>
        </p:nvSpPr>
        <p:spPr>
          <a:xfrm>
            <a:off x="502920" y="6272784"/>
            <a:ext cx="10515600" cy="201168"/>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Deficit = demand − domestic production; not unmet demand after imports. Trade, stocks and import constraints remain unresolved.</a:t>
            </a:r>
          </a:p>
        </p:txBody>
      </p:sp>
      <p:sp>
        <p:nvSpPr>
          <p:cNvPr id="20" name="TextBox 19"/>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Saved Python 2026 high_demand / low_demand runs, 2 Oct 2026; balance_annual.csv; exact run paths in current-results-runs.json. 43 open exceptions.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Identify when and where domestic production falls short of demand</a:t>
            </a:r>
          </a:p>
        </p:txBody>
      </p:sp>
      <p:sp>
        <p:nvSpPr>
          <p:cNvPr id="3" name="Slide Number Placeholder"/>
          <p:cNvSpPr>
            <a:spLocks noGrp="1"/>
          </p:cNvSpPr>
          <p:nvPr>
            <p:ph type="sldNum" sz="quarter" idx="12"/>
          </p:nvPr>
        </p:nvSpPr>
        <p:spPr/>
        <p:txBody>
          <a:bodyPr/>
          <a:lstStyle/>
          <a:p>
            <a:fld id="{EEAAFD36-C909-4BBE-81AB-EB5052F01AD2}"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sp>
        <p:nvSpPr>
          <p:cNvPr id="5" name="TextBox 4"/>
          <p:cNvSpPr txBox="1"/>
          <p:nvPr/>
        </p:nvSpPr>
        <p:spPr>
          <a:xfrm>
            <a:off x="502920" y="1645920"/>
            <a:ext cx="10515600" cy="320040"/>
          </a:xfrm>
          <a:prstGeom prst="rect">
            <a:avLst/>
          </a:prstGeom>
          <a:noFill/>
        </p:spPr>
        <p:txBody>
          <a:bodyPr wrap="square" lIns="18288" rIns="18288" tIns="0" bIns="0">
            <a:spAutoFit/>
          </a:bodyPr>
          <a:lstStyle/>
          <a:p>
            <a:pPr>
              <a:spcAft>
                <a:spcPts val="800"/>
              </a:spcAft>
              <a:defRPr sz="1500" b="0">
                <a:solidFill>
                  <a:srgbClr val="000000"/>
                </a:solidFill>
                <a:latin typeface="Lato"/>
              </a:defRPr>
            </a:pPr>
            <a:r>
              <a:t>South Africa | 2024–2050 | billion litres per year | current paired scenarios; provisional</a:t>
            </a:r>
          </a:p>
        </p:txBody>
      </p:sp>
      <p:cxnSp>
        <p:nvCxnSpPr>
          <p:cNvPr id="6" name="Legend: High-demand run"/>
          <p:cNvCxnSpPr/>
          <p:nvPr/>
        </p:nvCxnSpPr>
        <p:spPr>
          <a:xfrm>
            <a:off x="502920" y="2121408"/>
            <a:ext cx="502920" cy="0"/>
          </a:xfrm>
          <a:prstGeom prst="line">
            <a:avLst/>
          </a:prstGeom>
          <a:ln w="25400">
            <a:solidFill>
              <a:srgbClr val="0A237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4712" y="2011680"/>
            <a:ext cx="3017520" cy="274320"/>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High-demand run</a:t>
            </a:r>
          </a:p>
        </p:txBody>
      </p:sp>
      <p:cxnSp>
        <p:nvCxnSpPr>
          <p:cNvPr id="8" name="Legend: Low-demand run"/>
          <p:cNvCxnSpPr/>
          <p:nvPr/>
        </p:nvCxnSpPr>
        <p:spPr>
          <a:xfrm>
            <a:off x="3749039" y="2121408"/>
            <a:ext cx="502920" cy="0"/>
          </a:xfrm>
          <a:prstGeom prst="line">
            <a:avLst/>
          </a:prstGeom>
          <a:ln w="25400">
            <a:solidFill>
              <a:srgbClr val="8491B2"/>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370831" y="2011680"/>
            <a:ext cx="3017520" cy="274320"/>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Low-demand run</a:t>
            </a:r>
          </a:p>
        </p:txBody>
      </p:sp>
      <p:sp>
        <p:nvSpPr>
          <p:cNvPr id="10" name="TextBox 9"/>
          <p:cNvSpPr txBox="1"/>
          <p:nvPr/>
        </p:nvSpPr>
        <p:spPr>
          <a:xfrm>
            <a:off x="502920" y="2423160"/>
            <a:ext cx="5120640" cy="274320"/>
          </a:xfrm>
          <a:prstGeom prst="rect">
            <a:avLst/>
          </a:prstGeom>
          <a:noFill/>
        </p:spPr>
        <p:txBody>
          <a:bodyPr wrap="square" lIns="18288" rIns="18288" tIns="0" bIns="0">
            <a:spAutoFit/>
          </a:bodyPr>
          <a:lstStyle/>
          <a:p>
            <a:pPr>
              <a:spcAft>
                <a:spcPts val="800"/>
              </a:spcAft>
              <a:defRPr sz="1600" b="1">
                <a:solidFill>
                  <a:srgbClr val="000000"/>
                </a:solidFill>
                <a:latin typeface="Lato"/>
              </a:defRPr>
            </a:pPr>
            <a:r>
              <a:t>Petrol</a:t>
            </a:r>
          </a:p>
        </p:txBody>
      </p:sp>
      <p:graphicFrame>
        <p:nvGraphicFramePr>
          <p:cNvPr id="11" name="Chart 10"/>
          <p:cNvGraphicFramePr>
            <a:graphicFrameLocks noGrp="1"/>
          </p:cNvGraphicFramePr>
          <p:nvPr/>
        </p:nvGraphicFramePr>
        <p:xfrm>
          <a:off x="502920" y="2715768"/>
          <a:ext cx="5120640" cy="1389888"/>
        </p:xfrm>
        <a:graphic>
          <a:graphicData uri="http://schemas.openxmlformats.org/drawingml/2006/chart">
            <c:chart xmlns:c="http://schemas.openxmlformats.org/drawingml/2006/chart" r:id="rId2"/>
          </a:graphicData>
        </a:graphic>
      </p:graphicFrame>
      <p:sp>
        <p:nvSpPr>
          <p:cNvPr id="12" name="TextBox 11"/>
          <p:cNvSpPr txBox="1"/>
          <p:nvPr/>
        </p:nvSpPr>
        <p:spPr>
          <a:xfrm>
            <a:off x="5943600" y="2423160"/>
            <a:ext cx="5120640" cy="274320"/>
          </a:xfrm>
          <a:prstGeom prst="rect">
            <a:avLst/>
          </a:prstGeom>
          <a:noFill/>
        </p:spPr>
        <p:txBody>
          <a:bodyPr wrap="square" lIns="18288" rIns="18288" tIns="0" bIns="0">
            <a:spAutoFit/>
          </a:bodyPr>
          <a:lstStyle/>
          <a:p>
            <a:pPr>
              <a:spcAft>
                <a:spcPts val="800"/>
              </a:spcAft>
              <a:defRPr sz="1600" b="1">
                <a:solidFill>
                  <a:srgbClr val="000000"/>
                </a:solidFill>
                <a:latin typeface="Lato"/>
              </a:defRPr>
            </a:pPr>
            <a:r>
              <a:t>Diesel — both grades</a:t>
            </a:r>
          </a:p>
        </p:txBody>
      </p:sp>
      <p:graphicFrame>
        <p:nvGraphicFramePr>
          <p:cNvPr id="13" name="Chart 12"/>
          <p:cNvGraphicFramePr>
            <a:graphicFrameLocks noGrp="1"/>
          </p:cNvGraphicFramePr>
          <p:nvPr/>
        </p:nvGraphicFramePr>
        <p:xfrm>
          <a:off x="5943600" y="2715768"/>
          <a:ext cx="5120640" cy="1389888"/>
        </p:xfrm>
        <a:graphic>
          <a:graphicData uri="http://schemas.openxmlformats.org/drawingml/2006/chart">
            <c:chart xmlns:c="http://schemas.openxmlformats.org/drawingml/2006/chart" r:id="rId3"/>
          </a:graphicData>
        </a:graphic>
      </p:graphicFrame>
      <p:sp>
        <p:nvSpPr>
          <p:cNvPr id="14" name="TextBox 13"/>
          <p:cNvSpPr txBox="1"/>
          <p:nvPr/>
        </p:nvSpPr>
        <p:spPr>
          <a:xfrm>
            <a:off x="502920" y="4114800"/>
            <a:ext cx="5120640" cy="274320"/>
          </a:xfrm>
          <a:prstGeom prst="rect">
            <a:avLst/>
          </a:prstGeom>
          <a:noFill/>
        </p:spPr>
        <p:txBody>
          <a:bodyPr wrap="square" lIns="18288" rIns="18288" tIns="0" bIns="0">
            <a:spAutoFit/>
          </a:bodyPr>
          <a:lstStyle/>
          <a:p>
            <a:pPr>
              <a:spcAft>
                <a:spcPts val="800"/>
              </a:spcAft>
              <a:defRPr sz="1600" b="1">
                <a:solidFill>
                  <a:srgbClr val="000000"/>
                </a:solidFill>
                <a:latin typeface="Lato"/>
              </a:defRPr>
            </a:pPr>
            <a:r>
              <a:t>Jet</a:t>
            </a:r>
          </a:p>
        </p:txBody>
      </p:sp>
      <p:graphicFrame>
        <p:nvGraphicFramePr>
          <p:cNvPr id="15" name="Chart 14"/>
          <p:cNvGraphicFramePr>
            <a:graphicFrameLocks noGrp="1"/>
          </p:cNvGraphicFramePr>
          <p:nvPr/>
        </p:nvGraphicFramePr>
        <p:xfrm>
          <a:off x="502920" y="4407408"/>
          <a:ext cx="5120640" cy="1389888"/>
        </p:xfrm>
        <a:graphic>
          <a:graphicData uri="http://schemas.openxmlformats.org/drawingml/2006/chart">
            <c:chart xmlns:c="http://schemas.openxmlformats.org/drawingml/2006/chart" r:id="rId4"/>
          </a:graphicData>
        </a:graphic>
      </p:graphicFrame>
      <p:sp>
        <p:nvSpPr>
          <p:cNvPr id="16" name="TextBox 15"/>
          <p:cNvSpPr txBox="1"/>
          <p:nvPr/>
        </p:nvSpPr>
        <p:spPr>
          <a:xfrm>
            <a:off x="5943600" y="4114800"/>
            <a:ext cx="5120640" cy="274320"/>
          </a:xfrm>
          <a:prstGeom prst="rect">
            <a:avLst/>
          </a:prstGeom>
          <a:noFill/>
        </p:spPr>
        <p:txBody>
          <a:bodyPr wrap="square" lIns="18288" rIns="18288" tIns="0" bIns="0">
            <a:spAutoFit/>
          </a:bodyPr>
          <a:lstStyle/>
          <a:p>
            <a:pPr>
              <a:spcAft>
                <a:spcPts val="800"/>
              </a:spcAft>
              <a:defRPr sz="1600" b="1">
                <a:solidFill>
                  <a:srgbClr val="000000"/>
                </a:solidFill>
                <a:latin typeface="Lato"/>
              </a:defRPr>
            </a:pPr>
            <a:r>
              <a:t>Reporting scope</a:t>
            </a:r>
          </a:p>
        </p:txBody>
      </p:sp>
      <p:sp>
        <p:nvSpPr>
          <p:cNvPr id="17" name="TextBox 16"/>
          <p:cNvSpPr txBox="1"/>
          <p:nvPr/>
        </p:nvSpPr>
        <p:spPr>
          <a:xfrm>
            <a:off x="5943600" y="4572000"/>
            <a:ext cx="4937760" cy="914400"/>
          </a:xfrm>
          <a:prstGeom prst="rect">
            <a:avLst/>
          </a:prstGeom>
          <a:noFill/>
        </p:spPr>
        <p:txBody>
          <a:bodyPr wrap="square" lIns="18288" rIns="18288" tIns="0" bIns="0">
            <a:spAutoFit/>
          </a:bodyPr>
          <a:lstStyle/>
          <a:p>
            <a:pPr>
              <a:spcAft>
                <a:spcPts val="800"/>
              </a:spcAft>
              <a:defRPr sz="1500" b="0">
                <a:solidFill>
                  <a:srgbClr val="000000"/>
                </a:solidFill>
                <a:latin typeface="Lato"/>
              </a:defRPr>
            </a:pPr>
            <a:r>
              <a:t>Petrol, diesel (both grades) and jet.</a:t>
            </a:r>
          </a:p>
          <a:p>
            <a:pPr>
              <a:spcAft>
                <a:spcPts val="800"/>
              </a:spcAft>
              <a:defRPr sz="1500" b="0">
                <a:solidFill>
                  <a:srgbClr val="000000"/>
                </a:solidFill>
                <a:latin typeface="Lato"/>
              </a:defRPr>
            </a:pPr>
            <a:r>
              <a:t>Fuel oil is a separate provisional marine output; see the supplementary page.</a:t>
            </a:r>
          </a:p>
        </p:txBody>
      </p:sp>
      <p:sp>
        <p:nvSpPr>
          <p:cNvPr id="18" name="TextBox 17"/>
          <p:cNvSpPr txBox="1"/>
          <p:nvPr/>
        </p:nvSpPr>
        <p:spPr>
          <a:xfrm>
            <a:off x="502920" y="5943600"/>
            <a:ext cx="10515600" cy="246888"/>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Axes differ by fuel. Core totals exclude fuel oil; no numerical model assumptions have changed.</a:t>
            </a:r>
          </a:p>
        </p:txBody>
      </p:sp>
      <p:sp>
        <p:nvSpPr>
          <p:cNvPr id="19" name="TextBox 18"/>
          <p:cNvSpPr txBox="1"/>
          <p:nvPr/>
        </p:nvSpPr>
        <p:spPr>
          <a:xfrm>
            <a:off x="502920" y="6272784"/>
            <a:ext cx="10515600" cy="201168"/>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Deficit = demand − domestic production; not unmet demand after imports. Trade, stocks and import constraints remain unresolved.</a:t>
            </a:r>
          </a:p>
        </p:txBody>
      </p:sp>
      <p:sp>
        <p:nvSpPr>
          <p:cNvPr id="20" name="TextBox 19"/>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Saved Python 2026 high_demand / low_demand runs, 2 Oct 2026; balance_annual.csv; exact run paths in current-results-runs.json. 43 open exceptions.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585216"/>
            <a:ext cx="10561320" cy="822960"/>
          </a:xfrm>
        </p:spPr>
        <p:txBody>
          <a:bodyPr/>
          <a:lstStyle/>
          <a:p>
            <a:pPr>
              <a:defRPr sz="2900" b="1">
                <a:solidFill>
                  <a:srgbClr val="000000"/>
                </a:solidFill>
                <a:latin typeface="Lato"/>
              </a:defRPr>
            </a:pPr>
            <a:r>
              <a:rPr>
                <a:latin typeface="Lato"/>
              </a:rPr>
              <a:t>Review marine fuel oil separately from the core petrol, diesel and jet scope</a:t>
            </a:r>
          </a:p>
        </p:txBody>
      </p:sp>
      <p:sp>
        <p:nvSpPr>
          <p:cNvPr id="3" name="Slide Number Placeholder"/>
          <p:cNvSpPr>
            <a:spLocks noGrp="1"/>
          </p:cNvSpPr>
          <p:nvPr>
            <p:ph type="sldNum" sz="quarter" idx="12"/>
          </p:nvPr>
        </p:nvSpPr>
        <p:spPr/>
        <p:txBody>
          <a:bodyPr/>
          <a:lstStyle/>
          <a:p>
            <a:fld id="{1EE7358C-7A30-4288-87DA-98494FC2F743}" type="slidenum">
              <a:rPr lang="en-US"/>
              <a:t>‹#›</a:t>
            </a:fld>
          </a:p>
        </p:txBody>
      </p:sp>
      <p:sp>
        <p:nvSpPr>
          <p:cNvPr id="4" name="TextBox 3"/>
          <p:cNvSpPr txBox="1"/>
          <p:nvPr/>
        </p:nvSpPr>
        <p:spPr>
          <a:xfrm>
            <a:off x="457200" y="109728"/>
            <a:ext cx="10515600" cy="320040"/>
          </a:xfrm>
          <a:prstGeom prst="rect">
            <a:avLst/>
          </a:prstGeom>
          <a:noFill/>
        </p:spPr>
        <p:txBody>
          <a:bodyPr wrap="square" lIns="18288" rIns="18288" tIns="0" bIns="0">
            <a:spAutoFit/>
          </a:bodyPr>
          <a:lstStyle/>
          <a:p>
            <a:pPr>
              <a:spcAft>
                <a:spcPts val="800"/>
              </a:spcAft>
              <a:defRPr sz="1300" b="1">
                <a:solidFill>
                  <a:srgbClr val="000000"/>
                </a:solidFill>
                <a:latin typeface="Lato"/>
              </a:defRPr>
            </a:pPr>
            <a:r>
              <a:t>APPENDIX  |  Current evidence and build readiness</a:t>
            </a:r>
          </a:p>
        </p:txBody>
      </p:sp>
      <p:sp>
        <p:nvSpPr>
          <p:cNvPr id="5" name="TextBox 4"/>
          <p:cNvSpPr txBox="1"/>
          <p:nvPr/>
        </p:nvSpPr>
        <p:spPr>
          <a:xfrm>
            <a:off x="502920" y="1645920"/>
            <a:ext cx="10515600" cy="320040"/>
          </a:xfrm>
          <a:prstGeom prst="rect">
            <a:avLst/>
          </a:prstGeom>
          <a:noFill/>
        </p:spPr>
        <p:txBody>
          <a:bodyPr wrap="square" lIns="18288" rIns="18288" tIns="0" bIns="0">
            <a:spAutoFit/>
          </a:bodyPr>
          <a:lstStyle/>
          <a:p>
            <a:pPr>
              <a:spcAft>
                <a:spcPts val="800"/>
              </a:spcAft>
              <a:defRPr sz="1500" b="0">
                <a:solidFill>
                  <a:srgbClr val="000000"/>
                </a:solidFill>
                <a:latin typeface="Lato"/>
              </a:defRPr>
            </a:pPr>
            <a:r>
              <a:t>South Africa | 2024–2050 | billion litres per year | current paired scenarios; provisional</a:t>
            </a:r>
          </a:p>
        </p:txBody>
      </p:sp>
      <p:sp>
        <p:nvSpPr>
          <p:cNvPr id="6" name="TextBox 5"/>
          <p:cNvSpPr txBox="1"/>
          <p:nvPr/>
        </p:nvSpPr>
        <p:spPr>
          <a:xfrm>
            <a:off x="502920" y="5943600"/>
            <a:ext cx="10515600" cy="228600"/>
          </a:xfrm>
          <a:prstGeom prst="rect">
            <a:avLst/>
          </a:prstGeom>
          <a:noFill/>
        </p:spPr>
        <p:txBody>
          <a:bodyPr wrap="square" lIns="18288" rIns="18288" tIns="0" bIns="0">
            <a:spAutoFit/>
          </a:bodyPr>
          <a:lstStyle/>
          <a:p>
            <a:pPr>
              <a:spcAft>
                <a:spcPts val="800"/>
              </a:spcAft>
              <a:defRPr sz="1200" b="0">
                <a:solidFill>
                  <a:srgbClr val="000000"/>
                </a:solidFill>
                <a:latin typeface="Lato"/>
              </a:defRPr>
            </a:pPr>
            <a:r>
              <a:t>Supplementary fuel oil only: provisional marine baseline; no domestic production represented.</a:t>
            </a:r>
          </a:p>
        </p:txBody>
      </p:sp>
      <p:cxnSp>
        <p:nvCxnSpPr>
          <p:cNvPr id="7" name="Legend: Demand"/>
          <p:cNvCxnSpPr/>
          <p:nvPr/>
        </p:nvCxnSpPr>
        <p:spPr>
          <a:xfrm>
            <a:off x="502920" y="2167128"/>
            <a:ext cx="502920" cy="0"/>
          </a:xfrm>
          <a:prstGeom prst="line">
            <a:avLst/>
          </a:prstGeom>
          <a:ln w="25400">
            <a:solidFill>
              <a:srgbClr val="0A237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124712" y="2057400"/>
            <a:ext cx="3017520" cy="274320"/>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Demand</a:t>
            </a:r>
          </a:p>
        </p:txBody>
      </p:sp>
      <p:cxnSp>
        <p:nvCxnSpPr>
          <p:cNvPr id="9" name="Legend: Domestic production"/>
          <p:cNvCxnSpPr/>
          <p:nvPr/>
        </p:nvCxnSpPr>
        <p:spPr>
          <a:xfrm>
            <a:off x="2834640" y="2167128"/>
            <a:ext cx="502920" cy="0"/>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456432" y="2057400"/>
            <a:ext cx="3017520" cy="274320"/>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Domestic production</a:t>
            </a:r>
          </a:p>
        </p:txBody>
      </p:sp>
      <p:cxnSp>
        <p:nvCxnSpPr>
          <p:cNvPr id="11" name="Legend: Deficit"/>
          <p:cNvCxnSpPr/>
          <p:nvPr/>
        </p:nvCxnSpPr>
        <p:spPr>
          <a:xfrm>
            <a:off x="6400800" y="2167128"/>
            <a:ext cx="502920" cy="0"/>
          </a:xfrm>
          <a:prstGeom prst="line">
            <a:avLst/>
          </a:prstGeom>
          <a:ln w="25400">
            <a:solidFill>
              <a:srgbClr val="8491B2"/>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022592" y="2057400"/>
            <a:ext cx="3017520" cy="274320"/>
          </a:xfrm>
          <a:prstGeom prst="rect">
            <a:avLst/>
          </a:prstGeom>
          <a:noFill/>
        </p:spPr>
        <p:txBody>
          <a:bodyPr wrap="square" lIns="18288" rIns="18288" tIns="0" bIns="0">
            <a:spAutoFit/>
          </a:bodyPr>
          <a:lstStyle/>
          <a:p>
            <a:pPr>
              <a:spcAft>
                <a:spcPts val="800"/>
              </a:spcAft>
              <a:defRPr sz="1300" b="0">
                <a:solidFill>
                  <a:srgbClr val="000000"/>
                </a:solidFill>
                <a:latin typeface="Lato"/>
              </a:defRPr>
            </a:pPr>
            <a:r>
              <a:t>Deficit</a:t>
            </a:r>
          </a:p>
        </p:txBody>
      </p:sp>
      <p:sp>
        <p:nvSpPr>
          <p:cNvPr id="13" name="TextBox 12"/>
          <p:cNvSpPr txBox="1"/>
          <p:nvPr/>
        </p:nvSpPr>
        <p:spPr>
          <a:xfrm>
            <a:off x="502920" y="2514600"/>
            <a:ext cx="5029200" cy="274320"/>
          </a:xfrm>
          <a:prstGeom prst="rect">
            <a:avLst/>
          </a:prstGeom>
          <a:noFill/>
        </p:spPr>
        <p:txBody>
          <a:bodyPr wrap="square" lIns="18288" rIns="18288" tIns="0" bIns="0">
            <a:spAutoFit/>
          </a:bodyPr>
          <a:lstStyle/>
          <a:p>
            <a:pPr>
              <a:spcAft>
                <a:spcPts val="800"/>
              </a:spcAft>
              <a:defRPr sz="1800" b="1">
                <a:solidFill>
                  <a:srgbClr val="000000"/>
                </a:solidFill>
                <a:latin typeface="Lato"/>
              </a:defRPr>
            </a:pPr>
            <a:r>
              <a:t>High Demand</a:t>
            </a:r>
          </a:p>
        </p:txBody>
      </p:sp>
      <p:graphicFrame>
        <p:nvGraphicFramePr>
          <p:cNvPr id="14" name="Chart 13"/>
          <p:cNvGraphicFramePr>
            <a:graphicFrameLocks noGrp="1"/>
          </p:cNvGraphicFramePr>
          <p:nvPr/>
        </p:nvGraphicFramePr>
        <p:xfrm>
          <a:off x="502920" y="2852928"/>
          <a:ext cx="5120640" cy="2697480"/>
        </p:xfrm>
        <a:graphic>
          <a:graphicData uri="http://schemas.openxmlformats.org/drawingml/2006/chart">
            <c:chart xmlns:c="http://schemas.openxmlformats.org/drawingml/2006/chart" r:id="rId2"/>
          </a:graphicData>
        </a:graphic>
      </p:graphicFrame>
      <p:sp>
        <p:nvSpPr>
          <p:cNvPr id="15" name="TextBox 14"/>
          <p:cNvSpPr txBox="1"/>
          <p:nvPr/>
        </p:nvSpPr>
        <p:spPr>
          <a:xfrm>
            <a:off x="502920" y="5596128"/>
            <a:ext cx="5120640" cy="27432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2050 deficit: 1.5 bn litres</a:t>
            </a:r>
          </a:p>
        </p:txBody>
      </p:sp>
      <p:sp>
        <p:nvSpPr>
          <p:cNvPr id="16" name="TextBox 15"/>
          <p:cNvSpPr txBox="1"/>
          <p:nvPr/>
        </p:nvSpPr>
        <p:spPr>
          <a:xfrm>
            <a:off x="5943600" y="2514600"/>
            <a:ext cx="5029200" cy="274320"/>
          </a:xfrm>
          <a:prstGeom prst="rect">
            <a:avLst/>
          </a:prstGeom>
          <a:noFill/>
        </p:spPr>
        <p:txBody>
          <a:bodyPr wrap="square" lIns="18288" rIns="18288" tIns="0" bIns="0">
            <a:spAutoFit/>
          </a:bodyPr>
          <a:lstStyle/>
          <a:p>
            <a:pPr>
              <a:spcAft>
                <a:spcPts val="800"/>
              </a:spcAft>
              <a:defRPr sz="1800" b="1">
                <a:solidFill>
                  <a:srgbClr val="000000"/>
                </a:solidFill>
                <a:latin typeface="Lato"/>
              </a:defRPr>
            </a:pPr>
            <a:r>
              <a:t>Low Demand</a:t>
            </a:r>
          </a:p>
        </p:txBody>
      </p:sp>
      <p:graphicFrame>
        <p:nvGraphicFramePr>
          <p:cNvPr id="17" name="Chart 16"/>
          <p:cNvGraphicFramePr>
            <a:graphicFrameLocks noGrp="1"/>
          </p:cNvGraphicFramePr>
          <p:nvPr/>
        </p:nvGraphicFramePr>
        <p:xfrm>
          <a:off x="5943600" y="2852928"/>
          <a:ext cx="5120640" cy="2697480"/>
        </p:xfrm>
        <a:graphic>
          <a:graphicData uri="http://schemas.openxmlformats.org/drawingml/2006/chart">
            <c:chart xmlns:c="http://schemas.openxmlformats.org/drawingml/2006/chart" r:id="rId3"/>
          </a:graphicData>
        </a:graphic>
      </p:graphicFrame>
      <p:sp>
        <p:nvSpPr>
          <p:cNvPr id="18" name="TextBox 17"/>
          <p:cNvSpPr txBox="1"/>
          <p:nvPr/>
        </p:nvSpPr>
        <p:spPr>
          <a:xfrm>
            <a:off x="5943600" y="5596128"/>
            <a:ext cx="5120640" cy="274320"/>
          </a:xfrm>
          <a:prstGeom prst="rect">
            <a:avLst/>
          </a:prstGeom>
          <a:noFill/>
        </p:spPr>
        <p:txBody>
          <a:bodyPr wrap="square" lIns="18288" rIns="18288" tIns="0" bIns="0">
            <a:spAutoFit/>
          </a:bodyPr>
          <a:lstStyle/>
          <a:p>
            <a:pPr>
              <a:spcAft>
                <a:spcPts val="800"/>
              </a:spcAft>
              <a:defRPr sz="1500" b="1">
                <a:solidFill>
                  <a:srgbClr val="000000"/>
                </a:solidFill>
                <a:latin typeface="Lato"/>
              </a:defRPr>
            </a:pPr>
            <a:r>
              <a:t>2050 deficit: 1.4 bn litres</a:t>
            </a:r>
          </a:p>
        </p:txBody>
      </p:sp>
      <p:sp>
        <p:nvSpPr>
          <p:cNvPr id="19" name="TextBox 18"/>
          <p:cNvSpPr txBox="1"/>
          <p:nvPr/>
        </p:nvSpPr>
        <p:spPr>
          <a:xfrm>
            <a:off x="502920" y="6272784"/>
            <a:ext cx="10515600" cy="201168"/>
          </a:xfrm>
          <a:prstGeom prst="rect">
            <a:avLst/>
          </a:prstGeom>
          <a:noFill/>
        </p:spPr>
        <p:txBody>
          <a:bodyPr wrap="square" lIns="18288" rIns="18288" tIns="0" bIns="0">
            <a:spAutoFit/>
          </a:bodyPr>
          <a:lstStyle/>
          <a:p>
            <a:pPr>
              <a:spcAft>
                <a:spcPts val="800"/>
              </a:spcAft>
              <a:defRPr sz="1000" b="0">
                <a:solidFill>
                  <a:srgbClr val="000000"/>
                </a:solidFill>
                <a:latin typeface="Lato"/>
              </a:defRPr>
            </a:pPr>
            <a:r>
              <a:t>Deficit = demand − domestic production; not unmet demand after imports. Trade, stocks and import constraints remain unresolved.</a:t>
            </a:r>
          </a:p>
        </p:txBody>
      </p:sp>
      <p:sp>
        <p:nvSpPr>
          <p:cNvPr id="20" name="TextBox 19"/>
          <p:cNvSpPr txBox="1"/>
          <p:nvPr/>
        </p:nvSpPr>
        <p:spPr>
          <a:xfrm>
            <a:off x="457200" y="6556248"/>
            <a:ext cx="9235440" cy="182880"/>
          </a:xfrm>
          <a:prstGeom prst="rect">
            <a:avLst/>
          </a:prstGeom>
          <a:noFill/>
        </p:spPr>
        <p:txBody>
          <a:bodyPr wrap="square" lIns="18288" rIns="18288" tIns="0" bIns="0">
            <a:spAutoFit/>
          </a:bodyPr>
          <a:lstStyle/>
          <a:p>
            <a:pPr>
              <a:spcAft>
                <a:spcPts val="800"/>
              </a:spcAft>
              <a:defRPr sz="800" b="0">
                <a:solidFill>
                  <a:srgbClr val="000000"/>
                </a:solidFill>
                <a:latin typeface="Lato"/>
              </a:defRPr>
            </a:pPr>
            <a:r>
              <a:t>Source: Saved Python 2026 high_demand / low_demand runs, 2 Oct 2026; balance_annual.csv; exact run paths in current-results-runs.json. 43 open exceptions.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sedi.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vopak-logo-white.png"/>
          <p:cNvPicPr>
            <a:picLocks noChangeAspect="1"/>
          </p:cNvPicPr>
          <p:nvPr/>
        </p:nvPicPr>
        <p:blipFill>
          <a:blip r:embed="rId3"/>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Discussion</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2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Liquid fuels model: analyst kickoff</dc:title>
  <dc:creator>Africa International Advisors</dc:creator>
  <cp:lastModifiedBy>Nigel Zhuwaki</cp:lastModifiedBy>
  <cp:revision>1</cp:revision>
  <dcterms:created xsi:type="dcterms:W3CDTF">2017-11-16T09:19:07Z</dcterms:created>
  <dcterms:modified xsi:type="dcterms:W3CDTF">2026-10-01T12:10:22Z</dcterms:modified>
  <dc:subject>Reusable model development and proposed six-week analyst plan</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