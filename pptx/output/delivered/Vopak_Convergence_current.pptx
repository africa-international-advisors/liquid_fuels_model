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70" r:id="rId25"/>
    <p:sldId id="258" r:id="rId5"/>
    <p:sldId id="271" r:id="rId26"/>
    <p:sldId id="266" r:id="rId21"/>
    <p:sldId id="265" r:id="rId20"/>
    <p:sldId id="274" r:id="rId29"/>
    <p:sldId id="282" r:id="rId37"/>
    <p:sldId id="288" r:id="rId43"/>
    <p:sldId id="280" r:id="rId35"/>
    <p:sldId id="264" r:id="rId19"/>
    <p:sldId id="269" r:id="rId24"/>
    <p:sldId id="284" r:id="rId39"/>
    <p:sldId id="275" r:id="rId30"/>
    <p:sldId id="285" r:id="rId40"/>
    <p:sldId id="286" r:id="rId41"/>
    <p:sldId id="287" r:id="rId42"/>
    <p:sldId id="259" r:id="rId16"/>
    <p:sldId id="272" r:id="rId27"/>
    <p:sldId id="273" r:id="rId28"/>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7.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22.xml"/><Relationship Id="rId17" Type="http://schemas.openxmlformats.org/officeDocument/2006/relationships/slide" Target="slides/slide5.xml"/><Relationship Id="rId18" Type="http://schemas.openxmlformats.org/officeDocument/2006/relationships/slide" Target="slides/slide29.xml"/><Relationship Id="rId19" Type="http://schemas.openxmlformats.org/officeDocument/2006/relationships/slide" Target="slides/slide15.xml"/><Relationship Id="rId20" Type="http://schemas.openxmlformats.org/officeDocument/2006/relationships/slide" Target="slides/slide10.xml"/><Relationship Id="rId21" Type="http://schemas.openxmlformats.org/officeDocument/2006/relationships/slide" Target="slides/slide9.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16.xml"/><Relationship Id="rId25" Type="http://schemas.openxmlformats.org/officeDocument/2006/relationships/slide" Target="slides/slide6.xml"/><Relationship Id="rId26" Type="http://schemas.openxmlformats.org/officeDocument/2006/relationships/slide" Target="slides/slide8.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11.xml"/><Relationship Id="rId30" Type="http://schemas.openxmlformats.org/officeDocument/2006/relationships/slide" Target="slides/slide18.xml"/><Relationship Id="rId31" Type="http://schemas.openxmlformats.org/officeDocument/2006/relationships/slide" Target="slides/slide30.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14.xml"/><Relationship Id="rId36" Type="http://schemas.openxmlformats.org/officeDocument/2006/relationships/slide" Target="slides/slide2.xml"/><Relationship Id="rId37" Type="http://schemas.openxmlformats.org/officeDocument/2006/relationships/slide" Target="slides/slide12.xml"/><Relationship Id="rId38" Type="http://schemas.openxmlformats.org/officeDocument/2006/relationships/slide" Target="slides/slide25.xml"/><Relationship Id="rId39" Type="http://schemas.openxmlformats.org/officeDocument/2006/relationships/slide" Target="slides/slide17.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13.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D9D9D9"/>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Department sales</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10.773208065062</c:v>
                </c:pt>
                <c:pt idx="1">
                  <c:v>8.761470961496</c:v>
                </c:pt>
                <c:pt idx="2">
                  <c:v>9.301584227683001</c:v>
                </c:pt>
                <c:pt idx="3">
                  <c:v>9.184869915573</c:v>
                </c:pt>
                <c:pt idx="4">
                  <c:v>9.036950113492</c:v>
                </c:pt>
              </c:numCache>
            </c:numRef>
          </c:val>
          <c:smooth val="0"/>
        </c:ser>
        <c:ser>
          <c:idx val="1"/>
          <c:order val="1"/>
          <c:tx>
            <c:strRef>
              <c:f>Sheet1!$C$1</c:f>
              <c:strCache>
                <c:ptCount val="1"/>
                <c:pt idx="0">
                  <c:v>FIASA 2024 sales</c:v>
                </c:pt>
              </c:strCache>
            </c:strRef>
          </c:tx>
          <c:spPr>
            <a:solidFill>
              <a:srgbClr val="546CA2"/>
            </a:solidFill>
            <a:ln w="25400">
              <a:solidFill>
                <a:srgbClr val="0A2373"/>
              </a:solidFill>
            </a:ln>
          </c:spPr>
          <c:marker>
            <c:symbol val="diamond"/>
            <c:size val="8"/>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5">
                  <c:v>9.029</c:v>
                </c:pt>
              </c:numCache>
            </c:numRef>
          </c:val>
          <c:smooth val="0"/>
        </c:ser>
        <c:ser>
          <c:idx val="2"/>
          <c:order val="2"/>
          <c:tx>
            <c:strRef>
              <c:f>Sheet1!$D$1</c:f>
              <c:strCache>
                <c:ptCount val="1"/>
                <c:pt idx="0">
                  <c:v>Imports</c:v>
                </c:pt>
              </c:strCache>
            </c:strRef>
          </c:tx>
          <c:spPr>
            <a:solidFill>
              <a:srgbClr val="404040"/>
            </a:solidFill>
            <a:ln w="25400">
              <a:solidFill>
                <a:srgbClr val="546CA2"/>
              </a:solidFill>
            </a:ln>
          </c:spPr>
          <c:marker>
            <c:symbol val="circle"/>
            <c:size val="4"/>
            <c:spPr>
              <a:solidFill>
                <a:srgbClr val="546CA2"/>
              </a:solidFill>
              <a:ln>
                <a:solidFill>
                  <a:srgbClr val="546CA2"/>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1.4773858410899998</c:v>
                </c:pt>
                <c:pt idx="1">
                  <c:v>1.71967306448</c:v>
                </c:pt>
                <c:pt idx="2">
                  <c:v>4.00861276378</c:v>
                </c:pt>
                <c:pt idx="3">
                  <c:v>5.45526181472</c:v>
                </c:pt>
                <c:pt idx="4">
                  <c:v>4.48277476038</c:v>
                </c:pt>
                <c:pt idx="5">
                  <c:v>4.00085443345</c:v>
                </c:pt>
                <c:pt idx="6">
                  <c:v>4.45347117815</c:v>
                </c:pt>
              </c:numCache>
            </c:numRef>
          </c:val>
          <c:smooth val="0"/>
        </c:ser>
        <c:ser>
          <c:idx val="3"/>
          <c:order val="3"/>
          <c:tx>
            <c:strRef>
              <c:f>Sheet1!$E$1</c:f>
              <c:strCache>
                <c:ptCount val="1"/>
                <c:pt idx="0">
                  <c:v>Exports</c:v>
                </c:pt>
              </c:strCache>
            </c:strRef>
          </c:tx>
          <c:spPr>
            <a:solidFill>
              <a:srgbClr val="767676"/>
            </a:solidFill>
            <a:ln w="25400">
              <a:solidFill>
                <a:srgbClr val="000000"/>
              </a:solidFill>
            </a:ln>
          </c:spPr>
          <c:marker>
            <c:symbol val="circl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Sheet1!$E$2:$E$8</c:f>
              <c:numCache>
                <c:formatCode>General</c:formatCode>
                <c:ptCount val="7"/>
                <c:pt idx="0">
                  <c:v>1.1747017778900002</c:v>
                </c:pt>
                <c:pt idx="1">
                  <c:v>1.1547790711800001</c:v>
                </c:pt>
                <c:pt idx="2">
                  <c:v>1.0524951445700002</c:v>
                </c:pt>
                <c:pt idx="3">
                  <c:v>0.85461371378</c:v>
                </c:pt>
                <c:pt idx="4">
                  <c:v>0.9940195590199999</c:v>
                </c:pt>
                <c:pt idx="5">
                  <c:v>0.91974501589</c:v>
                </c:pt>
                <c:pt idx="6">
                  <c:v>0.801762466</c:v>
                </c:pt>
              </c:numCache>
            </c:numRef>
          </c:val>
          <c:smooth val="0"/>
        </c:ser>
        <c:ser>
          <c:idx val="4"/>
          <c:order val="4"/>
          <c:tx>
            <c:strRef>
              <c:f>Sheet1!$F$1</c:f>
              <c:strCache>
                <c:ptCount val="1"/>
                <c:pt idx="0">
                  <c:v>Net imports</c:v>
                </c:pt>
              </c:strCache>
            </c:strRef>
          </c:tx>
          <c:spPr>
            <a:solidFill>
              <a:srgbClr val="767676"/>
            </a:solidFill>
            <a:ln w="22860">
              <a:solidFill>
                <a:srgbClr val="0A2373"/>
              </a:solidFill>
              <a:prstDash val="dash"/>
            </a:ln>
          </c:spPr>
          <c:marker>
            <c:symbol val="non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Sheet1!$F$2:$F$8</c:f>
              <c:numCache>
                <c:formatCode>General</c:formatCode>
                <c:ptCount val="7"/>
                <c:pt idx="0">
                  <c:v>0.30268406319999963</c:v>
                </c:pt>
                <c:pt idx="1">
                  <c:v>0.5648939932999999</c:v>
                </c:pt>
                <c:pt idx="2">
                  <c:v>2.9561176192100005</c:v>
                </c:pt>
                <c:pt idx="3">
                  <c:v>4.60064810094</c:v>
                </c:pt>
                <c:pt idx="4">
                  <c:v>3.48875520136</c:v>
                </c:pt>
                <c:pt idx="5">
                  <c:v>3.0811094175599996</c:v>
                </c:pt>
                <c:pt idx="6">
                  <c:v>3.65170871215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15.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Department sales</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12.908631232217</c:v>
                </c:pt>
                <c:pt idx="1">
                  <c:v>11.689957759296</c:v>
                </c:pt>
                <c:pt idx="2">
                  <c:v>12.945782750434999</c:v>
                </c:pt>
                <c:pt idx="3">
                  <c:v>12.717326319019001</c:v>
                </c:pt>
                <c:pt idx="4">
                  <c:v>12.907499965808</c:v>
                </c:pt>
              </c:numCache>
            </c:numRef>
          </c:val>
          <c:smooth val="0"/>
        </c:ser>
        <c:ser>
          <c:idx val="1"/>
          <c:order val="1"/>
          <c:tx>
            <c:strRef>
              <c:f>Sheet1!$C$1</c:f>
              <c:strCache>
                <c:ptCount val="1"/>
                <c:pt idx="0">
                  <c:v>FIASA 2024 sales</c:v>
                </c:pt>
              </c:strCache>
            </c:strRef>
          </c:tx>
          <c:spPr>
            <a:solidFill>
              <a:srgbClr val="546CA2"/>
            </a:solidFill>
            <a:ln w="25400">
              <a:solidFill>
                <a:srgbClr val="0A2373"/>
              </a:solidFill>
            </a:ln>
          </c:spPr>
          <c:marker>
            <c:symbol val="diamond"/>
            <c:size val="8"/>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5">
                  <c:v>11.734</c:v>
                </c:pt>
              </c:numCache>
            </c:numRef>
          </c:val>
          <c:smooth val="0"/>
        </c:ser>
        <c:ser>
          <c:idx val="2"/>
          <c:order val="2"/>
          <c:tx>
            <c:strRef>
              <c:f>Sheet1!$D$1</c:f>
              <c:strCache>
                <c:ptCount val="1"/>
                <c:pt idx="0">
                  <c:v>Imports</c:v>
                </c:pt>
              </c:strCache>
            </c:strRef>
          </c:tx>
          <c:spPr>
            <a:solidFill>
              <a:srgbClr val="404040"/>
            </a:solidFill>
            <a:ln w="25400">
              <a:solidFill>
                <a:srgbClr val="546CA2"/>
              </a:solidFill>
            </a:ln>
          </c:spPr>
          <c:marker>
            <c:symbol val="circle"/>
            <c:size val="4"/>
            <c:spPr>
              <a:solidFill>
                <a:srgbClr val="546CA2"/>
              </a:solidFill>
              <a:ln>
                <a:solidFill>
                  <a:srgbClr val="546CA2"/>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5.590272108560001</c:v>
                </c:pt>
                <c:pt idx="1">
                  <c:v>6.81498544784</c:v>
                </c:pt>
                <c:pt idx="2">
                  <c:v>9.761395305739999</c:v>
                </c:pt>
                <c:pt idx="3">
                  <c:v>11.9542565479</c:v>
                </c:pt>
                <c:pt idx="4">
                  <c:v>12.87003210067</c:v>
                </c:pt>
                <c:pt idx="5">
                  <c:v>10.792547134049999</c:v>
                </c:pt>
                <c:pt idx="6">
                  <c:v>12.24872026207</c:v>
                </c:pt>
              </c:numCache>
            </c:numRef>
          </c:val>
          <c:smooth val="0"/>
        </c:ser>
        <c:ser>
          <c:idx val="3"/>
          <c:order val="3"/>
          <c:tx>
            <c:strRef>
              <c:f>Sheet1!$E$1</c:f>
              <c:strCache>
                <c:ptCount val="1"/>
                <c:pt idx="0">
                  <c:v>Exports</c:v>
                </c:pt>
              </c:strCache>
            </c:strRef>
          </c:tx>
          <c:spPr>
            <a:solidFill>
              <a:srgbClr val="767676"/>
            </a:solidFill>
            <a:ln w="25400">
              <a:solidFill>
                <a:srgbClr val="000000"/>
              </a:solidFill>
            </a:ln>
          </c:spPr>
          <c:marker>
            <c:symbol val="circl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Sheet1!$E$2:$E$8</c:f>
              <c:numCache>
                <c:formatCode>General</c:formatCode>
                <c:ptCount val="7"/>
                <c:pt idx="0">
                  <c:v>1.7413773122</c:v>
                </c:pt>
                <c:pt idx="1">
                  <c:v>0.91381452025</c:v>
                </c:pt>
                <c:pt idx="2">
                  <c:v>0.8934881057699999</c:v>
                </c:pt>
                <c:pt idx="3">
                  <c:v>0.88919906782</c:v>
                </c:pt>
                <c:pt idx="4">
                  <c:v>0.88944590792</c:v>
                </c:pt>
                <c:pt idx="5">
                  <c:v>0.79583467852</c:v>
                </c:pt>
                <c:pt idx="6">
                  <c:v>0.7467002100700001</c:v>
                </c:pt>
              </c:numCache>
            </c:numRef>
          </c:val>
          <c:smooth val="0"/>
        </c:ser>
        <c:ser>
          <c:idx val="4"/>
          <c:order val="4"/>
          <c:tx>
            <c:strRef>
              <c:f>Sheet1!$F$1</c:f>
              <c:strCache>
                <c:ptCount val="1"/>
                <c:pt idx="0">
                  <c:v>Net imports</c:v>
                </c:pt>
              </c:strCache>
            </c:strRef>
          </c:tx>
          <c:spPr>
            <a:solidFill>
              <a:srgbClr val="767676"/>
            </a:solidFill>
            <a:ln w="22860">
              <a:solidFill>
                <a:srgbClr val="0A2373"/>
              </a:solidFill>
              <a:prstDash val="dash"/>
            </a:ln>
          </c:spPr>
          <c:marker>
            <c:symbol val="non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Sheet1!$F$2:$F$8</c:f>
              <c:numCache>
                <c:formatCode>General</c:formatCode>
                <c:ptCount val="7"/>
                <c:pt idx="0">
                  <c:v>3.8488947963600006</c:v>
                </c:pt>
                <c:pt idx="1">
                  <c:v>5.90117092759</c:v>
                </c:pt>
                <c:pt idx="2">
                  <c:v>8.867907199969999</c:v>
                </c:pt>
                <c:pt idx="3">
                  <c:v>11.06505748008</c:v>
                </c:pt>
                <c:pt idx="4">
                  <c:v>11.98058619275</c:v>
                </c:pt>
                <c:pt idx="5">
                  <c:v>9.996712455529998</c:v>
                </c:pt>
                <c:pt idx="6">
                  <c:v>11.502020052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15.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2">
                  <c:v>7.27979359</c:v>
                </c:pt>
                <c:pt idx="3">
                  <c:v>7.130303529232998</c:v>
                </c:pt>
                <c:pt idx="4">
                  <c:v>7.213928482944991</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circle"/>
            <c:size val="4"/>
            <c:spPr>
              <a:solidFill>
                <a:srgbClr val="546CA2"/>
              </a:solidFill>
              <a:ln>
                <a:solidFill>
                  <a:srgbClr val="546CA2"/>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2">
                  <c:v>3.912559734</c:v>
                </c:pt>
                <c:pt idx="3">
                  <c:v>3.942573461657999</c:v>
                </c:pt>
                <c:pt idx="4">
                  <c:v>4.185357397407999</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circle"/>
            <c:size val="4"/>
            <c:spPr>
              <a:solidFill>
                <a:srgbClr val="404040"/>
              </a:solidFill>
              <a:ln>
                <a:solidFill>
                  <a:srgbClr val="404040"/>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2">
                  <c:v>4.69646532</c:v>
                </c:pt>
                <c:pt idx="3">
                  <c:v>3.721210313077999</c:v>
                </c:pt>
                <c:pt idx="4">
                  <c:v>3.627265157763995</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25400">
              <a:solidFill>
                <a:srgbClr val="809CC7"/>
              </a:solidFill>
            </a:ln>
          </c:spPr>
          <c:marker>
            <c:symbol val="circle"/>
            <c:size val="4"/>
            <c:spPr>
              <a:solidFill>
                <a:srgbClr val="809CC7"/>
              </a:solidFill>
              <a:ln>
                <a:solidFill>
                  <a:srgbClr val="809CC7"/>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2">
                  <c:v>2.454368402</c:v>
                </c:pt>
                <c:pt idx="3">
                  <c:v>2.6606009079020003</c:v>
                </c:pt>
                <c:pt idx="4">
                  <c:v>2.508828751910999</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25400">
              <a:solidFill>
                <a:srgbClr val="3D619D"/>
              </a:solidFill>
            </a:ln>
          </c:spPr>
          <c:marker>
            <c:symbol val="circle"/>
            <c:size val="4"/>
            <c:spPr>
              <a:solidFill>
                <a:srgbClr val="3D619D"/>
              </a:solidFill>
              <a:ln>
                <a:solidFill>
                  <a:srgbClr val="3D619D"/>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2">
                  <c:v>1.7991415320000002</c:v>
                </c:pt>
                <c:pt idx="3">
                  <c:v>1.785883066283</c:v>
                </c:pt>
                <c:pt idx="4">
                  <c:v>1.7690115308639982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25400">
              <a:solidFill>
                <a:srgbClr val="767676"/>
              </a:solidFill>
            </a:ln>
          </c:spPr>
          <c:marker>
            <c:symbol val="circle"/>
            <c:size val="4"/>
            <c:spPr>
              <a:solidFill>
                <a:srgbClr val="767676"/>
              </a:solidFill>
              <a:ln>
                <a:solidFill>
                  <a:srgbClr val="767676"/>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2">
                  <c:v>2.180302781</c:v>
                </c:pt>
                <c:pt idx="3">
                  <c:v>1.939700986869</c:v>
                </c:pt>
                <c:pt idx="4">
                  <c:v>1.744134882427</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25400">
              <a:solidFill>
                <a:srgbClr val="BACCE4"/>
              </a:solidFill>
            </a:ln>
          </c:spPr>
          <c:marker>
            <c:symbol val="circle"/>
            <c:size val="4"/>
            <c:spPr>
              <a:solidFill>
                <a:srgbClr val="BACCE4"/>
              </a:solidFill>
              <a:ln>
                <a:solidFill>
                  <a:srgbClr val="BACCE4"/>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2">
                  <c:v>1.1888144409999999</c:v>
                </c:pt>
                <c:pt idx="3">
                  <c:v>1.1648558408760001</c:v>
                </c:pt>
                <c:pt idx="4">
                  <c:v>1.1013055398449991</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25400">
              <a:solidFill>
                <a:srgbClr val="A0A0A0"/>
              </a:solidFill>
            </a:ln>
          </c:spPr>
          <c:marker>
            <c:symbol val="circle"/>
            <c:size val="4"/>
            <c:spPr>
              <a:solidFill>
                <a:srgbClr val="A0A0A0"/>
              </a:solidFill>
              <a:ln>
                <a:solidFill>
                  <a:srgbClr val="A0A0A0"/>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2">
                  <c:v>0.7817361970000001</c:v>
                </c:pt>
                <c:pt idx="3">
                  <c:v>0.666418652288</c:v>
                </c:pt>
                <c:pt idx="4">
                  <c:v>0.6305076475039999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25400">
              <a:solidFill>
                <a:srgbClr val="BDBEC1"/>
              </a:solidFill>
            </a:ln>
          </c:spPr>
          <c:marker>
            <c:symbol val="circle"/>
            <c:size val="4"/>
            <c:spPr>
              <a:solidFill>
                <a:srgbClr val="BDBEC1"/>
              </a:solidFill>
              <a:ln>
                <a:solidFill>
                  <a:srgbClr val="BDBEC1"/>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2">
                  <c:v>0.6686238340000001</c:v>
                </c:pt>
                <c:pt idx="3">
                  <c:v>0.533079746921</c:v>
                </c:pt>
                <c:pt idx="4">
                  <c:v>0.538621802891</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Sasol</c:v>
                </c:pt>
              </c:strCache>
            </c:strRef>
          </c:tx>
          <c:spPr>
            <a:solidFill>
              <a:srgbClr val="0A2373"/>
            </a:solidFill>
            <a:ln w="25400">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150.0</c:v>
                </c:pt>
                <c:pt idx="1">
                  <c:v>150.0</c:v>
                </c:pt>
                <c:pt idx="2">
                  <c:v>150.0</c:v>
                </c:pt>
                <c:pt idx="3">
                  <c:v>150.0</c:v>
                </c:pt>
                <c:pt idx="4">
                  <c:v>150.0</c:v>
                </c:pt>
                <c:pt idx="5">
                  <c:v>150.0</c:v>
                </c:pt>
                <c:pt idx="6">
                  <c:v>150.0</c:v>
                </c:pt>
                <c:pt idx="7">
                  <c:v>150.0</c:v>
                </c:pt>
                <c:pt idx="8">
                  <c:v>150.0</c:v>
                </c:pt>
                <c:pt idx="9">
                  <c:v>150.0</c:v>
                </c:pt>
                <c:pt idx="10">
                  <c:v>150.0</c:v>
                </c:pt>
                <c:pt idx="11">
                  <c:v>150.0</c:v>
                </c:pt>
                <c:pt idx="12">
                  <c:v>150.0</c:v>
                </c:pt>
                <c:pt idx="13">
                  <c:v>150.0</c:v>
                </c:pt>
                <c:pt idx="14">
                  <c:v>150.0</c:v>
                </c:pt>
                <c:pt idx="15">
                  <c:v>150.0</c:v>
                </c:pt>
                <c:pt idx="16">
                  <c:v>150.0</c:v>
                </c:pt>
                <c:pt idx="17">
                  <c:v>150.0</c:v>
                </c:pt>
                <c:pt idx="18">
                  <c:v>150.0</c:v>
                </c:pt>
                <c:pt idx="19">
                  <c:v>150.0</c:v>
                </c:pt>
                <c:pt idx="20">
                  <c:v>150.0</c:v>
                </c:pt>
              </c:numCache>
            </c:numRef>
          </c:val>
        </c:ser>
        <c:ser>
          <c:idx val="1"/>
          <c:order val="1"/>
          <c:tx>
            <c:strRef>
              <c:f>Sheet1!$C$1</c:f>
              <c:strCache>
                <c:ptCount val="1"/>
                <c:pt idx="0">
                  <c:v>Natref</c:v>
                </c:pt>
              </c:strCache>
            </c:strRef>
          </c:tx>
          <c:spPr>
            <a:solidFill>
              <a:srgbClr val="546CA2"/>
            </a:solidFill>
            <a:ln w="25400">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108.0</c:v>
                </c:pt>
                <c:pt idx="1">
                  <c:v>108.0</c:v>
                </c:pt>
                <c:pt idx="2">
                  <c:v>108.0</c:v>
                </c:pt>
                <c:pt idx="3">
                  <c:v>108.0</c:v>
                </c:pt>
                <c:pt idx="4">
                  <c:v>108.0</c:v>
                </c:pt>
                <c:pt idx="5">
                  <c:v>108.0</c:v>
                </c:pt>
                <c:pt idx="6">
                  <c:v>108.0</c:v>
                </c:pt>
                <c:pt idx="7">
                  <c:v>108.0</c:v>
                </c:pt>
                <c:pt idx="8">
                  <c:v>108.0</c:v>
                </c:pt>
                <c:pt idx="9">
                  <c:v>108.0</c:v>
                </c:pt>
                <c:pt idx="10">
                  <c:v>108.0</c:v>
                </c:pt>
                <c:pt idx="11">
                  <c:v>108.0</c:v>
                </c:pt>
                <c:pt idx="12">
                  <c:v>108.0</c:v>
                </c:pt>
                <c:pt idx="13">
                  <c:v>108.0</c:v>
                </c:pt>
                <c:pt idx="14">
                  <c:v>108.0</c:v>
                </c:pt>
                <c:pt idx="15">
                  <c:v>108.0</c:v>
                </c:pt>
                <c:pt idx="16">
                  <c:v>108.0</c:v>
                </c:pt>
                <c:pt idx="17">
                  <c:v>108.0</c:v>
                </c:pt>
                <c:pt idx="18">
                  <c:v>108.0</c:v>
                </c:pt>
                <c:pt idx="19">
                  <c:v>108.0</c:v>
                </c:pt>
                <c:pt idx="20">
                  <c:v>108.0</c:v>
                </c:pt>
              </c:numCache>
            </c:numRef>
          </c:val>
        </c:ser>
        <c:ser>
          <c:idx val="2"/>
          <c:order val="2"/>
          <c:tx>
            <c:strRef>
              <c:f>Sheet1!$D$1</c:f>
              <c:strCache>
                <c:ptCount val="1"/>
                <c:pt idx="0">
                  <c:v>Astron Energy</c:v>
                </c:pt>
              </c:strCache>
            </c:strRef>
          </c:tx>
          <c:spPr>
            <a:solidFill>
              <a:srgbClr val="809CC7"/>
            </a:solidFill>
            <a:ln w="25400">
              <a:solidFill>
                <a:srgbClr val="809CC7"/>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Sheet1!$D$2:$D$22</c:f>
              <c:numCache>
                <c:formatCode>General</c:formatCode>
                <c:ptCount val="21"/>
                <c:pt idx="0">
                  <c:v>100.0</c:v>
                </c:pt>
                <c:pt idx="1">
                  <c:v>100.0</c:v>
                </c:pt>
                <c:pt idx="2">
                  <c:v>100.0</c:v>
                </c:pt>
                <c:pt idx="3">
                  <c:v>100.0</c:v>
                </c:pt>
                <c:pt idx="4">
                  <c:v>100.0</c:v>
                </c:pt>
                <c:pt idx="5">
                  <c:v>100.0</c:v>
                </c:pt>
                <c:pt idx="6">
                  <c:v>100.0</c:v>
                </c:pt>
                <c:pt idx="7">
                  <c:v>100.0</c:v>
                </c:pt>
                <c:pt idx="8">
                  <c:v>100.0</c:v>
                </c:pt>
                <c:pt idx="9">
                  <c:v>100.0</c:v>
                </c:pt>
                <c:pt idx="10">
                  <c:v>100.0</c:v>
                </c:pt>
                <c:pt idx="11">
                  <c:v>100.0</c:v>
                </c:pt>
                <c:pt idx="12">
                  <c:v>100.0</c:v>
                </c:pt>
                <c:pt idx="13">
                  <c:v>100.0</c:v>
                </c:pt>
                <c:pt idx="14">
                  <c:v>100.0</c:v>
                </c:pt>
                <c:pt idx="15">
                  <c:v>100.0</c:v>
                </c:pt>
                <c:pt idx="16">
                  <c:v>100.0</c:v>
                </c:pt>
                <c:pt idx="17">
                  <c:v>100.0</c:v>
                </c:pt>
                <c:pt idx="18">
                  <c:v>100.0</c:v>
                </c:pt>
                <c:pt idx="19">
                  <c:v>100.0</c:v>
                </c:pt>
                <c:pt idx="20">
                  <c:v>100.0</c:v>
                </c:pt>
              </c:numCache>
            </c:numRef>
          </c:val>
        </c:ser>
        <c:ser>
          <c:idx val="3"/>
          <c:order val="3"/>
          <c:tx>
            <c:strRef>
              <c:f>Sheet1!$E$1</c:f>
              <c:strCache>
                <c:ptCount val="1"/>
                <c:pt idx="0">
                  <c:v>PetroSA</c:v>
                </c:pt>
              </c:strCache>
            </c:strRef>
          </c:tx>
          <c:spPr>
            <a:solidFill>
              <a:srgbClr val="E3EBF6"/>
            </a:solidFill>
            <a:ln w="25400">
              <a:solidFill>
                <a:srgbClr val="E3EBF6"/>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Sheet1!$E$2:$E$22</c:f>
              <c:numCache>
                <c:formatCode>General</c:formatCode>
                <c:ptCount val="21"/>
                <c:pt idx="0">
                  <c:v>45.0</c:v>
                </c:pt>
                <c:pt idx="1">
                  <c:v>45.0</c:v>
                </c:pt>
                <c:pt idx="2">
                  <c:v>45.0</c:v>
                </c:pt>
                <c:pt idx="3">
                  <c:v>45.0</c:v>
                </c:pt>
                <c:pt idx="4">
                  <c:v>45.0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4"/>
          <c:order val="4"/>
          <c:tx>
            <c:strRef>
              <c:f>Sheet1!$F$1</c:f>
              <c:strCache>
                <c:ptCount val="1"/>
                <c:pt idx="0">
                  <c:v>Enref</c:v>
                </c:pt>
              </c:strCache>
            </c:strRef>
          </c:tx>
          <c:spPr>
            <a:solidFill>
              <a:srgbClr val="767676"/>
            </a:solidFill>
            <a:ln w="25400">
              <a:solidFill>
                <a:srgbClr val="767676"/>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Sheet1!$F$2:$F$22</c:f>
              <c:numCache>
                <c:formatCode>General</c:formatCode>
                <c:ptCount val="21"/>
                <c:pt idx="0">
                  <c:v>135.0</c:v>
                </c:pt>
                <c:pt idx="1">
                  <c:v>135.0</c:v>
                </c:pt>
                <c:pt idx="2">
                  <c:v>135.0</c:v>
                </c:pt>
                <c:pt idx="3">
                  <c:v>135.0</c:v>
                </c:pt>
                <c:pt idx="4">
                  <c:v>135.0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5"/>
          <c:order val="5"/>
          <c:tx>
            <c:strRef>
              <c:f>Sheet1!$G$1</c:f>
              <c:strCache>
                <c:ptCount val="1"/>
                <c:pt idx="0">
                  <c:v>Sapref</c:v>
                </c:pt>
              </c:strCache>
            </c:strRef>
          </c:tx>
          <c:spPr>
            <a:solidFill>
              <a:srgbClr val="404040"/>
            </a:solidFill>
            <a:ln w="25400">
              <a:solidFill>
                <a:srgbClr val="404040"/>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Sheet1!$G$2:$G$22</c:f>
              <c:numCache>
                <c:formatCode>General</c:formatCode>
                <c:ptCount val="21"/>
                <c:pt idx="0">
                  <c:v>180.0</c:v>
                </c:pt>
                <c:pt idx="1">
                  <c:v>180.0</c:v>
                </c:pt>
                <c:pt idx="2">
                  <c:v>180.0</c:v>
                </c:pt>
                <c:pt idx="3">
                  <c:v>180.0</c:v>
                </c:pt>
                <c:pt idx="4">
                  <c:v>180.0</c:v>
                </c:pt>
                <c:pt idx="5">
                  <c:v>180.0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6"/>
          <c:order val="6"/>
          <c:tx>
            <c:strRef>
              <c:f>Sheet1!$H$1</c:f>
              <c:strCache>
                <c:ptCount val="1"/>
                <c:pt idx="0">
                  <c:v>SAPREF / CEF proposal</c:v>
                </c:pt>
              </c:strCache>
            </c:strRef>
          </c:tx>
          <c:spPr>
            <a:solidFill>
              <a:srgbClr val="BDBEC1"/>
            </a:solidFill>
            <a:ln w="25400">
              <a:solidFill>
                <a:srgbClr val="BDBEC1"/>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Sheet1!$H$2:$H$22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noMultiLvlLbl val="0"/>
        <c:tickLblSkip val="2"/>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Approved scope: both competitive and margin tests for each feasible route to the same customer/product. Include acquisition, storage/handling, transport, border costs where relevant, stock financing and losses exactly once. Competitive test requires feasibility and comparable service. Profitability is supplier economics, distinct from Vopak terminal margin. Owner Nigel/Manish; resolve before numerical route breakpoint or customer capture is presented.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Combined with former page 6. Same chart observations; 2014 and 2018 suppressed pending source decisions. Map legend is a volume scale, chart legend identifies provinces.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Overview rows numbered continuously 1–7: S1, S2, S/C3, C4, C5, R6, R7. Each analytical title starts with its matching row reference(s).</a:t>
            </a:r>
          </a:p>
          <a:p>
            <a:r>
              <a:t>Agenda-led opening answer. Henry prompt-by-prompt current responses are on pages 20–22. Source pp30–32; open is not closed.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Custom legend: editable header key, Sales proxy / Imports / Exports. Exports darkened to #D9D9D9 for visibility; bar and swatch match. Reported sales remain an unverified consumption proxy; series values unchanged.</a:t>
            </a:r>
          </a:p>
          <a:p>
            <a:r>
              <a:t>Lower duplicate accounting blocks moved to notes:</a:t>
            </a:r>
          </a:p>
          <a:p>
            <a:r>
              <a:t>Primary trade | SARS customs</a:t>
            </a:r>
          </a:p>
          <a:p>
            <a:r>
              <a:t>Diesel imports 10.793 bn L.</a:t>
            </a:r>
          </a:p>
          <a:p>
            <a:r>
              <a:t>Government rounds to 10.800; FIASA 14.793.</a:t>
            </a:r>
          </a:p>
          <a:p>
            <a:r>
              <a:t>Use SARS; retain the source discrepancy.</a:t>
            </a:r>
          </a:p>
          <a:p>
            <a:r>
              <a:t>2024 accounting remains open</a:t>
            </a:r>
          </a:p>
          <a:p>
            <a:r>
              <a:t>Sales less net imports = 7.685 bn L.</a:t>
            </a:r>
          </a:p>
          <a:p>
            <a:r>
              <a:t>Balancing requirement, not production.</a:t>
            </a:r>
          </a:p>
          <a:p>
            <a:r>
              <a:t>Production, stocks and coverage unresolved.</a:t>
            </a:r>
          </a:p>
          <a:p>
            <a:r>
              <a:t>7 Oct trade layout: enlarge the grouped trade/sales chart, remove gridlines and retain one net-import summary. Source selection and residual are explained once in the RHS panel. Chart values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The former 20.763 bn litre figure sums selected 2024 reported petrol and diesel sales. It is not a model demand result. The recorded workbook has 16.433 bn litres of road petrol/diesel demand and 23.984 bn litres when the additional modelled diesel sectors are included. The broader diesel scope includes marine and remains unreconciled. Neither total is presented as a verified replacement market size.</a:t>
            </a:r>
          </a:p>
          <a:p>
            <a:r>
              <a:t>National time-series evidence: {"petrol": {"department_sales": [10.773208065062, 8.761470961496, 9.301584227683001, 9.184869915573, 9.036950113492, null, null], "fiasa_2024": [null, null, null, null, null, 9.029, null], "imports": [1.4773858410899998, 1.71967306448, 4.00861276378, 5.45526181472, 4.48277476038, 4.00085443345, 4.45347117815], "exports": [1.1747017778900002, 1.1547790711800001, 1.0524951445700002, 0.85461371378, 0.9940195590199999, 0.91974501589, 0.801762466], "net_imports": [0.3026840631999998, 0.5648939932999999, 2.95611761921, 4.600648100940001, 3.48875520136, 3.08110941756, 3.6517087121499996], "net_import_change_pct": 18.519280468847164}, "diesel": {"department_sales": [12.908631232217, 11.689957759296, 12.945782750434999, 12.717326319019001, 12.907499965808, null, null], "fiasa_2024": [null, null, null, null, null, 11.734, null], "imports": [5.590272108560001, 6.81498544784, 9.761395305739999, 11.9542565479, 12.87003210067, 10.792547134049999, 12.24872026207], "exports": [1.7413773122, 0.91381452025, 0.8934881057699999, 0.88919906782, 0.88944590792, 0.79583467852, 0.7467002100700001], "net_imports": [3.8488947963600006, 5.90117092759, 8.867907199969999, 11.06505748008, 11.98058619275, 9.996712455529998, 11.502020052], "net_import_change_pct": 15.058026357828203}}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Refinery exhibit caveats moved to speaker notes:</a:t>
            </a:r>
          </a:p>
          <a:p>
            <a:r>
              <a:t>History 2016–2025 is sourced; 2026 onward is illustrative, not a forecast</a:t>
            </a:r>
          </a:p>
          <a:p>
            <a:r>
              <a:t>Reported FY2024 output: Secunda 29.1; Natref Sasol share 17.8 million barrels.</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Named-site stacking: {"Sasol": [150.0, 150.0, 150.0, 150.0, 150.0, 150.0, 150.0, 150.0, 150.0, 150.0, 150.0, 150.0, 150.0, 150.0, 150.0, 150.0, 150.0, 150.0, 150.0, 150.0, 150.0], "Natref": [108.0, 108.0, 108.0, 108.0, 108.0, 108.0, 108.0, 108.0, 108.0, 108.0, 108.0, 108.0, 108.0, 108.0, 108.0, 108.0, 108.0, 108.0, 108.0, 108.0, 108.0], "Astron Energy": [100.0, 100.0, 100.0, 100.0, 100.0, 100.0, 100.0, 100.0, 100.0, 100.0, 100.0, 100.0, 100.0, 100.0, 100.0, 100.0, 100.0, 100.0, 100.0, 100.0, 100.0], "PetroSA": [45.0, 45.0, 45.0, 45.0, 45.0, 0.0, 0.0, 0.0, 0.0, 0.0, 0.0, 0.0, 0.0, 0.0, 0.0, 0.0, 0.0, 0.0, 0.0, 0.0, 0.0], "Enref": [135.0, 135.0, 135.0, 135.0, 135.0, 0.0, 0.0, 0.0, 0.0, 0.0, 0.0, 0.0, 0.0, 0.0, 0.0, 0.0, 0.0, 0.0, 0.0, 0.0, 0.0], "Sapref": [180.0, 180.0, 180.0, 180.0, 180.0, 180.0, 0.0, 0.0, 0.0, 0.0, 0.0, 0.0, 0.0, 0.0, 0.0, 0.0, 0.0, 0.0, 0.0, 0.0, 0.0], "SAPREF / CEF proposal": [0, 0, 0, 0, 0, 0, 0, 0, 0, 0, 0, 0, 0, 0, 0, 0, 0, 400.0, 400.0, 400.0, 400.0]}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Published capacity establishes a footprint, not recent growth or diversion from Durban. The existing evidence does not establish a winning gateway. User confirmed this is original page 16, not page 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7 Oct inventory layout: chart narrowed into the standard left exhibit, all major/minor gridlines removed. Evidence/implication and action panel added on the right. Values and 14-day highlight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 Walvis Bay port-storage gateways\nCompare inland supply routes",</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 C4; Overview chevron returns to page 2.</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7 October: explicit diesel, jet and petrol draft L/M/H inputs now follow at 2030 and 2035. These are review proposals, not calibrated or engine-consumed scenarios. Customer-access and operational settings remain separate tasks.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Final story navigation: Overview p2; Market baseline p3; Market changes p7; Vopak outlook p12. Henry SCR naming remains in the overview.</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km\u2019s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Final story navigation: Overview p2; Market baseline p3; Market changes p7; Vopak outlook p12. Henry SCR naming remains in the overview.</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Final story navigation: Overview p2; Market baseline p3; Market changes p7; Vopak outlook p12. Henry SCR naming remains in the overview.</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"as_at": "2026-10-07",</a:t>
            </a:r>
          </a:p>
          <a:p>
            <a:r>
              <a:t>  "status": "Nigel corrected current activity to Week 1. Geographic sequencing, effort and checkpoints remain proposed, not client commitments.",</a:t>
            </a:r>
          </a:p>
          <a:p>
            <a:r>
              <a:t>  "sources": [</a:t>
            </a:r>
          </a:p>
          <a:p>
            <a:r>
              <a:t>    "workstreams/WS0_governance/workplan/scope_and_roles.md",</a:t>
            </a:r>
          </a:p>
          <a:p>
            <a:r>
              <a:t>    "workstreams/WS0_governance/workplan/six_week_plan.md",</a:t>
            </a:r>
          </a:p>
          <a:p>
            <a:r>
              <a:t>    "Nigel's Week 1 and geographic-workstream clarification in chat"</a:t>
            </a:r>
          </a:p>
          <a:p>
            <a:r>
              <a:t>  ],</a:t>
            </a:r>
          </a:p>
          <a:p>
            <a:r>
              <a:t>  "weeks": [</a:t>
            </a:r>
          </a:p>
          <a:p>
            <a:r>
              <a:t>    "W1\n5-9 Oct",</a:t>
            </a:r>
          </a:p>
          <a:p>
            <a:r>
              <a:t>    "W2\n12-16 Oct",</a:t>
            </a:r>
          </a:p>
          <a:p>
            <a:r>
              <a:t>    "W3\n19-23 Oct",</a:t>
            </a:r>
          </a:p>
          <a:p>
            <a:r>
              <a:t>    "W4\n26-30 Oct",</a:t>
            </a:r>
          </a:p>
          <a:p>
            <a:r>
              <a:t>    "W5\n2-6 Nov",</a:t>
            </a:r>
          </a:p>
          <a:p>
            <a:r>
              <a:t>    "W6\n9-12 Nov"</a:t>
            </a:r>
          </a:p>
          <a:p>
            <a:r>
              <a:t>  ],</a:t>
            </a:r>
          </a:p>
          <a:p>
            <a:r>
              <a:t>  "rows": [</a:t>
            </a:r>
          </a:p>
          <a:p>
            <a:r>
              <a:t>    {</a:t>
            </a:r>
          </a:p>
          <a:p>
            <a:r>
              <a:t>      "label": "South Africa | baseline and assumptions",</a:t>
            </a:r>
          </a:p>
          <a:p>
            <a:r>
              <a:t>      "output": "Reconciled starting point and reviewed driver inputs",</a:t>
            </a:r>
          </a:p>
          <a:p>
            <a:r>
              <a:t>      "owner": "Manish / Nigel",</a:t>
            </a:r>
          </a:p>
          <a:p>
            <a:r>
              <a:t>      "current": true,</a:t>
            </a:r>
          </a:p>
          <a:p>
            <a:r>
              <a:t>      "cells": [</a:t>
            </a:r>
          </a:p>
          <a:p>
            <a:r>
              <a:t>        "ACTIVE",</a:t>
            </a:r>
          </a:p>
          <a:p>
            <a:r>
              <a:t>        "Review",</a:t>
            </a:r>
          </a:p>
          <a:p>
            <a:r>
              <a:t>        "",</a:t>
            </a:r>
          </a:p>
          <a:p>
            <a:r>
              <a:t>        "",</a:t>
            </a:r>
          </a:p>
          <a:p>
            <a:r>
              <a:t>        "",</a:t>
            </a:r>
          </a:p>
          <a:p>
            <a:r>
              <a:t>        ""</a:t>
            </a:r>
          </a:p>
          <a:p>
            <a:r>
              <a:t>      ]</a:t>
            </a:r>
          </a:p>
          <a:p>
            <a:r>
              <a:t>    },</a:t>
            </a:r>
          </a:p>
          <a:p>
            <a:r>
              <a:t>    {</a:t>
            </a:r>
          </a:p>
          <a:p>
            <a:r>
              <a:t>      "label": "South Africa | demand and supply outlook",</a:t>
            </a:r>
          </a:p>
          <a:p>
            <a:r>
              <a:t>      "output": "Product scenarios and national import requirements",</a:t>
            </a:r>
          </a:p>
          <a:p>
            <a:r>
              <a:t>      "owner": "Manish / Henry",</a:t>
            </a:r>
          </a:p>
          <a:p>
            <a:r>
              <a:t>      "current": false,</a:t>
            </a:r>
          </a:p>
          <a:p>
            <a:r>
              <a:t>      "cells": [</a:t>
            </a:r>
          </a:p>
          <a:p>
            <a:r>
              <a:t>        "",</a:t>
            </a:r>
          </a:p>
          <a:p>
            <a:r>
              <a:t>        "Build",</a:t>
            </a:r>
          </a:p>
          <a:p>
            <a:r>
              <a:t>        "Test",</a:t>
            </a:r>
          </a:p>
          <a:p>
            <a:r>
              <a:t>        "Draft",</a:t>
            </a:r>
          </a:p>
          <a:p>
            <a:r>
              <a:t>        "Review",</a:t>
            </a:r>
          </a:p>
          <a:p>
            <a:r>
              <a:t>        ""</a:t>
            </a:r>
          </a:p>
          <a:p>
            <a:r>
              <a:t>      ]</a:t>
            </a:r>
          </a:p>
          <a:p>
            <a:r>
              <a:t>    },</a:t>
            </a:r>
          </a:p>
          <a:p>
            <a:r>
              <a:t>    {</a:t>
            </a:r>
          </a:p>
          <a:p>
            <a:r>
              <a:t>      "label": "South Africa | access and asset implications",</a:t>
            </a:r>
          </a:p>
          <a:p>
            <a:r>
              <a:t>      "output": "Route economics, reachable volumes and usable capacity",</a:t>
            </a:r>
          </a:p>
          <a:p>
            <a:r>
              <a:t>      "owner": "Nigel / Manish",</a:t>
            </a:r>
          </a:p>
          <a:p>
            <a:r>
              <a:t>      "current": false,</a:t>
            </a:r>
          </a:p>
          <a:p>
            <a:r>
              <a:t>      "cells": [</a:t>
            </a:r>
          </a:p>
          <a:p>
            <a:r>
              <a:t>        "",</a:t>
            </a:r>
          </a:p>
          <a:p>
            <a:r>
              <a:t>        "Inputs",</a:t>
            </a:r>
          </a:p>
          <a:p>
            <a:r>
              <a:t>        "Routes",</a:t>
            </a:r>
          </a:p>
          <a:p>
            <a:r>
              <a:t>        "Test",</a:t>
            </a:r>
          </a:p>
          <a:p>
            <a:r>
              <a:t>        "Review",</a:t>
            </a:r>
          </a:p>
          <a:p>
            <a:r>
              <a:t>        "Final"</a:t>
            </a:r>
          </a:p>
          <a:p>
            <a:r>
              <a:t>      ]</a:t>
            </a:r>
          </a:p>
          <a:p>
            <a:r>
              <a:t>    },</a:t>
            </a:r>
          </a:p>
          <a:p>
            <a:r>
              <a:t>    {</a:t>
            </a:r>
          </a:p>
          <a:p>
            <a:r>
              <a:t>      "label": "Namibia / Walvis Bay | focused assessment",</a:t>
            </a:r>
          </a:p>
          <a:p>
            <a:r>
              <a:t>      "output": "Local demand, transit flows and gateway opportunity",</a:t>
            </a:r>
          </a:p>
          <a:p>
            <a:r>
              <a:t>      "owner": "Manish / Nigel",</a:t>
            </a:r>
          </a:p>
          <a:p>
            <a:r>
              <a:t>      "current": false,</a:t>
            </a:r>
          </a:p>
          <a:p>
            <a:r>
              <a:t>      "cells": [</a:t>
            </a:r>
          </a:p>
          <a:p>
            <a:r>
              <a:t>        "",</a:t>
            </a:r>
          </a:p>
          <a:p>
            <a:r>
              <a:t>        "Source",</a:t>
            </a:r>
          </a:p>
          <a:p>
            <a:r>
              <a:t>        "Assess",</a:t>
            </a:r>
          </a:p>
          <a:p>
            <a:r>
              <a:t>        "Review",</a:t>
            </a:r>
          </a:p>
          <a:p>
            <a:r>
              <a:t>        "",</a:t>
            </a:r>
          </a:p>
          <a:p>
            <a:r>
              <a:t>        ""</a:t>
            </a:r>
          </a:p>
          <a:p>
            <a:r>
              <a:t>      ]</a:t>
            </a:r>
          </a:p>
          <a:p>
            <a:r>
              <a:t>    },</a:t>
            </a:r>
          </a:p>
          <a:p>
            <a:r>
              <a:t>    {</a:t>
            </a:r>
          </a:p>
          <a:p>
            <a:r>
              <a:t>      "label": "Wider Africa | regional screening",</a:t>
            </a:r>
          </a:p>
          <a:p>
            <a:r>
              <a:t>      "output": "Comparable screen and priority-market shortlist",</a:t>
            </a:r>
          </a:p>
          <a:p>
            <a:r>
              <a:t>      "owner": "Nigel / Manish",</a:t>
            </a:r>
          </a:p>
          <a:p>
            <a:r>
              <a:t>      "current": false,</a:t>
            </a:r>
          </a:p>
          <a:p>
            <a:r>
              <a:t>      "cells": [</a:t>
            </a:r>
          </a:p>
          <a:p>
            <a:r>
              <a:t>        "",</a:t>
            </a:r>
          </a:p>
          <a:p>
            <a:r>
              <a:t>        "Screen",</a:t>
            </a:r>
          </a:p>
          <a:p>
            <a:r>
              <a:t>        "Screen",</a:t>
            </a:r>
          </a:p>
          <a:p>
            <a:r>
              <a:t>        "Shortlist",</a:t>
            </a:r>
          </a:p>
          <a:p>
            <a:r>
              <a:t>        "",</a:t>
            </a:r>
          </a:p>
          <a:p>
            <a:r>
              <a:t>        ""</a:t>
            </a:r>
          </a:p>
          <a:p>
            <a:r>
              <a:t>      ]</a:t>
            </a:r>
          </a:p>
          <a:p>
            <a:r>
              <a:t>    },</a:t>
            </a:r>
          </a:p>
          <a:p>
            <a:r>
              <a:t>    {</a:t>
            </a:r>
          </a:p>
          <a:p>
            <a:r>
              <a:t>      "label": "Integration, storyline and handover",</a:t>
            </a:r>
          </a:p>
          <a:p>
            <a:r>
              <a:t>      "output": "One evidence-led pack across all three geographic tracks",</a:t>
            </a:r>
          </a:p>
          <a:p>
            <a:r>
              <a:t>      "owner": "Nigel / Henry",</a:t>
            </a:r>
          </a:p>
          <a:p>
            <a:r>
              <a:t>      "current": true,</a:t>
            </a:r>
          </a:p>
          <a:p>
            <a:r>
              <a:t>      "cells": [</a:t>
            </a:r>
          </a:p>
          <a:p>
            <a:r>
              <a:t>        "ACTIVE",</a:t>
            </a:r>
          </a:p>
          <a:p>
            <a:r>
              <a:t>        "Update",</a:t>
            </a:r>
          </a:p>
          <a:p>
            <a:r>
              <a:t>        "Update",</a:t>
            </a:r>
          </a:p>
          <a:p>
            <a:r>
              <a:t>        "Draft",</a:t>
            </a:r>
          </a:p>
          <a:p>
            <a:r>
              <a:t>        "Review",</a:t>
            </a:r>
          </a:p>
          <a:p>
            <a:r>
              <a:t>        "Handover"</a:t>
            </a:r>
          </a:p>
          <a:p>
            <a:r>
              <a:t>      ]</a:t>
            </a:r>
          </a:p>
          <a:p>
            <a:r>
              <a:t>    }</a:t>
            </a:r>
          </a:p>
          <a:p>
            <a:r>
              <a:t>  ],</a:t>
            </a:r>
          </a:p>
          <a:p>
            <a:r>
              <a:t>  "africa_scope": "East, West and North Africa, plus SADC excluding SACU. Regional screening only; detailed country modelling follows prioritisation and evidence.",</a:t>
            </a:r>
          </a:p>
          <a:p>
            <a:r>
              <a:t>  "dependencies": "SA forecasts follow reviewed baselines and assumptions. Namibia and Africa starts depend on shared analyst capacity and source access. Logistics conclusions require customer economics and route evidence.",</a:t>
            </a:r>
          </a:p>
          <a:p>
            <a:r>
              <a:t>  "resource_note": "Manish is one shared analyst, not separate full-time resources for every row. Nigel prioritises effort; Henry reviews technical findings. Wider-Africa and Namibia progress has not been asserted.",</a:t>
            </a:r>
          </a:p>
          <a:p>
            <a:r>
              <a:t>  "target": "12 November remains a proposed handover target; W6 is the partial week ending at that target.",</a:t>
            </a:r>
          </a:p>
          <a:p>
            <a:r>
              <a:t>  "owner": "Nigel",</a:t>
            </a:r>
          </a:p>
          <a:p>
            <a:r>
              <a:t>  "expiry_trigger": "Update at the next weekly review or when capacity, scope, evidence availability or client dates change. Record actual completion separately from planned timing."</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Four-chart second driver page; native series and periods preserved. Mining, diesel power, vehicle sales and fuel prices remain separate proxies, not a fuel forecast.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"diesel",</a:t>
            </a:r>
          </a:p>
          <a:p>
            <a:r>
              <a:t>    "title": "S/C3 / C4. Test freight, rail and power before setting diesel import requirements",</a:t>
            </a:r>
          </a:p>
          <a:p>
            <a:r>
              <a:t>    "bridge": "More road activity and power use raise diesel demand; efficiency, rail and domestic output reduce the import requirement.",</a:t>
            </a:r>
          </a:p>
          <a:p>
            <a:r>
              <a:t>    "levers": [</a:t>
            </a:r>
          </a:p>
          <a:p>
            <a:r>
              <a:t>      {</a:t>
            </a:r>
          </a:p>
          <a:p>
            <a:r>
              <a:t>        "id": "road_activity",</a:t>
            </a:r>
          </a:p>
          <a:p>
            <a:r>
              <a:t>        "label": "Freight activity\n2024 = 100",</a:t>
            </a:r>
          </a:p>
          <a:p>
            <a:r>
              <a:t>        "unit": "index_2024_100",</a:t>
            </a:r>
          </a:p>
          <a:p>
            <a:r>
              <a:t>        "reference": "2024 = 100\nObserved proxy",</a:t>
            </a:r>
          </a:p>
          <a:p>
            <a:r>
              <a:t>        "rationale": "Authored flat / recovery / expansion tests. Apply before rail diversion; calibrate litres per activity unit.",</a:t>
            </a:r>
          </a:p>
          <a:p>
            <a:r>
              <a:t>        "anchor": "Observed freight proxy, not fuel demand"</a:t>
            </a:r>
          </a:p>
          <a:p>
            <a:r>
              <a:t>      },</a:t>
            </a:r>
          </a:p>
          <a:p>
            <a:r>
              <a:t>      {</a:t>
            </a:r>
          </a:p>
          <a:p>
            <a:r>
              <a:t>        "id": "rail_diversion",</a:t>
            </a:r>
          </a:p>
          <a:p>
            <a:r>
              <a:t>        "label": "Road freight moved to rail\n% of reference road work",</a:t>
            </a:r>
          </a:p>
          <a:p>
            <a:r>
              <a:t>        "unit": "percent",</a:t>
            </a:r>
          </a:p>
          <a:p>
            <a:r>
              <a:t>        "reference": "No agreed diversion\nM is proposed",</a:t>
            </a:r>
          </a:p>
          <a:p>
            <a:r>
              <a:t>        "rationale": "Higher diversion lowers road diesel. Avoid subtracting rail again if already embedded in the activity path.",</a:t>
            </a:r>
          </a:p>
          <a:p>
            <a:r>
              <a:t>        "anchor": "Authored modal-shift sensitivity; rail capacity unverified"</a:t>
            </a:r>
          </a:p>
          <a:p>
            <a:r>
              <a:t>      },</a:t>
            </a:r>
          </a:p>
          <a:p>
            <a:r>
              <a:t>      {</a:t>
            </a:r>
          </a:p>
          <a:p>
            <a:r>
              <a:t>        "id": "ocgt_generation",</a:t>
            </a:r>
          </a:p>
          <a:p>
            <a:r>
              <a:t>        "label": "Diesel OCGT generation\nFY2024 = 100",</a:t>
            </a:r>
          </a:p>
          <a:p>
            <a:r>
              <a:t>        "unit": "index_FY2024_100",</a:t>
            </a:r>
          </a:p>
          <a:p>
            <a:r>
              <a:t>        "reference": "FY2024 = 100\nLatest trend is lower",</a:t>
            </a:r>
          </a:p>
          <a:p>
            <a:r>
              <a:t>        "rationale": "Test grid recovery versus stress. Use one generation path; do not add a second load-shedding allowance.",</a:t>
            </a:r>
          </a:p>
          <a:p>
            <a:r>
              <a:t>        "anchor": "Observed OCGT trend; all target-year indices authored"</a:t>
            </a:r>
          </a:p>
          <a:p>
            <a:r>
              <a:t>      },</a:t>
            </a:r>
          </a:p>
          <a:p>
            <a:r>
              <a:t>      {</a:t>
            </a:r>
          </a:p>
          <a:p>
            <a:r>
              <a:t>        "id": "new_cohort_efficiency",</a:t>
            </a:r>
          </a:p>
          <a:p>
            <a:r>
              <a:t>        "label": "New-vehicle efficiency gain\n% per year",</a:t>
            </a:r>
          </a:p>
          <a:p>
            <a:r>
              <a:t>        "unit": "percent_per_year",</a:t>
            </a:r>
          </a:p>
          <a:p>
            <a:r>
              <a:t>        "reference": "Legacy: 0.5–1.0%\nNew cohorts only",</a:t>
            </a:r>
          </a:p>
          <a:p>
            <a:r>
              <a:t>        "rationale": "Existing low/high input endpoints; M is a proposed midpoint. Higher gain lowers new-cohort fuel use.",</a:t>
            </a:r>
          </a:p>
          <a:p>
            <a:r>
              <a:t>        "anchor": "Registered diesel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output; exclude closed capacity and count downtime once.",</a:t>
            </a:r>
          </a:p>
          <a:p>
            <a:r>
              <a:t>        "anchor": "Authored utilisation range; not observed plant operation"</a:t>
            </a:r>
          </a:p>
          <a:p>
            <a:r>
              <a:t>      },</a:t>
            </a:r>
          </a:p>
          <a:p>
            <a:r>
              <a:t>      {</a:t>
            </a:r>
          </a:p>
          <a:p>
            <a:r>
              <a:t>        "id": "product_yield",</a:t>
            </a:r>
          </a:p>
          <a:p>
            <a:r>
              <a:t>        "label": "Diesel product yield\n% of plant throughput",</a:t>
            </a:r>
          </a:p>
          <a:p>
            <a:r>
              <a:t>        "unit": "percent",</a:t>
            </a:r>
          </a:p>
          <a:p>
            <a:r>
              <a:t>        "reference": "Legacy yield: 25%\nPlant mix unverified",</a:t>
            </a:r>
          </a:p>
          <a:p>
            <a:r>
              <a:t>        "rationale": "Brackets the legacy yield. Higher yield raises diesel output; enforce a consistent cross-product yield slate.",</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H requires FID, timing, ramp-up and product yields; it is not committed output.",</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"jet",</a:t>
            </a:r>
          </a:p>
          <a:p>
            <a:r>
              <a:t>    "title": "S/C3 / C4. Build jet demand from aircraft movements and fuel burn before estimating imports",</a:t>
            </a:r>
          </a:p>
          <a:p>
            <a:r>
              <a:t>    "bridge": "Traffic and fuel burn set total jet demand; SAF changes the fossil share, while refinery output sets the import balance.",</a:t>
            </a:r>
          </a:p>
          <a:p>
            <a:r>
              <a:t>    "levers": [</a:t>
            </a:r>
          </a:p>
          <a:p>
            <a:r>
              <a:t>      {</a:t>
            </a:r>
          </a:p>
          <a:p>
            <a:r>
              <a:t>        "id": "aircraft_movements",</a:t>
            </a:r>
          </a:p>
          <a:p>
            <a:r>
              <a:t>        "label": "Aircraft movements\n2024 = 100",</a:t>
            </a:r>
          </a:p>
          <a:p>
            <a:r>
              <a:t>        "unit": "index_2024_100",</a:t>
            </a:r>
          </a:p>
          <a:p>
            <a:r>
              <a:t>        "reference": "2024 = 100\nACSA coverage only",</a:t>
            </a:r>
          </a:p>
          <a:p>
            <a:r>
              <a:t>        "rationale": "Authored flat / recovery / expansion tests. Follow Manish's movement driver; re-fit against matched jet deliveries.",</a:t>
            </a:r>
          </a:p>
          <a:p>
            <a:r>
              <a:t>        "anchor": "Registered ACSA movement source; target indices authored"</a:t>
            </a:r>
          </a:p>
          <a:p>
            <a:r>
              <a:t>      },</a:t>
            </a:r>
          </a:p>
          <a:p>
            <a:r>
              <a:t>      {</a:t>
            </a:r>
          </a:p>
          <a:p>
            <a:r>
              <a:t>        "id": "fuel_burn_per_movement",</a:t>
            </a:r>
          </a:p>
          <a:p>
            <a:r>
              <a:t>        "label": "Fuel burn per movement\n2024 = 100",</a:t>
            </a:r>
          </a:p>
          <a:p>
            <a:r>
              <a:t>        "unit": "index_2024_100",</a:t>
            </a:r>
          </a:p>
          <a:p>
            <a:r>
              <a:t>        "reference": "2024 = 100 assumed\nNot yet measured",</a:t>
            </a:r>
          </a:p>
          <a:p>
            <a:r>
              <a:t>        "rationale": "Lower burn lowers litres. Separate aircraft efficiency from route length, aircraft size and international mix.",</a:t>
            </a:r>
          </a:p>
          <a:p>
            <a:r>
              <a:t>        "anchor": "Authored intensity tests; ICAO supports mechanism, not these SA values"</a:t>
            </a:r>
          </a:p>
          <a:p>
            <a:r>
              <a:t>      },</a:t>
            </a:r>
          </a:p>
          <a:p>
            <a:r>
              <a:t>      {</a:t>
            </a:r>
          </a:p>
          <a:p>
            <a:r>
              <a:t>        "id": "saf_volume_share",</a:t>
            </a:r>
          </a:p>
          <a:p>
            <a:r>
              <a:t>        "label": "SAF share of jet deliveries\n% by volume",</a:t>
            </a:r>
          </a:p>
          <a:p>
            <a:r>
              <a:t>        "unit": "percent",</a:t>
            </a:r>
          </a:p>
          <a:p>
            <a:r>
              <a:t>        "reference": "SA blend baseline unknown\nNot a local mandate",</a:t>
            </a:r>
          </a:p>
          <a:p>
            <a:r>
              <a:t>        "rationale": "Changes fossil jet share, not total jet litres. Authored blend tests; ICAO's 5% emissions vision is not a volume target.",</a:t>
            </a:r>
          </a:p>
          <a:p>
            <a:r>
              <a:t>        "anchor": "Authored SA sensitivity; ICAO global framework only"</a:t>
            </a:r>
          </a:p>
          <a:p>
            <a:r>
              <a:t>      },</a:t>
            </a:r>
          </a:p>
          <a:p>
            <a:r>
              <a:t>      {</a:t>
            </a:r>
          </a:p>
          <a:p>
            <a:r>
              <a:t>        "id": "plant_utilisation",</a:t>
            </a:r>
          </a:p>
          <a:p>
            <a:r>
              <a:t>        "label": "Existing plant utilisation\n% of operable capacity",</a:t>
            </a:r>
          </a:p>
          <a:p>
            <a:r>
              <a:t>        "unit": "percent",</a:t>
            </a:r>
          </a:p>
          <a:p>
            <a:r>
              <a:t>        "reference": "Actual output unresolved\n75% is a test",</a:t>
            </a:r>
          </a:p>
          <a:p>
            <a:r>
              <a:t>        "rationale": "Same plant setting as diesel and petrol. Higher utilisation raises jet output, subject to actual product capability.",</a:t>
            </a:r>
          </a:p>
          <a:p>
            <a:r>
              <a:t>        "anchor": "Authored shared utilisation range"</a:t>
            </a:r>
          </a:p>
          <a:p>
            <a:r>
              <a:t>      },</a:t>
            </a:r>
          </a:p>
          <a:p>
            <a:r>
              <a:t>      {</a:t>
            </a:r>
          </a:p>
          <a:p>
            <a:r>
              <a:t>        "id": "product_yield",</a:t>
            </a:r>
          </a:p>
          <a:p>
            <a:r>
              <a:t>        "label": "Jet product yield\n% of capable plant throughput",</a:t>
            </a:r>
          </a:p>
          <a:p>
            <a:r>
              <a:t>        "unit": "percent",</a:t>
            </a:r>
          </a:p>
          <a:p>
            <a:r>
              <a:t>        "reference": "Legacy capable plants: 10%\nOther plants: 0%",</a:t>
            </a:r>
          </a:p>
          <a:p>
            <a:r>
              <a:t>        "rationale": "Apply only to jet-capable plants. Brackets the legacy yield; cannot assume every refinery produces aviation fuel.",</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addition\nJet capability unknown",</a:t>
            </a:r>
          </a:p>
          <a:p>
            <a:r>
              <a:t>        "rationale": "Same refinery branch, counted once. Jet output depends on a verified yield and specification, not nameplate alone.",</a:t>
            </a:r>
          </a:p>
          <a:p>
            <a:r>
              <a:t>        "anchor": "Existing illustrative refinery case; jet eligibility unresolved"</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"petrol",</a:t>
            </a:r>
          </a:p>
          <a:p>
            <a:r>
              <a:t>    "title": "S/C3 / C4. Test travel, fleet growth and electrification before setting petrol import requirements",</a:t>
            </a:r>
          </a:p>
          <a:p>
            <a:r>
              <a:t>    "bridge": "Travel and fleet additions raise petrol demand; electrification and new-cohort efficiency offset growth before supply is matched.",</a:t>
            </a:r>
          </a:p>
          <a:p>
            <a:r>
              <a:t>    "levers": [</a:t>
            </a:r>
          </a:p>
          <a:p>
            <a:r>
              <a:t>      {</a:t>
            </a:r>
          </a:p>
          <a:p>
            <a:r>
              <a:t>        "id": "passenger_mileage",</a:t>
            </a:r>
          </a:p>
          <a:p>
            <a:r>
              <a:t>        "label": "Passenger mileage\nkm / vehicle / year",</a:t>
            </a:r>
          </a:p>
          <a:p>
            <a:r>
              <a:t>        "unit": "km_per_vehicle_year",</a:t>
            </a:r>
          </a:p>
          <a:p>
            <a:r>
              <a:t>        "reference": "Registered: 17,000\nProvisional placeholder",</a:t>
            </a:r>
          </a:p>
          <a:p>
            <a:r>
              <a:t>        "rationale": "Authored ±20% around the current mileage placeholder. Higher mileage raises petrol demand at a given fleet.",</a:t>
            </a:r>
          </a:p>
          <a:p>
            <a:r>
              <a:t>        "anchor": "Registered provisional passenger mileage"</a:t>
            </a:r>
          </a:p>
          <a:p>
            <a:r>
              <a:t>      },</a:t>
            </a:r>
          </a:p>
          <a:p>
            <a:r>
              <a:t>      {</a:t>
            </a:r>
          </a:p>
          <a:p>
            <a:r>
              <a:t>        "id": "gdp_growth",</a:t>
            </a:r>
          </a:p>
          <a:p>
            <a:r>
              <a:t>        "label": "Real GDP growth\n% per year",</a:t>
            </a:r>
          </a:p>
          <a:p>
            <a:r>
              <a:t>        "unit": "percent_per_year",</a:t>
            </a:r>
          </a:p>
          <a:p>
            <a:r>
              <a:t>        "reference": "Team continuation: 2%\nBeyond official 2028",</a:t>
            </a:r>
          </a:p>
          <a:p>
            <a:r>
              <a:t>        "rationale": "Bracket the 2% continuation proposal. Drives fleet additions through the fitted relationship, not a second fuel multiplier.",</a:t>
            </a:r>
          </a:p>
          <a:p>
            <a:r>
              <a:t>        "anchor": "Registered macro proposal; outer range authored"</a:t>
            </a:r>
          </a:p>
          <a:p>
            <a:r>
              <a:t>      },</a:t>
            </a:r>
          </a:p>
          <a:p>
            <a:r>
              <a:t>      {</a:t>
            </a:r>
          </a:p>
          <a:p>
            <a:r>
              <a:t>        "id": "bev_new_sales_share",</a:t>
            </a:r>
          </a:p>
          <a:p>
            <a:r>
              <a:t>        "label": "BEV share of new sales\n% of passenger sales",</a:t>
            </a:r>
          </a:p>
          <a:p>
            <a:r>
              <a:t>        "unit": "percent",</a:t>
            </a:r>
          </a:p>
          <a:p>
            <a:r>
              <a:t>        "reference": "Legacy uptake curves\nSales/fleet basis to resolve",</a:t>
            </a:r>
          </a:p>
          <a:p>
            <a:r>
              <a:t>        "rationale": "Authored sales-share tests. Higher BEV uptake lowers new ICE additions; total-fleet effect depends on survival.",</a:t>
            </a:r>
          </a:p>
          <a:p>
            <a:r>
              <a:t>        "anchor": "Authored replacement design, not values from legacy S-curves"</a:t>
            </a:r>
          </a:p>
          <a:p>
            <a:r>
              <a:t>      },</a:t>
            </a:r>
          </a:p>
          <a:p>
            <a:r>
              <a:t>      {</a:t>
            </a:r>
          </a:p>
          <a:p>
            <a:r>
              <a:t>        "id": "new_cohort_efficiency",</a:t>
            </a:r>
          </a:p>
          <a:p>
            <a:r>
              <a:t>        "label": "New-vehicle efficiency gain\n% per year",</a:t>
            </a:r>
          </a:p>
          <a:p>
            <a:r>
              <a:t>        "unit": "percent_per_year",</a:t>
            </a:r>
          </a:p>
          <a:p>
            <a:r>
              <a:t>        "reference": "Legacy: 1.0–1.5%\nNew cohorts only",</a:t>
            </a:r>
          </a:p>
          <a:p>
            <a:r>
              <a:t>        "rationale": "Existing low/high input endpoints; M is a proposed midpoint. Preserve each cohort's entry-year consumption.",</a:t>
            </a:r>
          </a:p>
          <a:p>
            <a:r>
              <a:t>        "anchor": "Registered gasoline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petrol output; use actual operable capacity and downtime.",</a:t>
            </a:r>
          </a:p>
          <a:p>
            <a:r>
              <a:t>        "anchor": "Authored shared utilisation range"</a:t>
            </a:r>
          </a:p>
          <a:p>
            <a:r>
              <a:t>      },</a:t>
            </a:r>
          </a:p>
          <a:p>
            <a:r>
              <a:t>      {</a:t>
            </a:r>
          </a:p>
          <a:p>
            <a:r>
              <a:t>        "id": "product_yield",</a:t>
            </a:r>
          </a:p>
          <a:p>
            <a:r>
              <a:t>        "label": "Petrol yield (conventional)\n% of plant throughput",</a:t>
            </a:r>
          </a:p>
          <a:p>
            <a:r>
              <a:t>        "unit": "percent",</a:t>
            </a:r>
          </a:p>
          <a:p>
            <a:r>
              <a:t>        "reference": "Legacy conventional: 45%\nSynthetic plants differ",</a:t>
            </a:r>
          </a:p>
          <a:p>
            <a:r>
              <a:t>        "rationale": "Brackets conventional-plant legacy yield. Keep synthetic plants separate and enforce the product-slate constraint.",</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Petrol output requires FID, ramp-up and a verified product bridge.",</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"R7. Close the baseline and agree forecast inputs before integrating Manish’s handback",</a:t>
            </a:r>
          </a:p>
          <a:p>
            <a:r>
              <a:t>  "subtitle": "Manish’s focus | 7 October 2026 | proposed outputs and Nigel’s review decisions",</a:t>
            </a:r>
          </a:p>
          <a:p>
            <a:r>
              <a:t>  "rows": [</a:t>
            </a:r>
          </a:p>
          <a:p>
            <a:r>
              <a:t>    [</a:t>
            </a:r>
          </a:p>
          <a:p>
            <a:r>
              <a:t>      "1  National balance",</a:t>
            </a:r>
          </a:p>
          <a:p>
            <a:r>
              <a:t>      "Present the corrected petrol/diesel balance, source differences and missing production / stocks",</a:t>
            </a:r>
          </a:p>
          <a:p>
            <a:r>
              <a:t>      "Agree 2024 sales source; review corrected SARS trade"</a:t>
            </a:r>
          </a:p>
          <a:p>
            <a:r>
              <a:t>    ],</a:t>
            </a:r>
          </a:p>
          <a:p>
            <a:r>
              <a:t>    [</a:t>
            </a:r>
          </a:p>
          <a:p>
            <a:r>
              <a:t>      "2  Forecast levers",</a:t>
            </a:r>
          </a:p>
          <a:p>
            <a:r>
              <a:t>      "Complete diesel, jet and petrol tables: baseline and L/M/H inputs for 2030 / 2035, with units, rationale and sources",</a:t>
            </a:r>
          </a:p>
          <a:p>
            <a:r>
              <a:t>      "Challenge ranges; agree the reference case"</a:t>
            </a:r>
          </a:p>
          <a:p>
            <a:r>
              <a:t>    ],</a:t>
            </a:r>
          </a:p>
          <a:p>
            <a:r>
              <a:t>    [</a:t>
            </a:r>
          </a:p>
          <a:p>
            <a:r>
              <a:t>      "3  Sector baselines",</a:t>
            </a:r>
          </a:p>
          <a:p>
            <a:r>
              <a:t>      "Propose agriculture / industry starting values; identify overlaps and double counting",</a:t>
            </a:r>
          </a:p>
          <a:p>
            <a:r>
              <a:t>      "Agree starting values for the model"</a:t>
            </a:r>
          </a:p>
          <a:p>
            <a:r>
              <a:t>    ],</a:t>
            </a:r>
          </a:p>
          <a:p>
            <a:r>
              <a:t>    [</a:t>
            </a:r>
          </a:p>
          <a:p>
            <a:r>
              <a:t>      "4  Tank handling",</a:t>
            </a:r>
          </a:p>
          <a:p>
            <a:r>
              <a:t>      "Set site assumptions for usable fuel capacity, monthly turns and receipt / dispatch limits; label evidence and estimates",</a:t>
            </a:r>
          </a:p>
          <a:p>
            <a:r>
              <a:t>      "Agree provisional operating ranges"</a:t>
            </a:r>
          </a:p>
          <a:p>
            <a:r>
              <a:t>    ],</a:t>
            </a:r>
          </a:p>
          <a:p>
            <a:r>
              <a:t>    [</a:t>
            </a:r>
          </a:p>
          <a:p>
            <a:r>
              <a:t>      "5  Reviewable handback",</a:t>
            </a:r>
          </a:p>
          <a:p>
            <a:r>
              <a:t>      "Check pack figures against originals; refresh handback and list ready, proposed and unresolved items",</a:t>
            </a:r>
          </a:p>
          <a:p>
            <a:r>
              <a:t>      "Review corrections before integration into main"</a:t>
            </a:r>
          </a:p>
          <a:p>
            <a:r>
              <a:t>    ]</a:t>
            </a:r>
          </a:p>
          <a:p>
            <a:r>
              <a:t>  ],</a:t>
            </a:r>
          </a:p>
          <a:p>
            <a:r>
              <a:t>  "target": "End-of-day target: a reviewed baseline, three comparable fuel input tables and an owned decision log",</a:t>
            </a:r>
          </a:p>
          <a:p>
            <a:r>
              <a:t>  "status": "Latest balance and EV corrections are supplied on Manish’s branch; review and integration remain outstanding.",</a:t>
            </a:r>
          </a:p>
          <a:p>
            <a:r>
              <a:t>  "source": "Manish handback update, 7 Oct 2026 (ef1720a); Nigel’s agreed focus table. Targets proposed; no acceptance inferred.",</a:t>
            </a:r>
          </a:p>
          <a:p>
            <a:r>
              <a:t>  "handback": "https://github.com/Africa-International-Advisors/liquid_fuels_model/blob/manish-branch/workstreams/WS0_governance/workplan/manish_handback_2026-10-06.md"</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 Target="slide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22.xml"/><Relationship Id="rId12" Type="http://schemas.openxmlformats.org/officeDocument/2006/relationships/slide" Target="slide10.xml"/><Relationship Id="rId13" Type="http://schemas.openxmlformats.org/officeDocument/2006/relationships/slide" Target="slide23.xml"/><Relationship Id="rId14" Type="http://schemas.openxmlformats.org/officeDocument/2006/relationships/slide" Target="slide9.xml"/><Relationship Id="rId15" Type="http://schemas.openxmlformats.org/officeDocument/2006/relationships/slide" Target="slide24.xml"/><Relationship Id="rId16" Type="http://schemas.openxmlformats.org/officeDocument/2006/relationships/slide" Target="slide3.xml"/><Relationship Id="rId17" Type="http://schemas.openxmlformats.org/officeDocument/2006/relationships/slide" Target="slide11.xml"/><Relationship Id="rId18" Type="http://schemas.openxmlformats.org/officeDocument/2006/relationships/slide" Target="slide18.xml"/><Relationship Id="rId19" Type="http://schemas.openxmlformats.org/officeDocument/2006/relationships/slide" Target="slide12.xml"/><Relationship Id="rId20" Type="http://schemas.openxmlformats.org/officeDocument/2006/relationships/slide" Target="slide17.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6.xml"/><Relationship Id="rId7" Type="http://schemas.openxmlformats.org/officeDocument/2006/relationships/slide" Target="slide22.xml"/><Relationship Id="rId8" Type="http://schemas.openxmlformats.org/officeDocument/2006/relationships/chart" Target="../charts/chart16.xml"/><Relationship Id="rId9" Type="http://schemas.openxmlformats.org/officeDocument/2006/relationships/chart" Target="../charts/char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 Id="rId7" Type="http://schemas.openxmlformats.org/officeDocument/2006/relationships/chart" Target="../charts/char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16.xml"/><Relationship Id="rId8" Type="http://schemas.openxmlformats.org/officeDocument/2006/relationships/slide" Target="slide22.xml"/><Relationship Id="rId9" Type="http://schemas.openxmlformats.org/officeDocument/2006/relationships/chart" Target="../charts/char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6.xml"/><Relationship Id="rId13" Type="http://schemas.openxmlformats.org/officeDocument/2006/relationships/slide" Target="slide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16.xml"/><Relationship Id="rId14" Type="http://schemas.openxmlformats.org/officeDocument/2006/relationships/slide" Target="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chart" Target="../charts/chart8.xml"/><Relationship Id="rId9" Type="http://schemas.openxmlformats.org/officeDocument/2006/relationships/chart" Target="../charts/chart9.xml"/><Relationship Id="rId10" Type="http://schemas.openxmlformats.org/officeDocument/2006/relationships/notesSlide" Target="../notesSlides/notes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6.xml"/><Relationship Id="rId7" Type="http://schemas.openxmlformats.org/officeDocument/2006/relationships/slide" Target="slide22.xml"/><Relationship Id="rId8" Type="http://schemas.openxmlformats.org/officeDocument/2006/relationships/chart" Target="../charts/chart14.xml"/><Relationship Id="rId9" Type="http://schemas.openxmlformats.org/officeDocument/2006/relationships/chart" Target="../charts/char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6.xml"/><Relationship Id="rId11" Type="http://schemas.openxmlformats.org/officeDocument/2006/relationships/slide" Target="slide15.xml"/><Relationship Id="rId12" Type="http://schemas.openxmlformats.org/officeDocument/2006/relationships/notesSlide" Target="../notesSlides/notesSlide20.xml"/><Relationship Id="rId13" Type="http://schemas.openxmlformats.org/officeDocument/2006/relationships/slide" Target="slide3.xml"/><Relationship Id="rId14" Type="http://schemas.openxmlformats.org/officeDocument/2006/relationships/slide" Target="slide17.xml"/><Relationship Id="rId15" Type="http://schemas.openxmlformats.org/officeDocument/2006/relationships/slide" Target="slide19.xml"/><Relationship Id="rId16" Type="http://schemas.openxmlformats.org/officeDocument/2006/relationships/slide" Target="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6.xml"/><Relationship Id="rId3" Type="http://schemas.openxmlformats.org/officeDocument/2006/relationships/slide" Target="slide18.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23.xml"/><Relationship Id="rId8" Type="http://schemas.openxmlformats.org/officeDocument/2006/relationships/slide" Target="slide11.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22.xml"/><Relationship Id="rId13" Type="http://schemas.openxmlformats.org/officeDocument/2006/relationships/slide" Target="slide19.xml"/><Relationship Id="rId14" Type="http://schemas.openxmlformats.org/officeDocument/2006/relationships/slide" Target="slide17.xml"/><Relationship Id="rId15" Type="http://schemas.openxmlformats.org/officeDocument/2006/relationships/slide" Target="slide21.xml"/><Relationship Id="rId16" Type="http://schemas.openxmlformats.org/officeDocument/2006/relationships/slide" Target="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22.xml"/><Relationship Id="rId3" Type="http://schemas.openxmlformats.org/officeDocument/2006/relationships/slide" Target="slide10.xml"/><Relationship Id="rId4" Type="http://schemas.openxmlformats.org/officeDocument/2006/relationships/slide" Target="slide23.xml"/><Relationship Id="rId5" Type="http://schemas.openxmlformats.org/officeDocument/2006/relationships/slide" Target="slide9.xml"/><Relationship Id="rId6" Type="http://schemas.openxmlformats.org/officeDocument/2006/relationships/slide" Target="slide11.xml"/><Relationship Id="rId7" Type="http://schemas.openxmlformats.org/officeDocument/2006/relationships/slide" Target="slide24.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pPr>
              <a:defRPr sz="1000">
                <a:latin typeface="Lato"/>
              </a:defRPr>
            </a:pPr>
            <a:r>
              <a:t>2</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Diesel, jet and petrol lever design at 2030 and 2035; draft L/M/H inputs for demand and domestic output.</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Diesel dominates net imports; additional Vopak volumes still need customer evidence</a:t>
            </a:r>
          </a:p>
        </p:txBody>
      </p:sp>
      <p:sp>
        <p:nvSpPr>
          <p:cNvPr id="3" name="Slide Number Placeholder"/>
          <p:cNvSpPr>
            <a:spLocks noGrp="1"/>
          </p:cNvSpPr>
          <p:nvPr>
            <p:ph type="sldNum" sz="quarter" idx="12"/>
          </p:nvPr>
        </p:nvSpPr>
        <p:spPr/>
        <p:txBody>
          <a:bodyPr/>
          <a:lstStyle/>
          <a:p>
            <a:pPr>
              <a:defRPr sz="1000">
                <a:latin typeface="Lato"/>
              </a:defRPr>
            </a:pPr>
            <a:r>
              <a:t>3</a:t>
            </a:r>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 = Situation   C = Complication   R = Resolution. Sources: SARS trade, departmental sales and published plant/site evidence. Detailed qualifications accompany the exhibits.</a:t>
            </a:r>
          </a:p>
        </p:txBody>
      </p:sp>
      <p:graphicFrame>
        <p:nvGraphicFramePr>
          <p:cNvPr id="46" name="Table 45"/>
          <p:cNvGraphicFramePr>
            <a:graphicFrameLocks noGrp="1"/>
          </p:cNvGraphicFramePr>
          <p:nvPr/>
        </p:nvGraphicFramePr>
        <p:xfrm>
          <a:off x="457200" y="1792224"/>
          <a:ext cx="10652760" cy="4379976"/>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Finding</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Implication for Vopak</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accounts for most net imports. In 2024, net diesel imports were 9.997 bn litres, compared with 3.081 bn litres for petrol.</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import flows are the largest observed trade component to assess against Vopak's services.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15</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KZN and Western Cape account for 68.6% of reported 2022 petrol and diesel sales.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and KZN are the first demand markets to assess against Lesedi and Durban.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p>
                  </a:txBody>
                  <a:tcPr marL="41148" marR="41148" marT="41148" marB="18288" anchor="t">
                    <a:lnB w="7620" cap="flat">
                      <a:solidFill>
                        <a:srgbClr val="EEEEEE"/>
                      </a:solidFill>
                    </a:lnB>
                    <a:solidFill>
                      <a:srgbClr val="FFFFFF"/>
                    </a:solidFill>
                  </a:tcPr>
                </a:tc>
              </a:tr>
              <a:tr h="576072">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OCGT generation has fallen sharply since FY2024. Freight activity and changing vehicle sales affect other parts of fuel demand.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Forecast each end use separately. A single growth rate would miss changes in the demand mix.</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16</a:t>
                      </a:r>
                      <a:r>
                        <a:rPr sz="1050">
                          <a:solidFill>
                            <a:srgbClr val="0A2373"/>
                          </a:solidFill>
                          <a:latin typeface="Lato"/>
                          <a:hlinkClick r:id="rId20" action="ppaction://hlinksldjump"/>
                        </a:rPr>
                        <a:t> / 17</a:t>
                      </a:r>
                      <a:r>
                        <a:rPr sz="1050">
                          <a:solidFill>
                            <a:srgbClr val="0A2373"/>
                          </a:solidFill>
                          <a:latin typeface="Lato"/>
                          <a:hlinkClick r:id="rId18" action="ppaction://hlinksldjump"/>
                        </a:rPr>
                        <a:t> / 18</a:t>
                      </a:r>
                      <a:r>
                        <a:rPr sz="1050">
                          <a:solidFill>
                            <a:srgbClr val="0A2373"/>
                          </a:solidFill>
                          <a:latin typeface="Lato"/>
                          <a:hlinkClick r:id="rId21" action="ppaction://hlinksldjump"/>
                        </a:rPr>
                        <a:t> / 19</a:t>
                      </a:r>
                      <a:r>
                        <a:rPr sz="1050">
                          <a:solidFill>
                            <a:srgbClr val="0A2373"/>
                          </a:solidFill>
                          <a:latin typeface="Lato"/>
                          <a:hlinkClick r:id="rId22" action="ppaction://hlinksldjump"/>
                        </a:rPr>
                        <a:t> / 20</a:t>
                      </a:r>
                      <a:r>
                        <a:rPr sz="1050">
                          <a:solidFill>
                            <a:srgbClr val="0A2373"/>
                          </a:solidFill>
                          <a:latin typeface="Lato"/>
                          <a:hlinkClick r:id="rId23" action="ppaction://hlinksldjump"/>
                        </a:rPr>
                        <a:t> / 21</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Published refining capacity fell from 718 to 358 thousand barrels/day between 2020 and 2022. Future plant output remains uncertain.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production assumptions materially affect the forecast import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6</a:t>
                      </a:r>
                      <a:r>
                        <a:rPr sz="1050">
                          <a:solidFill>
                            <a:srgbClr val="0A2373"/>
                          </a:solidFill>
                          <a:latin typeface="Lato"/>
                          <a:hlinkClick r:id="rId18" action="ppaction://hlinksldjump"/>
                        </a:rPr>
                        <a:t> / 18</a:t>
                      </a:r>
                      <a:r>
                        <a:rPr sz="1050">
                          <a:solidFill>
                            <a:srgbClr val="0A2373"/>
                          </a:solidFill>
                          <a:latin typeface="Lato"/>
                          <a:hlinkClick r:id="rId21" action="ppaction://hlinksldjump"/>
                        </a:rPr>
                        <a:t> / 19</a:t>
                      </a:r>
                      <a:r>
                        <a:rPr sz="1050">
                          <a:solidFill>
                            <a:srgbClr val="0A2373"/>
                          </a:solidFill>
                          <a:latin typeface="Lato"/>
                          <a:hlinkClick r:id="rId22" action="ppaction://hlinksldjump"/>
                        </a:rPr>
                        <a:t> / 20</a:t>
                      </a:r>
                      <a:r>
                        <a:rPr sz="1050">
                          <a:solidFill>
                            <a:srgbClr val="0A2373"/>
                          </a:solidFill>
                          <a:latin typeface="Lato"/>
                          <a:hlinkClick r:id="rId23" action="ppaction://hlinksldjump"/>
                        </a:rPr>
                        <a:t> / 21</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Matola and Walvis Bay provide alternative fuel supply nodes. Their effect on inland competition still needs route and volume evidence.</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Compare competing supply routes to the same inland market.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7</a:t>
                      </a:r>
                      <a:r>
                        <a:rPr sz="1050">
                          <a:solidFill>
                            <a:srgbClr val="0A2373"/>
                          </a:solidFill>
                          <a:latin typeface="Lato"/>
                          <a:hlinkClick r:id="rId10" action="ppaction://hlinksldjump"/>
                        </a:rPr>
                        <a:t> / 8</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has facilities in Durban and Lesedi, alongside the coastal and inland markets identified in the demand analysis.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Establish current fuel volumes and usable capacity at these sites before estimating additional business.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2" action="ppaction://hlinksldjump"/>
                        </a:rPr>
                        <a:t> / 10</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The evidence does not yet establish a need for additional storage. Customer volumes and usable spare capacity remain unverified.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Determine how much additional fuel existing assets could handle, then assess any remaining capacity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7" action="ppaction://hlinksldjump"/>
                        </a:rPr>
                        <a:t>11</a:t>
                      </a:r>
                      <a:r>
                        <a:rPr sz="1050">
                          <a:solidFill>
                            <a:srgbClr val="0A2373"/>
                          </a:solidFill>
                          <a:latin typeface="Lato"/>
                          <a:hlinkClick r:id="rId19" action="ppaction://hlinksldjump"/>
                        </a:rPr>
                        <a:t> / 12</a:t>
                      </a:r>
                      <a:r>
                        <a:rPr sz="1050">
                          <a:solidFill>
                            <a:srgbClr val="0A2373"/>
                          </a:solidFill>
                          <a:latin typeface="Lato"/>
                          <a:hlinkClick r:id="rId24" action="ppaction://hlinksldjump"/>
                        </a:rPr>
                        <a:t> / 13</a:t>
                      </a:r>
                    </a:p>
                  </a:txBody>
                  <a:tcPr marL="41148" marR="41148" marT="41148" marB="18288" anchor="t">
                    <a:lnB w="7620" cap="flat">
                      <a:solidFill>
                        <a:srgbClr val="EEEEEE"/>
                      </a:solidFill>
                    </a:lnB>
                    <a:solidFill>
                      <a:srgbClr val="FFFFFF"/>
                    </a:solidFill>
                  </a:tcPr>
                </a:tc>
              </a:tr>
            </a:tbl>
          </a:graphicData>
        </a:graphic>
      </p:graphicFrame>
      <p:sp>
        <p:nvSpPr>
          <p:cNvPr id="47"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8" name="SCR pill 2"/>
          <p:cNvSpPr/>
          <p:nvPr/>
        </p:nvSpPr>
        <p:spPr>
          <a:xfrm>
            <a:off x="1687068" y="278434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49" name="SCR pill 3"/>
          <p:cNvSpPr/>
          <p:nvPr/>
        </p:nvSpPr>
        <p:spPr>
          <a:xfrm>
            <a:off x="1687068" y="336042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C3</a:t>
            </a:r>
          </a:p>
        </p:txBody>
      </p:sp>
      <p:sp>
        <p:nvSpPr>
          <p:cNvPr id="50" name="SCR pill 4"/>
          <p:cNvSpPr/>
          <p:nvPr/>
        </p:nvSpPr>
        <p:spPr>
          <a:xfrm>
            <a:off x="1687068" y="3936492"/>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1" name="SCR pill 5"/>
          <p:cNvSpPr/>
          <p:nvPr/>
        </p:nvSpPr>
        <p:spPr>
          <a:xfrm>
            <a:off x="1687068" y="451256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2" name="SCR pill 6"/>
          <p:cNvSpPr/>
          <p:nvPr/>
        </p:nvSpPr>
        <p:spPr>
          <a:xfrm>
            <a:off x="1687068" y="508863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3" name="SCR pill 7"/>
          <p:cNvSpPr/>
          <p:nvPr/>
        </p:nvSpPr>
        <p:spPr>
          <a:xfrm>
            <a:off x="1687068" y="566470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Net imports rose in 2025: diesel by 15% and petrol by 19%</a:t>
            </a:r>
          </a:p>
        </p:txBody>
      </p:sp>
      <p:sp>
        <p:nvSpPr>
          <p:cNvPr id="3" name="Slide Number Placeholder"/>
          <p:cNvSpPr>
            <a:spLocks noGrp="1"/>
          </p:cNvSpPr>
          <p:nvPr>
            <p:ph type="sldNum" sz="quarter" idx="12"/>
          </p:nvPr>
        </p:nvSpPr>
        <p:spPr/>
        <p:txBody>
          <a:bodyPr/>
          <a:lstStyle/>
          <a:p>
            <a:pPr>
              <a:defRPr sz="1000">
                <a:latin typeface="Lato"/>
              </a:defRPr>
            </a:pPr>
            <a:r>
              <a:t>4</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Sources: departmental sales 2019-2023; FIASA 2024 sales (diamond; revisions unresolved); SARS trade 2019-2025. Net imports = imports minus exports.
Comparable national petrol/diesel production is not yet available: operator output mixes products, periods and ownership shares. No production residual inferred.</a:t>
            </a:r>
          </a:p>
        </p:txBody>
      </p: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100" name="Chart 99"/>
          <p:cNvGraphicFramePr>
            <a:graphicFrameLocks noGrp="1"/>
          </p:cNvGraphicFramePr>
          <p:nvPr/>
        </p:nvGraphicFramePr>
        <p:xfrm>
          <a:off x="457200" y="2542032"/>
          <a:ext cx="5029200" cy="2697480"/>
        </p:xfrm>
        <a:graphic>
          <a:graphicData uri="http://schemas.openxmlformats.org/drawingml/2006/chart">
            <c:chart xmlns:c="http://schemas.openxmlformats.org/drawingml/2006/chart" r:id="rId8"/>
          </a:graphicData>
        </a:graphic>
      </p:graphicFrame>
      <p:graphicFrame>
        <p:nvGraphicFramePr>
          <p:cNvPr id="110" name="Chart 109"/>
          <p:cNvGraphicFramePr>
            <a:graphicFrameLocks noGrp="1"/>
          </p:cNvGraphicFramePr>
          <p:nvPr/>
        </p:nvGraphicFramePr>
        <p:xfrm>
          <a:off x="5897880" y="2542032"/>
          <a:ext cx="5029200" cy="2697480"/>
        </p:xfrm>
        <a:graphic>
          <a:graphicData uri="http://schemas.openxmlformats.org/drawingml/2006/chart">
            <c:chart xmlns:c="http://schemas.openxmlformats.org/drawingml/2006/chart" r:id="rId9"/>
          </a:graphicData>
        </a:graphic>
      </p:graphicFrame>
      <p:sp>
        <p:nvSpPr>
          <p:cNvPr id="111" name="TextBox 110"/>
          <p:cNvSpPr txBox="1"/>
          <p:nvPr/>
        </p:nvSpPr>
        <p:spPr>
          <a:xfrm>
            <a:off x="457200" y="1627632"/>
            <a:ext cx="5029200" cy="320040"/>
          </a:xfrm>
          <a:prstGeom prst="rect">
            <a:avLst/>
          </a:prstGeom>
          <a:noFill/>
        </p:spPr>
        <p:txBody>
          <a:bodyPr wrap="square" lIns="0" rIns="0" tIns="0" bIns="0">
            <a:spAutoFit/>
          </a:bodyPr>
          <a:lstStyle/>
          <a:p>
            <a:pPr>
              <a:spcAft>
                <a:spcPts val="300"/>
              </a:spcAft>
              <a:defRPr sz="1500" b="1">
                <a:solidFill>
                  <a:srgbClr val="000000"/>
                </a:solidFill>
                <a:latin typeface="Lato"/>
              </a:defRPr>
            </a:pPr>
            <a:r>
              <a:t>Petrol | bn litres</a:t>
            </a:r>
          </a:p>
        </p:txBody>
      </p:sp>
      <p:cxnSp>
        <p:nvCxnSpPr>
          <p:cNvPr id="112" name="Connector 111"/>
          <p:cNvCxnSpPr/>
          <p:nvPr/>
        </p:nvCxnSpPr>
        <p:spPr>
          <a:xfrm>
            <a:off x="457200" y="1965960"/>
            <a:ext cx="5029200" cy="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457200" y="5449824"/>
            <a:ext cx="50292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457200" y="5550408"/>
            <a:ext cx="5029200" cy="246888"/>
          </a:xfrm>
          <a:prstGeom prst="rect">
            <a:avLst/>
          </a:prstGeom>
          <a:noFill/>
        </p:spPr>
        <p:txBody>
          <a:bodyPr wrap="square" lIns="0" rIns="0" tIns="0" bIns="0">
            <a:spAutoFit/>
          </a:bodyPr>
          <a:lstStyle/>
          <a:p>
            <a:pPr>
              <a:spcAft>
                <a:spcPts val="300"/>
              </a:spcAft>
              <a:defRPr sz="1300" b="1">
                <a:solidFill>
                  <a:srgbClr val="0A2373"/>
                </a:solidFill>
                <a:latin typeface="Lato"/>
              </a:defRPr>
            </a:pPr>
            <a:r>
              <a:t>Insights</a:t>
            </a:r>
          </a:p>
        </p:txBody>
      </p:sp>
      <p:sp>
        <p:nvSpPr>
          <p:cNvPr id="115" name="TextBox 114"/>
          <p:cNvSpPr txBox="1"/>
          <p:nvPr/>
        </p:nvSpPr>
        <p:spPr>
          <a:xfrm>
            <a:off x="457200" y="5879592"/>
            <a:ext cx="5029200" cy="466344"/>
          </a:xfrm>
          <a:prstGeom prst="rect">
            <a:avLst/>
          </a:prstGeom>
          <a:noFill/>
        </p:spPr>
        <p:txBody>
          <a:bodyPr wrap="square" lIns="0" rIns="0" tIns="0" bIns="0">
            <a:spAutoFit/>
          </a:bodyPr>
          <a:lstStyle/>
          <a:p>
            <a:pPr>
              <a:spcAft>
                <a:spcPts val="300"/>
              </a:spcAft>
              <a:defRPr sz="1100" b="0">
                <a:solidFill>
                  <a:srgbClr val="000000"/>
                </a:solidFill>
                <a:latin typeface="Lato"/>
              </a:defRPr>
            </a:pPr>
            <a:r>
              <a:t>2025 imports of 4.45 bn L less exports of 0.80 bn L left net imports of 3.65 bn L, up 19% year on year.</a:t>
            </a:r>
          </a:p>
        </p:txBody>
      </p:sp>
      <p:sp>
        <p:nvSpPr>
          <p:cNvPr id="116" name="TextBox 115"/>
          <p:cNvSpPr txBox="1"/>
          <p:nvPr/>
        </p:nvSpPr>
        <p:spPr>
          <a:xfrm>
            <a:off x="5897880" y="1627632"/>
            <a:ext cx="5029200" cy="320040"/>
          </a:xfrm>
          <a:prstGeom prst="rect">
            <a:avLst/>
          </a:prstGeom>
          <a:noFill/>
        </p:spPr>
        <p:txBody>
          <a:bodyPr wrap="square" lIns="0" rIns="0" tIns="0" bIns="0">
            <a:spAutoFit/>
          </a:bodyPr>
          <a:lstStyle/>
          <a:p>
            <a:pPr>
              <a:spcAft>
                <a:spcPts val="300"/>
              </a:spcAft>
              <a:defRPr sz="1500" b="1">
                <a:solidFill>
                  <a:srgbClr val="000000"/>
                </a:solidFill>
                <a:latin typeface="Lato"/>
              </a:defRPr>
            </a:pPr>
            <a:r>
              <a:t>Diesel | bn litres</a:t>
            </a:r>
          </a:p>
        </p:txBody>
      </p:sp>
      <p:cxnSp>
        <p:nvCxnSpPr>
          <p:cNvPr id="117" name="Connector 116"/>
          <p:cNvCxnSpPr/>
          <p:nvPr/>
        </p:nvCxnSpPr>
        <p:spPr>
          <a:xfrm>
            <a:off x="5897880" y="1965960"/>
            <a:ext cx="5029200" cy="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897880" y="5449824"/>
            <a:ext cx="50292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5897880" y="5550408"/>
            <a:ext cx="5029200" cy="246888"/>
          </a:xfrm>
          <a:prstGeom prst="rect">
            <a:avLst/>
          </a:prstGeom>
          <a:noFill/>
        </p:spPr>
        <p:txBody>
          <a:bodyPr wrap="square" lIns="0" rIns="0" tIns="0" bIns="0">
            <a:spAutoFit/>
          </a:bodyPr>
          <a:lstStyle/>
          <a:p>
            <a:pPr>
              <a:spcAft>
                <a:spcPts val="300"/>
              </a:spcAft>
              <a:defRPr sz="1300" b="1">
                <a:solidFill>
                  <a:srgbClr val="0A2373"/>
                </a:solidFill>
                <a:latin typeface="Lato"/>
              </a:defRPr>
            </a:pPr>
            <a:r>
              <a:t>Insights</a:t>
            </a:r>
          </a:p>
        </p:txBody>
      </p:sp>
      <p:sp>
        <p:nvSpPr>
          <p:cNvPr id="120" name="TextBox 119"/>
          <p:cNvSpPr txBox="1"/>
          <p:nvPr/>
        </p:nvSpPr>
        <p:spPr>
          <a:xfrm>
            <a:off x="5897880" y="5879592"/>
            <a:ext cx="5029200" cy="466344"/>
          </a:xfrm>
          <a:prstGeom prst="rect">
            <a:avLst/>
          </a:prstGeom>
          <a:noFill/>
        </p:spPr>
        <p:txBody>
          <a:bodyPr wrap="square" lIns="0" rIns="0" tIns="0" bIns="0">
            <a:spAutoFit/>
          </a:bodyPr>
          <a:lstStyle/>
          <a:p>
            <a:pPr>
              <a:spcAft>
                <a:spcPts val="300"/>
              </a:spcAft>
              <a:defRPr sz="1100" b="0">
                <a:solidFill>
                  <a:srgbClr val="000000"/>
                </a:solidFill>
                <a:latin typeface="Lato"/>
              </a:defRPr>
            </a:pPr>
            <a:r>
              <a:t>2025 imports of 12.25 bn L less exports of 0.75 bn L left net imports of 11.50 bn L, up 15% year on year.</a:t>
            </a:r>
          </a:p>
        </p:txBody>
      </p:sp>
      <p:cxnSp>
        <p:nvCxnSpPr>
          <p:cNvPr id="121" name="Connector 120"/>
          <p:cNvCxnSpPr/>
          <p:nvPr/>
        </p:nvCxnSpPr>
        <p:spPr>
          <a:xfrm>
            <a:off x="457200" y="2331720"/>
            <a:ext cx="210312"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73152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Sales</a:t>
            </a:r>
          </a:p>
        </p:txBody>
      </p:sp>
      <p:cxnSp>
        <p:nvCxnSpPr>
          <p:cNvPr id="123" name="Connector 122"/>
          <p:cNvCxnSpPr/>
          <p:nvPr/>
        </p:nvCxnSpPr>
        <p:spPr>
          <a:xfrm>
            <a:off x="1554480" y="2331720"/>
            <a:ext cx="210312"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8288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Imports</a:t>
            </a:r>
          </a:p>
        </p:txBody>
      </p:sp>
      <p:cxnSp>
        <p:nvCxnSpPr>
          <p:cNvPr id="125" name="Connector 124"/>
          <p:cNvCxnSpPr/>
          <p:nvPr/>
        </p:nvCxnSpPr>
        <p:spPr>
          <a:xfrm>
            <a:off x="2788920" y="2331720"/>
            <a:ext cx="210312"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3063239"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Exports</a:t>
            </a:r>
          </a:p>
        </p:txBody>
      </p:sp>
      <p:cxnSp>
        <p:nvCxnSpPr>
          <p:cNvPr id="127" name="Connector 126"/>
          <p:cNvCxnSpPr/>
          <p:nvPr/>
        </p:nvCxnSpPr>
        <p:spPr>
          <a:xfrm>
            <a:off x="4069080" y="2331720"/>
            <a:ext cx="210312" cy="0"/>
          </a:xfrm>
          <a:prstGeom prst="line">
            <a:avLst/>
          </a:prstGeom>
          <a:ln w="2286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43434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Net imports</a:t>
            </a:r>
          </a:p>
        </p:txBody>
      </p:sp>
      <p:cxnSp>
        <p:nvCxnSpPr>
          <p:cNvPr id="129" name="Connector 128"/>
          <p:cNvCxnSpPr/>
          <p:nvPr/>
        </p:nvCxnSpPr>
        <p:spPr>
          <a:xfrm>
            <a:off x="5897880" y="2331720"/>
            <a:ext cx="210312"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61722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Sales</a:t>
            </a:r>
          </a:p>
        </p:txBody>
      </p:sp>
      <p:cxnSp>
        <p:nvCxnSpPr>
          <p:cNvPr id="131" name="Connector 130"/>
          <p:cNvCxnSpPr/>
          <p:nvPr/>
        </p:nvCxnSpPr>
        <p:spPr>
          <a:xfrm>
            <a:off x="6995160" y="2331720"/>
            <a:ext cx="210312"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726948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Imports</a:t>
            </a:r>
          </a:p>
        </p:txBody>
      </p:sp>
      <p:cxnSp>
        <p:nvCxnSpPr>
          <p:cNvPr id="133" name="Connector 132"/>
          <p:cNvCxnSpPr/>
          <p:nvPr/>
        </p:nvCxnSpPr>
        <p:spPr>
          <a:xfrm>
            <a:off x="8229600" y="2331720"/>
            <a:ext cx="210312"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850392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Exports</a:t>
            </a:r>
          </a:p>
        </p:txBody>
      </p:sp>
      <p:cxnSp>
        <p:nvCxnSpPr>
          <p:cNvPr id="135" name="Connector 134"/>
          <p:cNvCxnSpPr/>
          <p:nvPr/>
        </p:nvCxnSpPr>
        <p:spPr>
          <a:xfrm>
            <a:off x="9509760" y="2331720"/>
            <a:ext cx="210312" cy="0"/>
          </a:xfrm>
          <a:prstGeom prst="line">
            <a:avLst/>
          </a:prstGeom>
          <a:ln w="2286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978408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Net imports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Gauteng leads provincial sales; Gauteng, KZN and Western Cape held 69% in 2022</a:t>
            </a:r>
          </a:p>
        </p:txBody>
      </p:sp>
      <p:sp>
        <p:nvSpPr>
          <p:cNvPr id="3" name="Slide Number Placeholder"/>
          <p:cNvSpPr>
            <a:spLocks noGrp="1"/>
          </p:cNvSpPr>
          <p:nvPr>
            <p:ph type="sldNum" sz="quarter" idx="12"/>
          </p:nvPr>
        </p:nvSpPr>
        <p:spPr/>
        <p:txBody>
          <a:bodyPr/>
          <a:lstStyle/>
          <a:p>
            <a:pPr>
              <a:defRPr sz="1000">
                <a:latin typeface="Lato"/>
              </a:defRPr>
            </a:pPr>
            <a:r>
              <a:t>5</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Sources: departmental provincial petrol/diesel sales; staged 2013-2022 history; 2022 geographic boundaries as previously cited. Jet excluded.
2014 source conflict and incomplete 2018 coverage are omitted from the trend. No held-share 2024 estimates are shown.</a:t>
            </a:r>
          </a:p>
        </p:txBody>
      </p:sp>
      <p:sp>
        <p:nvSpPr>
          <p:cNvPr id="22" name="Map frame; common geographic extent"/>
          <p:cNvSpPr/>
          <p:nvPr/>
        </p:nvSpPr>
        <p:spPr>
          <a:xfrm>
            <a:off x="457200" y="3211007"/>
            <a:ext cx="4776870" cy="2815254"/>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3576334" y="3447709"/>
            <a:ext cx="474686" cy="84112"/>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3848102" y="4108185"/>
            <a:ext cx="225127" cy="274418"/>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435416" y="3476396"/>
            <a:ext cx="2766399" cy="2181400"/>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273966" y="3447688"/>
            <a:ext cx="876910" cy="1207411"/>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3971136" y="3466230"/>
            <a:ext cx="446193" cy="846462"/>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3202853" y="4580126"/>
            <a:ext cx="389703" cy="352971"/>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1975338" y="3447688"/>
            <a:ext cx="1658503" cy="836709"/>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4" name="Connector 22"/>
          <p:cNvCxnSpPr/>
          <p:nvPr/>
        </p:nvCxnSpPr>
        <p:spPr>
          <a:xfrm flipH="1" flipV="1">
            <a:off x="2079844" y="5651764"/>
            <a:ext cx="2279" cy="43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3"/>
          <p:cNvCxnSpPr/>
          <p:nvPr/>
        </p:nvCxnSpPr>
        <p:spPr>
          <a:xfrm flipH="1" flipV="1">
            <a:off x="2077577" y="5608659"/>
            <a:ext cx="2266"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4"/>
          <p:cNvCxnSpPr/>
          <p:nvPr/>
        </p:nvCxnSpPr>
        <p:spPr>
          <a:xfrm flipH="1" flipV="1">
            <a:off x="2075321" y="5565551"/>
            <a:ext cx="2255" cy="431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5"/>
          <p:cNvCxnSpPr/>
          <p:nvPr/>
        </p:nvCxnSpPr>
        <p:spPr>
          <a:xfrm flipH="1" flipV="1">
            <a:off x="2073077" y="5522439"/>
            <a:ext cx="2242" cy="43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6"/>
          <p:cNvCxnSpPr/>
          <p:nvPr/>
        </p:nvCxnSpPr>
        <p:spPr>
          <a:xfrm flipH="1" flipV="1">
            <a:off x="2070846" y="5479325"/>
            <a:ext cx="2231" cy="431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7"/>
          <p:cNvCxnSpPr/>
          <p:nvPr/>
        </p:nvCxnSpPr>
        <p:spPr>
          <a:xfrm flipH="1" flipV="1">
            <a:off x="2068626" y="5436207"/>
            <a:ext cx="2219"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0" name="Connector 28"/>
          <p:cNvCxnSpPr/>
          <p:nvPr/>
        </p:nvCxnSpPr>
        <p:spPr>
          <a:xfrm flipH="1" flipV="1">
            <a:off x="2066418" y="5393088"/>
            <a:ext cx="2207"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064220" y="5349966"/>
            <a:ext cx="2196"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062036" y="5306842"/>
            <a:ext cx="2184"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059863" y="5263716"/>
            <a:ext cx="2172"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057702" y="5220588"/>
            <a:ext cx="216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055553" y="5177459"/>
            <a:ext cx="2148" cy="43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053414" y="5134329"/>
            <a:ext cx="2137"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051289" y="5091196"/>
            <a:ext cx="2125"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049174" y="5048064"/>
            <a:ext cx="2113"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047072" y="5004930"/>
            <a:ext cx="2101"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044982" y="4961797"/>
            <a:ext cx="209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042903" y="4918662"/>
            <a:ext cx="2077"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040837" y="4875528"/>
            <a:ext cx="2066"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038782" y="4832394"/>
            <a:ext cx="2053"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036739" y="4789260"/>
            <a:ext cx="2042"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034708" y="4746126"/>
            <a:ext cx="203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032689" y="4702993"/>
            <a:ext cx="2018"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030682" y="4659861"/>
            <a:ext cx="2007"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028686" y="4616730"/>
            <a:ext cx="1995"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026702" y="4573600"/>
            <a:ext cx="1983"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024731" y="4530471"/>
            <a:ext cx="1970"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022771" y="4487344"/>
            <a:ext cx="1959"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020824" y="4444220"/>
            <a:ext cx="1947" cy="431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018887" y="4401097"/>
            <a:ext cx="1935" cy="43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016964" y="4357977"/>
            <a:ext cx="1922"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015051" y="4314858"/>
            <a:ext cx="1912" cy="43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013151" y="4271742"/>
            <a:ext cx="1899"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011264" y="4228629"/>
            <a:ext cx="1887"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009388" y="4185519"/>
            <a:ext cx="1875"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007524" y="4142413"/>
            <a:ext cx="1863"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005672" y="4099310"/>
            <a:ext cx="1851" cy="431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003832" y="4056210"/>
            <a:ext cx="1839" cy="430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002004" y="4013114"/>
            <a:ext cx="1827" cy="430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000188" y="3970023"/>
            <a:ext cx="1815"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1998385" y="3926935"/>
            <a:ext cx="1803"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1996592" y="3883852"/>
            <a:ext cx="1791" cy="430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1994812" y="3840773"/>
            <a:ext cx="1779"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1993045" y="3797700"/>
            <a:ext cx="1767"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1991288" y="3754631"/>
            <a:ext cx="1755" cy="4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1989545" y="3711567"/>
            <a:ext cx="1743" cy="43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1987813" y="3668509"/>
            <a:ext cx="1730" cy="430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1986094" y="3625456"/>
            <a:ext cx="1718" cy="430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1984386" y="3582409"/>
            <a:ext cx="1707" cy="430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1982691" y="3539367"/>
            <a:ext cx="1694" cy="430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1981008" y="3496332"/>
            <a:ext cx="1682" cy="43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1979338" y="3453304"/>
            <a:ext cx="1670" cy="430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863252" y="5636060"/>
            <a:ext cx="0"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863252" y="5592940"/>
            <a:ext cx="0"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863252" y="5549817"/>
            <a:ext cx="0"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863252" y="5506690"/>
            <a:ext cx="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863252" y="5463561"/>
            <a:ext cx="0"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863252" y="5420429"/>
            <a:ext cx="0"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2863252" y="5377297"/>
            <a:ext cx="0"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2863252" y="5334161"/>
            <a:ext cx="0" cy="431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2863252" y="5291024"/>
            <a:ext cx="0" cy="43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2863252" y="5247886"/>
            <a:ext cx="0" cy="431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863252" y="5204746"/>
            <a:ext cx="0" cy="431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2863252" y="5161605"/>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863252" y="5118463"/>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863252" y="5075321"/>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863252" y="5032177"/>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863252" y="4989034"/>
            <a:ext cx="0" cy="431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863252" y="4945890"/>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863252" y="4902747"/>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863252" y="4859603"/>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2863252" y="4816460"/>
            <a:ext cx="0" cy="431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863252" y="4773317"/>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863252" y="4730176"/>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863252" y="4687035"/>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863252" y="4643896"/>
            <a:ext cx="0" cy="431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863252" y="4600759"/>
            <a:ext cx="0" cy="431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863252" y="4557622"/>
            <a:ext cx="0" cy="431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863252" y="4514488"/>
            <a:ext cx="0"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863252" y="4471356"/>
            <a:ext cx="0"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863252" y="4428226"/>
            <a:ext cx="0"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863252" y="4385099"/>
            <a:ext cx="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863252" y="4341973"/>
            <a:ext cx="0"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863252" y="4298851"/>
            <a:ext cx="0"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2863252" y="4255732"/>
            <a:ext cx="0"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2863252" y="4212616"/>
            <a:ext cx="0"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2863252" y="4169503"/>
            <a:ext cx="0"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863252" y="4126394"/>
            <a:ext cx="0"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863252" y="4083289"/>
            <a:ext cx="0"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863252" y="4040187"/>
            <a:ext cx="0" cy="431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863252" y="3997089"/>
            <a:ext cx="0" cy="430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863252" y="3953997"/>
            <a:ext cx="0"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863252" y="3910909"/>
            <a:ext cx="0"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863252" y="3867825"/>
            <a:ext cx="0" cy="430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863252" y="3824746"/>
            <a:ext cx="0"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863252" y="3781673"/>
            <a:ext cx="0"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863252" y="3738604"/>
            <a:ext cx="0" cy="43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863252" y="3695541"/>
            <a:ext cx="0" cy="430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863252" y="3652485"/>
            <a:ext cx="0" cy="430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863252" y="3609434"/>
            <a:ext cx="0" cy="430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863252" y="3566388"/>
            <a:ext cx="0" cy="430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863252" y="3523350"/>
            <a:ext cx="0" cy="430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863252" y="3480317"/>
            <a:ext cx="0" cy="43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863252" y="3437293"/>
            <a:ext cx="0" cy="430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644380" y="5651764"/>
            <a:ext cx="2279" cy="43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646659" y="5608659"/>
            <a:ext cx="2266"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648926" y="5565551"/>
            <a:ext cx="2255" cy="431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3651182" y="5522439"/>
            <a:ext cx="2242" cy="43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3653425" y="5479325"/>
            <a:ext cx="2231" cy="431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655658" y="5436207"/>
            <a:ext cx="2219"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657878" y="5393088"/>
            <a:ext cx="2207"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660086" y="5349966"/>
            <a:ext cx="2196"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662283" y="5306842"/>
            <a:ext cx="2184"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664467" y="5263716"/>
            <a:ext cx="2172"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666641" y="5220588"/>
            <a:ext cx="2161"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668802" y="5177459"/>
            <a:ext cx="2148" cy="43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670951" y="5134329"/>
            <a:ext cx="2137"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673088" y="5091196"/>
            <a:ext cx="2125"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675214" y="5048064"/>
            <a:ext cx="2113"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677329" y="5004930"/>
            <a:ext cx="2101"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679430" y="4961797"/>
            <a:ext cx="209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681521" y="4918662"/>
            <a:ext cx="2077"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83600" y="4875528"/>
            <a:ext cx="2066"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85666" y="4832394"/>
            <a:ext cx="2053"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687721" y="4789260"/>
            <a:ext cx="2042"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689765" y="4746126"/>
            <a:ext cx="203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691796" y="4702993"/>
            <a:ext cx="2018"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693814" y="4659861"/>
            <a:ext cx="2007"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695822" y="4616730"/>
            <a:ext cx="1995"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3697818" y="4573600"/>
            <a:ext cx="1983"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3699801" y="4530471"/>
            <a:ext cx="1971"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3701773" y="4487344"/>
            <a:ext cx="1958"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3703732" y="4444220"/>
            <a:ext cx="1947" cy="431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3705680" y="4401097"/>
            <a:ext cx="1935" cy="43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3707616" y="4357977"/>
            <a:ext cx="1923"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3709540" y="4314858"/>
            <a:ext cx="1911" cy="43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3711452" y="4271742"/>
            <a:ext cx="1899"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3713352" y="4228629"/>
            <a:ext cx="1887"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3715240" y="4185519"/>
            <a:ext cx="1875"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3717115" y="4142413"/>
            <a:ext cx="1863"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3718980" y="4099310"/>
            <a:ext cx="1851" cy="431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3720831" y="4056210"/>
            <a:ext cx="1840" cy="430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722672" y="4013114"/>
            <a:ext cx="1826" cy="430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3724499" y="3970023"/>
            <a:ext cx="1815"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3726316" y="3926935"/>
            <a:ext cx="1804"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3728120" y="3883852"/>
            <a:ext cx="1791" cy="430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3729912" y="3840773"/>
            <a:ext cx="1779"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3731692" y="3797700"/>
            <a:ext cx="1767"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3733459" y="3754631"/>
            <a:ext cx="1755" cy="4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3735214" y="3711567"/>
            <a:ext cx="1743" cy="43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3736959" y="3668509"/>
            <a:ext cx="1730" cy="430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3738690" y="3625456"/>
            <a:ext cx="1718" cy="430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3740409" y="3582409"/>
            <a:ext cx="1707" cy="430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3742116" y="3539367"/>
            <a:ext cx="1694" cy="430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3743812" y="3496332"/>
            <a:ext cx="1683" cy="43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3745495" y="3453304"/>
            <a:ext cx="1670" cy="430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311522" y="4003089"/>
            <a:ext cx="42964" cy="28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354488" y="4000322"/>
            <a:ext cx="42978" cy="2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397466" y="3997637"/>
            <a:ext cx="42988" cy="2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440455" y="3995031"/>
            <a:ext cx="42998" cy="26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483454" y="3992506"/>
            <a:ext cx="43010" cy="25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526465" y="3990061"/>
            <a:ext cx="43020" cy="24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569486" y="3987696"/>
            <a:ext cx="43030"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1612516" y="3985412"/>
            <a:ext cx="43040" cy="2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1655558" y="3983208"/>
            <a:ext cx="43048" cy="22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1698606" y="3981084"/>
            <a:ext cx="43058" cy="2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1741665" y="3979039"/>
            <a:ext cx="43067" cy="20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1784733" y="3977076"/>
            <a:ext cx="43074" cy="19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1827809" y="3975192"/>
            <a:ext cx="43082" cy="1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1870893" y="3973389"/>
            <a:ext cx="43091"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1913984" y="3971666"/>
            <a:ext cx="43098" cy="1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1957082" y="3970023"/>
            <a:ext cx="43105" cy="16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000188" y="3968460"/>
            <a:ext cx="43111"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043300" y="3966977"/>
            <a:ext cx="43118" cy="14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086419" y="3965576"/>
            <a:ext cx="43123" cy="1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129542" y="3964253"/>
            <a:ext cx="43130" cy="13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172673" y="3963011"/>
            <a:ext cx="43134" cy="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215808" y="3961849"/>
            <a:ext cx="43139" cy="1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258949" y="3960768"/>
            <a:ext cx="43145" cy="1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302094" y="3959766"/>
            <a:ext cx="43149" cy="10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2345244" y="3958844"/>
            <a:ext cx="43152" cy="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2388397" y="3958003"/>
            <a:ext cx="43155" cy="8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2431553" y="3957241"/>
            <a:ext cx="43159" cy="7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2474714" y="3956560"/>
            <a:ext cx="43163" cy="6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2517878" y="3955960"/>
            <a:ext cx="43165" cy="6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2561043" y="3955439"/>
            <a:ext cx="43168" cy="5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2604212" y="3954998"/>
            <a:ext cx="43169" cy="4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2647383" y="3954638"/>
            <a:ext cx="43170"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2690554" y="3954357"/>
            <a:ext cx="43172" cy="2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2733727" y="3954157"/>
            <a:ext cx="43173"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2776902" y="3954036"/>
            <a:ext cx="43173"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2820077" y="3953997"/>
            <a:ext cx="43175"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2863252" y="3953997"/>
            <a:ext cx="43174"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2906427" y="3954036"/>
            <a:ext cx="43174"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2949602" y="3954157"/>
            <a:ext cx="43172"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2992776" y="3954357"/>
            <a:ext cx="43172" cy="2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035950" y="3954638"/>
            <a:ext cx="43171"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079122" y="3954998"/>
            <a:ext cx="43169" cy="4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3122292" y="3955439"/>
            <a:ext cx="43168" cy="5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3165460" y="3955960"/>
            <a:ext cx="43166" cy="6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3208627" y="3956560"/>
            <a:ext cx="43163" cy="6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3251790" y="3957241"/>
            <a:ext cx="43159" cy="7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3294949" y="3958003"/>
            <a:ext cx="43155" cy="8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3338106" y="3958844"/>
            <a:ext cx="43152" cy="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3381260" y="3959766"/>
            <a:ext cx="43149" cy="10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3424409" y="3960768"/>
            <a:ext cx="43145" cy="1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3467555" y="3961849"/>
            <a:ext cx="43139" cy="1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3510695" y="3963011"/>
            <a:ext cx="43134" cy="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3553830" y="3964253"/>
            <a:ext cx="43130" cy="13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3596961" y="3965576"/>
            <a:ext cx="43123" cy="1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3640084" y="3966977"/>
            <a:ext cx="43118" cy="14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3683203" y="3968460"/>
            <a:ext cx="43111"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3726316" y="3970023"/>
            <a:ext cx="43105" cy="16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3769421" y="3971666"/>
            <a:ext cx="43098" cy="1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3812520" y="3973389"/>
            <a:ext cx="43091"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3855611" y="3975192"/>
            <a:ext cx="43082" cy="1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3898694" y="3977076"/>
            <a:ext cx="43074" cy="19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3941770" y="3979039"/>
            <a:ext cx="43067" cy="20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3984837" y="3981084"/>
            <a:ext cx="43058" cy="2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4027896" y="3983208"/>
            <a:ext cx="43049" cy="22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4070946" y="3985412"/>
            <a:ext cx="43039" cy="2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4113987" y="3987696"/>
            <a:ext cx="43030"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4157017" y="3990061"/>
            <a:ext cx="43020" cy="24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4200038" y="3992506"/>
            <a:ext cx="43010" cy="25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4243049" y="3995031"/>
            <a:ext cx="42999" cy="26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4286049" y="3997637"/>
            <a:ext cx="42987" cy="2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4329038" y="4000322"/>
            <a:ext cx="42978" cy="2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381026" y="4865266"/>
            <a:ext cx="41032" cy="28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422058" y="4862516"/>
            <a:ext cx="41043" cy="27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463103" y="4859846"/>
            <a:ext cx="41056" cy="26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504159" y="4857255"/>
            <a:ext cx="41066"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545226" y="4854745"/>
            <a:ext cx="41078" cy="25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586305" y="4852315"/>
            <a:ext cx="41088" cy="24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627393" y="4849963"/>
            <a:ext cx="41097" cy="23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1668491" y="4847693"/>
            <a:ext cx="41108" cy="22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709601" y="4845501"/>
            <a:ext cx="41117" cy="2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750719" y="4843389"/>
            <a:ext cx="41127" cy="2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791846" y="4841357"/>
            <a:ext cx="41135"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1832982" y="4839405"/>
            <a:ext cx="41143" cy="1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874125" y="4837533"/>
            <a:ext cx="41152" cy="1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915279" y="4835740"/>
            <a:ext cx="41159" cy="1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956439" y="4834027"/>
            <a:ext cx="41167" cy="1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997606" y="4832394"/>
            <a:ext cx="41174" cy="16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038782" y="4830840"/>
            <a:ext cx="41181" cy="1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079964" y="4829366"/>
            <a:ext cx="41187" cy="14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121152" y="4827972"/>
            <a:ext cx="41193" cy="1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162346" y="4826658"/>
            <a:ext cx="41199" cy="1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203547" y="4825423"/>
            <a:ext cx="41204" cy="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244751" y="4824267"/>
            <a:ext cx="41210" cy="11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285962" y="4823191"/>
            <a:ext cx="41214" cy="10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327177" y="4822195"/>
            <a:ext cx="41219" cy="9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2368396" y="4821280"/>
            <a:ext cx="41223" cy="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2409621" y="4820443"/>
            <a:ext cx="41226" cy="8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2450848" y="4819686"/>
            <a:ext cx="41230"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2492079" y="4819010"/>
            <a:ext cx="41232" cy="6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2533312" y="4818411"/>
            <a:ext cx="41236" cy="5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2574549" y="4817894"/>
            <a:ext cx="41238" cy="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2615788" y="4817456"/>
            <a:ext cx="41240" cy="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2657029" y="4817097"/>
            <a:ext cx="41242" cy="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2698271" y="4816819"/>
            <a:ext cx="41243" cy="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2739516" y="4816619"/>
            <a:ext cx="41244"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2780760" y="4816500"/>
            <a:ext cx="41245"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2822006" y="4816460"/>
            <a:ext cx="41246"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2863252" y="4816460"/>
            <a:ext cx="41245"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2904497" y="4816500"/>
            <a:ext cx="41245"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2945744" y="4816619"/>
            <a:ext cx="41245"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2986989" y="4816819"/>
            <a:ext cx="41243" cy="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028232" y="4817097"/>
            <a:ext cx="41242" cy="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069474" y="4817456"/>
            <a:ext cx="41240" cy="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3110716" y="4817894"/>
            <a:ext cx="41238" cy="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3151954" y="4818411"/>
            <a:ext cx="41236" cy="5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3193191" y="4819010"/>
            <a:ext cx="41232" cy="6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3234425" y="4819686"/>
            <a:ext cx="41230"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3275656" y="4820443"/>
            <a:ext cx="41227" cy="8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3316883" y="4821280"/>
            <a:ext cx="41222" cy="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3358106" y="4822195"/>
            <a:ext cx="41219" cy="9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3399326" y="4823191"/>
            <a:ext cx="41214" cy="10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3440542" y="4824267"/>
            <a:ext cx="41210" cy="11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3481753" y="4825423"/>
            <a:ext cx="41205" cy="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3522958" y="4826658"/>
            <a:ext cx="41199" cy="1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3564157" y="4827972"/>
            <a:ext cx="41193" cy="1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3605351" y="4829366"/>
            <a:ext cx="41187" cy="14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3646540" y="4830840"/>
            <a:ext cx="41181" cy="1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3687721" y="4832394"/>
            <a:ext cx="41174" cy="16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3728896" y="4834027"/>
            <a:ext cx="41167" cy="1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3770064" y="4835740"/>
            <a:ext cx="41159" cy="1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3811225" y="4837533"/>
            <a:ext cx="41152" cy="1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3852377" y="4839405"/>
            <a:ext cx="41143" cy="1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3893521" y="4841357"/>
            <a:ext cx="41135"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3934658" y="4843389"/>
            <a:ext cx="41126" cy="2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3975785" y="4845501"/>
            <a:ext cx="41117" cy="2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4016903" y="4847693"/>
            <a:ext cx="41108" cy="22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4058011" y="4849963"/>
            <a:ext cx="41097" cy="23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4099110" y="4852315"/>
            <a:ext cx="41088" cy="24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4140198" y="4854745"/>
            <a:ext cx="41078" cy="25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4181276" y="4857255"/>
            <a:ext cx="41067"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4222345" y="4859846"/>
            <a:ext cx="41055" cy="26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4263400" y="4862516"/>
            <a:ext cx="41043" cy="27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459061" y="5727228"/>
            <a:ext cx="38862" cy="27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497924" y="5724521"/>
            <a:ext cx="38874" cy="27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536799" y="5721892"/>
            <a:ext cx="38886" cy="26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575687" y="5719343"/>
            <a:ext cx="38898" cy="25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1614585" y="5716872"/>
            <a:ext cx="38909" cy="24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1653495" y="5714478"/>
            <a:ext cx="38918" cy="2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1692414" y="5712164"/>
            <a:ext cx="38930" cy="23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1731345" y="5709928"/>
            <a:ext cx="38939" cy="2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1770285" y="5707770"/>
            <a:ext cx="38949" cy="21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1809235" y="5705692"/>
            <a:ext cx="38958"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1848194" y="5703691"/>
            <a:ext cx="38967" cy="19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1887161" y="5701769"/>
            <a:ext cx="38976" cy="1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1926138" y="5699925"/>
            <a:ext cx="38984" cy="18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1965123" y="5698160"/>
            <a:ext cx="38992" cy="1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004116" y="5696474"/>
            <a:ext cx="38999"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043115" y="5694865"/>
            <a:ext cx="39007" cy="16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082123" y="5693336"/>
            <a:ext cx="39013" cy="15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121138" y="5691884"/>
            <a:ext cx="39020" cy="14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160158" y="5690512"/>
            <a:ext cx="39026" cy="13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199185" y="5689217"/>
            <a:ext cx="39031" cy="1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238217" y="5688001"/>
            <a:ext cx="39037" cy="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277255" y="5686865"/>
            <a:ext cx="39043" cy="1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316298" y="5685806"/>
            <a:ext cx="39047" cy="10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2355347" y="5684825"/>
            <a:ext cx="39051" cy="9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2394399" y="5683923"/>
            <a:ext cx="39056" cy="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2433456" y="5683099"/>
            <a:ext cx="39060" cy="8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2472516" y="5682354"/>
            <a:ext cx="39064" cy="7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2511580" y="5681688"/>
            <a:ext cx="39066" cy="6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2550647" y="5681099"/>
            <a:ext cx="39068" cy="5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2589716" y="5680589"/>
            <a:ext cx="39071" cy="5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2628788" y="5680158"/>
            <a:ext cx="39073" cy="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2667863" y="5679805"/>
            <a:ext cx="39074"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2706938" y="5679531"/>
            <a:ext cx="39077" cy="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2746016" y="5679334"/>
            <a:ext cx="39077" cy="1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2785094" y="5679217"/>
            <a:ext cx="39078" cy="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2824172" y="5679178"/>
            <a:ext cx="39079"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2863252" y="5679178"/>
            <a:ext cx="39078"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2902330" y="5679217"/>
            <a:ext cx="39078" cy="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2941410" y="5679334"/>
            <a:ext cx="39077" cy="1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2980488" y="5679531"/>
            <a:ext cx="39077" cy="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019565" y="5679805"/>
            <a:ext cx="39075"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058642" y="5680158"/>
            <a:ext cx="39073" cy="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3097715" y="5680589"/>
            <a:ext cx="39071" cy="5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3136787" y="5681099"/>
            <a:ext cx="39068" cy="5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3175856" y="5681688"/>
            <a:ext cx="39066" cy="6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3214923" y="5682354"/>
            <a:ext cx="39064" cy="7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3253987" y="5683099"/>
            <a:ext cx="39060" cy="8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3293047" y="5683923"/>
            <a:ext cx="39056" cy="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3332104" y="5684825"/>
            <a:ext cx="39051" cy="9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3371156" y="5685806"/>
            <a:ext cx="39047" cy="10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3410205" y="5686865"/>
            <a:ext cx="39043" cy="1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3449248" y="5688001"/>
            <a:ext cx="39037" cy="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3488287" y="5689217"/>
            <a:ext cx="39031" cy="1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3527318" y="5690512"/>
            <a:ext cx="39026" cy="13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3566345" y="5691884"/>
            <a:ext cx="39020" cy="14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3605367" y="5693336"/>
            <a:ext cx="39013" cy="15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3644380" y="5694865"/>
            <a:ext cx="39007" cy="16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3683388" y="5696474"/>
            <a:ext cx="38999"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3722388" y="5698160"/>
            <a:ext cx="38991" cy="1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3761380" y="5699925"/>
            <a:ext cx="38984" cy="18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3800365" y="5701769"/>
            <a:ext cx="38976" cy="1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3839342" y="5703691"/>
            <a:ext cx="38967" cy="19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3878309" y="5705692"/>
            <a:ext cx="38959"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3917269" y="5707770"/>
            <a:ext cx="38949" cy="21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3956218" y="5709928"/>
            <a:ext cx="38939" cy="2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3995158" y="5712164"/>
            <a:ext cx="38930" cy="23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4034089" y="5714478"/>
            <a:ext cx="38918" cy="2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4073009" y="5716872"/>
            <a:ext cx="38909" cy="24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4111919" y="5719343"/>
            <a:ext cx="38897" cy="25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4150817" y="5721892"/>
            <a:ext cx="38886" cy="26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4189704" y="5724521"/>
            <a:ext cx="38874" cy="27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465307" y="3719349"/>
            <a:ext cx="6712" cy="103359"/>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411102" y="3577452"/>
            <a:ext cx="135513" cy="142646"/>
          </a:xfrm>
          <a:prstGeom prst="rect">
            <a:avLst/>
          </a:prstGeom>
          <a:noFill/>
        </p:spPr>
        <p:txBody>
          <a:bodyPr wrap="square" lIns="22860" rIns="22860" tIns="0" bIns="0">
            <a:spAutoFit/>
          </a:bodyPr>
          <a:lstStyle/>
          <a:p>
            <a:pPr>
              <a:spcAft>
                <a:spcPts val="300"/>
              </a:spcAft>
              <a:defRPr sz="765" b="0">
                <a:solidFill>
                  <a:srgbClr val="000000"/>
                </a:solidFill>
                <a:latin typeface="Lato"/>
              </a:defRPr>
            </a:pPr>
            <a:r>
              <a:rPr>
                <a:solidFill/>
              </a:rPr>
              <a:t>N</a:t>
            </a:r>
          </a:p>
        </p:txBody>
      </p:sp>
      <p:cxnSp>
        <p:nvCxnSpPr>
          <p:cNvPr id="394" name="Connector 393"/>
          <p:cNvCxnSpPr/>
          <p:nvPr/>
        </p:nvCxnSpPr>
        <p:spPr>
          <a:xfrm flipH="1">
            <a:off x="1438205" y="3719349"/>
            <a:ext cx="27102" cy="55525"/>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465307" y="3719349"/>
            <a:ext cx="27102" cy="55525"/>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592713" y="5707653"/>
            <a:ext cx="854914"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592713"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020170"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447628"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579161" y="5565755"/>
            <a:ext cx="121961" cy="128381"/>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0</a:t>
            </a:r>
          </a:p>
        </p:txBody>
      </p:sp>
      <p:sp>
        <p:nvSpPr>
          <p:cNvPr id="401" name="TextBox 400"/>
          <p:cNvSpPr txBox="1"/>
          <p:nvPr/>
        </p:nvSpPr>
        <p:spPr>
          <a:xfrm>
            <a:off x="1339217" y="5565755"/>
            <a:ext cx="372663" cy="128381"/>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500 km</a:t>
            </a:r>
          </a:p>
        </p:txBody>
      </p:sp>
      <p:sp>
        <p:nvSpPr>
          <p:cNvPr id="402" name="2022 provincial petrol/diesel sales: EC"/>
          <p:cNvSpPr/>
          <p:nvPr/>
        </p:nvSpPr>
        <p:spPr>
          <a:xfrm>
            <a:off x="2502818" y="4827043"/>
            <a:ext cx="1205345" cy="716555"/>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2755088" y="4247453"/>
            <a:ext cx="915562" cy="69044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3230764" y="3981879"/>
            <a:ext cx="336832" cy="310472"/>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3509823" y="4297522"/>
            <a:ext cx="701682" cy="721813"/>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3107258" y="3472713"/>
            <a:ext cx="953671" cy="567251"/>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3414348" y="3808162"/>
            <a:ext cx="664353" cy="591626"/>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2457784" y="3892615"/>
            <a:ext cx="973543" cy="598274"/>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436335" y="3929676"/>
            <a:ext cx="1516827" cy="1407298"/>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1811490" y="5498525"/>
            <a:ext cx="4261" cy="4847"/>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1763502" y="5435662"/>
            <a:ext cx="2625" cy="3286"/>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1683598" y="4917038"/>
            <a:ext cx="1053912" cy="749246"/>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2502818" y="4297522"/>
            <a:ext cx="1708687" cy="1246076"/>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2457784" y="3472713"/>
            <a:ext cx="1620917" cy="1465180"/>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436335" y="3929676"/>
            <a:ext cx="1516827" cy="1407298"/>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1811490" y="5498525"/>
            <a:ext cx="4261" cy="4847"/>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1763502" y="5435662"/>
            <a:ext cx="2625" cy="3286"/>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1683598" y="4917038"/>
            <a:ext cx="1053912" cy="749246"/>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3202853" y="4580126"/>
            <a:ext cx="389703" cy="352971"/>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1" name="Connector 401"/>
          <p:cNvCxnSpPr/>
          <p:nvPr/>
        </p:nvCxnSpPr>
        <p:spPr>
          <a:xfrm flipV="1">
            <a:off x="1824341" y="5465739"/>
            <a:ext cx="158469" cy="526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2"/>
          <p:cNvCxnSpPr/>
          <p:nvPr/>
        </p:nvCxnSpPr>
        <p:spPr>
          <a:xfrm flipV="1">
            <a:off x="1982811" y="5225712"/>
            <a:ext cx="490803" cy="2400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3"/>
          <p:cNvCxnSpPr/>
          <p:nvPr/>
        </p:nvCxnSpPr>
        <p:spPr>
          <a:xfrm flipV="1">
            <a:off x="2473615" y="4940719"/>
            <a:ext cx="406015" cy="2849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4"/>
          <p:cNvCxnSpPr/>
          <p:nvPr/>
        </p:nvCxnSpPr>
        <p:spPr>
          <a:xfrm flipV="1">
            <a:off x="2879631" y="4665538"/>
            <a:ext cx="184971" cy="2751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5"/>
          <p:cNvCxnSpPr/>
          <p:nvPr/>
        </p:nvCxnSpPr>
        <p:spPr>
          <a:xfrm flipV="1">
            <a:off x="3064603" y="4414156"/>
            <a:ext cx="174876" cy="251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6"/>
          <p:cNvCxnSpPr/>
          <p:nvPr/>
        </p:nvCxnSpPr>
        <p:spPr>
          <a:xfrm flipV="1">
            <a:off x="3239481" y="4166841"/>
            <a:ext cx="145026" cy="2473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7"/>
          <p:cNvCxnSpPr/>
          <p:nvPr/>
        </p:nvCxnSpPr>
        <p:spPr>
          <a:xfrm flipV="1">
            <a:off x="3384507" y="4089809"/>
            <a:ext cx="26048" cy="770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8"/>
          <p:cNvCxnSpPr/>
          <p:nvPr/>
        </p:nvCxnSpPr>
        <p:spPr>
          <a:xfrm flipV="1">
            <a:off x="3410556" y="3777139"/>
            <a:ext cx="227887" cy="3126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09"/>
          <p:cNvCxnSpPr/>
          <p:nvPr/>
        </p:nvCxnSpPr>
        <p:spPr>
          <a:xfrm flipV="1">
            <a:off x="3638444" y="3492826"/>
            <a:ext cx="105421" cy="2843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0"/>
          <p:cNvCxnSpPr/>
          <p:nvPr/>
        </p:nvCxnSpPr>
        <p:spPr>
          <a:xfrm>
            <a:off x="1824341" y="5518367"/>
            <a:ext cx="316867" cy="66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1"/>
          <p:cNvCxnSpPr/>
          <p:nvPr/>
        </p:nvCxnSpPr>
        <p:spPr>
          <a:xfrm>
            <a:off x="2141209" y="5525020"/>
            <a:ext cx="270809" cy="1786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2"/>
          <p:cNvCxnSpPr/>
          <p:nvPr/>
        </p:nvCxnSpPr>
        <p:spPr>
          <a:xfrm flipV="1">
            <a:off x="2412020" y="5503854"/>
            <a:ext cx="49469" cy="390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3"/>
          <p:cNvCxnSpPr/>
          <p:nvPr/>
        </p:nvCxnSpPr>
        <p:spPr>
          <a:xfrm>
            <a:off x="2461490" y="5503854"/>
            <a:ext cx="144177" cy="1313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4"/>
          <p:cNvCxnSpPr/>
          <p:nvPr/>
        </p:nvCxnSpPr>
        <p:spPr>
          <a:xfrm flipV="1">
            <a:off x="2605668" y="5500039"/>
            <a:ext cx="357245" cy="169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5"/>
          <p:cNvCxnSpPr/>
          <p:nvPr/>
        </p:nvCxnSpPr>
        <p:spPr>
          <a:xfrm flipV="1">
            <a:off x="2962915" y="5438211"/>
            <a:ext cx="200550" cy="618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6"/>
          <p:cNvCxnSpPr/>
          <p:nvPr/>
        </p:nvCxnSpPr>
        <p:spPr>
          <a:xfrm flipV="1">
            <a:off x="3163465" y="5344691"/>
            <a:ext cx="164843" cy="9351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7"/>
          <p:cNvCxnSpPr/>
          <p:nvPr/>
        </p:nvCxnSpPr>
        <p:spPr>
          <a:xfrm flipV="1">
            <a:off x="3328309" y="5099923"/>
            <a:ext cx="148354" cy="2447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8" name="Connector 418"/>
          <p:cNvCxnSpPr/>
          <p:nvPr/>
        </p:nvCxnSpPr>
        <p:spPr>
          <a:xfrm flipV="1">
            <a:off x="3476665" y="4923811"/>
            <a:ext cx="111494" cy="17611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3588160" y="4923811"/>
            <a:ext cx="167003" cy="3925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3755164" y="4818932"/>
            <a:ext cx="103335" cy="1441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3858500" y="4631176"/>
            <a:ext cx="155892" cy="1877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4014392" y="4411915"/>
            <a:ext cx="42485" cy="2192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3877469" y="4321749"/>
            <a:ext cx="179408" cy="901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3711611" y="4233675"/>
            <a:ext cx="165858" cy="880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3384507" y="4166841"/>
            <a:ext cx="51444" cy="530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3435952" y="4219847"/>
            <a:ext cx="120619" cy="153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3555793" y="4373431"/>
            <a:ext cx="778" cy="157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3555793" y="4530569"/>
            <a:ext cx="101897" cy="1624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3657692" y="4692992"/>
            <a:ext cx="97776" cy="729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3755468" y="4765964"/>
            <a:ext cx="103030" cy="529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2985579" y="4002584"/>
            <a:ext cx="262291" cy="701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3247871" y="4072711"/>
            <a:ext cx="162683" cy="170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3410556" y="4089809"/>
            <a:ext cx="177564" cy="25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3588120" y="4057860"/>
            <a:ext cx="301315" cy="57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3889436" y="4057860"/>
            <a:ext cx="173591" cy="32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064603" y="4665538"/>
            <a:ext cx="78717" cy="2770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3143322" y="4942573"/>
            <a:ext cx="24092" cy="2040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3167416" y="5146591"/>
            <a:ext cx="84550" cy="117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3251967" y="5263672"/>
            <a:ext cx="76342" cy="810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1824341" y="5438582"/>
            <a:ext cx="37572" cy="797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1861914" y="5286434"/>
            <a:ext cx="33641" cy="1521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1848165" y="5119183"/>
            <a:ext cx="47389" cy="1672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1686029" y="4791847"/>
            <a:ext cx="162134" cy="3273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1632449" y="4639007"/>
            <a:ext cx="53580" cy="1528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2956417" y="5261904"/>
            <a:ext cx="5182" cy="1967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2864877" y="5073595"/>
            <a:ext cx="91539" cy="1883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2711530" y="4823903"/>
            <a:ext cx="153347" cy="2496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2490829" y="4761015"/>
            <a:ext cx="220699" cy="628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066516" y="4565202"/>
            <a:ext cx="424313" cy="1958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002318" y="4101162"/>
            <a:ext cx="64196" cy="4640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2418533" y="5440904"/>
            <a:ext cx="42956" cy="629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2418533" y="5225712"/>
            <a:ext cx="55081" cy="21519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2473615" y="5149971"/>
            <a:ext cx="90388" cy="7574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2564004" y="4823903"/>
            <a:ext cx="147524" cy="3260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2711530" y="4597341"/>
            <a:ext cx="113304" cy="2265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2824834" y="4411205"/>
            <a:ext cx="139654" cy="186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2964489" y="4276489"/>
            <a:ext cx="182549" cy="1347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3147039" y="4251657"/>
            <a:ext cx="73535" cy="248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3220575" y="4166841"/>
            <a:ext cx="163932" cy="848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3384507" y="4115444"/>
            <a:ext cx="203612" cy="513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1686029" y="4686421"/>
            <a:ext cx="244378" cy="1054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1930408" y="4565202"/>
            <a:ext cx="136107" cy="12121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066516" y="4379775"/>
            <a:ext cx="531381" cy="1854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2597897" y="4291998"/>
            <a:ext cx="219510" cy="877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2817409" y="4185107"/>
            <a:ext cx="332671" cy="10689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3150081" y="4148589"/>
            <a:ext cx="188711" cy="365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3338793" y="4108775"/>
            <a:ext cx="71243" cy="398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3384507" y="4166841"/>
            <a:ext cx="66363" cy="102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3450871" y="4177084"/>
            <a:ext cx="111314" cy="41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3562186" y="4218209"/>
            <a:ext cx="149423" cy="154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3711611" y="4233675"/>
            <a:ext cx="139802" cy="333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2824834" y="4490348"/>
            <a:ext cx="13215" cy="1069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2817409" y="4291998"/>
            <a:ext cx="20640" cy="1983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2817409" y="4100792"/>
            <a:ext cx="155573" cy="1912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2961459" y="4002470"/>
            <a:ext cx="11523" cy="983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3441368" y="4209629"/>
            <a:ext cx="417130" cy="60930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3347721" y="4209629"/>
            <a:ext cx="93647" cy="6165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3145365" y="4271281"/>
            <a:ext cx="202355" cy="346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3441368" y="4209629"/>
            <a:ext cx="132240" cy="22746"/>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3544067" y="4150337"/>
            <a:ext cx="29541" cy="8203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3433045" y="4083456"/>
            <a:ext cx="111021" cy="6688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3397612" y="4187850"/>
            <a:ext cx="43756" cy="21779"/>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3375964" y="4166646"/>
            <a:ext cx="21646" cy="2120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3384507" y="4166841"/>
            <a:ext cx="473992" cy="65209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2824834" y="4166841"/>
            <a:ext cx="559672" cy="43050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2700984" y="4597341"/>
            <a:ext cx="123850" cy="33191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1824341" y="4929256"/>
            <a:ext cx="876641" cy="58911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064603" y="4166841"/>
            <a:ext cx="319903" cy="49869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064603" y="4665538"/>
            <a:ext cx="263705" cy="67915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2700984" y="4665538"/>
            <a:ext cx="363619" cy="26371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2700984" y="4929256"/>
            <a:ext cx="261931" cy="57078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2700984" y="4929256"/>
            <a:ext cx="271620" cy="54323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1737623" y="4435960"/>
            <a:ext cx="788599" cy="93479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2526223" y="4435960"/>
            <a:ext cx="298610" cy="1613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2700984" y="4597341"/>
            <a:ext cx="123850" cy="33191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3384507" y="4166841"/>
            <a:ext cx="327103" cy="6683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3711611" y="4233675"/>
            <a:ext cx="328855" cy="40755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3828009" y="4791170"/>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3317230" y="4243519"/>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3543118" y="4204614"/>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1807590" y="5482967"/>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2349824" y="5510699"/>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1707132" y="5342996"/>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1793850" y="5490604"/>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2381529" y="5515128"/>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2932425" y="5472277"/>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2942113" y="5444724"/>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3297819" y="5316928"/>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3828009" y="4791170"/>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4009975" y="4613466"/>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3828009" y="4791170"/>
            <a:ext cx="60980" cy="55525"/>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3410878" y="4181867"/>
            <a:ext cx="60980" cy="55525"/>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3939808" y="4837441"/>
            <a:ext cx="508177" cy="156911"/>
          </a:xfrm>
          <a:prstGeom prst="rect">
            <a:avLst/>
          </a:prstGeom>
          <a:noFill/>
        </p:spPr>
        <p:txBody>
          <a:bodyPr wrap="square" lIns="22860" rIns="22860" tIns="0" bIns="0">
            <a:spAutoFit/>
          </a:bodyPr>
          <a:lstStyle/>
          <a:p>
            <a:pPr>
              <a:spcAft>
                <a:spcPts val="300"/>
              </a:spcAft>
              <a:defRPr sz="850" b="0">
                <a:solidFill>
                  <a:srgbClr val="404040"/>
                </a:solidFill>
                <a:latin typeface="Lato"/>
              </a:defRPr>
            </a:pPr>
            <a:r>
              <a:rPr>
                <a:solidFill/>
              </a:rPr>
              <a:t>Durban</a:t>
            </a:r>
          </a:p>
        </p:txBody>
      </p:sp>
      <p:sp>
        <p:nvSpPr>
          <p:cNvPr id="515" name="TextBox 514"/>
          <p:cNvSpPr txBox="1"/>
          <p:nvPr/>
        </p:nvSpPr>
        <p:spPr>
          <a:xfrm>
            <a:off x="3204219" y="4302171"/>
            <a:ext cx="508177" cy="156911"/>
          </a:xfrm>
          <a:prstGeom prst="rect">
            <a:avLst/>
          </a:prstGeom>
          <a:noFill/>
        </p:spPr>
        <p:txBody>
          <a:bodyPr wrap="square" lIns="22860" rIns="22860" tIns="0" bIns="0">
            <a:spAutoFit/>
          </a:bodyPr>
          <a:lstStyle/>
          <a:p>
            <a:pPr>
              <a:spcAft>
                <a:spcPts val="300"/>
              </a:spcAft>
              <a:defRPr sz="850" b="0">
                <a:solidFill>
                  <a:srgbClr val="404040"/>
                </a:solidFill>
                <a:latin typeface="Lato"/>
              </a:defRPr>
            </a:pPr>
            <a:r>
              <a:rPr>
                <a:solidFill/>
              </a:rPr>
              <a:t>Lesedi</a:t>
            </a:r>
          </a:p>
        </p:txBody>
      </p:sp>
      <p:cxnSp>
        <p:nvCxnSpPr>
          <p:cNvPr id="516" name="Connector 515"/>
          <p:cNvCxnSpPr/>
          <p:nvPr/>
        </p:nvCxnSpPr>
        <p:spPr>
          <a:xfrm flipH="1" flipV="1">
            <a:off x="3140251" y="3903932"/>
            <a:ext cx="219493" cy="227849"/>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2885046" y="5144246"/>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EC</a:t>
            </a:r>
          </a:p>
          <a:p>
            <a:pPr>
              <a:spcAft>
                <a:spcPts val="300"/>
              </a:spcAft>
              <a:defRPr sz="765" b="0">
                <a:solidFill>
                  <a:srgbClr val="404040"/>
                </a:solidFill>
                <a:latin typeface="Lato"/>
              </a:defRPr>
            </a:pPr>
            <a:r>
              <a:rPr>
                <a:solidFill/>
              </a:rPr>
              <a:t>1.74</a:t>
            </a:r>
          </a:p>
        </p:txBody>
      </p:sp>
      <p:sp>
        <p:nvSpPr>
          <p:cNvPr id="518" name="TextBox 517"/>
          <p:cNvSpPr txBox="1"/>
          <p:nvPr/>
        </p:nvSpPr>
        <p:spPr>
          <a:xfrm>
            <a:off x="2927552" y="4471632"/>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FS</a:t>
            </a:r>
          </a:p>
          <a:p>
            <a:pPr>
              <a:spcAft>
                <a:spcPts val="300"/>
              </a:spcAft>
              <a:defRPr sz="765" b="0">
                <a:solidFill>
                  <a:srgbClr val="404040"/>
                </a:solidFill>
                <a:latin typeface="Lato"/>
              </a:defRPr>
            </a:pPr>
            <a:r>
              <a:rPr>
                <a:solidFill/>
              </a:rPr>
              <a:t>1.37</a:t>
            </a:r>
          </a:p>
        </p:txBody>
      </p:sp>
      <p:sp>
        <p:nvSpPr>
          <p:cNvPr id="519" name="TextBox 518"/>
          <p:cNvSpPr txBox="1"/>
          <p:nvPr/>
        </p:nvSpPr>
        <p:spPr>
          <a:xfrm>
            <a:off x="2936980" y="3799051"/>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GP</a:t>
            </a:r>
          </a:p>
          <a:p>
            <a:pPr>
              <a:spcAft>
                <a:spcPts val="300"/>
              </a:spcAft>
              <a:defRPr sz="765" b="0">
                <a:solidFill>
                  <a:srgbClr val="404040"/>
                </a:solidFill>
                <a:latin typeface="Lato"/>
              </a:defRPr>
            </a:pPr>
            <a:r>
              <a:rPr>
                <a:solidFill/>
              </a:rPr>
              <a:t>6.81</a:t>
            </a:r>
          </a:p>
        </p:txBody>
      </p:sp>
      <p:sp>
        <p:nvSpPr>
          <p:cNvPr id="520" name="TextBox 519"/>
          <p:cNvSpPr txBox="1"/>
          <p:nvPr/>
        </p:nvSpPr>
        <p:spPr>
          <a:xfrm>
            <a:off x="3522889" y="4616667"/>
            <a:ext cx="406542" cy="256763"/>
          </a:xfrm>
          <a:prstGeom prst="rect">
            <a:avLst/>
          </a:prstGeom>
          <a:noFill/>
        </p:spPr>
        <p:txBody>
          <a:bodyPr wrap="square" lIns="22860" rIns="22860" tIns="0" bIns="0">
            <a:spAutoFit/>
          </a:bodyPr>
          <a:lstStyle/>
          <a:p>
            <a:pPr>
              <a:spcAft>
                <a:spcPts val="300"/>
              </a:spcAft>
              <a:defRPr sz="765" b="0">
                <a:solidFill>
                  <a:srgbClr val="FFFFFF"/>
                </a:solidFill>
                <a:latin typeface="Lato"/>
              </a:defRPr>
            </a:pPr>
            <a:r>
              <a:rPr>
                <a:solidFill/>
              </a:rPr>
              <a:t>KZN</a:t>
            </a:r>
          </a:p>
          <a:p>
            <a:pPr>
              <a:spcAft>
                <a:spcPts val="300"/>
              </a:spcAft>
              <a:defRPr sz="765" b="0">
                <a:solidFill>
                  <a:srgbClr val="FFFFFF"/>
                </a:solidFill>
                <a:latin typeface="Lato"/>
              </a:defRPr>
            </a:pPr>
            <a:r>
              <a:rPr>
                <a:solidFill/>
              </a:rPr>
              <a:t>4.28</a:t>
            </a:r>
          </a:p>
        </p:txBody>
      </p:sp>
      <p:sp>
        <p:nvSpPr>
          <p:cNvPr id="521" name="TextBox 520"/>
          <p:cNvSpPr txBox="1"/>
          <p:nvPr/>
        </p:nvSpPr>
        <p:spPr>
          <a:xfrm>
            <a:off x="3391950" y="3662259"/>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LP</a:t>
            </a:r>
          </a:p>
          <a:p>
            <a:pPr>
              <a:spcAft>
                <a:spcPts val="300"/>
              </a:spcAft>
              <a:defRPr sz="765" b="0">
                <a:solidFill>
                  <a:srgbClr val="404040"/>
                </a:solidFill>
                <a:latin typeface="Lato"/>
              </a:defRPr>
            </a:pPr>
            <a:r>
              <a:rPr>
                <a:solidFill/>
              </a:rPr>
              <a:t>0.50</a:t>
            </a:r>
          </a:p>
        </p:txBody>
      </p:sp>
      <p:sp>
        <p:nvSpPr>
          <p:cNvPr id="522" name="TextBox 521"/>
          <p:cNvSpPr txBox="1"/>
          <p:nvPr/>
        </p:nvSpPr>
        <p:spPr>
          <a:xfrm>
            <a:off x="3559227" y="4021933"/>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MP</a:t>
            </a:r>
          </a:p>
          <a:p>
            <a:pPr>
              <a:spcAft>
                <a:spcPts val="300"/>
              </a:spcAft>
              <a:defRPr sz="765" b="0">
                <a:solidFill>
                  <a:srgbClr val="404040"/>
                </a:solidFill>
                <a:latin typeface="Lato"/>
              </a:defRPr>
            </a:pPr>
            <a:r>
              <a:rPr>
                <a:solidFill/>
              </a:rPr>
              <a:t>1.76</a:t>
            </a:r>
          </a:p>
        </p:txBody>
      </p:sp>
      <p:sp>
        <p:nvSpPr>
          <p:cNvPr id="523" name="TextBox 522"/>
          <p:cNvSpPr txBox="1"/>
          <p:nvPr/>
        </p:nvSpPr>
        <p:spPr>
          <a:xfrm>
            <a:off x="2813484" y="4099631"/>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NW</a:t>
            </a:r>
          </a:p>
          <a:p>
            <a:pPr>
              <a:spcAft>
                <a:spcPts val="300"/>
              </a:spcAft>
              <a:defRPr sz="765" b="0">
                <a:solidFill>
                  <a:srgbClr val="404040"/>
                </a:solidFill>
                <a:latin typeface="Lato"/>
              </a:defRPr>
            </a:pPr>
            <a:r>
              <a:rPr>
                <a:solidFill/>
              </a:rPr>
              <a:t>1.07</a:t>
            </a:r>
          </a:p>
        </p:txBody>
      </p:sp>
      <p:sp>
        <p:nvSpPr>
          <p:cNvPr id="524" name="TextBox 523"/>
          <p:cNvSpPr txBox="1"/>
          <p:nvPr/>
        </p:nvSpPr>
        <p:spPr>
          <a:xfrm>
            <a:off x="2089805" y="4684654"/>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NC</a:t>
            </a:r>
          </a:p>
          <a:p>
            <a:pPr>
              <a:spcAft>
                <a:spcPts val="300"/>
              </a:spcAft>
              <a:defRPr sz="765" b="0">
                <a:solidFill>
                  <a:srgbClr val="404040"/>
                </a:solidFill>
                <a:latin typeface="Lato"/>
              </a:defRPr>
            </a:pPr>
            <a:r>
              <a:rPr>
                <a:solidFill/>
              </a:rPr>
              <a:t>0.45</a:t>
            </a:r>
          </a:p>
        </p:txBody>
      </p:sp>
      <p:sp>
        <p:nvSpPr>
          <p:cNvPr id="525" name="TextBox 524"/>
          <p:cNvSpPr txBox="1"/>
          <p:nvPr/>
        </p:nvSpPr>
        <p:spPr>
          <a:xfrm>
            <a:off x="1956743" y="5241519"/>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WC</a:t>
            </a:r>
          </a:p>
          <a:p>
            <a:pPr>
              <a:spcAft>
                <a:spcPts val="300"/>
              </a:spcAft>
              <a:defRPr sz="765" b="0">
                <a:solidFill>
                  <a:srgbClr val="404040"/>
                </a:solidFill>
                <a:latin typeface="Lato"/>
              </a:defRPr>
            </a:pPr>
            <a:r>
              <a:rPr>
                <a:solidFill/>
              </a:rPr>
              <a:t>3.93</a:t>
            </a:r>
          </a:p>
        </p:txBody>
      </p:sp>
      <p:sp>
        <p:nvSpPr>
          <p:cNvPr id="526" name="Rectangle 525"/>
          <p:cNvSpPr/>
          <p:nvPr/>
        </p:nvSpPr>
        <p:spPr>
          <a:xfrm>
            <a:off x="494465" y="2368021"/>
            <a:ext cx="74532" cy="78455"/>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26592"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&lt;1</a:t>
            </a:r>
          </a:p>
        </p:txBody>
      </p:sp>
      <p:sp>
        <p:nvSpPr>
          <p:cNvPr id="528" name="Rectangle 527"/>
          <p:cNvSpPr/>
          <p:nvPr/>
        </p:nvSpPr>
        <p:spPr>
          <a:xfrm>
            <a:off x="1131381" y="2368021"/>
            <a:ext cx="74532" cy="78455"/>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263508"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1-2</a:t>
            </a:r>
          </a:p>
        </p:txBody>
      </p:sp>
      <p:sp>
        <p:nvSpPr>
          <p:cNvPr id="530" name="Rectangle 529"/>
          <p:cNvSpPr/>
          <p:nvPr/>
        </p:nvSpPr>
        <p:spPr>
          <a:xfrm>
            <a:off x="1768297" y="2368021"/>
            <a:ext cx="74532" cy="78455"/>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1900424"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2-4</a:t>
            </a:r>
          </a:p>
        </p:txBody>
      </p:sp>
      <p:sp>
        <p:nvSpPr>
          <p:cNvPr id="532" name="Rectangle 531"/>
          <p:cNvSpPr/>
          <p:nvPr/>
        </p:nvSpPr>
        <p:spPr>
          <a:xfrm>
            <a:off x="2405214" y="2368021"/>
            <a:ext cx="74532" cy="78455"/>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2537340"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4-6</a:t>
            </a:r>
          </a:p>
        </p:txBody>
      </p:sp>
      <p:sp>
        <p:nvSpPr>
          <p:cNvPr id="534" name="Rectangle 533"/>
          <p:cNvSpPr/>
          <p:nvPr/>
        </p:nvSpPr>
        <p:spPr>
          <a:xfrm>
            <a:off x="3042130" y="2368021"/>
            <a:ext cx="74532" cy="78455"/>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3174257"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6+</a:t>
            </a:r>
          </a:p>
        </p:txBody>
      </p:sp>
      <p:sp>
        <p:nvSpPr>
          <p:cNvPr id="536" name="TextBox 535"/>
          <p:cNvSpPr txBox="1"/>
          <p:nvPr/>
        </p:nvSpPr>
        <p:spPr>
          <a:xfrm>
            <a:off x="3655332" y="2335926"/>
            <a:ext cx="1565186"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Provincial totals, not density</a:t>
            </a:r>
          </a:p>
        </p:txBody>
      </p:sp>
      <p:sp>
        <p:nvSpPr>
          <p:cNvPr id="537" name="Oval 536"/>
          <p:cNvSpPr/>
          <p:nvPr/>
        </p:nvSpPr>
        <p:spPr>
          <a:xfrm>
            <a:off x="494465" y="2567726"/>
            <a:ext cx="60980" cy="64190"/>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59271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Production</a:t>
            </a:r>
          </a:p>
        </p:txBody>
      </p:sp>
      <p:sp>
        <p:nvSpPr>
          <p:cNvPr id="539" name="Rectangle 538"/>
          <p:cNvSpPr/>
          <p:nvPr/>
        </p:nvSpPr>
        <p:spPr>
          <a:xfrm>
            <a:off x="1361755" y="2567726"/>
            <a:ext cx="60980" cy="6419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46000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Port</a:t>
            </a:r>
          </a:p>
        </p:txBody>
      </p:sp>
      <p:sp>
        <p:nvSpPr>
          <p:cNvPr id="541" name="Diamond 540"/>
          <p:cNvSpPr/>
          <p:nvPr/>
        </p:nvSpPr>
        <p:spPr>
          <a:xfrm>
            <a:off x="1883485" y="2567726"/>
            <a:ext cx="60980" cy="64190"/>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198173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Vopak</a:t>
            </a:r>
          </a:p>
        </p:txBody>
      </p:sp>
      <p:sp>
        <p:nvSpPr>
          <p:cNvPr id="543" name="TextBox 542"/>
          <p:cNvSpPr txBox="1"/>
          <p:nvPr/>
        </p:nvSpPr>
        <p:spPr>
          <a:xfrm>
            <a:off x="3445285" y="2528498"/>
            <a:ext cx="1802337" cy="185440"/>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Lines: road / pipe / rail; heavy outlines: working regions</a:t>
            </a:r>
          </a:p>
        </p:txBody>
      </p:sp>
      <p:sp>
        <p:nvSpPr>
          <p:cNvPr id="6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11" name="TextBox 610"/>
          <p:cNvSpPr txBox="1"/>
          <p:nvPr/>
        </p:nvSpPr>
        <p:spPr>
          <a:xfrm>
            <a:off x="457200" y="1627632"/>
            <a:ext cx="4517136" cy="320040"/>
          </a:xfrm>
          <a:prstGeom prst="rect">
            <a:avLst/>
          </a:prstGeom>
          <a:noFill/>
        </p:spPr>
        <p:txBody>
          <a:bodyPr wrap="square" lIns="0" rIns="0" tIns="0" bIns="0">
            <a:spAutoFit/>
          </a:bodyPr>
          <a:lstStyle/>
          <a:p>
            <a:pPr>
              <a:spcAft>
                <a:spcPts val="300"/>
              </a:spcAft>
              <a:defRPr sz="1400" b="1">
                <a:solidFill>
                  <a:srgbClr val="000000"/>
                </a:solidFill>
                <a:latin typeface="Lato"/>
              </a:defRPr>
            </a:pPr>
            <a:r>
              <a:t>Where demand sits | 2022, bn litres</a:t>
            </a:r>
          </a:p>
        </p:txBody>
      </p:sp>
      <p:sp>
        <p:nvSpPr>
          <p:cNvPr id="612" name="TextBox 611"/>
          <p:cNvSpPr txBox="1"/>
          <p:nvPr/>
        </p:nvSpPr>
        <p:spPr>
          <a:xfrm>
            <a:off x="5623560" y="1627632"/>
            <a:ext cx="5394960" cy="320040"/>
          </a:xfrm>
          <a:prstGeom prst="rect">
            <a:avLst/>
          </a:prstGeom>
          <a:noFill/>
        </p:spPr>
        <p:txBody>
          <a:bodyPr wrap="square" lIns="0" rIns="0" tIns="0" bIns="0">
            <a:spAutoFit/>
          </a:bodyPr>
          <a:lstStyle/>
          <a:p>
            <a:pPr>
              <a:spcAft>
                <a:spcPts val="300"/>
              </a:spcAft>
              <a:defRPr sz="1400" b="1">
                <a:solidFill>
                  <a:srgbClr val="000000"/>
                </a:solidFill>
                <a:latin typeface="Lato"/>
              </a:defRPr>
            </a:pPr>
            <a:r>
              <a:t>How it changed | 2013-2022, bn litres/year</a:t>
            </a:r>
          </a:p>
        </p:txBody>
      </p:sp>
      <p:graphicFrame>
        <p:nvGraphicFramePr>
          <p:cNvPr id="613" name="Chart 612"/>
          <p:cNvGraphicFramePr>
            <a:graphicFrameLocks noGrp="1"/>
          </p:cNvGraphicFramePr>
          <p:nvPr/>
        </p:nvGraphicFramePr>
        <p:xfrm>
          <a:off x="5623560" y="2670048"/>
          <a:ext cx="4526280" cy="2962656"/>
        </p:xfrm>
        <a:graphic>
          <a:graphicData uri="http://schemas.openxmlformats.org/drawingml/2006/chart">
            <c:chart xmlns:c="http://schemas.openxmlformats.org/drawingml/2006/chart" r:id="rId7"/>
          </a:graphicData>
        </a:graphic>
      </p:graphicFrame>
      <p:sp>
        <p:nvSpPr>
          <p:cNvPr id="614" name="TextBox 613"/>
          <p:cNvSpPr txBox="1"/>
          <p:nvPr/>
        </p:nvSpPr>
        <p:spPr>
          <a:xfrm>
            <a:off x="5623560" y="2057400"/>
            <a:ext cx="5394960" cy="228600"/>
          </a:xfrm>
          <a:prstGeom prst="rect">
            <a:avLst/>
          </a:prstGeom>
          <a:noFill/>
        </p:spPr>
        <p:txBody>
          <a:bodyPr wrap="square" lIns="0" rIns="0" tIns="0" bIns="0">
            <a:spAutoFit/>
          </a:bodyPr>
          <a:lstStyle/>
          <a:p>
            <a:pPr>
              <a:spcAft>
                <a:spcPts val="300"/>
              </a:spcAft>
              <a:defRPr sz="1000" b="1">
                <a:solidFill>
                  <a:srgbClr val="0A2373"/>
                </a:solidFill>
                <a:latin typeface="Lato"/>
              </a:defRPr>
            </a:pPr>
            <a:r>
              <a:t>Gaps are withheld observations, not demand declines:</a:t>
            </a:r>
          </a:p>
        </p:txBody>
      </p:sp>
      <p:sp>
        <p:nvSpPr>
          <p:cNvPr id="615" name="TextBox 614"/>
          <p:cNvSpPr txBox="1"/>
          <p:nvPr/>
        </p:nvSpPr>
        <p:spPr>
          <a:xfrm>
            <a:off x="5623560" y="2350008"/>
            <a:ext cx="5394960" cy="228600"/>
          </a:xfrm>
          <a:prstGeom prst="rect">
            <a:avLst/>
          </a:prstGeom>
          <a:noFill/>
        </p:spPr>
        <p:txBody>
          <a:bodyPr wrap="square" lIns="0" rIns="0" tIns="0" bIns="0">
            <a:spAutoFit/>
          </a:bodyPr>
          <a:lstStyle/>
          <a:p>
            <a:pPr>
              <a:spcAft>
                <a:spcPts val="300"/>
              </a:spcAft>
              <a:defRPr sz="1000" b="0">
                <a:solidFill>
                  <a:srgbClr val="000000"/>
                </a:solidFill>
                <a:latin typeface="Lato"/>
              </a:defRPr>
            </a:pPr>
            <a:r>
              <a:t>2014: source conflict  |  2018: incomplete coverage</a:t>
            </a:r>
          </a:p>
        </p:txBody>
      </p:sp>
      <p:cxnSp>
        <p:nvCxnSpPr>
          <p:cNvPr id="616" name="Connector 615"/>
          <p:cNvCxnSpPr/>
          <p:nvPr/>
        </p:nvCxnSpPr>
        <p:spPr>
          <a:xfrm>
            <a:off x="10332720" y="2871215"/>
            <a:ext cx="201168"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617" name="TextBox 616"/>
          <p:cNvSpPr txBox="1"/>
          <p:nvPr/>
        </p:nvSpPr>
        <p:spPr>
          <a:xfrm>
            <a:off x="10634472" y="2788920"/>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GP</a:t>
            </a:r>
          </a:p>
        </p:txBody>
      </p:sp>
      <p:cxnSp>
        <p:nvCxnSpPr>
          <p:cNvPr id="618" name="Connector 617"/>
          <p:cNvCxnSpPr/>
          <p:nvPr/>
        </p:nvCxnSpPr>
        <p:spPr>
          <a:xfrm>
            <a:off x="10332720" y="3182111"/>
            <a:ext cx="201168" cy="0"/>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sp>
        <p:nvSpPr>
          <p:cNvPr id="619" name="TextBox 618"/>
          <p:cNvSpPr txBox="1"/>
          <p:nvPr/>
        </p:nvSpPr>
        <p:spPr>
          <a:xfrm>
            <a:off x="10634472" y="3099815"/>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KZN</a:t>
            </a:r>
          </a:p>
        </p:txBody>
      </p:sp>
      <p:cxnSp>
        <p:nvCxnSpPr>
          <p:cNvPr id="620" name="Connector 619"/>
          <p:cNvCxnSpPr/>
          <p:nvPr/>
        </p:nvCxnSpPr>
        <p:spPr>
          <a:xfrm>
            <a:off x="10332720" y="3493008"/>
            <a:ext cx="201168" cy="0"/>
          </a:xfrm>
          <a:prstGeom prst="line">
            <a:avLst/>
          </a:prstGeom>
          <a:ln w="25400">
            <a:solidFill>
              <a:srgbClr val="404040"/>
            </a:solidFill>
          </a:ln>
        </p:spPr>
        <p:style>
          <a:lnRef idx="2">
            <a:schemeClr val="accent1"/>
          </a:lnRef>
          <a:fillRef idx="0">
            <a:schemeClr val="accent1"/>
          </a:fillRef>
          <a:effectRef idx="1">
            <a:schemeClr val="accent1"/>
          </a:effectRef>
          <a:fontRef idx="minor">
            <a:schemeClr val="tx1"/>
          </a:fontRef>
        </p:style>
      </p:cxnSp>
      <p:sp>
        <p:nvSpPr>
          <p:cNvPr id="621" name="TextBox 620"/>
          <p:cNvSpPr txBox="1"/>
          <p:nvPr/>
        </p:nvSpPr>
        <p:spPr>
          <a:xfrm>
            <a:off x="10634472" y="3410712"/>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WC</a:t>
            </a:r>
          </a:p>
        </p:txBody>
      </p:sp>
      <p:cxnSp>
        <p:nvCxnSpPr>
          <p:cNvPr id="622" name="Connector 621"/>
          <p:cNvCxnSpPr/>
          <p:nvPr/>
        </p:nvCxnSpPr>
        <p:spPr>
          <a:xfrm>
            <a:off x="10332720" y="3803904"/>
            <a:ext cx="201168" cy="0"/>
          </a:xfrm>
          <a:prstGeom prst="line">
            <a:avLst/>
          </a:prstGeom>
          <a:ln w="25400">
            <a:solidFill>
              <a:srgbClr val="809CC7"/>
            </a:solidFill>
          </a:ln>
        </p:spPr>
        <p:style>
          <a:lnRef idx="2">
            <a:schemeClr val="accent1"/>
          </a:lnRef>
          <a:fillRef idx="0">
            <a:schemeClr val="accent1"/>
          </a:fillRef>
          <a:effectRef idx="1">
            <a:schemeClr val="accent1"/>
          </a:effectRef>
          <a:fontRef idx="minor">
            <a:schemeClr val="tx1"/>
          </a:fontRef>
        </p:style>
      </p:cxnSp>
      <p:sp>
        <p:nvSpPr>
          <p:cNvPr id="623" name="TextBox 622"/>
          <p:cNvSpPr txBox="1"/>
          <p:nvPr/>
        </p:nvSpPr>
        <p:spPr>
          <a:xfrm>
            <a:off x="10634472" y="3721608"/>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MP</a:t>
            </a:r>
          </a:p>
        </p:txBody>
      </p:sp>
      <p:cxnSp>
        <p:nvCxnSpPr>
          <p:cNvPr id="624" name="Connector 623"/>
          <p:cNvCxnSpPr/>
          <p:nvPr/>
        </p:nvCxnSpPr>
        <p:spPr>
          <a:xfrm>
            <a:off x="10332720" y="4114800"/>
            <a:ext cx="201168" cy="0"/>
          </a:xfrm>
          <a:prstGeom prst="line">
            <a:avLst/>
          </a:prstGeom>
          <a:ln w="25400">
            <a:solidFill>
              <a:srgbClr val="3D619D"/>
            </a:solidFill>
          </a:ln>
        </p:spPr>
        <p:style>
          <a:lnRef idx="2">
            <a:schemeClr val="accent1"/>
          </a:lnRef>
          <a:fillRef idx="0">
            <a:schemeClr val="accent1"/>
          </a:fillRef>
          <a:effectRef idx="1">
            <a:schemeClr val="accent1"/>
          </a:effectRef>
          <a:fontRef idx="minor">
            <a:schemeClr val="tx1"/>
          </a:fontRef>
        </p:style>
      </p:cxnSp>
      <p:sp>
        <p:nvSpPr>
          <p:cNvPr id="625" name="TextBox 624"/>
          <p:cNvSpPr txBox="1"/>
          <p:nvPr/>
        </p:nvSpPr>
        <p:spPr>
          <a:xfrm>
            <a:off x="10634472" y="4032504"/>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EC</a:t>
            </a:r>
          </a:p>
        </p:txBody>
      </p:sp>
      <p:cxnSp>
        <p:nvCxnSpPr>
          <p:cNvPr id="626" name="Connector 625"/>
          <p:cNvCxnSpPr/>
          <p:nvPr/>
        </p:nvCxnSpPr>
        <p:spPr>
          <a:xfrm>
            <a:off x="10332720" y="4425696"/>
            <a:ext cx="201168" cy="0"/>
          </a:xfrm>
          <a:prstGeom prst="line">
            <a:avLst/>
          </a:prstGeom>
          <a:ln w="25400">
            <a:solidFill>
              <a:srgbClr val="767676"/>
            </a:solidFill>
          </a:ln>
        </p:spPr>
        <p:style>
          <a:lnRef idx="2">
            <a:schemeClr val="accent1"/>
          </a:lnRef>
          <a:fillRef idx="0">
            <a:schemeClr val="accent1"/>
          </a:fillRef>
          <a:effectRef idx="1">
            <a:schemeClr val="accent1"/>
          </a:effectRef>
          <a:fontRef idx="minor">
            <a:schemeClr val="tx1"/>
          </a:fontRef>
        </p:style>
      </p:cxnSp>
      <p:sp>
        <p:nvSpPr>
          <p:cNvPr id="627" name="TextBox 626"/>
          <p:cNvSpPr txBox="1"/>
          <p:nvPr/>
        </p:nvSpPr>
        <p:spPr>
          <a:xfrm>
            <a:off x="10634472" y="4343400"/>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FS</a:t>
            </a:r>
          </a:p>
        </p:txBody>
      </p:sp>
      <p:cxnSp>
        <p:nvCxnSpPr>
          <p:cNvPr id="628" name="Connector 627"/>
          <p:cNvCxnSpPr/>
          <p:nvPr/>
        </p:nvCxnSpPr>
        <p:spPr>
          <a:xfrm>
            <a:off x="10332720" y="4736592"/>
            <a:ext cx="201168" cy="0"/>
          </a:xfrm>
          <a:prstGeom prst="line">
            <a:avLst/>
          </a:prstGeom>
          <a:ln w="25400">
            <a:solidFill>
              <a:srgbClr val="BACCE4"/>
            </a:solidFill>
          </a:ln>
        </p:spPr>
        <p:style>
          <a:lnRef idx="2">
            <a:schemeClr val="accent1"/>
          </a:lnRef>
          <a:fillRef idx="0">
            <a:schemeClr val="accent1"/>
          </a:fillRef>
          <a:effectRef idx="1">
            <a:schemeClr val="accent1"/>
          </a:effectRef>
          <a:fontRef idx="minor">
            <a:schemeClr val="tx1"/>
          </a:fontRef>
        </p:style>
      </p:cxnSp>
      <p:sp>
        <p:nvSpPr>
          <p:cNvPr id="629" name="TextBox 628"/>
          <p:cNvSpPr txBox="1"/>
          <p:nvPr/>
        </p:nvSpPr>
        <p:spPr>
          <a:xfrm>
            <a:off x="10634472" y="4654296"/>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NW</a:t>
            </a:r>
          </a:p>
        </p:txBody>
      </p:sp>
      <p:cxnSp>
        <p:nvCxnSpPr>
          <p:cNvPr id="630" name="Connector 629"/>
          <p:cNvCxnSpPr/>
          <p:nvPr/>
        </p:nvCxnSpPr>
        <p:spPr>
          <a:xfrm>
            <a:off x="10332720" y="5047488"/>
            <a:ext cx="201168" cy="0"/>
          </a:xfrm>
          <a:prstGeom prst="line">
            <a:avLst/>
          </a:prstGeom>
          <a:ln w="25400">
            <a:solidFill>
              <a:srgbClr val="A0A0A0"/>
            </a:solidFill>
          </a:ln>
        </p:spPr>
        <p:style>
          <a:lnRef idx="2">
            <a:schemeClr val="accent1"/>
          </a:lnRef>
          <a:fillRef idx="0">
            <a:schemeClr val="accent1"/>
          </a:fillRef>
          <a:effectRef idx="1">
            <a:schemeClr val="accent1"/>
          </a:effectRef>
          <a:fontRef idx="minor">
            <a:schemeClr val="tx1"/>
          </a:fontRef>
        </p:style>
      </p:cxnSp>
      <p:sp>
        <p:nvSpPr>
          <p:cNvPr id="631" name="TextBox 630"/>
          <p:cNvSpPr txBox="1"/>
          <p:nvPr/>
        </p:nvSpPr>
        <p:spPr>
          <a:xfrm>
            <a:off x="10634472" y="4965192"/>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LP</a:t>
            </a:r>
          </a:p>
        </p:txBody>
      </p:sp>
      <p:cxnSp>
        <p:nvCxnSpPr>
          <p:cNvPr id="632" name="Connector 631"/>
          <p:cNvCxnSpPr/>
          <p:nvPr/>
        </p:nvCxnSpPr>
        <p:spPr>
          <a:xfrm>
            <a:off x="10332720" y="5358383"/>
            <a:ext cx="201168" cy="0"/>
          </a:xfrm>
          <a:prstGeom prst="line">
            <a:avLst/>
          </a:prstGeom>
          <a:ln w="25400">
            <a:solidFill>
              <a:srgbClr val="BDBEC1"/>
            </a:solidFill>
          </a:ln>
        </p:spPr>
        <p:style>
          <a:lnRef idx="2">
            <a:schemeClr val="accent1"/>
          </a:lnRef>
          <a:fillRef idx="0">
            <a:schemeClr val="accent1"/>
          </a:fillRef>
          <a:effectRef idx="1">
            <a:schemeClr val="accent1"/>
          </a:effectRef>
          <a:fontRef idx="minor">
            <a:schemeClr val="tx1"/>
          </a:fontRef>
        </p:style>
      </p:cxnSp>
      <p:sp>
        <p:nvSpPr>
          <p:cNvPr id="633" name="TextBox 632"/>
          <p:cNvSpPr txBox="1"/>
          <p:nvPr/>
        </p:nvSpPr>
        <p:spPr>
          <a:xfrm>
            <a:off x="10634472" y="5276088"/>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NC</a:t>
            </a:r>
          </a:p>
        </p:txBody>
      </p:sp>
      <p:sp>
        <p:nvSpPr>
          <p:cNvPr id="634" name="TextBox 633"/>
          <p:cNvSpPr txBox="1"/>
          <p:nvPr/>
        </p:nvSpPr>
        <p:spPr>
          <a:xfrm>
            <a:off x="457200" y="6153912"/>
            <a:ext cx="9989820" cy="210312"/>
          </a:xfrm>
          <a:prstGeom prst="rect">
            <a:avLst/>
          </a:prstGeom>
          <a:noFill/>
        </p:spPr>
        <p:txBody>
          <a:bodyPr wrap="square" lIns="0" rIns="0" tIns="0" bIns="0">
            <a:spAutoFit/>
          </a:bodyPr>
          <a:lstStyle/>
          <a:p>
            <a:pPr>
              <a:spcAft>
                <a:spcPts val="300"/>
              </a:spcAft>
              <a:defRPr sz="1000" b="0">
                <a:solidFill>
                  <a:srgbClr val="000000"/>
                </a:solidFill>
                <a:latin typeface="Lato"/>
              </a:defRPr>
            </a:pPr>
            <a:r>
              <a:t>Same province codes on map and chart; map shade measures volume.</a:t>
            </a:r>
          </a:p>
        </p:txBody>
      </p:sp>
      <p:cxnSp>
        <p:nvCxnSpPr>
          <p:cNvPr id="635" name="Connector 634"/>
          <p:cNvCxnSpPr/>
          <p:nvPr/>
        </p:nvCxnSpPr>
        <p:spPr>
          <a:xfrm>
            <a:off x="457200" y="1947672"/>
            <a:ext cx="475488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5623560" y="1947672"/>
            <a:ext cx="54864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a:off x="5422392" y="1947672"/>
            <a:ext cx="0" cy="4334256"/>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638" name="SCR divider marker: circle"/>
          <p:cNvSpPr/>
          <p:nvPr/>
        </p:nvSpPr>
        <p:spPr>
          <a:xfrm>
            <a:off x="530352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9" name="SCR divider marker: arrow"/>
          <p:cNvCxnSpPr/>
          <p:nvPr/>
        </p:nvCxnSpPr>
        <p:spPr>
          <a:xfrm>
            <a:off x="539038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0" name="SCR divider marker: arrow"/>
          <p:cNvCxnSpPr/>
          <p:nvPr/>
        </p:nvCxnSpPr>
        <p:spPr>
          <a:xfrm flipH="1">
            <a:off x="539038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Enref, PetroSA and SAPREF explain the capacity decline; the CEF case adds capacity in 2033</a:t>
            </a:r>
          </a:p>
        </p:txBody>
      </p:sp>
      <p:sp>
        <p:nvSpPr>
          <p:cNvPr id="3" name="Slide Number Placeholder"/>
          <p:cNvSpPr>
            <a:spLocks noGrp="1"/>
          </p:cNvSpPr>
          <p:nvPr>
            <p:ph type="sldNum" sz="quarter" idx="12"/>
          </p:nvPr>
        </p:nvSpPr>
        <p:spPr/>
        <p:txBody>
          <a:bodyPr/>
          <a:lstStyle/>
          <a:p>
            <a:pPr>
              <a:defRPr sz="1000">
                <a:latin typeface="Lato"/>
              </a:defRPr>
            </a:pPr>
            <a:r>
              <a:t>6</a:t>
            </a:r>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Sources: FIASA 2025 p49, refinery_capacity_reported.csv; registered review_capacity_scenarios.yaml; CEF proposal as previously sourced.
Reported nameplate footprint is not actual output or operating availability. Source dashes are excluded from reported totals. No model inputs changed.</a:t>
            </a:r>
          </a:p>
        </p:txBody>
      </p:sp>
      <p:sp>
        <p:nvSpPr>
          <p:cNvPr id="7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79" name="TextBox 78"/>
          <p:cNvSpPr txBox="1"/>
          <p:nvPr/>
        </p:nvSpPr>
        <p:spPr>
          <a:xfrm>
            <a:off x="457200" y="1627632"/>
            <a:ext cx="7315200"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Capacity by refinery | thousand bbl/day | all products</a:t>
            </a:r>
          </a:p>
        </p:txBody>
      </p:sp>
      <p:sp>
        <p:nvSpPr>
          <p:cNvPr id="80" name="Refinery legend Sasol"/>
          <p:cNvSpPr/>
          <p:nvPr/>
        </p:nvSpPr>
        <p:spPr>
          <a:xfrm>
            <a:off x="457200" y="2103120"/>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00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Sasol</a:t>
            </a:r>
          </a:p>
        </p:txBody>
      </p:sp>
      <p:sp>
        <p:nvSpPr>
          <p:cNvPr id="82" name="Refinery legend Natref"/>
          <p:cNvSpPr/>
          <p:nvPr/>
        </p:nvSpPr>
        <p:spPr>
          <a:xfrm>
            <a:off x="2286000" y="2103120"/>
            <a:ext cx="118872" cy="11887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4688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Natref</a:t>
            </a:r>
          </a:p>
        </p:txBody>
      </p:sp>
      <p:sp>
        <p:nvSpPr>
          <p:cNvPr id="84" name="Refinery legend Astron Energy"/>
          <p:cNvSpPr/>
          <p:nvPr/>
        </p:nvSpPr>
        <p:spPr>
          <a:xfrm>
            <a:off x="4114800" y="2103120"/>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2976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Astron Energy</a:t>
            </a:r>
          </a:p>
        </p:txBody>
      </p:sp>
      <p:sp>
        <p:nvSpPr>
          <p:cNvPr id="86" name="Refinery legend PetroSA"/>
          <p:cNvSpPr/>
          <p:nvPr/>
        </p:nvSpPr>
        <p:spPr>
          <a:xfrm>
            <a:off x="5943600" y="2103120"/>
            <a:ext cx="118872" cy="118872"/>
          </a:xfrm>
          <a:prstGeom prst="rect">
            <a:avLst/>
          </a:prstGeom>
          <a:solidFill>
            <a:srgbClr val="E3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1264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PetroSA</a:t>
            </a:r>
          </a:p>
        </p:txBody>
      </p:sp>
      <p:sp>
        <p:nvSpPr>
          <p:cNvPr id="88" name="Refinery legend Enref"/>
          <p:cNvSpPr/>
          <p:nvPr/>
        </p:nvSpPr>
        <p:spPr>
          <a:xfrm>
            <a:off x="457200" y="2368296"/>
            <a:ext cx="118872" cy="118872"/>
          </a:xfrm>
          <a:prstGeom prst="rect">
            <a:avLst/>
          </a:prstGeom>
          <a:solidFill>
            <a:srgbClr val="767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00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Enref</a:t>
            </a:r>
          </a:p>
        </p:txBody>
      </p:sp>
      <p:sp>
        <p:nvSpPr>
          <p:cNvPr id="90" name="Refinery legend Sapref"/>
          <p:cNvSpPr/>
          <p:nvPr/>
        </p:nvSpPr>
        <p:spPr>
          <a:xfrm>
            <a:off x="2286000" y="2368296"/>
            <a:ext cx="118872" cy="11887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4688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Sapref</a:t>
            </a:r>
          </a:p>
        </p:txBody>
      </p:sp>
      <p:sp>
        <p:nvSpPr>
          <p:cNvPr id="92" name="Refinery legend SAPREF / CEF proposal"/>
          <p:cNvSpPr/>
          <p:nvPr/>
        </p:nvSpPr>
        <p:spPr>
          <a:xfrm>
            <a:off x="4114800" y="2368296"/>
            <a:ext cx="118872" cy="118872"/>
          </a:xfrm>
          <a:prstGeom prst="rect">
            <a:avLst/>
          </a:prstGeom>
          <a:solidFill>
            <a:srgbClr val="BDB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2976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SAPREF / CEF proposal</a:t>
            </a:r>
          </a:p>
        </p:txBody>
      </p:sp>
      <p:graphicFrame>
        <p:nvGraphicFramePr>
          <p:cNvPr id="94" name="Chart 93"/>
          <p:cNvGraphicFramePr>
            <a:graphicFrameLocks noGrp="1"/>
          </p:cNvGraphicFramePr>
          <p:nvPr/>
        </p:nvGraphicFramePr>
        <p:xfrm>
          <a:off x="457200" y="2743200"/>
          <a:ext cx="7315200" cy="3063240"/>
        </p:xfrm>
        <a:graphic>
          <a:graphicData uri="http://schemas.openxmlformats.org/drawingml/2006/chart">
            <c:chart xmlns:c="http://schemas.openxmlformats.org/drawingml/2006/chart" r:id="rId9"/>
          </a:graphicData>
        </a:graphic>
      </p:graphicFrame>
      <p:sp>
        <p:nvSpPr>
          <p:cNvPr id="95" name="TextBox 94"/>
          <p:cNvSpPr txBox="1"/>
          <p:nvPr/>
        </p:nvSpPr>
        <p:spPr>
          <a:xfrm>
            <a:off x="457200" y="5952744"/>
            <a:ext cx="7315200" cy="365760"/>
          </a:xfrm>
          <a:prstGeom prst="rect">
            <a:avLst/>
          </a:prstGeom>
          <a:noFill/>
        </p:spPr>
        <p:txBody>
          <a:bodyPr wrap="square" lIns="0" rIns="0" tIns="0" bIns="0">
            <a:spAutoFit/>
          </a:bodyPr>
          <a:lstStyle/>
          <a:p>
            <a:pPr>
              <a:spcAft>
                <a:spcPts val="300"/>
              </a:spcAft>
              <a:defRPr sz="1000" b="0">
                <a:solidFill>
                  <a:srgbClr val="000000"/>
                </a:solidFill>
                <a:latin typeface="Lato"/>
              </a:defRPr>
            </a:pPr>
            <a:r>
              <a:t>2016-2025: reported capacity | 2026 onward: held-flat base + conditional addition</a:t>
            </a:r>
          </a:p>
        </p:txBody>
      </p:sp>
      <p:sp>
        <p:nvSpPr>
          <p:cNvPr id="96" name="TextBox 95"/>
          <p:cNvSpPr txBox="1"/>
          <p:nvPr/>
        </p:nvSpPr>
        <p:spPr>
          <a:xfrm>
            <a:off x="8046720" y="2404872"/>
            <a:ext cx="2834640" cy="530352"/>
          </a:xfrm>
          <a:prstGeom prst="rect">
            <a:avLst/>
          </a:prstGeom>
          <a:noFill/>
        </p:spPr>
        <p:txBody>
          <a:bodyPr wrap="square" lIns="0" rIns="0" tIns="0" bIns="0">
            <a:spAutoFit/>
          </a:bodyPr>
          <a:lstStyle/>
          <a:p>
            <a:pPr>
              <a:spcAft>
                <a:spcPts val="300"/>
              </a:spcAft>
              <a:defRPr sz="2500" b="1">
                <a:solidFill>
                  <a:srgbClr val="0A2373"/>
                </a:solidFill>
                <a:latin typeface="Lato"/>
              </a:defRPr>
            </a:pPr>
            <a:r>
              <a:t>358 → 758</a:t>
            </a:r>
          </a:p>
        </p:txBody>
      </p:sp>
      <p:sp>
        <p:nvSpPr>
          <p:cNvPr id="97" name="TextBox 96"/>
          <p:cNvSpPr txBox="1"/>
          <p:nvPr/>
        </p:nvSpPr>
        <p:spPr>
          <a:xfrm>
            <a:off x="8046720" y="2944368"/>
            <a:ext cx="2834640" cy="457200"/>
          </a:xfrm>
          <a:prstGeom prst="rect">
            <a:avLst/>
          </a:prstGeom>
          <a:noFill/>
        </p:spPr>
        <p:txBody>
          <a:bodyPr wrap="square" lIns="0" rIns="0" tIns="0" bIns="0">
            <a:spAutoFit/>
          </a:bodyPr>
          <a:lstStyle/>
          <a:p>
            <a:pPr>
              <a:spcAft>
                <a:spcPts val="300"/>
              </a:spcAft>
              <a:defRPr sz="1200" b="0">
                <a:solidFill>
                  <a:srgbClr val="000000"/>
                </a:solidFill>
                <a:latin typeface="Lato"/>
              </a:defRPr>
            </a:pPr>
            <a:r>
              <a:t>thousand bbl/day in the conditional case</a:t>
            </a:r>
          </a:p>
        </p:txBody>
      </p:sp>
      <p:sp>
        <p:nvSpPr>
          <p:cNvPr id="98" name="TextBox 97"/>
          <p:cNvSpPr txBox="1"/>
          <p:nvPr/>
        </p:nvSpPr>
        <p:spPr>
          <a:xfrm>
            <a:off x="8046720" y="3630168"/>
            <a:ext cx="2834640" cy="914400"/>
          </a:xfrm>
          <a:prstGeom prst="rect">
            <a:avLst/>
          </a:prstGeom>
          <a:noFill/>
        </p:spPr>
        <p:txBody>
          <a:bodyPr wrap="square" lIns="0" rIns="0" tIns="0" bIns="0">
            <a:spAutoFit/>
          </a:bodyPr>
          <a:lstStyle/>
          <a:p>
            <a:pPr>
              <a:spcAft>
                <a:spcPts val="300"/>
              </a:spcAft>
              <a:defRPr sz="1300" b="1">
                <a:solidFill>
                  <a:srgbClr val="000000"/>
                </a:solidFill>
                <a:latin typeface="Lato"/>
              </a:defRPr>
            </a:pPr>
            <a:r>
              <a:t>2029 assumed FID</a:t>
            </a:r>
          </a:p>
          <a:p>
            <a:pPr>
              <a:spcAft>
                <a:spcPts val="300"/>
              </a:spcAft>
              <a:defRPr sz="1300" b="1">
                <a:solidFill>
                  <a:srgbClr val="000000"/>
                </a:solidFill>
                <a:latin typeface="Lato"/>
              </a:defRPr>
            </a:pPr>
            <a:r>
              <a:t>+ 48 months construction</a:t>
            </a:r>
          </a:p>
          <a:p>
            <a:pPr>
              <a:spcAft>
                <a:spcPts val="300"/>
              </a:spcAft>
              <a:defRPr sz="1300" b="1">
                <a:solidFill>
                  <a:srgbClr val="000000"/>
                </a:solidFill>
                <a:latin typeface="Lato"/>
              </a:defRPr>
            </a:pPr>
            <a:r>
              <a:t>= 2033 assumed availability</a:t>
            </a:r>
          </a:p>
        </p:txBody>
      </p:sp>
      <p:sp>
        <p:nvSpPr>
          <p:cNvPr id="99" name="TextBox 98"/>
          <p:cNvSpPr txBox="1"/>
          <p:nvPr/>
        </p:nvSpPr>
        <p:spPr>
          <a:xfrm>
            <a:off x="8046720" y="4828032"/>
            <a:ext cx="2834640" cy="1033271"/>
          </a:xfrm>
          <a:prstGeom prst="rect">
            <a:avLst/>
          </a:prstGeom>
          <a:noFill/>
        </p:spPr>
        <p:txBody>
          <a:bodyPr wrap="square" lIns="0" rIns="0" tIns="0" bIns="0">
            <a:spAutoFit/>
          </a:bodyPr>
          <a:lstStyle/>
          <a:p>
            <a:pPr>
              <a:spcAft>
                <a:spcPts val="300"/>
              </a:spcAft>
              <a:defRPr sz="1200" b="0">
                <a:solidFill>
                  <a:srgbClr val="000000"/>
                </a:solidFill>
                <a:latin typeface="Lato"/>
              </a:defRPr>
            </a:pPr>
            <a:r>
              <a:t>No-addition case stays at 358.</a:t>
            </a:r>
          </a:p>
          <a:p>
            <a:pPr>
              <a:spcAft>
                <a:spcPts val="300"/>
              </a:spcAft>
              <a:defRPr sz="1200" b="0">
                <a:solidFill>
                  <a:srgbClr val="000000"/>
                </a:solidFill>
                <a:latin typeface="Lato"/>
              </a:defRPr>
            </a:pPr>
            <a:r>
              <a:t>The CEF project is not committed capacity; timing is an existing reporting assumption.</a:t>
            </a:r>
          </a:p>
        </p:txBody>
      </p:sp>
      <p:cxnSp>
        <p:nvCxnSpPr>
          <p:cNvPr id="100" name="Connector 99"/>
          <p:cNvCxnSpPr/>
          <p:nvPr/>
        </p:nvCxnSpPr>
        <p:spPr>
          <a:xfrm>
            <a:off x="7882127"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046720" y="1947672"/>
            <a:ext cx="306324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57200" y="1947672"/>
            <a:ext cx="722376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8046720" y="1627632"/>
            <a:ext cx="3063240" cy="310896"/>
          </a:xfrm>
          <a:prstGeom prst="rect">
            <a:avLst/>
          </a:prstGeom>
          <a:noFill/>
        </p:spPr>
        <p:txBody>
          <a:bodyPr wrap="square" lIns="0" rIns="0" tIns="0" bIns="0">
            <a:spAutoFit/>
          </a:bodyPr>
          <a:lstStyle/>
          <a:p>
            <a:pPr>
              <a:spcAft>
                <a:spcPts val="300"/>
              </a:spcAft>
              <a:defRPr sz="1400" b="1">
                <a:solidFill>
                  <a:srgbClr val="000000"/>
                </a:solidFill>
                <a:latin typeface="Lato"/>
              </a:defRPr>
            </a:pPr>
            <a:r>
              <a:t>Insights</a:t>
            </a:r>
          </a:p>
        </p:txBody>
      </p:sp>
      <p:sp>
        <p:nvSpPr>
          <p:cNvPr id="133" name="SCR divider marker: circle"/>
          <p:cNvSpPr/>
          <p:nvPr/>
        </p:nvSpPr>
        <p:spPr>
          <a:xfrm>
            <a:off x="7763255"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4" name="SCR divider marker: arrow"/>
          <p:cNvCxnSpPr/>
          <p:nvPr/>
        </p:nvCxnSpPr>
        <p:spPr>
          <a:xfrm>
            <a:off x="7850123"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5" name="SCR divider marker: arrow"/>
          <p:cNvCxnSpPr/>
          <p:nvPr/>
        </p:nvCxnSpPr>
        <p:spPr>
          <a:xfrm flipH="1">
            <a:off x="7850123"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 viable customer route must be competitive and still earn the supplier's required margin</a:t>
            </a:r>
          </a:p>
        </p:txBody>
      </p:sp>
      <p:sp>
        <p:nvSpPr>
          <p:cNvPr id="3" name="Slide Number Placeholder"/>
          <p:cNvSpPr>
            <a:spLocks noGrp="1"/>
          </p:cNvSpPr>
          <p:nvPr>
            <p:ph type="sldNum" sz="quarter" idx="12"/>
          </p:nvPr>
        </p:nvSpPr>
        <p:spPr/>
        <p:txBody>
          <a:bodyPr/>
          <a:lstStyle/>
          <a:p>
            <a:pPr>
              <a:defRPr sz="1000">
                <a:latin typeface="Lato"/>
              </a:defRPr>
            </a:pPr>
            <a:r>
              <a:t>7</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Map: existing illustrative road costs only; grid cells are not customers. Pipeline/rail costs, tariffs, storage and rights remain unverified.
Both tests concern supplier delivered economics, not Vopak terminal margin. No numerical breakpoint or validated catchment is claimed.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5" name="Transnet lease overlay: Isosceles Triangle 335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6" name="Transnet lease overlay: Connector 335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7" name="Transnet lease overlay: TextBox 335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358" name="Transnet lease overlay: Isosceles Triangle 335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9" name="Transnet lease overlay: Connector 335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0" name="Transnet lease overlay: TextBox 335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361" name="Transnet lease overlay: Isosceles Triangle 336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2" name="Transnet lease overlay: Connector 336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3" name="Transnet lease overlay: TextBox 336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364" name="Transnet lease overlay: Isosceles Triangle 336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5" name="Transnet lease overlay: Connector 336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6" name="Transnet lease overlay: TextBox 336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367" name="Transnet lease overlay: Isosceles Triangle 336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8" name="Transnet lease overlay: Connector 336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9" name="Transnet lease overlay: TextBox 336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370" name="Transnet lease overlay: TextBox 336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371" name="Transnet lease overlay: Isosceles Triangle 337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90" name="TextBox 3389"/>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4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411" name="TextBox 3410"/>
          <p:cNvSpPr txBox="1"/>
          <p:nvPr/>
        </p:nvSpPr>
        <p:spPr>
          <a:xfrm>
            <a:off x="7424927" y="1627632"/>
            <a:ext cx="3685032" cy="384048"/>
          </a:xfrm>
          <a:prstGeom prst="rect">
            <a:avLst/>
          </a:prstGeom>
          <a:noFill/>
        </p:spPr>
        <p:txBody>
          <a:bodyPr wrap="square" lIns="0" rIns="0" tIns="0" bIns="0">
            <a:spAutoFit/>
          </a:bodyPr>
          <a:lstStyle/>
          <a:p>
            <a:pPr>
              <a:spcAft>
                <a:spcPts val="300"/>
              </a:spcAft>
              <a:defRPr sz="1400" b="1">
                <a:solidFill>
                  <a:srgbClr val="000000"/>
                </a:solidFill>
                <a:latin typeface="Lato"/>
              </a:defRPr>
            </a:pPr>
            <a:r>
              <a:t>Two tests for each customer and product</a:t>
            </a:r>
          </a:p>
        </p:txBody>
      </p:sp>
      <p:sp>
        <p:nvSpPr>
          <p:cNvPr id="3412" name="TextBox 3411"/>
          <p:cNvSpPr txBox="1"/>
          <p:nvPr/>
        </p:nvSpPr>
        <p:spPr>
          <a:xfrm>
            <a:off x="7424927" y="2157984"/>
            <a:ext cx="3685032" cy="265176"/>
          </a:xfrm>
          <a:prstGeom prst="rect">
            <a:avLst/>
          </a:prstGeom>
          <a:noFill/>
        </p:spPr>
        <p:txBody>
          <a:bodyPr wrap="square" lIns="0" rIns="0" tIns="0" bIns="0">
            <a:spAutoFit/>
          </a:bodyPr>
          <a:lstStyle/>
          <a:p>
            <a:pPr>
              <a:spcAft>
                <a:spcPts val="300"/>
              </a:spcAft>
              <a:defRPr sz="1300" b="1">
                <a:solidFill>
                  <a:srgbClr val="0A2373"/>
                </a:solidFill>
                <a:latin typeface="Lato"/>
              </a:defRPr>
            </a:pPr>
            <a:r>
              <a:t>1 | Competitive breakpoint</a:t>
            </a:r>
          </a:p>
        </p:txBody>
      </p:sp>
      <p:sp>
        <p:nvSpPr>
          <p:cNvPr id="3413" name="TextBox 3412"/>
          <p:cNvSpPr txBox="1"/>
          <p:nvPr/>
        </p:nvSpPr>
        <p:spPr>
          <a:xfrm>
            <a:off x="7424927" y="2551176"/>
            <a:ext cx="3685032" cy="576072"/>
          </a:xfrm>
          <a:prstGeom prst="rect">
            <a:avLst/>
          </a:prstGeom>
          <a:noFill/>
        </p:spPr>
        <p:txBody>
          <a:bodyPr wrap="square" lIns="0" rIns="0" tIns="0" bIns="0">
            <a:spAutoFit/>
          </a:bodyPr>
          <a:lstStyle/>
          <a:p>
            <a:pPr>
              <a:spcAft>
                <a:spcPts val="300"/>
              </a:spcAft>
              <a:defRPr sz="1200" b="1">
                <a:solidFill>
                  <a:srgbClr val="000000"/>
                </a:solidFill>
                <a:latin typeface="Lato"/>
              </a:defRPr>
            </a:pPr>
            <a:r>
              <a:t>Delivered cost via Durban / Lesedi</a:t>
            </a:r>
          </a:p>
          <a:p>
            <a:pPr>
              <a:spcAft>
                <a:spcPts val="300"/>
              </a:spcAft>
              <a:defRPr sz="1200" b="1">
                <a:solidFill>
                  <a:srgbClr val="000000"/>
                </a:solidFill>
                <a:latin typeface="Lato"/>
              </a:defRPr>
            </a:pPr>
            <a:r>
              <a:t>= lowest feasible alternative delivered cost</a:t>
            </a:r>
          </a:p>
        </p:txBody>
      </p:sp>
      <p:sp>
        <p:nvSpPr>
          <p:cNvPr id="3414" name="TextBox 3413"/>
          <p:cNvSpPr txBox="1"/>
          <p:nvPr/>
        </p:nvSpPr>
        <p:spPr>
          <a:xfrm>
            <a:off x="7424927" y="3163824"/>
            <a:ext cx="3685032" cy="557784"/>
          </a:xfrm>
          <a:prstGeom prst="rect">
            <a:avLst/>
          </a:prstGeom>
          <a:noFill/>
        </p:spPr>
        <p:txBody>
          <a:bodyPr wrap="square" lIns="0" rIns="0" tIns="0" bIns="0">
            <a:spAutoFit/>
          </a:bodyPr>
          <a:lstStyle/>
          <a:p>
            <a:pPr>
              <a:spcAft>
                <a:spcPts val="300"/>
              </a:spcAft>
              <a:defRPr sz="1100" b="0">
                <a:solidFill>
                  <a:srgbClr val="000000"/>
                </a:solidFill>
                <a:latin typeface="Lato"/>
              </a:defRPr>
            </a:pPr>
            <a:r>
              <a:t>Above this cost, the route loses its cost advantage. Compare the same product, destination and service terms.</a:t>
            </a:r>
          </a:p>
        </p:txBody>
      </p:sp>
      <p:sp>
        <p:nvSpPr>
          <p:cNvPr id="3415" name="TextBox 3414"/>
          <p:cNvSpPr txBox="1"/>
          <p:nvPr/>
        </p:nvSpPr>
        <p:spPr>
          <a:xfrm>
            <a:off x="7424927" y="3867912"/>
            <a:ext cx="3685032" cy="265176"/>
          </a:xfrm>
          <a:prstGeom prst="rect">
            <a:avLst/>
          </a:prstGeom>
          <a:noFill/>
        </p:spPr>
        <p:txBody>
          <a:bodyPr wrap="square" lIns="0" rIns="0" tIns="0" bIns="0">
            <a:spAutoFit/>
          </a:bodyPr>
          <a:lstStyle/>
          <a:p>
            <a:pPr>
              <a:spcAft>
                <a:spcPts val="300"/>
              </a:spcAft>
              <a:defRPr sz="1300" b="1">
                <a:solidFill>
                  <a:srgbClr val="0A2373"/>
                </a:solidFill>
                <a:latin typeface="Lato"/>
              </a:defRPr>
            </a:pPr>
            <a:r>
              <a:t>2 | Margin breakpoint</a:t>
            </a:r>
          </a:p>
        </p:txBody>
      </p:sp>
      <p:sp>
        <p:nvSpPr>
          <p:cNvPr id="3416" name="TextBox 3415"/>
          <p:cNvSpPr txBox="1"/>
          <p:nvPr/>
        </p:nvSpPr>
        <p:spPr>
          <a:xfrm>
            <a:off x="7424927" y="4261104"/>
            <a:ext cx="3685032" cy="749808"/>
          </a:xfrm>
          <a:prstGeom prst="rect">
            <a:avLst/>
          </a:prstGeom>
          <a:noFill/>
        </p:spPr>
        <p:txBody>
          <a:bodyPr wrap="square" lIns="0" rIns="0" tIns="0" bIns="0">
            <a:spAutoFit/>
          </a:bodyPr>
          <a:lstStyle/>
          <a:p>
            <a:pPr>
              <a:spcAft>
                <a:spcPts val="300"/>
              </a:spcAft>
              <a:defRPr sz="1200" b="1">
                <a:solidFill>
                  <a:srgbClr val="000000"/>
                </a:solidFill>
                <a:latin typeface="Lato"/>
              </a:defRPr>
            </a:pPr>
            <a:r>
              <a:t>Maximum storage + transport cost</a:t>
            </a:r>
          </a:p>
          <a:p>
            <a:pPr>
              <a:spcAft>
                <a:spcPts val="300"/>
              </a:spcAft>
              <a:defRPr sz="1200" b="1">
                <a:solidFill>
                  <a:srgbClr val="000000"/>
                </a:solidFill>
                <a:latin typeface="Lato"/>
              </a:defRPr>
            </a:pPr>
            <a:r>
              <a:t>= delivered price − fuel cost</a:t>
            </a:r>
          </a:p>
          <a:p>
            <a:pPr>
              <a:spcAft>
                <a:spcPts val="300"/>
              </a:spcAft>
              <a:defRPr sz="1200" b="1">
                <a:solidFill>
                  <a:srgbClr val="000000"/>
                </a:solidFill>
                <a:latin typeface="Lato"/>
              </a:defRPr>
            </a:pPr>
            <a:r>
              <a:t>− other costs − required supplier margin</a:t>
            </a:r>
          </a:p>
        </p:txBody>
      </p:sp>
      <p:sp>
        <p:nvSpPr>
          <p:cNvPr id="3417" name="TextBox 3416"/>
          <p:cNvSpPr txBox="1"/>
          <p:nvPr/>
        </p:nvSpPr>
        <p:spPr>
          <a:xfrm>
            <a:off x="7424927" y="5102352"/>
            <a:ext cx="3685032" cy="484632"/>
          </a:xfrm>
          <a:prstGeom prst="rect">
            <a:avLst/>
          </a:prstGeom>
          <a:noFill/>
        </p:spPr>
        <p:txBody>
          <a:bodyPr wrap="square" lIns="0" rIns="0" tIns="0" bIns="0">
            <a:spAutoFit/>
          </a:bodyPr>
          <a:lstStyle/>
          <a:p>
            <a:pPr>
              <a:spcAft>
                <a:spcPts val="300"/>
              </a:spcAft>
              <a:defRPr sz="1100" b="0">
                <a:solidFill>
                  <a:srgbClr val="000000"/>
                </a:solidFill>
                <a:latin typeface="Lato"/>
              </a:defRPr>
            </a:pPr>
            <a:r>
              <a:t>Above this allowance, the route fails the margin target even if it is the cheapest option.</a:t>
            </a:r>
          </a:p>
        </p:txBody>
      </p:sp>
      <p:sp>
        <p:nvSpPr>
          <p:cNvPr id="3418" name="TextBox 3417"/>
          <p:cNvSpPr txBox="1"/>
          <p:nvPr/>
        </p:nvSpPr>
        <p:spPr>
          <a:xfrm>
            <a:off x="7424927" y="5705856"/>
            <a:ext cx="3685032" cy="246888"/>
          </a:xfrm>
          <a:prstGeom prst="rect">
            <a:avLst/>
          </a:prstGeom>
          <a:noFill/>
        </p:spPr>
        <p:txBody>
          <a:bodyPr wrap="square" lIns="0" rIns="0" tIns="0" bIns="0">
            <a:spAutoFit/>
          </a:bodyPr>
          <a:lstStyle/>
          <a:p>
            <a:pPr>
              <a:spcAft>
                <a:spcPts val="300"/>
              </a:spcAft>
              <a:defRPr sz="1200" b="1">
                <a:solidFill>
                  <a:srgbClr val="0A2373"/>
                </a:solidFill>
                <a:latin typeface="Lato"/>
              </a:defRPr>
            </a:pPr>
            <a:r>
              <a:t>Thresholds not yet quantified</a:t>
            </a:r>
          </a:p>
        </p:txBody>
      </p:sp>
      <p:sp>
        <p:nvSpPr>
          <p:cNvPr id="3419" name="TextBox 3418"/>
          <p:cNvSpPr txBox="1"/>
          <p:nvPr/>
        </p:nvSpPr>
        <p:spPr>
          <a:xfrm>
            <a:off x="7424927" y="6025896"/>
            <a:ext cx="3685032" cy="356616"/>
          </a:xfrm>
          <a:prstGeom prst="rect">
            <a:avLst/>
          </a:prstGeom>
          <a:noFill/>
        </p:spPr>
        <p:txBody>
          <a:bodyPr wrap="square" lIns="0" rIns="0" tIns="0" bIns="0">
            <a:spAutoFit/>
          </a:bodyPr>
          <a:lstStyle/>
          <a:p>
            <a:pPr>
              <a:spcAft>
                <a:spcPts val="300"/>
              </a:spcAft>
              <a:defRPr sz="900" b="0">
                <a:solidFill>
                  <a:srgbClr val="000000"/>
                </a:solidFill>
                <a:latin typeface="Lato"/>
              </a:defRPr>
            </a:pPr>
            <a:r>
              <a:t>Need customer prices, route quotes, handling, stock costs and required margin. Owner: Nigel / Manish.</a:t>
            </a:r>
          </a:p>
        </p:txBody>
      </p:sp>
      <p:cxnSp>
        <p:nvCxnSpPr>
          <p:cNvPr id="3420" name="Connector 3419"/>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21" name="Connector 3420"/>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42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2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2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Matola and Walvis Bay offer alternative gateways; their impact on Durban is unproven</a:t>
            </a:r>
          </a:p>
        </p:txBody>
      </p:sp>
      <p:sp>
        <p:nvSpPr>
          <p:cNvPr id="3" name="Slide Number Placeholder"/>
          <p:cNvSpPr>
            <a:spLocks noGrp="1"/>
          </p:cNvSpPr>
          <p:nvPr>
            <p:ph type="sldNum" sz="quarter" idx="12"/>
          </p:nvPr>
        </p:nvSpPr>
        <p:spPr/>
        <p:txBody>
          <a:bodyPr/>
          <a:lstStyle/>
          <a:p>
            <a:pPr>
              <a:defRPr sz="1000">
                <a:latin typeface="Lato"/>
              </a:defRPr>
            </a:pPr>
            <a:r>
              <a:t>8</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Existing gateways and potential inland distribution nodes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8"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9"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40"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1"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2"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3"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4"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50"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14300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 demand</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6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63" name="TextBox 162"/>
          <p:cNvSpPr txBox="1"/>
          <p:nvPr/>
        </p:nvSpPr>
        <p:spPr>
          <a:xfrm>
            <a:off x="7424927" y="1627632"/>
            <a:ext cx="3685032" cy="310896"/>
          </a:xfrm>
          <a:prstGeom prst="rect">
            <a:avLst/>
          </a:prstGeom>
          <a:noFill/>
        </p:spPr>
        <p:txBody>
          <a:bodyPr wrap="square" lIns="0" rIns="0" tIns="0" bIns="0">
            <a:spAutoFit/>
          </a:bodyPr>
          <a:lstStyle/>
          <a:p>
            <a:pPr>
              <a:spcAft>
                <a:spcPts val="300"/>
              </a:spcAft>
              <a:defRPr sz="1400" b="1">
                <a:solidFill>
                  <a:srgbClr val="000000"/>
                </a:solidFill>
                <a:latin typeface="Lato"/>
              </a:defRPr>
            </a:pPr>
            <a:r>
              <a:rPr sz="1400"/>
              <a:t>Implication for Vopak</a:t>
            </a:r>
          </a:p>
        </p:txBody>
      </p:sp>
      <p:sp>
        <p:nvSpPr>
          <p:cNvPr id="164" name="TextBox 163"/>
          <p:cNvSpPr txBox="1"/>
          <p:nvPr/>
        </p:nvSpPr>
        <p:spPr>
          <a:xfrm>
            <a:off x="7424927" y="2194560"/>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Existing alternative gateways</a:t>
            </a:r>
          </a:p>
        </p:txBody>
      </p:sp>
      <p:sp>
        <p:nvSpPr>
          <p:cNvPr id="165" name="TextBox 164"/>
          <p:cNvSpPr txBox="1"/>
          <p:nvPr/>
        </p:nvSpPr>
        <p:spPr>
          <a:xfrm>
            <a:off x="7424927" y="2542032"/>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published inventory includes 60,000 m3 of petrol/diesel storage at Matola's GIMTL and 65,000 m3 at Walvis Bay's NOSF.</a:t>
            </a:r>
          </a:p>
        </p:txBody>
      </p:sp>
      <p:sp>
        <p:nvSpPr>
          <p:cNvPr id="166" name="TextBox 165"/>
          <p:cNvSpPr txBox="1"/>
          <p:nvPr/>
        </p:nvSpPr>
        <p:spPr>
          <a:xfrm>
            <a:off x="7424927" y="3236976"/>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Potential inland nodes</a:t>
            </a:r>
          </a:p>
        </p:txBody>
      </p:sp>
      <p:sp>
        <p:nvSpPr>
          <p:cNvPr id="167" name="TextBox 166"/>
          <p:cNvSpPr txBox="1"/>
          <p:nvPr/>
        </p:nvSpPr>
        <p:spPr>
          <a:xfrm>
            <a:off x="7424927" y="3584448"/>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Transnet depot lease offers identify possible inland distribution nodes. Refurbishment, licensing and commercial operation remain conditional.</a:t>
            </a:r>
          </a:p>
        </p:txBody>
      </p:sp>
      <p:sp>
        <p:nvSpPr>
          <p:cNvPr id="168" name="TextBox 167"/>
          <p:cNvSpPr txBox="1"/>
          <p:nvPr/>
        </p:nvSpPr>
        <p:spPr>
          <a:xfrm>
            <a:off x="7424927" y="4279392"/>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What would demonstrate a market shift</a:t>
            </a:r>
          </a:p>
        </p:txBody>
      </p:sp>
      <p:sp>
        <p:nvSpPr>
          <p:cNvPr id="169" name="TextBox 168"/>
          <p:cNvSpPr txBox="1"/>
          <p:nvPr/>
        </p:nvSpPr>
        <p:spPr>
          <a:xfrm>
            <a:off x="7424927" y="4626864"/>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Commissioning dates, growth in handled volumes and changes in delivered cost would show whether these nodes are changing inland supply patterns.</a:t>
            </a:r>
          </a:p>
        </p:txBody>
      </p:sp>
      <p:sp>
        <p:nvSpPr>
          <p:cNvPr id="170" name="TextBox 169"/>
          <p:cNvSpPr txBox="1"/>
          <p:nvPr/>
        </p:nvSpPr>
        <p:spPr>
          <a:xfrm>
            <a:off x="7424927" y="5431536"/>
            <a:ext cx="3685032" cy="256032"/>
          </a:xfrm>
          <a:prstGeom prst="rect">
            <a:avLst/>
          </a:prstGeom>
          <a:noFill/>
        </p:spPr>
        <p:txBody>
          <a:bodyPr wrap="square" lIns="0" rIns="0" tIns="0" bIns="0">
            <a:spAutoFit/>
          </a:bodyPr>
          <a:lstStyle/>
          <a:p>
            <a:pPr>
              <a:spcAft>
                <a:spcPts val="300"/>
              </a:spcAft>
              <a:defRPr sz="1250" b="1">
                <a:solidFill>
                  <a:srgbClr val="000000"/>
                </a:solidFill>
                <a:latin typeface="Lato"/>
              </a:defRPr>
            </a:pPr>
            <a:r>
              <a:t>Current work</a:t>
            </a:r>
          </a:p>
        </p:txBody>
      </p:sp>
      <p:sp>
        <p:nvSpPr>
          <p:cNvPr id="171" name="TextBox 170"/>
          <p:cNvSpPr txBox="1"/>
          <p:nvPr/>
        </p:nvSpPr>
        <p:spPr>
          <a:xfrm>
            <a:off x="7424927" y="5760720"/>
            <a:ext cx="3685032" cy="548640"/>
          </a:xfrm>
          <a:prstGeom prst="rect">
            <a:avLst/>
          </a:prstGeom>
          <a:noFill/>
        </p:spPr>
        <p:txBody>
          <a:bodyPr wrap="square" lIns="0" rIns="0" tIns="0" bIns="0">
            <a:spAutoFit/>
          </a:bodyPr>
          <a:lstStyle/>
          <a:p>
            <a:pPr>
              <a:spcAft>
                <a:spcPts val="300"/>
              </a:spcAft>
              <a:defRPr sz="1150" b="0">
                <a:solidFill>
                  <a:srgbClr val="000000"/>
                </a:solidFill>
                <a:latin typeface="Lato"/>
              </a:defRPr>
            </a:pPr>
            <a:r>
              <a:t>Compare the same product and inland destination. Record existing operations separately from proposed facilities.</a:t>
            </a:r>
          </a:p>
        </p:txBody>
      </p:sp>
      <p:cxnSp>
        <p:nvCxnSpPr>
          <p:cNvPr id="172" name="Connector 171"/>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Published Vopak tankage does not establish spare fuel capacity at Durban or Lesedi</a:t>
            </a:r>
          </a:p>
        </p:txBody>
      </p:sp>
      <p:sp>
        <p:nvSpPr>
          <p:cNvPr id="3" name="Slide Number Placeholder"/>
          <p:cNvSpPr>
            <a:spLocks noGrp="1"/>
          </p:cNvSpPr>
          <p:nvPr>
            <p:ph type="sldNum" sz="quarter" idx="12"/>
          </p:nvPr>
        </p:nvSpPr>
        <p:spPr/>
        <p:txBody>
          <a:bodyPr/>
          <a:lstStyle/>
          <a:p>
            <a:pPr>
              <a:defRPr sz="1000">
                <a:latin typeface="Lato"/>
              </a:defRPr>
            </a:pPr>
            <a:r>
              <a:t>9</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20040"/>
          </a:xfrm>
          <a:prstGeom prst="rect">
            <a:avLst/>
          </a:prstGeom>
          <a:noFill/>
        </p:spPr>
        <p:txBody>
          <a:bodyPr wrap="square" lIns="22860" rIns="22860" tIns="0" bIns="0">
            <a:noAutofit/>
          </a:bodyPr>
          <a:lstStyle/>
          <a:p>
            <a:pPr>
              <a:spcAft>
                <a:spcPts val="300"/>
              </a:spcAft>
              <a:defRPr sz="1350" b="1">
                <a:solidFill>
                  <a:srgbClr val="000000"/>
                </a:solidFill>
                <a:latin typeface="Lato"/>
              </a:defRPr>
            </a:pPr>
            <a:r>
              <a:rPr sz="1350" b="1">
                <a:latin typeface="Lato"/>
              </a:rPr>
              <a:t>Regional footprint | published gross storage, thousand m³</a:t>
            </a:r>
          </a:p>
        </p:txBody>
      </p:sp>
      <p:cxnSp>
        <p:nvCxnSpPr>
          <p:cNvPr id="10" name="Connector 9"/>
          <p:cNvCxnSpPr/>
          <p:nvPr/>
        </p:nvCxnSpPr>
        <p:spPr>
          <a:xfrm>
            <a:off x="457200" y="2286000"/>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2286000"/>
            <a:ext cx="0" cy="3986784"/>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2167128"/>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2226564"/>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2286000"/>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487168"/>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487168"/>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487168"/>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0574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00253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057400"/>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00253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1" name="TextBox 130"/>
          <p:cNvSpPr txBox="1"/>
          <p:nvPr/>
        </p:nvSpPr>
        <p:spPr>
          <a:xfrm>
            <a:off x="7424927" y="1627632"/>
            <a:ext cx="3685032" cy="320040"/>
          </a:xfrm>
          <a:prstGeom prst="rect">
            <a:avLst/>
          </a:prstGeom>
          <a:noFill/>
        </p:spPr>
        <p:txBody>
          <a:bodyPr wrap="square" lIns="0" rIns="0" tIns="0" bIns="0">
            <a:noAutofit/>
          </a:bodyPr>
          <a:lstStyle/>
          <a:p>
            <a:pPr>
              <a:spcAft>
                <a:spcPts val="300"/>
              </a:spcAft>
              <a:defRPr sz="1350" b="1">
                <a:solidFill>
                  <a:srgbClr val="000000"/>
                </a:solidFill>
                <a:latin typeface="Lato"/>
              </a:defRPr>
            </a:pPr>
            <a:r>
              <a:rPr sz="1350" b="1">
                <a:latin typeface="Lato"/>
              </a:rPr>
              <a:t>Implication for Vopak</a:t>
            </a:r>
          </a:p>
        </p:txBody>
      </p:sp>
      <p:cxnSp>
        <p:nvCxnSpPr>
          <p:cNvPr id="132" name="Connector 131"/>
          <p:cNvCxnSpPr/>
          <p:nvPr/>
        </p:nvCxnSpPr>
        <p:spPr>
          <a:xfrm>
            <a:off x="7424927" y="2286000"/>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50545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81818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394252"/>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706977"/>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283049"/>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95774"/>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9529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0504"/>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23229"/>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
        <p:nvSpPr>
          <p:cNvPr id="14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Illustrative tank handling cannot establish a regional fuel surplus or shortage</a:t>
            </a:r>
          </a:p>
        </p:txBody>
      </p:sp>
      <p:sp>
        <p:nvSpPr>
          <p:cNvPr id="3" name="Slide Number Placeholder"/>
          <p:cNvSpPr>
            <a:spLocks noGrp="1"/>
          </p:cNvSpPr>
          <p:nvPr>
            <p:ph type="sldNum" sz="quarter" idx="12"/>
          </p:nvPr>
        </p:nvSpPr>
        <p:spPr/>
        <p:txBody>
          <a:bodyPr/>
          <a:lstStyle/>
          <a:p>
            <a:pPr>
              <a:defRPr sz="1000">
                <a:latin typeface="Lato"/>
              </a:defRPr>
            </a:pPr>
            <a:r>
              <a:t>10</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20040"/>
          </a:xfrm>
          <a:prstGeom prst="rect">
            <a:avLst/>
          </a:prstGeom>
          <a:noFill/>
        </p:spPr>
        <p:txBody>
          <a:bodyPr wrap="square" lIns="22860" rIns="22860" tIns="0" bIns="0">
            <a:noAutofit/>
          </a:bodyPr>
          <a:lstStyle/>
          <a:p>
            <a:pPr>
              <a:spcAft>
                <a:spcPts val="300"/>
              </a:spcAft>
              <a:defRPr sz="1350" b="1">
                <a:solidFill>
                  <a:srgbClr val="000000"/>
                </a:solidFill>
                <a:latin typeface="Lato"/>
              </a:defRPr>
            </a:pPr>
            <a:r>
              <a:rPr sz="1350" b="1">
                <a:latin typeface="Lato"/>
              </a:rPr>
              <a:t>Annual demand and gross handling equivalent | million m³/year</a:t>
            </a:r>
          </a:p>
        </p:txBody>
      </p:sp>
      <p:cxnSp>
        <p:nvCxnSpPr>
          <p:cNvPr id="10" name="Connector 9"/>
          <p:cNvCxnSpPr/>
          <p:nvPr/>
        </p:nvCxnSpPr>
        <p:spPr>
          <a:xfrm>
            <a:off x="457200" y="2286000"/>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2286000"/>
            <a:ext cx="0" cy="3986784"/>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72" name="TextBox 71"/>
          <p:cNvSpPr txBox="1"/>
          <p:nvPr/>
        </p:nvSpPr>
        <p:spPr>
          <a:xfrm>
            <a:off x="457200" y="2542032"/>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Base estimate: 2 turns/month; published gross tankage</a:t>
            </a:r>
          </a:p>
        </p:txBody>
      </p:sp>
      <p:sp>
        <p:nvSpPr>
          <p:cNvPr id="73" name="Demand legend"/>
          <p:cNvSpPr/>
          <p:nvPr/>
        </p:nvSpPr>
        <p:spPr>
          <a:xfrm>
            <a:off x="1920240" y="2057400"/>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4" name="TextBox 73"/>
          <p:cNvSpPr txBox="1"/>
          <p:nvPr/>
        </p:nvSpPr>
        <p:spPr>
          <a:xfrm>
            <a:off x="2066543" y="2002536"/>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Reported demand</a:t>
            </a:r>
          </a:p>
        </p:txBody>
      </p:sp>
      <p:sp>
        <p:nvSpPr>
          <p:cNvPr id="75" name="Handling legend"/>
          <p:cNvSpPr/>
          <p:nvPr/>
        </p:nvSpPr>
        <p:spPr>
          <a:xfrm>
            <a:off x="3657600" y="2057400"/>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6" name="TextBox 75"/>
          <p:cNvSpPr txBox="1"/>
          <p:nvPr/>
        </p:nvSpPr>
        <p:spPr>
          <a:xfrm>
            <a:off x="3803904" y="200253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Vopak</a:t>
            </a:r>
          </a:p>
        </p:txBody>
      </p:sp>
      <p:sp>
        <p:nvSpPr>
          <p:cNvPr id="77" name="Handling legend"/>
          <p:cNvSpPr/>
          <p:nvPr/>
        </p:nvSpPr>
        <p:spPr>
          <a:xfrm>
            <a:off x="4663440" y="2057400"/>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8" name="TextBox 77"/>
          <p:cNvSpPr txBox="1"/>
          <p:nvPr/>
        </p:nvSpPr>
        <p:spPr>
          <a:xfrm>
            <a:off x="4809744" y="200253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 listed</a:t>
            </a:r>
          </a:p>
        </p:txBody>
      </p:sp>
      <p:sp>
        <p:nvSpPr>
          <p:cNvPr id="79" name="TextBox 78"/>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Upper bar: reported demand; lower stack: estimated handling</a:t>
            </a:r>
          </a:p>
        </p:txBody>
      </p:sp>
      <p:sp>
        <p:nvSpPr>
          <p:cNvPr id="80" name="TextBox 79"/>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0</a:t>
            </a:r>
          </a:p>
        </p:txBody>
      </p:sp>
      <p:cxnSp>
        <p:nvCxnSpPr>
          <p:cNvPr id="81" name="Connector 80"/>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10</a:t>
            </a:r>
          </a:p>
        </p:txBody>
      </p:sp>
      <p:cxnSp>
        <p:nvCxnSpPr>
          <p:cNvPr id="83" name="Connector 82"/>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20</a:t>
            </a:r>
          </a:p>
        </p:txBody>
      </p:sp>
      <p:cxnSp>
        <p:nvCxnSpPr>
          <p:cNvPr id="85" name="Connector 84"/>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30</a:t>
            </a:r>
          </a:p>
        </p:txBody>
      </p:sp>
      <p:cxnSp>
        <p:nvCxnSpPr>
          <p:cNvPr id="87" name="Connector 86"/>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Eastern coast</a:t>
            </a:r>
          </a:p>
        </p:txBody>
      </p:sp>
      <p:sp>
        <p:nvSpPr>
          <p:cNvPr id="89" name="TextBox 88"/>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EC/KZN</a:t>
            </a:r>
          </a:p>
        </p:txBody>
      </p:sp>
      <p:sp>
        <p:nvSpPr>
          <p:cNvPr id="90"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1" name="TextBox 90"/>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6.02</a:t>
            </a:r>
          </a:p>
        </p:txBody>
      </p:sp>
      <p:sp>
        <p:nvSpPr>
          <p:cNvPr id="92"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3"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4" name="TextBox 93"/>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30.80</a:t>
            </a:r>
          </a:p>
        </p:txBody>
      </p:sp>
      <p:sp>
        <p:nvSpPr>
          <p:cNvPr id="95" name="TextBox 94"/>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Inland</a:t>
            </a:r>
          </a:p>
        </p:txBody>
      </p:sp>
      <p:sp>
        <p:nvSpPr>
          <p:cNvPr id="96" name="TextBox 95"/>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GP/FS/LP/MP/NW</a:t>
            </a:r>
          </a:p>
        </p:txBody>
      </p:sp>
      <p:sp>
        <p:nvSpPr>
          <p:cNvPr id="97"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8" name="TextBox 97"/>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11.50</a:t>
            </a:r>
          </a:p>
        </p:txBody>
      </p:sp>
      <p:sp>
        <p:nvSpPr>
          <p:cNvPr id="99"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0"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1" name="TextBox 100"/>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4.14</a:t>
            </a:r>
          </a:p>
        </p:txBody>
      </p:sp>
      <p:sp>
        <p:nvSpPr>
          <p:cNvPr id="102" name="TextBox 101"/>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Western coast</a:t>
            </a:r>
          </a:p>
        </p:txBody>
      </p:sp>
      <p:sp>
        <p:nvSpPr>
          <p:cNvPr id="103" name="TextBox 102"/>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WC</a:t>
            </a:r>
          </a:p>
        </p:txBody>
      </p:sp>
      <p:sp>
        <p:nvSpPr>
          <p:cNvPr id="104"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5" name="TextBox 104"/>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3.93</a:t>
            </a:r>
          </a:p>
        </p:txBody>
      </p:sp>
      <p:sp>
        <p:nvSpPr>
          <p:cNvPr id="106"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7" name="TextBox 106"/>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2.93</a:t>
            </a:r>
          </a:p>
        </p:txBody>
      </p:sp>
      <p:sp>
        <p:nvSpPr>
          <p:cNvPr id="108" name="TextBox 107"/>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a:t>
            </a:r>
          </a:p>
        </p:txBody>
      </p:sp>
      <p:sp>
        <p:nvSpPr>
          <p:cNvPr id="109" name="TextBox 108"/>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Northern Cape</a:t>
            </a:r>
          </a:p>
        </p:txBody>
      </p:sp>
      <p:sp>
        <p:nvSpPr>
          <p:cNvPr id="110"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11" name="TextBox 110"/>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0.45</a:t>
            </a:r>
          </a:p>
        </p:txBody>
      </p:sp>
      <p:sp>
        <p:nvSpPr>
          <p:cNvPr id="112" name="TextBox 111"/>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  inventory incomplete</a:t>
            </a:r>
          </a:p>
        </p:txBody>
      </p:sp>
      <p:sp>
        <p:nvSpPr>
          <p:cNvPr id="113" name="TextBox 112"/>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Same annual scale. Gross tankage × monthly turns × 12; not available fuel supply.</a:t>
            </a:r>
          </a:p>
        </p:txBody>
      </p:sp>
      <p:sp>
        <p:nvSpPr>
          <p:cNvPr id="114" name="TextBox 113"/>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2022 demand vs 2026 mixed-product inventory; incomplete coverage. No shortage or share conclusion.</a:t>
            </a:r>
          </a:p>
        </p:txBody>
      </p:sp>
      <p:sp>
        <p:nvSpPr>
          <p:cNvPr id="124" name="SCR divider marker: circle"/>
          <p:cNvSpPr/>
          <p:nvPr/>
        </p:nvSpPr>
        <p:spPr>
          <a:xfrm>
            <a:off x="7086600" y="2167128"/>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5" name="SCR divider marker: arrow"/>
          <p:cNvCxnSpPr/>
          <p:nvPr/>
        </p:nvCxnSpPr>
        <p:spPr>
          <a:xfrm>
            <a:off x="7173468" y="2226564"/>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6" name="SCR divider marker: arrow"/>
          <p:cNvCxnSpPr/>
          <p:nvPr/>
        </p:nvCxnSpPr>
        <p:spPr>
          <a:xfrm flipH="1">
            <a:off x="7173468" y="2286000"/>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7424927" y="1627632"/>
            <a:ext cx="3685032" cy="320040"/>
          </a:xfrm>
          <a:prstGeom prst="rect">
            <a:avLst/>
          </a:prstGeom>
          <a:noFill/>
        </p:spPr>
        <p:txBody>
          <a:bodyPr wrap="square" lIns="0" rIns="0" tIns="0" bIns="0">
            <a:noAutofit/>
          </a:bodyPr>
          <a:lstStyle/>
          <a:p>
            <a:pPr>
              <a:spcAft>
                <a:spcPts val="300"/>
              </a:spcAft>
              <a:defRPr sz="1350" b="1">
                <a:solidFill>
                  <a:srgbClr val="000000"/>
                </a:solidFill>
                <a:latin typeface="Lato"/>
              </a:defRPr>
            </a:pPr>
            <a:r>
              <a:rPr sz="1350" b="1">
                <a:latin typeface="Lato"/>
              </a:rPr>
              <a:t>Implication for Vopak</a:t>
            </a:r>
          </a:p>
        </p:txBody>
      </p:sp>
      <p:cxnSp>
        <p:nvCxnSpPr>
          <p:cNvPr id="130" name="Connector 129"/>
          <p:cNvCxnSpPr/>
          <p:nvPr/>
        </p:nvCxnSpPr>
        <p:spPr>
          <a:xfrm>
            <a:off x="7424927" y="2286000"/>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7424927" y="250545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32" name="TextBox 131"/>
          <p:cNvSpPr txBox="1"/>
          <p:nvPr/>
        </p:nvSpPr>
        <p:spPr>
          <a:xfrm>
            <a:off x="7424927" y="281818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33" name="TextBox 132"/>
          <p:cNvSpPr txBox="1"/>
          <p:nvPr/>
        </p:nvSpPr>
        <p:spPr>
          <a:xfrm>
            <a:off x="7424927" y="3394252"/>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34" name="TextBox 133"/>
          <p:cNvSpPr txBox="1"/>
          <p:nvPr/>
        </p:nvSpPr>
        <p:spPr>
          <a:xfrm>
            <a:off x="7424927" y="3706977"/>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35" name="TextBox 134"/>
          <p:cNvSpPr txBox="1"/>
          <p:nvPr/>
        </p:nvSpPr>
        <p:spPr>
          <a:xfrm>
            <a:off x="7424927" y="4283049"/>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36" name="TextBox 135"/>
          <p:cNvSpPr txBox="1"/>
          <p:nvPr/>
        </p:nvSpPr>
        <p:spPr>
          <a:xfrm>
            <a:off x="7424927" y="4595774"/>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37" name="Connector 136"/>
          <p:cNvCxnSpPr/>
          <p:nvPr/>
        </p:nvCxnSpPr>
        <p:spPr>
          <a:xfrm>
            <a:off x="7424927" y="529529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7424927" y="5410504"/>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39" name="TextBox 138"/>
          <p:cNvSpPr txBox="1"/>
          <p:nvPr/>
        </p:nvSpPr>
        <p:spPr>
          <a:xfrm>
            <a:off x="7424927" y="5723229"/>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
        <p:nvSpPr>
          <p:cNvPr id="14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Additional Durban and Lesedi volumes depend on customer access, not national demand alone</a:t>
            </a:r>
          </a:p>
        </p:txBody>
      </p:sp>
      <p:sp>
        <p:nvSpPr>
          <p:cNvPr id="3" name="Slide Number Placeholder"/>
          <p:cNvSpPr>
            <a:spLocks noGrp="1"/>
          </p:cNvSpPr>
          <p:nvPr>
            <p:ph type="sldNum" sz="quarter" idx="12"/>
          </p:nvPr>
        </p:nvSpPr>
        <p:spPr/>
        <p:txBody>
          <a:bodyPr/>
          <a:lstStyle/>
          <a:p>
            <a:pPr>
              <a:defRPr sz="1000">
                <a:latin typeface="Lato"/>
              </a:defRPr>
            </a:pPr>
            <a:r>
              <a:t>11</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2022 departmental provincial sales; SARS 2024 trade; published Vopak, Matola and Walvis Bay inventory; Transnet lease offers. Additional Vopak volumes remain unquantified.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29" name="Table 28"/>
          <p:cNvGraphicFramePr>
            <a:graphicFrameLocks noGrp="1"/>
          </p:cNvGraphicFramePr>
          <p:nvPr/>
        </p:nvGraphicFramePr>
        <p:xfrm>
          <a:off x="457200" y="1938528"/>
          <a:ext cx="10652760" cy="3438144"/>
        </p:xfrm>
        <a:graphic>
          <a:graphicData uri="http://schemas.openxmlformats.org/drawingml/2006/table">
            <a:tbl>
              <a:tblPr firstRow="1" bandRow="1">
                <a:tableStyleId>{2D5ABB26-0587-4C30-8999-92F81FD0307C}</a:tableStyleId>
              </a:tblPr>
              <a:tblGrid>
                <a:gridCol w="1143000"/>
                <a:gridCol w="3200400"/>
                <a:gridCol w="3017520"/>
                <a:gridCol w="3291840"/>
              </a:tblGrid>
              <a:tr h="420624">
                <a:tc>
                  <a:txBody>
                    <a:bodyPr/>
                    <a:lstStyle/>
                    <a:p>
                      <a:pPr>
                        <a:spcAft>
                          <a:spcPts val="0"/>
                        </a:spcAft>
                        <a:defRPr sz="1200" b="1">
                          <a:solidFill>
                            <a:srgbClr val="000000"/>
                          </a:solidFill>
                          <a:latin typeface="Lato"/>
                        </a:defRPr>
                      </a:pPr>
                      <a:r>
                        <a:t>Site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Current evidence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Implication for Vopak</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Evidence still needed</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Durban</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KZN accounts for 19.6% of reported 2022 fuel sales. Diesel is the largest component of national net imports.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coastal demand and inland flows that Durban could handle.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product volumes, customer destinations and usable fuel capacity.</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Lesedi</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Gauteng accounts for 31.1% of reported 2022 fuel sales, the largest provincial share.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inland demand against Lesedi's receipt and dispatch capability.</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throughput and the full delivered cost from competing gateways.</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Competing nodes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Matola and Walvis Bay have published petrol/diesel storage. Inland depot lease offers could add distribution points.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Establish where alternative supply routes could change Vopak's inland business.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Operating status, handled volumes, route costs and service to the same destinations.</a:t>
                      </a:r>
                    </a:p>
                  </a:txBody>
                  <a:tcPr marL="36576" marR="27432" marT="45720" marB="0">
                    <a:lnB w="6350" cap="flat">
                      <a:solidFill>
                        <a:srgbClr val="EEEEEE"/>
                      </a:solidFill>
                    </a:lnB>
                    <a:solidFill>
                      <a:srgbClr val="FFFFFF"/>
                    </a:solidFill>
                  </a:tcPr>
                </a:tc>
              </a:tr>
            </a:tbl>
          </a:graphicData>
        </a:graphic>
      </p:graphicFrame>
      <p:sp>
        <p:nvSpPr>
          <p:cNvPr id="30" name="TextBox 29"/>
          <p:cNvSpPr txBox="1"/>
          <p:nvPr/>
        </p:nvSpPr>
        <p:spPr>
          <a:xfrm>
            <a:off x="457200" y="5724144"/>
            <a:ext cx="10652760" cy="502920"/>
          </a:xfrm>
          <a:prstGeom prst="rect">
            <a:avLst/>
          </a:prstGeom>
          <a:noFill/>
        </p:spPr>
        <p:txBody>
          <a:bodyPr wrap="square" lIns="0" rIns="0" tIns="0" bIns="0">
            <a:spAutoFit/>
          </a:bodyPr>
          <a:lstStyle/>
          <a:p>
            <a:pPr>
              <a:spcAft>
                <a:spcPts val="300"/>
              </a:spcAft>
              <a:defRPr sz="1300" b="1">
                <a:solidFill>
                  <a:srgbClr val="000000"/>
                </a:solidFill>
                <a:latin typeface="Lato"/>
              </a:defRPr>
            </a:pPr>
            <a:r>
              <a:t>The current evidence identifies priority markets. It does not yet quantify additional Vopak volumes or a requirement for new tanks.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Week 1 focuses on the SA baseline; Namibia and Africa have shorter parallel tracks</a:t>
            </a:r>
          </a:p>
        </p:txBody>
      </p:sp>
      <p:sp>
        <p:nvSpPr>
          <p:cNvPr id="3" name="Slide Number Placeholder"/>
          <p:cNvSpPr>
            <a:spLocks noGrp="1"/>
          </p:cNvSpPr>
          <p:nvPr>
            <p:ph type="sldNum" sz="quarter" idx="12"/>
          </p:nvPr>
        </p:nvSpPr>
        <p:spPr/>
        <p:txBody>
          <a:bodyPr/>
          <a:lstStyle/>
          <a:p>
            <a:pPr>
              <a:defRPr sz="1000">
                <a:latin typeface="Lato"/>
              </a:defRPr>
            </a:pPr>
            <a:r>
              <a:t>12</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scope_and_roles.md; six_week_plan.md; Nigel's Week 1 correction. Proposed geographic sequence; no client dates or business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24" name="TextBox 23"/>
          <p:cNvSpPr txBox="1"/>
          <p:nvPr/>
        </p:nvSpPr>
        <p:spPr>
          <a:xfrm>
            <a:off x="457200" y="1627632"/>
            <a:ext cx="10652760" cy="320040"/>
          </a:xfrm>
          <a:prstGeom prst="rect">
            <a:avLst/>
          </a:prstGeom>
          <a:noFill/>
        </p:spPr>
        <p:txBody>
          <a:bodyPr wrap="square" lIns="0" rIns="0" tIns="0" bIns="0">
            <a:spAutoFit/>
          </a:bodyPr>
          <a:lstStyle/>
          <a:p>
            <a:pPr>
              <a:spcAft>
                <a:spcPts val="300"/>
              </a:spcAft>
              <a:defRPr sz="1400" b="1">
                <a:solidFill>
                  <a:srgbClr val="000000"/>
                </a:solidFill>
                <a:latin typeface="Lato"/>
              </a:defRPr>
            </a:pPr>
            <a:r>
              <a:t>Current work and proposed geographic delivery sequence | 7 October 2026</a:t>
            </a:r>
          </a:p>
        </p:txBody>
      </p:sp>
      <p:graphicFrame>
        <p:nvGraphicFramePr>
          <p:cNvPr id="25" name="Table 24"/>
          <p:cNvGraphicFramePr>
            <a:graphicFrameLocks noGrp="1"/>
          </p:cNvGraphicFramePr>
          <p:nvPr/>
        </p:nvGraphicFramePr>
        <p:xfrm>
          <a:off x="457200" y="2148840"/>
          <a:ext cx="10652760" cy="3310128"/>
        </p:xfrm>
        <a:graphic>
          <a:graphicData uri="http://schemas.openxmlformats.org/drawingml/2006/table">
            <a:tbl>
              <a:tblPr firstRow="1" bandRow="1">
                <a:tableStyleId>{2D5ABB26-0587-4C30-8999-92F81FD0307C}</a:tableStyleId>
              </a:tblPr>
              <a:tblGrid>
                <a:gridCol w="4389120"/>
                <a:gridCol w="1325880"/>
                <a:gridCol w="822960"/>
                <a:gridCol w="822960"/>
                <a:gridCol w="822960"/>
                <a:gridCol w="822960"/>
                <a:gridCol w="822960"/>
                <a:gridCol w="822960"/>
              </a:tblGrid>
              <a:tr h="457200">
                <a:tc>
                  <a:txBody>
                    <a:bodyPr/>
                    <a:lstStyle/>
                    <a:p>
                      <a:pPr>
                        <a:spcAft>
                          <a:spcPts val="0"/>
                        </a:spcAft>
                        <a:defRPr sz="919" b="1">
                          <a:solidFill>
                            <a:srgbClr val="000000"/>
                          </a:solidFill>
                          <a:latin typeface="Lato"/>
                        </a:defRPr>
                      </a:pPr>
                      <a:r>
                        <a:t>Workstream / intended output</a:t>
                      </a:r>
                    </a:p>
                  </a:txBody>
                  <a:tcPr marL="36576" marR="27432" marT="45720" marB="0">
                    <a:lnB w="6350" cap="flat">
                      <a:solidFill>
                        <a:srgbClr val="EEEEEE"/>
                      </a:solidFill>
                    </a:lnB>
                    <a:solidFill>
                      <a:srgbClr val="FFFFFF"/>
                    </a:solidFill>
                  </a:tcPr>
                </a:tc>
                <a:tc>
                  <a:txBody>
                    <a:bodyPr/>
                    <a:lstStyle/>
                    <a:p>
                      <a:pPr>
                        <a:spcAft>
                          <a:spcPts val="0"/>
                        </a:spcAft>
                        <a:defRPr sz="919" b="1">
                          <a:solidFill>
                            <a:srgbClr val="000000"/>
                          </a:solidFill>
                          <a:latin typeface="Lato"/>
                        </a:defRPr>
                      </a:pPr>
                      <a:r>
                        <a:t>Lead / support</a:t>
                      </a:r>
                    </a:p>
                  </a:txBody>
                  <a:tcPr marL="36576" marR="27432" marT="45720" marB="0">
                    <a:lnB w="6350" cap="flat">
                      <a:solidFill>
                        <a:srgbClr val="EEEEEE"/>
                      </a:solidFill>
                    </a:lnB>
                    <a:solidFill>
                      <a:srgbClr val="FFFFFF"/>
                    </a:solidFill>
                  </a:tcPr>
                </a:tc>
                <a:tc>
                  <a:txBody>
                    <a:bodyPr/>
                    <a:lstStyle/>
                    <a:p>
                      <a:pPr>
                        <a:spcAft>
                          <a:spcPts val="0"/>
                        </a:spcAft>
                        <a:defRPr sz="919" b="1">
                          <a:solidFill>
                            <a:srgbClr val="FFFFFF"/>
                          </a:solidFill>
                          <a:latin typeface="Lato"/>
                        </a:defRPr>
                      </a:pPr>
                      <a:r>
                        <a:t>W1</a:t>
                      </a:r>
                    </a:p>
                    <a:p>
                      <a:pPr>
                        <a:spcAft>
                          <a:spcPts val="0"/>
                        </a:spcAft>
                        <a:defRPr sz="919" b="1">
                          <a:solidFill>
                            <a:srgbClr val="FFFFFF"/>
                          </a:solidFill>
                          <a:latin typeface="Lato"/>
                        </a:defRPr>
                      </a:pPr>
                      <a:r>
                        <a:t>5-9 Oct</a:t>
                      </a:r>
                    </a:p>
                  </a:txBody>
                  <a:tcPr marL="36576" marR="27432" marT="45720" marB="0">
                    <a:lnB w="6350" cap="flat">
                      <a:solidFill>
                        <a:srgbClr val="EEEEEE"/>
                      </a:solidFill>
                    </a:lnB>
                    <a:solidFill>
                      <a:srgbClr val="0A2373"/>
                    </a:solidFill>
                  </a:tcPr>
                </a:tc>
                <a:tc>
                  <a:txBody>
                    <a:bodyPr/>
                    <a:lstStyle/>
                    <a:p>
                      <a:pPr>
                        <a:spcAft>
                          <a:spcPts val="0"/>
                        </a:spcAft>
                        <a:defRPr sz="919" b="1">
                          <a:solidFill>
                            <a:srgbClr val="000000"/>
                          </a:solidFill>
                          <a:latin typeface="Lato"/>
                        </a:defRPr>
                      </a:pPr>
                      <a:r>
                        <a:t>W2</a:t>
                      </a:r>
                    </a:p>
                    <a:p>
                      <a:pPr>
                        <a:spcAft>
                          <a:spcPts val="0"/>
                        </a:spcAft>
                        <a:defRPr sz="919" b="1">
                          <a:solidFill>
                            <a:srgbClr val="000000"/>
                          </a:solidFill>
                          <a:latin typeface="Lato"/>
                        </a:defRPr>
                      </a:pPr>
                      <a:r>
                        <a:t>12-16 Oct</a:t>
                      </a:r>
                    </a:p>
                  </a:txBody>
                  <a:tcPr marL="36576" marR="27432" marT="45720" marB="0">
                    <a:lnB w="6350" cap="flat">
                      <a:solidFill>
                        <a:srgbClr val="EEEEEE"/>
                      </a:solidFill>
                    </a:lnB>
                    <a:solidFill>
                      <a:srgbClr val="FFFFFF"/>
                    </a:solidFill>
                  </a:tcPr>
                </a:tc>
                <a:tc>
                  <a:txBody>
                    <a:bodyPr/>
                    <a:lstStyle/>
                    <a:p>
                      <a:pPr>
                        <a:spcAft>
                          <a:spcPts val="0"/>
                        </a:spcAft>
                        <a:defRPr sz="919" b="1">
                          <a:solidFill>
                            <a:srgbClr val="000000"/>
                          </a:solidFill>
                          <a:latin typeface="Lato"/>
                        </a:defRPr>
                      </a:pPr>
                      <a:r>
                        <a:t>W3</a:t>
                      </a:r>
                    </a:p>
                    <a:p>
                      <a:pPr>
                        <a:spcAft>
                          <a:spcPts val="0"/>
                        </a:spcAft>
                        <a:defRPr sz="919" b="1">
                          <a:solidFill>
                            <a:srgbClr val="000000"/>
                          </a:solidFill>
                          <a:latin typeface="Lato"/>
                        </a:defRPr>
                      </a:pPr>
                      <a:r>
                        <a:t>19-23 Oct</a:t>
                      </a:r>
                    </a:p>
                  </a:txBody>
                  <a:tcPr marL="36576" marR="27432" marT="45720" marB="0">
                    <a:lnB w="6350" cap="flat">
                      <a:solidFill>
                        <a:srgbClr val="EEEEEE"/>
                      </a:solidFill>
                    </a:lnB>
                    <a:solidFill>
                      <a:srgbClr val="FFFFFF"/>
                    </a:solidFill>
                  </a:tcPr>
                </a:tc>
                <a:tc>
                  <a:txBody>
                    <a:bodyPr/>
                    <a:lstStyle/>
                    <a:p>
                      <a:pPr>
                        <a:spcAft>
                          <a:spcPts val="0"/>
                        </a:spcAft>
                        <a:defRPr sz="919" b="1">
                          <a:solidFill>
                            <a:srgbClr val="000000"/>
                          </a:solidFill>
                          <a:latin typeface="Lato"/>
                        </a:defRPr>
                      </a:pPr>
                      <a:r>
                        <a:t>W4</a:t>
                      </a:r>
                    </a:p>
                    <a:p>
                      <a:pPr>
                        <a:spcAft>
                          <a:spcPts val="0"/>
                        </a:spcAft>
                        <a:defRPr sz="919" b="1">
                          <a:solidFill>
                            <a:srgbClr val="000000"/>
                          </a:solidFill>
                          <a:latin typeface="Lato"/>
                        </a:defRPr>
                      </a:pPr>
                      <a:r>
                        <a:t>26-30 Oct</a:t>
                      </a:r>
                    </a:p>
                  </a:txBody>
                  <a:tcPr marL="36576" marR="27432" marT="45720" marB="0">
                    <a:lnB w="6350" cap="flat">
                      <a:solidFill>
                        <a:srgbClr val="EEEEEE"/>
                      </a:solidFill>
                    </a:lnB>
                    <a:solidFill>
                      <a:srgbClr val="FFFFFF"/>
                    </a:solidFill>
                  </a:tcPr>
                </a:tc>
                <a:tc>
                  <a:txBody>
                    <a:bodyPr/>
                    <a:lstStyle/>
                    <a:p>
                      <a:pPr>
                        <a:spcAft>
                          <a:spcPts val="0"/>
                        </a:spcAft>
                        <a:defRPr sz="919" b="1">
                          <a:solidFill>
                            <a:srgbClr val="000000"/>
                          </a:solidFill>
                          <a:latin typeface="Lato"/>
                        </a:defRPr>
                      </a:pPr>
                      <a:r>
                        <a:t>W5</a:t>
                      </a:r>
                    </a:p>
                    <a:p>
                      <a:pPr>
                        <a:spcAft>
                          <a:spcPts val="0"/>
                        </a:spcAft>
                        <a:defRPr sz="919" b="1">
                          <a:solidFill>
                            <a:srgbClr val="000000"/>
                          </a:solidFill>
                          <a:latin typeface="Lato"/>
                        </a:defRPr>
                      </a:pPr>
                      <a:r>
                        <a:t>2-6 Nov</a:t>
                      </a:r>
                    </a:p>
                  </a:txBody>
                  <a:tcPr marL="36576" marR="27432" marT="45720" marB="0">
                    <a:lnB w="6350" cap="flat">
                      <a:solidFill>
                        <a:srgbClr val="EEEEEE"/>
                      </a:solidFill>
                    </a:lnB>
                    <a:solidFill>
                      <a:srgbClr val="FFFFFF"/>
                    </a:solidFill>
                  </a:tcPr>
                </a:tc>
                <a:tc>
                  <a:txBody>
                    <a:bodyPr/>
                    <a:lstStyle/>
                    <a:p>
                      <a:pPr>
                        <a:spcAft>
                          <a:spcPts val="0"/>
                        </a:spcAft>
                        <a:defRPr sz="919" b="1">
                          <a:solidFill>
                            <a:srgbClr val="000000"/>
                          </a:solidFill>
                          <a:latin typeface="Lato"/>
                        </a:defRPr>
                      </a:pPr>
                      <a:r>
                        <a:t>W6</a:t>
                      </a:r>
                    </a:p>
                    <a:p>
                      <a:pPr>
                        <a:spcAft>
                          <a:spcPts val="0"/>
                        </a:spcAft>
                        <a:defRPr sz="919" b="1">
                          <a:solidFill>
                            <a:srgbClr val="000000"/>
                          </a:solidFill>
                          <a:latin typeface="Lato"/>
                        </a:defRPr>
                      </a:pPr>
                      <a:r>
                        <a:t>9-12 Nov</a:t>
                      </a:r>
                    </a:p>
                  </a:txBody>
                  <a:tcPr marL="36576" marR="27432" marT="45720" marB="0">
                    <a:lnB w="6350" cap="flat">
                      <a:solidFill>
                        <a:srgbClr val="EEEEEE"/>
                      </a:solidFill>
                    </a:lnB>
                    <a:solidFill>
                      <a:srgbClr val="FFFFFF"/>
                    </a:solidFill>
                  </a:tcPr>
                </a:tc>
              </a:tr>
              <a:tr h="475488">
                <a:tc>
                  <a:txBody>
                    <a:bodyPr/>
                    <a:lstStyle/>
                    <a:p>
                      <a:pPr>
                        <a:spcAft>
                          <a:spcPts val="0"/>
                        </a:spcAft>
                        <a:defRPr sz="919" b="1">
                          <a:solidFill>
                            <a:srgbClr val="0A2373"/>
                          </a:solidFill>
                          <a:latin typeface="Lato"/>
                        </a:defRPr>
                      </a:pPr>
                      <a:r>
                        <a:t>South Africa | baseline and assumptions</a:t>
                      </a:r>
                    </a:p>
                    <a:p>
                      <a:pPr>
                        <a:spcAft>
                          <a:spcPts val="0"/>
                        </a:spcAft>
                        <a:defRPr sz="840" b="0">
                          <a:solidFill>
                            <a:srgbClr val="000000"/>
                          </a:solidFill>
                          <a:latin typeface="Lato"/>
                        </a:defRPr>
                      </a:pPr>
                      <a:r>
                        <a:t>Reconciled starting point and reviewed driver inputs</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r>
                        <a:t>Manish /</a:t>
                      </a:r>
                    </a:p>
                    <a:p>
                      <a:pPr>
                        <a:spcAft>
                          <a:spcPts val="0"/>
                        </a:spcAft>
                        <a:defRPr sz="919" b="0">
                          <a:solidFill>
                            <a:srgbClr val="000000"/>
                          </a:solidFill>
                          <a:latin typeface="Lato"/>
                        </a:defRPr>
                      </a:pPr>
                      <a:r>
                        <a:t>Nigel</a:t>
                      </a:r>
                    </a:p>
                  </a:txBody>
                  <a:tcPr marL="36576" marR="27432" marT="45720" marB="0">
                    <a:lnB w="6350" cap="flat">
                      <a:solidFill>
                        <a:srgbClr val="EEEEEE"/>
                      </a:solidFill>
                    </a:lnB>
                    <a:solidFill>
                      <a:srgbClr val="FFFFFF"/>
                    </a:solidFill>
                  </a:tcPr>
                </a:tc>
                <a:tc>
                  <a:txBody>
                    <a:bodyPr/>
                    <a:lstStyle/>
                    <a:p>
                      <a:pPr>
                        <a:spcAft>
                          <a:spcPts val="0"/>
                        </a:spcAft>
                        <a:defRPr sz="850" b="0">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850" b="0">
                          <a:solidFill>
                            <a:srgbClr val="000000"/>
                          </a:solidFill>
                          <a:latin typeface="Lato"/>
                        </a:defRPr>
                      </a:pPr>
                      <a:r>
                        <a:t>Review</a:t>
                      </a:r>
                    </a:p>
                  </a:txBody>
                  <a:tcPr marL="36576" marR="27432" marT="45720" marB="0">
                    <a:lnB w="6350" cap="flat">
                      <a:solidFill>
                        <a:srgbClr val="EEEEEE"/>
                      </a:solidFill>
                    </a:lnB>
                    <a:solidFill>
                      <a:srgbClr val="EEEEEE"/>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r>
              <a:tr h="475488">
                <a:tc>
                  <a:txBody>
                    <a:bodyPr/>
                    <a:lstStyle/>
                    <a:p>
                      <a:pPr>
                        <a:spcAft>
                          <a:spcPts val="0"/>
                        </a:spcAft>
                        <a:defRPr sz="919" b="1">
                          <a:solidFill>
                            <a:srgbClr val="0A2373"/>
                          </a:solidFill>
                          <a:latin typeface="Lato"/>
                        </a:defRPr>
                      </a:pPr>
                      <a:r>
                        <a:t>South Africa | demand and supply outlook</a:t>
                      </a:r>
                    </a:p>
                    <a:p>
                      <a:pPr>
                        <a:spcAft>
                          <a:spcPts val="0"/>
                        </a:spcAft>
                        <a:defRPr sz="840" b="0">
                          <a:solidFill>
                            <a:srgbClr val="000000"/>
                          </a:solidFill>
                          <a:latin typeface="Lato"/>
                        </a:defRPr>
                      </a:pPr>
                      <a:r>
                        <a:t>Product scenarios and national import requirements</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r>
                        <a:t>Manish /</a:t>
                      </a:r>
                    </a:p>
                    <a:p>
                      <a:pPr>
                        <a:spcAft>
                          <a:spcPts val="0"/>
                        </a:spcAft>
                        <a:defRPr sz="919" b="0">
                          <a:solidFill>
                            <a:srgbClr val="000000"/>
                          </a:solidFill>
                          <a:latin typeface="Lato"/>
                        </a:defRPr>
                      </a:pPr>
                      <a:r>
                        <a:t>Henry</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850" b="0">
                          <a:solidFill>
                            <a:srgbClr val="000000"/>
                          </a:solidFill>
                          <a:latin typeface="Lato"/>
                        </a:defRPr>
                      </a:pPr>
                      <a:r>
                        <a:t>Build</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Test</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Draft</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Review</a:t>
                      </a:r>
                    </a:p>
                  </a:txBody>
                  <a:tcPr marL="36576" marR="27432" marT="45720" marB="0">
                    <a:lnB w="6350" cap="flat">
                      <a:solidFill>
                        <a:srgbClr val="EEEEEE"/>
                      </a:solidFill>
                    </a:lnB>
                    <a:solidFill>
                      <a:srgbClr val="EEEEEE"/>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r>
              <a:tr h="475488">
                <a:tc>
                  <a:txBody>
                    <a:bodyPr/>
                    <a:lstStyle/>
                    <a:p>
                      <a:pPr>
                        <a:spcAft>
                          <a:spcPts val="0"/>
                        </a:spcAft>
                        <a:defRPr sz="919" b="1">
                          <a:solidFill>
                            <a:srgbClr val="0A2373"/>
                          </a:solidFill>
                          <a:latin typeface="Lato"/>
                        </a:defRPr>
                      </a:pPr>
                      <a:r>
                        <a:t>South Africa | access and asset implications</a:t>
                      </a:r>
                    </a:p>
                    <a:p>
                      <a:pPr>
                        <a:spcAft>
                          <a:spcPts val="0"/>
                        </a:spcAft>
                        <a:defRPr sz="840" b="0">
                          <a:solidFill>
                            <a:srgbClr val="000000"/>
                          </a:solidFill>
                          <a:latin typeface="Lato"/>
                        </a:defRPr>
                      </a:pPr>
                      <a:r>
                        <a:t>Route economics, reachable volumes and usable capacity</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r>
                        <a:t>Nigel /</a:t>
                      </a:r>
                    </a:p>
                    <a:p>
                      <a:pPr>
                        <a:spcAft>
                          <a:spcPts val="0"/>
                        </a:spcAft>
                        <a:defRPr sz="919" b="0">
                          <a:solidFill>
                            <a:srgbClr val="000000"/>
                          </a:solidFill>
                          <a:latin typeface="Lato"/>
                        </a:defRPr>
                      </a:pPr>
                      <a:r>
                        <a:t>Manish</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850" b="0">
                          <a:solidFill>
                            <a:srgbClr val="000000"/>
                          </a:solidFill>
                          <a:latin typeface="Lato"/>
                        </a:defRPr>
                      </a:pPr>
                      <a:r>
                        <a:t>Inputs</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Routes</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Test</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Review</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Final</a:t>
                      </a:r>
                    </a:p>
                  </a:txBody>
                  <a:tcPr marL="36576" marR="27432" marT="45720" marB="0">
                    <a:lnB w="6350" cap="flat">
                      <a:solidFill>
                        <a:srgbClr val="EEEEEE"/>
                      </a:solidFill>
                    </a:lnB>
                    <a:solidFill>
                      <a:srgbClr val="EEEEEE"/>
                    </a:solidFill>
                  </a:tcPr>
                </a:tc>
              </a:tr>
              <a:tr h="475488">
                <a:tc>
                  <a:txBody>
                    <a:bodyPr/>
                    <a:lstStyle/>
                    <a:p>
                      <a:pPr>
                        <a:spcAft>
                          <a:spcPts val="0"/>
                        </a:spcAft>
                        <a:defRPr sz="919" b="1">
                          <a:solidFill>
                            <a:srgbClr val="0A2373"/>
                          </a:solidFill>
                          <a:latin typeface="Lato"/>
                        </a:defRPr>
                      </a:pPr>
                      <a:r>
                        <a:t>Namibia / Walvis Bay | focused assessment</a:t>
                      </a:r>
                    </a:p>
                    <a:p>
                      <a:pPr>
                        <a:spcAft>
                          <a:spcPts val="0"/>
                        </a:spcAft>
                        <a:defRPr sz="840" b="0">
                          <a:solidFill>
                            <a:srgbClr val="000000"/>
                          </a:solidFill>
                          <a:latin typeface="Lato"/>
                        </a:defRPr>
                      </a:pPr>
                      <a:r>
                        <a:t>Local demand, transit flows and gateway opportunity</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r>
                        <a:t>Manish /</a:t>
                      </a:r>
                    </a:p>
                    <a:p>
                      <a:pPr>
                        <a:spcAft>
                          <a:spcPts val="0"/>
                        </a:spcAft>
                        <a:defRPr sz="919" b="0">
                          <a:solidFill>
                            <a:srgbClr val="000000"/>
                          </a:solidFill>
                          <a:latin typeface="Lato"/>
                        </a:defRPr>
                      </a:pPr>
                      <a:r>
                        <a:t>Nigel</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850" b="0">
                          <a:solidFill>
                            <a:srgbClr val="000000"/>
                          </a:solidFill>
                          <a:latin typeface="Lato"/>
                        </a:defRPr>
                      </a:pPr>
                      <a:r>
                        <a:t>Source</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Assess</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Review</a:t>
                      </a:r>
                    </a:p>
                  </a:txBody>
                  <a:tcPr marL="36576" marR="27432" marT="45720" marB="0">
                    <a:lnB w="6350" cap="flat">
                      <a:solidFill>
                        <a:srgbClr val="EEEEEE"/>
                      </a:solidFill>
                    </a:lnB>
                    <a:solidFill>
                      <a:srgbClr val="EEEEEE"/>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r>
              <a:tr h="475488">
                <a:tc>
                  <a:txBody>
                    <a:bodyPr/>
                    <a:lstStyle/>
                    <a:p>
                      <a:pPr>
                        <a:spcAft>
                          <a:spcPts val="0"/>
                        </a:spcAft>
                        <a:defRPr sz="919" b="1">
                          <a:solidFill>
                            <a:srgbClr val="0A2373"/>
                          </a:solidFill>
                          <a:latin typeface="Lato"/>
                        </a:defRPr>
                      </a:pPr>
                      <a:r>
                        <a:t>Wider Africa | regional screening</a:t>
                      </a:r>
                    </a:p>
                    <a:p>
                      <a:pPr>
                        <a:spcAft>
                          <a:spcPts val="0"/>
                        </a:spcAft>
                        <a:defRPr sz="840" b="0">
                          <a:solidFill>
                            <a:srgbClr val="000000"/>
                          </a:solidFill>
                          <a:latin typeface="Lato"/>
                        </a:defRPr>
                      </a:pPr>
                      <a:r>
                        <a:t>Comparable screen and priority-market shortlist</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r>
                        <a:t>Nigel /</a:t>
                      </a:r>
                    </a:p>
                    <a:p>
                      <a:pPr>
                        <a:spcAft>
                          <a:spcPts val="0"/>
                        </a:spcAft>
                        <a:defRPr sz="919" b="0">
                          <a:solidFill>
                            <a:srgbClr val="000000"/>
                          </a:solidFill>
                          <a:latin typeface="Lato"/>
                        </a:defRPr>
                      </a:pPr>
                      <a:r>
                        <a:t>Manish</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850" b="0">
                          <a:solidFill>
                            <a:srgbClr val="000000"/>
                          </a:solidFill>
                          <a:latin typeface="Lato"/>
                        </a:defRPr>
                      </a:pPr>
                      <a:r>
                        <a:t>Screen</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Screen</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Shortlist</a:t>
                      </a:r>
                    </a:p>
                  </a:txBody>
                  <a:tcPr marL="36576" marR="27432" marT="45720" marB="0">
                    <a:lnB w="6350" cap="flat">
                      <a:solidFill>
                        <a:srgbClr val="EEEEEE"/>
                      </a:solidFill>
                    </a:lnB>
                    <a:solidFill>
                      <a:srgbClr val="EEEEEE"/>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p>
                  </a:txBody>
                  <a:tcPr marL="36576" marR="27432" marT="45720" marB="0">
                    <a:lnB w="6350" cap="flat">
                      <a:solidFill>
                        <a:srgbClr val="EEEEEE"/>
                      </a:solidFill>
                    </a:lnB>
                    <a:solidFill>
                      <a:srgbClr val="FFFFFF"/>
                    </a:solidFill>
                  </a:tcPr>
                </a:tc>
              </a:tr>
              <a:tr h="475488">
                <a:tc>
                  <a:txBody>
                    <a:bodyPr/>
                    <a:lstStyle/>
                    <a:p>
                      <a:pPr>
                        <a:spcAft>
                          <a:spcPts val="0"/>
                        </a:spcAft>
                        <a:defRPr sz="919" b="1">
                          <a:solidFill>
                            <a:srgbClr val="0A2373"/>
                          </a:solidFill>
                          <a:latin typeface="Lato"/>
                        </a:defRPr>
                      </a:pPr>
                      <a:r>
                        <a:t>Integration, storyline and handover</a:t>
                      </a:r>
                    </a:p>
                    <a:p>
                      <a:pPr>
                        <a:spcAft>
                          <a:spcPts val="0"/>
                        </a:spcAft>
                        <a:defRPr sz="840" b="0">
                          <a:solidFill>
                            <a:srgbClr val="000000"/>
                          </a:solidFill>
                          <a:latin typeface="Lato"/>
                        </a:defRPr>
                      </a:pPr>
                      <a:r>
                        <a:t>One evidence-led pack across all three geographic tracks</a:t>
                      </a:r>
                    </a:p>
                  </a:txBody>
                  <a:tcPr marL="36576" marR="27432" marT="45720" marB="0">
                    <a:lnB w="6350" cap="flat">
                      <a:solidFill>
                        <a:srgbClr val="EEEEEE"/>
                      </a:solidFill>
                    </a:lnB>
                    <a:solidFill>
                      <a:srgbClr val="FFFFFF"/>
                    </a:solidFill>
                  </a:tcPr>
                </a:tc>
                <a:tc>
                  <a:txBody>
                    <a:bodyPr/>
                    <a:lstStyle/>
                    <a:p>
                      <a:pPr>
                        <a:spcAft>
                          <a:spcPts val="0"/>
                        </a:spcAft>
                        <a:defRPr sz="919" b="0">
                          <a:solidFill>
                            <a:srgbClr val="000000"/>
                          </a:solidFill>
                          <a:latin typeface="Lato"/>
                        </a:defRPr>
                      </a:pPr>
                      <a:r>
                        <a:t>Nigel /</a:t>
                      </a:r>
                    </a:p>
                    <a:p>
                      <a:pPr>
                        <a:spcAft>
                          <a:spcPts val="0"/>
                        </a:spcAft>
                        <a:defRPr sz="919" b="0">
                          <a:solidFill>
                            <a:srgbClr val="000000"/>
                          </a:solidFill>
                          <a:latin typeface="Lato"/>
                        </a:defRPr>
                      </a:pPr>
                      <a:r>
                        <a:t>Henry</a:t>
                      </a:r>
                    </a:p>
                  </a:txBody>
                  <a:tcPr marL="36576" marR="27432" marT="45720" marB="0">
                    <a:lnB w="6350" cap="flat">
                      <a:solidFill>
                        <a:srgbClr val="EEEEEE"/>
                      </a:solidFill>
                    </a:lnB>
                    <a:solidFill>
                      <a:srgbClr val="FFFFFF"/>
                    </a:solidFill>
                  </a:tcPr>
                </a:tc>
                <a:tc>
                  <a:txBody>
                    <a:bodyPr/>
                    <a:lstStyle/>
                    <a:p>
                      <a:pPr>
                        <a:spcAft>
                          <a:spcPts val="0"/>
                        </a:spcAft>
                        <a:defRPr sz="850" b="0">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850" b="0">
                          <a:solidFill>
                            <a:srgbClr val="000000"/>
                          </a:solidFill>
                          <a:latin typeface="Lato"/>
                        </a:defRPr>
                      </a:pPr>
                      <a:r>
                        <a:t>Update</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Update</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Draft</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Review</a:t>
                      </a:r>
                    </a:p>
                  </a:txBody>
                  <a:tcPr marL="36576" marR="27432" marT="45720" marB="0">
                    <a:lnB w="6350" cap="flat">
                      <a:solidFill>
                        <a:srgbClr val="EEEEEE"/>
                      </a:solidFill>
                    </a:lnB>
                    <a:solidFill>
                      <a:srgbClr val="EEEEEE"/>
                    </a:solidFill>
                  </a:tcPr>
                </a:tc>
                <a:tc>
                  <a:txBody>
                    <a:bodyPr/>
                    <a:lstStyle/>
                    <a:p>
                      <a:pPr>
                        <a:spcAft>
                          <a:spcPts val="0"/>
                        </a:spcAft>
                        <a:defRPr sz="850" b="0">
                          <a:solidFill>
                            <a:srgbClr val="000000"/>
                          </a:solidFill>
                          <a:latin typeface="Lato"/>
                        </a:defRPr>
                      </a:pPr>
                      <a:r>
                        <a:t>Handover</a:t>
                      </a:r>
                    </a:p>
                  </a:txBody>
                  <a:tcPr marL="36576" marR="27432" marT="45720" marB="0">
                    <a:lnB w="6350" cap="flat">
                      <a:solidFill>
                        <a:srgbClr val="EEEEEE"/>
                      </a:solidFill>
                    </a:lnB>
                    <a:solidFill>
                      <a:srgbClr val="EEEEEE"/>
                    </a:solidFill>
                  </a:tcPr>
                </a:tc>
              </a:tr>
            </a:tbl>
          </a:graphicData>
        </a:graphic>
      </p:graphicFrame>
      <p:sp>
        <p:nvSpPr>
          <p:cNvPr id="26" name="TextBox 25"/>
          <p:cNvSpPr txBox="1"/>
          <p:nvPr/>
        </p:nvSpPr>
        <p:spPr>
          <a:xfrm>
            <a:off x="457200" y="5614416"/>
            <a:ext cx="10652760" cy="274320"/>
          </a:xfrm>
          <a:prstGeom prst="rect">
            <a:avLst/>
          </a:prstGeom>
          <a:noFill/>
        </p:spPr>
        <p:txBody>
          <a:bodyPr wrap="square" lIns="0" rIns="0" tIns="0" bIns="0">
            <a:spAutoFit/>
          </a:bodyPr>
          <a:lstStyle/>
          <a:p>
            <a:pPr>
              <a:spcAft>
                <a:spcPts val="300"/>
              </a:spcAft>
              <a:defRPr sz="1000" b="1">
                <a:solidFill>
                  <a:srgbClr val="000000"/>
                </a:solidFill>
                <a:latin typeface="Lato"/>
              </a:defRPr>
            </a:pPr>
            <a:r>
              <a:t>Africa scope: East, West and North Africa; SADC excluding SACU. Screening first, then prioritise countries.</a:t>
            </a:r>
          </a:p>
        </p:txBody>
      </p:sp>
      <p:sp>
        <p:nvSpPr>
          <p:cNvPr id="27" name="TextBox 26"/>
          <p:cNvSpPr txBox="1"/>
          <p:nvPr/>
        </p:nvSpPr>
        <p:spPr>
          <a:xfrm>
            <a:off x="457200" y="5934456"/>
            <a:ext cx="10652760" cy="274320"/>
          </a:xfrm>
          <a:prstGeom prst="rect">
            <a:avLst/>
          </a:prstGeom>
          <a:noFill/>
        </p:spPr>
        <p:txBody>
          <a:bodyPr wrap="square" lIns="0" rIns="0" tIns="0" bIns="0">
            <a:spAutoFit/>
          </a:bodyPr>
          <a:lstStyle/>
          <a:p>
            <a:pPr>
              <a:spcAft>
                <a:spcPts val="300"/>
              </a:spcAft>
              <a:defRPr sz="1000" b="0">
                <a:solidFill>
                  <a:srgbClr val="000000"/>
                </a:solidFill>
                <a:latin typeface="Lato"/>
              </a:defRPr>
            </a:pPr>
            <a:r>
              <a:t>Shared team: parallel tracks are proposed and depend on SA baseline progress, source access and available effort.</a:t>
            </a:r>
          </a:p>
        </p:txBody>
      </p:sp>
      <p:sp>
        <p:nvSpPr>
          <p:cNvPr id="28" name="TextBox 27"/>
          <p:cNvSpPr txBox="1"/>
          <p:nvPr/>
        </p:nvSpPr>
        <p:spPr>
          <a:xfrm>
            <a:off x="457200" y="6236208"/>
            <a:ext cx="10652760" cy="192024"/>
          </a:xfrm>
          <a:prstGeom prst="rect">
            <a:avLst/>
          </a:prstGeom>
          <a:noFill/>
        </p:spPr>
        <p:txBody>
          <a:bodyPr wrap="square" lIns="0" rIns="0" tIns="0" bIns="0">
            <a:spAutoFit/>
          </a:bodyPr>
          <a:lstStyle/>
          <a:p>
            <a:pPr>
              <a:spcAft>
                <a:spcPts val="300"/>
              </a:spcAft>
              <a:defRPr sz="850" b="0">
                <a:solidFill>
                  <a:srgbClr val="000000"/>
                </a:solidFill>
                <a:latin typeface="Lato"/>
              </a:defRPr>
            </a:pPr>
            <a:r>
              <a:t>Blue = active in Week 1. Grey = proposed work, not completion. Weekly review updates scope, owners and timing; 12 Nov remains a target.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latin typeface="Lato"/>
              </a:defRPr>
            </a:pPr>
            <a:r>
              <a:rPr>
                <a:latin typeface="Lato"/>
              </a:rPr>
              <a:t>Manish's handback needs source decisions and agreed inputs before integration</a:t>
            </a:r>
          </a:p>
        </p:txBody>
      </p:sp>
      <p:sp>
        <p:nvSpPr>
          <p:cNvPr id="3" name="Slide Number Placeholder"/>
          <p:cNvSpPr>
            <a:spLocks noGrp="1"/>
          </p:cNvSpPr>
          <p:nvPr>
            <p:ph type="sldNum" sz="quarter" idx="12"/>
          </p:nvPr>
        </p:nvSpPr>
        <p:spPr/>
        <p:txBody>
          <a:bodyPr/>
          <a:lstStyle/>
          <a:p>
            <a:pPr>
              <a:defRPr sz="1000">
                <a:latin typeface="Lato"/>
              </a:defRPr>
            </a:pPr>
            <a:r>
              <a:t>13</a:t>
            </a:r>
          </a:p>
        </p:txBody>
      </p:sp>
      <p:sp>
        <p:nvSpPr>
          <p:cNvPr id="19"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4"/>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5"/>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TextBox 22"/>
          <p:cNvSpPr txBox="1"/>
          <p:nvPr/>
        </p:nvSpPr>
        <p:spPr>
          <a:xfrm>
            <a:off x="457200" y="1627632"/>
            <a:ext cx="1065276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Manish’s focus | 7 October 2026 | proposed outputs and Nigel’s review decisions</a:t>
            </a:r>
          </a:p>
        </p:txBody>
      </p:sp>
      <p:graphicFrame>
        <p:nvGraphicFramePr>
          <p:cNvPr id="24" name="Table 23"/>
          <p:cNvGraphicFramePr>
            <a:graphicFrameLocks noGrp="1"/>
          </p:cNvGraphicFramePr>
          <p:nvPr/>
        </p:nvGraphicFramePr>
        <p:xfrm>
          <a:off x="457200" y="2148840"/>
          <a:ext cx="10652759" cy="3410712"/>
        </p:xfrm>
        <a:graphic>
          <a:graphicData uri="http://schemas.openxmlformats.org/drawingml/2006/table">
            <a:tbl>
              <a:tblPr firstRow="1" bandRow="1">
                <a:tableStyleId>{2D5ABB26-0587-4C30-8999-92F81FD0307C}</a:tableStyleId>
              </a:tblPr>
              <a:tblGrid>
                <a:gridCol w="1874519"/>
                <a:gridCol w="5120640"/>
                <a:gridCol w="3657600"/>
              </a:tblGrid>
              <a:tr h="438912">
                <a:tc>
                  <a:txBody>
                    <a:bodyPr/>
                    <a:lstStyle/>
                    <a:p>
                      <a:pPr>
                        <a:spcAft>
                          <a:spcPts val="0"/>
                        </a:spcAft>
                        <a:defRPr sz="1200" b="1">
                          <a:solidFill>
                            <a:srgbClr val="000000"/>
                          </a:solidFill>
                          <a:latin typeface="Lato"/>
                        </a:defRPr>
                      </a:pPr>
                      <a:r>
                        <a:t>Priority / focus</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Manish: output today</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Nigel: decision / review</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1  National balance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Present the corrected petrol/diesel balance, source differences and missing production / stocks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2024 sales source; review corrected SARS trade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2  Forecast levers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Complete diesel, jet and petrol tables: baseline and L/M/H inputs for 2030 / 2035, with units, rationale and sources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Challenge ranges; agree the reference case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3  Sector baselines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Propose agriculture / industry starting values; identify overlaps and double counting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starting values for the model</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4  Tank handling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Set site assumptions for usable fuel capacity, monthly turns and receipt / dispatch limits; label evidence and estimates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provisional operating ranges</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5  Reviewable handback</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Check pack figures against originals; refresh handback and list ready, proposed and unresolved items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Review corrections before integration into main</a:t>
                      </a:r>
                    </a:p>
                  </a:txBody>
                  <a:tcPr marL="36576" marR="27432" marT="45720" marB="0">
                    <a:lnB w="6350" cap="flat">
                      <a:solidFill>
                        <a:srgbClr val="EEEEEE"/>
                      </a:solidFill>
                    </a:lnB>
                    <a:solidFill>
                      <a:srgbClr val="FFFFFF"/>
                    </a:solidFill>
                  </a:tcPr>
                </a:tc>
              </a:tr>
            </a:tbl>
          </a:graphicData>
        </a:graphic>
      </p:graphicFrame>
      <p:sp>
        <p:nvSpPr>
          <p:cNvPr id="25" name="TextBox 24"/>
          <p:cNvSpPr txBox="1"/>
          <p:nvPr/>
        </p:nvSpPr>
        <p:spPr>
          <a:xfrm>
            <a:off x="457200" y="5733288"/>
            <a:ext cx="10652760" cy="393192"/>
          </a:xfrm>
          <a:prstGeom prst="rect">
            <a:avLst/>
          </a:prstGeom>
          <a:noFill/>
        </p:spPr>
        <p:txBody>
          <a:bodyPr wrap="square" lIns="0" rIns="0" tIns="0" bIns="0">
            <a:spAutoFit/>
          </a:bodyPr>
          <a:lstStyle/>
          <a:p>
            <a:pPr>
              <a:spcAft>
                <a:spcPts val="300"/>
              </a:spcAft>
              <a:defRPr sz="1300" b="1">
                <a:solidFill>
                  <a:srgbClr val="404040"/>
                </a:solidFill>
                <a:latin typeface="Lato"/>
              </a:defRPr>
            </a:pPr>
            <a:r>
              <a:t>End-of-day target: a reviewed baseline, three comparable fuel input tables and an owned decision log</a:t>
            </a:r>
          </a:p>
        </p:txBody>
      </p:sp>
      <p:sp>
        <p:nvSpPr>
          <p:cNvPr id="26" name="TextBox 25"/>
          <p:cNvSpPr txBox="1"/>
          <p:nvPr/>
        </p:nvSpPr>
        <p:spPr>
          <a:xfrm>
            <a:off x="457200" y="6217920"/>
            <a:ext cx="1065276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Latest balance and EV corrections are supplied on Manish’s branch; review and integration remain outstanding.</a:t>
            </a:r>
          </a:p>
        </p:txBody>
      </p:sp>
      <p:sp>
        <p:nvSpPr>
          <p:cNvPr id="2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Manish handback update, 7 Oct 2026 (ef1720a); Nigel’s agreed focus table. Targets proposed; no acceptance inferred.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pPr>
              <a:defRPr sz="1000">
                <a:latin typeface="Lato"/>
              </a:defRPr>
            </a:pPr>
            <a:r>
              <a:t>14</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Demand drivers · scenario framework · fuel assumptions · operating sensitivities</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Provincial sales locate demand, but do not show where imported fuel is delivered</a:t>
            </a:r>
          </a:p>
        </p:txBody>
      </p:sp>
      <p:sp>
        <p:nvSpPr>
          <p:cNvPr id="3" name="Slide Number Placeholder"/>
          <p:cNvSpPr>
            <a:spLocks noGrp="1"/>
          </p:cNvSpPr>
          <p:nvPr>
            <p:ph type="sldNum" sz="quarter" idx="12"/>
          </p:nvPr>
        </p:nvSpPr>
        <p:spPr/>
        <p:txBody>
          <a:bodyPr/>
          <a:lstStyle/>
          <a:p>
            <a:pPr>
              <a:defRPr sz="1000">
                <a:latin typeface="Lato"/>
              </a:defRPr>
            </a:pPr>
            <a:r>
              <a:t>15</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770631"/>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761488"/>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761488"/>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7614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30815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3072383"/>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3072383"/>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3072383"/>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3924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383280"/>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383280"/>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3832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70331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694176"/>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694176"/>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6941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40142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4005072"/>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4005072"/>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40050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3251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315968"/>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315968"/>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3159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6360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626864"/>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626864"/>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6268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94690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937760"/>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937760"/>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93776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25780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248656"/>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248656"/>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24865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2112264"/>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2112264"/>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3" name="Connector 9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5" name="TextBox 9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6" name="TextBox 9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7" name="TextBox 9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8" name="TextBox 9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9" name="TextBox 9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100" name="Connector 9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2" name="TextBox 10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
        <p:nvSpPr>
          <p:cNvPr id="10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The car fleet grew 3% in 2025 while road-freight payload was broadly flat</a:t>
            </a:r>
          </a:p>
        </p:txBody>
      </p:sp>
      <p:sp>
        <p:nvSpPr>
          <p:cNvPr id="3" name="Slide Number Placeholder"/>
          <p:cNvSpPr>
            <a:spLocks noGrp="1"/>
          </p:cNvSpPr>
          <p:nvPr>
            <p:ph type="sldNum" sz="quarter" idx="12"/>
          </p:nvPr>
        </p:nvSpPr>
        <p:spPr/>
        <p:txBody>
          <a:bodyPr/>
          <a:lstStyle/>
          <a:p>
            <a:pPr>
              <a:defRPr sz="1000">
                <a:latin typeface="Lato"/>
              </a:defRPr>
            </a:pPr>
            <a:r>
              <a:t>16</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Activity drivers | observed series; 2024 = 100</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activity proxies; fuel use per unit still requires validation.</a:t>
            </a:r>
          </a:p>
        </p:txBody>
      </p:sp>
      <p:sp>
        <p:nvSpPr>
          <p:cNvPr id="34" name="TextBox 3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3"/>
          </a:graphicData>
        </a:graphic>
      </p:graphicFrame>
      <p:cxnSp>
        <p:nvCxnSpPr>
          <p:cNvPr id="36" name="Driver header legend swatch Cars"/>
          <p:cNvCxnSpPr/>
          <p:nvPr/>
        </p:nvCxnSpPr>
        <p:spPr>
          <a:xfrm>
            <a:off x="3886200"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Driver header legend label Cars"/>
          <p:cNvSpPr txBox="1"/>
          <p:nvPr/>
        </p:nvSpPr>
        <p:spPr>
          <a:xfrm>
            <a:off x="4105656" y="2560320"/>
            <a:ext cx="34747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Cars</a:t>
            </a:r>
          </a:p>
        </p:txBody>
      </p:sp>
      <p:cxnSp>
        <p:nvCxnSpPr>
          <p:cNvPr id="38" name="Driver header legend swatch Minibuses"/>
          <p:cNvCxnSpPr/>
          <p:nvPr/>
        </p:nvCxnSpPr>
        <p:spPr>
          <a:xfrm>
            <a:off x="4654296" y="2642616"/>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Driver header legend label Minibuses"/>
          <p:cNvSpPr txBox="1"/>
          <p:nvPr/>
        </p:nvSpPr>
        <p:spPr>
          <a:xfrm>
            <a:off x="4873752" y="2560320"/>
            <a:ext cx="7498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Minibuses</a:t>
            </a:r>
          </a:p>
        </p:txBody>
      </p:sp>
      <p:sp>
        <p:nvSpPr>
          <p:cNvPr id="40" name="TextBox 39"/>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4"/>
          </a:graphicData>
        </a:graphic>
      </p:graphicFrame>
      <p:cxnSp>
        <p:nvCxnSpPr>
          <p:cNvPr id="42" name="Driver header legend swatch Road"/>
          <p:cNvCxnSpPr/>
          <p:nvPr/>
        </p:nvCxnSpPr>
        <p:spPr>
          <a:xfrm>
            <a:off x="9811512"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Driver header legend label Road"/>
          <p:cNvSpPr txBox="1"/>
          <p:nvPr/>
        </p:nvSpPr>
        <p:spPr>
          <a:xfrm>
            <a:off x="10030968" y="2560320"/>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Road</a:t>
            </a:r>
          </a:p>
        </p:txBody>
      </p:sp>
      <p:cxnSp>
        <p:nvCxnSpPr>
          <p:cNvPr id="44" name="Driver header legend swatch Rail"/>
          <p:cNvCxnSpPr/>
          <p:nvPr/>
        </p:nvCxnSpPr>
        <p:spPr>
          <a:xfrm>
            <a:off x="10597896" y="2642616"/>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Driver header legend label Rail"/>
          <p:cNvSpPr txBox="1"/>
          <p:nvPr/>
        </p:nvSpPr>
        <p:spPr>
          <a:xfrm>
            <a:off x="10817352" y="2560320"/>
            <a:ext cx="2926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Rail</a:t>
            </a:r>
          </a:p>
        </p:txBody>
      </p:sp>
      <p:sp>
        <p:nvSpPr>
          <p:cNvPr id="46" name="TextBox 45"/>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5"/>
          </a:graphicData>
        </a:graphic>
      </p:graphicFrame>
      <p:cxnSp>
        <p:nvCxnSpPr>
          <p:cNvPr id="48" name="Driver header legend swatch Agriculture / forestry / fishing"/>
          <p:cNvCxnSpPr/>
          <p:nvPr/>
        </p:nvCxnSpPr>
        <p:spPr>
          <a:xfrm>
            <a:off x="3163824"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Driver header legend label Agriculture / forestry / fishing"/>
          <p:cNvSpPr txBox="1"/>
          <p:nvPr/>
        </p:nvSpPr>
        <p:spPr>
          <a:xfrm>
            <a:off x="3383280" y="4654296"/>
            <a:ext cx="22402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Agriculture / forestry / fishing</a:t>
            </a:r>
          </a:p>
        </p:txBody>
      </p:sp>
      <p:sp>
        <p:nvSpPr>
          <p:cNvPr id="50" name="TextBox 4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6"/>
          </a:graphicData>
        </a:graphic>
      </p:graphicFrame>
      <p:cxnSp>
        <p:nvCxnSpPr>
          <p:cNvPr id="52" name="Driver header legend swatch Manufacturing"/>
          <p:cNvCxnSpPr/>
          <p:nvPr/>
        </p:nvCxnSpPr>
        <p:spPr>
          <a:xfrm>
            <a:off x="9811512"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Driver header legend label Manufacturing"/>
          <p:cNvSpPr txBox="1"/>
          <p:nvPr/>
        </p:nvSpPr>
        <p:spPr>
          <a:xfrm>
            <a:off x="10030968" y="4654296"/>
            <a:ext cx="107899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Manufacturing</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OCGT generation fell 79% from FY2024 to FY2026, reducing a driver of diesel use</a:t>
            </a:r>
          </a:p>
        </p:txBody>
      </p:sp>
      <p:sp>
        <p:nvSpPr>
          <p:cNvPr id="3" name="Slide Number Placeholder"/>
          <p:cNvSpPr>
            <a:spLocks noGrp="1"/>
          </p:cNvSpPr>
          <p:nvPr>
            <p:ph type="sldNum" sz="quarter" idx="12"/>
          </p:nvPr>
        </p:nvSpPr>
        <p:spPr/>
        <p:txBody>
          <a:bodyPr/>
          <a:lstStyle/>
          <a:p>
            <a:pPr>
              <a:defRPr sz="1000">
                <a:latin typeface="Lato"/>
              </a:defRPr>
            </a:pPr>
            <a:r>
              <a:t>17</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54" name="TextBox 5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6"/>
          </a:graphicData>
        </a:graphic>
      </p:graphicFrame>
      <p:cxnSp>
        <p:nvCxnSpPr>
          <p:cNvPr id="56" name="Driver header legend swatch Mining"/>
          <p:cNvCxnSpPr/>
          <p:nvPr/>
        </p:nvCxnSpPr>
        <p:spPr>
          <a:xfrm>
            <a:off x="492861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Driver header legend label Mining"/>
          <p:cNvSpPr txBox="1"/>
          <p:nvPr/>
        </p:nvSpPr>
        <p:spPr>
          <a:xfrm>
            <a:off x="5148072" y="2560320"/>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Mining</a:t>
            </a:r>
          </a:p>
        </p:txBody>
      </p:sp>
      <p:sp>
        <p:nvSpPr>
          <p:cNvPr id="58" name="TextBox 57"/>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7"/>
          </a:graphicData>
        </a:graphic>
      </p:graphicFrame>
      <p:cxnSp>
        <p:nvCxnSpPr>
          <p:cNvPr id="60" name="Driver header legend swatch Eskom + IPP"/>
          <p:cNvCxnSpPr/>
          <p:nvPr/>
        </p:nvCxnSpPr>
        <p:spPr>
          <a:xfrm>
            <a:off x="1000353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Driver header legend label Eskom + IPP"/>
          <p:cNvSpPr txBox="1"/>
          <p:nvPr/>
        </p:nvSpPr>
        <p:spPr>
          <a:xfrm>
            <a:off x="10222992" y="2560320"/>
            <a:ext cx="88696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Eskom + IPP</a:t>
            </a:r>
          </a:p>
        </p:txBody>
      </p:sp>
      <p:sp>
        <p:nvSpPr>
          <p:cNvPr id="62" name="TextBox 61"/>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8"/>
          </a:graphicData>
        </a:graphic>
      </p:graphicFrame>
      <p:cxnSp>
        <p:nvCxnSpPr>
          <p:cNvPr id="64" name="Driver header legend swatch BEV"/>
          <p:cNvCxnSpPr/>
          <p:nvPr/>
        </p:nvCxnSpPr>
        <p:spPr>
          <a:xfrm>
            <a:off x="2551176"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Driver header legend label BEV"/>
          <p:cNvSpPr txBox="1"/>
          <p:nvPr/>
        </p:nvSpPr>
        <p:spPr>
          <a:xfrm>
            <a:off x="2770632" y="4654296"/>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BEV</a:t>
            </a:r>
          </a:p>
        </p:txBody>
      </p:sp>
      <p:cxnSp>
        <p:nvCxnSpPr>
          <p:cNvPr id="66" name="Driver header legend swatch Plug-in hybrid"/>
          <p:cNvCxnSpPr/>
          <p:nvPr/>
        </p:nvCxnSpPr>
        <p:spPr>
          <a:xfrm>
            <a:off x="3447288" y="4736592"/>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Driver header legend label Plug-in hybrid"/>
          <p:cNvSpPr txBox="1"/>
          <p:nvPr/>
        </p:nvSpPr>
        <p:spPr>
          <a:xfrm>
            <a:off x="3666744" y="4654296"/>
            <a:ext cx="102412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Plug-in hybrid</a:t>
            </a:r>
          </a:p>
        </p:txBody>
      </p:sp>
      <p:cxnSp>
        <p:nvCxnSpPr>
          <p:cNvPr id="68" name="Driver header legend swatch Hybrid"/>
          <p:cNvCxnSpPr/>
          <p:nvPr/>
        </p:nvCxnSpPr>
        <p:spPr>
          <a:xfrm>
            <a:off x="4892040" y="4736592"/>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Driver header legend label Hybrid"/>
          <p:cNvSpPr txBox="1"/>
          <p:nvPr/>
        </p:nvSpPr>
        <p:spPr>
          <a:xfrm>
            <a:off x="5111496" y="4654296"/>
            <a:ext cx="512064"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Hybrid</a:t>
            </a:r>
          </a:p>
        </p:txBody>
      </p:sp>
      <p:sp>
        <p:nvSpPr>
          <p:cNvPr id="70" name="TextBox 6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9"/>
          </a:graphicData>
        </a:graphic>
      </p:graphicFrame>
      <p:cxnSp>
        <p:nvCxnSpPr>
          <p:cNvPr id="72" name="Driver header legend swatch Petrol retail"/>
          <p:cNvCxnSpPr/>
          <p:nvPr/>
        </p:nvCxnSpPr>
        <p:spPr>
          <a:xfrm>
            <a:off x="8366760"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Driver header legend label Petrol retail"/>
          <p:cNvSpPr txBox="1"/>
          <p:nvPr/>
        </p:nvSpPr>
        <p:spPr>
          <a:xfrm>
            <a:off x="8586216" y="4654296"/>
            <a:ext cx="8686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Petrol retail</a:t>
            </a:r>
          </a:p>
        </p:txBody>
      </p:sp>
      <p:cxnSp>
        <p:nvCxnSpPr>
          <p:cNvPr id="74" name="Driver header legend swatch Diesel wholesale"/>
          <p:cNvCxnSpPr/>
          <p:nvPr/>
        </p:nvCxnSpPr>
        <p:spPr>
          <a:xfrm>
            <a:off x="9656064" y="4736592"/>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Driver header legend label Diesel wholesale"/>
          <p:cNvSpPr txBox="1"/>
          <p:nvPr/>
        </p:nvSpPr>
        <p:spPr>
          <a:xfrm>
            <a:off x="9875520" y="4654296"/>
            <a:ext cx="123444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Diesel wholesale</a:t>
            </a:r>
          </a:p>
        </p:txBody>
      </p:sp>
      <p:sp>
        <p:nvSpPr>
          <p:cNvPr id="80" name="TextBox 79"/>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Power, vehicle mix and prices | observed indices and nominal R/litre</a:t>
            </a:r>
          </a:p>
        </p:txBody>
      </p:sp>
      <p:sp>
        <p:nvSpPr>
          <p:cNvPr id="81" name="TextBox 80"/>
          <p:cNvSpPr txBox="1"/>
          <p:nvPr/>
        </p:nvSpPr>
        <p:spPr>
          <a:xfrm>
            <a:off x="457200" y="2011680"/>
            <a:ext cx="10652760" cy="201168"/>
          </a:xfrm>
          <a:prstGeom prst="rect">
            <a:avLst/>
          </a:prstGeom>
          <a:noFill/>
        </p:spPr>
        <p:txBody>
          <a:bodyPr wrap="square" lIns="0" rIns="0" tIns="0" bIns="0">
            <a:spAutoFit/>
          </a:bodyPr>
          <a:lstStyle/>
          <a:p>
            <a:pPr>
              <a:spcAft>
                <a:spcPts val="300"/>
              </a:spcAft>
              <a:defRPr sz="1000" b="0">
                <a:solidFill>
                  <a:srgbClr val="404040"/>
                </a:solidFill>
                <a:latin typeface="Lato"/>
              </a:defRPr>
            </a:pPr>
            <a:r>
              <a:t>Indices: 2024 = 100. Prices: nominal R/litre. OCGT generation: FY to March.</a:t>
            </a:r>
          </a:p>
        </p:txBody>
      </p:sp>
      <p:cxnSp>
        <p:nvCxnSpPr>
          <p:cNvPr id="82" name="Connector 8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Demand growth alone cannot determine imports, accessible volumes or storage needs</a:t>
            </a:r>
          </a:p>
        </p:txBody>
      </p:sp>
      <p:sp>
        <p:nvSpPr>
          <p:cNvPr id="3" name="Slide Number Placeholder"/>
          <p:cNvSpPr>
            <a:spLocks noGrp="1"/>
          </p:cNvSpPr>
          <p:nvPr>
            <p:ph type="sldNum" sz="quarter" idx="12"/>
          </p:nvPr>
        </p:nvSpPr>
        <p:spPr/>
        <p:txBody>
          <a:bodyPr/>
          <a:lstStyle/>
          <a:p>
            <a:pPr>
              <a:defRPr sz="1000">
                <a:latin typeface="Lato"/>
              </a:defRPr>
            </a:pPr>
            <a:r>
              <a:t>18</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Proposed M settings; fuel inputs follow</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Rail diversion and lower OCGT use could offset freight-led diesel growth</a:t>
            </a:r>
          </a:p>
        </p:txBody>
      </p:sp>
      <p:sp>
        <p:nvSpPr>
          <p:cNvPr id="3" name="Slide Number Placeholder"/>
          <p:cNvSpPr>
            <a:spLocks noGrp="1"/>
          </p:cNvSpPr>
          <p:nvPr>
            <p:ph type="sldNum" sz="quarter" idx="12"/>
          </p:nvPr>
        </p:nvSpPr>
        <p:spPr/>
        <p:txBody>
          <a:bodyPr/>
          <a:lstStyle/>
          <a:p>
            <a:pPr>
              <a:defRPr sz="1000">
                <a:latin typeface="Lato"/>
              </a:defRPr>
            </a:pPr>
            <a:r>
              <a:t>19</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Diesel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Freight activity</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Observed proxy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115 / 135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135 / 175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Apply before rail diversion; calibrate litres per activity unit.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Road freight moved to rail</a:t>
                      </a:r>
                    </a:p>
                    <a:p>
                      <a:pPr>
                        <a:spcAft>
                          <a:spcPts val="0"/>
                        </a:spcAft>
                        <a:defRPr sz="1100" b="0">
                          <a:solidFill>
                            <a:srgbClr val="000000"/>
                          </a:solidFill>
                          <a:latin typeface="Lato"/>
                        </a:defRPr>
                      </a:pPr>
                      <a:r>
                        <a:t>% of reference road work</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agreed diversion</a:t>
                      </a:r>
                    </a:p>
                    <a:p>
                      <a:pPr>
                        <a:spcAft>
                          <a:spcPts val="0"/>
                        </a:spcAft>
                        <a:defRPr sz="1100" b="0">
                          <a:solidFill>
                            <a:srgbClr val="000000"/>
                          </a:solidFill>
                          <a:latin typeface="Lato"/>
                        </a:defRPr>
                      </a:pPr>
                      <a:r>
                        <a:t>M is proposed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10 / 20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20 / 35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Higher diversion lowers road diesel. Avoid subtracting rail again if already embedded in the activity path.</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OCGT generation</a:t>
                      </a:r>
                    </a:p>
                    <a:p>
                      <a:pPr>
                        <a:spcAft>
                          <a:spcPts val="0"/>
                        </a:spcAft>
                        <a:defRPr sz="1100" b="0">
                          <a:solidFill>
                            <a:srgbClr val="000000"/>
                          </a:solidFill>
                          <a:latin typeface="Lato"/>
                        </a:defRPr>
                      </a:pPr>
                      <a:r>
                        <a:t>FY2024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FY2024 = 100</a:t>
                      </a:r>
                    </a:p>
                    <a:p>
                      <a:pPr>
                        <a:spcAft>
                          <a:spcPts val="0"/>
                        </a:spcAft>
                        <a:defRPr sz="1100" b="0">
                          <a:solidFill>
                            <a:srgbClr val="000000"/>
                          </a:solidFill>
                          <a:latin typeface="Lato"/>
                        </a:defRPr>
                      </a:pPr>
                      <a:r>
                        <a:t>Latest trend is lower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 / 25 / 60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50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Test grid recovery versus stress. Use one generation path; do not add a second load-shedding allowance.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0.5–1.0%</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Higher gain lowers new-cohort fuel use.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output; exclude closed capacity and count downtime once.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product yield</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yield: 25%</a:t>
                      </a:r>
                    </a:p>
                    <a:p>
                      <a:pPr>
                        <a:spcAft>
                          <a:spcPts val="0"/>
                        </a:spcAft>
                        <a:defRPr sz="1100" b="0">
                          <a:solidFill>
                            <a:srgbClr val="000000"/>
                          </a:solidFill>
                          <a:latin typeface="Lato"/>
                        </a:defRPr>
                      </a:pPr>
                      <a:r>
                        <a:t>Plant mix unverified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the legacy yield. Higher yield raises diesel output; enforce a consistent cross-product yield slate.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H requires FID, timing, ramp-up and product yields; it is not committed output.</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More road activity and power use raise diesel demand; efficiency, rail and domestic output reduce the import requirement.</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Flight activity and fuel burn set jet demand; SAF changes its fossil-fuel share</a:t>
            </a:r>
          </a:p>
        </p:txBody>
      </p:sp>
      <p:sp>
        <p:nvSpPr>
          <p:cNvPr id="3" name="Slide Number Placeholder"/>
          <p:cNvSpPr>
            <a:spLocks noGrp="1"/>
          </p:cNvSpPr>
          <p:nvPr>
            <p:ph type="sldNum" sz="quarter" idx="12"/>
          </p:nvPr>
        </p:nvSpPr>
        <p:spPr/>
        <p:txBody>
          <a:bodyPr/>
          <a:lstStyle/>
          <a:p>
            <a:pPr>
              <a:defRPr sz="1000">
                <a:latin typeface="Lato"/>
              </a:defRPr>
            </a:pPr>
            <a:r>
              <a:t>20</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Jet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38"/>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Aircraft movements</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ACSA coverage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120 / 140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145 / 190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Follow Manish's movement driver; re-fit against matched jet deliveries.</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Fuel burn per movement</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 assumed</a:t>
                      </a:r>
                    </a:p>
                    <a:p>
                      <a:pPr>
                        <a:spcAft>
                          <a:spcPts val="0"/>
                        </a:spcAft>
                        <a:defRPr sz="1100" b="0">
                          <a:solidFill>
                            <a:srgbClr val="000000"/>
                          </a:solidFill>
                          <a:latin typeface="Lato"/>
                        </a:defRPr>
                      </a:pPr>
                      <a:r>
                        <a:t>Not yet measured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80 / 90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65 / 80 / 100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Lower burn lowers litres. Separate aircraft efficiency from route length, aircraft size and international mix.</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SAF share of jet deliveries</a:t>
                      </a:r>
                    </a:p>
                    <a:p>
                      <a:pPr>
                        <a:spcAft>
                          <a:spcPts val="0"/>
                        </a:spcAft>
                        <a:defRPr sz="1100" b="0">
                          <a:solidFill>
                            <a:srgbClr val="000000"/>
                          </a:solidFill>
                          <a:latin typeface="Lato"/>
                        </a:defRPr>
                      </a:pPr>
                      <a:r>
                        <a:t>% by volume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SA blend baseline unknown</a:t>
                      </a:r>
                    </a:p>
                    <a:p>
                      <a:pPr>
                        <a:spcAft>
                          <a:spcPts val="0"/>
                        </a:spcAft>
                        <a:defRPr sz="1100" b="0">
                          <a:solidFill>
                            <a:srgbClr val="000000"/>
                          </a:solidFill>
                          <a:latin typeface="Lato"/>
                        </a:defRPr>
                      </a:pPr>
                      <a:r>
                        <a:t>Not a local mandate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 / 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5 / 10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Changes fossil jet share, not total jet litres. Authored blend tests; ICAO's 5% emissions vision is not a volume target.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plant setting as diesel and petrol. Higher utilisation raises jet output, subject to actual product capability.</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Jet product yield</a:t>
                      </a:r>
                    </a:p>
                    <a:p>
                      <a:pPr>
                        <a:spcAft>
                          <a:spcPts val="0"/>
                        </a:spcAft>
                        <a:defRPr sz="1100" b="0">
                          <a:solidFill>
                            <a:srgbClr val="000000"/>
                          </a:solidFill>
                          <a:latin typeface="Lato"/>
                        </a:defRPr>
                      </a:pPr>
                      <a:r>
                        <a:t>% of capable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capable plants: 10%</a:t>
                      </a:r>
                    </a:p>
                    <a:p>
                      <a:pPr>
                        <a:spcAft>
                          <a:spcPts val="0"/>
                        </a:spcAft>
                        <a:defRPr sz="1100" b="0">
                          <a:solidFill>
                            <a:srgbClr val="000000"/>
                          </a:solidFill>
                          <a:latin typeface="Lato"/>
                        </a:defRPr>
                      </a:pPr>
                      <a:r>
                        <a:t>Other plants: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Apply only to jet-capable plants. Brackets the legacy yield; cannot assume every refinery produces aviation fuel.</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Jet capability unknown</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refinery branch, counted once. Jet output depends on a verified yield and specification, not nameplate alone.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Traffic and fuel burn set total jet demand; SAF changes the fossil share, while refinery output sets the import balance.</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Fleet growth raises petrol demand; electrification and efficiency could offset it</a:t>
            </a:r>
          </a:p>
        </p:txBody>
      </p:sp>
      <p:sp>
        <p:nvSpPr>
          <p:cNvPr id="3" name="Slide Number Placeholder"/>
          <p:cNvSpPr>
            <a:spLocks noGrp="1"/>
          </p:cNvSpPr>
          <p:nvPr>
            <p:ph type="sldNum" sz="quarter" idx="12"/>
          </p:nvPr>
        </p:nvSpPr>
        <p:spPr/>
        <p:txBody>
          <a:bodyPr/>
          <a:lstStyle/>
          <a:p>
            <a:pPr>
              <a:defRPr sz="1000">
                <a:latin typeface="Lato"/>
              </a:defRPr>
            </a:pPr>
            <a:r>
              <a:t>21</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Petrol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Passenger mileage</a:t>
                      </a:r>
                    </a:p>
                    <a:p>
                      <a:pPr>
                        <a:spcAft>
                          <a:spcPts val="0"/>
                        </a:spcAft>
                        <a:defRPr sz="1100" b="0">
                          <a:solidFill>
                            <a:srgbClr val="000000"/>
                          </a:solidFill>
                          <a:latin typeface="Lato"/>
                        </a:defRPr>
                      </a:pPr>
                      <a:r>
                        <a:t>km / vehicle /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Registered: 17,000</a:t>
                      </a:r>
                    </a:p>
                    <a:p>
                      <a:pPr>
                        <a:spcAft>
                          <a:spcPts val="0"/>
                        </a:spcAft>
                        <a:defRPr sz="1100" b="0">
                          <a:solidFill>
                            <a:srgbClr val="000000"/>
                          </a:solidFill>
                          <a:latin typeface="Lato"/>
                        </a:defRPr>
                      </a:pPr>
                      <a:r>
                        <a:t>Provisional placeholder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±20% around the current mileage placeholder. Higher mileage raises petrol demand at a given fleet.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Real GDP growth</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Team continuation: 2%</a:t>
                      </a:r>
                    </a:p>
                    <a:p>
                      <a:pPr>
                        <a:spcAft>
                          <a:spcPts val="0"/>
                        </a:spcAft>
                        <a:defRPr sz="1100" b="0">
                          <a:solidFill>
                            <a:srgbClr val="000000"/>
                          </a:solidFill>
                          <a:latin typeface="Lato"/>
                        </a:defRPr>
                      </a:pPr>
                      <a:r>
                        <a:t>Beyond official 2028</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 the 2% continuation proposal. Drives fleet additions through the fitted relationship, not a second fuel multiplier.</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BEV share of new sales</a:t>
                      </a:r>
                    </a:p>
                    <a:p>
                      <a:pPr>
                        <a:spcAft>
                          <a:spcPts val="0"/>
                        </a:spcAft>
                        <a:defRPr sz="1100" b="0">
                          <a:solidFill>
                            <a:srgbClr val="000000"/>
                          </a:solidFill>
                          <a:latin typeface="Lato"/>
                        </a:defRPr>
                      </a:pPr>
                      <a:r>
                        <a:t>% of passenger sales</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uptake curves</a:t>
                      </a:r>
                    </a:p>
                    <a:p>
                      <a:pPr>
                        <a:spcAft>
                          <a:spcPts val="0"/>
                        </a:spcAft>
                        <a:defRPr sz="1100" b="0">
                          <a:solidFill>
                            <a:srgbClr val="000000"/>
                          </a:solidFill>
                          <a:latin typeface="Lato"/>
                        </a:defRPr>
                      </a:pPr>
                      <a:r>
                        <a:t>Sales/fleet basis to resolve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15 / 35 / 60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sales-share tests. Higher BEV uptake lowers new ICE additions; total-fleet effect depends on survival.</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1.0–1.5%</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Preserve each cohort's entry-year consumption.</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petrol output; use actual operable capacity and downtime.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Petrol yield (conventional)</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conventional: 45%</a:t>
                      </a:r>
                    </a:p>
                    <a:p>
                      <a:pPr>
                        <a:spcAft>
                          <a:spcPts val="0"/>
                        </a:spcAft>
                        <a:defRPr sz="1100" b="0">
                          <a:solidFill>
                            <a:srgbClr val="000000"/>
                          </a:solidFill>
                          <a:latin typeface="Lato"/>
                        </a:defRPr>
                      </a:pPr>
                      <a:r>
                        <a:t>Synthetic plants differ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conventional-plant legacy yield. Keep synthetic plants separate and enforce the product-slate constraint.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Petrol output requires FID, ramp-up and a verified product bridge.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Travel and fleet additions raise petrol demand; electrification and new-cohort efficiency offset growth before supply is matched.</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Inter-terminal transfers can count the same fuel twice and overstate unique deliveries</a:t>
            </a:r>
          </a:p>
        </p:txBody>
      </p:sp>
      <p:sp>
        <p:nvSpPr>
          <p:cNvPr id="3" name="Slide Number Placeholder"/>
          <p:cNvSpPr>
            <a:spLocks noGrp="1"/>
          </p:cNvSpPr>
          <p:nvPr>
            <p:ph type="sldNum" sz="quarter" idx="12"/>
          </p:nvPr>
        </p:nvSpPr>
        <p:spPr/>
        <p:txBody>
          <a:bodyPr/>
          <a:lstStyle/>
          <a:p>
            <a:pPr>
              <a:defRPr sz="1000">
                <a:latin typeface="Lato"/>
              </a:defRPr>
            </a:pPr>
            <a:r>
              <a:t>22</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49" name="TextBox 148"/>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50" name="Connector 14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88" name="TextBox 187"/>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89"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91" name="TextBox 190"/>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92" name="Connector 191"/>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3"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95" name="TextBox 194"/>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96" name="Connector 195"/>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7"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99" name="TextBox 198"/>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200" name="Connector 199"/>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201"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203" name="TextBox 202"/>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204" name="TextBox 203"/>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23.</a:t>
            </a:r>
          </a:p>
        </p:txBody>
      </p:sp>
      <p:sp>
        <p:nvSpPr>
          <p:cNvPr id="205" name="TextBox 204"/>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206" name="Connector 20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208" name="TextBox 207"/>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209" name="TextBox 208"/>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210" name="TextBox 209"/>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3.0 result removes the shared transfer and assumes no net stock change or other adjustments. Actual flows remain unverified.</a:t>
            </a:r>
          </a:p>
        </p:txBody>
      </p:sp>
      <p:sp>
        <p:nvSpPr>
          <p:cNvPr id="211" name="TextBox 210"/>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212" name="TextBox 211"/>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23 then removes already-served volumes once.</a:t>
            </a:r>
          </a:p>
        </p:txBody>
      </p:sp>
      <p:cxnSp>
        <p:nvCxnSpPr>
          <p:cNvPr id="213" name="Connector 212"/>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215" name="TextBox 214"/>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
        <p:nvSpPr>
          <p:cNvPr id="2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Route limits, commercial access and existing business reduce the addressable opportunity</a:t>
            </a:r>
          </a:p>
        </p:txBody>
      </p:sp>
      <p:sp>
        <p:nvSpPr>
          <p:cNvPr id="3" name="Slide Number Placeholder"/>
          <p:cNvSpPr>
            <a:spLocks noGrp="1"/>
          </p:cNvSpPr>
          <p:nvPr>
            <p:ph type="sldNum" sz="quarter" idx="12"/>
          </p:nvPr>
        </p:nvSpPr>
        <p:spPr/>
        <p:txBody>
          <a:bodyPr/>
          <a:lstStyle/>
          <a:p>
            <a:pPr>
              <a:defRPr sz="1000">
                <a:latin typeface="Lato"/>
              </a:defRPr>
            </a:pPr>
            <a:r>
              <a:t>23</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59" name="TextBox 58"/>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60" name="Connector 5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Selected market and illustrated road reach</a:t>
            </a:r>
          </a:p>
        </p:txBody>
      </p:sp>
      <p:sp>
        <p:nvSpPr>
          <p:cNvPr id="62"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 name="TextBox 63"/>
          <p:cNvSpPr txBox="1"/>
          <p:nvPr/>
        </p:nvSpPr>
        <p:spPr>
          <a:xfrm>
            <a:off x="3492788" y="4105546"/>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Durban</a:t>
            </a:r>
          </a:p>
        </p:txBody>
      </p:sp>
      <p:sp>
        <p:nvSpPr>
          <p:cNvPr id="65"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2343095" y="3522711"/>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Lesedi</a:t>
            </a:r>
          </a:p>
        </p:txBody>
      </p:sp>
      <p:cxnSp>
        <p:nvCxnSpPr>
          <p:cNvPr id="67" name="Connector 66"/>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rPr>
                <a:solidFill/>
              </a:rPr>
              <a:t>N</a:t>
            </a:r>
          </a:p>
        </p:txBody>
      </p:sp>
      <p:sp>
        <p:nvSpPr>
          <p:cNvPr id="71" name="Rectangle 70"/>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 name="TextBox 71"/>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Illustrated road reach</a:t>
            </a:r>
          </a:p>
        </p:txBody>
      </p:sp>
      <p:sp>
        <p:nvSpPr>
          <p:cNvPr id="73" name="Rectangle 72"/>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 name="TextBox 73"/>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Outside illustrated reach</a:t>
            </a:r>
          </a:p>
        </p:txBody>
      </p:sp>
      <p:sp>
        <p:nvSpPr>
          <p:cNvPr id="75" name="TextBox 74"/>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Outline = selected eastern + inland market</a:t>
            </a:r>
          </a:p>
        </p:txBody>
      </p:sp>
      <p:sp>
        <p:nvSpPr>
          <p:cNvPr id="77" name="TextBox 76"/>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Illustrative volume waterfall</a:t>
            </a:r>
          </a:p>
        </p:txBody>
      </p:sp>
      <p:sp>
        <p:nvSpPr>
          <p:cNvPr id="78"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 name="TextBox 78"/>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14.5</a:t>
            </a:r>
          </a:p>
        </p:txBody>
      </p:sp>
      <p:sp>
        <p:nvSpPr>
          <p:cNvPr id="80" name="TextBox 79"/>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Illustrative</a:t>
            </a:r>
          </a:p>
          <a:p>
            <a:pPr>
              <a:spcAft>
                <a:spcPts val="300"/>
              </a:spcAft>
              <a:defRPr sz="1100" b="0">
                <a:solidFill>
                  <a:srgbClr val="404040"/>
                </a:solidFill>
                <a:latin typeface="Lato"/>
              </a:defRPr>
            </a:pPr>
            <a:r>
              <a:rPr sz="1100" b="0">
                <a:solidFill/>
                <a:latin typeface="Lato"/>
              </a:rPr>
              <a:t>market</a:t>
            </a:r>
          </a:p>
        </p:txBody>
      </p:sp>
      <p:cxnSp>
        <p:nvCxnSpPr>
          <p:cNvPr id="81" name="Connector 80"/>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 name="TextBox 82"/>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−2.5</a:t>
            </a:r>
          </a:p>
        </p:txBody>
      </p:sp>
      <p:sp>
        <p:nvSpPr>
          <p:cNvPr id="84" name="TextBox 83"/>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Outside</a:t>
            </a:r>
          </a:p>
          <a:p>
            <a:pPr>
              <a:spcAft>
                <a:spcPts val="300"/>
              </a:spcAft>
              <a:defRPr sz="1100" b="0">
                <a:solidFill>
                  <a:srgbClr val="404040"/>
                </a:solidFill>
                <a:latin typeface="Lato"/>
              </a:defRPr>
            </a:pPr>
            <a:r>
              <a:rPr sz="1100" b="0">
                <a:solidFill/>
                <a:latin typeface="Lato"/>
              </a:rPr>
              <a:t>illustrated reach</a:t>
            </a:r>
          </a:p>
        </p:txBody>
      </p:sp>
      <p:cxnSp>
        <p:nvCxnSpPr>
          <p:cNvPr id="85" name="Connector 84"/>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 name="TextBox 86"/>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−3.5</a:t>
            </a:r>
          </a:p>
        </p:txBody>
      </p:sp>
      <p:sp>
        <p:nvSpPr>
          <p:cNvPr id="88" name="TextBox 87"/>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Fails price /</a:t>
            </a:r>
          </a:p>
          <a:p>
            <a:pPr>
              <a:spcAft>
                <a:spcPts val="300"/>
              </a:spcAft>
              <a:defRPr sz="1100" b="0">
                <a:solidFill>
                  <a:srgbClr val="404040"/>
                </a:solidFill>
                <a:latin typeface="Lato"/>
              </a:defRPr>
            </a:pPr>
            <a:r>
              <a:rPr sz="1100" b="0">
                <a:solidFill/>
                <a:latin typeface="Lato"/>
              </a:rPr>
              <a:t>service / access</a:t>
            </a:r>
          </a:p>
        </p:txBody>
      </p:sp>
      <p:cxnSp>
        <p:nvCxnSpPr>
          <p:cNvPr id="89" name="Connector 88"/>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 name="TextBox 90"/>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−3.0</a:t>
            </a:r>
          </a:p>
        </p:txBody>
      </p:sp>
      <p:sp>
        <p:nvSpPr>
          <p:cNvPr id="92" name="TextBox 91"/>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Assumed</a:t>
            </a:r>
          </a:p>
          <a:p>
            <a:pPr>
              <a:spcAft>
                <a:spcPts val="300"/>
              </a:spcAft>
              <a:defRPr sz="1100" b="0">
                <a:solidFill>
                  <a:srgbClr val="404040"/>
                </a:solidFill>
                <a:latin typeface="Lato"/>
              </a:defRPr>
            </a:pPr>
            <a:r>
              <a:rPr sz="1100" b="0">
                <a:solidFill/>
                <a:latin typeface="Lato"/>
              </a:rPr>
              <a:t>already served</a:t>
            </a:r>
          </a:p>
        </p:txBody>
      </p:sp>
      <p:cxnSp>
        <p:nvCxnSpPr>
          <p:cNvPr id="93" name="Connector 92"/>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5.5</a:t>
            </a:r>
          </a:p>
        </p:txBody>
      </p:sp>
      <p:sp>
        <p:nvSpPr>
          <p:cNvPr id="96" name="TextBox 95"/>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Additional</a:t>
            </a:r>
          </a:p>
          <a:p>
            <a:pPr>
              <a:spcAft>
                <a:spcPts val="300"/>
              </a:spcAft>
              <a:defRPr sz="1100" b="0">
                <a:solidFill>
                  <a:srgbClr val="404040"/>
                </a:solidFill>
                <a:latin typeface="Lato"/>
              </a:defRPr>
            </a:pPr>
            <a:r>
              <a:rPr sz="1100" b="0">
                <a:solidFill/>
                <a:latin typeface="Lato"/>
              </a:rPr>
              <a:t>opportunity to test</a:t>
            </a:r>
          </a:p>
        </p:txBody>
      </p:sp>
      <p:sp>
        <p:nvSpPr>
          <p:cNvPr id="97" name="TextBox 96"/>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Numbers match the waterfall stages; placements are illustrative.</a:t>
            </a:r>
          </a:p>
        </p:txBody>
      </p:sp>
      <p:sp>
        <p:nvSpPr>
          <p:cNvPr id="98"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cxnSp>
        <p:nvCxnSpPr>
          <p:cNvPr id="100" name="Connector 99"/>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Market</a:t>
            </a:r>
          </a:p>
        </p:txBody>
      </p:sp>
      <p:sp>
        <p:nvSpPr>
          <p:cNvPr id="102"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cxnSp>
        <p:nvCxnSpPr>
          <p:cNvPr id="104" name="Connector 103"/>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Reach limit</a:t>
            </a:r>
          </a:p>
        </p:txBody>
      </p:sp>
      <p:sp>
        <p:nvSpPr>
          <p:cNvPr id="106" name="Schematic screen cluster 3"/>
          <p:cNvSpPr/>
          <p:nvPr/>
        </p:nvSpPr>
        <p:spPr>
          <a:xfrm>
            <a:off x="3191256" y="3557015"/>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3</a:t>
            </a:r>
          </a:p>
        </p:txBody>
      </p:sp>
      <p:cxnSp>
        <p:nvCxnSpPr>
          <p:cNvPr id="108" name="Connector 107"/>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Commercial</a:t>
            </a:r>
          </a:p>
        </p:txBody>
      </p:sp>
      <p:sp>
        <p:nvSpPr>
          <p:cNvPr id="110" name="Schematic screen cluster 4"/>
          <p:cNvSpPr/>
          <p:nvPr/>
        </p:nvSpPr>
        <p:spPr>
          <a:xfrm>
            <a:off x="2953512" y="4297680"/>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4</a:t>
            </a:r>
          </a:p>
        </p:txBody>
      </p:sp>
      <p:cxnSp>
        <p:nvCxnSpPr>
          <p:cNvPr id="112" name="Connector 111"/>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Already served</a:t>
            </a:r>
          </a:p>
        </p:txBody>
      </p:sp>
      <p:sp>
        <p:nvSpPr>
          <p:cNvPr id="114"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5</a:t>
            </a:r>
          </a:p>
        </p:txBody>
      </p:sp>
      <p:cxnSp>
        <p:nvCxnSpPr>
          <p:cNvPr id="116" name="Connector 115"/>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Opportunity</a:t>
            </a:r>
          </a:p>
        </p:txBody>
      </p:sp>
      <p:sp>
        <p:nvSpPr>
          <p:cNvPr id="118" name="TextBox 117"/>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Schematic markers, not customer locations. Volume screens are authored illustrations.</a:t>
            </a:r>
          </a:p>
        </p:txBody>
      </p:sp>
      <p:sp>
        <p:nvSpPr>
          <p:cNvPr id="119"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sp>
        <p:nvSpPr>
          <p:cNvPr id="120"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sp>
        <p:nvSpPr>
          <p:cNvPr id="121"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3</a:t>
            </a:r>
          </a:p>
        </p:txBody>
      </p:sp>
      <p:sp>
        <p:nvSpPr>
          <p:cNvPr id="122"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4</a:t>
            </a:r>
          </a:p>
        </p:txBody>
      </p:sp>
      <p:sp>
        <p:nvSpPr>
          <p:cNvPr id="123"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5</a:t>
            </a:r>
          </a:p>
        </p:txBody>
      </p:sp>
      <p:sp>
        <p:nvSpPr>
          <p:cNvPr id="124" name="TextBox 123"/>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All volumes illustrative. Already served is assumed; 5.5 bn L/year remains an opportunity to test.</a:t>
            </a:r>
          </a:p>
        </p:txBody>
      </p:sp>
      <p:sp>
        <p:nvSpPr>
          <p:cNvPr id="1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Additional throughput requires new tanks only if existing usable capacity is insufficient</a:t>
            </a:r>
          </a:p>
        </p:txBody>
      </p:sp>
      <p:sp>
        <p:nvSpPr>
          <p:cNvPr id="3" name="Slide Number Placeholder"/>
          <p:cNvSpPr>
            <a:spLocks noGrp="1"/>
          </p:cNvSpPr>
          <p:nvPr>
            <p:ph type="sldNum" sz="quarter" idx="12"/>
          </p:nvPr>
        </p:nvSpPr>
        <p:spPr/>
        <p:txBody>
          <a:bodyPr/>
          <a:lstStyle/>
          <a:p>
            <a:pPr>
              <a:defRPr sz="1000">
                <a:latin typeface="Lato"/>
              </a:defRPr>
            </a:pPr>
            <a:r>
              <a:t>24</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9" name="TextBox 48"/>
          <p:cNvSpPr txBox="1"/>
          <p:nvPr/>
        </p:nvSpPr>
        <p:spPr>
          <a:xfrm>
            <a:off x="457200" y="1627632"/>
            <a:ext cx="644652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0" name="TextBox 49"/>
          <p:cNvSpPr txBox="1"/>
          <p:nvPr/>
        </p:nvSpPr>
        <p:spPr>
          <a:xfrm>
            <a:off x="457200" y="219456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 5.5 bn litres/year; uniform daily flow</a:t>
            </a:r>
          </a:p>
        </p:txBody>
      </p:sp>
      <p:graphicFrame>
        <p:nvGraphicFramePr>
          <p:cNvPr id="51" name="Chart 50"/>
          <p:cNvGraphicFramePr>
            <a:graphicFrameLocks noGrp="1"/>
          </p:cNvGraphicFramePr>
          <p:nvPr/>
        </p:nvGraphicFramePr>
        <p:xfrm>
          <a:off x="457200" y="2487168"/>
          <a:ext cx="6446520" cy="3218688"/>
        </p:xfrm>
        <a:graphic>
          <a:graphicData uri="http://schemas.openxmlformats.org/drawingml/2006/chart">
            <c:chart xmlns:c="http://schemas.openxmlformats.org/drawingml/2006/chart" r:id="rId9"/>
          </a:graphicData>
        </a:graphic>
      </p:graphicFrame>
      <p:sp>
        <p:nvSpPr>
          <p:cNvPr id="52" name="TextBox 51"/>
          <p:cNvSpPr txBox="1"/>
          <p:nvPr/>
        </p:nvSpPr>
        <p:spPr>
          <a:xfrm>
            <a:off x="457200" y="580644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Inventory days</a:t>
            </a:r>
          </a:p>
        </p:txBody>
      </p:sp>
      <p:cxnSp>
        <p:nvCxnSpPr>
          <p:cNvPr id="55" name="Inventory evidence divider line"/>
          <p:cNvCxnSpPr/>
          <p:nvPr/>
        </p:nvCxnSpPr>
        <p:spPr>
          <a:xfrm>
            <a:off x="7132320" y="1947672"/>
            <a:ext cx="0" cy="4361688"/>
          </a:xfrm>
          <a:prstGeom prst="line">
            <a:avLst/>
          </a:prstGeom>
          <a:ln w="6985">
            <a:solidFill>
              <a:srgbClr val="404040"/>
            </a:solidFill>
          </a:ln>
        </p:spPr>
        <p:style>
          <a:lnRef idx="2">
            <a:schemeClr val="accent1"/>
          </a:lnRef>
          <a:fillRef idx="0">
            <a:schemeClr val="accent1"/>
          </a:fillRef>
          <a:effectRef idx="1">
            <a:schemeClr val="accent1"/>
          </a:effectRef>
          <a:fontRef idx="minor">
            <a:schemeClr val="tx1"/>
          </a:fontRef>
        </p:style>
      </p:cxnSp>
      <p:sp>
        <p:nvSpPr>
          <p:cNvPr id="56" name="Inventory evidence divider circle"/>
          <p:cNvSpPr/>
          <p:nvPr/>
        </p:nvSpPr>
        <p:spPr>
          <a:xfrm>
            <a:off x="7004304" y="1819656"/>
            <a:ext cx="256032" cy="25603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Inventory evidence divider arrow"/>
          <p:cNvCxnSpPr/>
          <p:nvPr/>
        </p:nvCxnSpPr>
        <p:spPr>
          <a:xfrm>
            <a:off x="7104888" y="1892807"/>
            <a:ext cx="54864" cy="5486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Inventory evidence divider arrow"/>
          <p:cNvCxnSpPr/>
          <p:nvPr/>
        </p:nvCxnSpPr>
        <p:spPr>
          <a:xfrm flipH="1">
            <a:off x="7104888" y="1947672"/>
            <a:ext cx="54864" cy="54864"/>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9" name="Inventory evidence divider heade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1" name="Connector 6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Inventory policy sets working stock</a:t>
            </a:r>
          </a:p>
        </p:txBody>
      </p:sp>
      <p:sp>
        <p:nvSpPr>
          <p:cNvPr id="63" name="TextBox 6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At the illustrative 5.5 bn litres/year and uniform daily flow, 14 days requires 211,000 m³. More inventory days require more stock.</a:t>
            </a:r>
          </a:p>
        </p:txBody>
      </p:sp>
      <p:sp>
        <p:nvSpPr>
          <p:cNvPr id="64" name="TextBox 6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Existing tanks may absorb the stock</a:t>
            </a:r>
          </a:p>
        </p:txBody>
      </p:sp>
      <p:sp>
        <p:nvSpPr>
          <p:cNvPr id="65" name="TextBox 6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Compare this stock with fuel-compatible working space at Durban and Lesedi. Published gross capacities do not prove spare usable space.</a:t>
            </a:r>
          </a:p>
        </p:txBody>
      </p:sp>
      <p:sp>
        <p:nvSpPr>
          <p:cNvPr id="66" name="TextBox 6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This is not a new-storage requirement</a:t>
            </a:r>
          </a:p>
        </p:txBody>
      </p:sp>
      <p:sp>
        <p:nvSpPr>
          <p:cNvPr id="67" name="TextBox 6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Allow for peaks, product segregation, tank heels and receipt/dispatch limits. Add storage only if secured flows leave a usable-capacity gap.</a:t>
            </a:r>
          </a:p>
        </p:txBody>
      </p:sp>
      <p:cxnSp>
        <p:nvCxnSpPr>
          <p:cNvPr id="68" name="Connector 6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0" name="TextBox 6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confirm candidate flows and inventory policy. Manish/Henry: verify spare working capacity and operating limits.</a:t>
            </a:r>
          </a:p>
        </p:txBody>
      </p: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At fixed tankage, three monthly turns imply three times the handling of one turn</a:t>
            </a:r>
          </a:p>
        </p:txBody>
      </p:sp>
      <p:sp>
        <p:nvSpPr>
          <p:cNvPr id="3" name="Slide Number Placeholder"/>
          <p:cNvSpPr>
            <a:spLocks noGrp="1"/>
          </p:cNvSpPr>
          <p:nvPr>
            <p:ph type="sldNum" sz="quarter" idx="12"/>
          </p:nvPr>
        </p:nvSpPr>
        <p:spPr/>
        <p:txBody>
          <a:bodyPr/>
          <a:lstStyle/>
          <a:p>
            <a:pPr>
              <a:defRPr sz="1000">
                <a:latin typeface="Lato"/>
              </a:defRPr>
            </a:pPr>
            <a:r>
              <a:t>25</a:t>
            </a:r>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Sales and trade establish market scale; supply origins and fuel-use attribution remain open</a:t>
            </a:r>
          </a:p>
        </p:txBody>
      </p:sp>
      <p:sp>
        <p:nvSpPr>
          <p:cNvPr id="3" name="Slide Number Placeholder"/>
          <p:cNvSpPr>
            <a:spLocks noGrp="1"/>
          </p:cNvSpPr>
          <p:nvPr>
            <p:ph type="sldNum" sz="quarter" idx="12"/>
          </p:nvPr>
        </p:nvSpPr>
        <p:spPr/>
        <p:txBody>
          <a:bodyPr/>
          <a:lstStyle/>
          <a:p>
            <a:pPr>
              <a:defRPr sz="1000">
                <a:latin typeface="Lato"/>
              </a:defRPr>
            </a:pPr>
            <a:r>
              <a:t>26</a:t>
            </a:r>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defRPr sz="1000">
                          <a:solidFill>
                            <a:srgbClr val="000000"/>
                          </a:solidFill>
                          <a:latin typeface="Lato"/>
                        </a:defRPr>
                      </a:pPr>
                      <a:r>
                        <a:t>Reported 2024 sales: petrol 9.029 bn L and diesel 11.734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7</a:t>
                      </a:r>
                      <a:r>
                        <a:rPr sz="1050">
                          <a:solidFill>
                            <a:srgbClr val="0A2373"/>
                          </a:solidFill>
                          <a:latin typeface="Lato"/>
                          <a:hlinkClick r:id="rId6" action="ppaction://hlinksldjump"/>
                        </a:rPr>
                        <a:t> / 22</a:t>
                      </a:r>
                      <a:r>
                        <a:rPr sz="1050">
                          <a:solidFill>
                            <a:srgbClr val="0A2373"/>
                          </a:solidFill>
                          <a:latin typeface="Lato"/>
                          <a:hlinkClick r:id="rId7" action="ppaction://hlinksldjump"/>
                        </a:rPr>
                        <a:t> / 23</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16</a:t>
                      </a:r>
                      <a:r>
                        <a:rPr sz="1050">
                          <a:solidFill>
                            <a:srgbClr val="0A2373"/>
                          </a:solidFill>
                          <a:latin typeface="Lato"/>
                          <a:hlinkClick r:id="rId15"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19</a:t>
                      </a:r>
                      <a:r>
                        <a:rPr sz="1050">
                          <a:solidFill>
                            <a:srgbClr val="0A2373"/>
                          </a:solidFill>
                          <a:latin typeface="Lato"/>
                          <a:hlinkClick r:id="rId16" action="ppaction://hlinksldjump"/>
                        </a:rPr>
                        <a:t> / 21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16</a:t>
                      </a:r>
                      <a:r>
                        <a:rPr sz="1050">
                          <a:solidFill>
                            <a:srgbClr val="0A2373"/>
                          </a:solidFill>
                          <a:latin typeface="Lato"/>
                          <a:hlinkClick r:id="rId16" action="ppaction://hlinksldjump"/>
                        </a:rPr>
                        <a:t> / 21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6</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6</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15</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outlook still depends on unverified rail, fleet, refinery and route assumptions</a:t>
            </a:r>
          </a:p>
        </p:txBody>
      </p:sp>
      <p:sp>
        <p:nvSpPr>
          <p:cNvPr id="3" name="Slide Number Placeholder"/>
          <p:cNvSpPr>
            <a:spLocks noGrp="1"/>
          </p:cNvSpPr>
          <p:nvPr>
            <p:ph type="sldNum" sz="quarter" idx="12"/>
          </p:nvPr>
        </p:nvSpPr>
        <p:spPr/>
        <p:txBody>
          <a:bodyPr/>
          <a:lstStyle/>
          <a:p>
            <a:pPr>
              <a:defRPr sz="1000">
                <a:latin typeface="Lato"/>
              </a:defRPr>
            </a:pPr>
            <a:r>
              <a:t>27</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16</a:t>
                      </a:r>
                      <a:r>
                        <a:rPr sz="1050">
                          <a:solidFill>
                            <a:srgbClr val="0A2373"/>
                          </a:solidFill>
                          <a:latin typeface="Lato"/>
                          <a:hlinkClick r:id="rId13"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3"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6</a:t>
                      </a:r>
                      <a:r>
                        <a:rPr sz="1050">
                          <a:solidFill>
                            <a:srgbClr val="0A2373"/>
                          </a:solidFill>
                          <a:latin typeface="Lato"/>
                          <a:hlinkClick r:id="rId13" action="ppaction://hlinksldjump"/>
                        </a:rPr>
                        <a:t> / 19</a:t>
                      </a:r>
                      <a:r>
                        <a:rPr sz="1050">
                          <a:solidFill>
                            <a:srgbClr val="0A2373"/>
                          </a:solidFill>
                          <a:latin typeface="Lato"/>
                          <a:hlinkClick r:id="rId16" action="ppaction://hlinksldjump"/>
                        </a:rPr>
                        <a:t> / 20</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6</a:t>
                      </a:r>
                      <a:r>
                        <a:rPr sz="1050">
                          <a:solidFill>
                            <a:srgbClr val="0A2373"/>
                          </a:solidFill>
                          <a:latin typeface="Lato"/>
                          <a:hlinkClick r:id="rId3" action="ppaction://hlinksldjump"/>
                        </a:rPr>
                        <a:t> / 18</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6</a:t>
                      </a:r>
                      <a:r>
                        <a:rPr sz="1050">
                          <a:solidFill>
                            <a:srgbClr val="0A2373"/>
                          </a:solidFill>
                          <a:latin typeface="Lato"/>
                          <a:hlinkClick r:id="rId3" action="ppaction://hlinksldjump"/>
                        </a:rPr>
                        <a:t> / 18</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7</a:t>
                      </a:r>
                      <a:r>
                        <a:rPr sz="1050">
                          <a:solidFill>
                            <a:srgbClr val="0A2373"/>
                          </a:solidFill>
                          <a:latin typeface="Lato"/>
                          <a:hlinkClick r:id="rId6" action="ppaction://hlinksldjump"/>
                        </a:rPr>
                        <a:t> / 8</a:t>
                      </a:r>
                      <a:r>
                        <a:rPr sz="1050">
                          <a:solidFill>
                            <a:srgbClr val="0A2373"/>
                          </a:solidFill>
                          <a:latin typeface="Lato"/>
                          <a:hlinkClick r:id="rId7" action="ppaction://hlinksldjump"/>
                        </a:rPr>
                        <a:t> / 23</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8</a:t>
                      </a:r>
                      <a:r>
                        <a:rPr sz="1050">
                          <a:solidFill>
                            <a:srgbClr val="0A2373"/>
                          </a:solidFill>
                          <a:latin typeface="Lato"/>
                          <a:hlinkClick r:id="rId7" action="ppaction://hlinksldjump"/>
                        </a:rPr>
                        <a:t> / 23</a:t>
                      </a:r>
                      <a:r>
                        <a:rPr sz="1050">
                          <a:solidFill>
                            <a:srgbClr val="0A2373"/>
                          </a:solidFill>
                          <a:latin typeface="Lato"/>
                          <a:hlinkClick r:id="rId8" action="ppaction://hlinksldjump"/>
                        </a:rPr>
                        <a:t> / 11</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 market share and new investment needs remain unquantified</a:t>
            </a:r>
          </a:p>
        </p:txBody>
      </p:sp>
      <p:sp>
        <p:nvSpPr>
          <p:cNvPr id="3" name="Slide Number Placeholder"/>
          <p:cNvSpPr>
            <a:spLocks noGrp="1"/>
          </p:cNvSpPr>
          <p:nvPr>
            <p:ph type="sldNum" sz="quarter" idx="12"/>
          </p:nvPr>
        </p:nvSpPr>
        <p:spPr/>
        <p:txBody>
          <a:bodyPr/>
          <a:lstStyle/>
          <a:p>
            <a:pPr>
              <a:defRPr sz="1000">
                <a:latin typeface="Lato"/>
              </a:defRPr>
            </a:pPr>
            <a:r>
              <a:t>28</a:t>
            </a:r>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22</a:t>
                      </a:r>
                      <a:r>
                        <a:rPr sz="1050">
                          <a:solidFill>
                            <a:srgbClr val="0A2373"/>
                          </a:solidFill>
                          <a:latin typeface="Lato"/>
                          <a:hlinkClick r:id="rId3" action="ppaction://hlinksldjump"/>
                        </a:rPr>
                        <a:t> / 10</a:t>
                      </a:r>
                      <a:r>
                        <a:rPr sz="1050">
                          <a:solidFill>
                            <a:srgbClr val="0A2373"/>
                          </a:solidFill>
                          <a:latin typeface="Lato"/>
                          <a:hlinkClick r:id="rId4" action="ppaction://hlinksldjump"/>
                        </a:rPr>
                        <a:t> / 23</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9</a:t>
                      </a:r>
                      <a:r>
                        <a:rPr sz="1050">
                          <a:solidFill>
                            <a:srgbClr val="0A2373"/>
                          </a:solidFill>
                          <a:latin typeface="Lato"/>
                          <a:hlinkClick r:id="rId6" action="ppaction://hlinksldjump"/>
                        </a:rPr>
                        <a:t> / 11</a:t>
                      </a:r>
                      <a:r>
                        <a:rPr sz="1050">
                          <a:solidFill>
                            <a:srgbClr val="0A2373"/>
                          </a:solidFill>
                          <a:latin typeface="Lato"/>
                          <a:hlinkClick r:id="rId7" action="ppaction://hlinksldjump"/>
                        </a:rPr>
                        <a:t> / 24</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pPr>
              <a:defRPr sz="1000">
                <a:latin typeface="Lato"/>
              </a:defRPr>
            </a:pPr>
            <a:r>
              <a:t>30</a:t>
            </a:r>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pPr>
              <a:defRPr sz="1000">
                <a:latin typeface="Lato"/>
              </a:defRPr>
            </a:pPr>
            <a:r>
              <a:t>30</a:t>
            </a:r>
          </a:p>
        </p:txBody>
      </p:sp>
      <p:sp>
        <p:nvSpPr>
          <p:cNvPr id="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