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21.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22.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Historical headline: broadly steady aggregate reported sales, with pandemic disruption and different provincial paths. This is a baseline hypothesis for back-testing; it does not establish a flat forecast. Post-2022 estimates remain separate.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Headline connects Gauteng/Lesedi and KwaZulu-Natal/Durban to the top two provincial markets. Presence does not establish a customer catchment, accessibility or market share.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18–20.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a:p>
            <a:r>
              <a:t>Summary column now contains evidence verdicts on Henry storyline, not analyst tasks or approvals. Every analytical page maps to one of the seven rows; source register pptx/story/overview_story_verdicts_2026_10_06.json.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Measured trade is shown alongside reported sales as a consumption proxy. The chart does not show measured production, stock changes or balance-derived consumption. Sales minus net imports is a balancing requirement, not measured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a:p>
            <a:r>
              <a:t>Fuel-use rates mean litres per vehicle-km, per freight tonne-km, per unit of sector output or per unit of power generation. Source the appropriate rate and coverage before translating activity into fuel volumes; avoid overlap across segments.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8.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7.xml"/><Relationship Id="rId3" Type="http://schemas.openxmlformats.org/officeDocument/2006/relationships/slide" Target="slide9.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notesSlide" Target="../notesSlides/notesSlide21.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Vopak’s 2026 Liquid Fuels Outlook shows sustained import volumes, with growth from accessible customers (cost × service)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 = Situation   C = Complication   R = Resolution | Every Henry storyboard prompt has a response on pages 18–20; open items remain open.</a:t>
            </a:r>
          </a:p>
          <a:p>
            <a:pPr>
              <a:lnSpc>
                <a:spcPts val="900"/>
              </a:lnSpc>
              <a:spcBef>
                <a:spcPts val="0"/>
              </a:spcBef>
              <a:spcAft>
                <a:spcPts val="0"/>
              </a:spcAft>
              <a:defRPr sz="750">
                <a:latin typeface="Lato"/>
              </a:defRPr>
            </a:pPr>
            <a:r>
              <a:rPr sz="750"/>
              <a:t>Source: Partner SA storyboard; SARS / Stats SA / operator evidence, 6 Oct 2026. Remaining gaps labelled.</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graphicFrame>
        <p:nvGraphicFramePr>
          <p:cNvPr id="47" name="Table 46"/>
          <p:cNvGraphicFramePr>
            <a:graphicFrameLocks noGrp="1"/>
          </p:cNvGraphicFramePr>
          <p:nvPr/>
        </p:nvGraphicFramePr>
        <p:xfrm>
          <a:off x="457200" y="179222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What the evidence shows</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So what / story verdict</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drives imports; sales reports conflict</a:t>
                      </a:r>
                    </a:p>
                    <a:p>
                      <a:pPr>
                        <a:spcAft>
                          <a:spcPts val="0"/>
                        </a:spcAft>
                        <a:defRPr sz="1050">
                          <a:solidFill>
                            <a:srgbClr val="000000"/>
                          </a:solidFill>
                          <a:latin typeface="Lato"/>
                        </a:defRPr>
                      </a:pPr>
                      <a:r>
                        <a:t>2024 net petrol/diesel imports: 13.078 bn L. Production, stocks, sales coverage and port allocation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imports are material.</a:t>
                      </a:r>
                    </a:p>
                    <a:p>
                      <a:pPr>
                        <a:spcAft>
                          <a:spcPts val="0"/>
                        </a:spcAft>
                        <a:defRPr sz="1050">
                          <a:solidFill>
                            <a:srgbClr val="000000"/>
                          </a:solidFill>
                          <a:latin typeface="Lato"/>
                        </a:defRPr>
                      </a:pPr>
                      <a:r>
                        <a:t>Sustained future volumes remain a forecast case; the matched balance is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3</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sits around Vopak’s footprint</a:t>
                      </a:r>
                    </a:p>
                    <a:p>
                      <a:pPr>
                        <a:spcAft>
                          <a:spcPts val="0"/>
                        </a:spcAft>
                        <a:defRPr sz="1050">
                          <a:solidFill>
                            <a:srgbClr val="000000"/>
                          </a:solidFill>
                          <a:latin typeface="Lato"/>
                        </a:defRPr>
                      </a:pPr>
                      <a:r>
                        <a:t>GP, KZN and WC account for 68.6% of 2022 sales. Historical volumes were broadly steady; later provinces are estimates.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concentrated demand.</a:t>
                      </a:r>
                    </a:p>
                    <a:p>
                      <a:pPr>
                        <a:spcAft>
                          <a:spcPts val="0"/>
                        </a:spcAft>
                        <a:defRPr sz="1050">
                          <a:solidFill>
                            <a:srgbClr val="000000"/>
                          </a:solidFill>
                          <a:latin typeface="Lato"/>
                        </a:defRPr>
                      </a:pPr>
                      <a:r>
                        <a:t>Focus on Gauteng/KZN; sales totals do not establish accessible customers.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generation is falling; other drivers differ</a:t>
                      </a:r>
                    </a:p>
                    <a:p>
                      <a:pPr>
                        <a:spcAft>
                          <a:spcPts val="0"/>
                        </a:spcAft>
                        <a:defRPr sz="1050">
                          <a:solidFill>
                            <a:srgbClr val="000000"/>
                          </a:solidFill>
                          <a:latin typeface="Lato"/>
                        </a:defRPr>
                      </a:pPr>
                      <a:r>
                        <a:t>Freight, EV uptake and prices follow different paths. Fuel used per km or unit of output is needed to quantify litres.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Partly supported: diesel generation is falling.</a:t>
                      </a:r>
                    </a:p>
                    <a:p>
                      <a:pPr>
                        <a:spcAft>
                          <a:spcPts val="0"/>
                        </a:spcAft>
                        <a:defRPr sz="1050">
                          <a:solidFill>
                            <a:srgbClr val="000000"/>
                          </a:solidFill>
                          <a:latin typeface="Lato"/>
                        </a:defRPr>
                      </a:pPr>
                      <a:r>
                        <a:t>Rail, EV and price effects remain unquantified; a uniform demand decline is unproven.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7</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refining capacity fell.</a:t>
                      </a:r>
                    </a:p>
                    <a:p>
                      <a:pPr>
                        <a:spcAft>
                          <a:spcPts val="0"/>
                        </a:spcAft>
                        <a:defRPr sz="1050">
                          <a:solidFill>
                            <a:srgbClr val="000000"/>
                          </a:solidFill>
                          <a:latin typeface="Lato"/>
                        </a:defRPr>
                      </a:pPr>
                      <a:r>
                        <a:t>Plant futures are conditional; capacity alone does not determine imports.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Open: gateway competition.</a:t>
                      </a:r>
                    </a:p>
                    <a:p>
                      <a:pPr>
                        <a:spcAft>
                          <a:spcPts val="0"/>
                        </a:spcAft>
                        <a:defRPr sz="1050">
                          <a:solidFill>
                            <a:srgbClr val="000000"/>
                          </a:solidFill>
                          <a:latin typeface="Lato"/>
                        </a:defRPr>
                      </a:pPr>
                      <a:r>
                        <a:t>No route winner without comparable cost, service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10</a:t>
                      </a:r>
                      <a:r>
                        <a:rPr sz="1050">
                          <a:solidFill>
                            <a:srgbClr val="0A2373"/>
                          </a:solidFill>
                          <a:latin typeface="Lato"/>
                          <a:hlinkClick r:id="rId10" action="ppaction://hlinksldjump"/>
                        </a:rPr>
                        <a:t> / 11</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Market share of Vopak in Dbn and Lesedi</a:t>
                      </a:r>
                    </a:p>
                    <a:p>
                      <a:pPr>
                        <a:spcAft>
                          <a:spcPts val="0"/>
                        </a:spcAft>
                        <a:defRPr sz="1050">
                          <a:solidFill>
                            <a:srgbClr val="000000"/>
                          </a:solidFill>
                          <a:latin typeface="Lato"/>
                        </a:defRPr>
                      </a:pPr>
                      <a:r>
                        <a:t>Vopak has an established storage footprint; its share of customer volumes remains to be quantified.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Footprint established; volume share unquantified.</a:t>
                      </a:r>
                    </a:p>
                    <a:p>
                      <a:pPr>
                        <a:spcAft>
                          <a:spcPts val="0"/>
                        </a:spcAft>
                        <a:defRPr sz="1050">
                          <a:solidFill>
                            <a:srgbClr val="000000"/>
                          </a:solidFill>
                          <a:latin typeface="Lato"/>
                        </a:defRPr>
                      </a:pPr>
                      <a:r>
                        <a:t>Unique deliveries and customer access establish served volumes.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1" action="ppaction://hlinksldjump"/>
                        </a:rPr>
                        <a:t>12</a:t>
                      </a:r>
                      <a:r>
                        <a:rPr sz="1050">
                          <a:solidFill>
                            <a:srgbClr val="0A2373"/>
                          </a:solidFill>
                          <a:latin typeface="Lato"/>
                          <a:hlinkClick r:id="rId12" action="ppaction://hlinksldjump"/>
                        </a:rPr>
                        <a:t> / 13</a:t>
                      </a:r>
                      <a:r>
                        <a:rPr sz="1050">
                          <a:solidFill>
                            <a:srgbClr val="0A2373"/>
                          </a:solidFill>
                          <a:latin typeface="Lato"/>
                          <a:hlinkClick r:id="rId1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Potential scope for new investment?</a:t>
                      </a:r>
                    </a:p>
                    <a:p>
                      <a:pPr>
                        <a:spcAft>
                          <a:spcPts val="0"/>
                        </a:spcAft>
                        <a:defRPr sz="1050" b="0">
                          <a:solidFill>
                            <a:srgbClr val="000000"/>
                          </a:solidFill>
                          <a:latin typeface="Lato"/>
                        </a:defRPr>
                      </a:pPr>
                      <a:r>
                        <a:t>Prioritise Durban/Lesedi customer flows. Additional storage follows secured volumes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Conditional: win customers first.</a:t>
                      </a:r>
                    </a:p>
                    <a:p>
                      <a:pPr>
                        <a:spcAft>
                          <a:spcPts val="0"/>
                        </a:spcAft>
                        <a:defRPr sz="1050">
                          <a:solidFill>
                            <a:srgbClr val="000000"/>
                          </a:solidFill>
                          <a:latin typeface="Lato"/>
                        </a:defRPr>
                      </a:pPr>
                      <a:r>
                        <a:t>Use existing assets; new storage needs secured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15</a:t>
                      </a:r>
                      <a:r>
                        <a:rPr sz="1050">
                          <a:solidFill>
                            <a:srgbClr val="0A2373"/>
                          </a:solidFill>
                          <a:latin typeface="Lato"/>
                          <a:hlinkClick r:id="rId17" action="ppaction://hlinksldjump"/>
                        </a:rPr>
                        <a:t> / 16</a:t>
                      </a:r>
                      <a:r>
                        <a:rPr sz="1050">
                          <a:solidFill>
                            <a:srgbClr val="0A2373"/>
                          </a:solidFill>
                          <a:latin typeface="Lato"/>
                          <a:hlinkClick r:id="rId15"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S1</a:t>
            </a:r>
          </a:p>
        </p:txBody>
      </p:sp>
      <p:sp>
        <p:nvSpPr>
          <p:cNvPr id="49" name="SCR pill 2"/>
          <p:cNvSpPr/>
          <p:nvPr/>
        </p:nvSpPr>
        <p:spPr>
          <a:xfrm>
            <a:off x="1687068" y="274385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S2</a:t>
            </a:r>
          </a:p>
        </p:txBody>
      </p:sp>
      <p:sp>
        <p:nvSpPr>
          <p:cNvPr id="50" name="SCR pill 3"/>
          <p:cNvSpPr/>
          <p:nvPr/>
        </p:nvSpPr>
        <p:spPr>
          <a:xfrm>
            <a:off x="1687068" y="327943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S/C3</a:t>
            </a:r>
          </a:p>
        </p:txBody>
      </p:sp>
      <p:sp>
        <p:nvSpPr>
          <p:cNvPr id="51" name="SCR pill 4"/>
          <p:cNvSpPr/>
          <p:nvPr/>
        </p:nvSpPr>
        <p:spPr>
          <a:xfrm>
            <a:off x="1687068" y="381500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C4</a:t>
            </a:r>
          </a:p>
        </p:txBody>
      </p:sp>
      <p:sp>
        <p:nvSpPr>
          <p:cNvPr id="52" name="SCR pill 5"/>
          <p:cNvSpPr/>
          <p:nvPr/>
        </p:nvSpPr>
        <p:spPr>
          <a:xfrm>
            <a:off x="1687068" y="435058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C5</a:t>
            </a:r>
          </a:p>
        </p:txBody>
      </p:sp>
      <p:sp>
        <p:nvSpPr>
          <p:cNvPr id="53" name="SCR pill 6"/>
          <p:cNvSpPr/>
          <p:nvPr/>
        </p:nvSpPr>
        <p:spPr>
          <a:xfrm>
            <a:off x="1687068" y="488616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R6</a:t>
            </a:r>
          </a:p>
        </p:txBody>
      </p:sp>
      <p:sp>
        <p:nvSpPr>
          <p:cNvPr id="54" name="SCR pill 7"/>
          <p:cNvSpPr/>
          <p:nvPr/>
        </p:nvSpPr>
        <p:spPr>
          <a:xfrm>
            <a:off x="1687068" y="542173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Diesel drives import volumes, while conflicting reports leave 2024 sales unresolved</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 (proxy)</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Reported sales are a consumption proxy; production and stock changes are missing.</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Three provinces account for 69% of reported fuel sales; the top two contain Vopak’s storage facilities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Sales totals, not density. Vopak locations highlighted; detailed operator inventory on pages 13 and 15. Jet excluded.</a:t>
            </a:r>
          </a:p>
          <a:p>
            <a:pPr>
              <a:lnSpc>
                <a:spcPts val="900"/>
              </a:lnSpc>
              <a:spcBef>
                <a:spcPts val="0"/>
              </a:spcBef>
              <a:spcAft>
                <a:spcPts val="0"/>
              </a:spcAft>
              <a:defRPr sz="750">
                <a:latin typeface="Lato"/>
              </a:defRPr>
            </a:pPr>
            <a:r>
              <a:rPr sz="750"/>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Reported fuel sales were broadly steady through 2022, despite the pandemic dip</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24728"/>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24728"/>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24728"/>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035040"/>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035040"/>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035040"/>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245352"/>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245352"/>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245352"/>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analyst branch corrects the 2013 parser. Sources differ in 2014/2015; 2018 district coverage is incomplete. Retain these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Activity trends show potential demand shifts; fuel used per unit of activity still needs validation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7"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C4. 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All products; year to June, not calendar-year petrol/diesel. B adds 400 from 2033, conditional on FID.</a:t>
            </a:r>
          </a:p>
          <a:p>
            <a:pPr>
              <a:lnSpc>
                <a:spcPts val="900"/>
              </a:lnSpc>
              <a:spcBef>
                <a:spcPts val="0"/>
              </a:spcBef>
              <a:spcAft>
                <a:spcPts val="0"/>
              </a:spcAft>
              <a:defRPr sz="750">
                <a:latin typeface="Lato"/>
              </a:defRPr>
            </a:pPr>
            <a:r>
              <a:rPr sz="750"/>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Connect historical changes to forecast cases and market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changes | historical evidence, forecast cases and decision outputs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103120"/>
            <a:ext cx="1065276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STRUCTURE FOR REVIEW | assumptions and fuel-volume effects remain uncalibrated</a:t>
            </a:r>
          </a:p>
        </p:txBody>
      </p:sp>
      <p:graphicFrame>
        <p:nvGraphicFramePr>
          <p:cNvPr id="12" name="Table 11"/>
          <p:cNvGraphicFramePr>
            <a:graphicFrameLocks noGrp="1"/>
          </p:cNvGraphicFramePr>
          <p:nvPr/>
        </p:nvGraphicFramePr>
        <p:xfrm>
          <a:off x="457200" y="2542032"/>
          <a:ext cx="10652760" cy="3154680"/>
        </p:xfrm>
        <a:graphic>
          <a:graphicData uri="http://schemas.openxmlformats.org/drawingml/2006/table">
            <a:tbl>
              <a:tblPr firstRow="1" bandRow="1">
                <a:tableStyleId>{2D5ABB26-0587-4C30-8999-92F81FD0307C}</a:tableStyleId>
              </a:tblPr>
              <a:tblGrid>
                <a:gridCol w="2514600"/>
                <a:gridCol w="3154680"/>
                <a:gridCol w="2606040"/>
                <a:gridCol w="2377440"/>
              </a:tblGrid>
              <a:tr h="630936">
                <a:tc>
                  <a:txBody>
                    <a:bodyPr/>
                    <a:lstStyle/>
                    <a:p>
                      <a:pPr>
                        <a:spcAft>
                          <a:spcPts val="0"/>
                        </a:spcAft>
                        <a:defRPr sz="1100" b="1">
                          <a:solidFill>
                            <a:srgbClr val="000000"/>
                          </a:solidFill>
                          <a:latin typeface="Lato"/>
                        </a:defRPr>
                      </a:pPr>
                      <a:r>
                        <a:t>Historical evidence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Forecast cases to define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to calculate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Decision it supports</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Fleet, activity and prices</a:t>
                      </a:r>
                    </a:p>
                    <a:p>
                      <a:pPr>
                        <a:spcAft>
                          <a:spcPts val="0"/>
                        </a:spcAft>
                        <a:defRPr sz="1100" b="0">
                          <a:solidFill>
                            <a:srgbClr val="000000"/>
                          </a:solidFill>
                          <a:latin typeface="Lato"/>
                        </a:defRPr>
                      </a:pPr>
                      <a:r>
                        <a:t>Observed history and recent partial periods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Base: observed performance continues. High / low: explicit growth, mileage and price assumptions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 / diesel demand by year; forecast bands and sensitivity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customer markets grow, contract or change product mix?</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EV, freight, sectors and power</a:t>
                      </a:r>
                    </a:p>
                    <a:p>
                      <a:pPr>
                        <a:spcAft>
                          <a:spcPts val="0"/>
                        </a:spcAft>
                        <a:defRPr sz="1100" b="0">
                          <a:solidFill>
                            <a:srgbClr val="000000"/>
                          </a:solidFill>
                          <a:latin typeface="Lato"/>
                        </a:defRPr>
                      </a:pPr>
                      <a:r>
                        <a:t>Separate activity from fuel use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Change uptake, modal share, fuel intensity and OCGT use; separate BEV and hybrids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Incremental litres by lever; avoid overlap with the base growth path</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service proposition and customer segment should Vopak prioritise?</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Refinery capacity and reported output</a:t>
                      </a:r>
                    </a:p>
                    <a:p>
                      <a:pPr>
                        <a:spcAft>
                          <a:spcPts val="0"/>
                        </a:spcAft>
                        <a:defRPr sz="1100" b="0">
                          <a:solidFill>
                            <a:srgbClr val="000000"/>
                          </a:solidFill>
                          <a:latin typeface="Lato"/>
                        </a:defRPr>
                      </a:pPr>
                      <a:r>
                        <a:t>Separate actual from conditional additions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Existing plants: output, downtime and yields. Redevelopment: conditional timing and ramp-up</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Product-specific domestic output; matched imports, exports and stock changes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When could additional import handling or storage be needed?</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Provincial sales and competing routes</a:t>
                      </a:r>
                    </a:p>
                    <a:p>
                      <a:pPr>
                        <a:spcAft>
                          <a:spcPts val="0"/>
                        </a:spcAft>
                        <a:defRPr sz="1100" b="0">
                          <a:solidFill>
                            <a:srgbClr val="000000"/>
                          </a:solidFill>
                          <a:latin typeface="Lato"/>
                        </a:defRPr>
                      </a:pPr>
                      <a:r>
                        <a:t>Later fuel shares are estimates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Allocate national cases with explicit regional assumptions; test route cost and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customer litres by region and route; actual Vopak deliveries separately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Where to play, how to win and the conditions for committing capacity</a:t>
                      </a:r>
                    </a:p>
                  </a:txBody>
                  <a:tcPr marL="50292" marR="50292" marT="41148" marB="41148" anchor="ctr">
                    <a:lnB w="6350" cap="flat">
                      <a:solidFill>
                        <a:srgbClr val="EEEEEE"/>
                      </a:solidFill>
                    </a:lnB>
                    <a:solidFill>
                      <a:srgbClr val="FFFFFF"/>
                    </a:solidFill>
                  </a:tcPr>
                </a:tc>
              </a:tr>
            </a:tbl>
          </a:graphicData>
        </a:graphic>
      </p:graphicFrame>
      <p:sp>
        <p:nvSpPr>
          <p:cNvPr id="13" name="TextBox 12"/>
          <p:cNvSpPr txBox="1"/>
          <p:nvPr/>
        </p:nvSpPr>
        <p:spPr>
          <a:xfrm>
            <a:off x="457200" y="5879592"/>
            <a:ext cx="10652760" cy="256032"/>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Historical evidence → agreed assumptions and levers → annual demand and supply → regional access → Vopak decision</a:t>
            </a:r>
          </a:p>
        </p:txBody>
      </p:sp>
      <p:sp>
        <p:nvSpPr>
          <p:cNvPr id="1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Illustrative road cost only. Pipeline/rail access and commercial rights are not priced.</a:t>
            </a:r>
          </a:p>
          <a:p>
            <a:pPr>
              <a:lnSpc>
                <a:spcPts val="900"/>
              </a:lnSpc>
              <a:spcBef>
                <a:spcPts val="0"/>
              </a:spcBef>
              <a:spcAft>
                <a:spcPts val="0"/>
              </a:spcAft>
              <a:defRPr sz="750">
                <a:latin typeface="Lato"/>
              </a:defRPr>
            </a:pPr>
            <a:r>
              <a:rPr sz="750"/>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7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7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317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41"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3"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4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Compare regional demand with Vopak’s published storage footprint</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6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The illustrative additional opportunity is 5.5 billion litres a year</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p10 and competing routes p11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*Ladysmith excludes 0.474 intermixture. Unquantified: Bethlehem, Magdala, Sasol, Tarlton, Jameson Park.</a:t>
            </a:r>
          </a:p>
          <a:p>
            <a:pPr>
              <a:lnSpc>
                <a:spcPts val="900"/>
              </a:lnSpc>
              <a:spcBef>
                <a:spcPts val="0"/>
              </a:spcBef>
              <a:spcAft>
                <a:spcPts val="0"/>
              </a:spcAft>
              <a:defRPr sz="750">
                <a:latin typeface="Lato"/>
              </a:defRPr>
            </a:pPr>
            <a:r>
              <a:rPr sz="750"/>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market hypotheses; demand, gateway and storage evidence on pp.4, 10–15.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457200" y="2176272"/>
          <a:ext cx="10652760" cy="3090672"/>
        </p:xfrm>
        <a:graphic>
          <a:graphicData uri="http://schemas.openxmlformats.org/drawingml/2006/table">
            <a:tbl>
              <a:tblPr firstRow="1" bandRow="1">
                <a:tableStyleId>{2D5ABB26-0587-4C30-8999-92F81FD0307C}</a:tableStyleId>
              </a:tblPr>
              <a:tblGrid>
                <a:gridCol w="2103120"/>
                <a:gridCol w="2834640"/>
                <a:gridCol w="2788920"/>
                <a:gridCol w="2926080"/>
              </a:tblGrid>
              <a:tr h="772668">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Matola and Walvis Bay</a:t>
                      </a:r>
                    </a:p>
                    <a:p>
                      <a:pPr>
                        <a:spcAft>
                          <a:spcPts val="0"/>
                        </a:spcAft>
                        <a:defRPr sz="1150" b="0">
                          <a:solidFill>
                            <a:srgbClr val="000000"/>
                          </a:solidFill>
                          <a:latin typeface="Lato"/>
                        </a:defRPr>
                      </a:pPr>
                      <a:r>
                        <a:t>Competing gateways to compare</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12" name="TextBox 1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13" name="TextBox 1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14" name="TextBox 1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15" name="TextBox 1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
        <p:nvSpPr>
          <p:cNvPr id="1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Translate additional fuel flows into a preliminary inventory requirement</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3" action="ppaction://hlinksldjump"/>
                        </a:rPr>
                        <a:t> / 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5" action="ppaction://hlinksldjump"/>
                        </a:rPr>
                        <a:t> / 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11</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11</a:t>
                      </a:r>
                      <a:r>
                        <a:rPr sz="1050">
                          <a:solidFill>
                            <a:srgbClr val="0A2373"/>
                          </a:solidFill>
                          <a:latin typeface="Lato"/>
                          <a:hlinkClick r:id="rId7" action="ppaction://hlinksldjump"/>
                        </a:rPr>
                        <a:t> / 14</a:t>
                      </a:r>
                      <a:r>
                        <a:rPr sz="1050">
                          <a:solidFill>
                            <a:srgbClr val="0A2373"/>
                          </a:solidFill>
                          <a:latin typeface="Lato"/>
                          <a:hlinkClick r:id="rId8" action="ppaction://hlinksldjump"/>
                        </a:rPr>
                        <a:t> / 16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12</a:t>
                      </a:r>
                      <a:r>
                        <a:rPr sz="1050">
                          <a:solidFill>
                            <a:srgbClr val="0A2373"/>
                          </a:solidFill>
                          <a:latin typeface="Lato"/>
                          <a:hlinkClick r:id="rId3" action="ppaction://hlinksldjump"/>
                        </a:rPr>
                        <a:t> / 13</a:t>
                      </a:r>
                      <a:r>
                        <a:rPr sz="1050">
                          <a:solidFill>
                            <a:srgbClr val="0A2373"/>
                          </a:solidFill>
                          <a:latin typeface="Lato"/>
                          <a:hlinkClick r:id="rId4" action="ppaction://hlinksldjump"/>
                        </a:rPr>
                        <a:t> / 14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