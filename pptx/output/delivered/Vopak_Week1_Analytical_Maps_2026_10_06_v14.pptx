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2" r:id="rId17"/>
    <p:sldId id="258" r:id="rId5"/>
    <p:sldId id="259" r:id="rId16"/>
    <p:sldId id="263" r:id="rId6"/>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evidence reviewed 6 October 2026. Competitor list is a starting inventory, not exhaustive. Actual petrol/diesel throughput share remains unknown. Capacity is a stock and may include chemicals/gases. Bidvest site capacities: Durban 439306 + Richards Bay 483797 + Isando 32500 = 955603 m3; homepage instead states 868000 m3. Reconcile dates and products. Burgan Cape Terminal publishes 122000 m3 and a 2025-2026 uncommitted-capacity download; confirm the current period before treating it as available. Market volume illustration uses the authored regional CSV, not public company volumes. Current unique demand served / matched catchment demand; additional candidate / matched catchment demand. National, catchment, eligible-throughput and capacity denominators must not be interchanged. [1]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https://www.transnet.net/getFile.ashx?id=5330 | 2024-09-01 commencement | Not evidence of current spare capacity or an independent merchant tank service; historical inactive depots excluded</a:t>
            </a:r>
          </a:p>
          <a:p>
            <a:r>
              <a:t>Stacked bars are authored illustration only; not actual market share. Eastern coast current 22.2%, additional candidate 33.3%, outside envelope 44.4%; inland 20%, 40%, 40%. Candidate volume is conditional, not forecast capture. Regions use the working province definitions on slide 2, but the bar denominators remain the illustrative 4.5/10.0 bn L, not observed 2022 sales. Western/other unassessed.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slides 4-5.</a:t>
            </a:r>
          </a:p>
          <a:p>
            <a:r>
              <a:t>Storage footprint is a public-evidence starting inventory, not a complete census. Coordinates are approximate except Tarlton tender coordinates.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https://www.vopak.com/terminals/vopak-terminal-durban?language_content_entity=en | Page publication date not stated | Operator terminal page; not independently verified | Current available petrol/diesel capacity unknown | owner Manish / Nigel review | next: Confirm terminal coordinates usable petrol/diesel capacity and unique deliveries</a:t>
            </a:r>
          </a:p>
          <a:p>
            <a:r>
              <a:t>V2 Vopak / Lesedi: https://www.vopak.com/system/files/Vopak_Annual_Report_2025.pdf | 2025 reporting year | 2025 annual report describes commissioned expansion | Current contracts and throughput unknown | owner Manish / Nigel review | next: Confirm surveyed site capacity product scope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assumptions/2026/infrastructure/storage_transnet_pipelines_depots.csv | Underlying RFP vintage requires confirmation | Existing source CSV says out of service since March 2018 | Excluded from available operating capacity | owner Manish / Nigel review | next: Check any reactivation against latest licence and operating evidence</a:t>
            </a:r>
          </a:p>
          <a:p>
            <a:r>
              <a:t>X2 Transnet Pipelines / Standerton: assumptions/2026/infrastructure/storage_transnet_pipelines_depots.csv | Underlying RFP vintage requires confirmation | Existing source CSV says stranded after pipeline decommissioning | Excluded from available operating capacity | owner Manish / Nigel review | next: Check reactivation and product eligibility</a:t>
            </a:r>
          </a:p>
          <a:p>
            <a:r>
              <a:t>X3 Transnet Pipelines / Kroonstad: assumptions/2026/infrastructure/storage_transnet_pipelines_depots.csv | Underlying RFP vintage requires confirmation | Existing source CSV says offered for lease | No present operation or access inferred | owner Manish / Nigel review | next: Verify lease award and operation</a:t>
            </a:r>
          </a:p>
          <a:p>
            <a:r>
              <a:t>X4 Transnet Pipelines / Bethlehem: assumptions/2026/infrastructure/storage_transnet_pipelines_depots.csv | Underlying RFP vintage requires confirmation | Existing source CSV says offered for lease | No present operation or access inferred | owner Manish / Nigel review | next: Verify lease award and operation; avoid conflating with marketer site</a:t>
            </a:r>
          </a:p>
          <a:p>
            <a:r>
              <a:t>X5 Transnet Pipelines / Magdala: assumptions/2026/infrastructure/storage_transnet_pipelines_depots.csv | Underlying RFP vintage requires confirmation | Existing source CSV says offered for lease | No present operation or access inferred | owner Manish / Nigel review | next: Verify lease award and operation</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market/share figures on slides 4-5.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getFile.ashx?id=533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coastal and inland links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Road candidates connect coastal customers and inland transfers. Pipelines are separate supply connections.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Lesedi: inland dispatch</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receipt, dispatch, tanker cycles and customer destinations for connected inland markets.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Lower cost means higher accessibility</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Darker cells show lower example road-delivery cost from either facility. Pipe and rail lines remain context.</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Customer access is unverified</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Contracts and competitors define the commercial envelope. Actual customer catchments are not supplied.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57" name="TextBox 556"/>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Cost accessibility and market volumes | illustrative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National balance sets import needs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Demand of 21.0 less domestic production of 7.0 gives required imports of 14.0 in this illustration.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Count unique customer demand once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Receipts of 2.8 at Durban and 2.0 at Lesedi include a shared 1.8 transfer. Unique demand served is 3.0.</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opportunity is conditional</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commercial envelope is 8.5; current unique demand served is 3.0, leaving a candidate 5.5.</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Replace examples with evidence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regional demand, route constraints, customer flows and contracts by product, period and units.</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sp>
        <p:nvSpPr>
          <p:cNvPr id="516" name="TextBox 515"/>
          <p:cNvSpPr txBox="1"/>
          <p:nvPr/>
        </p:nvSpPr>
        <p:spPr>
          <a:xfrm>
            <a:off x="731520" y="248716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343400" y="504748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30" name="TextBox 529"/>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943BE458-3E0D-4E63-AC16-ADC387DD1A7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5.</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concentrates in three provinces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6.81, KwaZulu-Natal 4.28 and Western Cape 3.93 bn litres represent 68.6% of reported sales.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have explicit boundaries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 EC + KZN; inland = GP, FS, LP, MP and NW; western coast = WC; other = NC. These are working groupings.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Storage sits alongside demand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Bidvest, Sasol, Transnet and Burgan Cape provide the mapped storage context. Inland facilities are clustered.</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Sales do not establish accessible volume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All four quarters of 2022 reconcile to national sales. Current demand, delivered cost and customer rights need separate evidence.</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5076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Durban</a:t>
            </a:r>
          </a:p>
          <a:p>
            <a:pPr>
              <a:spcAft>
                <a:spcPts val="300"/>
              </a:spcAft>
              <a:defRPr sz="1000" b="1">
                <a:solidFill>
                  <a:srgbClr val="0A2373"/>
                </a:solidFill>
                <a:latin typeface="Lato"/>
              </a:defRPr>
            </a:pPr>
            <a:r>
              <a:t>Vopak / Bidvest</a:t>
            </a:r>
          </a:p>
        </p:txBody>
      </p:sp>
      <p:cxnSp>
        <p:nvCxnSpPr>
          <p:cNvPr id="526" name="Connector 525"/>
          <p:cNvCxnSpPr/>
          <p:nvPr/>
        </p:nvCxnSpPr>
        <p:spPr>
          <a:xfrm flipH="1" flipV="1">
            <a:off x="5148072" y="3817620"/>
            <a:ext cx="144846" cy="23449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Richards Bay</a:t>
            </a:r>
          </a:p>
          <a:p>
            <a:pPr>
              <a:spcAft>
                <a:spcPts val="300"/>
              </a:spcAft>
              <a:defRPr sz="1000" b="1">
                <a:solidFill>
                  <a:srgbClr val="0A2373"/>
                </a:solidFill>
                <a:latin typeface="Lato"/>
              </a:defRPr>
            </a:pPr>
            <a:r>
              <a:t>Bidvest</a:t>
            </a:r>
          </a:p>
        </p:txBody>
      </p:sp>
      <p:cxnSp>
        <p:nvCxnSpPr>
          <p:cNvPr id="528" name="Connector 527"/>
          <p:cNvCxnSpPr/>
          <p:nvPr/>
        </p:nvCxnSpPr>
        <p:spPr>
          <a:xfrm flipH="1" flipV="1">
            <a:off x="566928" y="4773168"/>
            <a:ext cx="1735268" cy="578988"/>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572000"/>
            <a:ext cx="1298448" cy="402336"/>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Cape Town</a:t>
            </a:r>
          </a:p>
          <a:p>
            <a:pPr>
              <a:spcAft>
                <a:spcPts val="300"/>
              </a:spcAft>
              <a:defRPr sz="1000" b="1">
                <a:solidFill>
                  <a:srgbClr val="0A2373"/>
                </a:solidFill>
                <a:latin typeface="Lato"/>
              </a:defRPr>
            </a:pPr>
            <a:r>
              <a:t>Burgan Cape</a:t>
            </a:r>
          </a:p>
        </p:txBody>
      </p:sp>
      <p:cxnSp>
        <p:nvCxnSpPr>
          <p:cNvPr id="530" name="Connector 529"/>
          <p:cNvCxnSpPr/>
          <p:nvPr/>
        </p:nvCxnSpPr>
        <p:spPr>
          <a:xfrm flipH="1" flipV="1">
            <a:off x="594360" y="3209544"/>
            <a:ext cx="3847905" cy="14035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1874519" cy="603504"/>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Lesedi / inland storage</a:t>
            </a:r>
          </a:p>
          <a:p>
            <a:pPr>
              <a:spcAft>
                <a:spcPts val="300"/>
              </a:spcAft>
              <a:defRPr sz="1000" b="1">
                <a:solidFill>
                  <a:srgbClr val="0A2373"/>
                </a:solidFill>
                <a:latin typeface="Lato"/>
              </a:defRPr>
            </a:pPr>
            <a:r>
              <a:t>Vopak / Bidvest</a:t>
            </a:r>
          </a:p>
          <a:p>
            <a:pPr>
              <a:spcAft>
                <a:spcPts val="300"/>
              </a:spcAft>
              <a:defRPr sz="1000" b="1">
                <a:solidFill>
                  <a:srgbClr val="0A2373"/>
                </a:solidFill>
                <a:latin typeface="Lato"/>
              </a:defRPr>
            </a:pPr>
            <a:r>
              <a:t>Sasol / Transnet</a:t>
            </a:r>
          </a:p>
        </p:txBody>
      </p:sp>
      <p:cxnSp>
        <p:nvCxnSpPr>
          <p:cNvPr id="532" name="Connector 531"/>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33" name="TextBox 532"/>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34" name="TextBox 533"/>
          <p:cNvSpPr txBox="1"/>
          <p:nvPr/>
        </p:nvSpPr>
        <p:spPr>
          <a:xfrm>
            <a:off x="3768443" y="380045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35" name="TextBox 534"/>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36" name="TextBox 535"/>
          <p:cNvSpPr txBox="1"/>
          <p:nvPr/>
        </p:nvSpPr>
        <p:spPr>
          <a:xfrm>
            <a:off x="4580325" y="3822957"/>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37" name="TextBox 536"/>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38" name="TextBox 537"/>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39" name="TextBox 538"/>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40" name="TextBox 539"/>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41" name="TextBox 540"/>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42" name="Rectangle 541"/>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TextBox 542"/>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44" name="Rectangle 543"/>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TextBox 544"/>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46" name="Rectangle 545"/>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48" name="Rectangle 547"/>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50" name="Rectangle 549"/>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TextBox 550"/>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52" name="TextBox 551"/>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53" name="Oval 552"/>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55" name="Rectangle 554"/>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57" name="Diamond 556"/>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TextBox 557"/>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59" name="Hexagon 558"/>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61" name="TextBox 560"/>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62" name="TextBox 56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Province totals, not within-province hotspots. Sites approximate; access unverified. Jet excluded.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Define Vopak’s current share and the market it can contest</a:t>
            </a:r>
          </a:p>
        </p:txBody>
      </p:sp>
      <p:sp>
        <p:nvSpPr>
          <p:cNvPr id="3" name="Slide Number Placeholder"/>
          <p:cNvSpPr>
            <a:spLocks noGrp="1"/>
          </p:cNvSpPr>
          <p:nvPr>
            <p:ph type="sldNum" sz="quarter" idx="12"/>
          </p:nvPr>
        </p:nvSpPr>
        <p:spPr/>
        <p:txBody>
          <a:bodyPr/>
          <a:lstStyle/>
          <a:p>
            <a:fld id="{F5E3DD05-FB3B-4846-8E4B-9ED62263FDF9}"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Operator sites/reports and NERSA [1–7], checked 6 Oct 2026; site inventory in slide 2 notes; shares illustrative.</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Competitive footprint and share | petrol/diesel focus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Actual Vopak share is not established</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Need unique petrol/diesel deliveries divided by matched catchment demand, for the same period.</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Contestability requires customer access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cost, compatible capacity, contracts and switching. Other operators’ volume is not automatically available.</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Storage has different commercial roles</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Bidvest and Burgan offer terminal services; Sasol depots and Transnet accumulation need separate access tests.</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Capacity share is a separate measure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Exclude chemicals, gas, jet and unusable tanks. Reconcile dates; do not convert storage capacity into fuel throughput.</a:t>
            </a:r>
          </a:p>
        </p:txBody>
      </p:sp>
      <p:graphicFrame>
        <p:nvGraphicFramePr>
          <p:cNvPr id="22" name="Table 21"/>
          <p:cNvGraphicFramePr>
            <a:graphicFrameLocks noGrp="1"/>
          </p:cNvGraphicFramePr>
          <p:nvPr/>
        </p:nvGraphicFramePr>
        <p:xfrm>
          <a:off x="457200" y="2176272"/>
          <a:ext cx="6446520" cy="2331720"/>
        </p:xfrm>
        <a:graphic>
          <a:graphicData uri="http://schemas.openxmlformats.org/drawingml/2006/table">
            <a:tbl>
              <a:tblPr firstRow="1" bandRow="1">
                <a:tableStyleId>{2D5ABB26-0587-4C30-8999-92F81FD0307C}</a:tableStyleId>
              </a:tblPr>
              <a:tblGrid>
                <a:gridCol w="1234440"/>
                <a:gridCol w="2651760"/>
                <a:gridCol w="2560320"/>
              </a:tblGrid>
              <a:tr h="388620">
                <a:tc>
                  <a:txBody>
                    <a:bodyPr/>
                    <a:lstStyle/>
                    <a:p>
                      <a:pPr>
                        <a:defRPr sz="1050" b="1">
                          <a:solidFill>
                            <a:srgbClr val="000000"/>
                          </a:solidFill>
                          <a:latin typeface="Lato"/>
                        </a:defRPr>
                      </a:pPr>
                      <a:r>
                        <a:t>Operator / public source</a:t>
                      </a:r>
                    </a:p>
                  </a:txBody>
                  <a:tcPr marL="91440" marR="91440" marT="25400" marB="25400" anchor="ctr">
                    <a:lnB w="4445" cap="flat">
                      <a:solidFill>
                        <a:srgbClr val="A0A0A0"/>
                      </a:solidFill>
                    </a:lnB>
                    <a:solidFill>
                      <a:srgbClr val="FFFFFF"/>
                    </a:solidFill>
                  </a:tcPr>
                </a:tc>
                <a:tc>
                  <a:txBody>
                    <a:bodyPr/>
                    <a:lstStyle/>
                    <a:p>
                      <a:pPr>
                        <a:defRPr sz="1050" b="1">
                          <a:solidFill>
                            <a:srgbClr val="000000"/>
                          </a:solidFill>
                          <a:latin typeface="Lato"/>
                        </a:defRPr>
                      </a:pPr>
                      <a:r>
                        <a:t>Locations / role</a:t>
                      </a:r>
                    </a:p>
                  </a:txBody>
                  <a:tcPr marL="91440" marR="91440" marT="25400" marB="25400" anchor="ctr">
                    <a:lnB w="4445" cap="flat">
                      <a:solidFill>
                        <a:srgbClr val="A0A0A0"/>
                      </a:solidFill>
                    </a:lnB>
                    <a:solidFill>
                      <a:srgbClr val="FFFFFF"/>
                    </a:solidFill>
                  </a:tcPr>
                </a:tc>
                <a:tc>
                  <a:txBody>
                    <a:bodyPr/>
                    <a:lstStyle/>
                    <a:p>
                      <a:pPr>
                        <a:defRPr sz="1050" b="1">
                          <a:solidFill>
                            <a:srgbClr val="000000"/>
                          </a:solidFill>
                          <a:latin typeface="Lato"/>
                        </a:defRPr>
                      </a:pPr>
                      <a:r>
                        <a:t>Key evidence gap</a:t>
                      </a:r>
                    </a:p>
                  </a:txBody>
                  <a:tcPr marL="91440" marR="91440" marT="25400" marB="25400" anchor="ctr">
                    <a:lnB w="4445" cap="flat">
                      <a:solidFill>
                        <a:srgbClr val="A0A0A0"/>
                      </a:solidFill>
                    </a:lnB>
                    <a:solidFill>
                      <a:srgbClr val="FFFFFF"/>
                    </a:solidFill>
                  </a:tcPr>
                </a:tc>
              </a:tr>
              <a:tr h="388620">
                <a:tc>
                  <a:txBody>
                    <a:bodyPr/>
                    <a:lstStyle/>
                    <a:p>
                      <a:pPr>
                        <a:defRPr sz="1050" b="0">
                          <a:solidFill>
                            <a:srgbClr val="000000"/>
                          </a:solidFill>
                          <a:latin typeface="Lato"/>
                        </a:defRPr>
                      </a:pPr>
                      <a:r>
                        <a:t>Vopak [1]</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Durban; Lesedi</a:t>
                      </a:r>
                    </a:p>
                    <a:p>
                      <a:pPr>
                        <a:defRPr sz="1050" b="0">
                          <a:solidFill>
                            <a:srgbClr val="000000"/>
                          </a:solidFill>
                          <a:latin typeface="Lato"/>
                        </a:defRPr>
                      </a:pPr>
                      <a:r>
                        <a:t>Storage and handling</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Actual unique fuel deliveries</a:t>
                      </a:r>
                    </a:p>
                    <a:p>
                      <a:pPr>
                        <a:defRPr sz="1050" b="0">
                          <a:solidFill>
                            <a:srgbClr val="000000"/>
                          </a:solidFill>
                          <a:latin typeface="Lato"/>
                        </a:defRPr>
                      </a:pPr>
                      <a:r>
                        <a:t>and usable fuel capacity</a:t>
                      </a:r>
                    </a:p>
                  </a:txBody>
                  <a:tcPr marL="91440" marR="91440" marT="25400" marB="25400" anchor="ctr">
                    <a:lnB w="4445" cap="flat">
                      <a:solidFill>
                        <a:srgbClr val="B8B8B8"/>
                      </a:solidFill>
                    </a:lnB>
                    <a:solidFill>
                      <a:srgbClr val="FFFFFF"/>
                    </a:solidFill>
                  </a:tcPr>
                </a:tc>
              </a:tr>
              <a:tr h="388620">
                <a:tc>
                  <a:txBody>
                    <a:bodyPr/>
                    <a:lstStyle/>
                    <a:p>
                      <a:pPr>
                        <a:defRPr sz="1050" b="0">
                          <a:solidFill>
                            <a:srgbClr val="000000"/>
                          </a:solidFill>
                          <a:latin typeface="Lato"/>
                        </a:defRPr>
                      </a:pPr>
                      <a:r>
                        <a:t>Bidvest [2]</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Durban; Richards Bay; Isando</a:t>
                      </a:r>
                    </a:p>
                    <a:p>
                      <a:pPr>
                        <a:defRPr sz="1050" b="0">
                          <a:solidFill>
                            <a:srgbClr val="000000"/>
                          </a:solidFill>
                          <a:latin typeface="Lato"/>
                        </a:defRPr>
                      </a:pPr>
                      <a:r>
                        <a:t>Mixed-product terminals</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Petrol/diesel scope; conflicting</a:t>
                      </a:r>
                    </a:p>
                    <a:p>
                      <a:pPr>
                        <a:defRPr sz="1050" b="0">
                          <a:solidFill>
                            <a:srgbClr val="000000"/>
                          </a:solidFill>
                          <a:latin typeface="Lato"/>
                        </a:defRPr>
                      </a:pPr>
                      <a:r>
                        <a:t>totals 955,603 vs 868,000 m³</a:t>
                      </a:r>
                    </a:p>
                  </a:txBody>
                  <a:tcPr marL="91440" marR="91440" marT="25400" marB="25400" anchor="ctr">
                    <a:lnB w="4445" cap="flat">
                      <a:solidFill>
                        <a:srgbClr val="B8B8B8"/>
                      </a:solidFill>
                    </a:lnB>
                    <a:solidFill>
                      <a:srgbClr val="FFFFFF"/>
                    </a:solidFill>
                  </a:tcPr>
                </a:tc>
              </a:tr>
              <a:tr h="388620">
                <a:tc>
                  <a:txBody>
                    <a:bodyPr/>
                    <a:lstStyle/>
                    <a:p>
                      <a:pPr>
                        <a:defRPr sz="1050" b="0">
                          <a:solidFill>
                            <a:srgbClr val="000000"/>
                          </a:solidFill>
                          <a:latin typeface="Lato"/>
                        </a:defRPr>
                      </a:pPr>
                      <a:r>
                        <a:t>Sasol [6]</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Alrode; Pretoria West; Waltloo;</a:t>
                      </a:r>
                    </a:p>
                    <a:p>
                      <a:pPr>
                        <a:defRPr sz="1050" b="0">
                          <a:solidFill>
                            <a:srgbClr val="000000"/>
                          </a:solidFill>
                          <a:latin typeface="Lato"/>
                        </a:defRPr>
                      </a:pPr>
                      <a:r>
                        <a:t>Sasolburg blending/logistics</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Current access; linked 2025/26</a:t>
                      </a:r>
                    </a:p>
                    <a:p>
                      <a:pPr>
                        <a:defRPr sz="1050" b="0">
                          <a:solidFill>
                            <a:srgbClr val="000000"/>
                          </a:solidFill>
                          <a:latin typeface="Lato"/>
                        </a:defRPr>
                      </a:pPr>
                      <a:r>
                        <a:t>notice ends March 2026</a:t>
                      </a:r>
                    </a:p>
                  </a:txBody>
                  <a:tcPr marL="91440" marR="91440" marT="25400" marB="25400" anchor="ctr">
                    <a:lnB w="4445" cap="flat">
                      <a:solidFill>
                        <a:srgbClr val="B8B8B8"/>
                      </a:solidFill>
                    </a:lnB>
                    <a:solidFill>
                      <a:srgbClr val="FFFFFF"/>
                    </a:solidFill>
                  </a:tcPr>
                </a:tc>
              </a:tr>
              <a:tr h="388620">
                <a:tc>
                  <a:txBody>
                    <a:bodyPr/>
                    <a:lstStyle/>
                    <a:p>
                      <a:pPr>
                        <a:defRPr sz="1050" b="0">
                          <a:solidFill>
                            <a:srgbClr val="000000"/>
                          </a:solidFill>
                          <a:latin typeface="Lato"/>
                        </a:defRPr>
                      </a:pPr>
                      <a:r>
                        <a:t>Transnet [7]</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Tarlton bulk storage;</a:t>
                      </a:r>
                    </a:p>
                    <a:p>
                      <a:pPr>
                        <a:defRPr sz="1050" b="0">
                          <a:solidFill>
                            <a:srgbClr val="000000"/>
                          </a:solidFill>
                          <a:latin typeface="Lato"/>
                        </a:defRPr>
                      </a:pPr>
                      <a:r>
                        <a:t>Jameson Park accumulation</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Usable tanks / third-party terms;</a:t>
                      </a:r>
                    </a:p>
                    <a:p>
                      <a:pPr>
                        <a:defRPr sz="1050" b="0">
                          <a:solidFill>
                            <a:srgbClr val="000000"/>
                          </a:solidFill>
                          <a:latin typeface="Lato"/>
                        </a:defRPr>
                      </a:pPr>
                      <a:r>
                        <a:t>not all depots are operating</a:t>
                      </a:r>
                    </a:p>
                  </a:txBody>
                  <a:tcPr marL="91440" marR="91440" marT="25400" marB="25400" anchor="ctr">
                    <a:lnB w="4445" cap="flat">
                      <a:solidFill>
                        <a:srgbClr val="B8B8B8"/>
                      </a:solidFill>
                    </a:lnB>
                    <a:solidFill>
                      <a:srgbClr val="FFFFFF"/>
                    </a:solidFill>
                  </a:tcPr>
                </a:tc>
              </a:tr>
              <a:tr h="388620">
                <a:tc>
                  <a:txBody>
                    <a:bodyPr/>
                    <a:lstStyle/>
                    <a:p>
                      <a:pPr>
                        <a:defRPr sz="1050" b="0">
                          <a:solidFill>
                            <a:srgbClr val="000000"/>
                          </a:solidFill>
                          <a:latin typeface="Lato"/>
                        </a:defRPr>
                      </a:pPr>
                      <a:r>
                        <a:t>Burgan Cape [3]</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Cape Town petrol/diesel terminal</a:t>
                      </a:r>
                    </a:p>
                    <a:p>
                      <a:pPr>
                        <a:defRPr sz="1050" b="0">
                          <a:solidFill>
                            <a:srgbClr val="000000"/>
                          </a:solidFill>
                          <a:latin typeface="Lato"/>
                        </a:defRPr>
                      </a:pPr>
                      <a:r>
                        <a:t>Published capacity 122,000 m³</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Current available capacity;</a:t>
                      </a:r>
                    </a:p>
                    <a:p>
                      <a:pPr>
                        <a:defRPr sz="1050" b="0">
                          <a:solidFill>
                            <a:srgbClr val="000000"/>
                          </a:solidFill>
                          <a:latin typeface="Lato"/>
                        </a:defRPr>
                      </a:pPr>
                      <a:r>
                        <a:t>Cape overlap unassessed</a:t>
                      </a:r>
                    </a:p>
                  </a:txBody>
                  <a:tcPr marL="91440" marR="91440" marT="25400" marB="25400" anchor="ctr">
                    <a:lnB w="4445" cap="flat">
                      <a:solidFill>
                        <a:srgbClr val="B8B8B8"/>
                      </a:solidFill>
                    </a:lnB>
                    <a:solidFill>
                      <a:srgbClr val="FFFFFF"/>
                    </a:solidFill>
                  </a:tcPr>
                </a:tc>
              </a:tr>
            </a:tbl>
          </a:graphicData>
        </a:graphic>
      </p:graphicFrame>
      <p:sp>
        <p:nvSpPr>
          <p:cNvPr id="23" name="TextBox 22"/>
          <p:cNvSpPr txBox="1"/>
          <p:nvPr/>
        </p:nvSpPr>
        <p:spPr>
          <a:xfrm>
            <a:off x="457200" y="4599432"/>
            <a:ext cx="6446520" cy="27432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Shell [4] and NERSA [5]: extend the inventory through site notices and allocation mechanisms.</a:t>
            </a:r>
          </a:p>
        </p:txBody>
      </p:sp>
      <p:sp>
        <p:nvSpPr>
          <p:cNvPr id="24" name="TextBox 23"/>
          <p:cNvSpPr txBox="1"/>
          <p:nvPr/>
        </p:nvSpPr>
        <p:spPr>
          <a:xfrm>
            <a:off x="457200" y="4901184"/>
            <a:ext cx="6446520" cy="201168"/>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Illustrative share of each regional market | % of demand</a:t>
            </a:r>
          </a:p>
        </p:txBody>
      </p:sp>
      <p:sp>
        <p:nvSpPr>
          <p:cNvPr id="25" name="TextBox 24"/>
          <p:cNvSpPr txBox="1"/>
          <p:nvPr/>
        </p:nvSpPr>
        <p:spPr>
          <a:xfrm>
            <a:off x="457200" y="5175504"/>
            <a:ext cx="1508760"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Eastern coast</a:t>
            </a:r>
          </a:p>
        </p:txBody>
      </p:sp>
      <p:sp>
        <p:nvSpPr>
          <p:cNvPr id="26" name="Illustrative Eastern coastal share segment 1: 22.222%"/>
          <p:cNvSpPr/>
          <p:nvPr/>
        </p:nvSpPr>
        <p:spPr>
          <a:xfrm>
            <a:off x="2011680" y="5193792"/>
            <a:ext cx="98552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0" y="5212079"/>
            <a:ext cx="985520" cy="164592"/>
          </a:xfrm>
          <a:prstGeom prst="rect">
            <a:avLst/>
          </a:prstGeom>
          <a:noFill/>
        </p:spPr>
        <p:txBody>
          <a:bodyPr wrap="square" lIns="22860" rIns="22860" tIns="0" bIns="0">
            <a:spAutoFit/>
          </a:bodyPr>
          <a:lstStyle/>
          <a:p>
            <a:pPr algn="ctr">
              <a:spcAft>
                <a:spcPts val="300"/>
              </a:spcAft>
              <a:defRPr sz="900" b="1">
                <a:solidFill>
                  <a:srgbClr val="FFFFFF"/>
                </a:solidFill>
                <a:latin typeface="Lato"/>
              </a:defRPr>
            </a:pPr>
            <a:r>
              <a:t>22.2%</a:t>
            </a:r>
          </a:p>
        </p:txBody>
      </p:sp>
      <p:sp>
        <p:nvSpPr>
          <p:cNvPr id="28" name="Illustrative Eastern coastal share segment 2: 33.333%"/>
          <p:cNvSpPr/>
          <p:nvPr/>
        </p:nvSpPr>
        <p:spPr>
          <a:xfrm>
            <a:off x="2997200" y="5193792"/>
            <a:ext cx="1478279" cy="21031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97200" y="5212079"/>
            <a:ext cx="1478279" cy="164592"/>
          </a:xfrm>
          <a:prstGeom prst="rect">
            <a:avLst/>
          </a:prstGeom>
          <a:noFill/>
        </p:spPr>
        <p:txBody>
          <a:bodyPr wrap="square" lIns="22860" rIns="22860" tIns="0" bIns="0">
            <a:spAutoFit/>
          </a:bodyPr>
          <a:lstStyle/>
          <a:p>
            <a:pPr algn="ctr">
              <a:spcAft>
                <a:spcPts val="300"/>
              </a:spcAft>
              <a:defRPr sz="900" b="1">
                <a:solidFill>
                  <a:srgbClr val="000000"/>
                </a:solidFill>
                <a:latin typeface="Lato"/>
              </a:defRPr>
            </a:pPr>
            <a:r>
              <a:t>33.3%</a:t>
            </a:r>
          </a:p>
        </p:txBody>
      </p:sp>
      <p:sp>
        <p:nvSpPr>
          <p:cNvPr id="30" name="Illustrative Eastern coastal share segment 3: 44.444%"/>
          <p:cNvSpPr/>
          <p:nvPr/>
        </p:nvSpPr>
        <p:spPr>
          <a:xfrm>
            <a:off x="4475479" y="5193792"/>
            <a:ext cx="1971040" cy="210312"/>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75479" y="5212079"/>
            <a:ext cx="1971040" cy="164592"/>
          </a:xfrm>
          <a:prstGeom prst="rect">
            <a:avLst/>
          </a:prstGeom>
          <a:noFill/>
        </p:spPr>
        <p:txBody>
          <a:bodyPr wrap="square" lIns="22860" rIns="22860" tIns="0" bIns="0">
            <a:spAutoFit/>
          </a:bodyPr>
          <a:lstStyle/>
          <a:p>
            <a:pPr algn="ctr">
              <a:spcAft>
                <a:spcPts val="300"/>
              </a:spcAft>
              <a:defRPr sz="900" b="1">
                <a:solidFill>
                  <a:srgbClr val="000000"/>
                </a:solidFill>
                <a:latin typeface="Lato"/>
              </a:defRPr>
            </a:pPr>
            <a:r>
              <a:t>44.4%</a:t>
            </a:r>
          </a:p>
        </p:txBody>
      </p:sp>
      <p:sp>
        <p:nvSpPr>
          <p:cNvPr id="32" name="TextBox 31"/>
          <p:cNvSpPr txBox="1"/>
          <p:nvPr/>
        </p:nvSpPr>
        <p:spPr>
          <a:xfrm>
            <a:off x="457200" y="5458968"/>
            <a:ext cx="1508760"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Inland</a:t>
            </a:r>
          </a:p>
        </p:txBody>
      </p:sp>
      <p:sp>
        <p:nvSpPr>
          <p:cNvPr id="33" name="Illustrative Inland share segment 1: 20.000%"/>
          <p:cNvSpPr/>
          <p:nvPr/>
        </p:nvSpPr>
        <p:spPr>
          <a:xfrm>
            <a:off x="2011680" y="5477255"/>
            <a:ext cx="88696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0" y="5495543"/>
            <a:ext cx="886968" cy="164592"/>
          </a:xfrm>
          <a:prstGeom prst="rect">
            <a:avLst/>
          </a:prstGeom>
          <a:noFill/>
        </p:spPr>
        <p:txBody>
          <a:bodyPr wrap="square" lIns="22860" rIns="22860" tIns="0" bIns="0">
            <a:spAutoFit/>
          </a:bodyPr>
          <a:lstStyle/>
          <a:p>
            <a:pPr algn="ctr">
              <a:spcAft>
                <a:spcPts val="300"/>
              </a:spcAft>
              <a:defRPr sz="900" b="1">
                <a:solidFill>
                  <a:srgbClr val="FFFFFF"/>
                </a:solidFill>
                <a:latin typeface="Lato"/>
              </a:defRPr>
            </a:pPr>
            <a:r>
              <a:t>20.0%</a:t>
            </a:r>
          </a:p>
        </p:txBody>
      </p:sp>
      <p:sp>
        <p:nvSpPr>
          <p:cNvPr id="35" name="Illustrative Inland share segment 2: 40.000%"/>
          <p:cNvSpPr/>
          <p:nvPr/>
        </p:nvSpPr>
        <p:spPr>
          <a:xfrm>
            <a:off x="2898648" y="5477255"/>
            <a:ext cx="1773936" cy="21031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98648" y="5495543"/>
            <a:ext cx="1773936" cy="164592"/>
          </a:xfrm>
          <a:prstGeom prst="rect">
            <a:avLst/>
          </a:prstGeom>
          <a:noFill/>
        </p:spPr>
        <p:txBody>
          <a:bodyPr wrap="square" lIns="22860" rIns="22860" tIns="0" bIns="0">
            <a:spAutoFit/>
          </a:bodyPr>
          <a:lstStyle/>
          <a:p>
            <a:pPr algn="ctr">
              <a:spcAft>
                <a:spcPts val="300"/>
              </a:spcAft>
              <a:defRPr sz="900" b="1">
                <a:solidFill>
                  <a:srgbClr val="000000"/>
                </a:solidFill>
                <a:latin typeface="Lato"/>
              </a:defRPr>
            </a:pPr>
            <a:r>
              <a:t>40.0%</a:t>
            </a:r>
          </a:p>
        </p:txBody>
      </p:sp>
      <p:sp>
        <p:nvSpPr>
          <p:cNvPr id="37" name="Illustrative Inland share segment 3: 40.000%"/>
          <p:cNvSpPr/>
          <p:nvPr/>
        </p:nvSpPr>
        <p:spPr>
          <a:xfrm>
            <a:off x="4672583" y="5477255"/>
            <a:ext cx="1773936" cy="210312"/>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72583" y="5495543"/>
            <a:ext cx="1773936" cy="164592"/>
          </a:xfrm>
          <a:prstGeom prst="rect">
            <a:avLst/>
          </a:prstGeom>
          <a:noFill/>
        </p:spPr>
        <p:txBody>
          <a:bodyPr wrap="square" lIns="22860" rIns="22860" tIns="0" bIns="0">
            <a:spAutoFit/>
          </a:bodyPr>
          <a:lstStyle/>
          <a:p>
            <a:pPr algn="ctr">
              <a:spcAft>
                <a:spcPts val="300"/>
              </a:spcAft>
              <a:defRPr sz="900" b="1">
                <a:solidFill>
                  <a:srgbClr val="000000"/>
                </a:solidFill>
                <a:latin typeface="Lato"/>
              </a:defRPr>
            </a:pPr>
            <a:r>
              <a:t>40.0%</a:t>
            </a:r>
          </a:p>
        </p:txBody>
      </p:sp>
      <p:sp>
        <p:nvSpPr>
          <p:cNvPr id="39" name="TextBox 38"/>
          <p:cNvSpPr txBox="1"/>
          <p:nvPr/>
        </p:nvSpPr>
        <p:spPr>
          <a:xfrm>
            <a:off x="457200" y="5760720"/>
            <a:ext cx="150876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Western coast</a:t>
            </a:r>
          </a:p>
        </p:txBody>
      </p:sp>
      <p:sp>
        <p:nvSpPr>
          <p:cNvPr id="40" name="Rectangle 39"/>
          <p:cNvSpPr/>
          <p:nvPr/>
        </p:nvSpPr>
        <p:spPr>
          <a:xfrm>
            <a:off x="2011680" y="5760720"/>
            <a:ext cx="4434840" cy="16459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11680" y="5760720"/>
            <a:ext cx="4434840" cy="164592"/>
          </a:xfrm>
          <a:prstGeom prst="rect">
            <a:avLst/>
          </a:prstGeom>
          <a:noFill/>
        </p:spPr>
        <p:txBody>
          <a:bodyPr wrap="square" lIns="22860" rIns="22860" tIns="0" bIns="0">
            <a:spAutoFit/>
          </a:bodyPr>
          <a:lstStyle/>
          <a:p>
            <a:pPr algn="ctr">
              <a:spcAft>
                <a:spcPts val="300"/>
              </a:spcAft>
              <a:defRPr sz="850" b="0">
                <a:solidFill>
                  <a:srgbClr val="000000"/>
                </a:solidFill>
                <a:latin typeface="Lato"/>
              </a:defRPr>
            </a:pPr>
            <a:r>
              <a:t>Unassessed - no share estimate</a:t>
            </a:r>
          </a:p>
        </p:txBody>
      </p:sp>
      <p:sp>
        <p:nvSpPr>
          <p:cNvPr id="42" name="TextBox 41"/>
          <p:cNvSpPr txBox="1"/>
          <p:nvPr/>
        </p:nvSpPr>
        <p:spPr>
          <a:xfrm>
            <a:off x="457200" y="5971032"/>
            <a:ext cx="150876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Other / NC</a:t>
            </a:r>
          </a:p>
        </p:txBody>
      </p:sp>
      <p:sp>
        <p:nvSpPr>
          <p:cNvPr id="43" name="Rectangle 42"/>
          <p:cNvSpPr/>
          <p:nvPr/>
        </p:nvSpPr>
        <p:spPr>
          <a:xfrm>
            <a:off x="2011680" y="5971032"/>
            <a:ext cx="4434840" cy="16459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11680" y="5971032"/>
            <a:ext cx="4434840" cy="164592"/>
          </a:xfrm>
          <a:prstGeom prst="rect">
            <a:avLst/>
          </a:prstGeom>
          <a:noFill/>
        </p:spPr>
        <p:txBody>
          <a:bodyPr wrap="square" lIns="22860" rIns="22860" tIns="0" bIns="0">
            <a:spAutoFit/>
          </a:bodyPr>
          <a:lstStyle/>
          <a:p>
            <a:pPr algn="ctr">
              <a:spcAft>
                <a:spcPts val="300"/>
              </a:spcAft>
              <a:defRPr sz="850" b="0">
                <a:solidFill>
                  <a:srgbClr val="000000"/>
                </a:solidFill>
                <a:latin typeface="Lato"/>
              </a:defRPr>
            </a:pPr>
            <a:r>
              <a:t>Unassessed - no share estimate</a:t>
            </a:r>
          </a:p>
        </p:txBody>
      </p:sp>
      <p:sp>
        <p:nvSpPr>
          <p:cNvPr id="45" name="Rectangle 44"/>
          <p:cNvSpPr/>
          <p:nvPr/>
        </p:nvSpPr>
        <p:spPr>
          <a:xfrm>
            <a:off x="457200" y="6236208"/>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6199632"/>
            <a:ext cx="224028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Current Vopak</a:t>
            </a:r>
          </a:p>
        </p:txBody>
      </p:sp>
      <p:sp>
        <p:nvSpPr>
          <p:cNvPr id="47" name="Rectangle 46"/>
          <p:cNvSpPr/>
          <p:nvPr/>
        </p:nvSpPr>
        <p:spPr>
          <a:xfrm>
            <a:off x="2103120" y="6236208"/>
            <a:ext cx="100584" cy="100584"/>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40279" y="6199632"/>
            <a:ext cx="224028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Additional candidate</a:t>
            </a:r>
          </a:p>
        </p:txBody>
      </p:sp>
      <p:sp>
        <p:nvSpPr>
          <p:cNvPr id="49" name="Rectangle 48"/>
          <p:cNvSpPr/>
          <p:nvPr/>
        </p:nvSpPr>
        <p:spPr>
          <a:xfrm>
            <a:off x="4526280" y="6236208"/>
            <a:ext cx="100584" cy="100584"/>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63440" y="6199632"/>
            <a:ext cx="224028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Outside envelope</a:t>
            </a:r>
          </a:p>
        </p:txBody>
      </p:sp>
      <p:sp>
        <p:nvSpPr>
          <p:cNvPr id="51" name="TextBox 50"/>
          <p:cNvSpPr txBox="1"/>
          <p:nvPr/>
        </p:nvSpPr>
        <p:spPr>
          <a:xfrm>
            <a:off x="457200"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52" name="TextBox 51"/>
          <p:cNvSpPr txBox="1"/>
          <p:nvPr/>
        </p:nvSpPr>
        <p:spPr>
          <a:xfrm>
            <a:off x="1353312"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53" name="TextBox 52"/>
          <p:cNvSpPr txBox="1"/>
          <p:nvPr/>
        </p:nvSpPr>
        <p:spPr>
          <a:xfrm>
            <a:off x="2249424"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54" name="TextBox 53"/>
          <p:cNvSpPr txBox="1"/>
          <p:nvPr/>
        </p:nvSpPr>
        <p:spPr>
          <a:xfrm>
            <a:off x="3145536"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55" name="TextBox 54"/>
          <p:cNvSpPr txBox="1"/>
          <p:nvPr/>
        </p:nvSpPr>
        <p:spPr>
          <a:xfrm>
            <a:off x="4041648"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56" name="TextBox 55"/>
          <p:cNvSpPr txBox="1"/>
          <p:nvPr/>
        </p:nvSpPr>
        <p:spPr>
          <a:xfrm>
            <a:off x="4937760"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57" name="TextBox 56"/>
          <p:cNvSpPr txBox="1"/>
          <p:nvPr/>
        </p:nvSpPr>
        <p:spPr>
          <a:xfrm>
            <a:off x="5833872"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