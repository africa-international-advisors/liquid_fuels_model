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70" r:id="rId13"/>
    <p:sldId id="264" r:id="rId14"/>
    <p:sldId id="265" r:id="rId15"/>
    <p:sldId id="269" r:id="rId16"/>
    <p:sldId id="266" r:id="rId17"/>
    <p:sldId id="271" r:id="rId18"/>
    <p:sldId id="267" r:id="rId19"/>
    <p:sldId id="268" r:id="rId20"/>
  </p:sldIdLst>
  <p:sldSz cx="11588750" cy="6858000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80F3E917-8A40-6377-B501-C0BF4583C07C}" name="Maria-Salome Milanzi" initials="MM" userId="S::Maria-Salome.M@africaia.com::27b80f15-cda9-458b-a241-0020d0d18b2b" providerId="AD"/>
  <p188:author id="{8653DC3D-E5A6-54BA-B06A-0D6999879F26}" name="Joseph Kihara" initials="JK" userId="S::joseph.k@africaia.com::89b38e7e-ff17-4223-9856-6d82edda0c7c" providerId="AD"/>
  <p188:author id="{79DE144E-B764-F176-BA11-B9193ABDC8E5}" name="Davies Tsikayi" initials="DT" userId="S::Davies.T@africaia.com::87c07fce-c37d-4ded-b6b5-65d5c8b951c1" providerId="AD"/>
  <p188:author id="{31278C59-D498-87BD-2E87-AF9308A52A9D}" name="Shannon Kurz" initials="SK" userId="Shannon Kurz" providerId="None"/>
  <p188:author id="{68AE2466-B378-7AA2-581F-E86841585307}" name="Paayal Kanjee Govind" initials="PK" userId="S::Paayal.KG@africaia.com::50637073-a9d2-4dfa-96c0-927604d7cc3c" providerId="AD"/>
  <p188:author id="{C5B1668E-F34A-2E98-0466-BAF8D463548D}" name="Manish Ramjeawon" initials="MR" userId="S::manish.r@africaia.com::530ca382-ae44-4c47-aaca-bb6bff7153ab" providerId="AD"/>
  <p188:author id="{F720B396-19C0-DB41-D221-DFCF831531AE}" name="Henry Gilfillan" initials="HG" userId="Henry Gilfillan" providerId="None"/>
  <p188:author id="{9FBE07B6-A3E1-BFC7-95A7-1EBCABB54112}" name="Karabo Mashabane" initials="KM" userId="S::Karabo.M@africaia.com::def9b110-1e86-4623-94be-634dc77ab82b" providerId="AD"/>
  <p188:author id="{53709FFD-5FBE-8519-0B68-00C91B158654}" name="James Brown" initials="JB" userId="James Brown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D97399-3EEC-4F8E-8A81-B759403EDABA}" v="340" dt="2026-10-12T11:01:55.723"/>
    <p1510:client id="{E71C4F2D-0233-437F-B12B-11FCAAF6CDD3}" v="64" dt="2026-10-12T11:53:48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2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Relationship Id="rId31" Type="http://schemas.microsoft.com/office/2015/10/relationships/revisionInfo" Target="revisionInfo.xml"/><Relationship Id="rId3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 Ramjeawon" userId="530ca382-ae44-4c47-aaca-bb6bff7153ab" providerId="ADAL" clId="{29D73FD1-3025-44EE-909B-93CFE9675191}"/>
    <pc:docChg chg="custSel modSld">
      <pc:chgData name="Manish Ramjeawon" userId="530ca382-ae44-4c47-aaca-bb6bff7153ab" providerId="ADAL" clId="{29D73FD1-3025-44EE-909B-93CFE9675191}" dt="2026-10-12T11:53:48.229" v="63" actId="207"/>
      <pc:docMkLst>
        <pc:docMk/>
      </pc:docMkLst>
      <pc:sldChg chg="addSp modSp mod">
        <pc:chgData name="Manish Ramjeawon" userId="530ca382-ae44-4c47-aaca-bb6bff7153ab" providerId="ADAL" clId="{29D73FD1-3025-44EE-909B-93CFE9675191}" dt="2026-10-12T11:53:48.229" v="63" actId="207"/>
        <pc:sldMkLst>
          <pc:docMk/>
          <pc:sldMk cId="2019262759" sldId="265"/>
        </pc:sldMkLst>
        <pc:spChg chg="add mod">
          <ac:chgData name="Manish Ramjeawon" userId="530ca382-ae44-4c47-aaca-bb6bff7153ab" providerId="ADAL" clId="{29D73FD1-3025-44EE-909B-93CFE9675191}" dt="2026-10-12T11:53:48.229" v="63" actId="207"/>
          <ac:spMkLst>
            <pc:docMk/>
            <pc:sldMk cId="2019262759" sldId="265"/>
            <ac:spMk id="4" creationId="{EED55322-E406-191C-6751-9ED8C23A201F}"/>
          </ac:spMkLst>
        </pc:spChg>
      </pc:sldChg>
    </pc:docChg>
  </pc:docChgLst>
  <pc:docChgLst>
    <pc:chgData name="Nigel Zhuwaki" userId="601ab1a4-89ec-42bd-bbbd-3cbdd75d5043" providerId="ADAL" clId="{FD94FAF6-F80E-40A7-9173-AD9516BB5441}"/>
    <pc:docChg chg="modSld">
      <pc:chgData name="Nigel Zhuwaki" userId="601ab1a4-89ec-42bd-bbbd-3cbdd75d5043" providerId="ADAL" clId="{FD94FAF6-F80E-40A7-9173-AD9516BB5441}" dt="2026-10-12T11:01:53.205" v="5"/>
      <pc:docMkLst>
        <pc:docMk/>
      </pc:docMkLst>
      <pc:sldChg chg="delSp modSp">
        <pc:chgData name="Nigel Zhuwaki" userId="601ab1a4-89ec-42bd-bbbd-3cbdd75d5043" providerId="ADAL" clId="{FD94FAF6-F80E-40A7-9173-AD9516BB5441}" dt="2026-10-12T11:01:53.205" v="5"/>
        <pc:sldMkLst>
          <pc:docMk/>
          <pc:sldMk cId="2019262759" sldId="266"/>
        </pc:sldMkLst>
        <pc:grpChg chg="mod">
          <ac:chgData name="Nigel Zhuwaki" userId="601ab1a4-89ec-42bd-bbbd-3cbdd75d5043" providerId="ADAL" clId="{FD94FAF6-F80E-40A7-9173-AD9516BB5441}" dt="2026-10-12T10:59:13.367" v="2"/>
          <ac:grpSpMkLst>
            <pc:docMk/>
            <pc:sldMk cId="2019262759" sldId="266"/>
            <ac:grpSpMk id="10" creationId="{3D37963D-AD37-A35D-C17B-AA3620FF935D}"/>
          </ac:grpSpMkLst>
        </pc:grpChg>
        <pc:grpChg chg="mod">
          <ac:chgData name="Nigel Zhuwaki" userId="601ab1a4-89ec-42bd-bbbd-3cbdd75d5043" providerId="ADAL" clId="{FD94FAF6-F80E-40A7-9173-AD9516BB5441}" dt="2026-10-12T11:01:42.298" v="3"/>
          <ac:grpSpMkLst>
            <pc:docMk/>
            <pc:sldMk cId="2019262759" sldId="266"/>
            <ac:grpSpMk id="14" creationId="{3C6289BB-F2CA-4455-B274-7078AFB32F86}"/>
          </ac:grpSpMkLst>
        </pc:grpChg>
        <pc:grpChg chg="del mod">
          <ac:chgData name="Nigel Zhuwaki" userId="601ab1a4-89ec-42bd-bbbd-3cbdd75d5043" providerId="ADAL" clId="{FD94FAF6-F80E-40A7-9173-AD9516BB5441}" dt="2026-10-12T11:01:53.205" v="5"/>
          <ac:grpSpMkLst>
            <pc:docMk/>
            <pc:sldMk cId="2019262759" sldId="266"/>
            <ac:grpSpMk id="19" creationId="{7F1457B6-345A-18DC-32D2-7362069A1037}"/>
          </ac:grpSpMkLst>
        </pc:grpChg>
        <pc:grpChg chg="mod">
          <ac:chgData name="Nigel Zhuwaki" userId="601ab1a4-89ec-42bd-bbbd-3cbdd75d5043" providerId="ADAL" clId="{FD94FAF6-F80E-40A7-9173-AD9516BB5441}" dt="2026-10-12T11:01:53.205" v="5"/>
          <ac:grpSpMkLst>
            <pc:docMk/>
            <pc:sldMk cId="2019262759" sldId="266"/>
            <ac:grpSpMk id="21" creationId="{5B144456-6151-7D26-FF3B-BE41721F63D1}"/>
          </ac:grpSpMkLst>
        </pc:grpChg>
        <pc:inkChg chg="mod">
          <ac:chgData name="Nigel Zhuwaki" userId="601ab1a4-89ec-42bd-bbbd-3cbdd75d5043" providerId="ADAL" clId="{FD94FAF6-F80E-40A7-9173-AD9516BB5441}" dt="2026-10-12T10:59:13.367" v="2"/>
          <ac:inkMkLst>
            <pc:docMk/>
            <pc:sldMk cId="2019262759" sldId="266"/>
            <ac:inkMk id="6" creationId="{DF5F3AC2-3327-FCC7-6D67-0929A2F786F7}"/>
          </ac:inkMkLst>
        </pc:inkChg>
        <pc:inkChg chg="mod">
          <ac:chgData name="Nigel Zhuwaki" userId="601ab1a4-89ec-42bd-bbbd-3cbdd75d5043" providerId="ADAL" clId="{FD94FAF6-F80E-40A7-9173-AD9516BB5441}" dt="2026-10-12T10:59:13.367" v="2"/>
          <ac:inkMkLst>
            <pc:docMk/>
            <pc:sldMk cId="2019262759" sldId="266"/>
            <ac:inkMk id="7" creationId="{19D744A8-D0D6-EF14-7D69-A857EA7FEE48}"/>
          </ac:inkMkLst>
        </pc:inkChg>
        <pc:inkChg chg="mod">
          <ac:chgData name="Nigel Zhuwaki" userId="601ab1a4-89ec-42bd-bbbd-3cbdd75d5043" providerId="ADAL" clId="{FD94FAF6-F80E-40A7-9173-AD9516BB5441}" dt="2026-10-12T10:59:13.367" v="2"/>
          <ac:inkMkLst>
            <pc:docMk/>
            <pc:sldMk cId="2019262759" sldId="266"/>
            <ac:inkMk id="9" creationId="{DF1258E4-4FFA-4C56-24AD-AD7BFE2761D2}"/>
          </ac:inkMkLst>
        </pc:inkChg>
        <pc:inkChg chg="mod">
          <ac:chgData name="Nigel Zhuwaki" userId="601ab1a4-89ec-42bd-bbbd-3cbdd75d5043" providerId="ADAL" clId="{FD94FAF6-F80E-40A7-9173-AD9516BB5441}" dt="2026-10-12T11:01:42.298" v="3"/>
          <ac:inkMkLst>
            <pc:docMk/>
            <pc:sldMk cId="2019262759" sldId="266"/>
            <ac:inkMk id="11" creationId="{20EEC612-1C23-2350-33C3-BC79979C1BED}"/>
          </ac:inkMkLst>
        </pc:inkChg>
        <pc:inkChg chg="mod">
          <ac:chgData name="Nigel Zhuwaki" userId="601ab1a4-89ec-42bd-bbbd-3cbdd75d5043" providerId="ADAL" clId="{FD94FAF6-F80E-40A7-9173-AD9516BB5441}" dt="2026-10-12T11:01:42.298" v="3"/>
          <ac:inkMkLst>
            <pc:docMk/>
            <pc:sldMk cId="2019262759" sldId="266"/>
            <ac:inkMk id="12" creationId="{D5F338E2-7EA0-9E18-0E35-2021A65D643A}"/>
          </ac:inkMkLst>
        </pc:inkChg>
        <pc:inkChg chg="mod">
          <ac:chgData name="Nigel Zhuwaki" userId="601ab1a4-89ec-42bd-bbbd-3cbdd75d5043" providerId="ADAL" clId="{FD94FAF6-F80E-40A7-9173-AD9516BB5441}" dt="2026-10-12T11:01:42.298" v="3"/>
          <ac:inkMkLst>
            <pc:docMk/>
            <pc:sldMk cId="2019262759" sldId="266"/>
            <ac:inkMk id="13" creationId="{986C1384-8528-6F44-4075-0DEB83FB14DA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5" creationId="{C9614290-2685-3586-E10B-190009EBF649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6" creationId="{AE40C8CC-5B04-9D7D-4B3E-EA02F0FAE31B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7" creationId="{B23B405D-8A33-4116-08A6-80D33A78848F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18" creationId="{62FF2EE2-74F8-CA6C-28A1-3EE0D1DFED7A}"/>
          </ac:inkMkLst>
        </pc:inkChg>
        <pc:inkChg chg="mod">
          <ac:chgData name="Nigel Zhuwaki" userId="601ab1a4-89ec-42bd-bbbd-3cbdd75d5043" providerId="ADAL" clId="{FD94FAF6-F80E-40A7-9173-AD9516BB5441}" dt="2026-10-12T11:01:53.205" v="5"/>
          <ac:inkMkLst>
            <pc:docMk/>
            <pc:sldMk cId="2019262759" sldId="266"/>
            <ac:inkMk id="20" creationId="{4FBA43CD-0ADD-2D0F-C834-BA33ACF157EC}"/>
          </ac:inkMkLst>
        </pc:inkChg>
      </pc:sldChg>
      <pc:sldChg chg="addSp modSp">
        <pc:chgData name="Nigel Zhuwaki" userId="601ab1a4-89ec-42bd-bbbd-3cbdd75d5043" providerId="ADAL" clId="{FD94FAF6-F80E-40A7-9173-AD9516BB5441}" dt="2026-10-12T10:48:20.409" v="1"/>
        <pc:sldMkLst>
          <pc:docMk/>
          <pc:sldMk cId="75318732" sldId="270"/>
        </pc:sldMkLst>
        <pc:spChg chg="add mod">
          <ac:chgData name="Nigel Zhuwaki" userId="601ab1a4-89ec-42bd-bbbd-3cbdd75d5043" providerId="ADAL" clId="{FD94FAF6-F80E-40A7-9173-AD9516BB5441}" dt="2026-10-12T10:43:50.334" v="0" actId="571"/>
          <ac:spMkLst>
            <pc:docMk/>
            <pc:sldMk cId="75318732" sldId="270"/>
            <ac:spMk id="7" creationId="{14739CA6-736F-9F9F-FEDC-7E4E4345B182}"/>
          </ac:spMkLst>
        </pc:spChg>
        <pc:picChg chg="add">
          <ac:chgData name="Nigel Zhuwaki" userId="601ab1a4-89ec-42bd-bbbd-3cbdd75d5043" providerId="ADAL" clId="{FD94FAF6-F80E-40A7-9173-AD9516BB5441}" dt="2026-10-12T10:48:20.409" v="1"/>
          <ac:picMkLst>
            <pc:docMk/>
            <pc:sldMk cId="75318732" sldId="270"/>
            <ac:picMk id="9" creationId="{91BCDE9B-72BE-25DD-B6F0-BF068B61CA65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Production (assumed)</c:v>
          </c:tx>
          <c:spPr>
            <a:solidFill>
              <a:srgbClr val="6782B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Data'!$B$2:$B$3</c:f>
              <c:numCache>
                <c:formatCode>0.00;\-0.00;</c:formatCode>
                <c:ptCount val="2"/>
                <c:pt idx="0">
                  <c:v>5.8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098-444E-B683-B147F17C1B41}"/>
            </c:ext>
          </c:extLst>
        </c:ser>
        <c:ser>
          <c:idx val="1"/>
          <c:order val="1"/>
          <c:tx>
            <c:v>Imports (recorded)</c:v>
          </c:tx>
          <c:spPr>
            <a:solidFill>
              <a:srgbClr val="0A237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Data'!$D$2:$D$3</c:f>
              <c:numCache>
                <c:formatCode>0.00;\-0.00;</c:formatCode>
                <c:ptCount val="2"/>
                <c:pt idx="0">
                  <c:v>16.702191440219998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098-444E-B683-B147F17C1B41}"/>
            </c:ext>
          </c:extLst>
        </c:ser>
        <c:ser>
          <c:idx val="2"/>
          <c:order val="2"/>
          <c:tx>
            <c:v>Consumption (estimated)</c:v>
          </c:tx>
          <c:spPr>
            <a:solidFill>
              <a:srgbClr val="0A237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Data'!$F$2:$F$3</c:f>
              <c:numCache>
                <c:formatCode>0.00;\-0.00;</c:formatCode>
                <c:ptCount val="2"/>
                <c:pt idx="0">
                  <c:v>0</c:v>
                </c:pt>
                <c:pt idx="1">
                  <c:v>20.9873881970952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5098-444E-B683-B147F17C1B41}"/>
            </c:ext>
          </c:extLst>
        </c:ser>
        <c:ser>
          <c:idx val="3"/>
          <c:order val="3"/>
          <c:tx>
            <c:v>Exports (recorded)</c:v>
          </c:tx>
          <c:spPr>
            <a:solidFill>
              <a:srgbClr val="92929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Data'!$G$2:$G$3</c:f>
              <c:strCache>
                <c:ptCount val="2"/>
                <c:pt idx="0">
                  <c:v>Supply</c:v>
                </c:pt>
                <c:pt idx="1">
                  <c:v>Consumption + exports</c:v>
                </c:pt>
              </c:strCache>
            </c:strRef>
          </c:cat>
          <c:val>
            <c:numRef>
              <c:f>'Chart Data'!$H$2:$H$3</c:f>
              <c:numCache>
                <c:formatCode>0.00;\-0.00;</c:formatCode>
                <c:ptCount val="2"/>
                <c:pt idx="0">
                  <c:v>0</c:v>
                </c:pt>
                <c:pt idx="1">
                  <c:v>1.54846267607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5098-444E-B683-B147F17C1B4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3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;\-0.00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areaChart>
        <c:grouping val="stacked"/>
        <c:varyColors val="1"/>
        <c:ser>
          <c:idx val="0"/>
          <c:order val="0"/>
          <c:tx>
            <c:v>Petrol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cat>
            <c:strRef>
              <c:f>'Chart Data'!$A$2:$A$14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Data'!$B$2:$B$14</c:f>
              <c:numCache>
                <c:formatCode>0.00</c:formatCode>
                <c:ptCount val="13"/>
                <c:pt idx="0">
                  <c:v>11.439925235</c:v>
                </c:pt>
                <c:pt idx="1">
                  <c:v>10.890207679</c:v>
                </c:pt>
                <c:pt idx="2">
                  <c:v>11.475709420317999</c:v>
                </c:pt>
                <c:pt idx="3">
                  <c:v>11.462252466686</c:v>
                </c:pt>
                <c:pt idx="4">
                  <c:v>11.174082980370001</c:v>
                </c:pt>
                <c:pt idx="5">
                  <c:v>11.141630546702</c:v>
                </c:pt>
                <c:pt idx="6">
                  <c:v>10.773208065062001</c:v>
                </c:pt>
                <c:pt idx="7">
                  <c:v>8.7614709614960002</c:v>
                </c:pt>
                <c:pt idx="8">
                  <c:v>9.3015842276829996</c:v>
                </c:pt>
                <c:pt idx="9">
                  <c:v>9.1848699155729996</c:v>
                </c:pt>
                <c:pt idx="10">
                  <c:v>9.0369501134920007</c:v>
                </c:pt>
                <c:pt idx="11">
                  <c:v>8.9459028410985706</c:v>
                </c:pt>
                <c:pt idx="12">
                  <c:v>8.8557728699744995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99-4ABA-B741-0B7E1B91FC7B}"/>
            </c:ext>
          </c:extLst>
        </c:ser>
        <c:ser>
          <c:idx val="1"/>
          <c:order val="1"/>
          <c:tx>
            <c:v>Diesel</c:v>
          </c:tx>
          <c:spPr>
            <a:solidFill>
              <a:srgbClr val="6782B4"/>
            </a:solidFill>
            <a:ln w="23813">
              <a:solidFill>
                <a:srgbClr val="6782B4"/>
              </a:solidFill>
            </a:ln>
          </c:spPr>
          <c:cat>
            <c:strRef>
              <c:f>'Chart Data'!$C$2:$C$14</c:f>
              <c:strCache>
                <c:ptCount val="13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2024E</c:v>
                </c:pt>
                <c:pt idx="12">
                  <c:v>2025E</c:v>
                </c:pt>
              </c:strCache>
            </c:strRef>
          </c:cat>
          <c:val>
            <c:numRef>
              <c:f>'Chart Data'!$D$2:$D$14</c:f>
              <c:numCache>
                <c:formatCode>0.00</c:formatCode>
                <c:ptCount val="13"/>
                <c:pt idx="0">
                  <c:v>12.141281548</c:v>
                </c:pt>
                <c:pt idx="1">
                  <c:v>12.615023359</c:v>
                </c:pt>
                <c:pt idx="2">
                  <c:v>13.520139251950001</c:v>
                </c:pt>
                <c:pt idx="3">
                  <c:v>12.082374038422</c:v>
                </c:pt>
                <c:pt idx="4">
                  <c:v>12.147245167189</c:v>
                </c:pt>
                <c:pt idx="5">
                  <c:v>12.538744325998</c:v>
                </c:pt>
                <c:pt idx="6">
                  <c:v>12.908631232216999</c:v>
                </c:pt>
                <c:pt idx="7">
                  <c:v>11.689957759296</c:v>
                </c:pt>
                <c:pt idx="8">
                  <c:v>12.945782750435001</c:v>
                </c:pt>
                <c:pt idx="9">
                  <c:v>12.717326319019</c:v>
                </c:pt>
                <c:pt idx="10">
                  <c:v>12.907499965808</c:v>
                </c:pt>
                <c:pt idx="11">
                  <c:v>13.1352061654661</c:v>
                </c:pt>
                <c:pt idx="12">
                  <c:v>12.1316153271207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99-4ABA-B741-0B7E1B91FC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area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Mining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1.3959664570874299</c:v>
                </c:pt>
                <c:pt idx="1">
                  <c:v>1.40372043669139</c:v>
                </c:pt>
                <c:pt idx="2">
                  <c:v>1.4063467846217601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4E-4C88-AF1B-02EEF2721A0E}"/>
            </c:ext>
          </c:extLst>
        </c:ser>
        <c:ser>
          <c:idx val="1"/>
          <c:order val="1"/>
          <c:tx>
            <c:v>Agriculture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1.0552755203659401</c:v>
                </c:pt>
                <c:pt idx="1">
                  <c:v>0.96334031535047504</c:v>
                </c:pt>
                <c:pt idx="2">
                  <c:v>1.1312246982365199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4E-4C88-AF1B-02EEF2721A0E}"/>
            </c:ext>
          </c:extLst>
        </c:ser>
        <c:ser>
          <c:idx val="2"/>
          <c:order val="2"/>
          <c:tx>
            <c:v>Manufacturing</c:v>
          </c:tx>
          <c:spPr>
            <a:ln w="23813">
              <a:solidFill>
                <a:srgbClr val="868686"/>
              </a:solidFill>
            </a:ln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0.16789786744139201</c:v>
                </c:pt>
                <c:pt idx="1">
                  <c:v>0.16721110753544299</c:v>
                </c:pt>
                <c:pt idx="2">
                  <c:v>0.16507618000173099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34E-4C88-AF1B-02EEF2721A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Eskom diesel + kerosene, bn litres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0.9375</c:v>
                </c:pt>
                <c:pt idx="1">
                  <c:v>1.1294999999999999</c:v>
                </c:pt>
                <c:pt idx="2">
                  <c:v>0.67910000000000004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E5C-482E-870C-C7109AA53D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Road, million tonnes</c:v>
          </c:tx>
          <c:spPr>
            <a:solidFill>
              <a:srgbClr val="0A2373"/>
            </a:solidFill>
            <a:ln w="23813">
              <a:solidFill>
                <a:srgbClr val="0A2373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979.798</c:v>
                </c:pt>
                <c:pt idx="1">
                  <c:v>976.46799999999996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0A2373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381-4800-BBB0-336A2215AD99}"/>
            </c:ext>
          </c:extLst>
        </c:ser>
        <c:ser>
          <c:idx val="1"/>
          <c:order val="1"/>
          <c:tx>
            <c:v>Rail, million tonnes</c:v>
          </c:tx>
          <c:spPr>
            <a:solidFill>
              <a:srgbClr val="6782B4"/>
            </a:solidFill>
            <a:ln w="23813">
              <a:solidFill>
                <a:srgbClr val="6782B4"/>
              </a:solidFill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3333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Data'!$C$2:$C$3</c:f>
              <c:numCache>
                <c:formatCode>General</c:formatCode>
                <c:ptCount val="2"/>
                <c:pt idx="0">
                  <c:v>2024</c:v>
                </c:pt>
                <c:pt idx="1">
                  <c:v>2025</c:v>
                </c:pt>
              </c:numCache>
            </c:num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160.745</c:v>
                </c:pt>
                <c:pt idx="1">
                  <c:v>168.26300000000001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23813">
                    <a:solidFill>
                      <a:srgbClr val="6782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381-4800-BBB0-336A2215AD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555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BEV</c:v>
                </c:pt>
              </c:strCache>
            </c:strRef>
          </c:tx>
          <c:spPr>
            <a:solidFill>
              <a:srgbClr val="929292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Sheet1!$B$2:$B$8</c:f>
              <c:numCache>
                <c:formatCode>#,##0</c:formatCode>
                <c:ptCount val="7"/>
                <c:pt idx="0">
                  <c:v>154</c:v>
                </c:pt>
                <c:pt idx="1">
                  <c:v>92</c:v>
                </c:pt>
                <c:pt idx="2">
                  <c:v>218</c:v>
                </c:pt>
                <c:pt idx="3">
                  <c:v>502</c:v>
                </c:pt>
                <c:pt idx="4">
                  <c:v>929</c:v>
                </c:pt>
                <c:pt idx="5">
                  <c:v>1257</c:v>
                </c:pt>
                <c:pt idx="6">
                  <c:v>1088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Plug-in hybrid</c:v>
                </c:pt>
              </c:strCache>
            </c:strRef>
          </c:tx>
          <c:spPr>
            <a:solidFill>
              <a:srgbClr val="6782B4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Sheet1!$C$2:$C$8</c:f>
              <c:numCache>
                <c:formatCode>#,##0</c:formatCode>
                <c:ptCount val="7"/>
                <c:pt idx="0">
                  <c:v>72</c:v>
                </c:pt>
                <c:pt idx="1">
                  <c:v>77</c:v>
                </c:pt>
                <c:pt idx="2">
                  <c:v>51</c:v>
                </c:pt>
                <c:pt idx="3">
                  <c:v>122</c:v>
                </c:pt>
                <c:pt idx="4">
                  <c:v>368</c:v>
                </c:pt>
                <c:pt idx="5">
                  <c:v>738</c:v>
                </c:pt>
                <c:pt idx="6">
                  <c:v>2810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Conventional hybrid</c:v>
                </c:pt>
              </c:strCache>
            </c:strRef>
          </c:tx>
          <c:spPr>
            <a:solidFill>
              <a:srgbClr val="0A2373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strCache>
            </c:strRef>
          </c:cat>
          <c:val>
            <c:numRef>
              <c:f>Sheet1!$D$2:$D$8</c:f>
              <c:numCache>
                <c:formatCode>#,##0</c:formatCode>
                <c:ptCount val="7"/>
                <c:pt idx="0">
                  <c:v>181</c:v>
                </c:pt>
                <c:pt idx="1">
                  <c:v>155</c:v>
                </c:pt>
                <c:pt idx="2">
                  <c:v>627</c:v>
                </c:pt>
                <c:pt idx="3">
                  <c:v>4070</c:v>
                </c:pt>
                <c:pt idx="4">
                  <c:v>6485</c:v>
                </c:pt>
                <c:pt idx="5">
                  <c:v>13616</c:v>
                </c:pt>
                <c:pt idx="6">
                  <c:v>12818</c:v>
                </c:pt>
              </c:numCache>
            </c:numRef>
          </c:val>
        </c:ser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#,##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-2068027336"/>
        <c:crosses val="autoZero"/>
      </c:valAx>
      <c:dTable>
        <c:showHorzBorder val="1"/>
        <c:showVertBorder val="0"/>
        <c:showOutline val="0"/>
        <c:showKeys val="1"/>
        <c:spPr>
          <a:noFill/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</c:dTable>
    </c:plotArea>
    <c:dispBlanksAs val="gap"/>
  </c:chart>
  <c:txPr>
    <a:bodyPr/>
    <a:lstStyle/>
    <a:p>
      <a:pPr>
        <a:defRPr sz="1000">
          <a:latin typeface="Lato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Petrol</c:v>
                </c:pt>
              </c:strCache>
            </c:strRef>
          </c:tx>
          <c:spPr>
            <a:ln w="23813">
              <a:solidFill>
                <a:srgbClr val="0A2373"/>
              </a:solidFill>
            </a:ln>
          </c:spPr>
          <c:marker>
            <c:symbol val="circle"/>
            <c:size val="5"/>
            <c:spPr>
              <a:solidFill>
                <a:srgbClr val="0A2373"/>
              </a:solidFill>
              <a:ln>
                <a:solidFill>
                  <a:srgbClr val="0A2373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1975</c:v>
                </c:pt>
                <c:pt idx="1">
                  <c:v>1980</c:v>
                </c:pt>
                <c:pt idx="2">
                  <c:v>1985</c:v>
                </c:pt>
                <c:pt idx="3">
                  <c:v>1990</c:v>
                </c:pt>
                <c:pt idx="4">
                  <c:v>1995</c:v>
                </c:pt>
                <c:pt idx="5">
                  <c:v>2000</c:v>
                </c:pt>
                <c:pt idx="6">
                  <c:v>2005</c:v>
                </c:pt>
                <c:pt idx="7">
                  <c:v>2010</c:v>
                </c:pt>
                <c:pt idx="8">
                  <c:v>2015</c:v>
                </c:pt>
                <c:pt idx="9">
                  <c:v>2020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17.4</c:v>
                </c:pt>
                <c:pt idx="1">
                  <c:v>15.1</c:v>
                </c:pt>
                <c:pt idx="2">
                  <c:v>13.4</c:v>
                </c:pt>
                <c:pt idx="3">
                  <c:v>12.8</c:v>
                </c:pt>
                <c:pt idx="4">
                  <c:v>12.2</c:v>
                </c:pt>
                <c:pt idx="5">
                  <c:v>11.8</c:v>
                </c:pt>
                <c:pt idx="6">
                  <c:v>11.0</c:v>
                </c:pt>
                <c:pt idx="7">
                  <c:v>10.5</c:v>
                </c:pt>
                <c:pt idx="8">
                  <c:v>9.7</c:v>
                </c:pt>
                <c:pt idx="9">
                  <c:v>9.2</c:v>
                </c:pt>
                <c:pt idx="10">
                  <c:v>8.8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Diesel</c:v>
                </c:pt>
              </c:strCache>
            </c:strRef>
          </c:tx>
          <c:spPr>
            <a:ln w="23813">
              <a:solidFill>
                <a:srgbClr val="6782B4"/>
              </a:solidFill>
            </a:ln>
          </c:spPr>
          <c:marker>
            <c:symbol val="circle"/>
            <c:size val="5"/>
            <c:spPr>
              <a:solidFill>
                <a:srgbClr val="6782B4"/>
              </a:solidFill>
              <a:ln>
                <a:solidFill>
                  <a:srgbClr val="6782B4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spPr/>
              <c:txPr>
                <a:bodyPr/>
                <a:lstStyle/>
                <a:p>
                  <a:pPr>
                    <a:defRPr sz="900">
                      <a:solidFill>
                        <a:srgbClr val="333333"/>
                      </a:solidFill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1975</c:v>
                </c:pt>
                <c:pt idx="1">
                  <c:v>1980</c:v>
                </c:pt>
                <c:pt idx="2">
                  <c:v>1985</c:v>
                </c:pt>
                <c:pt idx="3">
                  <c:v>1990</c:v>
                </c:pt>
                <c:pt idx="4">
                  <c:v>1995</c:v>
                </c:pt>
                <c:pt idx="5">
                  <c:v>2000</c:v>
                </c:pt>
                <c:pt idx="6">
                  <c:v>2005</c:v>
                </c:pt>
                <c:pt idx="7">
                  <c:v>2010</c:v>
                </c:pt>
                <c:pt idx="8">
                  <c:v>2015</c:v>
                </c:pt>
                <c:pt idx="9">
                  <c:v>2020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0.0</c:formatCode>
                <c:ptCount val="11"/>
                <c:pt idx="0">
                  <c:v>13.4</c:v>
                </c:pt>
                <c:pt idx="1">
                  <c:v>11.8</c:v>
                </c:pt>
                <c:pt idx="2">
                  <c:v>10.6</c:v>
                </c:pt>
                <c:pt idx="3">
                  <c:v>10.1</c:v>
                </c:pt>
                <c:pt idx="4">
                  <c:v>9.6</c:v>
                </c:pt>
                <c:pt idx="5">
                  <c:v>9.2</c:v>
                </c:pt>
                <c:pt idx="6">
                  <c:v>8.7</c:v>
                </c:pt>
                <c:pt idx="7">
                  <c:v>8.3</c:v>
                </c:pt>
                <c:pt idx="8">
                  <c:v>7.8</c:v>
                </c:pt>
                <c:pt idx="9">
                  <c:v>7.7</c:v>
                </c:pt>
                <c:pt idx="10">
                  <c:v>7.6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.0"/>
          <c:min val="0.0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2118791784"/>
        <c:crosses val="autoZero"/>
        <c:majorUnit val="5.0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Lato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v>Petrol</c:v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10.82816</c:v>
                </c:pt>
                <c:pt idx="1">
                  <c:v>10.457813</c:v>
                </c:pt>
                <c:pt idx="2">
                  <c:v>10.393065999999999</c:v>
                </c:pt>
                <c:pt idx="3">
                  <c:v>9.4344400000000004</c:v>
                </c:pt>
                <c:pt idx="4">
                  <c:v>9.9745600000000003</c:v>
                </c:pt>
                <c:pt idx="5">
                  <c:v>10.424467</c:v>
                </c:pt>
                <c:pt idx="6">
                  <c:v>7.8949999999999996</c:v>
                </c:pt>
                <c:pt idx="7">
                  <c:v>6.3513066670000002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4D-47DD-853A-9C05BDBF11D4}"/>
            </c:ext>
          </c:extLst>
        </c:ser>
        <c:ser>
          <c:idx val="1"/>
          <c:order val="1"/>
          <c:tx>
            <c:v>Diesel</c:v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numRef>
              <c:f>'Chart Data'!$C$2:$C$9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'Chart Data'!$D$2:$D$9</c:f>
              <c:numCache>
                <c:formatCode>0.00</c:formatCode>
                <c:ptCount val="8"/>
                <c:pt idx="0">
                  <c:v>9.5877400000000002</c:v>
                </c:pt>
                <c:pt idx="1">
                  <c:v>9.3684820000000002</c:v>
                </c:pt>
                <c:pt idx="2">
                  <c:v>9.0141899999999993</c:v>
                </c:pt>
                <c:pt idx="3">
                  <c:v>7.9217259999999996</c:v>
                </c:pt>
                <c:pt idx="4">
                  <c:v>8.425262</c:v>
                </c:pt>
                <c:pt idx="5">
                  <c:v>9.0803569999999993</c:v>
                </c:pt>
                <c:pt idx="6">
                  <c:v>6.4478095</c:v>
                </c:pt>
                <c:pt idx="7">
                  <c:v>5.3149642860000004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4D-47DD-853A-9C05BDBF11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imports</c:v>
                </c:pt>
              </c:strCache>
            </c:strRef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20.987388197095243</c:v>
                </c:pt>
                <c:pt idx="1">
                  <c:v>20.59052241378107</c:v>
                </c:pt>
                <c:pt idx="2">
                  <c:v>20.197901888154842</c:v>
                </c:pt>
                <c:pt idx="3">
                  <c:v>19.809472599297052</c:v>
                </c:pt>
                <c:pt idx="4">
                  <c:v>19.425181211618764</c:v>
                </c:pt>
                <c:pt idx="5">
                  <c:v>19.044975066674194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20.987388197095243</c:v>
                </c:pt>
                <c:pt idx="1">
                  <c:v>20.959573230766598</c:v>
                </c:pt>
                <c:pt idx="2">
                  <c:v>20.93257485416837</c:v>
                </c:pt>
                <c:pt idx="3">
                  <c:v>20.906406633523154</c:v>
                </c:pt>
                <c:pt idx="4">
                  <c:v>20.881082360561916</c:v>
                </c:pt>
                <c:pt idx="5">
                  <c:v>20.856616056089173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imports</c:v>
                </c:pt>
              </c:strCache>
            </c:strRef>
          </c:tx>
          <c:spPr>
            <a:ln w="23813">
              <a:solidFill>
                <a:srgbClr val="929292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Sheet1!$D$2:$D$7</c:f>
              <c:numCache>
                <c:formatCode>0.00</c:formatCode>
                <c:ptCount val="6"/>
                <c:pt idx="0">
                  <c:v>20.987388197095243</c:v>
                </c:pt>
                <c:pt idx="1">
                  <c:v>21.385830945103333</c:v>
                </c:pt>
                <c:pt idx="2">
                  <c:v>21.79237795194973</c:v>
                </c:pt>
                <c:pt idx="3">
                  <c:v>22.207197175375317</c:v>
                </c:pt>
                <c:pt idx="4">
                  <c:v>22.63046012824642</c:v>
                </c:pt>
                <c:pt idx="5">
                  <c:v>23.062341955527902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5.0"/>
          <c:min val="0.0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2118791784"/>
        <c:crosses val="autoZero"/>
        <c:majorUnit val="5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Lato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Petrol road 8.59</c:v>
                </c:pt>
              </c:strCache>
            </c:strRef>
          </c:tx>
          <c:spPr>
            <a:solidFill>
              <a:srgbClr val="0A2373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Sheet1!$B$2:$B$4</c:f>
              <c:numCache>
                <c:formatCode>0.00</c:formatCode>
                <c:ptCount val="3"/>
                <c:pt idx="0">
                  <c:v>8.765841610087241</c:v>
                </c:pt>
                <c:pt idx="1">
                  <c:v>8.677525755865611</c:v>
                </c:pt>
                <c:pt idx="2">
                  <c:v>8.590099683875266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petrol 0.27</c:v>
                </c:pt>
              </c:strCache>
            </c:strRef>
          </c:tx>
          <c:spPr>
            <a:solidFill>
              <a:srgbClr val="3F5596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Sheet1!$C$2:$C$4</c:f>
              <c:numCache>
                <c:formatCode>0.00</c:formatCode>
                <c:ptCount val="3"/>
                <c:pt idx="0">
                  <c:v>0.2711085034047603</c:v>
                </c:pt>
                <c:pt idx="1">
                  <c:v>0.2683770852329573</c:v>
                </c:pt>
                <c:pt idx="2">
                  <c:v>0.2656731860992353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Freight diesel 4.82</c:v>
                </c:pt>
              </c:strCache>
            </c:strRef>
          </c:tx>
          <c:spPr>
            <a:solidFill>
              <a:srgbClr val="6782B4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Sheet1!$D$2:$D$4</c:f>
              <c:numCache>
                <c:formatCode>0.00</c:formatCode>
                <c:ptCount val="3"/>
                <c:pt idx="0">
                  <c:v>4.841361915996</c:v>
                </c:pt>
                <c:pt idx="1">
                  <c:v>4.86532665748018</c:v>
                </c:pt>
                <c:pt idx="2">
                  <c:v>4.824547112387935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road diesel 1.61</c:v>
                </c:pt>
              </c:strCache>
            </c:strRef>
          </c:tx>
          <c:spPr>
            <a:solidFill>
              <a:srgbClr val="9DB0D3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Sheet1!$E$2:$E$4</c:f>
              <c:numCache>
                <c:formatCode>0.00</c:formatCode>
                <c:ptCount val="3"/>
                <c:pt idx="0">
                  <c:v>1.613787305332</c:v>
                </c:pt>
                <c:pt idx="1">
                  <c:v>1.6217755524933932</c:v>
                </c:pt>
                <c:pt idx="2">
                  <c:v>1.6081823707959784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Mining 1.41</c:v>
                </c:pt>
              </c:strCache>
            </c:strRef>
          </c:tx>
          <c:spPr>
            <a:solidFill>
              <a:srgbClr val="404040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Sheet1!$F$2:$F$4</c:f>
              <c:numCache>
                <c:formatCode>0.00</c:formatCode>
                <c:ptCount val="3"/>
                <c:pt idx="0">
                  <c:v>1.3959664570874284</c:v>
                </c:pt>
                <c:pt idx="1">
                  <c:v>1.4037204366913902</c:v>
                </c:pt>
                <c:pt idx="2">
                  <c:v>1.406346784621764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Agriculture 1.13</c:v>
                </c:pt>
              </c:strCache>
            </c:strRef>
          </c:tx>
          <c:spPr>
            <a:solidFill>
              <a:srgbClr val="767676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Sheet1!$G$2:$G$4</c:f>
              <c:numCache>
                <c:formatCode>0.00</c:formatCode>
                <c:ptCount val="3"/>
                <c:pt idx="0">
                  <c:v>1.0552755203659356</c:v>
                </c:pt>
                <c:pt idx="1">
                  <c:v>0.9633403153504746</c:v>
                </c:pt>
                <c:pt idx="2">
                  <c:v>1.1312246982365153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Manufacturing 0.17</c:v>
                </c:pt>
              </c:strCache>
            </c:strRef>
          </c:tx>
          <c:spPr>
            <a:solidFill>
              <a:srgbClr val="929292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Sheet1!$H$2:$H$4</c:f>
              <c:numCache>
                <c:formatCode>0.00</c:formatCode>
                <c:ptCount val="3"/>
                <c:pt idx="0">
                  <c:v>0.16789786744139165</c:v>
                </c:pt>
                <c:pt idx="1">
                  <c:v>0.16721110753544252</c:v>
                </c:pt>
                <c:pt idx="2">
                  <c:v>0.16507618000173108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Power 1.08</c:v>
                </c:pt>
              </c:strCache>
            </c:strRef>
          </c:tx>
          <c:spPr>
            <a:solidFill>
              <a:srgbClr val="BDBEC1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Sheet1!$I$2:$I$4</c:f>
              <c:numCache>
                <c:formatCode>0.00</c:formatCode>
                <c:ptCount val="3"/>
                <c:pt idx="0">
                  <c:v>2.0778800000000004</c:v>
                </c:pt>
                <c:pt idx="1">
                  <c:v>2.19729</c:v>
                </c:pt>
                <c:pt idx="2">
                  <c:v>1.08432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Other diesel 1.91</c:v>
                </c:pt>
              </c:strCache>
            </c:strRef>
          </c:tx>
          <c:spPr>
            <a:solidFill>
              <a:srgbClr val="D9D9D9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2023E</c:v>
                </c:pt>
                <c:pt idx="1">
                  <c:v>2024E</c:v>
                </c:pt>
                <c:pt idx="2">
                  <c:v>2025E</c:v>
                </c:pt>
              </c:strCache>
            </c:strRef>
          </c:cat>
          <c:val>
            <c:numRef>
              <c:f>Sheet1!$J$2:$J$4</c:f>
              <c:numCache>
                <c:formatCode>0.00</c:formatCode>
                <c:ptCount val="3"/>
                <c:pt idx="0">
                  <c:v>1.7553308995852444</c:v>
                </c:pt>
                <c:pt idx="1">
                  <c:v>1.9165420959151986</c:v>
                </c:pt>
                <c:pt idx="2">
                  <c:v>1.9119181810768164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0"/>
          <c:min val="0.0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-2068027336"/>
        <c:crosses val="autoZero"/>
        <c:majorUnit val="5.0"/>
      </c:valAx>
    </c:plotArea>
    <c:legend>
      <c:legendPos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000">
          <a:latin typeface="Lato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imports</c:v>
                </c:pt>
              </c:strCache>
            </c:strRef>
          </c:tx>
          <c:spPr>
            <a:ln w="23813">
              <a:solidFill>
                <a:srgbClr val="0A2373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16.73585087316524</c:v>
                </c:pt>
                <c:pt idx="1">
                  <c:v>16.16498508985107</c:v>
                </c:pt>
                <c:pt idx="2">
                  <c:v>15.598364564224843</c:v>
                </c:pt>
                <c:pt idx="3">
                  <c:v>15.035935275367054</c:v>
                </c:pt>
                <c:pt idx="4">
                  <c:v>11.644311431365011</c:v>
                </c:pt>
                <c:pt idx="5">
                  <c:v>8.256772830096688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ln w="23813">
              <a:solidFill>
                <a:srgbClr val="6782B4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Sheet1!$C$2:$C$7</c:f>
              <c:numCache>
                <c:formatCode>0.00</c:formatCode>
                <c:ptCount val="6"/>
                <c:pt idx="0">
                  <c:v>16.73585087316524</c:v>
                </c:pt>
                <c:pt idx="1">
                  <c:v>16.708035906836596</c:v>
                </c:pt>
                <c:pt idx="2">
                  <c:v>16.681037530238367</c:v>
                </c:pt>
                <c:pt idx="3">
                  <c:v>16.654869309593153</c:v>
                </c:pt>
                <c:pt idx="4">
                  <c:v>16.629545036631914</c:v>
                </c:pt>
                <c:pt idx="5">
                  <c:v>16.60507873215917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imports</c:v>
                </c:pt>
              </c:strCache>
            </c:strRef>
          </c:tx>
          <c:spPr>
            <a:ln w="23813">
              <a:solidFill>
                <a:srgbClr val="929292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Sheet1!$D$2:$D$7</c:f>
              <c:numCache>
                <c:formatCode>0.00</c:formatCode>
                <c:ptCount val="6"/>
                <c:pt idx="0">
                  <c:v>16.73585087316524</c:v>
                </c:pt>
                <c:pt idx="1">
                  <c:v>17.308293621173334</c:v>
                </c:pt>
                <c:pt idx="2">
                  <c:v>17.888840628019732</c:v>
                </c:pt>
                <c:pt idx="3">
                  <c:v>18.477659851445317</c:v>
                </c:pt>
                <c:pt idx="4">
                  <c:v>19.07492280431642</c:v>
                </c:pt>
                <c:pt idx="5">
                  <c:v>19.6808046315979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5.0"/>
          <c:min val="0.0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</a:defRPr>
            </a:pPr>
          </a:p>
        </c:txPr>
        <c:crossAx val="2118791784"/>
        <c:crosses val="autoZero"/>
        <c:majorUnit val="5.0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latin typeface="La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South Africa fuel market outlook. Sources and assumptions are stated on the analytical pages.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national sales; SARS 2025 trade; analytical workbook v02. 2025 demand is estimated; 5.8bn L production is a planning assumption. Gross import need includes exports and assumes no stock change.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sector activity and freight; Eskom Integrated Report 2025 p141; Sasol and Glencore production disclosures; Galp and Petromoc infrastructure disclosures. Detailed evidence: South Africa story v37 pp7–11.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</a:p>
          <a:p>
            <a:r>
              <a:t>Demand is estimated at 20.99bn litres in 2025; road uses account for most allocated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mining/manufacturing indices and agriculture real GVA; mean 2018–2021 fuel intensity. Sector diesel values after 2021 are estimates.</a:t>
            </a:r>
          </a:p>
          <a:p>
            <a:r>
              <a:t>Sector activity produces different demand paths; applying one GDP growth rate would hide these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</a:p>
          <a:p>
            <a:r>
              <a:t>Improved electricity supply reduces peaking and backup fuel use; the private-backup contribution remains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Stats SA P7162 December 2025 p7; all reported freight. Analytical workbook v02, Evidence.</a:t>
            </a:r>
          </a:p>
          <a:p>
            <a:r>
              <a:t>Road remains the dominant freight mode; sustained rail recovery could change the diesel required to move goods.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naamsa all-market sales 2025; master workbook Vehicle history S31:S36; evidence retained in market story v27 p11. Analytical workbook v02: efficiency is a planning assumption; avoid double-counting hybrid savings.</a:t>
            </a:r>
          </a:p>
          <a:p>
            <a:r>
              <a:t>The model’s fuel-efficiency path is a planning assumption; new-vehicle sales alone do not quantify national fuel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Analytical workbook v02: Driver bridge (Base), Assumptions (Base: efficiency). Effects are modelled, not observed savings. Efficiency applies to road fuel after activity growth; rail is applied afterwards. Do not add a separate EV saving to the same efficiency allowance.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SARS 2022/2025; Galp Matola, 3 Dec 2020; </a:t>
            </a:r>
            <a:r>
              <a:rPr lang="en-ZA" dirty="0" err="1"/>
              <a:t>Petromoc</a:t>
            </a:r>
            <a:r>
              <a:rPr lang="en-ZA" dirty="0"/>
              <a:t> logistics; market-sizing workbook. Map: © OpenStreetMap contributors / </a:t>
            </a:r>
            <a:r>
              <a:rPr lang="en-ZA" dirty="0" err="1"/>
              <a:t>Geofabrik</a:t>
            </a:r>
            <a:r>
              <a:rPr lang="en-ZA" dirty="0"/>
              <a:t>; Natural Earth; </a:t>
            </a:r>
            <a:r>
              <a:rPr lang="en-ZA" dirty="0" err="1"/>
              <a:t>geoBoundaries</a:t>
            </a:r>
            <a:r>
              <a:rPr lang="en-ZA" dirty="0"/>
              <a:t>. Routes show connectivity, not validated tanker access. Compare the same product and destination.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Market-sizing issue tree reused from market-sizing v2000, slide 3. National demand/product estimates and production assumption aligned to analytical workbook v02. Provincial catchments retain 2022 source periods. Capture remains illustrative; Walvis Bay diversion unquantified.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532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Framework: analytical workbook v02 and market-sizing workbook. Gateway shares and customer access require validation. Walvis Bay is a route to assess; no diversion volume is assigned. Stock build increases import need; stock draw reduces it.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Restored from South Africa story v37; analytical workbook v02, Scenarios and Driver bridge. Gross imports = demand − domestic supply + fixed 2025 exports; zero stock change. 2025 production: 5.8bn L assumption. Restart volumes and timing are scenario assumptions.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Analytical workbook v02 base scenario; market-sizing workbook and working-capacity assessment. Capture is illustrative; Lesedi is included within Durban flow. Contracted share, product balance and usable capacity remain to be established.</a:t>
            </a:r>
          </a:p>
          <a:p>
            <a:r>
              <a:t>Figures reused from South Africa market story v37; no new model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discussion. Cover photograph: Royal Vopak, Terminal Durban.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0" y="1"/>
            <a:ext cx="1158875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" y="5137149"/>
            <a:ext cx="4933950" cy="157162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2D3BD-B933-88AB-9C21-59605B00713D}"/>
              </a:ext>
            </a:extLst>
          </p:cNvPr>
          <p:cNvSpPr>
            <a:spLocks noGrp="1"/>
          </p:cNvSpPr>
          <p:nvPr/>
        </p:nvSpPr>
        <p:spPr>
          <a:xfrm>
            <a:off x="5111750" y="5727050"/>
            <a:ext cx="6477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B6CC79FF-F297-46B4-B0E4-850EE5B89B78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9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"/>
          <p:cNvPicPr>
            <a:picLocks noChangeAspect="1"/>
          </p:cNvPicPr>
          <p:nvPr/>
        </p:nvPicPr>
        <p:blipFill>
          <a:blip r:embed="rId2"/>
          <a:srcRect l="1233" t="15791" r="178" b="318"/>
          <a:stretch>
            <a:fillRect/>
          </a:stretch>
        </p:blipFill>
        <p:spPr>
          <a:xfrm>
            <a:off x="1" y="-12700"/>
            <a:ext cx="11588749" cy="57533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09FAFE-21DB-4F6B-8EA1-32FA210B705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615D-618B-242E-BA84-0838689DFC39}"/>
              </a:ext>
            </a:extLst>
          </p:cNvPr>
          <p:cNvSpPr>
            <a:spLocks noGrp="1"/>
          </p:cNvSpPr>
          <p:nvPr/>
        </p:nvSpPr>
        <p:spPr>
          <a:xfrm>
            <a:off x="1" y="5661025"/>
            <a:ext cx="11588749" cy="1200604"/>
          </a:xfrm>
          <a:prstGeom prst="rect">
            <a:avLst/>
          </a:prstGeom>
          <a:solidFill>
            <a:srgbClr val="3267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97E07F-A0B2-4C60-A493-63795665B2A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800" y="5205413"/>
            <a:ext cx="4933950" cy="16525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>
                <a:solidFill>
                  <a:schemeClr val="tx1"/>
                </a:solidFill>
              </a:defRPr>
            </a:lvl2pPr>
            <a:lvl3pPr>
              <a:buNone/>
              <a:defRPr sz="1800" b="1">
                <a:solidFill>
                  <a:schemeClr val="tx1"/>
                </a:solidFill>
              </a:defRPr>
            </a:lvl3pPr>
            <a:lvl4pPr>
              <a:buNone/>
              <a:defRPr sz="1600" b="1">
                <a:solidFill>
                  <a:schemeClr val="tx1"/>
                </a:solidFill>
              </a:defRPr>
            </a:lvl4pPr>
            <a:lvl5pPr>
              <a:buNone/>
              <a:defRPr sz="1600" b="1">
                <a:solidFill>
                  <a:schemeClr val="tx1"/>
                </a:solidFill>
              </a:defRPr>
            </a:lvl5pPr>
          </a:lstStyle>
          <a:p>
            <a:pPr lvl="0">
              <a:buNone/>
            </a:pPr>
            <a:r>
              <a:rPr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0" name="Cover title panel">
            <a:extLst>
              <a:ext uri="{FF2B5EF4-FFF2-40B4-BE49-F238E27FC236}">
                <a16:creationId xmlns:a16="http://schemas.microsoft.com/office/drawing/2014/main" id="{571FD3DD-6D32-43BA-B044-BAFA89A96F83}"/>
              </a:ext>
            </a:extLst>
          </p:cNvPr>
          <p:cNvSpPr>
            <a:spLocks noGrp="1"/>
          </p:cNvSpPr>
          <p:nvPr/>
        </p:nvSpPr>
        <p:spPr>
          <a:xfrm>
            <a:off x="118872" y="4690872"/>
            <a:ext cx="4992624" cy="1993392"/>
          </a:xfrm>
          <a:prstGeom prst="rect">
            <a:avLst/>
          </a:prstGeom>
          <a:solidFill>
            <a:srgbClr val="E7E6E6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8" name="Vopak cover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814" y="5675739"/>
            <a:ext cx="2518046" cy="5645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4299527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>
            <a:spLocks noGrp="1"/>
          </p:cNvSpPr>
          <p:nvPr/>
        </p:nvSpPr>
        <p:spPr>
          <a:xfrm>
            <a:off x="9079200" y="0"/>
            <a:ext cx="2509074" cy="10350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EDA466-D75C-48F1-9F3F-47B154E770B8}"/>
              </a:ext>
            </a:extLst>
          </p:cNvPr>
          <p:cNvSpPr>
            <a:spLocks noGrp="1"/>
          </p:cNvSpPr>
          <p:nvPr/>
        </p:nvSpPr>
        <p:spPr>
          <a:xfrm>
            <a:off x="-29153" y="0"/>
            <a:ext cx="582352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  <a:p>
            <a:pPr algn="ctr">
              <a:buNone/>
            </a:pPr>
            <a:endParaRPr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opak Exhibit + Commentary v1" preserve="1" userDrawn="1">
  <p:cSld name="Vopak Exhibit + Commentary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6FAB5-3A31-4A82-B70E-C4CDDAD20A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05599" y="6489700"/>
            <a:ext cx="805350" cy="287338"/>
          </a:xfrm>
        </p:spPr>
        <p:txBody>
          <a:bodyPr/>
          <a:lstStyle>
            <a:lvl1pPr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A65E4EDC-57F8-4D5C-B13E-A981C5F2F71A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395ED8E-92E9-32C5-9BE4-BAF8026D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5216"/>
            <a:ext cx="10561320" cy="82296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7" name="Title and body separator">
            <a:extLst>
              <a:ext uri="{FF2B5EF4-FFF2-40B4-BE49-F238E27FC236}">
                <a16:creationId xmlns:a16="http://schemas.microsoft.com/office/drawing/2014/main" id="{6079D373-E04F-4CB2-8D62-0EE11526CD3C}"/>
              </a:ext>
            </a:extLst>
          </p:cNvPr>
          <p:cNvSpPr>
            <a:spLocks noGrp="1"/>
          </p:cNvSpPr>
          <p:nvPr/>
        </p:nvSpPr>
        <p:spPr>
          <a:xfrm>
            <a:off x="457200" y="1444752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860AC-EA18-440E-B23B-E92B7C49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1" y="368299"/>
            <a:ext cx="11233148" cy="69010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9D33E-9E34-4BB4-9EFE-331A0FF3C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801" y="1233488"/>
            <a:ext cx="11233149" cy="525621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2AEE9-FEF7-46B6-98E2-A569C4A8AD3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605599" y="6489700"/>
            <a:ext cx="805350" cy="287338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/>
                </a:solidFill>
              </a:defRPr>
            </a:lvl1pPr>
          </a:lstStyle>
          <a:p>
            <a:fld id="{5E48029D-87D6-48C3-BA4B-1065A63511DF}" type="slidenum">
              <a:rPr>
                <a:solidFill>
                  <a:schemeClr val="tx1"/>
                </a:solidFill>
              </a:rPr>
              <a:t>‹#›</a:t>
            </a:fld>
            <a:endParaRPr>
              <a:solidFill>
                <a:schemeClr val="tx1"/>
              </a:solidFill>
            </a:endParaRPr>
          </a:p>
        </p:txBody>
      </p:sp>
      <p:pic>
        <p:nvPicPr>
          <p:cNvPr id="15" name="Picture 2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906000" y="6515100"/>
            <a:ext cx="952500" cy="21255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CB3F387-66D0-18CC-51EE-24B908A792B7}"/>
              </a:ext>
            </a:extLst>
          </p:cNvPr>
          <p:cNvSpPr>
            <a:spLocks noGrp="1"/>
          </p:cNvSpPr>
          <p:nvPr/>
        </p:nvSpPr>
        <p:spPr>
          <a:xfrm>
            <a:off x="457200" y="6528816"/>
            <a:ext cx="8595360" cy="228600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marL="0" indent="0" algn="l" defTabSz="869137">
              <a:lnSpc>
                <a:spcPct val="90000"/>
              </a:lnSpc>
              <a:spcBef>
                <a:spcPts val="951"/>
              </a:spcBef>
              <a:buFont typeface="Arial"/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5185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86422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520990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955559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390127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24696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59265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93833" indent="-217284" algn="l" defTabSz="869137">
              <a:lnSpc>
                <a:spcPct val="90000"/>
              </a:lnSpc>
              <a:spcBef>
                <a:spcPts val="475"/>
              </a:spcBef>
              <a:buFont typeface="Arial"/>
              <a:buChar char="•"/>
              <a:defRPr sz="171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  <a:defRPr sz="800">
                <a:solidFill>
                  <a:srgbClr val="404040"/>
                </a:solidFill>
                <a:latin typeface="Lato"/>
                <a:ea typeface="Lato"/>
                <a:cs typeface="Lato"/>
              </a:defRPr>
            </a:pPr>
            <a:endParaRPr/>
          </a:p>
        </p:txBody>
      </p:sp>
      <p:sp>
        <p:nvSpPr>
          <p:cNvPr id="10" name="Fine footer rule">
            <a:extLst>
              <a:ext uri="{FF2B5EF4-FFF2-40B4-BE49-F238E27FC236}">
                <a16:creationId xmlns:a16="http://schemas.microsoft.com/office/drawing/2014/main" id="{B4062CE9-9215-4788-A6E3-2613DEB91A9E}"/>
              </a:ext>
            </a:extLst>
          </p:cNvPr>
          <p:cNvSpPr>
            <a:spLocks noGrp="1"/>
          </p:cNvSpPr>
          <p:nvPr/>
        </p:nvSpPr>
        <p:spPr>
          <a:xfrm>
            <a:off x="457200" y="6437376"/>
            <a:ext cx="10652760" cy="0"/>
          </a:xfrm>
          <a:prstGeom prst="line">
            <a:avLst/>
          </a:prstGeom>
          <a:ln w="3175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869137">
        <a:lnSpc>
          <a:spcPct val="900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17284" indent="-217284" algn="l" defTabSz="869137">
        <a:lnSpc>
          <a:spcPct val="90000"/>
        </a:lnSpc>
        <a:spcBef>
          <a:spcPts val="951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marL="65185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1086422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1520990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marL="1955559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marL="2390127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824696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259265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693833" indent="-217284" algn="l" defTabSz="869137">
        <a:lnSpc>
          <a:spcPct val="90000"/>
        </a:lnSpc>
        <a:spcBef>
          <a:spcPts val="475"/>
        </a:spcBef>
        <a:buFont typeface="Arial"/>
        <a:buChar char="•"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1pPr>
      <a:lvl2pPr marL="43456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2pPr>
      <a:lvl3pPr marL="869137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3pPr>
      <a:lvl4pPr marL="1303706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4pPr>
      <a:lvl5pPr marL="1738274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5pPr>
      <a:lvl6pPr marL="2172843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6pPr>
      <a:lvl7pPr marL="2607412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7pPr>
      <a:lvl8pPr marL="3041980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8pPr>
      <a:lvl9pPr marL="3476549" algn="l" defTabSz="869137">
        <a:buNone/>
        <a:defRPr sz="171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2" orient="horz" pos="2160" userDrawn="1">
          <p15:clr>
            <a:srgbClr val="F26B43"/>
          </p15:clr>
        </p15:guide>
        <p15:guide id="13" pos="112" userDrawn="1">
          <p15:clr>
            <a:srgbClr val="F26B43"/>
          </p15:clr>
        </p15:guide>
        <p15:guide id="14" orient="horz" pos="4269" userDrawn="1">
          <p15:clr>
            <a:srgbClr val="F26B43"/>
          </p15:clr>
        </p15:guide>
        <p15:guide id="15" pos="3650" userDrawn="1">
          <p15:clr>
            <a:srgbClr val="F26B43"/>
          </p15:clr>
        </p15:guide>
        <p15:guide id="16" pos="7188" userDrawn="1">
          <p15:clr>
            <a:srgbClr val="F26B43"/>
          </p15:clr>
        </p15:guide>
        <p15:guide id="17" orient="horz" pos="28" userDrawn="1">
          <p15:clr>
            <a:srgbClr val="F26B43"/>
          </p15:clr>
        </p15:guide>
        <p15:guide id="18" orient="horz" pos="686" userDrawn="1">
          <p15:clr>
            <a:srgbClr val="F26B43"/>
          </p15:clr>
        </p15:guide>
        <p15:guide id="19" orient="horz" pos="777" userDrawn="1">
          <p15:clr>
            <a:srgbClr val="F26B43"/>
          </p15:clr>
        </p15:guide>
        <p15:guide id="20" orient="horz" pos="4088" userDrawn="1">
          <p15:clr>
            <a:srgbClr val="F26B43"/>
          </p15:clr>
        </p15:guide>
        <p15:guide id="21" orient="horz" pos="3680" userDrawn="1">
          <p15:clr>
            <a:srgbClr val="F26B43"/>
          </p15:clr>
        </p15:guide>
        <p15:guide id="22" orient="horz" pos="3566" userDrawn="1">
          <p15:clr>
            <a:srgbClr val="F26B43"/>
          </p15:clr>
        </p15:guide>
        <p15:guide id="23" pos="5805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4.xml"/><Relationship Id="rId11" Type="http://schemas.openxmlformats.org/officeDocument/2006/relationships/slide" Target="slide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Relationship Id="rId4" Type="http://schemas.openxmlformats.org/officeDocument/2006/relationships/chart" Target="../charts/char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9.xml"/><Relationship Id="rId4" Type="http://schemas.openxmlformats.org/officeDocument/2006/relationships/chart" Target="../charts/char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South Africa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liquid fuels</a:t>
            </a:r>
          </a:p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market outlook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Demand, supply and routes — implications for Vopak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Durban and Lesedi | Market-sizing 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FFFFFF"/>
                </a:solidFill>
              </a:rPr>
              <a:t>Planning estimates and illustrative capture. Customer access and usable capacity remain to be established.</a:t>
            </a: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2</a:t>
            </a:r>
            <a:endParaRPr sz="11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2025 production and imports broadly cover consumption and exports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GB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v02, Balance; SARS calendar-2025 customs. Demand estimated; production assumed; trade recorded. Stock change and statistical/scope differences unresolved. Values rounded; the 0.034bn L gap uses unrounded data.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6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6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6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22" name="Evidence unit">
            <a:extLst>
              <a:ext uri="{FF2B5EF4-FFF2-40B4-BE49-F238E27FC236}">
                <a16:creationId xmlns:a16="http://schemas.microsoft.com/office/drawing/2014/main" id="{FC1A39E3-57CF-EED8-721E-D863AA948703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ZA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calendar 2025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3" name="Evidence insights">
            <a:extLst>
              <a:ext uri="{FF2B5EF4-FFF2-40B4-BE49-F238E27FC236}">
                <a16:creationId xmlns:a16="http://schemas.microsoft.com/office/drawing/2014/main" id="{D9783925-0AC7-F42D-CE65-EFD015F64305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Supply: 5.80bn L assumed production + 16.70bn L recorded imports.
Uses: 20.99bn L estimated consumption + 1.55bn L recorded exports.
Supply is 0.034bn L below uses. Stock change is unmeasured; the gap remains a reconciliation item.
Petrol and diesel differences offset: −2.00bn L and +1.97bn L respectively.</a:t>
            </a:r>
            <a:endParaRPr sz="13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Evidence takeaway">
            <a:extLst>
              <a:ext uri="{FF2B5EF4-FFF2-40B4-BE49-F238E27FC236}">
                <a16:creationId xmlns:a16="http://schemas.microsoft.com/office/drawing/2014/main" id="{F99B9D74-922F-317F-263E-F2536C0C76F0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ZA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Production + imports − exports = 20.95bn L available, versus 20.99bn L estimated consumption.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" name="Vopak exhibit left heading">
            <a:extLst>
              <a:ext uri="{FF2B5EF4-FFF2-40B4-BE49-F238E27FC236}">
                <a16:creationId xmlns:a16="http://schemas.microsoft.com/office/drawing/2014/main" id="{2078293A-06CD-E24D-A1D4-5D5A4F014FCC}"/>
              </a:ext>
            </a:extLst>
          </p:cNvPr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ZA" sz="1400" b="1">
                <a:latin typeface="Lato"/>
              </a:rPr>
              <a:t>2025 petrol and diesel balance</a:t>
            </a:r>
            <a:endParaRPr sz="1400" b="1">
              <a:latin typeface="Lato"/>
            </a:endParaRPr>
          </a:p>
        </p:txBody>
      </p:sp>
      <p:sp>
        <p:nvSpPr>
          <p:cNvPr id="26" name="Vopak exhibit right heading">
            <a:extLst>
              <a:ext uri="{FF2B5EF4-FFF2-40B4-BE49-F238E27FC236}">
                <a16:creationId xmlns:a16="http://schemas.microsoft.com/office/drawing/2014/main" id="{CCB0A90D-3C75-BE7C-37E3-52E5C4A2A0C4}"/>
              </a:ext>
            </a:extLst>
          </p:cNvPr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300"/>
              <a:t>Reported trade; estimated domestic balance</a:t>
            </a:r>
            <a:endParaRPr sz="1300"/>
          </a:p>
        </p:txBody>
      </p:sp>
      <p:cxnSp>
        <p:nvCxnSpPr>
          <p:cNvPr id="27" name="Vopak exhibit left rule">
            <a:extLst>
              <a:ext uri="{FF2B5EF4-FFF2-40B4-BE49-F238E27FC236}">
                <a16:creationId xmlns:a16="http://schemas.microsoft.com/office/drawing/2014/main" id="{DE1D99BE-4A5C-E2CA-913D-2AD83CBD541D}"/>
              </a:ext>
            </a:extLst>
          </p:cNvPr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opak exhibit right rule">
            <a:extLst>
              <a:ext uri="{FF2B5EF4-FFF2-40B4-BE49-F238E27FC236}">
                <a16:creationId xmlns:a16="http://schemas.microsoft.com/office/drawing/2014/main" id="{AA069320-2CAE-3674-A292-C8B016B8C9BA}"/>
              </a:ext>
            </a:extLst>
          </p:cNvPr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Vopak exhibit divider">
            <a:extLst>
              <a:ext uri="{FF2B5EF4-FFF2-40B4-BE49-F238E27FC236}">
                <a16:creationId xmlns:a16="http://schemas.microsoft.com/office/drawing/2014/main" id="{B9A6B1EA-F8D5-F43D-C0BA-9F85D8834AE4}"/>
              </a:ext>
            </a:extLst>
          </p:cNvPr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Vopak exhibit marker 0">
            <a:extLst>
              <a:ext uri="{FF2B5EF4-FFF2-40B4-BE49-F238E27FC236}">
                <a16:creationId xmlns:a16="http://schemas.microsoft.com/office/drawing/2014/main" id="{4ABD902C-A424-48F5-F570-578E003BC3A5}"/>
              </a:ext>
            </a:extLst>
          </p:cNvPr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Vopak exhibit marker 1">
            <a:extLst>
              <a:ext uri="{FF2B5EF4-FFF2-40B4-BE49-F238E27FC236}">
                <a16:creationId xmlns:a16="http://schemas.microsoft.com/office/drawing/2014/main" id="{26EB6FF8-ED69-15AB-0475-32C273DBB8E2}"/>
              </a:ext>
            </a:extLst>
          </p:cNvPr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Vopak exhibit marker 2">
            <a:extLst>
              <a:ext uri="{FF2B5EF4-FFF2-40B4-BE49-F238E27FC236}">
                <a16:creationId xmlns:a16="http://schemas.microsoft.com/office/drawing/2014/main" id="{18D752D8-7BF5-1DE5-7FE8-3D2C169CD54D}"/>
              </a:ext>
            </a:extLst>
          </p:cNvPr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hart">
            <a:extLst>
              <a:ext uri="{FF2B5EF4-FFF2-40B4-BE49-F238E27FC236}">
                <a16:creationId xmlns:a16="http://schemas.microsoft.com/office/drawing/2014/main" id="{39FFC294-1E86-1485-C073-327B6D2264B6}"/>
              </a:ext>
            </a:extLst>
          </p:cNvPr>
          <p:cNvGraphicFramePr/>
          <p:nvPr/>
        </p:nvGraphicFramePr>
        <p:xfrm>
          <a:off x="457200" y="2333625"/>
          <a:ext cx="6446520" cy="3095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900" name="Balance stack label 0"/>
          <p:cNvSpPr txBox="1"/>
          <p:nvPr/>
        </p:nvSpPr>
        <p:spPr>
          <a:xfrm>
            <a:off x="1847850" y="4543425"/>
            <a:ext cx="110490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Production</a:t>
            </a:r>
          </a:p>
        </p:txBody>
      </p:sp>
      <p:sp>
        <p:nvSpPr>
          <p:cNvPr id="9901" name="Balance stack label 1"/>
          <p:cNvSpPr txBox="1"/>
          <p:nvPr/>
        </p:nvSpPr>
        <p:spPr>
          <a:xfrm>
            <a:off x="1933575" y="3314700"/>
            <a:ext cx="93345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Imports</a:t>
            </a:r>
          </a:p>
        </p:txBody>
      </p:sp>
      <p:sp>
        <p:nvSpPr>
          <p:cNvPr id="9902" name="Balance stack label 2"/>
          <p:cNvSpPr txBox="1"/>
          <p:nvPr/>
        </p:nvSpPr>
        <p:spPr>
          <a:xfrm>
            <a:off x="4667250" y="3714750"/>
            <a:ext cx="127635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FFFFFF"/>
                </a:solidFill>
                <a:latin typeface="Lato"/>
              </a:rPr>
              <a:t>Consumption</a:t>
            </a:r>
          </a:p>
        </p:txBody>
      </p:sp>
      <p:sp>
        <p:nvSpPr>
          <p:cNvPr id="9903" name="Balance stack label 3"/>
          <p:cNvSpPr txBox="1"/>
          <p:nvPr/>
        </p:nvSpPr>
        <p:spPr>
          <a:xfrm>
            <a:off x="6019800" y="2686050"/>
            <a:ext cx="857250" cy="219075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 algn="ctr"/>
            <a:r>
              <a:rPr sz="1125">
                <a:solidFill>
                  <a:srgbClr val="555555"/>
                </a:solidFill>
                <a:latin typeface="Lato"/>
              </a:rPr>
              <a:t>Exports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Changes in demand, domestic supply and import routes could reduce flows through Durban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Demand baseline: p4. Driver evidence: pp5–11. Restored import outlook: p14. Stats SA; Eskom; Sasol; Glencore; Galp; Petromoc; naamsa. Scenario outcomes are separate from observed evidence.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graphicFrame>
        <p:nvGraphicFramePr>
          <p:cNvPr id="55" name="Table 54"/>
          <p:cNvGraphicFramePr/>
          <p:nvPr>
            <p:extLst>
              <p:ext uri="{D42A27DB-BD31-4B8C-83A1-F6EECF244321}">
                <p14:modId xmlns:p14="http://schemas.microsoft.com/office/powerpoint/2010/main" val="3145589907"/>
              </p:ext>
            </p:extLst>
          </p:nvPr>
        </p:nvGraphicFramePr>
        <p:xfrm>
          <a:off x="457200" y="1657350"/>
          <a:ext cx="10648950" cy="3914775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Complication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Driver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What changes for fuel demand and Durban flows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66666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en-ZA"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Baseline</a:t>
                      </a:r>
                      <a:endParaRPr sz="1350" b="1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Baseline demand | p4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Estimated 21.0bn-litre market in 2025; petrol/diesel history and the end-use split establish the starting point.</a:t>
                      </a:r>
                      <a:endParaRPr sz="1350" b="0">
                        <a:solidFill>
                          <a:srgbClr val="11151A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38216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1  Demand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Sector activity | p5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Mining, manufacturing and agriculture drive equipment and freight demand along different growth paths.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5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Eskom recovery | p6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Reliable electricity reduces peaking and backup diesel at utilities, mines, factories and farms.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Road-to-rail | p7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Freight shifted from trucks reduces road diesel use; net savings depend on rail traction.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endParaRPr sz="1350" b="1">
                        <a:latin typeface="Lato" panose="020F0502020204030203" pitchFamily="34" charset="0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7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Vehicle sales p8</a:t>
                      </a:r>
                      <a:r>
                        <a:rPr lang="en-GB"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 | </a:t>
                      </a:r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8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Efficiency p9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Lower fuel consumption per kilometre reduces demand at a given level of road activity.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2  Domestic supply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9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Refinery history p10</a:t>
                      </a:r>
                      <a:r>
                        <a:rPr lang="en-GB" sz="1350" b="0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 | </a:t>
                      </a:r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10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Outlook p14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Higher production displaces imports; outages or lower output increase import dependence.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3  Import routes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350" b="0" u="sng">
                          <a:solidFill>
                            <a:srgbClr val="0A2373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Ports and inland connections | p11</a:t>
                      </a:r>
                      <a:endParaRPr sz="1350" b="0" u="sng">
                        <a:solidFill>
                          <a:srgbClr val="0A2373"/>
                        </a:solidFill>
                        <a:latin typeface="Lato" panose="020F0502020204030203" pitchFamily="34" charset="0"/>
                        <a:ea typeface="Lato"/>
                        <a:cs typeface="Lato"/>
                      </a:endParaRP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51A"/>
                          </a:solidFill>
                          <a:latin typeface="Lato" panose="020F0502020204030203" pitchFamily="34" charset="0"/>
                          <a:ea typeface="Lato"/>
                          <a:cs typeface="Lato"/>
                        </a:rPr>
                        <a:t>Matola competes for inland supply. Assess Walvis Bay, pipeline access and delivered cost; Walvis Bay diversion is unquantified.</a:t>
                      </a:r>
                    </a:p>
                  </a:txBody>
                  <a:tcPr>
                    <a:lnL w="6350">
                      <a:noFill/>
                    </a:lnL>
                    <a:lnR w="6350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C takeaway">
            <a:extLst>
              <a:ext uri="{FF2B5EF4-FFF2-40B4-BE49-F238E27FC236}">
                <a16:creationId xmlns:a16="http://schemas.microsoft.com/office/drawing/2014/main" id="{8EDB4A11-F00B-43B5-90A8-7BAE0B454DB7}"/>
              </a:ext>
            </a:extLst>
          </p:cNvPr>
          <p:cNvSpPr>
            <a:spLocks noGrp="1"/>
          </p:cNvSpPr>
          <p:nvPr/>
        </p:nvSpPr>
        <p:spPr>
          <a:xfrm>
            <a:off x="457200" y="5657850"/>
            <a:ext cx="106489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A large national import market does not automatically translate into growth for Vopak.</a:t>
            </a:r>
          </a:p>
        </p:txBody>
      </p:sp>
      <p:sp>
        <p:nvSpPr>
          <p:cNvPr id="5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5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5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5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South Africa’s estimated 21bn-litre fuel market is dominated by road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annual sales, 2013–2023. Estimated 2024–2025: analytical workbook v02. The Department series is used consistently. Segment split: analytical workbook v02, Segments. Displayed figures rounded; other diesel remains unallocated.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CE11BB42-2F58-4DB0-B03D-997F7CBFE311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sp>
        <p:nvSpPr>
          <p:cNvPr id="81" name="Evidence unit">
            <a:extLst>
              <a:ext uri="{FF2B5EF4-FFF2-40B4-BE49-F238E27FC236}">
                <a16:creationId xmlns:a16="http://schemas.microsoft.com/office/drawing/2014/main" id="{CE11BB42-2F58-4DB0-B03D-997F7CBFE311}"/>
              </a:ext>
            </a:extLst>
          </p:cNvPr>
          <p:cNvSpPr>
            <a:spLocks noGrp="1"/>
          </p:cNvSpPr>
          <p:nvPr/>
        </p:nvSpPr>
        <p:spPr>
          <a:xfrm>
            <a:off x="7424927" y="2020824"/>
            <a:ext cx="3685032" cy="23774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legend shows 2025 values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FCE7A989-7F27-4238-BBD6-07720078ECF6}"/>
              </a:ext>
            </a:extLst>
          </p:cNvPr>
          <p:cNvSpPr>
            <a:spLocks noGrp="1"/>
          </p:cNvSpPr>
          <p:nvPr/>
        </p:nvSpPr>
        <p:spPr>
          <a:xfrm>
            <a:off x="7424928" y="5486400"/>
            <a:ext cx="3685032" cy="7772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Totals: 21.94, 22.08 and 20.99bn litres. Allocations are estimates; manufacturing is an industry residual.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988A7A0-2695-41BD-B859-B66256617D61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Demand is estimated at 20.99bn litres in 2025; road uses account for most allocated demand.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Petrol and diesel demand, 2013–2025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Estimated demand by use, 2023–2025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Chart"/>
          <p:cNvGraphicFramePr>
            <a:graphicFrameLocks noGrp="1"/>
          </p:cNvGraphicFramePr>
          <p:nvPr/>
        </p:nvGraphicFramePr>
        <p:xfrm>
          <a:off x="7333488" y="2286000"/>
          <a:ext cx="3867912" cy="31638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Agricultural fuel demand rebounds while mining and manufacturing remain broadly flat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mining/manufacturing indices and agriculture real GVA; mean 2018–2021 fuel intensity. Sector diesel values after 2021 are estimates.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B2F54BB6-3DF1-494B-A1D0-ED247468EB78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73EB2C9D-54D5-4881-B5D3-76093EDE63DB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Mining: 1.40 → 1.41bn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Agriculture: 1.06 → 1.13bn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Manufacturing: about 0.17bn L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Manufacturing covers the energy-balance industry residual, not a complete industrial census.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F3035DD3-9A13-4DB4-82F9-7FE50E5794A6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Sector activity produces different demand paths; applying one GDP growth rate would hide these differences.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Estimated sector diesel demand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Estimated diesel use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Eskom’s fuel use fell by 40% in FY2025 as electricity supply improved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6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Eskom Integrated Report 2025, p141. Fiscal years end in March. Reported series includes diesel and kerosene; private backup consumption is outside this series. Analytical workbook v02, Segments: IPP conversion and private-backup assumptions.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1D76C1D3-E0D1-4DF8-8BFF-19EE5B120BFC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4CD8A506-5D30-43C8-9E33-1BCF7AE33E90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Eskom: 1.130bn L in FY2024 → 0.679bn L in FY2025 (diesel + kerosene).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2025 utility + private power estimate: 1.08bn L, including 0.20bn L assumed private backup.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IPP conversion and fiscal-year proxies are estimates; private use is not measured by Eskom.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8D46E9F3-0652-401F-9297-93C9F69858AE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Improved electricity supply reduces peaking and backup fuel use; the private-backup contribution remains estimated.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Eskom diesel and kerosene use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Power fuel use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Rail volumes are recovering, creating scope to reduce road diesel use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7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Stats SA P7162 December 2025 p7; all reported freight. Analytical workbook v02, Evidence.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46D7730D-DAEB-4247-BEB8-65B71E753D87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Million tonnes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="457200" y="2333625"/>
          <a:ext cx="644652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A99F6146-19FF-452C-8900-2955E23FAB66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Rail: 160.7m tonnes in 2024 to 168.3m in 2025. Road: 979.8m to 976.5m tonnes.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 shift of mining, agricultural and manufactured goods to rail can reduce truck fuel use.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Rail growth alone does not prove road displacement; distance, cargo and traction mix matter.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C9201D2F-AD35-4F1E-80D5-1C262355C9FE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Road remains the dominant freight mode; sustained rail recovery could change the diesel required to move goods.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Reported road and rail freight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Recovery and displacement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Hybrids dominate electrified new-vehicle sales; fleet fuel savings emerge as vehicles turn over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8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naamsa new energy vehicle sales, 2019–2025 (Quarterly Review of Business Conditions: Q3 2024 for 2019; Q2 2026 for 2020–2025); master workbook Vehicle history. Analytical workbook v02: efficiency is a planning assumption; avoid double-counting hybrid savings.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Vehicles sold</a:t>
            </a: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Electrified sales rose from 407 in 2019 to 16,716 in 2025; conventional hybrids are 77% of them.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BEV: 1,088 sales in 2025, or 0.18% of all new vehicles, down from 1,257 in 2024.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PHEVs and conventional hybrids still consume fuel; savings depend on usage.</a:t>
            </a:r>
          </a:p>
          <a:p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New sales are not fleet penetration. Efficiency and mileage must be modelled separately.</a:t>
            </a: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model’s fuel-efficiency path is a planning assumption; new-vehicle sales alone do not quantify national fuel savings.</a:t>
            </a: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Electrified vehicle sales, 2019–2025</a:t>
            </a: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Different fuel-use effects</a:t>
            </a:r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Chart"/>
          <p:cNvGraphicFramePr>
            <a:graphicFrameLocks noGrp="1"/>
          </p:cNvGraphicFramePr>
          <p:nvPr/>
        </p:nvGraphicFramePr>
        <p:xfrm>
          <a:off x="457200" y="2286000"/>
          <a:ext cx="6446520" cy="3337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Improving vehicle efficiency partly offsets growth in fuel demand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9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GB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Chart: figures taken from the review screenshot of 12 October 2026 (miles per US gallon by model year, converted at 235.2 ÷ MPG). SOURCE NOT IDENTIFIED: they resemble, but do not match, the US EPA Automotive Trends Report, which has no petrol/diesel split; not South African data. Analytical workbook v02, Driver bridge (Base): modelled effects, not observed savings.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Litres per 100 km | converted from miles per gallon; source to be confirmed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Fuel use per 100 km has roughly halved since 1975: petrol from 17.4 to 8.8 litres, diesel from 13.4 to 7.6.
The base case assumes 1% annual improvement in road-fuel efficiency, saving 0.79bn L by 2030.
Activity adds 1.54bn L across non-power uses. Rail and power effects are accounted for separately.</a:t>
            </a:r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The efficiency effect is a planning assumption; new-vehicle sales do not measure fleet-wide fuel savings.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 sz="1400" b="1">
                <a:latin typeface="Lato"/>
              </a:rPr>
              <a:t>Fuel use of petrol and diesel vehicles, 1975–2025</a:t>
            </a:r>
            <a:endParaRPr sz="1400" b="1">
              <a:latin typeface="Lato"/>
            </a:endParaRP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/>
              <a:t>Less fuel for each kilometre travelled</a:t>
            </a:r>
            <a:endParaRPr/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Chart"/>
          <p:cNvGraphicFramePr>
            <a:graphicFrameLocks noGrp="1"/>
          </p:cNvGraphicFramePr>
          <p:nvPr/>
        </p:nvGraphicFramePr>
        <p:xfrm>
          <a:off x="457200" y="2331720"/>
          <a:ext cx="6446520" cy="29535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1" name="Review note">
            <a:extLst>
              <a:ext uri="{FF2B5EF4-FFF2-40B4-BE49-F238E27FC236}">
                <a16:creationId xmlns:a16="http://schemas.microsoft.com/office/drawing/2014/main" id="{082D0934-B0D2-243F-D9F6-85CAAB7C4D8C}"/>
              </a:ext>
            </a:extLst>
          </p:cNvPr>
          <p:cNvSpPr/>
          <p:nvPr/>
        </p:nvSpPr>
        <p:spPr>
          <a:xfrm>
            <a:off x="9528048" y="420624"/>
            <a:ext cx="1623317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400">
                <a:solidFill>
                  <a:schemeClr val="tx1"/>
                </a:solidFill>
              </a:rPr>
              <a:t>Get source from Nigel</a:t>
            </a:r>
          </a:p>
        </p:txBody>
      </p:sp>
    </p:spTree>
    <p:extLst>
      <p:ext uri="{BB962C8B-B14F-4D97-AF65-F5344CB8AC3E}">
        <p14:creationId xmlns:p14="http://schemas.microsoft.com/office/powerpoint/2010/main" val="75318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Reported fuel production declined through 2021; the 2025 baseline assumes 5.8bn litres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10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Department energy balances 2014–2021; consolidated review workbook, DR01 national balance rows 8/17. Sasol FY2025/FY2026; Glencore 2024/2025. 2025: 5.8bn L planning assumption. Historical production ends in 2021; no interpolated observations.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" name="Production units">
            <a:extLst>
              <a:ext uri="{FF2B5EF4-FFF2-40B4-BE49-F238E27FC236}">
                <a16:creationId xmlns:a16="http://schemas.microsoft.com/office/drawing/2014/main" id="{598D68E6-506B-83CF-E42D-20F1DB24959C}"/>
              </a:ext>
            </a:extLst>
          </p:cNvPr>
          <p:cNvSpPr txBox="1"/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975">
                <a:solidFill>
                  <a:srgbClr val="11151A"/>
                </a:solidFill>
                <a:latin typeface="Lato" panose="020F0502020204030203" pitchFamily="34" charset="0"/>
              </a:rPr>
              <a:t>Billion litres | reported history, 2014–2021</a:t>
            </a:r>
            <a:endParaRPr lang="en-ZA" sz="97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C4515D85-FD08-E500-C29D-270AD8216A10}"/>
              </a:ext>
            </a:extLst>
          </p:cNvPr>
          <p:cNvGraphicFramePr/>
          <p:nvPr/>
        </p:nvGraphicFramePr>
        <p:xfrm>
          <a:off x="457200" y="2333625"/>
          <a:ext cx="644652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Production assumption">
            <a:extLst>
              <a:ext uri="{FF2B5EF4-FFF2-40B4-BE49-F238E27FC236}">
                <a16:creationId xmlns:a16="http://schemas.microsoft.com/office/drawing/2014/main" id="{51A3749D-D6C3-C4BC-7358-CD309F40E23B}"/>
              </a:ext>
            </a:extLst>
          </p:cNvPr>
          <p:cNvSpPr txBox="1"/>
          <p:nvPr/>
        </p:nvSpPr>
        <p:spPr>
          <a:xfrm>
            <a:off x="7424928" y="2190750"/>
            <a:ext cx="3685032" cy="5334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2625" b="1">
                <a:solidFill>
                  <a:srgbClr val="0A2373"/>
                </a:solidFill>
                <a:latin typeface="Lato" panose="020F0502020204030203" pitchFamily="34" charset="0"/>
              </a:rPr>
              <a:t>5.8bn litres</a:t>
            </a:r>
          </a:p>
        </p:txBody>
      </p:sp>
      <p:sp>
        <p:nvSpPr>
          <p:cNvPr id="10" name="Production commentary">
            <a:extLst>
              <a:ext uri="{FF2B5EF4-FFF2-40B4-BE49-F238E27FC236}">
                <a16:creationId xmlns:a16="http://schemas.microsoft.com/office/drawing/2014/main" id="{DE27518A-7FCE-6AAE-5765-F02BEA973D8D}"/>
              </a:ext>
            </a:extLst>
          </p:cNvPr>
          <p:cNvSpPr txBox="1"/>
          <p:nvPr/>
        </p:nvSpPr>
        <p:spPr>
          <a:xfrm>
            <a:off x="7424928" y="2857500"/>
            <a:ext cx="3685032" cy="30480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350">
                <a:solidFill>
                  <a:srgbClr val="11151A"/>
                </a:solidFill>
                <a:latin typeface="Lato" panose="020F0502020204030203" pitchFamily="34" charset="0"/>
              </a:rPr>
              <a:t>Petrol/diesel planning assumption; not a reported national observation.
Reported combined production fell from 20.42bn L in 2014 to 11.67bn L in 2021.
SAPREF and PetroSA contribute no refining output in the 2025 assessment. Operating output and product yields determine import displacement.</a:t>
            </a:r>
            <a:endParaRPr lang="en-ZA" sz="135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1" name="Production events">
            <a:extLst>
              <a:ext uri="{FF2B5EF4-FFF2-40B4-BE49-F238E27FC236}">
                <a16:creationId xmlns:a16="http://schemas.microsoft.com/office/drawing/2014/main" id="{FD879A5F-C40E-C552-1498-C800F603FC6B}"/>
              </a:ext>
            </a:extLst>
          </p:cNvPr>
          <p:cNvSpPr txBox="1"/>
          <p:nvPr/>
        </p:nvSpPr>
        <p:spPr>
          <a:xfrm>
            <a:off x="457200" y="5381625"/>
            <a:ext cx="6446520" cy="8572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00">
                <a:solidFill>
                  <a:srgbClr val="11151A"/>
                </a:solidFill>
                <a:latin typeface="Lato" panose="020F0502020204030203" pitchFamily="34" charset="0"/>
              </a:rPr>
              <a:t>Plant context: Secunda 27.6m barrels in FY2025 → 30.6m in FY2026.
Natref reporting scope changes; Astron reports in energy units. These disclosures cannot be summed directly.</a:t>
            </a:r>
            <a:endParaRPr lang="en-ZA" sz="1200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3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9004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9005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9006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9007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Reported petrol and diesel production</a:t>
            </a:r>
          </a:p>
        </p:txBody>
      </p:sp>
      <p:sp>
        <p:nvSpPr>
          <p:cNvPr id="9008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2025 planning baseline</a:t>
            </a:r>
          </a:p>
        </p:txBody>
      </p:sp>
      <p:cxnSp>
        <p:nvCxnSpPr>
          <p:cNvPr id="9009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2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13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Durban’s inland share depends on competing gateways and reliable onward connections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11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SARS 2022/2025; Galp Matola, 3 Dec 2020; Petromoc logistics; market-sizing workbook. Map: © OpenStreetMap contributors / Geofabrik; Natural Earth; geoBoundaries. Routes show connectivity, not validated tanker access. Compare the same product and destination.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8DDE40-D6E5-8A32-5BF0-18595D11E6B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00"/>
          <a:stretch>
            <a:fillRect/>
          </a:stretch>
        </p:blipFill>
        <p:spPr>
          <a:xfrm>
            <a:off x="870585" y="2190750"/>
            <a:ext cx="5619750" cy="3476752"/>
          </a:xfrm>
          <a:prstGeom prst="rect">
            <a:avLst/>
          </a:prstGeom>
        </p:spPr>
      </p:pic>
      <p:sp>
        <p:nvSpPr>
          <p:cNvPr id="9" name="Map scope">
            <a:extLst>
              <a:ext uri="{FF2B5EF4-FFF2-40B4-BE49-F238E27FC236}">
                <a16:creationId xmlns:a16="http://schemas.microsoft.com/office/drawing/2014/main" id="{905265E0-B937-247C-8142-C47B5C28982E}"/>
              </a:ext>
            </a:extLst>
          </p:cNvPr>
          <p:cNvSpPr txBox="1"/>
          <p:nvPr/>
        </p:nvSpPr>
        <p:spPr>
          <a:xfrm>
            <a:off x="457200" y="5762625"/>
            <a:ext cx="6446520" cy="5524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Mapped road and rail connectivity; tanker access and operating services require confirmation. The NMPP trunk line (Durban to Jameson Park, about 560 km) is the established inland connection. Walvis Bay is a potential alternative.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0" name="Route heading 0">
            <a:extLst>
              <a:ext uri="{FF2B5EF4-FFF2-40B4-BE49-F238E27FC236}">
                <a16:creationId xmlns:a16="http://schemas.microsoft.com/office/drawing/2014/main" id="{9C91F214-0886-18AE-5A7D-6B9E3F11554F}"/>
              </a:ext>
            </a:extLst>
          </p:cNvPr>
          <p:cNvSpPr txBox="1"/>
          <p:nvPr/>
        </p:nvSpPr>
        <p:spPr>
          <a:xfrm>
            <a:off x="7424928" y="21431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275" b="1">
                <a:solidFill>
                  <a:srgbClr val="0A2373"/>
                </a:solidFill>
                <a:latin typeface="Lato" panose="020F0502020204030203" pitchFamily="34" charset="0"/>
              </a:rPr>
              <a:t>Durban and other SA ports</a:t>
            </a:r>
            <a:endParaRPr lang="en-ZA" sz="1275" b="1">
              <a:solidFill>
                <a:srgbClr val="0A2373"/>
              </a:solidFill>
              <a:latin typeface="Lato" panose="020F0502020204030203" pitchFamily="34" charset="0"/>
            </a:endParaRPr>
          </a:p>
        </p:txBody>
      </p:sp>
      <p:sp>
        <p:nvSpPr>
          <p:cNvPr id="11" name="Route body 0">
            <a:extLst>
              <a:ext uri="{FF2B5EF4-FFF2-40B4-BE49-F238E27FC236}">
                <a16:creationId xmlns:a16="http://schemas.microsoft.com/office/drawing/2014/main" id="{27F897E1-6B8F-6349-848C-9704A41A5A51}"/>
              </a:ext>
            </a:extLst>
          </p:cNvPr>
          <p:cNvSpPr txBox="1"/>
          <p:nvPr/>
        </p:nvSpPr>
        <p:spPr>
          <a:xfrm>
            <a:off x="7424928" y="23907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2025 Durban customs: 13.16bn L. Allocate national imports across ports before sizing inland reach.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2" name="Route heading 1">
            <a:extLst>
              <a:ext uri="{FF2B5EF4-FFF2-40B4-BE49-F238E27FC236}">
                <a16:creationId xmlns:a16="http://schemas.microsoft.com/office/drawing/2014/main" id="{B1D50922-8300-F3B4-3178-A313020D6938}"/>
              </a:ext>
            </a:extLst>
          </p:cNvPr>
          <p:cNvSpPr txBox="1"/>
          <p:nvPr/>
        </p:nvSpPr>
        <p:spPr>
          <a:xfrm>
            <a:off x="7424928" y="296227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Durban–NMPP–Lesedi</a:t>
            </a:r>
          </a:p>
        </p:txBody>
      </p:sp>
      <p:sp>
        <p:nvSpPr>
          <p:cNvPr id="13" name="Route body 1">
            <a:extLst>
              <a:ext uri="{FF2B5EF4-FFF2-40B4-BE49-F238E27FC236}">
                <a16:creationId xmlns:a16="http://schemas.microsoft.com/office/drawing/2014/main" id="{704C5A7C-5F95-D67E-A777-0B73AAD65701}"/>
              </a:ext>
            </a:extLst>
          </p:cNvPr>
          <p:cNvSpPr txBox="1"/>
          <p:nvPr/>
        </p:nvSpPr>
        <p:spPr>
          <a:xfrm>
            <a:off x="7424928" y="320992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Existing inland connection; customer/product access, receipt and dispatch constraints determine serviceable flows.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4" name="Route heading 2">
            <a:extLst>
              <a:ext uri="{FF2B5EF4-FFF2-40B4-BE49-F238E27FC236}">
                <a16:creationId xmlns:a16="http://schemas.microsoft.com/office/drawing/2014/main" id="{35F6054D-F452-9A14-9F3F-3CF2D29C8F2C}"/>
              </a:ext>
            </a:extLst>
          </p:cNvPr>
          <p:cNvSpPr txBox="1"/>
          <p:nvPr/>
        </p:nvSpPr>
        <p:spPr>
          <a:xfrm>
            <a:off x="7424928" y="37814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Matola infrastructure</a:t>
            </a:r>
          </a:p>
        </p:txBody>
      </p:sp>
      <p:sp>
        <p:nvSpPr>
          <p:cNvPr id="15" name="Route body 2">
            <a:extLst>
              <a:ext uri="{FF2B5EF4-FFF2-40B4-BE49-F238E27FC236}">
                <a16:creationId xmlns:a16="http://schemas.microsoft.com/office/drawing/2014/main" id="{EAF0A4B6-60EE-0EC4-DA02-2B6D38BD3709}"/>
              </a:ext>
            </a:extLst>
          </p:cNvPr>
          <p:cNvSpPr txBox="1"/>
          <p:nvPr/>
        </p:nvSpPr>
        <p:spPr>
          <a:xfrm>
            <a:off x="7424928" y="40290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Galp/IPG: 60,000m³ petrol/diesel; Petromoc: 390,000m³ across fuels. Do not add overlapping capacities or equate storage with SA throughput.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6" name="Route heading 3">
            <a:extLst>
              <a:ext uri="{FF2B5EF4-FFF2-40B4-BE49-F238E27FC236}">
                <a16:creationId xmlns:a16="http://schemas.microsoft.com/office/drawing/2014/main" id="{CB01BB12-737E-A100-EB73-EB27F8553432}"/>
              </a:ext>
            </a:extLst>
          </p:cNvPr>
          <p:cNvSpPr txBox="1"/>
          <p:nvPr/>
        </p:nvSpPr>
        <p:spPr>
          <a:xfrm>
            <a:off x="7424928" y="460057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Mozambique flows</a:t>
            </a:r>
          </a:p>
        </p:txBody>
      </p:sp>
      <p:sp>
        <p:nvSpPr>
          <p:cNvPr id="17" name="Route body 3">
            <a:extLst>
              <a:ext uri="{FF2B5EF4-FFF2-40B4-BE49-F238E27FC236}">
                <a16:creationId xmlns:a16="http://schemas.microsoft.com/office/drawing/2014/main" id="{CDC39F14-E76C-9556-4E87-FBB74EF62A89}"/>
              </a:ext>
            </a:extLst>
          </p:cNvPr>
          <p:cNvSpPr txBox="1"/>
          <p:nvPr/>
        </p:nvSpPr>
        <p:spPr>
          <a:xfrm>
            <a:off x="7424928" y="484822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Komatipoort imports: 0.303bn L in 2022 → 0.086bn L in 2025. Observed flows anchor route volumes.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18" name="Route heading 4">
            <a:extLst>
              <a:ext uri="{FF2B5EF4-FFF2-40B4-BE49-F238E27FC236}">
                <a16:creationId xmlns:a16="http://schemas.microsoft.com/office/drawing/2014/main" id="{EFD8D388-52FB-EB1B-C2F9-2A68721DFCFB}"/>
              </a:ext>
            </a:extLst>
          </p:cNvPr>
          <p:cNvSpPr txBox="1"/>
          <p:nvPr/>
        </p:nvSpPr>
        <p:spPr>
          <a:xfrm>
            <a:off x="7424928" y="5419725"/>
            <a:ext cx="3685032" cy="2476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ZA" sz="1275" b="1">
                <a:solidFill>
                  <a:srgbClr val="0A2373"/>
                </a:solidFill>
                <a:latin typeface="Lato" panose="020F0502020204030203" pitchFamily="34" charset="0"/>
              </a:rPr>
              <a:t>Walvis Bay</a:t>
            </a:r>
          </a:p>
        </p:txBody>
      </p:sp>
      <p:sp>
        <p:nvSpPr>
          <p:cNvPr id="19" name="Route body 4">
            <a:extLst>
              <a:ext uri="{FF2B5EF4-FFF2-40B4-BE49-F238E27FC236}">
                <a16:creationId xmlns:a16="http://schemas.microsoft.com/office/drawing/2014/main" id="{AA1EF178-90D5-0BD5-B832-8373C625E947}"/>
              </a:ext>
            </a:extLst>
          </p:cNvPr>
          <p:cNvSpPr txBox="1"/>
          <p:nvPr/>
        </p:nvSpPr>
        <p:spPr>
          <a:xfrm>
            <a:off x="7424928" y="5667375"/>
            <a:ext cx="3685032" cy="6096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GB" sz="1125">
                <a:solidFill>
                  <a:srgbClr val="11151A"/>
                </a:solidFill>
                <a:latin typeface="Lato" panose="020F0502020204030203" pitchFamily="34" charset="0"/>
              </a:rPr>
              <a:t>Comparable delivered cost, access and SA flows remain unestablished. No quantified diversion or capture is assigned.</a:t>
            </a:r>
            <a:endParaRPr lang="en-ZA" sz="1125">
              <a:solidFill>
                <a:srgbClr val="11151A"/>
              </a:solidFill>
              <a:latin typeface="Lato" panose="020F0502020204030203" pitchFamily="34" charset="0"/>
            </a:endParaRPr>
          </a:p>
        </p:txBody>
      </p:sp>
      <p:sp>
        <p:nvSpPr>
          <p:cNvPr id="9003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9004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9005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9006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9007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sz="1400" b="1">
                <a:latin typeface="Lato"/>
              </a:rPr>
              <a:t>Competing inland supply corridors</a:t>
            </a:r>
          </a:p>
        </p:txBody>
      </p:sp>
      <p:sp>
        <p:nvSpPr>
          <p:cNvPr id="9008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t>Evidence and implications</a:t>
            </a:r>
          </a:p>
        </p:txBody>
      </p:sp>
      <p:cxnSp>
        <p:nvCxnSpPr>
          <p:cNvPr id="9009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0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1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12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013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14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9820-6AD7-45D4-9363-60B3BAF1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solidFill>
                  <a:schemeClr val="dk1"/>
                </a:solidFill>
                <a:latin typeface="Lato"/>
                <a:ea typeface="Lato"/>
                <a:cs typeface="Lato"/>
              </a:rPr>
              <a:t>Durban and Lesedi market sizing and investment issue tree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6A4E33D8-8941-444F-A929-A253CD7660A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12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4A247A30-8235-4513-B205-84A25D462858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600"/>
              <a:t>Analytical workbook v02; SARS 2025; provincial demand 2022; Transnet Pipelines FY2025. Production is a planning assumption; capture is illustrative. Shared Durban–Lesedi fuel is counted once. Historical catchments retain their stated years.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6C61FD50-75B5-4875-BAFA-6D41D2E7A1FD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" name="Demand panel">
            <a:extLst>
              <a:ext uri="{FF2B5EF4-FFF2-40B4-BE49-F238E27FC236}">
                <a16:creationId xmlns:a16="http://schemas.microsoft.com/office/drawing/2014/main" id="{13D7FB2A-425B-4C88-DAC4-6B5E0F4F15E9}"/>
              </a:ext>
            </a:extLst>
          </p:cNvPr>
          <p:cNvSpPr>
            <a:spLocks noGrp="1"/>
          </p:cNvSpPr>
          <p:nvPr/>
        </p:nvSpPr>
        <p:spPr>
          <a:xfrm>
            <a:off x="355600" y="1549400"/>
            <a:ext cx="2108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Supply panel">
            <a:extLst>
              <a:ext uri="{FF2B5EF4-FFF2-40B4-BE49-F238E27FC236}">
                <a16:creationId xmlns:a16="http://schemas.microsoft.com/office/drawing/2014/main" id="{EDF9E6D9-DC05-D64B-93EE-3112FC8385C1}"/>
              </a:ext>
            </a:extLst>
          </p:cNvPr>
          <p:cNvSpPr>
            <a:spLocks noGrp="1"/>
          </p:cNvSpPr>
          <p:nvPr/>
        </p:nvSpPr>
        <p:spPr>
          <a:xfrm>
            <a:off x="2565400" y="1549400"/>
            <a:ext cx="34036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Opportunity panel">
            <a:extLst>
              <a:ext uri="{FF2B5EF4-FFF2-40B4-BE49-F238E27FC236}">
                <a16:creationId xmlns:a16="http://schemas.microsoft.com/office/drawing/2014/main" id="{41E361D9-0C89-9050-52FE-9860D18566DF}"/>
              </a:ext>
            </a:extLst>
          </p:cNvPr>
          <p:cNvSpPr>
            <a:spLocks noGrp="1"/>
          </p:cNvSpPr>
          <p:nvPr/>
        </p:nvSpPr>
        <p:spPr>
          <a:xfrm>
            <a:off x="6070600" y="1549400"/>
            <a:ext cx="30607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Investment panel">
            <a:extLst>
              <a:ext uri="{FF2B5EF4-FFF2-40B4-BE49-F238E27FC236}">
                <a16:creationId xmlns:a16="http://schemas.microsoft.com/office/drawing/2014/main" id="{7EB7908E-9958-408F-3537-2A89642FDC6D}"/>
              </a:ext>
            </a:extLst>
          </p:cNvPr>
          <p:cNvSpPr>
            <a:spLocks noGrp="1"/>
          </p:cNvSpPr>
          <p:nvPr/>
        </p:nvSpPr>
        <p:spPr>
          <a:xfrm>
            <a:off x="9232900" y="1549400"/>
            <a:ext cx="1981200" cy="4597400"/>
          </a:xfrm>
          <a:prstGeom prst="rect">
            <a:avLst/>
          </a:prstGeom>
          <a:solidFill>
            <a:srgbClr val="EEF1F6"/>
          </a:solidFill>
          <a:ln w="1270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Demand heading">
            <a:extLst>
              <a:ext uri="{FF2B5EF4-FFF2-40B4-BE49-F238E27FC236}">
                <a16:creationId xmlns:a16="http://schemas.microsoft.com/office/drawing/2014/main" id="{5E10CFA9-C012-27D2-B26F-FF5D806DD0C9}"/>
              </a:ext>
            </a:extLst>
          </p:cNvPr>
          <p:cNvSpPr>
            <a:spLocks noGrp="1"/>
          </p:cNvSpPr>
          <p:nvPr/>
        </p:nvSpPr>
        <p:spPr>
          <a:xfrm>
            <a:off x="457200" y="1638300"/>
            <a:ext cx="1905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1  NATIONAL DEMAND</a:t>
            </a:r>
          </a:p>
        </p:txBody>
      </p:sp>
      <p:sp>
        <p:nvSpPr>
          <p:cNvPr id="14" name="System heading">
            <a:extLst>
              <a:ext uri="{FF2B5EF4-FFF2-40B4-BE49-F238E27FC236}">
                <a16:creationId xmlns:a16="http://schemas.microsoft.com/office/drawing/2014/main" id="{D1B803F8-148F-F52B-6733-F8C59DCFA18E}"/>
              </a:ext>
            </a:extLst>
          </p:cNvPr>
          <p:cNvSpPr>
            <a:spLocks noGrp="1"/>
          </p:cNvSpPr>
          <p:nvPr/>
        </p:nvSpPr>
        <p:spPr>
          <a:xfrm>
            <a:off x="2667000" y="1638300"/>
            <a:ext cx="32004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  SUPPLY AND DELIVERY</a:t>
            </a:r>
          </a:p>
        </p:txBody>
      </p:sp>
      <p:sp>
        <p:nvSpPr>
          <p:cNvPr id="15" name="Terminal heading">
            <a:extLst>
              <a:ext uri="{FF2B5EF4-FFF2-40B4-BE49-F238E27FC236}">
                <a16:creationId xmlns:a16="http://schemas.microsoft.com/office/drawing/2014/main" id="{EA11C542-C5C8-C25B-C917-5395829365FA}"/>
              </a:ext>
            </a:extLst>
          </p:cNvPr>
          <p:cNvSpPr>
            <a:spLocks noGrp="1"/>
          </p:cNvSpPr>
          <p:nvPr/>
        </p:nvSpPr>
        <p:spPr>
          <a:xfrm>
            <a:off x="6172200" y="1638300"/>
            <a:ext cx="28575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3  VOPAK OPPORTUNITY</a:t>
            </a:r>
          </a:p>
        </p:txBody>
      </p:sp>
      <p:sp>
        <p:nvSpPr>
          <p:cNvPr id="16" name="Investment heading">
            <a:extLst>
              <a:ext uri="{FF2B5EF4-FFF2-40B4-BE49-F238E27FC236}">
                <a16:creationId xmlns:a16="http://schemas.microsoft.com/office/drawing/2014/main" id="{788AB381-C5D3-5D15-F133-8717DE0477FB}"/>
              </a:ext>
            </a:extLst>
          </p:cNvPr>
          <p:cNvSpPr>
            <a:spLocks noGrp="1"/>
          </p:cNvSpPr>
          <p:nvPr/>
        </p:nvSpPr>
        <p:spPr>
          <a:xfrm>
            <a:off x="9334500" y="1638300"/>
            <a:ext cx="1778000" cy="2413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4  INVESTMENT</a:t>
            </a:r>
          </a:p>
        </p:txBody>
      </p:sp>
      <p:cxnSp>
        <p:nvCxnSpPr>
          <p:cNvPr id="108" name="Column heading rule"/>
          <p:cNvCxnSpPr/>
          <p:nvPr/>
        </p:nvCxnSpPr>
        <p:spPr>
          <a:xfrm>
            <a:off x="457200" y="1917700"/>
            <a:ext cx="1905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lumn heading rule"/>
          <p:cNvCxnSpPr/>
          <p:nvPr/>
        </p:nvCxnSpPr>
        <p:spPr>
          <a:xfrm>
            <a:off x="2667000" y="1917700"/>
            <a:ext cx="32004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lumn heading rule"/>
          <p:cNvCxnSpPr/>
          <p:nvPr/>
        </p:nvCxnSpPr>
        <p:spPr>
          <a:xfrm>
            <a:off x="6172200" y="1917700"/>
            <a:ext cx="28575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lumn heading rule"/>
          <p:cNvCxnSpPr/>
          <p:nvPr/>
        </p:nvCxnSpPr>
        <p:spPr>
          <a:xfrm>
            <a:off x="9334500" y="1917700"/>
            <a:ext cx="1778000" cy="0"/>
          </a:xfrm>
          <a:prstGeom prst="straightConnector1">
            <a:avLst/>
          </a:prstGeom>
          <a:ln w="825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National market">
            <a:extLst>
              <a:ext uri="{FF2B5EF4-FFF2-40B4-BE49-F238E27FC236}">
                <a16:creationId xmlns:a16="http://schemas.microsoft.com/office/drawing/2014/main" id="{1F4039F1-5645-86DE-916D-FF2ABE7750B0}"/>
              </a:ext>
            </a:extLst>
          </p:cNvPr>
          <p:cNvSpPr>
            <a:spLocks noGrp="1"/>
          </p:cNvSpPr>
          <p:nvPr/>
        </p:nvSpPr>
        <p:spPr>
          <a:xfrm>
            <a:off x="457200" y="20066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fr-FR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National consumption
2025 estimate
21.0bn litres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2" name="Product demand">
            <a:extLst>
              <a:ext uri="{FF2B5EF4-FFF2-40B4-BE49-F238E27FC236}">
                <a16:creationId xmlns:a16="http://schemas.microsoft.com/office/drawing/2014/main" id="{FC0C19CA-8D25-70AE-0BD5-852428AD766E}"/>
              </a:ext>
            </a:extLst>
          </p:cNvPr>
          <p:cNvSpPr>
            <a:spLocks noGrp="1"/>
          </p:cNvSpPr>
          <p:nvPr/>
        </p:nvSpPr>
        <p:spPr>
          <a:xfrm>
            <a:off x="457200" y="30734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product
Petrol 8.9bn L
Diesel 12.1bn L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3" name="Sector demand">
            <a:extLst>
              <a:ext uri="{FF2B5EF4-FFF2-40B4-BE49-F238E27FC236}">
                <a16:creationId xmlns:a16="http://schemas.microsoft.com/office/drawing/2014/main" id="{0F861E75-7AA1-B3FD-4B6B-FE7B0ECE42C9}"/>
              </a:ext>
            </a:extLst>
          </p:cNvPr>
          <p:cNvSpPr>
            <a:spLocks noGrp="1"/>
          </p:cNvSpPr>
          <p:nvPr/>
        </p:nvSpPr>
        <p:spPr>
          <a:xfrm>
            <a:off x="457200" y="41402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by use
Road, mining, agriculture
Manufacturing and power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4" name="Demand parameters">
            <a:extLst>
              <a:ext uri="{FF2B5EF4-FFF2-40B4-BE49-F238E27FC236}">
                <a16:creationId xmlns:a16="http://schemas.microsoft.com/office/drawing/2014/main" id="{79B1AEA4-0900-4A1F-2A44-2F05809E06FC}"/>
              </a:ext>
            </a:extLst>
          </p:cNvPr>
          <p:cNvSpPr>
            <a:spLocks noGrp="1"/>
          </p:cNvSpPr>
          <p:nvPr/>
        </p:nvSpPr>
        <p:spPr>
          <a:xfrm>
            <a:off x="457200" y="5207000"/>
            <a:ext cx="1905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Demand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GDP and sectors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EVs, fleet, efficiency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Freight, prices, power</a:t>
            </a:r>
          </a:p>
        </p:txBody>
      </p:sp>
      <p:sp>
        <p:nvSpPr>
          <p:cNvPr id="25" name="Imports">
            <a:extLst>
              <a:ext uri="{FF2B5EF4-FFF2-40B4-BE49-F238E27FC236}">
                <a16:creationId xmlns:a16="http://schemas.microsoft.com/office/drawing/2014/main" id="{724C6B42-EF01-8CC4-3352-533547797903}"/>
              </a:ext>
            </a:extLst>
          </p:cNvPr>
          <p:cNvSpPr>
            <a:spLocks noGrp="1"/>
          </p:cNvSpPr>
          <p:nvPr/>
        </p:nvSpPr>
        <p:spPr>
          <a:xfrm>
            <a:off x="26670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Gross imports, 2025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Petrol 4.45B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Diesel 12.25B L</a:t>
            </a:r>
          </a:p>
        </p:txBody>
      </p:sp>
      <p:sp>
        <p:nvSpPr>
          <p:cNvPr id="26" name="Production">
            <a:extLst>
              <a:ext uri="{FF2B5EF4-FFF2-40B4-BE49-F238E27FC236}">
                <a16:creationId xmlns:a16="http://schemas.microsoft.com/office/drawing/2014/main" id="{0F3927D4-99CC-B20A-F042-9B8286A9C86F}"/>
              </a:ext>
            </a:extLst>
          </p:cNvPr>
          <p:cNvSpPr>
            <a:spLocks noGrp="1"/>
          </p:cNvSpPr>
          <p:nvPr/>
        </p:nvSpPr>
        <p:spPr>
          <a:xfrm>
            <a:off x="4343400" y="20066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Domestic production
5.8bn L in 2025
Planning assumption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" name="Ports">
            <a:extLst>
              <a:ext uri="{FF2B5EF4-FFF2-40B4-BE49-F238E27FC236}">
                <a16:creationId xmlns:a16="http://schemas.microsoft.com/office/drawing/2014/main" id="{2B5A0F96-8E3F-071A-F8DA-79BFBC4EB29F}"/>
              </a:ext>
            </a:extLst>
          </p:cNvPr>
          <p:cNvSpPr>
            <a:spLocks noGrp="1"/>
          </p:cNvSpPr>
          <p:nvPr/>
        </p:nvSpPr>
        <p:spPr>
          <a:xfrm>
            <a:off x="26670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lang="en-GB"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Ports and alternatives
Durban, Matola
Assess Walvis Bay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8" name="Inland">
            <a:extLst>
              <a:ext uri="{FF2B5EF4-FFF2-40B4-BE49-F238E27FC236}">
                <a16:creationId xmlns:a16="http://schemas.microsoft.com/office/drawing/2014/main" id="{6DE5F7CC-0E48-CEF6-8887-230FDB8586C9}"/>
              </a:ext>
            </a:extLst>
          </p:cNvPr>
          <p:cNvSpPr>
            <a:spLocks noGrp="1"/>
          </p:cNvSpPr>
          <p:nvPr/>
        </p:nvSpPr>
        <p:spPr>
          <a:xfrm>
            <a:off x="4343400" y="30734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delivery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NMPP trunk 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Road and rail</a:t>
            </a:r>
          </a:p>
        </p:txBody>
      </p:sp>
      <p:sp>
        <p:nvSpPr>
          <p:cNvPr id="29" name="Coastal demand">
            <a:extLst>
              <a:ext uri="{FF2B5EF4-FFF2-40B4-BE49-F238E27FC236}">
                <a16:creationId xmlns:a16="http://schemas.microsoft.com/office/drawing/2014/main" id="{57507AA1-D9BB-C5C3-2D0D-F57B42E1B24B}"/>
              </a:ext>
            </a:extLst>
          </p:cNvPr>
          <p:cNvSpPr>
            <a:spLocks noGrp="1"/>
          </p:cNvSpPr>
          <p:nvPr/>
        </p:nvSpPr>
        <p:spPr>
          <a:xfrm>
            <a:off x="26670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Coastal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KZN, WC, EC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Port-adjacent markets</a:t>
            </a:r>
          </a:p>
        </p:txBody>
      </p:sp>
      <p:sp>
        <p:nvSpPr>
          <p:cNvPr id="30" name="Inland demand">
            <a:extLst>
              <a:ext uri="{FF2B5EF4-FFF2-40B4-BE49-F238E27FC236}">
                <a16:creationId xmlns:a16="http://schemas.microsoft.com/office/drawing/2014/main" id="{17D23A6F-391A-B4D0-0390-170FB56988A5}"/>
              </a:ext>
            </a:extLst>
          </p:cNvPr>
          <p:cNvSpPr>
            <a:spLocks noGrp="1"/>
          </p:cNvSpPr>
          <p:nvPr/>
        </p:nvSpPr>
        <p:spPr>
          <a:xfrm>
            <a:off x="4343400" y="4140200"/>
            <a:ext cx="1524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Inland demand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and interior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Six inland provinces</a:t>
            </a:r>
          </a:p>
        </p:txBody>
      </p:sp>
      <p:sp>
        <p:nvSpPr>
          <p:cNvPr id="31" name="Supply and route parameters">
            <a:extLst>
              <a:ext uri="{FF2B5EF4-FFF2-40B4-BE49-F238E27FC236}">
                <a16:creationId xmlns:a16="http://schemas.microsoft.com/office/drawing/2014/main" id="{2AB4CDEB-D76D-6E84-27BA-C508DCB5FD97}"/>
              </a:ext>
            </a:extLst>
          </p:cNvPr>
          <p:cNvSpPr>
            <a:spLocks noGrp="1"/>
          </p:cNvSpPr>
          <p:nvPr/>
        </p:nvSpPr>
        <p:spPr>
          <a:xfrm>
            <a:off x="2667000" y="5207000"/>
            <a:ext cx="32004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Supply and route parameters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Refinery closures, restarts, gas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Delivered cost, routes,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Port, pipeline, rail capacity</a:t>
            </a:r>
          </a:p>
        </p:txBody>
      </p:sp>
      <p:sp>
        <p:nvSpPr>
          <p:cNvPr id="32" name="Market sizing">
            <a:extLst>
              <a:ext uri="{FF2B5EF4-FFF2-40B4-BE49-F238E27FC236}">
                <a16:creationId xmlns:a16="http://schemas.microsoft.com/office/drawing/2014/main" id="{91CBF5AA-AFA2-4C43-CD42-91247C5EBFB1}"/>
              </a:ext>
            </a:extLst>
          </p:cNvPr>
          <p:cNvSpPr>
            <a:spLocks noGrp="1"/>
          </p:cNvSpPr>
          <p:nvPr/>
        </p:nvSpPr>
        <p:spPr>
          <a:xfrm>
            <a:off x="6172200" y="20066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Market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2025 Durban customs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Catchments and gateway overlap</a:t>
            </a:r>
          </a:p>
        </p:txBody>
      </p:sp>
      <p:sp>
        <p:nvSpPr>
          <p:cNvPr id="33" name="Durban opportunity">
            <a:extLst>
              <a:ext uri="{FF2B5EF4-FFF2-40B4-BE49-F238E27FC236}">
                <a16:creationId xmlns:a16="http://schemas.microsoft.com/office/drawing/2014/main" id="{AD85D3EA-9660-11AF-4D62-53DF642A83A9}"/>
              </a:ext>
            </a:extLst>
          </p:cNvPr>
          <p:cNvSpPr>
            <a:spLocks noGrp="1"/>
          </p:cNvSpPr>
          <p:nvPr/>
        </p:nvSpPr>
        <p:spPr>
          <a:xfrm>
            <a:off x="61722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Durban context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Imports 13.16B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KZN sales 4.28B L</a:t>
            </a:r>
          </a:p>
        </p:txBody>
      </p:sp>
      <p:sp>
        <p:nvSpPr>
          <p:cNvPr id="34" name="Lesedi opportunity">
            <a:extLst>
              <a:ext uri="{FF2B5EF4-FFF2-40B4-BE49-F238E27FC236}">
                <a16:creationId xmlns:a16="http://schemas.microsoft.com/office/drawing/2014/main" id="{63890191-72E5-0DCF-2859-0532EF4E4C33}"/>
              </a:ext>
            </a:extLst>
          </p:cNvPr>
          <p:cNvSpPr>
            <a:spLocks noGrp="1"/>
          </p:cNvSpPr>
          <p:nvPr/>
        </p:nvSpPr>
        <p:spPr>
          <a:xfrm>
            <a:off x="7658100" y="3073400"/>
            <a:ext cx="13716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Lesedi catchments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Gauteng 6.81B L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Inland 11.95B L</a:t>
            </a:r>
          </a:p>
        </p:txBody>
      </p:sp>
      <p:sp>
        <p:nvSpPr>
          <p:cNvPr id="35" name="Share">
            <a:extLst>
              <a:ext uri="{FF2B5EF4-FFF2-40B4-BE49-F238E27FC236}">
                <a16:creationId xmlns:a16="http://schemas.microsoft.com/office/drawing/2014/main" id="{824CBCA9-E304-3B46-C99C-02F33E9F9976}"/>
              </a:ext>
            </a:extLst>
          </p:cNvPr>
          <p:cNvSpPr>
            <a:spLocks noGrp="1"/>
          </p:cNvSpPr>
          <p:nvPr/>
        </p:nvSpPr>
        <p:spPr>
          <a:xfrm>
            <a:off x="6172200" y="41402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Conditional base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Total 2.22B L: Durban 0.86, Lesedi 1.36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20% of KZN and Gauteng sales</a:t>
            </a:r>
          </a:p>
        </p:txBody>
      </p:sp>
      <p:sp>
        <p:nvSpPr>
          <p:cNvPr id="36" name="Headroom">
            <a:extLst>
              <a:ext uri="{FF2B5EF4-FFF2-40B4-BE49-F238E27FC236}">
                <a16:creationId xmlns:a16="http://schemas.microsoft.com/office/drawing/2014/main" id="{05E0AD0B-A792-4BDD-1EB7-B01AECA4226C}"/>
              </a:ext>
            </a:extLst>
          </p:cNvPr>
          <p:cNvSpPr>
            <a:spLocks noGrp="1"/>
          </p:cNvSpPr>
          <p:nvPr/>
        </p:nvSpPr>
        <p:spPr>
          <a:xfrm>
            <a:off x="6172200" y="5207000"/>
            <a:ext cx="28575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Incremental opportunity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Needs existing throughput baseline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Access and commitments unverified</a:t>
            </a:r>
          </a:p>
        </p:txBody>
      </p:sp>
      <p:sp>
        <p:nvSpPr>
          <p:cNvPr id="37" name="Additional capture">
            <a:extLst>
              <a:ext uri="{FF2B5EF4-FFF2-40B4-BE49-F238E27FC236}">
                <a16:creationId xmlns:a16="http://schemas.microsoft.com/office/drawing/2014/main" id="{6E600B91-FC4C-0363-791E-1A64E047C78A}"/>
              </a:ext>
            </a:extLst>
          </p:cNvPr>
          <p:cNvSpPr>
            <a:spLocks noGrp="1"/>
          </p:cNvSpPr>
          <p:nvPr/>
        </p:nvSpPr>
        <p:spPr>
          <a:xfrm>
            <a:off x="9334500" y="20066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Additional capture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Customers, contracts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Competition</a:t>
            </a:r>
          </a:p>
        </p:txBody>
      </p:sp>
      <p:sp>
        <p:nvSpPr>
          <p:cNvPr id="38" name="Existing capacity">
            <a:extLst>
              <a:ext uri="{FF2B5EF4-FFF2-40B4-BE49-F238E27FC236}">
                <a16:creationId xmlns:a16="http://schemas.microsoft.com/office/drawing/2014/main" id="{DFB2E8DF-FA37-1759-42B2-545E0BF9734F}"/>
              </a:ext>
            </a:extLst>
          </p:cNvPr>
          <p:cNvSpPr>
            <a:spLocks noGrp="1"/>
          </p:cNvSpPr>
          <p:nvPr/>
        </p:nvSpPr>
        <p:spPr>
          <a:xfrm>
            <a:off x="9334500" y="30734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Existing assets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Tanks and 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Receipt and dispatch</a:t>
            </a:r>
          </a:p>
        </p:txBody>
      </p:sp>
      <p:sp>
        <p:nvSpPr>
          <p:cNvPr id="39" name="Investment economics">
            <a:extLst>
              <a:ext uri="{FF2B5EF4-FFF2-40B4-BE49-F238E27FC236}">
                <a16:creationId xmlns:a16="http://schemas.microsoft.com/office/drawing/2014/main" id="{060FE6FB-6025-293B-144C-0BFFB8319407}"/>
              </a:ext>
            </a:extLst>
          </p:cNvPr>
          <p:cNvSpPr>
            <a:spLocks noGrp="1"/>
          </p:cNvSpPr>
          <p:nvPr/>
        </p:nvSpPr>
        <p:spPr>
          <a:xfrm>
            <a:off x="9334500" y="41402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New investment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Volume, capex, returns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Alternatives, downside</a:t>
            </a:r>
          </a:p>
        </p:txBody>
      </p:sp>
      <p:sp>
        <p:nvSpPr>
          <p:cNvPr id="40" name="Resolution">
            <a:extLst>
              <a:ext uri="{FF2B5EF4-FFF2-40B4-BE49-F238E27FC236}">
                <a16:creationId xmlns:a16="http://schemas.microsoft.com/office/drawing/2014/main" id="{10B2C088-2253-7876-FF66-3F71B4F5F524}"/>
              </a:ext>
            </a:extLst>
          </p:cNvPr>
          <p:cNvSpPr>
            <a:spLocks noGrp="1"/>
          </p:cNvSpPr>
          <p:nvPr/>
        </p:nvSpPr>
        <p:spPr>
          <a:xfrm>
            <a:off x="9334500" y="5207000"/>
            <a:ext cx="1778000" cy="889000"/>
          </a:xfrm>
          <a:prstGeom prst="rect">
            <a:avLst/>
          </a:prstGeom>
          <a:solidFill>
            <a:srgbClr val="FFFFFF"/>
          </a:solidFill>
          <a:ln w="9525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38100" anchor="t"/>
          <a:lstStyle/>
          <a:p>
            <a:pPr>
              <a:spcAft>
                <a:spcPts val="400"/>
              </a:spcAft>
              <a:buNone/>
            </a:pPr>
            <a:r>
              <a:rPr sz="105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Resolution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Vopak share by site</a:t>
            </a:r>
          </a:p>
          <a:p>
            <a:pPr>
              <a:spcAft>
                <a:spcPts val="200"/>
              </a:spcAft>
              <a:buNone/>
            </a:pPr>
            <a:r>
              <a:rPr sz="1050">
                <a:solidFill>
                  <a:schemeClr val="dk1"/>
                </a:solidFill>
                <a:latin typeface="Lato"/>
                <a:ea typeface="Lato"/>
                <a:cs typeface="Lato"/>
              </a:rPr>
              <a:t>Scope for investment</a:t>
            </a:r>
          </a:p>
        </p:txBody>
      </p:sp>
      <p:sp>
        <p:nvSpPr>
          <p:cNvPr id="41" name="National market tag">
            <a:extLst>
              <a:ext uri="{FF2B5EF4-FFF2-40B4-BE49-F238E27FC236}">
                <a16:creationId xmlns:a16="http://schemas.microsoft.com/office/drawing/2014/main" id="{8D1DF495-2867-B96E-BBC0-866DC91750D0}"/>
              </a:ext>
            </a:extLst>
          </p:cNvPr>
          <p:cNvSpPr>
            <a:spLocks noGrp="1"/>
          </p:cNvSpPr>
          <p:nvPr/>
        </p:nvSpPr>
        <p:spPr>
          <a:xfrm>
            <a:off x="533400" y="27051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demand estimate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2" name="Product demand tag">
            <a:extLst>
              <a:ext uri="{FF2B5EF4-FFF2-40B4-BE49-F238E27FC236}">
                <a16:creationId xmlns:a16="http://schemas.microsoft.com/office/drawing/2014/main" id="{506514FF-4240-195A-1129-AC4FE8DA6F4C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3" name="Sector demand tag">
            <a:extLst>
              <a:ext uri="{FF2B5EF4-FFF2-40B4-BE49-F238E27FC236}">
                <a16:creationId xmlns:a16="http://schemas.microsoft.com/office/drawing/2014/main" id="{8249794E-311C-E01E-4EBA-076C8507785A}"/>
              </a:ext>
            </a:extLst>
          </p:cNvPr>
          <p:cNvSpPr>
            <a:spLocks noGrp="1"/>
          </p:cNvSpPr>
          <p:nvPr/>
        </p:nvSpPr>
        <p:spPr>
          <a:xfrm>
            <a:off x="533400" y="4838700"/>
            <a:ext cx="1752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segment estimates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4" name="Imports tag">
            <a:extLst>
              <a:ext uri="{FF2B5EF4-FFF2-40B4-BE49-F238E27FC236}">
                <a16:creationId xmlns:a16="http://schemas.microsoft.com/office/drawing/2014/main" id="{45D45AB1-1162-38C5-E090-A37FA7AA51E7}"/>
              </a:ext>
            </a:extLst>
          </p:cNvPr>
          <p:cNvSpPr>
            <a:spLocks noGrp="1"/>
          </p:cNvSpPr>
          <p:nvPr/>
        </p:nvSpPr>
        <p:spPr>
          <a:xfrm>
            <a:off x="27432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gross 16.70B L</a:t>
            </a:r>
          </a:p>
        </p:txBody>
      </p:sp>
      <p:sp>
        <p:nvSpPr>
          <p:cNvPr id="45" name="Production tag">
            <a:extLst>
              <a:ext uri="{FF2B5EF4-FFF2-40B4-BE49-F238E27FC236}">
                <a16:creationId xmlns:a16="http://schemas.microsoft.com/office/drawing/2014/main" id="{201F4CC4-568A-0AF6-9662-B95C70B285AF}"/>
              </a:ext>
            </a:extLst>
          </p:cNvPr>
          <p:cNvSpPr>
            <a:spLocks noGrp="1"/>
          </p:cNvSpPr>
          <p:nvPr/>
        </p:nvSpPr>
        <p:spPr>
          <a:xfrm>
            <a:off x="4419600" y="27051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5.8bn L planning baseline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6" name="Ports tag">
            <a:extLst>
              <a:ext uri="{FF2B5EF4-FFF2-40B4-BE49-F238E27FC236}">
                <a16:creationId xmlns:a16="http://schemas.microsoft.com/office/drawing/2014/main" id="{51B6C907-0FB6-0E43-7CE6-E139C7D0A042}"/>
              </a:ext>
            </a:extLst>
          </p:cNvPr>
          <p:cNvSpPr>
            <a:spLocks noGrp="1"/>
          </p:cNvSpPr>
          <p:nvPr/>
        </p:nvSpPr>
        <p:spPr>
          <a:xfrm>
            <a:off x="27432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· Durban 13.2B L</a:t>
            </a:r>
          </a:p>
        </p:txBody>
      </p:sp>
      <p:sp>
        <p:nvSpPr>
          <p:cNvPr id="49" name="Inland tag">
            <a:extLst>
              <a:ext uri="{FF2B5EF4-FFF2-40B4-BE49-F238E27FC236}">
                <a16:creationId xmlns:a16="http://schemas.microsoft.com/office/drawing/2014/main" id="{17EC9F05-1A0A-C138-1FA5-7412DE30E3BA}"/>
              </a:ext>
            </a:extLst>
          </p:cNvPr>
          <p:cNvSpPr>
            <a:spLocks noGrp="1"/>
          </p:cNvSpPr>
          <p:nvPr/>
        </p:nvSpPr>
        <p:spPr>
          <a:xfrm>
            <a:off x="4419600" y="37719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FY25 use 5.46B L/yr</a:t>
            </a:r>
          </a:p>
        </p:txBody>
      </p:sp>
      <p:sp>
        <p:nvSpPr>
          <p:cNvPr id="50" name="Coastal demand tag">
            <a:extLst>
              <a:ext uri="{FF2B5EF4-FFF2-40B4-BE49-F238E27FC236}">
                <a16:creationId xmlns:a16="http://schemas.microsoft.com/office/drawing/2014/main" id="{956E9484-D3A6-A1C6-A247-860F334D3AC4}"/>
              </a:ext>
            </a:extLst>
          </p:cNvPr>
          <p:cNvSpPr>
            <a:spLocks noGrp="1"/>
          </p:cNvSpPr>
          <p:nvPr/>
        </p:nvSpPr>
        <p:spPr>
          <a:xfrm>
            <a:off x="27432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10.0B L · proxy</a:t>
            </a:r>
          </a:p>
        </p:txBody>
      </p:sp>
      <p:sp>
        <p:nvSpPr>
          <p:cNvPr id="51" name="Inland demand tag">
            <a:extLst>
              <a:ext uri="{FF2B5EF4-FFF2-40B4-BE49-F238E27FC236}">
                <a16:creationId xmlns:a16="http://schemas.microsoft.com/office/drawing/2014/main" id="{9E107268-37A7-23B8-39C5-7A9C2AB058F2}"/>
              </a:ext>
            </a:extLst>
          </p:cNvPr>
          <p:cNvSpPr>
            <a:spLocks noGrp="1"/>
          </p:cNvSpPr>
          <p:nvPr/>
        </p:nvSpPr>
        <p:spPr>
          <a:xfrm>
            <a:off x="4419600" y="4838700"/>
            <a:ext cx="1371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· 12.0B L · proxy</a:t>
            </a:r>
          </a:p>
        </p:txBody>
      </p:sp>
      <p:sp>
        <p:nvSpPr>
          <p:cNvPr id="52" name="Market sizing tag">
            <a:extLst>
              <a:ext uri="{FF2B5EF4-FFF2-40B4-BE49-F238E27FC236}">
                <a16:creationId xmlns:a16="http://schemas.microsoft.com/office/drawing/2014/main" id="{C096C2C5-D37B-3528-AA9C-63E04EEC5FF3}"/>
              </a:ext>
            </a:extLst>
          </p:cNvPr>
          <p:cNvSpPr>
            <a:spLocks noGrp="1"/>
          </p:cNvSpPr>
          <p:nvPr/>
        </p:nvSpPr>
        <p:spPr>
          <a:xfrm>
            <a:off x="6248400" y="27051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Gateway proxy; capture not observed</a:t>
            </a:r>
          </a:p>
        </p:txBody>
      </p:sp>
      <p:sp>
        <p:nvSpPr>
          <p:cNvPr id="53" name="Durban opportunity tag">
            <a:extLst>
              <a:ext uri="{FF2B5EF4-FFF2-40B4-BE49-F238E27FC236}">
                <a16:creationId xmlns:a16="http://schemas.microsoft.com/office/drawing/2014/main" id="{9E9902C2-0AF9-C9D5-B8FE-F017EB81602A}"/>
              </a:ext>
            </a:extLst>
          </p:cNvPr>
          <p:cNvSpPr>
            <a:spLocks noGrp="1"/>
          </p:cNvSpPr>
          <p:nvPr/>
        </p:nvSpPr>
        <p:spPr>
          <a:xfrm>
            <a:off x="62484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2025 / 2022 context</a:t>
            </a:r>
          </a:p>
        </p:txBody>
      </p:sp>
      <p:sp>
        <p:nvSpPr>
          <p:cNvPr id="54" name="Lesedi opportunity tag">
            <a:extLst>
              <a:ext uri="{FF2B5EF4-FFF2-40B4-BE49-F238E27FC236}">
                <a16:creationId xmlns:a16="http://schemas.microsoft.com/office/drawing/2014/main" id="{5B840FCC-C4C2-9CED-168F-98C14A7C2F24}"/>
              </a:ext>
            </a:extLst>
          </p:cNvPr>
          <p:cNvSpPr>
            <a:spLocks noGrp="1"/>
          </p:cNvSpPr>
          <p:nvPr/>
        </p:nvSpPr>
        <p:spPr>
          <a:xfrm>
            <a:off x="7734300" y="3771900"/>
            <a:ext cx="12192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2022 nested demand</a:t>
            </a:r>
          </a:p>
        </p:txBody>
      </p:sp>
      <p:sp>
        <p:nvSpPr>
          <p:cNvPr id="55" name="Share tag">
            <a:extLst>
              <a:ext uri="{FF2B5EF4-FFF2-40B4-BE49-F238E27FC236}">
                <a16:creationId xmlns:a16="http://schemas.microsoft.com/office/drawing/2014/main" id="{9D1D8A45-42BD-CA85-EB3F-5061EFCF24A3}"/>
              </a:ext>
            </a:extLst>
          </p:cNvPr>
          <p:cNvSpPr>
            <a:spLocks noGrp="1"/>
          </p:cNvSpPr>
          <p:nvPr/>
        </p:nvSpPr>
        <p:spPr>
          <a:xfrm>
            <a:off x="6248400" y="48387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ZA" sz="900" b="1">
                <a:solidFill>
                  <a:schemeClr val="accent1"/>
                </a:solidFill>
                <a:latin typeface="Lato"/>
                <a:ea typeface="Lato"/>
                <a:cs typeface="Lato"/>
              </a:rPr>
              <a:t>Illustrative capture</a:t>
            </a:r>
            <a:endParaRPr sz="900" b="1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Headroom tag">
            <a:extLst>
              <a:ext uri="{FF2B5EF4-FFF2-40B4-BE49-F238E27FC236}">
                <a16:creationId xmlns:a16="http://schemas.microsoft.com/office/drawing/2014/main" id="{2F7794D4-8CCE-E4F1-4E7A-13708B4520F0}"/>
              </a:ext>
            </a:extLst>
          </p:cNvPr>
          <p:cNvSpPr>
            <a:spLocks noGrp="1"/>
          </p:cNvSpPr>
          <p:nvPr/>
        </p:nvSpPr>
        <p:spPr>
          <a:xfrm>
            <a:off x="6248400" y="5905500"/>
            <a:ext cx="27051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7" name="Additional capture tag">
            <a:extLst>
              <a:ext uri="{FF2B5EF4-FFF2-40B4-BE49-F238E27FC236}">
                <a16:creationId xmlns:a16="http://schemas.microsoft.com/office/drawing/2014/main" id="{D3F3C301-3CD5-70ED-3897-AC853D7F1384}"/>
              </a:ext>
            </a:extLst>
          </p:cNvPr>
          <p:cNvSpPr>
            <a:spLocks noGrp="1"/>
          </p:cNvSpPr>
          <p:nvPr/>
        </p:nvSpPr>
        <p:spPr>
          <a:xfrm>
            <a:off x="9410700" y="27051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DR02/05</a:t>
            </a:r>
          </a:p>
        </p:txBody>
      </p:sp>
      <p:sp>
        <p:nvSpPr>
          <p:cNvPr id="58" name="Existing capacity tag">
            <a:extLst>
              <a:ext uri="{FF2B5EF4-FFF2-40B4-BE49-F238E27FC236}">
                <a16:creationId xmlns:a16="http://schemas.microsoft.com/office/drawing/2014/main" id="{7033E250-411E-32FA-83F3-A34FD61AA039}"/>
              </a:ext>
            </a:extLst>
          </p:cNvPr>
          <p:cNvSpPr>
            <a:spLocks noGrp="1"/>
          </p:cNvSpPr>
          <p:nvPr/>
        </p:nvSpPr>
        <p:spPr>
          <a:xfrm>
            <a:off x="9410700" y="37719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DR03</a:t>
            </a:r>
          </a:p>
        </p:txBody>
      </p:sp>
      <p:sp>
        <p:nvSpPr>
          <p:cNvPr id="59" name="Investment economics tag">
            <a:extLst>
              <a:ext uri="{FF2B5EF4-FFF2-40B4-BE49-F238E27FC236}">
                <a16:creationId xmlns:a16="http://schemas.microsoft.com/office/drawing/2014/main" id="{1A45A8CC-C6B7-7080-3CEA-0E352F2696E8}"/>
              </a:ext>
            </a:extLst>
          </p:cNvPr>
          <p:cNvSpPr>
            <a:spLocks noGrp="1"/>
          </p:cNvSpPr>
          <p:nvPr/>
        </p:nvSpPr>
        <p:spPr>
          <a:xfrm>
            <a:off x="9410700" y="4838700"/>
            <a:ext cx="1625600" cy="152400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900">
                <a:solidFill>
                  <a:srgbClr val="808080"/>
                </a:solidFill>
                <a:latin typeface="Lato"/>
                <a:ea typeface="Lato"/>
                <a:cs typeface="Lato"/>
              </a:rPr>
              <a:t>Pending · DR06</a:t>
            </a:r>
          </a:p>
        </p:txBody>
      </p:sp>
      <p:cxnSp>
        <p:nvCxnSpPr>
          <p:cNvPr id="159" name="Product sums to consumption"/>
          <p:cNvCxnSpPr>
            <a:stCxn id="22" idx="0"/>
            <a:endCxn id="21" idx="2"/>
          </p:cNvCxnSpPr>
          <p:nvPr/>
        </p:nvCxnSpPr>
        <p:spPr>
          <a:xfrm flipV="1">
            <a:off x="14097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Uses determine product demand"/>
          <p:cNvCxnSpPr>
            <a:stCxn id="23" idx="0"/>
            <a:endCxn id="22" idx="2"/>
          </p:cNvCxnSpPr>
          <p:nvPr/>
        </p:nvCxnSpPr>
        <p:spPr>
          <a:xfrm flipV="1">
            <a:off x="14097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Demand parameter effect"/>
          <p:cNvCxnSpPr>
            <a:stCxn id="24" idx="0"/>
            <a:endCxn id="23" idx="2"/>
          </p:cNvCxnSpPr>
          <p:nvPr/>
        </p:nvCxnSpPr>
        <p:spPr>
          <a:xfrm flipV="1">
            <a:off x="14097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Demand sets import requirement"/>
          <p:cNvCxnSpPr>
            <a:stCxn id="21" idx="3"/>
            <a:endCxn id="25" idx="1"/>
          </p:cNvCxnSpPr>
          <p:nvPr/>
        </p:nvCxnSpPr>
        <p:spPr>
          <a:xfrm>
            <a:off x="2362200" y="2451100"/>
            <a:ext cx="3048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Imports land at ports"/>
          <p:cNvCxnSpPr>
            <a:stCxn id="25" idx="2"/>
            <a:endCxn id="27" idx="0"/>
          </p:cNvCxnSpPr>
          <p:nvPr/>
        </p:nvCxnSpPr>
        <p:spPr>
          <a:xfrm>
            <a:off x="3429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Domestic output moves inland"/>
          <p:cNvCxnSpPr>
            <a:stCxn id="26" idx="2"/>
            <a:endCxn id="28" idx="0"/>
          </p:cNvCxnSpPr>
          <p:nvPr/>
        </p:nvCxnSpPr>
        <p:spPr>
          <a:xfrm>
            <a:off x="51054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Ports to inland delivery"/>
          <p:cNvCxnSpPr>
            <a:stCxn id="27" idx="3"/>
            <a:endCxn id="28" idx="1"/>
          </p:cNvCxnSpPr>
          <p:nvPr/>
        </p:nvCxnSpPr>
        <p:spPr>
          <a:xfrm>
            <a:off x="4191000" y="3517900"/>
            <a:ext cx="15240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Ports serve coastal demand"/>
          <p:cNvCxnSpPr>
            <a:stCxn id="27" idx="2"/>
            <a:endCxn id="29" idx="0"/>
          </p:cNvCxnSpPr>
          <p:nvPr/>
        </p:nvCxnSpPr>
        <p:spPr>
          <a:xfrm>
            <a:off x="3429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Inland delivery serves inland demand"/>
          <p:cNvCxnSpPr>
            <a:stCxn id="28" idx="2"/>
            <a:endCxn id="30" idx="0"/>
          </p:cNvCxnSpPr>
          <p:nvPr/>
        </p:nvCxnSpPr>
        <p:spPr>
          <a:xfrm>
            <a:off x="51054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upply parameter effect on coastal"/>
          <p:cNvCxnSpPr>
            <a:endCxn id="29" idx="2"/>
          </p:cNvCxnSpPr>
          <p:nvPr/>
        </p:nvCxnSpPr>
        <p:spPr>
          <a:xfrm flipV="1">
            <a:off x="34290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upply parameter effect on inland"/>
          <p:cNvCxnSpPr>
            <a:endCxn id="30" idx="2"/>
          </p:cNvCxnSpPr>
          <p:nvPr/>
        </p:nvCxnSpPr>
        <p:spPr>
          <a:xfrm flipV="1">
            <a:off x="51054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Routes into market sizing"/>
          <p:cNvCxnSpPr>
            <a:stCxn id="28" idx="3"/>
            <a:endCxn id="32" idx="1"/>
          </p:cNvCxnSpPr>
          <p:nvPr/>
        </p:nvCxnSpPr>
        <p:spPr>
          <a:xfrm flipV="1">
            <a:off x="5867400" y="2451100"/>
            <a:ext cx="304800" cy="10668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Destinations into market sizing"/>
          <p:cNvCxnSpPr>
            <a:stCxn id="30" idx="3"/>
            <a:endCxn id="32" idx="1"/>
          </p:cNvCxnSpPr>
          <p:nvPr/>
        </p:nvCxnSpPr>
        <p:spPr>
          <a:xfrm flipV="1">
            <a:off x="5867400" y="2451100"/>
            <a:ext cx="304800" cy="21336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Market sizing to Durban"/>
          <p:cNvCxnSpPr>
            <a:endCxn id="33" idx="0"/>
          </p:cNvCxnSpPr>
          <p:nvPr/>
        </p:nvCxnSpPr>
        <p:spPr>
          <a:xfrm>
            <a:off x="68580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Market sizing to Lesedi"/>
          <p:cNvCxnSpPr>
            <a:endCxn id="34" idx="0"/>
          </p:cNvCxnSpPr>
          <p:nvPr/>
        </p:nvCxnSpPr>
        <p:spPr>
          <a:xfrm>
            <a:off x="83439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Durban into share"/>
          <p:cNvCxnSpPr/>
          <p:nvPr/>
        </p:nvCxnSpPr>
        <p:spPr>
          <a:xfrm>
            <a:off x="68580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Lesedi into share"/>
          <p:cNvCxnSpPr/>
          <p:nvPr/>
        </p:nvCxnSpPr>
        <p:spPr>
          <a:xfrm>
            <a:off x="83439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hare to headroom"/>
          <p:cNvCxnSpPr>
            <a:stCxn id="35" idx="2"/>
            <a:endCxn id="36" idx="0"/>
          </p:cNvCxnSpPr>
          <p:nvPr/>
        </p:nvCxnSpPr>
        <p:spPr>
          <a:xfrm>
            <a:off x="760095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Headroom into investment"/>
          <p:cNvCxnSpPr>
            <a:stCxn id="36" idx="3"/>
            <a:endCxn id="37" idx="1"/>
          </p:cNvCxnSpPr>
          <p:nvPr/>
        </p:nvCxnSpPr>
        <p:spPr>
          <a:xfrm flipV="1">
            <a:off x="9029700" y="2451100"/>
            <a:ext cx="304800" cy="320040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apture to capacity"/>
          <p:cNvCxnSpPr>
            <a:stCxn id="37" idx="2"/>
            <a:endCxn id="38" idx="0"/>
          </p:cNvCxnSpPr>
          <p:nvPr/>
        </p:nvCxnSpPr>
        <p:spPr>
          <a:xfrm>
            <a:off x="10223500" y="28956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apacity to returns"/>
          <p:cNvCxnSpPr>
            <a:stCxn id="38" idx="2"/>
            <a:endCxn id="39" idx="0"/>
          </p:cNvCxnSpPr>
          <p:nvPr/>
        </p:nvCxnSpPr>
        <p:spPr>
          <a:xfrm>
            <a:off x="10223500" y="39624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Returns to resolution"/>
          <p:cNvCxnSpPr>
            <a:stCxn id="39" idx="2"/>
            <a:endCxn id="40" idx="0"/>
          </p:cNvCxnSpPr>
          <p:nvPr/>
        </p:nvCxnSpPr>
        <p:spPr>
          <a:xfrm>
            <a:off x="10223500" y="5029200"/>
            <a:ext cx="0" cy="17780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182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183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184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1280183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How the national fuel market translates into Vopak’s addressable volume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13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(demand, imports); SARS customs, Durban office, 2025; Department provincial sales 2022; market-sizing workbook. Bars are drawn to scale. Step 4: 2022 sales beside 2025 imports; Gauteng is also supplied by Secunda, Natref and Matola. Step 6: 146,000 m³ working fuel tanks (estimate) at Vopak’s stated target of 2–3 turns a month. Capture is an illustrative 20%, not a contracted share. Walvis Bay is a route to assess; no diversion volume is assigned.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0" name="M takeaway">
            <a:extLst>
              <a:ext uri="{FF2B5EF4-FFF2-40B4-BE49-F238E27FC236}">
                <a16:creationId xmlns:a16="http://schemas.microsoft.com/office/drawing/2014/main" id="{494014AF-E149-4482-8FCD-16CEC0025A82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06489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Step 6: Vopak’s Durban tanks handle about 3.5bn litres a year at two turns a month; volumes above that need new tanks.</a:t>
            </a:r>
          </a:p>
        </p:txBody>
      </p:sp>
      <p:sp>
        <p:nvSpPr>
          <p:cNvPr id="56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57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58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59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" y="1682496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Sizing step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0" y="1682496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11151A"/>
                </a:solidFill>
                <a:latin typeface="Lato"/>
              </a:rPr>
              <a:t>Billion litres a year, 2025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18120" y="1682496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Basis</a:t>
            </a:r>
          </a:p>
        </p:txBody>
      </p:sp>
      <p:cxnSp>
        <p:nvCxnSpPr>
          <p:cNvPr id="63" name="Funnel rule"/>
          <p:cNvCxnSpPr/>
          <p:nvPr/>
        </p:nvCxnSpPr>
        <p:spPr>
          <a:xfrm>
            <a:off x="457200" y="2048256"/>
            <a:ext cx="10652760" cy="0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unnel bar"/>
          <p:cNvSpPr/>
          <p:nvPr/>
        </p:nvSpPr>
        <p:spPr>
          <a:xfrm>
            <a:off x="3200400" y="2103120"/>
            <a:ext cx="4206240" cy="493776"/>
          </a:xfrm>
          <a:prstGeom prst="rect">
            <a:avLst/>
          </a:prstGeom>
          <a:solidFill>
            <a:srgbClr val="67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21.0</a:t>
            </a:r>
          </a:p>
        </p:txBody>
      </p:sp>
      <p:sp>
        <p:nvSpPr>
          <p:cNvPr id="65" name="Funnel step"/>
          <p:cNvSpPr txBox="1"/>
          <p:nvPr/>
        </p:nvSpPr>
        <p:spPr>
          <a:xfrm>
            <a:off x="530352" y="2103120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1  National demand</a:t>
            </a:r>
          </a:p>
        </p:txBody>
      </p:sp>
      <p:sp>
        <p:nvSpPr>
          <p:cNvPr id="66" name="Funnel basis"/>
          <p:cNvSpPr txBox="1"/>
          <p:nvPr/>
        </p:nvSpPr>
        <p:spPr>
          <a:xfrm>
            <a:off x="7818120" y="2029967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51A"/>
                </a:solidFill>
                <a:latin typeface="Lato"/>
              </a:rPr>
              <a:t>Petrol and diesel, estimated from the Department’s 2023 sales.</a:t>
            </a:r>
          </a:p>
        </p:txBody>
      </p:sp>
      <p:cxnSp>
        <p:nvCxnSpPr>
          <p:cNvPr id="67" name="Funnel rule"/>
          <p:cNvCxnSpPr/>
          <p:nvPr/>
        </p:nvCxnSpPr>
        <p:spPr>
          <a:xfrm>
            <a:off x="457200" y="2706624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unnel link"/>
          <p:cNvSpPr/>
          <p:nvPr/>
        </p:nvSpPr>
        <p:spPr>
          <a:xfrm>
            <a:off x="3200400" y="2596896"/>
            <a:ext cx="4206240" cy="219456"/>
          </a:xfrm>
          <a:custGeom>
            <a:avLst/>
            <a:gdLst/>
            <a:ahLst/>
            <a:cxnLst/>
            <a:rect l="l" t="t" r="r" b="b"/>
            <a:pathLst>
              <a:path w="4206240" h="219456">
                <a:moveTo>
                  <a:pt x="0" y="0"/>
                </a:moveTo>
                <a:lnTo>
                  <a:pt x="4206240" y="0"/>
                </a:lnTo>
                <a:lnTo>
                  <a:pt x="3776825" y="219456"/>
                </a:lnTo>
                <a:lnTo>
                  <a:pt x="429414" y="219456"/>
                </a:lnTo>
                <a:close/>
              </a:path>
            </a:pathLst>
          </a:custGeom>
          <a:solidFill>
            <a:srgbClr val="E3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unnel bar"/>
          <p:cNvSpPr/>
          <p:nvPr/>
        </p:nvSpPr>
        <p:spPr>
          <a:xfrm>
            <a:off x="3629814" y="2816352"/>
            <a:ext cx="3347411" cy="493776"/>
          </a:xfrm>
          <a:prstGeom prst="rect">
            <a:avLst/>
          </a:prstGeom>
          <a:solidFill>
            <a:srgbClr val="678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16.7</a:t>
            </a:r>
          </a:p>
        </p:txBody>
      </p:sp>
      <p:sp>
        <p:nvSpPr>
          <p:cNvPr id="69" name="Funnel step"/>
          <p:cNvSpPr txBox="1"/>
          <p:nvPr/>
        </p:nvSpPr>
        <p:spPr>
          <a:xfrm>
            <a:off x="530352" y="2816352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2  Import requirement</a:t>
            </a:r>
          </a:p>
        </p:txBody>
      </p:sp>
      <p:sp>
        <p:nvSpPr>
          <p:cNvPr id="70" name="Funnel basis"/>
          <p:cNvSpPr txBox="1"/>
          <p:nvPr/>
        </p:nvSpPr>
        <p:spPr>
          <a:xfrm>
            <a:off x="7818120" y="274320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51A"/>
                </a:solidFill>
                <a:latin typeface="Lato"/>
              </a:rPr>
              <a:t>80% of demand is imported; domestic production is 5.8bn L.</a:t>
            </a:r>
          </a:p>
        </p:txBody>
      </p:sp>
      <p:cxnSp>
        <p:nvCxnSpPr>
          <p:cNvPr id="71" name="Funnel rule"/>
          <p:cNvCxnSpPr/>
          <p:nvPr/>
        </p:nvCxnSpPr>
        <p:spPr>
          <a:xfrm>
            <a:off x="457200" y="3419856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nnel link"/>
          <p:cNvSpPr/>
          <p:nvPr/>
        </p:nvSpPr>
        <p:spPr>
          <a:xfrm>
            <a:off x="3629814" y="3310128"/>
            <a:ext cx="3347411" cy="219456"/>
          </a:xfrm>
          <a:custGeom>
            <a:avLst/>
            <a:gdLst/>
            <a:ahLst/>
            <a:cxnLst/>
            <a:rect l="l" t="t" r="r" b="b"/>
            <a:pathLst>
              <a:path w="3347411" h="219456">
                <a:moveTo>
                  <a:pt x="0" y="0"/>
                </a:moveTo>
                <a:lnTo>
                  <a:pt x="3347411" y="0"/>
                </a:lnTo>
                <a:lnTo>
                  <a:pt x="2992504" y="219456"/>
                </a:lnTo>
                <a:lnTo>
                  <a:pt x="354907" y="219456"/>
                </a:lnTo>
                <a:close/>
              </a:path>
            </a:pathLst>
          </a:custGeom>
          <a:solidFill>
            <a:srgbClr val="E3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unnel bar"/>
          <p:cNvSpPr/>
          <p:nvPr/>
        </p:nvSpPr>
        <p:spPr>
          <a:xfrm>
            <a:off x="3984721" y="3529584"/>
            <a:ext cx="2637597" cy="493776"/>
          </a:xfrm>
          <a:prstGeom prst="rect">
            <a:avLst/>
          </a:prstGeom>
          <a:solidFill>
            <a:srgbClr val="0A2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13.2</a:t>
            </a:r>
          </a:p>
        </p:txBody>
      </p:sp>
      <p:sp>
        <p:nvSpPr>
          <p:cNvPr id="73" name="Funnel step"/>
          <p:cNvSpPr txBox="1"/>
          <p:nvPr/>
        </p:nvSpPr>
        <p:spPr>
          <a:xfrm>
            <a:off x="530352" y="3529584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3  Ports and inland routes</a:t>
            </a:r>
          </a:p>
        </p:txBody>
      </p:sp>
      <p:sp>
        <p:nvSpPr>
          <p:cNvPr id="74" name="Funnel basis"/>
          <p:cNvSpPr txBox="1"/>
          <p:nvPr/>
        </p:nvSpPr>
        <p:spPr>
          <a:xfrm>
            <a:off x="7818120" y="3456432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51A"/>
                </a:solidFill>
                <a:latin typeface="Lato"/>
              </a:rPr>
              <a:t>Landed at Durban: 79% of imports. Other ports and Matola take the rest.</a:t>
            </a:r>
          </a:p>
        </p:txBody>
      </p:sp>
      <p:cxnSp>
        <p:nvCxnSpPr>
          <p:cNvPr id="75" name="Funnel rule"/>
          <p:cNvCxnSpPr/>
          <p:nvPr/>
        </p:nvCxnSpPr>
        <p:spPr>
          <a:xfrm>
            <a:off x="457200" y="4133088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unnel link"/>
          <p:cNvSpPr/>
          <p:nvPr/>
        </p:nvSpPr>
        <p:spPr>
          <a:xfrm>
            <a:off x="3984721" y="4023360"/>
            <a:ext cx="2637597" cy="219456"/>
          </a:xfrm>
          <a:custGeom>
            <a:avLst/>
            <a:gdLst/>
            <a:ahLst/>
            <a:cxnLst/>
            <a:rect l="l" t="t" r="r" b="b"/>
            <a:pathLst>
              <a:path w="2637597" h="219456">
                <a:moveTo>
                  <a:pt x="0" y="0"/>
                </a:moveTo>
                <a:lnTo>
                  <a:pt x="2637597" y="0"/>
                </a:lnTo>
                <a:lnTo>
                  <a:pt x="2430507" y="219456"/>
                </a:lnTo>
                <a:lnTo>
                  <a:pt x="207090" y="219456"/>
                </a:lnTo>
                <a:close/>
              </a:path>
            </a:pathLst>
          </a:custGeom>
          <a:solidFill>
            <a:srgbClr val="E3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unnel bar"/>
          <p:cNvSpPr/>
          <p:nvPr/>
        </p:nvSpPr>
        <p:spPr>
          <a:xfrm>
            <a:off x="4191811" y="4242816"/>
            <a:ext cx="844971" cy="493776"/>
          </a:xfrm>
          <a:prstGeom prst="rect">
            <a:avLst/>
          </a:prstGeom>
          <a:solidFill>
            <a:srgbClr val="0A2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4.3</a:t>
            </a:r>
          </a:p>
        </p:txBody>
      </p:sp>
      <p:sp>
        <p:nvSpPr>
          <p:cNvPr id="77" name="Funnel bar"/>
          <p:cNvSpPr/>
          <p:nvPr/>
        </p:nvSpPr>
        <p:spPr>
          <a:xfrm>
            <a:off x="5064215" y="4242816"/>
            <a:ext cx="1351013" cy="493776"/>
          </a:xfrm>
          <a:prstGeom prst="rect">
            <a:avLst/>
          </a:prstGeom>
          <a:solidFill>
            <a:srgbClr val="3F5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6.8</a:t>
            </a:r>
          </a:p>
        </p:txBody>
      </p:sp>
      <p:sp>
        <p:nvSpPr>
          <p:cNvPr id="78" name="Funnel total"/>
          <p:cNvSpPr txBox="1"/>
          <p:nvPr/>
        </p:nvSpPr>
        <p:spPr>
          <a:xfrm>
            <a:off x="6524956" y="4242816"/>
            <a:ext cx="9144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A2373"/>
                </a:solidFill>
                <a:latin typeface="Lato"/>
              </a:rPr>
              <a:t>= 11.1</a:t>
            </a:r>
          </a:p>
        </p:txBody>
      </p:sp>
      <p:sp>
        <p:nvSpPr>
          <p:cNvPr id="79" name="Funnel step"/>
          <p:cNvSpPr txBox="1"/>
          <p:nvPr/>
        </p:nvSpPr>
        <p:spPr>
          <a:xfrm>
            <a:off x="530352" y="4242816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4  Addressable market</a:t>
            </a:r>
          </a:p>
        </p:txBody>
      </p:sp>
      <p:sp>
        <p:nvSpPr>
          <p:cNvPr id="80" name="Funnel basis"/>
          <p:cNvSpPr txBox="1"/>
          <p:nvPr/>
        </p:nvSpPr>
        <p:spPr>
          <a:xfrm>
            <a:off x="7818120" y="4169663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51A"/>
                </a:solidFill>
                <a:latin typeface="Lato"/>
              </a:rPr>
              <a:t>The two markets the sites serve: KwaZulu-Natal (4.3) and Gauteng (6.8). Department sales, 2022.</a:t>
            </a:r>
          </a:p>
        </p:txBody>
      </p:sp>
      <p:cxnSp>
        <p:nvCxnSpPr>
          <p:cNvPr id="81" name="Funnel rule"/>
          <p:cNvCxnSpPr/>
          <p:nvPr/>
        </p:nvCxnSpPr>
        <p:spPr>
          <a:xfrm>
            <a:off x="457200" y="4846320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unnel link"/>
          <p:cNvSpPr/>
          <p:nvPr/>
        </p:nvSpPr>
        <p:spPr>
          <a:xfrm>
            <a:off x="4191811" y="4736592"/>
            <a:ext cx="2223417" cy="219456"/>
          </a:xfrm>
          <a:custGeom>
            <a:avLst/>
            <a:gdLst/>
            <a:ahLst/>
            <a:cxnLst/>
            <a:rect l="l" t="t" r="r" b="b"/>
            <a:pathLst>
              <a:path w="2223417" h="219456">
                <a:moveTo>
                  <a:pt x="0" y="0"/>
                </a:moveTo>
                <a:lnTo>
                  <a:pt x="2223417" y="0"/>
                </a:lnTo>
                <a:lnTo>
                  <a:pt x="1334050" y="219456"/>
                </a:lnTo>
                <a:lnTo>
                  <a:pt x="889367" y="219456"/>
                </a:lnTo>
                <a:close/>
              </a:path>
            </a:pathLst>
          </a:custGeom>
          <a:solidFill>
            <a:srgbClr val="E3E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unnel bar"/>
          <p:cNvSpPr/>
          <p:nvPr/>
        </p:nvSpPr>
        <p:spPr>
          <a:xfrm>
            <a:off x="5081178" y="4956048"/>
            <a:ext cx="444683" cy="493776"/>
          </a:xfrm>
          <a:prstGeom prst="rect">
            <a:avLst/>
          </a:prstGeom>
          <a:solidFill>
            <a:srgbClr val="0A2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Lato"/>
              </a:rPr>
              <a:t>2.2</a:t>
            </a:r>
          </a:p>
        </p:txBody>
      </p:sp>
      <p:sp>
        <p:nvSpPr>
          <p:cNvPr id="83" name="Funnel step"/>
          <p:cNvSpPr txBox="1"/>
          <p:nvPr/>
        </p:nvSpPr>
        <p:spPr>
          <a:xfrm>
            <a:off x="530352" y="4956048"/>
            <a:ext cx="26517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11151A"/>
                </a:solidFill>
                <a:latin typeface="Lato"/>
              </a:rPr>
              <a:t>5  Achievable capture</a:t>
            </a:r>
          </a:p>
        </p:txBody>
      </p:sp>
      <p:sp>
        <p:nvSpPr>
          <p:cNvPr id="84" name="Funnel basis"/>
          <p:cNvSpPr txBox="1"/>
          <p:nvPr/>
        </p:nvSpPr>
        <p:spPr>
          <a:xfrm>
            <a:off x="7818120" y="4882896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11151A"/>
                </a:solidFill>
                <a:latin typeface="Lato"/>
              </a:rPr>
              <a:t>Illustrative 20% of step 4: 0.86 at Durban, 1.36 through Lesedi. Vopak’s actual share is not published.</a:t>
            </a:r>
          </a:p>
        </p:txBody>
      </p:sp>
      <p:cxnSp>
        <p:nvCxnSpPr>
          <p:cNvPr id="85" name="Funnel rule"/>
          <p:cNvCxnSpPr/>
          <p:nvPr/>
        </p:nvCxnSpPr>
        <p:spPr>
          <a:xfrm>
            <a:off x="457200" y="5559552"/>
            <a:ext cx="1065276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GB"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Refinery recovery could materially reduce imports from the 16.6bn-litre base case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14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lang="en-ZA"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Restored from South Africa story v37; analytical workbook v02, Scenarios and Driver bridge. Gross imports = demand − domestic supply + fixed 2025 exports; zero stock change. 2025 production: 5.8bn L assumption. Restart volumes and timing are scenario assumptions.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5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019300"/>
            <a:ext cx="644652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Billion litres | existing combined scenarios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83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3749039" y="2286000"/>
            <a:ext cx="3154680" cy="23774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Gross import requirement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82" name="Evidence unit">
            <a:extLst>
              <a:ext uri="{FF2B5EF4-FFF2-40B4-BE49-F238E27FC236}">
                <a16:creationId xmlns:a16="http://schemas.microsoft.com/office/drawing/2014/main" id="{2D7877C5-B65D-4837-9FE4-2B32D94EE59D}"/>
              </a:ext>
            </a:extLst>
          </p:cNvPr>
          <p:cNvSpPr>
            <a:spLocks noGrp="1"/>
          </p:cNvSpPr>
          <p:nvPr/>
        </p:nvSpPr>
        <p:spPr>
          <a:xfrm>
            <a:off x="457200" y="2286000"/>
            <a:ext cx="3154680" cy="23774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26262"/>
                </a:solidFill>
                <a:latin typeface="Lato"/>
                <a:ea typeface="Lato"/>
                <a:cs typeface="Lato"/>
              </a:defRPr>
            </a:pPr>
            <a:r>
              <a:rPr lang="en-GB" sz="975" b="0">
                <a:solidFill>
                  <a:srgbClr val="626262"/>
                </a:solidFill>
                <a:latin typeface="Lato"/>
                <a:ea typeface="Lato"/>
                <a:cs typeface="Lato"/>
              </a:rPr>
              <a:t>Demand</a:t>
            </a:r>
            <a:endParaRPr sz="975" b="0">
              <a:solidFill>
                <a:srgbClr val="626262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" name="Evidence insights">
            <a:extLst>
              <a:ext uri="{FF2B5EF4-FFF2-40B4-BE49-F238E27FC236}">
                <a16:creationId xmlns:a16="http://schemas.microsoft.com/office/drawing/2014/main" id="{33C62F36-CE4A-4CE7-AA40-33340BDFC8F1}"/>
              </a:ext>
            </a:extLst>
          </p:cNvPr>
          <p:cNvSpPr>
            <a:spLocks noGrp="1"/>
          </p:cNvSpPr>
          <p:nvPr/>
        </p:nvSpPr>
        <p:spPr>
          <a:xfrm>
            <a:off x="7424928" y="2238375"/>
            <a:ext cx="3685032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lang="en-GB" sz="135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2030 demand: base 20.86bn L; low-import case 19.04bn L; high-import case 23.06bn L.
2030 imports: base 16.61bn L; low-import case 8.26bn L; high-import case 19.68bn L.
The low-import case adds 0.87bn L of operating output and 5.67bn L from assumed restarts.
Demand assumptions also vary across these cases. The chart is not an isolated refinery sensitivity or a probability forecast.</a:t>
            </a:r>
            <a:endParaRPr sz="1350" b="0">
              <a:solidFill>
                <a:srgbClr val="11151A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7" name="Evidence takeaway">
            <a:extLst>
              <a:ext uri="{FF2B5EF4-FFF2-40B4-BE49-F238E27FC236}">
                <a16:creationId xmlns:a16="http://schemas.microsoft.com/office/drawing/2014/main" id="{B6C53BD9-36CF-4A69-841C-FDA40E078E5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644652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275" b="0">
                <a:solidFill>
                  <a:srgbClr val="0A2373"/>
                </a:solidFill>
                <a:latin typeface="Lato"/>
                <a:ea typeface="Lato"/>
                <a:cs typeface="Lato"/>
              </a:rPr>
              <a:t>Higher domestic output displaces imports; restart timing, utilisation and product yields determine the effect.</a:t>
            </a:r>
            <a:endParaRPr sz="1275" b="0">
              <a:solidFill>
                <a:srgbClr val="0A2373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8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1  Overview</a:t>
            </a:r>
          </a:p>
        </p:txBody>
      </p:sp>
      <p:sp>
        <p:nvSpPr>
          <p:cNvPr id="69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2  Market baseline</a:t>
            </a:r>
          </a:p>
        </p:txBody>
      </p:sp>
      <p:sp>
        <p:nvSpPr>
          <p:cNvPr id="70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solidFill>
                  <a:srgbClr val="0A2373"/>
                </a:solidFill>
                <a:latin typeface="Lato"/>
              </a:rPr>
              <a:t>3  Market changes</a:t>
            </a:r>
          </a:p>
        </p:txBody>
      </p:sp>
      <p:sp>
        <p:nvSpPr>
          <p:cNvPr id="71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 b="1">
                <a:solidFill>
                  <a:srgbClr val="FFFFFF"/>
                </a:solidFill>
                <a:latin typeface="Lato"/>
              </a:rPr>
              <a:t>4  Vopak outlook</a:t>
            </a:r>
          </a:p>
        </p:txBody>
      </p:sp>
      <p:sp>
        <p:nvSpPr>
          <p:cNvPr id="72" name="Vopak exhibit left heading"/>
          <p:cNvSpPr txBox="1"/>
          <p:nvPr/>
        </p:nvSpPr>
        <p:spPr>
          <a:xfrm>
            <a:off x="457200" y="1627632"/>
            <a:ext cx="6446520" cy="384048"/>
          </a:xfrm>
          <a:prstGeom prst="rect">
            <a:avLst/>
          </a:prstGeom>
          <a:noFill/>
        </p:spPr>
        <p:txBody>
          <a:bodyPr wrap="none" lIns="22860" tIns="0" rIns="22860" bIns="0">
            <a:noAutofit/>
          </a:bodyPr>
          <a:lstStyle/>
          <a:p>
            <a:pPr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ZA" sz="1400" b="1">
                <a:latin typeface="Lato"/>
              </a:rPr>
              <a:t>Demand and gross import requirement, 2025–2030</a:t>
            </a:r>
            <a:endParaRPr sz="1400" b="1">
              <a:latin typeface="Lato"/>
            </a:endParaRPr>
          </a:p>
        </p:txBody>
      </p:sp>
      <p:sp>
        <p:nvSpPr>
          <p:cNvPr id="73" name="Vopak exhibit right heading"/>
          <p:cNvSpPr txBox="1"/>
          <p:nvPr/>
        </p:nvSpPr>
        <p:spPr>
          <a:xfrm>
            <a:off x="7424927" y="1627632"/>
            <a:ext cx="3685032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00000"/>
                </a:solidFill>
                <a:latin typeface="Lato"/>
              </a:defRPr>
            </a:pPr>
            <a:r>
              <a:rPr lang="en-GB"/>
              <a:t>Domestic supply drives the largest reduction</a:t>
            </a:r>
            <a:endParaRPr/>
          </a:p>
        </p:txBody>
      </p:sp>
      <p:cxnSp>
        <p:nvCxnSpPr>
          <p:cNvPr id="74" name="Vopak exhibit left rule"/>
          <p:cNvCxnSpPr/>
          <p:nvPr/>
        </p:nvCxnSpPr>
        <p:spPr>
          <a:xfrm>
            <a:off x="457200" y="1947672"/>
            <a:ext cx="6446520" cy="0"/>
          </a:xfrm>
          <a:prstGeom prst="line">
            <a:avLst/>
          </a:prstGeom>
          <a:ln w="698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Vopak exhibit right rule"/>
          <p:cNvCxnSpPr/>
          <p:nvPr/>
        </p:nvCxnSpPr>
        <p:spPr>
          <a:xfrm>
            <a:off x="7424927" y="1947672"/>
            <a:ext cx="3685033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Vopak exhibit divider"/>
          <p:cNvCxnSpPr/>
          <p:nvPr/>
        </p:nvCxnSpPr>
        <p:spPr>
          <a:xfrm>
            <a:off x="7205472" y="1947672"/>
            <a:ext cx="0" cy="4361688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Vopak exhibit marker 0"/>
          <p:cNvSpPr/>
          <p:nvPr/>
        </p:nvSpPr>
        <p:spPr>
          <a:xfrm>
            <a:off x="7086600" y="1828800"/>
            <a:ext cx="237744" cy="237744"/>
          </a:xfrm>
          <a:prstGeom prst="ellipse">
            <a:avLst/>
          </a:prstGeom>
          <a:solidFill>
            <a:srgbClr val="0A2373"/>
          </a:solidFill>
          <a:ln w="11430">
            <a:solidFill>
              <a:srgbClr val="0A2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Vopak exhibit marker 1"/>
          <p:cNvCxnSpPr/>
          <p:nvPr/>
        </p:nvCxnSpPr>
        <p:spPr>
          <a:xfrm>
            <a:off x="7173468" y="1888236"/>
            <a:ext cx="64008" cy="59436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opak exhibit marker 2"/>
          <p:cNvCxnSpPr/>
          <p:nvPr/>
        </p:nvCxnSpPr>
        <p:spPr>
          <a:xfrm flipH="1">
            <a:off x="7173468" y="1947672"/>
            <a:ext cx="64008" cy="59435"/>
          </a:xfrm>
          <a:prstGeom prst="line">
            <a:avLst/>
          </a:prstGeom>
          <a:ln w="1397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Chart"/>
          <p:cNvGraphicFramePr>
            <a:graphicFrameLocks noGrp="1"/>
          </p:cNvGraphicFramePr>
          <p:nvPr/>
        </p:nvGraphicFramePr>
        <p:xfrm>
          <a:off x="457200" y="2542032"/>
          <a:ext cx="3154680" cy="2788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1" name="Chart"/>
          <p:cNvGraphicFramePr>
            <a:graphicFrameLocks noGrp="1"/>
          </p:cNvGraphicFramePr>
          <p:nvPr/>
        </p:nvGraphicFramePr>
        <p:xfrm>
          <a:off x="3749039" y="2542032"/>
          <a:ext cx="3154680" cy="2788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4" name="Review note">
            <a:extLst>
              <a:ext uri="{FF2B5EF4-FFF2-40B4-BE49-F238E27FC236}">
                <a16:creationId xmlns:a16="http://schemas.microsoft.com/office/drawing/2014/main" id="{082D0934-B0D2-243F-D9F6-85CAAB7C4D8C}"/>
              </a:ext>
            </a:extLst>
          </p:cNvPr>
          <p:cNvSpPr/>
          <p:nvPr/>
        </p:nvSpPr>
        <p:spPr>
          <a:xfrm>
            <a:off x="9528048" y="420624"/>
            <a:ext cx="1623317" cy="7882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400">
                <a:solidFill>
                  <a:schemeClr val="tx1"/>
                </a:solidFill>
              </a:rPr>
              <a:t>Check with Nigel</a:t>
            </a:r>
          </a:p>
        </p:txBody>
      </p:sp>
    </p:spTree>
    <p:extLst>
      <p:ext uri="{BB962C8B-B14F-4D97-AF65-F5344CB8AC3E}">
        <p14:creationId xmlns:p14="http://schemas.microsoft.com/office/powerpoint/2010/main" val="1324989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89C0B-9C65-4A8A-AA1A-1B16A6CFB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 sz="2100" b="1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000000"/>
                </a:solidFill>
                <a:latin typeface="Lato"/>
                <a:ea typeface="Lato"/>
                <a:cs typeface="Lato"/>
              </a:rPr>
              <a:t>Substantial imports sustain the market, while customer capture determines Vopak’s expansion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30C5375-C5BC-4994-A040-C2B9FB773F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972800" y="6515100"/>
            <a:ext cx="355600" cy="241300"/>
          </a:xfrm>
        </p:spPr>
        <p:txBody>
          <a:bodyPr/>
          <a:lstStyle/>
          <a:p>
            <a:pPr>
              <a:buNone/>
              <a:defRPr sz="1000">
                <a:latin typeface="Lato"/>
                <a:ea typeface="Lato"/>
                <a:cs typeface="Lato"/>
              </a:defRPr>
            </a:pPr>
            <a:r>
              <a:rPr lang="en-ZA" sz="1100"/>
              <a:t>15</a:t>
            </a:r>
            <a:endParaRPr sz="1100"/>
          </a:p>
        </p:txBody>
      </p:sp>
      <p:sp>
        <p:nvSpPr>
          <p:cNvPr id="8" name="Unified source footer">
            <a:extLst>
              <a:ext uri="{FF2B5EF4-FFF2-40B4-BE49-F238E27FC236}">
                <a16:creationId xmlns:a16="http://schemas.microsoft.com/office/drawing/2014/main" id="{15D4BEE9-50D7-488E-9F31-6371512319CF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932688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600" b="0">
                <a:solidFill>
                  <a:srgbClr val="111111"/>
                </a:solidFill>
                <a:latin typeface="Lato"/>
                <a:ea typeface="Lato"/>
                <a:cs typeface="Lato"/>
              </a:defRPr>
            </a:pPr>
            <a:r>
              <a:rPr sz="600">
                <a:solidFill>
                  <a:srgbClr val="111111"/>
                </a:solidFill>
                <a:latin typeface="Lato"/>
                <a:ea typeface="Lato"/>
                <a:cs typeface="Lato"/>
              </a:rPr>
              <a:t>Analytical workbook v02 base scenario; market-sizing workbook and working-capacity assessment. Capture is illustrative; Lesedi is included within Durban flow. Contracted share, product balance and usable capacity remain to be established. Capture base: Department sales 2022, KwaZulu-Natal 4.28bn L and Gauteng 6.81bn L.</a:t>
            </a:r>
            <a:endParaRPr sz="600"/>
          </a:p>
        </p:txBody>
      </p:sp>
      <p:sp>
        <p:nvSpPr>
          <p:cNvPr id="48" name="Strictly Confidential footer">
            <a:extLst>
              <a:ext uri="{FF2B5EF4-FFF2-40B4-BE49-F238E27FC236}">
                <a16:creationId xmlns:a16="http://schemas.microsoft.com/office/drawing/2014/main" id="{FA0CDA0B-279B-4ECE-AFE5-E9EE74F6CFE2}"/>
              </a:ext>
            </a:extLst>
          </p:cNvPr>
          <p:cNvSpPr>
            <a:spLocks noGrp="1"/>
          </p:cNvSpPr>
          <p:nvPr/>
        </p:nvSpPr>
        <p:spPr>
          <a:xfrm>
            <a:off x="45720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767676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  <p:sp>
        <p:nvSpPr>
          <p:cNvPr id="49" name="R import number">
            <a:extLst>
              <a:ext uri="{FF2B5EF4-FFF2-40B4-BE49-F238E27FC236}">
                <a16:creationId xmlns:a16="http://schemas.microsoft.com/office/drawing/2014/main" id="{260BAFE8-15A8-41E9-B151-B19C2116E893}"/>
              </a:ext>
            </a:extLst>
          </p:cNvPr>
          <p:cNvSpPr>
            <a:spLocks noGrp="1"/>
          </p:cNvSpPr>
          <p:nvPr/>
        </p:nvSpPr>
        <p:spPr>
          <a:xfrm>
            <a:off x="457200" y="1752600"/>
            <a:ext cx="3190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31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16.6bn L</a:t>
            </a:r>
          </a:p>
        </p:txBody>
      </p:sp>
      <p:sp>
        <p:nvSpPr>
          <p:cNvPr id="50" name="R import label">
            <a:extLst>
              <a:ext uri="{FF2B5EF4-FFF2-40B4-BE49-F238E27FC236}">
                <a16:creationId xmlns:a16="http://schemas.microsoft.com/office/drawing/2014/main" id="{C9FFBA8D-480C-4A1F-A8C7-B8EB1088BA82}"/>
              </a:ext>
            </a:extLst>
          </p:cNvPr>
          <p:cNvSpPr>
            <a:spLocks noGrp="1"/>
          </p:cNvSpPr>
          <p:nvPr/>
        </p:nvSpPr>
        <p:spPr>
          <a:xfrm>
            <a:off x="457200" y="2390775"/>
            <a:ext cx="31908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2030 national imports</a:t>
            </a:r>
          </a:p>
        </p:txBody>
      </p:sp>
      <p:sp>
        <p:nvSpPr>
          <p:cNvPr id="51" name="R import explanation">
            <a:extLst>
              <a:ext uri="{FF2B5EF4-FFF2-40B4-BE49-F238E27FC236}">
                <a16:creationId xmlns:a16="http://schemas.microsoft.com/office/drawing/2014/main" id="{23C30C66-5E1C-44A5-B25D-90D8061177E8}"/>
              </a:ext>
            </a:extLst>
          </p:cNvPr>
          <p:cNvSpPr>
            <a:spLocks noGrp="1"/>
          </p:cNvSpPr>
          <p:nvPr/>
        </p:nvSpPr>
        <p:spPr>
          <a:xfrm>
            <a:off x="457200" y="2895600"/>
            <a:ext cx="3190875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Base-case imports across all gateways. Activity growth broadly offsets power, rail and efficiency reductions; domestic production stays at 5.8bn litres.</a:t>
            </a:r>
          </a:p>
        </p:txBody>
      </p:sp>
      <p:sp>
        <p:nvSpPr>
          <p:cNvPr id="52" name="R capture number">
            <a:extLst>
              <a:ext uri="{FF2B5EF4-FFF2-40B4-BE49-F238E27FC236}">
                <a16:creationId xmlns:a16="http://schemas.microsoft.com/office/drawing/2014/main" id="{73F80A3F-D9B3-4000-A4AB-8E2E01D3C4A7}"/>
              </a:ext>
            </a:extLst>
          </p:cNvPr>
          <p:cNvSpPr>
            <a:spLocks noGrp="1"/>
          </p:cNvSpPr>
          <p:nvPr/>
        </p:nvSpPr>
        <p:spPr>
          <a:xfrm>
            <a:off x="4191000" y="175260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ZA" sz="3150" b="1">
                <a:solidFill>
                  <a:srgbClr val="FF0000"/>
                </a:solidFill>
                <a:latin typeface="Lato"/>
                <a:ea typeface="Lato"/>
                <a:cs typeface="Lato"/>
              </a:rPr>
              <a:t>2.22bn L</a:t>
            </a:r>
          </a:p>
        </p:txBody>
      </p:sp>
      <p:sp>
        <p:nvSpPr>
          <p:cNvPr id="53" name="R capture label">
            <a:extLst>
              <a:ext uri="{FF2B5EF4-FFF2-40B4-BE49-F238E27FC236}">
                <a16:creationId xmlns:a16="http://schemas.microsoft.com/office/drawing/2014/main" id="{EE6602FD-9CFB-455B-B275-89691F622F23}"/>
              </a:ext>
            </a:extLst>
          </p:cNvPr>
          <p:cNvSpPr>
            <a:spLocks noGrp="1"/>
          </p:cNvSpPr>
          <p:nvPr/>
        </p:nvSpPr>
        <p:spPr>
          <a:xfrm>
            <a:off x="4191000" y="239077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0A2373"/>
                </a:solidFill>
                <a:latin typeface="Lato"/>
                <a:ea typeface="Lato"/>
                <a:cs typeface="Lato"/>
              </a:rPr>
              <a:t>Illustrative capture, Durban and Lesedi</a:t>
            </a:r>
          </a:p>
        </p:txBody>
      </p:sp>
      <p:sp>
        <p:nvSpPr>
          <p:cNvPr id="54" name="R capture explanation">
            <a:extLst>
              <a:ext uri="{FF2B5EF4-FFF2-40B4-BE49-F238E27FC236}">
                <a16:creationId xmlns:a16="http://schemas.microsoft.com/office/drawing/2014/main" id="{554DE4F0-5279-41A6-99D7-8E85850A18E9}"/>
              </a:ext>
            </a:extLst>
          </p:cNvPr>
          <p:cNvSpPr>
            <a:spLocks noGrp="1"/>
          </p:cNvSpPr>
          <p:nvPr/>
        </p:nvSpPr>
        <p:spPr>
          <a:xfrm>
            <a:off x="4191000" y="3086100"/>
            <a:ext cx="3238500" cy="1819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Assumes 20% of the 11.1bn litres sold in KwaZulu-Natal and Gauteng, the markets the two sites serve: 0.86bn litres at Durban and 1.36bn litres through Lesedi.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Illustrative share; no explicit deduction for Matola or Walvis Bay diversion.</a:t>
            </a:r>
          </a:p>
        </p:txBody>
      </p:sp>
      <p:sp>
        <p:nvSpPr>
          <p:cNvPr id="55" name="R investment header">
            <a:extLst>
              <a:ext uri="{FF2B5EF4-FFF2-40B4-BE49-F238E27FC236}">
                <a16:creationId xmlns:a16="http://schemas.microsoft.com/office/drawing/2014/main" id="{6A925A1A-A629-4397-BA11-F03C2572F53B}"/>
              </a:ext>
            </a:extLst>
          </p:cNvPr>
          <p:cNvSpPr>
            <a:spLocks noGrp="1"/>
          </p:cNvSpPr>
          <p:nvPr/>
        </p:nvSpPr>
        <p:spPr>
          <a:xfrm>
            <a:off x="7953375" y="1838325"/>
            <a:ext cx="315277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Expansion follows</a:t>
            </a:r>
          </a:p>
          <a:p>
            <a:pPr>
              <a:defRPr sz="187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A2373"/>
                </a:solidFill>
                <a:latin typeface="Lato"/>
                <a:ea typeface="Lato"/>
                <a:cs typeface="Lato"/>
              </a:rPr>
              <a:t>secured incremental flow</a:t>
            </a:r>
          </a:p>
        </p:txBody>
      </p:sp>
      <p:sp>
        <p:nvSpPr>
          <p:cNvPr id="56" name="R investment explanation">
            <a:extLst>
              <a:ext uri="{FF2B5EF4-FFF2-40B4-BE49-F238E27FC236}">
                <a16:creationId xmlns:a16="http://schemas.microsoft.com/office/drawing/2014/main" id="{8186998E-16B1-4433-9175-288EE1C95EF8}"/>
              </a:ext>
            </a:extLst>
          </p:cNvPr>
          <p:cNvSpPr>
            <a:spLocks noGrp="1"/>
          </p:cNvSpPr>
          <p:nvPr/>
        </p:nvSpPr>
        <p:spPr>
          <a:xfrm>
            <a:off x="7953375" y="2933700"/>
            <a:ext cx="3152775" cy="1990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The illustrative flow fits the preliminary working-tank calculation.</a:t>
            </a:r>
          </a:p>
          <a:p>
            <a:endParaRPr sz="1500" b="0">
              <a:solidFill>
                <a:srgbClr val="11151A"/>
              </a:solidFill>
              <a:latin typeface="Lato"/>
              <a:ea typeface="Lato"/>
              <a:cs typeface="Lato"/>
            </a:endParaRPr>
          </a:p>
          <a:p>
            <a:pPr>
              <a:defRPr sz="1500" b="0">
                <a:solidFill>
                  <a:srgbClr val="11151A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1151A"/>
                </a:solidFill>
                <a:latin typeface="Lato"/>
                <a:ea typeface="Lato"/>
                <a:cs typeface="Lato"/>
              </a:rPr>
              <a:t>Secure additional customer volumes, establish usable capacity, and identify the constraint that investment would solve.</a:t>
            </a:r>
          </a:p>
        </p:txBody>
      </p:sp>
      <p:sp>
        <p:nvSpPr>
          <p:cNvPr id="57" name="R bottom rule">
            <a:extLst>
              <a:ext uri="{FF2B5EF4-FFF2-40B4-BE49-F238E27FC236}">
                <a16:creationId xmlns:a16="http://schemas.microsoft.com/office/drawing/2014/main" id="{1DD97E1A-8A77-4409-8E52-CAB8F618A46A}"/>
              </a:ext>
            </a:extLst>
          </p:cNvPr>
          <p:cNvSpPr>
            <a:spLocks noGrp="1"/>
          </p:cNvSpPr>
          <p:nvPr/>
        </p:nvSpPr>
        <p:spPr>
          <a:xfrm>
            <a:off x="457200" y="5305425"/>
            <a:ext cx="10648950" cy="9525"/>
          </a:xfrm>
          <a:prstGeom prst="rect">
            <a:avLst/>
          </a:prstGeom>
          <a:solidFill>
            <a:srgbClr val="C5C5C5"/>
          </a:solidFill>
          <a:ln w="0"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58" name="R takeaway">
            <a:extLst>
              <a:ext uri="{FF2B5EF4-FFF2-40B4-BE49-F238E27FC236}">
                <a16:creationId xmlns:a16="http://schemas.microsoft.com/office/drawing/2014/main" id="{9484190C-CA09-41A4-9196-410D3AB213F5}"/>
              </a:ext>
            </a:extLst>
          </p:cNvPr>
          <p:cNvSpPr>
            <a:spLocks noGrp="1"/>
          </p:cNvSpPr>
          <p:nvPr/>
        </p:nvSpPr>
        <p:spPr>
          <a:xfrm>
            <a:off x="457200" y="5619750"/>
            <a:ext cx="106489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0A2373"/>
                </a:solidFill>
                <a:latin typeface="Lato"/>
                <a:ea typeface="Lato"/>
                <a:cs typeface="Lato"/>
              </a:defRPr>
            </a:pPr>
            <a:r>
              <a:rPr lang="en-GB" sz="1725" b="1">
                <a:solidFill>
                  <a:srgbClr val="FF0000"/>
                </a:solidFill>
                <a:latin typeface="Lato"/>
                <a:ea typeface="Lato"/>
                <a:cs typeface="Lato"/>
              </a:rPr>
              <a:t>Invest where secured additional volumes create a demonstrated capacity shortfall.</a:t>
            </a:r>
          </a:p>
        </p:txBody>
      </p:sp>
      <p:sp>
        <p:nvSpPr>
          <p:cNvPr id="59" name="Section navigation 1"/>
          <p:cNvSpPr/>
          <p:nvPr/>
        </p:nvSpPr>
        <p:spPr>
          <a:xfrm>
            <a:off x="457200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1  Overview</a:t>
            </a:r>
          </a:p>
        </p:txBody>
      </p:sp>
      <p:sp>
        <p:nvSpPr>
          <p:cNvPr id="60" name="Section navigation 2"/>
          <p:cNvSpPr/>
          <p:nvPr/>
        </p:nvSpPr>
        <p:spPr>
          <a:xfrm>
            <a:off x="3136392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2  Market baseline</a:t>
            </a:r>
          </a:p>
        </p:txBody>
      </p:sp>
      <p:sp>
        <p:nvSpPr>
          <p:cNvPr id="61" name="Section navigation 3"/>
          <p:cNvSpPr/>
          <p:nvPr/>
        </p:nvSpPr>
        <p:spPr>
          <a:xfrm>
            <a:off x="5815584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0">
                <a:solidFill>
                  <a:srgbClr val="0A2373"/>
                </a:solidFill>
                <a:latin typeface="Lato"/>
              </a:defRPr>
            </a:pPr>
            <a:r>
              <a:rPr sz="1050">
                <a:latin typeface="Lato"/>
              </a:rPr>
              <a:t>3  Market changes</a:t>
            </a:r>
          </a:p>
        </p:txBody>
      </p:sp>
      <p:sp>
        <p:nvSpPr>
          <p:cNvPr id="62" name="Section navigation 4"/>
          <p:cNvSpPr/>
          <p:nvPr/>
        </p:nvSpPr>
        <p:spPr>
          <a:xfrm>
            <a:off x="8494776" y="73152"/>
            <a:ext cx="2615184" cy="256032"/>
          </a:xfrm>
          <a:prstGeom prst="chevron">
            <a:avLst>
              <a:gd name="adj" fmla="val 12000"/>
            </a:avLst>
          </a:prstGeom>
          <a:solidFill>
            <a:srgbClr val="0A2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0" rIns="164592" bIns="0" rtlCol="0" anchor="ctr">
            <a:no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Lato"/>
              </a:defRPr>
            </a:pPr>
            <a:r>
              <a:rPr sz="1050">
                <a:latin typeface="Lato"/>
              </a:rPr>
              <a:t>4  Vopak outlook</a:t>
            </a:r>
          </a:p>
        </p:txBody>
      </p:sp>
    </p:spTree>
    <p:extLst>
      <p:ext uri="{BB962C8B-B14F-4D97-AF65-F5344CB8AC3E}">
        <p14:creationId xmlns:p14="http://schemas.microsoft.com/office/powerpoint/2010/main" val="2019262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C39121-817A-4D3C-899A-D0A0C1F58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5887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6" name="Picture 2"/>
          <p:cNvPicPr>
            <a:picLocks noChangeAspect="1"/>
          </p:cNvPicPr>
          <p:nvPr/>
        </p:nvPicPr>
        <p:blipFill>
          <a:blip r:embed="rId3"/>
          <a:srcRect l="21836" r="21836"/>
          <a:stretch>
            <a:fillRect/>
          </a:stretch>
        </p:blipFill>
        <p:spPr>
          <a:xfrm>
            <a:off x="5794375" y="0"/>
            <a:ext cx="5794375" cy="6858000"/>
          </a:xfrm>
          <a:prstGeom prst="rect">
            <a:avLst/>
          </a:prstGeom>
        </p:spPr>
      </p:pic>
      <p:pic>
        <p:nvPicPr>
          <p:cNvPr id="17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2920" y="457200"/>
            <a:ext cx="1965960" cy="4386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954C5-04DB-4280-B44C-D964E6C9CDDA}"/>
              </a:ext>
            </a:extLst>
          </p:cNvPr>
          <p:cNvSpPr>
            <a:spLocks noGrp="1"/>
          </p:cNvSpPr>
          <p:nvPr/>
        </p:nvSpPr>
        <p:spPr>
          <a:xfrm>
            <a:off x="594360" y="2468880"/>
            <a:ext cx="4709160" cy="163634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3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Connector 5">
            <a:extLst>
              <a:ext uri="{FF2B5EF4-FFF2-40B4-BE49-F238E27FC236}">
                <a16:creationId xmlns:a16="http://schemas.microsoft.com/office/drawing/2014/main" id="{8AC3AB0E-746B-4AF6-ABCD-D6526DA2BFFE}"/>
              </a:ext>
            </a:extLst>
          </p:cNvPr>
          <p:cNvSpPr>
            <a:spLocks noGrp="1"/>
          </p:cNvSpPr>
          <p:nvPr/>
        </p:nvSpPr>
        <p:spPr>
          <a:xfrm>
            <a:off x="594360" y="4251960"/>
            <a:ext cx="4617720" cy="0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02DF3-0D72-4A19-ADCB-903E36583053}"/>
              </a:ext>
            </a:extLst>
          </p:cNvPr>
          <p:cNvSpPr>
            <a:spLocks noGrp="1"/>
          </p:cNvSpPr>
          <p:nvPr/>
        </p:nvSpPr>
        <p:spPr>
          <a:xfrm>
            <a:off x="594360" y="4617720"/>
            <a:ext cx="4572000" cy="5232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21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700">
                <a:solidFill>
                  <a:srgbClr val="FFFFFF"/>
                </a:solidFill>
              </a:rPr>
              <a:t>South Africa fuel market and Vopak opportunity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CB190A-7488-44E1-8968-36FDC90EDA0B}"/>
              </a:ext>
            </a:extLst>
          </p:cNvPr>
          <p:cNvSpPr>
            <a:spLocks noGrp="1"/>
          </p:cNvSpPr>
          <p:nvPr/>
        </p:nvSpPr>
        <p:spPr>
          <a:xfrm>
            <a:off x="594360" y="52395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08E6D2-5587-493C-AED5-50FFAEFBCE44}"/>
              </a:ext>
            </a:extLst>
          </p:cNvPr>
          <p:cNvSpPr>
            <a:spLocks noGrp="1"/>
          </p:cNvSpPr>
          <p:nvPr/>
        </p:nvSpPr>
        <p:spPr>
          <a:xfrm>
            <a:off x="594360" y="5696712"/>
            <a:ext cx="4572000" cy="200055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3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11 October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94E5E-E17D-406B-B780-6593F829C0CA}"/>
              </a:ext>
            </a:extLst>
          </p:cNvPr>
          <p:cNvSpPr>
            <a:spLocks noGrp="1"/>
          </p:cNvSpPr>
          <p:nvPr/>
        </p:nvSpPr>
        <p:spPr>
          <a:xfrm>
            <a:off x="594360" y="6053328"/>
            <a:ext cx="4572000" cy="36933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spcAft>
                <a:spcPts val="800"/>
              </a:spcAft>
              <a:buNone/>
              <a:defRPr sz="12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Photo source credit">
            <a:extLst>
              <a:ext uri="{FF2B5EF4-FFF2-40B4-BE49-F238E27FC236}">
                <a16:creationId xmlns:a16="http://schemas.microsoft.com/office/drawing/2014/main" id="{605235CD-EC7B-4D28-A4DA-C6360164F0A7}"/>
              </a:ext>
            </a:extLst>
          </p:cNvPr>
          <p:cNvSpPr>
            <a:spLocks noGrp="1"/>
          </p:cNvSpPr>
          <p:nvPr/>
        </p:nvSpPr>
        <p:spPr>
          <a:xfrm>
            <a:off x="594360" y="6400800"/>
            <a:ext cx="47548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spcAft>
                <a:spcPts val="800"/>
              </a:spcAft>
              <a:buNone/>
              <a:defRPr sz="80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>
                <a:solidFill>
                  <a:srgbClr val="FFFFFF"/>
                </a:solidFill>
              </a:rPr>
              <a:t>Photo source: Royal Vopak | Terminal Durban | vopak.com</a:t>
            </a:r>
          </a:p>
        </p:txBody>
      </p:sp>
      <p:sp>
        <p:nvSpPr>
          <p:cNvPr id="12" name="Strictly Confidential footer">
            <a:extLst>
              <a:ext uri="{FF2B5EF4-FFF2-40B4-BE49-F238E27FC236}">
                <a16:creationId xmlns:a16="http://schemas.microsoft.com/office/drawing/2014/main" id="{ED5236C5-84CC-47CC-8ACF-9C81666786AA}"/>
              </a:ext>
            </a:extLst>
          </p:cNvPr>
          <p:cNvSpPr>
            <a:spLocks noGrp="1"/>
          </p:cNvSpPr>
          <p:nvPr/>
        </p:nvSpPr>
        <p:spPr>
          <a:xfrm>
            <a:off x="594360" y="6729984"/>
            <a:ext cx="201168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  <a:defRPr sz="750">
                <a:solidFill>
                  <a:srgbClr val="BDBEC1"/>
                </a:solidFill>
                <a:latin typeface="Lato"/>
                <a:ea typeface="Lato"/>
                <a:cs typeface="Lato"/>
              </a:defRPr>
            </a:pPr>
            <a:r>
              <a:t>Strictly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745302315"/>
      </p:ext>
    </p:extLst>
  </p:cSld>
  <p:clrMapOvr>
    <a:masterClrMapping/>
  </p:clrMapOvr>
</p:sld>
</file>

<file path=ppt/theme/theme1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opak Theme">
  <a:themeElements>
    <a:clrScheme name="Vopak">
      <a:dk1>
        <a:srgbClr val="000000"/>
      </a:dk1>
      <a:lt1>
        <a:srgbClr val="FFFFFF"/>
      </a:lt1>
      <a:dk2>
        <a:srgbClr val="11151A"/>
      </a:dk2>
      <a:lt2>
        <a:srgbClr val="E7E6E6"/>
      </a:lt2>
      <a:accent1>
        <a:srgbClr val="0A2373"/>
      </a:accent1>
      <a:accent2>
        <a:srgbClr val="546CA2"/>
      </a:accent2>
      <a:accent3>
        <a:srgbClr val="BDBEC1"/>
      </a:accent3>
      <a:accent4>
        <a:srgbClr val="404040"/>
      </a:accent4>
      <a:accent5>
        <a:srgbClr val="767676"/>
      </a:accent5>
      <a:accent6>
        <a:srgbClr val="D9D9D9"/>
      </a:accent6>
      <a:hlink>
        <a:srgbClr val="0A2373"/>
      </a:hlink>
      <a:folHlink>
        <a:srgbClr val="546CA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Vopak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20" ma:contentTypeDescription="Create a new document." ma:contentTypeScope="" ma:versionID="cdb2463664abbc9cc5ebc4769b50ad18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ee545d7bb76dd121542a05c73fb4a941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" ma:index="26" nillable="true" ma:displayName="Archive" ma:default="0" ma:description="Folder to be backed up, archived and removed from SharePoint" ma:format="Dropdown" ma:internalName="Archive">
      <xsd:simpleType>
        <xsd:restriction base="dms:Boolea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44b13c9-2708-4b8b-a658-00962d7928c2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Archive xmlns="265cb39c-7109-435c-af5d-13dc21a2db6b">false</Archive>
    <TaxCatchAll xmlns="62b85a0e-09bb-4b0f-bd28-e34020cdc070" xsi:nil="true"/>
  </documentManagement>
</p:properties>
</file>

<file path=customXml/itemProps1.xml><?xml version="1.0" encoding="utf-8"?>
<ds:datastoreItem xmlns:ds="http://schemas.openxmlformats.org/officeDocument/2006/customXml" ds:itemID="{B4291FEC-B74E-46BE-BF33-15B47576BA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343FF5-2136-45AF-8AEA-720F11C4F2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5cb39c-7109-435c-af5d-13dc21a2db6b"/>
    <ds:schemaRef ds:uri="62b85a0e-09bb-4b0f-bd28-e34020cdc0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EC696D7-B64B-4B33-9418-B6CE719B4C55}">
  <ds:schemaRefs>
    <ds:schemaRef ds:uri="http://schemas.microsoft.com/office/2006/metadata/properties"/>
    <ds:schemaRef ds:uri="http://schemas.microsoft.com/office/infopath/2007/PartnerControls"/>
    <ds:schemaRef ds:uri="265cb39c-7109-435c-af5d-13dc21a2db6b"/>
    <ds:schemaRef ds:uri="62b85a0e-09bb-4b0f-bd28-e34020cdc07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3429</Words>
  <Application>Microsoft Office PowerPoint</Application>
  <DocSecurity>0</DocSecurity>
  <PresentationFormat>Custom</PresentationFormat>
  <Paragraphs>389</Paragraphs>
  <Slides>16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Lato</vt:lpstr>
      <vt:lpstr>Arial</vt:lpstr>
      <vt:lpstr>Vopak Theme</vt:lpstr>
      <vt:lpstr>PowerPoint Presentation</vt:lpstr>
      <vt:lpstr>2025 production and imports broadly cover consumption and exports</vt:lpstr>
      <vt:lpstr>Changes in demand, domestic supply and import routes could reduce flows through Durban</vt:lpstr>
      <vt:lpstr>South Africa’s estimated 21bn-litre fuel market is dominated by road demand</vt:lpstr>
      <vt:lpstr>Agricultural fuel demand rebounds while mining and manufacturing remain broadly flat</vt:lpstr>
      <vt:lpstr>Eskom’s fuel use fell by 40% in FY2025 as electricity supply improved</vt:lpstr>
      <vt:lpstr>Rail volumes are recovering, creating scope to reduce road diesel use</vt:lpstr>
      <vt:lpstr>Hybrids dominate electrified new-vehicle sales; fleet fuel savings emerge as vehicles turn over</vt:lpstr>
      <vt:lpstr>Improving vehicle efficiency partly offsets growth in fuel demand</vt:lpstr>
      <vt:lpstr>Reported fuel production declined through 2021; the 2025 baseline assumes 5.8bn litres</vt:lpstr>
      <vt:lpstr>Durban’s inland share depends on competing gateways and reliable onward connections</vt:lpstr>
      <vt:lpstr>Durban and Lesedi market sizing and investment issue tree</vt:lpstr>
      <vt:lpstr>How the national fuel market translates into Vopak’s addressable volume</vt:lpstr>
      <vt:lpstr>Refinery recovery could materially reduce imports from the 16.6bn-litre base case</vt:lpstr>
      <vt:lpstr>Substantial imports sustain the market, while customer capture determines Vopak’s expansion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Manish Ramjeawon</cp:lastModifiedBy>
  <cp:revision>4</cp:revision>
  <dcterms:created xsi:type="dcterms:W3CDTF">2026-10-11T22:01:42Z</dcterms:created>
  <dcterms:modified xsi:type="dcterms:W3CDTF">2026-10-12T11:54:12Z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0x010100BB14DAA3CC024F49A081857B4C9CD92A</vt:lpwstr>
  </property>
  <property fmtid="{D5CDD505-2E9C-101B-9397-08002B2CF9AE}" pid="3" name="MediaServiceImageTags">
    <vt:lpwstr/>
  </property>
</Properties>
</file>