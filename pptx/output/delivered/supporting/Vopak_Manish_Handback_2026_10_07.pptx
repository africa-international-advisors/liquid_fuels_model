
<file path=[Content_Types].xml><?xml version="1.0" encoding="utf-8"?>
<Types xmlns="http://schemas.openxmlformats.org/package/2006/content-types">
  <Default Extension="jpeg" ContentType="image/jpeg"/>
  <Default Extension="jpg" ContentType="image/jpeg"/>
  <Default Extension="png" ContentType="image/png"/>
  <Default Extension="rels" ContentType="application/vnd.openxmlformats-package.relationships+xml"/>
  <Default Extension="xlsx" ContentType="application/vnd.openxmlformats-officedocument.spreadsheetml.sheet"/>
  <Default Extension="xml" ContentType="application/xml"/>
  <Override PartName="/customXml/itemProps1.xml" ContentType="application/vnd.openxmlformats-officedocument.customXmlProperties+xml"/>
  <Override PartName="/customXml/itemProps2.xml" ContentType="application/vnd.openxmlformats-officedocument.customXmlProperties+xml"/>
  <Override PartName="/customXml/itemProps3.xml" ContentType="application/vnd.openxmlformats-officedocument.customXmlProperties+xml"/>
  <Override PartName="/docProps/app.xml" ContentType="application/vnd.openxmlformats-officedocument.extended-properties+xml"/>
  <Override PartName="/docProps/core.xml" ContentType="application/vnd.openxmlformats-package.core-properties+xml"/>
  <Override PartName="/docProps/custom.xml" ContentType="application/vnd.openxmlformats-officedocument.custom-properties+xml"/>
  <Override PartName="/ppt/authors.xml" ContentType="application/vnd.ms-powerpoint.authors+xml"/>
  <Override PartName="/ppt/charts/chart1.xml" ContentType="application/vnd.openxmlformats-officedocument.drawingml.chart+xml"/>
  <Override PartName="/ppt/charts/chart2.xml" ContentType="application/vnd.openxmlformats-officedocument.drawingml.chart+xml"/>
  <Override PartName="/ppt/commentAuthors.xml" ContentType="application/vnd.openxmlformats-officedocument.presentationml.commentAuthor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6.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revisionInfo.xml" ContentType="application/vnd.ms-powerpoint.revisioninfo+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99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Override PartName="/ppt/webextensions/taskpanes.xml" ContentType="application/vnd.ms-office.webextensiontaskpanes+xml"/>
  <Override PartName="/ppt/webextensions/webextension1.xml" ContentType="application/vnd.ms-office.webextension+xml"/>
</Types>
</file>

<file path=_rels/.rels><?xml version='1.0' encoding='UTF-8' standalone='yes'?>
<Relationships xmlns="http://schemas.openxmlformats.org/package/2006/relationships"><Relationship Id="rId1" Type="http://schemas.microsoft.com/office/2011/relationships/webextensiontaskpanes" Target="ppt/webextensions/taskpanes.xml"/><Relationship Id="rId2" Type="http://schemas.openxmlformats.org/officeDocument/2006/relationships/officeDocument" Target="ppt/presentation.xml"/><Relationship Id="rId3" Type="http://schemas.openxmlformats.org/package/2006/relationships/metadata/core-properties" Target="docProps/core.xml"/><Relationship Id="rId4" Type="http://schemas.openxmlformats.org/officeDocument/2006/relationships/extended-properties" Target="docProps/app.xml"/><Relationship Id="rId5" Type="http://schemas.openxmlformats.org/officeDocument/2006/relationships/custom-properties" Target="docProps/custom.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694" r:id="rId4"/>
  </p:sldMasterIdLst>
  <p:notesMasterIdLst>
    <p:notesMasterId r:id="rId8"/>
  </p:notesMasterIdLst>
  <p:sldIdLst>
    <p:sldId id="256" r:id="rId7"/>
    <p:sldId id="262" r:id="rId6"/>
    <p:sldId id="263" r:id="rId16"/>
    <p:sldId id="264" r:id="rId17"/>
    <p:sldId id="265" r:id="rId5"/>
    <p:sldId id="266" r:id="rId19"/>
    <p:sldId id="267" r:id="rId20"/>
    <p:sldId id="268" r:id="rId21"/>
    <p:sldId id="269" r:id="rId22"/>
    <p:sldId id="270" r:id="rId23"/>
    <p:sldId id="271" r:id="rId24"/>
    <p:sldId id="272" r:id="rId25"/>
    <p:sldId id="273" r:id="rId26"/>
    <p:sldId id="274" r:id="rId27"/>
    <p:sldId id="275" r:id="rId28"/>
    <p:sldId id="261" r:id="rId18"/>
  </p:sldIdLst>
  <p:sldSz cx="11588750" cy="6858000"/>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authors.xml><?xml version="1.0" encoding="utf-8"?>
<p188:authorLst xmlns:a="http://schemas.openxmlformats.org/drawingml/2006/main" xmlns:r="http://schemas.openxmlformats.org/officeDocument/2006/relationships" xmlns:p188="http://schemas.microsoft.com/office/powerpoint/2018/8/main">
  <p188:author id="{5460B812-FB11-E744-2EAF-0F2DA0ECD4BF}" name="Henry Gilfillan" initials="HG" userId="S::Henry.G@africaia.com::20d8d1d5-b81d-4db2-8d49-9db47f87700a" providerId="AD"/>
  <p188:author id="{80F3E917-8A40-6377-B501-C0BF4583C07C}" name="Maria-Salome Milanzi" initials="MM" userId="S::Maria-Salome.M@africaia.com::27b80f15-cda9-458b-a241-0020d0d18b2b" providerId="AD"/>
  <p188:author id="{8653DC3D-E5A6-54BA-B06A-0D6999879F26}" name="Joseph Kihara" initials="JK" userId="S::joseph.k@africaia.com::89b38e7e-ff17-4223-9856-6d82edda0c7c" providerId="AD"/>
  <p188:author id="{79DE144E-B764-F176-BA11-B9193ABDC8E5}" name="Davies Tsikayi" initials="DT" userId="S::Davies.T@africaia.com::87c07fce-c37d-4ded-b6b5-65d5c8b951c1" providerId="AD"/>
  <p188:author id="{31278C59-D498-87BD-2E87-AF9308A52A9D}" name="Shannon Kurz" initials="SK" userId="Shannon Kurz" providerId="None"/>
  <p188:author id="{68AE2466-B378-7AA2-581F-E86841585307}" name="Paayal Kanjee Govind" initials="PK" userId="S::Paayal.KG@africaia.com::50637073-a9d2-4dfa-96c0-927604d7cc3c" providerId="AD"/>
  <p188:author id="{C5B1668E-F34A-2E98-0466-BAF8D463548D}" name="Manish Ramjeawon" initials="MR" userId="S::manish.r@africaia.com::530ca382-ae44-4c47-aaca-bb6bff7153ab" providerId="AD"/>
  <p188:author id="{F720B396-19C0-DB41-D221-DFCF831531AE}" name="Henry Gilfillan" initials="HG" userId="Henry Gilfillan" providerId="None"/>
  <p188:author id="{9FBE07B6-A3E1-BFC7-95A7-1EBCABB54112}" name="Karabo Mashabane" initials="KM" userId="S::Karabo.M@africaia.com::def9b110-1e86-4623-94be-634dc77ab82b" providerId="AD"/>
  <p188:author id="{53709FFD-5FBE-8519-0B68-00C91B158654}" name="James Brown" initials="JB" userId="James Brown" providerId="None"/>
</p188:authorLst>
</file>

<file path=ppt/commentAuthors.xml><?xml version="1.0" encoding="utf-8"?>
<p:cmAuthorLst xmlns:a="http://schemas.openxmlformats.org/drawingml/2006/main" xmlns:r="http://schemas.openxmlformats.org/officeDocument/2006/relationships" xmlns:p="http://schemas.openxmlformats.org/presentationml/2006/main">
  <p:cmAuthor id="7" name="Henry Gilfillan" initials="HG [2]" lastIdx="8" clrIdx="6">
    <p:extLst>
      <p:ext uri="{19B8F6BF-5375-455C-9EA6-DF929625EA0E}">
        <p15:presenceInfo xmlns:p15="http://schemas.microsoft.com/office/powerpoint/2012/main" userId="S::henry.g@africaia.com::20d8d1d5-b81d-4db2-8d49-9db47f87700a" providerId="AD"/>
      </p:ext>
    </p:extLst>
  </p:cmAuthor>
  <p:cmAuthor id="1" name="Abbas Bilgrami" initials="AB [2]" lastIdx="8" clrIdx="0">
    <p:extLst>
      <p:ext uri="{19B8F6BF-5375-455C-9EA6-DF929625EA0E}">
        <p15:presenceInfo xmlns:p15="http://schemas.microsoft.com/office/powerpoint/2012/main" userId="da833efe2a07dd73" providerId="Windows Live"/>
      </p:ext>
    </p:extLst>
  </p:cmAuthor>
  <p:cmAuthor id="8" name="Abbas Bilgrami" initials="AB" lastIdx="34" clrIdx="7">
    <p:extLst>
      <p:ext uri="{19B8F6BF-5375-455C-9EA6-DF929625EA0E}">
        <p15:presenceInfo xmlns:p15="http://schemas.microsoft.com/office/powerpoint/2012/main" userId="S::abbas.b@africaia.com::09d4207e-ca10-48c5-9e33-f8dec02b9ddc" providerId="AD"/>
      </p:ext>
    </p:extLst>
  </p:cmAuthor>
  <p:cmAuthor id="2" name="Henry Gilfillan" initials="HG" lastIdx="82" clrIdx="1">
    <p:extLst>
      <p:ext uri="{19B8F6BF-5375-455C-9EA6-DF929625EA0E}">
        <p15:presenceInfo xmlns:p15="http://schemas.microsoft.com/office/powerpoint/2012/main" userId="Henry Gilfillan" providerId="None"/>
      </p:ext>
    </p:extLst>
  </p:cmAuthor>
  <p:cmAuthor id="9" name="Paayal Kanjee Govind" initials="PKG" lastIdx="4" clrIdx="8">
    <p:extLst>
      <p:ext uri="{19B8F6BF-5375-455C-9EA6-DF929625EA0E}">
        <p15:presenceInfo xmlns:p15="http://schemas.microsoft.com/office/powerpoint/2012/main" userId="Paayal Kanjee Govind" providerId="None"/>
      </p:ext>
    </p:extLst>
  </p:cmAuthor>
  <p:cmAuthor id="3" name="Ismaeel" initials="I" lastIdx="104" clrIdx="2">
    <p:extLst>
      <p:ext uri="{19B8F6BF-5375-455C-9EA6-DF929625EA0E}">
        <p15:presenceInfo xmlns:p15="http://schemas.microsoft.com/office/powerpoint/2012/main" userId="Ismaeel" providerId="None"/>
      </p:ext>
    </p:extLst>
  </p:cmAuthor>
  <p:cmAuthor id="4" name="Jennifer Zeiss" initials="JZ" lastIdx="19" clrIdx="3">
    <p:extLst>
      <p:ext uri="{19B8F6BF-5375-455C-9EA6-DF929625EA0E}">
        <p15:presenceInfo xmlns:p15="http://schemas.microsoft.com/office/powerpoint/2012/main" userId="Jennifer Zeiss" providerId="None"/>
      </p:ext>
    </p:extLst>
  </p:cmAuthor>
  <p:cmAuthor id="5" name="Gabrielle Knott" initials="GK" lastIdx="2" clrIdx="4">
    <p:extLst>
      <p:ext uri="{19B8F6BF-5375-455C-9EA6-DF929625EA0E}">
        <p15:presenceInfo xmlns:p15="http://schemas.microsoft.com/office/powerpoint/2012/main" userId="Gabrielle Knott" providerId="None"/>
      </p:ext>
    </p:extLst>
  </p:cmAuthor>
  <p:cmAuthor id="6" name="James Brown" initials="JB" lastIdx="2" clrIdx="5">
    <p:extLst>
      <p:ext uri="{19B8F6BF-5375-455C-9EA6-DF929625EA0E}">
        <p15:presenceInfo xmlns:p15="http://schemas.microsoft.com/office/powerpoint/2012/main" userId="S::james@africaia.com::5c3cb27f-96be-4c72-848f-aa01b93992f6" providerId="AD"/>
      </p:ext>
    </p:extLst>
  </p:cmAuthor>
</p:cmAuthorLst>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clrMru>
    <a:srgbClr val="0F3552"/>
    <a:srgbClr val="EBF9FE"/>
    <a:srgbClr val="FDD9A4"/>
    <a:srgbClr val="2D6196"/>
    <a:srgbClr val="326757"/>
    <a:srgbClr val="728A94"/>
    <a:srgbClr val="F01C24"/>
    <a:srgbClr val="56787A"/>
    <a:srgbClr val="CFDFF0"/>
    <a:srgbClr val="008E40"/>
  </p:clrMru>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revisionInfo.xml><?xml version="1.0" encoding="utf-8"?>
<p1510:revInfo xmlns:a="http://schemas.openxmlformats.org/drawingml/2006/main" xmlns:r="http://schemas.openxmlformats.org/officeDocument/2006/relationships" xmlns:p1510="http://schemas.microsoft.com/office/powerpoint/2015/10/main">
  <p1510:revLst>
    <p1510:client id="{58C87D74-0723-4269-ADB4-1C2880134AC4}" v="1" dt="2026-10-01T12:10:22.388"/>
  </p1510:revLst>
</p1510:revInfo>
</file>

<file path=ppt/tableStyles.xml><?xml version="1.0" encoding="utf-8"?>
<a:tblStyleLst xmlns:a="http://schemas.openxmlformats.org/drawingml/2006/main" def="{5C22544A-7EE6-4342-B048-85BDC9FD1C3A}">
  <a:tblStyle styleId="{5C22544A-7EE6-4342-B048-85BDC9FD1C3A}" styleName="Medium Style 2 - Accent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 styleId="{00A15C55-8517-42AA-B614-E9B94910E393}" styleName="Medium Style 2 - Accent 4">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4">
              <a:tint val="20000"/>
            </a:schemeClr>
          </a:solidFill>
        </a:fill>
      </a:tcStyle>
    </a:wholeTbl>
    <a:band1H>
      <a:tcStyle>
        <a:tcBdr/>
        <a:fill>
          <a:solidFill>
            <a:schemeClr val="accent4">
              <a:tint val="40000"/>
            </a:schemeClr>
          </a:solidFill>
        </a:fill>
      </a:tcStyle>
    </a:band1H>
    <a:band2H>
      <a:tcStyle>
        <a:tcBdr/>
      </a:tcStyle>
    </a:band2H>
    <a:band1V>
      <a:tcStyle>
        <a:tcBdr/>
        <a:fill>
          <a:solidFill>
            <a:schemeClr val="accent4">
              <a:tint val="40000"/>
            </a:schemeClr>
          </a:solidFill>
        </a:fill>
      </a:tcStyle>
    </a:band1V>
    <a:band2V>
      <a:tcStyle>
        <a:tcBdr/>
      </a:tcStyle>
    </a:band2V>
    <a:lastCol>
      <a:tcTxStyle b="on">
        <a:fontRef idx="minor">
          <a:prstClr val="black"/>
        </a:fontRef>
        <a:schemeClr val="lt1"/>
      </a:tcTxStyle>
      <a:tcStyle>
        <a:tcBdr/>
        <a:fill>
          <a:solidFill>
            <a:schemeClr val="accent4"/>
          </a:solidFill>
        </a:fill>
      </a:tcStyle>
    </a:lastCol>
    <a:firstCol>
      <a:tcTxStyle b="on">
        <a:fontRef idx="minor">
          <a:prstClr val="black"/>
        </a:fontRef>
        <a:schemeClr val="lt1"/>
      </a:tcTxStyle>
      <a:tcStyle>
        <a:tcBdr/>
        <a:fill>
          <a:solidFill>
            <a:schemeClr val="accent4"/>
          </a:solidFill>
        </a:fill>
      </a:tcStyle>
    </a:firstCol>
    <a:lastRow>
      <a:tcTxStyle b="on">
        <a:fontRef idx="minor">
          <a:prstClr val="black"/>
        </a:fontRef>
        <a:schemeClr val="lt1"/>
      </a:tcTxStyle>
      <a:tcStyle>
        <a:tcBdr>
          <a:top>
            <a:ln w="38100" cmpd="sng">
              <a:solidFill>
                <a:schemeClr val="lt1"/>
              </a:solidFill>
            </a:ln>
          </a:top>
        </a:tcBdr>
        <a:fill>
          <a:solidFill>
            <a:schemeClr val="accent4"/>
          </a:solidFill>
        </a:fill>
      </a:tcStyle>
    </a:lastRow>
    <a:firstRow>
      <a:tcTxStyle b="on">
        <a:fontRef idx="minor">
          <a:prstClr val="black"/>
        </a:fontRef>
        <a:schemeClr val="lt1"/>
      </a:tcTxStyle>
      <a:tcStyle>
        <a:tcBdr>
          <a:bottom>
            <a:ln w="38100" cmpd="sng">
              <a:solidFill>
                <a:schemeClr val="lt1"/>
              </a:solidFill>
            </a:ln>
          </a:bottom>
        </a:tcBdr>
        <a:fill>
          <a:solidFill>
            <a:schemeClr val="accent4"/>
          </a:solidFill>
        </a:fill>
      </a:tcStyle>
    </a:firstRow>
  </a:tblStyle>
  <a:tblStyle styleId="{69012ECD-51FC-41F1-AA8D-1B2483CD663E}" styleName="Light Style 2 - Accent 1">
    <a:wholeTbl>
      <a:tcTxStyle>
        <a:fontRef idx="minor">
          <a:scrgbClr r="0" g="0" b="0"/>
        </a:fontRef>
        <a:schemeClr val="tx1"/>
      </a:tcTxStyle>
      <a:tcStyle>
        <a:tcBdr>
          <a:left>
            <a:lnRef idx="1">
              <a:schemeClr val="accent1"/>
            </a:lnRef>
          </a:left>
          <a:right>
            <a:lnRef idx="1">
              <a:schemeClr val="accent1"/>
            </a:lnRef>
          </a:right>
          <a:top>
            <a:lnRef idx="1">
              <a:schemeClr val="accent1"/>
            </a:lnRef>
          </a:top>
          <a:bottom>
            <a:lnRef idx="1">
              <a:schemeClr val="accent1"/>
            </a:lnRef>
          </a:bottom>
          <a:insideH>
            <a:ln>
              <a:noFill/>
            </a:ln>
          </a:insideH>
          <a:insideV>
            <a:ln>
              <a:noFill/>
            </a:ln>
          </a:insideV>
        </a:tcBdr>
        <a:fill>
          <a:noFill/>
        </a:fill>
      </a:tcStyle>
    </a:wholeTbl>
    <a:band1H>
      <a:tcStyle>
        <a:tcBdr>
          <a:top>
            <a:lnRef idx="1">
              <a:schemeClr val="accent1"/>
            </a:lnRef>
          </a:top>
          <a:bottom>
            <a:lnRef idx="1">
              <a:schemeClr val="accent1"/>
            </a:lnRef>
          </a:bottom>
        </a:tcBdr>
      </a:tcStyle>
    </a:band1H>
    <a:band1V>
      <a:tcStyle>
        <a:tcBdr>
          <a:left>
            <a:lnRef idx="1">
              <a:schemeClr val="accent1"/>
            </a:lnRef>
          </a:left>
          <a:right>
            <a:lnRef idx="1">
              <a:schemeClr val="accent1"/>
            </a:lnRef>
          </a:right>
        </a:tcBdr>
      </a:tcStyle>
    </a:band1V>
    <a:band2V>
      <a:tcStyle>
        <a:tcBdr>
          <a:left>
            <a:lnRef idx="1">
              <a:schemeClr val="accent1"/>
            </a:lnRef>
          </a:left>
          <a:right>
            <a:lnRef idx="1">
              <a:schemeClr val="accent1"/>
            </a:lnRef>
          </a:right>
        </a:tcBdr>
      </a:tcStyle>
    </a:band2V>
    <a:lastCol>
      <a:tcTxStyle b="on"/>
      <a:tcStyle>
        <a:tcBdr/>
      </a:tcStyle>
    </a:lastCol>
    <a:firstCol>
      <a:tcTxStyle b="on"/>
      <a:tcStyle>
        <a:tcBdr/>
      </a:tcStyle>
    </a:firstCol>
    <a:lastRow>
      <a:tcTxStyle b="on"/>
      <a:tcStyle>
        <a:tcBdr>
          <a:top>
            <a:ln w="50800" cmpd="dbl">
              <a:solidFill>
                <a:schemeClr val="accent1"/>
              </a:solidFill>
            </a:ln>
          </a:top>
        </a:tcBdr>
      </a:tcStyle>
    </a:lastRow>
    <a:firstRow>
      <a:tcTxStyle b="on">
        <a:fontRef idx="minor">
          <a:scrgbClr r="0" g="0" b="0"/>
        </a:fontRef>
        <a:schemeClr val="bg1"/>
      </a:tcTxStyle>
      <a:tcStyle>
        <a:tcBdr/>
        <a:fillRef idx="1">
          <a:schemeClr val="accent1"/>
        </a:fillRef>
      </a:tcStyle>
    </a:firstRow>
  </a:tblStyle>
  <a:tblStyle styleId="{C083E6E3-FA7D-4D7B-A595-EF9225AFEA82}" styleName="Light Style 1 – Accent 3">
    <a:wholeTbl>
      <a:tcTxStyle>
        <a:fontRef idx="minor">
          <a:scrgbClr r="0" g="0" b="0"/>
        </a:fontRef>
        <a:schemeClr val="tx1"/>
      </a:tcTxStyle>
      <a:tcStyle>
        <a:tcBdr>
          <a:left>
            <a:ln>
              <a:noFill/>
            </a:ln>
          </a:left>
          <a:right>
            <a:ln>
              <a:noFill/>
            </a:ln>
          </a:right>
          <a:top>
            <a:ln w="12700" cmpd="sng">
              <a:solidFill>
                <a:schemeClr val="accent3"/>
              </a:solidFill>
            </a:ln>
          </a:top>
          <a:bottom>
            <a:ln w="12700" cmpd="sng">
              <a:solidFill>
                <a:schemeClr val="accent3"/>
              </a:solidFill>
            </a:ln>
          </a:bottom>
          <a:insideH>
            <a:ln>
              <a:noFill/>
            </a:ln>
          </a:insideH>
          <a:insideV>
            <a:ln>
              <a:noFill/>
            </a:ln>
          </a:insideV>
        </a:tcBdr>
        <a:fill>
          <a:noFill/>
        </a:fill>
      </a:tcStyle>
    </a:wholeTbl>
    <a:band1H>
      <a:tcStyle>
        <a:tcBdr/>
        <a:fill>
          <a:solidFill>
            <a:schemeClr val="accent3">
              <a:alpha val="20000"/>
            </a:schemeClr>
          </a:solidFill>
        </a:fill>
      </a:tcStyle>
    </a:band1H>
    <a:band2H>
      <a:tcStyle>
        <a:tcBdr/>
      </a:tcStyle>
    </a:band2H>
    <a:band1V>
      <a:tcStyle>
        <a:tcBdr/>
        <a:fill>
          <a:solidFill>
            <a:schemeClr val="accent3">
              <a:alpha val="20000"/>
            </a:schemeClr>
          </a:solidFill>
        </a:fill>
      </a:tcStyle>
    </a:band1V>
    <a:lastCol>
      <a:tcTxStyle b="on"/>
      <a:tcStyle>
        <a:tcBdr/>
      </a:tcStyle>
    </a:lastCol>
    <a:firstCol>
      <a:tcTxStyle b="on"/>
      <a:tcStyle>
        <a:tcBdr/>
      </a:tcStyle>
    </a:firstCol>
    <a:lastRow>
      <a:tcTxStyle b="on"/>
      <a:tcStyle>
        <a:tcBdr>
          <a:top>
            <a:ln w="12700" cmpd="sng">
              <a:solidFill>
                <a:schemeClr val="accent3"/>
              </a:solidFill>
            </a:ln>
          </a:top>
        </a:tcBdr>
        <a:fill>
          <a:noFill/>
        </a:fill>
      </a:tcStyle>
    </a:lastRow>
    <a:firstRow>
      <a:tcTxStyle b="on"/>
      <a:tcStyle>
        <a:tcBdr>
          <a:bottom>
            <a:ln w="12700" cmpd="sng">
              <a:solidFill>
                <a:schemeClr val="accent3"/>
              </a:solidFill>
            </a:ln>
          </a:bottom>
        </a:tcBdr>
        <a:fill>
          <a:noFill/>
        </a:fill>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p:normalViewPr>
    <p:restoredLeft sz="15620"/>
    <p:restoredTop sz="94660"/>
  </p:normalViewPr>
  <p:slideViewPr>
    <p:cSldViewPr snapToGrid="0">
      <p:cViewPr varScale="1">
        <p:scale>
          <a:sx n="64" d="100"/>
          <a:sy n="64" d="100"/>
        </p:scale>
        <p:origin x="776" y="52"/>
      </p:cViewPr>
      <p:guideLst/>
    </p:cSldViewPr>
  </p:slideViewPr>
  <p:notesTextViewPr>
    <p:cViewPr>
      <p:scale>
        <a:sx n="1" d="1"/>
        <a:sy n="1" d="1"/>
      </p:scale>
      <p:origin x="0" y="0"/>
    </p:cViewPr>
  </p:notesTextViewPr>
  <p:gridSpacing cx="72008" cy="72008"/>
</p:viewPr>
</file>

<file path=ppt/_rels/presentation.xml.rels><?xml version='1.0' encoding='UTF-8' standalone='yes'?>
<Relationships xmlns="http://schemas.openxmlformats.org/package/2006/relationships"><Relationship Id="rId1" Type="http://schemas.openxmlformats.org/officeDocument/2006/relationships/customXml" Target="../customXml/item1.xml"/><Relationship Id="rId2" Type="http://schemas.openxmlformats.org/officeDocument/2006/relationships/customXml" Target="../customXml/item2.xml"/><Relationship Id="rId3" Type="http://schemas.openxmlformats.org/officeDocument/2006/relationships/customXml" Target="../customXml/item3.xml"/><Relationship Id="rId4" Type="http://schemas.openxmlformats.org/officeDocument/2006/relationships/slideMaster" Target="slideMasters/slideMaster1.xml"/><Relationship Id="rId5" Type="http://schemas.openxmlformats.org/officeDocument/2006/relationships/slide" Target="slides/slide6.xml"/><Relationship Id="rId6" Type="http://schemas.openxmlformats.org/officeDocument/2006/relationships/slide" Target="slides/slide3.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commentAuthors" Target="commentAuthors.xml"/><Relationship Id="rId10" Type="http://schemas.openxmlformats.org/officeDocument/2006/relationships/presProps" Target="presProps.xml"/><Relationship Id="rId11" Type="http://schemas.openxmlformats.org/officeDocument/2006/relationships/viewProps" Target="viewProps.xml"/><Relationship Id="rId12" Type="http://schemas.openxmlformats.org/officeDocument/2006/relationships/theme" Target="theme/theme1.xml"/><Relationship Id="rId13" Type="http://schemas.openxmlformats.org/officeDocument/2006/relationships/tableStyles" Target="tableStyles.xml"/><Relationship Id="rId14" Type="http://schemas.microsoft.com/office/2015/10/relationships/revisionInfo" Target="revisionInfo.xml"/><Relationship Id="rId15" Type="http://schemas.microsoft.com/office/2018/10/relationships/authors" Target="authors.xml"/><Relationship Id="rId16" Type="http://schemas.openxmlformats.org/officeDocument/2006/relationships/slide" Target="slides/slide4.xml"/><Relationship Id="rId17" Type="http://schemas.openxmlformats.org/officeDocument/2006/relationships/slide" Target="slides/slide5.xml"/><Relationship Id="rId18" Type="http://schemas.openxmlformats.org/officeDocument/2006/relationships/slide" Target="slides/slide999.xml"/><Relationship Id="rId19" Type="http://schemas.openxmlformats.org/officeDocument/2006/relationships/slide" Target="slides/slide7.xml"/><Relationship Id="rId20" Type="http://schemas.openxmlformats.org/officeDocument/2006/relationships/slide" Target="slides/slide8.xml"/><Relationship Id="rId21" Type="http://schemas.openxmlformats.org/officeDocument/2006/relationships/slide" Target="slides/slide9.xml"/><Relationship Id="rId22" Type="http://schemas.openxmlformats.org/officeDocument/2006/relationships/slide" Target="slides/slide10.xml"/><Relationship Id="rId23" Type="http://schemas.openxmlformats.org/officeDocument/2006/relationships/slide" Target="slides/slide11.xml"/><Relationship Id="rId24" Type="http://schemas.openxmlformats.org/officeDocument/2006/relationships/slide" Target="slides/slide12.xml"/><Relationship Id="rId25" Type="http://schemas.openxmlformats.org/officeDocument/2006/relationships/slide" Target="slides/slide13.xml"/><Relationship Id="rId26" Type="http://schemas.openxmlformats.org/officeDocument/2006/relationships/slide" Target="slides/slide14.xml"/><Relationship Id="rId27" Type="http://schemas.openxmlformats.org/officeDocument/2006/relationships/slide" Target="slides/slide15.xml"/><Relationship Id="rId28" Type="http://schemas.openxmlformats.org/officeDocument/2006/relationships/slide" Target="slides/slide16.xml"/></Relationships>
</file>

<file path=ppt/charts/_rels/chart1.xml.rels><?xml version='1.0' encoding='UTF-8' standalone='yes'?>
<Relationships xmlns="http://schemas.openxmlformats.org/package/2006/relationships"><Relationship Id="rId1" Type="http://schemas.openxmlformats.org/officeDocument/2006/relationships/package" Target="../embeddings/Microsoft_Excel_Sheet1.xlsx"/></Relationships>
</file>

<file path=ppt/charts/_rels/chart2.xml.rels><?xml version='1.0' encoding='UTF-8' standalone='yes'?>
<Relationships xmlns="http://schemas.openxmlformats.org/package/2006/relationships"><Relationship Id="rId1" Type="http://schemas.openxmlformats.org/officeDocument/2006/relationships/package" Target="../embeddings/Microsoft_Excel_Sheet2.xlsx"/></Relationships>
</file>

<file path=ppt/charts/chart1.xml><?xml version="1.0" encoding="utf-8"?>
<c:chartSpace xmlns:c="http://schemas.openxmlformats.org/drawingml/2006/chart" xmlns:a="http://schemas.openxmlformats.org/drawingml/2006/main" xmlns:r="http://schemas.openxmlformats.org/officeDocument/2006/relationships">
  <c:date1904 val="0"/>
  <c:chart>
    <c:title>
      <c:tx>
        <c:rich>
          <a:bodyPr/>
          <a:lstStyle/>
          <a:p>
            <a:r>
              <a:rPr sz="1100" b="1">
                <a:latin typeface="Lato"/>
              </a:rPr>
              <a:t>Petrol, billion litres</a:t>
            </a:r>
          </a:p>
        </c:rich>
      </c:tx>
      <c:layout/>
      <c:overlay val="0"/>
    </c:title>
    <c:autoTitleDeleted val="0"/>
    <c:plotArea>
      <c:lineChart>
        <c:grouping val="standard"/>
        <c:varyColors val="0"/>
        <c:ser>
          <c:idx val="0"/>
          <c:order val="0"/>
          <c:tx>
            <c:strRef>
              <c:f>Sheet1!$B$1</c:f>
              <c:strCache>
                <c:ptCount val="1"/>
                <c:pt idx="0">
                  <c:v>Sales less net imports</c:v>
                </c:pt>
              </c:strCache>
            </c:strRef>
          </c:tx>
          <c:spPr>
            <a:ln w="25400">
              <a:solidFill>
                <a:srgbClr val="0A2373"/>
              </a:solidFill>
            </a:ln>
          </c:spPr>
          <c:marker>
            <c:symbol val="circle"/>
            <c:size val="6"/>
            <c:spPr>
              <a:solidFill>
                <a:srgbClr val="0A2373"/>
              </a:solidFill>
              <a:ln>
                <a:solidFill>
                  <a:srgbClr val="FFFFFF"/>
                </a:solidFill>
              </a:ln>
            </c:spPr>
          </c:marker>
          <c:cat>
            <c:strRef>
              <c:f>Sheet1!$A$2:$A$12</c:f>
              <c:strCache>
                <c:ptCount val="11"/>
                <c:pt idx="0">
                  <c:v>2014</c:v>
                </c:pt>
                <c:pt idx="1">
                  <c:v>2015</c:v>
                </c:pt>
                <c:pt idx="2">
                  <c:v>2016</c:v>
                </c:pt>
                <c:pt idx="3">
                  <c:v>2017</c:v>
                </c:pt>
                <c:pt idx="4">
                  <c:v>2018</c:v>
                </c:pt>
                <c:pt idx="5">
                  <c:v>2019</c:v>
                </c:pt>
                <c:pt idx="6">
                  <c:v>2020</c:v>
                </c:pt>
                <c:pt idx="7">
                  <c:v>2021</c:v>
                </c:pt>
                <c:pt idx="8">
                  <c:v>2022</c:v>
                </c:pt>
                <c:pt idx="9">
                  <c:v>2023</c:v>
                </c:pt>
                <c:pt idx="10">
                  <c:v>2024</c:v>
                </c:pt>
              </c:strCache>
            </c:strRef>
          </c:cat>
          <c:val>
            <c:numRef>
              <c:f>Sheet1!$B$2:$B$12</c:f>
              <c:numCache>
                <c:formatCode>General</c:formatCode>
                <c:ptCount val="11"/>
                <c:pt idx="0">
                  <c:v>10.729528751</c:v>
                </c:pt>
                <c:pt idx="1">
                  <c:v>10.691734654</c:v>
                </c:pt>
                <c:pt idx="2">
                  <c:v>11.223942785</c:v>
                </c:pt>
                <c:pt idx="3">
                  <c:v>10.135812655</c:v>
                </c:pt>
                <c:pt idx="4">
                  <c:v>10.446909538</c:v>
                </c:pt>
                <c:pt idx="5">
                  <c:v>10.470524002</c:v>
                </c:pt>
                <c:pt idx="6">
                  <c:v>8.196576968</c:v>
                </c:pt>
                <c:pt idx="7">
                  <c:v>6.345466608</c:v>
                </c:pt>
                <c:pt idx="8">
                  <c:v>4.584221815</c:v>
                </c:pt>
                <c:pt idx="9">
                  <c:v>5.548194912</c:v>
                </c:pt>
                <c:pt idx="10">
                  <c:v>5.947890582</c:v>
                </c:pt>
              </c:numCache>
            </c:numRef>
          </c:val>
          <c:smooth val="0"/>
        </c:ser>
        <c:ser>
          <c:idx val="1"/>
          <c:order val="1"/>
          <c:tx>
            <c:strRef>
              <c:f>Sheet1!$C$1</c:f>
              <c:strCache>
                <c:ptCount val="1"/>
                <c:pt idx="0">
                  <c:v>Reported production (to 2021)</c:v>
                </c:pt>
              </c:strCache>
            </c:strRef>
          </c:tx>
          <c:spPr>
            <a:ln w="25400">
              <a:solidFill>
                <a:srgbClr val="7A828C"/>
              </a:solidFill>
              <a:prstDash val="dash"/>
            </a:ln>
          </c:spPr>
          <c:marker>
            <c:symbol val="circle"/>
            <c:size val="6"/>
            <c:spPr>
              <a:solidFill>
                <a:srgbClr val="7A828C"/>
              </a:solidFill>
              <a:ln>
                <a:solidFill>
                  <a:srgbClr val="FFFFFF"/>
                </a:solidFill>
              </a:ln>
            </c:spPr>
          </c:marker>
          <c:cat>
            <c:strRef>
              <c:f>Sheet1!$A$2:$A$12</c:f>
              <c:strCache>
                <c:ptCount val="11"/>
                <c:pt idx="0">
                  <c:v>2014</c:v>
                </c:pt>
                <c:pt idx="1">
                  <c:v>2015</c:v>
                </c:pt>
                <c:pt idx="2">
                  <c:v>2016</c:v>
                </c:pt>
                <c:pt idx="3">
                  <c:v>2017</c:v>
                </c:pt>
                <c:pt idx="4">
                  <c:v>2018</c:v>
                </c:pt>
                <c:pt idx="5">
                  <c:v>2019</c:v>
                </c:pt>
                <c:pt idx="6">
                  <c:v>2020</c:v>
                </c:pt>
                <c:pt idx="7">
                  <c:v>2021</c:v>
                </c:pt>
                <c:pt idx="8">
                  <c:v>2022</c:v>
                </c:pt>
                <c:pt idx="9">
                  <c:v>2023</c:v>
                </c:pt>
                <c:pt idx="10">
                  <c:v>2024</c:v>
                </c:pt>
              </c:strCache>
            </c:strRef>
          </c:cat>
          <c:val>
            <c:numRef>
              <c:f>Sheet1!$C$2:$C$12</c:f>
              <c:numCache>
                <c:formatCode>General</c:formatCode>
                <c:ptCount val="11"/>
                <c:pt idx="0">
                  <c:v>10.82816</c:v>
                </c:pt>
                <c:pt idx="1">
                  <c:v>10.457813</c:v>
                </c:pt>
                <c:pt idx="2">
                  <c:v>10.393066</c:v>
                </c:pt>
                <c:pt idx="3">
                  <c:v>9.43444</c:v>
                </c:pt>
                <c:pt idx="4">
                  <c:v>9.97456</c:v>
                </c:pt>
                <c:pt idx="5">
                  <c:v>10.424467</c:v>
                </c:pt>
                <c:pt idx="6">
                  <c:v>7.895</c:v>
                </c:pt>
                <c:pt idx="7">
                  <c:v>6.351306667</c:v>
                </c:pt>
              </c:numCache>
            </c:numRef>
          </c:val>
          <c:smooth val="0"/>
        </c:ser>
        <c:marker val="1"/>
        <c:smooth val="0"/>
        <c:axId val="2118791784"/>
        <c:axId val="2140495176"/>
      </c:lineChart>
      <c:catAx>
        <c:axId val="2118791784"/>
        <c:scaling>
          <c:orientation val="minMax"/>
        </c:scaling>
        <c:delete val="0"/>
        <c:axPos val="b"/>
        <c:majorTickMark val="out"/>
        <c:minorTickMark val="none"/>
        <c:tickLblPos val="nextTo"/>
        <c:spPr>
          <a:ln>
            <a:solidFill>
              <a:srgbClr val="A0A0A0"/>
            </a:solidFill>
          </a:ln>
        </c:spPr>
        <c:crossAx val="2140495176"/>
        <c:crosses val="autoZero"/>
        <c:auto val="1"/>
        <c:lblAlgn val="ctr"/>
        <c:lblOffset val="100"/>
        <c:noMultiLvlLbl val="0"/>
      </c:catAx>
      <c:valAx>
        <c:axId val="2140495176"/>
        <c:scaling>
          <c:max val="12.0"/>
          <c:min val="0.0"/>
        </c:scaling>
        <c:delete val="0"/>
        <c:axPos val="l"/>
        <c:majorGridlines>
          <c:spPr>
            <a:ln>
              <a:solidFill>
                <a:srgbClr val="EEEEEE"/>
              </a:solidFill>
            </a:ln>
          </c:spPr>
        </c:majorGridlines>
        <c:numFmt formatCode="0" sourceLinked="0"/>
        <c:majorTickMark val="out"/>
        <c:minorTickMark val="none"/>
        <c:tickLblPos val="nextTo"/>
        <c:spPr>
          <a:ln>
            <a:noFill/>
          </a:ln>
        </c:spPr>
        <c:crossAx val="2118791784"/>
        <c:crosses val="autoZero"/>
        <c:majorUnit val="3.0"/>
      </c:valAx>
    </c:plotArea>
    <c:legend>
      <c:legendPos val="t"/>
      <c:layout/>
      <c:overlay val="0"/>
    </c:legend>
    <c:plotVisOnly val="1"/>
    <c:dispBlanksAs val="gap"/>
    <c:showDLblsOverMax val="0"/>
  </c:chart>
  <c:txPr>
    <a:bodyPr/>
    <a:lstStyle/>
    <a:p>
      <a:pPr>
        <a:defRPr sz="1000">
          <a:solidFill>
            <a:srgbClr val="11151A"/>
          </a:solidFill>
          <a:latin typeface="Lato"/>
        </a:defRPr>
      </a:pPr>
      <a:endParaRPr lang="en-US"/>
    </a:p>
  </c:txPr>
  <c:externalData r:id="rId1">
    <c:autoUpdate val="0"/>
  </c:externalData>
</c:chartSpace>
</file>

<file path=ppt/charts/chart2.xml><?xml version="1.0" encoding="utf-8"?>
<c:chartSpace xmlns:c="http://schemas.openxmlformats.org/drawingml/2006/chart" xmlns:a="http://schemas.openxmlformats.org/drawingml/2006/main" xmlns:r="http://schemas.openxmlformats.org/officeDocument/2006/relationships">
  <c:date1904 val="0"/>
  <c:chart>
    <c:title>
      <c:tx>
        <c:rich>
          <a:bodyPr/>
          <a:lstStyle/>
          <a:p>
            <a:r>
              <a:rPr sz="1100" b="1">
                <a:latin typeface="Lato"/>
              </a:rPr>
              <a:t>Diesel, billion litres</a:t>
            </a:r>
          </a:p>
        </c:rich>
      </c:tx>
      <c:layout/>
      <c:overlay val="0"/>
    </c:title>
    <c:autoTitleDeleted val="0"/>
    <c:plotArea>
      <c:lineChart>
        <c:grouping val="standard"/>
        <c:varyColors val="0"/>
        <c:ser>
          <c:idx val="0"/>
          <c:order val="0"/>
          <c:tx>
            <c:strRef>
              <c:f>Sheet1!$B$1</c:f>
              <c:strCache>
                <c:ptCount val="1"/>
                <c:pt idx="0">
                  <c:v>Sales less net imports</c:v>
                </c:pt>
              </c:strCache>
            </c:strRef>
          </c:tx>
          <c:spPr>
            <a:ln w="25400">
              <a:solidFill>
                <a:srgbClr val="0A2373"/>
              </a:solidFill>
            </a:ln>
          </c:spPr>
          <c:marker>
            <c:symbol val="circle"/>
            <c:size val="6"/>
            <c:spPr>
              <a:solidFill>
                <a:srgbClr val="0A2373"/>
              </a:solidFill>
              <a:ln>
                <a:solidFill>
                  <a:srgbClr val="FFFFFF"/>
                </a:solidFill>
              </a:ln>
            </c:spPr>
          </c:marker>
          <c:cat>
            <c:strRef>
              <c:f>Sheet1!$A$2:$A$12</c:f>
              <c:strCache>
                <c:ptCount val="11"/>
                <c:pt idx="0">
                  <c:v>2014</c:v>
                </c:pt>
                <c:pt idx="1">
                  <c:v>2015</c:v>
                </c:pt>
                <c:pt idx="2">
                  <c:v>2016</c:v>
                </c:pt>
                <c:pt idx="3">
                  <c:v>2017</c:v>
                </c:pt>
                <c:pt idx="4">
                  <c:v>2018</c:v>
                </c:pt>
                <c:pt idx="5">
                  <c:v>2019</c:v>
                </c:pt>
                <c:pt idx="6">
                  <c:v>2020</c:v>
                </c:pt>
                <c:pt idx="7">
                  <c:v>2021</c:v>
                </c:pt>
                <c:pt idx="8">
                  <c:v>2022</c:v>
                </c:pt>
                <c:pt idx="9">
                  <c:v>2023</c:v>
                </c:pt>
                <c:pt idx="10">
                  <c:v>2024</c:v>
                </c:pt>
              </c:strCache>
            </c:strRef>
          </c:cat>
          <c:val>
            <c:numRef>
              <c:f>Sheet1!$B$2:$B$12</c:f>
              <c:numCache>
                <c:formatCode>General</c:formatCode>
                <c:ptCount val="11"/>
                <c:pt idx="0">
                  <c:v>9.11707366</c:v>
                </c:pt>
                <c:pt idx="1">
                  <c:v>8.682215257</c:v>
                </c:pt>
                <c:pt idx="2">
                  <c:v>9.543684503</c:v>
                </c:pt>
                <c:pt idx="3">
                  <c:v>7.892459337</c:v>
                </c:pt>
                <c:pt idx="4">
                  <c:v>8.997854948</c:v>
                </c:pt>
                <c:pt idx="5">
                  <c:v>9.059736436</c:v>
                </c:pt>
                <c:pt idx="6">
                  <c:v>5.788786832</c:v>
                </c:pt>
                <c:pt idx="7">
                  <c:v>4.07787555</c:v>
                </c:pt>
                <c:pt idx="8">
                  <c:v>1.652268839</c:v>
                </c:pt>
                <c:pt idx="9">
                  <c:v>0.926913773</c:v>
                </c:pt>
                <c:pt idx="10">
                  <c:v>1.737287544</c:v>
                </c:pt>
              </c:numCache>
            </c:numRef>
          </c:val>
          <c:smooth val="0"/>
        </c:ser>
        <c:ser>
          <c:idx val="1"/>
          <c:order val="1"/>
          <c:tx>
            <c:strRef>
              <c:f>Sheet1!$C$1</c:f>
              <c:strCache>
                <c:ptCount val="1"/>
                <c:pt idx="0">
                  <c:v>Reported production (to 2021)</c:v>
                </c:pt>
              </c:strCache>
            </c:strRef>
          </c:tx>
          <c:spPr>
            <a:ln w="25400">
              <a:solidFill>
                <a:srgbClr val="7A828C"/>
              </a:solidFill>
              <a:prstDash val="dash"/>
            </a:ln>
          </c:spPr>
          <c:marker>
            <c:symbol val="circle"/>
            <c:size val="6"/>
            <c:spPr>
              <a:solidFill>
                <a:srgbClr val="7A828C"/>
              </a:solidFill>
              <a:ln>
                <a:solidFill>
                  <a:srgbClr val="FFFFFF"/>
                </a:solidFill>
              </a:ln>
            </c:spPr>
          </c:marker>
          <c:cat>
            <c:strRef>
              <c:f>Sheet1!$A$2:$A$12</c:f>
              <c:strCache>
                <c:ptCount val="11"/>
                <c:pt idx="0">
                  <c:v>2014</c:v>
                </c:pt>
                <c:pt idx="1">
                  <c:v>2015</c:v>
                </c:pt>
                <c:pt idx="2">
                  <c:v>2016</c:v>
                </c:pt>
                <c:pt idx="3">
                  <c:v>2017</c:v>
                </c:pt>
                <c:pt idx="4">
                  <c:v>2018</c:v>
                </c:pt>
                <c:pt idx="5">
                  <c:v>2019</c:v>
                </c:pt>
                <c:pt idx="6">
                  <c:v>2020</c:v>
                </c:pt>
                <c:pt idx="7">
                  <c:v>2021</c:v>
                </c:pt>
                <c:pt idx="8">
                  <c:v>2022</c:v>
                </c:pt>
                <c:pt idx="9">
                  <c:v>2023</c:v>
                </c:pt>
                <c:pt idx="10">
                  <c:v>2024</c:v>
                </c:pt>
              </c:strCache>
            </c:strRef>
          </c:cat>
          <c:val>
            <c:numRef>
              <c:f>Sheet1!$C$2:$C$12</c:f>
              <c:numCache>
                <c:formatCode>General</c:formatCode>
                <c:ptCount val="11"/>
                <c:pt idx="0">
                  <c:v>9.58774</c:v>
                </c:pt>
                <c:pt idx="1">
                  <c:v>9.368482</c:v>
                </c:pt>
                <c:pt idx="2">
                  <c:v>9.01419</c:v>
                </c:pt>
                <c:pt idx="3">
                  <c:v>7.921726</c:v>
                </c:pt>
                <c:pt idx="4">
                  <c:v>8.425262</c:v>
                </c:pt>
                <c:pt idx="5">
                  <c:v>9.080357</c:v>
                </c:pt>
                <c:pt idx="6">
                  <c:v>6.4478095</c:v>
                </c:pt>
                <c:pt idx="7">
                  <c:v>5.314964286</c:v>
                </c:pt>
              </c:numCache>
            </c:numRef>
          </c:val>
          <c:smooth val="0"/>
        </c:ser>
        <c:marker val="1"/>
        <c:smooth val="0"/>
        <c:axId val="2118791784"/>
        <c:axId val="2140495176"/>
      </c:lineChart>
      <c:catAx>
        <c:axId val="2118791784"/>
        <c:scaling>
          <c:orientation val="minMax"/>
        </c:scaling>
        <c:delete val="0"/>
        <c:axPos val="b"/>
        <c:majorTickMark val="out"/>
        <c:minorTickMark val="none"/>
        <c:tickLblPos val="nextTo"/>
        <c:spPr>
          <a:ln>
            <a:solidFill>
              <a:srgbClr val="A0A0A0"/>
            </a:solidFill>
          </a:ln>
        </c:spPr>
        <c:crossAx val="2140495176"/>
        <c:crosses val="autoZero"/>
        <c:auto val="1"/>
        <c:lblAlgn val="ctr"/>
        <c:lblOffset val="100"/>
        <c:noMultiLvlLbl val="0"/>
      </c:catAx>
      <c:valAx>
        <c:axId val="2140495176"/>
        <c:scaling>
          <c:max val="12.0"/>
          <c:min val="0.0"/>
        </c:scaling>
        <c:delete val="0"/>
        <c:axPos val="l"/>
        <c:majorGridlines>
          <c:spPr>
            <a:ln>
              <a:solidFill>
                <a:srgbClr val="EEEEEE"/>
              </a:solidFill>
            </a:ln>
          </c:spPr>
        </c:majorGridlines>
        <c:numFmt formatCode="0" sourceLinked="0"/>
        <c:majorTickMark val="out"/>
        <c:minorTickMark val="none"/>
        <c:tickLblPos val="nextTo"/>
        <c:spPr>
          <a:ln>
            <a:noFill/>
          </a:ln>
        </c:spPr>
        <c:crossAx val="2118791784"/>
        <c:crosses val="autoZero"/>
        <c:majorUnit val="3.0"/>
      </c:valAx>
    </c:plotArea>
    <c:legend>
      <c:legendPos val="t"/>
      <c:layout/>
      <c:overlay val="0"/>
    </c:legend>
    <c:plotVisOnly val="1"/>
    <c:dispBlanksAs val="gap"/>
    <c:showDLblsOverMax val="0"/>
  </c:chart>
  <c:txPr>
    <a:bodyPr/>
    <a:lstStyle/>
    <a:p>
      <a:pPr>
        <a:defRPr sz="1000">
          <a:solidFill>
            <a:srgbClr val="11151A"/>
          </a:solidFill>
          <a:latin typeface="Lato"/>
        </a:defRPr>
      </a:pPr>
      <a:endParaRPr lang="en-US"/>
    </a:p>
  </c:txPr>
  <c:externalData r:id="rId1">
    <c:autoUpdate val="0"/>
  </c:externalData>
</c:chartSpace>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GB"/>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8D47D6B1-D525-4628-ADA5-8E1FE74ADA4C}" type="datetimeFigureOut">
              <a:rPr lang="en-GB" smtClean="0"/>
              <a:t>01/10/2026</a:t>
            </a:fld>
            <a:endParaRPr lang="en-GB"/>
          </a:p>
        </p:txBody>
      </p:sp>
      <p:sp>
        <p:nvSpPr>
          <p:cNvPr id="4" name="Slide Image Placeholder 3"/>
          <p:cNvSpPr>
            <a:spLocks noGrp="1" noRot="1" noChangeAspect="1"/>
          </p:cNvSpPr>
          <p:nvPr>
            <p:ph type="sldImg" idx="2"/>
          </p:nvPr>
        </p:nvSpPr>
        <p:spPr>
          <a:xfrm>
            <a:off x="820738" y="1143000"/>
            <a:ext cx="5216525" cy="3086100"/>
          </a:xfrm>
          <a:prstGeom prst="rect">
            <a:avLst/>
          </a:prstGeom>
          <a:noFill/>
          <a:ln w="12700">
            <a:solidFill>
              <a:prstClr val="black"/>
            </a:solidFill>
          </a:ln>
        </p:spPr>
        <p:txBody>
          <a:bodyPr vert="horz" lIns="91440" tIns="45720" rIns="91440" bIns="45720" rtlCol="0" anchor="ctr"/>
          <a:lstStyle/>
          <a:p>
            <a:endParaRPr lang="en-GB"/>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endParaRPr lang="en-GB"/>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GB"/>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74101EB5-DFDD-47C4-B7E0-8A018260211B}" type="slidenum">
              <a:rPr lang="en-GB" smtClean="0"/>
              <a:t>‹#›</a:t>
            </a:fld>
            <a:endParaRPr lang="en-GB"/>
          </a:p>
        </p:txBody>
      </p:sp>
    </p:spTree>
    <p:extLst>
      <p:ext uri="{BB962C8B-B14F-4D97-AF65-F5344CB8AC3E}">
        <p14:creationId xmlns:p14="http://schemas.microsoft.com/office/powerpoint/2010/main" val="1437944897"/>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99.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Speaker note: Walk through four sections: the project question, the analytical</a:t>
            </a:r>
          </a:p>
          <a:p>
            <a:r>
              <a:t>requirements, the model-build problem and the delivery approach. The purpose is to</a:t>
            </a:r>
          </a:p>
          <a:p>
            <a:r>
              <a:t>connect the analyst's tasks to the decisions the engagement needs to support.</a:t>
            </a:r>
          </a:p>
          <a:p>
            <a:r>
              <a:t>Week 1 analytical pack, 6 October 2026. Existing kickoff cover/closing reused at user request.</a:t>
            </a:r>
          </a:p>
          <a:p>
            <a:r>
              <a:t>SCR delivery order: page 1 of 16. Gap IDs and original evidence references retained in notes.</a:t>
            </a:r>
          </a:p>
          <a:p>
            <a:r>
              <a:t>SCR delivery order: page 1 of 16. Gap IDs and original evidence references retained in notes.</a:t>
            </a:r>
          </a:p>
          <a:p>
            <a:r>
              <a:t>SCR delivery order: page 1 of 16. Gap IDs and original evidence references retained in notes.</a:t>
            </a:r>
          </a:p>
          <a:p>
            <a:r>
              <a:t>SCR delivery order: page 1 of 16. Gap IDs and original evidence references retained in notes.</a:t>
            </a:r>
          </a:p>
          <a:p>
            <a:r>
              <a:t>SCR delivery order: page 1 of 16. Gap IDs and original evidence references retained in notes.</a:t>
            </a:r>
          </a:p>
          <a:p>
            <a:r>
              <a:t>SCR delivery order: page 1 of 16. Gap IDs and original evidence references retained in notes.</a:t>
            </a:r>
          </a:p>
          <a:p>
            <a:r>
              <a:t>SCR delivery order: page 1 of 16. Gap IDs and original evidence references retained in notes.</a:t>
            </a:r>
          </a:p>
          <a:p>
            <a:r>
              <a:t>SCR delivery order: page 1 of 16. Gap IDs and original evidence references retained in notes.</a:t>
            </a:r>
          </a:p>
          <a:p>
            <a:r>
              <a:t>SCR delivery order: page 1 of 16. Gap IDs and original evidence references retained in notes.</a:t>
            </a:r>
          </a:p>
          <a:p>
            <a:r>
              <a:t>SCR delivery order: page 1 of 16. Gap IDs and original evidence references retained in notes.</a:t>
            </a:r>
          </a:p>
          <a:p>
            <a:r>
              <a:t>SCR delivery order: page 1 of 16. Gap IDs and original evidence references retained in notes.</a:t>
            </a:r>
          </a:p>
          <a:p>
            <a:r>
              <a:t>SCR delivery order: page 1 of 16. Gap IDs and original evidence references retained in notes.</a:t>
            </a:r>
          </a:p>
          <a:p>
            <a:r>
              <a:t>6 October SCR editorial pass: presentation copy and map hierarchy only. Source observations, example volumes and model inputs unchanged.</a:t>
            </a:r>
          </a:p>
          <a:p>
            <a:r>
              <a:t>SCR delivery order: page 1 of 16. Gap IDs and original evidence references retained in notes.</a:t>
            </a:r>
          </a:p>
          <a:p>
            <a:r>
              <a:t>6 October SCR editorial pass: presentation copy and map hierarchy only. Source observations, example volumes and model inputs unchanged.</a:t>
            </a:r>
          </a:p>
          <a:p>
            <a:r>
              <a:t>SCR delivery order: page 1 of 16. Gap IDs and original evidence references retained in notes.</a:t>
            </a:r>
          </a:p>
          <a:p>
            <a:r>
              <a:t>6 October SCR editorial pass: presentation copy and map hierarchy only. Source observations, example volumes and model inputs unchanged.</a:t>
            </a:r>
          </a:p>
          <a:p>
            <a:r>
              <a:t>SCR delivery order: page 1 of 16. Gap IDs and original evidence references retained in notes.</a:t>
            </a:r>
          </a:p>
          <a:p>
            <a:r>
              <a:t>6 October SCR editorial pass: presentation copy and map hierarchy only. Source observations, example volumes and model inputs unchanged.</a:t>
            </a:r>
          </a:p>
          <a:p>
            <a:r>
              <a:t>SCR delivery order: page 1 of 16. Gap IDs and original evidence references retained in notes.</a:t>
            </a:r>
          </a:p>
          <a:p>
            <a:r>
              <a:t>6 October SCR editorial pass: presentation copy and map hierarchy only. Source observations, example volumes and model inputs unchanged.</a:t>
            </a:r>
          </a:p>
          <a:p>
            <a:r>
              <a:t>SCR delivery order: page 1 of 16. Gap IDs and original evidence references retained in notes.</a:t>
            </a:r>
          </a:p>
          <a:p>
            <a:r>
              <a:t>6 October SCR editorial pass: presentation copy and map hierarchy only. Source observations, example volumes and model inputs unchanged.</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note: Closing cover photograph: Royal Vopak, Terminal Lesedi. https://www.vopak.com/terminals/vopak-terminal-lesedi</a:t>
            </a:r>
          </a:p>
          <a:p>
            <a:r>
              <a:t>Week 1 analytical pack, 6 October 2026. Existing kickoff cover/closing reused at user request.</a:t>
            </a:r>
          </a:p>
          <a:p>
            <a:r>
              <a:t>SCR delivery order: page 16 of 16. Gap IDs and original evidence references retained in notes.</a:t>
            </a:r>
          </a:p>
          <a:p>
            <a:r>
              <a:t>SCR delivery order: page 16 of 16. Gap IDs and original evidence references retained in notes.</a:t>
            </a:r>
          </a:p>
          <a:p>
            <a:r>
              <a:t>SCR delivery order: page 16 of 16. Gap IDs and original evidence references retained in notes.</a:t>
            </a:r>
          </a:p>
          <a:p>
            <a:r>
              <a:t>SCR delivery order: page 16 of 16. Gap IDs and original evidence references retained in notes.</a:t>
            </a:r>
          </a:p>
          <a:p>
            <a:r>
              <a:t>SCR delivery order: page 16 of 16. Gap IDs and original evidence references retained in notes.</a:t>
            </a:r>
          </a:p>
          <a:p>
            <a:r>
              <a:t>SCR delivery order: page 16 of 16. Gap IDs and original evidence references retained in notes.</a:t>
            </a:r>
          </a:p>
          <a:p>
            <a:r>
              <a:t>SCR delivery order: page 16 of 16. Gap IDs and original evidence references retained in notes.</a:t>
            </a:r>
          </a:p>
          <a:p>
            <a:r>
              <a:t>SCR delivery order: page 16 of 16. Gap IDs and original evidence references retained in notes.</a:t>
            </a:r>
          </a:p>
          <a:p>
            <a:r>
              <a:t>SCR delivery order: page 16 of 16. Gap IDs and original evidence references retained in notes.</a:t>
            </a:r>
          </a:p>
          <a:p>
            <a:r>
              <a:t>SCR delivery order: page 16 of 16. Gap IDs and original evidence references retained in notes.</a:t>
            </a:r>
          </a:p>
          <a:p>
            <a:r>
              <a:t>SCR delivery order: page 16 of 16. Gap IDs and original evidence references retained in notes.</a:t>
            </a:r>
          </a:p>
          <a:p>
            <a:r>
              <a:t>SCR delivery order: page 16 of 16. Gap IDs and original evidence references retained in notes.</a:t>
            </a:r>
          </a:p>
          <a:p>
            <a:r>
              <a:t>6 October SCR editorial pass: presentation copy and map hierarchy only. Source observations, example volumes and model inputs unchanged.</a:t>
            </a:r>
          </a:p>
          <a:p>
            <a:r>
              <a:t>SCR delivery order: page 16 of 16. Gap IDs and original evidence references retained in notes.</a:t>
            </a:r>
          </a:p>
          <a:p>
            <a:r>
              <a:t>6 October SCR editorial pass: presentation copy and map hierarchy only. Source observations, example volumes and model inputs unchanged.</a:t>
            </a:r>
          </a:p>
          <a:p>
            <a:r>
              <a:t>SCR delivery order: page 16 of 16. Gap IDs and original evidence references retained in notes.</a:t>
            </a:r>
          </a:p>
          <a:p>
            <a:r>
              <a:t>6 October SCR editorial pass: presentation copy and map hierarchy only. Source observations, example volumes and model inputs unchanged.</a:t>
            </a:r>
          </a:p>
          <a:p>
            <a:r>
              <a:t>SCR delivery order: page 16 of 16. Gap IDs and original evidence references retained in notes.</a:t>
            </a:r>
          </a:p>
          <a:p>
            <a:r>
              <a:t>6 October SCR editorial pass: presentation copy and map hierarchy only. Source observations, example volumes and model inputs unchanged.</a:t>
            </a:r>
          </a:p>
          <a:p>
            <a:r>
              <a:t>SCR delivery order: page 16 of 16. Gap IDs and original evidence references retained in notes.</a:t>
            </a:r>
          </a:p>
          <a:p>
            <a:r>
              <a:t>6 October SCR editorial pass: presentation copy and map hierarchy only. Source observations, example volumes and model inputs unchanged.</a:t>
            </a:r>
          </a:p>
          <a:p>
            <a:r>
              <a:t>SCR delivery order: page 16 of 16. Gap IDs and original evidence references retained in notes.</a:t>
            </a:r>
          </a:p>
          <a:p>
            <a:r>
              <a:t>6 October SCR editorial pass: presentation copy and map hierarchy only. Source observations, example volumes and model inputs unchanged.</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3.jpeg"/><Relationship Id="rId3" Type="http://schemas.openxmlformats.org/officeDocument/2006/relationships/image" Target="../media/image4.png"/></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5.jpeg"/><Relationship Id="rId3" Type="http://schemas.openxmlformats.org/officeDocument/2006/relationships/image" Target="../media/image4.png"/><Relationship Id="rId4" Type="http://schemas.openxmlformats.org/officeDocument/2006/relationships/image" Target="../media/image6.png"/></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5.jpeg"/><Relationship Id="rId3" Type="http://schemas.openxmlformats.org/officeDocument/2006/relationships/image" Target="../media/image4.png"/><Relationship Id="rId4" Type="http://schemas.openxmlformats.org/officeDocument/2006/relationships/image" Target="../media/image6.png"/></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userDrawn="1">
  <p:cSld name="Title">
    <p:spTree>
      <p:nvGrpSpPr>
        <p:cNvPr id="1" name=""/>
        <p:cNvGrpSpPr/>
        <p:nvPr/>
      </p:nvGrpSpPr>
      <p:grpSpPr>
        <a:xfrm>
          <a:off x="0" y="0"/>
          <a:ext cx="0" cy="0"/>
          <a:chOff x="0" y="0"/>
          <a:chExt cx="0" cy="0"/>
        </a:xfrm>
      </p:grpSpPr>
      <p:sp>
        <p:nvSpPr>
          <p:cNvPr id="3" name="Slide Number Placeholder 2">
            <a:extLst>
              <a:ext uri="{FF2B5EF4-FFF2-40B4-BE49-F238E27FC236}">
                <a16:creationId xmlns:a16="http://schemas.microsoft.com/office/drawing/2014/main" id="{9509FAFE-21DB-4F6B-8EA1-32FA210B705A}"/>
              </a:ext>
            </a:extLst>
          </p:cNvPr>
          <p:cNvSpPr>
            <a:spLocks noGrp="1"/>
          </p:cNvSpPr>
          <p:nvPr>
            <p:ph type="sldNum" sz="quarter" idx="10"/>
          </p:nvPr>
        </p:nvSpPr>
        <p:spPr/>
        <p:txBody>
          <a:bodyPr/>
          <a:lstStyle/>
          <a:p>
            <a:fld id="{5E48029D-87D6-48C3-BA4B-1065A63511DF}" type="slidenum">
              <a:rPr lang="en-GB" smtClean="0">
                <a:solidFill>
                  <a:schemeClr val="tx1"/>
                </a:solidFill>
              </a:rPr>
              <a:pPr/>
              <a:t>‹#›</a:t>
            </a:fld>
            <a:endParaRPr lang="en-GB">
              <a:solidFill>
                <a:schemeClr val="tx1"/>
              </a:solidFill>
            </a:endParaRPr>
          </a:p>
        </p:txBody>
      </p:sp>
      <p:pic>
        <p:nvPicPr>
          <p:cNvPr id="4" name="Picture 3" descr="A picture containing sky, building, outdoor, city&#10;&#10;Description automatically generated">
            <a:extLst>
              <a:ext uri="{FF2B5EF4-FFF2-40B4-BE49-F238E27FC236}">
                <a16:creationId xmlns:a16="http://schemas.microsoft.com/office/drawing/2014/main" id="{AF958CDF-21C2-4696-B1FF-98C6C69234CE}"/>
              </a:ext>
            </a:extLst>
          </p:cNvPr>
          <p:cNvPicPr>
            <a:picLocks noChangeAspect="1"/>
          </p:cNvPicPr>
          <p:nvPr userDrawn="1"/>
        </p:nvPicPr>
        <p:blipFill rotWithShape="1">
          <a:blip r:embed="rId2">
            <a:extLst>
              <a:ext uri="{28A0092B-C50C-407E-A947-70E740481C1C}">
                <a14:useLocalDpi xmlns:a14="http://schemas.microsoft.com/office/drawing/2010/main"/>
              </a:ext>
            </a:extLst>
          </a:blip>
          <a:srcRect/>
          <a:stretch/>
        </p:blipFill>
        <p:spPr>
          <a:xfrm>
            <a:off x="0" y="1"/>
            <a:ext cx="11588750" cy="6858000"/>
          </a:xfrm>
          <a:prstGeom prst="rect">
            <a:avLst/>
          </a:prstGeom>
        </p:spPr>
      </p:pic>
      <p:sp>
        <p:nvSpPr>
          <p:cNvPr id="9" name="Text Placeholder 8">
            <a:extLst>
              <a:ext uri="{FF2B5EF4-FFF2-40B4-BE49-F238E27FC236}">
                <a16:creationId xmlns:a16="http://schemas.microsoft.com/office/drawing/2014/main" id="{F597E07F-A0B2-4C60-A493-63795665B2AC}"/>
              </a:ext>
            </a:extLst>
          </p:cNvPr>
          <p:cNvSpPr>
            <a:spLocks noGrp="1"/>
          </p:cNvSpPr>
          <p:nvPr>
            <p:ph type="body" sz="quarter" idx="11"/>
          </p:nvPr>
        </p:nvSpPr>
        <p:spPr>
          <a:xfrm>
            <a:off x="1" y="5137149"/>
            <a:ext cx="4933950" cy="1571625"/>
          </a:xfrm>
          <a:solidFill>
            <a:schemeClr val="bg1">
              <a:alpha val="50000"/>
            </a:schemeClr>
          </a:solidFill>
        </p:spPr>
        <p:txBody>
          <a:bodyPr anchor="ctr">
            <a:noAutofit/>
          </a:bodyPr>
          <a:lstStyle>
            <a:lvl1pPr marL="0" indent="0">
              <a:buNone/>
              <a:defRPr sz="2400" b="1">
                <a:solidFill>
                  <a:schemeClr val="tx1"/>
                </a:solidFill>
              </a:defRPr>
            </a:lvl1pPr>
            <a:lvl2pPr>
              <a:defRPr sz="2000" b="1">
                <a:solidFill>
                  <a:schemeClr val="tx1"/>
                </a:solidFill>
              </a:defRPr>
            </a:lvl2pPr>
            <a:lvl3pPr>
              <a:defRPr sz="1800" b="1">
                <a:solidFill>
                  <a:schemeClr val="tx1"/>
                </a:solidFill>
              </a:defRPr>
            </a:lvl3pPr>
            <a:lvl4pPr>
              <a:defRPr sz="1600" b="1">
                <a:solidFill>
                  <a:schemeClr val="tx1"/>
                </a:solidFill>
              </a:defRPr>
            </a:lvl4pPr>
            <a:lvl5pPr>
              <a:defRPr sz="1600" b="1">
                <a:solidFill>
                  <a:schemeClr val="tx1"/>
                </a:solidFill>
              </a:defRPr>
            </a:lvl5pPr>
          </a:lstStyle>
          <a:p>
            <a:pPr lvl="0"/>
            <a:r>
              <a:rPr lang="en-US">
                <a:solidFill>
                  <a:schemeClr val="tx1"/>
                </a:solidFill>
              </a:rPr>
              <a:t>Click to edit Master text styles</a:t>
            </a:r>
          </a:p>
        </p:txBody>
      </p:sp>
    </p:spTree>
    <p:extLst>
      <p:ext uri="{BB962C8B-B14F-4D97-AF65-F5344CB8AC3E}">
        <p14:creationId xmlns:p14="http://schemas.microsoft.com/office/powerpoint/2010/main" val="17214373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userDrawn="1">
  <p:cSld name="1_Title">
    <p:spTree>
      <p:nvGrpSpPr>
        <p:cNvPr id="1" name=""/>
        <p:cNvGrpSpPr/>
        <p:nvPr/>
      </p:nvGrpSpPr>
      <p:grpSpPr>
        <a:xfrm>
          <a:off x="0" y="0"/>
          <a:ext cx="0" cy="0"/>
          <a:chOff x="0" y="0"/>
          <a:chExt cx="0" cy="0"/>
        </a:xfrm>
      </p:grpSpPr>
      <p:pic>
        <p:nvPicPr>
          <p:cNvPr id="2" name="Picture 1" descr="Vopak offering simultaneous LNG bunkering service in Rotterdam - Offshore  Energy">
            <a:extLst>
              <a:ext uri="{FF2B5EF4-FFF2-40B4-BE49-F238E27FC236}">
                <a16:creationId xmlns:a16="http://schemas.microsoft.com/office/drawing/2014/main" id="{04892275-F272-DCB3-8D5D-1CEB80A85CC4}"/>
              </a:ext>
            </a:extLst>
          </p:cNvPr>
          <p:cNvPicPr>
            <a:picLocks noChangeAspect="1"/>
          </p:cNvPicPr>
          <p:nvPr userDrawn="1"/>
        </p:nvPicPr>
        <p:blipFill>
          <a:blip r:embed="rId2"/>
          <a:srcRect l="1233" t="15791" r="178" b="318"/>
          <a:stretch>
            <a:fillRect/>
          </a:stretch>
        </p:blipFill>
        <p:spPr>
          <a:xfrm>
            <a:off x="1" y="-12700"/>
            <a:ext cx="11588749" cy="5753329"/>
          </a:xfrm>
          <a:prstGeom prst="rect">
            <a:avLst/>
          </a:prstGeom>
        </p:spPr>
      </p:pic>
      <p:sp>
        <p:nvSpPr>
          <p:cNvPr id="3" name="Slide Number Placeholder 2">
            <a:extLst>
              <a:ext uri="{FF2B5EF4-FFF2-40B4-BE49-F238E27FC236}">
                <a16:creationId xmlns:a16="http://schemas.microsoft.com/office/drawing/2014/main" id="{9509FAFE-21DB-4F6B-8EA1-32FA210B705A}"/>
              </a:ext>
            </a:extLst>
          </p:cNvPr>
          <p:cNvSpPr>
            <a:spLocks noGrp="1"/>
          </p:cNvSpPr>
          <p:nvPr>
            <p:ph type="sldNum" sz="quarter" idx="10"/>
          </p:nvPr>
        </p:nvSpPr>
        <p:spPr/>
        <p:txBody>
          <a:bodyPr/>
          <a:lstStyle/>
          <a:p>
            <a:fld id="{5E48029D-87D6-48C3-BA4B-1065A63511DF}" type="slidenum">
              <a:rPr lang="en-GB" smtClean="0">
                <a:solidFill>
                  <a:schemeClr val="tx1"/>
                </a:solidFill>
              </a:rPr>
              <a:pPr/>
              <a:t>‹#›</a:t>
            </a:fld>
            <a:endParaRPr lang="en-GB">
              <a:solidFill>
                <a:schemeClr val="tx1"/>
              </a:solidFill>
            </a:endParaRPr>
          </a:p>
        </p:txBody>
      </p:sp>
      <p:sp>
        <p:nvSpPr>
          <p:cNvPr id="4" name="Rectangle 3">
            <a:extLst>
              <a:ext uri="{FF2B5EF4-FFF2-40B4-BE49-F238E27FC236}">
                <a16:creationId xmlns:a16="http://schemas.microsoft.com/office/drawing/2014/main" id="{FC81615D-618B-242E-BA84-0838689DFC39}"/>
              </a:ext>
            </a:extLst>
          </p:cNvPr>
          <p:cNvSpPr/>
          <p:nvPr userDrawn="1"/>
        </p:nvSpPr>
        <p:spPr>
          <a:xfrm>
            <a:off x="1" y="5661025"/>
            <a:ext cx="11588749" cy="1200604"/>
          </a:xfrm>
          <a:prstGeom prst="rect">
            <a:avLst/>
          </a:prstGeom>
          <a:solidFill>
            <a:srgbClr val="326757"/>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solidFill>
                <a:schemeClr val="tx1"/>
              </a:solidFill>
            </a:endParaRPr>
          </a:p>
        </p:txBody>
      </p:sp>
      <p:sp>
        <p:nvSpPr>
          <p:cNvPr id="9" name="Text Placeholder 8">
            <a:extLst>
              <a:ext uri="{FF2B5EF4-FFF2-40B4-BE49-F238E27FC236}">
                <a16:creationId xmlns:a16="http://schemas.microsoft.com/office/drawing/2014/main" id="{F597E07F-A0B2-4C60-A493-63795665B2AC}"/>
              </a:ext>
            </a:extLst>
          </p:cNvPr>
          <p:cNvSpPr>
            <a:spLocks noGrp="1"/>
          </p:cNvSpPr>
          <p:nvPr>
            <p:ph type="body" sz="quarter" idx="11"/>
          </p:nvPr>
        </p:nvSpPr>
        <p:spPr>
          <a:xfrm>
            <a:off x="177800" y="5205413"/>
            <a:ext cx="4933950" cy="1652587"/>
          </a:xfrm>
          <a:solidFill>
            <a:schemeClr val="bg1">
              <a:alpha val="50000"/>
            </a:schemeClr>
          </a:solidFill>
        </p:spPr>
        <p:txBody>
          <a:bodyPr anchor="ctr">
            <a:noAutofit/>
          </a:bodyPr>
          <a:lstStyle>
            <a:lvl1pPr marL="0" indent="0">
              <a:buNone/>
              <a:defRPr sz="2400" b="1">
                <a:solidFill>
                  <a:schemeClr val="tx1"/>
                </a:solidFill>
              </a:defRPr>
            </a:lvl1pPr>
            <a:lvl2pPr>
              <a:defRPr sz="2000" b="1">
                <a:solidFill>
                  <a:schemeClr val="tx1"/>
                </a:solidFill>
              </a:defRPr>
            </a:lvl2pPr>
            <a:lvl3pPr>
              <a:defRPr sz="1800" b="1">
                <a:solidFill>
                  <a:schemeClr val="tx1"/>
                </a:solidFill>
              </a:defRPr>
            </a:lvl3pPr>
            <a:lvl4pPr>
              <a:defRPr sz="1600" b="1">
                <a:solidFill>
                  <a:schemeClr val="tx1"/>
                </a:solidFill>
              </a:defRPr>
            </a:lvl4pPr>
            <a:lvl5pPr>
              <a:defRPr sz="1600" b="1">
                <a:solidFill>
                  <a:schemeClr val="tx1"/>
                </a:solidFill>
              </a:defRPr>
            </a:lvl5pPr>
          </a:lstStyle>
          <a:p>
            <a:pPr lvl="0"/>
            <a:r>
              <a:rPr lang="en-US">
                <a:solidFill>
                  <a:schemeClr val="tx1"/>
                </a:solidFill>
              </a:rPr>
              <a:t>Click to edit Master text styles</a:t>
            </a:r>
          </a:p>
        </p:txBody>
      </p:sp>
      <p:sp>
        <p:nvSpPr>
          <p:cNvPr id="7" name="Rectangle 6">
            <a:extLst>
              <a:ext uri="{FF2B5EF4-FFF2-40B4-BE49-F238E27FC236}">
                <a16:creationId xmlns:a16="http://schemas.microsoft.com/office/drawing/2014/main" id="{3E92D3BD-B933-88AB-9C21-59605B00713D}"/>
              </a:ext>
            </a:extLst>
          </p:cNvPr>
          <p:cNvSpPr/>
          <p:nvPr userDrawn="1"/>
        </p:nvSpPr>
        <p:spPr>
          <a:xfrm>
            <a:off x="5111750" y="5727050"/>
            <a:ext cx="6477000" cy="45719"/>
          </a:xfrm>
          <a:prstGeom prst="rect">
            <a:avLst/>
          </a:prstGeom>
          <a:solidFill>
            <a:schemeClr val="bg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solidFill>
                <a:schemeClr val="tx1"/>
              </a:solidFill>
            </a:endParaRPr>
          </a:p>
        </p:txBody>
      </p:sp>
      <p:sp>
        <p:nvSpPr>
          <p:cNvPr id="10" name="Cover title panel"/>
          <p:cNvSpPr/>
          <p:nvPr/>
        </p:nvSpPr>
        <p:spPr>
          <a:xfrm>
            <a:off x="118872" y="4690872"/>
            <a:ext cx="4992624" cy="1993392"/>
          </a:xfrm>
          <a:prstGeom prst="rect">
            <a:avLst/>
          </a:prstGeom>
          <a:solidFill>
            <a:srgbClr val="E7E6E6">
              <a:alpha val="60000"/>
            </a:srgbClr>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1" name="Vopak cover logo" descr="A blue letter on a black background&#10;&#10;Description automatically generated">
            <a:extLst>
              <a:ext uri="{FF2B5EF4-FFF2-40B4-BE49-F238E27FC236}">
                <a16:creationId xmlns:a16="http://schemas.microsoft.com/office/drawing/2014/main" id="{F643500E-BA42-ED40-0D0F-F69255A71C89}"/>
              </a:ext>
            </a:extLst>
          </p:cNvPr>
          <p:cNvPicPr>
            <a:picLocks noChangeAspect="1"/>
          </p:cNvPicPr>
          <p:nvPr/>
        </p:nvPicPr>
        <p:blipFill>
          <a:blip r:embed="rId4">
            <a:extLst>
              <a:ext uri="{28A0092B-C50C-407E-A947-70E740481C1C}">
                <a14:useLocalDpi xmlns:a14="http://schemas.microsoft.com/office/drawing/2010/main" val="0"/>
              </a:ext>
            </a:extLst>
          </a:blip>
          <a:stretch>
            <a:fillRect/>
          </a:stretch>
        </p:blipFill>
        <p:spPr>
          <a:xfrm>
            <a:off x="2229814" y="5675739"/>
            <a:ext cx="2518046" cy="564539"/>
          </a:xfrm>
          <a:prstGeom prst="rect">
            <a:avLst/>
          </a:prstGeom>
        </p:spPr>
      </p:pic>
    </p:spTree>
    <p:extLst>
      <p:ext uri="{BB962C8B-B14F-4D97-AF65-F5344CB8AC3E}">
        <p14:creationId xmlns:p14="http://schemas.microsoft.com/office/powerpoint/2010/main" val="2671436813"/>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userDrawn="1">
  <p:cSld name="2_Title">
    <p:spTree>
      <p:nvGrpSpPr>
        <p:cNvPr id="1" name=""/>
        <p:cNvGrpSpPr/>
        <p:nvPr/>
      </p:nvGrpSpPr>
      <p:grpSpPr>
        <a:xfrm>
          <a:off x="0" y="0"/>
          <a:ext cx="0" cy="0"/>
          <a:chOff x="0" y="0"/>
          <a:chExt cx="0" cy="0"/>
        </a:xfrm>
      </p:grpSpPr>
      <p:pic>
        <p:nvPicPr>
          <p:cNvPr id="2" name="Picture 1" descr="Vopak offering simultaneous LNG bunkering service in Rotterdam - Offshore  Energy">
            <a:extLst>
              <a:ext uri="{FF2B5EF4-FFF2-40B4-BE49-F238E27FC236}">
                <a16:creationId xmlns:a16="http://schemas.microsoft.com/office/drawing/2014/main" id="{04892275-F272-DCB3-8D5D-1CEB80A85CC4}"/>
              </a:ext>
            </a:extLst>
          </p:cNvPr>
          <p:cNvPicPr>
            <a:picLocks noChangeAspect="1"/>
          </p:cNvPicPr>
          <p:nvPr userDrawn="1"/>
        </p:nvPicPr>
        <p:blipFill>
          <a:blip r:embed="rId2"/>
          <a:srcRect l="1233" t="15791" r="178" b="318"/>
          <a:stretch>
            <a:fillRect/>
          </a:stretch>
        </p:blipFill>
        <p:spPr>
          <a:xfrm>
            <a:off x="1" y="-12700"/>
            <a:ext cx="11588749" cy="5753329"/>
          </a:xfrm>
          <a:prstGeom prst="rect">
            <a:avLst/>
          </a:prstGeom>
        </p:spPr>
      </p:pic>
      <p:sp>
        <p:nvSpPr>
          <p:cNvPr id="3" name="Slide Number Placeholder 2">
            <a:extLst>
              <a:ext uri="{FF2B5EF4-FFF2-40B4-BE49-F238E27FC236}">
                <a16:creationId xmlns:a16="http://schemas.microsoft.com/office/drawing/2014/main" id="{9509FAFE-21DB-4F6B-8EA1-32FA210B705A}"/>
              </a:ext>
            </a:extLst>
          </p:cNvPr>
          <p:cNvSpPr>
            <a:spLocks noGrp="1"/>
          </p:cNvSpPr>
          <p:nvPr>
            <p:ph type="sldNum" sz="quarter" idx="10"/>
          </p:nvPr>
        </p:nvSpPr>
        <p:spPr/>
        <p:txBody>
          <a:bodyPr/>
          <a:lstStyle/>
          <a:p>
            <a:fld id="{5E48029D-87D6-48C3-BA4B-1065A63511DF}" type="slidenum">
              <a:rPr lang="en-GB" smtClean="0">
                <a:solidFill>
                  <a:schemeClr val="tx1"/>
                </a:solidFill>
              </a:rPr>
              <a:pPr/>
              <a:t>‹#›</a:t>
            </a:fld>
            <a:endParaRPr lang="en-GB">
              <a:solidFill>
                <a:schemeClr val="tx1"/>
              </a:solidFill>
            </a:endParaRPr>
          </a:p>
        </p:txBody>
      </p:sp>
      <p:sp>
        <p:nvSpPr>
          <p:cNvPr id="4" name="Rectangle 3">
            <a:extLst>
              <a:ext uri="{FF2B5EF4-FFF2-40B4-BE49-F238E27FC236}">
                <a16:creationId xmlns:a16="http://schemas.microsoft.com/office/drawing/2014/main" id="{FC81615D-618B-242E-BA84-0838689DFC39}"/>
              </a:ext>
            </a:extLst>
          </p:cNvPr>
          <p:cNvSpPr/>
          <p:nvPr userDrawn="1"/>
        </p:nvSpPr>
        <p:spPr>
          <a:xfrm>
            <a:off x="1" y="5661025"/>
            <a:ext cx="11588749" cy="1200604"/>
          </a:xfrm>
          <a:prstGeom prst="rect">
            <a:avLst/>
          </a:prstGeom>
          <a:solidFill>
            <a:srgbClr val="326757"/>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solidFill>
                <a:schemeClr val="tx1"/>
              </a:solidFill>
            </a:endParaRPr>
          </a:p>
        </p:txBody>
      </p:sp>
      <p:sp>
        <p:nvSpPr>
          <p:cNvPr id="9" name="Text Placeholder 8">
            <a:extLst>
              <a:ext uri="{FF2B5EF4-FFF2-40B4-BE49-F238E27FC236}">
                <a16:creationId xmlns:a16="http://schemas.microsoft.com/office/drawing/2014/main" id="{F597E07F-A0B2-4C60-A493-63795665B2AC}"/>
              </a:ext>
            </a:extLst>
          </p:cNvPr>
          <p:cNvSpPr>
            <a:spLocks noGrp="1"/>
          </p:cNvSpPr>
          <p:nvPr>
            <p:ph type="body" sz="quarter" idx="11"/>
          </p:nvPr>
        </p:nvSpPr>
        <p:spPr>
          <a:xfrm>
            <a:off x="177800" y="5205413"/>
            <a:ext cx="4933950" cy="1652587"/>
          </a:xfrm>
          <a:solidFill>
            <a:schemeClr val="bg1">
              <a:alpha val="50000"/>
            </a:schemeClr>
          </a:solidFill>
        </p:spPr>
        <p:txBody>
          <a:bodyPr anchor="ctr">
            <a:noAutofit/>
          </a:bodyPr>
          <a:lstStyle>
            <a:lvl1pPr marL="0" indent="0">
              <a:buNone/>
              <a:defRPr sz="2400" b="1">
                <a:solidFill>
                  <a:schemeClr val="tx1"/>
                </a:solidFill>
              </a:defRPr>
            </a:lvl1pPr>
            <a:lvl2pPr>
              <a:defRPr sz="2000" b="1">
                <a:solidFill>
                  <a:schemeClr val="tx1"/>
                </a:solidFill>
              </a:defRPr>
            </a:lvl2pPr>
            <a:lvl3pPr>
              <a:defRPr sz="1800" b="1">
                <a:solidFill>
                  <a:schemeClr val="tx1"/>
                </a:solidFill>
              </a:defRPr>
            </a:lvl3pPr>
            <a:lvl4pPr>
              <a:defRPr sz="1600" b="1">
                <a:solidFill>
                  <a:schemeClr val="tx1"/>
                </a:solidFill>
              </a:defRPr>
            </a:lvl4pPr>
            <a:lvl5pPr>
              <a:defRPr sz="1600" b="1">
                <a:solidFill>
                  <a:schemeClr val="tx1"/>
                </a:solidFill>
              </a:defRPr>
            </a:lvl5pPr>
          </a:lstStyle>
          <a:p>
            <a:pPr lvl="0"/>
            <a:r>
              <a:rPr lang="en-US">
                <a:solidFill>
                  <a:schemeClr val="tx1"/>
                </a:solidFill>
              </a:rPr>
              <a:t>Click to edit Master text styles</a:t>
            </a:r>
          </a:p>
        </p:txBody>
      </p:sp>
      <p:sp>
        <p:nvSpPr>
          <p:cNvPr id="10" name="Cover title panel"/>
          <p:cNvSpPr/>
          <p:nvPr/>
        </p:nvSpPr>
        <p:spPr>
          <a:xfrm>
            <a:off x="118872" y="4690872"/>
            <a:ext cx="4992624" cy="1993392"/>
          </a:xfrm>
          <a:prstGeom prst="rect">
            <a:avLst/>
          </a:prstGeom>
          <a:solidFill>
            <a:srgbClr val="E7E6E6">
              <a:alpha val="60000"/>
            </a:srgbClr>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1" name="Vopak cover logo" descr="A blue letter on a black background&#10;&#10;Description automatically generated">
            <a:extLst>
              <a:ext uri="{FF2B5EF4-FFF2-40B4-BE49-F238E27FC236}">
                <a16:creationId xmlns:a16="http://schemas.microsoft.com/office/drawing/2014/main" id="{F643500E-BA42-ED40-0D0F-F69255A71C89}"/>
              </a:ext>
            </a:extLst>
          </p:cNvPr>
          <p:cNvPicPr>
            <a:picLocks noChangeAspect="1"/>
          </p:cNvPicPr>
          <p:nvPr/>
        </p:nvPicPr>
        <p:blipFill>
          <a:blip r:embed="rId4">
            <a:extLst>
              <a:ext uri="{28A0092B-C50C-407E-A947-70E740481C1C}">
                <a14:useLocalDpi xmlns:a14="http://schemas.microsoft.com/office/drawing/2010/main" val="0"/>
              </a:ext>
            </a:extLst>
          </a:blip>
          <a:stretch>
            <a:fillRect/>
          </a:stretch>
        </p:blipFill>
        <p:spPr>
          <a:xfrm>
            <a:off x="2229814" y="5675739"/>
            <a:ext cx="2518046" cy="564539"/>
          </a:xfrm>
          <a:prstGeom prst="rect">
            <a:avLst/>
          </a:prstGeom>
        </p:spPr>
      </p:pic>
    </p:spTree>
    <p:extLst>
      <p:ext uri="{BB962C8B-B14F-4D97-AF65-F5344CB8AC3E}">
        <p14:creationId xmlns:p14="http://schemas.microsoft.com/office/powerpoint/2010/main" val="2175106234"/>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preserve="1" userDrawn="1">
  <p:cSld name="1_Agenda">
    <p:spTree>
      <p:nvGrpSpPr>
        <p:cNvPr id="1" name=""/>
        <p:cNvGrpSpPr/>
        <p:nvPr/>
      </p:nvGrpSpPr>
      <p:grpSpPr>
        <a:xfrm>
          <a:off x="0" y="0"/>
          <a:ext cx="0" cy="0"/>
          <a:chOff x="0" y="0"/>
          <a:chExt cx="0" cy="0"/>
        </a:xfrm>
      </p:grpSpPr>
      <p:sp>
        <p:nvSpPr>
          <p:cNvPr id="3" name="Slide Number Placeholder 2">
            <a:extLst>
              <a:ext uri="{FF2B5EF4-FFF2-40B4-BE49-F238E27FC236}">
                <a16:creationId xmlns:a16="http://schemas.microsoft.com/office/drawing/2014/main" id="{01460789-817F-4161-99E1-BBB95ED4BDDD}"/>
              </a:ext>
            </a:extLst>
          </p:cNvPr>
          <p:cNvSpPr>
            <a:spLocks noGrp="1"/>
          </p:cNvSpPr>
          <p:nvPr>
            <p:ph type="sldNum" sz="quarter" idx="10"/>
          </p:nvPr>
        </p:nvSpPr>
        <p:spPr/>
        <p:txBody>
          <a:bodyPr/>
          <a:lstStyle>
            <a:lvl1pPr>
              <a:defRPr sz="1000">
                <a:solidFill>
                  <a:schemeClr val="tx1"/>
                </a:solidFill>
              </a:defRPr>
            </a:lvl1pPr>
          </a:lstStyle>
          <a:p>
            <a:fld id="{5E48029D-87D6-48C3-BA4B-1065A63511DF}" type="slidenum">
              <a:rPr lang="en-GB" smtClean="0">
                <a:solidFill>
                  <a:schemeClr val="tx1"/>
                </a:solidFill>
              </a:rPr>
              <a:pPr/>
              <a:t>‹#›</a:t>
            </a:fld>
            <a:endParaRPr lang="en-GB">
              <a:solidFill>
                <a:schemeClr val="tx1"/>
              </a:solidFill>
            </a:endParaRPr>
          </a:p>
        </p:txBody>
      </p:sp>
      <p:sp>
        <p:nvSpPr>
          <p:cNvPr id="8" name="Rectangle 7">
            <a:extLst>
              <a:ext uri="{FF2B5EF4-FFF2-40B4-BE49-F238E27FC236}">
                <a16:creationId xmlns:a16="http://schemas.microsoft.com/office/drawing/2014/main" id="{EB4FC8D6-72B7-40D6-89CC-331B0BF40A6F}"/>
              </a:ext>
            </a:extLst>
          </p:cNvPr>
          <p:cNvSpPr/>
          <p:nvPr userDrawn="1"/>
        </p:nvSpPr>
        <p:spPr>
          <a:xfrm>
            <a:off x="9079200" y="0"/>
            <a:ext cx="2509074" cy="1035049"/>
          </a:xfrm>
          <a:prstGeom prst="rect">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solidFill>
                <a:schemeClr val="tx1"/>
              </a:solidFill>
            </a:endParaRPr>
          </a:p>
        </p:txBody>
      </p:sp>
      <p:sp>
        <p:nvSpPr>
          <p:cNvPr id="9" name="Rectangle 8">
            <a:extLst>
              <a:ext uri="{FF2B5EF4-FFF2-40B4-BE49-F238E27FC236}">
                <a16:creationId xmlns:a16="http://schemas.microsoft.com/office/drawing/2014/main" id="{41EDA466-D75C-48F1-9F3F-47B154E770B8}"/>
              </a:ext>
            </a:extLst>
          </p:cNvPr>
          <p:cNvSpPr/>
          <p:nvPr userDrawn="1"/>
        </p:nvSpPr>
        <p:spPr>
          <a:xfrm>
            <a:off x="-29153" y="0"/>
            <a:ext cx="4299527" cy="6858000"/>
          </a:xfrm>
          <a:prstGeom prst="rect">
            <a:avLst/>
          </a:prstGeom>
          <a:solidFill>
            <a:schemeClr val="bg2"/>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t"/>
          <a:lstStyle/>
          <a:p>
            <a:pPr algn="ctr"/>
            <a:endParaRPr lang="en-GB" sz="2800" b="1">
              <a:solidFill>
                <a:schemeClr val="tx1"/>
              </a:solidFill>
            </a:endParaRPr>
          </a:p>
          <a:p>
            <a:pPr algn="ctr"/>
            <a:endParaRPr lang="en-GB" sz="2800" b="1">
              <a:solidFill>
                <a:schemeClr val="tx1"/>
              </a:solidFill>
            </a:endParaRPr>
          </a:p>
        </p:txBody>
      </p:sp>
    </p:spTree>
    <p:extLst>
      <p:ext uri="{BB962C8B-B14F-4D97-AF65-F5344CB8AC3E}">
        <p14:creationId xmlns:p14="http://schemas.microsoft.com/office/powerpoint/2010/main" val="29172515"/>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preserve="1" userDrawn="1">
  <p:cSld name="2_Agenda">
    <p:spTree>
      <p:nvGrpSpPr>
        <p:cNvPr id="1" name=""/>
        <p:cNvGrpSpPr/>
        <p:nvPr/>
      </p:nvGrpSpPr>
      <p:grpSpPr>
        <a:xfrm>
          <a:off x="0" y="0"/>
          <a:ext cx="0" cy="0"/>
          <a:chOff x="0" y="0"/>
          <a:chExt cx="0" cy="0"/>
        </a:xfrm>
      </p:grpSpPr>
      <p:sp>
        <p:nvSpPr>
          <p:cNvPr id="3" name="Slide Number Placeholder 2">
            <a:extLst>
              <a:ext uri="{FF2B5EF4-FFF2-40B4-BE49-F238E27FC236}">
                <a16:creationId xmlns:a16="http://schemas.microsoft.com/office/drawing/2014/main" id="{01460789-817F-4161-99E1-BBB95ED4BDDD}"/>
              </a:ext>
            </a:extLst>
          </p:cNvPr>
          <p:cNvSpPr>
            <a:spLocks noGrp="1"/>
          </p:cNvSpPr>
          <p:nvPr>
            <p:ph type="sldNum" sz="quarter" idx="10"/>
          </p:nvPr>
        </p:nvSpPr>
        <p:spPr/>
        <p:txBody>
          <a:bodyPr/>
          <a:lstStyle>
            <a:lvl1pPr>
              <a:defRPr sz="1000">
                <a:solidFill>
                  <a:schemeClr val="tx1"/>
                </a:solidFill>
              </a:defRPr>
            </a:lvl1pPr>
          </a:lstStyle>
          <a:p>
            <a:fld id="{5E48029D-87D6-48C3-BA4B-1065A63511DF}" type="slidenum">
              <a:rPr lang="en-GB" smtClean="0">
                <a:solidFill>
                  <a:schemeClr val="tx1"/>
                </a:solidFill>
              </a:rPr>
              <a:pPr/>
              <a:t>‹#›</a:t>
            </a:fld>
            <a:endParaRPr lang="en-GB">
              <a:solidFill>
                <a:schemeClr val="tx1"/>
              </a:solidFill>
            </a:endParaRPr>
          </a:p>
        </p:txBody>
      </p:sp>
      <p:sp>
        <p:nvSpPr>
          <p:cNvPr id="8" name="Rectangle 7">
            <a:extLst>
              <a:ext uri="{FF2B5EF4-FFF2-40B4-BE49-F238E27FC236}">
                <a16:creationId xmlns:a16="http://schemas.microsoft.com/office/drawing/2014/main" id="{EB4FC8D6-72B7-40D6-89CC-331B0BF40A6F}"/>
              </a:ext>
            </a:extLst>
          </p:cNvPr>
          <p:cNvSpPr/>
          <p:nvPr userDrawn="1"/>
        </p:nvSpPr>
        <p:spPr>
          <a:xfrm>
            <a:off x="9079200" y="0"/>
            <a:ext cx="2509074" cy="1035049"/>
          </a:xfrm>
          <a:prstGeom prst="rect">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solidFill>
                <a:schemeClr val="tx1"/>
              </a:solidFill>
            </a:endParaRPr>
          </a:p>
        </p:txBody>
      </p:sp>
      <p:sp>
        <p:nvSpPr>
          <p:cNvPr id="9" name="Rectangle 8">
            <a:extLst>
              <a:ext uri="{FF2B5EF4-FFF2-40B4-BE49-F238E27FC236}">
                <a16:creationId xmlns:a16="http://schemas.microsoft.com/office/drawing/2014/main" id="{41EDA466-D75C-48F1-9F3F-47B154E770B8}"/>
              </a:ext>
            </a:extLst>
          </p:cNvPr>
          <p:cNvSpPr/>
          <p:nvPr userDrawn="1"/>
        </p:nvSpPr>
        <p:spPr>
          <a:xfrm>
            <a:off x="-29153" y="0"/>
            <a:ext cx="5823528" cy="6858000"/>
          </a:xfrm>
          <a:prstGeom prst="rect">
            <a:avLst/>
          </a:prstGeom>
          <a:solidFill>
            <a:schemeClr val="bg2"/>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t"/>
          <a:lstStyle/>
          <a:p>
            <a:pPr algn="ctr"/>
            <a:endParaRPr lang="en-GB" sz="2800" b="1">
              <a:solidFill>
                <a:schemeClr val="tx1"/>
              </a:solidFill>
            </a:endParaRPr>
          </a:p>
          <a:p>
            <a:pPr algn="ctr"/>
            <a:endParaRPr lang="en-GB" sz="2800" b="1">
              <a:solidFill>
                <a:schemeClr val="tx1"/>
              </a:solidFill>
            </a:endParaRPr>
          </a:p>
        </p:txBody>
      </p:sp>
    </p:spTree>
    <p:extLst>
      <p:ext uri="{BB962C8B-B14F-4D97-AF65-F5344CB8AC3E}">
        <p14:creationId xmlns:p14="http://schemas.microsoft.com/office/powerpoint/2010/main" val="642766024"/>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preserve="1" userDrawn="1">
  <p:cSld name="Header only">
    <p:spTree>
      <p:nvGrpSpPr>
        <p:cNvPr id="1" name=""/>
        <p:cNvGrpSpPr/>
        <p:nvPr/>
      </p:nvGrpSpPr>
      <p:grpSpPr>
        <a:xfrm>
          <a:off x="0" y="0"/>
          <a:ext cx="0" cy="0"/>
          <a:chOff x="0" y="0"/>
          <a:chExt cx="0" cy="0"/>
        </a:xfrm>
      </p:grpSpPr>
      <p:sp>
        <p:nvSpPr>
          <p:cNvPr id="6" name="Slide Number Placeholder 5"/>
          <p:cNvSpPr>
            <a:spLocks noGrp="1"/>
          </p:cNvSpPr>
          <p:nvPr>
            <p:ph type="sldNum" sz="quarter" idx="12"/>
          </p:nvPr>
        </p:nvSpPr>
        <p:spPr>
          <a:xfrm>
            <a:off x="10605599" y="6489700"/>
            <a:ext cx="805350" cy="287338"/>
          </a:xfrm>
        </p:spPr>
        <p:txBody>
          <a:bodyPr/>
          <a:lstStyle>
            <a:lvl1pPr>
              <a:defRPr sz="1000">
                <a:solidFill>
                  <a:schemeClr val="tx1"/>
                </a:solidFill>
              </a:defRPr>
            </a:lvl1pPr>
          </a:lstStyle>
          <a:p>
            <a:fld id="{A65E4EDC-57F8-4D5C-B13E-A981C5F2F71A}" type="slidenum">
              <a:rPr lang="en-GB" smtClean="0">
                <a:solidFill>
                  <a:schemeClr val="tx1"/>
                </a:solidFill>
              </a:rPr>
              <a:pPr/>
              <a:t>‹#›</a:t>
            </a:fld>
            <a:endParaRPr lang="en-GB">
              <a:solidFill>
                <a:schemeClr val="tx1"/>
              </a:solidFill>
            </a:endParaRPr>
          </a:p>
        </p:txBody>
      </p:sp>
      <p:sp>
        <p:nvSpPr>
          <p:cNvPr id="3" name="Title Placeholder 1">
            <a:extLst>
              <a:ext uri="{FF2B5EF4-FFF2-40B4-BE49-F238E27FC236}">
                <a16:creationId xmlns:a16="http://schemas.microsoft.com/office/drawing/2014/main" id="{8395ED8E-92E9-32C5-9BE4-BAF8026DD357}"/>
              </a:ext>
            </a:extLst>
          </p:cNvPr>
          <p:cNvSpPr>
            <a:spLocks noGrp="1"/>
          </p:cNvSpPr>
          <p:nvPr>
            <p:ph type="title"/>
          </p:nvPr>
        </p:nvSpPr>
        <p:spPr>
          <a:xfrm>
            <a:off x="457200" y="585216"/>
            <a:ext cx="10561320" cy="822960"/>
          </a:xfrm>
          <a:prstGeom prst="rect">
            <a:avLst/>
          </a:prstGeom>
        </p:spPr>
        <p:txBody>
          <a:bodyPr vert="horz" lIns="91440" tIns="45720" rIns="91440" bIns="45720" rtlCol="0" anchor="ctr">
            <a:normAutofit/>
          </a:bodyPr>
          <a:lstStyle/>
          <a:p>
            <a:r>
              <a:rPr lang="en-US">
                <a:solidFill>
                  <a:schemeClr val="tx1"/>
                </a:solidFill>
              </a:rPr>
              <a:t>Click to edit Master title style</a:t>
            </a:r>
          </a:p>
        </p:txBody>
      </p:sp>
      <p:cxnSp>
        <p:nvCxnSpPr>
          <p:cNvPr id="7" name="Title and body separator"/>
          <p:cNvCxnSpPr/>
          <p:nvPr/>
        </p:nvCxnSpPr>
        <p:spPr>
          <a:xfrm>
            <a:off x="457200" y="1444752"/>
            <a:ext cx="10652760" cy="0"/>
          </a:xfrm>
          <a:prstGeom prst="line">
            <a:avLst/>
          </a:prstGeom>
          <a:ln w="3175">
            <a:solidFill>
              <a:srgbClr val="B0B0B0"/>
            </a:solidFill>
          </a:ln>
        </p:spPr>
        <p:style>
          <a:lnRef idx="2">
            <a:schemeClr val="accent1"/>
          </a:lnRef>
          <a:fillRef idx="0">
            <a:schemeClr val="accent1"/>
          </a:fillRef>
          <a:effectRef idx="1">
            <a:schemeClr val="accent1"/>
          </a:effectRef>
          <a:fontRef idx="minor">
            <a:schemeClr val="tx1"/>
          </a:fontRef>
        </p:style>
      </p:cxnSp>
    </p:spTree>
    <p:extLst>
      <p:ext uri="{BB962C8B-B14F-4D97-AF65-F5344CB8AC3E}">
        <p14:creationId xmlns:p14="http://schemas.microsoft.com/office/powerpoint/2010/main" val="1038964405"/>
      </p:ext>
    </p:extLst>
  </p:cSld>
  <p:clrMapOvr>
    <a:masterClrMapping/>
  </p:clrMapOvr>
  <p:extLst>
    <p:ext uri="{DCECCB84-F9BA-43D5-87BE-67443E8EF086}">
      <p15:sldGuideLst xmlns:p15="http://schemas.microsoft.com/office/powerpoint/2012/main">
        <p15:guide id="3" orient="horz" pos="2160" userDrawn="1">
          <p15:clr>
            <a:srgbClr val="FBAE40"/>
          </p15:clr>
        </p15:guide>
        <p15:guide id="4" pos="3650" userDrawn="1">
          <p15:clr>
            <a:srgbClr val="FBAE40"/>
          </p15:clr>
        </p15:guide>
      </p15:sldGuideLst>
    </p:ext>
  </p:extLst>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theme" Target="../theme/theme1.xml"/><Relationship Id="rId8" Type="http://schemas.openxmlformats.org/officeDocument/2006/relationships/image" Target="../media/image1.png"/><Relationship Id="rId9" Type="http://schemas.openxmlformats.org/officeDocument/2006/relationships/image" Target="../media/image2.png"/></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177801" y="368299"/>
            <a:ext cx="11233148" cy="690101"/>
          </a:xfrm>
          <a:prstGeom prst="rect">
            <a:avLst/>
          </a:prstGeom>
        </p:spPr>
        <p:txBody>
          <a:bodyPr vert="horz" lIns="91440" tIns="45720" rIns="91440" bIns="45720" rtlCol="0" anchor="ctr">
            <a:normAutofit/>
          </a:bodyPr>
          <a:lstStyle/>
          <a:p/>
        </p:txBody>
      </p:sp>
      <p:sp>
        <p:nvSpPr>
          <p:cNvPr id="3" name="Text Placeholder 2"/>
          <p:cNvSpPr>
            <a:spLocks noGrp="1"/>
          </p:cNvSpPr>
          <p:nvPr>
            <p:ph type="body" idx="1"/>
          </p:nvPr>
        </p:nvSpPr>
        <p:spPr>
          <a:xfrm>
            <a:off x="177801" y="1233488"/>
            <a:ext cx="11233149" cy="5256212"/>
          </a:xfrm>
          <a:prstGeom prst="rect">
            <a:avLst/>
          </a:prstGeom>
        </p:spPr>
        <p:txBody>
          <a:bodyPr vert="horz" lIns="91440" tIns="45720" rIns="91440" bIns="45720" rtlCol="0">
            <a:normAutofit/>
          </a:bodyPr>
          <a:lstStyle/>
          <a:p>
            <a:pPr lvl="0"/>
          </a:p>
        </p:txBody>
      </p:sp>
      <p:sp>
        <p:nvSpPr>
          <p:cNvPr id="6" name="Slide Number Placeholder 5"/>
          <p:cNvSpPr>
            <a:spLocks noGrp="1"/>
          </p:cNvSpPr>
          <p:nvPr>
            <p:ph type="sldNum" sz="quarter" idx="4"/>
          </p:nvPr>
        </p:nvSpPr>
        <p:spPr>
          <a:xfrm>
            <a:off x="10605599" y="6489700"/>
            <a:ext cx="805350" cy="287338"/>
          </a:xfrm>
          <a:prstGeom prst="rect">
            <a:avLst/>
          </a:prstGeom>
        </p:spPr>
        <p:txBody>
          <a:bodyPr vert="horz" lIns="91440" tIns="45720" rIns="91440" bIns="45720" rtlCol="0" anchor="ctr"/>
          <a:lstStyle>
            <a:lvl1pPr algn="r">
              <a:defRPr sz="1000">
                <a:solidFill>
                  <a:schemeClr val="tx1"/>
                </a:solidFill>
              </a:defRPr>
            </a:lvl1pPr>
          </a:lstStyle>
          <a:p>
            <a:fld id="{5E48029D-87D6-48C3-BA4B-1065A63511DF}" type="slidenum">
              <a:rPr lang="en-GB" smtClean="0">
                <a:solidFill>
                  <a:schemeClr val="tx1"/>
                </a:solidFill>
              </a:rPr>
              <a:pPr/>
              <a:t>‹#›</a:t>
            </a:fld>
            <a:endParaRPr lang="en-GB">
              <a:solidFill>
                <a:schemeClr val="tx1"/>
              </a:solidFill>
            </a:endParaRPr>
          </a:p>
        </p:txBody>
      </p:sp>
      <p:pic>
        <p:nvPicPr>
          <p:cNvPr id="4" name="Picture 2">
            <a:extLst>
              <a:ext uri="{FF2B5EF4-FFF2-40B4-BE49-F238E27FC236}">
                <a16:creationId xmlns:a16="http://schemas.microsoft.com/office/drawing/2014/main" id="{643CB578-80E0-884E-8515-53279D5DACC1}"/>
              </a:ext>
            </a:extLst>
          </p:cNvPr>
          <p:cNvPicPr>
            <a:picLocks noChangeAspect="1" noChangeArrowheads="1"/>
          </p:cNvPicPr>
          <p:nvPr userDrawn="1"/>
        </p:nvPicPr>
        <p:blipFill>
          <a:blip r:embed="rId8">
            <a:extLst>
              <a:ext uri="{28A0092B-C50C-407E-A947-70E740481C1C}">
                <a14:useLocalDpi xmlns:a14="http://schemas.microsoft.com/office/drawing/2010/main" val="0"/>
              </a:ext>
            </a:extLst>
          </a:blip>
          <a:srcRect/>
          <a:stretch>
            <a:fillRect/>
          </a:stretch>
        </p:blipFill>
        <p:spPr bwMode="auto">
          <a:xfrm>
            <a:off x="10104120" y="6556248"/>
            <a:ext cx="777240" cy="173447"/>
          </a:xfrm>
          <a:prstGeom prst="rect">
            <a:avLst/>
          </a:prstGeom>
          <a:noFill/>
          <a:extLst>
            <a:ext uri="{909E8E84-426E-40DD-AFC4-6F175D3DCCD1}">
              <a14:hiddenFill xmlns:a14="http://schemas.microsoft.com/office/drawing/2010/main">
                <a:solidFill>
                  <a:srgbClr val="FFFFFF"/>
                </a:solidFill>
              </a14:hiddenFill>
            </a:ext>
          </a:extLst>
        </p:spPr>
      </p:pic>
      <p:sp>
        <p:nvSpPr>
          <p:cNvPr id="9" name="Text Placeholder 6">
            <a:extLst>
              <a:ext uri="{FF2B5EF4-FFF2-40B4-BE49-F238E27FC236}">
                <a16:creationId xmlns:a16="http://schemas.microsoft.com/office/drawing/2014/main" id="{5CB3F387-66D0-18CC-51EE-24B908A792B7}"/>
              </a:ext>
            </a:extLst>
          </p:cNvPr>
          <p:cNvSpPr txBox="1">
            <a:spLocks/>
          </p:cNvSpPr>
          <p:nvPr userDrawn="1"/>
        </p:nvSpPr>
        <p:spPr>
          <a:xfrm>
            <a:off x="457200" y="6528816"/>
            <a:ext cx="8595360" cy="228600"/>
          </a:xfrm>
          <a:prstGeom prst="rect">
            <a:avLst/>
          </a:prstGeom>
        </p:spPr>
        <p:txBody>
          <a:bodyPr anchor="ctr" tIns="0" bIns="0">
            <a:normAutofit/>
          </a:bodyPr>
          <a:lstStyle>
            <a:lvl1pPr marL="0" indent="0" algn="l" defTabSz="869137" rtl="0" eaLnBrk="1" latinLnBrk="0" hangingPunct="1">
              <a:lnSpc>
                <a:spcPct val="90000"/>
              </a:lnSpc>
              <a:spcBef>
                <a:spcPts val="951"/>
              </a:spcBef>
              <a:buFont typeface="Arial" panose="020B0604020202020204" pitchFamily="34" charset="0"/>
              <a:buNone/>
              <a:defRPr sz="1000" kern="1200">
                <a:solidFill>
                  <a:schemeClr val="tx1"/>
                </a:solidFill>
                <a:latin typeface="+mn-lt"/>
                <a:ea typeface="+mn-ea"/>
                <a:cs typeface="+mn-cs"/>
              </a:defRPr>
            </a:lvl1pPr>
            <a:lvl2pPr marL="651853" indent="-217284" algn="l" defTabSz="869137" rtl="0" eaLnBrk="1" latinLnBrk="0" hangingPunct="1">
              <a:lnSpc>
                <a:spcPct val="90000"/>
              </a:lnSpc>
              <a:spcBef>
                <a:spcPts val="475"/>
              </a:spcBef>
              <a:buFont typeface="Arial" panose="020B0604020202020204" pitchFamily="34" charset="0"/>
              <a:buChar char="•"/>
              <a:defRPr sz="1800" kern="1200">
                <a:solidFill>
                  <a:schemeClr val="tx1"/>
                </a:solidFill>
                <a:latin typeface="+mn-lt"/>
                <a:ea typeface="+mn-ea"/>
                <a:cs typeface="+mn-cs"/>
              </a:defRPr>
            </a:lvl2pPr>
            <a:lvl3pPr marL="1086422" indent="-217284" algn="l" defTabSz="869137" rtl="0" eaLnBrk="1" latinLnBrk="0" hangingPunct="1">
              <a:lnSpc>
                <a:spcPct val="90000"/>
              </a:lnSpc>
              <a:spcBef>
                <a:spcPts val="475"/>
              </a:spcBef>
              <a:buFont typeface="Arial" panose="020B0604020202020204" pitchFamily="34" charset="0"/>
              <a:buChar char="•"/>
              <a:defRPr sz="1600" kern="1200">
                <a:solidFill>
                  <a:schemeClr val="tx1"/>
                </a:solidFill>
                <a:latin typeface="+mn-lt"/>
                <a:ea typeface="+mn-ea"/>
                <a:cs typeface="+mn-cs"/>
              </a:defRPr>
            </a:lvl3pPr>
            <a:lvl4pPr marL="1520990" indent="-217284" algn="l" defTabSz="869137" rtl="0" eaLnBrk="1" latinLnBrk="0" hangingPunct="1">
              <a:lnSpc>
                <a:spcPct val="90000"/>
              </a:lnSpc>
              <a:spcBef>
                <a:spcPts val="475"/>
              </a:spcBef>
              <a:buFont typeface="Arial" panose="020B0604020202020204" pitchFamily="34" charset="0"/>
              <a:buChar char="•"/>
              <a:defRPr sz="1400" kern="1200">
                <a:solidFill>
                  <a:schemeClr val="tx1"/>
                </a:solidFill>
                <a:latin typeface="+mn-lt"/>
                <a:ea typeface="+mn-ea"/>
                <a:cs typeface="+mn-cs"/>
              </a:defRPr>
            </a:lvl4pPr>
            <a:lvl5pPr marL="1955559" indent="-217284" algn="l" defTabSz="869137" rtl="0" eaLnBrk="1" latinLnBrk="0" hangingPunct="1">
              <a:lnSpc>
                <a:spcPct val="90000"/>
              </a:lnSpc>
              <a:spcBef>
                <a:spcPts val="475"/>
              </a:spcBef>
              <a:buFont typeface="Arial" panose="020B0604020202020204" pitchFamily="34" charset="0"/>
              <a:buChar char="•"/>
              <a:defRPr sz="1400" kern="1200">
                <a:solidFill>
                  <a:schemeClr val="tx1"/>
                </a:solidFill>
                <a:latin typeface="+mn-lt"/>
                <a:ea typeface="+mn-ea"/>
                <a:cs typeface="+mn-cs"/>
              </a:defRPr>
            </a:lvl5pPr>
            <a:lvl6pPr marL="2390127" indent="-217284" algn="l" defTabSz="869137" rtl="0" eaLnBrk="1" latinLnBrk="0" hangingPunct="1">
              <a:lnSpc>
                <a:spcPct val="90000"/>
              </a:lnSpc>
              <a:spcBef>
                <a:spcPts val="475"/>
              </a:spcBef>
              <a:buFont typeface="Arial" panose="020B0604020202020204" pitchFamily="34" charset="0"/>
              <a:buChar char="•"/>
              <a:defRPr sz="1711" kern="1200">
                <a:solidFill>
                  <a:schemeClr val="tx1"/>
                </a:solidFill>
                <a:latin typeface="+mn-lt"/>
                <a:ea typeface="+mn-ea"/>
                <a:cs typeface="+mn-cs"/>
              </a:defRPr>
            </a:lvl6pPr>
            <a:lvl7pPr marL="2824696" indent="-217284" algn="l" defTabSz="869137" rtl="0" eaLnBrk="1" latinLnBrk="0" hangingPunct="1">
              <a:lnSpc>
                <a:spcPct val="90000"/>
              </a:lnSpc>
              <a:spcBef>
                <a:spcPts val="475"/>
              </a:spcBef>
              <a:buFont typeface="Arial" panose="020B0604020202020204" pitchFamily="34" charset="0"/>
              <a:buChar char="•"/>
              <a:defRPr sz="1711" kern="1200">
                <a:solidFill>
                  <a:schemeClr val="tx1"/>
                </a:solidFill>
                <a:latin typeface="+mn-lt"/>
                <a:ea typeface="+mn-ea"/>
                <a:cs typeface="+mn-cs"/>
              </a:defRPr>
            </a:lvl7pPr>
            <a:lvl8pPr marL="3259265" indent="-217284" algn="l" defTabSz="869137" rtl="0" eaLnBrk="1" latinLnBrk="0" hangingPunct="1">
              <a:lnSpc>
                <a:spcPct val="90000"/>
              </a:lnSpc>
              <a:spcBef>
                <a:spcPts val="475"/>
              </a:spcBef>
              <a:buFont typeface="Arial" panose="020B0604020202020204" pitchFamily="34" charset="0"/>
              <a:buChar char="•"/>
              <a:defRPr sz="1711" kern="1200">
                <a:solidFill>
                  <a:schemeClr val="tx1"/>
                </a:solidFill>
                <a:latin typeface="+mn-lt"/>
                <a:ea typeface="+mn-ea"/>
                <a:cs typeface="+mn-cs"/>
              </a:defRPr>
            </a:lvl8pPr>
            <a:lvl9pPr marL="3693833" indent="-217284" algn="l" defTabSz="869137" rtl="0" eaLnBrk="1" latinLnBrk="0" hangingPunct="1">
              <a:lnSpc>
                <a:spcPct val="90000"/>
              </a:lnSpc>
              <a:spcBef>
                <a:spcPts val="475"/>
              </a:spcBef>
              <a:buFont typeface="Arial" panose="020B0604020202020204" pitchFamily="34" charset="0"/>
              <a:buChar char="•"/>
              <a:defRPr sz="1711" kern="1200">
                <a:solidFill>
                  <a:schemeClr val="tx1"/>
                </a:solidFill>
                <a:latin typeface="+mn-lt"/>
                <a:ea typeface="+mn-ea"/>
                <a:cs typeface="+mn-cs"/>
              </a:defRPr>
            </a:lvl9pPr>
          </a:lstStyle>
          <a:p>
            <a:pPr>
              <a:defRPr sz="800">
                <a:solidFill>
                  <a:srgbClr val="404040"/>
                </a:solidFill>
                <a:latin typeface="Lato"/>
              </a:defRPr>
            </a:pPr>
          </a:p>
        </p:txBody>
      </p:sp>
      <p:cxnSp>
        <p:nvCxnSpPr>
          <p:cNvPr id="10" name="Fine footer rule"/>
          <p:cNvCxnSpPr/>
          <p:nvPr/>
        </p:nvCxnSpPr>
        <p:spPr>
          <a:xfrm>
            <a:off x="457200" y="6437376"/>
            <a:ext cx="10652760" cy="0"/>
          </a:xfrm>
          <a:prstGeom prst="line">
            <a:avLst/>
          </a:prstGeom>
          <a:ln w="3175">
            <a:solidFill>
              <a:srgbClr val="B0B0B0"/>
            </a:solidFill>
          </a:ln>
        </p:spPr>
        <p:style>
          <a:lnRef idx="2">
            <a:schemeClr val="accent1"/>
          </a:lnRef>
          <a:fillRef idx="0">
            <a:schemeClr val="accent1"/>
          </a:fillRef>
          <a:effectRef idx="1">
            <a:schemeClr val="accent1"/>
          </a:effectRef>
          <a:fontRef idx="minor">
            <a:schemeClr val="tx1"/>
          </a:fontRef>
        </p:style>
      </p:cxnSp>
    </p:spTree>
    <p:extLst>
      <p:ext uri="{BB962C8B-B14F-4D97-AF65-F5344CB8AC3E}">
        <p14:creationId xmlns:p14="http://schemas.microsoft.com/office/powerpoint/2010/main" val="4204016228"/>
      </p:ext>
    </p:extLst>
  </p:cSld>
  <p:clrMap bg1="lt1" tx1="dk1" bg2="lt2" tx2="dk2" accent1="accent1" accent2="accent2" accent3="accent3" accent4="accent4" accent5="accent5" accent6="accent6" hlink="hlink" folHlink="folHlink"/>
  <p:sldLayoutIdLst>
    <p:sldLayoutId id="2147483713" r:id="rId1"/>
    <p:sldLayoutId id="2147483718" r:id="rId2"/>
    <p:sldLayoutId id="2147483723" r:id="rId3"/>
    <p:sldLayoutId id="2147483724" r:id="rId4"/>
    <p:sldLayoutId id="2147483725" r:id="rId5"/>
    <p:sldLayoutId id="2147483698" r:id="rId6"/>
  </p:sldLayoutIdLst>
  <p:hf hdr="0" ftr="0" dt="0"/>
  <p:txStyles>
    <p:titleStyle>
      <a:lvl1pPr algn="l" defTabSz="869137" rtl="0" eaLnBrk="1" latinLnBrk="0" hangingPunct="1">
        <a:lnSpc>
          <a:spcPct val="90000"/>
        </a:lnSpc>
        <a:spcBef>
          <a:spcPct val="0"/>
        </a:spcBef>
        <a:buNone/>
        <a:defRPr sz="2200" b="1" kern="1200">
          <a:solidFill>
            <a:schemeClr val="tx1"/>
          </a:solidFill>
          <a:latin typeface="+mj-lt"/>
          <a:ea typeface="+mj-ea"/>
          <a:cs typeface="+mj-cs"/>
        </a:defRPr>
      </a:lvl1pPr>
    </p:titleStyle>
    <p:bodyStyle>
      <a:lvl1pPr marL="217284" indent="-217284" algn="l" defTabSz="869137" rtl="0" eaLnBrk="1" latinLnBrk="0" hangingPunct="1">
        <a:lnSpc>
          <a:spcPct val="90000"/>
        </a:lnSpc>
        <a:spcBef>
          <a:spcPts val="951"/>
        </a:spcBef>
        <a:buFont typeface="Arial" panose="020B0604020202020204" pitchFamily="34" charset="0"/>
        <a:buChar char="•"/>
        <a:defRPr sz="2000" kern="1200">
          <a:solidFill>
            <a:schemeClr val="tx1"/>
          </a:solidFill>
          <a:latin typeface="+mn-lt"/>
          <a:ea typeface="+mn-ea"/>
          <a:cs typeface="+mn-cs"/>
        </a:defRPr>
      </a:lvl1pPr>
      <a:lvl2pPr marL="651853" indent="-217284" algn="l" defTabSz="869137" rtl="0" eaLnBrk="1" latinLnBrk="0" hangingPunct="1">
        <a:lnSpc>
          <a:spcPct val="90000"/>
        </a:lnSpc>
        <a:spcBef>
          <a:spcPts val="475"/>
        </a:spcBef>
        <a:buFont typeface="Arial" panose="020B0604020202020204" pitchFamily="34" charset="0"/>
        <a:buChar char="•"/>
        <a:defRPr sz="1800" kern="1200">
          <a:solidFill>
            <a:schemeClr val="tx1"/>
          </a:solidFill>
          <a:latin typeface="+mn-lt"/>
          <a:ea typeface="+mn-ea"/>
          <a:cs typeface="+mn-cs"/>
        </a:defRPr>
      </a:lvl2pPr>
      <a:lvl3pPr marL="1086422" indent="-217284" algn="l" defTabSz="869137" rtl="0" eaLnBrk="1" latinLnBrk="0" hangingPunct="1">
        <a:lnSpc>
          <a:spcPct val="90000"/>
        </a:lnSpc>
        <a:spcBef>
          <a:spcPts val="475"/>
        </a:spcBef>
        <a:buFont typeface="Arial" panose="020B0604020202020204" pitchFamily="34" charset="0"/>
        <a:buChar char="•"/>
        <a:defRPr sz="1600" kern="1200">
          <a:solidFill>
            <a:schemeClr val="tx1"/>
          </a:solidFill>
          <a:latin typeface="+mn-lt"/>
          <a:ea typeface="+mn-ea"/>
          <a:cs typeface="+mn-cs"/>
        </a:defRPr>
      </a:lvl3pPr>
      <a:lvl4pPr marL="1520990" indent="-217284" algn="l" defTabSz="869137" rtl="0" eaLnBrk="1" latinLnBrk="0" hangingPunct="1">
        <a:lnSpc>
          <a:spcPct val="90000"/>
        </a:lnSpc>
        <a:spcBef>
          <a:spcPts val="475"/>
        </a:spcBef>
        <a:buFont typeface="Arial" panose="020B0604020202020204" pitchFamily="34" charset="0"/>
        <a:buChar char="•"/>
        <a:defRPr sz="1400" kern="1200">
          <a:solidFill>
            <a:schemeClr val="tx1"/>
          </a:solidFill>
          <a:latin typeface="+mn-lt"/>
          <a:ea typeface="+mn-ea"/>
          <a:cs typeface="+mn-cs"/>
        </a:defRPr>
      </a:lvl4pPr>
      <a:lvl5pPr marL="1955559" indent="-217284" algn="l" defTabSz="869137" rtl="0" eaLnBrk="1" latinLnBrk="0" hangingPunct="1">
        <a:lnSpc>
          <a:spcPct val="90000"/>
        </a:lnSpc>
        <a:spcBef>
          <a:spcPts val="475"/>
        </a:spcBef>
        <a:buFont typeface="Arial" panose="020B0604020202020204" pitchFamily="34" charset="0"/>
        <a:buChar char="•"/>
        <a:defRPr sz="1400" kern="1200">
          <a:solidFill>
            <a:schemeClr val="tx1"/>
          </a:solidFill>
          <a:latin typeface="+mn-lt"/>
          <a:ea typeface="+mn-ea"/>
          <a:cs typeface="+mn-cs"/>
        </a:defRPr>
      </a:lvl5pPr>
      <a:lvl6pPr marL="2390127" indent="-217284" algn="l" defTabSz="869137" rtl="0" eaLnBrk="1" latinLnBrk="0" hangingPunct="1">
        <a:lnSpc>
          <a:spcPct val="90000"/>
        </a:lnSpc>
        <a:spcBef>
          <a:spcPts val="475"/>
        </a:spcBef>
        <a:buFont typeface="Arial" panose="020B0604020202020204" pitchFamily="34" charset="0"/>
        <a:buChar char="•"/>
        <a:defRPr sz="1711" kern="1200">
          <a:solidFill>
            <a:schemeClr val="tx1"/>
          </a:solidFill>
          <a:latin typeface="+mn-lt"/>
          <a:ea typeface="+mn-ea"/>
          <a:cs typeface="+mn-cs"/>
        </a:defRPr>
      </a:lvl6pPr>
      <a:lvl7pPr marL="2824696" indent="-217284" algn="l" defTabSz="869137" rtl="0" eaLnBrk="1" latinLnBrk="0" hangingPunct="1">
        <a:lnSpc>
          <a:spcPct val="90000"/>
        </a:lnSpc>
        <a:spcBef>
          <a:spcPts val="475"/>
        </a:spcBef>
        <a:buFont typeface="Arial" panose="020B0604020202020204" pitchFamily="34" charset="0"/>
        <a:buChar char="•"/>
        <a:defRPr sz="1711" kern="1200">
          <a:solidFill>
            <a:schemeClr val="tx1"/>
          </a:solidFill>
          <a:latin typeface="+mn-lt"/>
          <a:ea typeface="+mn-ea"/>
          <a:cs typeface="+mn-cs"/>
        </a:defRPr>
      </a:lvl7pPr>
      <a:lvl8pPr marL="3259265" indent="-217284" algn="l" defTabSz="869137" rtl="0" eaLnBrk="1" latinLnBrk="0" hangingPunct="1">
        <a:lnSpc>
          <a:spcPct val="90000"/>
        </a:lnSpc>
        <a:spcBef>
          <a:spcPts val="475"/>
        </a:spcBef>
        <a:buFont typeface="Arial" panose="020B0604020202020204" pitchFamily="34" charset="0"/>
        <a:buChar char="•"/>
        <a:defRPr sz="1711" kern="1200">
          <a:solidFill>
            <a:schemeClr val="tx1"/>
          </a:solidFill>
          <a:latin typeface="+mn-lt"/>
          <a:ea typeface="+mn-ea"/>
          <a:cs typeface="+mn-cs"/>
        </a:defRPr>
      </a:lvl8pPr>
      <a:lvl9pPr marL="3693833" indent="-217284" algn="l" defTabSz="869137" rtl="0" eaLnBrk="1" latinLnBrk="0" hangingPunct="1">
        <a:lnSpc>
          <a:spcPct val="90000"/>
        </a:lnSpc>
        <a:spcBef>
          <a:spcPts val="475"/>
        </a:spcBef>
        <a:buFont typeface="Arial" panose="020B0604020202020204" pitchFamily="34" charset="0"/>
        <a:buChar char="•"/>
        <a:defRPr sz="1711" kern="1200">
          <a:solidFill>
            <a:schemeClr val="tx1"/>
          </a:solidFill>
          <a:latin typeface="+mn-lt"/>
          <a:ea typeface="+mn-ea"/>
          <a:cs typeface="+mn-cs"/>
        </a:defRPr>
      </a:lvl9pPr>
    </p:bodyStyle>
    <p:otherStyle>
      <a:defPPr>
        <a:defRPr lang="en-US"/>
      </a:defPPr>
      <a:lvl1pPr marL="0" algn="l" defTabSz="869137" rtl="0" eaLnBrk="1" latinLnBrk="0" hangingPunct="1">
        <a:defRPr sz="1711" kern="1200">
          <a:solidFill>
            <a:schemeClr val="tx1"/>
          </a:solidFill>
          <a:latin typeface="+mn-lt"/>
          <a:ea typeface="+mn-ea"/>
          <a:cs typeface="+mn-cs"/>
        </a:defRPr>
      </a:lvl1pPr>
      <a:lvl2pPr marL="434569" algn="l" defTabSz="869137" rtl="0" eaLnBrk="1" latinLnBrk="0" hangingPunct="1">
        <a:defRPr sz="1711" kern="1200">
          <a:solidFill>
            <a:schemeClr val="tx1"/>
          </a:solidFill>
          <a:latin typeface="+mn-lt"/>
          <a:ea typeface="+mn-ea"/>
          <a:cs typeface="+mn-cs"/>
        </a:defRPr>
      </a:lvl2pPr>
      <a:lvl3pPr marL="869137" algn="l" defTabSz="869137" rtl="0" eaLnBrk="1" latinLnBrk="0" hangingPunct="1">
        <a:defRPr sz="1711" kern="1200">
          <a:solidFill>
            <a:schemeClr val="tx1"/>
          </a:solidFill>
          <a:latin typeface="+mn-lt"/>
          <a:ea typeface="+mn-ea"/>
          <a:cs typeface="+mn-cs"/>
        </a:defRPr>
      </a:lvl3pPr>
      <a:lvl4pPr marL="1303706" algn="l" defTabSz="869137" rtl="0" eaLnBrk="1" latinLnBrk="0" hangingPunct="1">
        <a:defRPr sz="1711" kern="1200">
          <a:solidFill>
            <a:schemeClr val="tx1"/>
          </a:solidFill>
          <a:latin typeface="+mn-lt"/>
          <a:ea typeface="+mn-ea"/>
          <a:cs typeface="+mn-cs"/>
        </a:defRPr>
      </a:lvl4pPr>
      <a:lvl5pPr marL="1738274" algn="l" defTabSz="869137" rtl="0" eaLnBrk="1" latinLnBrk="0" hangingPunct="1">
        <a:defRPr sz="1711" kern="1200">
          <a:solidFill>
            <a:schemeClr val="tx1"/>
          </a:solidFill>
          <a:latin typeface="+mn-lt"/>
          <a:ea typeface="+mn-ea"/>
          <a:cs typeface="+mn-cs"/>
        </a:defRPr>
      </a:lvl5pPr>
      <a:lvl6pPr marL="2172843" algn="l" defTabSz="869137" rtl="0" eaLnBrk="1" latinLnBrk="0" hangingPunct="1">
        <a:defRPr sz="1711" kern="1200">
          <a:solidFill>
            <a:schemeClr val="tx1"/>
          </a:solidFill>
          <a:latin typeface="+mn-lt"/>
          <a:ea typeface="+mn-ea"/>
          <a:cs typeface="+mn-cs"/>
        </a:defRPr>
      </a:lvl6pPr>
      <a:lvl7pPr marL="2607412" algn="l" defTabSz="869137" rtl="0" eaLnBrk="1" latinLnBrk="0" hangingPunct="1">
        <a:defRPr sz="1711" kern="1200">
          <a:solidFill>
            <a:schemeClr val="tx1"/>
          </a:solidFill>
          <a:latin typeface="+mn-lt"/>
          <a:ea typeface="+mn-ea"/>
          <a:cs typeface="+mn-cs"/>
        </a:defRPr>
      </a:lvl7pPr>
      <a:lvl8pPr marL="3041980" algn="l" defTabSz="869137" rtl="0" eaLnBrk="1" latinLnBrk="0" hangingPunct="1">
        <a:defRPr sz="1711" kern="1200">
          <a:solidFill>
            <a:schemeClr val="tx1"/>
          </a:solidFill>
          <a:latin typeface="+mn-lt"/>
          <a:ea typeface="+mn-ea"/>
          <a:cs typeface="+mn-cs"/>
        </a:defRPr>
      </a:lvl8pPr>
      <a:lvl9pPr marL="3476549" algn="l" defTabSz="869137" rtl="0" eaLnBrk="1" latinLnBrk="0" hangingPunct="1">
        <a:defRPr sz="1711" kern="1200">
          <a:solidFill>
            <a:schemeClr val="tx1"/>
          </a:solidFill>
          <a:latin typeface="+mn-lt"/>
          <a:ea typeface="+mn-ea"/>
          <a:cs typeface="+mn-cs"/>
        </a:defRPr>
      </a:lvl9pPr>
    </p:otherStyle>
  </p:txStyles>
  <p:extLst>
    <p:ext uri="{27BBF7A9-308A-43DC-89C8-2F10F3537804}">
      <p15:sldGuideLst xmlns:p15="http://schemas.microsoft.com/office/powerpoint/2012/main">
        <p15:guide id="12" orient="horz" pos="2160" userDrawn="1">
          <p15:clr>
            <a:srgbClr val="F26B43"/>
          </p15:clr>
        </p15:guide>
        <p15:guide id="13" pos="112" userDrawn="1">
          <p15:clr>
            <a:srgbClr val="F26B43"/>
          </p15:clr>
        </p15:guide>
        <p15:guide id="14" orient="horz" pos="4269" userDrawn="1">
          <p15:clr>
            <a:srgbClr val="F26B43"/>
          </p15:clr>
        </p15:guide>
        <p15:guide id="15" pos="3650" userDrawn="1">
          <p15:clr>
            <a:srgbClr val="F26B43"/>
          </p15:clr>
        </p15:guide>
        <p15:guide id="16" pos="7188" userDrawn="1">
          <p15:clr>
            <a:srgbClr val="F26B43"/>
          </p15:clr>
        </p15:guide>
        <p15:guide id="17" orient="horz" pos="28" userDrawn="1">
          <p15:clr>
            <a:srgbClr val="F26B43"/>
          </p15:clr>
        </p15:guide>
        <p15:guide id="18" orient="horz" pos="686" userDrawn="1">
          <p15:clr>
            <a:srgbClr val="F26B43"/>
          </p15:clr>
        </p15:guide>
        <p15:guide id="19" orient="horz" pos="777" userDrawn="1">
          <p15:clr>
            <a:srgbClr val="F26B43"/>
          </p15:clr>
        </p15:guide>
        <p15:guide id="20" orient="horz" pos="4088" userDrawn="1">
          <p15:clr>
            <a:srgbClr val="F26B43"/>
          </p15:clr>
        </p15:guide>
        <p15:guide id="21" orient="horz" pos="3680" userDrawn="1">
          <p15:clr>
            <a:srgbClr val="F26B43"/>
          </p15:clr>
        </p15:guide>
        <p15:guide id="22" orient="horz" pos="3566" userDrawn="1">
          <p15:clr>
            <a:srgbClr val="F26B43"/>
          </p15:clr>
        </p15:guide>
        <p15:guide id="23" pos="5805" userDrawn="1">
          <p15:clr>
            <a:srgbClr val="F26B43"/>
          </p15:clr>
        </p15:guide>
      </p15:sldGuideLst>
    </p:ext>
  </p:extLst>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image" Target="../media/image7.jpg"/><Relationship Id="rId3" Type="http://schemas.openxmlformats.org/officeDocument/2006/relationships/image" Target="../media/image8.png"/><Relationship Id="rId4" Type="http://schemas.openxmlformats.org/officeDocument/2006/relationships/hyperlink" Target="https://www.vopak.com/terminals/vopak-terminal-durban" TargetMode="External"/><Relationship Id="rId5" Type="http://schemas.openxmlformats.org/officeDocument/2006/relationships/notesSlide" Target="../notesSlides/notesSlide1.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slide" Target="slide3.xml"/><Relationship Id="rId3" Type="http://schemas.openxmlformats.org/officeDocument/2006/relationships/slide" Target="slide6.xml"/><Relationship Id="rId4" Type="http://schemas.openxmlformats.org/officeDocument/2006/relationships/slide" Target="slide10.xml"/><Relationship Id="rId5" Type="http://schemas.openxmlformats.org/officeDocument/2006/relationships/slide" Target="slide12.xml"/><Relationship Id="rId6" Type="http://schemas.openxmlformats.org/officeDocument/2006/relationships/slide" Target="slide14.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slide" Target="slide3.xml"/><Relationship Id="rId3" Type="http://schemas.openxmlformats.org/officeDocument/2006/relationships/slide" Target="slide6.xml"/><Relationship Id="rId4" Type="http://schemas.openxmlformats.org/officeDocument/2006/relationships/slide" Target="slide10.xml"/><Relationship Id="rId5" Type="http://schemas.openxmlformats.org/officeDocument/2006/relationships/slide" Target="slide12.xml"/><Relationship Id="rId6" Type="http://schemas.openxmlformats.org/officeDocument/2006/relationships/slide" Target="slide1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chart" Target="../charts/chart1.xml"/><Relationship Id="rId3" Type="http://schemas.openxmlformats.org/officeDocument/2006/relationships/chart" Target="../charts/chart2.xml"/><Relationship Id="rId4" Type="http://schemas.openxmlformats.org/officeDocument/2006/relationships/slide" Target="slide3.xml"/><Relationship Id="rId5" Type="http://schemas.openxmlformats.org/officeDocument/2006/relationships/slide" Target="slide6.xml"/><Relationship Id="rId6" Type="http://schemas.openxmlformats.org/officeDocument/2006/relationships/slide" Target="slide10.xml"/><Relationship Id="rId7" Type="http://schemas.openxmlformats.org/officeDocument/2006/relationships/slide" Target="slide12.xml"/><Relationship Id="rId8" Type="http://schemas.openxmlformats.org/officeDocument/2006/relationships/slide" Target="slide14.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slide" Target="slide3.xml"/><Relationship Id="rId3" Type="http://schemas.openxmlformats.org/officeDocument/2006/relationships/slide" Target="slide6.xml"/><Relationship Id="rId4" Type="http://schemas.openxmlformats.org/officeDocument/2006/relationships/slide" Target="slide10.xml"/><Relationship Id="rId5" Type="http://schemas.openxmlformats.org/officeDocument/2006/relationships/slide" Target="slide12.xml"/><Relationship Id="rId6" Type="http://schemas.openxmlformats.org/officeDocument/2006/relationships/slide" Target="slide14.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slide" Target="slide3.xml"/><Relationship Id="rId3" Type="http://schemas.openxmlformats.org/officeDocument/2006/relationships/slide" Target="slide6.xml"/><Relationship Id="rId4" Type="http://schemas.openxmlformats.org/officeDocument/2006/relationships/slide" Target="slide10.xml"/><Relationship Id="rId5" Type="http://schemas.openxmlformats.org/officeDocument/2006/relationships/slide" Target="slide12.xml"/><Relationship Id="rId6" Type="http://schemas.openxmlformats.org/officeDocument/2006/relationships/slide" Target="slide14.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slide" Target="slide3.xml"/><Relationship Id="rId3" Type="http://schemas.openxmlformats.org/officeDocument/2006/relationships/slide" Target="slide6.xml"/><Relationship Id="rId4" Type="http://schemas.openxmlformats.org/officeDocument/2006/relationships/slide" Target="slide10.xml"/><Relationship Id="rId5" Type="http://schemas.openxmlformats.org/officeDocument/2006/relationships/slide" Target="slide12.xml"/><Relationship Id="rId6" Type="http://schemas.openxmlformats.org/officeDocument/2006/relationships/slide" Target="slide14.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slide" Target="slide3.xml"/><Relationship Id="rId3" Type="http://schemas.openxmlformats.org/officeDocument/2006/relationships/slide" Target="slide6.xml"/><Relationship Id="rId4" Type="http://schemas.openxmlformats.org/officeDocument/2006/relationships/slide" Target="slide10.xml"/><Relationship Id="rId5" Type="http://schemas.openxmlformats.org/officeDocument/2006/relationships/slide" Target="slide12.xml"/><Relationship Id="rId6" Type="http://schemas.openxmlformats.org/officeDocument/2006/relationships/slide" Target="slide14.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slide" Target="slide3.xml"/><Relationship Id="rId3" Type="http://schemas.openxmlformats.org/officeDocument/2006/relationships/slide" Target="slide6.xml"/><Relationship Id="rId4" Type="http://schemas.openxmlformats.org/officeDocument/2006/relationships/slide" Target="slide10.xml"/><Relationship Id="rId5" Type="http://schemas.openxmlformats.org/officeDocument/2006/relationships/slide" Target="slide12.xml"/><Relationship Id="rId6" Type="http://schemas.openxmlformats.org/officeDocument/2006/relationships/slide" Target="slide14.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slide" Target="slide3.xml"/><Relationship Id="rId3" Type="http://schemas.openxmlformats.org/officeDocument/2006/relationships/slide" Target="slide6.xml"/><Relationship Id="rId4" Type="http://schemas.openxmlformats.org/officeDocument/2006/relationships/slide" Target="slide10.xml"/><Relationship Id="rId5" Type="http://schemas.openxmlformats.org/officeDocument/2006/relationships/slide" Target="slide12.xml"/><Relationship Id="rId6" Type="http://schemas.openxmlformats.org/officeDocument/2006/relationships/slide" Target="slide14.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slide" Target="slide3.xml"/><Relationship Id="rId3" Type="http://schemas.openxmlformats.org/officeDocument/2006/relationships/slide" Target="slide6.xml"/><Relationship Id="rId4" Type="http://schemas.openxmlformats.org/officeDocument/2006/relationships/slide" Target="slide10.xml"/><Relationship Id="rId5" Type="http://schemas.openxmlformats.org/officeDocument/2006/relationships/slide" Target="slide12.xml"/><Relationship Id="rId6" Type="http://schemas.openxmlformats.org/officeDocument/2006/relationships/slide" Target="slide14.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slide" Target="slide3.xml"/><Relationship Id="rId3" Type="http://schemas.openxmlformats.org/officeDocument/2006/relationships/slide" Target="slide6.xml"/><Relationship Id="rId4" Type="http://schemas.openxmlformats.org/officeDocument/2006/relationships/slide" Target="slide10.xml"/><Relationship Id="rId5" Type="http://schemas.openxmlformats.org/officeDocument/2006/relationships/slide" Target="slide12.xml"/><Relationship Id="rId6" Type="http://schemas.openxmlformats.org/officeDocument/2006/relationships/slide" Target="slide14.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slide" Target="slide3.xml"/><Relationship Id="rId3" Type="http://schemas.openxmlformats.org/officeDocument/2006/relationships/slide" Target="slide6.xml"/><Relationship Id="rId4" Type="http://schemas.openxmlformats.org/officeDocument/2006/relationships/slide" Target="slide10.xml"/><Relationship Id="rId5" Type="http://schemas.openxmlformats.org/officeDocument/2006/relationships/slide" Target="slide12.xml"/><Relationship Id="rId6" Type="http://schemas.openxmlformats.org/officeDocument/2006/relationships/slide" Target="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slide" Target="slide3.xml"/><Relationship Id="rId3" Type="http://schemas.openxmlformats.org/officeDocument/2006/relationships/slide" Target="slide6.xml"/><Relationship Id="rId4" Type="http://schemas.openxmlformats.org/officeDocument/2006/relationships/slide" Target="slide10.xml"/><Relationship Id="rId5" Type="http://schemas.openxmlformats.org/officeDocument/2006/relationships/slide" Target="slide12.xml"/><Relationship Id="rId6" Type="http://schemas.openxmlformats.org/officeDocument/2006/relationships/slide" Target="slide14.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slide" Target="slide3.xml"/><Relationship Id="rId3" Type="http://schemas.openxmlformats.org/officeDocument/2006/relationships/slide" Target="slide6.xml"/><Relationship Id="rId4" Type="http://schemas.openxmlformats.org/officeDocument/2006/relationships/slide" Target="slide10.xml"/><Relationship Id="rId5" Type="http://schemas.openxmlformats.org/officeDocument/2006/relationships/slide" Target="slide12.xml"/><Relationship Id="rId6" Type="http://schemas.openxmlformats.org/officeDocument/2006/relationships/slide" Target="slide14.xml"/></Relationships>
</file>

<file path=ppt/slides/_rels/slide99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image" Target="../media/image9.jpg"/><Relationship Id="rId3" Type="http://schemas.openxmlformats.org/officeDocument/2006/relationships/image" Target="../media/image8.png"/><Relationship Id="rId4" Type="http://schemas.openxmlformats.org/officeDocument/2006/relationships/hyperlink" Target="https://www.vopak.com/terminals/vopak-terminal-lesedi" TargetMode="External"/><Relationship Id="rId5" Type="http://schemas.openxmlformats.org/officeDocument/2006/relationships/notesSlide" Target="../notesSlides/notesSlide6.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1588750" cy="6858000"/>
          </a:xfrm>
          <a:prstGeom prst="rect">
            <a:avLst/>
          </a:pr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3" name="Picture 2" descr="image.jpg"/>
          <p:cNvPicPr>
            <a:picLocks noChangeAspect="1"/>
          </p:cNvPicPr>
          <p:nvPr/>
        </p:nvPicPr>
        <p:blipFill>
          <a:blip r:embed="rId2"/>
          <a:srcRect l="21836" r="21836"/>
          <a:stretch>
            <a:fillRect/>
          </a:stretch>
        </p:blipFill>
        <p:spPr>
          <a:xfrm>
            <a:off x="5794375" y="0"/>
            <a:ext cx="5794375" cy="6858000"/>
          </a:xfrm>
          <a:prstGeom prst="rect">
            <a:avLst/>
          </a:prstGeom>
        </p:spPr>
      </p:pic>
      <p:pic>
        <p:nvPicPr>
          <p:cNvPr id="4" name="Picture 3" descr="image.png"/>
          <p:cNvPicPr>
            <a:picLocks noChangeAspect="1"/>
          </p:cNvPicPr>
          <p:nvPr/>
        </p:nvPicPr>
        <p:blipFill>
          <a:blip r:embed="rId3"/>
          <a:srcRect/>
          <a:stretch>
            <a:fillRect/>
          </a:stretch>
        </p:blipFill>
        <p:spPr>
          <a:xfrm>
            <a:off x="502920" y="457200"/>
            <a:ext cx="1965960" cy="438614"/>
          </a:xfrm>
          <a:prstGeom prst="rect">
            <a:avLst/>
          </a:prstGeom>
        </p:spPr>
      </p:pic>
      <p:sp>
        <p:nvSpPr>
          <p:cNvPr id="5" name="TextBox 4"/>
          <p:cNvSpPr txBox="1"/>
          <p:nvPr/>
        </p:nvSpPr>
        <p:spPr>
          <a:xfrm>
            <a:off x="594360" y="2468880"/>
            <a:ext cx="4709160" cy="1554480"/>
          </a:xfrm>
          <a:prstGeom prst="rect">
            <a:avLst/>
          </a:prstGeom>
          <a:noFill/>
        </p:spPr>
        <p:txBody>
          <a:bodyPr wrap="square" lIns="18288" rIns="18288" tIns="0" bIns="0">
            <a:spAutoFit/>
          </a:bodyPr>
          <a:lstStyle/>
          <a:p>
            <a:pPr>
              <a:spcAft>
                <a:spcPts val="800"/>
              </a:spcAft>
              <a:defRPr sz="3100" b="0">
                <a:solidFill>
                  <a:srgbClr val="FFFFFF"/>
                </a:solidFill>
                <a:latin typeface="Lato"/>
              </a:defRPr>
            </a:pPr>
            <a:r>
              <a:t>Liquid fuels</a:t>
            </a:r>
          </a:p>
          <a:p>
            <a:pPr>
              <a:spcAft>
                <a:spcPts val="800"/>
              </a:spcAft>
              <a:defRPr sz="3100" b="0">
                <a:solidFill>
                  <a:srgbClr val="FFFFFF"/>
                </a:solidFill>
                <a:latin typeface="Lato"/>
              </a:defRPr>
            </a:pPr>
            <a:r>
              <a:t>demand and supply</a:t>
            </a:r>
          </a:p>
          <a:p>
            <a:pPr>
              <a:spcAft>
                <a:spcPts val="800"/>
              </a:spcAft>
              <a:defRPr sz="3100" b="0">
                <a:solidFill>
                  <a:srgbClr val="FFFFFF"/>
                </a:solidFill>
                <a:latin typeface="Lato"/>
              </a:defRPr>
            </a:pPr>
            <a:r>
              <a:t>model</a:t>
            </a:r>
          </a:p>
        </p:txBody>
      </p:sp>
      <p:cxnSp>
        <p:nvCxnSpPr>
          <p:cNvPr id="6" name="Connector 5"/>
          <p:cNvCxnSpPr/>
          <p:nvPr/>
        </p:nvCxnSpPr>
        <p:spPr>
          <a:xfrm>
            <a:off x="594360" y="4251960"/>
            <a:ext cx="4617720" cy="0"/>
          </a:xfrm>
          <a:prstGeom prst="line">
            <a:avLst/>
          </a:prstGeom>
          <a:ln w="7620">
            <a:solidFill>
              <a:srgbClr val="FFFFFF"/>
            </a:solidFill>
          </a:ln>
        </p:spPr>
        <p:style>
          <a:lnRef idx="2">
            <a:schemeClr val="accent1"/>
          </a:lnRef>
          <a:fillRef idx="0">
            <a:schemeClr val="accent1"/>
          </a:fillRef>
          <a:effectRef idx="1">
            <a:schemeClr val="accent1"/>
          </a:effectRef>
          <a:fontRef idx="minor">
            <a:schemeClr val="tx1"/>
          </a:fontRef>
        </p:style>
      </p:cxnSp>
      <p:sp>
        <p:nvSpPr>
          <p:cNvPr id="7" name="TextBox 6"/>
          <p:cNvSpPr txBox="1"/>
          <p:nvPr/>
        </p:nvSpPr>
        <p:spPr>
          <a:xfrm>
            <a:off x="594360" y="4617720"/>
            <a:ext cx="4572000" cy="640080"/>
          </a:xfrm>
          <a:prstGeom prst="rect">
            <a:avLst/>
          </a:prstGeom>
          <a:noFill/>
        </p:spPr>
        <p:txBody>
          <a:bodyPr wrap="square" lIns="18288" rIns="18288" tIns="0" bIns="0">
            <a:spAutoFit/>
          </a:bodyPr>
          <a:lstStyle/>
          <a:p>
            <a:pPr>
              <a:spcAft>
                <a:spcPts val="800"/>
              </a:spcAft>
              <a:defRPr sz="2100" b="0">
                <a:solidFill>
                  <a:srgbClr val="FFFFFF"/>
                </a:solidFill>
                <a:latin typeface="Lato"/>
              </a:defRPr>
            </a:pPr>
            <a:r>
              <a:t>Manish hand-back</a:t>
            </a:r>
          </a:p>
        </p:txBody>
      </p:sp>
      <p:sp>
        <p:nvSpPr>
          <p:cNvPr id="8" name="TextBox 7"/>
          <p:cNvSpPr txBox="1"/>
          <p:nvPr/>
        </p:nvSpPr>
        <p:spPr>
          <a:xfrm>
            <a:off x="594360" y="5239512"/>
            <a:ext cx="4572000" cy="365760"/>
          </a:xfrm>
          <a:prstGeom prst="rect">
            <a:avLst/>
          </a:prstGeom>
          <a:noFill/>
        </p:spPr>
        <p:txBody>
          <a:bodyPr wrap="square" lIns="18288" rIns="18288" tIns="0" bIns="0">
            <a:spAutoFit/>
          </a:bodyPr>
          <a:lstStyle/>
          <a:p>
            <a:pPr>
              <a:spcAft>
                <a:spcPts val="800"/>
              </a:spcAft>
              <a:defRPr sz="1300" b="0">
                <a:solidFill>
                  <a:srgbClr val="FFFFFF"/>
                </a:solidFill>
                <a:latin typeface="Lato"/>
              </a:defRPr>
            </a:pPr>
            <a:r>
              <a:t>7 October | Baseline, fuel input tables and decision log</a:t>
            </a:r>
          </a:p>
        </p:txBody>
      </p:sp>
      <p:sp>
        <p:nvSpPr>
          <p:cNvPr id="9" name="TextBox 8"/>
          <p:cNvSpPr txBox="1"/>
          <p:nvPr/>
        </p:nvSpPr>
        <p:spPr>
          <a:xfrm>
            <a:off x="594360" y="5696712"/>
            <a:ext cx="4572000" cy="274320"/>
          </a:xfrm>
          <a:prstGeom prst="rect">
            <a:avLst/>
          </a:prstGeom>
          <a:noFill/>
        </p:spPr>
        <p:txBody>
          <a:bodyPr wrap="square" lIns="18288" rIns="18288" tIns="0" bIns="0">
            <a:spAutoFit/>
          </a:bodyPr>
          <a:lstStyle/>
          <a:p>
            <a:pPr>
              <a:spcAft>
                <a:spcPts val="800"/>
              </a:spcAft>
              <a:defRPr sz="1300" b="0">
                <a:solidFill>
                  <a:srgbClr val="FFFFFF"/>
                </a:solidFill>
                <a:latin typeface="Lato"/>
              </a:defRPr>
            </a:pPr>
            <a:r>
              <a:t>7 October 2026</a:t>
            </a:r>
          </a:p>
        </p:txBody>
      </p:sp>
      <p:sp>
        <p:nvSpPr>
          <p:cNvPr id="10" name="TextBox 9"/>
          <p:cNvSpPr txBox="1"/>
          <p:nvPr/>
        </p:nvSpPr>
        <p:spPr>
          <a:xfrm>
            <a:off x="594360" y="6053328"/>
            <a:ext cx="4572000" cy="274320"/>
          </a:xfrm>
          <a:prstGeom prst="rect">
            <a:avLst/>
          </a:prstGeom>
          <a:noFill/>
        </p:spPr>
        <p:txBody>
          <a:bodyPr wrap="square" lIns="18288" rIns="18288" tIns="0" bIns="0">
            <a:spAutoFit/>
          </a:bodyPr>
          <a:lstStyle/>
          <a:p>
            <a:pPr>
              <a:spcAft>
                <a:spcPts val="800"/>
              </a:spcAft>
              <a:defRPr sz="1200" b="0">
                <a:solidFill>
                  <a:srgbClr val="FFFFFF"/>
                </a:solidFill>
                <a:latin typeface="Lato"/>
              </a:defRPr>
            </a:pPr>
            <a:r>
              <a:t>Internal working discussion</a:t>
            </a:r>
          </a:p>
        </p:txBody>
      </p:sp>
      <p:sp>
        <p:nvSpPr>
          <p:cNvPr id="11" name="Photo source credit">
            <a:hlinkClick r:id="rId4"/>
          </p:cNvPr>
          <p:cNvSpPr txBox="1"/>
          <p:nvPr/>
        </p:nvSpPr>
        <p:spPr>
          <a:xfrm>
            <a:off x="594360" y="6400800"/>
            <a:ext cx="4754880" cy="164592"/>
          </a:xfrm>
          <a:prstGeom prst="rect">
            <a:avLst/>
          </a:prstGeom>
          <a:noFill/>
        </p:spPr>
        <p:txBody>
          <a:bodyPr wrap="square" lIns="18288" rIns="18288" tIns="0" bIns="0">
            <a:spAutoFit/>
          </a:bodyPr>
          <a:lstStyle/>
          <a:p>
            <a:pPr algn="l">
              <a:spcAft>
                <a:spcPts val="800"/>
              </a:spcAft>
              <a:defRPr sz="800" b="0">
                <a:solidFill>
                  <a:srgbClr val="FFFFFF"/>
                </a:solidFill>
                <a:latin typeface="Lato"/>
              </a:defRPr>
            </a:pPr>
            <a:r>
              <a:t>Photo source: Royal Vopak | Terminal Durban | vopak.com</a:t>
            </a:r>
          </a:p>
        </p:txBody>
      </p:sp>
      <p:sp>
        <p:nvSpPr>
          <p:cNvPr id="12" name="Strictly Confidential footer"/>
          <p:cNvSpPr txBox="1"/>
          <p:nvPr/>
        </p:nvSpPr>
        <p:spPr>
          <a:xfrm>
            <a:off x="457200" y="6711696"/>
            <a:ext cx="2011680" cy="128016"/>
          </a:xfrm>
          <a:prstGeom prst="rect">
            <a:avLst/>
          </a:prstGeom>
          <a:noFill/>
        </p:spPr>
        <p:txBody>
          <a:bodyPr wrap="none" lIns="0" rIns="0" tIns="0" bIns="0">
            <a:spAutoFit/>
          </a:bodyPr>
          <a:lstStyle/>
          <a:p>
            <a:pPr>
              <a:spcBef>
                <a:spcPts val="0"/>
              </a:spcBef>
              <a:spcAft>
                <a:spcPts val="0"/>
              </a:spcAft>
              <a:defRPr sz="800">
                <a:solidFill>
                  <a:srgbClr val="BDBEC1"/>
                </a:solidFill>
                <a:latin typeface="Lato"/>
              </a:defRPr>
            </a:pPr>
            <a:r>
              <a:t>Strictly Confidential</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On customs trade, 2024 petrol and diesel sales exceed net imports by 7.7 bn litres</a:t>
            </a:r>
          </a:p>
        </p:txBody>
      </p:sp>
      <p:sp>
        <p:nvSpPr>
          <p:cNvPr id="3" name="TextBox 2"/>
          <p:cNvSpPr txBox="1"/>
          <p:nvPr/>
        </p:nvSpPr>
        <p:spPr>
          <a:xfrm>
            <a:off x="457200" y="1627632"/>
            <a:ext cx="10652760" cy="274320"/>
          </a:xfrm>
          <a:prstGeom prst="rect">
            <a:avLst/>
          </a:prstGeom>
          <a:noFill/>
        </p:spPr>
        <p:txBody>
          <a:bodyPr wrap="square" lIns="22860" rIns="22860" tIns="0" bIns="0">
            <a:spAutoFit/>
          </a:bodyPr>
          <a:lstStyle/>
          <a:p>
            <a:pPr>
              <a:spcAft>
                <a:spcPts val="300"/>
              </a:spcAft>
              <a:defRPr sz="1300" b="1">
                <a:solidFill>
                  <a:srgbClr val="11151A"/>
                </a:solidFill>
                <a:latin typeface="Lato"/>
              </a:defRPr>
            </a:pPr>
            <a:r>
              <a:t>Corrected balance | calendar years, billion litres | imports and exports from SARS customs</a:t>
            </a:r>
          </a:p>
        </p:txBody>
      </p:sp>
      <p:cxnSp>
        <p:nvCxnSpPr>
          <p:cNvPr id="4" name="Connector 3"/>
          <p:cNvCxnSpPr/>
          <p:nvPr/>
        </p:nvCxnSpPr>
        <p:spPr>
          <a:xfrm>
            <a:off x="457200" y="1920240"/>
            <a:ext cx="10652760" cy="0"/>
          </a:xfrm>
          <a:prstGeom prst="line">
            <a:avLst/>
          </a:prstGeom>
          <a:ln w="7620">
            <a:solidFill>
              <a:srgbClr val="A0A0A0"/>
            </a:solidFill>
          </a:ln>
        </p:spPr>
        <p:style>
          <a:lnRef idx="2">
            <a:schemeClr val="accent1"/>
          </a:lnRef>
          <a:fillRef idx="0">
            <a:schemeClr val="accent1"/>
          </a:fillRef>
          <a:effectRef idx="1">
            <a:schemeClr val="accent1"/>
          </a:effectRef>
          <a:fontRef idx="minor">
            <a:schemeClr val="tx1"/>
          </a:fontRef>
        </p:style>
      </p:cxnSp>
      <p:sp>
        <p:nvSpPr>
          <p:cNvPr id="5" name="TextBox 4"/>
          <p:cNvSpPr txBox="1"/>
          <p:nvPr/>
        </p:nvSpPr>
        <p:spPr>
          <a:xfrm>
            <a:off x="457200" y="6547104"/>
            <a:ext cx="9692640" cy="182880"/>
          </a:xfrm>
          <a:prstGeom prst="rect">
            <a:avLst/>
          </a:prstGeom>
          <a:noFill/>
        </p:spPr>
        <p:txBody>
          <a:bodyPr wrap="square" lIns="22860" rIns="22860" tIns="0" bIns="0">
            <a:spAutoFit/>
          </a:bodyPr>
          <a:lstStyle/>
          <a:p>
            <a:pPr>
              <a:spcAft>
                <a:spcPts val="300"/>
              </a:spcAft>
              <a:defRPr sz="800" b="0">
                <a:solidFill>
                  <a:srgbClr val="11151A"/>
                </a:solidFill>
                <a:latin typeface="Lato"/>
              </a:defRPr>
            </a:pPr>
            <a:r>
              <a:t>Source: fuel_balance_2026-10-06.md and its table on manish-branch, rebuilt 7 October 2026. Analyst's position, pending Nigel's review.</a:t>
            </a:r>
          </a:p>
        </p:txBody>
      </p:sp>
      <p:sp>
        <p:nvSpPr>
          <p:cNvPr id="6" name="TextBox 5"/>
          <p:cNvSpPr txBox="1"/>
          <p:nvPr/>
        </p:nvSpPr>
        <p:spPr>
          <a:xfrm>
            <a:off x="457200" y="6711696"/>
            <a:ext cx="2011680" cy="128016"/>
          </a:xfrm>
          <a:prstGeom prst="rect">
            <a:avLst/>
          </a:prstGeom>
          <a:noFill/>
        </p:spPr>
        <p:txBody>
          <a:bodyPr wrap="square" lIns="22860" rIns="22860" tIns="0" bIns="0">
            <a:spAutoFit/>
          </a:bodyPr>
          <a:lstStyle/>
          <a:p>
            <a:pPr>
              <a:spcAft>
                <a:spcPts val="300"/>
              </a:spcAft>
              <a:defRPr sz="700" b="0">
                <a:solidFill>
                  <a:srgbClr val="11151A"/>
                </a:solidFill>
                <a:latin typeface="Lato"/>
              </a:defRPr>
            </a:pPr>
            <a:r>
              <a:t>Strictly Confidential</a:t>
            </a:r>
          </a:p>
        </p:txBody>
      </p:sp>
      <p:sp>
        <p:nvSpPr>
          <p:cNvPr id="7" name="TextBox 6"/>
          <p:cNvSpPr txBox="1"/>
          <p:nvPr/>
        </p:nvSpPr>
        <p:spPr>
          <a:xfrm>
            <a:off x="1371600" y="2011680"/>
            <a:ext cx="4023360" cy="228600"/>
          </a:xfrm>
          <a:prstGeom prst="rect">
            <a:avLst/>
          </a:prstGeom>
          <a:noFill/>
        </p:spPr>
        <p:txBody>
          <a:bodyPr wrap="square" lIns="22860" rIns="22860" tIns="0" bIns="0">
            <a:spAutoFit/>
          </a:bodyPr>
          <a:lstStyle/>
          <a:p>
            <a:pPr>
              <a:spcAft>
                <a:spcPts val="300"/>
              </a:spcAft>
              <a:defRPr sz="1150" b="1">
                <a:solidFill>
                  <a:srgbClr val="0A2373"/>
                </a:solidFill>
                <a:latin typeface="Lato"/>
              </a:defRPr>
            </a:pPr>
            <a:r>
              <a:t>Petrol</a:t>
            </a:r>
          </a:p>
        </p:txBody>
      </p:sp>
      <p:sp>
        <p:nvSpPr>
          <p:cNvPr id="8" name="TextBox 7"/>
          <p:cNvSpPr txBox="1"/>
          <p:nvPr/>
        </p:nvSpPr>
        <p:spPr>
          <a:xfrm>
            <a:off x="5394960" y="2011680"/>
            <a:ext cx="4023360" cy="228600"/>
          </a:xfrm>
          <a:prstGeom prst="rect">
            <a:avLst/>
          </a:prstGeom>
          <a:noFill/>
        </p:spPr>
        <p:txBody>
          <a:bodyPr wrap="square" lIns="22860" rIns="22860" tIns="0" bIns="0">
            <a:spAutoFit/>
          </a:bodyPr>
          <a:lstStyle/>
          <a:p>
            <a:pPr>
              <a:spcAft>
                <a:spcPts val="300"/>
              </a:spcAft>
              <a:defRPr sz="1150" b="1">
                <a:solidFill>
                  <a:srgbClr val="0A2373"/>
                </a:solidFill>
                <a:latin typeface="Lato"/>
              </a:defRPr>
            </a:pPr>
            <a:r>
              <a:t>Diesel</a:t>
            </a:r>
          </a:p>
        </p:txBody>
      </p:sp>
      <p:graphicFrame>
        <p:nvGraphicFramePr>
          <p:cNvPr id="9" name="Table 8"/>
          <p:cNvGraphicFramePr>
            <a:graphicFrameLocks noGrp="1"/>
          </p:cNvGraphicFramePr>
          <p:nvPr/>
        </p:nvGraphicFramePr>
        <p:xfrm>
          <a:off x="457200" y="2267712"/>
          <a:ext cx="8961120" cy="3017520"/>
        </p:xfrm>
        <a:graphic>
          <a:graphicData uri="http://schemas.openxmlformats.org/drawingml/2006/table">
            <a:tbl>
              <a:tblPr firstRow="0" bandRow="0"/>
              <a:tblGrid>
                <a:gridCol w="914400"/>
                <a:gridCol w="1005840"/>
                <a:gridCol w="1005840"/>
                <a:gridCol w="1005840"/>
                <a:gridCol w="1005840"/>
                <a:gridCol w="1005840"/>
                <a:gridCol w="1005840"/>
                <a:gridCol w="1005840"/>
                <a:gridCol w="1005840"/>
              </a:tblGrid>
              <a:tr h="377190">
                <a:tc>
                  <a:txBody>
                    <a:bodyPr/>
                    <a:lstStyle/>
                    <a:p>
                      <a:pPr>
                        <a:spcAft>
                          <a:spcPts val="100"/>
                        </a:spcAft>
                        <a:defRPr sz="1100" b="1">
                          <a:solidFill>
                            <a:srgbClr val="0A2373"/>
                          </a:solidFill>
                          <a:latin typeface="Lato"/>
                        </a:defRPr>
                      </a:pPr>
                      <a:r>
                        <a:t>Year</a:t>
                      </a:r>
                    </a:p>
                  </a:txBody>
                  <a:tcPr marL="64008" marR="64008" marT="54864" marB="27432" anchor="t">
                    <a:lnL w="0">
                      <a:noFill/>
                    </a:lnL>
                    <a:lnR w="0">
                      <a:noFill/>
                    </a:lnR>
                    <a:lnT w="0">
                      <a:noFill/>
                    </a:lnT>
                    <a:lnB w="5080">
                      <a:solidFill>
                        <a:srgbClr val="B8B8B8"/>
                      </a:solidFill>
                    </a:lnB>
                    <a:solidFill>
                      <a:srgbClr val="FFFFFF"/>
                    </a:solidFill>
                  </a:tcPr>
                </a:tc>
                <a:tc>
                  <a:txBody>
                    <a:bodyPr/>
                    <a:lstStyle/>
                    <a:p>
                      <a:pPr algn="r">
                        <a:spcAft>
                          <a:spcPts val="100"/>
                        </a:spcAft>
                        <a:defRPr sz="1100" b="1">
                          <a:solidFill>
                            <a:srgbClr val="11151A"/>
                          </a:solidFill>
                          <a:latin typeface="Lato"/>
                        </a:defRPr>
                      </a:pPr>
                      <a:r>
                        <a:t>Sales</a:t>
                      </a:r>
                    </a:p>
                  </a:txBody>
                  <a:tcPr marL="64008" marR="64008" marT="54864" marB="27432" anchor="t">
                    <a:lnL w="0">
                      <a:noFill/>
                    </a:lnL>
                    <a:lnR w="0">
                      <a:noFill/>
                    </a:lnR>
                    <a:lnT w="0">
                      <a:noFill/>
                    </a:lnT>
                    <a:lnB w="5080">
                      <a:solidFill>
                        <a:srgbClr val="B8B8B8"/>
                      </a:solidFill>
                    </a:lnB>
                    <a:solidFill>
                      <a:srgbClr val="FFFFFF"/>
                    </a:solidFill>
                  </a:tcPr>
                </a:tc>
                <a:tc>
                  <a:txBody>
                    <a:bodyPr/>
                    <a:lstStyle/>
                    <a:p>
                      <a:pPr algn="r">
                        <a:spcAft>
                          <a:spcPts val="100"/>
                        </a:spcAft>
                        <a:defRPr sz="1100" b="1">
                          <a:solidFill>
                            <a:srgbClr val="11151A"/>
                          </a:solidFill>
                          <a:latin typeface="Lato"/>
                        </a:defRPr>
                      </a:pPr>
                      <a:r>
                        <a:t>Imports</a:t>
                      </a:r>
                    </a:p>
                  </a:txBody>
                  <a:tcPr marL="64008" marR="64008" marT="54864" marB="27432" anchor="t">
                    <a:lnL w="0">
                      <a:noFill/>
                    </a:lnL>
                    <a:lnR w="0">
                      <a:noFill/>
                    </a:lnR>
                    <a:lnT w="0">
                      <a:noFill/>
                    </a:lnT>
                    <a:lnB w="5080">
                      <a:solidFill>
                        <a:srgbClr val="B8B8B8"/>
                      </a:solidFill>
                    </a:lnB>
                    <a:solidFill>
                      <a:srgbClr val="FFFFFF"/>
                    </a:solidFill>
                  </a:tcPr>
                </a:tc>
                <a:tc>
                  <a:txBody>
                    <a:bodyPr/>
                    <a:lstStyle/>
                    <a:p>
                      <a:pPr algn="r">
                        <a:spcAft>
                          <a:spcPts val="100"/>
                        </a:spcAft>
                        <a:defRPr sz="1100" b="1">
                          <a:solidFill>
                            <a:srgbClr val="11151A"/>
                          </a:solidFill>
                          <a:latin typeface="Lato"/>
                        </a:defRPr>
                      </a:pPr>
                      <a:r>
                        <a:t>Exports</a:t>
                      </a:r>
                    </a:p>
                  </a:txBody>
                  <a:tcPr marL="64008" marR="64008" marT="54864" marB="27432" anchor="t">
                    <a:lnL w="0">
                      <a:noFill/>
                    </a:lnL>
                    <a:lnR w="0">
                      <a:noFill/>
                    </a:lnR>
                    <a:lnT w="0">
                      <a:noFill/>
                    </a:lnT>
                    <a:lnB w="5080">
                      <a:solidFill>
                        <a:srgbClr val="B8B8B8"/>
                      </a:solidFill>
                    </a:lnB>
                    <a:solidFill>
                      <a:srgbClr val="FFFFFF"/>
                    </a:solidFill>
                  </a:tcPr>
                </a:tc>
                <a:tc>
                  <a:txBody>
                    <a:bodyPr/>
                    <a:lstStyle/>
                    <a:p>
                      <a:pPr algn="r">
                        <a:spcAft>
                          <a:spcPts val="100"/>
                        </a:spcAft>
                        <a:defRPr sz="1100" b="1">
                          <a:solidFill>
                            <a:srgbClr val="11151A"/>
                          </a:solidFill>
                          <a:latin typeface="Lato"/>
                        </a:defRPr>
                      </a:pPr>
                      <a:r>
                        <a:t>Sales less</a:t>
                      </a:r>
                    </a:p>
                    <a:p>
                      <a:pPr algn="r">
                        <a:spcAft>
                          <a:spcPts val="100"/>
                        </a:spcAft>
                        <a:defRPr sz="1100" b="1">
                          <a:solidFill>
                            <a:srgbClr val="11151A"/>
                          </a:solidFill>
                          <a:latin typeface="Lato"/>
                        </a:defRPr>
                      </a:pPr>
                      <a:r>
                        <a:t>net imports</a:t>
                      </a:r>
                    </a:p>
                  </a:txBody>
                  <a:tcPr marL="64008" marR="64008" marT="54864" marB="27432" anchor="t">
                    <a:lnL w="0">
                      <a:noFill/>
                    </a:lnL>
                    <a:lnR w="0">
                      <a:noFill/>
                    </a:lnR>
                    <a:lnT w="0">
                      <a:noFill/>
                    </a:lnT>
                    <a:lnB w="5080">
                      <a:solidFill>
                        <a:srgbClr val="B8B8B8"/>
                      </a:solidFill>
                    </a:lnB>
                    <a:solidFill>
                      <a:srgbClr val="FFFFFF"/>
                    </a:solidFill>
                  </a:tcPr>
                </a:tc>
                <a:tc>
                  <a:txBody>
                    <a:bodyPr/>
                    <a:lstStyle/>
                    <a:p>
                      <a:pPr algn="r">
                        <a:spcAft>
                          <a:spcPts val="100"/>
                        </a:spcAft>
                        <a:defRPr sz="1100" b="1">
                          <a:solidFill>
                            <a:srgbClr val="11151A"/>
                          </a:solidFill>
                          <a:latin typeface="Lato"/>
                        </a:defRPr>
                      </a:pPr>
                      <a:r>
                        <a:t>Sales</a:t>
                      </a:r>
                    </a:p>
                  </a:txBody>
                  <a:tcPr marL="64008" marR="64008" marT="54864" marB="27432" anchor="t">
                    <a:lnL w="0">
                      <a:noFill/>
                    </a:lnL>
                    <a:lnR w="0">
                      <a:noFill/>
                    </a:lnR>
                    <a:lnT w="0">
                      <a:noFill/>
                    </a:lnT>
                    <a:lnB w="5080">
                      <a:solidFill>
                        <a:srgbClr val="B8B8B8"/>
                      </a:solidFill>
                    </a:lnB>
                    <a:solidFill>
                      <a:srgbClr val="FFFFFF"/>
                    </a:solidFill>
                  </a:tcPr>
                </a:tc>
                <a:tc>
                  <a:txBody>
                    <a:bodyPr/>
                    <a:lstStyle/>
                    <a:p>
                      <a:pPr algn="r">
                        <a:spcAft>
                          <a:spcPts val="100"/>
                        </a:spcAft>
                        <a:defRPr sz="1100" b="1">
                          <a:solidFill>
                            <a:srgbClr val="11151A"/>
                          </a:solidFill>
                          <a:latin typeface="Lato"/>
                        </a:defRPr>
                      </a:pPr>
                      <a:r>
                        <a:t>Imports</a:t>
                      </a:r>
                    </a:p>
                  </a:txBody>
                  <a:tcPr marL="64008" marR="64008" marT="54864" marB="27432" anchor="t">
                    <a:lnL w="0">
                      <a:noFill/>
                    </a:lnL>
                    <a:lnR w="0">
                      <a:noFill/>
                    </a:lnR>
                    <a:lnT w="0">
                      <a:noFill/>
                    </a:lnT>
                    <a:lnB w="5080">
                      <a:solidFill>
                        <a:srgbClr val="B8B8B8"/>
                      </a:solidFill>
                    </a:lnB>
                    <a:solidFill>
                      <a:srgbClr val="FFFFFF"/>
                    </a:solidFill>
                  </a:tcPr>
                </a:tc>
                <a:tc>
                  <a:txBody>
                    <a:bodyPr/>
                    <a:lstStyle/>
                    <a:p>
                      <a:pPr algn="r">
                        <a:spcAft>
                          <a:spcPts val="100"/>
                        </a:spcAft>
                        <a:defRPr sz="1100" b="1">
                          <a:solidFill>
                            <a:srgbClr val="11151A"/>
                          </a:solidFill>
                          <a:latin typeface="Lato"/>
                        </a:defRPr>
                      </a:pPr>
                      <a:r>
                        <a:t>Exports</a:t>
                      </a:r>
                    </a:p>
                  </a:txBody>
                  <a:tcPr marL="64008" marR="64008" marT="54864" marB="27432" anchor="t">
                    <a:lnL w="0">
                      <a:noFill/>
                    </a:lnL>
                    <a:lnR w="0">
                      <a:noFill/>
                    </a:lnR>
                    <a:lnT w="0">
                      <a:noFill/>
                    </a:lnT>
                    <a:lnB w="5080">
                      <a:solidFill>
                        <a:srgbClr val="B8B8B8"/>
                      </a:solidFill>
                    </a:lnB>
                    <a:solidFill>
                      <a:srgbClr val="FFFFFF"/>
                    </a:solidFill>
                  </a:tcPr>
                </a:tc>
                <a:tc>
                  <a:txBody>
                    <a:bodyPr/>
                    <a:lstStyle/>
                    <a:p>
                      <a:pPr algn="r">
                        <a:spcAft>
                          <a:spcPts val="100"/>
                        </a:spcAft>
                        <a:defRPr sz="1100" b="1">
                          <a:solidFill>
                            <a:srgbClr val="11151A"/>
                          </a:solidFill>
                          <a:latin typeface="Lato"/>
                        </a:defRPr>
                      </a:pPr>
                      <a:r>
                        <a:t>Sales less</a:t>
                      </a:r>
                    </a:p>
                    <a:p>
                      <a:pPr algn="r">
                        <a:spcAft>
                          <a:spcPts val="100"/>
                        </a:spcAft>
                        <a:defRPr sz="1100" b="1">
                          <a:solidFill>
                            <a:srgbClr val="11151A"/>
                          </a:solidFill>
                          <a:latin typeface="Lato"/>
                        </a:defRPr>
                      </a:pPr>
                      <a:r>
                        <a:t>net imports</a:t>
                      </a:r>
                    </a:p>
                  </a:txBody>
                  <a:tcPr marL="64008" marR="64008" marT="54864" marB="27432" anchor="t">
                    <a:lnL w="0">
                      <a:noFill/>
                    </a:lnL>
                    <a:lnR w="0">
                      <a:noFill/>
                    </a:lnR>
                    <a:lnT w="0">
                      <a:noFill/>
                    </a:lnT>
                    <a:lnB w="5080">
                      <a:solidFill>
                        <a:srgbClr val="B8B8B8"/>
                      </a:solidFill>
                    </a:lnB>
                    <a:solidFill>
                      <a:srgbClr val="FFFFFF"/>
                    </a:solidFill>
                  </a:tcPr>
                </a:tc>
              </a:tr>
              <a:tr h="377190">
                <a:tc>
                  <a:txBody>
                    <a:bodyPr/>
                    <a:lstStyle/>
                    <a:p>
                      <a:pPr>
                        <a:spcAft>
                          <a:spcPts val="100"/>
                        </a:spcAft>
                        <a:defRPr sz="1100" b="1">
                          <a:solidFill>
                            <a:srgbClr val="0A2373"/>
                          </a:solidFill>
                          <a:latin typeface="Lato"/>
                        </a:defRPr>
                      </a:pPr>
                      <a:r>
                        <a:t>2019</a:t>
                      </a:r>
                    </a:p>
                  </a:txBody>
                  <a:tcPr marL="64008" marR="64008" marT="54864" marB="27432" anchor="t">
                    <a:lnL w="0">
                      <a:noFill/>
                    </a:lnL>
                    <a:lnR w="0">
                      <a:noFill/>
                    </a:lnR>
                    <a:lnT w="0">
                      <a:noFill/>
                    </a:lnT>
                    <a:lnB w="5080">
                      <a:solidFill>
                        <a:srgbClr val="B8B8B8"/>
                      </a:solidFill>
                    </a:lnB>
                    <a:solidFill>
                      <a:srgbClr val="FFFFFF"/>
                    </a:solidFill>
                  </a:tcPr>
                </a:tc>
                <a:tc>
                  <a:txBody>
                    <a:bodyPr/>
                    <a:lstStyle/>
                    <a:p>
                      <a:pPr algn="r">
                        <a:spcAft>
                          <a:spcPts val="100"/>
                        </a:spcAft>
                        <a:defRPr sz="1100" b="0">
                          <a:solidFill>
                            <a:srgbClr val="11151A"/>
                          </a:solidFill>
                          <a:latin typeface="Lato"/>
                        </a:defRPr>
                      </a:pPr>
                      <a:r>
                        <a:t>10.77</a:t>
                      </a:r>
                    </a:p>
                  </a:txBody>
                  <a:tcPr marL="64008" marR="64008" marT="54864" marB="27432" anchor="t">
                    <a:lnL w="0">
                      <a:noFill/>
                    </a:lnL>
                    <a:lnR w="0">
                      <a:noFill/>
                    </a:lnR>
                    <a:lnT w="0">
                      <a:noFill/>
                    </a:lnT>
                    <a:lnB w="5080">
                      <a:solidFill>
                        <a:srgbClr val="B8B8B8"/>
                      </a:solidFill>
                    </a:lnB>
                    <a:solidFill>
                      <a:srgbClr val="FFFFFF"/>
                    </a:solidFill>
                  </a:tcPr>
                </a:tc>
                <a:tc>
                  <a:txBody>
                    <a:bodyPr/>
                    <a:lstStyle/>
                    <a:p>
                      <a:pPr algn="r">
                        <a:spcAft>
                          <a:spcPts val="100"/>
                        </a:spcAft>
                        <a:defRPr sz="1100" b="0">
                          <a:solidFill>
                            <a:srgbClr val="11151A"/>
                          </a:solidFill>
                          <a:latin typeface="Lato"/>
                        </a:defRPr>
                      </a:pPr>
                      <a:r>
                        <a:t>1.48</a:t>
                      </a:r>
                    </a:p>
                  </a:txBody>
                  <a:tcPr marL="64008" marR="64008" marT="54864" marB="27432" anchor="t">
                    <a:lnL w="0">
                      <a:noFill/>
                    </a:lnL>
                    <a:lnR w="0">
                      <a:noFill/>
                    </a:lnR>
                    <a:lnT w="0">
                      <a:noFill/>
                    </a:lnT>
                    <a:lnB w="5080">
                      <a:solidFill>
                        <a:srgbClr val="B8B8B8"/>
                      </a:solidFill>
                    </a:lnB>
                    <a:solidFill>
                      <a:srgbClr val="FFFFFF"/>
                    </a:solidFill>
                  </a:tcPr>
                </a:tc>
                <a:tc>
                  <a:txBody>
                    <a:bodyPr/>
                    <a:lstStyle/>
                    <a:p>
                      <a:pPr algn="r">
                        <a:spcAft>
                          <a:spcPts val="100"/>
                        </a:spcAft>
                        <a:defRPr sz="1100" b="0">
                          <a:solidFill>
                            <a:srgbClr val="11151A"/>
                          </a:solidFill>
                          <a:latin typeface="Lato"/>
                        </a:defRPr>
                      </a:pPr>
                      <a:r>
                        <a:t>1.17</a:t>
                      </a:r>
                    </a:p>
                  </a:txBody>
                  <a:tcPr marL="64008" marR="64008" marT="54864" marB="27432" anchor="t">
                    <a:lnL w="0">
                      <a:noFill/>
                    </a:lnL>
                    <a:lnR w="0">
                      <a:noFill/>
                    </a:lnR>
                    <a:lnT w="0">
                      <a:noFill/>
                    </a:lnT>
                    <a:lnB w="5080">
                      <a:solidFill>
                        <a:srgbClr val="B8B8B8"/>
                      </a:solidFill>
                    </a:lnB>
                    <a:solidFill>
                      <a:srgbClr val="FFFFFF"/>
                    </a:solidFill>
                  </a:tcPr>
                </a:tc>
                <a:tc>
                  <a:txBody>
                    <a:bodyPr/>
                    <a:lstStyle/>
                    <a:p>
                      <a:pPr algn="r">
                        <a:spcAft>
                          <a:spcPts val="100"/>
                        </a:spcAft>
                        <a:defRPr sz="1100" b="0">
                          <a:solidFill>
                            <a:srgbClr val="11151A"/>
                          </a:solidFill>
                          <a:latin typeface="Lato"/>
                        </a:defRPr>
                      </a:pPr>
                      <a:r>
                        <a:t>10.47</a:t>
                      </a:r>
                    </a:p>
                  </a:txBody>
                  <a:tcPr marL="64008" marR="64008" marT="54864" marB="27432" anchor="t">
                    <a:lnL w="0">
                      <a:noFill/>
                    </a:lnL>
                    <a:lnR w="0">
                      <a:noFill/>
                    </a:lnR>
                    <a:lnT w="0">
                      <a:noFill/>
                    </a:lnT>
                    <a:lnB w="5080">
                      <a:solidFill>
                        <a:srgbClr val="B8B8B8"/>
                      </a:solidFill>
                    </a:lnB>
                    <a:solidFill>
                      <a:srgbClr val="FFFFFF"/>
                    </a:solidFill>
                  </a:tcPr>
                </a:tc>
                <a:tc>
                  <a:txBody>
                    <a:bodyPr/>
                    <a:lstStyle/>
                    <a:p>
                      <a:pPr algn="r">
                        <a:spcAft>
                          <a:spcPts val="100"/>
                        </a:spcAft>
                        <a:defRPr sz="1100" b="0">
                          <a:solidFill>
                            <a:srgbClr val="11151A"/>
                          </a:solidFill>
                          <a:latin typeface="Lato"/>
                        </a:defRPr>
                      </a:pPr>
                      <a:r>
                        <a:t>12.91</a:t>
                      </a:r>
                    </a:p>
                  </a:txBody>
                  <a:tcPr marL="64008" marR="64008" marT="54864" marB="27432" anchor="t">
                    <a:lnL w="0">
                      <a:noFill/>
                    </a:lnL>
                    <a:lnR w="0">
                      <a:noFill/>
                    </a:lnR>
                    <a:lnT w="0">
                      <a:noFill/>
                    </a:lnT>
                    <a:lnB w="5080">
                      <a:solidFill>
                        <a:srgbClr val="B8B8B8"/>
                      </a:solidFill>
                    </a:lnB>
                    <a:solidFill>
                      <a:srgbClr val="FFFFFF"/>
                    </a:solidFill>
                  </a:tcPr>
                </a:tc>
                <a:tc>
                  <a:txBody>
                    <a:bodyPr/>
                    <a:lstStyle/>
                    <a:p>
                      <a:pPr algn="r">
                        <a:spcAft>
                          <a:spcPts val="100"/>
                        </a:spcAft>
                        <a:defRPr sz="1100" b="0">
                          <a:solidFill>
                            <a:srgbClr val="11151A"/>
                          </a:solidFill>
                          <a:latin typeface="Lato"/>
                        </a:defRPr>
                      </a:pPr>
                      <a:r>
                        <a:t>5.59</a:t>
                      </a:r>
                    </a:p>
                  </a:txBody>
                  <a:tcPr marL="64008" marR="64008" marT="54864" marB="27432" anchor="t">
                    <a:lnL w="0">
                      <a:noFill/>
                    </a:lnL>
                    <a:lnR w="0">
                      <a:noFill/>
                    </a:lnR>
                    <a:lnT w="0">
                      <a:noFill/>
                    </a:lnT>
                    <a:lnB w="5080">
                      <a:solidFill>
                        <a:srgbClr val="B8B8B8"/>
                      </a:solidFill>
                    </a:lnB>
                    <a:solidFill>
                      <a:srgbClr val="FFFFFF"/>
                    </a:solidFill>
                  </a:tcPr>
                </a:tc>
                <a:tc>
                  <a:txBody>
                    <a:bodyPr/>
                    <a:lstStyle/>
                    <a:p>
                      <a:pPr algn="r">
                        <a:spcAft>
                          <a:spcPts val="100"/>
                        </a:spcAft>
                        <a:defRPr sz="1100" b="0">
                          <a:solidFill>
                            <a:srgbClr val="11151A"/>
                          </a:solidFill>
                          <a:latin typeface="Lato"/>
                        </a:defRPr>
                      </a:pPr>
                      <a:r>
                        <a:t>1.74</a:t>
                      </a:r>
                    </a:p>
                  </a:txBody>
                  <a:tcPr marL="64008" marR="64008" marT="54864" marB="27432" anchor="t">
                    <a:lnL w="0">
                      <a:noFill/>
                    </a:lnL>
                    <a:lnR w="0">
                      <a:noFill/>
                    </a:lnR>
                    <a:lnT w="0">
                      <a:noFill/>
                    </a:lnT>
                    <a:lnB w="5080">
                      <a:solidFill>
                        <a:srgbClr val="B8B8B8"/>
                      </a:solidFill>
                    </a:lnB>
                    <a:solidFill>
                      <a:srgbClr val="FFFFFF"/>
                    </a:solidFill>
                  </a:tcPr>
                </a:tc>
                <a:tc>
                  <a:txBody>
                    <a:bodyPr/>
                    <a:lstStyle/>
                    <a:p>
                      <a:pPr algn="r">
                        <a:spcAft>
                          <a:spcPts val="100"/>
                        </a:spcAft>
                        <a:defRPr sz="1100" b="0">
                          <a:solidFill>
                            <a:srgbClr val="11151A"/>
                          </a:solidFill>
                          <a:latin typeface="Lato"/>
                        </a:defRPr>
                      </a:pPr>
                      <a:r>
                        <a:t>9.06</a:t>
                      </a:r>
                    </a:p>
                  </a:txBody>
                  <a:tcPr marL="64008" marR="64008" marT="54864" marB="27432" anchor="t">
                    <a:lnL w="0">
                      <a:noFill/>
                    </a:lnL>
                    <a:lnR w="0">
                      <a:noFill/>
                    </a:lnR>
                    <a:lnT w="0">
                      <a:noFill/>
                    </a:lnT>
                    <a:lnB w="5080">
                      <a:solidFill>
                        <a:srgbClr val="B8B8B8"/>
                      </a:solidFill>
                    </a:lnB>
                    <a:solidFill>
                      <a:srgbClr val="FFFFFF"/>
                    </a:solidFill>
                  </a:tcPr>
                </a:tc>
              </a:tr>
              <a:tr h="377190">
                <a:tc>
                  <a:txBody>
                    <a:bodyPr/>
                    <a:lstStyle/>
                    <a:p>
                      <a:pPr>
                        <a:spcAft>
                          <a:spcPts val="100"/>
                        </a:spcAft>
                        <a:defRPr sz="1100" b="1">
                          <a:solidFill>
                            <a:srgbClr val="0A2373"/>
                          </a:solidFill>
                          <a:latin typeface="Lato"/>
                        </a:defRPr>
                      </a:pPr>
                      <a:r>
                        <a:t>2020</a:t>
                      </a:r>
                    </a:p>
                  </a:txBody>
                  <a:tcPr marL="64008" marR="64008" marT="54864" marB="27432" anchor="t">
                    <a:lnL w="0">
                      <a:noFill/>
                    </a:lnL>
                    <a:lnR w="0">
                      <a:noFill/>
                    </a:lnR>
                    <a:lnT w="0">
                      <a:noFill/>
                    </a:lnT>
                    <a:lnB w="5080">
                      <a:solidFill>
                        <a:srgbClr val="B8B8B8"/>
                      </a:solidFill>
                    </a:lnB>
                    <a:solidFill>
                      <a:srgbClr val="FFFFFF"/>
                    </a:solidFill>
                  </a:tcPr>
                </a:tc>
                <a:tc>
                  <a:txBody>
                    <a:bodyPr/>
                    <a:lstStyle/>
                    <a:p>
                      <a:pPr algn="r">
                        <a:spcAft>
                          <a:spcPts val="100"/>
                        </a:spcAft>
                        <a:defRPr sz="1100" b="0">
                          <a:solidFill>
                            <a:srgbClr val="11151A"/>
                          </a:solidFill>
                          <a:latin typeface="Lato"/>
                        </a:defRPr>
                      </a:pPr>
                      <a:r>
                        <a:t>8.76</a:t>
                      </a:r>
                    </a:p>
                  </a:txBody>
                  <a:tcPr marL="64008" marR="64008" marT="54864" marB="27432" anchor="t">
                    <a:lnL w="0">
                      <a:noFill/>
                    </a:lnL>
                    <a:lnR w="0">
                      <a:noFill/>
                    </a:lnR>
                    <a:lnT w="0">
                      <a:noFill/>
                    </a:lnT>
                    <a:lnB w="5080">
                      <a:solidFill>
                        <a:srgbClr val="B8B8B8"/>
                      </a:solidFill>
                    </a:lnB>
                    <a:solidFill>
                      <a:srgbClr val="FFFFFF"/>
                    </a:solidFill>
                  </a:tcPr>
                </a:tc>
                <a:tc>
                  <a:txBody>
                    <a:bodyPr/>
                    <a:lstStyle/>
                    <a:p>
                      <a:pPr algn="r">
                        <a:spcAft>
                          <a:spcPts val="100"/>
                        </a:spcAft>
                        <a:defRPr sz="1100" b="0">
                          <a:solidFill>
                            <a:srgbClr val="11151A"/>
                          </a:solidFill>
                          <a:latin typeface="Lato"/>
                        </a:defRPr>
                      </a:pPr>
                      <a:r>
                        <a:t>1.72</a:t>
                      </a:r>
                    </a:p>
                  </a:txBody>
                  <a:tcPr marL="64008" marR="64008" marT="54864" marB="27432" anchor="t">
                    <a:lnL w="0">
                      <a:noFill/>
                    </a:lnL>
                    <a:lnR w="0">
                      <a:noFill/>
                    </a:lnR>
                    <a:lnT w="0">
                      <a:noFill/>
                    </a:lnT>
                    <a:lnB w="5080">
                      <a:solidFill>
                        <a:srgbClr val="B8B8B8"/>
                      </a:solidFill>
                    </a:lnB>
                    <a:solidFill>
                      <a:srgbClr val="FFFFFF"/>
                    </a:solidFill>
                  </a:tcPr>
                </a:tc>
                <a:tc>
                  <a:txBody>
                    <a:bodyPr/>
                    <a:lstStyle/>
                    <a:p>
                      <a:pPr algn="r">
                        <a:spcAft>
                          <a:spcPts val="100"/>
                        </a:spcAft>
                        <a:defRPr sz="1100" b="0">
                          <a:solidFill>
                            <a:srgbClr val="11151A"/>
                          </a:solidFill>
                          <a:latin typeface="Lato"/>
                        </a:defRPr>
                      </a:pPr>
                      <a:r>
                        <a:t>1.15</a:t>
                      </a:r>
                    </a:p>
                  </a:txBody>
                  <a:tcPr marL="64008" marR="64008" marT="54864" marB="27432" anchor="t">
                    <a:lnL w="0">
                      <a:noFill/>
                    </a:lnL>
                    <a:lnR w="0">
                      <a:noFill/>
                    </a:lnR>
                    <a:lnT w="0">
                      <a:noFill/>
                    </a:lnT>
                    <a:lnB w="5080">
                      <a:solidFill>
                        <a:srgbClr val="B8B8B8"/>
                      </a:solidFill>
                    </a:lnB>
                    <a:solidFill>
                      <a:srgbClr val="FFFFFF"/>
                    </a:solidFill>
                  </a:tcPr>
                </a:tc>
                <a:tc>
                  <a:txBody>
                    <a:bodyPr/>
                    <a:lstStyle/>
                    <a:p>
                      <a:pPr algn="r">
                        <a:spcAft>
                          <a:spcPts val="100"/>
                        </a:spcAft>
                        <a:defRPr sz="1100" b="0">
                          <a:solidFill>
                            <a:srgbClr val="11151A"/>
                          </a:solidFill>
                          <a:latin typeface="Lato"/>
                        </a:defRPr>
                      </a:pPr>
                      <a:r>
                        <a:t>8.20</a:t>
                      </a:r>
                    </a:p>
                  </a:txBody>
                  <a:tcPr marL="64008" marR="64008" marT="54864" marB="27432" anchor="t">
                    <a:lnL w="0">
                      <a:noFill/>
                    </a:lnL>
                    <a:lnR w="0">
                      <a:noFill/>
                    </a:lnR>
                    <a:lnT w="0">
                      <a:noFill/>
                    </a:lnT>
                    <a:lnB w="5080">
                      <a:solidFill>
                        <a:srgbClr val="B8B8B8"/>
                      </a:solidFill>
                    </a:lnB>
                    <a:solidFill>
                      <a:srgbClr val="FFFFFF"/>
                    </a:solidFill>
                  </a:tcPr>
                </a:tc>
                <a:tc>
                  <a:txBody>
                    <a:bodyPr/>
                    <a:lstStyle/>
                    <a:p>
                      <a:pPr algn="r">
                        <a:spcAft>
                          <a:spcPts val="100"/>
                        </a:spcAft>
                        <a:defRPr sz="1100" b="0">
                          <a:solidFill>
                            <a:srgbClr val="11151A"/>
                          </a:solidFill>
                          <a:latin typeface="Lato"/>
                        </a:defRPr>
                      </a:pPr>
                      <a:r>
                        <a:t>11.69</a:t>
                      </a:r>
                    </a:p>
                  </a:txBody>
                  <a:tcPr marL="64008" marR="64008" marT="54864" marB="27432" anchor="t">
                    <a:lnL w="0">
                      <a:noFill/>
                    </a:lnL>
                    <a:lnR w="0">
                      <a:noFill/>
                    </a:lnR>
                    <a:lnT w="0">
                      <a:noFill/>
                    </a:lnT>
                    <a:lnB w="5080">
                      <a:solidFill>
                        <a:srgbClr val="B8B8B8"/>
                      </a:solidFill>
                    </a:lnB>
                    <a:solidFill>
                      <a:srgbClr val="FFFFFF"/>
                    </a:solidFill>
                  </a:tcPr>
                </a:tc>
                <a:tc>
                  <a:txBody>
                    <a:bodyPr/>
                    <a:lstStyle/>
                    <a:p>
                      <a:pPr algn="r">
                        <a:spcAft>
                          <a:spcPts val="100"/>
                        </a:spcAft>
                        <a:defRPr sz="1100" b="0">
                          <a:solidFill>
                            <a:srgbClr val="11151A"/>
                          </a:solidFill>
                          <a:latin typeface="Lato"/>
                        </a:defRPr>
                      </a:pPr>
                      <a:r>
                        <a:t>6.81</a:t>
                      </a:r>
                    </a:p>
                  </a:txBody>
                  <a:tcPr marL="64008" marR="64008" marT="54864" marB="27432" anchor="t">
                    <a:lnL w="0">
                      <a:noFill/>
                    </a:lnL>
                    <a:lnR w="0">
                      <a:noFill/>
                    </a:lnR>
                    <a:lnT w="0">
                      <a:noFill/>
                    </a:lnT>
                    <a:lnB w="5080">
                      <a:solidFill>
                        <a:srgbClr val="B8B8B8"/>
                      </a:solidFill>
                    </a:lnB>
                    <a:solidFill>
                      <a:srgbClr val="FFFFFF"/>
                    </a:solidFill>
                  </a:tcPr>
                </a:tc>
                <a:tc>
                  <a:txBody>
                    <a:bodyPr/>
                    <a:lstStyle/>
                    <a:p>
                      <a:pPr algn="r">
                        <a:spcAft>
                          <a:spcPts val="100"/>
                        </a:spcAft>
                        <a:defRPr sz="1100" b="0">
                          <a:solidFill>
                            <a:srgbClr val="11151A"/>
                          </a:solidFill>
                          <a:latin typeface="Lato"/>
                        </a:defRPr>
                      </a:pPr>
                      <a:r>
                        <a:t>0.91</a:t>
                      </a:r>
                    </a:p>
                  </a:txBody>
                  <a:tcPr marL="64008" marR="64008" marT="54864" marB="27432" anchor="t">
                    <a:lnL w="0">
                      <a:noFill/>
                    </a:lnL>
                    <a:lnR w="0">
                      <a:noFill/>
                    </a:lnR>
                    <a:lnT w="0">
                      <a:noFill/>
                    </a:lnT>
                    <a:lnB w="5080">
                      <a:solidFill>
                        <a:srgbClr val="B8B8B8"/>
                      </a:solidFill>
                    </a:lnB>
                    <a:solidFill>
                      <a:srgbClr val="FFFFFF"/>
                    </a:solidFill>
                  </a:tcPr>
                </a:tc>
                <a:tc>
                  <a:txBody>
                    <a:bodyPr/>
                    <a:lstStyle/>
                    <a:p>
                      <a:pPr algn="r">
                        <a:spcAft>
                          <a:spcPts val="100"/>
                        </a:spcAft>
                        <a:defRPr sz="1100" b="0">
                          <a:solidFill>
                            <a:srgbClr val="11151A"/>
                          </a:solidFill>
                          <a:latin typeface="Lato"/>
                        </a:defRPr>
                      </a:pPr>
                      <a:r>
                        <a:t>5.79</a:t>
                      </a:r>
                    </a:p>
                  </a:txBody>
                  <a:tcPr marL="64008" marR="64008" marT="54864" marB="27432" anchor="t">
                    <a:lnL w="0">
                      <a:noFill/>
                    </a:lnL>
                    <a:lnR w="0">
                      <a:noFill/>
                    </a:lnR>
                    <a:lnT w="0">
                      <a:noFill/>
                    </a:lnT>
                    <a:lnB w="5080">
                      <a:solidFill>
                        <a:srgbClr val="B8B8B8"/>
                      </a:solidFill>
                    </a:lnB>
                    <a:solidFill>
                      <a:srgbClr val="FFFFFF"/>
                    </a:solidFill>
                  </a:tcPr>
                </a:tc>
              </a:tr>
              <a:tr h="377190">
                <a:tc>
                  <a:txBody>
                    <a:bodyPr/>
                    <a:lstStyle/>
                    <a:p>
                      <a:pPr>
                        <a:spcAft>
                          <a:spcPts val="100"/>
                        </a:spcAft>
                        <a:defRPr sz="1100" b="1">
                          <a:solidFill>
                            <a:srgbClr val="0A2373"/>
                          </a:solidFill>
                          <a:latin typeface="Lato"/>
                        </a:defRPr>
                      </a:pPr>
                      <a:r>
                        <a:t>2021</a:t>
                      </a:r>
                    </a:p>
                  </a:txBody>
                  <a:tcPr marL="64008" marR="64008" marT="54864" marB="27432" anchor="t">
                    <a:lnL w="0">
                      <a:noFill/>
                    </a:lnL>
                    <a:lnR w="0">
                      <a:noFill/>
                    </a:lnR>
                    <a:lnT w="0">
                      <a:noFill/>
                    </a:lnT>
                    <a:lnB w="5080">
                      <a:solidFill>
                        <a:srgbClr val="B8B8B8"/>
                      </a:solidFill>
                    </a:lnB>
                    <a:solidFill>
                      <a:srgbClr val="FFFFFF"/>
                    </a:solidFill>
                  </a:tcPr>
                </a:tc>
                <a:tc>
                  <a:txBody>
                    <a:bodyPr/>
                    <a:lstStyle/>
                    <a:p>
                      <a:pPr algn="r">
                        <a:spcAft>
                          <a:spcPts val="100"/>
                        </a:spcAft>
                        <a:defRPr sz="1100" b="0">
                          <a:solidFill>
                            <a:srgbClr val="11151A"/>
                          </a:solidFill>
                          <a:latin typeface="Lato"/>
                        </a:defRPr>
                      </a:pPr>
                      <a:r>
                        <a:t>9.30</a:t>
                      </a:r>
                    </a:p>
                  </a:txBody>
                  <a:tcPr marL="64008" marR="64008" marT="54864" marB="27432" anchor="t">
                    <a:lnL w="0">
                      <a:noFill/>
                    </a:lnL>
                    <a:lnR w="0">
                      <a:noFill/>
                    </a:lnR>
                    <a:lnT w="0">
                      <a:noFill/>
                    </a:lnT>
                    <a:lnB w="5080">
                      <a:solidFill>
                        <a:srgbClr val="B8B8B8"/>
                      </a:solidFill>
                    </a:lnB>
                    <a:solidFill>
                      <a:srgbClr val="FFFFFF"/>
                    </a:solidFill>
                  </a:tcPr>
                </a:tc>
                <a:tc>
                  <a:txBody>
                    <a:bodyPr/>
                    <a:lstStyle/>
                    <a:p>
                      <a:pPr algn="r">
                        <a:spcAft>
                          <a:spcPts val="100"/>
                        </a:spcAft>
                        <a:defRPr sz="1100" b="0">
                          <a:solidFill>
                            <a:srgbClr val="11151A"/>
                          </a:solidFill>
                          <a:latin typeface="Lato"/>
                        </a:defRPr>
                      </a:pPr>
                      <a:r>
                        <a:t>4.01</a:t>
                      </a:r>
                    </a:p>
                  </a:txBody>
                  <a:tcPr marL="64008" marR="64008" marT="54864" marB="27432" anchor="t">
                    <a:lnL w="0">
                      <a:noFill/>
                    </a:lnL>
                    <a:lnR w="0">
                      <a:noFill/>
                    </a:lnR>
                    <a:lnT w="0">
                      <a:noFill/>
                    </a:lnT>
                    <a:lnB w="5080">
                      <a:solidFill>
                        <a:srgbClr val="B8B8B8"/>
                      </a:solidFill>
                    </a:lnB>
                    <a:solidFill>
                      <a:srgbClr val="FFFFFF"/>
                    </a:solidFill>
                  </a:tcPr>
                </a:tc>
                <a:tc>
                  <a:txBody>
                    <a:bodyPr/>
                    <a:lstStyle/>
                    <a:p>
                      <a:pPr algn="r">
                        <a:spcAft>
                          <a:spcPts val="100"/>
                        </a:spcAft>
                        <a:defRPr sz="1100" b="0">
                          <a:solidFill>
                            <a:srgbClr val="11151A"/>
                          </a:solidFill>
                          <a:latin typeface="Lato"/>
                        </a:defRPr>
                      </a:pPr>
                      <a:r>
                        <a:t>1.05</a:t>
                      </a:r>
                    </a:p>
                  </a:txBody>
                  <a:tcPr marL="64008" marR="64008" marT="54864" marB="27432" anchor="t">
                    <a:lnL w="0">
                      <a:noFill/>
                    </a:lnL>
                    <a:lnR w="0">
                      <a:noFill/>
                    </a:lnR>
                    <a:lnT w="0">
                      <a:noFill/>
                    </a:lnT>
                    <a:lnB w="5080">
                      <a:solidFill>
                        <a:srgbClr val="B8B8B8"/>
                      </a:solidFill>
                    </a:lnB>
                    <a:solidFill>
                      <a:srgbClr val="FFFFFF"/>
                    </a:solidFill>
                  </a:tcPr>
                </a:tc>
                <a:tc>
                  <a:txBody>
                    <a:bodyPr/>
                    <a:lstStyle/>
                    <a:p>
                      <a:pPr algn="r">
                        <a:spcAft>
                          <a:spcPts val="100"/>
                        </a:spcAft>
                        <a:defRPr sz="1100" b="0">
                          <a:solidFill>
                            <a:srgbClr val="11151A"/>
                          </a:solidFill>
                          <a:latin typeface="Lato"/>
                        </a:defRPr>
                      </a:pPr>
                      <a:r>
                        <a:t>6.35</a:t>
                      </a:r>
                    </a:p>
                  </a:txBody>
                  <a:tcPr marL="64008" marR="64008" marT="54864" marB="27432" anchor="t">
                    <a:lnL w="0">
                      <a:noFill/>
                    </a:lnL>
                    <a:lnR w="0">
                      <a:noFill/>
                    </a:lnR>
                    <a:lnT w="0">
                      <a:noFill/>
                    </a:lnT>
                    <a:lnB w="5080">
                      <a:solidFill>
                        <a:srgbClr val="B8B8B8"/>
                      </a:solidFill>
                    </a:lnB>
                    <a:solidFill>
                      <a:srgbClr val="FFFFFF"/>
                    </a:solidFill>
                  </a:tcPr>
                </a:tc>
                <a:tc>
                  <a:txBody>
                    <a:bodyPr/>
                    <a:lstStyle/>
                    <a:p>
                      <a:pPr algn="r">
                        <a:spcAft>
                          <a:spcPts val="100"/>
                        </a:spcAft>
                        <a:defRPr sz="1100" b="0">
                          <a:solidFill>
                            <a:srgbClr val="11151A"/>
                          </a:solidFill>
                          <a:latin typeface="Lato"/>
                        </a:defRPr>
                      </a:pPr>
                      <a:r>
                        <a:t>12.95</a:t>
                      </a:r>
                    </a:p>
                  </a:txBody>
                  <a:tcPr marL="64008" marR="64008" marT="54864" marB="27432" anchor="t">
                    <a:lnL w="0">
                      <a:noFill/>
                    </a:lnL>
                    <a:lnR w="0">
                      <a:noFill/>
                    </a:lnR>
                    <a:lnT w="0">
                      <a:noFill/>
                    </a:lnT>
                    <a:lnB w="5080">
                      <a:solidFill>
                        <a:srgbClr val="B8B8B8"/>
                      </a:solidFill>
                    </a:lnB>
                    <a:solidFill>
                      <a:srgbClr val="FFFFFF"/>
                    </a:solidFill>
                  </a:tcPr>
                </a:tc>
                <a:tc>
                  <a:txBody>
                    <a:bodyPr/>
                    <a:lstStyle/>
                    <a:p>
                      <a:pPr algn="r">
                        <a:spcAft>
                          <a:spcPts val="100"/>
                        </a:spcAft>
                        <a:defRPr sz="1100" b="0">
                          <a:solidFill>
                            <a:srgbClr val="11151A"/>
                          </a:solidFill>
                          <a:latin typeface="Lato"/>
                        </a:defRPr>
                      </a:pPr>
                      <a:r>
                        <a:t>9.76</a:t>
                      </a:r>
                    </a:p>
                  </a:txBody>
                  <a:tcPr marL="64008" marR="64008" marT="54864" marB="27432" anchor="t">
                    <a:lnL w="0">
                      <a:noFill/>
                    </a:lnL>
                    <a:lnR w="0">
                      <a:noFill/>
                    </a:lnR>
                    <a:lnT w="0">
                      <a:noFill/>
                    </a:lnT>
                    <a:lnB w="5080">
                      <a:solidFill>
                        <a:srgbClr val="B8B8B8"/>
                      </a:solidFill>
                    </a:lnB>
                    <a:solidFill>
                      <a:srgbClr val="FFFFFF"/>
                    </a:solidFill>
                  </a:tcPr>
                </a:tc>
                <a:tc>
                  <a:txBody>
                    <a:bodyPr/>
                    <a:lstStyle/>
                    <a:p>
                      <a:pPr algn="r">
                        <a:spcAft>
                          <a:spcPts val="100"/>
                        </a:spcAft>
                        <a:defRPr sz="1100" b="0">
                          <a:solidFill>
                            <a:srgbClr val="11151A"/>
                          </a:solidFill>
                          <a:latin typeface="Lato"/>
                        </a:defRPr>
                      </a:pPr>
                      <a:r>
                        <a:t>0.89</a:t>
                      </a:r>
                    </a:p>
                  </a:txBody>
                  <a:tcPr marL="64008" marR="64008" marT="54864" marB="27432" anchor="t">
                    <a:lnL w="0">
                      <a:noFill/>
                    </a:lnL>
                    <a:lnR w="0">
                      <a:noFill/>
                    </a:lnR>
                    <a:lnT w="0">
                      <a:noFill/>
                    </a:lnT>
                    <a:lnB w="5080">
                      <a:solidFill>
                        <a:srgbClr val="B8B8B8"/>
                      </a:solidFill>
                    </a:lnB>
                    <a:solidFill>
                      <a:srgbClr val="FFFFFF"/>
                    </a:solidFill>
                  </a:tcPr>
                </a:tc>
                <a:tc>
                  <a:txBody>
                    <a:bodyPr/>
                    <a:lstStyle/>
                    <a:p>
                      <a:pPr algn="r">
                        <a:spcAft>
                          <a:spcPts val="100"/>
                        </a:spcAft>
                        <a:defRPr sz="1100" b="0">
                          <a:solidFill>
                            <a:srgbClr val="11151A"/>
                          </a:solidFill>
                          <a:latin typeface="Lato"/>
                        </a:defRPr>
                      </a:pPr>
                      <a:r>
                        <a:t>4.08</a:t>
                      </a:r>
                    </a:p>
                  </a:txBody>
                  <a:tcPr marL="64008" marR="64008" marT="54864" marB="27432" anchor="t">
                    <a:lnL w="0">
                      <a:noFill/>
                    </a:lnL>
                    <a:lnR w="0">
                      <a:noFill/>
                    </a:lnR>
                    <a:lnT w="0">
                      <a:noFill/>
                    </a:lnT>
                    <a:lnB w="5080">
                      <a:solidFill>
                        <a:srgbClr val="B8B8B8"/>
                      </a:solidFill>
                    </a:lnB>
                    <a:solidFill>
                      <a:srgbClr val="FFFFFF"/>
                    </a:solidFill>
                  </a:tcPr>
                </a:tc>
              </a:tr>
              <a:tr h="377190">
                <a:tc>
                  <a:txBody>
                    <a:bodyPr/>
                    <a:lstStyle/>
                    <a:p>
                      <a:pPr>
                        <a:spcAft>
                          <a:spcPts val="100"/>
                        </a:spcAft>
                        <a:defRPr sz="1100" b="1">
                          <a:solidFill>
                            <a:srgbClr val="0A2373"/>
                          </a:solidFill>
                          <a:latin typeface="Lato"/>
                        </a:defRPr>
                      </a:pPr>
                      <a:r>
                        <a:t>2022</a:t>
                      </a:r>
                    </a:p>
                  </a:txBody>
                  <a:tcPr marL="64008" marR="64008" marT="54864" marB="27432" anchor="t">
                    <a:lnL w="0">
                      <a:noFill/>
                    </a:lnL>
                    <a:lnR w="0">
                      <a:noFill/>
                    </a:lnR>
                    <a:lnT w="0">
                      <a:noFill/>
                    </a:lnT>
                    <a:lnB w="5080">
                      <a:solidFill>
                        <a:srgbClr val="B8B8B8"/>
                      </a:solidFill>
                    </a:lnB>
                    <a:solidFill>
                      <a:srgbClr val="FFFFFF"/>
                    </a:solidFill>
                  </a:tcPr>
                </a:tc>
                <a:tc>
                  <a:txBody>
                    <a:bodyPr/>
                    <a:lstStyle/>
                    <a:p>
                      <a:pPr algn="r">
                        <a:spcAft>
                          <a:spcPts val="100"/>
                        </a:spcAft>
                        <a:defRPr sz="1100" b="0">
                          <a:solidFill>
                            <a:srgbClr val="11151A"/>
                          </a:solidFill>
                          <a:latin typeface="Lato"/>
                        </a:defRPr>
                      </a:pPr>
                      <a:r>
                        <a:t>9.18</a:t>
                      </a:r>
                    </a:p>
                  </a:txBody>
                  <a:tcPr marL="64008" marR="64008" marT="54864" marB="27432" anchor="t">
                    <a:lnL w="0">
                      <a:noFill/>
                    </a:lnL>
                    <a:lnR w="0">
                      <a:noFill/>
                    </a:lnR>
                    <a:lnT w="0">
                      <a:noFill/>
                    </a:lnT>
                    <a:lnB w="5080">
                      <a:solidFill>
                        <a:srgbClr val="B8B8B8"/>
                      </a:solidFill>
                    </a:lnB>
                    <a:solidFill>
                      <a:srgbClr val="FFFFFF"/>
                    </a:solidFill>
                  </a:tcPr>
                </a:tc>
                <a:tc>
                  <a:txBody>
                    <a:bodyPr/>
                    <a:lstStyle/>
                    <a:p>
                      <a:pPr algn="r">
                        <a:spcAft>
                          <a:spcPts val="100"/>
                        </a:spcAft>
                        <a:defRPr sz="1100" b="0">
                          <a:solidFill>
                            <a:srgbClr val="11151A"/>
                          </a:solidFill>
                          <a:latin typeface="Lato"/>
                        </a:defRPr>
                      </a:pPr>
                      <a:r>
                        <a:t>5.46</a:t>
                      </a:r>
                    </a:p>
                  </a:txBody>
                  <a:tcPr marL="64008" marR="64008" marT="54864" marB="27432" anchor="t">
                    <a:lnL w="0">
                      <a:noFill/>
                    </a:lnL>
                    <a:lnR w="0">
                      <a:noFill/>
                    </a:lnR>
                    <a:lnT w="0">
                      <a:noFill/>
                    </a:lnT>
                    <a:lnB w="5080">
                      <a:solidFill>
                        <a:srgbClr val="B8B8B8"/>
                      </a:solidFill>
                    </a:lnB>
                    <a:solidFill>
                      <a:srgbClr val="FFFFFF"/>
                    </a:solidFill>
                  </a:tcPr>
                </a:tc>
                <a:tc>
                  <a:txBody>
                    <a:bodyPr/>
                    <a:lstStyle/>
                    <a:p>
                      <a:pPr algn="r">
                        <a:spcAft>
                          <a:spcPts val="100"/>
                        </a:spcAft>
                        <a:defRPr sz="1100" b="0">
                          <a:solidFill>
                            <a:srgbClr val="11151A"/>
                          </a:solidFill>
                          <a:latin typeface="Lato"/>
                        </a:defRPr>
                      </a:pPr>
                      <a:r>
                        <a:t>0.85</a:t>
                      </a:r>
                    </a:p>
                  </a:txBody>
                  <a:tcPr marL="64008" marR="64008" marT="54864" marB="27432" anchor="t">
                    <a:lnL w="0">
                      <a:noFill/>
                    </a:lnL>
                    <a:lnR w="0">
                      <a:noFill/>
                    </a:lnR>
                    <a:lnT w="0">
                      <a:noFill/>
                    </a:lnT>
                    <a:lnB w="5080">
                      <a:solidFill>
                        <a:srgbClr val="B8B8B8"/>
                      </a:solidFill>
                    </a:lnB>
                    <a:solidFill>
                      <a:srgbClr val="FFFFFF"/>
                    </a:solidFill>
                  </a:tcPr>
                </a:tc>
                <a:tc>
                  <a:txBody>
                    <a:bodyPr/>
                    <a:lstStyle/>
                    <a:p>
                      <a:pPr algn="r">
                        <a:spcAft>
                          <a:spcPts val="100"/>
                        </a:spcAft>
                        <a:defRPr sz="1100" b="0">
                          <a:solidFill>
                            <a:srgbClr val="11151A"/>
                          </a:solidFill>
                          <a:latin typeface="Lato"/>
                        </a:defRPr>
                      </a:pPr>
                      <a:r>
                        <a:t>4.58</a:t>
                      </a:r>
                    </a:p>
                  </a:txBody>
                  <a:tcPr marL="64008" marR="64008" marT="54864" marB="27432" anchor="t">
                    <a:lnL w="0">
                      <a:noFill/>
                    </a:lnL>
                    <a:lnR w="0">
                      <a:noFill/>
                    </a:lnR>
                    <a:lnT w="0">
                      <a:noFill/>
                    </a:lnT>
                    <a:lnB w="5080">
                      <a:solidFill>
                        <a:srgbClr val="B8B8B8"/>
                      </a:solidFill>
                    </a:lnB>
                    <a:solidFill>
                      <a:srgbClr val="FFFFFF"/>
                    </a:solidFill>
                  </a:tcPr>
                </a:tc>
                <a:tc>
                  <a:txBody>
                    <a:bodyPr/>
                    <a:lstStyle/>
                    <a:p>
                      <a:pPr algn="r">
                        <a:spcAft>
                          <a:spcPts val="100"/>
                        </a:spcAft>
                        <a:defRPr sz="1100" b="0">
                          <a:solidFill>
                            <a:srgbClr val="11151A"/>
                          </a:solidFill>
                          <a:latin typeface="Lato"/>
                        </a:defRPr>
                      </a:pPr>
                      <a:r>
                        <a:t>12.72</a:t>
                      </a:r>
                    </a:p>
                  </a:txBody>
                  <a:tcPr marL="64008" marR="64008" marT="54864" marB="27432" anchor="t">
                    <a:lnL w="0">
                      <a:noFill/>
                    </a:lnL>
                    <a:lnR w="0">
                      <a:noFill/>
                    </a:lnR>
                    <a:lnT w="0">
                      <a:noFill/>
                    </a:lnT>
                    <a:lnB w="5080">
                      <a:solidFill>
                        <a:srgbClr val="B8B8B8"/>
                      </a:solidFill>
                    </a:lnB>
                    <a:solidFill>
                      <a:srgbClr val="FFFFFF"/>
                    </a:solidFill>
                  </a:tcPr>
                </a:tc>
                <a:tc>
                  <a:txBody>
                    <a:bodyPr/>
                    <a:lstStyle/>
                    <a:p>
                      <a:pPr algn="r">
                        <a:spcAft>
                          <a:spcPts val="100"/>
                        </a:spcAft>
                        <a:defRPr sz="1100" b="0">
                          <a:solidFill>
                            <a:srgbClr val="11151A"/>
                          </a:solidFill>
                          <a:latin typeface="Lato"/>
                        </a:defRPr>
                      </a:pPr>
                      <a:r>
                        <a:t>11.95</a:t>
                      </a:r>
                    </a:p>
                  </a:txBody>
                  <a:tcPr marL="64008" marR="64008" marT="54864" marB="27432" anchor="t">
                    <a:lnL w="0">
                      <a:noFill/>
                    </a:lnL>
                    <a:lnR w="0">
                      <a:noFill/>
                    </a:lnR>
                    <a:lnT w="0">
                      <a:noFill/>
                    </a:lnT>
                    <a:lnB w="5080">
                      <a:solidFill>
                        <a:srgbClr val="B8B8B8"/>
                      </a:solidFill>
                    </a:lnB>
                    <a:solidFill>
                      <a:srgbClr val="FFFFFF"/>
                    </a:solidFill>
                  </a:tcPr>
                </a:tc>
                <a:tc>
                  <a:txBody>
                    <a:bodyPr/>
                    <a:lstStyle/>
                    <a:p>
                      <a:pPr algn="r">
                        <a:spcAft>
                          <a:spcPts val="100"/>
                        </a:spcAft>
                        <a:defRPr sz="1100" b="0">
                          <a:solidFill>
                            <a:srgbClr val="11151A"/>
                          </a:solidFill>
                          <a:latin typeface="Lato"/>
                        </a:defRPr>
                      </a:pPr>
                      <a:r>
                        <a:t>0.89</a:t>
                      </a:r>
                    </a:p>
                  </a:txBody>
                  <a:tcPr marL="64008" marR="64008" marT="54864" marB="27432" anchor="t">
                    <a:lnL w="0">
                      <a:noFill/>
                    </a:lnL>
                    <a:lnR w="0">
                      <a:noFill/>
                    </a:lnR>
                    <a:lnT w="0">
                      <a:noFill/>
                    </a:lnT>
                    <a:lnB w="5080">
                      <a:solidFill>
                        <a:srgbClr val="B8B8B8"/>
                      </a:solidFill>
                    </a:lnB>
                    <a:solidFill>
                      <a:srgbClr val="FFFFFF"/>
                    </a:solidFill>
                  </a:tcPr>
                </a:tc>
                <a:tc>
                  <a:txBody>
                    <a:bodyPr/>
                    <a:lstStyle/>
                    <a:p>
                      <a:pPr algn="r">
                        <a:spcAft>
                          <a:spcPts val="100"/>
                        </a:spcAft>
                        <a:defRPr sz="1100" b="0">
                          <a:solidFill>
                            <a:srgbClr val="11151A"/>
                          </a:solidFill>
                          <a:latin typeface="Lato"/>
                        </a:defRPr>
                      </a:pPr>
                      <a:r>
                        <a:t>1.65</a:t>
                      </a:r>
                    </a:p>
                  </a:txBody>
                  <a:tcPr marL="64008" marR="64008" marT="54864" marB="27432" anchor="t">
                    <a:lnL w="0">
                      <a:noFill/>
                    </a:lnL>
                    <a:lnR w="0">
                      <a:noFill/>
                    </a:lnR>
                    <a:lnT w="0">
                      <a:noFill/>
                    </a:lnT>
                    <a:lnB w="5080">
                      <a:solidFill>
                        <a:srgbClr val="B8B8B8"/>
                      </a:solidFill>
                    </a:lnB>
                    <a:solidFill>
                      <a:srgbClr val="FFFFFF"/>
                    </a:solidFill>
                  </a:tcPr>
                </a:tc>
              </a:tr>
              <a:tr h="377190">
                <a:tc>
                  <a:txBody>
                    <a:bodyPr/>
                    <a:lstStyle/>
                    <a:p>
                      <a:pPr>
                        <a:spcAft>
                          <a:spcPts val="100"/>
                        </a:spcAft>
                        <a:defRPr sz="1100" b="1">
                          <a:solidFill>
                            <a:srgbClr val="0A2373"/>
                          </a:solidFill>
                          <a:latin typeface="Lato"/>
                        </a:defRPr>
                      </a:pPr>
                      <a:r>
                        <a:t>2023</a:t>
                      </a:r>
                    </a:p>
                  </a:txBody>
                  <a:tcPr marL="64008" marR="64008" marT="54864" marB="27432" anchor="t">
                    <a:lnL w="0">
                      <a:noFill/>
                    </a:lnL>
                    <a:lnR w="0">
                      <a:noFill/>
                    </a:lnR>
                    <a:lnT w="0">
                      <a:noFill/>
                    </a:lnT>
                    <a:lnB w="5080">
                      <a:solidFill>
                        <a:srgbClr val="B8B8B8"/>
                      </a:solidFill>
                    </a:lnB>
                    <a:solidFill>
                      <a:srgbClr val="FFFFFF"/>
                    </a:solidFill>
                  </a:tcPr>
                </a:tc>
                <a:tc>
                  <a:txBody>
                    <a:bodyPr/>
                    <a:lstStyle/>
                    <a:p>
                      <a:pPr algn="r">
                        <a:spcAft>
                          <a:spcPts val="100"/>
                        </a:spcAft>
                        <a:defRPr sz="1100" b="0">
                          <a:solidFill>
                            <a:srgbClr val="11151A"/>
                          </a:solidFill>
                          <a:latin typeface="Lato"/>
                        </a:defRPr>
                      </a:pPr>
                      <a:r>
                        <a:t>9.04</a:t>
                      </a:r>
                    </a:p>
                  </a:txBody>
                  <a:tcPr marL="64008" marR="64008" marT="54864" marB="27432" anchor="t">
                    <a:lnL w="0">
                      <a:noFill/>
                    </a:lnL>
                    <a:lnR w="0">
                      <a:noFill/>
                    </a:lnR>
                    <a:lnT w="0">
                      <a:noFill/>
                    </a:lnT>
                    <a:lnB w="5080">
                      <a:solidFill>
                        <a:srgbClr val="B8B8B8"/>
                      </a:solidFill>
                    </a:lnB>
                    <a:solidFill>
                      <a:srgbClr val="FFFFFF"/>
                    </a:solidFill>
                  </a:tcPr>
                </a:tc>
                <a:tc>
                  <a:txBody>
                    <a:bodyPr/>
                    <a:lstStyle/>
                    <a:p>
                      <a:pPr algn="r">
                        <a:spcAft>
                          <a:spcPts val="100"/>
                        </a:spcAft>
                        <a:defRPr sz="1100" b="0">
                          <a:solidFill>
                            <a:srgbClr val="11151A"/>
                          </a:solidFill>
                          <a:latin typeface="Lato"/>
                        </a:defRPr>
                      </a:pPr>
                      <a:r>
                        <a:t>4.48</a:t>
                      </a:r>
                    </a:p>
                  </a:txBody>
                  <a:tcPr marL="64008" marR="64008" marT="54864" marB="27432" anchor="t">
                    <a:lnL w="0">
                      <a:noFill/>
                    </a:lnL>
                    <a:lnR w="0">
                      <a:noFill/>
                    </a:lnR>
                    <a:lnT w="0">
                      <a:noFill/>
                    </a:lnT>
                    <a:lnB w="5080">
                      <a:solidFill>
                        <a:srgbClr val="B8B8B8"/>
                      </a:solidFill>
                    </a:lnB>
                    <a:solidFill>
                      <a:srgbClr val="FFFFFF"/>
                    </a:solidFill>
                  </a:tcPr>
                </a:tc>
                <a:tc>
                  <a:txBody>
                    <a:bodyPr/>
                    <a:lstStyle/>
                    <a:p>
                      <a:pPr algn="r">
                        <a:spcAft>
                          <a:spcPts val="100"/>
                        </a:spcAft>
                        <a:defRPr sz="1100" b="0">
                          <a:solidFill>
                            <a:srgbClr val="11151A"/>
                          </a:solidFill>
                          <a:latin typeface="Lato"/>
                        </a:defRPr>
                      </a:pPr>
                      <a:r>
                        <a:t>0.99</a:t>
                      </a:r>
                    </a:p>
                  </a:txBody>
                  <a:tcPr marL="64008" marR="64008" marT="54864" marB="27432" anchor="t">
                    <a:lnL w="0">
                      <a:noFill/>
                    </a:lnL>
                    <a:lnR w="0">
                      <a:noFill/>
                    </a:lnR>
                    <a:lnT w="0">
                      <a:noFill/>
                    </a:lnT>
                    <a:lnB w="5080">
                      <a:solidFill>
                        <a:srgbClr val="B8B8B8"/>
                      </a:solidFill>
                    </a:lnB>
                    <a:solidFill>
                      <a:srgbClr val="FFFFFF"/>
                    </a:solidFill>
                  </a:tcPr>
                </a:tc>
                <a:tc>
                  <a:txBody>
                    <a:bodyPr/>
                    <a:lstStyle/>
                    <a:p>
                      <a:pPr algn="r">
                        <a:spcAft>
                          <a:spcPts val="100"/>
                        </a:spcAft>
                        <a:defRPr sz="1100" b="0">
                          <a:solidFill>
                            <a:srgbClr val="11151A"/>
                          </a:solidFill>
                          <a:latin typeface="Lato"/>
                        </a:defRPr>
                      </a:pPr>
                      <a:r>
                        <a:t>5.55</a:t>
                      </a:r>
                    </a:p>
                  </a:txBody>
                  <a:tcPr marL="64008" marR="64008" marT="54864" marB="27432" anchor="t">
                    <a:lnL w="0">
                      <a:noFill/>
                    </a:lnL>
                    <a:lnR w="0">
                      <a:noFill/>
                    </a:lnR>
                    <a:lnT w="0">
                      <a:noFill/>
                    </a:lnT>
                    <a:lnB w="5080">
                      <a:solidFill>
                        <a:srgbClr val="B8B8B8"/>
                      </a:solidFill>
                    </a:lnB>
                    <a:solidFill>
                      <a:srgbClr val="FFFFFF"/>
                    </a:solidFill>
                  </a:tcPr>
                </a:tc>
                <a:tc>
                  <a:txBody>
                    <a:bodyPr/>
                    <a:lstStyle/>
                    <a:p>
                      <a:pPr algn="r">
                        <a:spcAft>
                          <a:spcPts val="100"/>
                        </a:spcAft>
                        <a:defRPr sz="1100" b="0">
                          <a:solidFill>
                            <a:srgbClr val="11151A"/>
                          </a:solidFill>
                          <a:latin typeface="Lato"/>
                        </a:defRPr>
                      </a:pPr>
                      <a:r>
                        <a:t>12.91</a:t>
                      </a:r>
                    </a:p>
                  </a:txBody>
                  <a:tcPr marL="64008" marR="64008" marT="54864" marB="27432" anchor="t">
                    <a:lnL w="0">
                      <a:noFill/>
                    </a:lnL>
                    <a:lnR w="0">
                      <a:noFill/>
                    </a:lnR>
                    <a:lnT w="0">
                      <a:noFill/>
                    </a:lnT>
                    <a:lnB w="5080">
                      <a:solidFill>
                        <a:srgbClr val="B8B8B8"/>
                      </a:solidFill>
                    </a:lnB>
                    <a:solidFill>
                      <a:srgbClr val="FFFFFF"/>
                    </a:solidFill>
                  </a:tcPr>
                </a:tc>
                <a:tc>
                  <a:txBody>
                    <a:bodyPr/>
                    <a:lstStyle/>
                    <a:p>
                      <a:pPr algn="r">
                        <a:spcAft>
                          <a:spcPts val="100"/>
                        </a:spcAft>
                        <a:defRPr sz="1100" b="0">
                          <a:solidFill>
                            <a:srgbClr val="11151A"/>
                          </a:solidFill>
                          <a:latin typeface="Lato"/>
                        </a:defRPr>
                      </a:pPr>
                      <a:r>
                        <a:t>12.87</a:t>
                      </a:r>
                    </a:p>
                  </a:txBody>
                  <a:tcPr marL="64008" marR="64008" marT="54864" marB="27432" anchor="t">
                    <a:lnL w="0">
                      <a:noFill/>
                    </a:lnL>
                    <a:lnR w="0">
                      <a:noFill/>
                    </a:lnR>
                    <a:lnT w="0">
                      <a:noFill/>
                    </a:lnT>
                    <a:lnB w="5080">
                      <a:solidFill>
                        <a:srgbClr val="B8B8B8"/>
                      </a:solidFill>
                    </a:lnB>
                    <a:solidFill>
                      <a:srgbClr val="FFFFFF"/>
                    </a:solidFill>
                  </a:tcPr>
                </a:tc>
                <a:tc>
                  <a:txBody>
                    <a:bodyPr/>
                    <a:lstStyle/>
                    <a:p>
                      <a:pPr algn="r">
                        <a:spcAft>
                          <a:spcPts val="100"/>
                        </a:spcAft>
                        <a:defRPr sz="1100" b="0">
                          <a:solidFill>
                            <a:srgbClr val="11151A"/>
                          </a:solidFill>
                          <a:latin typeface="Lato"/>
                        </a:defRPr>
                      </a:pPr>
                      <a:r>
                        <a:t>0.89</a:t>
                      </a:r>
                    </a:p>
                  </a:txBody>
                  <a:tcPr marL="64008" marR="64008" marT="54864" marB="27432" anchor="t">
                    <a:lnL w="0">
                      <a:noFill/>
                    </a:lnL>
                    <a:lnR w="0">
                      <a:noFill/>
                    </a:lnR>
                    <a:lnT w="0">
                      <a:noFill/>
                    </a:lnT>
                    <a:lnB w="5080">
                      <a:solidFill>
                        <a:srgbClr val="B8B8B8"/>
                      </a:solidFill>
                    </a:lnB>
                    <a:solidFill>
                      <a:srgbClr val="FFFFFF"/>
                    </a:solidFill>
                  </a:tcPr>
                </a:tc>
                <a:tc>
                  <a:txBody>
                    <a:bodyPr/>
                    <a:lstStyle/>
                    <a:p>
                      <a:pPr algn="r">
                        <a:spcAft>
                          <a:spcPts val="100"/>
                        </a:spcAft>
                        <a:defRPr sz="1100" b="0">
                          <a:solidFill>
                            <a:srgbClr val="11151A"/>
                          </a:solidFill>
                          <a:latin typeface="Lato"/>
                        </a:defRPr>
                      </a:pPr>
                      <a:r>
                        <a:t>0.93</a:t>
                      </a:r>
                    </a:p>
                  </a:txBody>
                  <a:tcPr marL="64008" marR="64008" marT="54864" marB="27432" anchor="t">
                    <a:lnL w="0">
                      <a:noFill/>
                    </a:lnL>
                    <a:lnR w="0">
                      <a:noFill/>
                    </a:lnR>
                    <a:lnT w="0">
                      <a:noFill/>
                    </a:lnT>
                    <a:lnB w="5080">
                      <a:solidFill>
                        <a:srgbClr val="B8B8B8"/>
                      </a:solidFill>
                    </a:lnB>
                    <a:solidFill>
                      <a:srgbClr val="FFFFFF"/>
                    </a:solidFill>
                  </a:tcPr>
                </a:tc>
              </a:tr>
              <a:tr h="377190">
                <a:tc>
                  <a:txBody>
                    <a:bodyPr/>
                    <a:lstStyle/>
                    <a:p>
                      <a:pPr>
                        <a:spcAft>
                          <a:spcPts val="100"/>
                        </a:spcAft>
                        <a:defRPr sz="1100" b="1">
                          <a:solidFill>
                            <a:srgbClr val="0A2373"/>
                          </a:solidFill>
                          <a:latin typeface="Lato"/>
                        </a:defRPr>
                      </a:pPr>
                      <a:r>
                        <a:t>2024</a:t>
                      </a:r>
                    </a:p>
                  </a:txBody>
                  <a:tcPr marL="64008" marR="64008" marT="54864" marB="27432" anchor="t">
                    <a:lnL w="0">
                      <a:noFill/>
                    </a:lnL>
                    <a:lnR w="0">
                      <a:noFill/>
                    </a:lnR>
                    <a:lnT w="0">
                      <a:noFill/>
                    </a:lnT>
                    <a:lnB w="5080">
                      <a:solidFill>
                        <a:srgbClr val="B8B8B8"/>
                      </a:solidFill>
                    </a:lnB>
                    <a:solidFill>
                      <a:srgbClr val="FFFFFF"/>
                    </a:solidFill>
                  </a:tcPr>
                </a:tc>
                <a:tc>
                  <a:txBody>
                    <a:bodyPr/>
                    <a:lstStyle/>
                    <a:p>
                      <a:pPr algn="r">
                        <a:spcAft>
                          <a:spcPts val="100"/>
                        </a:spcAft>
                        <a:defRPr sz="1100" b="0">
                          <a:solidFill>
                            <a:srgbClr val="11151A"/>
                          </a:solidFill>
                          <a:latin typeface="Lato"/>
                        </a:defRPr>
                      </a:pPr>
                      <a:r>
                        <a:t>9.03</a:t>
                      </a:r>
                    </a:p>
                  </a:txBody>
                  <a:tcPr marL="64008" marR="64008" marT="54864" marB="27432" anchor="t">
                    <a:lnL w="0">
                      <a:noFill/>
                    </a:lnL>
                    <a:lnR w="0">
                      <a:noFill/>
                    </a:lnR>
                    <a:lnT w="0">
                      <a:noFill/>
                    </a:lnT>
                    <a:lnB w="5080">
                      <a:solidFill>
                        <a:srgbClr val="B8B8B8"/>
                      </a:solidFill>
                    </a:lnB>
                    <a:solidFill>
                      <a:srgbClr val="FFFFFF"/>
                    </a:solidFill>
                  </a:tcPr>
                </a:tc>
                <a:tc>
                  <a:txBody>
                    <a:bodyPr/>
                    <a:lstStyle/>
                    <a:p>
                      <a:pPr algn="r">
                        <a:spcAft>
                          <a:spcPts val="100"/>
                        </a:spcAft>
                        <a:defRPr sz="1100" b="0">
                          <a:solidFill>
                            <a:srgbClr val="11151A"/>
                          </a:solidFill>
                          <a:latin typeface="Lato"/>
                        </a:defRPr>
                      </a:pPr>
                      <a:r>
                        <a:t>4.00</a:t>
                      </a:r>
                    </a:p>
                  </a:txBody>
                  <a:tcPr marL="64008" marR="64008" marT="54864" marB="27432" anchor="t">
                    <a:lnL w="0">
                      <a:noFill/>
                    </a:lnL>
                    <a:lnR w="0">
                      <a:noFill/>
                    </a:lnR>
                    <a:lnT w="0">
                      <a:noFill/>
                    </a:lnT>
                    <a:lnB w="5080">
                      <a:solidFill>
                        <a:srgbClr val="B8B8B8"/>
                      </a:solidFill>
                    </a:lnB>
                    <a:solidFill>
                      <a:srgbClr val="FFFFFF"/>
                    </a:solidFill>
                  </a:tcPr>
                </a:tc>
                <a:tc>
                  <a:txBody>
                    <a:bodyPr/>
                    <a:lstStyle/>
                    <a:p>
                      <a:pPr algn="r">
                        <a:spcAft>
                          <a:spcPts val="100"/>
                        </a:spcAft>
                        <a:defRPr sz="1100" b="0">
                          <a:solidFill>
                            <a:srgbClr val="11151A"/>
                          </a:solidFill>
                          <a:latin typeface="Lato"/>
                        </a:defRPr>
                      </a:pPr>
                      <a:r>
                        <a:t>0.92</a:t>
                      </a:r>
                    </a:p>
                  </a:txBody>
                  <a:tcPr marL="64008" marR="64008" marT="54864" marB="27432" anchor="t">
                    <a:lnL w="0">
                      <a:noFill/>
                    </a:lnL>
                    <a:lnR w="0">
                      <a:noFill/>
                    </a:lnR>
                    <a:lnT w="0">
                      <a:noFill/>
                    </a:lnT>
                    <a:lnB w="5080">
                      <a:solidFill>
                        <a:srgbClr val="B8B8B8"/>
                      </a:solidFill>
                    </a:lnB>
                    <a:solidFill>
                      <a:srgbClr val="FFFFFF"/>
                    </a:solidFill>
                  </a:tcPr>
                </a:tc>
                <a:tc>
                  <a:txBody>
                    <a:bodyPr/>
                    <a:lstStyle/>
                    <a:p>
                      <a:pPr algn="r">
                        <a:spcAft>
                          <a:spcPts val="100"/>
                        </a:spcAft>
                        <a:defRPr sz="1100" b="0">
                          <a:solidFill>
                            <a:srgbClr val="11151A"/>
                          </a:solidFill>
                          <a:latin typeface="Lato"/>
                        </a:defRPr>
                      </a:pPr>
                      <a:r>
                        <a:t>5.95</a:t>
                      </a:r>
                    </a:p>
                  </a:txBody>
                  <a:tcPr marL="64008" marR="64008" marT="54864" marB="27432" anchor="t">
                    <a:lnL w="0">
                      <a:noFill/>
                    </a:lnL>
                    <a:lnR w="0">
                      <a:noFill/>
                    </a:lnR>
                    <a:lnT w="0">
                      <a:noFill/>
                    </a:lnT>
                    <a:lnB w="5080">
                      <a:solidFill>
                        <a:srgbClr val="B8B8B8"/>
                      </a:solidFill>
                    </a:lnB>
                    <a:solidFill>
                      <a:srgbClr val="FFFFFF"/>
                    </a:solidFill>
                  </a:tcPr>
                </a:tc>
                <a:tc>
                  <a:txBody>
                    <a:bodyPr/>
                    <a:lstStyle/>
                    <a:p>
                      <a:pPr algn="r">
                        <a:spcAft>
                          <a:spcPts val="100"/>
                        </a:spcAft>
                        <a:defRPr sz="1100" b="0">
                          <a:solidFill>
                            <a:srgbClr val="11151A"/>
                          </a:solidFill>
                          <a:latin typeface="Lato"/>
                        </a:defRPr>
                      </a:pPr>
                      <a:r>
                        <a:t>11.73</a:t>
                      </a:r>
                    </a:p>
                  </a:txBody>
                  <a:tcPr marL="64008" marR="64008" marT="54864" marB="27432" anchor="t">
                    <a:lnL w="0">
                      <a:noFill/>
                    </a:lnL>
                    <a:lnR w="0">
                      <a:noFill/>
                    </a:lnR>
                    <a:lnT w="0">
                      <a:noFill/>
                    </a:lnT>
                    <a:lnB w="5080">
                      <a:solidFill>
                        <a:srgbClr val="B8B8B8"/>
                      </a:solidFill>
                    </a:lnB>
                    <a:solidFill>
                      <a:srgbClr val="FFFFFF"/>
                    </a:solidFill>
                  </a:tcPr>
                </a:tc>
                <a:tc>
                  <a:txBody>
                    <a:bodyPr/>
                    <a:lstStyle/>
                    <a:p>
                      <a:pPr algn="r">
                        <a:spcAft>
                          <a:spcPts val="100"/>
                        </a:spcAft>
                        <a:defRPr sz="1100" b="0">
                          <a:solidFill>
                            <a:srgbClr val="11151A"/>
                          </a:solidFill>
                          <a:latin typeface="Lato"/>
                        </a:defRPr>
                      </a:pPr>
                      <a:r>
                        <a:t>10.79</a:t>
                      </a:r>
                    </a:p>
                  </a:txBody>
                  <a:tcPr marL="64008" marR="64008" marT="54864" marB="27432" anchor="t">
                    <a:lnL w="0">
                      <a:noFill/>
                    </a:lnL>
                    <a:lnR w="0">
                      <a:noFill/>
                    </a:lnR>
                    <a:lnT w="0">
                      <a:noFill/>
                    </a:lnT>
                    <a:lnB w="5080">
                      <a:solidFill>
                        <a:srgbClr val="B8B8B8"/>
                      </a:solidFill>
                    </a:lnB>
                    <a:solidFill>
                      <a:srgbClr val="FFFFFF"/>
                    </a:solidFill>
                  </a:tcPr>
                </a:tc>
                <a:tc>
                  <a:txBody>
                    <a:bodyPr/>
                    <a:lstStyle/>
                    <a:p>
                      <a:pPr algn="r">
                        <a:spcAft>
                          <a:spcPts val="100"/>
                        </a:spcAft>
                        <a:defRPr sz="1100" b="0">
                          <a:solidFill>
                            <a:srgbClr val="11151A"/>
                          </a:solidFill>
                          <a:latin typeface="Lato"/>
                        </a:defRPr>
                      </a:pPr>
                      <a:r>
                        <a:t>0.80</a:t>
                      </a:r>
                    </a:p>
                  </a:txBody>
                  <a:tcPr marL="64008" marR="64008" marT="54864" marB="27432" anchor="t">
                    <a:lnL w="0">
                      <a:noFill/>
                    </a:lnL>
                    <a:lnR w="0">
                      <a:noFill/>
                    </a:lnR>
                    <a:lnT w="0">
                      <a:noFill/>
                    </a:lnT>
                    <a:lnB w="5080">
                      <a:solidFill>
                        <a:srgbClr val="B8B8B8"/>
                      </a:solidFill>
                    </a:lnB>
                    <a:solidFill>
                      <a:srgbClr val="FFFFFF"/>
                    </a:solidFill>
                  </a:tcPr>
                </a:tc>
                <a:tc>
                  <a:txBody>
                    <a:bodyPr/>
                    <a:lstStyle/>
                    <a:p>
                      <a:pPr algn="r">
                        <a:spcAft>
                          <a:spcPts val="100"/>
                        </a:spcAft>
                        <a:defRPr sz="1100" b="0">
                          <a:solidFill>
                            <a:srgbClr val="11151A"/>
                          </a:solidFill>
                          <a:latin typeface="Lato"/>
                        </a:defRPr>
                      </a:pPr>
                      <a:r>
                        <a:t>1.74</a:t>
                      </a:r>
                    </a:p>
                  </a:txBody>
                  <a:tcPr marL="64008" marR="64008" marT="54864" marB="27432" anchor="t">
                    <a:lnL w="0">
                      <a:noFill/>
                    </a:lnL>
                    <a:lnR w="0">
                      <a:noFill/>
                    </a:lnR>
                    <a:lnT w="0">
                      <a:noFill/>
                    </a:lnT>
                    <a:lnB w="5080">
                      <a:solidFill>
                        <a:srgbClr val="B8B8B8"/>
                      </a:solidFill>
                    </a:lnB>
                    <a:solidFill>
                      <a:srgbClr val="FFFFFF"/>
                    </a:solidFill>
                  </a:tcPr>
                </a:tc>
              </a:tr>
              <a:tr h="377190">
                <a:tc>
                  <a:txBody>
                    <a:bodyPr/>
                    <a:lstStyle/>
                    <a:p>
                      <a:pPr>
                        <a:spcAft>
                          <a:spcPts val="100"/>
                        </a:spcAft>
                        <a:defRPr sz="1100" b="1">
                          <a:solidFill>
                            <a:srgbClr val="0A2373"/>
                          </a:solidFill>
                          <a:latin typeface="Lato"/>
                        </a:defRPr>
                      </a:pPr>
                      <a:r>
                        <a:t>2025</a:t>
                      </a:r>
                    </a:p>
                  </a:txBody>
                  <a:tcPr marL="64008" marR="64008" marT="54864" marB="27432" anchor="t">
                    <a:lnL w="0">
                      <a:noFill/>
                    </a:lnL>
                    <a:lnR w="0">
                      <a:noFill/>
                    </a:lnR>
                    <a:lnT w="0">
                      <a:noFill/>
                    </a:lnT>
                    <a:lnB w="5080">
                      <a:solidFill>
                        <a:srgbClr val="B8B8B8"/>
                      </a:solidFill>
                    </a:lnB>
                    <a:solidFill>
                      <a:srgbClr val="FFFFFF"/>
                    </a:solidFill>
                  </a:tcPr>
                </a:tc>
                <a:tc>
                  <a:txBody>
                    <a:bodyPr/>
                    <a:lstStyle/>
                    <a:p>
                      <a:pPr algn="r">
                        <a:spcAft>
                          <a:spcPts val="100"/>
                        </a:spcAft>
                        <a:defRPr sz="1100" b="0">
                          <a:solidFill>
                            <a:srgbClr val="11151A"/>
                          </a:solidFill>
                          <a:latin typeface="Lato"/>
                        </a:defRPr>
                      </a:pPr>
                      <a:r>
                        <a:t>—</a:t>
                      </a:r>
                    </a:p>
                  </a:txBody>
                  <a:tcPr marL="64008" marR="64008" marT="54864" marB="27432" anchor="t">
                    <a:lnL w="0">
                      <a:noFill/>
                    </a:lnL>
                    <a:lnR w="0">
                      <a:noFill/>
                    </a:lnR>
                    <a:lnT w="0">
                      <a:noFill/>
                    </a:lnT>
                    <a:lnB w="5080">
                      <a:solidFill>
                        <a:srgbClr val="B8B8B8"/>
                      </a:solidFill>
                    </a:lnB>
                    <a:solidFill>
                      <a:srgbClr val="FFFFFF"/>
                    </a:solidFill>
                  </a:tcPr>
                </a:tc>
                <a:tc>
                  <a:txBody>
                    <a:bodyPr/>
                    <a:lstStyle/>
                    <a:p>
                      <a:pPr algn="r">
                        <a:spcAft>
                          <a:spcPts val="100"/>
                        </a:spcAft>
                        <a:defRPr sz="1100" b="0">
                          <a:solidFill>
                            <a:srgbClr val="11151A"/>
                          </a:solidFill>
                          <a:latin typeface="Lato"/>
                        </a:defRPr>
                      </a:pPr>
                      <a:r>
                        <a:t>4.45</a:t>
                      </a:r>
                    </a:p>
                  </a:txBody>
                  <a:tcPr marL="64008" marR="64008" marT="54864" marB="27432" anchor="t">
                    <a:lnL w="0">
                      <a:noFill/>
                    </a:lnL>
                    <a:lnR w="0">
                      <a:noFill/>
                    </a:lnR>
                    <a:lnT w="0">
                      <a:noFill/>
                    </a:lnT>
                    <a:lnB w="5080">
                      <a:solidFill>
                        <a:srgbClr val="B8B8B8"/>
                      </a:solidFill>
                    </a:lnB>
                    <a:solidFill>
                      <a:srgbClr val="FFFFFF"/>
                    </a:solidFill>
                  </a:tcPr>
                </a:tc>
                <a:tc>
                  <a:txBody>
                    <a:bodyPr/>
                    <a:lstStyle/>
                    <a:p>
                      <a:pPr algn="r">
                        <a:spcAft>
                          <a:spcPts val="100"/>
                        </a:spcAft>
                        <a:defRPr sz="1100" b="0">
                          <a:solidFill>
                            <a:srgbClr val="11151A"/>
                          </a:solidFill>
                          <a:latin typeface="Lato"/>
                        </a:defRPr>
                      </a:pPr>
                      <a:r>
                        <a:t>0.80</a:t>
                      </a:r>
                    </a:p>
                  </a:txBody>
                  <a:tcPr marL="64008" marR="64008" marT="54864" marB="27432" anchor="t">
                    <a:lnL w="0">
                      <a:noFill/>
                    </a:lnL>
                    <a:lnR w="0">
                      <a:noFill/>
                    </a:lnR>
                    <a:lnT w="0">
                      <a:noFill/>
                    </a:lnT>
                    <a:lnB w="5080">
                      <a:solidFill>
                        <a:srgbClr val="B8B8B8"/>
                      </a:solidFill>
                    </a:lnB>
                    <a:solidFill>
                      <a:srgbClr val="FFFFFF"/>
                    </a:solidFill>
                  </a:tcPr>
                </a:tc>
                <a:tc>
                  <a:txBody>
                    <a:bodyPr/>
                    <a:lstStyle/>
                    <a:p>
                      <a:pPr algn="r">
                        <a:spcAft>
                          <a:spcPts val="100"/>
                        </a:spcAft>
                        <a:defRPr sz="1100" b="0">
                          <a:solidFill>
                            <a:srgbClr val="11151A"/>
                          </a:solidFill>
                          <a:latin typeface="Lato"/>
                        </a:defRPr>
                      </a:pPr>
                      <a:r>
                        <a:t>—</a:t>
                      </a:r>
                    </a:p>
                  </a:txBody>
                  <a:tcPr marL="64008" marR="64008" marT="54864" marB="27432" anchor="t">
                    <a:lnL w="0">
                      <a:noFill/>
                    </a:lnL>
                    <a:lnR w="0">
                      <a:noFill/>
                    </a:lnR>
                    <a:lnT w="0">
                      <a:noFill/>
                    </a:lnT>
                    <a:lnB w="5080">
                      <a:solidFill>
                        <a:srgbClr val="B8B8B8"/>
                      </a:solidFill>
                    </a:lnB>
                    <a:solidFill>
                      <a:srgbClr val="FFFFFF"/>
                    </a:solidFill>
                  </a:tcPr>
                </a:tc>
                <a:tc>
                  <a:txBody>
                    <a:bodyPr/>
                    <a:lstStyle/>
                    <a:p>
                      <a:pPr algn="r">
                        <a:spcAft>
                          <a:spcPts val="100"/>
                        </a:spcAft>
                        <a:defRPr sz="1100" b="0">
                          <a:solidFill>
                            <a:srgbClr val="11151A"/>
                          </a:solidFill>
                          <a:latin typeface="Lato"/>
                        </a:defRPr>
                      </a:pPr>
                      <a:r>
                        <a:t>—</a:t>
                      </a:r>
                    </a:p>
                  </a:txBody>
                  <a:tcPr marL="64008" marR="64008" marT="54864" marB="27432" anchor="t">
                    <a:lnL w="0">
                      <a:noFill/>
                    </a:lnL>
                    <a:lnR w="0">
                      <a:noFill/>
                    </a:lnR>
                    <a:lnT w="0">
                      <a:noFill/>
                    </a:lnT>
                    <a:lnB w="5080">
                      <a:solidFill>
                        <a:srgbClr val="B8B8B8"/>
                      </a:solidFill>
                    </a:lnB>
                    <a:solidFill>
                      <a:srgbClr val="FFFFFF"/>
                    </a:solidFill>
                  </a:tcPr>
                </a:tc>
                <a:tc>
                  <a:txBody>
                    <a:bodyPr/>
                    <a:lstStyle/>
                    <a:p>
                      <a:pPr algn="r">
                        <a:spcAft>
                          <a:spcPts val="100"/>
                        </a:spcAft>
                        <a:defRPr sz="1100" b="0">
                          <a:solidFill>
                            <a:srgbClr val="11151A"/>
                          </a:solidFill>
                          <a:latin typeface="Lato"/>
                        </a:defRPr>
                      </a:pPr>
                      <a:r>
                        <a:t>12.25</a:t>
                      </a:r>
                    </a:p>
                  </a:txBody>
                  <a:tcPr marL="64008" marR="64008" marT="54864" marB="27432" anchor="t">
                    <a:lnL w="0">
                      <a:noFill/>
                    </a:lnL>
                    <a:lnR w="0">
                      <a:noFill/>
                    </a:lnR>
                    <a:lnT w="0">
                      <a:noFill/>
                    </a:lnT>
                    <a:lnB w="5080">
                      <a:solidFill>
                        <a:srgbClr val="B8B8B8"/>
                      </a:solidFill>
                    </a:lnB>
                    <a:solidFill>
                      <a:srgbClr val="FFFFFF"/>
                    </a:solidFill>
                  </a:tcPr>
                </a:tc>
                <a:tc>
                  <a:txBody>
                    <a:bodyPr/>
                    <a:lstStyle/>
                    <a:p>
                      <a:pPr algn="r">
                        <a:spcAft>
                          <a:spcPts val="100"/>
                        </a:spcAft>
                        <a:defRPr sz="1100" b="0">
                          <a:solidFill>
                            <a:srgbClr val="11151A"/>
                          </a:solidFill>
                          <a:latin typeface="Lato"/>
                        </a:defRPr>
                      </a:pPr>
                      <a:r>
                        <a:t>0.75</a:t>
                      </a:r>
                    </a:p>
                  </a:txBody>
                  <a:tcPr marL="64008" marR="64008" marT="54864" marB="27432" anchor="t">
                    <a:lnL w="0">
                      <a:noFill/>
                    </a:lnL>
                    <a:lnR w="0">
                      <a:noFill/>
                    </a:lnR>
                    <a:lnT w="0">
                      <a:noFill/>
                    </a:lnT>
                    <a:lnB w="5080">
                      <a:solidFill>
                        <a:srgbClr val="B8B8B8"/>
                      </a:solidFill>
                    </a:lnB>
                    <a:solidFill>
                      <a:srgbClr val="FFFFFF"/>
                    </a:solidFill>
                  </a:tcPr>
                </a:tc>
                <a:tc>
                  <a:txBody>
                    <a:bodyPr/>
                    <a:lstStyle/>
                    <a:p>
                      <a:pPr algn="r">
                        <a:spcAft>
                          <a:spcPts val="100"/>
                        </a:spcAft>
                        <a:defRPr sz="1100" b="0">
                          <a:solidFill>
                            <a:srgbClr val="11151A"/>
                          </a:solidFill>
                          <a:latin typeface="Lato"/>
                        </a:defRPr>
                      </a:pPr>
                      <a:r>
                        <a:t>—</a:t>
                      </a:r>
                    </a:p>
                  </a:txBody>
                  <a:tcPr marL="64008" marR="64008" marT="54864" marB="27432" anchor="t">
                    <a:lnL w="0">
                      <a:noFill/>
                    </a:lnL>
                    <a:lnR w="0">
                      <a:noFill/>
                    </a:lnR>
                    <a:lnT w="0">
                      <a:noFill/>
                    </a:lnT>
                    <a:lnB w="5080">
                      <a:solidFill>
                        <a:srgbClr val="B8B8B8"/>
                      </a:solidFill>
                    </a:lnB>
                    <a:solidFill>
                      <a:srgbClr val="FFFFFF"/>
                    </a:solidFill>
                  </a:tcPr>
                </a:tc>
              </a:tr>
            </a:tbl>
          </a:graphicData>
        </a:graphic>
      </p:graphicFrame>
      <p:sp>
        <p:nvSpPr>
          <p:cNvPr id="10" name="TextBox 9"/>
          <p:cNvSpPr txBox="1"/>
          <p:nvPr/>
        </p:nvSpPr>
        <p:spPr>
          <a:xfrm>
            <a:off x="457200" y="5532120"/>
            <a:ext cx="10652760" cy="822960"/>
          </a:xfrm>
          <a:prstGeom prst="rect">
            <a:avLst/>
          </a:prstGeom>
          <a:noFill/>
        </p:spPr>
        <p:txBody>
          <a:bodyPr wrap="square" lIns="22860" rIns="22860" tIns="0" bIns="0">
            <a:spAutoFit/>
          </a:bodyPr>
          <a:lstStyle/>
          <a:p>
            <a:pPr>
              <a:spcAft>
                <a:spcPts val="300"/>
              </a:spcAft>
              <a:defRPr sz="1100" b="0">
                <a:solidFill>
                  <a:srgbClr val="11151A"/>
                </a:solidFill>
                <a:latin typeface="Lato"/>
              </a:defRPr>
            </a:pPr>
            <a:r>
              <a:t>Sales less net imports is what production, stock changes and gaps in sales coverage must together supply. It is not a measurement of production.</a:t>
            </a:r>
          </a:p>
          <a:p>
            <a:pPr>
              <a:spcAft>
                <a:spcPts val="300"/>
              </a:spcAft>
              <a:defRPr sz="1100" b="0">
                <a:solidFill>
                  <a:srgbClr val="11151A"/>
                </a:solidFill>
                <a:latin typeface="Lato"/>
              </a:defRPr>
            </a:pPr>
            <a:r>
              <a:t>Sales: department to 2023; 2024 is FIASA's figure and is unverified; none yet for 2025. Rebuilt by one command from registered inputs; a test checks every year against the customs extract.</a:t>
            </a:r>
          </a:p>
        </p:txBody>
      </p:sp>
      <p:sp>
        <p:nvSpPr>
          <p:cNvPr id="11" name="Chevron 10">
            <a:hlinkClick action="ppaction://hlinksldjump" r:id="rId2"/>
          </p:cNvPr>
          <p:cNvSpPr/>
          <p:nvPr/>
        </p:nvSpPr>
        <p:spPr>
          <a:xfrm>
            <a:off x="457200" y="73152"/>
            <a:ext cx="2075688" cy="384048"/>
          </a:xfrm>
          <a:prstGeom prst="chevron">
            <a:avLst>
              <a:gd name="adj" fmla="val 12000"/>
            </a:avLst>
          </a:pr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tIns="0" bIns="0"/>
          <a:lstStyle/>
          <a:p>
            <a:pPr algn="ctr">
              <a:defRPr sz="1100" b="1">
                <a:solidFill>
                  <a:srgbClr val="FFFFFF"/>
                </a:solidFill>
                <a:latin typeface="Lato"/>
              </a:defRPr>
            </a:pPr>
            <a:r>
              <a:t>1  National balance</a:t>
            </a:r>
          </a:p>
        </p:txBody>
      </p:sp>
      <p:sp>
        <p:nvSpPr>
          <p:cNvPr id="12" name="Chevron 11">
            <a:hlinkClick action="ppaction://hlinksldjump" r:id="rId3"/>
          </p:cNvPr>
          <p:cNvSpPr/>
          <p:nvPr/>
        </p:nvSpPr>
        <p:spPr>
          <a:xfrm>
            <a:off x="2587752" y="73152"/>
            <a:ext cx="2075688" cy="384048"/>
          </a:xfrm>
          <a:prstGeom prst="chevron">
            <a:avLst>
              <a:gd name="adj" fmla="val 12000"/>
            </a:avLst>
          </a:pr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tIns="0" bIns="0"/>
          <a:lstStyle/>
          <a:p>
            <a:pPr algn="ctr">
              <a:defRPr sz="1100" b="0">
                <a:solidFill>
                  <a:srgbClr val="0A2373"/>
                </a:solidFill>
                <a:latin typeface="Lato"/>
              </a:defRPr>
            </a:pPr>
            <a:r>
              <a:t>2  Forecast levers</a:t>
            </a:r>
          </a:p>
        </p:txBody>
      </p:sp>
      <p:sp>
        <p:nvSpPr>
          <p:cNvPr id="13" name="Chevron 12">
            <a:hlinkClick action="ppaction://hlinksldjump" r:id="rId4"/>
          </p:cNvPr>
          <p:cNvSpPr/>
          <p:nvPr/>
        </p:nvSpPr>
        <p:spPr>
          <a:xfrm>
            <a:off x="4718304" y="73152"/>
            <a:ext cx="2075688" cy="384048"/>
          </a:xfrm>
          <a:prstGeom prst="chevron">
            <a:avLst>
              <a:gd name="adj" fmla="val 12000"/>
            </a:avLst>
          </a:pr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tIns="0" bIns="0"/>
          <a:lstStyle/>
          <a:p>
            <a:pPr algn="ctr">
              <a:defRPr sz="1100" b="0">
                <a:solidFill>
                  <a:srgbClr val="0A2373"/>
                </a:solidFill>
                <a:latin typeface="Lato"/>
              </a:defRPr>
            </a:pPr>
            <a:r>
              <a:t>3  Sector baselines</a:t>
            </a:r>
          </a:p>
        </p:txBody>
      </p:sp>
      <p:sp>
        <p:nvSpPr>
          <p:cNvPr id="14" name="Chevron 13">
            <a:hlinkClick action="ppaction://hlinksldjump" r:id="rId5"/>
          </p:cNvPr>
          <p:cNvSpPr/>
          <p:nvPr/>
        </p:nvSpPr>
        <p:spPr>
          <a:xfrm>
            <a:off x="6848856" y="73152"/>
            <a:ext cx="2075688" cy="384048"/>
          </a:xfrm>
          <a:prstGeom prst="chevron">
            <a:avLst>
              <a:gd name="adj" fmla="val 12000"/>
            </a:avLst>
          </a:pr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tIns="0" bIns="0"/>
          <a:lstStyle/>
          <a:p>
            <a:pPr algn="ctr">
              <a:defRPr sz="1100" b="0">
                <a:solidFill>
                  <a:srgbClr val="0A2373"/>
                </a:solidFill>
                <a:latin typeface="Lato"/>
              </a:defRPr>
            </a:pPr>
            <a:r>
              <a:t>4  Tank handling</a:t>
            </a:r>
          </a:p>
        </p:txBody>
      </p:sp>
      <p:sp>
        <p:nvSpPr>
          <p:cNvPr id="15" name="Chevron 14">
            <a:hlinkClick action="ppaction://hlinksldjump" r:id="rId6"/>
          </p:cNvPr>
          <p:cNvSpPr/>
          <p:nvPr/>
        </p:nvSpPr>
        <p:spPr>
          <a:xfrm>
            <a:off x="8979408" y="73152"/>
            <a:ext cx="2075688" cy="384048"/>
          </a:xfrm>
          <a:prstGeom prst="chevron">
            <a:avLst>
              <a:gd name="adj" fmla="val 12000"/>
            </a:avLst>
          </a:pr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tIns="0" bIns="0"/>
          <a:lstStyle/>
          <a:p>
            <a:pPr algn="ctr">
              <a:defRPr sz="1100" b="0">
                <a:solidFill>
                  <a:srgbClr val="0A2373"/>
                </a:solidFill>
                <a:latin typeface="Lato"/>
              </a:defRPr>
            </a:pPr>
            <a:r>
              <a:t>5  Hand-back</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Sources agree on most years; five differences need a recorded choice</a:t>
            </a:r>
          </a:p>
        </p:txBody>
      </p:sp>
      <p:sp>
        <p:nvSpPr>
          <p:cNvPr id="3" name="TextBox 2"/>
          <p:cNvSpPr txBox="1"/>
          <p:nvPr/>
        </p:nvSpPr>
        <p:spPr>
          <a:xfrm>
            <a:off x="457200" y="1627632"/>
            <a:ext cx="10652760" cy="274320"/>
          </a:xfrm>
          <a:prstGeom prst="rect">
            <a:avLst/>
          </a:prstGeom>
          <a:noFill/>
        </p:spPr>
        <p:txBody>
          <a:bodyPr wrap="square" lIns="22860" rIns="22860" tIns="0" bIns="0">
            <a:spAutoFit/>
          </a:bodyPr>
          <a:lstStyle/>
          <a:p>
            <a:pPr>
              <a:spcAft>
                <a:spcPts val="300"/>
              </a:spcAft>
              <a:defRPr sz="1300" b="1">
                <a:solidFill>
                  <a:srgbClr val="11151A"/>
                </a:solidFill>
                <a:latin typeface="Lato"/>
              </a:defRPr>
            </a:pPr>
            <a:r>
              <a:t>Source differences | billion litres | every source is kept in its own column of the balance file</a:t>
            </a:r>
          </a:p>
        </p:txBody>
      </p:sp>
      <p:cxnSp>
        <p:nvCxnSpPr>
          <p:cNvPr id="4" name="Connector 3"/>
          <p:cNvCxnSpPr/>
          <p:nvPr/>
        </p:nvCxnSpPr>
        <p:spPr>
          <a:xfrm>
            <a:off x="457200" y="1920240"/>
            <a:ext cx="10652760" cy="0"/>
          </a:xfrm>
          <a:prstGeom prst="line">
            <a:avLst/>
          </a:prstGeom>
          <a:ln w="7620">
            <a:solidFill>
              <a:srgbClr val="A0A0A0"/>
            </a:solidFill>
          </a:ln>
        </p:spPr>
        <p:style>
          <a:lnRef idx="2">
            <a:schemeClr val="accent1"/>
          </a:lnRef>
          <a:fillRef idx="0">
            <a:schemeClr val="accent1"/>
          </a:fillRef>
          <a:effectRef idx="1">
            <a:schemeClr val="accent1"/>
          </a:effectRef>
          <a:fontRef idx="minor">
            <a:schemeClr val="tx1"/>
          </a:fontRef>
        </p:style>
      </p:cxnSp>
      <p:sp>
        <p:nvSpPr>
          <p:cNvPr id="5" name="TextBox 4"/>
          <p:cNvSpPr txBox="1"/>
          <p:nvPr/>
        </p:nvSpPr>
        <p:spPr>
          <a:xfrm>
            <a:off x="457200" y="6547104"/>
            <a:ext cx="9692640" cy="182880"/>
          </a:xfrm>
          <a:prstGeom prst="rect">
            <a:avLst/>
          </a:prstGeom>
          <a:noFill/>
        </p:spPr>
        <p:txBody>
          <a:bodyPr wrap="square" lIns="22860" rIns="22860" tIns="0" bIns="0">
            <a:spAutoFit/>
          </a:bodyPr>
          <a:lstStyle/>
          <a:p>
            <a:pPr>
              <a:spcAft>
                <a:spcPts val="300"/>
              </a:spcAft>
              <a:defRPr sz="800" b="0">
                <a:solidFill>
                  <a:srgbClr val="11151A"/>
                </a:solidFill>
                <a:latin typeface="Lato"/>
              </a:defRPr>
            </a:pPr>
            <a:r>
              <a:t>Source: fuel_balance_2026-10-06.md and its table on manish-branch, rebuilt 7 October 2026. Analyst's position, pending Nigel's review.</a:t>
            </a:r>
          </a:p>
        </p:txBody>
      </p:sp>
      <p:sp>
        <p:nvSpPr>
          <p:cNvPr id="6" name="TextBox 5"/>
          <p:cNvSpPr txBox="1"/>
          <p:nvPr/>
        </p:nvSpPr>
        <p:spPr>
          <a:xfrm>
            <a:off x="457200" y="6711696"/>
            <a:ext cx="2011680" cy="128016"/>
          </a:xfrm>
          <a:prstGeom prst="rect">
            <a:avLst/>
          </a:prstGeom>
          <a:noFill/>
        </p:spPr>
        <p:txBody>
          <a:bodyPr wrap="square" lIns="22860" rIns="22860" tIns="0" bIns="0">
            <a:spAutoFit/>
          </a:bodyPr>
          <a:lstStyle/>
          <a:p>
            <a:pPr>
              <a:spcAft>
                <a:spcPts val="300"/>
              </a:spcAft>
              <a:defRPr sz="700" b="0">
                <a:solidFill>
                  <a:srgbClr val="11151A"/>
                </a:solidFill>
                <a:latin typeface="Lato"/>
              </a:defRPr>
            </a:pPr>
            <a:r>
              <a:t>Strictly Confidential</a:t>
            </a:r>
          </a:p>
        </p:txBody>
      </p:sp>
      <p:graphicFrame>
        <p:nvGraphicFramePr>
          <p:cNvPr id="7" name="Table 6"/>
          <p:cNvGraphicFramePr>
            <a:graphicFrameLocks noGrp="1"/>
          </p:cNvGraphicFramePr>
          <p:nvPr/>
        </p:nvGraphicFramePr>
        <p:xfrm>
          <a:off x="457200" y="2029968"/>
          <a:ext cx="10652760" cy="3291840"/>
        </p:xfrm>
        <a:graphic>
          <a:graphicData uri="http://schemas.openxmlformats.org/drawingml/2006/table">
            <a:tbl>
              <a:tblPr firstRow="0" bandRow="0"/>
              <a:tblGrid>
                <a:gridCol w="2103120"/>
                <a:gridCol w="4754880"/>
                <a:gridCol w="2011680"/>
                <a:gridCol w="1783080"/>
              </a:tblGrid>
              <a:tr h="548640">
                <a:tc>
                  <a:txBody>
                    <a:bodyPr/>
                    <a:lstStyle/>
                    <a:p>
                      <a:pPr>
                        <a:spcAft>
                          <a:spcPts val="100"/>
                        </a:spcAft>
                        <a:defRPr sz="1000" b="1">
                          <a:solidFill>
                            <a:srgbClr val="0A2373"/>
                          </a:solidFill>
                          <a:latin typeface="Lato"/>
                        </a:defRPr>
                      </a:pPr>
                      <a:r>
                        <a:t>Item</a:t>
                      </a:r>
                    </a:p>
                  </a:txBody>
                  <a:tcPr marL="64008" marR="64008" marT="54864" marB="27432" anchor="t">
                    <a:lnL w="0">
                      <a:noFill/>
                    </a:lnL>
                    <a:lnR w="0">
                      <a:noFill/>
                    </a:lnR>
                    <a:lnT w="0">
                      <a:noFill/>
                    </a:lnT>
                    <a:lnB w="5080">
                      <a:solidFill>
                        <a:srgbClr val="B8B8B8"/>
                      </a:solidFill>
                    </a:lnB>
                    <a:solidFill>
                      <a:srgbClr val="FFFFFF"/>
                    </a:solidFill>
                  </a:tcPr>
                </a:tc>
                <a:tc>
                  <a:txBody>
                    <a:bodyPr/>
                    <a:lstStyle/>
                    <a:p>
                      <a:pPr>
                        <a:spcAft>
                          <a:spcPts val="100"/>
                        </a:spcAft>
                        <a:defRPr sz="1000" b="1">
                          <a:solidFill>
                            <a:srgbClr val="11151A"/>
                          </a:solidFill>
                          <a:latin typeface="Lato"/>
                        </a:defRPr>
                      </a:pPr>
                      <a:r>
                        <a:t>What the sources say</a:t>
                      </a:r>
                    </a:p>
                  </a:txBody>
                  <a:tcPr marL="64008" marR="64008" marT="54864" marB="27432" anchor="t">
                    <a:lnL w="0">
                      <a:noFill/>
                    </a:lnL>
                    <a:lnR w="0">
                      <a:noFill/>
                    </a:lnR>
                    <a:lnT w="0">
                      <a:noFill/>
                    </a:lnT>
                    <a:lnB w="5080">
                      <a:solidFill>
                        <a:srgbClr val="B8B8B8"/>
                      </a:solidFill>
                    </a:lnB>
                    <a:solidFill>
                      <a:srgbClr val="FFFFFF"/>
                    </a:solidFill>
                  </a:tcPr>
                </a:tc>
                <a:tc>
                  <a:txBody>
                    <a:bodyPr/>
                    <a:lstStyle/>
                    <a:p>
                      <a:pPr>
                        <a:spcAft>
                          <a:spcPts val="100"/>
                        </a:spcAft>
                        <a:defRPr sz="1000" b="1">
                          <a:solidFill>
                            <a:srgbClr val="11151A"/>
                          </a:solidFill>
                          <a:latin typeface="Lato"/>
                        </a:defRPr>
                      </a:pPr>
                      <a:r>
                        <a:t>Used in the balance</a:t>
                      </a:r>
                    </a:p>
                  </a:txBody>
                  <a:tcPr marL="64008" marR="64008" marT="54864" marB="27432" anchor="t">
                    <a:lnL w="0">
                      <a:noFill/>
                    </a:lnL>
                    <a:lnR w="0">
                      <a:noFill/>
                    </a:lnR>
                    <a:lnT w="0">
                      <a:noFill/>
                    </a:lnT>
                    <a:lnB w="5080">
                      <a:solidFill>
                        <a:srgbClr val="B8B8B8"/>
                      </a:solidFill>
                    </a:lnB>
                    <a:solidFill>
                      <a:srgbClr val="FFFFFF"/>
                    </a:solidFill>
                  </a:tcPr>
                </a:tc>
                <a:tc>
                  <a:txBody>
                    <a:bodyPr/>
                    <a:lstStyle/>
                    <a:p>
                      <a:pPr>
                        <a:spcAft>
                          <a:spcPts val="100"/>
                        </a:spcAft>
                        <a:defRPr sz="1000" b="1">
                          <a:solidFill>
                            <a:srgbClr val="11151A"/>
                          </a:solidFill>
                          <a:latin typeface="Lato"/>
                        </a:defRPr>
                      </a:pPr>
                      <a:r>
                        <a:t>Who decides</a:t>
                      </a:r>
                    </a:p>
                  </a:txBody>
                  <a:tcPr marL="64008" marR="64008" marT="54864" marB="27432" anchor="t">
                    <a:lnL w="0">
                      <a:noFill/>
                    </a:lnL>
                    <a:lnR w="0">
                      <a:noFill/>
                    </a:lnR>
                    <a:lnT w="0">
                      <a:noFill/>
                    </a:lnT>
                    <a:lnB w="5080">
                      <a:solidFill>
                        <a:srgbClr val="B8B8B8"/>
                      </a:solidFill>
                    </a:lnB>
                    <a:solidFill>
                      <a:srgbClr val="FFFFFF"/>
                    </a:solidFill>
                  </a:tcPr>
                </a:tc>
              </a:tr>
              <a:tr h="548640">
                <a:tc>
                  <a:txBody>
                    <a:bodyPr/>
                    <a:lstStyle/>
                    <a:p>
                      <a:pPr>
                        <a:spcAft>
                          <a:spcPts val="100"/>
                        </a:spcAft>
                        <a:defRPr sz="1000" b="1">
                          <a:solidFill>
                            <a:srgbClr val="0A2373"/>
                          </a:solidFill>
                          <a:latin typeface="Lato"/>
                        </a:defRPr>
                      </a:pPr>
                      <a:r>
                        <a:t>2024 sales</a:t>
                      </a:r>
                    </a:p>
                  </a:txBody>
                  <a:tcPr marL="64008" marR="64008" marT="54864" marB="27432" anchor="t">
                    <a:lnL w="0">
                      <a:noFill/>
                    </a:lnL>
                    <a:lnR w="0">
                      <a:noFill/>
                    </a:lnR>
                    <a:lnT w="0">
                      <a:noFill/>
                    </a:lnT>
                    <a:lnB w="5080">
                      <a:solidFill>
                        <a:srgbClr val="B8B8B8"/>
                      </a:solidFill>
                    </a:lnB>
                    <a:solidFill>
                      <a:srgbClr val="FFFFFF"/>
                    </a:solidFill>
                  </a:tcPr>
                </a:tc>
                <a:tc>
                  <a:txBody>
                    <a:bodyPr/>
                    <a:lstStyle/>
                    <a:p>
                      <a:pPr>
                        <a:spcAft>
                          <a:spcPts val="100"/>
                        </a:spcAft>
                        <a:defRPr sz="1000" b="0">
                          <a:solidFill>
                            <a:srgbClr val="11151A"/>
                          </a:solidFill>
                          <a:latin typeface="Lato"/>
                        </a:defRPr>
                      </a:pPr>
                      <a:r>
                        <a:t>FIASA 2025 edition, p.47: petrol 9.03, diesel 11.73. FIASA 2024 edition, p.32: 8.76 and 11.81. JODI: 10.14 and 10.04 (lowest reliability code). Department: not published. Road Accident Fund levy: 24.4 bn litres for both fuels in the year to March 2025, up 0.7%, against 20.76 here.</a:t>
                      </a:r>
                    </a:p>
                  </a:txBody>
                  <a:tcPr marL="64008" marR="64008" marT="54864" marB="27432" anchor="t">
                    <a:lnL w="0">
                      <a:noFill/>
                    </a:lnL>
                    <a:lnR w="0">
                      <a:noFill/>
                    </a:lnR>
                    <a:lnT w="0">
                      <a:noFill/>
                    </a:lnT>
                    <a:lnB w="5080">
                      <a:solidFill>
                        <a:srgbClr val="B8B8B8"/>
                      </a:solidFill>
                    </a:lnB>
                    <a:solidFill>
                      <a:srgbClr val="FFFFFF"/>
                    </a:solidFill>
                  </a:tcPr>
                </a:tc>
                <a:tc>
                  <a:txBody>
                    <a:bodyPr/>
                    <a:lstStyle/>
                    <a:p>
                      <a:pPr>
                        <a:spcAft>
                          <a:spcPts val="100"/>
                        </a:spcAft>
                        <a:defRPr sz="1000" b="0">
                          <a:solidFill>
                            <a:srgbClr val="11151A"/>
                          </a:solidFill>
                          <a:latin typeface="Lato"/>
                        </a:defRPr>
                      </a:pPr>
                      <a:r>
                        <a:t>FIASA 2025 edition, flagged unverified</a:t>
                      </a:r>
                    </a:p>
                  </a:txBody>
                  <a:tcPr marL="64008" marR="64008" marT="54864" marB="27432" anchor="t">
                    <a:lnL w="0">
                      <a:noFill/>
                    </a:lnL>
                    <a:lnR w="0">
                      <a:noFill/>
                    </a:lnR>
                    <a:lnT w="0">
                      <a:noFill/>
                    </a:lnT>
                    <a:lnB w="5080">
                      <a:solidFill>
                        <a:srgbClr val="B8B8B8"/>
                      </a:solidFill>
                    </a:lnB>
                    <a:solidFill>
                      <a:srgbClr val="FFFFFF"/>
                    </a:solidFill>
                  </a:tcPr>
                </a:tc>
                <a:tc>
                  <a:txBody>
                    <a:bodyPr/>
                    <a:lstStyle/>
                    <a:p>
                      <a:pPr>
                        <a:spcAft>
                          <a:spcPts val="100"/>
                        </a:spcAft>
                        <a:defRPr sz="1000" b="0">
                          <a:solidFill>
                            <a:srgbClr val="11151A"/>
                          </a:solidFill>
                          <a:latin typeface="Lato"/>
                        </a:defRPr>
                      </a:pPr>
                      <a:r>
                        <a:t>Nigel: agree the 2024 sales source</a:t>
                      </a:r>
                    </a:p>
                  </a:txBody>
                  <a:tcPr marL="64008" marR="64008" marT="54864" marB="27432" anchor="t">
                    <a:lnL w="0">
                      <a:noFill/>
                    </a:lnL>
                    <a:lnR w="0">
                      <a:noFill/>
                    </a:lnR>
                    <a:lnT w="0">
                      <a:noFill/>
                    </a:lnT>
                    <a:lnB w="5080">
                      <a:solidFill>
                        <a:srgbClr val="B8B8B8"/>
                      </a:solidFill>
                    </a:lnB>
                    <a:solidFill>
                      <a:srgbClr val="FFFFFF"/>
                    </a:solidFill>
                  </a:tcPr>
                </a:tc>
              </a:tr>
              <a:tr h="548640">
                <a:tc>
                  <a:txBody>
                    <a:bodyPr/>
                    <a:lstStyle/>
                    <a:p>
                      <a:pPr>
                        <a:spcAft>
                          <a:spcPts val="100"/>
                        </a:spcAft>
                        <a:defRPr sz="1000" b="1">
                          <a:solidFill>
                            <a:srgbClr val="0A2373"/>
                          </a:solidFill>
                          <a:latin typeface="Lato"/>
                        </a:defRPr>
                      </a:pPr>
                      <a:r>
                        <a:t>2024 diesel imports</a:t>
                      </a:r>
                    </a:p>
                  </a:txBody>
                  <a:tcPr marL="64008" marR="64008" marT="54864" marB="27432" anchor="t">
                    <a:lnL w="0">
                      <a:noFill/>
                    </a:lnL>
                    <a:lnR w="0">
                      <a:noFill/>
                    </a:lnR>
                    <a:lnT w="0">
                      <a:noFill/>
                    </a:lnT>
                    <a:lnB w="5080">
                      <a:solidFill>
                        <a:srgbClr val="B8B8B8"/>
                      </a:solidFill>
                    </a:lnB>
                    <a:solidFill>
                      <a:srgbClr val="FFFFFF"/>
                    </a:solidFill>
                  </a:tcPr>
                </a:tc>
                <a:tc>
                  <a:txBody>
                    <a:bodyPr/>
                    <a:lstStyle/>
                    <a:p>
                      <a:pPr>
                        <a:spcAft>
                          <a:spcPts val="100"/>
                        </a:spcAft>
                        <a:defRPr sz="1000" b="0">
                          <a:solidFill>
                            <a:srgbClr val="11151A"/>
                          </a:solidFill>
                          <a:latin typeface="Lato"/>
                        </a:defRPr>
                      </a:pPr>
                      <a:r>
                        <a:t>Customs 10.793. Department trade report 10.8 (rounded). FIASA 14.793, a suspected misprint.</a:t>
                      </a:r>
                    </a:p>
                  </a:txBody>
                  <a:tcPr marL="64008" marR="64008" marT="54864" marB="27432" anchor="t">
                    <a:lnL w="0">
                      <a:noFill/>
                    </a:lnL>
                    <a:lnR w="0">
                      <a:noFill/>
                    </a:lnR>
                    <a:lnT w="0">
                      <a:noFill/>
                    </a:lnT>
                    <a:lnB w="5080">
                      <a:solidFill>
                        <a:srgbClr val="B8B8B8"/>
                      </a:solidFill>
                    </a:lnB>
                    <a:solidFill>
                      <a:srgbClr val="FFFFFF"/>
                    </a:solidFill>
                  </a:tcPr>
                </a:tc>
                <a:tc>
                  <a:txBody>
                    <a:bodyPr/>
                    <a:lstStyle/>
                    <a:p>
                      <a:pPr>
                        <a:spcAft>
                          <a:spcPts val="100"/>
                        </a:spcAft>
                        <a:defRPr sz="1000" b="0">
                          <a:solidFill>
                            <a:srgbClr val="11151A"/>
                          </a:solidFill>
                          <a:latin typeface="Lato"/>
                        </a:defRPr>
                      </a:pPr>
                      <a:r>
                        <a:t>Customs</a:t>
                      </a:r>
                    </a:p>
                  </a:txBody>
                  <a:tcPr marL="64008" marR="64008" marT="54864" marB="27432" anchor="t">
                    <a:lnL w="0">
                      <a:noFill/>
                    </a:lnL>
                    <a:lnR w="0">
                      <a:noFill/>
                    </a:lnR>
                    <a:lnT w="0">
                      <a:noFill/>
                    </a:lnT>
                    <a:lnB w="5080">
                      <a:solidFill>
                        <a:srgbClr val="B8B8B8"/>
                      </a:solidFill>
                    </a:lnB>
                    <a:solidFill>
                      <a:srgbClr val="FFFFFF"/>
                    </a:solidFill>
                  </a:tcPr>
                </a:tc>
                <a:tc>
                  <a:txBody>
                    <a:bodyPr/>
                    <a:lstStyle/>
                    <a:p>
                      <a:pPr>
                        <a:spcAft>
                          <a:spcPts val="100"/>
                        </a:spcAft>
                        <a:defRPr sz="1000" b="0">
                          <a:solidFill>
                            <a:srgbClr val="11151A"/>
                          </a:solidFill>
                          <a:latin typeface="Lato"/>
                        </a:defRPr>
                      </a:pPr>
                      <a:r>
                        <a:t>Nigel: review</a:t>
                      </a:r>
                    </a:p>
                  </a:txBody>
                  <a:tcPr marL="64008" marR="64008" marT="54864" marB="27432" anchor="t">
                    <a:lnL w="0">
                      <a:noFill/>
                    </a:lnL>
                    <a:lnR w="0">
                      <a:noFill/>
                    </a:lnR>
                    <a:lnT w="0">
                      <a:noFill/>
                    </a:lnT>
                    <a:lnB w="5080">
                      <a:solidFill>
                        <a:srgbClr val="B8B8B8"/>
                      </a:solidFill>
                    </a:lnB>
                    <a:solidFill>
                      <a:srgbClr val="FFFFFF"/>
                    </a:solidFill>
                  </a:tcPr>
                </a:tc>
              </a:tr>
              <a:tr h="548640">
                <a:tc>
                  <a:txBody>
                    <a:bodyPr/>
                    <a:lstStyle/>
                    <a:p>
                      <a:pPr>
                        <a:spcAft>
                          <a:spcPts val="100"/>
                        </a:spcAft>
                        <a:defRPr sz="1000" b="1">
                          <a:solidFill>
                            <a:srgbClr val="0A2373"/>
                          </a:solidFill>
                          <a:latin typeface="Lato"/>
                        </a:defRPr>
                      </a:pPr>
                      <a:r>
                        <a:t>2018 and 2019 trade</a:t>
                      </a:r>
                    </a:p>
                  </a:txBody>
                  <a:tcPr marL="64008" marR="64008" marT="54864" marB="27432" anchor="t">
                    <a:lnL w="0">
                      <a:noFill/>
                    </a:lnL>
                    <a:lnR w="0">
                      <a:noFill/>
                    </a:lnR>
                    <a:lnT w="0">
                      <a:noFill/>
                    </a:lnT>
                    <a:lnB w="5080">
                      <a:solidFill>
                        <a:srgbClr val="B8B8B8"/>
                      </a:solidFill>
                    </a:lnB>
                    <a:solidFill>
                      <a:srgbClr val="FFFFFF"/>
                    </a:solidFill>
                  </a:tcPr>
                </a:tc>
                <a:tc>
                  <a:txBody>
                    <a:bodyPr/>
                    <a:lstStyle/>
                    <a:p>
                      <a:pPr>
                        <a:spcAft>
                          <a:spcPts val="100"/>
                        </a:spcAft>
                        <a:defRPr sz="1000" b="0">
                          <a:solidFill>
                            <a:srgbClr val="11151A"/>
                          </a:solidFill>
                          <a:latin typeface="Lato"/>
                        </a:defRPr>
                      </a:pPr>
                      <a:r>
                        <a:t>2018 diesel: customs 5.12, FIASA 6.11; petrol: 1.83 and 2.19. 2019 diesel: 5.59 and 5.86. 2018 exports are also lower in customs. FIASA and the department's 2018 balance share one earlier reading; today's customs data and UN Comtrade agree with each other. No missing month or tariff line.</a:t>
                      </a:r>
                    </a:p>
                  </a:txBody>
                  <a:tcPr marL="64008" marR="64008" marT="54864" marB="27432" anchor="t">
                    <a:lnL w="0">
                      <a:noFill/>
                    </a:lnL>
                    <a:lnR w="0">
                      <a:noFill/>
                    </a:lnR>
                    <a:lnT w="0">
                      <a:noFill/>
                    </a:lnT>
                    <a:lnB w="5080">
                      <a:solidFill>
                        <a:srgbClr val="B8B8B8"/>
                      </a:solidFill>
                    </a:lnB>
                    <a:solidFill>
                      <a:srgbClr val="FFFFFF"/>
                    </a:solidFill>
                  </a:tcPr>
                </a:tc>
                <a:tc>
                  <a:txBody>
                    <a:bodyPr/>
                    <a:lstStyle/>
                    <a:p>
                      <a:pPr>
                        <a:spcAft>
                          <a:spcPts val="100"/>
                        </a:spcAft>
                        <a:defRPr sz="1000" b="0">
                          <a:solidFill>
                            <a:srgbClr val="11151A"/>
                          </a:solidFill>
                          <a:latin typeface="Lato"/>
                        </a:defRPr>
                      </a:pPr>
                      <a:r>
                        <a:t>Customs; likely a later customs revision, not proven</a:t>
                      </a:r>
                    </a:p>
                  </a:txBody>
                  <a:tcPr marL="64008" marR="64008" marT="54864" marB="27432" anchor="t">
                    <a:lnL w="0">
                      <a:noFill/>
                    </a:lnL>
                    <a:lnR w="0">
                      <a:noFill/>
                    </a:lnR>
                    <a:lnT w="0">
                      <a:noFill/>
                    </a:lnT>
                    <a:lnB w="5080">
                      <a:solidFill>
                        <a:srgbClr val="B8B8B8"/>
                      </a:solidFill>
                    </a:lnB>
                    <a:solidFill>
                      <a:srgbClr val="FFFFFF"/>
                    </a:solidFill>
                  </a:tcPr>
                </a:tc>
                <a:tc>
                  <a:txBody>
                    <a:bodyPr/>
                    <a:lstStyle/>
                    <a:p>
                      <a:pPr>
                        <a:spcAft>
                          <a:spcPts val="100"/>
                        </a:spcAft>
                        <a:defRPr sz="1000" b="0">
                          <a:solidFill>
                            <a:srgbClr val="11151A"/>
                          </a:solidFill>
                          <a:latin typeface="Lato"/>
                        </a:defRPr>
                      </a:pPr>
                      <a:r>
                        <a:t>Nigel: review</a:t>
                      </a:r>
                    </a:p>
                  </a:txBody>
                  <a:tcPr marL="64008" marR="64008" marT="54864" marB="27432" anchor="t">
                    <a:lnL w="0">
                      <a:noFill/>
                    </a:lnL>
                    <a:lnR w="0">
                      <a:noFill/>
                    </a:lnR>
                    <a:lnT w="0">
                      <a:noFill/>
                    </a:lnT>
                    <a:lnB w="5080">
                      <a:solidFill>
                        <a:srgbClr val="B8B8B8"/>
                      </a:solidFill>
                    </a:lnB>
                    <a:solidFill>
                      <a:srgbClr val="FFFFFF"/>
                    </a:solidFill>
                  </a:tcPr>
                </a:tc>
              </a:tr>
              <a:tr h="548640">
                <a:tc>
                  <a:txBody>
                    <a:bodyPr/>
                    <a:lstStyle/>
                    <a:p>
                      <a:pPr>
                        <a:spcAft>
                          <a:spcPts val="100"/>
                        </a:spcAft>
                        <a:defRPr sz="1000" b="1">
                          <a:solidFill>
                            <a:srgbClr val="0A2373"/>
                          </a:solidFill>
                          <a:latin typeface="Lato"/>
                        </a:defRPr>
                      </a:pPr>
                      <a:r>
                        <a:t>2022 diesel exports</a:t>
                      </a:r>
                    </a:p>
                  </a:txBody>
                  <a:tcPr marL="64008" marR="64008" marT="54864" marB="27432" anchor="t">
                    <a:lnL w="0">
                      <a:noFill/>
                    </a:lnL>
                    <a:lnR w="0">
                      <a:noFill/>
                    </a:lnR>
                    <a:lnT w="0">
                      <a:noFill/>
                    </a:lnT>
                    <a:lnB w="5080">
                      <a:solidFill>
                        <a:srgbClr val="B8B8B8"/>
                      </a:solidFill>
                    </a:lnB>
                    <a:solidFill>
                      <a:srgbClr val="FFFFFF"/>
                    </a:solidFill>
                  </a:tcPr>
                </a:tc>
                <a:tc>
                  <a:txBody>
                    <a:bodyPr/>
                    <a:lstStyle/>
                    <a:p>
                      <a:pPr>
                        <a:spcAft>
                          <a:spcPts val="100"/>
                        </a:spcAft>
                        <a:defRPr sz="1000" b="0">
                          <a:solidFill>
                            <a:srgbClr val="11151A"/>
                          </a:solidFill>
                          <a:latin typeface="Lato"/>
                        </a:defRPr>
                      </a:pPr>
                      <a:r>
                        <a:t>Customs 0.89, FIASA 0.70.</a:t>
                      </a:r>
                    </a:p>
                  </a:txBody>
                  <a:tcPr marL="64008" marR="64008" marT="54864" marB="27432" anchor="t">
                    <a:lnL w="0">
                      <a:noFill/>
                    </a:lnL>
                    <a:lnR w="0">
                      <a:noFill/>
                    </a:lnR>
                    <a:lnT w="0">
                      <a:noFill/>
                    </a:lnT>
                    <a:lnB w="5080">
                      <a:solidFill>
                        <a:srgbClr val="B8B8B8"/>
                      </a:solidFill>
                    </a:lnB>
                    <a:solidFill>
                      <a:srgbClr val="FFFFFF"/>
                    </a:solidFill>
                  </a:tcPr>
                </a:tc>
                <a:tc>
                  <a:txBody>
                    <a:bodyPr/>
                    <a:lstStyle/>
                    <a:p>
                      <a:pPr>
                        <a:spcAft>
                          <a:spcPts val="100"/>
                        </a:spcAft>
                        <a:defRPr sz="1000" b="0">
                          <a:solidFill>
                            <a:srgbClr val="11151A"/>
                          </a:solidFill>
                          <a:latin typeface="Lato"/>
                        </a:defRPr>
                      </a:pPr>
                      <a:r>
                        <a:t>Customs</a:t>
                      </a:r>
                    </a:p>
                  </a:txBody>
                  <a:tcPr marL="64008" marR="64008" marT="54864" marB="27432" anchor="t">
                    <a:lnL w="0">
                      <a:noFill/>
                    </a:lnL>
                    <a:lnR w="0">
                      <a:noFill/>
                    </a:lnR>
                    <a:lnT w="0">
                      <a:noFill/>
                    </a:lnT>
                    <a:lnB w="5080">
                      <a:solidFill>
                        <a:srgbClr val="B8B8B8"/>
                      </a:solidFill>
                    </a:lnB>
                    <a:solidFill>
                      <a:srgbClr val="FFFFFF"/>
                    </a:solidFill>
                  </a:tcPr>
                </a:tc>
                <a:tc>
                  <a:txBody>
                    <a:bodyPr/>
                    <a:lstStyle/>
                    <a:p>
                      <a:pPr>
                        <a:spcAft>
                          <a:spcPts val="100"/>
                        </a:spcAft>
                        <a:defRPr sz="1000" b="0">
                          <a:solidFill>
                            <a:srgbClr val="11151A"/>
                          </a:solidFill>
                          <a:latin typeface="Lato"/>
                        </a:defRPr>
                      </a:pPr>
                      <a:r>
                        <a:t>Nigel: review</a:t>
                      </a:r>
                    </a:p>
                  </a:txBody>
                  <a:tcPr marL="64008" marR="64008" marT="54864" marB="27432" anchor="t">
                    <a:lnL w="0">
                      <a:noFill/>
                    </a:lnL>
                    <a:lnR w="0">
                      <a:noFill/>
                    </a:lnR>
                    <a:lnT w="0">
                      <a:noFill/>
                    </a:lnT>
                    <a:lnB w="5080">
                      <a:solidFill>
                        <a:srgbClr val="B8B8B8"/>
                      </a:solidFill>
                    </a:lnB>
                    <a:solidFill>
                      <a:srgbClr val="FFFFFF"/>
                    </a:solidFill>
                  </a:tcPr>
                </a:tc>
              </a:tr>
              <a:tr h="548640">
                <a:tc>
                  <a:txBody>
                    <a:bodyPr/>
                    <a:lstStyle/>
                    <a:p>
                      <a:pPr>
                        <a:spcAft>
                          <a:spcPts val="100"/>
                        </a:spcAft>
                        <a:defRPr sz="1000" b="1">
                          <a:solidFill>
                            <a:srgbClr val="0A2373"/>
                          </a:solidFill>
                          <a:latin typeface="Lato"/>
                        </a:defRPr>
                      </a:pPr>
                      <a:r>
                        <a:t>2019 and 2020 energy balances</a:t>
                      </a:r>
                    </a:p>
                  </a:txBody>
                  <a:tcPr marL="64008" marR="64008" marT="54864" marB="27432" anchor="t">
                    <a:lnL w="0">
                      <a:noFill/>
                    </a:lnL>
                    <a:lnR w="0">
                      <a:noFill/>
                    </a:lnR>
                    <a:lnT w="0">
                      <a:noFill/>
                    </a:lnT>
                    <a:lnB w="5080">
                      <a:solidFill>
                        <a:srgbClr val="B8B8B8"/>
                      </a:solidFill>
                    </a:lnB>
                    <a:solidFill>
                      <a:srgbClr val="FFFFFF"/>
                    </a:solidFill>
                  </a:tcPr>
                </a:tc>
                <a:tc>
                  <a:txBody>
                    <a:bodyPr/>
                    <a:lstStyle/>
                    <a:p>
                      <a:pPr>
                        <a:spcAft>
                          <a:spcPts val="100"/>
                        </a:spcAft>
                        <a:defRPr sz="1000" b="0">
                          <a:solidFill>
                            <a:srgbClr val="11151A"/>
                          </a:solidFill>
                          <a:latin typeface="Lato"/>
                        </a:defRPr>
                      </a:pPr>
                      <a:r>
                        <a:t>Their import and export lines repeat the previous year's figures.</a:t>
                      </a:r>
                    </a:p>
                  </a:txBody>
                  <a:tcPr marL="64008" marR="64008" marT="54864" marB="27432" anchor="t">
                    <a:lnL w="0">
                      <a:noFill/>
                    </a:lnL>
                    <a:lnR w="0">
                      <a:noFill/>
                    </a:lnR>
                    <a:lnT w="0">
                      <a:noFill/>
                    </a:lnT>
                    <a:lnB w="5080">
                      <a:solidFill>
                        <a:srgbClr val="B8B8B8"/>
                      </a:solidFill>
                    </a:lnB>
                    <a:solidFill>
                      <a:srgbClr val="FFFFFF"/>
                    </a:solidFill>
                  </a:tcPr>
                </a:tc>
                <a:tc>
                  <a:txBody>
                    <a:bodyPr/>
                    <a:lstStyle/>
                    <a:p>
                      <a:pPr>
                        <a:spcAft>
                          <a:spcPts val="100"/>
                        </a:spcAft>
                        <a:defRPr sz="1000" b="0">
                          <a:solidFill>
                            <a:srgbClr val="11151A"/>
                          </a:solidFill>
                          <a:latin typeface="Lato"/>
                        </a:defRPr>
                      </a:pPr>
                      <a:r>
                        <a:t>Not used for trade</a:t>
                      </a:r>
                    </a:p>
                  </a:txBody>
                  <a:tcPr marL="64008" marR="64008" marT="54864" marB="27432" anchor="t">
                    <a:lnL w="0">
                      <a:noFill/>
                    </a:lnL>
                    <a:lnR w="0">
                      <a:noFill/>
                    </a:lnR>
                    <a:lnT w="0">
                      <a:noFill/>
                    </a:lnT>
                    <a:lnB w="5080">
                      <a:solidFill>
                        <a:srgbClr val="B8B8B8"/>
                      </a:solidFill>
                    </a:lnB>
                    <a:solidFill>
                      <a:srgbClr val="FFFFFF"/>
                    </a:solidFill>
                  </a:tcPr>
                </a:tc>
                <a:tc>
                  <a:txBody>
                    <a:bodyPr/>
                    <a:lstStyle/>
                    <a:p>
                      <a:pPr>
                        <a:spcAft>
                          <a:spcPts val="100"/>
                        </a:spcAft>
                        <a:defRPr sz="1000" b="0">
                          <a:solidFill>
                            <a:srgbClr val="11151A"/>
                          </a:solidFill>
                          <a:latin typeface="Lato"/>
                        </a:defRPr>
                      </a:pPr>
                      <a:r>
                        <a:t>Nigel: confirm</a:t>
                      </a:r>
                    </a:p>
                  </a:txBody>
                  <a:tcPr marL="64008" marR="64008" marT="54864" marB="27432" anchor="t">
                    <a:lnL w="0">
                      <a:noFill/>
                    </a:lnL>
                    <a:lnR w="0">
                      <a:noFill/>
                    </a:lnR>
                    <a:lnT w="0">
                      <a:noFill/>
                    </a:lnT>
                    <a:lnB w="5080">
                      <a:solidFill>
                        <a:srgbClr val="B8B8B8"/>
                      </a:solidFill>
                    </a:lnB>
                    <a:solidFill>
                      <a:srgbClr val="FFFFFF"/>
                    </a:solidFill>
                  </a:tcPr>
                </a:tc>
              </a:tr>
            </a:tbl>
          </a:graphicData>
        </a:graphic>
      </p:graphicFrame>
      <p:sp>
        <p:nvSpPr>
          <p:cNvPr id="8" name="TextBox 7"/>
          <p:cNvSpPr txBox="1"/>
          <p:nvPr/>
        </p:nvSpPr>
        <p:spPr>
          <a:xfrm>
            <a:off x="457200" y="5669280"/>
            <a:ext cx="10652760" cy="548640"/>
          </a:xfrm>
          <a:prstGeom prst="rect">
            <a:avLst/>
          </a:prstGeom>
          <a:noFill/>
        </p:spPr>
        <p:txBody>
          <a:bodyPr wrap="square" lIns="22860" rIns="22860" tIns="0" bIns="0">
            <a:spAutoFit/>
          </a:bodyPr>
          <a:lstStyle/>
          <a:p>
            <a:pPr>
              <a:spcAft>
                <a:spcPts val="300"/>
              </a:spcAft>
              <a:defRPr sz="1100" b="0">
                <a:solidFill>
                  <a:srgbClr val="11151A"/>
                </a:solidFill>
                <a:latin typeface="Lato"/>
              </a:defRPr>
            </a:pPr>
            <a:r>
              <a:t>In the other years from 2014, customs and FIASA differ by 0.2 bn litres or less; the full list is in the balance note. Before 2014 customs is in kilograms or mixed units, so FIASA is used.</a:t>
            </a:r>
          </a:p>
        </p:txBody>
      </p:sp>
      <p:sp>
        <p:nvSpPr>
          <p:cNvPr id="9" name="Chevron 8">
            <a:hlinkClick action="ppaction://hlinksldjump" r:id="rId2"/>
          </p:cNvPr>
          <p:cNvSpPr/>
          <p:nvPr/>
        </p:nvSpPr>
        <p:spPr>
          <a:xfrm>
            <a:off x="457200" y="73152"/>
            <a:ext cx="2075688" cy="384048"/>
          </a:xfrm>
          <a:prstGeom prst="chevron">
            <a:avLst>
              <a:gd name="adj" fmla="val 12000"/>
            </a:avLst>
          </a:pr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tIns="0" bIns="0"/>
          <a:lstStyle/>
          <a:p>
            <a:pPr algn="ctr">
              <a:defRPr sz="1100" b="1">
                <a:solidFill>
                  <a:srgbClr val="FFFFFF"/>
                </a:solidFill>
                <a:latin typeface="Lato"/>
              </a:defRPr>
            </a:pPr>
            <a:r>
              <a:t>1  National balance</a:t>
            </a:r>
          </a:p>
        </p:txBody>
      </p:sp>
      <p:sp>
        <p:nvSpPr>
          <p:cNvPr id="10" name="Chevron 9">
            <a:hlinkClick action="ppaction://hlinksldjump" r:id="rId3"/>
          </p:cNvPr>
          <p:cNvSpPr/>
          <p:nvPr/>
        </p:nvSpPr>
        <p:spPr>
          <a:xfrm>
            <a:off x="2587752" y="73152"/>
            <a:ext cx="2075688" cy="384048"/>
          </a:xfrm>
          <a:prstGeom prst="chevron">
            <a:avLst>
              <a:gd name="adj" fmla="val 12000"/>
            </a:avLst>
          </a:pr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tIns="0" bIns="0"/>
          <a:lstStyle/>
          <a:p>
            <a:pPr algn="ctr">
              <a:defRPr sz="1100" b="0">
                <a:solidFill>
                  <a:srgbClr val="0A2373"/>
                </a:solidFill>
                <a:latin typeface="Lato"/>
              </a:defRPr>
            </a:pPr>
            <a:r>
              <a:t>2  Forecast levers</a:t>
            </a:r>
          </a:p>
        </p:txBody>
      </p:sp>
      <p:sp>
        <p:nvSpPr>
          <p:cNvPr id="11" name="Chevron 10">
            <a:hlinkClick action="ppaction://hlinksldjump" r:id="rId4"/>
          </p:cNvPr>
          <p:cNvSpPr/>
          <p:nvPr/>
        </p:nvSpPr>
        <p:spPr>
          <a:xfrm>
            <a:off x="4718304" y="73152"/>
            <a:ext cx="2075688" cy="384048"/>
          </a:xfrm>
          <a:prstGeom prst="chevron">
            <a:avLst>
              <a:gd name="adj" fmla="val 12000"/>
            </a:avLst>
          </a:pr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tIns="0" bIns="0"/>
          <a:lstStyle/>
          <a:p>
            <a:pPr algn="ctr">
              <a:defRPr sz="1100" b="0">
                <a:solidFill>
                  <a:srgbClr val="0A2373"/>
                </a:solidFill>
                <a:latin typeface="Lato"/>
              </a:defRPr>
            </a:pPr>
            <a:r>
              <a:t>3  Sector baselines</a:t>
            </a:r>
          </a:p>
        </p:txBody>
      </p:sp>
      <p:sp>
        <p:nvSpPr>
          <p:cNvPr id="12" name="Chevron 11">
            <a:hlinkClick action="ppaction://hlinksldjump" r:id="rId5"/>
          </p:cNvPr>
          <p:cNvSpPr/>
          <p:nvPr/>
        </p:nvSpPr>
        <p:spPr>
          <a:xfrm>
            <a:off x="6848856" y="73152"/>
            <a:ext cx="2075688" cy="384048"/>
          </a:xfrm>
          <a:prstGeom prst="chevron">
            <a:avLst>
              <a:gd name="adj" fmla="val 12000"/>
            </a:avLst>
          </a:pr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tIns="0" bIns="0"/>
          <a:lstStyle/>
          <a:p>
            <a:pPr algn="ctr">
              <a:defRPr sz="1100" b="0">
                <a:solidFill>
                  <a:srgbClr val="0A2373"/>
                </a:solidFill>
                <a:latin typeface="Lato"/>
              </a:defRPr>
            </a:pPr>
            <a:r>
              <a:t>4  Tank handling</a:t>
            </a:r>
          </a:p>
        </p:txBody>
      </p:sp>
      <p:sp>
        <p:nvSpPr>
          <p:cNvPr id="13" name="Chevron 12">
            <a:hlinkClick action="ppaction://hlinksldjump" r:id="rId6"/>
          </p:cNvPr>
          <p:cNvSpPr/>
          <p:nvPr/>
        </p:nvSpPr>
        <p:spPr>
          <a:xfrm>
            <a:off x="8979408" y="73152"/>
            <a:ext cx="2075688" cy="384048"/>
          </a:xfrm>
          <a:prstGeom prst="chevron">
            <a:avLst>
              <a:gd name="adj" fmla="val 12000"/>
            </a:avLst>
          </a:pr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tIns="0" bIns="0"/>
          <a:lstStyle/>
          <a:p>
            <a:pPr algn="ctr">
              <a:defRPr sz="1100" b="0">
                <a:solidFill>
                  <a:srgbClr val="0A2373"/>
                </a:solidFill>
                <a:latin typeface="Lato"/>
              </a:defRPr>
            </a:pPr>
            <a:r>
              <a:t>5  Hand-back</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Production after 2021 and stock changes are missing, so the balance is not closed</a:t>
            </a:r>
          </a:p>
        </p:txBody>
      </p:sp>
      <p:sp>
        <p:nvSpPr>
          <p:cNvPr id="3" name="TextBox 2"/>
          <p:cNvSpPr txBox="1"/>
          <p:nvPr/>
        </p:nvSpPr>
        <p:spPr>
          <a:xfrm>
            <a:off x="457200" y="1627632"/>
            <a:ext cx="10652760" cy="274320"/>
          </a:xfrm>
          <a:prstGeom prst="rect">
            <a:avLst/>
          </a:prstGeom>
          <a:noFill/>
        </p:spPr>
        <p:txBody>
          <a:bodyPr wrap="square" lIns="22860" rIns="22860" tIns="0" bIns="0">
            <a:spAutoFit/>
          </a:bodyPr>
          <a:lstStyle/>
          <a:p>
            <a:pPr>
              <a:spcAft>
                <a:spcPts val="300"/>
              </a:spcAft>
              <a:defRPr sz="1300" b="1">
                <a:solidFill>
                  <a:srgbClr val="11151A"/>
                </a:solidFill>
                <a:latin typeface="Lato"/>
              </a:defRPr>
            </a:pPr>
            <a:r>
              <a:t>Missing production and stocks | sales less net imports against production reported in the energy balance</a:t>
            </a:r>
          </a:p>
        </p:txBody>
      </p:sp>
      <p:cxnSp>
        <p:nvCxnSpPr>
          <p:cNvPr id="4" name="Connector 3"/>
          <p:cNvCxnSpPr/>
          <p:nvPr/>
        </p:nvCxnSpPr>
        <p:spPr>
          <a:xfrm>
            <a:off x="457200" y="1920240"/>
            <a:ext cx="10652760" cy="0"/>
          </a:xfrm>
          <a:prstGeom prst="line">
            <a:avLst/>
          </a:prstGeom>
          <a:ln w="7620">
            <a:solidFill>
              <a:srgbClr val="A0A0A0"/>
            </a:solidFill>
          </a:ln>
        </p:spPr>
        <p:style>
          <a:lnRef idx="2">
            <a:schemeClr val="accent1"/>
          </a:lnRef>
          <a:fillRef idx="0">
            <a:schemeClr val="accent1"/>
          </a:fillRef>
          <a:effectRef idx="1">
            <a:schemeClr val="accent1"/>
          </a:effectRef>
          <a:fontRef idx="minor">
            <a:schemeClr val="tx1"/>
          </a:fontRef>
        </p:style>
      </p:cxnSp>
      <p:sp>
        <p:nvSpPr>
          <p:cNvPr id="5" name="TextBox 4"/>
          <p:cNvSpPr txBox="1"/>
          <p:nvPr/>
        </p:nvSpPr>
        <p:spPr>
          <a:xfrm>
            <a:off x="457200" y="6547104"/>
            <a:ext cx="9692640" cy="182880"/>
          </a:xfrm>
          <a:prstGeom prst="rect">
            <a:avLst/>
          </a:prstGeom>
          <a:noFill/>
        </p:spPr>
        <p:txBody>
          <a:bodyPr wrap="square" lIns="22860" rIns="22860" tIns="0" bIns="0">
            <a:spAutoFit/>
          </a:bodyPr>
          <a:lstStyle/>
          <a:p>
            <a:pPr>
              <a:spcAft>
                <a:spcPts val="300"/>
              </a:spcAft>
              <a:defRPr sz="800" b="0">
                <a:solidFill>
                  <a:srgbClr val="11151A"/>
                </a:solidFill>
                <a:latin typeface="Lato"/>
              </a:defRPr>
            </a:pPr>
            <a:r>
              <a:t>Source: fuel_balance_2026-10-06.md and its table on manish-branch, rebuilt 7 October 2026. Analyst's position, pending Nigel's review.</a:t>
            </a:r>
          </a:p>
        </p:txBody>
      </p:sp>
      <p:sp>
        <p:nvSpPr>
          <p:cNvPr id="6" name="TextBox 5"/>
          <p:cNvSpPr txBox="1"/>
          <p:nvPr/>
        </p:nvSpPr>
        <p:spPr>
          <a:xfrm>
            <a:off x="457200" y="6711696"/>
            <a:ext cx="2011680" cy="128016"/>
          </a:xfrm>
          <a:prstGeom prst="rect">
            <a:avLst/>
          </a:prstGeom>
          <a:noFill/>
        </p:spPr>
        <p:txBody>
          <a:bodyPr wrap="square" lIns="22860" rIns="22860" tIns="0" bIns="0">
            <a:spAutoFit/>
          </a:bodyPr>
          <a:lstStyle/>
          <a:p>
            <a:pPr>
              <a:spcAft>
                <a:spcPts val="300"/>
              </a:spcAft>
              <a:defRPr sz="700" b="0">
                <a:solidFill>
                  <a:srgbClr val="11151A"/>
                </a:solidFill>
                <a:latin typeface="Lato"/>
              </a:defRPr>
            </a:pPr>
            <a:r>
              <a:t>Strictly Confidential</a:t>
            </a:r>
          </a:p>
        </p:txBody>
      </p:sp>
      <p:graphicFrame>
        <p:nvGraphicFramePr>
          <p:cNvPr id="7" name="Chart 6"/>
          <p:cNvGraphicFramePr>
            <a:graphicFrameLocks noGrp="1"/>
          </p:cNvGraphicFramePr>
          <p:nvPr/>
        </p:nvGraphicFramePr>
        <p:xfrm>
          <a:off x="457200" y="2011680"/>
          <a:ext cx="3200400" cy="3429000"/>
        </p:xfrm>
        <a:graphic>
          <a:graphicData uri="http://schemas.openxmlformats.org/drawingml/2006/chart">
            <c:chart xmlns:c="http://schemas.openxmlformats.org/drawingml/2006/chart" r:id="rId2"/>
          </a:graphicData>
        </a:graphic>
      </p:graphicFrame>
      <p:graphicFrame>
        <p:nvGraphicFramePr>
          <p:cNvPr id="8" name="Chart 7"/>
          <p:cNvGraphicFramePr>
            <a:graphicFrameLocks noGrp="1"/>
          </p:cNvGraphicFramePr>
          <p:nvPr/>
        </p:nvGraphicFramePr>
        <p:xfrm>
          <a:off x="3703320" y="2011680"/>
          <a:ext cx="3200400" cy="3429000"/>
        </p:xfrm>
        <a:graphic>
          <a:graphicData uri="http://schemas.openxmlformats.org/drawingml/2006/chart">
            <c:chart xmlns:c="http://schemas.openxmlformats.org/drawingml/2006/chart" r:id="rId3"/>
          </a:graphicData>
        </a:graphic>
      </p:graphicFrame>
      <p:graphicFrame>
        <p:nvGraphicFramePr>
          <p:cNvPr id="9" name="Table 8"/>
          <p:cNvGraphicFramePr>
            <a:graphicFrameLocks noGrp="1"/>
          </p:cNvGraphicFramePr>
          <p:nvPr/>
        </p:nvGraphicFramePr>
        <p:xfrm>
          <a:off x="7040880" y="2029968"/>
          <a:ext cx="4023360" cy="3383280"/>
        </p:xfrm>
        <a:graphic>
          <a:graphicData uri="http://schemas.openxmlformats.org/drawingml/2006/table">
            <a:tbl>
              <a:tblPr firstRow="0" bandRow="0"/>
              <a:tblGrid>
                <a:gridCol w="1188720"/>
                <a:gridCol w="1645920"/>
                <a:gridCol w="1188720"/>
              </a:tblGrid>
              <a:tr h="845820">
                <a:tc>
                  <a:txBody>
                    <a:bodyPr/>
                    <a:lstStyle/>
                    <a:p>
                      <a:pPr>
                        <a:spcAft>
                          <a:spcPts val="100"/>
                        </a:spcAft>
                        <a:defRPr sz="950" b="1">
                          <a:solidFill>
                            <a:srgbClr val="0A2373"/>
                          </a:solidFill>
                          <a:latin typeface="Lato"/>
                        </a:defRPr>
                      </a:pPr>
                      <a:r>
                        <a:t>Missing</a:t>
                      </a:r>
                    </a:p>
                  </a:txBody>
                  <a:tcPr marL="64008" marR="64008" marT="54864" marB="27432" anchor="t">
                    <a:lnL w="0">
                      <a:noFill/>
                    </a:lnL>
                    <a:lnR w="0">
                      <a:noFill/>
                    </a:lnR>
                    <a:lnT w="0">
                      <a:noFill/>
                    </a:lnT>
                    <a:lnB w="5080">
                      <a:solidFill>
                        <a:srgbClr val="B8B8B8"/>
                      </a:solidFill>
                    </a:lnB>
                    <a:solidFill>
                      <a:srgbClr val="FFFFFF"/>
                    </a:solidFill>
                  </a:tcPr>
                </a:tc>
                <a:tc>
                  <a:txBody>
                    <a:bodyPr/>
                    <a:lstStyle/>
                    <a:p>
                      <a:pPr>
                        <a:spcAft>
                          <a:spcPts val="100"/>
                        </a:spcAft>
                        <a:defRPr sz="950" b="1">
                          <a:solidFill>
                            <a:srgbClr val="11151A"/>
                          </a:solidFill>
                          <a:latin typeface="Lato"/>
                        </a:defRPr>
                      </a:pPr>
                      <a:r>
                        <a:t>What exists</a:t>
                      </a:r>
                    </a:p>
                  </a:txBody>
                  <a:tcPr marL="64008" marR="64008" marT="54864" marB="27432" anchor="t">
                    <a:lnL w="0">
                      <a:noFill/>
                    </a:lnL>
                    <a:lnR w="0">
                      <a:noFill/>
                    </a:lnR>
                    <a:lnT w="0">
                      <a:noFill/>
                    </a:lnT>
                    <a:lnB w="5080">
                      <a:solidFill>
                        <a:srgbClr val="B8B8B8"/>
                      </a:solidFill>
                    </a:lnB>
                    <a:solidFill>
                      <a:srgbClr val="FFFFFF"/>
                    </a:solidFill>
                  </a:tcPr>
                </a:tc>
                <a:tc>
                  <a:txBody>
                    <a:bodyPr/>
                    <a:lstStyle/>
                    <a:p>
                      <a:pPr>
                        <a:spcAft>
                          <a:spcPts val="100"/>
                        </a:spcAft>
                        <a:defRPr sz="950" b="1">
                          <a:solidFill>
                            <a:srgbClr val="11151A"/>
                          </a:solidFill>
                          <a:latin typeface="Lato"/>
                        </a:defRPr>
                      </a:pPr>
                      <a:r>
                        <a:t>Limit</a:t>
                      </a:r>
                    </a:p>
                  </a:txBody>
                  <a:tcPr marL="64008" marR="64008" marT="54864" marB="27432" anchor="t">
                    <a:lnL w="0">
                      <a:noFill/>
                    </a:lnL>
                    <a:lnR w="0">
                      <a:noFill/>
                    </a:lnR>
                    <a:lnT w="0">
                      <a:noFill/>
                    </a:lnT>
                    <a:lnB w="5080">
                      <a:solidFill>
                        <a:srgbClr val="B8B8B8"/>
                      </a:solidFill>
                    </a:lnB>
                    <a:solidFill>
                      <a:srgbClr val="FFFFFF"/>
                    </a:solidFill>
                  </a:tcPr>
                </a:tc>
              </a:tr>
              <a:tr h="845820">
                <a:tc>
                  <a:txBody>
                    <a:bodyPr/>
                    <a:lstStyle/>
                    <a:p>
                      <a:pPr>
                        <a:spcAft>
                          <a:spcPts val="100"/>
                        </a:spcAft>
                        <a:defRPr sz="950" b="1">
                          <a:solidFill>
                            <a:srgbClr val="0A2373"/>
                          </a:solidFill>
                          <a:latin typeface="Lato"/>
                        </a:defRPr>
                      </a:pPr>
                      <a:r>
                        <a:t>Production by product, 2022 on</a:t>
                      </a:r>
                    </a:p>
                  </a:txBody>
                  <a:tcPr marL="64008" marR="64008" marT="54864" marB="27432" anchor="t">
                    <a:lnL w="0">
                      <a:noFill/>
                    </a:lnL>
                    <a:lnR w="0">
                      <a:noFill/>
                    </a:lnR>
                    <a:lnT w="0">
                      <a:noFill/>
                    </a:lnT>
                    <a:lnB w="5080">
                      <a:solidFill>
                        <a:srgbClr val="B8B8B8"/>
                      </a:solidFill>
                    </a:lnB>
                    <a:solidFill>
                      <a:srgbClr val="FFFFFF"/>
                    </a:solidFill>
                  </a:tcPr>
                </a:tc>
                <a:tc>
                  <a:txBody>
                    <a:bodyPr/>
                    <a:lstStyle/>
                    <a:p>
                      <a:pPr>
                        <a:spcAft>
                          <a:spcPts val="100"/>
                        </a:spcAft>
                        <a:defRPr sz="950" b="0">
                          <a:solidFill>
                            <a:srgbClr val="11151A"/>
                          </a:solidFill>
                          <a:latin typeface="Lato"/>
                        </a:defRPr>
                      </a:pPr>
                      <a:r>
                        <a:t>Sasol, year to June 2024: Secunda 29.1 and Natref 17.8 million barrels. Glencore, calendar 2024: Astron 166,204 billion Btu.</a:t>
                      </a:r>
                    </a:p>
                  </a:txBody>
                  <a:tcPr marL="64008" marR="64008" marT="54864" marB="27432" anchor="t">
                    <a:lnL w="0">
                      <a:noFill/>
                    </a:lnL>
                    <a:lnR w="0">
                      <a:noFill/>
                    </a:lnR>
                    <a:lnT w="0">
                      <a:noFill/>
                    </a:lnT>
                    <a:lnB w="5080">
                      <a:solidFill>
                        <a:srgbClr val="B8B8B8"/>
                      </a:solidFill>
                    </a:lnB>
                    <a:solidFill>
                      <a:srgbClr val="FFFFFF"/>
                    </a:solidFill>
                  </a:tcPr>
                </a:tc>
                <a:tc>
                  <a:txBody>
                    <a:bodyPr/>
                    <a:lstStyle/>
                    <a:p>
                      <a:pPr>
                        <a:spcAft>
                          <a:spcPts val="100"/>
                        </a:spcAft>
                        <a:defRPr sz="950" b="0">
                          <a:solidFill>
                            <a:srgbClr val="11151A"/>
                          </a:solidFill>
                          <a:latin typeface="Lato"/>
                        </a:defRPr>
                      </a:pPr>
                      <a:r>
                        <a:t>All refined products; fiscal against calendar years; Natref is Sasol's share only</a:t>
                      </a:r>
                    </a:p>
                  </a:txBody>
                  <a:tcPr marL="64008" marR="64008" marT="54864" marB="27432" anchor="t">
                    <a:lnL w="0">
                      <a:noFill/>
                    </a:lnL>
                    <a:lnR w="0">
                      <a:noFill/>
                    </a:lnR>
                    <a:lnT w="0">
                      <a:noFill/>
                    </a:lnT>
                    <a:lnB w="5080">
                      <a:solidFill>
                        <a:srgbClr val="B8B8B8"/>
                      </a:solidFill>
                    </a:lnB>
                    <a:solidFill>
                      <a:srgbClr val="FFFFFF"/>
                    </a:solidFill>
                  </a:tcPr>
                </a:tc>
              </a:tr>
              <a:tr h="845820">
                <a:tc>
                  <a:txBody>
                    <a:bodyPr/>
                    <a:lstStyle/>
                    <a:p>
                      <a:pPr>
                        <a:spcAft>
                          <a:spcPts val="100"/>
                        </a:spcAft>
                        <a:defRPr sz="950" b="1">
                          <a:solidFill>
                            <a:srgbClr val="0A2373"/>
                          </a:solidFill>
                          <a:latin typeface="Lato"/>
                        </a:defRPr>
                      </a:pPr>
                      <a:r>
                        <a:t>Stock changes</a:t>
                      </a:r>
                    </a:p>
                  </a:txBody>
                  <a:tcPr marL="64008" marR="64008" marT="54864" marB="27432" anchor="t">
                    <a:lnL w="0">
                      <a:noFill/>
                    </a:lnL>
                    <a:lnR w="0">
                      <a:noFill/>
                    </a:lnR>
                    <a:lnT w="0">
                      <a:noFill/>
                    </a:lnT>
                    <a:lnB w="5080">
                      <a:solidFill>
                        <a:srgbClr val="B8B8B8"/>
                      </a:solidFill>
                    </a:lnB>
                    <a:solidFill>
                      <a:srgbClr val="FFFFFF"/>
                    </a:solidFill>
                  </a:tcPr>
                </a:tc>
                <a:tc>
                  <a:txBody>
                    <a:bodyPr/>
                    <a:lstStyle/>
                    <a:p>
                      <a:pPr>
                        <a:spcAft>
                          <a:spcPts val="100"/>
                        </a:spcAft>
                        <a:defRPr sz="950" b="0">
                          <a:solidFill>
                            <a:srgbClr val="11151A"/>
                          </a:solidFill>
                          <a:latin typeface="Lato"/>
                        </a:defRPr>
                      </a:pPr>
                      <a:r>
                        <a:t>JODI monthly stocks, 2023 and 2024</a:t>
                      </a:r>
                    </a:p>
                  </a:txBody>
                  <a:tcPr marL="64008" marR="64008" marT="54864" marB="27432" anchor="t">
                    <a:lnL w="0">
                      <a:noFill/>
                    </a:lnL>
                    <a:lnR w="0">
                      <a:noFill/>
                    </a:lnR>
                    <a:lnT w="0">
                      <a:noFill/>
                    </a:lnT>
                    <a:lnB w="5080">
                      <a:solidFill>
                        <a:srgbClr val="B8B8B8"/>
                      </a:solidFill>
                    </a:lnB>
                    <a:solidFill>
                      <a:srgbClr val="FFFFFF"/>
                    </a:solidFill>
                  </a:tcPr>
                </a:tc>
                <a:tc>
                  <a:txBody>
                    <a:bodyPr/>
                    <a:lstStyle/>
                    <a:p>
                      <a:pPr>
                        <a:spcAft>
                          <a:spcPts val="100"/>
                        </a:spcAft>
                        <a:defRPr sz="950" b="0">
                          <a:solidFill>
                            <a:srgbClr val="11151A"/>
                          </a:solidFill>
                          <a:latin typeface="Lato"/>
                        </a:defRPr>
                      </a:pPr>
                      <a:r>
                        <a:t>Lowest reliability code; not usable as it stands</a:t>
                      </a:r>
                    </a:p>
                  </a:txBody>
                  <a:tcPr marL="64008" marR="64008" marT="54864" marB="27432" anchor="t">
                    <a:lnL w="0">
                      <a:noFill/>
                    </a:lnL>
                    <a:lnR w="0">
                      <a:noFill/>
                    </a:lnR>
                    <a:lnT w="0">
                      <a:noFill/>
                    </a:lnT>
                    <a:lnB w="5080">
                      <a:solidFill>
                        <a:srgbClr val="B8B8B8"/>
                      </a:solidFill>
                    </a:lnB>
                    <a:solidFill>
                      <a:srgbClr val="FFFFFF"/>
                    </a:solidFill>
                  </a:tcPr>
                </a:tc>
              </a:tr>
              <a:tr h="845820">
                <a:tc>
                  <a:txBody>
                    <a:bodyPr/>
                    <a:lstStyle/>
                    <a:p>
                      <a:pPr>
                        <a:spcAft>
                          <a:spcPts val="100"/>
                        </a:spcAft>
                        <a:defRPr sz="950" b="1">
                          <a:solidFill>
                            <a:srgbClr val="0A2373"/>
                          </a:solidFill>
                          <a:latin typeface="Lato"/>
                        </a:defRPr>
                      </a:pPr>
                      <a:r>
                        <a:t>Sales coverage</a:t>
                      </a:r>
                    </a:p>
                  </a:txBody>
                  <a:tcPr marL="64008" marR="64008" marT="54864" marB="27432" anchor="t">
                    <a:lnL w="0">
                      <a:noFill/>
                    </a:lnL>
                    <a:lnR w="0">
                      <a:noFill/>
                    </a:lnR>
                    <a:lnT w="0">
                      <a:noFill/>
                    </a:lnT>
                    <a:lnB w="5080">
                      <a:solidFill>
                        <a:srgbClr val="B8B8B8"/>
                      </a:solidFill>
                    </a:lnB>
                    <a:solidFill>
                      <a:srgbClr val="FFFFFF"/>
                    </a:solidFill>
                  </a:tcPr>
                </a:tc>
                <a:tc>
                  <a:txBody>
                    <a:bodyPr/>
                    <a:lstStyle/>
                    <a:p>
                      <a:pPr>
                        <a:spcAft>
                          <a:spcPts val="100"/>
                        </a:spcAft>
                        <a:defRPr sz="950" b="0">
                          <a:solidFill>
                            <a:srgbClr val="11151A"/>
                          </a:solidFill>
                          <a:latin typeface="Lato"/>
                        </a:defRPr>
                      </a:pPr>
                      <a:r>
                        <a:t>SARS fuel levy volumes, round figures in media releases</a:t>
                      </a:r>
                    </a:p>
                  </a:txBody>
                  <a:tcPr marL="64008" marR="64008" marT="54864" marB="27432" anchor="t">
                    <a:lnL w="0">
                      <a:noFill/>
                    </a:lnL>
                    <a:lnR w="0">
                      <a:noFill/>
                    </a:lnR>
                    <a:lnT w="0">
                      <a:noFill/>
                    </a:lnT>
                    <a:lnB w="5080">
                      <a:solidFill>
                        <a:srgbClr val="B8B8B8"/>
                      </a:solidFill>
                    </a:lnB>
                    <a:solidFill>
                      <a:srgbClr val="FFFFFF"/>
                    </a:solidFill>
                  </a:tcPr>
                </a:tc>
                <a:tc>
                  <a:txBody>
                    <a:bodyPr/>
                    <a:lstStyle/>
                    <a:p>
                      <a:pPr>
                        <a:spcAft>
                          <a:spcPts val="100"/>
                        </a:spcAft>
                        <a:defRPr sz="950" b="0">
                          <a:solidFill>
                            <a:srgbClr val="11151A"/>
                          </a:solidFill>
                          <a:latin typeface="Lato"/>
                        </a:defRPr>
                      </a:pPr>
                      <a:r>
                        <a:t>Period is assumed; indicative only</a:t>
                      </a:r>
                    </a:p>
                  </a:txBody>
                  <a:tcPr marL="64008" marR="64008" marT="54864" marB="27432" anchor="t">
                    <a:lnL w="0">
                      <a:noFill/>
                    </a:lnL>
                    <a:lnR w="0">
                      <a:noFill/>
                    </a:lnR>
                    <a:lnT w="0">
                      <a:noFill/>
                    </a:lnT>
                    <a:lnB w="5080">
                      <a:solidFill>
                        <a:srgbClr val="B8B8B8"/>
                      </a:solidFill>
                    </a:lnB>
                    <a:solidFill>
                      <a:srgbClr val="FFFFFF"/>
                    </a:solidFill>
                  </a:tcPr>
                </a:tc>
              </a:tr>
            </a:tbl>
          </a:graphicData>
        </a:graphic>
      </p:graphicFrame>
      <p:sp>
        <p:nvSpPr>
          <p:cNvPr id="10" name="TextBox 9"/>
          <p:cNvSpPr txBox="1"/>
          <p:nvPr/>
        </p:nvSpPr>
        <p:spPr>
          <a:xfrm>
            <a:off x="457200" y="5669280"/>
            <a:ext cx="10652760" cy="548640"/>
          </a:xfrm>
          <a:prstGeom prst="rect">
            <a:avLst/>
          </a:prstGeom>
          <a:noFill/>
        </p:spPr>
        <p:txBody>
          <a:bodyPr wrap="square" lIns="22860" rIns="22860" tIns="0" bIns="0">
            <a:spAutoFit/>
          </a:bodyPr>
          <a:lstStyle/>
          <a:p>
            <a:pPr>
              <a:spcAft>
                <a:spcPts val="300"/>
              </a:spcAft>
              <a:defRPr sz="1100" b="1">
                <a:solidFill>
                  <a:srgbClr val="0A2373"/>
                </a:solidFill>
                <a:latin typeface="Lato"/>
              </a:defRPr>
            </a:pPr>
            <a:r>
              <a:t>A diesel gap of 3 to 4 bn litres a year remains a hypothesis to test. It is not added to demand. Needed to close: output by product and plant, a stock series, and matched periods.</a:t>
            </a:r>
          </a:p>
        </p:txBody>
      </p:sp>
      <p:sp>
        <p:nvSpPr>
          <p:cNvPr id="11" name="Chevron 10">
            <a:hlinkClick action="ppaction://hlinksldjump" r:id="rId4"/>
          </p:cNvPr>
          <p:cNvSpPr/>
          <p:nvPr/>
        </p:nvSpPr>
        <p:spPr>
          <a:xfrm>
            <a:off x="457200" y="73152"/>
            <a:ext cx="2075688" cy="384048"/>
          </a:xfrm>
          <a:prstGeom prst="chevron">
            <a:avLst>
              <a:gd name="adj" fmla="val 12000"/>
            </a:avLst>
          </a:pr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tIns="0" bIns="0"/>
          <a:lstStyle/>
          <a:p>
            <a:pPr algn="ctr">
              <a:defRPr sz="1100" b="1">
                <a:solidFill>
                  <a:srgbClr val="FFFFFF"/>
                </a:solidFill>
                <a:latin typeface="Lato"/>
              </a:defRPr>
            </a:pPr>
            <a:r>
              <a:t>1  National balance</a:t>
            </a:r>
          </a:p>
        </p:txBody>
      </p:sp>
      <p:sp>
        <p:nvSpPr>
          <p:cNvPr id="12" name="Chevron 11">
            <a:hlinkClick action="ppaction://hlinksldjump" r:id="rId5"/>
          </p:cNvPr>
          <p:cNvSpPr/>
          <p:nvPr/>
        </p:nvSpPr>
        <p:spPr>
          <a:xfrm>
            <a:off x="2587752" y="73152"/>
            <a:ext cx="2075688" cy="384048"/>
          </a:xfrm>
          <a:prstGeom prst="chevron">
            <a:avLst>
              <a:gd name="adj" fmla="val 12000"/>
            </a:avLst>
          </a:pr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tIns="0" bIns="0"/>
          <a:lstStyle/>
          <a:p>
            <a:pPr algn="ctr">
              <a:defRPr sz="1100" b="0">
                <a:solidFill>
                  <a:srgbClr val="0A2373"/>
                </a:solidFill>
                <a:latin typeface="Lato"/>
              </a:defRPr>
            </a:pPr>
            <a:r>
              <a:t>2  Forecast levers</a:t>
            </a:r>
          </a:p>
        </p:txBody>
      </p:sp>
      <p:sp>
        <p:nvSpPr>
          <p:cNvPr id="13" name="Chevron 12">
            <a:hlinkClick action="ppaction://hlinksldjump" r:id="rId6"/>
          </p:cNvPr>
          <p:cNvSpPr/>
          <p:nvPr/>
        </p:nvSpPr>
        <p:spPr>
          <a:xfrm>
            <a:off x="4718304" y="73152"/>
            <a:ext cx="2075688" cy="384048"/>
          </a:xfrm>
          <a:prstGeom prst="chevron">
            <a:avLst>
              <a:gd name="adj" fmla="val 12000"/>
            </a:avLst>
          </a:pr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tIns="0" bIns="0"/>
          <a:lstStyle/>
          <a:p>
            <a:pPr algn="ctr">
              <a:defRPr sz="1100" b="0">
                <a:solidFill>
                  <a:srgbClr val="0A2373"/>
                </a:solidFill>
                <a:latin typeface="Lato"/>
              </a:defRPr>
            </a:pPr>
            <a:r>
              <a:t>3  Sector baselines</a:t>
            </a:r>
          </a:p>
        </p:txBody>
      </p:sp>
      <p:sp>
        <p:nvSpPr>
          <p:cNvPr id="14" name="Chevron 13">
            <a:hlinkClick action="ppaction://hlinksldjump" r:id="rId7"/>
          </p:cNvPr>
          <p:cNvSpPr/>
          <p:nvPr/>
        </p:nvSpPr>
        <p:spPr>
          <a:xfrm>
            <a:off x="6848856" y="73152"/>
            <a:ext cx="2075688" cy="384048"/>
          </a:xfrm>
          <a:prstGeom prst="chevron">
            <a:avLst>
              <a:gd name="adj" fmla="val 12000"/>
            </a:avLst>
          </a:pr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tIns="0" bIns="0"/>
          <a:lstStyle/>
          <a:p>
            <a:pPr algn="ctr">
              <a:defRPr sz="1100" b="0">
                <a:solidFill>
                  <a:srgbClr val="0A2373"/>
                </a:solidFill>
                <a:latin typeface="Lato"/>
              </a:defRPr>
            </a:pPr>
            <a:r>
              <a:t>4  Tank handling</a:t>
            </a:r>
          </a:p>
        </p:txBody>
      </p:sp>
      <p:sp>
        <p:nvSpPr>
          <p:cNvPr id="15" name="Chevron 14">
            <a:hlinkClick action="ppaction://hlinksldjump" r:id="rId8"/>
          </p:cNvPr>
          <p:cNvSpPr/>
          <p:nvPr/>
        </p:nvSpPr>
        <p:spPr>
          <a:xfrm>
            <a:off x="8979408" y="73152"/>
            <a:ext cx="2075688" cy="384048"/>
          </a:xfrm>
          <a:prstGeom prst="chevron">
            <a:avLst>
              <a:gd name="adj" fmla="val 12000"/>
            </a:avLst>
          </a:pr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tIns="0" bIns="0"/>
          <a:lstStyle/>
          <a:p>
            <a:pPr algn="ctr">
              <a:defRPr sz="1100" b="0">
                <a:solidFill>
                  <a:srgbClr val="0A2373"/>
                </a:solidFill>
                <a:latin typeface="Lato"/>
              </a:defRPr>
            </a:pPr>
            <a:r>
              <a:t>5  Hand-back</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Diesel: rail diversion is capped near 13% by rail-friendly freight; yields move up</a:t>
            </a:r>
          </a:p>
        </p:txBody>
      </p:sp>
      <p:sp>
        <p:nvSpPr>
          <p:cNvPr id="3" name="TextBox 2"/>
          <p:cNvSpPr txBox="1"/>
          <p:nvPr/>
        </p:nvSpPr>
        <p:spPr>
          <a:xfrm>
            <a:off x="457200" y="1627632"/>
            <a:ext cx="10652760" cy="274320"/>
          </a:xfrm>
          <a:prstGeom prst="rect">
            <a:avLst/>
          </a:prstGeom>
          <a:noFill/>
        </p:spPr>
        <p:txBody>
          <a:bodyPr wrap="square" lIns="22860" rIns="22860" tIns="0" bIns="0">
            <a:spAutoFit/>
          </a:bodyPr>
          <a:lstStyle/>
          <a:p>
            <a:pPr>
              <a:spcAft>
                <a:spcPts val="300"/>
              </a:spcAft>
              <a:defRPr sz="1300" b="1">
                <a:solidFill>
                  <a:srgbClr val="11151A"/>
                </a:solidFill>
                <a:latin typeface="Lato"/>
              </a:defRPr>
            </a:pPr>
            <a:r>
              <a:t>Diesel inputs | low / medium / high for 2030 and 2035 | 11 of 42 values have a proposed replacement</a:t>
            </a:r>
          </a:p>
        </p:txBody>
      </p:sp>
      <p:cxnSp>
        <p:nvCxnSpPr>
          <p:cNvPr id="4" name="Connector 3"/>
          <p:cNvCxnSpPr/>
          <p:nvPr/>
        </p:nvCxnSpPr>
        <p:spPr>
          <a:xfrm>
            <a:off x="457200" y="1920240"/>
            <a:ext cx="10652760" cy="0"/>
          </a:xfrm>
          <a:prstGeom prst="line">
            <a:avLst/>
          </a:prstGeom>
          <a:ln w="7620">
            <a:solidFill>
              <a:srgbClr val="A0A0A0"/>
            </a:solidFill>
          </a:ln>
        </p:spPr>
        <p:style>
          <a:lnRef idx="2">
            <a:schemeClr val="accent1"/>
          </a:lnRef>
          <a:fillRef idx="0">
            <a:schemeClr val="accent1"/>
          </a:fillRef>
          <a:effectRef idx="1">
            <a:schemeClr val="accent1"/>
          </a:effectRef>
          <a:fontRef idx="minor">
            <a:schemeClr val="tx1"/>
          </a:fontRef>
        </p:style>
      </p:cxnSp>
      <p:sp>
        <p:nvSpPr>
          <p:cNvPr id="5" name="TextBox 4"/>
          <p:cNvSpPr txBox="1"/>
          <p:nvPr/>
        </p:nvSpPr>
        <p:spPr>
          <a:xfrm>
            <a:off x="457200" y="6547104"/>
            <a:ext cx="9692640" cy="182880"/>
          </a:xfrm>
          <a:prstGeom prst="rect">
            <a:avLst/>
          </a:prstGeom>
          <a:noFill/>
        </p:spPr>
        <p:txBody>
          <a:bodyPr wrap="square" lIns="22860" rIns="22860" tIns="0" bIns="0">
            <a:spAutoFit/>
          </a:bodyPr>
          <a:lstStyle/>
          <a:p>
            <a:pPr>
              <a:spcAft>
                <a:spcPts val="300"/>
              </a:spcAft>
              <a:defRPr sz="800" b="0">
                <a:solidFill>
                  <a:srgbClr val="11151A"/>
                </a:solidFill>
                <a:latin typeface="Lato"/>
              </a:defRPr>
            </a:pPr>
            <a:r>
              <a:t>Source: fuel_lever_response_2026-10-07.md on manish-branch; Nigel's proposed inputs of 7 October are not edited. Replacements are the analyst's proposals, pending review.</a:t>
            </a:r>
          </a:p>
        </p:txBody>
      </p:sp>
      <p:sp>
        <p:nvSpPr>
          <p:cNvPr id="6" name="TextBox 5"/>
          <p:cNvSpPr txBox="1"/>
          <p:nvPr/>
        </p:nvSpPr>
        <p:spPr>
          <a:xfrm>
            <a:off x="457200" y="6711696"/>
            <a:ext cx="2011680" cy="128016"/>
          </a:xfrm>
          <a:prstGeom prst="rect">
            <a:avLst/>
          </a:prstGeom>
          <a:noFill/>
        </p:spPr>
        <p:txBody>
          <a:bodyPr wrap="square" lIns="22860" rIns="22860" tIns="0" bIns="0">
            <a:spAutoFit/>
          </a:bodyPr>
          <a:lstStyle/>
          <a:p>
            <a:pPr>
              <a:spcAft>
                <a:spcPts val="300"/>
              </a:spcAft>
              <a:defRPr sz="700" b="0">
                <a:solidFill>
                  <a:srgbClr val="11151A"/>
                </a:solidFill>
                <a:latin typeface="Lato"/>
              </a:defRPr>
            </a:pPr>
            <a:r>
              <a:t>Strictly Confidential</a:t>
            </a:r>
          </a:p>
        </p:txBody>
      </p:sp>
      <p:graphicFrame>
        <p:nvGraphicFramePr>
          <p:cNvPr id="7" name="Table 6"/>
          <p:cNvGraphicFramePr>
            <a:graphicFrameLocks noGrp="1"/>
          </p:cNvGraphicFramePr>
          <p:nvPr/>
        </p:nvGraphicFramePr>
        <p:xfrm>
          <a:off x="457200" y="2011680"/>
          <a:ext cx="10652760" cy="4206240"/>
        </p:xfrm>
        <a:graphic>
          <a:graphicData uri="http://schemas.openxmlformats.org/drawingml/2006/table">
            <a:tbl>
              <a:tblPr firstRow="0" bandRow="0"/>
              <a:tblGrid>
                <a:gridCol w="2148840"/>
                <a:gridCol w="1463040"/>
                <a:gridCol w="1600200"/>
                <a:gridCol w="1600200"/>
                <a:gridCol w="3840480"/>
              </a:tblGrid>
              <a:tr h="525780">
                <a:tc>
                  <a:txBody>
                    <a:bodyPr/>
                    <a:lstStyle/>
                    <a:p>
                      <a:pPr>
                        <a:spcAft>
                          <a:spcPts val="100"/>
                        </a:spcAft>
                        <a:defRPr sz="950" b="1">
                          <a:solidFill>
                            <a:srgbClr val="0A2373"/>
                          </a:solidFill>
                          <a:latin typeface="Lato"/>
                        </a:defRPr>
                      </a:pPr>
                      <a:r>
                        <a:t>Lever and unit</a:t>
                      </a:r>
                    </a:p>
                  </a:txBody>
                  <a:tcPr marL="64008" marR="64008" marT="54864" marB="27432" anchor="t">
                    <a:lnL w="0">
                      <a:noFill/>
                    </a:lnL>
                    <a:lnR w="0">
                      <a:noFill/>
                    </a:lnR>
                    <a:lnT w="0">
                      <a:noFill/>
                    </a:lnT>
                    <a:lnB w="5080">
                      <a:solidFill>
                        <a:srgbClr val="B8B8B8"/>
                      </a:solidFill>
                    </a:lnB>
                    <a:solidFill>
                      <a:srgbClr val="FFFFFF"/>
                    </a:solidFill>
                  </a:tcPr>
                </a:tc>
                <a:tc>
                  <a:txBody>
                    <a:bodyPr/>
                    <a:lstStyle/>
                    <a:p>
                      <a:pPr>
                        <a:spcAft>
                          <a:spcPts val="100"/>
                        </a:spcAft>
                        <a:defRPr sz="950" b="1">
                          <a:solidFill>
                            <a:srgbClr val="11151A"/>
                          </a:solidFill>
                          <a:latin typeface="Lato"/>
                        </a:defRPr>
                      </a:pPr>
                      <a:r>
                        <a:t>Baseline</a:t>
                      </a:r>
                    </a:p>
                  </a:txBody>
                  <a:tcPr marL="64008" marR="64008" marT="54864" marB="27432" anchor="t">
                    <a:lnL w="0">
                      <a:noFill/>
                    </a:lnL>
                    <a:lnR w="0">
                      <a:noFill/>
                    </a:lnR>
                    <a:lnT w="0">
                      <a:noFill/>
                    </a:lnT>
                    <a:lnB w="5080">
                      <a:solidFill>
                        <a:srgbClr val="B8B8B8"/>
                      </a:solidFill>
                    </a:lnB>
                    <a:solidFill>
                      <a:srgbClr val="FFFFFF"/>
                    </a:solidFill>
                  </a:tcPr>
                </a:tc>
                <a:tc>
                  <a:txBody>
                    <a:bodyPr/>
                    <a:lstStyle/>
                    <a:p>
                      <a:pPr>
                        <a:spcAft>
                          <a:spcPts val="100"/>
                        </a:spcAft>
                        <a:defRPr sz="950" b="1">
                          <a:solidFill>
                            <a:srgbClr val="11151A"/>
                          </a:solidFill>
                          <a:latin typeface="Lato"/>
                        </a:defRPr>
                      </a:pPr>
                      <a:r>
                        <a:t>2030</a:t>
                      </a:r>
                    </a:p>
                    <a:p>
                      <a:pPr>
                        <a:spcAft>
                          <a:spcPts val="100"/>
                        </a:spcAft>
                        <a:defRPr sz="950" b="1">
                          <a:solidFill>
                            <a:srgbClr val="11151A"/>
                          </a:solidFill>
                          <a:latin typeface="Lato"/>
                        </a:defRPr>
                      </a:pPr>
                      <a:r>
                        <a:t>low / medium / high</a:t>
                      </a:r>
                    </a:p>
                  </a:txBody>
                  <a:tcPr marL="64008" marR="64008" marT="54864" marB="27432" anchor="t">
                    <a:lnL w="0">
                      <a:noFill/>
                    </a:lnL>
                    <a:lnR w="0">
                      <a:noFill/>
                    </a:lnR>
                    <a:lnT w="0">
                      <a:noFill/>
                    </a:lnT>
                    <a:lnB w="5080">
                      <a:solidFill>
                        <a:srgbClr val="B8B8B8"/>
                      </a:solidFill>
                    </a:lnB>
                    <a:solidFill>
                      <a:srgbClr val="FFFFFF"/>
                    </a:solidFill>
                  </a:tcPr>
                </a:tc>
                <a:tc>
                  <a:txBody>
                    <a:bodyPr/>
                    <a:lstStyle/>
                    <a:p>
                      <a:pPr>
                        <a:spcAft>
                          <a:spcPts val="100"/>
                        </a:spcAft>
                        <a:defRPr sz="950" b="1">
                          <a:solidFill>
                            <a:srgbClr val="11151A"/>
                          </a:solidFill>
                          <a:latin typeface="Lato"/>
                        </a:defRPr>
                      </a:pPr>
                      <a:r>
                        <a:t>2035</a:t>
                      </a:r>
                    </a:p>
                    <a:p>
                      <a:pPr>
                        <a:spcAft>
                          <a:spcPts val="100"/>
                        </a:spcAft>
                        <a:defRPr sz="950" b="1">
                          <a:solidFill>
                            <a:srgbClr val="11151A"/>
                          </a:solidFill>
                          <a:latin typeface="Lato"/>
                        </a:defRPr>
                      </a:pPr>
                      <a:r>
                        <a:t>low / medium / high</a:t>
                      </a:r>
                    </a:p>
                  </a:txBody>
                  <a:tcPr marL="64008" marR="64008" marT="54864" marB="27432" anchor="t">
                    <a:lnL w="0">
                      <a:noFill/>
                    </a:lnL>
                    <a:lnR w="0">
                      <a:noFill/>
                    </a:lnR>
                    <a:lnT w="0">
                      <a:noFill/>
                    </a:lnT>
                    <a:lnB w="5080">
                      <a:solidFill>
                        <a:srgbClr val="B8B8B8"/>
                      </a:solidFill>
                    </a:lnB>
                    <a:solidFill>
                      <a:srgbClr val="FFFFFF"/>
                    </a:solidFill>
                  </a:tcPr>
                </a:tc>
                <a:tc>
                  <a:txBody>
                    <a:bodyPr/>
                    <a:lstStyle/>
                    <a:p>
                      <a:pPr>
                        <a:spcAft>
                          <a:spcPts val="100"/>
                        </a:spcAft>
                        <a:defRPr sz="950" b="1">
                          <a:solidFill>
                            <a:srgbClr val="11151A"/>
                          </a:solidFill>
                          <a:latin typeface="Lato"/>
                        </a:defRPr>
                      </a:pPr>
                      <a:r>
                        <a:t>Rationale and source</a:t>
                      </a:r>
                    </a:p>
                  </a:txBody>
                  <a:tcPr marL="64008" marR="64008" marT="54864" marB="27432" anchor="t">
                    <a:lnL w="0">
                      <a:noFill/>
                    </a:lnL>
                    <a:lnR w="0">
                      <a:noFill/>
                    </a:lnR>
                    <a:lnT w="0">
                      <a:noFill/>
                    </a:lnT>
                    <a:lnB w="5080">
                      <a:solidFill>
                        <a:srgbClr val="B8B8B8"/>
                      </a:solidFill>
                    </a:lnB>
                    <a:solidFill>
                      <a:srgbClr val="FFFFFF"/>
                    </a:solidFill>
                  </a:tcPr>
                </a:tc>
              </a:tr>
              <a:tr h="525780">
                <a:tc>
                  <a:txBody>
                    <a:bodyPr/>
                    <a:lstStyle/>
                    <a:p>
                      <a:pPr>
                        <a:spcAft>
                          <a:spcPts val="100"/>
                        </a:spcAft>
                        <a:defRPr sz="950" b="1">
                          <a:solidFill>
                            <a:srgbClr val="0A2373"/>
                          </a:solidFill>
                          <a:latin typeface="Lato"/>
                        </a:defRPr>
                      </a:pPr>
                      <a:r>
                        <a:t>Road freight activity</a:t>
                      </a:r>
                    </a:p>
                    <a:p>
                      <a:pPr>
                        <a:spcAft>
                          <a:spcPts val="100"/>
                        </a:spcAft>
                        <a:defRPr sz="950" b="1">
                          <a:solidFill>
                            <a:srgbClr val="0A2373"/>
                          </a:solidFill>
                          <a:latin typeface="Lato"/>
                        </a:defRPr>
                      </a:pPr>
                      <a:r>
                        <a:t>2024 = 100</a:t>
                      </a:r>
                    </a:p>
                  </a:txBody>
                  <a:tcPr marL="64008" marR="64008" marT="54864" marB="27432" anchor="t">
                    <a:lnL w="0">
                      <a:noFill/>
                    </a:lnL>
                    <a:lnR w="0">
                      <a:noFill/>
                    </a:lnR>
                    <a:lnT w="0">
                      <a:noFill/>
                    </a:lnT>
                    <a:lnB w="5080">
                      <a:solidFill>
                        <a:srgbClr val="B8B8B8"/>
                      </a:solidFill>
                    </a:lnB>
                    <a:solidFill>
                      <a:srgbClr val="FFFFFF"/>
                    </a:solidFill>
                  </a:tcPr>
                </a:tc>
                <a:tc>
                  <a:txBody>
                    <a:bodyPr/>
                    <a:lstStyle/>
                    <a:p>
                      <a:pPr>
                        <a:spcAft>
                          <a:spcPts val="100"/>
                        </a:spcAft>
                        <a:defRPr sz="950" b="0">
                          <a:solidFill>
                            <a:srgbClr val="11151A"/>
                          </a:solidFill>
                          <a:latin typeface="Lato"/>
                        </a:defRPr>
                      </a:pPr>
                      <a:r>
                        <a:t>100</a:t>
                      </a:r>
                    </a:p>
                    <a:p>
                      <a:pPr>
                        <a:spcAft>
                          <a:spcPts val="100"/>
                        </a:spcAft>
                        <a:defRPr sz="950" b="0">
                          <a:solidFill>
                            <a:srgbClr val="11151A"/>
                          </a:solidFill>
                          <a:latin typeface="Lato"/>
                        </a:defRPr>
                      </a:pPr>
                      <a:r>
                        <a:t>980 Mt road payload, 2024</a:t>
                      </a:r>
                    </a:p>
                  </a:txBody>
                  <a:tcPr marL="64008" marR="64008" marT="54864" marB="27432" anchor="t">
                    <a:lnL w="0">
                      <a:noFill/>
                    </a:lnL>
                    <a:lnR w="0">
                      <a:noFill/>
                    </a:lnR>
                    <a:lnT w="0">
                      <a:noFill/>
                    </a:lnT>
                    <a:lnB w="5080">
                      <a:solidFill>
                        <a:srgbClr val="B8B8B8"/>
                      </a:solidFill>
                    </a:lnB>
                    <a:solidFill>
                      <a:srgbClr val="FFFFFF"/>
                    </a:solidFill>
                  </a:tcPr>
                </a:tc>
                <a:tc>
                  <a:txBody>
                    <a:bodyPr/>
                    <a:lstStyle/>
                    <a:p>
                      <a:pPr>
                        <a:spcAft>
                          <a:spcPts val="100"/>
                        </a:spcAft>
                        <a:defRPr sz="950" b="0">
                          <a:solidFill>
                            <a:srgbClr val="11151A"/>
                          </a:solidFill>
                          <a:latin typeface="Lato"/>
                        </a:defRPr>
                      </a:pPr>
                      <a:r>
                        <a:t>95 / 115 / 135</a:t>
                      </a:r>
                    </a:p>
                  </a:txBody>
                  <a:tcPr marL="64008" marR="64008" marT="54864" marB="27432" anchor="t">
                    <a:lnL w="0">
                      <a:noFill/>
                    </a:lnL>
                    <a:lnR w="0">
                      <a:noFill/>
                    </a:lnR>
                    <a:lnT w="0">
                      <a:noFill/>
                    </a:lnT>
                    <a:lnB w="5080">
                      <a:solidFill>
                        <a:srgbClr val="B8B8B8"/>
                      </a:solidFill>
                    </a:lnB>
                    <a:solidFill>
                      <a:srgbClr val="FFFFFF"/>
                    </a:solidFill>
                  </a:tcPr>
                </a:tc>
                <a:tc>
                  <a:txBody>
                    <a:bodyPr/>
                    <a:lstStyle/>
                    <a:p>
                      <a:pPr>
                        <a:spcAft>
                          <a:spcPts val="100"/>
                        </a:spcAft>
                        <a:defRPr sz="950" b="0">
                          <a:solidFill>
                            <a:srgbClr val="11151A"/>
                          </a:solidFill>
                          <a:latin typeface="Lato"/>
                        </a:defRPr>
                      </a:pPr>
                      <a:r>
                        <a:t>95 / 135 / 150</a:t>
                      </a:r>
                    </a:p>
                    <a:p>
                      <a:pPr>
                        <a:spcAft>
                          <a:spcPts val="100"/>
                        </a:spcAft>
                        <a:defRPr sz="950" b="0">
                          <a:solidFill>
                            <a:srgbClr val="11151A"/>
                          </a:solidFill>
                          <a:latin typeface="Lato"/>
                        </a:defRPr>
                      </a:pPr>
                      <a:r>
                        <a:t>was 95 / 135 / 175</a:t>
                      </a:r>
                    </a:p>
                  </a:txBody>
                  <a:tcPr marL="64008" marR="64008" marT="54864" marB="27432" anchor="t">
                    <a:lnL w="0">
                      <a:noFill/>
                    </a:lnL>
                    <a:lnR w="0">
                      <a:noFill/>
                    </a:lnR>
                    <a:lnT w="0">
                      <a:noFill/>
                    </a:lnT>
                    <a:lnB w="5080">
                      <a:solidFill>
                        <a:srgbClr val="B8B8B8"/>
                      </a:solidFill>
                    </a:lnB>
                    <a:solidFill>
                      <a:srgbClr val="FFFFFF"/>
                    </a:solidFill>
                  </a:tcPr>
                </a:tc>
                <a:tc>
                  <a:txBody>
                    <a:bodyPr/>
                    <a:lstStyle/>
                    <a:p>
                      <a:pPr>
                        <a:spcAft>
                          <a:spcPts val="100"/>
                        </a:spcAft>
                        <a:defRPr sz="950" b="0">
                          <a:solidFill>
                            <a:srgbClr val="11151A"/>
                          </a:solidFill>
                          <a:latin typeface="Lato"/>
                        </a:defRPr>
                      </a:pPr>
                      <a:r>
                        <a:t>Stats SA tonnes: 2.4% a year over 2014-2024, at most 3.7% over eleven years. Only tonne-km figure found: 221 bn for 2013.</a:t>
                      </a:r>
                    </a:p>
                  </a:txBody>
                  <a:tcPr marL="64008" marR="64008" marT="54864" marB="27432" anchor="t">
                    <a:lnL w="0">
                      <a:noFill/>
                    </a:lnL>
                    <a:lnR w="0">
                      <a:noFill/>
                    </a:lnR>
                    <a:lnT w="0">
                      <a:noFill/>
                    </a:lnT>
                    <a:lnB w="5080">
                      <a:solidFill>
                        <a:srgbClr val="B8B8B8"/>
                      </a:solidFill>
                    </a:lnB>
                    <a:solidFill>
                      <a:srgbClr val="FFFFFF"/>
                    </a:solidFill>
                  </a:tcPr>
                </a:tc>
              </a:tr>
              <a:tr h="525780">
                <a:tc>
                  <a:txBody>
                    <a:bodyPr/>
                    <a:lstStyle/>
                    <a:p>
                      <a:pPr>
                        <a:spcAft>
                          <a:spcPts val="100"/>
                        </a:spcAft>
                        <a:defRPr sz="950" b="1">
                          <a:solidFill>
                            <a:srgbClr val="0A2373"/>
                          </a:solidFill>
                          <a:latin typeface="Lato"/>
                        </a:defRPr>
                      </a:pPr>
                      <a:r>
                        <a:t>Road freight moved to rail</a:t>
                      </a:r>
                    </a:p>
                    <a:p>
                      <a:pPr>
                        <a:spcAft>
                          <a:spcPts val="100"/>
                        </a:spcAft>
                        <a:defRPr sz="950" b="1">
                          <a:solidFill>
                            <a:srgbClr val="0A2373"/>
                          </a:solidFill>
                          <a:latin typeface="Lato"/>
                        </a:defRPr>
                      </a:pPr>
                      <a:r>
                        <a:t>% of road freight</a:t>
                      </a:r>
                    </a:p>
                  </a:txBody>
                  <a:tcPr marL="64008" marR="64008" marT="54864" marB="27432" anchor="t">
                    <a:lnL w="0">
                      <a:noFill/>
                    </a:lnL>
                    <a:lnR w="0">
                      <a:noFill/>
                    </a:lnR>
                    <a:lnT w="0">
                      <a:noFill/>
                    </a:lnT>
                    <a:lnB w="5080">
                      <a:solidFill>
                        <a:srgbClr val="B8B8B8"/>
                      </a:solidFill>
                    </a:lnB>
                    <a:solidFill>
                      <a:srgbClr val="FFFFFF"/>
                    </a:solidFill>
                  </a:tcPr>
                </a:tc>
                <a:tc>
                  <a:txBody>
                    <a:bodyPr/>
                    <a:lstStyle/>
                    <a:p>
                      <a:pPr>
                        <a:spcAft>
                          <a:spcPts val="100"/>
                        </a:spcAft>
                        <a:defRPr sz="950" b="0">
                          <a:solidFill>
                            <a:srgbClr val="11151A"/>
                          </a:solidFill>
                          <a:latin typeface="Lato"/>
                        </a:defRPr>
                      </a:pPr>
                      <a:r>
                        <a:t>0</a:t>
                      </a:r>
                    </a:p>
                    <a:p>
                      <a:pPr>
                        <a:spcAft>
                          <a:spcPts val="100"/>
                        </a:spcAft>
                        <a:defRPr sz="950" b="0">
                          <a:solidFill>
                            <a:srgbClr val="11151A"/>
                          </a:solidFill>
                          <a:latin typeface="Lato"/>
                        </a:defRPr>
                      </a:pPr>
                      <a:r>
                        <a:t>rail 161 Mt, 2024</a:t>
                      </a:r>
                    </a:p>
                  </a:txBody>
                  <a:tcPr marL="64008" marR="64008" marT="54864" marB="27432" anchor="t">
                    <a:lnL w="0">
                      <a:noFill/>
                    </a:lnL>
                    <a:lnR w="0">
                      <a:noFill/>
                    </a:lnR>
                    <a:lnT w="0">
                      <a:noFill/>
                    </a:lnT>
                    <a:lnB w="5080">
                      <a:solidFill>
                        <a:srgbClr val="B8B8B8"/>
                      </a:solidFill>
                    </a:lnB>
                    <a:solidFill>
                      <a:srgbClr val="FFFFFF"/>
                    </a:solidFill>
                  </a:tcPr>
                </a:tc>
                <a:tc>
                  <a:txBody>
                    <a:bodyPr/>
                    <a:lstStyle/>
                    <a:p>
                      <a:pPr>
                        <a:spcAft>
                          <a:spcPts val="100"/>
                        </a:spcAft>
                        <a:defRPr sz="950" b="0">
                          <a:solidFill>
                            <a:srgbClr val="11151A"/>
                          </a:solidFill>
                          <a:latin typeface="Lato"/>
                        </a:defRPr>
                      </a:pPr>
                      <a:r>
                        <a:t>0 / 3 / 9</a:t>
                      </a:r>
                    </a:p>
                    <a:p>
                      <a:pPr>
                        <a:spcAft>
                          <a:spcPts val="100"/>
                        </a:spcAft>
                        <a:defRPr sz="950" b="0">
                          <a:solidFill>
                            <a:srgbClr val="11151A"/>
                          </a:solidFill>
                          <a:latin typeface="Lato"/>
                        </a:defRPr>
                      </a:pPr>
                      <a:r>
                        <a:t>was 0 / 10 / 20</a:t>
                      </a:r>
                    </a:p>
                  </a:txBody>
                  <a:tcPr marL="64008" marR="64008" marT="54864" marB="27432" anchor="t">
                    <a:lnL w="0">
                      <a:noFill/>
                    </a:lnL>
                    <a:lnR w="0">
                      <a:noFill/>
                    </a:lnR>
                    <a:lnT w="0">
                      <a:noFill/>
                    </a:lnT>
                    <a:lnB w="5080">
                      <a:solidFill>
                        <a:srgbClr val="B8B8B8"/>
                      </a:solidFill>
                    </a:lnB>
                    <a:solidFill>
                      <a:srgbClr val="FFFFFF"/>
                    </a:solidFill>
                  </a:tcPr>
                </a:tc>
                <a:tc>
                  <a:txBody>
                    <a:bodyPr/>
                    <a:lstStyle/>
                    <a:p>
                      <a:pPr>
                        <a:spcAft>
                          <a:spcPts val="100"/>
                        </a:spcAft>
                        <a:defRPr sz="950" b="0">
                          <a:solidFill>
                            <a:srgbClr val="11151A"/>
                          </a:solidFill>
                          <a:latin typeface="Lato"/>
                        </a:defRPr>
                      </a:pPr>
                      <a:r>
                        <a:t>0 / 7 / 13</a:t>
                      </a:r>
                    </a:p>
                    <a:p>
                      <a:pPr>
                        <a:spcAft>
                          <a:spcPts val="100"/>
                        </a:spcAft>
                        <a:defRPr sz="950" b="0">
                          <a:solidFill>
                            <a:srgbClr val="11151A"/>
                          </a:solidFill>
                          <a:latin typeface="Lato"/>
                        </a:defRPr>
                      </a:pPr>
                      <a:r>
                        <a:t>was 0 / 20 / 35</a:t>
                      </a:r>
                    </a:p>
                  </a:txBody>
                  <a:tcPr marL="64008" marR="64008" marT="54864" marB="27432" anchor="t">
                    <a:lnL w="0">
                      <a:noFill/>
                    </a:lnL>
                    <a:lnR w="0">
                      <a:noFill/>
                    </a:lnR>
                    <a:lnT w="0">
                      <a:noFill/>
                    </a:lnT>
                    <a:lnB w="5080">
                      <a:solidFill>
                        <a:srgbClr val="B8B8B8"/>
                      </a:solidFill>
                    </a:lnB>
                    <a:solidFill>
                      <a:srgbClr val="FFFFFF"/>
                    </a:solidFill>
                  </a:tcPr>
                </a:tc>
                <a:tc>
                  <a:txBody>
                    <a:bodyPr/>
                    <a:lstStyle/>
                    <a:p>
                      <a:pPr>
                        <a:spcAft>
                          <a:spcPts val="100"/>
                        </a:spcAft>
                        <a:defRPr sz="950" b="0">
                          <a:solidFill>
                            <a:srgbClr val="11151A"/>
                          </a:solidFill>
                          <a:latin typeface="Lato"/>
                        </a:defRPr>
                      </a:pPr>
                      <a:r>
                        <a:t>Rail Master Plan (2026): 250 Mt target is 9%, 280 Mt market appetite 12%. Freight Roadmap (2023): rail-friendly general freight left on road is 13%.</a:t>
                      </a:r>
                    </a:p>
                  </a:txBody>
                  <a:tcPr marL="64008" marR="64008" marT="54864" marB="27432" anchor="t">
                    <a:lnL w="0">
                      <a:noFill/>
                    </a:lnL>
                    <a:lnR w="0">
                      <a:noFill/>
                    </a:lnR>
                    <a:lnT w="0">
                      <a:noFill/>
                    </a:lnT>
                    <a:lnB w="5080">
                      <a:solidFill>
                        <a:srgbClr val="B8B8B8"/>
                      </a:solidFill>
                    </a:lnB>
                    <a:solidFill>
                      <a:srgbClr val="FFFFFF"/>
                    </a:solidFill>
                  </a:tcPr>
                </a:tc>
              </a:tr>
              <a:tr h="525780">
                <a:tc>
                  <a:txBody>
                    <a:bodyPr/>
                    <a:lstStyle/>
                    <a:p>
                      <a:pPr>
                        <a:spcAft>
                          <a:spcPts val="100"/>
                        </a:spcAft>
                        <a:defRPr sz="950" b="1">
                          <a:solidFill>
                            <a:srgbClr val="0A2373"/>
                          </a:solidFill>
                          <a:latin typeface="Lato"/>
                        </a:defRPr>
                      </a:pPr>
                      <a:r>
                        <a:t>Diesel power generation</a:t>
                      </a:r>
                    </a:p>
                    <a:p>
                      <a:pPr>
                        <a:spcAft>
                          <a:spcPts val="100"/>
                        </a:spcAft>
                        <a:defRPr sz="950" b="1">
                          <a:solidFill>
                            <a:srgbClr val="0A2373"/>
                          </a:solidFill>
                          <a:latin typeface="Lato"/>
                        </a:defRPr>
                      </a:pPr>
                      <a:r>
                        <a:t>year to March 2024 = 100</a:t>
                      </a:r>
                    </a:p>
                  </a:txBody>
                  <a:tcPr marL="64008" marR="64008" marT="54864" marB="27432" anchor="t">
                    <a:lnL w="0">
                      <a:noFill/>
                    </a:lnL>
                    <a:lnR w="0">
                      <a:noFill/>
                    </a:lnR>
                    <a:lnT w="0">
                      <a:noFill/>
                    </a:lnT>
                    <a:lnB w="5080">
                      <a:solidFill>
                        <a:srgbClr val="B8B8B8"/>
                      </a:solidFill>
                    </a:lnB>
                    <a:solidFill>
                      <a:srgbClr val="FFFFFF"/>
                    </a:solidFill>
                  </a:tcPr>
                </a:tc>
                <a:tc>
                  <a:txBody>
                    <a:bodyPr/>
                    <a:lstStyle/>
                    <a:p>
                      <a:pPr>
                        <a:spcAft>
                          <a:spcPts val="100"/>
                        </a:spcAft>
                        <a:defRPr sz="950" b="0">
                          <a:solidFill>
                            <a:srgbClr val="11151A"/>
                          </a:solidFill>
                          <a:latin typeface="Lato"/>
                        </a:defRPr>
                      </a:pPr>
                      <a:r>
                        <a:t>100</a:t>
                      </a:r>
                    </a:p>
                    <a:p>
                      <a:pPr>
                        <a:spcAft>
                          <a:spcPts val="100"/>
                        </a:spcAft>
                        <a:defRPr sz="950" b="0">
                          <a:solidFill>
                            <a:srgbClr val="11151A"/>
                          </a:solidFill>
                          <a:latin typeface="Lato"/>
                        </a:defRPr>
                      </a:pPr>
                      <a:r>
                        <a:t>5,143 GWh</a:t>
                      </a:r>
                    </a:p>
                  </a:txBody>
                  <a:tcPr marL="64008" marR="64008" marT="54864" marB="27432" anchor="t">
                    <a:lnL w="0">
                      <a:noFill/>
                    </a:lnL>
                    <a:lnR w="0">
                      <a:noFill/>
                    </a:lnR>
                    <a:lnT w="0">
                      <a:noFill/>
                    </a:lnT>
                    <a:lnB w="5080">
                      <a:solidFill>
                        <a:srgbClr val="B8B8B8"/>
                      </a:solidFill>
                    </a:lnB>
                    <a:solidFill>
                      <a:srgbClr val="FFFFFF"/>
                    </a:solidFill>
                  </a:tcPr>
                </a:tc>
                <a:tc>
                  <a:txBody>
                    <a:bodyPr/>
                    <a:lstStyle/>
                    <a:p>
                      <a:pPr>
                        <a:spcAft>
                          <a:spcPts val="100"/>
                        </a:spcAft>
                        <a:defRPr sz="950" b="0">
                          <a:solidFill>
                            <a:srgbClr val="11151A"/>
                          </a:solidFill>
                          <a:latin typeface="Lato"/>
                        </a:defRPr>
                      </a:pPr>
                      <a:r>
                        <a:t>10 / 25 / 60</a:t>
                      </a:r>
                    </a:p>
                  </a:txBody>
                  <a:tcPr marL="64008" marR="64008" marT="54864" marB="27432" anchor="t">
                    <a:lnL w="0">
                      <a:noFill/>
                    </a:lnL>
                    <a:lnR w="0">
                      <a:noFill/>
                    </a:lnR>
                    <a:lnT w="0">
                      <a:noFill/>
                    </a:lnT>
                    <a:lnB w="5080">
                      <a:solidFill>
                        <a:srgbClr val="B8B8B8"/>
                      </a:solidFill>
                    </a:lnB>
                    <a:solidFill>
                      <a:srgbClr val="FFFFFF"/>
                    </a:solidFill>
                  </a:tcPr>
                </a:tc>
                <a:tc>
                  <a:txBody>
                    <a:bodyPr/>
                    <a:lstStyle/>
                    <a:p>
                      <a:pPr>
                        <a:spcAft>
                          <a:spcPts val="100"/>
                        </a:spcAft>
                        <a:defRPr sz="950" b="0">
                          <a:solidFill>
                            <a:srgbClr val="11151A"/>
                          </a:solidFill>
                          <a:latin typeface="Lato"/>
                        </a:defRPr>
                      </a:pPr>
                      <a:r>
                        <a:t>5 / 15 / 50</a:t>
                      </a:r>
                    </a:p>
                  </a:txBody>
                  <a:tcPr marL="64008" marR="64008" marT="54864" marB="27432" anchor="t">
                    <a:lnL w="0">
                      <a:noFill/>
                    </a:lnL>
                    <a:lnR w="0">
                      <a:noFill/>
                    </a:lnR>
                    <a:lnT w="0">
                      <a:noFill/>
                    </a:lnT>
                    <a:lnB w="5080">
                      <a:solidFill>
                        <a:srgbClr val="B8B8B8"/>
                      </a:solidFill>
                    </a:lnB>
                    <a:solidFill>
                      <a:srgbClr val="FFFFFF"/>
                    </a:solidFill>
                  </a:tcPr>
                </a:tc>
                <a:tc>
                  <a:txBody>
                    <a:bodyPr/>
                    <a:lstStyle/>
                    <a:p>
                      <a:pPr>
                        <a:spcAft>
                          <a:spcPts val="100"/>
                        </a:spcAft>
                        <a:defRPr sz="950" b="0">
                          <a:solidFill>
                            <a:srgbClr val="11151A"/>
                          </a:solidFill>
                          <a:latin typeface="Lato"/>
                        </a:defRPr>
                      </a:pPr>
                      <a:r>
                        <a:t>Eskom: year to March 2026 is already 21. Agreed.</a:t>
                      </a:r>
                    </a:p>
                  </a:txBody>
                  <a:tcPr marL="64008" marR="64008" marT="54864" marB="27432" anchor="t">
                    <a:lnL w="0">
                      <a:noFill/>
                    </a:lnL>
                    <a:lnR w="0">
                      <a:noFill/>
                    </a:lnR>
                    <a:lnT w="0">
                      <a:noFill/>
                    </a:lnT>
                    <a:lnB w="5080">
                      <a:solidFill>
                        <a:srgbClr val="B8B8B8"/>
                      </a:solidFill>
                    </a:lnB>
                    <a:solidFill>
                      <a:srgbClr val="FFFFFF"/>
                    </a:solidFill>
                  </a:tcPr>
                </a:tc>
              </a:tr>
              <a:tr h="525780">
                <a:tc>
                  <a:txBody>
                    <a:bodyPr/>
                    <a:lstStyle/>
                    <a:p>
                      <a:pPr>
                        <a:spcAft>
                          <a:spcPts val="100"/>
                        </a:spcAft>
                        <a:defRPr sz="950" b="1">
                          <a:solidFill>
                            <a:srgbClr val="0A2373"/>
                          </a:solidFill>
                          <a:latin typeface="Lato"/>
                        </a:defRPr>
                      </a:pPr>
                      <a:r>
                        <a:t>New-vehicle efficiency gain</a:t>
                      </a:r>
                    </a:p>
                    <a:p>
                      <a:pPr>
                        <a:spcAft>
                          <a:spcPts val="100"/>
                        </a:spcAft>
                        <a:defRPr sz="950" b="1">
                          <a:solidFill>
                            <a:srgbClr val="0A2373"/>
                          </a:solidFill>
                          <a:latin typeface="Lato"/>
                        </a:defRPr>
                      </a:pPr>
                      <a:r>
                        <a:t>% a year</a:t>
                      </a:r>
                    </a:p>
                  </a:txBody>
                  <a:tcPr marL="64008" marR="64008" marT="54864" marB="27432" anchor="t">
                    <a:lnL w="0">
                      <a:noFill/>
                    </a:lnL>
                    <a:lnR w="0">
                      <a:noFill/>
                    </a:lnR>
                    <a:lnT w="0">
                      <a:noFill/>
                    </a:lnT>
                    <a:lnB w="5080">
                      <a:solidFill>
                        <a:srgbClr val="B8B8B8"/>
                      </a:solidFill>
                    </a:lnB>
                    <a:solidFill>
                      <a:srgbClr val="FFFFFF"/>
                    </a:solidFill>
                  </a:tcPr>
                </a:tc>
                <a:tc>
                  <a:txBody>
                    <a:bodyPr/>
                    <a:lstStyle/>
                    <a:p>
                      <a:pPr>
                        <a:spcAft>
                          <a:spcPts val="100"/>
                        </a:spcAft>
                        <a:defRPr sz="950" b="0">
                          <a:solidFill>
                            <a:srgbClr val="11151A"/>
                          </a:solidFill>
                          <a:latin typeface="Lato"/>
                        </a:defRPr>
                      </a:pPr>
                      <a:r>
                        <a:t>0.5 to 1.0</a:t>
                      </a:r>
                    </a:p>
                    <a:p>
                      <a:pPr>
                        <a:spcAft>
                          <a:spcPts val="100"/>
                        </a:spcAft>
                        <a:defRPr sz="950" b="0">
                          <a:solidFill>
                            <a:srgbClr val="11151A"/>
                          </a:solidFill>
                          <a:latin typeface="Lato"/>
                        </a:defRPr>
                      </a:pPr>
                      <a:r>
                        <a:t>registered</a:t>
                      </a:r>
                    </a:p>
                  </a:txBody>
                  <a:tcPr marL="64008" marR="64008" marT="54864" marB="27432" anchor="t">
                    <a:lnL w="0">
                      <a:noFill/>
                    </a:lnL>
                    <a:lnR w="0">
                      <a:noFill/>
                    </a:lnR>
                    <a:lnT w="0">
                      <a:noFill/>
                    </a:lnT>
                    <a:lnB w="5080">
                      <a:solidFill>
                        <a:srgbClr val="B8B8B8"/>
                      </a:solidFill>
                    </a:lnB>
                    <a:solidFill>
                      <a:srgbClr val="FFFFFF"/>
                    </a:solidFill>
                  </a:tcPr>
                </a:tc>
                <a:tc>
                  <a:txBody>
                    <a:bodyPr/>
                    <a:lstStyle/>
                    <a:p>
                      <a:pPr>
                        <a:spcAft>
                          <a:spcPts val="100"/>
                        </a:spcAft>
                        <a:defRPr sz="950" b="0">
                          <a:solidFill>
                            <a:srgbClr val="11151A"/>
                          </a:solidFill>
                          <a:latin typeface="Lato"/>
                        </a:defRPr>
                      </a:pPr>
                      <a:r>
                        <a:t>0.5 / 0.75 / 1</a:t>
                      </a:r>
                    </a:p>
                  </a:txBody>
                  <a:tcPr marL="64008" marR="64008" marT="54864" marB="27432" anchor="t">
                    <a:lnL w="0">
                      <a:noFill/>
                    </a:lnL>
                    <a:lnR w="0">
                      <a:noFill/>
                    </a:lnR>
                    <a:lnT w="0">
                      <a:noFill/>
                    </a:lnT>
                    <a:lnB w="5080">
                      <a:solidFill>
                        <a:srgbClr val="B8B8B8"/>
                      </a:solidFill>
                    </a:lnB>
                    <a:solidFill>
                      <a:srgbClr val="FFFFFF"/>
                    </a:solidFill>
                  </a:tcPr>
                </a:tc>
                <a:tc>
                  <a:txBody>
                    <a:bodyPr/>
                    <a:lstStyle/>
                    <a:p>
                      <a:pPr>
                        <a:spcAft>
                          <a:spcPts val="100"/>
                        </a:spcAft>
                        <a:defRPr sz="950" b="0">
                          <a:solidFill>
                            <a:srgbClr val="11151A"/>
                          </a:solidFill>
                          <a:latin typeface="Lato"/>
                        </a:defRPr>
                      </a:pPr>
                      <a:r>
                        <a:t>0.5 / 0.75 / 1</a:t>
                      </a:r>
                    </a:p>
                  </a:txBody>
                  <a:tcPr marL="64008" marR="64008" marT="54864" marB="27432" anchor="t">
                    <a:lnL w="0">
                      <a:noFill/>
                    </a:lnL>
                    <a:lnR w="0">
                      <a:noFill/>
                    </a:lnR>
                    <a:lnT w="0">
                      <a:noFill/>
                    </a:lnT>
                    <a:lnB w="5080">
                      <a:solidFill>
                        <a:srgbClr val="B8B8B8"/>
                      </a:solidFill>
                    </a:lnB>
                    <a:solidFill>
                      <a:srgbClr val="FFFFFF"/>
                    </a:solidFill>
                  </a:tcPr>
                </a:tc>
                <a:tc>
                  <a:txBody>
                    <a:bodyPr/>
                    <a:lstStyle/>
                    <a:p>
                      <a:pPr>
                        <a:spcAft>
                          <a:spcPts val="100"/>
                        </a:spcAft>
                        <a:defRPr sz="950" b="0">
                          <a:solidFill>
                            <a:srgbClr val="11151A"/>
                          </a:solidFill>
                          <a:latin typeface="Lato"/>
                        </a:defRPr>
                      </a:pPr>
                      <a:r>
                        <a:t>Equals the registered endpoints, which have no source. Agreed for now.</a:t>
                      </a:r>
                    </a:p>
                  </a:txBody>
                  <a:tcPr marL="64008" marR="64008" marT="54864" marB="27432" anchor="t">
                    <a:lnL w="0">
                      <a:noFill/>
                    </a:lnL>
                    <a:lnR w="0">
                      <a:noFill/>
                    </a:lnR>
                    <a:lnT w="0">
                      <a:noFill/>
                    </a:lnT>
                    <a:lnB w="5080">
                      <a:solidFill>
                        <a:srgbClr val="B8B8B8"/>
                      </a:solidFill>
                    </a:lnB>
                    <a:solidFill>
                      <a:srgbClr val="FFFFFF"/>
                    </a:solidFill>
                  </a:tcPr>
                </a:tc>
              </a:tr>
              <a:tr h="525780">
                <a:tc>
                  <a:txBody>
                    <a:bodyPr/>
                    <a:lstStyle/>
                    <a:p>
                      <a:pPr>
                        <a:spcAft>
                          <a:spcPts val="100"/>
                        </a:spcAft>
                        <a:defRPr sz="950" b="1">
                          <a:solidFill>
                            <a:srgbClr val="0A2373"/>
                          </a:solidFill>
                          <a:latin typeface="Lato"/>
                        </a:defRPr>
                      </a:pPr>
                      <a:r>
                        <a:t>Plant utilisation</a:t>
                      </a:r>
                    </a:p>
                    <a:p>
                      <a:pPr>
                        <a:spcAft>
                          <a:spcPts val="100"/>
                        </a:spcAft>
                        <a:defRPr sz="950" b="1">
                          <a:solidFill>
                            <a:srgbClr val="0A2373"/>
                          </a:solidFill>
                          <a:latin typeface="Lato"/>
                        </a:defRPr>
                      </a:pPr>
                      <a:r>
                        <a:t>% of capacity, all fuels</a:t>
                      </a:r>
                    </a:p>
                  </a:txBody>
                  <a:tcPr marL="64008" marR="64008" marT="54864" marB="27432" anchor="t">
                    <a:lnL w="0">
                      <a:noFill/>
                    </a:lnL>
                    <a:lnR w="0">
                      <a:noFill/>
                    </a:lnR>
                    <a:lnT w="0">
                      <a:noFill/>
                    </a:lnT>
                    <a:lnB w="5080">
                      <a:solidFill>
                        <a:srgbClr val="B8B8B8"/>
                      </a:solidFill>
                    </a:lnB>
                    <a:solidFill>
                      <a:srgbClr val="FFFFFF"/>
                    </a:solidFill>
                  </a:tcPr>
                </a:tc>
                <a:tc>
                  <a:txBody>
                    <a:bodyPr/>
                    <a:lstStyle/>
                    <a:p>
                      <a:pPr>
                        <a:spcAft>
                          <a:spcPts val="100"/>
                        </a:spcAft>
                        <a:defRPr sz="950" b="0">
                          <a:solidFill>
                            <a:srgbClr val="11151A"/>
                          </a:solidFill>
                          <a:latin typeface="Lato"/>
                        </a:defRPr>
                      </a:pPr>
                      <a:r>
                        <a:t>67</a:t>
                      </a:r>
                    </a:p>
                    <a:p>
                      <a:pPr>
                        <a:spcAft>
                          <a:spcPts val="100"/>
                        </a:spcAft>
                        <a:defRPr sz="950" b="0">
                          <a:solidFill>
                            <a:srgbClr val="11151A"/>
                          </a:solidFill>
                          <a:latin typeface="Lato"/>
                        </a:defRPr>
                      </a:pPr>
                      <a:r>
                        <a:t>indicative, 2024</a:t>
                      </a:r>
                    </a:p>
                  </a:txBody>
                  <a:tcPr marL="64008" marR="64008" marT="54864" marB="27432" anchor="t">
                    <a:lnL w="0">
                      <a:noFill/>
                    </a:lnL>
                    <a:lnR w="0">
                      <a:noFill/>
                    </a:lnR>
                    <a:lnT w="0">
                      <a:noFill/>
                    </a:lnT>
                    <a:lnB w="5080">
                      <a:solidFill>
                        <a:srgbClr val="B8B8B8"/>
                      </a:solidFill>
                    </a:lnB>
                    <a:solidFill>
                      <a:srgbClr val="FFFFFF"/>
                    </a:solidFill>
                  </a:tcPr>
                </a:tc>
                <a:tc>
                  <a:txBody>
                    <a:bodyPr/>
                    <a:lstStyle/>
                    <a:p>
                      <a:pPr>
                        <a:spcAft>
                          <a:spcPts val="100"/>
                        </a:spcAft>
                        <a:defRPr sz="950" b="0">
                          <a:solidFill>
                            <a:srgbClr val="11151A"/>
                          </a:solidFill>
                          <a:latin typeface="Lato"/>
                        </a:defRPr>
                      </a:pPr>
                      <a:r>
                        <a:t>60 / 75 / 90</a:t>
                      </a:r>
                    </a:p>
                  </a:txBody>
                  <a:tcPr marL="64008" marR="64008" marT="54864" marB="27432" anchor="t">
                    <a:lnL w="0">
                      <a:noFill/>
                    </a:lnL>
                    <a:lnR w="0">
                      <a:noFill/>
                    </a:lnR>
                    <a:lnT w="0">
                      <a:noFill/>
                    </a:lnT>
                    <a:lnB w="5080">
                      <a:solidFill>
                        <a:srgbClr val="B8B8B8"/>
                      </a:solidFill>
                    </a:lnB>
                    <a:solidFill>
                      <a:srgbClr val="FFFFFF"/>
                    </a:solidFill>
                  </a:tcPr>
                </a:tc>
                <a:tc>
                  <a:txBody>
                    <a:bodyPr/>
                    <a:lstStyle/>
                    <a:p>
                      <a:pPr>
                        <a:spcAft>
                          <a:spcPts val="100"/>
                        </a:spcAft>
                        <a:defRPr sz="950" b="0">
                          <a:solidFill>
                            <a:srgbClr val="11151A"/>
                          </a:solidFill>
                          <a:latin typeface="Lato"/>
                        </a:defRPr>
                      </a:pPr>
                      <a:r>
                        <a:t>60 / 75 / 90</a:t>
                      </a:r>
                    </a:p>
                  </a:txBody>
                  <a:tcPr marL="64008" marR="64008" marT="54864" marB="27432" anchor="t">
                    <a:lnL w="0">
                      <a:noFill/>
                    </a:lnL>
                    <a:lnR w="0">
                      <a:noFill/>
                    </a:lnR>
                    <a:lnT w="0">
                      <a:noFill/>
                    </a:lnT>
                    <a:lnB w="5080">
                      <a:solidFill>
                        <a:srgbClr val="B8B8B8"/>
                      </a:solidFill>
                    </a:lnB>
                    <a:solidFill>
                      <a:srgbClr val="FFFFFF"/>
                    </a:solidFill>
                  </a:tcPr>
                </a:tc>
                <a:tc>
                  <a:txBody>
                    <a:bodyPr/>
                    <a:lstStyle/>
                    <a:p>
                      <a:pPr>
                        <a:spcAft>
                          <a:spcPts val="100"/>
                        </a:spcAft>
                        <a:defRPr sz="950" b="0">
                          <a:solidFill>
                            <a:srgbClr val="11151A"/>
                          </a:solidFill>
                          <a:latin typeface="Lato"/>
                        </a:defRPr>
                      </a:pPr>
                      <a:r>
                        <a:t>Operators' reports: Secunda 53%, Natref 71%, Astron 84%. Secunda capacity corrected to FIASA's 150; output unchanged.</a:t>
                      </a:r>
                    </a:p>
                  </a:txBody>
                  <a:tcPr marL="64008" marR="64008" marT="54864" marB="27432" anchor="t">
                    <a:lnL w="0">
                      <a:noFill/>
                    </a:lnL>
                    <a:lnR w="0">
                      <a:noFill/>
                    </a:lnR>
                    <a:lnT w="0">
                      <a:noFill/>
                    </a:lnT>
                    <a:lnB w="5080">
                      <a:solidFill>
                        <a:srgbClr val="B8B8B8"/>
                      </a:solidFill>
                    </a:lnB>
                    <a:solidFill>
                      <a:srgbClr val="FFFFFF"/>
                    </a:solidFill>
                  </a:tcPr>
                </a:tc>
              </a:tr>
              <a:tr h="525780">
                <a:tc>
                  <a:txBody>
                    <a:bodyPr/>
                    <a:lstStyle/>
                    <a:p>
                      <a:pPr>
                        <a:spcAft>
                          <a:spcPts val="100"/>
                        </a:spcAft>
                        <a:defRPr sz="950" b="1">
                          <a:solidFill>
                            <a:srgbClr val="0A2373"/>
                          </a:solidFill>
                          <a:latin typeface="Lato"/>
                        </a:defRPr>
                      </a:pPr>
                      <a:r>
                        <a:t>Diesel yield</a:t>
                      </a:r>
                    </a:p>
                    <a:p>
                      <a:pPr>
                        <a:spcAft>
                          <a:spcPts val="100"/>
                        </a:spcAft>
                        <a:defRPr sz="950" b="1">
                          <a:solidFill>
                            <a:srgbClr val="0A2373"/>
                          </a:solidFill>
                          <a:latin typeface="Lato"/>
                        </a:defRPr>
                      </a:pPr>
                      <a:r>
                        <a:t>% of refinery output</a:t>
                      </a:r>
                    </a:p>
                  </a:txBody>
                  <a:tcPr marL="64008" marR="64008" marT="54864" marB="27432" anchor="t">
                    <a:lnL w="0">
                      <a:noFill/>
                    </a:lnL>
                    <a:lnR w="0">
                      <a:noFill/>
                    </a:lnR>
                    <a:lnT w="0">
                      <a:noFill/>
                    </a:lnT>
                    <a:lnB w="5080">
                      <a:solidFill>
                        <a:srgbClr val="B8B8B8"/>
                      </a:solidFill>
                    </a:lnB>
                    <a:solidFill>
                      <a:srgbClr val="FFFFFF"/>
                    </a:solidFill>
                  </a:tcPr>
                </a:tc>
                <a:tc>
                  <a:txBody>
                    <a:bodyPr/>
                    <a:lstStyle/>
                    <a:p>
                      <a:pPr>
                        <a:spcAft>
                          <a:spcPts val="100"/>
                        </a:spcAft>
                        <a:defRPr sz="950" b="0">
                          <a:solidFill>
                            <a:srgbClr val="11151A"/>
                          </a:solidFill>
                          <a:latin typeface="Lato"/>
                        </a:defRPr>
                      </a:pPr>
                      <a:r>
                        <a:t>29</a:t>
                      </a:r>
                    </a:p>
                    <a:p>
                      <a:pPr>
                        <a:spcAft>
                          <a:spcPts val="100"/>
                        </a:spcAft>
                        <a:defRPr sz="950" b="0">
                          <a:solidFill>
                            <a:srgbClr val="11151A"/>
                          </a:solidFill>
                          <a:latin typeface="Lato"/>
                        </a:defRPr>
                      </a:pPr>
                      <a:r>
                        <a:t>JODI 2024, low reliability</a:t>
                      </a:r>
                    </a:p>
                  </a:txBody>
                  <a:tcPr marL="64008" marR="64008" marT="54864" marB="27432" anchor="t">
                    <a:lnL w="0">
                      <a:noFill/>
                    </a:lnL>
                    <a:lnR w="0">
                      <a:noFill/>
                    </a:lnR>
                    <a:lnT w="0">
                      <a:noFill/>
                    </a:lnT>
                    <a:lnB w="5080">
                      <a:solidFill>
                        <a:srgbClr val="B8B8B8"/>
                      </a:solidFill>
                    </a:lnB>
                    <a:solidFill>
                      <a:srgbClr val="FFFFFF"/>
                    </a:solidFill>
                  </a:tcPr>
                </a:tc>
                <a:tc>
                  <a:txBody>
                    <a:bodyPr/>
                    <a:lstStyle/>
                    <a:p>
                      <a:pPr>
                        <a:spcAft>
                          <a:spcPts val="100"/>
                        </a:spcAft>
                        <a:defRPr sz="950" b="0">
                          <a:solidFill>
                            <a:srgbClr val="11151A"/>
                          </a:solidFill>
                          <a:latin typeface="Lato"/>
                        </a:defRPr>
                      </a:pPr>
                      <a:r>
                        <a:t>25 / 30 / 40</a:t>
                      </a:r>
                    </a:p>
                    <a:p>
                      <a:pPr>
                        <a:spcAft>
                          <a:spcPts val="100"/>
                        </a:spcAft>
                        <a:defRPr sz="950" b="0">
                          <a:solidFill>
                            <a:srgbClr val="11151A"/>
                          </a:solidFill>
                          <a:latin typeface="Lato"/>
                        </a:defRPr>
                      </a:pPr>
                      <a:r>
                        <a:t>was 20 / 25 / 30</a:t>
                      </a:r>
                    </a:p>
                  </a:txBody>
                  <a:tcPr marL="64008" marR="64008" marT="54864" marB="27432" anchor="t">
                    <a:lnL w="0">
                      <a:noFill/>
                    </a:lnL>
                    <a:lnR w="0">
                      <a:noFill/>
                    </a:lnR>
                    <a:lnT w="0">
                      <a:noFill/>
                    </a:lnT>
                    <a:lnB w="5080">
                      <a:solidFill>
                        <a:srgbClr val="B8B8B8"/>
                      </a:solidFill>
                    </a:lnB>
                    <a:solidFill>
                      <a:srgbClr val="FFFFFF"/>
                    </a:solidFill>
                  </a:tcPr>
                </a:tc>
                <a:tc>
                  <a:txBody>
                    <a:bodyPr/>
                    <a:lstStyle/>
                    <a:p>
                      <a:pPr>
                        <a:spcAft>
                          <a:spcPts val="100"/>
                        </a:spcAft>
                        <a:defRPr sz="950" b="0">
                          <a:solidFill>
                            <a:srgbClr val="11151A"/>
                          </a:solidFill>
                          <a:latin typeface="Lato"/>
                        </a:defRPr>
                      </a:pPr>
                      <a:r>
                        <a:t>25 / 30 / 40</a:t>
                      </a:r>
                    </a:p>
                    <a:p>
                      <a:pPr>
                        <a:spcAft>
                          <a:spcPts val="100"/>
                        </a:spcAft>
                        <a:defRPr sz="950" b="0">
                          <a:solidFill>
                            <a:srgbClr val="11151A"/>
                          </a:solidFill>
                          <a:latin typeface="Lato"/>
                        </a:defRPr>
                      </a:pPr>
                      <a:r>
                        <a:t>was 20 / 25 / 30</a:t>
                      </a:r>
                    </a:p>
                  </a:txBody>
                  <a:tcPr marL="64008" marR="64008" marT="54864" marB="27432" anchor="t">
                    <a:lnL w="0">
                      <a:noFill/>
                    </a:lnL>
                    <a:lnR w="0">
                      <a:noFill/>
                    </a:lnR>
                    <a:lnT w="0">
                      <a:noFill/>
                    </a:lnT>
                    <a:lnB w="5080">
                      <a:solidFill>
                        <a:srgbClr val="B8B8B8"/>
                      </a:solidFill>
                    </a:lnB>
                    <a:solidFill>
                      <a:srgbClr val="FFFFFF"/>
                    </a:solidFill>
                  </a:tcPr>
                </a:tc>
                <a:tc>
                  <a:txBody>
                    <a:bodyPr/>
                    <a:lstStyle/>
                    <a:p>
                      <a:pPr>
                        <a:spcAft>
                          <a:spcPts val="100"/>
                        </a:spcAft>
                        <a:defRPr sz="950" b="0">
                          <a:solidFill>
                            <a:srgbClr val="11151A"/>
                          </a:solidFill>
                          <a:latin typeface="Lato"/>
                        </a:defRPr>
                      </a:pPr>
                      <a:r>
                        <a:t>JODI: 31% in 2023, 29% in 2024. Energy balances before the Durban closures: 40-42% of five fuels. Legacy 25%.</a:t>
                      </a:r>
                    </a:p>
                  </a:txBody>
                  <a:tcPr marL="64008" marR="64008" marT="54864" marB="27432" anchor="t">
                    <a:lnL w="0">
                      <a:noFill/>
                    </a:lnL>
                    <a:lnR w="0">
                      <a:noFill/>
                    </a:lnR>
                    <a:lnT w="0">
                      <a:noFill/>
                    </a:lnT>
                    <a:lnB w="5080">
                      <a:solidFill>
                        <a:srgbClr val="B8B8B8"/>
                      </a:solidFill>
                    </a:lnB>
                    <a:solidFill>
                      <a:srgbClr val="FFFFFF"/>
                    </a:solidFill>
                  </a:tcPr>
                </a:tc>
              </a:tr>
              <a:tr h="525780">
                <a:tc>
                  <a:txBody>
                    <a:bodyPr/>
                    <a:lstStyle/>
                    <a:p>
                      <a:pPr>
                        <a:spcAft>
                          <a:spcPts val="100"/>
                        </a:spcAft>
                        <a:defRPr sz="950" b="1">
                          <a:solidFill>
                            <a:srgbClr val="0A2373"/>
                          </a:solidFill>
                          <a:latin typeface="Lato"/>
                        </a:defRPr>
                      </a:pPr>
                      <a:r>
                        <a:t>Added refining capacity</a:t>
                      </a:r>
                    </a:p>
                    <a:p>
                      <a:pPr>
                        <a:spcAft>
                          <a:spcPts val="100"/>
                        </a:spcAft>
                        <a:defRPr sz="950" b="1">
                          <a:solidFill>
                            <a:srgbClr val="0A2373"/>
                          </a:solidFill>
                          <a:latin typeface="Lato"/>
                        </a:defRPr>
                      </a:pPr>
                      <a:r>
                        <a:t>thousand barrels a day</a:t>
                      </a:r>
                    </a:p>
                  </a:txBody>
                  <a:tcPr marL="64008" marR="64008" marT="54864" marB="27432" anchor="t">
                    <a:lnL w="0">
                      <a:noFill/>
                    </a:lnL>
                    <a:lnR w="0">
                      <a:noFill/>
                    </a:lnR>
                    <a:lnT w="0">
                      <a:noFill/>
                    </a:lnT>
                    <a:lnB w="5080">
                      <a:solidFill>
                        <a:srgbClr val="B8B8B8"/>
                      </a:solidFill>
                    </a:lnB>
                    <a:solidFill>
                      <a:srgbClr val="FFFFFF"/>
                    </a:solidFill>
                  </a:tcPr>
                </a:tc>
                <a:tc>
                  <a:txBody>
                    <a:bodyPr/>
                    <a:lstStyle/>
                    <a:p>
                      <a:pPr>
                        <a:spcAft>
                          <a:spcPts val="100"/>
                        </a:spcAft>
                        <a:defRPr sz="950" b="0">
                          <a:solidFill>
                            <a:srgbClr val="11151A"/>
                          </a:solidFill>
                          <a:latin typeface="Lato"/>
                        </a:defRPr>
                      </a:pPr>
                      <a:r>
                        <a:t>0</a:t>
                      </a:r>
                    </a:p>
                  </a:txBody>
                  <a:tcPr marL="64008" marR="64008" marT="54864" marB="27432" anchor="t">
                    <a:lnL w="0">
                      <a:noFill/>
                    </a:lnL>
                    <a:lnR w="0">
                      <a:noFill/>
                    </a:lnR>
                    <a:lnT w="0">
                      <a:noFill/>
                    </a:lnT>
                    <a:lnB w="5080">
                      <a:solidFill>
                        <a:srgbClr val="B8B8B8"/>
                      </a:solidFill>
                    </a:lnB>
                    <a:solidFill>
                      <a:srgbClr val="FFFFFF"/>
                    </a:solidFill>
                  </a:tcPr>
                </a:tc>
                <a:tc>
                  <a:txBody>
                    <a:bodyPr/>
                    <a:lstStyle/>
                    <a:p>
                      <a:pPr>
                        <a:spcAft>
                          <a:spcPts val="100"/>
                        </a:spcAft>
                        <a:defRPr sz="950" b="0">
                          <a:solidFill>
                            <a:srgbClr val="11151A"/>
                          </a:solidFill>
                          <a:latin typeface="Lato"/>
                        </a:defRPr>
                      </a:pPr>
                      <a:r>
                        <a:t>0 / 0 / 0</a:t>
                      </a:r>
                    </a:p>
                  </a:txBody>
                  <a:tcPr marL="64008" marR="64008" marT="54864" marB="27432" anchor="t">
                    <a:lnL w="0">
                      <a:noFill/>
                    </a:lnL>
                    <a:lnR w="0">
                      <a:noFill/>
                    </a:lnR>
                    <a:lnT w="0">
                      <a:noFill/>
                    </a:lnT>
                    <a:lnB w="5080">
                      <a:solidFill>
                        <a:srgbClr val="B8B8B8"/>
                      </a:solidFill>
                    </a:lnB>
                    <a:solidFill>
                      <a:srgbClr val="FFFFFF"/>
                    </a:solidFill>
                  </a:tcPr>
                </a:tc>
                <a:tc>
                  <a:txBody>
                    <a:bodyPr/>
                    <a:lstStyle/>
                    <a:p>
                      <a:pPr>
                        <a:spcAft>
                          <a:spcPts val="100"/>
                        </a:spcAft>
                        <a:defRPr sz="950" b="0">
                          <a:solidFill>
                            <a:srgbClr val="11151A"/>
                          </a:solidFill>
                          <a:latin typeface="Lato"/>
                        </a:defRPr>
                      </a:pPr>
                      <a:r>
                        <a:t>0 / 0 / 400</a:t>
                      </a:r>
                    </a:p>
                  </a:txBody>
                  <a:tcPr marL="64008" marR="64008" marT="54864" marB="27432" anchor="t">
                    <a:lnL w="0">
                      <a:noFill/>
                    </a:lnL>
                    <a:lnR w="0">
                      <a:noFill/>
                    </a:lnR>
                    <a:lnT w="0">
                      <a:noFill/>
                    </a:lnT>
                    <a:lnB w="5080">
                      <a:solidFill>
                        <a:srgbClr val="B8B8B8"/>
                      </a:solidFill>
                    </a:lnB>
                    <a:solidFill>
                      <a:srgbClr val="FFFFFF"/>
                    </a:solidFill>
                  </a:tcPr>
                </a:tc>
                <a:tc>
                  <a:txBody>
                    <a:bodyPr/>
                    <a:lstStyle/>
                    <a:p>
                      <a:pPr>
                        <a:spcAft>
                          <a:spcPts val="100"/>
                        </a:spcAft>
                        <a:defRPr sz="950" b="0">
                          <a:solidFill>
                            <a:srgbClr val="11151A"/>
                          </a:solidFill>
                          <a:latin typeface="Lato"/>
                        </a:defRPr>
                      </a:pPr>
                      <a:r>
                        <a:t>Conditional illustration; no investment decision sourced.</a:t>
                      </a:r>
                    </a:p>
                  </a:txBody>
                  <a:tcPr marL="64008" marR="64008" marT="54864" marB="27432" anchor="t">
                    <a:lnL w="0">
                      <a:noFill/>
                    </a:lnL>
                    <a:lnR w="0">
                      <a:noFill/>
                    </a:lnR>
                    <a:lnT w="0">
                      <a:noFill/>
                    </a:lnT>
                    <a:lnB w="5080">
                      <a:solidFill>
                        <a:srgbClr val="B8B8B8"/>
                      </a:solidFill>
                    </a:lnB>
                    <a:solidFill>
                      <a:srgbClr val="FFFFFF"/>
                    </a:solidFill>
                  </a:tcPr>
                </a:tc>
              </a:tr>
            </a:tbl>
          </a:graphicData>
        </a:graphic>
      </p:graphicFrame>
      <p:sp>
        <p:nvSpPr>
          <p:cNvPr id="8" name="Chevron 7">
            <a:hlinkClick action="ppaction://hlinksldjump" r:id="rId2"/>
          </p:cNvPr>
          <p:cNvSpPr/>
          <p:nvPr/>
        </p:nvSpPr>
        <p:spPr>
          <a:xfrm>
            <a:off x="457200" y="73152"/>
            <a:ext cx="2075688" cy="384048"/>
          </a:xfrm>
          <a:prstGeom prst="chevron">
            <a:avLst>
              <a:gd name="adj" fmla="val 12000"/>
            </a:avLst>
          </a:pr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tIns="0" bIns="0"/>
          <a:lstStyle/>
          <a:p>
            <a:pPr algn="ctr">
              <a:defRPr sz="1100" b="0">
                <a:solidFill>
                  <a:srgbClr val="0A2373"/>
                </a:solidFill>
                <a:latin typeface="Lato"/>
              </a:defRPr>
            </a:pPr>
            <a:r>
              <a:t>1  National balance</a:t>
            </a:r>
          </a:p>
        </p:txBody>
      </p:sp>
      <p:sp>
        <p:nvSpPr>
          <p:cNvPr id="9" name="Chevron 8">
            <a:hlinkClick action="ppaction://hlinksldjump" r:id="rId3"/>
          </p:cNvPr>
          <p:cNvSpPr/>
          <p:nvPr/>
        </p:nvSpPr>
        <p:spPr>
          <a:xfrm>
            <a:off x="2587752" y="73152"/>
            <a:ext cx="2075688" cy="384048"/>
          </a:xfrm>
          <a:prstGeom prst="chevron">
            <a:avLst>
              <a:gd name="adj" fmla="val 12000"/>
            </a:avLst>
          </a:pr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tIns="0" bIns="0"/>
          <a:lstStyle/>
          <a:p>
            <a:pPr algn="ctr">
              <a:defRPr sz="1100" b="1">
                <a:solidFill>
                  <a:srgbClr val="FFFFFF"/>
                </a:solidFill>
                <a:latin typeface="Lato"/>
              </a:defRPr>
            </a:pPr>
            <a:r>
              <a:t>2  Forecast levers</a:t>
            </a:r>
          </a:p>
        </p:txBody>
      </p:sp>
      <p:sp>
        <p:nvSpPr>
          <p:cNvPr id="10" name="Chevron 9">
            <a:hlinkClick action="ppaction://hlinksldjump" r:id="rId4"/>
          </p:cNvPr>
          <p:cNvSpPr/>
          <p:nvPr/>
        </p:nvSpPr>
        <p:spPr>
          <a:xfrm>
            <a:off x="4718304" y="73152"/>
            <a:ext cx="2075688" cy="384048"/>
          </a:xfrm>
          <a:prstGeom prst="chevron">
            <a:avLst>
              <a:gd name="adj" fmla="val 12000"/>
            </a:avLst>
          </a:pr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tIns="0" bIns="0"/>
          <a:lstStyle/>
          <a:p>
            <a:pPr algn="ctr">
              <a:defRPr sz="1100" b="0">
                <a:solidFill>
                  <a:srgbClr val="0A2373"/>
                </a:solidFill>
                <a:latin typeface="Lato"/>
              </a:defRPr>
            </a:pPr>
            <a:r>
              <a:t>3  Sector baselines</a:t>
            </a:r>
          </a:p>
        </p:txBody>
      </p:sp>
      <p:sp>
        <p:nvSpPr>
          <p:cNvPr id="11" name="Chevron 10">
            <a:hlinkClick action="ppaction://hlinksldjump" r:id="rId5"/>
          </p:cNvPr>
          <p:cNvSpPr/>
          <p:nvPr/>
        </p:nvSpPr>
        <p:spPr>
          <a:xfrm>
            <a:off x="6848856" y="73152"/>
            <a:ext cx="2075688" cy="384048"/>
          </a:xfrm>
          <a:prstGeom prst="chevron">
            <a:avLst>
              <a:gd name="adj" fmla="val 12000"/>
            </a:avLst>
          </a:pr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tIns="0" bIns="0"/>
          <a:lstStyle/>
          <a:p>
            <a:pPr algn="ctr">
              <a:defRPr sz="1100" b="0">
                <a:solidFill>
                  <a:srgbClr val="0A2373"/>
                </a:solidFill>
                <a:latin typeface="Lato"/>
              </a:defRPr>
            </a:pPr>
            <a:r>
              <a:t>4  Tank handling</a:t>
            </a:r>
          </a:p>
        </p:txBody>
      </p:sp>
      <p:sp>
        <p:nvSpPr>
          <p:cNvPr id="12" name="Chevron 11">
            <a:hlinkClick action="ppaction://hlinksldjump" r:id="rId6"/>
          </p:cNvPr>
          <p:cNvSpPr/>
          <p:nvPr/>
        </p:nvSpPr>
        <p:spPr>
          <a:xfrm>
            <a:off x="8979408" y="73152"/>
            <a:ext cx="2075688" cy="384048"/>
          </a:xfrm>
          <a:prstGeom prst="chevron">
            <a:avLst>
              <a:gd name="adj" fmla="val 12000"/>
            </a:avLst>
          </a:pr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tIns="0" bIns="0"/>
          <a:lstStyle/>
          <a:p>
            <a:pPr algn="ctr">
              <a:defRPr sz="1100" b="0">
                <a:solidFill>
                  <a:srgbClr val="0A2373"/>
                </a:solidFill>
                <a:latin typeface="Lato"/>
              </a:defRPr>
            </a:pPr>
            <a:r>
              <a:t>5  Hand-back</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Jet: movement highs exceed every year on record; fuel per movement can also rise</a:t>
            </a:r>
          </a:p>
        </p:txBody>
      </p:sp>
      <p:sp>
        <p:nvSpPr>
          <p:cNvPr id="3" name="TextBox 2"/>
          <p:cNvSpPr txBox="1"/>
          <p:nvPr/>
        </p:nvSpPr>
        <p:spPr>
          <a:xfrm>
            <a:off x="457200" y="1627632"/>
            <a:ext cx="10652760" cy="274320"/>
          </a:xfrm>
          <a:prstGeom prst="rect">
            <a:avLst/>
          </a:prstGeom>
          <a:noFill/>
        </p:spPr>
        <p:txBody>
          <a:bodyPr wrap="square" lIns="22860" rIns="22860" tIns="0" bIns="0">
            <a:spAutoFit/>
          </a:bodyPr>
          <a:lstStyle/>
          <a:p>
            <a:pPr>
              <a:spcAft>
                <a:spcPts val="300"/>
              </a:spcAft>
              <a:defRPr sz="1300" b="1">
                <a:solidFill>
                  <a:srgbClr val="11151A"/>
                </a:solidFill>
                <a:latin typeface="Lato"/>
              </a:defRPr>
            </a:pPr>
            <a:r>
              <a:t>Jet inputs | low / medium / high for 2030 and 2035 | 6 of 36 values have a proposed replacement</a:t>
            </a:r>
          </a:p>
        </p:txBody>
      </p:sp>
      <p:cxnSp>
        <p:nvCxnSpPr>
          <p:cNvPr id="4" name="Connector 3"/>
          <p:cNvCxnSpPr/>
          <p:nvPr/>
        </p:nvCxnSpPr>
        <p:spPr>
          <a:xfrm>
            <a:off x="457200" y="1920240"/>
            <a:ext cx="10652760" cy="0"/>
          </a:xfrm>
          <a:prstGeom prst="line">
            <a:avLst/>
          </a:prstGeom>
          <a:ln w="7620">
            <a:solidFill>
              <a:srgbClr val="A0A0A0"/>
            </a:solidFill>
          </a:ln>
        </p:spPr>
        <p:style>
          <a:lnRef idx="2">
            <a:schemeClr val="accent1"/>
          </a:lnRef>
          <a:fillRef idx="0">
            <a:schemeClr val="accent1"/>
          </a:fillRef>
          <a:effectRef idx="1">
            <a:schemeClr val="accent1"/>
          </a:effectRef>
          <a:fontRef idx="minor">
            <a:schemeClr val="tx1"/>
          </a:fontRef>
        </p:style>
      </p:cxnSp>
      <p:sp>
        <p:nvSpPr>
          <p:cNvPr id="5" name="TextBox 4"/>
          <p:cNvSpPr txBox="1"/>
          <p:nvPr/>
        </p:nvSpPr>
        <p:spPr>
          <a:xfrm>
            <a:off x="457200" y="6547104"/>
            <a:ext cx="9692640" cy="182880"/>
          </a:xfrm>
          <a:prstGeom prst="rect">
            <a:avLst/>
          </a:prstGeom>
          <a:noFill/>
        </p:spPr>
        <p:txBody>
          <a:bodyPr wrap="square" lIns="22860" rIns="22860" tIns="0" bIns="0">
            <a:spAutoFit/>
          </a:bodyPr>
          <a:lstStyle/>
          <a:p>
            <a:pPr>
              <a:spcAft>
                <a:spcPts val="300"/>
              </a:spcAft>
              <a:defRPr sz="800" b="0">
                <a:solidFill>
                  <a:srgbClr val="11151A"/>
                </a:solidFill>
                <a:latin typeface="Lato"/>
              </a:defRPr>
            </a:pPr>
            <a:r>
              <a:t>Source: fuel_lever_response_2026-10-07.md on manish-branch; Nigel's proposed inputs of 7 October are not edited. Replacements are the analyst's proposals, pending review.</a:t>
            </a:r>
          </a:p>
        </p:txBody>
      </p:sp>
      <p:sp>
        <p:nvSpPr>
          <p:cNvPr id="6" name="TextBox 5"/>
          <p:cNvSpPr txBox="1"/>
          <p:nvPr/>
        </p:nvSpPr>
        <p:spPr>
          <a:xfrm>
            <a:off x="457200" y="6711696"/>
            <a:ext cx="2011680" cy="128016"/>
          </a:xfrm>
          <a:prstGeom prst="rect">
            <a:avLst/>
          </a:prstGeom>
          <a:noFill/>
        </p:spPr>
        <p:txBody>
          <a:bodyPr wrap="square" lIns="22860" rIns="22860" tIns="0" bIns="0">
            <a:spAutoFit/>
          </a:bodyPr>
          <a:lstStyle/>
          <a:p>
            <a:pPr>
              <a:spcAft>
                <a:spcPts val="300"/>
              </a:spcAft>
              <a:defRPr sz="700" b="0">
                <a:solidFill>
                  <a:srgbClr val="11151A"/>
                </a:solidFill>
                <a:latin typeface="Lato"/>
              </a:defRPr>
            </a:pPr>
            <a:r>
              <a:t>Strictly Confidential</a:t>
            </a:r>
          </a:p>
        </p:txBody>
      </p:sp>
      <p:graphicFrame>
        <p:nvGraphicFramePr>
          <p:cNvPr id="7" name="Table 6"/>
          <p:cNvGraphicFramePr>
            <a:graphicFrameLocks noGrp="1"/>
          </p:cNvGraphicFramePr>
          <p:nvPr/>
        </p:nvGraphicFramePr>
        <p:xfrm>
          <a:off x="457200" y="2011680"/>
          <a:ext cx="10652760" cy="4206240"/>
        </p:xfrm>
        <a:graphic>
          <a:graphicData uri="http://schemas.openxmlformats.org/drawingml/2006/table">
            <a:tbl>
              <a:tblPr firstRow="0" bandRow="0"/>
              <a:tblGrid>
                <a:gridCol w="2148840"/>
                <a:gridCol w="1463040"/>
                <a:gridCol w="1600200"/>
                <a:gridCol w="1600200"/>
                <a:gridCol w="3840480"/>
              </a:tblGrid>
              <a:tr h="600891">
                <a:tc>
                  <a:txBody>
                    <a:bodyPr/>
                    <a:lstStyle/>
                    <a:p>
                      <a:pPr>
                        <a:spcAft>
                          <a:spcPts val="100"/>
                        </a:spcAft>
                        <a:defRPr sz="950" b="1">
                          <a:solidFill>
                            <a:srgbClr val="0A2373"/>
                          </a:solidFill>
                          <a:latin typeface="Lato"/>
                        </a:defRPr>
                      </a:pPr>
                      <a:r>
                        <a:t>Lever and unit</a:t>
                      </a:r>
                    </a:p>
                  </a:txBody>
                  <a:tcPr marL="64008" marR="64008" marT="54864" marB="27432" anchor="t">
                    <a:lnL w="0">
                      <a:noFill/>
                    </a:lnL>
                    <a:lnR w="0">
                      <a:noFill/>
                    </a:lnR>
                    <a:lnT w="0">
                      <a:noFill/>
                    </a:lnT>
                    <a:lnB w="5080">
                      <a:solidFill>
                        <a:srgbClr val="B8B8B8"/>
                      </a:solidFill>
                    </a:lnB>
                    <a:solidFill>
                      <a:srgbClr val="FFFFFF"/>
                    </a:solidFill>
                  </a:tcPr>
                </a:tc>
                <a:tc>
                  <a:txBody>
                    <a:bodyPr/>
                    <a:lstStyle/>
                    <a:p>
                      <a:pPr>
                        <a:spcAft>
                          <a:spcPts val="100"/>
                        </a:spcAft>
                        <a:defRPr sz="950" b="1">
                          <a:solidFill>
                            <a:srgbClr val="11151A"/>
                          </a:solidFill>
                          <a:latin typeface="Lato"/>
                        </a:defRPr>
                      </a:pPr>
                      <a:r>
                        <a:t>Baseline</a:t>
                      </a:r>
                    </a:p>
                  </a:txBody>
                  <a:tcPr marL="64008" marR="64008" marT="54864" marB="27432" anchor="t">
                    <a:lnL w="0">
                      <a:noFill/>
                    </a:lnL>
                    <a:lnR w="0">
                      <a:noFill/>
                    </a:lnR>
                    <a:lnT w="0">
                      <a:noFill/>
                    </a:lnT>
                    <a:lnB w="5080">
                      <a:solidFill>
                        <a:srgbClr val="B8B8B8"/>
                      </a:solidFill>
                    </a:lnB>
                    <a:solidFill>
                      <a:srgbClr val="FFFFFF"/>
                    </a:solidFill>
                  </a:tcPr>
                </a:tc>
                <a:tc>
                  <a:txBody>
                    <a:bodyPr/>
                    <a:lstStyle/>
                    <a:p>
                      <a:pPr>
                        <a:spcAft>
                          <a:spcPts val="100"/>
                        </a:spcAft>
                        <a:defRPr sz="950" b="1">
                          <a:solidFill>
                            <a:srgbClr val="11151A"/>
                          </a:solidFill>
                          <a:latin typeface="Lato"/>
                        </a:defRPr>
                      </a:pPr>
                      <a:r>
                        <a:t>2030</a:t>
                      </a:r>
                    </a:p>
                    <a:p>
                      <a:pPr>
                        <a:spcAft>
                          <a:spcPts val="100"/>
                        </a:spcAft>
                        <a:defRPr sz="950" b="1">
                          <a:solidFill>
                            <a:srgbClr val="11151A"/>
                          </a:solidFill>
                          <a:latin typeface="Lato"/>
                        </a:defRPr>
                      </a:pPr>
                      <a:r>
                        <a:t>low / medium / high</a:t>
                      </a:r>
                    </a:p>
                  </a:txBody>
                  <a:tcPr marL="64008" marR="64008" marT="54864" marB="27432" anchor="t">
                    <a:lnL w="0">
                      <a:noFill/>
                    </a:lnL>
                    <a:lnR w="0">
                      <a:noFill/>
                    </a:lnR>
                    <a:lnT w="0">
                      <a:noFill/>
                    </a:lnT>
                    <a:lnB w="5080">
                      <a:solidFill>
                        <a:srgbClr val="B8B8B8"/>
                      </a:solidFill>
                    </a:lnB>
                    <a:solidFill>
                      <a:srgbClr val="FFFFFF"/>
                    </a:solidFill>
                  </a:tcPr>
                </a:tc>
                <a:tc>
                  <a:txBody>
                    <a:bodyPr/>
                    <a:lstStyle/>
                    <a:p>
                      <a:pPr>
                        <a:spcAft>
                          <a:spcPts val="100"/>
                        </a:spcAft>
                        <a:defRPr sz="950" b="1">
                          <a:solidFill>
                            <a:srgbClr val="11151A"/>
                          </a:solidFill>
                          <a:latin typeface="Lato"/>
                        </a:defRPr>
                      </a:pPr>
                      <a:r>
                        <a:t>2035</a:t>
                      </a:r>
                    </a:p>
                    <a:p>
                      <a:pPr>
                        <a:spcAft>
                          <a:spcPts val="100"/>
                        </a:spcAft>
                        <a:defRPr sz="950" b="1">
                          <a:solidFill>
                            <a:srgbClr val="11151A"/>
                          </a:solidFill>
                          <a:latin typeface="Lato"/>
                        </a:defRPr>
                      </a:pPr>
                      <a:r>
                        <a:t>low / medium / high</a:t>
                      </a:r>
                    </a:p>
                  </a:txBody>
                  <a:tcPr marL="64008" marR="64008" marT="54864" marB="27432" anchor="t">
                    <a:lnL w="0">
                      <a:noFill/>
                    </a:lnL>
                    <a:lnR w="0">
                      <a:noFill/>
                    </a:lnR>
                    <a:lnT w="0">
                      <a:noFill/>
                    </a:lnT>
                    <a:lnB w="5080">
                      <a:solidFill>
                        <a:srgbClr val="B8B8B8"/>
                      </a:solidFill>
                    </a:lnB>
                    <a:solidFill>
                      <a:srgbClr val="FFFFFF"/>
                    </a:solidFill>
                  </a:tcPr>
                </a:tc>
                <a:tc>
                  <a:txBody>
                    <a:bodyPr/>
                    <a:lstStyle/>
                    <a:p>
                      <a:pPr>
                        <a:spcAft>
                          <a:spcPts val="100"/>
                        </a:spcAft>
                        <a:defRPr sz="950" b="1">
                          <a:solidFill>
                            <a:srgbClr val="11151A"/>
                          </a:solidFill>
                          <a:latin typeface="Lato"/>
                        </a:defRPr>
                      </a:pPr>
                      <a:r>
                        <a:t>Rationale and source</a:t>
                      </a:r>
                    </a:p>
                  </a:txBody>
                  <a:tcPr marL="64008" marR="64008" marT="54864" marB="27432" anchor="t">
                    <a:lnL w="0">
                      <a:noFill/>
                    </a:lnL>
                    <a:lnR w="0">
                      <a:noFill/>
                    </a:lnR>
                    <a:lnT w="0">
                      <a:noFill/>
                    </a:lnT>
                    <a:lnB w="5080">
                      <a:solidFill>
                        <a:srgbClr val="B8B8B8"/>
                      </a:solidFill>
                    </a:lnB>
                    <a:solidFill>
                      <a:srgbClr val="FFFFFF"/>
                    </a:solidFill>
                  </a:tcPr>
                </a:tc>
              </a:tr>
              <a:tr h="600891">
                <a:tc>
                  <a:txBody>
                    <a:bodyPr/>
                    <a:lstStyle/>
                    <a:p>
                      <a:pPr>
                        <a:spcAft>
                          <a:spcPts val="100"/>
                        </a:spcAft>
                        <a:defRPr sz="950" b="1">
                          <a:solidFill>
                            <a:srgbClr val="0A2373"/>
                          </a:solidFill>
                          <a:latin typeface="Lato"/>
                        </a:defRPr>
                      </a:pPr>
                      <a:r>
                        <a:t>Aircraft movements</a:t>
                      </a:r>
                    </a:p>
                    <a:p>
                      <a:pPr>
                        <a:spcAft>
                          <a:spcPts val="100"/>
                        </a:spcAft>
                        <a:defRPr sz="950" b="1">
                          <a:solidFill>
                            <a:srgbClr val="0A2373"/>
                          </a:solidFill>
                          <a:latin typeface="Lato"/>
                        </a:defRPr>
                      </a:pPr>
                      <a:r>
                        <a:t>2024 = 100</a:t>
                      </a:r>
                    </a:p>
                  </a:txBody>
                  <a:tcPr marL="64008" marR="64008" marT="54864" marB="27432" anchor="t">
                    <a:lnL w="0">
                      <a:noFill/>
                    </a:lnL>
                    <a:lnR w="0">
                      <a:noFill/>
                    </a:lnR>
                    <a:lnT w="0">
                      <a:noFill/>
                    </a:lnT>
                    <a:lnB w="5080">
                      <a:solidFill>
                        <a:srgbClr val="B8B8B8"/>
                      </a:solidFill>
                    </a:lnB>
                    <a:solidFill>
                      <a:srgbClr val="FFFFFF"/>
                    </a:solidFill>
                  </a:tcPr>
                </a:tc>
                <a:tc>
                  <a:txBody>
                    <a:bodyPr/>
                    <a:lstStyle/>
                    <a:p>
                      <a:pPr>
                        <a:spcAft>
                          <a:spcPts val="100"/>
                        </a:spcAft>
                        <a:defRPr sz="950" b="0">
                          <a:solidFill>
                            <a:srgbClr val="11151A"/>
                          </a:solidFill>
                          <a:latin typeface="Lato"/>
                        </a:defRPr>
                      </a:pPr>
                      <a:r>
                        <a:t>100</a:t>
                      </a:r>
                    </a:p>
                    <a:p>
                      <a:pPr>
                        <a:spcAft>
                          <a:spcPts val="100"/>
                        </a:spcAft>
                        <a:defRPr sz="950" b="0">
                          <a:solidFill>
                            <a:srgbClr val="11151A"/>
                          </a:solidFill>
                          <a:latin typeface="Lato"/>
                        </a:defRPr>
                      </a:pPr>
                      <a:r>
                        <a:t>456,214 at ACSA airports</a:t>
                      </a:r>
                    </a:p>
                  </a:txBody>
                  <a:tcPr marL="64008" marR="64008" marT="54864" marB="27432" anchor="t">
                    <a:lnL w="0">
                      <a:noFill/>
                    </a:lnL>
                    <a:lnR w="0">
                      <a:noFill/>
                    </a:lnR>
                    <a:lnT w="0">
                      <a:noFill/>
                    </a:lnT>
                    <a:lnB w="5080">
                      <a:solidFill>
                        <a:srgbClr val="B8B8B8"/>
                      </a:solidFill>
                    </a:lnB>
                    <a:solidFill>
                      <a:srgbClr val="FFFFFF"/>
                    </a:solidFill>
                  </a:tcPr>
                </a:tc>
                <a:tc>
                  <a:txBody>
                    <a:bodyPr/>
                    <a:lstStyle/>
                    <a:p>
                      <a:pPr>
                        <a:spcAft>
                          <a:spcPts val="100"/>
                        </a:spcAft>
                        <a:defRPr sz="950" b="0">
                          <a:solidFill>
                            <a:srgbClr val="11151A"/>
                          </a:solidFill>
                          <a:latin typeface="Lato"/>
                        </a:defRPr>
                      </a:pPr>
                      <a:r>
                        <a:t>100 / 110 / 125</a:t>
                      </a:r>
                    </a:p>
                    <a:p>
                      <a:pPr>
                        <a:spcAft>
                          <a:spcPts val="100"/>
                        </a:spcAft>
                        <a:defRPr sz="950" b="0">
                          <a:solidFill>
                            <a:srgbClr val="11151A"/>
                          </a:solidFill>
                          <a:latin typeface="Lato"/>
                        </a:defRPr>
                      </a:pPr>
                      <a:r>
                        <a:t>was 100 / 120 / 140</a:t>
                      </a:r>
                    </a:p>
                  </a:txBody>
                  <a:tcPr marL="64008" marR="64008" marT="54864" marB="27432" anchor="t">
                    <a:lnL w="0">
                      <a:noFill/>
                    </a:lnL>
                    <a:lnR w="0">
                      <a:noFill/>
                    </a:lnR>
                    <a:lnT w="0">
                      <a:noFill/>
                    </a:lnT>
                    <a:lnB w="5080">
                      <a:solidFill>
                        <a:srgbClr val="B8B8B8"/>
                      </a:solidFill>
                    </a:lnB>
                    <a:solidFill>
                      <a:srgbClr val="FFFFFF"/>
                    </a:solidFill>
                  </a:tcPr>
                </a:tc>
                <a:tc>
                  <a:txBody>
                    <a:bodyPr/>
                    <a:lstStyle/>
                    <a:p>
                      <a:pPr>
                        <a:spcAft>
                          <a:spcPts val="100"/>
                        </a:spcAft>
                        <a:defRPr sz="950" b="0">
                          <a:solidFill>
                            <a:srgbClr val="11151A"/>
                          </a:solidFill>
                          <a:latin typeface="Lato"/>
                        </a:defRPr>
                      </a:pPr>
                      <a:r>
                        <a:t>100 / 120 / 140</a:t>
                      </a:r>
                    </a:p>
                    <a:p>
                      <a:pPr>
                        <a:spcAft>
                          <a:spcPts val="100"/>
                        </a:spcAft>
                        <a:defRPr sz="950" b="0">
                          <a:solidFill>
                            <a:srgbClr val="11151A"/>
                          </a:solidFill>
                          <a:latin typeface="Lato"/>
                        </a:defRPr>
                      </a:pPr>
                      <a:r>
                        <a:t>was 100 / 145 / 190</a:t>
                      </a:r>
                    </a:p>
                  </a:txBody>
                  <a:tcPr marL="64008" marR="64008" marT="54864" marB="27432" anchor="t">
                    <a:lnL w="0">
                      <a:noFill/>
                    </a:lnL>
                    <a:lnR w="0">
                      <a:noFill/>
                    </a:lnR>
                    <a:lnT w="0">
                      <a:noFill/>
                    </a:lnT>
                    <a:lnB w="5080">
                      <a:solidFill>
                        <a:srgbClr val="B8B8B8"/>
                      </a:solidFill>
                    </a:lnB>
                    <a:solidFill>
                      <a:srgbClr val="FFFFFF"/>
                    </a:solidFill>
                  </a:tcPr>
                </a:tc>
                <a:tc>
                  <a:txBody>
                    <a:bodyPr/>
                    <a:lstStyle/>
                    <a:p>
                      <a:pPr>
                        <a:spcAft>
                          <a:spcPts val="100"/>
                        </a:spcAft>
                        <a:defRPr sz="950" b="0">
                          <a:solidFill>
                            <a:srgbClr val="11151A"/>
                          </a:solidFill>
                          <a:latin typeface="Lato"/>
                        </a:defRPr>
                      </a:pPr>
                      <a:r>
                        <a:t>ACSA: 2019 was 112 and the 2016 peak 125. Proposed highs of 140 and 190 exceed every year on record.</a:t>
                      </a:r>
                    </a:p>
                  </a:txBody>
                  <a:tcPr marL="64008" marR="64008" marT="54864" marB="27432" anchor="t">
                    <a:lnL w="0">
                      <a:noFill/>
                    </a:lnL>
                    <a:lnR w="0">
                      <a:noFill/>
                    </a:lnR>
                    <a:lnT w="0">
                      <a:noFill/>
                    </a:lnT>
                    <a:lnB w="5080">
                      <a:solidFill>
                        <a:srgbClr val="B8B8B8"/>
                      </a:solidFill>
                    </a:lnB>
                    <a:solidFill>
                      <a:srgbClr val="FFFFFF"/>
                    </a:solidFill>
                  </a:tcPr>
                </a:tc>
              </a:tr>
              <a:tr h="600891">
                <a:tc>
                  <a:txBody>
                    <a:bodyPr/>
                    <a:lstStyle/>
                    <a:p>
                      <a:pPr>
                        <a:spcAft>
                          <a:spcPts val="100"/>
                        </a:spcAft>
                        <a:defRPr sz="950" b="1">
                          <a:solidFill>
                            <a:srgbClr val="0A2373"/>
                          </a:solidFill>
                          <a:latin typeface="Lato"/>
                        </a:defRPr>
                      </a:pPr>
                      <a:r>
                        <a:t>Jet fuel per movement</a:t>
                      </a:r>
                    </a:p>
                    <a:p>
                      <a:pPr>
                        <a:spcAft>
                          <a:spcPts val="100"/>
                        </a:spcAft>
                        <a:defRPr sz="950" b="1">
                          <a:solidFill>
                            <a:srgbClr val="0A2373"/>
                          </a:solidFill>
                          <a:latin typeface="Lato"/>
                        </a:defRPr>
                      </a:pPr>
                      <a:r>
                        <a:t>2024 = 100</a:t>
                      </a:r>
                    </a:p>
                  </a:txBody>
                  <a:tcPr marL="64008" marR="64008" marT="54864" marB="27432" anchor="t">
                    <a:lnL w="0">
                      <a:noFill/>
                    </a:lnL>
                    <a:lnR w="0">
                      <a:noFill/>
                    </a:lnR>
                    <a:lnT w="0">
                      <a:noFill/>
                    </a:lnT>
                    <a:lnB w="5080">
                      <a:solidFill>
                        <a:srgbClr val="B8B8B8"/>
                      </a:solidFill>
                    </a:lnB>
                    <a:solidFill>
                      <a:srgbClr val="FFFFFF"/>
                    </a:solidFill>
                  </a:tcPr>
                </a:tc>
                <a:tc>
                  <a:txBody>
                    <a:bodyPr/>
                    <a:lstStyle/>
                    <a:p>
                      <a:pPr>
                        <a:spcAft>
                          <a:spcPts val="100"/>
                        </a:spcAft>
                        <a:defRPr sz="950" b="0">
                          <a:solidFill>
                            <a:srgbClr val="11151A"/>
                          </a:solidFill>
                          <a:latin typeface="Lato"/>
                        </a:defRPr>
                      </a:pPr>
                      <a:r>
                        <a:t>100</a:t>
                      </a:r>
                    </a:p>
                    <a:p>
                      <a:pPr>
                        <a:spcAft>
                          <a:spcPts val="100"/>
                        </a:spcAft>
                        <a:defRPr sz="950" b="0">
                          <a:solidFill>
                            <a:srgbClr val="11151A"/>
                          </a:solidFill>
                          <a:latin typeface="Lato"/>
                        </a:defRPr>
                      </a:pPr>
                      <a:r>
                        <a:t>4,090 litres</a:t>
                      </a:r>
                    </a:p>
                  </a:txBody>
                  <a:tcPr marL="64008" marR="64008" marT="54864" marB="27432" anchor="t">
                    <a:lnL w="0">
                      <a:noFill/>
                    </a:lnL>
                    <a:lnR w="0">
                      <a:noFill/>
                    </a:lnR>
                    <a:lnT w="0">
                      <a:noFill/>
                    </a:lnT>
                    <a:lnB w="5080">
                      <a:solidFill>
                        <a:srgbClr val="B8B8B8"/>
                      </a:solidFill>
                    </a:lnB>
                    <a:solidFill>
                      <a:srgbClr val="FFFFFF"/>
                    </a:solidFill>
                  </a:tcPr>
                </a:tc>
                <a:tc>
                  <a:txBody>
                    <a:bodyPr/>
                    <a:lstStyle/>
                    <a:p>
                      <a:pPr>
                        <a:spcAft>
                          <a:spcPts val="100"/>
                        </a:spcAft>
                        <a:defRPr sz="950" b="0">
                          <a:solidFill>
                            <a:srgbClr val="11151A"/>
                          </a:solidFill>
                          <a:latin typeface="Lato"/>
                        </a:defRPr>
                      </a:pPr>
                      <a:r>
                        <a:t>80 / 90 / 113</a:t>
                      </a:r>
                    </a:p>
                    <a:p>
                      <a:pPr>
                        <a:spcAft>
                          <a:spcPts val="100"/>
                        </a:spcAft>
                        <a:defRPr sz="950" b="0">
                          <a:solidFill>
                            <a:srgbClr val="11151A"/>
                          </a:solidFill>
                          <a:latin typeface="Lato"/>
                        </a:defRPr>
                      </a:pPr>
                      <a:r>
                        <a:t>was 80 / 90 / 100</a:t>
                      </a:r>
                    </a:p>
                  </a:txBody>
                  <a:tcPr marL="64008" marR="64008" marT="54864" marB="27432" anchor="t">
                    <a:lnL w="0">
                      <a:noFill/>
                    </a:lnL>
                    <a:lnR w="0">
                      <a:noFill/>
                    </a:lnR>
                    <a:lnT w="0">
                      <a:noFill/>
                    </a:lnT>
                    <a:lnB w="5080">
                      <a:solidFill>
                        <a:srgbClr val="B8B8B8"/>
                      </a:solidFill>
                    </a:lnB>
                    <a:solidFill>
                      <a:srgbClr val="FFFFFF"/>
                    </a:solidFill>
                  </a:tcPr>
                </a:tc>
                <a:tc>
                  <a:txBody>
                    <a:bodyPr/>
                    <a:lstStyle/>
                    <a:p>
                      <a:pPr>
                        <a:spcAft>
                          <a:spcPts val="100"/>
                        </a:spcAft>
                        <a:defRPr sz="950" b="0">
                          <a:solidFill>
                            <a:srgbClr val="11151A"/>
                          </a:solidFill>
                          <a:latin typeface="Lato"/>
                        </a:defRPr>
                      </a:pPr>
                      <a:r>
                        <a:t>65 / 80 / 113</a:t>
                      </a:r>
                    </a:p>
                    <a:p>
                      <a:pPr>
                        <a:spcAft>
                          <a:spcPts val="100"/>
                        </a:spcAft>
                        <a:defRPr sz="950" b="0">
                          <a:solidFill>
                            <a:srgbClr val="11151A"/>
                          </a:solidFill>
                          <a:latin typeface="Lato"/>
                        </a:defRPr>
                      </a:pPr>
                      <a:r>
                        <a:t>was 65 / 80 / 100</a:t>
                      </a:r>
                    </a:p>
                  </a:txBody>
                  <a:tcPr marL="64008" marR="64008" marT="54864" marB="27432" anchor="t">
                    <a:lnL w="0">
                      <a:noFill/>
                    </a:lnL>
                    <a:lnR w="0">
                      <a:noFill/>
                    </a:lnR>
                    <a:lnT w="0">
                      <a:noFill/>
                    </a:lnT>
                    <a:lnB w="5080">
                      <a:solidFill>
                        <a:srgbClr val="B8B8B8"/>
                      </a:solidFill>
                    </a:lnB>
                    <a:solidFill>
                      <a:srgbClr val="FFFFFF"/>
                    </a:solidFill>
                  </a:tcPr>
                </a:tc>
                <a:tc>
                  <a:txBody>
                    <a:bodyPr/>
                    <a:lstStyle/>
                    <a:p>
                      <a:pPr>
                        <a:spcAft>
                          <a:spcPts val="100"/>
                        </a:spcAft>
                        <a:defRPr sz="950" b="0">
                          <a:solidFill>
                            <a:srgbClr val="11151A"/>
                          </a:solidFill>
                          <a:latin typeface="Lato"/>
                        </a:defRPr>
                      </a:pPr>
                      <a:r>
                        <a:t>Sales over movements: the 2013-2019 average was 4,608 litres (113). High case should allow a return to it.</a:t>
                      </a:r>
                    </a:p>
                  </a:txBody>
                  <a:tcPr marL="64008" marR="64008" marT="54864" marB="27432" anchor="t">
                    <a:lnL w="0">
                      <a:noFill/>
                    </a:lnL>
                    <a:lnR w="0">
                      <a:noFill/>
                    </a:lnR>
                    <a:lnT w="0">
                      <a:noFill/>
                    </a:lnT>
                    <a:lnB w="5080">
                      <a:solidFill>
                        <a:srgbClr val="B8B8B8"/>
                      </a:solidFill>
                    </a:lnB>
                    <a:solidFill>
                      <a:srgbClr val="FFFFFF"/>
                    </a:solidFill>
                  </a:tcPr>
                </a:tc>
              </a:tr>
              <a:tr h="600891">
                <a:tc>
                  <a:txBody>
                    <a:bodyPr/>
                    <a:lstStyle/>
                    <a:p>
                      <a:pPr>
                        <a:spcAft>
                          <a:spcPts val="100"/>
                        </a:spcAft>
                        <a:defRPr sz="950" b="1">
                          <a:solidFill>
                            <a:srgbClr val="0A2373"/>
                          </a:solidFill>
                          <a:latin typeface="Lato"/>
                        </a:defRPr>
                      </a:pPr>
                      <a:r>
                        <a:t>Sustainable fuel share</a:t>
                      </a:r>
                    </a:p>
                    <a:p>
                      <a:pPr>
                        <a:spcAft>
                          <a:spcPts val="100"/>
                        </a:spcAft>
                        <a:defRPr sz="950" b="1">
                          <a:solidFill>
                            <a:srgbClr val="0A2373"/>
                          </a:solidFill>
                          <a:latin typeface="Lato"/>
                        </a:defRPr>
                      </a:pPr>
                      <a:r>
                        <a:t>% of jet volume</a:t>
                      </a:r>
                    </a:p>
                  </a:txBody>
                  <a:tcPr marL="64008" marR="64008" marT="54864" marB="27432" anchor="t">
                    <a:lnL w="0">
                      <a:noFill/>
                    </a:lnL>
                    <a:lnR w="0">
                      <a:noFill/>
                    </a:lnR>
                    <a:lnT w="0">
                      <a:noFill/>
                    </a:lnT>
                    <a:lnB w="5080">
                      <a:solidFill>
                        <a:srgbClr val="B8B8B8"/>
                      </a:solidFill>
                    </a:lnB>
                    <a:solidFill>
                      <a:srgbClr val="FFFFFF"/>
                    </a:solidFill>
                  </a:tcPr>
                </a:tc>
                <a:tc>
                  <a:txBody>
                    <a:bodyPr/>
                    <a:lstStyle/>
                    <a:p>
                      <a:pPr>
                        <a:spcAft>
                          <a:spcPts val="100"/>
                        </a:spcAft>
                        <a:defRPr sz="950" b="0">
                          <a:solidFill>
                            <a:srgbClr val="11151A"/>
                          </a:solidFill>
                          <a:latin typeface="Lato"/>
                        </a:defRPr>
                      </a:pPr>
                      <a:r>
                        <a:t>0</a:t>
                      </a:r>
                    </a:p>
                    <a:p>
                      <a:pPr>
                        <a:spcAft>
                          <a:spcPts val="100"/>
                        </a:spcAft>
                        <a:defRPr sz="950" b="0">
                          <a:solidFill>
                            <a:srgbClr val="11151A"/>
                          </a:solidFill>
                          <a:latin typeface="Lato"/>
                        </a:defRPr>
                      </a:pPr>
                      <a:r>
                        <a:t>unsourced</a:t>
                      </a:r>
                    </a:p>
                  </a:txBody>
                  <a:tcPr marL="64008" marR="64008" marT="54864" marB="27432" anchor="t">
                    <a:lnL w="0">
                      <a:noFill/>
                    </a:lnL>
                    <a:lnR w="0">
                      <a:noFill/>
                    </a:lnR>
                    <a:lnT w="0">
                      <a:noFill/>
                    </a:lnT>
                    <a:lnB w="5080">
                      <a:solidFill>
                        <a:srgbClr val="B8B8B8"/>
                      </a:solidFill>
                    </a:lnB>
                    <a:solidFill>
                      <a:srgbClr val="FFFFFF"/>
                    </a:solidFill>
                  </a:tcPr>
                </a:tc>
                <a:tc>
                  <a:txBody>
                    <a:bodyPr/>
                    <a:lstStyle/>
                    <a:p>
                      <a:pPr>
                        <a:spcAft>
                          <a:spcPts val="100"/>
                        </a:spcAft>
                        <a:defRPr sz="950" b="0">
                          <a:solidFill>
                            <a:srgbClr val="11151A"/>
                          </a:solidFill>
                          <a:latin typeface="Lato"/>
                        </a:defRPr>
                      </a:pPr>
                      <a:r>
                        <a:t>0 / 2 / 5</a:t>
                      </a:r>
                    </a:p>
                  </a:txBody>
                  <a:tcPr marL="64008" marR="64008" marT="54864" marB="27432" anchor="t">
                    <a:lnL w="0">
                      <a:noFill/>
                    </a:lnL>
                    <a:lnR w="0">
                      <a:noFill/>
                    </a:lnR>
                    <a:lnT w="0">
                      <a:noFill/>
                    </a:lnT>
                    <a:lnB w="5080">
                      <a:solidFill>
                        <a:srgbClr val="B8B8B8"/>
                      </a:solidFill>
                    </a:lnB>
                    <a:solidFill>
                      <a:srgbClr val="FFFFFF"/>
                    </a:solidFill>
                  </a:tcPr>
                </a:tc>
                <a:tc>
                  <a:txBody>
                    <a:bodyPr/>
                    <a:lstStyle/>
                    <a:p>
                      <a:pPr>
                        <a:spcAft>
                          <a:spcPts val="100"/>
                        </a:spcAft>
                        <a:defRPr sz="950" b="0">
                          <a:solidFill>
                            <a:srgbClr val="11151A"/>
                          </a:solidFill>
                          <a:latin typeface="Lato"/>
                        </a:defRPr>
                      </a:pPr>
                      <a:r>
                        <a:t>0 / 5 / 10</a:t>
                      </a:r>
                    </a:p>
                  </a:txBody>
                  <a:tcPr marL="64008" marR="64008" marT="54864" marB="27432" anchor="t">
                    <a:lnL w="0">
                      <a:noFill/>
                    </a:lnL>
                    <a:lnR w="0">
                      <a:noFill/>
                    </a:lnR>
                    <a:lnT w="0">
                      <a:noFill/>
                    </a:lnT>
                    <a:lnB w="5080">
                      <a:solidFill>
                        <a:srgbClr val="B8B8B8"/>
                      </a:solidFill>
                    </a:lnB>
                    <a:solidFill>
                      <a:srgbClr val="FFFFFF"/>
                    </a:solidFill>
                  </a:tcPr>
                </a:tc>
                <a:tc>
                  <a:txBody>
                    <a:bodyPr/>
                    <a:lstStyle/>
                    <a:p>
                      <a:pPr>
                        <a:spcAft>
                          <a:spcPts val="100"/>
                        </a:spcAft>
                        <a:defRPr sz="950" b="0">
                          <a:solidFill>
                            <a:srgbClr val="11151A"/>
                          </a:solidFill>
                          <a:latin typeface="Lato"/>
                        </a:defRPr>
                      </a:pPr>
                      <a:r>
                        <a:t>No South African blend requirement sourced. Agreed as a sensitivity.</a:t>
                      </a:r>
                    </a:p>
                  </a:txBody>
                  <a:tcPr marL="64008" marR="64008" marT="54864" marB="27432" anchor="t">
                    <a:lnL w="0">
                      <a:noFill/>
                    </a:lnL>
                    <a:lnR w="0">
                      <a:noFill/>
                    </a:lnR>
                    <a:lnT w="0">
                      <a:noFill/>
                    </a:lnT>
                    <a:lnB w="5080">
                      <a:solidFill>
                        <a:srgbClr val="B8B8B8"/>
                      </a:solidFill>
                    </a:lnB>
                    <a:solidFill>
                      <a:srgbClr val="FFFFFF"/>
                    </a:solidFill>
                  </a:tcPr>
                </a:tc>
              </a:tr>
              <a:tr h="600891">
                <a:tc>
                  <a:txBody>
                    <a:bodyPr/>
                    <a:lstStyle/>
                    <a:p>
                      <a:pPr>
                        <a:spcAft>
                          <a:spcPts val="100"/>
                        </a:spcAft>
                        <a:defRPr sz="950" b="1">
                          <a:solidFill>
                            <a:srgbClr val="0A2373"/>
                          </a:solidFill>
                          <a:latin typeface="Lato"/>
                        </a:defRPr>
                      </a:pPr>
                      <a:r>
                        <a:t>Plant utilisation</a:t>
                      </a:r>
                    </a:p>
                    <a:p>
                      <a:pPr>
                        <a:spcAft>
                          <a:spcPts val="100"/>
                        </a:spcAft>
                        <a:defRPr sz="950" b="1">
                          <a:solidFill>
                            <a:srgbClr val="0A2373"/>
                          </a:solidFill>
                          <a:latin typeface="Lato"/>
                        </a:defRPr>
                      </a:pPr>
                      <a:r>
                        <a:t>% of capacity, all fuels</a:t>
                      </a:r>
                    </a:p>
                  </a:txBody>
                  <a:tcPr marL="64008" marR="64008" marT="54864" marB="27432" anchor="t">
                    <a:lnL w="0">
                      <a:noFill/>
                    </a:lnL>
                    <a:lnR w="0">
                      <a:noFill/>
                    </a:lnR>
                    <a:lnT w="0">
                      <a:noFill/>
                    </a:lnT>
                    <a:lnB w="5080">
                      <a:solidFill>
                        <a:srgbClr val="B8B8B8"/>
                      </a:solidFill>
                    </a:lnB>
                    <a:solidFill>
                      <a:srgbClr val="FFFFFF"/>
                    </a:solidFill>
                  </a:tcPr>
                </a:tc>
                <a:tc>
                  <a:txBody>
                    <a:bodyPr/>
                    <a:lstStyle/>
                    <a:p>
                      <a:pPr>
                        <a:spcAft>
                          <a:spcPts val="100"/>
                        </a:spcAft>
                        <a:defRPr sz="950" b="0">
                          <a:solidFill>
                            <a:srgbClr val="11151A"/>
                          </a:solidFill>
                          <a:latin typeface="Lato"/>
                        </a:defRPr>
                      </a:pPr>
                      <a:r>
                        <a:t>67</a:t>
                      </a:r>
                    </a:p>
                    <a:p>
                      <a:pPr>
                        <a:spcAft>
                          <a:spcPts val="100"/>
                        </a:spcAft>
                        <a:defRPr sz="950" b="0">
                          <a:solidFill>
                            <a:srgbClr val="11151A"/>
                          </a:solidFill>
                          <a:latin typeface="Lato"/>
                        </a:defRPr>
                      </a:pPr>
                      <a:r>
                        <a:t>indicative, 2024</a:t>
                      </a:r>
                    </a:p>
                  </a:txBody>
                  <a:tcPr marL="64008" marR="64008" marT="54864" marB="27432" anchor="t">
                    <a:lnL w="0">
                      <a:noFill/>
                    </a:lnL>
                    <a:lnR w="0">
                      <a:noFill/>
                    </a:lnR>
                    <a:lnT w="0">
                      <a:noFill/>
                    </a:lnT>
                    <a:lnB w="5080">
                      <a:solidFill>
                        <a:srgbClr val="B8B8B8"/>
                      </a:solidFill>
                    </a:lnB>
                    <a:solidFill>
                      <a:srgbClr val="FFFFFF"/>
                    </a:solidFill>
                  </a:tcPr>
                </a:tc>
                <a:tc>
                  <a:txBody>
                    <a:bodyPr/>
                    <a:lstStyle/>
                    <a:p>
                      <a:pPr>
                        <a:spcAft>
                          <a:spcPts val="100"/>
                        </a:spcAft>
                        <a:defRPr sz="950" b="0">
                          <a:solidFill>
                            <a:srgbClr val="11151A"/>
                          </a:solidFill>
                          <a:latin typeface="Lato"/>
                        </a:defRPr>
                      </a:pPr>
                      <a:r>
                        <a:t>60 / 75 / 90</a:t>
                      </a:r>
                    </a:p>
                  </a:txBody>
                  <a:tcPr marL="64008" marR="64008" marT="54864" marB="27432" anchor="t">
                    <a:lnL w="0">
                      <a:noFill/>
                    </a:lnL>
                    <a:lnR w="0">
                      <a:noFill/>
                    </a:lnR>
                    <a:lnT w="0">
                      <a:noFill/>
                    </a:lnT>
                    <a:lnB w="5080">
                      <a:solidFill>
                        <a:srgbClr val="B8B8B8"/>
                      </a:solidFill>
                    </a:lnB>
                    <a:solidFill>
                      <a:srgbClr val="FFFFFF"/>
                    </a:solidFill>
                  </a:tcPr>
                </a:tc>
                <a:tc>
                  <a:txBody>
                    <a:bodyPr/>
                    <a:lstStyle/>
                    <a:p>
                      <a:pPr>
                        <a:spcAft>
                          <a:spcPts val="100"/>
                        </a:spcAft>
                        <a:defRPr sz="950" b="0">
                          <a:solidFill>
                            <a:srgbClr val="11151A"/>
                          </a:solidFill>
                          <a:latin typeface="Lato"/>
                        </a:defRPr>
                      </a:pPr>
                      <a:r>
                        <a:t>60 / 75 / 90</a:t>
                      </a:r>
                    </a:p>
                  </a:txBody>
                  <a:tcPr marL="64008" marR="64008" marT="54864" marB="27432" anchor="t">
                    <a:lnL w="0">
                      <a:noFill/>
                    </a:lnL>
                    <a:lnR w="0">
                      <a:noFill/>
                    </a:lnR>
                    <a:lnT w="0">
                      <a:noFill/>
                    </a:lnT>
                    <a:lnB w="5080">
                      <a:solidFill>
                        <a:srgbClr val="B8B8B8"/>
                      </a:solidFill>
                    </a:lnB>
                    <a:solidFill>
                      <a:srgbClr val="FFFFFF"/>
                    </a:solidFill>
                  </a:tcPr>
                </a:tc>
                <a:tc>
                  <a:txBody>
                    <a:bodyPr/>
                    <a:lstStyle/>
                    <a:p>
                      <a:pPr>
                        <a:spcAft>
                          <a:spcPts val="100"/>
                        </a:spcAft>
                        <a:defRPr sz="950" b="0">
                          <a:solidFill>
                            <a:srgbClr val="11151A"/>
                          </a:solidFill>
                          <a:latin typeface="Lato"/>
                        </a:defRPr>
                      </a:pPr>
                      <a:r>
                        <a:t>Same setting as diesel and petrol; count once.</a:t>
                      </a:r>
                    </a:p>
                  </a:txBody>
                  <a:tcPr marL="64008" marR="64008" marT="54864" marB="27432" anchor="t">
                    <a:lnL w="0">
                      <a:noFill/>
                    </a:lnL>
                    <a:lnR w="0">
                      <a:noFill/>
                    </a:lnR>
                    <a:lnT w="0">
                      <a:noFill/>
                    </a:lnT>
                    <a:lnB w="5080">
                      <a:solidFill>
                        <a:srgbClr val="B8B8B8"/>
                      </a:solidFill>
                    </a:lnB>
                    <a:solidFill>
                      <a:srgbClr val="FFFFFF"/>
                    </a:solidFill>
                  </a:tcPr>
                </a:tc>
              </a:tr>
              <a:tr h="600891">
                <a:tc>
                  <a:txBody>
                    <a:bodyPr/>
                    <a:lstStyle/>
                    <a:p>
                      <a:pPr>
                        <a:spcAft>
                          <a:spcPts val="100"/>
                        </a:spcAft>
                        <a:defRPr sz="950" b="1">
                          <a:solidFill>
                            <a:srgbClr val="0A2373"/>
                          </a:solidFill>
                          <a:latin typeface="Lato"/>
                        </a:defRPr>
                      </a:pPr>
                      <a:r>
                        <a:t>Jet yield</a:t>
                      </a:r>
                    </a:p>
                    <a:p>
                      <a:pPr>
                        <a:spcAft>
                          <a:spcPts val="100"/>
                        </a:spcAft>
                        <a:defRPr sz="950" b="1">
                          <a:solidFill>
                            <a:srgbClr val="0A2373"/>
                          </a:solidFill>
                          <a:latin typeface="Lato"/>
                        </a:defRPr>
                      </a:pPr>
                      <a:r>
                        <a:t>% of capable throughput</a:t>
                      </a:r>
                    </a:p>
                  </a:txBody>
                  <a:tcPr marL="64008" marR="64008" marT="54864" marB="27432" anchor="t">
                    <a:lnL w="0">
                      <a:noFill/>
                    </a:lnL>
                    <a:lnR w="0">
                      <a:noFill/>
                    </a:lnR>
                    <a:lnT w="0">
                      <a:noFill/>
                    </a:lnT>
                    <a:lnB w="5080">
                      <a:solidFill>
                        <a:srgbClr val="B8B8B8"/>
                      </a:solidFill>
                    </a:lnB>
                    <a:solidFill>
                      <a:srgbClr val="FFFFFF"/>
                    </a:solidFill>
                  </a:tcPr>
                </a:tc>
                <a:tc>
                  <a:txBody>
                    <a:bodyPr/>
                    <a:lstStyle/>
                    <a:p>
                      <a:pPr>
                        <a:spcAft>
                          <a:spcPts val="100"/>
                        </a:spcAft>
                        <a:defRPr sz="950" b="0">
                          <a:solidFill>
                            <a:srgbClr val="11151A"/>
                          </a:solidFill>
                          <a:latin typeface="Lato"/>
                        </a:defRPr>
                      </a:pPr>
                      <a:r>
                        <a:t>10</a:t>
                      </a:r>
                    </a:p>
                    <a:p>
                      <a:pPr>
                        <a:spcAft>
                          <a:spcPts val="100"/>
                        </a:spcAft>
                        <a:defRPr sz="950" b="0">
                          <a:solidFill>
                            <a:srgbClr val="11151A"/>
                          </a:solidFill>
                          <a:latin typeface="Lato"/>
                        </a:defRPr>
                      </a:pPr>
                      <a:r>
                        <a:t>legacy</a:t>
                      </a:r>
                    </a:p>
                  </a:txBody>
                  <a:tcPr marL="64008" marR="64008" marT="54864" marB="27432" anchor="t">
                    <a:lnL w="0">
                      <a:noFill/>
                    </a:lnL>
                    <a:lnR w="0">
                      <a:noFill/>
                    </a:lnR>
                    <a:lnT w="0">
                      <a:noFill/>
                    </a:lnT>
                    <a:lnB w="5080">
                      <a:solidFill>
                        <a:srgbClr val="B8B8B8"/>
                      </a:solidFill>
                    </a:lnB>
                    <a:solidFill>
                      <a:srgbClr val="FFFFFF"/>
                    </a:solidFill>
                  </a:tcPr>
                </a:tc>
                <a:tc>
                  <a:txBody>
                    <a:bodyPr/>
                    <a:lstStyle/>
                    <a:p>
                      <a:pPr>
                        <a:spcAft>
                          <a:spcPts val="100"/>
                        </a:spcAft>
                        <a:defRPr sz="950" b="0">
                          <a:solidFill>
                            <a:srgbClr val="11151A"/>
                          </a:solidFill>
                          <a:latin typeface="Lato"/>
                        </a:defRPr>
                      </a:pPr>
                      <a:r>
                        <a:t>5 / 10 / 15</a:t>
                      </a:r>
                    </a:p>
                  </a:txBody>
                  <a:tcPr marL="64008" marR="64008" marT="54864" marB="27432" anchor="t">
                    <a:lnL w="0">
                      <a:noFill/>
                    </a:lnL>
                    <a:lnR w="0">
                      <a:noFill/>
                    </a:lnR>
                    <a:lnT w="0">
                      <a:noFill/>
                    </a:lnT>
                    <a:lnB w="5080">
                      <a:solidFill>
                        <a:srgbClr val="B8B8B8"/>
                      </a:solidFill>
                    </a:lnB>
                    <a:solidFill>
                      <a:srgbClr val="FFFFFF"/>
                    </a:solidFill>
                  </a:tcPr>
                </a:tc>
                <a:tc>
                  <a:txBody>
                    <a:bodyPr/>
                    <a:lstStyle/>
                    <a:p>
                      <a:pPr>
                        <a:spcAft>
                          <a:spcPts val="100"/>
                        </a:spcAft>
                        <a:defRPr sz="950" b="0">
                          <a:solidFill>
                            <a:srgbClr val="11151A"/>
                          </a:solidFill>
                          <a:latin typeface="Lato"/>
                        </a:defRPr>
                      </a:pPr>
                      <a:r>
                        <a:t>5 / 10 / 15</a:t>
                      </a:r>
                    </a:p>
                  </a:txBody>
                  <a:tcPr marL="64008" marR="64008" marT="54864" marB="27432" anchor="t">
                    <a:lnL w="0">
                      <a:noFill/>
                    </a:lnL>
                    <a:lnR w="0">
                      <a:noFill/>
                    </a:lnR>
                    <a:lnT w="0">
                      <a:noFill/>
                    </a:lnT>
                    <a:lnB w="5080">
                      <a:solidFill>
                        <a:srgbClr val="B8B8B8"/>
                      </a:solidFill>
                    </a:lnB>
                    <a:solidFill>
                      <a:srgbClr val="FFFFFF"/>
                    </a:solidFill>
                  </a:tcPr>
                </a:tc>
                <a:tc>
                  <a:txBody>
                    <a:bodyPr/>
                    <a:lstStyle/>
                    <a:p>
                      <a:pPr>
                        <a:spcAft>
                          <a:spcPts val="100"/>
                        </a:spcAft>
                        <a:defRPr sz="950" b="0">
                          <a:solidFill>
                            <a:srgbClr val="11151A"/>
                          </a:solidFill>
                          <a:latin typeface="Lato"/>
                        </a:defRPr>
                      </a:pPr>
                      <a:r>
                        <a:t>Jet was 5-8% of the five fuels produced, 2017-2021 energy balances. Agreed.</a:t>
                      </a:r>
                    </a:p>
                  </a:txBody>
                  <a:tcPr marL="64008" marR="64008" marT="54864" marB="27432" anchor="t">
                    <a:lnL w="0">
                      <a:noFill/>
                    </a:lnL>
                    <a:lnR w="0">
                      <a:noFill/>
                    </a:lnR>
                    <a:lnT w="0">
                      <a:noFill/>
                    </a:lnT>
                    <a:lnB w="5080">
                      <a:solidFill>
                        <a:srgbClr val="B8B8B8"/>
                      </a:solidFill>
                    </a:lnB>
                    <a:solidFill>
                      <a:srgbClr val="FFFFFF"/>
                    </a:solidFill>
                  </a:tcPr>
                </a:tc>
              </a:tr>
              <a:tr h="600894">
                <a:tc>
                  <a:txBody>
                    <a:bodyPr/>
                    <a:lstStyle/>
                    <a:p>
                      <a:pPr>
                        <a:spcAft>
                          <a:spcPts val="100"/>
                        </a:spcAft>
                        <a:defRPr sz="950" b="1">
                          <a:solidFill>
                            <a:srgbClr val="0A2373"/>
                          </a:solidFill>
                          <a:latin typeface="Lato"/>
                        </a:defRPr>
                      </a:pPr>
                      <a:r>
                        <a:t>Added refining capacity</a:t>
                      </a:r>
                    </a:p>
                    <a:p>
                      <a:pPr>
                        <a:spcAft>
                          <a:spcPts val="100"/>
                        </a:spcAft>
                        <a:defRPr sz="950" b="1">
                          <a:solidFill>
                            <a:srgbClr val="0A2373"/>
                          </a:solidFill>
                          <a:latin typeface="Lato"/>
                        </a:defRPr>
                      </a:pPr>
                      <a:r>
                        <a:t>thousand barrels a day</a:t>
                      </a:r>
                    </a:p>
                  </a:txBody>
                  <a:tcPr marL="64008" marR="64008" marT="54864" marB="27432" anchor="t">
                    <a:lnL w="0">
                      <a:noFill/>
                    </a:lnL>
                    <a:lnR w="0">
                      <a:noFill/>
                    </a:lnR>
                    <a:lnT w="0">
                      <a:noFill/>
                    </a:lnT>
                    <a:lnB w="5080">
                      <a:solidFill>
                        <a:srgbClr val="B8B8B8"/>
                      </a:solidFill>
                    </a:lnB>
                    <a:solidFill>
                      <a:srgbClr val="FFFFFF"/>
                    </a:solidFill>
                  </a:tcPr>
                </a:tc>
                <a:tc>
                  <a:txBody>
                    <a:bodyPr/>
                    <a:lstStyle/>
                    <a:p>
                      <a:pPr>
                        <a:spcAft>
                          <a:spcPts val="100"/>
                        </a:spcAft>
                        <a:defRPr sz="950" b="0">
                          <a:solidFill>
                            <a:srgbClr val="11151A"/>
                          </a:solidFill>
                          <a:latin typeface="Lato"/>
                        </a:defRPr>
                      </a:pPr>
                      <a:r>
                        <a:t>0</a:t>
                      </a:r>
                    </a:p>
                  </a:txBody>
                  <a:tcPr marL="64008" marR="64008" marT="54864" marB="27432" anchor="t">
                    <a:lnL w="0">
                      <a:noFill/>
                    </a:lnL>
                    <a:lnR w="0">
                      <a:noFill/>
                    </a:lnR>
                    <a:lnT w="0">
                      <a:noFill/>
                    </a:lnT>
                    <a:lnB w="5080">
                      <a:solidFill>
                        <a:srgbClr val="B8B8B8"/>
                      </a:solidFill>
                    </a:lnB>
                    <a:solidFill>
                      <a:srgbClr val="FFFFFF"/>
                    </a:solidFill>
                  </a:tcPr>
                </a:tc>
                <a:tc>
                  <a:txBody>
                    <a:bodyPr/>
                    <a:lstStyle/>
                    <a:p>
                      <a:pPr>
                        <a:spcAft>
                          <a:spcPts val="100"/>
                        </a:spcAft>
                        <a:defRPr sz="950" b="0">
                          <a:solidFill>
                            <a:srgbClr val="11151A"/>
                          </a:solidFill>
                          <a:latin typeface="Lato"/>
                        </a:defRPr>
                      </a:pPr>
                      <a:r>
                        <a:t>0 / 0 / 0</a:t>
                      </a:r>
                    </a:p>
                  </a:txBody>
                  <a:tcPr marL="64008" marR="64008" marT="54864" marB="27432" anchor="t">
                    <a:lnL w="0">
                      <a:noFill/>
                    </a:lnL>
                    <a:lnR w="0">
                      <a:noFill/>
                    </a:lnR>
                    <a:lnT w="0">
                      <a:noFill/>
                    </a:lnT>
                    <a:lnB w="5080">
                      <a:solidFill>
                        <a:srgbClr val="B8B8B8"/>
                      </a:solidFill>
                    </a:lnB>
                    <a:solidFill>
                      <a:srgbClr val="FFFFFF"/>
                    </a:solidFill>
                  </a:tcPr>
                </a:tc>
                <a:tc>
                  <a:txBody>
                    <a:bodyPr/>
                    <a:lstStyle/>
                    <a:p>
                      <a:pPr>
                        <a:spcAft>
                          <a:spcPts val="100"/>
                        </a:spcAft>
                        <a:defRPr sz="950" b="0">
                          <a:solidFill>
                            <a:srgbClr val="11151A"/>
                          </a:solidFill>
                          <a:latin typeface="Lato"/>
                        </a:defRPr>
                      </a:pPr>
                      <a:r>
                        <a:t>0 / 0 / 400</a:t>
                      </a:r>
                    </a:p>
                  </a:txBody>
                  <a:tcPr marL="64008" marR="64008" marT="54864" marB="27432" anchor="t">
                    <a:lnL w="0">
                      <a:noFill/>
                    </a:lnL>
                    <a:lnR w="0">
                      <a:noFill/>
                    </a:lnR>
                    <a:lnT w="0">
                      <a:noFill/>
                    </a:lnT>
                    <a:lnB w="5080">
                      <a:solidFill>
                        <a:srgbClr val="B8B8B8"/>
                      </a:solidFill>
                    </a:lnB>
                    <a:solidFill>
                      <a:srgbClr val="FFFFFF"/>
                    </a:solidFill>
                  </a:tcPr>
                </a:tc>
                <a:tc>
                  <a:txBody>
                    <a:bodyPr/>
                    <a:lstStyle/>
                    <a:p>
                      <a:pPr>
                        <a:spcAft>
                          <a:spcPts val="100"/>
                        </a:spcAft>
                        <a:defRPr sz="950" b="0">
                          <a:solidFill>
                            <a:srgbClr val="11151A"/>
                          </a:solidFill>
                          <a:latin typeface="Lato"/>
                        </a:defRPr>
                      </a:pPr>
                      <a:r>
                        <a:t>Jet capability of any restart is not established.</a:t>
                      </a:r>
                    </a:p>
                  </a:txBody>
                  <a:tcPr marL="64008" marR="64008" marT="54864" marB="27432" anchor="t">
                    <a:lnL w="0">
                      <a:noFill/>
                    </a:lnL>
                    <a:lnR w="0">
                      <a:noFill/>
                    </a:lnR>
                    <a:lnT w="0">
                      <a:noFill/>
                    </a:lnT>
                    <a:lnB w="5080">
                      <a:solidFill>
                        <a:srgbClr val="B8B8B8"/>
                      </a:solidFill>
                    </a:lnB>
                    <a:solidFill>
                      <a:srgbClr val="FFFFFF"/>
                    </a:solidFill>
                  </a:tcPr>
                </a:tc>
              </a:tr>
            </a:tbl>
          </a:graphicData>
        </a:graphic>
      </p:graphicFrame>
      <p:sp>
        <p:nvSpPr>
          <p:cNvPr id="8" name="Chevron 7">
            <a:hlinkClick action="ppaction://hlinksldjump" r:id="rId2"/>
          </p:cNvPr>
          <p:cNvSpPr/>
          <p:nvPr/>
        </p:nvSpPr>
        <p:spPr>
          <a:xfrm>
            <a:off x="457200" y="73152"/>
            <a:ext cx="2075688" cy="384048"/>
          </a:xfrm>
          <a:prstGeom prst="chevron">
            <a:avLst>
              <a:gd name="adj" fmla="val 12000"/>
            </a:avLst>
          </a:pr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tIns="0" bIns="0"/>
          <a:lstStyle/>
          <a:p>
            <a:pPr algn="ctr">
              <a:defRPr sz="1100" b="0">
                <a:solidFill>
                  <a:srgbClr val="0A2373"/>
                </a:solidFill>
                <a:latin typeface="Lato"/>
              </a:defRPr>
            </a:pPr>
            <a:r>
              <a:t>1  National balance</a:t>
            </a:r>
          </a:p>
        </p:txBody>
      </p:sp>
      <p:sp>
        <p:nvSpPr>
          <p:cNvPr id="9" name="Chevron 8">
            <a:hlinkClick action="ppaction://hlinksldjump" r:id="rId3"/>
          </p:cNvPr>
          <p:cNvSpPr/>
          <p:nvPr/>
        </p:nvSpPr>
        <p:spPr>
          <a:xfrm>
            <a:off x="2587752" y="73152"/>
            <a:ext cx="2075688" cy="384048"/>
          </a:xfrm>
          <a:prstGeom prst="chevron">
            <a:avLst>
              <a:gd name="adj" fmla="val 12000"/>
            </a:avLst>
          </a:pr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tIns="0" bIns="0"/>
          <a:lstStyle/>
          <a:p>
            <a:pPr algn="ctr">
              <a:defRPr sz="1100" b="1">
                <a:solidFill>
                  <a:srgbClr val="FFFFFF"/>
                </a:solidFill>
                <a:latin typeface="Lato"/>
              </a:defRPr>
            </a:pPr>
            <a:r>
              <a:t>2  Forecast levers</a:t>
            </a:r>
          </a:p>
        </p:txBody>
      </p:sp>
      <p:sp>
        <p:nvSpPr>
          <p:cNvPr id="10" name="Chevron 9">
            <a:hlinkClick action="ppaction://hlinksldjump" r:id="rId4"/>
          </p:cNvPr>
          <p:cNvSpPr/>
          <p:nvPr/>
        </p:nvSpPr>
        <p:spPr>
          <a:xfrm>
            <a:off x="4718304" y="73152"/>
            <a:ext cx="2075688" cy="384048"/>
          </a:xfrm>
          <a:prstGeom prst="chevron">
            <a:avLst>
              <a:gd name="adj" fmla="val 12000"/>
            </a:avLst>
          </a:pr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tIns="0" bIns="0"/>
          <a:lstStyle/>
          <a:p>
            <a:pPr algn="ctr">
              <a:defRPr sz="1100" b="0">
                <a:solidFill>
                  <a:srgbClr val="0A2373"/>
                </a:solidFill>
                <a:latin typeface="Lato"/>
              </a:defRPr>
            </a:pPr>
            <a:r>
              <a:t>3  Sector baselines</a:t>
            </a:r>
          </a:p>
        </p:txBody>
      </p:sp>
      <p:sp>
        <p:nvSpPr>
          <p:cNvPr id="11" name="Chevron 10">
            <a:hlinkClick action="ppaction://hlinksldjump" r:id="rId5"/>
          </p:cNvPr>
          <p:cNvSpPr/>
          <p:nvPr/>
        </p:nvSpPr>
        <p:spPr>
          <a:xfrm>
            <a:off x="6848856" y="73152"/>
            <a:ext cx="2075688" cy="384048"/>
          </a:xfrm>
          <a:prstGeom prst="chevron">
            <a:avLst>
              <a:gd name="adj" fmla="val 12000"/>
            </a:avLst>
          </a:pr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tIns="0" bIns="0"/>
          <a:lstStyle/>
          <a:p>
            <a:pPr algn="ctr">
              <a:defRPr sz="1100" b="0">
                <a:solidFill>
                  <a:srgbClr val="0A2373"/>
                </a:solidFill>
                <a:latin typeface="Lato"/>
              </a:defRPr>
            </a:pPr>
            <a:r>
              <a:t>4  Tank handling</a:t>
            </a:r>
          </a:p>
        </p:txBody>
      </p:sp>
      <p:sp>
        <p:nvSpPr>
          <p:cNvPr id="12" name="Chevron 11">
            <a:hlinkClick action="ppaction://hlinksldjump" r:id="rId6"/>
          </p:cNvPr>
          <p:cNvSpPr/>
          <p:nvPr/>
        </p:nvSpPr>
        <p:spPr>
          <a:xfrm>
            <a:off x="8979408" y="73152"/>
            <a:ext cx="2075688" cy="384048"/>
          </a:xfrm>
          <a:prstGeom prst="chevron">
            <a:avLst>
              <a:gd name="adj" fmla="val 12000"/>
            </a:avLst>
          </a:pr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tIns="0" bIns="0"/>
          <a:lstStyle/>
          <a:p>
            <a:pPr algn="ctr">
              <a:defRPr sz="1100" b="0">
                <a:solidFill>
                  <a:srgbClr val="0A2373"/>
                </a:solidFill>
                <a:latin typeface="Lato"/>
              </a:defRPr>
            </a:pPr>
            <a:r>
              <a:t>5  Hand-back</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Petrol: mileage and growth sit above the evidence; electric cases now follow named markets</a:t>
            </a:r>
          </a:p>
        </p:txBody>
      </p:sp>
      <p:sp>
        <p:nvSpPr>
          <p:cNvPr id="3" name="TextBox 2"/>
          <p:cNvSpPr txBox="1"/>
          <p:nvPr/>
        </p:nvSpPr>
        <p:spPr>
          <a:xfrm>
            <a:off x="457200" y="1627632"/>
            <a:ext cx="10652760" cy="274320"/>
          </a:xfrm>
          <a:prstGeom prst="rect">
            <a:avLst/>
          </a:prstGeom>
          <a:noFill/>
        </p:spPr>
        <p:txBody>
          <a:bodyPr wrap="square" lIns="22860" rIns="22860" tIns="0" bIns="0">
            <a:spAutoFit/>
          </a:bodyPr>
          <a:lstStyle/>
          <a:p>
            <a:pPr>
              <a:spcAft>
                <a:spcPts val="300"/>
              </a:spcAft>
              <a:defRPr sz="1300" b="1">
                <a:solidFill>
                  <a:srgbClr val="11151A"/>
                </a:solidFill>
                <a:latin typeface="Lato"/>
              </a:defRPr>
            </a:pPr>
            <a:r>
              <a:t>Petrol inputs | low / medium / high for 2030 and 2035 | 22 of 42 values have a proposed replacement</a:t>
            </a:r>
          </a:p>
        </p:txBody>
      </p:sp>
      <p:cxnSp>
        <p:nvCxnSpPr>
          <p:cNvPr id="4" name="Connector 3"/>
          <p:cNvCxnSpPr/>
          <p:nvPr/>
        </p:nvCxnSpPr>
        <p:spPr>
          <a:xfrm>
            <a:off x="457200" y="1920240"/>
            <a:ext cx="10652760" cy="0"/>
          </a:xfrm>
          <a:prstGeom prst="line">
            <a:avLst/>
          </a:prstGeom>
          <a:ln w="7620">
            <a:solidFill>
              <a:srgbClr val="A0A0A0"/>
            </a:solidFill>
          </a:ln>
        </p:spPr>
        <p:style>
          <a:lnRef idx="2">
            <a:schemeClr val="accent1"/>
          </a:lnRef>
          <a:fillRef idx="0">
            <a:schemeClr val="accent1"/>
          </a:fillRef>
          <a:effectRef idx="1">
            <a:schemeClr val="accent1"/>
          </a:effectRef>
          <a:fontRef idx="minor">
            <a:schemeClr val="tx1"/>
          </a:fontRef>
        </p:style>
      </p:cxnSp>
      <p:sp>
        <p:nvSpPr>
          <p:cNvPr id="5" name="TextBox 4"/>
          <p:cNvSpPr txBox="1"/>
          <p:nvPr/>
        </p:nvSpPr>
        <p:spPr>
          <a:xfrm>
            <a:off x="457200" y="6547104"/>
            <a:ext cx="9692640" cy="182880"/>
          </a:xfrm>
          <a:prstGeom prst="rect">
            <a:avLst/>
          </a:prstGeom>
          <a:noFill/>
        </p:spPr>
        <p:txBody>
          <a:bodyPr wrap="square" lIns="22860" rIns="22860" tIns="0" bIns="0">
            <a:spAutoFit/>
          </a:bodyPr>
          <a:lstStyle/>
          <a:p>
            <a:pPr>
              <a:spcAft>
                <a:spcPts val="300"/>
              </a:spcAft>
              <a:defRPr sz="800" b="0">
                <a:solidFill>
                  <a:srgbClr val="11151A"/>
                </a:solidFill>
                <a:latin typeface="Lato"/>
              </a:defRPr>
            </a:pPr>
            <a:r>
              <a:t>Source: fuel_lever_response_2026-10-07.md on manish-branch; Nigel's proposed inputs of 7 October are not edited. Replacements are the analyst's proposals, pending review.</a:t>
            </a:r>
          </a:p>
        </p:txBody>
      </p:sp>
      <p:sp>
        <p:nvSpPr>
          <p:cNvPr id="6" name="TextBox 5"/>
          <p:cNvSpPr txBox="1"/>
          <p:nvPr/>
        </p:nvSpPr>
        <p:spPr>
          <a:xfrm>
            <a:off x="457200" y="6711696"/>
            <a:ext cx="2011680" cy="128016"/>
          </a:xfrm>
          <a:prstGeom prst="rect">
            <a:avLst/>
          </a:prstGeom>
          <a:noFill/>
        </p:spPr>
        <p:txBody>
          <a:bodyPr wrap="square" lIns="22860" rIns="22860" tIns="0" bIns="0">
            <a:spAutoFit/>
          </a:bodyPr>
          <a:lstStyle/>
          <a:p>
            <a:pPr>
              <a:spcAft>
                <a:spcPts val="300"/>
              </a:spcAft>
              <a:defRPr sz="700" b="0">
                <a:solidFill>
                  <a:srgbClr val="11151A"/>
                </a:solidFill>
                <a:latin typeface="Lato"/>
              </a:defRPr>
            </a:pPr>
            <a:r>
              <a:t>Strictly Confidential</a:t>
            </a:r>
          </a:p>
        </p:txBody>
      </p:sp>
      <p:graphicFrame>
        <p:nvGraphicFramePr>
          <p:cNvPr id="7" name="Table 6"/>
          <p:cNvGraphicFramePr>
            <a:graphicFrameLocks noGrp="1"/>
          </p:cNvGraphicFramePr>
          <p:nvPr/>
        </p:nvGraphicFramePr>
        <p:xfrm>
          <a:off x="457200" y="2011680"/>
          <a:ext cx="10652760" cy="4206240"/>
        </p:xfrm>
        <a:graphic>
          <a:graphicData uri="http://schemas.openxmlformats.org/drawingml/2006/table">
            <a:tbl>
              <a:tblPr firstRow="0" bandRow="0"/>
              <a:tblGrid>
                <a:gridCol w="2148840"/>
                <a:gridCol w="1463040"/>
                <a:gridCol w="1600200"/>
                <a:gridCol w="1600200"/>
                <a:gridCol w="3840480"/>
              </a:tblGrid>
              <a:tr h="525780">
                <a:tc>
                  <a:txBody>
                    <a:bodyPr/>
                    <a:lstStyle/>
                    <a:p>
                      <a:pPr>
                        <a:spcAft>
                          <a:spcPts val="100"/>
                        </a:spcAft>
                        <a:defRPr sz="950" b="1">
                          <a:solidFill>
                            <a:srgbClr val="0A2373"/>
                          </a:solidFill>
                          <a:latin typeface="Lato"/>
                        </a:defRPr>
                      </a:pPr>
                      <a:r>
                        <a:t>Lever and unit</a:t>
                      </a:r>
                    </a:p>
                  </a:txBody>
                  <a:tcPr marL="64008" marR="64008" marT="54864" marB="27432" anchor="t">
                    <a:lnL w="0">
                      <a:noFill/>
                    </a:lnL>
                    <a:lnR w="0">
                      <a:noFill/>
                    </a:lnR>
                    <a:lnT w="0">
                      <a:noFill/>
                    </a:lnT>
                    <a:lnB w="5080">
                      <a:solidFill>
                        <a:srgbClr val="B8B8B8"/>
                      </a:solidFill>
                    </a:lnB>
                    <a:solidFill>
                      <a:srgbClr val="FFFFFF"/>
                    </a:solidFill>
                  </a:tcPr>
                </a:tc>
                <a:tc>
                  <a:txBody>
                    <a:bodyPr/>
                    <a:lstStyle/>
                    <a:p>
                      <a:pPr>
                        <a:spcAft>
                          <a:spcPts val="100"/>
                        </a:spcAft>
                        <a:defRPr sz="950" b="1">
                          <a:solidFill>
                            <a:srgbClr val="11151A"/>
                          </a:solidFill>
                          <a:latin typeface="Lato"/>
                        </a:defRPr>
                      </a:pPr>
                      <a:r>
                        <a:t>Baseline</a:t>
                      </a:r>
                    </a:p>
                  </a:txBody>
                  <a:tcPr marL="64008" marR="64008" marT="54864" marB="27432" anchor="t">
                    <a:lnL w="0">
                      <a:noFill/>
                    </a:lnL>
                    <a:lnR w="0">
                      <a:noFill/>
                    </a:lnR>
                    <a:lnT w="0">
                      <a:noFill/>
                    </a:lnT>
                    <a:lnB w="5080">
                      <a:solidFill>
                        <a:srgbClr val="B8B8B8"/>
                      </a:solidFill>
                    </a:lnB>
                    <a:solidFill>
                      <a:srgbClr val="FFFFFF"/>
                    </a:solidFill>
                  </a:tcPr>
                </a:tc>
                <a:tc>
                  <a:txBody>
                    <a:bodyPr/>
                    <a:lstStyle/>
                    <a:p>
                      <a:pPr>
                        <a:spcAft>
                          <a:spcPts val="100"/>
                        </a:spcAft>
                        <a:defRPr sz="950" b="1">
                          <a:solidFill>
                            <a:srgbClr val="11151A"/>
                          </a:solidFill>
                          <a:latin typeface="Lato"/>
                        </a:defRPr>
                      </a:pPr>
                      <a:r>
                        <a:t>2030</a:t>
                      </a:r>
                    </a:p>
                    <a:p>
                      <a:pPr>
                        <a:spcAft>
                          <a:spcPts val="100"/>
                        </a:spcAft>
                        <a:defRPr sz="950" b="1">
                          <a:solidFill>
                            <a:srgbClr val="11151A"/>
                          </a:solidFill>
                          <a:latin typeface="Lato"/>
                        </a:defRPr>
                      </a:pPr>
                      <a:r>
                        <a:t>low / medium / high</a:t>
                      </a:r>
                    </a:p>
                  </a:txBody>
                  <a:tcPr marL="64008" marR="64008" marT="54864" marB="27432" anchor="t">
                    <a:lnL w="0">
                      <a:noFill/>
                    </a:lnL>
                    <a:lnR w="0">
                      <a:noFill/>
                    </a:lnR>
                    <a:lnT w="0">
                      <a:noFill/>
                    </a:lnT>
                    <a:lnB w="5080">
                      <a:solidFill>
                        <a:srgbClr val="B8B8B8"/>
                      </a:solidFill>
                    </a:lnB>
                    <a:solidFill>
                      <a:srgbClr val="FFFFFF"/>
                    </a:solidFill>
                  </a:tcPr>
                </a:tc>
                <a:tc>
                  <a:txBody>
                    <a:bodyPr/>
                    <a:lstStyle/>
                    <a:p>
                      <a:pPr>
                        <a:spcAft>
                          <a:spcPts val="100"/>
                        </a:spcAft>
                        <a:defRPr sz="950" b="1">
                          <a:solidFill>
                            <a:srgbClr val="11151A"/>
                          </a:solidFill>
                          <a:latin typeface="Lato"/>
                        </a:defRPr>
                      </a:pPr>
                      <a:r>
                        <a:t>2035</a:t>
                      </a:r>
                    </a:p>
                    <a:p>
                      <a:pPr>
                        <a:spcAft>
                          <a:spcPts val="100"/>
                        </a:spcAft>
                        <a:defRPr sz="950" b="1">
                          <a:solidFill>
                            <a:srgbClr val="11151A"/>
                          </a:solidFill>
                          <a:latin typeface="Lato"/>
                        </a:defRPr>
                      </a:pPr>
                      <a:r>
                        <a:t>low / medium / high</a:t>
                      </a:r>
                    </a:p>
                  </a:txBody>
                  <a:tcPr marL="64008" marR="64008" marT="54864" marB="27432" anchor="t">
                    <a:lnL w="0">
                      <a:noFill/>
                    </a:lnL>
                    <a:lnR w="0">
                      <a:noFill/>
                    </a:lnR>
                    <a:lnT w="0">
                      <a:noFill/>
                    </a:lnT>
                    <a:lnB w="5080">
                      <a:solidFill>
                        <a:srgbClr val="B8B8B8"/>
                      </a:solidFill>
                    </a:lnB>
                    <a:solidFill>
                      <a:srgbClr val="FFFFFF"/>
                    </a:solidFill>
                  </a:tcPr>
                </a:tc>
                <a:tc>
                  <a:txBody>
                    <a:bodyPr/>
                    <a:lstStyle/>
                    <a:p>
                      <a:pPr>
                        <a:spcAft>
                          <a:spcPts val="100"/>
                        </a:spcAft>
                        <a:defRPr sz="950" b="1">
                          <a:solidFill>
                            <a:srgbClr val="11151A"/>
                          </a:solidFill>
                          <a:latin typeface="Lato"/>
                        </a:defRPr>
                      </a:pPr>
                      <a:r>
                        <a:t>Rationale and source</a:t>
                      </a:r>
                    </a:p>
                  </a:txBody>
                  <a:tcPr marL="64008" marR="64008" marT="54864" marB="27432" anchor="t">
                    <a:lnL w="0">
                      <a:noFill/>
                    </a:lnL>
                    <a:lnR w="0">
                      <a:noFill/>
                    </a:lnR>
                    <a:lnT w="0">
                      <a:noFill/>
                    </a:lnT>
                    <a:lnB w="5080">
                      <a:solidFill>
                        <a:srgbClr val="B8B8B8"/>
                      </a:solidFill>
                    </a:lnB>
                    <a:solidFill>
                      <a:srgbClr val="FFFFFF"/>
                    </a:solidFill>
                  </a:tcPr>
                </a:tc>
              </a:tr>
              <a:tr h="525780">
                <a:tc>
                  <a:txBody>
                    <a:bodyPr/>
                    <a:lstStyle/>
                    <a:p>
                      <a:pPr>
                        <a:spcAft>
                          <a:spcPts val="100"/>
                        </a:spcAft>
                        <a:defRPr sz="950" b="1">
                          <a:solidFill>
                            <a:srgbClr val="0A2373"/>
                          </a:solidFill>
                          <a:latin typeface="Lato"/>
                        </a:defRPr>
                      </a:pPr>
                      <a:r>
                        <a:t>Passenger mileage</a:t>
                      </a:r>
                    </a:p>
                    <a:p>
                      <a:pPr>
                        <a:spcAft>
                          <a:spcPts val="100"/>
                        </a:spcAft>
                        <a:defRPr sz="950" b="1">
                          <a:solidFill>
                            <a:srgbClr val="0A2373"/>
                          </a:solidFill>
                          <a:latin typeface="Lato"/>
                        </a:defRPr>
                      </a:pPr>
                      <a:r>
                        <a:t>km a vehicle a year</a:t>
                      </a:r>
                    </a:p>
                  </a:txBody>
                  <a:tcPr marL="64008" marR="64008" marT="54864" marB="27432" anchor="t">
                    <a:lnL w="0">
                      <a:noFill/>
                    </a:lnL>
                    <a:lnR w="0">
                      <a:noFill/>
                    </a:lnR>
                    <a:lnT w="0">
                      <a:noFill/>
                    </a:lnT>
                    <a:lnB w="5080">
                      <a:solidFill>
                        <a:srgbClr val="B8B8B8"/>
                      </a:solidFill>
                    </a:lnB>
                    <a:solidFill>
                      <a:srgbClr val="FFFFFF"/>
                    </a:solidFill>
                  </a:tcPr>
                </a:tc>
                <a:tc>
                  <a:txBody>
                    <a:bodyPr/>
                    <a:lstStyle/>
                    <a:p>
                      <a:pPr>
                        <a:spcAft>
                          <a:spcPts val="100"/>
                        </a:spcAft>
                        <a:defRPr sz="950" b="0">
                          <a:solidFill>
                            <a:srgbClr val="11151A"/>
                          </a:solidFill>
                          <a:latin typeface="Lato"/>
                        </a:defRPr>
                      </a:pPr>
                      <a:r>
                        <a:t>17,000</a:t>
                      </a:r>
                    </a:p>
                    <a:p>
                      <a:pPr>
                        <a:spcAft>
                          <a:spcPts val="100"/>
                        </a:spcAft>
                        <a:defRPr sz="950" b="0">
                          <a:solidFill>
                            <a:srgbClr val="11151A"/>
                          </a:solidFill>
                          <a:latin typeface="Lato"/>
                        </a:defRPr>
                      </a:pPr>
                      <a:r>
                        <a:t>placeholder</a:t>
                      </a:r>
                    </a:p>
                  </a:txBody>
                  <a:tcPr marL="64008" marR="64008" marT="54864" marB="27432" anchor="t">
                    <a:lnL w="0">
                      <a:noFill/>
                    </a:lnL>
                    <a:lnR w="0">
                      <a:noFill/>
                    </a:lnR>
                    <a:lnT w="0">
                      <a:noFill/>
                    </a:lnT>
                    <a:lnB w="5080">
                      <a:solidFill>
                        <a:srgbClr val="B8B8B8"/>
                      </a:solidFill>
                    </a:lnB>
                    <a:solidFill>
                      <a:srgbClr val="FFFFFF"/>
                    </a:solidFill>
                  </a:tcPr>
                </a:tc>
                <a:tc>
                  <a:txBody>
                    <a:bodyPr/>
                    <a:lstStyle/>
                    <a:p>
                      <a:pPr>
                        <a:spcAft>
                          <a:spcPts val="100"/>
                        </a:spcAft>
                        <a:defRPr sz="950" b="0">
                          <a:solidFill>
                            <a:srgbClr val="11151A"/>
                          </a:solidFill>
                          <a:latin typeface="Lato"/>
                        </a:defRPr>
                      </a:pPr>
                      <a:r>
                        <a:t>12,900 / 14,500 / 17,000</a:t>
                      </a:r>
                    </a:p>
                    <a:p>
                      <a:pPr>
                        <a:spcAft>
                          <a:spcPts val="100"/>
                        </a:spcAft>
                        <a:defRPr sz="950" b="0">
                          <a:solidFill>
                            <a:srgbClr val="11151A"/>
                          </a:solidFill>
                          <a:latin typeface="Lato"/>
                        </a:defRPr>
                      </a:pPr>
                      <a:r>
                        <a:t>was 13,600 / 17,000 / 20,400</a:t>
                      </a:r>
                    </a:p>
                  </a:txBody>
                  <a:tcPr marL="64008" marR="64008" marT="54864" marB="27432" anchor="t">
                    <a:lnL w="0">
                      <a:noFill/>
                    </a:lnL>
                    <a:lnR w="0">
                      <a:noFill/>
                    </a:lnR>
                    <a:lnT w="0">
                      <a:noFill/>
                    </a:lnT>
                    <a:lnB w="5080">
                      <a:solidFill>
                        <a:srgbClr val="B8B8B8"/>
                      </a:solidFill>
                    </a:lnB>
                    <a:solidFill>
                      <a:srgbClr val="FFFFFF"/>
                    </a:solidFill>
                  </a:tcPr>
                </a:tc>
                <a:tc>
                  <a:txBody>
                    <a:bodyPr/>
                    <a:lstStyle/>
                    <a:p>
                      <a:pPr>
                        <a:spcAft>
                          <a:spcPts val="100"/>
                        </a:spcAft>
                        <a:defRPr sz="950" b="0">
                          <a:solidFill>
                            <a:srgbClr val="11151A"/>
                          </a:solidFill>
                          <a:latin typeface="Lato"/>
                        </a:defRPr>
                      </a:pPr>
                      <a:r>
                        <a:t>12,900 / 14,500 / 17,000</a:t>
                      </a:r>
                    </a:p>
                    <a:p>
                      <a:pPr>
                        <a:spcAft>
                          <a:spcPts val="100"/>
                        </a:spcAft>
                        <a:defRPr sz="950" b="0">
                          <a:solidFill>
                            <a:srgbClr val="11151A"/>
                          </a:solidFill>
                          <a:latin typeface="Lato"/>
                        </a:defRPr>
                      </a:pPr>
                      <a:r>
                        <a:t>was 13,600 / 17,000 / 20,400</a:t>
                      </a:r>
                    </a:p>
                  </a:txBody>
                  <a:tcPr marL="64008" marR="64008" marT="54864" marB="27432" anchor="t">
                    <a:lnL w="0">
                      <a:noFill/>
                    </a:lnL>
                    <a:lnR w="0">
                      <a:noFill/>
                    </a:lnR>
                    <a:lnT w="0">
                      <a:noFill/>
                    </a:lnT>
                    <a:lnB w="5080">
                      <a:solidFill>
                        <a:srgbClr val="B8B8B8"/>
                      </a:solidFill>
                    </a:lnB>
                    <a:solidFill>
                      <a:srgbClr val="FFFFFF"/>
                    </a:solidFill>
                  </a:tcPr>
                </a:tc>
                <a:tc>
                  <a:txBody>
                    <a:bodyPr/>
                    <a:lstStyle/>
                    <a:p>
                      <a:pPr>
                        <a:spcAft>
                          <a:spcPts val="100"/>
                        </a:spcAft>
                        <a:defRPr sz="950" b="0">
                          <a:solidFill>
                            <a:srgbClr val="11151A"/>
                          </a:solidFill>
                          <a:latin typeface="Lato"/>
                        </a:defRPr>
                      </a:pPr>
                      <a:r>
                        <a:t>Stone et al. (2018): 14,457 km for petrol cars. 2023 sales over registered petrol vehicles imply about 12,900.</a:t>
                      </a:r>
                    </a:p>
                  </a:txBody>
                  <a:tcPr marL="64008" marR="64008" marT="54864" marB="27432" anchor="t">
                    <a:lnL w="0">
                      <a:noFill/>
                    </a:lnL>
                    <a:lnR w="0">
                      <a:noFill/>
                    </a:lnR>
                    <a:lnT w="0">
                      <a:noFill/>
                    </a:lnT>
                    <a:lnB w="5080">
                      <a:solidFill>
                        <a:srgbClr val="B8B8B8"/>
                      </a:solidFill>
                    </a:lnB>
                    <a:solidFill>
                      <a:srgbClr val="FFFFFF"/>
                    </a:solidFill>
                  </a:tcPr>
                </a:tc>
              </a:tr>
              <a:tr h="525780">
                <a:tc>
                  <a:txBody>
                    <a:bodyPr/>
                    <a:lstStyle/>
                    <a:p>
                      <a:pPr>
                        <a:spcAft>
                          <a:spcPts val="100"/>
                        </a:spcAft>
                        <a:defRPr sz="950" b="1">
                          <a:solidFill>
                            <a:srgbClr val="0A2373"/>
                          </a:solidFill>
                          <a:latin typeface="Lato"/>
                        </a:defRPr>
                      </a:pPr>
                      <a:r>
                        <a:t>Real GDP growth</a:t>
                      </a:r>
                    </a:p>
                    <a:p>
                      <a:pPr>
                        <a:spcAft>
                          <a:spcPts val="100"/>
                        </a:spcAft>
                        <a:defRPr sz="950" b="1">
                          <a:solidFill>
                            <a:srgbClr val="0A2373"/>
                          </a:solidFill>
                          <a:latin typeface="Lato"/>
                        </a:defRPr>
                      </a:pPr>
                      <a:r>
                        <a:t>% a year</a:t>
                      </a:r>
                    </a:p>
                  </a:txBody>
                  <a:tcPr marL="64008" marR="64008" marT="54864" marB="27432" anchor="t">
                    <a:lnL w="0">
                      <a:noFill/>
                    </a:lnL>
                    <a:lnR w="0">
                      <a:noFill/>
                    </a:lnR>
                    <a:lnT w="0">
                      <a:noFill/>
                    </a:lnT>
                    <a:lnB w="5080">
                      <a:solidFill>
                        <a:srgbClr val="B8B8B8"/>
                      </a:solidFill>
                    </a:lnB>
                    <a:solidFill>
                      <a:srgbClr val="FFFFFF"/>
                    </a:solidFill>
                  </a:tcPr>
                </a:tc>
                <a:tc>
                  <a:txBody>
                    <a:bodyPr/>
                    <a:lstStyle/>
                    <a:p>
                      <a:pPr>
                        <a:spcAft>
                          <a:spcPts val="100"/>
                        </a:spcAft>
                        <a:defRPr sz="950" b="0">
                          <a:solidFill>
                            <a:srgbClr val="11151A"/>
                          </a:solidFill>
                          <a:latin typeface="Lato"/>
                        </a:defRPr>
                      </a:pPr>
                      <a:r>
                        <a:t>0.5</a:t>
                      </a:r>
                    </a:p>
                    <a:p>
                      <a:pPr>
                        <a:spcAft>
                          <a:spcPts val="100"/>
                        </a:spcAft>
                        <a:defRPr sz="950" b="0">
                          <a:solidFill>
                            <a:srgbClr val="11151A"/>
                          </a:solidFill>
                          <a:latin typeface="Lato"/>
                        </a:defRPr>
                      </a:pPr>
                      <a:r>
                        <a:t>2024 actual</a:t>
                      </a:r>
                    </a:p>
                  </a:txBody>
                  <a:tcPr marL="64008" marR="64008" marT="54864" marB="27432" anchor="t">
                    <a:lnL w="0">
                      <a:noFill/>
                    </a:lnL>
                    <a:lnR w="0">
                      <a:noFill/>
                    </a:lnR>
                    <a:lnT w="0">
                      <a:noFill/>
                    </a:lnT>
                    <a:lnB w="5080">
                      <a:solidFill>
                        <a:srgbClr val="B8B8B8"/>
                      </a:solidFill>
                    </a:lnB>
                    <a:solidFill>
                      <a:srgbClr val="FFFFFF"/>
                    </a:solidFill>
                  </a:tcPr>
                </a:tc>
                <a:tc>
                  <a:txBody>
                    <a:bodyPr/>
                    <a:lstStyle/>
                    <a:p>
                      <a:pPr>
                        <a:spcAft>
                          <a:spcPts val="100"/>
                        </a:spcAft>
                        <a:defRPr sz="950" b="0">
                          <a:solidFill>
                            <a:srgbClr val="11151A"/>
                          </a:solidFill>
                          <a:latin typeface="Lato"/>
                        </a:defRPr>
                      </a:pPr>
                      <a:r>
                        <a:t>0.7 / 1.6 / 2</a:t>
                      </a:r>
                    </a:p>
                    <a:p>
                      <a:pPr>
                        <a:spcAft>
                          <a:spcPts val="100"/>
                        </a:spcAft>
                        <a:defRPr sz="950" b="0">
                          <a:solidFill>
                            <a:srgbClr val="11151A"/>
                          </a:solidFill>
                          <a:latin typeface="Lato"/>
                        </a:defRPr>
                      </a:pPr>
                      <a:r>
                        <a:t>was 1 / 2 / 3</a:t>
                      </a:r>
                    </a:p>
                  </a:txBody>
                  <a:tcPr marL="64008" marR="64008" marT="54864" marB="27432" anchor="t">
                    <a:lnL w="0">
                      <a:noFill/>
                    </a:lnL>
                    <a:lnR w="0">
                      <a:noFill/>
                    </a:lnR>
                    <a:lnT w="0">
                      <a:noFill/>
                    </a:lnT>
                    <a:lnB w="5080">
                      <a:solidFill>
                        <a:srgbClr val="B8B8B8"/>
                      </a:solidFill>
                    </a:lnB>
                    <a:solidFill>
                      <a:srgbClr val="FFFFFF"/>
                    </a:solidFill>
                  </a:tcPr>
                </a:tc>
                <a:tc>
                  <a:txBody>
                    <a:bodyPr/>
                    <a:lstStyle/>
                    <a:p>
                      <a:pPr>
                        <a:spcAft>
                          <a:spcPts val="100"/>
                        </a:spcAft>
                        <a:defRPr sz="950" b="0">
                          <a:solidFill>
                            <a:srgbClr val="11151A"/>
                          </a:solidFill>
                          <a:latin typeface="Lato"/>
                        </a:defRPr>
                      </a:pPr>
                      <a:r>
                        <a:t>0.7 / 1.6 / 2</a:t>
                      </a:r>
                    </a:p>
                    <a:p>
                      <a:pPr>
                        <a:spcAft>
                          <a:spcPts val="100"/>
                        </a:spcAft>
                        <a:defRPr sz="950" b="0">
                          <a:solidFill>
                            <a:srgbClr val="11151A"/>
                          </a:solidFill>
                          <a:latin typeface="Lato"/>
                        </a:defRPr>
                      </a:pPr>
                      <a:r>
                        <a:t>was 1 / 2 / 3</a:t>
                      </a:r>
                    </a:p>
                  </a:txBody>
                  <a:tcPr marL="64008" marR="64008" marT="54864" marB="27432" anchor="t">
                    <a:lnL w="0">
                      <a:noFill/>
                    </a:lnL>
                    <a:lnR w="0">
                      <a:noFill/>
                    </a:lnR>
                    <a:lnT w="0">
                      <a:noFill/>
                    </a:lnT>
                    <a:lnB w="5080">
                      <a:solidFill>
                        <a:srgbClr val="B8B8B8"/>
                      </a:solidFill>
                    </a:lnB>
                    <a:solidFill>
                      <a:srgbClr val="FFFFFF"/>
                    </a:solidFill>
                  </a:tcPr>
                </a:tc>
                <a:tc>
                  <a:txBody>
                    <a:bodyPr/>
                    <a:lstStyle/>
                    <a:p>
                      <a:pPr>
                        <a:spcAft>
                          <a:spcPts val="100"/>
                        </a:spcAft>
                        <a:defRPr sz="950" b="0">
                          <a:solidFill>
                            <a:srgbClr val="11151A"/>
                          </a:solidFill>
                          <a:latin typeface="Lato"/>
                        </a:defRPr>
                      </a:pPr>
                      <a:r>
                        <a:t>Stats SA: 0.7% a year over 2014-2024, 1.6% over 2010-2019. Treasury: 2.0% by 2028. Registered cases 1.0, 1.6.</a:t>
                      </a:r>
                    </a:p>
                  </a:txBody>
                  <a:tcPr marL="64008" marR="64008" marT="54864" marB="27432" anchor="t">
                    <a:lnL w="0">
                      <a:noFill/>
                    </a:lnL>
                    <a:lnR w="0">
                      <a:noFill/>
                    </a:lnR>
                    <a:lnT w="0">
                      <a:noFill/>
                    </a:lnT>
                    <a:lnB w="5080">
                      <a:solidFill>
                        <a:srgbClr val="B8B8B8"/>
                      </a:solidFill>
                    </a:lnB>
                    <a:solidFill>
                      <a:srgbClr val="FFFFFF"/>
                    </a:solidFill>
                  </a:tcPr>
                </a:tc>
              </a:tr>
              <a:tr h="525780">
                <a:tc>
                  <a:txBody>
                    <a:bodyPr/>
                    <a:lstStyle/>
                    <a:p>
                      <a:pPr>
                        <a:spcAft>
                          <a:spcPts val="100"/>
                        </a:spcAft>
                        <a:defRPr sz="950" b="1">
                          <a:solidFill>
                            <a:srgbClr val="0A2373"/>
                          </a:solidFill>
                          <a:latin typeface="Lato"/>
                        </a:defRPr>
                      </a:pPr>
                      <a:r>
                        <a:t>Battery electric share</a:t>
                      </a:r>
                    </a:p>
                    <a:p>
                      <a:pPr>
                        <a:spcAft>
                          <a:spcPts val="100"/>
                        </a:spcAft>
                        <a:defRPr sz="950" b="1">
                          <a:solidFill>
                            <a:srgbClr val="0A2373"/>
                          </a:solidFill>
                          <a:latin typeface="Lato"/>
                        </a:defRPr>
                      </a:pPr>
                      <a:r>
                        <a:t>% of new sales</a:t>
                      </a:r>
                    </a:p>
                  </a:txBody>
                  <a:tcPr marL="64008" marR="64008" marT="54864" marB="27432" anchor="t">
                    <a:lnL w="0">
                      <a:noFill/>
                    </a:lnL>
                    <a:lnR w="0">
                      <a:noFill/>
                    </a:lnR>
                    <a:lnT w="0">
                      <a:noFill/>
                    </a:lnT>
                    <a:lnB w="5080">
                      <a:solidFill>
                        <a:srgbClr val="B8B8B8"/>
                      </a:solidFill>
                    </a:lnB>
                    <a:solidFill>
                      <a:srgbClr val="FFFFFF"/>
                    </a:solidFill>
                  </a:tcPr>
                </a:tc>
                <a:tc>
                  <a:txBody>
                    <a:bodyPr/>
                    <a:lstStyle/>
                    <a:p>
                      <a:pPr>
                        <a:spcAft>
                          <a:spcPts val="100"/>
                        </a:spcAft>
                        <a:defRPr sz="950" b="0">
                          <a:solidFill>
                            <a:srgbClr val="11151A"/>
                          </a:solidFill>
                          <a:latin typeface="Lato"/>
                        </a:defRPr>
                      </a:pPr>
                      <a:r>
                        <a:t>0.2</a:t>
                      </a:r>
                    </a:p>
                    <a:p>
                      <a:pPr>
                        <a:spcAft>
                          <a:spcPts val="100"/>
                        </a:spcAft>
                        <a:defRPr sz="950" b="0">
                          <a:solidFill>
                            <a:srgbClr val="11151A"/>
                          </a:solidFill>
                          <a:latin typeface="Lato"/>
                        </a:defRPr>
                      </a:pPr>
                      <a:r>
                        <a:t>1,088 sold, 2025</a:t>
                      </a:r>
                    </a:p>
                  </a:txBody>
                  <a:tcPr marL="64008" marR="64008" marT="54864" marB="27432" anchor="t">
                    <a:lnL w="0">
                      <a:noFill/>
                    </a:lnL>
                    <a:lnR w="0">
                      <a:noFill/>
                    </a:lnR>
                    <a:lnT w="0">
                      <a:noFill/>
                    </a:lnT>
                    <a:lnB w="5080">
                      <a:solidFill>
                        <a:srgbClr val="B8B8B8"/>
                      </a:solidFill>
                    </a:lnB>
                    <a:solidFill>
                      <a:srgbClr val="FFFFFF"/>
                    </a:solidFill>
                  </a:tcPr>
                </a:tc>
                <a:tc>
                  <a:txBody>
                    <a:bodyPr/>
                    <a:lstStyle/>
                    <a:p>
                      <a:pPr>
                        <a:spcAft>
                          <a:spcPts val="100"/>
                        </a:spcAft>
                        <a:defRPr sz="950" b="0">
                          <a:solidFill>
                            <a:srgbClr val="11151A"/>
                          </a:solidFill>
                          <a:latin typeface="Lato"/>
                        </a:defRPr>
                      </a:pPr>
                      <a:r>
                        <a:t>0.5 / 4 / 20</a:t>
                      </a:r>
                    </a:p>
                    <a:p>
                      <a:pPr>
                        <a:spcAft>
                          <a:spcPts val="100"/>
                        </a:spcAft>
                        <a:defRPr sz="950" b="0">
                          <a:solidFill>
                            <a:srgbClr val="11151A"/>
                          </a:solidFill>
                          <a:latin typeface="Lato"/>
                        </a:defRPr>
                      </a:pPr>
                      <a:r>
                        <a:t>was 5 / 15 / 30</a:t>
                      </a:r>
                    </a:p>
                  </a:txBody>
                  <a:tcPr marL="64008" marR="64008" marT="54864" marB="27432" anchor="t">
                    <a:lnL w="0">
                      <a:noFill/>
                    </a:lnL>
                    <a:lnR w="0">
                      <a:noFill/>
                    </a:lnR>
                    <a:lnT w="0">
                      <a:noFill/>
                    </a:lnT>
                    <a:lnB w="5080">
                      <a:solidFill>
                        <a:srgbClr val="B8B8B8"/>
                      </a:solidFill>
                    </a:lnB>
                    <a:solidFill>
                      <a:srgbClr val="FFFFFF"/>
                    </a:solidFill>
                  </a:tcPr>
                </a:tc>
                <a:tc>
                  <a:txBody>
                    <a:bodyPr/>
                    <a:lstStyle/>
                    <a:p>
                      <a:pPr>
                        <a:spcAft>
                          <a:spcPts val="100"/>
                        </a:spcAft>
                        <a:defRPr sz="950" b="0">
                          <a:solidFill>
                            <a:srgbClr val="11151A"/>
                          </a:solidFill>
                          <a:latin typeface="Lato"/>
                        </a:defRPr>
                      </a:pPr>
                      <a:r>
                        <a:t>2 / 15 / 40</a:t>
                      </a:r>
                    </a:p>
                    <a:p>
                      <a:pPr>
                        <a:spcAft>
                          <a:spcPts val="100"/>
                        </a:spcAft>
                        <a:defRPr sz="950" b="0">
                          <a:solidFill>
                            <a:srgbClr val="11151A"/>
                          </a:solidFill>
                          <a:latin typeface="Lato"/>
                        </a:defRPr>
                      </a:pPr>
                      <a:r>
                        <a:t>was 15 / 35 / 60</a:t>
                      </a:r>
                    </a:p>
                  </a:txBody>
                  <a:tcPr marL="64008" marR="64008" marT="54864" marB="27432" anchor="t">
                    <a:lnL w="0">
                      <a:noFill/>
                    </a:lnL>
                    <a:lnR w="0">
                      <a:noFill/>
                    </a:lnR>
                    <a:lnT w="0">
                      <a:noFill/>
                    </a:lnT>
                    <a:lnB w="5080">
                      <a:solidFill>
                        <a:srgbClr val="B8B8B8"/>
                      </a:solidFill>
                    </a:lnB>
                    <a:solidFill>
                      <a:srgbClr val="FFFFFF"/>
                    </a:solidFill>
                  </a:tcPr>
                </a:tc>
                <a:tc>
                  <a:txBody>
                    <a:bodyPr/>
                    <a:lstStyle/>
                    <a:p>
                      <a:pPr>
                        <a:spcAft>
                          <a:spcPts val="100"/>
                        </a:spcAft>
                        <a:defRPr sz="950" b="0">
                          <a:solidFill>
                            <a:srgbClr val="11151A"/>
                          </a:solidFill>
                          <a:latin typeface="Lato"/>
                        </a:defRPr>
                      </a:pPr>
                      <a:r>
                        <a:t>IEA Global EV Outlook 2026, 2025 shares: India nearly 4%, Indonesia 15%, Turkiye over 20% (from 1% in 2022), Vietnam nearly 40%.</a:t>
                      </a:r>
                    </a:p>
                  </a:txBody>
                  <a:tcPr marL="64008" marR="64008" marT="54864" marB="27432" anchor="t">
                    <a:lnL w="0">
                      <a:noFill/>
                    </a:lnL>
                    <a:lnR w="0">
                      <a:noFill/>
                    </a:lnR>
                    <a:lnT w="0">
                      <a:noFill/>
                    </a:lnT>
                    <a:lnB w="5080">
                      <a:solidFill>
                        <a:srgbClr val="B8B8B8"/>
                      </a:solidFill>
                    </a:lnB>
                    <a:solidFill>
                      <a:srgbClr val="FFFFFF"/>
                    </a:solidFill>
                  </a:tcPr>
                </a:tc>
              </a:tr>
              <a:tr h="525780">
                <a:tc>
                  <a:txBody>
                    <a:bodyPr/>
                    <a:lstStyle/>
                    <a:p>
                      <a:pPr>
                        <a:spcAft>
                          <a:spcPts val="100"/>
                        </a:spcAft>
                        <a:defRPr sz="950" b="1">
                          <a:solidFill>
                            <a:srgbClr val="0A2373"/>
                          </a:solidFill>
                          <a:latin typeface="Lato"/>
                        </a:defRPr>
                      </a:pPr>
                      <a:r>
                        <a:t>New-vehicle efficiency gain</a:t>
                      </a:r>
                    </a:p>
                    <a:p>
                      <a:pPr>
                        <a:spcAft>
                          <a:spcPts val="100"/>
                        </a:spcAft>
                        <a:defRPr sz="950" b="1">
                          <a:solidFill>
                            <a:srgbClr val="0A2373"/>
                          </a:solidFill>
                          <a:latin typeface="Lato"/>
                        </a:defRPr>
                      </a:pPr>
                      <a:r>
                        <a:t>% a year</a:t>
                      </a:r>
                    </a:p>
                  </a:txBody>
                  <a:tcPr marL="64008" marR="64008" marT="54864" marB="27432" anchor="t">
                    <a:lnL w="0">
                      <a:noFill/>
                    </a:lnL>
                    <a:lnR w="0">
                      <a:noFill/>
                    </a:lnR>
                    <a:lnT w="0">
                      <a:noFill/>
                    </a:lnT>
                    <a:lnB w="5080">
                      <a:solidFill>
                        <a:srgbClr val="B8B8B8"/>
                      </a:solidFill>
                    </a:lnB>
                    <a:solidFill>
                      <a:srgbClr val="FFFFFF"/>
                    </a:solidFill>
                  </a:tcPr>
                </a:tc>
                <a:tc>
                  <a:txBody>
                    <a:bodyPr/>
                    <a:lstStyle/>
                    <a:p>
                      <a:pPr>
                        <a:spcAft>
                          <a:spcPts val="100"/>
                        </a:spcAft>
                        <a:defRPr sz="950" b="0">
                          <a:solidFill>
                            <a:srgbClr val="11151A"/>
                          </a:solidFill>
                          <a:latin typeface="Lato"/>
                        </a:defRPr>
                      </a:pPr>
                      <a:r>
                        <a:t>1.0 to 1.5</a:t>
                      </a:r>
                    </a:p>
                    <a:p>
                      <a:pPr>
                        <a:spcAft>
                          <a:spcPts val="100"/>
                        </a:spcAft>
                        <a:defRPr sz="950" b="0">
                          <a:solidFill>
                            <a:srgbClr val="11151A"/>
                          </a:solidFill>
                          <a:latin typeface="Lato"/>
                        </a:defRPr>
                      </a:pPr>
                      <a:r>
                        <a:t>registered</a:t>
                      </a:r>
                    </a:p>
                  </a:txBody>
                  <a:tcPr marL="64008" marR="64008" marT="54864" marB="27432" anchor="t">
                    <a:lnL w="0">
                      <a:noFill/>
                    </a:lnL>
                    <a:lnR w="0">
                      <a:noFill/>
                    </a:lnR>
                    <a:lnT w="0">
                      <a:noFill/>
                    </a:lnT>
                    <a:lnB w="5080">
                      <a:solidFill>
                        <a:srgbClr val="B8B8B8"/>
                      </a:solidFill>
                    </a:lnB>
                    <a:solidFill>
                      <a:srgbClr val="FFFFFF"/>
                    </a:solidFill>
                  </a:tcPr>
                </a:tc>
                <a:tc>
                  <a:txBody>
                    <a:bodyPr/>
                    <a:lstStyle/>
                    <a:p>
                      <a:pPr>
                        <a:spcAft>
                          <a:spcPts val="100"/>
                        </a:spcAft>
                        <a:defRPr sz="950" b="0">
                          <a:solidFill>
                            <a:srgbClr val="11151A"/>
                          </a:solidFill>
                          <a:latin typeface="Lato"/>
                        </a:defRPr>
                      </a:pPr>
                      <a:r>
                        <a:t>1 / 1.25 / 1.5</a:t>
                      </a:r>
                    </a:p>
                  </a:txBody>
                  <a:tcPr marL="64008" marR="64008" marT="54864" marB="27432" anchor="t">
                    <a:lnL w="0">
                      <a:noFill/>
                    </a:lnL>
                    <a:lnR w="0">
                      <a:noFill/>
                    </a:lnR>
                    <a:lnT w="0">
                      <a:noFill/>
                    </a:lnT>
                    <a:lnB w="5080">
                      <a:solidFill>
                        <a:srgbClr val="B8B8B8"/>
                      </a:solidFill>
                    </a:lnB>
                    <a:solidFill>
                      <a:srgbClr val="FFFFFF"/>
                    </a:solidFill>
                  </a:tcPr>
                </a:tc>
                <a:tc>
                  <a:txBody>
                    <a:bodyPr/>
                    <a:lstStyle/>
                    <a:p>
                      <a:pPr>
                        <a:spcAft>
                          <a:spcPts val="100"/>
                        </a:spcAft>
                        <a:defRPr sz="950" b="0">
                          <a:solidFill>
                            <a:srgbClr val="11151A"/>
                          </a:solidFill>
                          <a:latin typeface="Lato"/>
                        </a:defRPr>
                      </a:pPr>
                      <a:r>
                        <a:t>1 / 1.25 / 1.5</a:t>
                      </a:r>
                    </a:p>
                  </a:txBody>
                  <a:tcPr marL="64008" marR="64008" marT="54864" marB="27432" anchor="t">
                    <a:lnL w="0">
                      <a:noFill/>
                    </a:lnL>
                    <a:lnR w="0">
                      <a:noFill/>
                    </a:lnR>
                    <a:lnT w="0">
                      <a:noFill/>
                    </a:lnT>
                    <a:lnB w="5080">
                      <a:solidFill>
                        <a:srgbClr val="B8B8B8"/>
                      </a:solidFill>
                    </a:lnB>
                    <a:solidFill>
                      <a:srgbClr val="FFFFFF"/>
                    </a:solidFill>
                  </a:tcPr>
                </a:tc>
                <a:tc>
                  <a:txBody>
                    <a:bodyPr/>
                    <a:lstStyle/>
                    <a:p>
                      <a:pPr>
                        <a:spcAft>
                          <a:spcPts val="100"/>
                        </a:spcAft>
                        <a:defRPr sz="950" b="0">
                          <a:solidFill>
                            <a:srgbClr val="11151A"/>
                          </a:solidFill>
                          <a:latin typeface="Lato"/>
                        </a:defRPr>
                      </a:pPr>
                      <a:r>
                        <a:t>Equals the registered endpoints, which have no source. Agreed for now.</a:t>
                      </a:r>
                    </a:p>
                  </a:txBody>
                  <a:tcPr marL="64008" marR="64008" marT="54864" marB="27432" anchor="t">
                    <a:lnL w="0">
                      <a:noFill/>
                    </a:lnL>
                    <a:lnR w="0">
                      <a:noFill/>
                    </a:lnR>
                    <a:lnT w="0">
                      <a:noFill/>
                    </a:lnT>
                    <a:lnB w="5080">
                      <a:solidFill>
                        <a:srgbClr val="B8B8B8"/>
                      </a:solidFill>
                    </a:lnB>
                    <a:solidFill>
                      <a:srgbClr val="FFFFFF"/>
                    </a:solidFill>
                  </a:tcPr>
                </a:tc>
              </a:tr>
              <a:tr h="525780">
                <a:tc>
                  <a:txBody>
                    <a:bodyPr/>
                    <a:lstStyle/>
                    <a:p>
                      <a:pPr>
                        <a:spcAft>
                          <a:spcPts val="100"/>
                        </a:spcAft>
                        <a:defRPr sz="950" b="1">
                          <a:solidFill>
                            <a:srgbClr val="0A2373"/>
                          </a:solidFill>
                          <a:latin typeface="Lato"/>
                        </a:defRPr>
                      </a:pPr>
                      <a:r>
                        <a:t>Plant utilisation</a:t>
                      </a:r>
                    </a:p>
                    <a:p>
                      <a:pPr>
                        <a:spcAft>
                          <a:spcPts val="100"/>
                        </a:spcAft>
                        <a:defRPr sz="950" b="1">
                          <a:solidFill>
                            <a:srgbClr val="0A2373"/>
                          </a:solidFill>
                          <a:latin typeface="Lato"/>
                        </a:defRPr>
                      </a:pPr>
                      <a:r>
                        <a:t>% of capacity, all fuels</a:t>
                      </a:r>
                    </a:p>
                  </a:txBody>
                  <a:tcPr marL="64008" marR="64008" marT="54864" marB="27432" anchor="t">
                    <a:lnL w="0">
                      <a:noFill/>
                    </a:lnL>
                    <a:lnR w="0">
                      <a:noFill/>
                    </a:lnR>
                    <a:lnT w="0">
                      <a:noFill/>
                    </a:lnT>
                    <a:lnB w="5080">
                      <a:solidFill>
                        <a:srgbClr val="B8B8B8"/>
                      </a:solidFill>
                    </a:lnB>
                    <a:solidFill>
                      <a:srgbClr val="FFFFFF"/>
                    </a:solidFill>
                  </a:tcPr>
                </a:tc>
                <a:tc>
                  <a:txBody>
                    <a:bodyPr/>
                    <a:lstStyle/>
                    <a:p>
                      <a:pPr>
                        <a:spcAft>
                          <a:spcPts val="100"/>
                        </a:spcAft>
                        <a:defRPr sz="950" b="0">
                          <a:solidFill>
                            <a:srgbClr val="11151A"/>
                          </a:solidFill>
                          <a:latin typeface="Lato"/>
                        </a:defRPr>
                      </a:pPr>
                      <a:r>
                        <a:t>67</a:t>
                      </a:r>
                    </a:p>
                    <a:p>
                      <a:pPr>
                        <a:spcAft>
                          <a:spcPts val="100"/>
                        </a:spcAft>
                        <a:defRPr sz="950" b="0">
                          <a:solidFill>
                            <a:srgbClr val="11151A"/>
                          </a:solidFill>
                          <a:latin typeface="Lato"/>
                        </a:defRPr>
                      </a:pPr>
                      <a:r>
                        <a:t>indicative, 2024</a:t>
                      </a:r>
                    </a:p>
                  </a:txBody>
                  <a:tcPr marL="64008" marR="64008" marT="54864" marB="27432" anchor="t">
                    <a:lnL w="0">
                      <a:noFill/>
                    </a:lnL>
                    <a:lnR w="0">
                      <a:noFill/>
                    </a:lnR>
                    <a:lnT w="0">
                      <a:noFill/>
                    </a:lnT>
                    <a:lnB w="5080">
                      <a:solidFill>
                        <a:srgbClr val="B8B8B8"/>
                      </a:solidFill>
                    </a:lnB>
                    <a:solidFill>
                      <a:srgbClr val="FFFFFF"/>
                    </a:solidFill>
                  </a:tcPr>
                </a:tc>
                <a:tc>
                  <a:txBody>
                    <a:bodyPr/>
                    <a:lstStyle/>
                    <a:p>
                      <a:pPr>
                        <a:spcAft>
                          <a:spcPts val="100"/>
                        </a:spcAft>
                        <a:defRPr sz="950" b="0">
                          <a:solidFill>
                            <a:srgbClr val="11151A"/>
                          </a:solidFill>
                          <a:latin typeface="Lato"/>
                        </a:defRPr>
                      </a:pPr>
                      <a:r>
                        <a:t>60 / 75 / 90</a:t>
                      </a:r>
                    </a:p>
                  </a:txBody>
                  <a:tcPr marL="64008" marR="64008" marT="54864" marB="27432" anchor="t">
                    <a:lnL w="0">
                      <a:noFill/>
                    </a:lnL>
                    <a:lnR w="0">
                      <a:noFill/>
                    </a:lnR>
                    <a:lnT w="0">
                      <a:noFill/>
                    </a:lnT>
                    <a:lnB w="5080">
                      <a:solidFill>
                        <a:srgbClr val="B8B8B8"/>
                      </a:solidFill>
                    </a:lnB>
                    <a:solidFill>
                      <a:srgbClr val="FFFFFF"/>
                    </a:solidFill>
                  </a:tcPr>
                </a:tc>
                <a:tc>
                  <a:txBody>
                    <a:bodyPr/>
                    <a:lstStyle/>
                    <a:p>
                      <a:pPr>
                        <a:spcAft>
                          <a:spcPts val="100"/>
                        </a:spcAft>
                        <a:defRPr sz="950" b="0">
                          <a:solidFill>
                            <a:srgbClr val="11151A"/>
                          </a:solidFill>
                          <a:latin typeface="Lato"/>
                        </a:defRPr>
                      </a:pPr>
                      <a:r>
                        <a:t>60 / 75 / 90</a:t>
                      </a:r>
                    </a:p>
                  </a:txBody>
                  <a:tcPr marL="64008" marR="64008" marT="54864" marB="27432" anchor="t">
                    <a:lnL w="0">
                      <a:noFill/>
                    </a:lnL>
                    <a:lnR w="0">
                      <a:noFill/>
                    </a:lnR>
                    <a:lnT w="0">
                      <a:noFill/>
                    </a:lnT>
                    <a:lnB w="5080">
                      <a:solidFill>
                        <a:srgbClr val="B8B8B8"/>
                      </a:solidFill>
                    </a:lnB>
                    <a:solidFill>
                      <a:srgbClr val="FFFFFF"/>
                    </a:solidFill>
                  </a:tcPr>
                </a:tc>
                <a:tc>
                  <a:txBody>
                    <a:bodyPr/>
                    <a:lstStyle/>
                    <a:p>
                      <a:pPr>
                        <a:spcAft>
                          <a:spcPts val="100"/>
                        </a:spcAft>
                        <a:defRPr sz="950" b="0">
                          <a:solidFill>
                            <a:srgbClr val="11151A"/>
                          </a:solidFill>
                          <a:latin typeface="Lato"/>
                        </a:defRPr>
                      </a:pPr>
                      <a:r>
                        <a:t>Same setting as diesel and jet; count once.</a:t>
                      </a:r>
                    </a:p>
                  </a:txBody>
                  <a:tcPr marL="64008" marR="64008" marT="54864" marB="27432" anchor="t">
                    <a:lnL w="0">
                      <a:noFill/>
                    </a:lnL>
                    <a:lnR w="0">
                      <a:noFill/>
                    </a:lnR>
                    <a:lnT w="0">
                      <a:noFill/>
                    </a:lnT>
                    <a:lnB w="5080">
                      <a:solidFill>
                        <a:srgbClr val="B8B8B8"/>
                      </a:solidFill>
                    </a:lnB>
                    <a:solidFill>
                      <a:srgbClr val="FFFFFF"/>
                    </a:solidFill>
                  </a:tcPr>
                </a:tc>
              </a:tr>
              <a:tr h="525780">
                <a:tc>
                  <a:txBody>
                    <a:bodyPr/>
                    <a:lstStyle/>
                    <a:p>
                      <a:pPr>
                        <a:spcAft>
                          <a:spcPts val="100"/>
                        </a:spcAft>
                        <a:defRPr sz="950" b="1">
                          <a:solidFill>
                            <a:srgbClr val="0A2373"/>
                          </a:solidFill>
                          <a:latin typeface="Lato"/>
                        </a:defRPr>
                      </a:pPr>
                      <a:r>
                        <a:t>Petrol yield</a:t>
                      </a:r>
                    </a:p>
                    <a:p>
                      <a:pPr>
                        <a:spcAft>
                          <a:spcPts val="100"/>
                        </a:spcAft>
                        <a:defRPr sz="950" b="1">
                          <a:solidFill>
                            <a:srgbClr val="0A2373"/>
                          </a:solidFill>
                          <a:latin typeface="Lato"/>
                        </a:defRPr>
                      </a:pPr>
                      <a:r>
                        <a:t>% of refinery output</a:t>
                      </a:r>
                    </a:p>
                  </a:txBody>
                  <a:tcPr marL="64008" marR="64008" marT="54864" marB="27432" anchor="t">
                    <a:lnL w="0">
                      <a:noFill/>
                    </a:lnL>
                    <a:lnR w="0">
                      <a:noFill/>
                    </a:lnR>
                    <a:lnT w="0">
                      <a:noFill/>
                    </a:lnT>
                    <a:lnB w="5080">
                      <a:solidFill>
                        <a:srgbClr val="B8B8B8"/>
                      </a:solidFill>
                    </a:lnB>
                    <a:solidFill>
                      <a:srgbClr val="FFFFFF"/>
                    </a:solidFill>
                  </a:tcPr>
                </a:tc>
                <a:tc>
                  <a:txBody>
                    <a:bodyPr/>
                    <a:lstStyle/>
                    <a:p>
                      <a:pPr>
                        <a:spcAft>
                          <a:spcPts val="100"/>
                        </a:spcAft>
                        <a:defRPr sz="950" b="0">
                          <a:solidFill>
                            <a:srgbClr val="11151A"/>
                          </a:solidFill>
                          <a:latin typeface="Lato"/>
                        </a:defRPr>
                      </a:pPr>
                      <a:r>
                        <a:t>54</a:t>
                      </a:r>
                    </a:p>
                    <a:p>
                      <a:pPr>
                        <a:spcAft>
                          <a:spcPts val="100"/>
                        </a:spcAft>
                        <a:defRPr sz="950" b="0">
                          <a:solidFill>
                            <a:srgbClr val="11151A"/>
                          </a:solidFill>
                          <a:latin typeface="Lato"/>
                        </a:defRPr>
                      </a:pPr>
                      <a:r>
                        <a:t>JODI 2024, low reliability</a:t>
                      </a:r>
                    </a:p>
                  </a:txBody>
                  <a:tcPr marL="64008" marR="64008" marT="54864" marB="27432" anchor="t">
                    <a:lnL w="0">
                      <a:noFill/>
                    </a:lnL>
                    <a:lnR w="0">
                      <a:noFill/>
                    </a:lnR>
                    <a:lnT w="0">
                      <a:noFill/>
                    </a:lnT>
                    <a:lnB w="5080">
                      <a:solidFill>
                        <a:srgbClr val="B8B8B8"/>
                      </a:solidFill>
                    </a:lnB>
                    <a:solidFill>
                      <a:srgbClr val="FFFFFF"/>
                    </a:solidFill>
                  </a:tcPr>
                </a:tc>
                <a:tc>
                  <a:txBody>
                    <a:bodyPr/>
                    <a:lstStyle/>
                    <a:p>
                      <a:pPr>
                        <a:spcAft>
                          <a:spcPts val="100"/>
                        </a:spcAft>
                        <a:defRPr sz="950" b="0">
                          <a:solidFill>
                            <a:srgbClr val="11151A"/>
                          </a:solidFill>
                          <a:latin typeface="Lato"/>
                        </a:defRPr>
                      </a:pPr>
                      <a:r>
                        <a:t>45 / 50 / 55</a:t>
                      </a:r>
                    </a:p>
                    <a:p>
                      <a:pPr>
                        <a:spcAft>
                          <a:spcPts val="100"/>
                        </a:spcAft>
                        <a:defRPr sz="950" b="0">
                          <a:solidFill>
                            <a:srgbClr val="11151A"/>
                          </a:solidFill>
                          <a:latin typeface="Lato"/>
                        </a:defRPr>
                      </a:pPr>
                      <a:r>
                        <a:t>was 35 / 45 / 55</a:t>
                      </a:r>
                    </a:p>
                  </a:txBody>
                  <a:tcPr marL="64008" marR="64008" marT="54864" marB="27432" anchor="t">
                    <a:lnL w="0">
                      <a:noFill/>
                    </a:lnL>
                    <a:lnR w="0">
                      <a:noFill/>
                    </a:lnR>
                    <a:lnT w="0">
                      <a:noFill/>
                    </a:lnT>
                    <a:lnB w="5080">
                      <a:solidFill>
                        <a:srgbClr val="B8B8B8"/>
                      </a:solidFill>
                    </a:lnB>
                    <a:solidFill>
                      <a:srgbClr val="FFFFFF"/>
                    </a:solidFill>
                  </a:tcPr>
                </a:tc>
                <a:tc>
                  <a:txBody>
                    <a:bodyPr/>
                    <a:lstStyle/>
                    <a:p>
                      <a:pPr>
                        <a:spcAft>
                          <a:spcPts val="100"/>
                        </a:spcAft>
                        <a:defRPr sz="950" b="0">
                          <a:solidFill>
                            <a:srgbClr val="11151A"/>
                          </a:solidFill>
                          <a:latin typeface="Lato"/>
                        </a:defRPr>
                      </a:pPr>
                      <a:r>
                        <a:t>45 / 50 / 55</a:t>
                      </a:r>
                    </a:p>
                    <a:p>
                      <a:pPr>
                        <a:spcAft>
                          <a:spcPts val="100"/>
                        </a:spcAft>
                        <a:defRPr sz="950" b="0">
                          <a:solidFill>
                            <a:srgbClr val="11151A"/>
                          </a:solidFill>
                          <a:latin typeface="Lato"/>
                        </a:defRPr>
                      </a:pPr>
                      <a:r>
                        <a:t>was 35 / 45 / 55</a:t>
                      </a:r>
                    </a:p>
                  </a:txBody>
                  <a:tcPr marL="64008" marR="64008" marT="54864" marB="27432" anchor="t">
                    <a:lnL w="0">
                      <a:noFill/>
                    </a:lnL>
                    <a:lnR w="0">
                      <a:noFill/>
                    </a:lnR>
                    <a:lnT w="0">
                      <a:noFill/>
                    </a:lnT>
                    <a:lnB w="5080">
                      <a:solidFill>
                        <a:srgbClr val="B8B8B8"/>
                      </a:solidFill>
                    </a:lnB>
                    <a:solidFill>
                      <a:srgbClr val="FFFFFF"/>
                    </a:solidFill>
                  </a:tcPr>
                </a:tc>
                <a:tc>
                  <a:txBody>
                    <a:bodyPr/>
                    <a:lstStyle/>
                    <a:p>
                      <a:pPr>
                        <a:spcAft>
                          <a:spcPts val="100"/>
                        </a:spcAft>
                        <a:defRPr sz="950" b="0">
                          <a:solidFill>
                            <a:srgbClr val="11151A"/>
                          </a:solidFill>
                          <a:latin typeface="Lato"/>
                        </a:defRPr>
                      </a:pPr>
                      <a:r>
                        <a:t>JODI: 51% in 2023, 54% in 2024. Energy balances 2017-2021: 47-50% of five fuels. Legacy 45%. Set with diesel.</a:t>
                      </a:r>
                    </a:p>
                  </a:txBody>
                  <a:tcPr marL="64008" marR="64008" marT="54864" marB="27432" anchor="t">
                    <a:lnL w="0">
                      <a:noFill/>
                    </a:lnL>
                    <a:lnR w="0">
                      <a:noFill/>
                    </a:lnR>
                    <a:lnT w="0">
                      <a:noFill/>
                    </a:lnT>
                    <a:lnB w="5080">
                      <a:solidFill>
                        <a:srgbClr val="B8B8B8"/>
                      </a:solidFill>
                    </a:lnB>
                    <a:solidFill>
                      <a:srgbClr val="FFFFFF"/>
                    </a:solidFill>
                  </a:tcPr>
                </a:tc>
              </a:tr>
              <a:tr h="525780">
                <a:tc>
                  <a:txBody>
                    <a:bodyPr/>
                    <a:lstStyle/>
                    <a:p>
                      <a:pPr>
                        <a:spcAft>
                          <a:spcPts val="100"/>
                        </a:spcAft>
                        <a:defRPr sz="950" b="1">
                          <a:solidFill>
                            <a:srgbClr val="0A2373"/>
                          </a:solidFill>
                          <a:latin typeface="Lato"/>
                        </a:defRPr>
                      </a:pPr>
                      <a:r>
                        <a:t>Added refining capacity</a:t>
                      </a:r>
                    </a:p>
                    <a:p>
                      <a:pPr>
                        <a:spcAft>
                          <a:spcPts val="100"/>
                        </a:spcAft>
                        <a:defRPr sz="950" b="1">
                          <a:solidFill>
                            <a:srgbClr val="0A2373"/>
                          </a:solidFill>
                          <a:latin typeface="Lato"/>
                        </a:defRPr>
                      </a:pPr>
                      <a:r>
                        <a:t>thousand barrels a day</a:t>
                      </a:r>
                    </a:p>
                  </a:txBody>
                  <a:tcPr marL="64008" marR="64008" marT="54864" marB="27432" anchor="t">
                    <a:lnL w="0">
                      <a:noFill/>
                    </a:lnL>
                    <a:lnR w="0">
                      <a:noFill/>
                    </a:lnR>
                    <a:lnT w="0">
                      <a:noFill/>
                    </a:lnT>
                    <a:lnB w="5080">
                      <a:solidFill>
                        <a:srgbClr val="B8B8B8"/>
                      </a:solidFill>
                    </a:lnB>
                    <a:solidFill>
                      <a:srgbClr val="FFFFFF"/>
                    </a:solidFill>
                  </a:tcPr>
                </a:tc>
                <a:tc>
                  <a:txBody>
                    <a:bodyPr/>
                    <a:lstStyle/>
                    <a:p>
                      <a:pPr>
                        <a:spcAft>
                          <a:spcPts val="100"/>
                        </a:spcAft>
                        <a:defRPr sz="950" b="0">
                          <a:solidFill>
                            <a:srgbClr val="11151A"/>
                          </a:solidFill>
                          <a:latin typeface="Lato"/>
                        </a:defRPr>
                      </a:pPr>
                      <a:r>
                        <a:t>0</a:t>
                      </a:r>
                    </a:p>
                  </a:txBody>
                  <a:tcPr marL="64008" marR="64008" marT="54864" marB="27432" anchor="t">
                    <a:lnL w="0">
                      <a:noFill/>
                    </a:lnL>
                    <a:lnR w="0">
                      <a:noFill/>
                    </a:lnR>
                    <a:lnT w="0">
                      <a:noFill/>
                    </a:lnT>
                    <a:lnB w="5080">
                      <a:solidFill>
                        <a:srgbClr val="B8B8B8"/>
                      </a:solidFill>
                    </a:lnB>
                    <a:solidFill>
                      <a:srgbClr val="FFFFFF"/>
                    </a:solidFill>
                  </a:tcPr>
                </a:tc>
                <a:tc>
                  <a:txBody>
                    <a:bodyPr/>
                    <a:lstStyle/>
                    <a:p>
                      <a:pPr>
                        <a:spcAft>
                          <a:spcPts val="100"/>
                        </a:spcAft>
                        <a:defRPr sz="950" b="0">
                          <a:solidFill>
                            <a:srgbClr val="11151A"/>
                          </a:solidFill>
                          <a:latin typeface="Lato"/>
                        </a:defRPr>
                      </a:pPr>
                      <a:r>
                        <a:t>0 / 0 / 0</a:t>
                      </a:r>
                    </a:p>
                  </a:txBody>
                  <a:tcPr marL="64008" marR="64008" marT="54864" marB="27432" anchor="t">
                    <a:lnL w="0">
                      <a:noFill/>
                    </a:lnL>
                    <a:lnR w="0">
                      <a:noFill/>
                    </a:lnR>
                    <a:lnT w="0">
                      <a:noFill/>
                    </a:lnT>
                    <a:lnB w="5080">
                      <a:solidFill>
                        <a:srgbClr val="B8B8B8"/>
                      </a:solidFill>
                    </a:lnB>
                    <a:solidFill>
                      <a:srgbClr val="FFFFFF"/>
                    </a:solidFill>
                  </a:tcPr>
                </a:tc>
                <a:tc>
                  <a:txBody>
                    <a:bodyPr/>
                    <a:lstStyle/>
                    <a:p>
                      <a:pPr>
                        <a:spcAft>
                          <a:spcPts val="100"/>
                        </a:spcAft>
                        <a:defRPr sz="950" b="0">
                          <a:solidFill>
                            <a:srgbClr val="11151A"/>
                          </a:solidFill>
                          <a:latin typeface="Lato"/>
                        </a:defRPr>
                      </a:pPr>
                      <a:r>
                        <a:t>0 / 0 / 400</a:t>
                      </a:r>
                    </a:p>
                  </a:txBody>
                  <a:tcPr marL="64008" marR="64008" marT="54864" marB="27432" anchor="t">
                    <a:lnL w="0">
                      <a:noFill/>
                    </a:lnL>
                    <a:lnR w="0">
                      <a:noFill/>
                    </a:lnR>
                    <a:lnT w="0">
                      <a:noFill/>
                    </a:lnT>
                    <a:lnB w="5080">
                      <a:solidFill>
                        <a:srgbClr val="B8B8B8"/>
                      </a:solidFill>
                    </a:lnB>
                    <a:solidFill>
                      <a:srgbClr val="FFFFFF"/>
                    </a:solidFill>
                  </a:tcPr>
                </a:tc>
                <a:tc>
                  <a:txBody>
                    <a:bodyPr/>
                    <a:lstStyle/>
                    <a:p>
                      <a:pPr>
                        <a:spcAft>
                          <a:spcPts val="100"/>
                        </a:spcAft>
                        <a:defRPr sz="950" b="0">
                          <a:solidFill>
                            <a:srgbClr val="11151A"/>
                          </a:solidFill>
                          <a:latin typeface="Lato"/>
                        </a:defRPr>
                      </a:pPr>
                      <a:r>
                        <a:t>Conditional illustration; no investment decision sourced.</a:t>
                      </a:r>
                    </a:p>
                  </a:txBody>
                  <a:tcPr marL="64008" marR="64008" marT="54864" marB="27432" anchor="t">
                    <a:lnL w="0">
                      <a:noFill/>
                    </a:lnL>
                    <a:lnR w="0">
                      <a:noFill/>
                    </a:lnR>
                    <a:lnT w="0">
                      <a:noFill/>
                    </a:lnT>
                    <a:lnB w="5080">
                      <a:solidFill>
                        <a:srgbClr val="B8B8B8"/>
                      </a:solidFill>
                    </a:lnB>
                    <a:solidFill>
                      <a:srgbClr val="FFFFFF"/>
                    </a:solidFill>
                  </a:tcPr>
                </a:tc>
              </a:tr>
            </a:tbl>
          </a:graphicData>
        </a:graphic>
      </p:graphicFrame>
      <p:sp>
        <p:nvSpPr>
          <p:cNvPr id="8" name="Chevron 7">
            <a:hlinkClick action="ppaction://hlinksldjump" r:id="rId2"/>
          </p:cNvPr>
          <p:cNvSpPr/>
          <p:nvPr/>
        </p:nvSpPr>
        <p:spPr>
          <a:xfrm>
            <a:off x="457200" y="73152"/>
            <a:ext cx="2075688" cy="384048"/>
          </a:xfrm>
          <a:prstGeom prst="chevron">
            <a:avLst>
              <a:gd name="adj" fmla="val 12000"/>
            </a:avLst>
          </a:pr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tIns="0" bIns="0"/>
          <a:lstStyle/>
          <a:p>
            <a:pPr algn="ctr">
              <a:defRPr sz="1100" b="0">
                <a:solidFill>
                  <a:srgbClr val="0A2373"/>
                </a:solidFill>
                <a:latin typeface="Lato"/>
              </a:defRPr>
            </a:pPr>
            <a:r>
              <a:t>1  National balance</a:t>
            </a:r>
          </a:p>
        </p:txBody>
      </p:sp>
      <p:sp>
        <p:nvSpPr>
          <p:cNvPr id="9" name="Chevron 8">
            <a:hlinkClick action="ppaction://hlinksldjump" r:id="rId3"/>
          </p:cNvPr>
          <p:cNvSpPr/>
          <p:nvPr/>
        </p:nvSpPr>
        <p:spPr>
          <a:xfrm>
            <a:off x="2587752" y="73152"/>
            <a:ext cx="2075688" cy="384048"/>
          </a:xfrm>
          <a:prstGeom prst="chevron">
            <a:avLst>
              <a:gd name="adj" fmla="val 12000"/>
            </a:avLst>
          </a:pr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tIns="0" bIns="0"/>
          <a:lstStyle/>
          <a:p>
            <a:pPr algn="ctr">
              <a:defRPr sz="1100" b="1">
                <a:solidFill>
                  <a:srgbClr val="FFFFFF"/>
                </a:solidFill>
                <a:latin typeface="Lato"/>
              </a:defRPr>
            </a:pPr>
            <a:r>
              <a:t>2  Forecast levers</a:t>
            </a:r>
          </a:p>
        </p:txBody>
      </p:sp>
      <p:sp>
        <p:nvSpPr>
          <p:cNvPr id="10" name="Chevron 9">
            <a:hlinkClick action="ppaction://hlinksldjump" r:id="rId4"/>
          </p:cNvPr>
          <p:cNvSpPr/>
          <p:nvPr/>
        </p:nvSpPr>
        <p:spPr>
          <a:xfrm>
            <a:off x="4718304" y="73152"/>
            <a:ext cx="2075688" cy="384048"/>
          </a:xfrm>
          <a:prstGeom prst="chevron">
            <a:avLst>
              <a:gd name="adj" fmla="val 12000"/>
            </a:avLst>
          </a:pr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tIns="0" bIns="0"/>
          <a:lstStyle/>
          <a:p>
            <a:pPr algn="ctr">
              <a:defRPr sz="1100" b="0">
                <a:solidFill>
                  <a:srgbClr val="0A2373"/>
                </a:solidFill>
                <a:latin typeface="Lato"/>
              </a:defRPr>
            </a:pPr>
            <a:r>
              <a:t>3  Sector baselines</a:t>
            </a:r>
          </a:p>
        </p:txBody>
      </p:sp>
      <p:sp>
        <p:nvSpPr>
          <p:cNvPr id="11" name="Chevron 10">
            <a:hlinkClick action="ppaction://hlinksldjump" r:id="rId5"/>
          </p:cNvPr>
          <p:cNvSpPr/>
          <p:nvPr/>
        </p:nvSpPr>
        <p:spPr>
          <a:xfrm>
            <a:off x="6848856" y="73152"/>
            <a:ext cx="2075688" cy="384048"/>
          </a:xfrm>
          <a:prstGeom prst="chevron">
            <a:avLst>
              <a:gd name="adj" fmla="val 12000"/>
            </a:avLst>
          </a:pr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tIns="0" bIns="0"/>
          <a:lstStyle/>
          <a:p>
            <a:pPr algn="ctr">
              <a:defRPr sz="1100" b="0">
                <a:solidFill>
                  <a:srgbClr val="0A2373"/>
                </a:solidFill>
                <a:latin typeface="Lato"/>
              </a:defRPr>
            </a:pPr>
            <a:r>
              <a:t>4  Tank handling</a:t>
            </a:r>
          </a:p>
        </p:txBody>
      </p:sp>
      <p:sp>
        <p:nvSpPr>
          <p:cNvPr id="12" name="Chevron 11">
            <a:hlinkClick action="ppaction://hlinksldjump" r:id="rId6"/>
          </p:cNvPr>
          <p:cNvSpPr/>
          <p:nvPr/>
        </p:nvSpPr>
        <p:spPr>
          <a:xfrm>
            <a:off x="8979408" y="73152"/>
            <a:ext cx="2075688" cy="384048"/>
          </a:xfrm>
          <a:prstGeom prst="chevron">
            <a:avLst>
              <a:gd name="adj" fmla="val 12000"/>
            </a:avLst>
          </a:pr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tIns="0" bIns="0"/>
          <a:lstStyle/>
          <a:p>
            <a:pPr algn="ctr">
              <a:defRPr sz="1100" b="0">
                <a:solidFill>
                  <a:srgbClr val="0A2373"/>
                </a:solidFill>
                <a:latin typeface="Lato"/>
              </a:defRPr>
            </a:pPr>
            <a:r>
              <a:t>5  Hand-back</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Nine levers added: price, backup generation, freight electrification, hybrids, rail and neighbours</a:t>
            </a:r>
          </a:p>
        </p:txBody>
      </p:sp>
      <p:sp>
        <p:nvSpPr>
          <p:cNvPr id="3" name="TextBox 2"/>
          <p:cNvSpPr txBox="1"/>
          <p:nvPr/>
        </p:nvSpPr>
        <p:spPr>
          <a:xfrm>
            <a:off x="457200" y="1627632"/>
            <a:ext cx="10652760" cy="274320"/>
          </a:xfrm>
          <a:prstGeom prst="rect">
            <a:avLst/>
          </a:prstGeom>
          <a:noFill/>
        </p:spPr>
        <p:txBody>
          <a:bodyPr wrap="square" lIns="22860" rIns="22860" tIns="0" bIns="0">
            <a:spAutoFit/>
          </a:bodyPr>
          <a:lstStyle/>
          <a:p>
            <a:pPr>
              <a:spcAft>
                <a:spcPts val="300"/>
              </a:spcAft>
              <a:defRPr sz="1300" b="1">
                <a:solidFill>
                  <a:srgbClr val="11151A"/>
                </a:solidFill>
                <a:latin typeface="Lato"/>
              </a:defRPr>
            </a:pPr>
            <a:r>
              <a:t>Added by the analyst; not in Nigel's file | low / medium / high for 2030 and 2035 | proposals for review</a:t>
            </a:r>
          </a:p>
        </p:txBody>
      </p:sp>
      <p:cxnSp>
        <p:nvCxnSpPr>
          <p:cNvPr id="4" name="Connector 3"/>
          <p:cNvCxnSpPr/>
          <p:nvPr/>
        </p:nvCxnSpPr>
        <p:spPr>
          <a:xfrm>
            <a:off x="457200" y="1920240"/>
            <a:ext cx="10652760" cy="0"/>
          </a:xfrm>
          <a:prstGeom prst="line">
            <a:avLst/>
          </a:prstGeom>
          <a:ln w="7620">
            <a:solidFill>
              <a:srgbClr val="A0A0A0"/>
            </a:solidFill>
          </a:ln>
        </p:spPr>
        <p:style>
          <a:lnRef idx="2">
            <a:schemeClr val="accent1"/>
          </a:lnRef>
          <a:fillRef idx="0">
            <a:schemeClr val="accent1"/>
          </a:fillRef>
          <a:effectRef idx="1">
            <a:schemeClr val="accent1"/>
          </a:effectRef>
          <a:fontRef idx="minor">
            <a:schemeClr val="tx1"/>
          </a:fontRef>
        </p:style>
      </p:cxnSp>
      <p:sp>
        <p:nvSpPr>
          <p:cNvPr id="5" name="TextBox 4"/>
          <p:cNvSpPr txBox="1"/>
          <p:nvPr/>
        </p:nvSpPr>
        <p:spPr>
          <a:xfrm>
            <a:off x="457200" y="6547104"/>
            <a:ext cx="9692640" cy="182880"/>
          </a:xfrm>
          <a:prstGeom prst="rect">
            <a:avLst/>
          </a:prstGeom>
          <a:noFill/>
        </p:spPr>
        <p:txBody>
          <a:bodyPr wrap="square" lIns="22860" rIns="22860" tIns="0" bIns="0">
            <a:spAutoFit/>
          </a:bodyPr>
          <a:lstStyle/>
          <a:p>
            <a:pPr>
              <a:spcAft>
                <a:spcPts val="300"/>
              </a:spcAft>
              <a:defRPr sz="800" b="0">
                <a:solidFill>
                  <a:srgbClr val="11151A"/>
                </a:solidFill>
                <a:latin typeface="Lato"/>
              </a:defRPr>
            </a:pPr>
            <a:r>
              <a:t>Source: fuel_lever_response_2026-10-07.md on manish-branch; Nigel's proposed inputs of 7 October are not edited. Replacements are the analyst's proposals, pending review.</a:t>
            </a:r>
          </a:p>
        </p:txBody>
      </p:sp>
      <p:sp>
        <p:nvSpPr>
          <p:cNvPr id="6" name="TextBox 5"/>
          <p:cNvSpPr txBox="1"/>
          <p:nvPr/>
        </p:nvSpPr>
        <p:spPr>
          <a:xfrm>
            <a:off x="457200" y="6711696"/>
            <a:ext cx="2011680" cy="128016"/>
          </a:xfrm>
          <a:prstGeom prst="rect">
            <a:avLst/>
          </a:prstGeom>
          <a:noFill/>
        </p:spPr>
        <p:txBody>
          <a:bodyPr wrap="square" lIns="22860" rIns="22860" tIns="0" bIns="0">
            <a:spAutoFit/>
          </a:bodyPr>
          <a:lstStyle/>
          <a:p>
            <a:pPr>
              <a:spcAft>
                <a:spcPts val="300"/>
              </a:spcAft>
              <a:defRPr sz="700" b="0">
                <a:solidFill>
                  <a:srgbClr val="11151A"/>
                </a:solidFill>
                <a:latin typeface="Lato"/>
              </a:defRPr>
            </a:pPr>
            <a:r>
              <a:t>Strictly Confidential</a:t>
            </a:r>
          </a:p>
        </p:txBody>
      </p:sp>
      <p:graphicFrame>
        <p:nvGraphicFramePr>
          <p:cNvPr id="7" name="Table 6"/>
          <p:cNvGraphicFramePr>
            <a:graphicFrameLocks noGrp="1"/>
          </p:cNvGraphicFramePr>
          <p:nvPr/>
        </p:nvGraphicFramePr>
        <p:xfrm>
          <a:off x="457200" y="2011680"/>
          <a:ext cx="10652760" cy="4297680"/>
        </p:xfrm>
        <a:graphic>
          <a:graphicData uri="http://schemas.openxmlformats.org/drawingml/2006/table">
            <a:tbl>
              <a:tblPr firstRow="0" bandRow="0"/>
              <a:tblGrid>
                <a:gridCol w="2377440"/>
                <a:gridCol w="1188720"/>
                <a:gridCol w="1463040"/>
                <a:gridCol w="1463040"/>
                <a:gridCol w="4160520"/>
              </a:tblGrid>
              <a:tr h="429768">
                <a:tc>
                  <a:txBody>
                    <a:bodyPr/>
                    <a:lstStyle/>
                    <a:p>
                      <a:pPr>
                        <a:spcAft>
                          <a:spcPts val="100"/>
                        </a:spcAft>
                        <a:defRPr sz="850" b="1">
                          <a:solidFill>
                            <a:srgbClr val="0A2373"/>
                          </a:solidFill>
                          <a:latin typeface="Lato"/>
                        </a:defRPr>
                      </a:pPr>
                      <a:r>
                        <a:t>Lever and unit</a:t>
                      </a:r>
                    </a:p>
                  </a:txBody>
                  <a:tcPr marL="64008" marR="64008" marT="54864" marB="27432" anchor="t">
                    <a:lnL w="0">
                      <a:noFill/>
                    </a:lnL>
                    <a:lnR w="0">
                      <a:noFill/>
                    </a:lnR>
                    <a:lnT w="0">
                      <a:noFill/>
                    </a:lnT>
                    <a:lnB w="5080">
                      <a:solidFill>
                        <a:srgbClr val="B8B8B8"/>
                      </a:solidFill>
                    </a:lnB>
                    <a:solidFill>
                      <a:srgbClr val="FFFFFF"/>
                    </a:solidFill>
                  </a:tcPr>
                </a:tc>
                <a:tc>
                  <a:txBody>
                    <a:bodyPr/>
                    <a:lstStyle/>
                    <a:p>
                      <a:pPr>
                        <a:spcAft>
                          <a:spcPts val="100"/>
                        </a:spcAft>
                        <a:defRPr sz="850" b="1">
                          <a:solidFill>
                            <a:srgbClr val="11151A"/>
                          </a:solidFill>
                          <a:latin typeface="Lato"/>
                        </a:defRPr>
                      </a:pPr>
                      <a:r>
                        <a:t>Baseline</a:t>
                      </a:r>
                    </a:p>
                  </a:txBody>
                  <a:tcPr marL="64008" marR="64008" marT="54864" marB="27432" anchor="t">
                    <a:lnL w="0">
                      <a:noFill/>
                    </a:lnL>
                    <a:lnR w="0">
                      <a:noFill/>
                    </a:lnR>
                    <a:lnT w="0">
                      <a:noFill/>
                    </a:lnT>
                    <a:lnB w="5080">
                      <a:solidFill>
                        <a:srgbClr val="B8B8B8"/>
                      </a:solidFill>
                    </a:lnB>
                    <a:solidFill>
                      <a:srgbClr val="FFFFFF"/>
                    </a:solidFill>
                  </a:tcPr>
                </a:tc>
                <a:tc>
                  <a:txBody>
                    <a:bodyPr/>
                    <a:lstStyle/>
                    <a:p>
                      <a:pPr>
                        <a:spcAft>
                          <a:spcPts val="100"/>
                        </a:spcAft>
                        <a:defRPr sz="850" b="1">
                          <a:solidFill>
                            <a:srgbClr val="11151A"/>
                          </a:solidFill>
                          <a:latin typeface="Lato"/>
                        </a:defRPr>
                      </a:pPr>
                      <a:r>
                        <a:t>2030</a:t>
                      </a:r>
                    </a:p>
                    <a:p>
                      <a:pPr>
                        <a:spcAft>
                          <a:spcPts val="100"/>
                        </a:spcAft>
                        <a:defRPr sz="850" b="1">
                          <a:solidFill>
                            <a:srgbClr val="11151A"/>
                          </a:solidFill>
                          <a:latin typeface="Lato"/>
                        </a:defRPr>
                      </a:pPr>
                      <a:r>
                        <a:t>low / medium / high</a:t>
                      </a:r>
                    </a:p>
                  </a:txBody>
                  <a:tcPr marL="64008" marR="64008" marT="54864" marB="27432" anchor="t">
                    <a:lnL w="0">
                      <a:noFill/>
                    </a:lnL>
                    <a:lnR w="0">
                      <a:noFill/>
                    </a:lnR>
                    <a:lnT w="0">
                      <a:noFill/>
                    </a:lnT>
                    <a:lnB w="5080">
                      <a:solidFill>
                        <a:srgbClr val="B8B8B8"/>
                      </a:solidFill>
                    </a:lnB>
                    <a:solidFill>
                      <a:srgbClr val="FFFFFF"/>
                    </a:solidFill>
                  </a:tcPr>
                </a:tc>
                <a:tc>
                  <a:txBody>
                    <a:bodyPr/>
                    <a:lstStyle/>
                    <a:p>
                      <a:pPr>
                        <a:spcAft>
                          <a:spcPts val="100"/>
                        </a:spcAft>
                        <a:defRPr sz="850" b="1">
                          <a:solidFill>
                            <a:srgbClr val="11151A"/>
                          </a:solidFill>
                          <a:latin typeface="Lato"/>
                        </a:defRPr>
                      </a:pPr>
                      <a:r>
                        <a:t>2035</a:t>
                      </a:r>
                    </a:p>
                    <a:p>
                      <a:pPr>
                        <a:spcAft>
                          <a:spcPts val="100"/>
                        </a:spcAft>
                        <a:defRPr sz="850" b="1">
                          <a:solidFill>
                            <a:srgbClr val="11151A"/>
                          </a:solidFill>
                          <a:latin typeface="Lato"/>
                        </a:defRPr>
                      </a:pPr>
                      <a:r>
                        <a:t>low / medium / high</a:t>
                      </a:r>
                    </a:p>
                  </a:txBody>
                  <a:tcPr marL="64008" marR="64008" marT="54864" marB="27432" anchor="t">
                    <a:lnL w="0">
                      <a:noFill/>
                    </a:lnL>
                    <a:lnR w="0">
                      <a:noFill/>
                    </a:lnR>
                    <a:lnT w="0">
                      <a:noFill/>
                    </a:lnT>
                    <a:lnB w="5080">
                      <a:solidFill>
                        <a:srgbClr val="B8B8B8"/>
                      </a:solidFill>
                    </a:lnB>
                    <a:solidFill>
                      <a:srgbClr val="FFFFFF"/>
                    </a:solidFill>
                  </a:tcPr>
                </a:tc>
                <a:tc>
                  <a:txBody>
                    <a:bodyPr/>
                    <a:lstStyle/>
                    <a:p>
                      <a:pPr>
                        <a:spcAft>
                          <a:spcPts val="100"/>
                        </a:spcAft>
                        <a:defRPr sz="850" b="1">
                          <a:solidFill>
                            <a:srgbClr val="11151A"/>
                          </a:solidFill>
                          <a:latin typeface="Lato"/>
                        </a:defRPr>
                      </a:pPr>
                      <a:r>
                        <a:t>Rationale and source</a:t>
                      </a:r>
                    </a:p>
                  </a:txBody>
                  <a:tcPr marL="64008" marR="64008" marT="54864" marB="27432" anchor="t">
                    <a:lnL w="0">
                      <a:noFill/>
                    </a:lnL>
                    <a:lnR w="0">
                      <a:noFill/>
                    </a:lnR>
                    <a:lnT w="0">
                      <a:noFill/>
                    </a:lnT>
                    <a:lnB w="5080">
                      <a:solidFill>
                        <a:srgbClr val="B8B8B8"/>
                      </a:solidFill>
                    </a:lnB>
                    <a:solidFill>
                      <a:srgbClr val="FFFFFF"/>
                    </a:solidFill>
                  </a:tcPr>
                </a:tc>
              </a:tr>
              <a:tr h="429768">
                <a:tc>
                  <a:txBody>
                    <a:bodyPr/>
                    <a:lstStyle/>
                    <a:p>
                      <a:pPr>
                        <a:spcAft>
                          <a:spcPts val="100"/>
                        </a:spcAft>
                        <a:defRPr sz="850" b="1">
                          <a:solidFill>
                            <a:srgbClr val="0A2373"/>
                          </a:solidFill>
                          <a:latin typeface="Lato"/>
                        </a:defRPr>
                      </a:pPr>
                      <a:r>
                        <a:t>Real diesel price</a:t>
                      </a:r>
                    </a:p>
                    <a:p>
                      <a:pPr>
                        <a:spcAft>
                          <a:spcPts val="100"/>
                        </a:spcAft>
                        <a:defRPr sz="850" b="1">
                          <a:solidFill>
                            <a:srgbClr val="0A2373"/>
                          </a:solidFill>
                          <a:latin typeface="Lato"/>
                        </a:defRPr>
                      </a:pPr>
                      <a:r>
                        <a:t>2024 = 100</a:t>
                      </a:r>
                    </a:p>
                  </a:txBody>
                  <a:tcPr marL="64008" marR="64008" marT="54864" marB="27432" anchor="t">
                    <a:lnL w="0">
                      <a:noFill/>
                    </a:lnL>
                    <a:lnR w="0">
                      <a:noFill/>
                    </a:lnR>
                    <a:lnT w="0">
                      <a:noFill/>
                    </a:lnT>
                    <a:lnB w="5080">
                      <a:solidFill>
                        <a:srgbClr val="B8B8B8"/>
                      </a:solidFill>
                    </a:lnB>
                    <a:solidFill>
                      <a:srgbClr val="FFFFFF"/>
                    </a:solidFill>
                  </a:tcPr>
                </a:tc>
                <a:tc>
                  <a:txBody>
                    <a:bodyPr/>
                    <a:lstStyle/>
                    <a:p>
                      <a:pPr>
                        <a:spcAft>
                          <a:spcPts val="100"/>
                        </a:spcAft>
                        <a:defRPr sz="850" b="0">
                          <a:solidFill>
                            <a:srgbClr val="11151A"/>
                          </a:solidFill>
                          <a:latin typeface="Lato"/>
                        </a:defRPr>
                      </a:pPr>
                      <a:r>
                        <a:t>100</a:t>
                      </a:r>
                    </a:p>
                    <a:p>
                      <a:pPr>
                        <a:spcAft>
                          <a:spcPts val="100"/>
                        </a:spcAft>
                        <a:defRPr sz="850" b="0">
                          <a:solidFill>
                            <a:srgbClr val="11151A"/>
                          </a:solidFill>
                          <a:latin typeface="Lato"/>
                        </a:defRPr>
                      </a:pPr>
                      <a:r>
                        <a:t>wholesale, inland</a:t>
                      </a:r>
                    </a:p>
                  </a:txBody>
                  <a:tcPr marL="64008" marR="64008" marT="54864" marB="27432" anchor="t">
                    <a:lnL w="0">
                      <a:noFill/>
                    </a:lnL>
                    <a:lnR w="0">
                      <a:noFill/>
                    </a:lnR>
                    <a:lnT w="0">
                      <a:noFill/>
                    </a:lnT>
                    <a:lnB w="5080">
                      <a:solidFill>
                        <a:srgbClr val="B8B8B8"/>
                      </a:solidFill>
                    </a:lnB>
                    <a:solidFill>
                      <a:srgbClr val="FFFFFF"/>
                    </a:solidFill>
                  </a:tcPr>
                </a:tc>
                <a:tc>
                  <a:txBody>
                    <a:bodyPr/>
                    <a:lstStyle/>
                    <a:p>
                      <a:pPr>
                        <a:spcAft>
                          <a:spcPts val="100"/>
                        </a:spcAft>
                        <a:defRPr sz="850" b="0">
                          <a:solidFill>
                            <a:srgbClr val="11151A"/>
                          </a:solidFill>
                          <a:latin typeface="Lato"/>
                        </a:defRPr>
                      </a:pPr>
                      <a:r>
                        <a:t>80 / 100 / 140</a:t>
                      </a:r>
                    </a:p>
                  </a:txBody>
                  <a:tcPr marL="64008" marR="64008" marT="54864" marB="27432" anchor="t">
                    <a:lnL w="0">
                      <a:noFill/>
                    </a:lnL>
                    <a:lnR w="0">
                      <a:noFill/>
                    </a:lnR>
                    <a:lnT w="0">
                      <a:noFill/>
                    </a:lnT>
                    <a:lnB w="5080">
                      <a:solidFill>
                        <a:srgbClr val="B8B8B8"/>
                      </a:solidFill>
                    </a:lnB>
                    <a:solidFill>
                      <a:srgbClr val="FFFFFF"/>
                    </a:solidFill>
                  </a:tcPr>
                </a:tc>
                <a:tc>
                  <a:txBody>
                    <a:bodyPr/>
                    <a:lstStyle/>
                    <a:p>
                      <a:pPr>
                        <a:spcAft>
                          <a:spcPts val="100"/>
                        </a:spcAft>
                        <a:defRPr sz="850" b="0">
                          <a:solidFill>
                            <a:srgbClr val="11151A"/>
                          </a:solidFill>
                          <a:latin typeface="Lato"/>
                        </a:defRPr>
                      </a:pPr>
                      <a:r>
                        <a:t>80 / 100 / 140</a:t>
                      </a:r>
                    </a:p>
                  </a:txBody>
                  <a:tcPr marL="64008" marR="64008" marT="54864" marB="27432" anchor="t">
                    <a:lnL w="0">
                      <a:noFill/>
                    </a:lnL>
                    <a:lnR w="0">
                      <a:noFill/>
                    </a:lnR>
                    <a:lnT w="0">
                      <a:noFill/>
                    </a:lnT>
                    <a:lnB w="5080">
                      <a:solidFill>
                        <a:srgbClr val="B8B8B8"/>
                      </a:solidFill>
                    </a:lnB>
                    <a:solidFill>
                      <a:srgbClr val="FFFFFF"/>
                    </a:solidFill>
                  </a:tcPr>
                </a:tc>
                <a:tc>
                  <a:txBody>
                    <a:bodyPr/>
                    <a:lstStyle/>
                    <a:p>
                      <a:pPr>
                        <a:spcAft>
                          <a:spcPts val="100"/>
                        </a:spcAft>
                        <a:defRPr sz="850" b="0">
                          <a:solidFill>
                            <a:srgbClr val="11151A"/>
                          </a:solidFill>
                          <a:latin typeface="Lato"/>
                        </a:defRPr>
                      </a:pPr>
                      <a:r>
                        <a:t>Department and CEF prices over CPI: 76-120 in 2011-2025, 143 in October 2026. Boshoff (2012): response -0.13.</a:t>
                      </a:r>
                    </a:p>
                  </a:txBody>
                  <a:tcPr marL="64008" marR="64008" marT="54864" marB="27432" anchor="t">
                    <a:lnL w="0">
                      <a:noFill/>
                    </a:lnL>
                    <a:lnR w="0">
                      <a:noFill/>
                    </a:lnR>
                    <a:lnT w="0">
                      <a:noFill/>
                    </a:lnT>
                    <a:lnB w="5080">
                      <a:solidFill>
                        <a:srgbClr val="B8B8B8"/>
                      </a:solidFill>
                    </a:lnB>
                    <a:solidFill>
                      <a:srgbClr val="FFFFFF"/>
                    </a:solidFill>
                  </a:tcPr>
                </a:tc>
              </a:tr>
              <a:tr h="429768">
                <a:tc>
                  <a:txBody>
                    <a:bodyPr/>
                    <a:lstStyle/>
                    <a:p>
                      <a:pPr>
                        <a:spcAft>
                          <a:spcPts val="100"/>
                        </a:spcAft>
                        <a:defRPr sz="850" b="1">
                          <a:solidFill>
                            <a:srgbClr val="0A2373"/>
                          </a:solidFill>
                          <a:latin typeface="Lato"/>
                        </a:defRPr>
                      </a:pPr>
                      <a:r>
                        <a:t>Private backup generation</a:t>
                      </a:r>
                    </a:p>
                    <a:p>
                      <a:pPr>
                        <a:spcAft>
                          <a:spcPts val="100"/>
                        </a:spcAft>
                        <a:defRPr sz="850" b="1">
                          <a:solidFill>
                            <a:srgbClr val="0A2373"/>
                          </a:solidFill>
                          <a:latin typeface="Lato"/>
                        </a:defRPr>
                      </a:pPr>
                      <a:r>
                        <a:t>bn litres a year</a:t>
                      </a:r>
                    </a:p>
                  </a:txBody>
                  <a:tcPr marL="64008" marR="64008" marT="54864" marB="27432" anchor="t">
                    <a:lnL w="0">
                      <a:noFill/>
                    </a:lnL>
                    <a:lnR w="0">
                      <a:noFill/>
                    </a:lnR>
                    <a:lnT w="0">
                      <a:noFill/>
                    </a:lnT>
                    <a:lnB w="5080">
                      <a:solidFill>
                        <a:srgbClr val="B8B8B8"/>
                      </a:solidFill>
                    </a:lnB>
                    <a:solidFill>
                      <a:srgbClr val="FFFFFF"/>
                    </a:solidFill>
                  </a:tcPr>
                </a:tc>
                <a:tc>
                  <a:txBody>
                    <a:bodyPr/>
                    <a:lstStyle/>
                    <a:p>
                      <a:pPr>
                        <a:spcAft>
                          <a:spcPts val="100"/>
                        </a:spcAft>
                        <a:defRPr sz="850" b="0">
                          <a:solidFill>
                            <a:srgbClr val="11151A"/>
                          </a:solidFill>
                          <a:latin typeface="Lato"/>
                        </a:defRPr>
                      </a:pPr>
                      <a:r>
                        <a:t>Not measured</a:t>
                      </a:r>
                    </a:p>
                  </a:txBody>
                  <a:tcPr marL="64008" marR="64008" marT="54864" marB="27432" anchor="t">
                    <a:lnL w="0">
                      <a:noFill/>
                    </a:lnL>
                    <a:lnR w="0">
                      <a:noFill/>
                    </a:lnR>
                    <a:lnT w="0">
                      <a:noFill/>
                    </a:lnT>
                    <a:lnB w="5080">
                      <a:solidFill>
                        <a:srgbClr val="B8B8B8"/>
                      </a:solidFill>
                    </a:lnB>
                    <a:solidFill>
                      <a:srgbClr val="FFFFFF"/>
                    </a:solidFill>
                  </a:tcPr>
                </a:tc>
                <a:tc>
                  <a:txBody>
                    <a:bodyPr/>
                    <a:lstStyle/>
                    <a:p>
                      <a:pPr>
                        <a:spcAft>
                          <a:spcPts val="100"/>
                        </a:spcAft>
                        <a:defRPr sz="850" b="0">
                          <a:solidFill>
                            <a:srgbClr val="11151A"/>
                          </a:solidFill>
                          <a:latin typeface="Lato"/>
                        </a:defRPr>
                      </a:pPr>
                      <a:r>
                        <a:t>0 / 0 / 0.5</a:t>
                      </a:r>
                    </a:p>
                  </a:txBody>
                  <a:tcPr marL="64008" marR="64008" marT="54864" marB="27432" anchor="t">
                    <a:lnL w="0">
                      <a:noFill/>
                    </a:lnL>
                    <a:lnR w="0">
                      <a:noFill/>
                    </a:lnR>
                    <a:lnT w="0">
                      <a:noFill/>
                    </a:lnT>
                    <a:lnB w="5080">
                      <a:solidFill>
                        <a:srgbClr val="B8B8B8"/>
                      </a:solidFill>
                    </a:lnB>
                    <a:solidFill>
                      <a:srgbClr val="FFFFFF"/>
                    </a:solidFill>
                  </a:tcPr>
                </a:tc>
                <a:tc>
                  <a:txBody>
                    <a:bodyPr/>
                    <a:lstStyle/>
                    <a:p>
                      <a:pPr>
                        <a:spcAft>
                          <a:spcPts val="100"/>
                        </a:spcAft>
                        <a:defRPr sz="850" b="0">
                          <a:solidFill>
                            <a:srgbClr val="11151A"/>
                          </a:solidFill>
                          <a:latin typeface="Lato"/>
                        </a:defRPr>
                      </a:pPr>
                      <a:r>
                        <a:t>0 / 0 / 0.5</a:t>
                      </a:r>
                    </a:p>
                  </a:txBody>
                  <a:tcPr marL="64008" marR="64008" marT="54864" marB="27432" anchor="t">
                    <a:lnL w="0">
                      <a:noFill/>
                    </a:lnL>
                    <a:lnR w="0">
                      <a:noFill/>
                    </a:lnR>
                    <a:lnT w="0">
                      <a:noFill/>
                    </a:lnT>
                    <a:lnB w="5080">
                      <a:solidFill>
                        <a:srgbClr val="B8B8B8"/>
                      </a:solidFill>
                    </a:lnB>
                    <a:solidFill>
                      <a:srgbClr val="FFFFFF"/>
                    </a:solidFill>
                  </a:tcPr>
                </a:tc>
                <a:tc>
                  <a:txBody>
                    <a:bodyPr/>
                    <a:lstStyle/>
                    <a:p>
                      <a:pPr>
                        <a:spcAft>
                          <a:spcPts val="100"/>
                        </a:spcAft>
                        <a:defRPr sz="850" b="0">
                          <a:solidFill>
                            <a:srgbClr val="11151A"/>
                          </a:solidFill>
                          <a:latin typeface="Lato"/>
                        </a:defRPr>
                      </a:pPr>
                      <a:r>
                        <a:t>Diesel sales fell 1.2 bn litres in 2024 as load-shedding ended; grid turbines explain about 0.7. Indicative.</a:t>
                      </a:r>
                    </a:p>
                  </a:txBody>
                  <a:tcPr marL="64008" marR="64008" marT="54864" marB="27432" anchor="t">
                    <a:lnL w="0">
                      <a:noFill/>
                    </a:lnL>
                    <a:lnR w="0">
                      <a:noFill/>
                    </a:lnR>
                    <a:lnT w="0">
                      <a:noFill/>
                    </a:lnT>
                    <a:lnB w="5080">
                      <a:solidFill>
                        <a:srgbClr val="B8B8B8"/>
                      </a:solidFill>
                    </a:lnB>
                    <a:solidFill>
                      <a:srgbClr val="FFFFFF"/>
                    </a:solidFill>
                  </a:tcPr>
                </a:tc>
              </a:tr>
              <a:tr h="429768">
                <a:tc>
                  <a:txBody>
                    <a:bodyPr/>
                    <a:lstStyle/>
                    <a:p>
                      <a:pPr>
                        <a:spcAft>
                          <a:spcPts val="100"/>
                        </a:spcAft>
                        <a:defRPr sz="850" b="1">
                          <a:solidFill>
                            <a:srgbClr val="0A2373"/>
                          </a:solidFill>
                          <a:latin typeface="Lato"/>
                        </a:defRPr>
                      </a:pPr>
                      <a:r>
                        <a:t>Electric share of new trucks</a:t>
                      </a:r>
                    </a:p>
                    <a:p>
                      <a:pPr>
                        <a:spcAft>
                          <a:spcPts val="100"/>
                        </a:spcAft>
                        <a:defRPr sz="850" b="1">
                          <a:solidFill>
                            <a:srgbClr val="0A2373"/>
                          </a:solidFill>
                          <a:latin typeface="Lato"/>
                        </a:defRPr>
                      </a:pPr>
                      <a:r>
                        <a:t>% of new truck sales</a:t>
                      </a:r>
                    </a:p>
                  </a:txBody>
                  <a:tcPr marL="64008" marR="64008" marT="54864" marB="27432" anchor="t">
                    <a:lnL w="0">
                      <a:noFill/>
                    </a:lnL>
                    <a:lnR w="0">
                      <a:noFill/>
                    </a:lnR>
                    <a:lnT w="0">
                      <a:noFill/>
                    </a:lnT>
                    <a:lnB w="5080">
                      <a:solidFill>
                        <a:srgbClr val="B8B8B8"/>
                      </a:solidFill>
                    </a:lnB>
                    <a:solidFill>
                      <a:srgbClr val="FFFFFF"/>
                    </a:solidFill>
                  </a:tcPr>
                </a:tc>
                <a:tc>
                  <a:txBody>
                    <a:bodyPr/>
                    <a:lstStyle/>
                    <a:p>
                      <a:pPr>
                        <a:spcAft>
                          <a:spcPts val="100"/>
                        </a:spcAft>
                        <a:defRPr sz="850" b="0">
                          <a:solidFill>
                            <a:srgbClr val="11151A"/>
                          </a:solidFill>
                          <a:latin typeface="Lato"/>
                        </a:defRPr>
                      </a:pPr>
                      <a:r>
                        <a:t>Not reported</a:t>
                      </a:r>
                    </a:p>
                  </a:txBody>
                  <a:tcPr marL="64008" marR="64008" marT="54864" marB="27432" anchor="t">
                    <a:lnL w="0">
                      <a:noFill/>
                    </a:lnL>
                    <a:lnR w="0">
                      <a:noFill/>
                    </a:lnR>
                    <a:lnT w="0">
                      <a:noFill/>
                    </a:lnT>
                    <a:lnB w="5080">
                      <a:solidFill>
                        <a:srgbClr val="B8B8B8"/>
                      </a:solidFill>
                    </a:lnB>
                    <a:solidFill>
                      <a:srgbClr val="FFFFFF"/>
                    </a:solidFill>
                  </a:tcPr>
                </a:tc>
                <a:tc>
                  <a:txBody>
                    <a:bodyPr/>
                    <a:lstStyle/>
                    <a:p>
                      <a:pPr>
                        <a:spcAft>
                          <a:spcPts val="100"/>
                        </a:spcAft>
                        <a:defRPr sz="850" b="0">
                          <a:solidFill>
                            <a:srgbClr val="11151A"/>
                          </a:solidFill>
                          <a:latin typeface="Lato"/>
                        </a:defRPr>
                      </a:pPr>
                      <a:r>
                        <a:t>0 / 0.4 / 3</a:t>
                      </a:r>
                    </a:p>
                  </a:txBody>
                  <a:tcPr marL="64008" marR="64008" marT="54864" marB="27432" anchor="t">
                    <a:lnL w="0">
                      <a:noFill/>
                    </a:lnL>
                    <a:lnR w="0">
                      <a:noFill/>
                    </a:lnR>
                    <a:lnT w="0">
                      <a:noFill/>
                    </a:lnT>
                    <a:lnB w="5080">
                      <a:solidFill>
                        <a:srgbClr val="B8B8B8"/>
                      </a:solidFill>
                    </a:lnB>
                    <a:solidFill>
                      <a:srgbClr val="FFFFFF"/>
                    </a:solidFill>
                  </a:tcPr>
                </a:tc>
                <a:tc>
                  <a:txBody>
                    <a:bodyPr/>
                    <a:lstStyle/>
                    <a:p>
                      <a:pPr>
                        <a:spcAft>
                          <a:spcPts val="100"/>
                        </a:spcAft>
                        <a:defRPr sz="850" b="0">
                          <a:solidFill>
                            <a:srgbClr val="11151A"/>
                          </a:solidFill>
                          <a:latin typeface="Lato"/>
                        </a:defRPr>
                      </a:pPr>
                      <a:r>
                        <a:t>0 / 3 / 9</a:t>
                      </a:r>
                    </a:p>
                  </a:txBody>
                  <a:tcPr marL="64008" marR="64008" marT="54864" marB="27432" anchor="t">
                    <a:lnL w="0">
                      <a:noFill/>
                    </a:lnL>
                    <a:lnR w="0">
                      <a:noFill/>
                    </a:lnR>
                    <a:lnT w="0">
                      <a:noFill/>
                    </a:lnT>
                    <a:lnB w="5080">
                      <a:solidFill>
                        <a:srgbClr val="B8B8B8"/>
                      </a:solidFill>
                    </a:lnB>
                    <a:solidFill>
                      <a:srgbClr val="FFFFFF"/>
                    </a:solidFill>
                  </a:tcPr>
                </a:tc>
                <a:tc>
                  <a:txBody>
                    <a:bodyPr/>
                    <a:lstStyle/>
                    <a:p>
                      <a:pPr>
                        <a:spcAft>
                          <a:spcPts val="100"/>
                        </a:spcAft>
                        <a:defRPr sz="850" b="0">
                          <a:solidFill>
                            <a:srgbClr val="11151A"/>
                          </a:solidFill>
                          <a:latin typeface="Lato"/>
                        </a:defRPr>
                      </a:pPr>
                      <a:r>
                        <a:t>No South African data. 2025 benchmarks: Brazil 0.4%, Europe 3%, world 9%, China 25% (IEA; ICCT). High case is about 2.5% of the fleet by 2035.</a:t>
                      </a:r>
                    </a:p>
                  </a:txBody>
                  <a:tcPr marL="64008" marR="64008" marT="54864" marB="27432" anchor="t">
                    <a:lnL w="0">
                      <a:noFill/>
                    </a:lnL>
                    <a:lnR w="0">
                      <a:noFill/>
                    </a:lnR>
                    <a:lnT w="0">
                      <a:noFill/>
                    </a:lnT>
                    <a:lnB w="5080">
                      <a:solidFill>
                        <a:srgbClr val="B8B8B8"/>
                      </a:solidFill>
                    </a:lnB>
                    <a:solidFill>
                      <a:srgbClr val="FFFFFF"/>
                    </a:solidFill>
                  </a:tcPr>
                </a:tc>
              </a:tr>
              <a:tr h="429768">
                <a:tc>
                  <a:txBody>
                    <a:bodyPr/>
                    <a:lstStyle/>
                    <a:p>
                      <a:pPr>
                        <a:spcAft>
                          <a:spcPts val="100"/>
                        </a:spcAft>
                        <a:defRPr sz="850" b="1">
                          <a:solidFill>
                            <a:srgbClr val="0A2373"/>
                          </a:solidFill>
                          <a:latin typeface="Lato"/>
                        </a:defRPr>
                      </a:pPr>
                      <a:r>
                        <a:t>Electric share of new light commercial</a:t>
                      </a:r>
                    </a:p>
                    <a:p>
                      <a:pPr>
                        <a:spcAft>
                          <a:spcPts val="100"/>
                        </a:spcAft>
                        <a:defRPr sz="850" b="1">
                          <a:solidFill>
                            <a:srgbClr val="0A2373"/>
                          </a:solidFill>
                          <a:latin typeface="Lato"/>
                        </a:defRPr>
                      </a:pPr>
                      <a:r>
                        <a:t>% of new sales</a:t>
                      </a:r>
                    </a:p>
                  </a:txBody>
                  <a:tcPr marL="64008" marR="64008" marT="54864" marB="27432" anchor="t">
                    <a:lnL w="0">
                      <a:noFill/>
                    </a:lnL>
                    <a:lnR w="0">
                      <a:noFill/>
                    </a:lnR>
                    <a:lnT w="0">
                      <a:noFill/>
                    </a:lnT>
                    <a:lnB w="5080">
                      <a:solidFill>
                        <a:srgbClr val="B8B8B8"/>
                      </a:solidFill>
                    </a:lnB>
                    <a:solidFill>
                      <a:srgbClr val="FFFFFF"/>
                    </a:solidFill>
                  </a:tcPr>
                </a:tc>
                <a:tc>
                  <a:txBody>
                    <a:bodyPr/>
                    <a:lstStyle/>
                    <a:p>
                      <a:pPr>
                        <a:spcAft>
                          <a:spcPts val="100"/>
                        </a:spcAft>
                        <a:defRPr sz="850" b="0">
                          <a:solidFill>
                            <a:srgbClr val="11151A"/>
                          </a:solidFill>
                          <a:latin typeface="Lato"/>
                        </a:defRPr>
                      </a:pPr>
                      <a:r>
                        <a:t>Not reported</a:t>
                      </a:r>
                    </a:p>
                  </a:txBody>
                  <a:tcPr marL="64008" marR="64008" marT="54864" marB="27432" anchor="t">
                    <a:lnL w="0">
                      <a:noFill/>
                    </a:lnL>
                    <a:lnR w="0">
                      <a:noFill/>
                    </a:lnR>
                    <a:lnT w="0">
                      <a:noFill/>
                    </a:lnT>
                    <a:lnB w="5080">
                      <a:solidFill>
                        <a:srgbClr val="B8B8B8"/>
                      </a:solidFill>
                    </a:lnB>
                    <a:solidFill>
                      <a:srgbClr val="FFFFFF"/>
                    </a:solidFill>
                  </a:tcPr>
                </a:tc>
                <a:tc>
                  <a:txBody>
                    <a:bodyPr/>
                    <a:lstStyle/>
                    <a:p>
                      <a:pPr>
                        <a:spcAft>
                          <a:spcPts val="100"/>
                        </a:spcAft>
                        <a:defRPr sz="850" b="0">
                          <a:solidFill>
                            <a:srgbClr val="11151A"/>
                          </a:solidFill>
                          <a:latin typeface="Lato"/>
                        </a:defRPr>
                      </a:pPr>
                      <a:r>
                        <a:t>0 / 1 / 5</a:t>
                      </a:r>
                    </a:p>
                  </a:txBody>
                  <a:tcPr marL="64008" marR="64008" marT="54864" marB="27432" anchor="t">
                    <a:lnL w="0">
                      <a:noFill/>
                    </a:lnL>
                    <a:lnR w="0">
                      <a:noFill/>
                    </a:lnR>
                    <a:lnT w="0">
                      <a:noFill/>
                    </a:lnT>
                    <a:lnB w="5080">
                      <a:solidFill>
                        <a:srgbClr val="B8B8B8"/>
                      </a:solidFill>
                    </a:lnB>
                    <a:solidFill>
                      <a:srgbClr val="FFFFFF"/>
                    </a:solidFill>
                  </a:tcPr>
                </a:tc>
                <a:tc>
                  <a:txBody>
                    <a:bodyPr/>
                    <a:lstStyle/>
                    <a:p>
                      <a:pPr>
                        <a:spcAft>
                          <a:spcPts val="100"/>
                        </a:spcAft>
                        <a:defRPr sz="850" b="0">
                          <a:solidFill>
                            <a:srgbClr val="11151A"/>
                          </a:solidFill>
                          <a:latin typeface="Lato"/>
                        </a:defRPr>
                      </a:pPr>
                      <a:r>
                        <a:t>0 / 5 / 10</a:t>
                      </a:r>
                    </a:p>
                  </a:txBody>
                  <a:tcPr marL="64008" marR="64008" marT="54864" marB="27432" anchor="t">
                    <a:lnL w="0">
                      <a:noFill/>
                    </a:lnL>
                    <a:lnR w="0">
                      <a:noFill/>
                    </a:lnR>
                    <a:lnT w="0">
                      <a:noFill/>
                    </a:lnT>
                    <a:lnB w="5080">
                      <a:solidFill>
                        <a:srgbClr val="B8B8B8"/>
                      </a:solidFill>
                    </a:lnB>
                    <a:solidFill>
                      <a:srgbClr val="FFFFFF"/>
                    </a:solidFill>
                  </a:tcPr>
                </a:tc>
                <a:tc>
                  <a:txBody>
                    <a:bodyPr/>
                    <a:lstStyle/>
                    <a:p>
                      <a:pPr>
                        <a:spcAft>
                          <a:spcPts val="100"/>
                        </a:spcAft>
                        <a:defRPr sz="850" b="0">
                          <a:solidFill>
                            <a:srgbClr val="11151A"/>
                          </a:solidFill>
                          <a:latin typeface="Lato"/>
                        </a:defRPr>
                      </a:pPr>
                      <a:r>
                        <a:t>2025 benchmarks: India 1%, Europe 10%, China 14% (IEA). Bakkies differ from vans, so loose comparators.</a:t>
                      </a:r>
                    </a:p>
                  </a:txBody>
                  <a:tcPr marL="64008" marR="64008" marT="54864" marB="27432" anchor="t">
                    <a:lnL w="0">
                      <a:noFill/>
                    </a:lnL>
                    <a:lnR w="0">
                      <a:noFill/>
                    </a:lnR>
                    <a:lnT w="0">
                      <a:noFill/>
                    </a:lnT>
                    <a:lnB w="5080">
                      <a:solidFill>
                        <a:srgbClr val="B8B8B8"/>
                      </a:solidFill>
                    </a:lnB>
                    <a:solidFill>
                      <a:srgbClr val="FFFFFF"/>
                    </a:solidFill>
                  </a:tcPr>
                </a:tc>
              </a:tr>
              <a:tr h="429768">
                <a:tc>
                  <a:txBody>
                    <a:bodyPr/>
                    <a:lstStyle/>
                    <a:p>
                      <a:pPr>
                        <a:spcAft>
                          <a:spcPts val="100"/>
                        </a:spcAft>
                        <a:defRPr sz="850" b="1">
                          <a:solidFill>
                            <a:srgbClr val="0A2373"/>
                          </a:solidFill>
                          <a:latin typeface="Lato"/>
                        </a:defRPr>
                      </a:pPr>
                      <a:r>
                        <a:t>Real petrol price</a:t>
                      </a:r>
                    </a:p>
                    <a:p>
                      <a:pPr>
                        <a:spcAft>
                          <a:spcPts val="100"/>
                        </a:spcAft>
                        <a:defRPr sz="850" b="1">
                          <a:solidFill>
                            <a:srgbClr val="0A2373"/>
                          </a:solidFill>
                          <a:latin typeface="Lato"/>
                        </a:defRPr>
                      </a:pPr>
                      <a:r>
                        <a:t>2024 = 100</a:t>
                      </a:r>
                    </a:p>
                  </a:txBody>
                  <a:tcPr marL="64008" marR="64008" marT="54864" marB="27432" anchor="t">
                    <a:lnL w="0">
                      <a:noFill/>
                    </a:lnL>
                    <a:lnR w="0">
                      <a:noFill/>
                    </a:lnR>
                    <a:lnT w="0">
                      <a:noFill/>
                    </a:lnT>
                    <a:lnB w="5080">
                      <a:solidFill>
                        <a:srgbClr val="B8B8B8"/>
                      </a:solidFill>
                    </a:lnB>
                    <a:solidFill>
                      <a:srgbClr val="FFFFFF"/>
                    </a:solidFill>
                  </a:tcPr>
                </a:tc>
                <a:tc>
                  <a:txBody>
                    <a:bodyPr/>
                    <a:lstStyle/>
                    <a:p>
                      <a:pPr>
                        <a:spcAft>
                          <a:spcPts val="100"/>
                        </a:spcAft>
                        <a:defRPr sz="850" b="0">
                          <a:solidFill>
                            <a:srgbClr val="11151A"/>
                          </a:solidFill>
                          <a:latin typeface="Lato"/>
                        </a:defRPr>
                      </a:pPr>
                      <a:r>
                        <a:t>100</a:t>
                      </a:r>
                    </a:p>
                    <a:p>
                      <a:pPr>
                        <a:spcAft>
                          <a:spcPts val="100"/>
                        </a:spcAft>
                        <a:defRPr sz="850" b="0">
                          <a:solidFill>
                            <a:srgbClr val="11151A"/>
                          </a:solidFill>
                          <a:latin typeface="Lato"/>
                        </a:defRPr>
                      </a:pPr>
                      <a:r>
                        <a:t>retail, inland</a:t>
                      </a:r>
                    </a:p>
                  </a:txBody>
                  <a:tcPr marL="64008" marR="64008" marT="54864" marB="27432" anchor="t">
                    <a:lnL w="0">
                      <a:noFill/>
                    </a:lnL>
                    <a:lnR w="0">
                      <a:noFill/>
                    </a:lnR>
                    <a:lnT w="0">
                      <a:noFill/>
                    </a:lnT>
                    <a:lnB w="5080">
                      <a:solidFill>
                        <a:srgbClr val="B8B8B8"/>
                      </a:solidFill>
                    </a:lnB>
                    <a:solidFill>
                      <a:srgbClr val="FFFFFF"/>
                    </a:solidFill>
                  </a:tcPr>
                </a:tc>
                <a:tc>
                  <a:txBody>
                    <a:bodyPr/>
                    <a:lstStyle/>
                    <a:p>
                      <a:pPr>
                        <a:spcAft>
                          <a:spcPts val="100"/>
                        </a:spcAft>
                        <a:defRPr sz="850" b="0">
                          <a:solidFill>
                            <a:srgbClr val="11151A"/>
                          </a:solidFill>
                          <a:latin typeface="Lato"/>
                        </a:defRPr>
                      </a:pPr>
                      <a:r>
                        <a:t>80 / 100 / 120</a:t>
                      </a:r>
                    </a:p>
                  </a:txBody>
                  <a:tcPr marL="64008" marR="64008" marT="54864" marB="27432" anchor="t">
                    <a:lnL w="0">
                      <a:noFill/>
                    </a:lnL>
                    <a:lnR w="0">
                      <a:noFill/>
                    </a:lnR>
                    <a:lnT w="0">
                      <a:noFill/>
                    </a:lnT>
                    <a:lnB w="5080">
                      <a:solidFill>
                        <a:srgbClr val="B8B8B8"/>
                      </a:solidFill>
                    </a:lnB>
                    <a:solidFill>
                      <a:srgbClr val="FFFFFF"/>
                    </a:solidFill>
                  </a:tcPr>
                </a:tc>
                <a:tc>
                  <a:txBody>
                    <a:bodyPr/>
                    <a:lstStyle/>
                    <a:p>
                      <a:pPr>
                        <a:spcAft>
                          <a:spcPts val="100"/>
                        </a:spcAft>
                        <a:defRPr sz="850" b="0">
                          <a:solidFill>
                            <a:srgbClr val="11151A"/>
                          </a:solidFill>
                          <a:latin typeface="Lato"/>
                        </a:defRPr>
                      </a:pPr>
                      <a:r>
                        <a:t>80 / 100 / 120</a:t>
                      </a:r>
                    </a:p>
                  </a:txBody>
                  <a:tcPr marL="64008" marR="64008" marT="54864" marB="27432" anchor="t">
                    <a:lnL w="0">
                      <a:noFill/>
                    </a:lnL>
                    <a:lnR w="0">
                      <a:noFill/>
                    </a:lnR>
                    <a:lnT w="0">
                      <a:noFill/>
                    </a:lnT>
                    <a:lnB w="5080">
                      <a:solidFill>
                        <a:srgbClr val="B8B8B8"/>
                      </a:solidFill>
                    </a:lnB>
                    <a:solidFill>
                      <a:srgbClr val="FFFFFF"/>
                    </a:solidFill>
                  </a:tcPr>
                </a:tc>
                <a:tc>
                  <a:txBody>
                    <a:bodyPr/>
                    <a:lstStyle/>
                    <a:p>
                      <a:pPr>
                        <a:spcAft>
                          <a:spcPts val="100"/>
                        </a:spcAft>
                        <a:defRPr sz="850" b="0">
                          <a:solidFill>
                            <a:srgbClr val="11151A"/>
                          </a:solidFill>
                          <a:latin typeface="Lato"/>
                        </a:defRPr>
                      </a:pPr>
                      <a:r>
                        <a:t>79-109 in 2011-2025, 121 in October 2026. Boshoff (2012): response -0.5, so the high case is about -10%.</a:t>
                      </a:r>
                    </a:p>
                  </a:txBody>
                  <a:tcPr marL="64008" marR="64008" marT="54864" marB="27432" anchor="t">
                    <a:lnL w="0">
                      <a:noFill/>
                    </a:lnL>
                    <a:lnR w="0">
                      <a:noFill/>
                    </a:lnR>
                    <a:lnT w="0">
                      <a:noFill/>
                    </a:lnT>
                    <a:lnB w="5080">
                      <a:solidFill>
                        <a:srgbClr val="B8B8B8"/>
                      </a:solidFill>
                    </a:lnB>
                    <a:solidFill>
                      <a:srgbClr val="FFFFFF"/>
                    </a:solidFill>
                  </a:tcPr>
                </a:tc>
              </a:tr>
              <a:tr h="429768">
                <a:tc>
                  <a:txBody>
                    <a:bodyPr/>
                    <a:lstStyle/>
                    <a:p>
                      <a:pPr>
                        <a:spcAft>
                          <a:spcPts val="100"/>
                        </a:spcAft>
                        <a:defRPr sz="850" b="1">
                          <a:solidFill>
                            <a:srgbClr val="0A2373"/>
                          </a:solidFill>
                          <a:latin typeface="Lato"/>
                        </a:defRPr>
                      </a:pPr>
                      <a:r>
                        <a:t>Plug-in hybrid share</a:t>
                      </a:r>
                    </a:p>
                    <a:p>
                      <a:pPr>
                        <a:spcAft>
                          <a:spcPts val="100"/>
                        </a:spcAft>
                        <a:defRPr sz="850" b="1">
                          <a:solidFill>
                            <a:srgbClr val="0A2373"/>
                          </a:solidFill>
                          <a:latin typeface="Lato"/>
                        </a:defRPr>
                      </a:pPr>
                      <a:r>
                        <a:t>% of new sales</a:t>
                      </a:r>
                    </a:p>
                  </a:txBody>
                  <a:tcPr marL="64008" marR="64008" marT="54864" marB="27432" anchor="t">
                    <a:lnL w="0">
                      <a:noFill/>
                    </a:lnL>
                    <a:lnR w="0">
                      <a:noFill/>
                    </a:lnR>
                    <a:lnT w="0">
                      <a:noFill/>
                    </a:lnT>
                    <a:lnB w="5080">
                      <a:solidFill>
                        <a:srgbClr val="B8B8B8"/>
                      </a:solidFill>
                    </a:lnB>
                    <a:solidFill>
                      <a:srgbClr val="FFFFFF"/>
                    </a:solidFill>
                  </a:tcPr>
                </a:tc>
                <a:tc>
                  <a:txBody>
                    <a:bodyPr/>
                    <a:lstStyle/>
                    <a:p>
                      <a:pPr>
                        <a:spcAft>
                          <a:spcPts val="100"/>
                        </a:spcAft>
                        <a:defRPr sz="850" b="0">
                          <a:solidFill>
                            <a:srgbClr val="11151A"/>
                          </a:solidFill>
                          <a:latin typeface="Lato"/>
                        </a:defRPr>
                      </a:pPr>
                      <a:r>
                        <a:t>0.5</a:t>
                      </a:r>
                    </a:p>
                    <a:p>
                      <a:pPr>
                        <a:spcAft>
                          <a:spcPts val="100"/>
                        </a:spcAft>
                        <a:defRPr sz="850" b="0">
                          <a:solidFill>
                            <a:srgbClr val="11151A"/>
                          </a:solidFill>
                          <a:latin typeface="Lato"/>
                        </a:defRPr>
                      </a:pPr>
                      <a:r>
                        <a:t>2,810 sold, 2025</a:t>
                      </a:r>
                    </a:p>
                  </a:txBody>
                  <a:tcPr marL="64008" marR="64008" marT="54864" marB="27432" anchor="t">
                    <a:lnL w="0">
                      <a:noFill/>
                    </a:lnL>
                    <a:lnR w="0">
                      <a:noFill/>
                    </a:lnR>
                    <a:lnT w="0">
                      <a:noFill/>
                    </a:lnT>
                    <a:lnB w="5080">
                      <a:solidFill>
                        <a:srgbClr val="B8B8B8"/>
                      </a:solidFill>
                    </a:lnB>
                    <a:solidFill>
                      <a:srgbClr val="FFFFFF"/>
                    </a:solidFill>
                  </a:tcPr>
                </a:tc>
                <a:tc>
                  <a:txBody>
                    <a:bodyPr/>
                    <a:lstStyle/>
                    <a:p>
                      <a:pPr>
                        <a:spcAft>
                          <a:spcPts val="100"/>
                        </a:spcAft>
                        <a:defRPr sz="850" b="0">
                          <a:solidFill>
                            <a:srgbClr val="11151A"/>
                          </a:solidFill>
                          <a:latin typeface="Lato"/>
                        </a:defRPr>
                      </a:pPr>
                      <a:r>
                        <a:t>0.5 / 1.2 / 2.1</a:t>
                      </a:r>
                    </a:p>
                  </a:txBody>
                  <a:tcPr marL="64008" marR="64008" marT="54864" marB="27432" anchor="t">
                    <a:lnL w="0">
                      <a:noFill/>
                    </a:lnL>
                    <a:lnR w="0">
                      <a:noFill/>
                    </a:lnR>
                    <a:lnT w="0">
                      <a:noFill/>
                    </a:lnT>
                    <a:lnB w="5080">
                      <a:solidFill>
                        <a:srgbClr val="B8B8B8"/>
                      </a:solidFill>
                    </a:lnB>
                    <a:solidFill>
                      <a:srgbClr val="FFFFFF"/>
                    </a:solidFill>
                  </a:tcPr>
                </a:tc>
                <a:tc>
                  <a:txBody>
                    <a:bodyPr/>
                    <a:lstStyle/>
                    <a:p>
                      <a:pPr>
                        <a:spcAft>
                          <a:spcPts val="100"/>
                        </a:spcAft>
                        <a:defRPr sz="850" b="0">
                          <a:solidFill>
                            <a:srgbClr val="11151A"/>
                          </a:solidFill>
                          <a:latin typeface="Lato"/>
                        </a:defRPr>
                      </a:pPr>
                      <a:r>
                        <a:t>0.5 / 2 / 3.7</a:t>
                      </a:r>
                    </a:p>
                  </a:txBody>
                  <a:tcPr marL="64008" marR="64008" marT="54864" marB="27432" anchor="t">
                    <a:lnL w="0">
                      <a:noFill/>
                    </a:lnL>
                    <a:lnR w="0">
                      <a:noFill/>
                    </a:lnR>
                    <a:lnT w="0">
                      <a:noFill/>
                    </a:lnT>
                    <a:lnB w="5080">
                      <a:solidFill>
                        <a:srgbClr val="B8B8B8"/>
                      </a:solidFill>
                    </a:lnB>
                    <a:solidFill>
                      <a:srgbClr val="FFFFFF"/>
                    </a:solidFill>
                  </a:tcPr>
                </a:tc>
                <a:tc>
                  <a:txBody>
                    <a:bodyPr/>
                    <a:lstStyle/>
                    <a:p>
                      <a:pPr>
                        <a:spcAft>
                          <a:spcPts val="100"/>
                        </a:spcAft>
                        <a:defRPr sz="850" b="0">
                          <a:solidFill>
                            <a:srgbClr val="11151A"/>
                          </a:solidFill>
                          <a:latin typeface="Lato"/>
                        </a:defRPr>
                      </a:pPr>
                      <a:r>
                        <a:t>naamsa: 0.02% in 2022 to 0.47% in 2025. Extrapolates South Africa's own sales; not a forecast.</a:t>
                      </a:r>
                    </a:p>
                  </a:txBody>
                  <a:tcPr marL="64008" marR="64008" marT="54864" marB="27432" anchor="t">
                    <a:lnL w="0">
                      <a:noFill/>
                    </a:lnL>
                    <a:lnR w="0">
                      <a:noFill/>
                    </a:lnR>
                    <a:lnT w="0">
                      <a:noFill/>
                    </a:lnT>
                    <a:lnB w="5080">
                      <a:solidFill>
                        <a:srgbClr val="B8B8B8"/>
                      </a:solidFill>
                    </a:lnB>
                    <a:solidFill>
                      <a:srgbClr val="FFFFFF"/>
                    </a:solidFill>
                  </a:tcPr>
                </a:tc>
              </a:tr>
              <a:tr h="429768">
                <a:tc>
                  <a:txBody>
                    <a:bodyPr/>
                    <a:lstStyle/>
                    <a:p>
                      <a:pPr>
                        <a:spcAft>
                          <a:spcPts val="100"/>
                        </a:spcAft>
                        <a:defRPr sz="850" b="1">
                          <a:solidFill>
                            <a:srgbClr val="0A2373"/>
                          </a:solidFill>
                          <a:latin typeface="Lato"/>
                        </a:defRPr>
                      </a:pPr>
                      <a:r>
                        <a:t>Conventional hybrid share</a:t>
                      </a:r>
                    </a:p>
                    <a:p>
                      <a:pPr>
                        <a:spcAft>
                          <a:spcPts val="100"/>
                        </a:spcAft>
                        <a:defRPr sz="850" b="1">
                          <a:solidFill>
                            <a:srgbClr val="0A2373"/>
                          </a:solidFill>
                          <a:latin typeface="Lato"/>
                        </a:defRPr>
                      </a:pPr>
                      <a:r>
                        <a:t>% of new sales</a:t>
                      </a:r>
                    </a:p>
                  </a:txBody>
                  <a:tcPr marL="64008" marR="64008" marT="54864" marB="27432" anchor="t">
                    <a:lnL w="0">
                      <a:noFill/>
                    </a:lnL>
                    <a:lnR w="0">
                      <a:noFill/>
                    </a:lnR>
                    <a:lnT w="0">
                      <a:noFill/>
                    </a:lnT>
                    <a:lnB w="5080">
                      <a:solidFill>
                        <a:srgbClr val="B8B8B8"/>
                      </a:solidFill>
                    </a:lnB>
                    <a:solidFill>
                      <a:srgbClr val="FFFFFF"/>
                    </a:solidFill>
                  </a:tcPr>
                </a:tc>
                <a:tc>
                  <a:txBody>
                    <a:bodyPr/>
                    <a:lstStyle/>
                    <a:p>
                      <a:pPr>
                        <a:spcAft>
                          <a:spcPts val="100"/>
                        </a:spcAft>
                        <a:defRPr sz="850" b="0">
                          <a:solidFill>
                            <a:srgbClr val="11151A"/>
                          </a:solidFill>
                          <a:latin typeface="Lato"/>
                        </a:defRPr>
                      </a:pPr>
                      <a:r>
                        <a:t>2.1</a:t>
                      </a:r>
                    </a:p>
                    <a:p>
                      <a:pPr>
                        <a:spcAft>
                          <a:spcPts val="100"/>
                        </a:spcAft>
                        <a:defRPr sz="850" b="0">
                          <a:solidFill>
                            <a:srgbClr val="11151A"/>
                          </a:solidFill>
                          <a:latin typeface="Lato"/>
                        </a:defRPr>
                      </a:pPr>
                      <a:r>
                        <a:t>12,818 sold, 2025</a:t>
                      </a:r>
                    </a:p>
                  </a:txBody>
                  <a:tcPr marL="64008" marR="64008" marT="54864" marB="27432" anchor="t">
                    <a:lnL w="0">
                      <a:noFill/>
                    </a:lnL>
                    <a:lnR w="0">
                      <a:noFill/>
                    </a:lnR>
                    <a:lnT w="0">
                      <a:noFill/>
                    </a:lnT>
                    <a:lnB w="5080">
                      <a:solidFill>
                        <a:srgbClr val="B8B8B8"/>
                      </a:solidFill>
                    </a:lnB>
                    <a:solidFill>
                      <a:srgbClr val="FFFFFF"/>
                    </a:solidFill>
                  </a:tcPr>
                </a:tc>
                <a:tc>
                  <a:txBody>
                    <a:bodyPr/>
                    <a:lstStyle/>
                    <a:p>
                      <a:pPr>
                        <a:spcAft>
                          <a:spcPts val="100"/>
                        </a:spcAft>
                        <a:defRPr sz="850" b="0">
                          <a:solidFill>
                            <a:srgbClr val="11151A"/>
                          </a:solidFill>
                          <a:latin typeface="Lato"/>
                        </a:defRPr>
                      </a:pPr>
                      <a:r>
                        <a:t>2.1 / 4.4 / 6.7</a:t>
                      </a:r>
                    </a:p>
                  </a:txBody>
                  <a:tcPr marL="64008" marR="64008" marT="54864" marB="27432" anchor="t">
                    <a:lnL w="0">
                      <a:noFill/>
                    </a:lnL>
                    <a:lnR w="0">
                      <a:noFill/>
                    </a:lnR>
                    <a:lnT w="0">
                      <a:noFill/>
                    </a:lnT>
                    <a:lnB w="5080">
                      <a:solidFill>
                        <a:srgbClr val="B8B8B8"/>
                      </a:solidFill>
                    </a:lnB>
                    <a:solidFill>
                      <a:srgbClr val="FFFFFF"/>
                    </a:solidFill>
                  </a:tcPr>
                </a:tc>
                <a:tc>
                  <a:txBody>
                    <a:bodyPr/>
                    <a:lstStyle/>
                    <a:p>
                      <a:pPr>
                        <a:spcAft>
                          <a:spcPts val="100"/>
                        </a:spcAft>
                        <a:defRPr sz="850" b="0">
                          <a:solidFill>
                            <a:srgbClr val="11151A"/>
                          </a:solidFill>
                          <a:latin typeface="Lato"/>
                        </a:defRPr>
                      </a:pPr>
                      <a:r>
                        <a:t>2.1 / 6.7 / 11.3</a:t>
                      </a:r>
                    </a:p>
                  </a:txBody>
                  <a:tcPr marL="64008" marR="64008" marT="54864" marB="27432" anchor="t">
                    <a:lnL w="0">
                      <a:noFill/>
                    </a:lnL>
                    <a:lnR w="0">
                      <a:noFill/>
                    </a:lnR>
                    <a:lnT w="0">
                      <a:noFill/>
                    </a:lnT>
                    <a:lnB w="5080">
                      <a:solidFill>
                        <a:srgbClr val="B8B8B8"/>
                      </a:solidFill>
                    </a:lnB>
                    <a:solidFill>
                      <a:srgbClr val="FFFFFF"/>
                    </a:solidFill>
                  </a:tcPr>
                </a:tc>
                <a:tc>
                  <a:txBody>
                    <a:bodyPr/>
                    <a:lstStyle/>
                    <a:p>
                      <a:pPr>
                        <a:spcAft>
                          <a:spcPts val="100"/>
                        </a:spcAft>
                        <a:defRPr sz="850" b="0">
                          <a:solidFill>
                            <a:srgbClr val="11151A"/>
                          </a:solidFill>
                          <a:latin typeface="Lato"/>
                        </a:defRPr>
                      </a:pPr>
                      <a:r>
                        <a:t>naamsa: 0.77% in 2022 to 2.15% in 2025. Extrapolates South Africa's own sales; not a forecast.</a:t>
                      </a:r>
                    </a:p>
                  </a:txBody>
                  <a:tcPr marL="64008" marR="64008" marT="54864" marB="27432" anchor="t">
                    <a:lnL w="0">
                      <a:noFill/>
                    </a:lnL>
                    <a:lnR w="0">
                      <a:noFill/>
                    </a:lnR>
                    <a:lnT w="0">
                      <a:noFill/>
                    </a:lnT>
                    <a:lnB w="5080">
                      <a:solidFill>
                        <a:srgbClr val="B8B8B8"/>
                      </a:solidFill>
                    </a:lnB>
                    <a:solidFill>
                      <a:srgbClr val="FFFFFF"/>
                    </a:solidFill>
                  </a:tcPr>
                </a:tc>
              </a:tr>
              <a:tr h="429768">
                <a:tc>
                  <a:txBody>
                    <a:bodyPr/>
                    <a:lstStyle/>
                    <a:p>
                      <a:pPr>
                        <a:spcAft>
                          <a:spcPts val="100"/>
                        </a:spcAft>
                        <a:defRPr sz="850" b="1">
                          <a:solidFill>
                            <a:srgbClr val="0A2373"/>
                          </a:solidFill>
                          <a:latin typeface="Lato"/>
                        </a:defRPr>
                      </a:pPr>
                      <a:r>
                        <a:t>Rail passenger journeys</a:t>
                      </a:r>
                    </a:p>
                    <a:p>
                      <a:pPr>
                        <a:spcAft>
                          <a:spcPts val="100"/>
                        </a:spcAft>
                        <a:defRPr sz="850" b="1">
                          <a:solidFill>
                            <a:srgbClr val="0A2373"/>
                          </a:solidFill>
                          <a:latin typeface="Lato"/>
                        </a:defRPr>
                      </a:pPr>
                      <a:r>
                        <a:t>million a year</a:t>
                      </a:r>
                    </a:p>
                  </a:txBody>
                  <a:tcPr marL="64008" marR="64008" marT="54864" marB="27432" anchor="t">
                    <a:lnL w="0">
                      <a:noFill/>
                    </a:lnL>
                    <a:lnR w="0">
                      <a:noFill/>
                    </a:lnR>
                    <a:lnT w="0">
                      <a:noFill/>
                    </a:lnT>
                    <a:lnB w="5080">
                      <a:solidFill>
                        <a:srgbClr val="B8B8B8"/>
                      </a:solidFill>
                    </a:lnB>
                    <a:solidFill>
                      <a:srgbClr val="FFFFFF"/>
                    </a:solidFill>
                  </a:tcPr>
                </a:tc>
                <a:tc>
                  <a:txBody>
                    <a:bodyPr/>
                    <a:lstStyle/>
                    <a:p>
                      <a:pPr>
                        <a:spcAft>
                          <a:spcPts val="100"/>
                        </a:spcAft>
                        <a:defRPr sz="850" b="0">
                          <a:solidFill>
                            <a:srgbClr val="11151A"/>
                          </a:solidFill>
                          <a:latin typeface="Lato"/>
                        </a:defRPr>
                      </a:pPr>
                      <a:r>
                        <a:t>74</a:t>
                      </a:r>
                    </a:p>
                    <a:p>
                      <a:pPr>
                        <a:spcAft>
                          <a:spcPts val="100"/>
                        </a:spcAft>
                        <a:defRPr sz="850" b="0">
                          <a:solidFill>
                            <a:srgbClr val="11151A"/>
                          </a:solidFill>
                          <a:latin typeface="Lato"/>
                        </a:defRPr>
                      </a:pPr>
                      <a:r>
                        <a:t>2024</a:t>
                      </a:r>
                    </a:p>
                  </a:txBody>
                  <a:tcPr marL="64008" marR="64008" marT="54864" marB="27432" anchor="t">
                    <a:lnL w="0">
                      <a:noFill/>
                    </a:lnL>
                    <a:lnR w="0">
                      <a:noFill/>
                    </a:lnR>
                    <a:lnT w="0">
                      <a:noFill/>
                    </a:lnT>
                    <a:lnB w="5080">
                      <a:solidFill>
                        <a:srgbClr val="B8B8B8"/>
                      </a:solidFill>
                    </a:lnB>
                    <a:solidFill>
                      <a:srgbClr val="FFFFFF"/>
                    </a:solidFill>
                  </a:tcPr>
                </a:tc>
                <a:tc>
                  <a:txBody>
                    <a:bodyPr/>
                    <a:lstStyle/>
                    <a:p>
                      <a:pPr>
                        <a:spcAft>
                          <a:spcPts val="100"/>
                        </a:spcAft>
                        <a:defRPr sz="850" b="0">
                          <a:solidFill>
                            <a:srgbClr val="11151A"/>
                          </a:solidFill>
                          <a:latin typeface="Lato"/>
                        </a:defRPr>
                      </a:pPr>
                      <a:r>
                        <a:t>100 / 180 / 320</a:t>
                      </a:r>
                    </a:p>
                  </a:txBody>
                  <a:tcPr marL="64008" marR="64008" marT="54864" marB="27432" anchor="t">
                    <a:lnL w="0">
                      <a:noFill/>
                    </a:lnL>
                    <a:lnR w="0">
                      <a:noFill/>
                    </a:lnR>
                    <a:lnT w="0">
                      <a:noFill/>
                    </a:lnT>
                    <a:lnB w="5080">
                      <a:solidFill>
                        <a:srgbClr val="B8B8B8"/>
                      </a:solidFill>
                    </a:lnB>
                    <a:solidFill>
                      <a:srgbClr val="FFFFFF"/>
                    </a:solidFill>
                  </a:tcPr>
                </a:tc>
                <a:tc>
                  <a:txBody>
                    <a:bodyPr/>
                    <a:lstStyle/>
                    <a:p>
                      <a:pPr>
                        <a:spcAft>
                          <a:spcPts val="100"/>
                        </a:spcAft>
                        <a:defRPr sz="850" b="0">
                          <a:solidFill>
                            <a:srgbClr val="11151A"/>
                          </a:solidFill>
                          <a:latin typeface="Lato"/>
                        </a:defRPr>
                      </a:pPr>
                      <a:r>
                        <a:t>100 / 250 / 320</a:t>
                      </a:r>
                    </a:p>
                  </a:txBody>
                  <a:tcPr marL="64008" marR="64008" marT="54864" marB="27432" anchor="t">
                    <a:lnL w="0">
                      <a:noFill/>
                    </a:lnL>
                    <a:lnR w="0">
                      <a:noFill/>
                    </a:lnR>
                    <a:lnT w="0">
                      <a:noFill/>
                    </a:lnT>
                    <a:lnB w="5080">
                      <a:solidFill>
                        <a:srgbClr val="B8B8B8"/>
                      </a:solidFill>
                    </a:lnB>
                    <a:solidFill>
                      <a:srgbClr val="FFFFFF"/>
                    </a:solidFill>
                  </a:tcPr>
                </a:tc>
                <a:tc>
                  <a:txBody>
                    <a:bodyPr/>
                    <a:lstStyle/>
                    <a:p>
                      <a:pPr>
                        <a:spcAft>
                          <a:spcPts val="100"/>
                        </a:spcAft>
                        <a:defRPr sz="850" b="0">
                          <a:solidFill>
                            <a:srgbClr val="11151A"/>
                          </a:solidFill>
                          <a:latin typeface="Lato"/>
                        </a:defRPr>
                      </a:pPr>
                      <a:r>
                        <a:t>Stats SA: 317 in 2017, 175 in 2019, 19 in 2022, 103 in 2025. Effect in litres cannot yet be stated.</a:t>
                      </a:r>
                    </a:p>
                  </a:txBody>
                  <a:tcPr marL="64008" marR="64008" marT="54864" marB="27432" anchor="t">
                    <a:lnL w="0">
                      <a:noFill/>
                    </a:lnL>
                    <a:lnR w="0">
                      <a:noFill/>
                    </a:lnR>
                    <a:lnT w="0">
                      <a:noFill/>
                    </a:lnT>
                    <a:lnB w="5080">
                      <a:solidFill>
                        <a:srgbClr val="B8B8B8"/>
                      </a:solidFill>
                    </a:lnB>
                    <a:solidFill>
                      <a:srgbClr val="FFFFFF"/>
                    </a:solidFill>
                  </a:tcPr>
                </a:tc>
              </a:tr>
              <a:tr h="429768">
                <a:tc>
                  <a:txBody>
                    <a:bodyPr/>
                    <a:lstStyle/>
                    <a:p>
                      <a:pPr>
                        <a:spcAft>
                          <a:spcPts val="100"/>
                        </a:spcAft>
                        <a:defRPr sz="850" b="1">
                          <a:solidFill>
                            <a:srgbClr val="0A2373"/>
                          </a:solidFill>
                          <a:latin typeface="Lato"/>
                        </a:defRPr>
                      </a:pPr>
                      <a:r>
                        <a:t>Exports to nine neighbours</a:t>
                      </a:r>
                    </a:p>
                    <a:p>
                      <a:pPr>
                        <a:spcAft>
                          <a:spcPts val="100"/>
                        </a:spcAft>
                        <a:defRPr sz="850" b="1">
                          <a:solidFill>
                            <a:srgbClr val="0A2373"/>
                          </a:solidFill>
                          <a:latin typeface="Lato"/>
                        </a:defRPr>
                      </a:pPr>
                      <a:r>
                        <a:t>bn litres a year, petrol and diesel</a:t>
                      </a:r>
                    </a:p>
                  </a:txBody>
                  <a:tcPr marL="64008" marR="64008" marT="54864" marB="27432" anchor="t">
                    <a:lnL w="0">
                      <a:noFill/>
                    </a:lnL>
                    <a:lnR w="0">
                      <a:noFill/>
                    </a:lnR>
                    <a:lnT w="0">
                      <a:noFill/>
                    </a:lnT>
                    <a:lnB w="5080">
                      <a:solidFill>
                        <a:srgbClr val="B8B8B8"/>
                      </a:solidFill>
                    </a:lnB>
                    <a:solidFill>
                      <a:srgbClr val="FFFFFF"/>
                    </a:solidFill>
                  </a:tcPr>
                </a:tc>
                <a:tc>
                  <a:txBody>
                    <a:bodyPr/>
                    <a:lstStyle/>
                    <a:p>
                      <a:pPr>
                        <a:spcAft>
                          <a:spcPts val="100"/>
                        </a:spcAft>
                        <a:defRPr sz="850" b="0">
                          <a:solidFill>
                            <a:srgbClr val="11151A"/>
                          </a:solidFill>
                          <a:latin typeface="Lato"/>
                        </a:defRPr>
                      </a:pPr>
                      <a:r>
                        <a:t>1.48</a:t>
                      </a:r>
                    </a:p>
                    <a:p>
                      <a:pPr>
                        <a:spcAft>
                          <a:spcPts val="100"/>
                        </a:spcAft>
                        <a:defRPr sz="850" b="0">
                          <a:solidFill>
                            <a:srgbClr val="11151A"/>
                          </a:solidFill>
                          <a:latin typeface="Lato"/>
                        </a:defRPr>
                      </a:pPr>
                      <a:r>
                        <a:t>2024</a:t>
                      </a:r>
                    </a:p>
                  </a:txBody>
                  <a:tcPr marL="64008" marR="64008" marT="54864" marB="27432" anchor="t">
                    <a:lnL w="0">
                      <a:noFill/>
                    </a:lnL>
                    <a:lnR w="0">
                      <a:noFill/>
                    </a:lnR>
                    <a:lnT w="0">
                      <a:noFill/>
                    </a:lnT>
                    <a:lnB w="5080">
                      <a:solidFill>
                        <a:srgbClr val="B8B8B8"/>
                      </a:solidFill>
                    </a:lnB>
                    <a:solidFill>
                      <a:srgbClr val="FFFFFF"/>
                    </a:solidFill>
                  </a:tcPr>
                </a:tc>
                <a:tc>
                  <a:txBody>
                    <a:bodyPr/>
                    <a:lstStyle/>
                    <a:p>
                      <a:pPr>
                        <a:spcAft>
                          <a:spcPts val="100"/>
                        </a:spcAft>
                        <a:defRPr sz="850" b="0">
                          <a:solidFill>
                            <a:srgbClr val="11151A"/>
                          </a:solidFill>
                          <a:latin typeface="Lato"/>
                        </a:defRPr>
                      </a:pPr>
                      <a:r>
                        <a:t>0.7 / 1.4 / 1.7</a:t>
                      </a:r>
                    </a:p>
                  </a:txBody>
                  <a:tcPr marL="64008" marR="64008" marT="54864" marB="27432" anchor="t">
                    <a:lnL w="0">
                      <a:noFill/>
                    </a:lnL>
                    <a:lnR w="0">
                      <a:noFill/>
                    </a:lnR>
                    <a:lnT w="0">
                      <a:noFill/>
                    </a:lnT>
                    <a:lnB w="5080">
                      <a:solidFill>
                        <a:srgbClr val="B8B8B8"/>
                      </a:solidFill>
                    </a:lnB>
                    <a:solidFill>
                      <a:srgbClr val="FFFFFF"/>
                    </a:solidFill>
                  </a:tcPr>
                </a:tc>
                <a:tc>
                  <a:txBody>
                    <a:bodyPr/>
                    <a:lstStyle/>
                    <a:p>
                      <a:pPr>
                        <a:spcAft>
                          <a:spcPts val="100"/>
                        </a:spcAft>
                        <a:defRPr sz="850" b="0">
                          <a:solidFill>
                            <a:srgbClr val="11151A"/>
                          </a:solidFill>
                          <a:latin typeface="Lato"/>
                        </a:defRPr>
                      </a:pPr>
                      <a:r>
                        <a:t>0.7 / 1.4 / 1.7</a:t>
                      </a:r>
                    </a:p>
                  </a:txBody>
                  <a:tcPr marL="64008" marR="64008" marT="54864" marB="27432" anchor="t">
                    <a:lnL w="0">
                      <a:noFill/>
                    </a:lnL>
                    <a:lnR w="0">
                      <a:noFill/>
                    </a:lnR>
                    <a:lnT w="0">
                      <a:noFill/>
                    </a:lnT>
                    <a:lnB w="5080">
                      <a:solidFill>
                        <a:srgbClr val="B8B8B8"/>
                      </a:solidFill>
                    </a:lnB>
                    <a:solidFill>
                      <a:srgbClr val="FFFFFF"/>
                    </a:solidFill>
                  </a:tcPr>
                </a:tc>
                <a:tc>
                  <a:txBody>
                    <a:bodyPr/>
                    <a:lstStyle/>
                    <a:p>
                      <a:pPr>
                        <a:spcAft>
                          <a:spcPts val="100"/>
                        </a:spcAft>
                        <a:defRPr sz="850" b="0">
                          <a:solidFill>
                            <a:srgbClr val="11151A"/>
                          </a:solidFill>
                          <a:latin typeface="Lato"/>
                        </a:defRPr>
                      </a:pPr>
                      <a:r>
                        <a:t>SARS: 2.66 in 2019, 1.37 in 2025; Botswana 1.05 to 0.68. Terminal throughput, not South African demand.</a:t>
                      </a:r>
                    </a:p>
                  </a:txBody>
                  <a:tcPr marL="64008" marR="64008" marT="54864" marB="27432" anchor="t">
                    <a:lnL w="0">
                      <a:noFill/>
                    </a:lnL>
                    <a:lnR w="0">
                      <a:noFill/>
                    </a:lnR>
                    <a:lnT w="0">
                      <a:noFill/>
                    </a:lnT>
                    <a:lnB w="5080">
                      <a:solidFill>
                        <a:srgbClr val="B8B8B8"/>
                      </a:solidFill>
                    </a:lnB>
                    <a:solidFill>
                      <a:srgbClr val="FFFFFF"/>
                    </a:solidFill>
                  </a:tcPr>
                </a:tc>
              </a:tr>
            </a:tbl>
          </a:graphicData>
        </a:graphic>
      </p:graphicFrame>
      <p:sp>
        <p:nvSpPr>
          <p:cNvPr id="8" name="Chevron 7">
            <a:hlinkClick action="ppaction://hlinksldjump" r:id="rId2"/>
          </p:cNvPr>
          <p:cNvSpPr/>
          <p:nvPr/>
        </p:nvSpPr>
        <p:spPr>
          <a:xfrm>
            <a:off x="457200" y="73152"/>
            <a:ext cx="2075688" cy="384048"/>
          </a:xfrm>
          <a:prstGeom prst="chevron">
            <a:avLst>
              <a:gd name="adj" fmla="val 12000"/>
            </a:avLst>
          </a:pr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tIns="0" bIns="0"/>
          <a:lstStyle/>
          <a:p>
            <a:pPr algn="ctr">
              <a:defRPr sz="1100" b="0">
                <a:solidFill>
                  <a:srgbClr val="0A2373"/>
                </a:solidFill>
                <a:latin typeface="Lato"/>
              </a:defRPr>
            </a:pPr>
            <a:r>
              <a:t>1  National balance</a:t>
            </a:r>
          </a:p>
        </p:txBody>
      </p:sp>
      <p:sp>
        <p:nvSpPr>
          <p:cNvPr id="9" name="Chevron 8">
            <a:hlinkClick action="ppaction://hlinksldjump" r:id="rId3"/>
          </p:cNvPr>
          <p:cNvSpPr/>
          <p:nvPr/>
        </p:nvSpPr>
        <p:spPr>
          <a:xfrm>
            <a:off x="2587752" y="73152"/>
            <a:ext cx="2075688" cy="384048"/>
          </a:xfrm>
          <a:prstGeom prst="chevron">
            <a:avLst>
              <a:gd name="adj" fmla="val 12000"/>
            </a:avLst>
          </a:pr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tIns="0" bIns="0"/>
          <a:lstStyle/>
          <a:p>
            <a:pPr algn="ctr">
              <a:defRPr sz="1100" b="1">
                <a:solidFill>
                  <a:srgbClr val="FFFFFF"/>
                </a:solidFill>
                <a:latin typeface="Lato"/>
              </a:defRPr>
            </a:pPr>
            <a:r>
              <a:t>2  Forecast levers</a:t>
            </a:r>
          </a:p>
        </p:txBody>
      </p:sp>
      <p:sp>
        <p:nvSpPr>
          <p:cNvPr id="10" name="Chevron 9">
            <a:hlinkClick action="ppaction://hlinksldjump" r:id="rId4"/>
          </p:cNvPr>
          <p:cNvSpPr/>
          <p:nvPr/>
        </p:nvSpPr>
        <p:spPr>
          <a:xfrm>
            <a:off x="4718304" y="73152"/>
            <a:ext cx="2075688" cy="384048"/>
          </a:xfrm>
          <a:prstGeom prst="chevron">
            <a:avLst>
              <a:gd name="adj" fmla="val 12000"/>
            </a:avLst>
          </a:pr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tIns="0" bIns="0"/>
          <a:lstStyle/>
          <a:p>
            <a:pPr algn="ctr">
              <a:defRPr sz="1100" b="0">
                <a:solidFill>
                  <a:srgbClr val="0A2373"/>
                </a:solidFill>
                <a:latin typeface="Lato"/>
              </a:defRPr>
            </a:pPr>
            <a:r>
              <a:t>3  Sector baselines</a:t>
            </a:r>
          </a:p>
        </p:txBody>
      </p:sp>
      <p:sp>
        <p:nvSpPr>
          <p:cNvPr id="11" name="Chevron 10">
            <a:hlinkClick action="ppaction://hlinksldjump" r:id="rId5"/>
          </p:cNvPr>
          <p:cNvSpPr/>
          <p:nvPr/>
        </p:nvSpPr>
        <p:spPr>
          <a:xfrm>
            <a:off x="6848856" y="73152"/>
            <a:ext cx="2075688" cy="384048"/>
          </a:xfrm>
          <a:prstGeom prst="chevron">
            <a:avLst>
              <a:gd name="adj" fmla="val 12000"/>
            </a:avLst>
          </a:pr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tIns="0" bIns="0"/>
          <a:lstStyle/>
          <a:p>
            <a:pPr algn="ctr">
              <a:defRPr sz="1100" b="0">
                <a:solidFill>
                  <a:srgbClr val="0A2373"/>
                </a:solidFill>
                <a:latin typeface="Lato"/>
              </a:defRPr>
            </a:pPr>
            <a:r>
              <a:t>4  Tank handling</a:t>
            </a:r>
          </a:p>
        </p:txBody>
      </p:sp>
      <p:sp>
        <p:nvSpPr>
          <p:cNvPr id="12" name="Chevron 11">
            <a:hlinkClick action="ppaction://hlinksldjump" r:id="rId6"/>
          </p:cNvPr>
          <p:cNvSpPr/>
          <p:nvPr/>
        </p:nvSpPr>
        <p:spPr>
          <a:xfrm>
            <a:off x="8979408" y="73152"/>
            <a:ext cx="2075688" cy="384048"/>
          </a:xfrm>
          <a:prstGeom prst="chevron">
            <a:avLst>
              <a:gd name="adj" fmla="val 12000"/>
            </a:avLst>
          </a:pr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tIns="0" bIns="0"/>
          <a:lstStyle/>
          <a:p>
            <a:pPr algn="ctr">
              <a:defRPr sz="1100" b="0">
                <a:solidFill>
                  <a:srgbClr val="0A2373"/>
                </a:solidFill>
                <a:latin typeface="Lato"/>
              </a:defRPr>
            </a:pPr>
            <a:r>
              <a:t>5  Hand-back</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Sourced starting values lower 2024 diesel demand by 0.63 bn litres</a:t>
            </a:r>
          </a:p>
        </p:txBody>
      </p:sp>
      <p:sp>
        <p:nvSpPr>
          <p:cNvPr id="3" name="TextBox 2"/>
          <p:cNvSpPr txBox="1"/>
          <p:nvPr/>
        </p:nvSpPr>
        <p:spPr>
          <a:xfrm>
            <a:off x="457200" y="1627632"/>
            <a:ext cx="10652760" cy="274320"/>
          </a:xfrm>
          <a:prstGeom prst="rect">
            <a:avLst/>
          </a:prstGeom>
          <a:noFill/>
        </p:spPr>
        <p:txBody>
          <a:bodyPr wrap="square" lIns="22860" rIns="22860" tIns="0" bIns="0">
            <a:spAutoFit/>
          </a:bodyPr>
          <a:lstStyle/>
          <a:p>
            <a:pPr>
              <a:spcAft>
                <a:spcPts val="300"/>
              </a:spcAft>
              <a:defRPr sz="1300" b="1">
                <a:solidFill>
                  <a:srgbClr val="11151A"/>
                </a:solidFill>
                <a:latin typeface="Lato"/>
              </a:defRPr>
            </a:pPr>
            <a:r>
              <a:t>Agriculture and industry | diesel, billion litres a year | proposed as provisional starting values</a:t>
            </a:r>
          </a:p>
        </p:txBody>
      </p:sp>
      <p:cxnSp>
        <p:nvCxnSpPr>
          <p:cNvPr id="4" name="Connector 3"/>
          <p:cNvCxnSpPr/>
          <p:nvPr/>
        </p:nvCxnSpPr>
        <p:spPr>
          <a:xfrm>
            <a:off x="457200" y="1920240"/>
            <a:ext cx="10652760" cy="0"/>
          </a:xfrm>
          <a:prstGeom prst="line">
            <a:avLst/>
          </a:prstGeom>
          <a:ln w="7620">
            <a:solidFill>
              <a:srgbClr val="A0A0A0"/>
            </a:solidFill>
          </a:ln>
        </p:spPr>
        <p:style>
          <a:lnRef idx="2">
            <a:schemeClr val="accent1"/>
          </a:lnRef>
          <a:fillRef idx="0">
            <a:schemeClr val="accent1"/>
          </a:fillRef>
          <a:effectRef idx="1">
            <a:schemeClr val="accent1"/>
          </a:effectRef>
          <a:fontRef idx="minor">
            <a:schemeClr val="tx1"/>
          </a:fontRef>
        </p:style>
      </p:cxnSp>
      <p:sp>
        <p:nvSpPr>
          <p:cNvPr id="5" name="TextBox 4"/>
          <p:cNvSpPr txBox="1"/>
          <p:nvPr/>
        </p:nvSpPr>
        <p:spPr>
          <a:xfrm>
            <a:off x="457200" y="6547104"/>
            <a:ext cx="9692640" cy="182880"/>
          </a:xfrm>
          <a:prstGeom prst="rect">
            <a:avLst/>
          </a:prstGeom>
          <a:noFill/>
        </p:spPr>
        <p:txBody>
          <a:bodyPr wrap="square" lIns="22860" rIns="22860" tIns="0" bIns="0">
            <a:spAutoFit/>
          </a:bodyPr>
          <a:lstStyle/>
          <a:p>
            <a:pPr>
              <a:spcAft>
                <a:spcPts val="300"/>
              </a:spcAft>
              <a:defRPr sz="800" b="0">
                <a:solidFill>
                  <a:srgbClr val="11151A"/>
                </a:solidFill>
                <a:latin typeface="Lato"/>
              </a:defRPr>
            </a:pPr>
            <a:r>
              <a:t>Source: sector_baselines_2026-10-07.md and .csv on manish-branch; department energy balances 2012-2021. A proposal for Nigel's decision; nothing is accepted.</a:t>
            </a:r>
          </a:p>
        </p:txBody>
      </p:sp>
      <p:sp>
        <p:nvSpPr>
          <p:cNvPr id="6" name="TextBox 5"/>
          <p:cNvSpPr txBox="1"/>
          <p:nvPr/>
        </p:nvSpPr>
        <p:spPr>
          <a:xfrm>
            <a:off x="457200" y="6711696"/>
            <a:ext cx="2011680" cy="128016"/>
          </a:xfrm>
          <a:prstGeom prst="rect">
            <a:avLst/>
          </a:prstGeom>
          <a:noFill/>
        </p:spPr>
        <p:txBody>
          <a:bodyPr wrap="square" lIns="22860" rIns="22860" tIns="0" bIns="0">
            <a:spAutoFit/>
          </a:bodyPr>
          <a:lstStyle/>
          <a:p>
            <a:pPr>
              <a:spcAft>
                <a:spcPts val="300"/>
              </a:spcAft>
              <a:defRPr sz="700" b="0">
                <a:solidFill>
                  <a:srgbClr val="11151A"/>
                </a:solidFill>
                <a:latin typeface="Lato"/>
              </a:defRPr>
            </a:pPr>
            <a:r>
              <a:t>Strictly Confidential</a:t>
            </a:r>
          </a:p>
        </p:txBody>
      </p:sp>
      <p:graphicFrame>
        <p:nvGraphicFramePr>
          <p:cNvPr id="7" name="Table 6"/>
          <p:cNvGraphicFramePr>
            <a:graphicFrameLocks noGrp="1"/>
          </p:cNvGraphicFramePr>
          <p:nvPr/>
        </p:nvGraphicFramePr>
        <p:xfrm>
          <a:off x="457200" y="2029968"/>
          <a:ext cx="10652760" cy="2651760"/>
        </p:xfrm>
        <a:graphic>
          <a:graphicData uri="http://schemas.openxmlformats.org/drawingml/2006/table">
            <a:tbl>
              <a:tblPr firstRow="0" bandRow="0"/>
              <a:tblGrid>
                <a:gridCol w="1188720"/>
                <a:gridCol w="1143000"/>
                <a:gridCol w="2286000"/>
                <a:gridCol w="2743200"/>
                <a:gridCol w="1463040"/>
                <a:gridCol w="1828800"/>
              </a:tblGrid>
              <a:tr h="662940">
                <a:tc>
                  <a:txBody>
                    <a:bodyPr/>
                    <a:lstStyle/>
                    <a:p>
                      <a:pPr>
                        <a:spcAft>
                          <a:spcPts val="100"/>
                        </a:spcAft>
                        <a:defRPr sz="1050" b="1">
                          <a:solidFill>
                            <a:srgbClr val="0A2373"/>
                          </a:solidFill>
                          <a:latin typeface="Lato"/>
                        </a:defRPr>
                      </a:pPr>
                      <a:r>
                        <a:t>Sector</a:t>
                      </a:r>
                    </a:p>
                  </a:txBody>
                  <a:tcPr marL="64008" marR="64008" marT="54864" marB="27432" anchor="t">
                    <a:lnL w="0">
                      <a:noFill/>
                    </a:lnL>
                    <a:lnR w="0">
                      <a:noFill/>
                    </a:lnR>
                    <a:lnT w="0">
                      <a:noFill/>
                    </a:lnT>
                    <a:lnB w="5080">
                      <a:solidFill>
                        <a:srgbClr val="B8B8B8"/>
                      </a:solidFill>
                    </a:lnB>
                    <a:solidFill>
                      <a:srgbClr val="FFFFFF"/>
                    </a:solidFill>
                  </a:tcPr>
                </a:tc>
                <a:tc>
                  <a:txBody>
                    <a:bodyPr/>
                    <a:lstStyle/>
                    <a:p>
                      <a:pPr>
                        <a:spcAft>
                          <a:spcPts val="100"/>
                        </a:spcAft>
                        <a:defRPr sz="1050" b="1">
                          <a:solidFill>
                            <a:srgbClr val="11151A"/>
                          </a:solidFill>
                          <a:latin typeface="Lato"/>
                        </a:defRPr>
                      </a:pPr>
                      <a:r>
                        <a:t>Earlier</a:t>
                      </a:r>
                    </a:p>
                    <a:p>
                      <a:pPr>
                        <a:spcAft>
                          <a:spcPts val="100"/>
                        </a:spcAft>
                        <a:defRPr sz="1050" b="1">
                          <a:solidFill>
                            <a:srgbClr val="11151A"/>
                          </a:solidFill>
                          <a:latin typeface="Lato"/>
                        </a:defRPr>
                      </a:pPr>
                      <a:r>
                        <a:t>placeholder</a:t>
                      </a:r>
                    </a:p>
                  </a:txBody>
                  <a:tcPr marL="64008" marR="64008" marT="54864" marB="27432" anchor="t">
                    <a:lnL w="0">
                      <a:noFill/>
                    </a:lnL>
                    <a:lnR w="0">
                      <a:noFill/>
                    </a:lnR>
                    <a:lnT w="0">
                      <a:noFill/>
                    </a:lnT>
                    <a:lnB w="5080">
                      <a:solidFill>
                        <a:srgbClr val="B8B8B8"/>
                      </a:solidFill>
                    </a:lnB>
                    <a:solidFill>
                      <a:srgbClr val="FFFFFF"/>
                    </a:solidFill>
                  </a:tcPr>
                </a:tc>
                <a:tc>
                  <a:txBody>
                    <a:bodyPr/>
                    <a:lstStyle/>
                    <a:p>
                      <a:pPr>
                        <a:spcAft>
                          <a:spcPts val="100"/>
                        </a:spcAft>
                        <a:defRPr sz="1050" b="1">
                          <a:solidFill>
                            <a:srgbClr val="11151A"/>
                          </a:solidFill>
                          <a:latin typeface="Lato"/>
                        </a:defRPr>
                      </a:pPr>
                      <a:r>
                        <a:t>On the branch</a:t>
                      </a:r>
                    </a:p>
                  </a:txBody>
                  <a:tcPr marL="64008" marR="64008" marT="54864" marB="27432" anchor="t">
                    <a:lnL w="0">
                      <a:noFill/>
                    </a:lnL>
                    <a:lnR w="0">
                      <a:noFill/>
                    </a:lnR>
                    <a:lnT w="0">
                      <a:noFill/>
                    </a:lnT>
                    <a:lnB w="5080">
                      <a:solidFill>
                        <a:srgbClr val="B8B8B8"/>
                      </a:solidFill>
                    </a:lnB>
                    <a:solidFill>
                      <a:srgbClr val="FFFFFF"/>
                    </a:solidFill>
                  </a:tcPr>
                </a:tc>
                <a:tc>
                  <a:txBody>
                    <a:bodyPr/>
                    <a:lstStyle/>
                    <a:p>
                      <a:pPr>
                        <a:spcAft>
                          <a:spcPts val="100"/>
                        </a:spcAft>
                        <a:defRPr sz="1050" b="1">
                          <a:solidFill>
                            <a:srgbClr val="11151A"/>
                          </a:solidFill>
                          <a:latin typeface="Lato"/>
                        </a:defRPr>
                      </a:pPr>
                      <a:r>
                        <a:t>Range in the evidence</a:t>
                      </a:r>
                    </a:p>
                  </a:txBody>
                  <a:tcPr marL="64008" marR="64008" marT="54864" marB="27432" anchor="t">
                    <a:lnL w="0">
                      <a:noFill/>
                    </a:lnL>
                    <a:lnR w="0">
                      <a:noFill/>
                    </a:lnR>
                    <a:lnT w="0">
                      <a:noFill/>
                    </a:lnT>
                    <a:lnB w="5080">
                      <a:solidFill>
                        <a:srgbClr val="B8B8B8"/>
                      </a:solidFill>
                    </a:lnB>
                    <a:solidFill>
                      <a:srgbClr val="FFFFFF"/>
                    </a:solidFill>
                  </a:tcPr>
                </a:tc>
                <a:tc>
                  <a:txBody>
                    <a:bodyPr/>
                    <a:lstStyle/>
                    <a:p>
                      <a:pPr>
                        <a:spcAft>
                          <a:spcPts val="100"/>
                        </a:spcAft>
                        <a:defRPr sz="1050" b="1">
                          <a:solidFill>
                            <a:srgbClr val="11151A"/>
                          </a:solidFill>
                          <a:latin typeface="Lato"/>
                        </a:defRPr>
                      </a:pPr>
                      <a:r>
                        <a:t>Proposed</a:t>
                      </a:r>
                    </a:p>
                  </a:txBody>
                  <a:tcPr marL="64008" marR="64008" marT="54864" marB="27432" anchor="t">
                    <a:lnL w="0">
                      <a:noFill/>
                    </a:lnL>
                    <a:lnR w="0">
                      <a:noFill/>
                    </a:lnR>
                    <a:lnT w="0">
                      <a:noFill/>
                    </a:lnT>
                    <a:lnB w="5080">
                      <a:solidFill>
                        <a:srgbClr val="B8B8B8"/>
                      </a:solidFill>
                    </a:lnB>
                    <a:solidFill>
                      <a:srgbClr val="FFFFFF"/>
                    </a:solidFill>
                  </a:tcPr>
                </a:tc>
                <a:tc>
                  <a:txBody>
                    <a:bodyPr/>
                    <a:lstStyle/>
                    <a:p>
                      <a:pPr>
                        <a:spcAft>
                          <a:spcPts val="100"/>
                        </a:spcAft>
                        <a:defRPr sz="1050" b="1">
                          <a:solidFill>
                            <a:srgbClr val="11151A"/>
                          </a:solidFill>
                          <a:latin typeface="Lato"/>
                        </a:defRPr>
                      </a:pPr>
                      <a:r>
                        <a:t>Effect in 2024; 2035</a:t>
                      </a:r>
                    </a:p>
                  </a:txBody>
                  <a:tcPr marL="64008" marR="64008" marT="54864" marB="27432" anchor="t">
                    <a:lnL w="0">
                      <a:noFill/>
                    </a:lnL>
                    <a:lnR w="0">
                      <a:noFill/>
                    </a:lnR>
                    <a:lnT w="0">
                      <a:noFill/>
                    </a:lnT>
                    <a:lnB w="5080">
                      <a:solidFill>
                        <a:srgbClr val="B8B8B8"/>
                      </a:solidFill>
                    </a:lnB>
                    <a:solidFill>
                      <a:srgbClr val="FFFFFF"/>
                    </a:solidFill>
                  </a:tcPr>
                </a:tc>
              </a:tr>
              <a:tr h="662940">
                <a:tc>
                  <a:txBody>
                    <a:bodyPr/>
                    <a:lstStyle/>
                    <a:p>
                      <a:pPr>
                        <a:spcAft>
                          <a:spcPts val="100"/>
                        </a:spcAft>
                        <a:defRPr sz="1050" b="1">
                          <a:solidFill>
                            <a:srgbClr val="0A2373"/>
                          </a:solidFill>
                          <a:latin typeface="Lato"/>
                        </a:defRPr>
                      </a:pPr>
                      <a:r>
                        <a:t>Agriculture</a:t>
                      </a:r>
                    </a:p>
                  </a:txBody>
                  <a:tcPr marL="64008" marR="64008" marT="54864" marB="27432" anchor="t">
                    <a:lnL w="0">
                      <a:noFill/>
                    </a:lnL>
                    <a:lnR w="0">
                      <a:noFill/>
                    </a:lnR>
                    <a:lnT w="0">
                      <a:noFill/>
                    </a:lnT>
                    <a:lnB w="5080">
                      <a:solidFill>
                        <a:srgbClr val="B8B8B8"/>
                      </a:solidFill>
                    </a:lnB>
                    <a:solidFill>
                      <a:srgbClr val="FFFFFF"/>
                    </a:solidFill>
                  </a:tcPr>
                </a:tc>
                <a:tc>
                  <a:txBody>
                    <a:bodyPr/>
                    <a:lstStyle/>
                    <a:p>
                      <a:pPr>
                        <a:spcAft>
                          <a:spcPts val="100"/>
                        </a:spcAft>
                        <a:defRPr sz="1050" b="0">
                          <a:solidFill>
                            <a:srgbClr val="11151A"/>
                          </a:solidFill>
                          <a:latin typeface="Lato"/>
                        </a:defRPr>
                      </a:pPr>
                      <a:r>
                        <a:t>0.70</a:t>
                      </a:r>
                    </a:p>
                    <a:p>
                      <a:pPr>
                        <a:spcAft>
                          <a:spcPts val="100"/>
                        </a:spcAft>
                        <a:defRPr sz="1050" b="0">
                          <a:solidFill>
                            <a:srgbClr val="11151A"/>
                          </a:solidFill>
                          <a:latin typeface="Lato"/>
                        </a:defRPr>
                      </a:pPr>
                      <a:r>
                        <a:t>no source</a:t>
                      </a:r>
                    </a:p>
                  </a:txBody>
                  <a:tcPr marL="64008" marR="64008" marT="54864" marB="27432" anchor="t">
                    <a:lnL w="0">
                      <a:noFill/>
                    </a:lnL>
                    <a:lnR w="0">
                      <a:noFill/>
                    </a:lnR>
                    <a:lnT w="0">
                      <a:noFill/>
                    </a:lnT>
                    <a:lnB w="5080">
                      <a:solidFill>
                        <a:srgbClr val="B8B8B8"/>
                      </a:solidFill>
                    </a:lnB>
                    <a:solidFill>
                      <a:srgbClr val="FFFFFF"/>
                    </a:solidFill>
                  </a:tcPr>
                </a:tc>
                <a:tc>
                  <a:txBody>
                    <a:bodyPr/>
                    <a:lstStyle/>
                    <a:p>
                      <a:pPr>
                        <a:spcAft>
                          <a:spcPts val="100"/>
                        </a:spcAft>
                        <a:defRPr sz="1050" b="0">
                          <a:solidFill>
                            <a:srgbClr val="11151A"/>
                          </a:solidFill>
                          <a:latin typeface="Lato"/>
                        </a:defRPr>
                      </a:pPr>
                      <a:r>
                        <a:t>1.06 for 2021</a:t>
                      </a:r>
                    </a:p>
                    <a:p>
                      <a:pPr>
                        <a:spcAft>
                          <a:spcPts val="100"/>
                        </a:spcAft>
                        <a:defRPr sz="1050" b="0">
                          <a:solidFill>
                            <a:srgbClr val="11151A"/>
                          </a:solidFill>
                          <a:latin typeface="Lato"/>
                        </a:defRPr>
                      </a:pPr>
                      <a:r>
                        <a:t>energy balance, agriculture and forestry</a:t>
                      </a:r>
                    </a:p>
                  </a:txBody>
                  <a:tcPr marL="64008" marR="64008" marT="54864" marB="27432" anchor="t">
                    <a:lnL w="0">
                      <a:noFill/>
                    </a:lnL>
                    <a:lnR w="0">
                      <a:noFill/>
                    </a:lnR>
                    <a:lnT w="0">
                      <a:noFill/>
                    </a:lnT>
                    <a:lnB w="5080">
                      <a:solidFill>
                        <a:srgbClr val="B8B8B8"/>
                      </a:solidFill>
                    </a:lnB>
                    <a:solidFill>
                      <a:srgbClr val="FFFFFF"/>
                    </a:solidFill>
                  </a:tcPr>
                </a:tc>
                <a:tc>
                  <a:txBody>
                    <a:bodyPr/>
                    <a:lstStyle/>
                    <a:p>
                      <a:pPr>
                        <a:spcAft>
                          <a:spcPts val="100"/>
                        </a:spcAft>
                        <a:defRPr sz="1050" b="0">
                          <a:solidFill>
                            <a:srgbClr val="11151A"/>
                          </a:solidFill>
                          <a:latin typeface="Lato"/>
                        </a:defRPr>
                      </a:pPr>
                      <a:r>
                        <a:t>0.90-1.09 in eight of ten years, 2012-2021; 1.89 and 1.88 in 2016 and 2017</a:t>
                      </a:r>
                    </a:p>
                  </a:txBody>
                  <a:tcPr marL="64008" marR="64008" marT="54864" marB="27432" anchor="t">
                    <a:lnL w="0">
                      <a:noFill/>
                    </a:lnL>
                    <a:lnR w="0">
                      <a:noFill/>
                    </a:lnR>
                    <a:lnT w="0">
                      <a:noFill/>
                    </a:lnT>
                    <a:lnB w="5080">
                      <a:solidFill>
                        <a:srgbClr val="B8B8B8"/>
                      </a:solidFill>
                    </a:lnB>
                    <a:solidFill>
                      <a:srgbClr val="FFFFFF"/>
                    </a:solidFill>
                  </a:tcPr>
                </a:tc>
                <a:tc>
                  <a:txBody>
                    <a:bodyPr/>
                    <a:lstStyle/>
                    <a:p>
                      <a:pPr>
                        <a:spcAft>
                          <a:spcPts val="100"/>
                        </a:spcAft>
                        <a:defRPr sz="1050" b="0">
                          <a:solidFill>
                            <a:srgbClr val="11151A"/>
                          </a:solidFill>
                          <a:latin typeface="Lato"/>
                        </a:defRPr>
                      </a:pPr>
                      <a:r>
                        <a:t>1.06</a:t>
                      </a:r>
                    </a:p>
                    <a:p>
                      <a:pPr>
                        <a:spcAft>
                          <a:spcPts val="100"/>
                        </a:spcAft>
                        <a:defRPr sz="1050" b="0">
                          <a:solidFill>
                            <a:srgbClr val="11151A"/>
                          </a:solidFill>
                          <a:latin typeface="Lato"/>
                        </a:defRPr>
                      </a:pPr>
                      <a:r>
                        <a:t>provisional, about +/-0.1</a:t>
                      </a:r>
                    </a:p>
                  </a:txBody>
                  <a:tcPr marL="64008" marR="64008" marT="54864" marB="27432" anchor="t">
                    <a:lnL w="0">
                      <a:noFill/>
                    </a:lnL>
                    <a:lnR w="0">
                      <a:noFill/>
                    </a:lnR>
                    <a:lnT w="0">
                      <a:noFill/>
                    </a:lnT>
                    <a:lnB w="5080">
                      <a:solidFill>
                        <a:srgbClr val="B8B8B8"/>
                      </a:solidFill>
                    </a:lnB>
                    <a:solidFill>
                      <a:srgbClr val="FFFFFF"/>
                    </a:solidFill>
                  </a:tcPr>
                </a:tc>
                <a:tc>
                  <a:txBody>
                    <a:bodyPr/>
                    <a:lstStyle/>
                    <a:p>
                      <a:pPr>
                        <a:spcAft>
                          <a:spcPts val="100"/>
                        </a:spcAft>
                        <a:defRPr sz="1050" b="0">
                          <a:solidFill>
                            <a:srgbClr val="11151A"/>
                          </a:solidFill>
                          <a:latin typeface="Lato"/>
                        </a:defRPr>
                      </a:pPr>
                      <a:r>
                        <a:t>+0.36; +0.36</a:t>
                      </a:r>
                    </a:p>
                  </a:txBody>
                  <a:tcPr marL="64008" marR="64008" marT="54864" marB="27432" anchor="t">
                    <a:lnL w="0">
                      <a:noFill/>
                    </a:lnL>
                    <a:lnR w="0">
                      <a:noFill/>
                    </a:lnR>
                    <a:lnT w="0">
                      <a:noFill/>
                    </a:lnT>
                    <a:lnB w="5080">
                      <a:solidFill>
                        <a:srgbClr val="B8B8B8"/>
                      </a:solidFill>
                    </a:lnB>
                    <a:solidFill>
                      <a:srgbClr val="FFFFFF"/>
                    </a:solidFill>
                  </a:tcPr>
                </a:tc>
              </a:tr>
              <a:tr h="662940">
                <a:tc>
                  <a:txBody>
                    <a:bodyPr/>
                    <a:lstStyle/>
                    <a:p>
                      <a:pPr>
                        <a:spcAft>
                          <a:spcPts val="100"/>
                        </a:spcAft>
                        <a:defRPr sz="1050" b="1">
                          <a:solidFill>
                            <a:srgbClr val="0A2373"/>
                          </a:solidFill>
                          <a:latin typeface="Lato"/>
                        </a:defRPr>
                      </a:pPr>
                      <a:r>
                        <a:t>Industry</a:t>
                      </a:r>
                    </a:p>
                  </a:txBody>
                  <a:tcPr marL="64008" marR="64008" marT="54864" marB="27432" anchor="t">
                    <a:lnL w="0">
                      <a:noFill/>
                    </a:lnL>
                    <a:lnR w="0">
                      <a:noFill/>
                    </a:lnR>
                    <a:lnT w="0">
                      <a:noFill/>
                    </a:lnT>
                    <a:lnB w="5080">
                      <a:solidFill>
                        <a:srgbClr val="B8B8B8"/>
                      </a:solidFill>
                    </a:lnB>
                    <a:solidFill>
                      <a:srgbClr val="FFFFFF"/>
                    </a:solidFill>
                  </a:tcPr>
                </a:tc>
                <a:tc>
                  <a:txBody>
                    <a:bodyPr/>
                    <a:lstStyle/>
                    <a:p>
                      <a:pPr>
                        <a:spcAft>
                          <a:spcPts val="100"/>
                        </a:spcAft>
                        <a:defRPr sz="1050" b="0">
                          <a:solidFill>
                            <a:srgbClr val="11151A"/>
                          </a:solidFill>
                          <a:latin typeface="Lato"/>
                        </a:defRPr>
                      </a:pPr>
                      <a:r>
                        <a:t>2.50</a:t>
                      </a:r>
                    </a:p>
                    <a:p>
                      <a:pPr>
                        <a:spcAft>
                          <a:spcPts val="100"/>
                        </a:spcAft>
                        <a:defRPr sz="1050" b="0">
                          <a:solidFill>
                            <a:srgbClr val="11151A"/>
                          </a:solidFill>
                          <a:latin typeface="Lato"/>
                        </a:defRPr>
                      </a:pPr>
                      <a:r>
                        <a:t>no source</a:t>
                      </a:r>
                    </a:p>
                  </a:txBody>
                  <a:tcPr marL="64008" marR="64008" marT="54864" marB="27432" anchor="t">
                    <a:lnL w="0">
                      <a:noFill/>
                    </a:lnL>
                    <a:lnR w="0">
                      <a:noFill/>
                    </a:lnR>
                    <a:lnT w="0">
                      <a:noFill/>
                    </a:lnT>
                    <a:lnB w="5080">
                      <a:solidFill>
                        <a:srgbClr val="B8B8B8"/>
                      </a:solidFill>
                    </a:lnB>
                    <a:solidFill>
                      <a:srgbClr val="FFFFFF"/>
                    </a:solidFill>
                  </a:tcPr>
                </a:tc>
                <a:tc>
                  <a:txBody>
                    <a:bodyPr/>
                    <a:lstStyle/>
                    <a:p>
                      <a:pPr>
                        <a:spcAft>
                          <a:spcPts val="100"/>
                        </a:spcAft>
                        <a:defRPr sz="1050" b="0">
                          <a:solidFill>
                            <a:srgbClr val="11151A"/>
                          </a:solidFill>
                          <a:latin typeface="Lato"/>
                        </a:defRPr>
                      </a:pPr>
                      <a:r>
                        <a:t>1.50 for 2021</a:t>
                      </a:r>
                    </a:p>
                    <a:p>
                      <a:pPr>
                        <a:spcAft>
                          <a:spcPts val="100"/>
                        </a:spcAft>
                        <a:defRPr sz="1050" b="0">
                          <a:solidFill>
                            <a:srgbClr val="11151A"/>
                          </a:solidFill>
                          <a:latin typeface="Lato"/>
                        </a:defRPr>
                      </a:pPr>
                      <a:r>
                        <a:t>energy balance, industry; mining is 1.29 of it</a:t>
                      </a:r>
                    </a:p>
                  </a:txBody>
                  <a:tcPr marL="64008" marR="64008" marT="54864" marB="27432" anchor="t">
                    <a:lnL w="0">
                      <a:noFill/>
                    </a:lnL>
                    <a:lnR w="0">
                      <a:noFill/>
                    </a:lnR>
                    <a:lnT w="0">
                      <a:noFill/>
                    </a:lnT>
                    <a:lnB w="5080">
                      <a:solidFill>
                        <a:srgbClr val="B8B8B8"/>
                      </a:solidFill>
                    </a:lnB>
                    <a:solidFill>
                      <a:srgbClr val="FFFFFF"/>
                    </a:solidFill>
                  </a:tcPr>
                </a:tc>
                <a:tc>
                  <a:txBody>
                    <a:bodyPr/>
                    <a:lstStyle/>
                    <a:p>
                      <a:pPr>
                        <a:spcAft>
                          <a:spcPts val="100"/>
                        </a:spcAft>
                        <a:defRPr sz="1050" b="0">
                          <a:solidFill>
                            <a:srgbClr val="11151A"/>
                          </a:solidFill>
                          <a:latin typeface="Lato"/>
                        </a:defRPr>
                      </a:pPr>
                      <a:r>
                        <a:t>1.32-1.93 over 2012-2021. Mining volume is 7% lower in 2024 than 2021, which would give 1.40</a:t>
                      </a:r>
                    </a:p>
                  </a:txBody>
                  <a:tcPr marL="64008" marR="64008" marT="54864" marB="27432" anchor="t">
                    <a:lnL w="0">
                      <a:noFill/>
                    </a:lnL>
                    <a:lnR w="0">
                      <a:noFill/>
                    </a:lnR>
                    <a:lnT w="0">
                      <a:noFill/>
                    </a:lnT>
                    <a:lnB w="5080">
                      <a:solidFill>
                        <a:srgbClr val="B8B8B8"/>
                      </a:solidFill>
                    </a:lnB>
                    <a:solidFill>
                      <a:srgbClr val="FFFFFF"/>
                    </a:solidFill>
                  </a:tcPr>
                </a:tc>
                <a:tc>
                  <a:txBody>
                    <a:bodyPr/>
                    <a:lstStyle/>
                    <a:p>
                      <a:pPr>
                        <a:spcAft>
                          <a:spcPts val="100"/>
                        </a:spcAft>
                        <a:defRPr sz="1050" b="0">
                          <a:solidFill>
                            <a:srgbClr val="11151A"/>
                          </a:solidFill>
                          <a:latin typeface="Lato"/>
                        </a:defRPr>
                      </a:pPr>
                      <a:r>
                        <a:t>1.50</a:t>
                      </a:r>
                    </a:p>
                    <a:p>
                      <a:pPr>
                        <a:spcAft>
                          <a:spcPts val="100"/>
                        </a:spcAft>
                        <a:defRPr sz="1050" b="0">
                          <a:solidFill>
                            <a:srgbClr val="11151A"/>
                          </a:solidFill>
                          <a:latin typeface="Lato"/>
                        </a:defRPr>
                      </a:pPr>
                      <a:r>
                        <a:t>provisional, about +/-0.3</a:t>
                      </a:r>
                    </a:p>
                  </a:txBody>
                  <a:tcPr marL="64008" marR="64008" marT="54864" marB="27432" anchor="t">
                    <a:lnL w="0">
                      <a:noFill/>
                    </a:lnL>
                    <a:lnR w="0">
                      <a:noFill/>
                    </a:lnR>
                    <a:lnT w="0">
                      <a:noFill/>
                    </a:lnT>
                    <a:lnB w="5080">
                      <a:solidFill>
                        <a:srgbClr val="B8B8B8"/>
                      </a:solidFill>
                    </a:lnB>
                    <a:solidFill>
                      <a:srgbClr val="FFFFFF"/>
                    </a:solidFill>
                  </a:tcPr>
                </a:tc>
                <a:tc>
                  <a:txBody>
                    <a:bodyPr/>
                    <a:lstStyle/>
                    <a:p>
                      <a:pPr>
                        <a:spcAft>
                          <a:spcPts val="100"/>
                        </a:spcAft>
                        <a:defRPr sz="1050" b="0">
                          <a:solidFill>
                            <a:srgbClr val="11151A"/>
                          </a:solidFill>
                          <a:latin typeface="Lato"/>
                        </a:defRPr>
                      </a:pPr>
                      <a:r>
                        <a:t>-0.99; -1.06 (high), -1.00 (low)</a:t>
                      </a:r>
                    </a:p>
                  </a:txBody>
                  <a:tcPr marL="64008" marR="64008" marT="54864" marB="27432" anchor="t">
                    <a:lnL w="0">
                      <a:noFill/>
                    </a:lnL>
                    <a:lnR w="0">
                      <a:noFill/>
                    </a:lnR>
                    <a:lnT w="0">
                      <a:noFill/>
                    </a:lnT>
                    <a:lnB w="5080">
                      <a:solidFill>
                        <a:srgbClr val="B8B8B8"/>
                      </a:solidFill>
                    </a:lnB>
                    <a:solidFill>
                      <a:srgbClr val="FFFFFF"/>
                    </a:solidFill>
                  </a:tcPr>
                </a:tc>
              </a:tr>
              <a:tr h="662940">
                <a:tc>
                  <a:txBody>
                    <a:bodyPr/>
                    <a:lstStyle/>
                    <a:p>
                      <a:pPr>
                        <a:spcAft>
                          <a:spcPts val="100"/>
                        </a:spcAft>
                        <a:defRPr sz="1050" b="1">
                          <a:solidFill>
                            <a:srgbClr val="0A2373"/>
                          </a:solidFill>
                          <a:latin typeface="Lato"/>
                        </a:defRPr>
                      </a:pPr>
                      <a:r>
                        <a:t>Both</a:t>
                      </a:r>
                    </a:p>
                  </a:txBody>
                  <a:tcPr marL="64008" marR="64008" marT="54864" marB="27432" anchor="t">
                    <a:lnL w="0">
                      <a:noFill/>
                    </a:lnL>
                    <a:lnR w="0">
                      <a:noFill/>
                    </a:lnR>
                    <a:lnT w="0">
                      <a:noFill/>
                    </a:lnT>
                    <a:lnB w="5080">
                      <a:solidFill>
                        <a:srgbClr val="B8B8B8"/>
                      </a:solidFill>
                    </a:lnB>
                    <a:solidFill>
                      <a:srgbClr val="FFFFFF"/>
                    </a:solidFill>
                  </a:tcPr>
                </a:tc>
                <a:tc>
                  <a:txBody>
                    <a:bodyPr/>
                    <a:lstStyle/>
                    <a:p>
                      <a:pPr>
                        <a:spcAft>
                          <a:spcPts val="100"/>
                        </a:spcAft>
                        <a:defRPr sz="1050" b="0">
                          <a:solidFill>
                            <a:srgbClr val="11151A"/>
                          </a:solidFill>
                          <a:latin typeface="Lato"/>
                        </a:defRPr>
                      </a:pPr>
                      <a:r>
                        <a:t>3.20</a:t>
                      </a:r>
                    </a:p>
                  </a:txBody>
                  <a:tcPr marL="64008" marR="64008" marT="54864" marB="27432" anchor="t">
                    <a:lnL w="0">
                      <a:noFill/>
                    </a:lnL>
                    <a:lnR w="0">
                      <a:noFill/>
                    </a:lnR>
                    <a:lnT w="0">
                      <a:noFill/>
                    </a:lnT>
                    <a:lnB w="5080">
                      <a:solidFill>
                        <a:srgbClr val="B8B8B8"/>
                      </a:solidFill>
                    </a:lnB>
                    <a:solidFill>
                      <a:srgbClr val="FFFFFF"/>
                    </a:solidFill>
                  </a:tcPr>
                </a:tc>
                <a:tc>
                  <a:txBody>
                    <a:bodyPr/>
                    <a:lstStyle/>
                    <a:p>
                      <a:pPr>
                        <a:spcAft>
                          <a:spcPts val="100"/>
                        </a:spcAft>
                        <a:defRPr sz="1050" b="0">
                          <a:solidFill>
                            <a:srgbClr val="11151A"/>
                          </a:solidFill>
                          <a:latin typeface="Lato"/>
                        </a:defRPr>
                      </a:pPr>
                      <a:r>
                        <a:t>2.56</a:t>
                      </a:r>
                    </a:p>
                  </a:txBody>
                  <a:tcPr marL="64008" marR="64008" marT="54864" marB="27432" anchor="t">
                    <a:lnL w="0">
                      <a:noFill/>
                    </a:lnL>
                    <a:lnR w="0">
                      <a:noFill/>
                    </a:lnR>
                    <a:lnT w="0">
                      <a:noFill/>
                    </a:lnT>
                    <a:lnB w="5080">
                      <a:solidFill>
                        <a:srgbClr val="B8B8B8"/>
                      </a:solidFill>
                    </a:lnB>
                    <a:solidFill>
                      <a:srgbClr val="FFFFFF"/>
                    </a:solidFill>
                  </a:tcPr>
                </a:tc>
                <a:tc>
                  <a:txBody>
                    <a:bodyPr/>
                    <a:lstStyle/>
                    <a:p>
                      <a:pPr>
                        <a:spcAft>
                          <a:spcPts val="100"/>
                        </a:spcAft>
                        <a:defRPr sz="1050" b="0">
                          <a:solidFill>
                            <a:srgbClr val="11151A"/>
                          </a:solidFill>
                          <a:latin typeface="Lato"/>
                        </a:defRPr>
                      </a:pPr>
                    </a:p>
                  </a:txBody>
                  <a:tcPr marL="64008" marR="64008" marT="54864" marB="27432" anchor="t">
                    <a:lnL w="0">
                      <a:noFill/>
                    </a:lnL>
                    <a:lnR w="0">
                      <a:noFill/>
                    </a:lnR>
                    <a:lnT w="0">
                      <a:noFill/>
                    </a:lnT>
                    <a:lnB w="5080">
                      <a:solidFill>
                        <a:srgbClr val="B8B8B8"/>
                      </a:solidFill>
                    </a:lnB>
                    <a:solidFill>
                      <a:srgbClr val="FFFFFF"/>
                    </a:solidFill>
                  </a:tcPr>
                </a:tc>
                <a:tc>
                  <a:txBody>
                    <a:bodyPr/>
                    <a:lstStyle/>
                    <a:p>
                      <a:pPr>
                        <a:spcAft>
                          <a:spcPts val="100"/>
                        </a:spcAft>
                        <a:defRPr sz="1050" b="0">
                          <a:solidFill>
                            <a:srgbClr val="11151A"/>
                          </a:solidFill>
                          <a:latin typeface="Lato"/>
                        </a:defRPr>
                      </a:pPr>
                      <a:r>
                        <a:t>2.56</a:t>
                      </a:r>
                    </a:p>
                  </a:txBody>
                  <a:tcPr marL="64008" marR="64008" marT="54864" marB="27432" anchor="t">
                    <a:lnL w="0">
                      <a:noFill/>
                    </a:lnL>
                    <a:lnR w="0">
                      <a:noFill/>
                    </a:lnR>
                    <a:lnT w="0">
                      <a:noFill/>
                    </a:lnT>
                    <a:lnB w="5080">
                      <a:solidFill>
                        <a:srgbClr val="B8B8B8"/>
                      </a:solidFill>
                    </a:lnB>
                    <a:solidFill>
                      <a:srgbClr val="FFFFFF"/>
                    </a:solidFill>
                  </a:tcPr>
                </a:tc>
                <a:tc>
                  <a:txBody>
                    <a:bodyPr/>
                    <a:lstStyle/>
                    <a:p>
                      <a:pPr>
                        <a:spcAft>
                          <a:spcPts val="100"/>
                        </a:spcAft>
                        <a:defRPr sz="1050" b="0">
                          <a:solidFill>
                            <a:srgbClr val="11151A"/>
                          </a:solidFill>
                          <a:latin typeface="Lato"/>
                        </a:defRPr>
                      </a:pPr>
                      <a:r>
                        <a:t>-0.63; -0.69 (high), -0.64 (low)</a:t>
                      </a:r>
                    </a:p>
                  </a:txBody>
                  <a:tcPr marL="64008" marR="64008" marT="54864" marB="27432" anchor="t">
                    <a:lnL w="0">
                      <a:noFill/>
                    </a:lnL>
                    <a:lnR w="0">
                      <a:noFill/>
                    </a:lnR>
                    <a:lnT w="0">
                      <a:noFill/>
                    </a:lnT>
                    <a:lnB w="5080">
                      <a:solidFill>
                        <a:srgbClr val="B8B8B8"/>
                      </a:solidFill>
                    </a:lnB>
                    <a:solidFill>
                      <a:srgbClr val="FFFFFF"/>
                    </a:solidFill>
                  </a:tcPr>
                </a:tc>
              </a:tr>
            </a:tbl>
          </a:graphicData>
        </a:graphic>
      </p:graphicFrame>
      <p:sp>
        <p:nvSpPr>
          <p:cNvPr id="8" name="TextBox 7"/>
          <p:cNvSpPr txBox="1"/>
          <p:nvPr/>
        </p:nvSpPr>
        <p:spPr>
          <a:xfrm>
            <a:off x="457200" y="4983480"/>
            <a:ext cx="10652760" cy="1097280"/>
          </a:xfrm>
          <a:prstGeom prst="rect">
            <a:avLst/>
          </a:prstGeom>
          <a:noFill/>
        </p:spPr>
        <p:txBody>
          <a:bodyPr wrap="square" lIns="22860" rIns="22860" tIns="0" bIns="0">
            <a:spAutoFit/>
          </a:bodyPr>
          <a:lstStyle/>
          <a:p>
            <a:pPr>
              <a:spcAft>
                <a:spcPts val="300"/>
              </a:spcAft>
              <a:defRPr sz="1100" b="0">
                <a:solidFill>
                  <a:srgbClr val="11151A"/>
                </a:solidFill>
                <a:latin typeface="Lato"/>
              </a:defRPr>
            </a:pPr>
            <a:r>
              <a:t>Why 2021 and not an average: it is the latest balance and one consistent year for both sectors. A 2018-2021 average gives 0.98 and 1.68; the industry average is pulled up by the years before mining output fell.</a:t>
            </a:r>
          </a:p>
          <a:p>
            <a:pPr>
              <a:spcAft>
                <a:spcPts val="300"/>
              </a:spcAft>
              <a:defRPr sz="1100" b="0">
                <a:solidFill>
                  <a:srgbClr val="11151A"/>
                </a:solidFill>
                <a:latin typeface="Lato"/>
              </a:defRPr>
            </a:pPr>
            <a:r>
              <a:t>Decision for Nigel: accept both as provisional, or take the activity-adjusted 1.40 for industry. Both keep the needs-verification flag.</a:t>
            </a:r>
          </a:p>
        </p:txBody>
      </p:sp>
      <p:sp>
        <p:nvSpPr>
          <p:cNvPr id="9" name="Chevron 8">
            <a:hlinkClick action="ppaction://hlinksldjump" r:id="rId2"/>
          </p:cNvPr>
          <p:cNvSpPr/>
          <p:nvPr/>
        </p:nvSpPr>
        <p:spPr>
          <a:xfrm>
            <a:off x="457200" y="73152"/>
            <a:ext cx="2075688" cy="384048"/>
          </a:xfrm>
          <a:prstGeom prst="chevron">
            <a:avLst>
              <a:gd name="adj" fmla="val 12000"/>
            </a:avLst>
          </a:pr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tIns="0" bIns="0"/>
          <a:lstStyle/>
          <a:p>
            <a:pPr algn="ctr">
              <a:defRPr sz="1100" b="0">
                <a:solidFill>
                  <a:srgbClr val="0A2373"/>
                </a:solidFill>
                <a:latin typeface="Lato"/>
              </a:defRPr>
            </a:pPr>
            <a:r>
              <a:t>1  National balance</a:t>
            </a:r>
          </a:p>
        </p:txBody>
      </p:sp>
      <p:sp>
        <p:nvSpPr>
          <p:cNvPr id="10" name="Chevron 9">
            <a:hlinkClick action="ppaction://hlinksldjump" r:id="rId3"/>
          </p:cNvPr>
          <p:cNvSpPr/>
          <p:nvPr/>
        </p:nvSpPr>
        <p:spPr>
          <a:xfrm>
            <a:off x="2587752" y="73152"/>
            <a:ext cx="2075688" cy="384048"/>
          </a:xfrm>
          <a:prstGeom prst="chevron">
            <a:avLst>
              <a:gd name="adj" fmla="val 12000"/>
            </a:avLst>
          </a:pr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tIns="0" bIns="0"/>
          <a:lstStyle/>
          <a:p>
            <a:pPr algn="ctr">
              <a:defRPr sz="1100" b="0">
                <a:solidFill>
                  <a:srgbClr val="0A2373"/>
                </a:solidFill>
                <a:latin typeface="Lato"/>
              </a:defRPr>
            </a:pPr>
            <a:r>
              <a:t>2  Forecast levers</a:t>
            </a:r>
          </a:p>
        </p:txBody>
      </p:sp>
      <p:sp>
        <p:nvSpPr>
          <p:cNvPr id="11" name="Chevron 10">
            <a:hlinkClick action="ppaction://hlinksldjump" r:id="rId4"/>
          </p:cNvPr>
          <p:cNvSpPr/>
          <p:nvPr/>
        </p:nvSpPr>
        <p:spPr>
          <a:xfrm>
            <a:off x="4718304" y="73152"/>
            <a:ext cx="2075688" cy="384048"/>
          </a:xfrm>
          <a:prstGeom prst="chevron">
            <a:avLst>
              <a:gd name="adj" fmla="val 12000"/>
            </a:avLst>
          </a:pr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tIns="0" bIns="0"/>
          <a:lstStyle/>
          <a:p>
            <a:pPr algn="ctr">
              <a:defRPr sz="1100" b="1">
                <a:solidFill>
                  <a:srgbClr val="FFFFFF"/>
                </a:solidFill>
                <a:latin typeface="Lato"/>
              </a:defRPr>
            </a:pPr>
            <a:r>
              <a:t>3  Sector baselines</a:t>
            </a:r>
          </a:p>
        </p:txBody>
      </p:sp>
      <p:sp>
        <p:nvSpPr>
          <p:cNvPr id="12" name="Chevron 11">
            <a:hlinkClick action="ppaction://hlinksldjump" r:id="rId5"/>
          </p:cNvPr>
          <p:cNvSpPr/>
          <p:nvPr/>
        </p:nvSpPr>
        <p:spPr>
          <a:xfrm>
            <a:off x="6848856" y="73152"/>
            <a:ext cx="2075688" cy="384048"/>
          </a:xfrm>
          <a:prstGeom prst="chevron">
            <a:avLst>
              <a:gd name="adj" fmla="val 12000"/>
            </a:avLst>
          </a:pr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tIns="0" bIns="0"/>
          <a:lstStyle/>
          <a:p>
            <a:pPr algn="ctr">
              <a:defRPr sz="1100" b="0">
                <a:solidFill>
                  <a:srgbClr val="0A2373"/>
                </a:solidFill>
                <a:latin typeface="Lato"/>
              </a:defRPr>
            </a:pPr>
            <a:r>
              <a:t>4  Tank handling</a:t>
            </a:r>
          </a:p>
        </p:txBody>
      </p:sp>
      <p:sp>
        <p:nvSpPr>
          <p:cNvPr id="13" name="Chevron 12">
            <a:hlinkClick action="ppaction://hlinksldjump" r:id="rId6"/>
          </p:cNvPr>
          <p:cNvSpPr/>
          <p:nvPr/>
        </p:nvSpPr>
        <p:spPr>
          <a:xfrm>
            <a:off x="8979408" y="73152"/>
            <a:ext cx="2075688" cy="384048"/>
          </a:xfrm>
          <a:prstGeom prst="chevron">
            <a:avLst>
              <a:gd name="adj" fmla="val 12000"/>
            </a:avLst>
          </a:pr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tIns="0" bIns="0"/>
          <a:lstStyle/>
          <a:p>
            <a:pPr algn="ctr">
              <a:defRPr sz="1100" b="0">
                <a:solidFill>
                  <a:srgbClr val="0A2373"/>
                </a:solidFill>
                <a:latin typeface="Lato"/>
              </a:defRPr>
            </a:pPr>
            <a:r>
              <a:t>5  Hand-back</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The totals show no double counting from the two sectors; the excess is in power generation</a:t>
            </a:r>
          </a:p>
        </p:txBody>
      </p:sp>
      <p:sp>
        <p:nvSpPr>
          <p:cNvPr id="3" name="TextBox 2"/>
          <p:cNvSpPr txBox="1"/>
          <p:nvPr/>
        </p:nvSpPr>
        <p:spPr>
          <a:xfrm>
            <a:off x="457200" y="1627632"/>
            <a:ext cx="10652760" cy="274320"/>
          </a:xfrm>
          <a:prstGeom prst="rect">
            <a:avLst/>
          </a:prstGeom>
          <a:noFill/>
        </p:spPr>
        <p:txBody>
          <a:bodyPr wrap="square" lIns="22860" rIns="22860" tIns="0" bIns="0">
            <a:spAutoFit/>
          </a:bodyPr>
          <a:lstStyle/>
          <a:p>
            <a:pPr>
              <a:spcAft>
                <a:spcPts val="300"/>
              </a:spcAft>
              <a:defRPr sz="1300" b="1">
                <a:solidFill>
                  <a:srgbClr val="11151A"/>
                </a:solidFill>
                <a:latin typeface="Lato"/>
              </a:defRPr>
            </a:pPr>
            <a:r>
              <a:t>Overlaps and double counting | model diesel for 2024 by segment against the evidence, billion litres</a:t>
            </a:r>
          </a:p>
        </p:txBody>
      </p:sp>
      <p:cxnSp>
        <p:nvCxnSpPr>
          <p:cNvPr id="4" name="Connector 3"/>
          <p:cNvCxnSpPr/>
          <p:nvPr/>
        </p:nvCxnSpPr>
        <p:spPr>
          <a:xfrm>
            <a:off x="457200" y="1920240"/>
            <a:ext cx="10652760" cy="0"/>
          </a:xfrm>
          <a:prstGeom prst="line">
            <a:avLst/>
          </a:prstGeom>
          <a:ln w="7620">
            <a:solidFill>
              <a:srgbClr val="A0A0A0"/>
            </a:solidFill>
          </a:ln>
        </p:spPr>
        <p:style>
          <a:lnRef idx="2">
            <a:schemeClr val="accent1"/>
          </a:lnRef>
          <a:fillRef idx="0">
            <a:schemeClr val="accent1"/>
          </a:fillRef>
          <a:effectRef idx="1">
            <a:schemeClr val="accent1"/>
          </a:effectRef>
          <a:fontRef idx="minor">
            <a:schemeClr val="tx1"/>
          </a:fontRef>
        </p:style>
      </p:cxnSp>
      <p:sp>
        <p:nvSpPr>
          <p:cNvPr id="5" name="TextBox 4"/>
          <p:cNvSpPr txBox="1"/>
          <p:nvPr/>
        </p:nvSpPr>
        <p:spPr>
          <a:xfrm>
            <a:off x="457200" y="6547104"/>
            <a:ext cx="9692640" cy="182880"/>
          </a:xfrm>
          <a:prstGeom prst="rect">
            <a:avLst/>
          </a:prstGeom>
          <a:noFill/>
        </p:spPr>
        <p:txBody>
          <a:bodyPr wrap="square" lIns="22860" rIns="22860" tIns="0" bIns="0">
            <a:spAutoFit/>
          </a:bodyPr>
          <a:lstStyle/>
          <a:p>
            <a:pPr>
              <a:spcAft>
                <a:spcPts val="300"/>
              </a:spcAft>
              <a:defRPr sz="800" b="0">
                <a:solidFill>
                  <a:srgbClr val="11151A"/>
                </a:solidFill>
                <a:latin typeface="Lato"/>
              </a:defRPr>
            </a:pPr>
            <a:r>
              <a:t>Source: sector_baselines_2026-10-07.md and .csv on manish-branch; department energy balances 2012-2021. A proposal for Nigel's decision; nothing is accepted.</a:t>
            </a:r>
          </a:p>
        </p:txBody>
      </p:sp>
      <p:sp>
        <p:nvSpPr>
          <p:cNvPr id="6" name="TextBox 5"/>
          <p:cNvSpPr txBox="1"/>
          <p:nvPr/>
        </p:nvSpPr>
        <p:spPr>
          <a:xfrm>
            <a:off x="457200" y="6711696"/>
            <a:ext cx="2011680" cy="128016"/>
          </a:xfrm>
          <a:prstGeom prst="rect">
            <a:avLst/>
          </a:prstGeom>
          <a:noFill/>
        </p:spPr>
        <p:txBody>
          <a:bodyPr wrap="square" lIns="22860" rIns="22860" tIns="0" bIns="0">
            <a:spAutoFit/>
          </a:bodyPr>
          <a:lstStyle/>
          <a:p>
            <a:pPr>
              <a:spcAft>
                <a:spcPts val="300"/>
              </a:spcAft>
              <a:defRPr sz="700" b="0">
                <a:solidFill>
                  <a:srgbClr val="11151A"/>
                </a:solidFill>
                <a:latin typeface="Lato"/>
              </a:defRPr>
            </a:pPr>
            <a:r>
              <a:t>Strictly Confidential</a:t>
            </a:r>
          </a:p>
        </p:txBody>
      </p:sp>
      <p:graphicFrame>
        <p:nvGraphicFramePr>
          <p:cNvPr id="7" name="Table 6"/>
          <p:cNvGraphicFramePr>
            <a:graphicFrameLocks noGrp="1"/>
          </p:cNvGraphicFramePr>
          <p:nvPr/>
        </p:nvGraphicFramePr>
        <p:xfrm>
          <a:off x="457200" y="2029968"/>
          <a:ext cx="10652760" cy="3657600"/>
        </p:xfrm>
        <a:graphic>
          <a:graphicData uri="http://schemas.openxmlformats.org/drawingml/2006/table">
            <a:tbl>
              <a:tblPr firstRow="0" bandRow="0"/>
              <a:tblGrid>
                <a:gridCol w="1600200"/>
                <a:gridCol w="822960"/>
                <a:gridCol w="3657600"/>
                <a:gridCol w="4572000"/>
              </a:tblGrid>
              <a:tr h="522514">
                <a:tc>
                  <a:txBody>
                    <a:bodyPr/>
                    <a:lstStyle/>
                    <a:p>
                      <a:pPr>
                        <a:spcAft>
                          <a:spcPts val="100"/>
                        </a:spcAft>
                        <a:defRPr sz="1000" b="1">
                          <a:solidFill>
                            <a:srgbClr val="0A2373"/>
                          </a:solidFill>
                          <a:latin typeface="Lato"/>
                        </a:defRPr>
                      </a:pPr>
                      <a:r>
                        <a:t>Model segment</a:t>
                      </a:r>
                    </a:p>
                  </a:txBody>
                  <a:tcPr marL="64008" marR="64008" marT="54864" marB="27432" anchor="t">
                    <a:lnL w="0">
                      <a:noFill/>
                    </a:lnL>
                    <a:lnR w="0">
                      <a:noFill/>
                    </a:lnR>
                    <a:lnT w="0">
                      <a:noFill/>
                    </a:lnT>
                    <a:lnB w="5080">
                      <a:solidFill>
                        <a:srgbClr val="B8B8B8"/>
                      </a:solidFill>
                    </a:lnB>
                    <a:solidFill>
                      <a:srgbClr val="FFFFFF"/>
                    </a:solidFill>
                  </a:tcPr>
                </a:tc>
                <a:tc>
                  <a:txBody>
                    <a:bodyPr/>
                    <a:lstStyle/>
                    <a:p>
                      <a:pPr>
                        <a:spcAft>
                          <a:spcPts val="100"/>
                        </a:spcAft>
                        <a:defRPr sz="1000" b="1">
                          <a:solidFill>
                            <a:srgbClr val="11151A"/>
                          </a:solidFill>
                          <a:latin typeface="Lato"/>
                        </a:defRPr>
                      </a:pPr>
                      <a:r>
                        <a:t>Model</a:t>
                      </a:r>
                    </a:p>
                    <a:p>
                      <a:pPr>
                        <a:spcAft>
                          <a:spcPts val="100"/>
                        </a:spcAft>
                        <a:defRPr sz="1000" b="1">
                          <a:solidFill>
                            <a:srgbClr val="11151A"/>
                          </a:solidFill>
                          <a:latin typeface="Lato"/>
                        </a:defRPr>
                      </a:pPr>
                      <a:r>
                        <a:t>2024</a:t>
                      </a:r>
                    </a:p>
                  </a:txBody>
                  <a:tcPr marL="64008" marR="64008" marT="54864" marB="27432" anchor="t">
                    <a:lnL w="0">
                      <a:noFill/>
                    </a:lnL>
                    <a:lnR w="0">
                      <a:noFill/>
                    </a:lnR>
                    <a:lnT w="0">
                      <a:noFill/>
                    </a:lnT>
                    <a:lnB w="5080">
                      <a:solidFill>
                        <a:srgbClr val="B8B8B8"/>
                      </a:solidFill>
                    </a:lnB>
                    <a:solidFill>
                      <a:srgbClr val="FFFFFF"/>
                    </a:solidFill>
                  </a:tcPr>
                </a:tc>
                <a:tc>
                  <a:txBody>
                    <a:bodyPr/>
                    <a:lstStyle/>
                    <a:p>
                      <a:pPr>
                        <a:spcAft>
                          <a:spcPts val="100"/>
                        </a:spcAft>
                        <a:defRPr sz="1000" b="1">
                          <a:solidFill>
                            <a:srgbClr val="11151A"/>
                          </a:solidFill>
                          <a:latin typeface="Lato"/>
                        </a:defRPr>
                      </a:pPr>
                      <a:r>
                        <a:t>Evidence</a:t>
                      </a:r>
                    </a:p>
                  </a:txBody>
                  <a:tcPr marL="64008" marR="64008" marT="54864" marB="27432" anchor="t">
                    <a:lnL w="0">
                      <a:noFill/>
                    </a:lnL>
                    <a:lnR w="0">
                      <a:noFill/>
                    </a:lnR>
                    <a:lnT w="0">
                      <a:noFill/>
                    </a:lnT>
                    <a:lnB w="5080">
                      <a:solidFill>
                        <a:srgbClr val="B8B8B8"/>
                      </a:solidFill>
                    </a:lnB>
                    <a:solidFill>
                      <a:srgbClr val="FFFFFF"/>
                    </a:solidFill>
                  </a:tcPr>
                </a:tc>
                <a:tc>
                  <a:txBody>
                    <a:bodyPr/>
                    <a:lstStyle/>
                    <a:p>
                      <a:pPr>
                        <a:spcAft>
                          <a:spcPts val="100"/>
                        </a:spcAft>
                        <a:defRPr sz="1000" b="1">
                          <a:solidFill>
                            <a:srgbClr val="11151A"/>
                          </a:solidFill>
                          <a:latin typeface="Lato"/>
                        </a:defRPr>
                      </a:pPr>
                      <a:r>
                        <a:t>Overlap or gap</a:t>
                      </a:r>
                    </a:p>
                  </a:txBody>
                  <a:tcPr marL="64008" marR="64008" marT="54864" marB="27432" anchor="t">
                    <a:lnL w="0">
                      <a:noFill/>
                    </a:lnL>
                    <a:lnR w="0">
                      <a:noFill/>
                    </a:lnR>
                    <a:lnT w="0">
                      <a:noFill/>
                    </a:lnT>
                    <a:lnB w="5080">
                      <a:solidFill>
                        <a:srgbClr val="B8B8B8"/>
                      </a:solidFill>
                    </a:lnB>
                    <a:solidFill>
                      <a:srgbClr val="FFFFFF"/>
                    </a:solidFill>
                  </a:tcPr>
                </a:tc>
              </a:tr>
              <a:tr h="522514">
                <a:tc>
                  <a:txBody>
                    <a:bodyPr/>
                    <a:lstStyle/>
                    <a:p>
                      <a:pPr>
                        <a:spcAft>
                          <a:spcPts val="100"/>
                        </a:spcAft>
                        <a:defRPr sz="1000" b="1">
                          <a:solidFill>
                            <a:srgbClr val="0A2373"/>
                          </a:solidFill>
                          <a:latin typeface="Lato"/>
                        </a:defRPr>
                      </a:pPr>
                      <a:r>
                        <a:t>Road vehicles</a:t>
                      </a:r>
                    </a:p>
                  </a:txBody>
                  <a:tcPr marL="64008" marR="64008" marT="54864" marB="27432" anchor="t">
                    <a:lnL w="0">
                      <a:noFill/>
                    </a:lnL>
                    <a:lnR w="0">
                      <a:noFill/>
                    </a:lnR>
                    <a:lnT w="0">
                      <a:noFill/>
                    </a:lnT>
                    <a:lnB w="5080">
                      <a:solidFill>
                        <a:srgbClr val="B8B8B8"/>
                      </a:solidFill>
                    </a:lnB>
                    <a:solidFill>
                      <a:srgbClr val="FFFFFF"/>
                    </a:solidFill>
                  </a:tcPr>
                </a:tc>
                <a:tc>
                  <a:txBody>
                    <a:bodyPr/>
                    <a:lstStyle/>
                    <a:p>
                      <a:pPr>
                        <a:spcAft>
                          <a:spcPts val="100"/>
                        </a:spcAft>
                        <a:defRPr sz="1000" b="0">
                          <a:solidFill>
                            <a:srgbClr val="11151A"/>
                          </a:solidFill>
                          <a:latin typeface="Lato"/>
                        </a:defRPr>
                      </a:pPr>
                      <a:r>
                        <a:t>8.50</a:t>
                      </a:r>
                    </a:p>
                  </a:txBody>
                  <a:tcPr marL="64008" marR="64008" marT="54864" marB="27432" anchor="t">
                    <a:lnL w="0">
                      <a:noFill/>
                    </a:lnL>
                    <a:lnR w="0">
                      <a:noFill/>
                    </a:lnR>
                    <a:lnT w="0">
                      <a:noFill/>
                    </a:lnT>
                    <a:lnB w="5080">
                      <a:solidFill>
                        <a:srgbClr val="B8B8B8"/>
                      </a:solidFill>
                    </a:lnB>
                    <a:solidFill>
                      <a:srgbClr val="FFFFFF"/>
                    </a:solidFill>
                  </a:tcPr>
                </a:tc>
                <a:tc>
                  <a:txBody>
                    <a:bodyPr/>
                    <a:lstStyle/>
                    <a:p>
                      <a:pPr>
                        <a:spcAft>
                          <a:spcPts val="100"/>
                        </a:spcAft>
                        <a:defRPr sz="1000" b="0">
                          <a:solidFill>
                            <a:srgbClr val="11151A"/>
                          </a:solidFill>
                          <a:latin typeface="Lato"/>
                        </a:defRPr>
                      </a:pPr>
                      <a:r>
                        <a:t>Balance 2021: road 6.33; commercial and public services 4.30; together 10.63</a:t>
                      </a:r>
                    </a:p>
                  </a:txBody>
                  <a:tcPr marL="64008" marR="64008" marT="54864" marB="27432" anchor="t">
                    <a:lnL w="0">
                      <a:noFill/>
                    </a:lnL>
                    <a:lnR w="0">
                      <a:noFill/>
                    </a:lnR>
                    <a:lnT w="0">
                      <a:noFill/>
                    </a:lnT>
                    <a:lnB w="5080">
                      <a:solidFill>
                        <a:srgbClr val="B8B8B8"/>
                      </a:solidFill>
                    </a:lnB>
                    <a:solidFill>
                      <a:srgbClr val="FFFFFF"/>
                    </a:solidFill>
                  </a:tcPr>
                </a:tc>
                <a:tc>
                  <a:txBody>
                    <a:bodyPr/>
                    <a:lstStyle/>
                    <a:p>
                      <a:pPr>
                        <a:spcAft>
                          <a:spcPts val="100"/>
                        </a:spcAft>
                        <a:defRPr sz="1000" b="0">
                          <a:solidFill>
                            <a:srgbClr val="11151A"/>
                          </a:solidFill>
                          <a:latin typeface="Lato"/>
                        </a:defRPr>
                      </a:pPr>
                      <a:r>
                        <a:t>The two balance lines swap volume between years while their sum holds, so the split shows who bought the fuel, not where it was burned</a:t>
                      </a:r>
                    </a:p>
                  </a:txBody>
                  <a:tcPr marL="64008" marR="64008" marT="54864" marB="27432" anchor="t">
                    <a:lnL w="0">
                      <a:noFill/>
                    </a:lnL>
                    <a:lnR w="0">
                      <a:noFill/>
                    </a:lnR>
                    <a:lnT w="0">
                      <a:noFill/>
                    </a:lnT>
                    <a:lnB w="5080">
                      <a:solidFill>
                        <a:srgbClr val="B8B8B8"/>
                      </a:solidFill>
                    </a:lnB>
                    <a:solidFill>
                      <a:srgbClr val="FFFFFF"/>
                    </a:solidFill>
                  </a:tcPr>
                </a:tc>
              </a:tr>
              <a:tr h="522514">
                <a:tc>
                  <a:txBody>
                    <a:bodyPr/>
                    <a:lstStyle/>
                    <a:p>
                      <a:pPr>
                        <a:spcAft>
                          <a:spcPts val="100"/>
                        </a:spcAft>
                        <a:defRPr sz="1000" b="1">
                          <a:solidFill>
                            <a:srgbClr val="0A2373"/>
                          </a:solidFill>
                          <a:latin typeface="Lato"/>
                        </a:defRPr>
                      </a:pPr>
                      <a:r>
                        <a:t>Agriculture</a:t>
                      </a:r>
                    </a:p>
                  </a:txBody>
                  <a:tcPr marL="64008" marR="64008" marT="54864" marB="27432" anchor="t">
                    <a:lnL w="0">
                      <a:noFill/>
                    </a:lnL>
                    <a:lnR w="0">
                      <a:noFill/>
                    </a:lnR>
                    <a:lnT w="0">
                      <a:noFill/>
                    </a:lnT>
                    <a:lnB w="5080">
                      <a:solidFill>
                        <a:srgbClr val="B8B8B8"/>
                      </a:solidFill>
                    </a:lnB>
                    <a:solidFill>
                      <a:srgbClr val="FFFFFF"/>
                    </a:solidFill>
                  </a:tcPr>
                </a:tc>
                <a:tc>
                  <a:txBody>
                    <a:bodyPr/>
                    <a:lstStyle/>
                    <a:p>
                      <a:pPr>
                        <a:spcAft>
                          <a:spcPts val="100"/>
                        </a:spcAft>
                        <a:defRPr sz="1000" b="0">
                          <a:solidFill>
                            <a:srgbClr val="11151A"/>
                          </a:solidFill>
                          <a:latin typeface="Lato"/>
                        </a:defRPr>
                      </a:pPr>
                      <a:r>
                        <a:t>1.06</a:t>
                      </a:r>
                    </a:p>
                  </a:txBody>
                  <a:tcPr marL="64008" marR="64008" marT="54864" marB="27432" anchor="t">
                    <a:lnL w="0">
                      <a:noFill/>
                    </a:lnL>
                    <a:lnR w="0">
                      <a:noFill/>
                    </a:lnR>
                    <a:lnT w="0">
                      <a:noFill/>
                    </a:lnT>
                    <a:lnB w="5080">
                      <a:solidFill>
                        <a:srgbClr val="B8B8B8"/>
                      </a:solidFill>
                    </a:lnB>
                    <a:solidFill>
                      <a:srgbClr val="FFFFFF"/>
                    </a:solidFill>
                  </a:tcPr>
                </a:tc>
                <a:tc>
                  <a:txBody>
                    <a:bodyPr/>
                    <a:lstStyle/>
                    <a:p>
                      <a:pPr>
                        <a:spcAft>
                          <a:spcPts val="100"/>
                        </a:spcAft>
                        <a:defRPr sz="1000" b="0">
                          <a:solidFill>
                            <a:srgbClr val="11151A"/>
                          </a:solidFill>
                          <a:latin typeface="Lato"/>
                        </a:defRPr>
                      </a:pPr>
                      <a:r>
                        <a:t>Balance 2021: 1.06</a:t>
                      </a:r>
                    </a:p>
                  </a:txBody>
                  <a:tcPr marL="64008" marR="64008" marT="54864" marB="27432" anchor="t">
                    <a:lnL w="0">
                      <a:noFill/>
                    </a:lnL>
                    <a:lnR w="0">
                      <a:noFill/>
                    </a:lnR>
                    <a:lnT w="0">
                      <a:noFill/>
                    </a:lnT>
                    <a:lnB w="5080">
                      <a:solidFill>
                        <a:srgbClr val="B8B8B8"/>
                      </a:solidFill>
                    </a:lnB>
                    <a:solidFill>
                      <a:srgbClr val="FFFFFF"/>
                    </a:solidFill>
                  </a:tcPr>
                </a:tc>
                <a:tc>
                  <a:txBody>
                    <a:bodyPr/>
                    <a:lstStyle/>
                    <a:p>
                      <a:pPr>
                        <a:spcAft>
                          <a:spcPts val="100"/>
                        </a:spcAft>
                        <a:defRPr sz="1000" b="0">
                          <a:solidFill>
                            <a:srgbClr val="11151A"/>
                          </a:solidFill>
                          <a:latin typeface="Lato"/>
                        </a:defRPr>
                      </a:pPr>
                      <a:r>
                        <a:t>Includes farm vehicles on public roads, which are also in the registered fleet. Size unknown</a:t>
                      </a:r>
                    </a:p>
                  </a:txBody>
                  <a:tcPr marL="64008" marR="64008" marT="54864" marB="27432" anchor="t">
                    <a:lnL w="0">
                      <a:noFill/>
                    </a:lnL>
                    <a:lnR w="0">
                      <a:noFill/>
                    </a:lnR>
                    <a:lnT w="0">
                      <a:noFill/>
                    </a:lnT>
                    <a:lnB w="5080">
                      <a:solidFill>
                        <a:srgbClr val="B8B8B8"/>
                      </a:solidFill>
                    </a:lnB>
                    <a:solidFill>
                      <a:srgbClr val="FFFFFF"/>
                    </a:solidFill>
                  </a:tcPr>
                </a:tc>
              </a:tr>
              <a:tr h="522514">
                <a:tc>
                  <a:txBody>
                    <a:bodyPr/>
                    <a:lstStyle/>
                    <a:p>
                      <a:pPr>
                        <a:spcAft>
                          <a:spcPts val="100"/>
                        </a:spcAft>
                        <a:defRPr sz="1000" b="1">
                          <a:solidFill>
                            <a:srgbClr val="0A2373"/>
                          </a:solidFill>
                          <a:latin typeface="Lato"/>
                        </a:defRPr>
                      </a:pPr>
                      <a:r>
                        <a:t>Industry</a:t>
                      </a:r>
                    </a:p>
                  </a:txBody>
                  <a:tcPr marL="64008" marR="64008" marT="54864" marB="27432" anchor="t">
                    <a:lnL w="0">
                      <a:noFill/>
                    </a:lnL>
                    <a:lnR w="0">
                      <a:noFill/>
                    </a:lnR>
                    <a:lnT w="0">
                      <a:noFill/>
                    </a:lnT>
                    <a:lnB w="5080">
                      <a:solidFill>
                        <a:srgbClr val="B8B8B8"/>
                      </a:solidFill>
                    </a:lnB>
                    <a:solidFill>
                      <a:srgbClr val="FFFFFF"/>
                    </a:solidFill>
                  </a:tcPr>
                </a:tc>
                <a:tc>
                  <a:txBody>
                    <a:bodyPr/>
                    <a:lstStyle/>
                    <a:p>
                      <a:pPr>
                        <a:spcAft>
                          <a:spcPts val="100"/>
                        </a:spcAft>
                        <a:defRPr sz="1000" b="0">
                          <a:solidFill>
                            <a:srgbClr val="11151A"/>
                          </a:solidFill>
                          <a:latin typeface="Lato"/>
                        </a:defRPr>
                      </a:pPr>
                      <a:r>
                        <a:t>1.51</a:t>
                      </a:r>
                    </a:p>
                  </a:txBody>
                  <a:tcPr marL="64008" marR="64008" marT="54864" marB="27432" anchor="t">
                    <a:lnL w="0">
                      <a:noFill/>
                    </a:lnL>
                    <a:lnR w="0">
                      <a:noFill/>
                    </a:lnR>
                    <a:lnT w="0">
                      <a:noFill/>
                    </a:lnT>
                    <a:lnB w="5080">
                      <a:solidFill>
                        <a:srgbClr val="B8B8B8"/>
                      </a:solidFill>
                    </a:lnB>
                    <a:solidFill>
                      <a:srgbClr val="FFFFFF"/>
                    </a:solidFill>
                  </a:tcPr>
                </a:tc>
                <a:tc>
                  <a:txBody>
                    <a:bodyPr/>
                    <a:lstStyle/>
                    <a:p>
                      <a:pPr>
                        <a:spcAft>
                          <a:spcPts val="100"/>
                        </a:spcAft>
                        <a:defRPr sz="1000" b="0">
                          <a:solidFill>
                            <a:srgbClr val="11151A"/>
                          </a:solidFill>
                          <a:latin typeface="Lato"/>
                        </a:defRPr>
                      </a:pPr>
                      <a:r>
                        <a:t>Balance 2021: 1.50; mining 1.29, construction 0.05</a:t>
                      </a:r>
                    </a:p>
                  </a:txBody>
                  <a:tcPr marL="64008" marR="64008" marT="54864" marB="27432" anchor="t">
                    <a:lnL w="0">
                      <a:noFill/>
                    </a:lnL>
                    <a:lnR w="0">
                      <a:noFill/>
                    </a:lnR>
                    <a:lnT w="0">
                      <a:noFill/>
                    </a:lnT>
                    <a:lnB w="5080">
                      <a:solidFill>
                        <a:srgbClr val="B8B8B8"/>
                      </a:solidFill>
                    </a:lnB>
                    <a:solidFill>
                      <a:srgbClr val="FFFFFF"/>
                    </a:solidFill>
                  </a:tcPr>
                </a:tc>
                <a:tc>
                  <a:txBody>
                    <a:bodyPr/>
                    <a:lstStyle/>
                    <a:p>
                      <a:pPr>
                        <a:spcAft>
                          <a:spcPts val="100"/>
                        </a:spcAft>
                        <a:defRPr sz="1000" b="0">
                          <a:solidFill>
                            <a:srgbClr val="11151A"/>
                          </a:solidFill>
                          <a:latin typeface="Lato"/>
                        </a:defRPr>
                      </a:pPr>
                      <a:r>
                        <a:t>Mine haul trucks are unregistered, so no overlap; mines' road vehicles do overlap</a:t>
                      </a:r>
                    </a:p>
                  </a:txBody>
                  <a:tcPr marL="64008" marR="64008" marT="54864" marB="27432" anchor="t">
                    <a:lnL w="0">
                      <a:noFill/>
                    </a:lnL>
                    <a:lnR w="0">
                      <a:noFill/>
                    </a:lnR>
                    <a:lnT w="0">
                      <a:noFill/>
                    </a:lnT>
                    <a:lnB w="5080">
                      <a:solidFill>
                        <a:srgbClr val="B8B8B8"/>
                      </a:solidFill>
                    </a:lnB>
                    <a:solidFill>
                      <a:srgbClr val="FFFFFF"/>
                    </a:solidFill>
                  </a:tcPr>
                </a:tc>
              </a:tr>
              <a:tr h="522514">
                <a:tc>
                  <a:txBody>
                    <a:bodyPr/>
                    <a:lstStyle/>
                    <a:p>
                      <a:pPr>
                        <a:spcAft>
                          <a:spcPts val="100"/>
                        </a:spcAft>
                        <a:defRPr sz="1000" b="1">
                          <a:solidFill>
                            <a:srgbClr val="0A2373"/>
                          </a:solidFill>
                          <a:latin typeface="Lato"/>
                        </a:defRPr>
                      </a:pPr>
                      <a:r>
                        <a:t>Power generation</a:t>
                      </a:r>
                    </a:p>
                  </a:txBody>
                  <a:tcPr marL="64008" marR="64008" marT="54864" marB="27432" anchor="t">
                    <a:lnL w="0">
                      <a:noFill/>
                    </a:lnL>
                    <a:lnR w="0">
                      <a:noFill/>
                    </a:lnR>
                    <a:lnT w="0">
                      <a:noFill/>
                    </a:lnT>
                    <a:lnB w="5080">
                      <a:solidFill>
                        <a:srgbClr val="B8B8B8"/>
                      </a:solidFill>
                    </a:lnB>
                    <a:solidFill>
                      <a:srgbClr val="FFFFFF"/>
                    </a:solidFill>
                  </a:tcPr>
                </a:tc>
                <a:tc>
                  <a:txBody>
                    <a:bodyPr/>
                    <a:lstStyle/>
                    <a:p>
                      <a:pPr>
                        <a:spcAft>
                          <a:spcPts val="100"/>
                        </a:spcAft>
                        <a:defRPr sz="1000" b="0">
                          <a:solidFill>
                            <a:srgbClr val="11151A"/>
                          </a:solidFill>
                          <a:latin typeface="Lato"/>
                        </a:defRPr>
                      </a:pPr>
                      <a:r>
                        <a:t>3.58</a:t>
                      </a:r>
                    </a:p>
                  </a:txBody>
                  <a:tcPr marL="64008" marR="64008" marT="54864" marB="27432" anchor="t">
                    <a:lnL w="0">
                      <a:noFill/>
                    </a:lnL>
                    <a:lnR w="0">
                      <a:noFill/>
                    </a:lnR>
                    <a:lnT w="0">
                      <a:noFill/>
                    </a:lnT>
                    <a:lnB w="5080">
                      <a:solidFill>
                        <a:srgbClr val="B8B8B8"/>
                      </a:solidFill>
                    </a:lnB>
                    <a:solidFill>
                      <a:srgbClr val="FFFFFF"/>
                    </a:solidFill>
                  </a:tcPr>
                </a:tc>
                <a:tc>
                  <a:txBody>
                    <a:bodyPr/>
                    <a:lstStyle/>
                    <a:p>
                      <a:pPr>
                        <a:spcAft>
                          <a:spcPts val="100"/>
                        </a:spcAft>
                        <a:defRPr sz="1000" b="0">
                          <a:solidFill>
                            <a:srgbClr val="11151A"/>
                          </a:solidFill>
                          <a:latin typeface="Lato"/>
                        </a:defRPr>
                      </a:pPr>
                      <a:r>
                        <a:t>Eskom: 0.94 (year to March 2023), 0.68 (to March 2025); about 1.6 for all plants in the peak year</a:t>
                      </a:r>
                    </a:p>
                  </a:txBody>
                  <a:tcPr marL="64008" marR="64008" marT="54864" marB="27432" anchor="t">
                    <a:lnL w="0">
                      <a:noFill/>
                    </a:lnL>
                    <a:lnR w="0">
                      <a:noFill/>
                    </a:lnR>
                    <a:lnT w="0">
                      <a:noFill/>
                    </a:lnT>
                    <a:lnB w="5080">
                      <a:solidFill>
                        <a:srgbClr val="B8B8B8"/>
                      </a:solidFill>
                    </a:lnB>
                    <a:solidFill>
                      <a:srgbClr val="FFFFFF"/>
                    </a:solidFill>
                  </a:tcPr>
                </a:tc>
                <a:tc>
                  <a:txBody>
                    <a:bodyPr/>
                    <a:lstStyle/>
                    <a:p>
                      <a:pPr>
                        <a:spcAft>
                          <a:spcPts val="100"/>
                        </a:spcAft>
                        <a:defRPr sz="1000" b="0">
                          <a:solidFill>
                            <a:srgbClr val="11151A"/>
                          </a:solidFill>
                          <a:latin typeface="Lato"/>
                        </a:defRPr>
                      </a:pPr>
                      <a:r>
                        <a:t>Not an overlap: the model is at least 2 bn litres above reported burn</a:t>
                      </a:r>
                    </a:p>
                  </a:txBody>
                  <a:tcPr marL="64008" marR="64008" marT="54864" marB="27432" anchor="t">
                    <a:lnL w="0">
                      <a:noFill/>
                    </a:lnL>
                    <a:lnR w="0">
                      <a:noFill/>
                    </a:lnR>
                    <a:lnT w="0">
                      <a:noFill/>
                    </a:lnT>
                    <a:lnB w="5080">
                      <a:solidFill>
                        <a:srgbClr val="B8B8B8"/>
                      </a:solidFill>
                    </a:lnB>
                    <a:solidFill>
                      <a:srgbClr val="FFFFFF"/>
                    </a:solidFill>
                  </a:tcPr>
                </a:tc>
              </a:tr>
              <a:tr h="522514">
                <a:tc>
                  <a:txBody>
                    <a:bodyPr/>
                    <a:lstStyle/>
                    <a:p>
                      <a:pPr>
                        <a:spcAft>
                          <a:spcPts val="100"/>
                        </a:spcAft>
                        <a:defRPr sz="1000" b="1">
                          <a:solidFill>
                            <a:srgbClr val="0A2373"/>
                          </a:solidFill>
                          <a:latin typeface="Lato"/>
                        </a:defRPr>
                      </a:pPr>
                      <a:r>
                        <a:t>Marine gas oil</a:t>
                      </a:r>
                    </a:p>
                  </a:txBody>
                  <a:tcPr marL="64008" marR="64008" marT="54864" marB="27432" anchor="t">
                    <a:lnL w="0">
                      <a:noFill/>
                    </a:lnL>
                    <a:lnR w="0">
                      <a:noFill/>
                    </a:lnR>
                    <a:lnT w="0">
                      <a:noFill/>
                    </a:lnT>
                    <a:lnB w="5080">
                      <a:solidFill>
                        <a:srgbClr val="B8B8B8"/>
                      </a:solidFill>
                    </a:lnB>
                    <a:solidFill>
                      <a:srgbClr val="FFFFFF"/>
                    </a:solidFill>
                  </a:tcPr>
                </a:tc>
                <a:tc>
                  <a:txBody>
                    <a:bodyPr/>
                    <a:lstStyle/>
                    <a:p>
                      <a:pPr>
                        <a:spcAft>
                          <a:spcPts val="100"/>
                        </a:spcAft>
                        <a:defRPr sz="1000" b="0">
                          <a:solidFill>
                            <a:srgbClr val="11151A"/>
                          </a:solidFill>
                          <a:latin typeface="Lato"/>
                        </a:defRPr>
                      </a:pPr>
                      <a:r>
                        <a:t>0.77</a:t>
                      </a:r>
                    </a:p>
                  </a:txBody>
                  <a:tcPr marL="64008" marR="64008" marT="54864" marB="27432" anchor="t">
                    <a:lnL w="0">
                      <a:noFill/>
                    </a:lnL>
                    <a:lnR w="0">
                      <a:noFill/>
                    </a:lnR>
                    <a:lnT w="0">
                      <a:noFill/>
                    </a:lnT>
                    <a:lnB w="5080">
                      <a:solidFill>
                        <a:srgbClr val="B8B8B8"/>
                      </a:solidFill>
                    </a:lnB>
                    <a:solidFill>
                      <a:srgbClr val="FFFFFF"/>
                    </a:solidFill>
                  </a:tcPr>
                </a:tc>
                <a:tc>
                  <a:txBody>
                    <a:bodyPr/>
                    <a:lstStyle/>
                    <a:p>
                      <a:pPr>
                        <a:spcAft>
                          <a:spcPts val="100"/>
                        </a:spcAft>
                        <a:defRPr sz="1000" b="0">
                          <a:solidFill>
                            <a:srgbClr val="11151A"/>
                          </a:solidFill>
                          <a:latin typeface="Lato"/>
                        </a:defRPr>
                      </a:pPr>
                      <a:r>
                        <a:t>No observed figure</a:t>
                      </a:r>
                    </a:p>
                  </a:txBody>
                  <a:tcPr marL="64008" marR="64008" marT="54864" marB="27432" anchor="t">
                    <a:lnL w="0">
                      <a:noFill/>
                    </a:lnL>
                    <a:lnR w="0">
                      <a:noFill/>
                    </a:lnR>
                    <a:lnT w="0">
                      <a:noFill/>
                    </a:lnT>
                    <a:lnB w="5080">
                      <a:solidFill>
                        <a:srgbClr val="B8B8B8"/>
                      </a:solidFill>
                    </a:lnB>
                    <a:solidFill>
                      <a:srgbClr val="FFFFFF"/>
                    </a:solidFill>
                  </a:tcPr>
                </a:tc>
                <a:tc>
                  <a:txBody>
                    <a:bodyPr/>
                    <a:lstStyle/>
                    <a:p>
                      <a:pPr>
                        <a:spcAft>
                          <a:spcPts val="100"/>
                        </a:spcAft>
                        <a:defRPr sz="1000" b="0">
                          <a:solidFill>
                            <a:srgbClr val="11151A"/>
                          </a:solidFill>
                          <a:latin typeface="Lato"/>
                        </a:defRPr>
                      </a:pPr>
                      <a:r>
                        <a:t>Not established whether ships' diesel is inside inland sales</a:t>
                      </a:r>
                    </a:p>
                  </a:txBody>
                  <a:tcPr marL="64008" marR="64008" marT="54864" marB="27432" anchor="t">
                    <a:lnL w="0">
                      <a:noFill/>
                    </a:lnL>
                    <a:lnR w="0">
                      <a:noFill/>
                    </a:lnR>
                    <a:lnT w="0">
                      <a:noFill/>
                    </a:lnT>
                    <a:lnB w="5080">
                      <a:solidFill>
                        <a:srgbClr val="B8B8B8"/>
                      </a:solidFill>
                    </a:lnB>
                    <a:solidFill>
                      <a:srgbClr val="FFFFFF"/>
                    </a:solidFill>
                  </a:tcPr>
                </a:tc>
              </a:tr>
              <a:tr h="522516">
                <a:tc>
                  <a:txBody>
                    <a:bodyPr/>
                    <a:lstStyle/>
                    <a:p>
                      <a:pPr>
                        <a:spcAft>
                          <a:spcPts val="100"/>
                        </a:spcAft>
                        <a:defRPr sz="1000" b="1">
                          <a:solidFill>
                            <a:srgbClr val="0A2373"/>
                          </a:solidFill>
                          <a:latin typeface="Lato"/>
                        </a:defRPr>
                      </a:pPr>
                      <a:r>
                        <a:t>Total</a:t>
                      </a:r>
                    </a:p>
                  </a:txBody>
                  <a:tcPr marL="64008" marR="64008" marT="54864" marB="27432" anchor="t">
                    <a:lnL w="0">
                      <a:noFill/>
                    </a:lnL>
                    <a:lnR w="0">
                      <a:noFill/>
                    </a:lnR>
                    <a:lnT w="0">
                      <a:noFill/>
                    </a:lnT>
                    <a:lnB w="5080">
                      <a:solidFill>
                        <a:srgbClr val="B8B8B8"/>
                      </a:solidFill>
                    </a:lnB>
                    <a:solidFill>
                      <a:srgbClr val="FFFFFF"/>
                    </a:solidFill>
                  </a:tcPr>
                </a:tc>
                <a:tc>
                  <a:txBody>
                    <a:bodyPr/>
                    <a:lstStyle/>
                    <a:p>
                      <a:pPr>
                        <a:spcAft>
                          <a:spcPts val="100"/>
                        </a:spcAft>
                        <a:defRPr sz="1000" b="0">
                          <a:solidFill>
                            <a:srgbClr val="11151A"/>
                          </a:solidFill>
                          <a:latin typeface="Lato"/>
                        </a:defRPr>
                      </a:pPr>
                      <a:r>
                        <a:t>15.42</a:t>
                      </a:r>
                    </a:p>
                  </a:txBody>
                  <a:tcPr marL="64008" marR="64008" marT="54864" marB="27432" anchor="t">
                    <a:lnL w="0">
                      <a:noFill/>
                    </a:lnL>
                    <a:lnR w="0">
                      <a:noFill/>
                    </a:lnR>
                    <a:lnT w="0">
                      <a:noFill/>
                    </a:lnT>
                    <a:lnB w="5080">
                      <a:solidFill>
                        <a:srgbClr val="B8B8B8"/>
                      </a:solidFill>
                    </a:lnB>
                    <a:solidFill>
                      <a:srgbClr val="FFFFFF"/>
                    </a:solidFill>
                  </a:tcPr>
                </a:tc>
                <a:tc>
                  <a:txBody>
                    <a:bodyPr/>
                    <a:lstStyle/>
                    <a:p>
                      <a:pPr>
                        <a:spcAft>
                          <a:spcPts val="100"/>
                        </a:spcAft>
                        <a:defRPr sz="1000" b="0">
                          <a:solidFill>
                            <a:srgbClr val="11151A"/>
                          </a:solidFill>
                          <a:latin typeface="Lato"/>
                        </a:defRPr>
                      </a:pPr>
                      <a:r>
                        <a:t>Recorded sales: 12.91 (2023); 11.73 (2024, unverified)</a:t>
                      </a:r>
                    </a:p>
                  </a:txBody>
                  <a:tcPr marL="64008" marR="64008" marT="54864" marB="27432" anchor="t">
                    <a:lnL w="0">
                      <a:noFill/>
                    </a:lnL>
                    <a:lnR w="0">
                      <a:noFill/>
                    </a:lnR>
                    <a:lnT w="0">
                      <a:noFill/>
                    </a:lnT>
                    <a:lnB w="5080">
                      <a:solidFill>
                        <a:srgbClr val="B8B8B8"/>
                      </a:solidFill>
                    </a:lnB>
                    <a:solidFill>
                      <a:srgbClr val="FFFFFF"/>
                    </a:solidFill>
                  </a:tcPr>
                </a:tc>
                <a:tc>
                  <a:txBody>
                    <a:bodyPr/>
                    <a:lstStyle/>
                    <a:p>
                      <a:pPr>
                        <a:spcAft>
                          <a:spcPts val="100"/>
                        </a:spcAft>
                        <a:defRPr sz="1000" b="0">
                          <a:solidFill>
                            <a:srgbClr val="11151A"/>
                          </a:solidFill>
                          <a:latin typeface="Lato"/>
                        </a:defRPr>
                      </a:pPr>
                      <a:r>
                        <a:t>Model is 2.5 to 3.7 above recorded sales</a:t>
                      </a:r>
                    </a:p>
                  </a:txBody>
                  <a:tcPr marL="64008" marR="64008" marT="54864" marB="27432" anchor="t">
                    <a:lnL w="0">
                      <a:noFill/>
                    </a:lnL>
                    <a:lnR w="0">
                      <a:noFill/>
                    </a:lnR>
                    <a:lnT w="0">
                      <a:noFill/>
                    </a:lnT>
                    <a:lnB w="5080">
                      <a:solidFill>
                        <a:srgbClr val="B8B8B8"/>
                      </a:solidFill>
                    </a:lnB>
                    <a:solidFill>
                      <a:srgbClr val="FFFFFF"/>
                    </a:solidFill>
                  </a:tcPr>
                </a:tc>
              </a:tr>
            </a:tbl>
          </a:graphicData>
        </a:graphic>
      </p:graphicFrame>
      <p:sp>
        <p:nvSpPr>
          <p:cNvPr id="8" name="TextBox 7"/>
          <p:cNvSpPr txBox="1"/>
          <p:nvPr/>
        </p:nvSpPr>
        <p:spPr>
          <a:xfrm>
            <a:off x="457200" y="5852160"/>
            <a:ext cx="10652760" cy="548640"/>
          </a:xfrm>
          <a:prstGeom prst="rect">
            <a:avLst/>
          </a:prstGeom>
          <a:noFill/>
        </p:spPr>
        <p:txBody>
          <a:bodyPr wrap="square" lIns="22860" rIns="22860" tIns="0" bIns="0">
            <a:spAutoFit/>
          </a:bodyPr>
          <a:lstStyle/>
          <a:p>
            <a:pPr>
              <a:spcAft>
                <a:spcPts val="300"/>
              </a:spcAft>
              <a:defRPr sz="1100" b="1">
                <a:solidFill>
                  <a:srgbClr val="0A2373"/>
                </a:solidFill>
                <a:latin typeface="Lato"/>
              </a:defRPr>
            </a:pPr>
            <a:r>
              <a:t>Road vehicles, agriculture and industry are 11.07 in the model against 13.41 of final consumption in the 2021 balance, so those three are short, not double counted. At most 2.56 could overlap with road vehicles; no source sizes it.</a:t>
            </a:r>
          </a:p>
        </p:txBody>
      </p:sp>
      <p:sp>
        <p:nvSpPr>
          <p:cNvPr id="9" name="Chevron 8">
            <a:hlinkClick action="ppaction://hlinksldjump" r:id="rId2"/>
          </p:cNvPr>
          <p:cNvSpPr/>
          <p:nvPr/>
        </p:nvSpPr>
        <p:spPr>
          <a:xfrm>
            <a:off x="457200" y="73152"/>
            <a:ext cx="2075688" cy="384048"/>
          </a:xfrm>
          <a:prstGeom prst="chevron">
            <a:avLst>
              <a:gd name="adj" fmla="val 12000"/>
            </a:avLst>
          </a:pr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tIns="0" bIns="0"/>
          <a:lstStyle/>
          <a:p>
            <a:pPr algn="ctr">
              <a:defRPr sz="1100" b="0">
                <a:solidFill>
                  <a:srgbClr val="0A2373"/>
                </a:solidFill>
                <a:latin typeface="Lato"/>
              </a:defRPr>
            </a:pPr>
            <a:r>
              <a:t>1  National balance</a:t>
            </a:r>
          </a:p>
        </p:txBody>
      </p:sp>
      <p:sp>
        <p:nvSpPr>
          <p:cNvPr id="10" name="Chevron 9">
            <a:hlinkClick action="ppaction://hlinksldjump" r:id="rId3"/>
          </p:cNvPr>
          <p:cNvSpPr/>
          <p:nvPr/>
        </p:nvSpPr>
        <p:spPr>
          <a:xfrm>
            <a:off x="2587752" y="73152"/>
            <a:ext cx="2075688" cy="384048"/>
          </a:xfrm>
          <a:prstGeom prst="chevron">
            <a:avLst>
              <a:gd name="adj" fmla="val 12000"/>
            </a:avLst>
          </a:pr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tIns="0" bIns="0"/>
          <a:lstStyle/>
          <a:p>
            <a:pPr algn="ctr">
              <a:defRPr sz="1100" b="0">
                <a:solidFill>
                  <a:srgbClr val="0A2373"/>
                </a:solidFill>
                <a:latin typeface="Lato"/>
              </a:defRPr>
            </a:pPr>
            <a:r>
              <a:t>2  Forecast levers</a:t>
            </a:r>
          </a:p>
        </p:txBody>
      </p:sp>
      <p:sp>
        <p:nvSpPr>
          <p:cNvPr id="11" name="Chevron 10">
            <a:hlinkClick action="ppaction://hlinksldjump" r:id="rId4"/>
          </p:cNvPr>
          <p:cNvSpPr/>
          <p:nvPr/>
        </p:nvSpPr>
        <p:spPr>
          <a:xfrm>
            <a:off x="4718304" y="73152"/>
            <a:ext cx="2075688" cy="384048"/>
          </a:xfrm>
          <a:prstGeom prst="chevron">
            <a:avLst>
              <a:gd name="adj" fmla="val 12000"/>
            </a:avLst>
          </a:pr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tIns="0" bIns="0"/>
          <a:lstStyle/>
          <a:p>
            <a:pPr algn="ctr">
              <a:defRPr sz="1100" b="1">
                <a:solidFill>
                  <a:srgbClr val="FFFFFF"/>
                </a:solidFill>
                <a:latin typeface="Lato"/>
              </a:defRPr>
            </a:pPr>
            <a:r>
              <a:t>3  Sector baselines</a:t>
            </a:r>
          </a:p>
        </p:txBody>
      </p:sp>
      <p:sp>
        <p:nvSpPr>
          <p:cNvPr id="12" name="Chevron 11">
            <a:hlinkClick action="ppaction://hlinksldjump" r:id="rId5"/>
          </p:cNvPr>
          <p:cNvSpPr/>
          <p:nvPr/>
        </p:nvSpPr>
        <p:spPr>
          <a:xfrm>
            <a:off x="6848856" y="73152"/>
            <a:ext cx="2075688" cy="384048"/>
          </a:xfrm>
          <a:prstGeom prst="chevron">
            <a:avLst>
              <a:gd name="adj" fmla="val 12000"/>
            </a:avLst>
          </a:pr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tIns="0" bIns="0"/>
          <a:lstStyle/>
          <a:p>
            <a:pPr algn="ctr">
              <a:defRPr sz="1100" b="0">
                <a:solidFill>
                  <a:srgbClr val="0A2373"/>
                </a:solidFill>
                <a:latin typeface="Lato"/>
              </a:defRPr>
            </a:pPr>
            <a:r>
              <a:t>4  Tank handling</a:t>
            </a:r>
          </a:p>
        </p:txBody>
      </p:sp>
      <p:sp>
        <p:nvSpPr>
          <p:cNvPr id="13" name="Chevron 12">
            <a:hlinkClick action="ppaction://hlinksldjump" r:id="rId6"/>
          </p:cNvPr>
          <p:cNvSpPr/>
          <p:nvPr/>
        </p:nvSpPr>
        <p:spPr>
          <a:xfrm>
            <a:off x="8979408" y="73152"/>
            <a:ext cx="2075688" cy="384048"/>
          </a:xfrm>
          <a:prstGeom prst="chevron">
            <a:avLst>
              <a:gd name="adj" fmla="val 12000"/>
            </a:avLst>
          </a:pr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tIns="0" bIns="0"/>
          <a:lstStyle/>
          <a:p>
            <a:pPr algn="ctr">
              <a:defRPr sz="1100" b="0">
                <a:solidFill>
                  <a:srgbClr val="0A2373"/>
                </a:solidFill>
                <a:latin typeface="Lato"/>
              </a:defRPr>
            </a:pPr>
            <a:r>
              <a:t>5  Hand-back</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Lesedi: eight loading bays cap the high case near 2.4 turns a month, not 3</a:t>
            </a:r>
          </a:p>
        </p:txBody>
      </p:sp>
      <p:sp>
        <p:nvSpPr>
          <p:cNvPr id="3" name="TextBox 2"/>
          <p:cNvSpPr txBox="1"/>
          <p:nvPr/>
        </p:nvSpPr>
        <p:spPr>
          <a:xfrm>
            <a:off x="457200" y="1627632"/>
            <a:ext cx="10652760" cy="274320"/>
          </a:xfrm>
          <a:prstGeom prst="rect">
            <a:avLst/>
          </a:prstGeom>
          <a:noFill/>
        </p:spPr>
        <p:txBody>
          <a:bodyPr wrap="square" lIns="22860" rIns="22860" tIns="0" bIns="0">
            <a:spAutoFit/>
          </a:bodyPr>
          <a:lstStyle/>
          <a:p>
            <a:pPr>
              <a:spcAft>
                <a:spcPts val="300"/>
              </a:spcAft>
              <a:defRPr sz="1300" b="1">
                <a:solidFill>
                  <a:srgbClr val="11151A"/>
                </a:solidFill>
                <a:latin typeface="Lato"/>
              </a:defRPr>
            </a:pPr>
            <a:r>
              <a:t>Vopak Lesedi, Jameson Park | proposed site assumptions | estimates are to confirm with the client</a:t>
            </a:r>
          </a:p>
        </p:txBody>
      </p:sp>
      <p:cxnSp>
        <p:nvCxnSpPr>
          <p:cNvPr id="4" name="Connector 3"/>
          <p:cNvCxnSpPr/>
          <p:nvPr/>
        </p:nvCxnSpPr>
        <p:spPr>
          <a:xfrm>
            <a:off x="457200" y="1920240"/>
            <a:ext cx="10652760" cy="0"/>
          </a:xfrm>
          <a:prstGeom prst="line">
            <a:avLst/>
          </a:prstGeom>
          <a:ln w="7620">
            <a:solidFill>
              <a:srgbClr val="A0A0A0"/>
            </a:solidFill>
          </a:ln>
        </p:spPr>
        <p:style>
          <a:lnRef idx="2">
            <a:schemeClr val="accent1"/>
          </a:lnRef>
          <a:fillRef idx="0">
            <a:schemeClr val="accent1"/>
          </a:fillRef>
          <a:effectRef idx="1">
            <a:schemeClr val="accent1"/>
          </a:effectRef>
          <a:fontRef idx="minor">
            <a:schemeClr val="tx1"/>
          </a:fontRef>
        </p:style>
      </p:cxnSp>
      <p:sp>
        <p:nvSpPr>
          <p:cNvPr id="5" name="TextBox 4"/>
          <p:cNvSpPr txBox="1"/>
          <p:nvPr/>
        </p:nvSpPr>
        <p:spPr>
          <a:xfrm>
            <a:off x="457200" y="6547104"/>
            <a:ext cx="9692640" cy="182880"/>
          </a:xfrm>
          <a:prstGeom prst="rect">
            <a:avLst/>
          </a:prstGeom>
          <a:noFill/>
        </p:spPr>
        <p:txBody>
          <a:bodyPr wrap="square" lIns="22860" rIns="22860" tIns="0" bIns="0">
            <a:spAutoFit/>
          </a:bodyPr>
          <a:lstStyle/>
          <a:p>
            <a:pPr>
              <a:spcAft>
                <a:spcPts val="300"/>
              </a:spcAft>
              <a:defRPr sz="800" b="0">
                <a:solidFill>
                  <a:srgbClr val="11151A"/>
                </a:solidFill>
                <a:latin typeface="Lato"/>
              </a:defRPr>
            </a:pPr>
            <a:r>
              <a:t>Source: terminal_site_assumptions.csv and tank_handling_site_assumptions_2026-10-07.md on manish-branch; NERSA licence documents, Vopak and Transnet. No Vopak operating data used.</a:t>
            </a:r>
          </a:p>
        </p:txBody>
      </p:sp>
      <p:sp>
        <p:nvSpPr>
          <p:cNvPr id="6" name="TextBox 5"/>
          <p:cNvSpPr txBox="1"/>
          <p:nvPr/>
        </p:nvSpPr>
        <p:spPr>
          <a:xfrm>
            <a:off x="457200" y="6711696"/>
            <a:ext cx="2011680" cy="128016"/>
          </a:xfrm>
          <a:prstGeom prst="rect">
            <a:avLst/>
          </a:prstGeom>
          <a:noFill/>
        </p:spPr>
        <p:txBody>
          <a:bodyPr wrap="square" lIns="22860" rIns="22860" tIns="0" bIns="0">
            <a:spAutoFit/>
          </a:bodyPr>
          <a:lstStyle/>
          <a:p>
            <a:pPr>
              <a:spcAft>
                <a:spcPts val="300"/>
              </a:spcAft>
              <a:defRPr sz="700" b="0">
                <a:solidFill>
                  <a:srgbClr val="11151A"/>
                </a:solidFill>
                <a:latin typeface="Lato"/>
              </a:defRPr>
            </a:pPr>
            <a:r>
              <a:t>Strictly Confidential</a:t>
            </a:r>
          </a:p>
        </p:txBody>
      </p:sp>
      <p:graphicFrame>
        <p:nvGraphicFramePr>
          <p:cNvPr id="7" name="Table 6"/>
          <p:cNvGraphicFramePr>
            <a:graphicFrameLocks noGrp="1"/>
          </p:cNvGraphicFramePr>
          <p:nvPr/>
        </p:nvGraphicFramePr>
        <p:xfrm>
          <a:off x="457200" y="2029968"/>
          <a:ext cx="10652760" cy="3657600"/>
        </p:xfrm>
        <a:graphic>
          <a:graphicData uri="http://schemas.openxmlformats.org/drawingml/2006/table">
            <a:tbl>
              <a:tblPr firstRow="0" bandRow="0"/>
              <a:tblGrid>
                <a:gridCol w="1828800"/>
                <a:gridCol w="4663440"/>
                <a:gridCol w="1828800"/>
                <a:gridCol w="2331720"/>
              </a:tblGrid>
              <a:tr h="457200">
                <a:tc>
                  <a:txBody>
                    <a:bodyPr/>
                    <a:lstStyle/>
                    <a:p>
                      <a:pPr>
                        <a:spcAft>
                          <a:spcPts val="100"/>
                        </a:spcAft>
                        <a:defRPr sz="1000" b="1">
                          <a:solidFill>
                            <a:srgbClr val="0A2373"/>
                          </a:solidFill>
                          <a:latin typeface="Lato"/>
                        </a:defRPr>
                      </a:pPr>
                      <a:r>
                        <a:t>Item</a:t>
                      </a:r>
                    </a:p>
                  </a:txBody>
                  <a:tcPr marL="64008" marR="64008" marT="54864" marB="27432" anchor="t">
                    <a:lnL w="0">
                      <a:noFill/>
                    </a:lnL>
                    <a:lnR w="0">
                      <a:noFill/>
                    </a:lnR>
                    <a:lnT w="0">
                      <a:noFill/>
                    </a:lnT>
                    <a:lnB w="5080">
                      <a:solidFill>
                        <a:srgbClr val="B8B8B8"/>
                      </a:solidFill>
                    </a:lnB>
                    <a:solidFill>
                      <a:srgbClr val="FFFFFF"/>
                    </a:solidFill>
                  </a:tcPr>
                </a:tc>
                <a:tc>
                  <a:txBody>
                    <a:bodyPr/>
                    <a:lstStyle/>
                    <a:p>
                      <a:pPr>
                        <a:spcAft>
                          <a:spcPts val="100"/>
                        </a:spcAft>
                        <a:defRPr sz="1000" b="1">
                          <a:solidFill>
                            <a:srgbClr val="11151A"/>
                          </a:solidFill>
                          <a:latin typeface="Lato"/>
                        </a:defRPr>
                      </a:pPr>
                      <a:r>
                        <a:t>Value</a:t>
                      </a:r>
                    </a:p>
                  </a:txBody>
                  <a:tcPr marL="64008" marR="64008" marT="54864" marB="27432" anchor="t">
                    <a:lnL w="0">
                      <a:noFill/>
                    </a:lnL>
                    <a:lnR w="0">
                      <a:noFill/>
                    </a:lnR>
                    <a:lnT w="0">
                      <a:noFill/>
                    </a:lnT>
                    <a:lnB w="5080">
                      <a:solidFill>
                        <a:srgbClr val="B8B8B8"/>
                      </a:solidFill>
                    </a:lnB>
                    <a:solidFill>
                      <a:srgbClr val="FFFFFF"/>
                    </a:solidFill>
                  </a:tcPr>
                </a:tc>
                <a:tc>
                  <a:txBody>
                    <a:bodyPr/>
                    <a:lstStyle/>
                    <a:p>
                      <a:pPr>
                        <a:spcAft>
                          <a:spcPts val="100"/>
                        </a:spcAft>
                        <a:defRPr sz="1000" b="1">
                          <a:solidFill>
                            <a:srgbClr val="11151A"/>
                          </a:solidFill>
                          <a:latin typeface="Lato"/>
                        </a:defRPr>
                      </a:pPr>
                      <a:r>
                        <a:t>Basis</a:t>
                      </a:r>
                    </a:p>
                  </a:txBody>
                  <a:tcPr marL="64008" marR="64008" marT="54864" marB="27432" anchor="t">
                    <a:lnL w="0">
                      <a:noFill/>
                    </a:lnL>
                    <a:lnR w="0">
                      <a:noFill/>
                    </a:lnR>
                    <a:lnT w="0">
                      <a:noFill/>
                    </a:lnT>
                    <a:lnB w="5080">
                      <a:solidFill>
                        <a:srgbClr val="B8B8B8"/>
                      </a:solidFill>
                    </a:lnB>
                    <a:solidFill>
                      <a:srgbClr val="FFFFFF"/>
                    </a:solidFill>
                  </a:tcPr>
                </a:tc>
                <a:tc>
                  <a:txBody>
                    <a:bodyPr/>
                    <a:lstStyle/>
                    <a:p>
                      <a:pPr>
                        <a:spcAft>
                          <a:spcPts val="100"/>
                        </a:spcAft>
                        <a:defRPr sz="1000" b="1">
                          <a:solidFill>
                            <a:srgbClr val="11151A"/>
                          </a:solidFill>
                          <a:latin typeface="Lato"/>
                        </a:defRPr>
                      </a:pPr>
                      <a:r>
                        <a:t>Source</a:t>
                      </a:r>
                    </a:p>
                  </a:txBody>
                  <a:tcPr marL="64008" marR="64008" marT="54864" marB="27432" anchor="t">
                    <a:lnL w="0">
                      <a:noFill/>
                    </a:lnL>
                    <a:lnR w="0">
                      <a:noFill/>
                    </a:lnR>
                    <a:lnT w="0">
                      <a:noFill/>
                    </a:lnT>
                    <a:lnB w="5080">
                      <a:solidFill>
                        <a:srgbClr val="B8B8B8"/>
                      </a:solidFill>
                    </a:lnB>
                    <a:solidFill>
                      <a:srgbClr val="FFFFFF"/>
                    </a:solidFill>
                  </a:tcPr>
                </a:tc>
              </a:tr>
              <a:tr h="457200">
                <a:tc>
                  <a:txBody>
                    <a:bodyPr/>
                    <a:lstStyle/>
                    <a:p>
                      <a:pPr>
                        <a:spcAft>
                          <a:spcPts val="100"/>
                        </a:spcAft>
                        <a:defRPr sz="1000" b="1">
                          <a:solidFill>
                            <a:srgbClr val="0A2373"/>
                          </a:solidFill>
                          <a:latin typeface="Lato"/>
                        </a:defRPr>
                      </a:pPr>
                      <a:r>
                        <a:t>Design capacity</a:t>
                      </a:r>
                    </a:p>
                  </a:txBody>
                  <a:tcPr marL="64008" marR="64008" marT="54864" marB="27432" anchor="t">
                    <a:lnL w="0">
                      <a:noFill/>
                    </a:lnL>
                    <a:lnR w="0">
                      <a:noFill/>
                    </a:lnR>
                    <a:lnT w="0">
                      <a:noFill/>
                    </a:lnT>
                    <a:lnB w="5080">
                      <a:solidFill>
                        <a:srgbClr val="B8B8B8"/>
                      </a:solidFill>
                    </a:lnB>
                    <a:solidFill>
                      <a:srgbClr val="FFFFFF"/>
                    </a:solidFill>
                  </a:tcPr>
                </a:tc>
                <a:tc>
                  <a:txBody>
                    <a:bodyPr/>
                    <a:lstStyle/>
                    <a:p>
                      <a:pPr>
                        <a:spcAft>
                          <a:spcPts val="100"/>
                        </a:spcAft>
                        <a:defRPr sz="1000" b="0">
                          <a:solidFill>
                            <a:srgbClr val="11151A"/>
                          </a:solidFill>
                          <a:latin typeface="Lato"/>
                        </a:defRPr>
                      </a:pPr>
                      <a:r>
                        <a:t>140,000 m3: petrol 40,000, diesel 80,000, one 20,000 tank for either. New tanks in service since October 2025</a:t>
                      </a:r>
                    </a:p>
                  </a:txBody>
                  <a:tcPr marL="64008" marR="64008" marT="54864" marB="27432" anchor="t">
                    <a:lnL w="0">
                      <a:noFill/>
                    </a:lnL>
                    <a:lnR w="0">
                      <a:noFill/>
                    </a:lnR>
                    <a:lnT w="0">
                      <a:noFill/>
                    </a:lnT>
                    <a:lnB w="5080">
                      <a:solidFill>
                        <a:srgbClr val="B8B8B8"/>
                      </a:solidFill>
                    </a:lnB>
                    <a:solidFill>
                      <a:srgbClr val="FFFFFF"/>
                    </a:solidFill>
                  </a:tcPr>
                </a:tc>
                <a:tc>
                  <a:txBody>
                    <a:bodyPr/>
                    <a:lstStyle/>
                    <a:p>
                      <a:pPr>
                        <a:spcAft>
                          <a:spcPts val="100"/>
                        </a:spcAft>
                        <a:defRPr sz="1000" b="0">
                          <a:solidFill>
                            <a:srgbClr val="11151A"/>
                          </a:solidFill>
                          <a:latin typeface="Lato"/>
                        </a:defRPr>
                      </a:pPr>
                      <a:r>
                        <a:t>Evidence</a:t>
                      </a:r>
                    </a:p>
                  </a:txBody>
                  <a:tcPr marL="64008" marR="64008" marT="54864" marB="27432" anchor="t">
                    <a:lnL w="0">
                      <a:noFill/>
                    </a:lnL>
                    <a:lnR w="0">
                      <a:noFill/>
                    </a:lnR>
                    <a:lnT w="0">
                      <a:noFill/>
                    </a:lnT>
                    <a:lnB w="5080">
                      <a:solidFill>
                        <a:srgbClr val="B8B8B8"/>
                      </a:solidFill>
                    </a:lnB>
                    <a:solidFill>
                      <a:srgbClr val="FFFFFF"/>
                    </a:solidFill>
                  </a:tcPr>
                </a:tc>
                <a:tc>
                  <a:txBody>
                    <a:bodyPr/>
                    <a:lstStyle/>
                    <a:p>
                      <a:pPr>
                        <a:spcAft>
                          <a:spcPts val="100"/>
                        </a:spcAft>
                        <a:defRPr sz="1000" b="0">
                          <a:solidFill>
                            <a:srgbClr val="11151A"/>
                          </a:solidFill>
                          <a:latin typeface="Lato"/>
                        </a:defRPr>
                      </a:pPr>
                      <a:r>
                        <a:t>NERSA licence amendment, 6 August 2025; Vopak Q3 2025 release</a:t>
                      </a:r>
                    </a:p>
                  </a:txBody>
                  <a:tcPr marL="64008" marR="64008" marT="54864" marB="27432" anchor="t">
                    <a:lnL w="0">
                      <a:noFill/>
                    </a:lnL>
                    <a:lnR w="0">
                      <a:noFill/>
                    </a:lnR>
                    <a:lnT w="0">
                      <a:noFill/>
                    </a:lnT>
                    <a:lnB w="5080">
                      <a:solidFill>
                        <a:srgbClr val="B8B8B8"/>
                      </a:solidFill>
                    </a:lnB>
                    <a:solidFill>
                      <a:srgbClr val="FFFFFF"/>
                    </a:solidFill>
                  </a:tcPr>
                </a:tc>
              </a:tr>
              <a:tr h="457200">
                <a:tc>
                  <a:txBody>
                    <a:bodyPr/>
                    <a:lstStyle/>
                    <a:p>
                      <a:pPr>
                        <a:spcAft>
                          <a:spcPts val="100"/>
                        </a:spcAft>
                        <a:defRPr sz="1000" b="1">
                          <a:solidFill>
                            <a:srgbClr val="0A2373"/>
                          </a:solidFill>
                          <a:latin typeface="Lato"/>
                        </a:defRPr>
                      </a:pPr>
                      <a:r>
                        <a:t>Operational capacity</a:t>
                      </a:r>
                    </a:p>
                  </a:txBody>
                  <a:tcPr marL="64008" marR="64008" marT="54864" marB="27432" anchor="t">
                    <a:lnL w="0">
                      <a:noFill/>
                    </a:lnL>
                    <a:lnR w="0">
                      <a:noFill/>
                    </a:lnR>
                    <a:lnT w="0">
                      <a:noFill/>
                    </a:lnT>
                    <a:lnB w="5080">
                      <a:solidFill>
                        <a:srgbClr val="B8B8B8"/>
                      </a:solidFill>
                    </a:lnB>
                    <a:solidFill>
                      <a:srgbClr val="FFFFFF"/>
                    </a:solidFill>
                  </a:tcPr>
                </a:tc>
                <a:tc>
                  <a:txBody>
                    <a:bodyPr/>
                    <a:lstStyle/>
                    <a:p>
                      <a:pPr>
                        <a:spcAft>
                          <a:spcPts val="100"/>
                        </a:spcAft>
                        <a:defRPr sz="1000" b="0">
                          <a:solidFill>
                            <a:srgbClr val="11151A"/>
                          </a:solidFill>
                          <a:latin typeface="Lato"/>
                        </a:defRPr>
                      </a:pPr>
                      <a:r>
                        <a:t>124,000 m3: 88,000 in the six original tanks; 18,000 assumed for each new tank</a:t>
                      </a:r>
                    </a:p>
                  </a:txBody>
                  <a:tcPr marL="64008" marR="64008" marT="54864" marB="27432" anchor="t">
                    <a:lnL w="0">
                      <a:noFill/>
                    </a:lnL>
                    <a:lnR w="0">
                      <a:noFill/>
                    </a:lnR>
                    <a:lnT w="0">
                      <a:noFill/>
                    </a:lnT>
                    <a:lnB w="5080">
                      <a:solidFill>
                        <a:srgbClr val="B8B8B8"/>
                      </a:solidFill>
                    </a:lnB>
                    <a:solidFill>
                      <a:srgbClr val="FFFFFF"/>
                    </a:solidFill>
                  </a:tcPr>
                </a:tc>
                <a:tc>
                  <a:txBody>
                    <a:bodyPr/>
                    <a:lstStyle/>
                    <a:p>
                      <a:pPr>
                        <a:spcAft>
                          <a:spcPts val="100"/>
                        </a:spcAft>
                        <a:defRPr sz="1000" b="0">
                          <a:solidFill>
                            <a:srgbClr val="11151A"/>
                          </a:solidFill>
                          <a:latin typeface="Lato"/>
                        </a:defRPr>
                      </a:pPr>
                      <a:r>
                        <a:t>Evidence; new tanks estimated, to confirm with client</a:t>
                      </a:r>
                    </a:p>
                  </a:txBody>
                  <a:tcPr marL="64008" marR="64008" marT="54864" marB="27432" anchor="t">
                    <a:lnL w="0">
                      <a:noFill/>
                    </a:lnL>
                    <a:lnR w="0">
                      <a:noFill/>
                    </a:lnR>
                    <a:lnT w="0">
                      <a:noFill/>
                    </a:lnT>
                    <a:lnB w="5080">
                      <a:solidFill>
                        <a:srgbClr val="B8B8B8"/>
                      </a:solidFill>
                    </a:lnB>
                    <a:solidFill>
                      <a:srgbClr val="FFFFFF"/>
                    </a:solidFill>
                  </a:tcPr>
                </a:tc>
                <a:tc>
                  <a:txBody>
                    <a:bodyPr/>
                    <a:lstStyle/>
                    <a:p>
                      <a:pPr>
                        <a:spcAft>
                          <a:spcPts val="100"/>
                        </a:spcAft>
                        <a:defRPr sz="1000" b="0">
                          <a:solidFill>
                            <a:srgbClr val="11151A"/>
                          </a:solidFill>
                          <a:latin typeface="Lato"/>
                        </a:defRPr>
                      </a:pPr>
                      <a:r>
                        <a:t>Vopak licence application to NERSA, 2020, p.8-9</a:t>
                      </a:r>
                    </a:p>
                  </a:txBody>
                  <a:tcPr marL="64008" marR="64008" marT="54864" marB="27432" anchor="t">
                    <a:lnL w="0">
                      <a:noFill/>
                    </a:lnL>
                    <a:lnR w="0">
                      <a:noFill/>
                    </a:lnR>
                    <a:lnT w="0">
                      <a:noFill/>
                    </a:lnT>
                    <a:lnB w="5080">
                      <a:solidFill>
                        <a:srgbClr val="B8B8B8"/>
                      </a:solidFill>
                    </a:lnB>
                    <a:solidFill>
                      <a:srgbClr val="FFFFFF"/>
                    </a:solidFill>
                  </a:tcPr>
                </a:tc>
              </a:tr>
              <a:tr h="457200">
                <a:tc>
                  <a:txBody>
                    <a:bodyPr/>
                    <a:lstStyle/>
                    <a:p>
                      <a:pPr>
                        <a:spcAft>
                          <a:spcPts val="100"/>
                        </a:spcAft>
                        <a:defRPr sz="1000" b="1">
                          <a:solidFill>
                            <a:srgbClr val="0A2373"/>
                          </a:solidFill>
                          <a:latin typeface="Lato"/>
                        </a:defRPr>
                      </a:pPr>
                      <a:r>
                        <a:t>Receipts</a:t>
                      </a:r>
                    </a:p>
                  </a:txBody>
                  <a:tcPr marL="64008" marR="64008" marT="54864" marB="27432" anchor="t">
                    <a:lnL w="0">
                      <a:noFill/>
                    </a:lnL>
                    <a:lnR w="0">
                      <a:noFill/>
                    </a:lnR>
                    <a:lnT w="0">
                      <a:noFill/>
                    </a:lnT>
                    <a:lnB w="5080">
                      <a:solidFill>
                        <a:srgbClr val="B8B8B8"/>
                      </a:solidFill>
                    </a:lnB>
                    <a:solidFill>
                      <a:srgbClr val="FFFFFF"/>
                    </a:solidFill>
                  </a:tcPr>
                </a:tc>
                <a:tc>
                  <a:txBody>
                    <a:bodyPr/>
                    <a:lstStyle/>
                    <a:p>
                      <a:pPr>
                        <a:spcAft>
                          <a:spcPts val="100"/>
                        </a:spcAft>
                        <a:defRPr sz="1000" b="0">
                          <a:solidFill>
                            <a:srgbClr val="11151A"/>
                          </a:solidFill>
                          <a:latin typeface="Lato"/>
                        </a:defRPr>
                      </a:pPr>
                      <a:r>
                        <a:t>Pipeline only, at most 1,500 m3 an hour</a:t>
                      </a:r>
                    </a:p>
                  </a:txBody>
                  <a:tcPr marL="64008" marR="64008" marT="54864" marB="27432" anchor="t">
                    <a:lnL w="0">
                      <a:noFill/>
                    </a:lnL>
                    <a:lnR w="0">
                      <a:noFill/>
                    </a:lnR>
                    <a:lnT w="0">
                      <a:noFill/>
                    </a:lnT>
                    <a:lnB w="5080">
                      <a:solidFill>
                        <a:srgbClr val="B8B8B8"/>
                      </a:solidFill>
                    </a:lnB>
                    <a:solidFill>
                      <a:srgbClr val="FFFFFF"/>
                    </a:solidFill>
                  </a:tcPr>
                </a:tc>
                <a:tc>
                  <a:txBody>
                    <a:bodyPr/>
                    <a:lstStyle/>
                    <a:p>
                      <a:pPr>
                        <a:spcAft>
                          <a:spcPts val="100"/>
                        </a:spcAft>
                        <a:defRPr sz="1000" b="0">
                          <a:solidFill>
                            <a:srgbClr val="11151A"/>
                          </a:solidFill>
                          <a:latin typeface="Lato"/>
                        </a:defRPr>
                      </a:pPr>
                      <a:r>
                        <a:t>Evidence</a:t>
                      </a:r>
                    </a:p>
                  </a:txBody>
                  <a:tcPr marL="64008" marR="64008" marT="54864" marB="27432" anchor="t">
                    <a:lnL w="0">
                      <a:noFill/>
                    </a:lnL>
                    <a:lnR w="0">
                      <a:noFill/>
                    </a:lnR>
                    <a:lnT w="0">
                      <a:noFill/>
                    </a:lnT>
                    <a:lnB w="5080">
                      <a:solidFill>
                        <a:srgbClr val="B8B8B8"/>
                      </a:solidFill>
                    </a:lnB>
                    <a:solidFill>
                      <a:srgbClr val="FFFFFF"/>
                    </a:solidFill>
                  </a:tcPr>
                </a:tc>
                <a:tc>
                  <a:txBody>
                    <a:bodyPr/>
                    <a:lstStyle/>
                    <a:p>
                      <a:pPr>
                        <a:spcAft>
                          <a:spcPts val="100"/>
                        </a:spcAft>
                        <a:defRPr sz="1000" b="0">
                          <a:solidFill>
                            <a:srgbClr val="11151A"/>
                          </a:solidFill>
                          <a:latin typeface="Lato"/>
                        </a:defRPr>
                      </a:pPr>
                      <a:r>
                        <a:t>Licence application, p.9</a:t>
                      </a:r>
                    </a:p>
                  </a:txBody>
                  <a:tcPr marL="64008" marR="64008" marT="54864" marB="27432" anchor="t">
                    <a:lnL w="0">
                      <a:noFill/>
                    </a:lnL>
                    <a:lnR w="0">
                      <a:noFill/>
                    </a:lnR>
                    <a:lnT w="0">
                      <a:noFill/>
                    </a:lnT>
                    <a:lnB w="5080">
                      <a:solidFill>
                        <a:srgbClr val="B8B8B8"/>
                      </a:solidFill>
                    </a:lnB>
                    <a:solidFill>
                      <a:srgbClr val="FFFFFF"/>
                    </a:solidFill>
                  </a:tcPr>
                </a:tc>
              </a:tr>
              <a:tr h="457200">
                <a:tc>
                  <a:txBody>
                    <a:bodyPr/>
                    <a:lstStyle/>
                    <a:p>
                      <a:pPr>
                        <a:spcAft>
                          <a:spcPts val="100"/>
                        </a:spcAft>
                        <a:defRPr sz="1000" b="1">
                          <a:solidFill>
                            <a:srgbClr val="0A2373"/>
                          </a:solidFill>
                          <a:latin typeface="Lato"/>
                        </a:defRPr>
                      </a:pPr>
                      <a:r>
                        <a:t>Dispatch</a:t>
                      </a:r>
                    </a:p>
                  </a:txBody>
                  <a:tcPr marL="64008" marR="64008" marT="54864" marB="27432" anchor="t">
                    <a:lnL w="0">
                      <a:noFill/>
                    </a:lnL>
                    <a:lnR w="0">
                      <a:noFill/>
                    </a:lnR>
                    <a:lnT w="0">
                      <a:noFill/>
                    </a:lnT>
                    <a:lnB w="5080">
                      <a:solidFill>
                        <a:srgbClr val="B8B8B8"/>
                      </a:solidFill>
                    </a:lnB>
                    <a:solidFill>
                      <a:srgbClr val="FFFFFF"/>
                    </a:solidFill>
                  </a:tcPr>
                </a:tc>
                <a:tc>
                  <a:txBody>
                    <a:bodyPr/>
                    <a:lstStyle/>
                    <a:p>
                      <a:pPr>
                        <a:spcAft>
                          <a:spcPts val="100"/>
                        </a:spcAft>
                        <a:defRPr sz="1000" b="0">
                          <a:solidFill>
                            <a:srgbClr val="11151A"/>
                          </a:solidFill>
                          <a:latin typeface="Lato"/>
                        </a:defRPr>
                      </a:pPr>
                      <a:r>
                        <a:t>At most 1,500 m3 an hour; 80% road, 20% pipeline. 8 bays at 125 m3 an hour</a:t>
                      </a:r>
                    </a:p>
                  </a:txBody>
                  <a:tcPr marL="64008" marR="64008" marT="54864" marB="27432" anchor="t">
                    <a:lnL w="0">
                      <a:noFill/>
                    </a:lnL>
                    <a:lnR w="0">
                      <a:noFill/>
                    </a:lnR>
                    <a:lnT w="0">
                      <a:noFill/>
                    </a:lnT>
                    <a:lnB w="5080">
                      <a:solidFill>
                        <a:srgbClr val="B8B8B8"/>
                      </a:solidFill>
                    </a:lnB>
                    <a:solidFill>
                      <a:srgbClr val="FFFFFF"/>
                    </a:solidFill>
                  </a:tcPr>
                </a:tc>
                <a:tc>
                  <a:txBody>
                    <a:bodyPr/>
                    <a:lstStyle/>
                    <a:p>
                      <a:pPr>
                        <a:spcAft>
                          <a:spcPts val="100"/>
                        </a:spcAft>
                        <a:defRPr sz="1000" b="0">
                          <a:solidFill>
                            <a:srgbClr val="11151A"/>
                          </a:solidFill>
                          <a:latin typeface="Lato"/>
                        </a:defRPr>
                      </a:pPr>
                      <a:r>
                        <a:t>Evidence</a:t>
                      </a:r>
                    </a:p>
                  </a:txBody>
                  <a:tcPr marL="64008" marR="64008" marT="54864" marB="27432" anchor="t">
                    <a:lnL w="0">
                      <a:noFill/>
                    </a:lnL>
                    <a:lnR w="0">
                      <a:noFill/>
                    </a:lnR>
                    <a:lnT w="0">
                      <a:noFill/>
                    </a:lnT>
                    <a:lnB w="5080">
                      <a:solidFill>
                        <a:srgbClr val="B8B8B8"/>
                      </a:solidFill>
                    </a:lnB>
                    <a:solidFill>
                      <a:srgbClr val="FFFFFF"/>
                    </a:solidFill>
                  </a:tcPr>
                </a:tc>
                <a:tc>
                  <a:txBody>
                    <a:bodyPr/>
                    <a:lstStyle/>
                    <a:p>
                      <a:pPr>
                        <a:spcAft>
                          <a:spcPts val="100"/>
                        </a:spcAft>
                        <a:defRPr sz="1000" b="0">
                          <a:solidFill>
                            <a:srgbClr val="11151A"/>
                          </a:solidFill>
                          <a:latin typeface="Lato"/>
                        </a:defRPr>
                      </a:pPr>
                      <a:r>
                        <a:t>Licence application, p.9; NERSA 2025</a:t>
                      </a:r>
                    </a:p>
                  </a:txBody>
                  <a:tcPr marL="64008" marR="64008" marT="54864" marB="27432" anchor="t">
                    <a:lnL w="0">
                      <a:noFill/>
                    </a:lnL>
                    <a:lnR w="0">
                      <a:noFill/>
                    </a:lnR>
                    <a:lnT w="0">
                      <a:noFill/>
                    </a:lnT>
                    <a:lnB w="5080">
                      <a:solidFill>
                        <a:srgbClr val="B8B8B8"/>
                      </a:solidFill>
                    </a:lnB>
                    <a:solidFill>
                      <a:srgbClr val="FFFFFF"/>
                    </a:solidFill>
                  </a:tcPr>
                </a:tc>
              </a:tr>
              <a:tr h="457200">
                <a:tc>
                  <a:txBody>
                    <a:bodyPr/>
                    <a:lstStyle/>
                    <a:p>
                      <a:pPr>
                        <a:spcAft>
                          <a:spcPts val="100"/>
                        </a:spcAft>
                        <a:defRPr sz="1000" b="1">
                          <a:solidFill>
                            <a:srgbClr val="0A2373"/>
                          </a:solidFill>
                          <a:latin typeface="Lato"/>
                        </a:defRPr>
                      </a:pPr>
                      <a:r>
                        <a:t>Practical road dispatch</a:t>
                      </a:r>
                    </a:p>
                  </a:txBody>
                  <a:tcPr marL="64008" marR="64008" marT="54864" marB="27432" anchor="t">
                    <a:lnL w="0">
                      <a:noFill/>
                    </a:lnL>
                    <a:lnR w="0">
                      <a:noFill/>
                    </a:lnR>
                    <a:lnT w="0">
                      <a:noFill/>
                    </a:lnT>
                    <a:lnB w="5080">
                      <a:solidFill>
                        <a:srgbClr val="B8B8B8"/>
                      </a:solidFill>
                    </a:lnB>
                    <a:solidFill>
                      <a:srgbClr val="FFFFFF"/>
                    </a:solidFill>
                  </a:tcPr>
                </a:tc>
                <a:tc>
                  <a:txBody>
                    <a:bodyPr/>
                    <a:lstStyle/>
                    <a:p>
                      <a:pPr>
                        <a:spcAft>
                          <a:spcPts val="100"/>
                        </a:spcAft>
                        <a:defRPr sz="1000" b="0">
                          <a:solidFill>
                            <a:srgbClr val="11151A"/>
                          </a:solidFill>
                          <a:latin typeface="Lato"/>
                        </a:defRPr>
                      </a:pPr>
                      <a:r>
                        <a:t>About 300,000 m3 a month</a:t>
                      </a:r>
                    </a:p>
                  </a:txBody>
                  <a:tcPr marL="64008" marR="64008" marT="54864" marB="27432" anchor="t">
                    <a:lnL w="0">
                      <a:noFill/>
                    </a:lnL>
                    <a:lnR w="0">
                      <a:noFill/>
                    </a:lnR>
                    <a:lnT w="0">
                      <a:noFill/>
                    </a:lnT>
                    <a:lnB w="5080">
                      <a:solidFill>
                        <a:srgbClr val="B8B8B8"/>
                      </a:solidFill>
                    </a:lnB>
                    <a:solidFill>
                      <a:srgbClr val="FFFFFF"/>
                    </a:solidFill>
                  </a:tcPr>
                </a:tc>
                <a:tc>
                  <a:txBody>
                    <a:bodyPr/>
                    <a:lstStyle/>
                    <a:p>
                      <a:pPr>
                        <a:spcAft>
                          <a:spcPts val="100"/>
                        </a:spcAft>
                        <a:defRPr sz="1000" b="0">
                          <a:solidFill>
                            <a:srgbClr val="11151A"/>
                          </a:solidFill>
                          <a:latin typeface="Lato"/>
                        </a:defRPr>
                      </a:pPr>
                      <a:r>
                        <a:t>Estimate, to confirm with client</a:t>
                      </a:r>
                    </a:p>
                  </a:txBody>
                  <a:tcPr marL="64008" marR="64008" marT="54864" marB="27432" anchor="t">
                    <a:lnL w="0">
                      <a:noFill/>
                    </a:lnL>
                    <a:lnR w="0">
                      <a:noFill/>
                    </a:lnR>
                    <a:lnT w="0">
                      <a:noFill/>
                    </a:lnT>
                    <a:lnB w="5080">
                      <a:solidFill>
                        <a:srgbClr val="B8B8B8"/>
                      </a:solidFill>
                    </a:lnB>
                    <a:solidFill>
                      <a:srgbClr val="FFFFFF"/>
                    </a:solidFill>
                  </a:tcPr>
                </a:tc>
                <a:tc>
                  <a:txBody>
                    <a:bodyPr/>
                    <a:lstStyle/>
                    <a:p>
                      <a:pPr>
                        <a:spcAft>
                          <a:spcPts val="100"/>
                        </a:spcAft>
                        <a:defRPr sz="1000" b="0">
                          <a:solidFill>
                            <a:srgbClr val="11151A"/>
                          </a:solidFill>
                          <a:latin typeface="Lato"/>
                        </a:defRPr>
                      </a:pPr>
                      <a:r>
                        <a:t>Bays pumping half the time, 20 hours a day</a:t>
                      </a:r>
                    </a:p>
                  </a:txBody>
                  <a:tcPr marL="64008" marR="64008" marT="54864" marB="27432" anchor="t">
                    <a:lnL w="0">
                      <a:noFill/>
                    </a:lnL>
                    <a:lnR w="0">
                      <a:noFill/>
                    </a:lnR>
                    <a:lnT w="0">
                      <a:noFill/>
                    </a:lnT>
                    <a:lnB w="5080">
                      <a:solidFill>
                        <a:srgbClr val="B8B8B8"/>
                      </a:solidFill>
                    </a:lnB>
                    <a:solidFill>
                      <a:srgbClr val="FFFFFF"/>
                    </a:solidFill>
                  </a:tcPr>
                </a:tc>
              </a:tr>
              <a:tr h="457200">
                <a:tc>
                  <a:txBody>
                    <a:bodyPr/>
                    <a:lstStyle/>
                    <a:p>
                      <a:pPr>
                        <a:spcAft>
                          <a:spcPts val="100"/>
                        </a:spcAft>
                        <a:defRPr sz="1000" b="1">
                          <a:solidFill>
                            <a:srgbClr val="0A2373"/>
                          </a:solidFill>
                          <a:latin typeface="Lato"/>
                        </a:defRPr>
                      </a:pPr>
                      <a:r>
                        <a:t>Monthly turns</a:t>
                      </a:r>
                    </a:p>
                  </a:txBody>
                  <a:tcPr marL="64008" marR="64008" marT="54864" marB="27432" anchor="t">
                    <a:lnL w="0">
                      <a:noFill/>
                    </a:lnL>
                    <a:lnR w="0">
                      <a:noFill/>
                    </a:lnR>
                    <a:lnT w="0">
                      <a:noFill/>
                    </a:lnT>
                    <a:lnB w="5080">
                      <a:solidFill>
                        <a:srgbClr val="B8B8B8"/>
                      </a:solidFill>
                    </a:lnB>
                    <a:solidFill>
                      <a:srgbClr val="FFFFFF"/>
                    </a:solidFill>
                  </a:tcPr>
                </a:tc>
                <a:tc>
                  <a:txBody>
                    <a:bodyPr/>
                    <a:lstStyle/>
                    <a:p>
                      <a:pPr>
                        <a:spcAft>
                          <a:spcPts val="100"/>
                        </a:spcAft>
                        <a:defRPr sz="1000" b="0">
                          <a:solidFill>
                            <a:srgbClr val="11151A"/>
                          </a:solidFill>
                          <a:latin typeface="Lato"/>
                        </a:defRPr>
                      </a:pPr>
                      <a:r>
                        <a:t>1 / 2 / 2.4 (low / base / high), on operational capacity</a:t>
                      </a:r>
                    </a:p>
                  </a:txBody>
                  <a:tcPr marL="64008" marR="64008" marT="54864" marB="27432" anchor="t">
                    <a:lnL w="0">
                      <a:noFill/>
                    </a:lnL>
                    <a:lnR w="0">
                      <a:noFill/>
                    </a:lnR>
                    <a:lnT w="0">
                      <a:noFill/>
                    </a:lnT>
                    <a:lnB w="5080">
                      <a:solidFill>
                        <a:srgbClr val="B8B8B8"/>
                      </a:solidFill>
                    </a:lnB>
                    <a:solidFill>
                      <a:srgbClr val="FFFFFF"/>
                    </a:solidFill>
                  </a:tcPr>
                </a:tc>
                <a:tc>
                  <a:txBody>
                    <a:bodyPr/>
                    <a:lstStyle/>
                    <a:p>
                      <a:pPr>
                        <a:spcAft>
                          <a:spcPts val="100"/>
                        </a:spcAft>
                        <a:defRPr sz="1000" b="0">
                          <a:solidFill>
                            <a:srgbClr val="11151A"/>
                          </a:solidFill>
                          <a:latin typeface="Lato"/>
                        </a:defRPr>
                      </a:pPr>
                      <a:r>
                        <a:t>Estimate, to confirm with client</a:t>
                      </a:r>
                    </a:p>
                  </a:txBody>
                  <a:tcPr marL="64008" marR="64008" marT="54864" marB="27432" anchor="t">
                    <a:lnL w="0">
                      <a:noFill/>
                    </a:lnL>
                    <a:lnR w="0">
                      <a:noFill/>
                    </a:lnR>
                    <a:lnT w="0">
                      <a:noFill/>
                    </a:lnT>
                    <a:lnB w="5080">
                      <a:solidFill>
                        <a:srgbClr val="B8B8B8"/>
                      </a:solidFill>
                    </a:lnB>
                    <a:solidFill>
                      <a:srgbClr val="FFFFFF"/>
                    </a:solidFill>
                  </a:tcPr>
                </a:tc>
                <a:tc>
                  <a:txBody>
                    <a:bodyPr/>
                    <a:lstStyle/>
                    <a:p>
                      <a:pPr>
                        <a:spcAft>
                          <a:spcPts val="100"/>
                        </a:spcAft>
                        <a:defRPr sz="1000" b="0">
                          <a:solidFill>
                            <a:srgbClr val="11151A"/>
                          </a:solidFill>
                          <a:latin typeface="Lato"/>
                        </a:defRPr>
                      </a:pPr>
                      <a:r>
                        <a:t>Base from Vopak's Durban target; high from road dispatch</a:t>
                      </a:r>
                    </a:p>
                  </a:txBody>
                  <a:tcPr marL="64008" marR="64008" marT="54864" marB="27432" anchor="t">
                    <a:lnL w="0">
                      <a:noFill/>
                    </a:lnL>
                    <a:lnR w="0">
                      <a:noFill/>
                    </a:lnR>
                    <a:lnT w="0">
                      <a:noFill/>
                    </a:lnT>
                    <a:lnB w="5080">
                      <a:solidFill>
                        <a:srgbClr val="B8B8B8"/>
                      </a:solidFill>
                    </a:lnB>
                    <a:solidFill>
                      <a:srgbClr val="FFFFFF"/>
                    </a:solidFill>
                  </a:tcPr>
                </a:tc>
              </a:tr>
              <a:tr h="457200">
                <a:tc>
                  <a:txBody>
                    <a:bodyPr/>
                    <a:lstStyle/>
                    <a:p>
                      <a:pPr>
                        <a:spcAft>
                          <a:spcPts val="100"/>
                        </a:spcAft>
                        <a:defRPr sz="1000" b="1">
                          <a:solidFill>
                            <a:srgbClr val="0A2373"/>
                          </a:solidFill>
                          <a:latin typeface="Lato"/>
                        </a:defRPr>
                      </a:pPr>
                      <a:r>
                        <a:t>Annual handling</a:t>
                      </a:r>
                    </a:p>
                  </a:txBody>
                  <a:tcPr marL="64008" marR="64008" marT="54864" marB="27432" anchor="t">
                    <a:lnL w="0">
                      <a:noFill/>
                    </a:lnL>
                    <a:lnR w="0">
                      <a:noFill/>
                    </a:lnR>
                    <a:lnT w="0">
                      <a:noFill/>
                    </a:lnT>
                    <a:lnB w="5080">
                      <a:solidFill>
                        <a:srgbClr val="B8B8B8"/>
                      </a:solidFill>
                    </a:lnB>
                    <a:solidFill>
                      <a:srgbClr val="FFFFFF"/>
                    </a:solidFill>
                  </a:tcPr>
                </a:tc>
                <a:tc>
                  <a:txBody>
                    <a:bodyPr/>
                    <a:lstStyle/>
                    <a:p>
                      <a:pPr>
                        <a:spcAft>
                          <a:spcPts val="100"/>
                        </a:spcAft>
                        <a:defRPr sz="1000" b="0">
                          <a:solidFill>
                            <a:srgbClr val="11151A"/>
                          </a:solidFill>
                          <a:latin typeface="Lato"/>
                        </a:defRPr>
                      </a:pPr>
                      <a:r>
                        <a:t>1.5 / 3.0 / 3.6 million m3</a:t>
                      </a:r>
                    </a:p>
                  </a:txBody>
                  <a:tcPr marL="64008" marR="64008" marT="54864" marB="27432" anchor="t">
                    <a:lnL w="0">
                      <a:noFill/>
                    </a:lnL>
                    <a:lnR w="0">
                      <a:noFill/>
                    </a:lnR>
                    <a:lnT w="0">
                      <a:noFill/>
                    </a:lnT>
                    <a:lnB w="5080">
                      <a:solidFill>
                        <a:srgbClr val="B8B8B8"/>
                      </a:solidFill>
                    </a:lnB>
                    <a:solidFill>
                      <a:srgbClr val="FFFFFF"/>
                    </a:solidFill>
                  </a:tcPr>
                </a:tc>
                <a:tc>
                  <a:txBody>
                    <a:bodyPr/>
                    <a:lstStyle/>
                    <a:p>
                      <a:pPr>
                        <a:spcAft>
                          <a:spcPts val="100"/>
                        </a:spcAft>
                        <a:defRPr sz="1000" b="0">
                          <a:solidFill>
                            <a:srgbClr val="11151A"/>
                          </a:solidFill>
                          <a:latin typeface="Lato"/>
                        </a:defRPr>
                      </a:pPr>
                      <a:r>
                        <a:t>Calculated</a:t>
                      </a:r>
                    </a:p>
                  </a:txBody>
                  <a:tcPr marL="64008" marR="64008" marT="54864" marB="27432" anchor="t">
                    <a:lnL w="0">
                      <a:noFill/>
                    </a:lnL>
                    <a:lnR w="0">
                      <a:noFill/>
                    </a:lnR>
                    <a:lnT w="0">
                      <a:noFill/>
                    </a:lnT>
                    <a:lnB w="5080">
                      <a:solidFill>
                        <a:srgbClr val="B8B8B8"/>
                      </a:solidFill>
                    </a:lnB>
                    <a:solidFill>
                      <a:srgbClr val="FFFFFF"/>
                    </a:solidFill>
                  </a:tcPr>
                </a:tc>
                <a:tc>
                  <a:txBody>
                    <a:bodyPr/>
                    <a:lstStyle/>
                    <a:p>
                      <a:pPr>
                        <a:spcAft>
                          <a:spcPts val="100"/>
                        </a:spcAft>
                        <a:defRPr sz="1000" b="0">
                          <a:solidFill>
                            <a:srgbClr val="11151A"/>
                          </a:solidFill>
                          <a:latin typeface="Lato"/>
                        </a:defRPr>
                      </a:pPr>
                      <a:r>
                        <a:t>Pack today: 1.7 / 3.4 / 5.0 on gross capacity and 1 / 2 / 3 turns</a:t>
                      </a:r>
                    </a:p>
                  </a:txBody>
                  <a:tcPr marL="64008" marR="64008" marT="54864" marB="27432" anchor="t">
                    <a:lnL w="0">
                      <a:noFill/>
                    </a:lnL>
                    <a:lnR w="0">
                      <a:noFill/>
                    </a:lnR>
                    <a:lnT w="0">
                      <a:noFill/>
                    </a:lnT>
                    <a:lnB w="5080">
                      <a:solidFill>
                        <a:srgbClr val="B8B8B8"/>
                      </a:solidFill>
                    </a:lnB>
                    <a:solidFill>
                      <a:srgbClr val="FFFFFF"/>
                    </a:solidFill>
                  </a:tcPr>
                </a:tc>
              </a:tr>
            </a:tbl>
          </a:graphicData>
        </a:graphic>
      </p:graphicFrame>
      <p:sp>
        <p:nvSpPr>
          <p:cNvPr id="8" name="TextBox 7"/>
          <p:cNvSpPr txBox="1"/>
          <p:nvPr/>
        </p:nvSpPr>
        <p:spPr>
          <a:xfrm>
            <a:off x="457200" y="5852160"/>
            <a:ext cx="10652760" cy="548640"/>
          </a:xfrm>
          <a:prstGeom prst="rect">
            <a:avLst/>
          </a:prstGeom>
          <a:noFill/>
        </p:spPr>
        <p:txBody>
          <a:bodyPr wrap="square" lIns="22860" rIns="22860" tIns="0" bIns="0">
            <a:spAutoFit/>
          </a:bodyPr>
          <a:lstStyle/>
          <a:p>
            <a:pPr>
              <a:spcAft>
                <a:spcPts val="300"/>
              </a:spcAft>
              <a:defRPr sz="1100" b="1">
                <a:solidFill>
                  <a:srgbClr val="0A2373"/>
                </a:solidFill>
                <a:latin typeface="Lato"/>
              </a:defRPr>
            </a:pPr>
            <a:r>
              <a:t>Vopak's website publishes none of the operating data. Still needed from Vopak: twelve months of outbound volume by product and mode, the new tanks' operational capacity and loading hours.</a:t>
            </a:r>
          </a:p>
        </p:txBody>
      </p:sp>
      <p:sp>
        <p:nvSpPr>
          <p:cNvPr id="9" name="Chevron 8">
            <a:hlinkClick action="ppaction://hlinksldjump" r:id="rId2"/>
          </p:cNvPr>
          <p:cNvSpPr/>
          <p:nvPr/>
        </p:nvSpPr>
        <p:spPr>
          <a:xfrm>
            <a:off x="457200" y="73152"/>
            <a:ext cx="2075688" cy="384048"/>
          </a:xfrm>
          <a:prstGeom prst="chevron">
            <a:avLst>
              <a:gd name="adj" fmla="val 12000"/>
            </a:avLst>
          </a:pr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tIns="0" bIns="0"/>
          <a:lstStyle/>
          <a:p>
            <a:pPr algn="ctr">
              <a:defRPr sz="1100" b="0">
                <a:solidFill>
                  <a:srgbClr val="0A2373"/>
                </a:solidFill>
                <a:latin typeface="Lato"/>
              </a:defRPr>
            </a:pPr>
            <a:r>
              <a:t>1  National balance</a:t>
            </a:r>
          </a:p>
        </p:txBody>
      </p:sp>
      <p:sp>
        <p:nvSpPr>
          <p:cNvPr id="10" name="Chevron 9">
            <a:hlinkClick action="ppaction://hlinksldjump" r:id="rId3"/>
          </p:cNvPr>
          <p:cNvSpPr/>
          <p:nvPr/>
        </p:nvSpPr>
        <p:spPr>
          <a:xfrm>
            <a:off x="2587752" y="73152"/>
            <a:ext cx="2075688" cy="384048"/>
          </a:xfrm>
          <a:prstGeom prst="chevron">
            <a:avLst>
              <a:gd name="adj" fmla="val 12000"/>
            </a:avLst>
          </a:pr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tIns="0" bIns="0"/>
          <a:lstStyle/>
          <a:p>
            <a:pPr algn="ctr">
              <a:defRPr sz="1100" b="0">
                <a:solidFill>
                  <a:srgbClr val="0A2373"/>
                </a:solidFill>
                <a:latin typeface="Lato"/>
              </a:defRPr>
            </a:pPr>
            <a:r>
              <a:t>2  Forecast levers</a:t>
            </a:r>
          </a:p>
        </p:txBody>
      </p:sp>
      <p:sp>
        <p:nvSpPr>
          <p:cNvPr id="11" name="Chevron 10">
            <a:hlinkClick action="ppaction://hlinksldjump" r:id="rId4"/>
          </p:cNvPr>
          <p:cNvSpPr/>
          <p:nvPr/>
        </p:nvSpPr>
        <p:spPr>
          <a:xfrm>
            <a:off x="4718304" y="73152"/>
            <a:ext cx="2075688" cy="384048"/>
          </a:xfrm>
          <a:prstGeom prst="chevron">
            <a:avLst>
              <a:gd name="adj" fmla="val 12000"/>
            </a:avLst>
          </a:pr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tIns="0" bIns="0"/>
          <a:lstStyle/>
          <a:p>
            <a:pPr algn="ctr">
              <a:defRPr sz="1100" b="0">
                <a:solidFill>
                  <a:srgbClr val="0A2373"/>
                </a:solidFill>
                <a:latin typeface="Lato"/>
              </a:defRPr>
            </a:pPr>
            <a:r>
              <a:t>3  Sector baselines</a:t>
            </a:r>
          </a:p>
        </p:txBody>
      </p:sp>
      <p:sp>
        <p:nvSpPr>
          <p:cNvPr id="12" name="Chevron 11">
            <a:hlinkClick action="ppaction://hlinksldjump" r:id="rId5"/>
          </p:cNvPr>
          <p:cNvSpPr/>
          <p:nvPr/>
        </p:nvSpPr>
        <p:spPr>
          <a:xfrm>
            <a:off x="6848856" y="73152"/>
            <a:ext cx="2075688" cy="384048"/>
          </a:xfrm>
          <a:prstGeom prst="chevron">
            <a:avLst>
              <a:gd name="adj" fmla="val 12000"/>
            </a:avLst>
          </a:pr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tIns="0" bIns="0"/>
          <a:lstStyle/>
          <a:p>
            <a:pPr algn="ctr">
              <a:defRPr sz="1100" b="1">
                <a:solidFill>
                  <a:srgbClr val="FFFFFF"/>
                </a:solidFill>
                <a:latin typeface="Lato"/>
              </a:defRPr>
            </a:pPr>
            <a:r>
              <a:t>4  Tank handling</a:t>
            </a:r>
          </a:p>
        </p:txBody>
      </p:sp>
      <p:sp>
        <p:nvSpPr>
          <p:cNvPr id="13" name="Chevron 12">
            <a:hlinkClick action="ppaction://hlinksldjump" r:id="rId6"/>
          </p:cNvPr>
          <p:cNvSpPr/>
          <p:nvPr/>
        </p:nvSpPr>
        <p:spPr>
          <a:xfrm>
            <a:off x="8979408" y="73152"/>
            <a:ext cx="2075688" cy="384048"/>
          </a:xfrm>
          <a:prstGeom prst="chevron">
            <a:avLst>
              <a:gd name="adj" fmla="val 12000"/>
            </a:avLst>
          </a:pr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tIns="0" bIns="0"/>
          <a:lstStyle/>
          <a:p>
            <a:pPr algn="ctr">
              <a:defRPr sz="1100" b="0">
                <a:solidFill>
                  <a:srgbClr val="0A2373"/>
                </a:solidFill>
                <a:latin typeface="Lato"/>
              </a:defRPr>
            </a:pPr>
            <a:r>
              <a:t>5  Hand-back</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Durban: fuel tanks are under half the site, so handling is far below the gross-capacity figure</a:t>
            </a:r>
          </a:p>
        </p:txBody>
      </p:sp>
      <p:sp>
        <p:nvSpPr>
          <p:cNvPr id="3" name="TextBox 2"/>
          <p:cNvSpPr txBox="1"/>
          <p:nvPr/>
        </p:nvSpPr>
        <p:spPr>
          <a:xfrm>
            <a:off x="457200" y="1627632"/>
            <a:ext cx="10652760" cy="274320"/>
          </a:xfrm>
          <a:prstGeom prst="rect">
            <a:avLst/>
          </a:prstGeom>
          <a:noFill/>
        </p:spPr>
        <p:txBody>
          <a:bodyPr wrap="square" lIns="22860" rIns="22860" tIns="0" bIns="0">
            <a:spAutoFit/>
          </a:bodyPr>
          <a:lstStyle/>
          <a:p>
            <a:pPr>
              <a:spcAft>
                <a:spcPts val="300"/>
              </a:spcAft>
              <a:defRPr sz="1300" b="1">
                <a:solidFill>
                  <a:srgbClr val="11151A"/>
                </a:solidFill>
                <a:latin typeface="Lato"/>
              </a:defRPr>
            </a:pPr>
            <a:r>
              <a:t>Vopak Durban, Island View | proposed site assumptions | estimates are to confirm with the client</a:t>
            </a:r>
          </a:p>
        </p:txBody>
      </p:sp>
      <p:cxnSp>
        <p:nvCxnSpPr>
          <p:cNvPr id="4" name="Connector 3"/>
          <p:cNvCxnSpPr/>
          <p:nvPr/>
        </p:nvCxnSpPr>
        <p:spPr>
          <a:xfrm>
            <a:off x="457200" y="1920240"/>
            <a:ext cx="10652760" cy="0"/>
          </a:xfrm>
          <a:prstGeom prst="line">
            <a:avLst/>
          </a:prstGeom>
          <a:ln w="7620">
            <a:solidFill>
              <a:srgbClr val="A0A0A0"/>
            </a:solidFill>
          </a:ln>
        </p:spPr>
        <p:style>
          <a:lnRef idx="2">
            <a:schemeClr val="accent1"/>
          </a:lnRef>
          <a:fillRef idx="0">
            <a:schemeClr val="accent1"/>
          </a:fillRef>
          <a:effectRef idx="1">
            <a:schemeClr val="accent1"/>
          </a:effectRef>
          <a:fontRef idx="minor">
            <a:schemeClr val="tx1"/>
          </a:fontRef>
        </p:style>
      </p:cxnSp>
      <p:sp>
        <p:nvSpPr>
          <p:cNvPr id="5" name="TextBox 4"/>
          <p:cNvSpPr txBox="1"/>
          <p:nvPr/>
        </p:nvSpPr>
        <p:spPr>
          <a:xfrm>
            <a:off x="457200" y="6547104"/>
            <a:ext cx="9692640" cy="182880"/>
          </a:xfrm>
          <a:prstGeom prst="rect">
            <a:avLst/>
          </a:prstGeom>
          <a:noFill/>
        </p:spPr>
        <p:txBody>
          <a:bodyPr wrap="square" lIns="22860" rIns="22860" tIns="0" bIns="0">
            <a:spAutoFit/>
          </a:bodyPr>
          <a:lstStyle/>
          <a:p>
            <a:pPr>
              <a:spcAft>
                <a:spcPts val="300"/>
              </a:spcAft>
              <a:defRPr sz="800" b="0">
                <a:solidFill>
                  <a:srgbClr val="11151A"/>
                </a:solidFill>
                <a:latin typeface="Lato"/>
              </a:defRPr>
            </a:pPr>
            <a:r>
              <a:t>Source: terminal_site_assumptions.csv and tank_handling_site_assumptions_2026-10-07.md on manish-branch; NERSA licence documents, Vopak and Transnet. No Vopak operating data used.</a:t>
            </a:r>
          </a:p>
        </p:txBody>
      </p:sp>
      <p:sp>
        <p:nvSpPr>
          <p:cNvPr id="6" name="TextBox 5"/>
          <p:cNvSpPr txBox="1"/>
          <p:nvPr/>
        </p:nvSpPr>
        <p:spPr>
          <a:xfrm>
            <a:off x="457200" y="6711696"/>
            <a:ext cx="2011680" cy="128016"/>
          </a:xfrm>
          <a:prstGeom prst="rect">
            <a:avLst/>
          </a:prstGeom>
          <a:noFill/>
        </p:spPr>
        <p:txBody>
          <a:bodyPr wrap="square" lIns="22860" rIns="22860" tIns="0" bIns="0">
            <a:spAutoFit/>
          </a:bodyPr>
          <a:lstStyle/>
          <a:p>
            <a:pPr>
              <a:spcAft>
                <a:spcPts val="300"/>
              </a:spcAft>
              <a:defRPr sz="700" b="0">
                <a:solidFill>
                  <a:srgbClr val="11151A"/>
                </a:solidFill>
                <a:latin typeface="Lato"/>
              </a:defRPr>
            </a:pPr>
            <a:r>
              <a:t>Strictly Confidential</a:t>
            </a:r>
          </a:p>
        </p:txBody>
      </p:sp>
      <p:graphicFrame>
        <p:nvGraphicFramePr>
          <p:cNvPr id="7" name="Table 6"/>
          <p:cNvGraphicFramePr>
            <a:graphicFrameLocks noGrp="1"/>
          </p:cNvGraphicFramePr>
          <p:nvPr/>
        </p:nvGraphicFramePr>
        <p:xfrm>
          <a:off x="457200" y="2029968"/>
          <a:ext cx="10652760" cy="3657600"/>
        </p:xfrm>
        <a:graphic>
          <a:graphicData uri="http://schemas.openxmlformats.org/drawingml/2006/table">
            <a:tbl>
              <a:tblPr firstRow="0" bandRow="0"/>
              <a:tblGrid>
                <a:gridCol w="1828800"/>
                <a:gridCol w="4663440"/>
                <a:gridCol w="1828800"/>
                <a:gridCol w="2331720"/>
              </a:tblGrid>
              <a:tr h="457200">
                <a:tc>
                  <a:txBody>
                    <a:bodyPr/>
                    <a:lstStyle/>
                    <a:p>
                      <a:pPr>
                        <a:spcAft>
                          <a:spcPts val="100"/>
                        </a:spcAft>
                        <a:defRPr sz="1000" b="1">
                          <a:solidFill>
                            <a:srgbClr val="0A2373"/>
                          </a:solidFill>
                          <a:latin typeface="Lato"/>
                        </a:defRPr>
                      </a:pPr>
                      <a:r>
                        <a:t>Item</a:t>
                      </a:r>
                    </a:p>
                  </a:txBody>
                  <a:tcPr marL="64008" marR="64008" marT="54864" marB="27432" anchor="t">
                    <a:lnL w="0">
                      <a:noFill/>
                    </a:lnL>
                    <a:lnR w="0">
                      <a:noFill/>
                    </a:lnR>
                    <a:lnT w="0">
                      <a:noFill/>
                    </a:lnT>
                    <a:lnB w="5080">
                      <a:solidFill>
                        <a:srgbClr val="B8B8B8"/>
                      </a:solidFill>
                    </a:lnB>
                    <a:solidFill>
                      <a:srgbClr val="FFFFFF"/>
                    </a:solidFill>
                  </a:tcPr>
                </a:tc>
                <a:tc>
                  <a:txBody>
                    <a:bodyPr/>
                    <a:lstStyle/>
                    <a:p>
                      <a:pPr>
                        <a:spcAft>
                          <a:spcPts val="100"/>
                        </a:spcAft>
                        <a:defRPr sz="1000" b="1">
                          <a:solidFill>
                            <a:srgbClr val="11151A"/>
                          </a:solidFill>
                          <a:latin typeface="Lato"/>
                        </a:defRPr>
                      </a:pPr>
                      <a:r>
                        <a:t>Value</a:t>
                      </a:r>
                    </a:p>
                  </a:txBody>
                  <a:tcPr marL="64008" marR="64008" marT="54864" marB="27432" anchor="t">
                    <a:lnL w="0">
                      <a:noFill/>
                    </a:lnL>
                    <a:lnR w="0">
                      <a:noFill/>
                    </a:lnR>
                    <a:lnT w="0">
                      <a:noFill/>
                    </a:lnT>
                    <a:lnB w="5080">
                      <a:solidFill>
                        <a:srgbClr val="B8B8B8"/>
                      </a:solidFill>
                    </a:lnB>
                    <a:solidFill>
                      <a:srgbClr val="FFFFFF"/>
                    </a:solidFill>
                  </a:tcPr>
                </a:tc>
                <a:tc>
                  <a:txBody>
                    <a:bodyPr/>
                    <a:lstStyle/>
                    <a:p>
                      <a:pPr>
                        <a:spcAft>
                          <a:spcPts val="100"/>
                        </a:spcAft>
                        <a:defRPr sz="1000" b="1">
                          <a:solidFill>
                            <a:srgbClr val="11151A"/>
                          </a:solidFill>
                          <a:latin typeface="Lato"/>
                        </a:defRPr>
                      </a:pPr>
                      <a:r>
                        <a:t>Basis</a:t>
                      </a:r>
                    </a:p>
                  </a:txBody>
                  <a:tcPr marL="64008" marR="64008" marT="54864" marB="27432" anchor="t">
                    <a:lnL w="0">
                      <a:noFill/>
                    </a:lnL>
                    <a:lnR w="0">
                      <a:noFill/>
                    </a:lnR>
                    <a:lnT w="0">
                      <a:noFill/>
                    </a:lnT>
                    <a:lnB w="5080">
                      <a:solidFill>
                        <a:srgbClr val="B8B8B8"/>
                      </a:solidFill>
                    </a:lnB>
                    <a:solidFill>
                      <a:srgbClr val="FFFFFF"/>
                    </a:solidFill>
                  </a:tcPr>
                </a:tc>
                <a:tc>
                  <a:txBody>
                    <a:bodyPr/>
                    <a:lstStyle/>
                    <a:p>
                      <a:pPr>
                        <a:spcAft>
                          <a:spcPts val="100"/>
                        </a:spcAft>
                        <a:defRPr sz="1000" b="1">
                          <a:solidFill>
                            <a:srgbClr val="11151A"/>
                          </a:solidFill>
                          <a:latin typeface="Lato"/>
                        </a:defRPr>
                      </a:pPr>
                      <a:r>
                        <a:t>Source</a:t>
                      </a:r>
                    </a:p>
                  </a:txBody>
                  <a:tcPr marL="64008" marR="64008" marT="54864" marB="27432" anchor="t">
                    <a:lnL w="0">
                      <a:noFill/>
                    </a:lnL>
                    <a:lnR w="0">
                      <a:noFill/>
                    </a:lnR>
                    <a:lnT w="0">
                      <a:noFill/>
                    </a:lnT>
                    <a:lnB w="5080">
                      <a:solidFill>
                        <a:srgbClr val="B8B8B8"/>
                      </a:solidFill>
                    </a:lnB>
                    <a:solidFill>
                      <a:srgbClr val="FFFFFF"/>
                    </a:solidFill>
                  </a:tcPr>
                </a:tc>
              </a:tr>
              <a:tr h="457200">
                <a:tc>
                  <a:txBody>
                    <a:bodyPr/>
                    <a:lstStyle/>
                    <a:p>
                      <a:pPr>
                        <a:spcAft>
                          <a:spcPts val="100"/>
                        </a:spcAft>
                        <a:defRPr sz="1000" b="1">
                          <a:solidFill>
                            <a:srgbClr val="0A2373"/>
                          </a:solidFill>
                          <a:latin typeface="Lato"/>
                        </a:defRPr>
                      </a:pPr>
                      <a:r>
                        <a:t>Gross capacity</a:t>
                      </a:r>
                    </a:p>
                  </a:txBody>
                  <a:tcPr marL="64008" marR="64008" marT="54864" marB="27432" anchor="t">
                    <a:lnL w="0">
                      <a:noFill/>
                    </a:lnL>
                    <a:lnR w="0">
                      <a:noFill/>
                    </a:lnR>
                    <a:lnT w="0">
                      <a:noFill/>
                    </a:lnT>
                    <a:lnB w="5080">
                      <a:solidFill>
                        <a:srgbClr val="B8B8B8"/>
                      </a:solidFill>
                    </a:lnB>
                    <a:solidFill>
                      <a:srgbClr val="FFFFFF"/>
                    </a:solidFill>
                  </a:tcPr>
                </a:tc>
                <a:tc>
                  <a:txBody>
                    <a:bodyPr/>
                    <a:lstStyle/>
                    <a:p>
                      <a:pPr>
                        <a:spcAft>
                          <a:spcPts val="100"/>
                        </a:spcAft>
                        <a:defRPr sz="1000" b="0">
                          <a:solidFill>
                            <a:srgbClr val="11151A"/>
                          </a:solidFill>
                          <a:latin typeface="Lato"/>
                        </a:defRPr>
                      </a:pPr>
                      <a:r>
                        <a:t>360,246 m3 for petroleum, chemicals and oleochemicals</a:t>
                      </a:r>
                    </a:p>
                  </a:txBody>
                  <a:tcPr marL="64008" marR="64008" marT="54864" marB="27432" anchor="t">
                    <a:lnL w="0">
                      <a:noFill/>
                    </a:lnL>
                    <a:lnR w="0">
                      <a:noFill/>
                    </a:lnR>
                    <a:lnT w="0">
                      <a:noFill/>
                    </a:lnT>
                    <a:lnB w="5080">
                      <a:solidFill>
                        <a:srgbClr val="B8B8B8"/>
                      </a:solidFill>
                    </a:lnB>
                    <a:solidFill>
                      <a:srgbClr val="FFFFFF"/>
                    </a:solidFill>
                  </a:tcPr>
                </a:tc>
                <a:tc>
                  <a:txBody>
                    <a:bodyPr/>
                    <a:lstStyle/>
                    <a:p>
                      <a:pPr>
                        <a:spcAft>
                          <a:spcPts val="100"/>
                        </a:spcAft>
                        <a:defRPr sz="1000" b="0">
                          <a:solidFill>
                            <a:srgbClr val="11151A"/>
                          </a:solidFill>
                          <a:latin typeface="Lato"/>
                        </a:defRPr>
                      </a:pPr>
                      <a:r>
                        <a:t>Evidence</a:t>
                      </a:r>
                    </a:p>
                  </a:txBody>
                  <a:tcPr marL="64008" marR="64008" marT="54864" marB="27432" anchor="t">
                    <a:lnL w="0">
                      <a:noFill/>
                    </a:lnL>
                    <a:lnR w="0">
                      <a:noFill/>
                    </a:lnR>
                    <a:lnT w="0">
                      <a:noFill/>
                    </a:lnT>
                    <a:lnB w="5080">
                      <a:solidFill>
                        <a:srgbClr val="B8B8B8"/>
                      </a:solidFill>
                    </a:lnB>
                    <a:solidFill>
                      <a:srgbClr val="FFFFFF"/>
                    </a:solidFill>
                  </a:tcPr>
                </a:tc>
                <a:tc>
                  <a:txBody>
                    <a:bodyPr/>
                    <a:lstStyle/>
                    <a:p>
                      <a:pPr>
                        <a:spcAft>
                          <a:spcPts val="100"/>
                        </a:spcAft>
                        <a:defRPr sz="1000" b="0">
                          <a:solidFill>
                            <a:srgbClr val="11151A"/>
                          </a:solidFill>
                          <a:latin typeface="Lato"/>
                        </a:defRPr>
                      </a:pPr>
                      <a:r>
                        <a:t>Vopak terminal page, checked 6 October 2026</a:t>
                      </a:r>
                    </a:p>
                  </a:txBody>
                  <a:tcPr marL="64008" marR="64008" marT="54864" marB="27432" anchor="t">
                    <a:lnL w="0">
                      <a:noFill/>
                    </a:lnL>
                    <a:lnR w="0">
                      <a:noFill/>
                    </a:lnR>
                    <a:lnT w="0">
                      <a:noFill/>
                    </a:lnT>
                    <a:lnB w="5080">
                      <a:solidFill>
                        <a:srgbClr val="B8B8B8"/>
                      </a:solidFill>
                    </a:lnB>
                    <a:solidFill>
                      <a:srgbClr val="FFFFFF"/>
                    </a:solidFill>
                  </a:tcPr>
                </a:tc>
              </a:tr>
              <a:tr h="457200">
                <a:tc>
                  <a:txBody>
                    <a:bodyPr/>
                    <a:lstStyle/>
                    <a:p>
                      <a:pPr>
                        <a:spcAft>
                          <a:spcPts val="100"/>
                        </a:spcAft>
                        <a:defRPr sz="1000" b="1">
                          <a:solidFill>
                            <a:srgbClr val="0A2373"/>
                          </a:solidFill>
                          <a:latin typeface="Lato"/>
                        </a:defRPr>
                      </a:pPr>
                      <a:r>
                        <a:t>Built for petrol and diesel</a:t>
                      </a:r>
                    </a:p>
                  </a:txBody>
                  <a:tcPr marL="64008" marR="64008" marT="54864" marB="27432" anchor="t">
                    <a:lnL w="0">
                      <a:noFill/>
                    </a:lnL>
                    <a:lnR w="0">
                      <a:noFill/>
                    </a:lnR>
                    <a:lnT w="0">
                      <a:noFill/>
                    </a:lnT>
                    <a:lnB w="5080">
                      <a:solidFill>
                        <a:srgbClr val="B8B8B8"/>
                      </a:solidFill>
                    </a:lnB>
                    <a:solidFill>
                      <a:srgbClr val="FFFFFF"/>
                    </a:solidFill>
                  </a:tcPr>
                </a:tc>
                <a:tc>
                  <a:txBody>
                    <a:bodyPr/>
                    <a:lstStyle/>
                    <a:p>
                      <a:pPr>
                        <a:spcAft>
                          <a:spcPts val="100"/>
                        </a:spcAft>
                        <a:defRPr sz="1000" b="0">
                          <a:solidFill>
                            <a:srgbClr val="11151A"/>
                          </a:solidFill>
                          <a:latin typeface="Lato"/>
                        </a:defRPr>
                      </a:pPr>
                      <a:r>
                        <a:t>162,000 m3 in ten tanks; a floor, older tanks not counted</a:t>
                      </a:r>
                    </a:p>
                  </a:txBody>
                  <a:tcPr marL="64008" marR="64008" marT="54864" marB="27432" anchor="t">
                    <a:lnL w="0">
                      <a:noFill/>
                    </a:lnL>
                    <a:lnR w="0">
                      <a:noFill/>
                    </a:lnR>
                    <a:lnT w="0">
                      <a:noFill/>
                    </a:lnT>
                    <a:lnB w="5080">
                      <a:solidFill>
                        <a:srgbClr val="B8B8B8"/>
                      </a:solidFill>
                    </a:lnB>
                    <a:solidFill>
                      <a:srgbClr val="FFFFFF"/>
                    </a:solidFill>
                  </a:tcPr>
                </a:tc>
                <a:tc>
                  <a:txBody>
                    <a:bodyPr/>
                    <a:lstStyle/>
                    <a:p>
                      <a:pPr>
                        <a:spcAft>
                          <a:spcPts val="100"/>
                        </a:spcAft>
                        <a:defRPr sz="1000" b="0">
                          <a:solidFill>
                            <a:srgbClr val="11151A"/>
                          </a:solidFill>
                          <a:latin typeface="Lato"/>
                        </a:defRPr>
                      </a:pPr>
                      <a:r>
                        <a:t>Evidence of a floor, to confirm with client</a:t>
                      </a:r>
                    </a:p>
                  </a:txBody>
                  <a:tcPr marL="64008" marR="64008" marT="54864" marB="27432" anchor="t">
                    <a:lnL w="0">
                      <a:noFill/>
                    </a:lnL>
                    <a:lnR w="0">
                      <a:noFill/>
                    </a:lnR>
                    <a:lnT w="0">
                      <a:noFill/>
                    </a:lnT>
                    <a:lnB w="5080">
                      <a:solidFill>
                        <a:srgbClr val="B8B8B8"/>
                      </a:solidFill>
                    </a:lnB>
                    <a:solidFill>
                      <a:srgbClr val="FFFFFF"/>
                    </a:solidFill>
                  </a:tcPr>
                </a:tc>
                <a:tc>
                  <a:txBody>
                    <a:bodyPr/>
                    <a:lstStyle/>
                    <a:p>
                      <a:pPr>
                        <a:spcAft>
                          <a:spcPts val="100"/>
                        </a:spcAft>
                        <a:defRPr sz="1000" b="0">
                          <a:solidFill>
                            <a:srgbClr val="11151A"/>
                          </a:solidFill>
                          <a:latin typeface="Lato"/>
                        </a:defRPr>
                      </a:pPr>
                      <a:r>
                        <a:t>Vopak news release, 17 February 2017</a:t>
                      </a:r>
                    </a:p>
                  </a:txBody>
                  <a:tcPr marL="64008" marR="64008" marT="54864" marB="27432" anchor="t">
                    <a:lnL w="0">
                      <a:noFill/>
                    </a:lnL>
                    <a:lnR w="0">
                      <a:noFill/>
                    </a:lnR>
                    <a:lnT w="0">
                      <a:noFill/>
                    </a:lnT>
                    <a:lnB w="5080">
                      <a:solidFill>
                        <a:srgbClr val="B8B8B8"/>
                      </a:solidFill>
                    </a:lnB>
                    <a:solidFill>
                      <a:srgbClr val="FFFFFF"/>
                    </a:solidFill>
                  </a:tcPr>
                </a:tc>
              </a:tr>
              <a:tr h="457200">
                <a:tc>
                  <a:txBody>
                    <a:bodyPr/>
                    <a:lstStyle/>
                    <a:p>
                      <a:pPr>
                        <a:spcAft>
                          <a:spcPts val="100"/>
                        </a:spcAft>
                        <a:defRPr sz="1000" b="1">
                          <a:solidFill>
                            <a:srgbClr val="0A2373"/>
                          </a:solidFill>
                          <a:latin typeface="Lato"/>
                        </a:defRPr>
                      </a:pPr>
                      <a:r>
                        <a:t>Operational capacity, fuel</a:t>
                      </a:r>
                    </a:p>
                  </a:txBody>
                  <a:tcPr marL="64008" marR="64008" marT="54864" marB="27432" anchor="t">
                    <a:lnL w="0">
                      <a:noFill/>
                    </a:lnL>
                    <a:lnR w="0">
                      <a:noFill/>
                    </a:lnR>
                    <a:lnT w="0">
                      <a:noFill/>
                    </a:lnT>
                    <a:lnB w="5080">
                      <a:solidFill>
                        <a:srgbClr val="B8B8B8"/>
                      </a:solidFill>
                    </a:lnB>
                    <a:solidFill>
                      <a:srgbClr val="FFFFFF"/>
                    </a:solidFill>
                  </a:tcPr>
                </a:tc>
                <a:tc>
                  <a:txBody>
                    <a:bodyPr/>
                    <a:lstStyle/>
                    <a:p>
                      <a:pPr>
                        <a:spcAft>
                          <a:spcPts val="100"/>
                        </a:spcAft>
                        <a:defRPr sz="1000" b="0">
                          <a:solidFill>
                            <a:srgbClr val="11151A"/>
                          </a:solidFill>
                          <a:latin typeface="Lato"/>
                        </a:defRPr>
                      </a:pPr>
                      <a:r>
                        <a:t>146,000 m3</a:t>
                      </a:r>
                    </a:p>
                  </a:txBody>
                  <a:tcPr marL="64008" marR="64008" marT="54864" marB="27432" anchor="t">
                    <a:lnL w="0">
                      <a:noFill/>
                    </a:lnL>
                    <a:lnR w="0">
                      <a:noFill/>
                    </a:lnR>
                    <a:lnT w="0">
                      <a:noFill/>
                    </a:lnT>
                    <a:lnB w="5080">
                      <a:solidFill>
                        <a:srgbClr val="B8B8B8"/>
                      </a:solidFill>
                    </a:lnB>
                    <a:solidFill>
                      <a:srgbClr val="FFFFFF"/>
                    </a:solidFill>
                  </a:tcPr>
                </a:tc>
                <a:tc>
                  <a:txBody>
                    <a:bodyPr/>
                    <a:lstStyle/>
                    <a:p>
                      <a:pPr>
                        <a:spcAft>
                          <a:spcPts val="100"/>
                        </a:spcAft>
                        <a:defRPr sz="1000" b="0">
                          <a:solidFill>
                            <a:srgbClr val="11151A"/>
                          </a:solidFill>
                          <a:latin typeface="Lato"/>
                        </a:defRPr>
                      </a:pPr>
                      <a:r>
                        <a:t>Estimate, to confirm with client</a:t>
                      </a:r>
                    </a:p>
                  </a:txBody>
                  <a:tcPr marL="64008" marR="64008" marT="54864" marB="27432" anchor="t">
                    <a:lnL w="0">
                      <a:noFill/>
                    </a:lnL>
                    <a:lnR w="0">
                      <a:noFill/>
                    </a:lnR>
                    <a:lnT w="0">
                      <a:noFill/>
                    </a:lnT>
                    <a:lnB w="5080">
                      <a:solidFill>
                        <a:srgbClr val="B8B8B8"/>
                      </a:solidFill>
                    </a:lnB>
                    <a:solidFill>
                      <a:srgbClr val="FFFFFF"/>
                    </a:solidFill>
                  </a:tcPr>
                </a:tc>
                <a:tc>
                  <a:txBody>
                    <a:bodyPr/>
                    <a:lstStyle/>
                    <a:p>
                      <a:pPr>
                        <a:spcAft>
                          <a:spcPts val="100"/>
                        </a:spcAft>
                        <a:defRPr sz="1000" b="0">
                          <a:solidFill>
                            <a:srgbClr val="11151A"/>
                          </a:solidFill>
                          <a:latin typeface="Lato"/>
                        </a:defRPr>
                      </a:pPr>
                      <a:r>
                        <a:t>90% of design, as at Lesedi</a:t>
                      </a:r>
                    </a:p>
                  </a:txBody>
                  <a:tcPr marL="64008" marR="64008" marT="54864" marB="27432" anchor="t">
                    <a:lnL w="0">
                      <a:noFill/>
                    </a:lnL>
                    <a:lnR w="0">
                      <a:noFill/>
                    </a:lnR>
                    <a:lnT w="0">
                      <a:noFill/>
                    </a:lnT>
                    <a:lnB w="5080">
                      <a:solidFill>
                        <a:srgbClr val="B8B8B8"/>
                      </a:solidFill>
                    </a:lnB>
                    <a:solidFill>
                      <a:srgbClr val="FFFFFF"/>
                    </a:solidFill>
                  </a:tcPr>
                </a:tc>
              </a:tr>
              <a:tr h="457200">
                <a:tc>
                  <a:txBody>
                    <a:bodyPr/>
                    <a:lstStyle/>
                    <a:p>
                      <a:pPr>
                        <a:spcAft>
                          <a:spcPts val="100"/>
                        </a:spcAft>
                        <a:defRPr sz="1000" b="1">
                          <a:solidFill>
                            <a:srgbClr val="0A2373"/>
                          </a:solidFill>
                          <a:latin typeface="Lato"/>
                        </a:defRPr>
                      </a:pPr>
                      <a:r>
                        <a:t>Receipts and dispatch</a:t>
                      </a:r>
                    </a:p>
                  </a:txBody>
                  <a:tcPr marL="64008" marR="64008" marT="54864" marB="27432" anchor="t">
                    <a:lnL w="0">
                      <a:noFill/>
                    </a:lnL>
                    <a:lnR w="0">
                      <a:noFill/>
                    </a:lnR>
                    <a:lnT w="0">
                      <a:noFill/>
                    </a:lnT>
                    <a:lnB w="5080">
                      <a:solidFill>
                        <a:srgbClr val="B8B8B8"/>
                      </a:solidFill>
                    </a:lnB>
                    <a:solidFill>
                      <a:srgbClr val="FFFFFF"/>
                    </a:solidFill>
                  </a:tcPr>
                </a:tc>
                <a:tc>
                  <a:txBody>
                    <a:bodyPr/>
                    <a:lstStyle/>
                    <a:p>
                      <a:pPr>
                        <a:spcAft>
                          <a:spcPts val="100"/>
                        </a:spcAft>
                        <a:defRPr sz="1000" b="0">
                          <a:solidFill>
                            <a:srgbClr val="11151A"/>
                          </a:solidFill>
                          <a:latin typeface="Lato"/>
                        </a:defRPr>
                      </a:pPr>
                      <a:r>
                        <a:t>Vessel (five berths), pipeline, rail, truck. No rate published for any mode</a:t>
                      </a:r>
                    </a:p>
                  </a:txBody>
                  <a:tcPr marL="64008" marR="64008" marT="54864" marB="27432" anchor="t">
                    <a:lnL w="0">
                      <a:noFill/>
                    </a:lnL>
                    <a:lnR w="0">
                      <a:noFill/>
                    </a:lnR>
                    <a:lnT w="0">
                      <a:noFill/>
                    </a:lnT>
                    <a:lnB w="5080">
                      <a:solidFill>
                        <a:srgbClr val="B8B8B8"/>
                      </a:solidFill>
                    </a:lnB>
                    <a:solidFill>
                      <a:srgbClr val="FFFFFF"/>
                    </a:solidFill>
                  </a:tcPr>
                </a:tc>
                <a:tc>
                  <a:txBody>
                    <a:bodyPr/>
                    <a:lstStyle/>
                    <a:p>
                      <a:pPr>
                        <a:spcAft>
                          <a:spcPts val="100"/>
                        </a:spcAft>
                        <a:defRPr sz="1000" b="0">
                          <a:solidFill>
                            <a:srgbClr val="11151A"/>
                          </a:solidFill>
                          <a:latin typeface="Lato"/>
                        </a:defRPr>
                      </a:pPr>
                      <a:r>
                        <a:t>Evidence; rates not found</a:t>
                      </a:r>
                    </a:p>
                  </a:txBody>
                  <a:tcPr marL="64008" marR="64008" marT="54864" marB="27432" anchor="t">
                    <a:lnL w="0">
                      <a:noFill/>
                    </a:lnL>
                    <a:lnR w="0">
                      <a:noFill/>
                    </a:lnR>
                    <a:lnT w="0">
                      <a:noFill/>
                    </a:lnT>
                    <a:lnB w="5080">
                      <a:solidFill>
                        <a:srgbClr val="B8B8B8"/>
                      </a:solidFill>
                    </a:lnB>
                    <a:solidFill>
                      <a:srgbClr val="FFFFFF"/>
                    </a:solidFill>
                  </a:tcPr>
                </a:tc>
                <a:tc>
                  <a:txBody>
                    <a:bodyPr/>
                    <a:lstStyle/>
                    <a:p>
                      <a:pPr>
                        <a:spcAft>
                          <a:spcPts val="100"/>
                        </a:spcAft>
                        <a:defRPr sz="1000" b="0">
                          <a:solidFill>
                            <a:srgbClr val="11151A"/>
                          </a:solidFill>
                          <a:latin typeface="Lato"/>
                        </a:defRPr>
                      </a:pPr>
                      <a:r>
                        <a:t>Vopak terminal page</a:t>
                      </a:r>
                    </a:p>
                  </a:txBody>
                  <a:tcPr marL="64008" marR="64008" marT="54864" marB="27432" anchor="t">
                    <a:lnL w="0">
                      <a:noFill/>
                    </a:lnL>
                    <a:lnR w="0">
                      <a:noFill/>
                    </a:lnR>
                    <a:lnT w="0">
                      <a:noFill/>
                    </a:lnT>
                    <a:lnB w="5080">
                      <a:solidFill>
                        <a:srgbClr val="B8B8B8"/>
                      </a:solidFill>
                    </a:lnB>
                    <a:solidFill>
                      <a:srgbClr val="FFFFFF"/>
                    </a:solidFill>
                  </a:tcPr>
                </a:tc>
              </a:tr>
              <a:tr h="457200">
                <a:tc>
                  <a:txBody>
                    <a:bodyPr/>
                    <a:lstStyle/>
                    <a:p>
                      <a:pPr>
                        <a:spcAft>
                          <a:spcPts val="100"/>
                        </a:spcAft>
                        <a:defRPr sz="1000" b="1">
                          <a:solidFill>
                            <a:srgbClr val="0A2373"/>
                          </a:solidFill>
                          <a:latin typeface="Lato"/>
                        </a:defRPr>
                      </a:pPr>
                      <a:r>
                        <a:t>Pipeline to Gauteng</a:t>
                      </a:r>
                    </a:p>
                  </a:txBody>
                  <a:tcPr marL="64008" marR="64008" marT="54864" marB="27432" anchor="t">
                    <a:lnL w="0">
                      <a:noFill/>
                    </a:lnL>
                    <a:lnR w="0">
                      <a:noFill/>
                    </a:lnR>
                    <a:lnT w="0">
                      <a:noFill/>
                    </a:lnT>
                    <a:lnB w="5080">
                      <a:solidFill>
                        <a:srgbClr val="B8B8B8"/>
                      </a:solidFill>
                    </a:lnB>
                    <a:solidFill>
                      <a:srgbClr val="FFFFFF"/>
                    </a:solidFill>
                  </a:tcPr>
                </a:tc>
                <a:tc>
                  <a:txBody>
                    <a:bodyPr/>
                    <a:lstStyle/>
                    <a:p>
                      <a:pPr>
                        <a:spcAft>
                          <a:spcPts val="100"/>
                        </a:spcAft>
                        <a:defRPr sz="1000" b="0">
                          <a:solidFill>
                            <a:srgbClr val="11151A"/>
                          </a:solidFill>
                          <a:latin typeface="Lato"/>
                        </a:defRPr>
                      </a:pPr>
                      <a:r>
                        <a:t>148,000 m3 a week for all shippers and products</a:t>
                      </a:r>
                    </a:p>
                  </a:txBody>
                  <a:tcPr marL="64008" marR="64008" marT="54864" marB="27432" anchor="t">
                    <a:lnL w="0">
                      <a:noFill/>
                    </a:lnL>
                    <a:lnR w="0">
                      <a:noFill/>
                    </a:lnR>
                    <a:lnT w="0">
                      <a:noFill/>
                    </a:lnT>
                    <a:lnB w="5080">
                      <a:solidFill>
                        <a:srgbClr val="B8B8B8"/>
                      </a:solidFill>
                    </a:lnB>
                    <a:solidFill>
                      <a:srgbClr val="FFFFFF"/>
                    </a:solidFill>
                  </a:tcPr>
                </a:tc>
                <a:tc>
                  <a:txBody>
                    <a:bodyPr/>
                    <a:lstStyle/>
                    <a:p>
                      <a:pPr>
                        <a:spcAft>
                          <a:spcPts val="100"/>
                        </a:spcAft>
                        <a:defRPr sz="1000" b="0">
                          <a:solidFill>
                            <a:srgbClr val="11151A"/>
                          </a:solidFill>
                          <a:latin typeface="Lato"/>
                        </a:defRPr>
                      </a:pPr>
                      <a:r>
                        <a:t>Evidence</a:t>
                      </a:r>
                    </a:p>
                  </a:txBody>
                  <a:tcPr marL="64008" marR="64008" marT="54864" marB="27432" anchor="t">
                    <a:lnL w="0">
                      <a:noFill/>
                    </a:lnL>
                    <a:lnR w="0">
                      <a:noFill/>
                    </a:lnR>
                    <a:lnT w="0">
                      <a:noFill/>
                    </a:lnT>
                    <a:lnB w="5080">
                      <a:solidFill>
                        <a:srgbClr val="B8B8B8"/>
                      </a:solidFill>
                    </a:lnB>
                    <a:solidFill>
                      <a:srgbClr val="FFFFFF"/>
                    </a:solidFill>
                  </a:tcPr>
                </a:tc>
                <a:tc>
                  <a:txBody>
                    <a:bodyPr/>
                    <a:lstStyle/>
                    <a:p>
                      <a:pPr>
                        <a:spcAft>
                          <a:spcPts val="100"/>
                        </a:spcAft>
                        <a:defRPr sz="1000" b="0">
                          <a:solidFill>
                            <a:srgbClr val="11151A"/>
                          </a:solidFill>
                          <a:latin typeface="Lato"/>
                        </a:defRPr>
                      </a:pPr>
                      <a:r>
                        <a:t>Transnet Pipelines, 24 inch trunk line</a:t>
                      </a:r>
                    </a:p>
                  </a:txBody>
                  <a:tcPr marL="64008" marR="64008" marT="54864" marB="27432" anchor="t">
                    <a:lnL w="0">
                      <a:noFill/>
                    </a:lnL>
                    <a:lnR w="0">
                      <a:noFill/>
                    </a:lnR>
                    <a:lnT w="0">
                      <a:noFill/>
                    </a:lnT>
                    <a:lnB w="5080">
                      <a:solidFill>
                        <a:srgbClr val="B8B8B8"/>
                      </a:solidFill>
                    </a:lnB>
                    <a:solidFill>
                      <a:srgbClr val="FFFFFF"/>
                    </a:solidFill>
                  </a:tcPr>
                </a:tc>
              </a:tr>
              <a:tr h="457200">
                <a:tc>
                  <a:txBody>
                    <a:bodyPr/>
                    <a:lstStyle/>
                    <a:p>
                      <a:pPr>
                        <a:spcAft>
                          <a:spcPts val="100"/>
                        </a:spcAft>
                        <a:defRPr sz="1000" b="1">
                          <a:solidFill>
                            <a:srgbClr val="0A2373"/>
                          </a:solidFill>
                          <a:latin typeface="Lato"/>
                        </a:defRPr>
                      </a:pPr>
                      <a:r>
                        <a:t>Monthly turns</a:t>
                      </a:r>
                    </a:p>
                  </a:txBody>
                  <a:tcPr marL="64008" marR="64008" marT="54864" marB="27432" anchor="t">
                    <a:lnL w="0">
                      <a:noFill/>
                    </a:lnL>
                    <a:lnR w="0">
                      <a:noFill/>
                    </a:lnR>
                    <a:lnT w="0">
                      <a:noFill/>
                    </a:lnT>
                    <a:lnB w="5080">
                      <a:solidFill>
                        <a:srgbClr val="B8B8B8"/>
                      </a:solidFill>
                    </a:lnB>
                    <a:solidFill>
                      <a:srgbClr val="FFFFFF"/>
                    </a:solidFill>
                  </a:tcPr>
                </a:tc>
                <a:tc>
                  <a:txBody>
                    <a:bodyPr/>
                    <a:lstStyle/>
                    <a:p>
                      <a:pPr>
                        <a:spcAft>
                          <a:spcPts val="100"/>
                        </a:spcAft>
                        <a:defRPr sz="1000" b="0">
                          <a:solidFill>
                            <a:srgbClr val="11151A"/>
                          </a:solidFill>
                          <a:latin typeface="Lato"/>
                        </a:defRPr>
                      </a:pPr>
                      <a:r>
                        <a:t>1 / 2 / 3 (low / base / high), on operational fuel capacity</a:t>
                      </a:r>
                    </a:p>
                  </a:txBody>
                  <a:tcPr marL="64008" marR="64008" marT="54864" marB="27432" anchor="t">
                    <a:lnL w="0">
                      <a:noFill/>
                    </a:lnL>
                    <a:lnR w="0">
                      <a:noFill/>
                    </a:lnR>
                    <a:lnT w="0">
                      <a:noFill/>
                    </a:lnT>
                    <a:lnB w="5080">
                      <a:solidFill>
                        <a:srgbClr val="B8B8B8"/>
                      </a:solidFill>
                    </a:lnB>
                    <a:solidFill>
                      <a:srgbClr val="FFFFFF"/>
                    </a:solidFill>
                  </a:tcPr>
                </a:tc>
                <a:tc>
                  <a:txBody>
                    <a:bodyPr/>
                    <a:lstStyle/>
                    <a:p>
                      <a:pPr>
                        <a:spcAft>
                          <a:spcPts val="100"/>
                        </a:spcAft>
                        <a:defRPr sz="1000" b="0">
                          <a:solidFill>
                            <a:srgbClr val="11151A"/>
                          </a:solidFill>
                          <a:latin typeface="Lato"/>
                        </a:defRPr>
                      </a:pPr>
                      <a:r>
                        <a:t>Target, not realised; to confirm with client</a:t>
                      </a:r>
                    </a:p>
                  </a:txBody>
                  <a:tcPr marL="64008" marR="64008" marT="54864" marB="27432" anchor="t">
                    <a:lnL w="0">
                      <a:noFill/>
                    </a:lnL>
                    <a:lnR w="0">
                      <a:noFill/>
                    </a:lnR>
                    <a:lnT w="0">
                      <a:noFill/>
                    </a:lnT>
                    <a:lnB w="5080">
                      <a:solidFill>
                        <a:srgbClr val="B8B8B8"/>
                      </a:solidFill>
                    </a:lnB>
                    <a:solidFill>
                      <a:srgbClr val="FFFFFF"/>
                    </a:solidFill>
                  </a:tcPr>
                </a:tc>
                <a:tc>
                  <a:txBody>
                    <a:bodyPr/>
                    <a:lstStyle/>
                    <a:p>
                      <a:pPr>
                        <a:spcAft>
                          <a:spcPts val="100"/>
                        </a:spcAft>
                        <a:defRPr sz="1000" b="0">
                          <a:solidFill>
                            <a:srgbClr val="11151A"/>
                          </a:solidFill>
                          <a:latin typeface="Lato"/>
                        </a:defRPr>
                      </a:pPr>
                      <a:r>
                        <a:t>Vopak to NERSA: 'targeting 2-3 throughputs in Durban'</a:t>
                      </a:r>
                    </a:p>
                  </a:txBody>
                  <a:tcPr marL="64008" marR="64008" marT="54864" marB="27432" anchor="t">
                    <a:lnL w="0">
                      <a:noFill/>
                    </a:lnL>
                    <a:lnR w="0">
                      <a:noFill/>
                    </a:lnR>
                    <a:lnT w="0">
                      <a:noFill/>
                    </a:lnT>
                    <a:lnB w="5080">
                      <a:solidFill>
                        <a:srgbClr val="B8B8B8"/>
                      </a:solidFill>
                    </a:lnB>
                    <a:solidFill>
                      <a:srgbClr val="FFFFFF"/>
                    </a:solidFill>
                  </a:tcPr>
                </a:tc>
              </a:tr>
              <a:tr h="457200">
                <a:tc>
                  <a:txBody>
                    <a:bodyPr/>
                    <a:lstStyle/>
                    <a:p>
                      <a:pPr>
                        <a:spcAft>
                          <a:spcPts val="100"/>
                        </a:spcAft>
                        <a:defRPr sz="1000" b="1">
                          <a:solidFill>
                            <a:srgbClr val="0A2373"/>
                          </a:solidFill>
                          <a:latin typeface="Lato"/>
                        </a:defRPr>
                      </a:pPr>
                      <a:r>
                        <a:t>Annual handling, fuel</a:t>
                      </a:r>
                    </a:p>
                  </a:txBody>
                  <a:tcPr marL="64008" marR="64008" marT="54864" marB="27432" anchor="t">
                    <a:lnL w="0">
                      <a:noFill/>
                    </a:lnL>
                    <a:lnR w="0">
                      <a:noFill/>
                    </a:lnR>
                    <a:lnT w="0">
                      <a:noFill/>
                    </a:lnT>
                    <a:lnB w="5080">
                      <a:solidFill>
                        <a:srgbClr val="B8B8B8"/>
                      </a:solidFill>
                    </a:lnB>
                    <a:solidFill>
                      <a:srgbClr val="FFFFFF"/>
                    </a:solidFill>
                  </a:tcPr>
                </a:tc>
                <a:tc>
                  <a:txBody>
                    <a:bodyPr/>
                    <a:lstStyle/>
                    <a:p>
                      <a:pPr>
                        <a:spcAft>
                          <a:spcPts val="100"/>
                        </a:spcAft>
                        <a:defRPr sz="1000" b="0">
                          <a:solidFill>
                            <a:srgbClr val="11151A"/>
                          </a:solidFill>
                          <a:latin typeface="Lato"/>
                        </a:defRPr>
                      </a:pPr>
                      <a:r>
                        <a:t>1.8 / 3.5 / 5.3 million m3</a:t>
                      </a:r>
                    </a:p>
                  </a:txBody>
                  <a:tcPr marL="64008" marR="64008" marT="54864" marB="27432" anchor="t">
                    <a:lnL w="0">
                      <a:noFill/>
                    </a:lnL>
                    <a:lnR w="0">
                      <a:noFill/>
                    </a:lnR>
                    <a:lnT w="0">
                      <a:noFill/>
                    </a:lnT>
                    <a:lnB w="5080">
                      <a:solidFill>
                        <a:srgbClr val="B8B8B8"/>
                      </a:solidFill>
                    </a:lnB>
                    <a:solidFill>
                      <a:srgbClr val="FFFFFF"/>
                    </a:solidFill>
                  </a:tcPr>
                </a:tc>
                <a:tc>
                  <a:txBody>
                    <a:bodyPr/>
                    <a:lstStyle/>
                    <a:p>
                      <a:pPr>
                        <a:spcAft>
                          <a:spcPts val="100"/>
                        </a:spcAft>
                        <a:defRPr sz="1000" b="0">
                          <a:solidFill>
                            <a:srgbClr val="11151A"/>
                          </a:solidFill>
                          <a:latin typeface="Lato"/>
                        </a:defRPr>
                      </a:pPr>
                      <a:r>
                        <a:t>Calculated</a:t>
                      </a:r>
                    </a:p>
                  </a:txBody>
                  <a:tcPr marL="64008" marR="64008" marT="54864" marB="27432" anchor="t">
                    <a:lnL w="0">
                      <a:noFill/>
                    </a:lnL>
                    <a:lnR w="0">
                      <a:noFill/>
                    </a:lnR>
                    <a:lnT w="0">
                      <a:noFill/>
                    </a:lnT>
                    <a:lnB w="5080">
                      <a:solidFill>
                        <a:srgbClr val="B8B8B8"/>
                      </a:solidFill>
                    </a:lnB>
                    <a:solidFill>
                      <a:srgbClr val="FFFFFF"/>
                    </a:solidFill>
                  </a:tcPr>
                </a:tc>
                <a:tc>
                  <a:txBody>
                    <a:bodyPr/>
                    <a:lstStyle/>
                    <a:p>
                      <a:pPr>
                        <a:spcAft>
                          <a:spcPts val="100"/>
                        </a:spcAft>
                        <a:defRPr sz="1000" b="0">
                          <a:solidFill>
                            <a:srgbClr val="11151A"/>
                          </a:solidFill>
                          <a:latin typeface="Lato"/>
                        </a:defRPr>
                      </a:pPr>
                      <a:r>
                        <a:t>Pack today: 4.3 / 8.6 / 13.0 on gross capacity</a:t>
                      </a:r>
                    </a:p>
                  </a:txBody>
                  <a:tcPr marL="64008" marR="64008" marT="54864" marB="27432" anchor="t">
                    <a:lnL w="0">
                      <a:noFill/>
                    </a:lnL>
                    <a:lnR w="0">
                      <a:noFill/>
                    </a:lnR>
                    <a:lnT w="0">
                      <a:noFill/>
                    </a:lnT>
                    <a:lnB w="5080">
                      <a:solidFill>
                        <a:srgbClr val="B8B8B8"/>
                      </a:solidFill>
                    </a:lnB>
                    <a:solidFill>
                      <a:srgbClr val="FFFFFF"/>
                    </a:solidFill>
                  </a:tcPr>
                </a:tc>
              </a:tr>
            </a:tbl>
          </a:graphicData>
        </a:graphic>
      </p:graphicFrame>
      <p:sp>
        <p:nvSpPr>
          <p:cNvPr id="8" name="TextBox 7"/>
          <p:cNvSpPr txBox="1"/>
          <p:nvPr/>
        </p:nvSpPr>
        <p:spPr>
          <a:xfrm>
            <a:off x="457200" y="5852160"/>
            <a:ext cx="10652760" cy="548640"/>
          </a:xfrm>
          <a:prstGeom prst="rect">
            <a:avLst/>
          </a:prstGeom>
          <a:noFill/>
        </p:spPr>
        <p:txBody>
          <a:bodyPr wrap="square" lIns="22860" rIns="22860" tIns="0" bIns="0">
            <a:spAutoFit/>
          </a:bodyPr>
          <a:lstStyle/>
          <a:p>
            <a:pPr>
              <a:spcAft>
                <a:spcPts val="300"/>
              </a:spcAft>
              <a:defRPr sz="1100" b="1">
                <a:solidFill>
                  <a:srgbClr val="0A2373"/>
                </a:solidFill>
                <a:latin typeface="Lato"/>
              </a:defRPr>
            </a:pPr>
            <a:r>
              <a:t>The high case needs 438,000 m3 a month, 68% of the whole trunk line if it all went inland by pipe. Durban-to-Lesedi volume is handled at both sites and must be counted once.</a:t>
            </a:r>
          </a:p>
        </p:txBody>
      </p:sp>
      <p:sp>
        <p:nvSpPr>
          <p:cNvPr id="9" name="Chevron 8">
            <a:hlinkClick action="ppaction://hlinksldjump" r:id="rId2"/>
          </p:cNvPr>
          <p:cNvSpPr/>
          <p:nvPr/>
        </p:nvSpPr>
        <p:spPr>
          <a:xfrm>
            <a:off x="457200" y="73152"/>
            <a:ext cx="2075688" cy="384048"/>
          </a:xfrm>
          <a:prstGeom prst="chevron">
            <a:avLst>
              <a:gd name="adj" fmla="val 12000"/>
            </a:avLst>
          </a:pr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tIns="0" bIns="0"/>
          <a:lstStyle/>
          <a:p>
            <a:pPr algn="ctr">
              <a:defRPr sz="1100" b="0">
                <a:solidFill>
                  <a:srgbClr val="0A2373"/>
                </a:solidFill>
                <a:latin typeface="Lato"/>
              </a:defRPr>
            </a:pPr>
            <a:r>
              <a:t>1  National balance</a:t>
            </a:r>
          </a:p>
        </p:txBody>
      </p:sp>
      <p:sp>
        <p:nvSpPr>
          <p:cNvPr id="10" name="Chevron 9">
            <a:hlinkClick action="ppaction://hlinksldjump" r:id="rId3"/>
          </p:cNvPr>
          <p:cNvSpPr/>
          <p:nvPr/>
        </p:nvSpPr>
        <p:spPr>
          <a:xfrm>
            <a:off x="2587752" y="73152"/>
            <a:ext cx="2075688" cy="384048"/>
          </a:xfrm>
          <a:prstGeom prst="chevron">
            <a:avLst>
              <a:gd name="adj" fmla="val 12000"/>
            </a:avLst>
          </a:pr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tIns="0" bIns="0"/>
          <a:lstStyle/>
          <a:p>
            <a:pPr algn="ctr">
              <a:defRPr sz="1100" b="0">
                <a:solidFill>
                  <a:srgbClr val="0A2373"/>
                </a:solidFill>
                <a:latin typeface="Lato"/>
              </a:defRPr>
            </a:pPr>
            <a:r>
              <a:t>2  Forecast levers</a:t>
            </a:r>
          </a:p>
        </p:txBody>
      </p:sp>
      <p:sp>
        <p:nvSpPr>
          <p:cNvPr id="11" name="Chevron 10">
            <a:hlinkClick action="ppaction://hlinksldjump" r:id="rId4"/>
          </p:cNvPr>
          <p:cNvSpPr/>
          <p:nvPr/>
        </p:nvSpPr>
        <p:spPr>
          <a:xfrm>
            <a:off x="4718304" y="73152"/>
            <a:ext cx="2075688" cy="384048"/>
          </a:xfrm>
          <a:prstGeom prst="chevron">
            <a:avLst>
              <a:gd name="adj" fmla="val 12000"/>
            </a:avLst>
          </a:pr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tIns="0" bIns="0"/>
          <a:lstStyle/>
          <a:p>
            <a:pPr algn="ctr">
              <a:defRPr sz="1100" b="0">
                <a:solidFill>
                  <a:srgbClr val="0A2373"/>
                </a:solidFill>
                <a:latin typeface="Lato"/>
              </a:defRPr>
            </a:pPr>
            <a:r>
              <a:t>3  Sector baselines</a:t>
            </a:r>
          </a:p>
        </p:txBody>
      </p:sp>
      <p:sp>
        <p:nvSpPr>
          <p:cNvPr id="12" name="Chevron 11">
            <a:hlinkClick action="ppaction://hlinksldjump" r:id="rId5"/>
          </p:cNvPr>
          <p:cNvSpPr/>
          <p:nvPr/>
        </p:nvSpPr>
        <p:spPr>
          <a:xfrm>
            <a:off x="6848856" y="73152"/>
            <a:ext cx="2075688" cy="384048"/>
          </a:xfrm>
          <a:prstGeom prst="chevron">
            <a:avLst>
              <a:gd name="adj" fmla="val 12000"/>
            </a:avLst>
          </a:pr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tIns="0" bIns="0"/>
          <a:lstStyle/>
          <a:p>
            <a:pPr algn="ctr">
              <a:defRPr sz="1100" b="1">
                <a:solidFill>
                  <a:srgbClr val="FFFFFF"/>
                </a:solidFill>
                <a:latin typeface="Lato"/>
              </a:defRPr>
            </a:pPr>
            <a:r>
              <a:t>4  Tank handling</a:t>
            </a:r>
          </a:p>
        </p:txBody>
      </p:sp>
      <p:sp>
        <p:nvSpPr>
          <p:cNvPr id="13" name="Chevron 12">
            <a:hlinkClick action="ppaction://hlinksldjump" r:id="rId6"/>
          </p:cNvPr>
          <p:cNvSpPr/>
          <p:nvPr/>
        </p:nvSpPr>
        <p:spPr>
          <a:xfrm>
            <a:off x="8979408" y="73152"/>
            <a:ext cx="2075688" cy="384048"/>
          </a:xfrm>
          <a:prstGeom prst="chevron">
            <a:avLst>
              <a:gd name="adj" fmla="val 12000"/>
            </a:avLst>
          </a:pr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tIns="0" bIns="0"/>
          <a:lstStyle/>
          <a:p>
            <a:pPr algn="ctr">
              <a:defRPr sz="1100" b="0">
                <a:solidFill>
                  <a:srgbClr val="0A2373"/>
                </a:solidFill>
                <a:latin typeface="Lato"/>
              </a:defRPr>
            </a:pPr>
            <a:r>
              <a:t>5  Hand-back</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All five priorities have outputs to review</a:t>
            </a:r>
          </a:p>
        </p:txBody>
      </p:sp>
      <p:sp>
        <p:nvSpPr>
          <p:cNvPr id="3" name="TextBox 2"/>
          <p:cNvSpPr txBox="1"/>
          <p:nvPr/>
        </p:nvSpPr>
        <p:spPr>
          <a:xfrm>
            <a:off x="457200" y="1627632"/>
            <a:ext cx="10652760" cy="274320"/>
          </a:xfrm>
          <a:prstGeom prst="rect">
            <a:avLst/>
          </a:prstGeom>
          <a:noFill/>
        </p:spPr>
        <p:txBody>
          <a:bodyPr wrap="square" lIns="22860" rIns="22860" tIns="0" bIns="0">
            <a:spAutoFit/>
          </a:bodyPr>
          <a:lstStyle/>
          <a:p>
            <a:pPr>
              <a:spcAft>
                <a:spcPts val="300"/>
              </a:spcAft>
              <a:defRPr sz="1300" b="1">
                <a:solidFill>
                  <a:srgbClr val="11151A"/>
                </a:solidFill>
                <a:latin typeface="Lato"/>
              </a:defRPr>
            </a:pPr>
            <a:r>
              <a:t>Status against the five priorities of 7 October | ready, proposed or partial</a:t>
            </a:r>
          </a:p>
        </p:txBody>
      </p:sp>
      <p:cxnSp>
        <p:nvCxnSpPr>
          <p:cNvPr id="4" name="Connector 3"/>
          <p:cNvCxnSpPr/>
          <p:nvPr/>
        </p:nvCxnSpPr>
        <p:spPr>
          <a:xfrm>
            <a:off x="457200" y="1920240"/>
            <a:ext cx="10652760" cy="0"/>
          </a:xfrm>
          <a:prstGeom prst="line">
            <a:avLst/>
          </a:prstGeom>
          <a:ln w="7620">
            <a:solidFill>
              <a:srgbClr val="A0A0A0"/>
            </a:solidFill>
          </a:ln>
        </p:spPr>
        <p:style>
          <a:lnRef idx="2">
            <a:schemeClr val="accent1"/>
          </a:lnRef>
          <a:fillRef idx="0">
            <a:schemeClr val="accent1"/>
          </a:fillRef>
          <a:effectRef idx="1">
            <a:schemeClr val="accent1"/>
          </a:effectRef>
          <a:fontRef idx="minor">
            <a:schemeClr val="tx1"/>
          </a:fontRef>
        </p:style>
      </p:cxnSp>
      <p:sp>
        <p:nvSpPr>
          <p:cNvPr id="5" name="TextBox 4"/>
          <p:cNvSpPr txBox="1"/>
          <p:nvPr/>
        </p:nvSpPr>
        <p:spPr>
          <a:xfrm>
            <a:off x="457200" y="6547104"/>
            <a:ext cx="9692640" cy="182880"/>
          </a:xfrm>
          <a:prstGeom prst="rect">
            <a:avLst/>
          </a:prstGeom>
          <a:noFill/>
        </p:spPr>
        <p:txBody>
          <a:bodyPr wrap="square" lIns="22860" rIns="22860" tIns="0" bIns="0">
            <a:spAutoFit/>
          </a:bodyPr>
          <a:lstStyle/>
          <a:p>
            <a:pPr>
              <a:spcAft>
                <a:spcPts val="300"/>
              </a:spcAft>
              <a:defRPr sz="800" b="0">
                <a:solidFill>
                  <a:srgbClr val="11151A"/>
                </a:solidFill>
                <a:latin typeface="Lato"/>
              </a:defRPr>
            </a:pPr>
            <a:r>
              <a:t>Source: manish_handback_2026-10-07.md and manish_decision_log_2026-10-07.csv on manish-branch. Statuses are the analyst's; nothing is accepted until Nigel decides.</a:t>
            </a:r>
          </a:p>
        </p:txBody>
      </p:sp>
      <p:sp>
        <p:nvSpPr>
          <p:cNvPr id="6" name="TextBox 5"/>
          <p:cNvSpPr txBox="1"/>
          <p:nvPr/>
        </p:nvSpPr>
        <p:spPr>
          <a:xfrm>
            <a:off x="457200" y="6711696"/>
            <a:ext cx="2011680" cy="128016"/>
          </a:xfrm>
          <a:prstGeom prst="rect">
            <a:avLst/>
          </a:prstGeom>
          <a:noFill/>
        </p:spPr>
        <p:txBody>
          <a:bodyPr wrap="square" lIns="22860" rIns="22860" tIns="0" bIns="0">
            <a:spAutoFit/>
          </a:bodyPr>
          <a:lstStyle/>
          <a:p>
            <a:pPr>
              <a:spcAft>
                <a:spcPts val="300"/>
              </a:spcAft>
              <a:defRPr sz="700" b="0">
                <a:solidFill>
                  <a:srgbClr val="11151A"/>
                </a:solidFill>
                <a:latin typeface="Lato"/>
              </a:defRPr>
            </a:pPr>
            <a:r>
              <a:t>Strictly Confidential</a:t>
            </a:r>
          </a:p>
        </p:txBody>
      </p:sp>
      <p:graphicFrame>
        <p:nvGraphicFramePr>
          <p:cNvPr id="7" name="Table 6"/>
          <p:cNvGraphicFramePr>
            <a:graphicFrameLocks noGrp="1"/>
          </p:cNvGraphicFramePr>
          <p:nvPr/>
        </p:nvGraphicFramePr>
        <p:xfrm>
          <a:off x="457200" y="2029968"/>
          <a:ext cx="10652760" cy="3566160"/>
        </p:xfrm>
        <a:graphic>
          <a:graphicData uri="http://schemas.openxmlformats.org/drawingml/2006/table">
            <a:tbl>
              <a:tblPr firstRow="0" bandRow="0"/>
              <a:tblGrid>
                <a:gridCol w="1737360"/>
                <a:gridCol w="1600200"/>
                <a:gridCol w="4206240"/>
                <a:gridCol w="3108960"/>
              </a:tblGrid>
              <a:tr h="594360">
                <a:tc>
                  <a:txBody>
                    <a:bodyPr/>
                    <a:lstStyle/>
                    <a:p>
                      <a:pPr>
                        <a:spcAft>
                          <a:spcPts val="100"/>
                        </a:spcAft>
                        <a:defRPr sz="1050" b="1">
                          <a:solidFill>
                            <a:srgbClr val="0A2373"/>
                          </a:solidFill>
                          <a:latin typeface="Lato"/>
                        </a:defRPr>
                      </a:pPr>
                      <a:r>
                        <a:t>Priority</a:t>
                      </a:r>
                    </a:p>
                  </a:txBody>
                  <a:tcPr marL="64008" marR="64008" marT="54864" marB="27432" anchor="t">
                    <a:lnL w="0">
                      <a:noFill/>
                    </a:lnL>
                    <a:lnR w="0">
                      <a:noFill/>
                    </a:lnR>
                    <a:lnT w="0">
                      <a:noFill/>
                    </a:lnT>
                    <a:lnB w="5080">
                      <a:solidFill>
                        <a:srgbClr val="B8B8B8"/>
                      </a:solidFill>
                    </a:lnB>
                    <a:solidFill>
                      <a:srgbClr val="FFFFFF"/>
                    </a:solidFill>
                  </a:tcPr>
                </a:tc>
                <a:tc>
                  <a:txBody>
                    <a:bodyPr/>
                    <a:lstStyle/>
                    <a:p>
                      <a:pPr>
                        <a:spcAft>
                          <a:spcPts val="100"/>
                        </a:spcAft>
                        <a:defRPr sz="1050" b="1">
                          <a:solidFill>
                            <a:srgbClr val="11151A"/>
                          </a:solidFill>
                          <a:latin typeface="Lato"/>
                        </a:defRPr>
                      </a:pPr>
                      <a:r>
                        <a:t>Status</a:t>
                      </a:r>
                    </a:p>
                  </a:txBody>
                  <a:tcPr marL="64008" marR="64008" marT="54864" marB="27432" anchor="t">
                    <a:lnL w="0">
                      <a:noFill/>
                    </a:lnL>
                    <a:lnR w="0">
                      <a:noFill/>
                    </a:lnR>
                    <a:lnT w="0">
                      <a:noFill/>
                    </a:lnT>
                    <a:lnB w="5080">
                      <a:solidFill>
                        <a:srgbClr val="B8B8B8"/>
                      </a:solidFill>
                    </a:lnB>
                    <a:solidFill>
                      <a:srgbClr val="FFFFFF"/>
                    </a:solidFill>
                  </a:tcPr>
                </a:tc>
                <a:tc>
                  <a:txBody>
                    <a:bodyPr/>
                    <a:lstStyle/>
                    <a:p>
                      <a:pPr>
                        <a:spcAft>
                          <a:spcPts val="100"/>
                        </a:spcAft>
                        <a:defRPr sz="1050" b="1">
                          <a:solidFill>
                            <a:srgbClr val="11151A"/>
                          </a:solidFill>
                          <a:latin typeface="Lato"/>
                        </a:defRPr>
                      </a:pPr>
                      <a:r>
                        <a:t>Ready to review</a:t>
                      </a:r>
                    </a:p>
                  </a:txBody>
                  <a:tcPr marL="64008" marR="64008" marT="54864" marB="27432" anchor="t">
                    <a:lnL w="0">
                      <a:noFill/>
                    </a:lnL>
                    <a:lnR w="0">
                      <a:noFill/>
                    </a:lnR>
                    <a:lnT w="0">
                      <a:noFill/>
                    </a:lnT>
                    <a:lnB w="5080">
                      <a:solidFill>
                        <a:srgbClr val="B8B8B8"/>
                      </a:solidFill>
                    </a:lnB>
                    <a:solidFill>
                      <a:srgbClr val="FFFFFF"/>
                    </a:solidFill>
                  </a:tcPr>
                </a:tc>
                <a:tc>
                  <a:txBody>
                    <a:bodyPr/>
                    <a:lstStyle/>
                    <a:p>
                      <a:pPr>
                        <a:spcAft>
                          <a:spcPts val="100"/>
                        </a:spcAft>
                        <a:defRPr sz="1050" b="1">
                          <a:solidFill>
                            <a:srgbClr val="11151A"/>
                          </a:solidFill>
                          <a:latin typeface="Lato"/>
                        </a:defRPr>
                      </a:pPr>
                      <a:r>
                        <a:t>Not done or not available</a:t>
                      </a:r>
                    </a:p>
                  </a:txBody>
                  <a:tcPr marL="64008" marR="64008" marT="54864" marB="27432" anchor="t">
                    <a:lnL w="0">
                      <a:noFill/>
                    </a:lnL>
                    <a:lnR w="0">
                      <a:noFill/>
                    </a:lnR>
                    <a:lnT w="0">
                      <a:noFill/>
                    </a:lnT>
                    <a:lnB w="5080">
                      <a:solidFill>
                        <a:srgbClr val="B8B8B8"/>
                      </a:solidFill>
                    </a:lnB>
                    <a:solidFill>
                      <a:srgbClr val="FFFFFF"/>
                    </a:solidFill>
                  </a:tcPr>
                </a:tc>
              </a:tr>
              <a:tr h="594360">
                <a:tc>
                  <a:txBody>
                    <a:bodyPr/>
                    <a:lstStyle/>
                    <a:p>
                      <a:pPr>
                        <a:spcAft>
                          <a:spcPts val="100"/>
                        </a:spcAft>
                        <a:defRPr sz="1050" b="1">
                          <a:solidFill>
                            <a:srgbClr val="0A2373"/>
                          </a:solidFill>
                          <a:latin typeface="Lato"/>
                        </a:defRPr>
                      </a:pPr>
                      <a:r>
                        <a:t>1 National balance</a:t>
                      </a:r>
                    </a:p>
                  </a:txBody>
                  <a:tcPr marL="64008" marR="64008" marT="54864" marB="27432" anchor="t">
                    <a:lnL w="0">
                      <a:noFill/>
                    </a:lnL>
                    <a:lnR w="0">
                      <a:noFill/>
                    </a:lnR>
                    <a:lnT w="0">
                      <a:noFill/>
                    </a:lnT>
                    <a:lnB w="5080">
                      <a:solidFill>
                        <a:srgbClr val="B8B8B8"/>
                      </a:solidFill>
                    </a:lnB>
                    <a:solidFill>
                      <a:srgbClr val="FFFFFF"/>
                    </a:solidFill>
                  </a:tcPr>
                </a:tc>
                <a:tc>
                  <a:txBody>
                    <a:bodyPr/>
                    <a:lstStyle/>
                    <a:p>
                      <a:pPr>
                        <a:spcAft>
                          <a:spcPts val="100"/>
                        </a:spcAft>
                        <a:defRPr sz="1050" b="0">
                          <a:solidFill>
                            <a:srgbClr val="11151A"/>
                          </a:solidFill>
                          <a:latin typeface="Lato"/>
                        </a:defRPr>
                      </a:pPr>
                      <a:r>
                        <a:t>Ready, with stated gaps</a:t>
                      </a:r>
                    </a:p>
                  </a:txBody>
                  <a:tcPr marL="64008" marR="64008" marT="54864" marB="27432" anchor="t">
                    <a:lnL w="0">
                      <a:noFill/>
                    </a:lnL>
                    <a:lnR w="0">
                      <a:noFill/>
                    </a:lnR>
                    <a:lnT w="0">
                      <a:noFill/>
                    </a:lnT>
                    <a:lnB w="5080">
                      <a:solidFill>
                        <a:srgbClr val="B8B8B8"/>
                      </a:solidFill>
                    </a:lnB>
                    <a:solidFill>
                      <a:srgbClr val="FFFFFF"/>
                    </a:solidFill>
                  </a:tcPr>
                </a:tc>
                <a:tc>
                  <a:txBody>
                    <a:bodyPr/>
                    <a:lstStyle/>
                    <a:p>
                      <a:pPr>
                        <a:spcAft>
                          <a:spcPts val="100"/>
                        </a:spcAft>
                        <a:defRPr sz="1050" b="0">
                          <a:solidFill>
                            <a:srgbClr val="11151A"/>
                          </a:solidFill>
                          <a:latin typeface="Lato"/>
                        </a:defRPr>
                      </a:pPr>
                      <a:r>
                        <a:t>Balance rebuilt on customs trade with tests; source differences listed; 2018-2019 traced as far as data allows</a:t>
                      </a:r>
                    </a:p>
                  </a:txBody>
                  <a:tcPr marL="64008" marR="64008" marT="54864" marB="27432" anchor="t">
                    <a:lnL w="0">
                      <a:noFill/>
                    </a:lnL>
                    <a:lnR w="0">
                      <a:noFill/>
                    </a:lnR>
                    <a:lnT w="0">
                      <a:noFill/>
                    </a:lnT>
                    <a:lnB w="5080">
                      <a:solidFill>
                        <a:srgbClr val="B8B8B8"/>
                      </a:solidFill>
                    </a:lnB>
                    <a:solidFill>
                      <a:srgbClr val="FFFFFF"/>
                    </a:solidFill>
                  </a:tcPr>
                </a:tc>
                <a:tc>
                  <a:txBody>
                    <a:bodyPr/>
                    <a:lstStyle/>
                    <a:p>
                      <a:pPr>
                        <a:spcAft>
                          <a:spcPts val="100"/>
                        </a:spcAft>
                        <a:defRPr sz="1050" b="0">
                          <a:solidFill>
                            <a:srgbClr val="11151A"/>
                          </a:solidFill>
                          <a:latin typeface="Lato"/>
                        </a:defRPr>
                      </a:pPr>
                      <a:r>
                        <a:t>Production by product after 2021 and stocks exist in no source found</a:t>
                      </a:r>
                    </a:p>
                  </a:txBody>
                  <a:tcPr marL="64008" marR="64008" marT="54864" marB="27432" anchor="t">
                    <a:lnL w="0">
                      <a:noFill/>
                    </a:lnL>
                    <a:lnR w="0">
                      <a:noFill/>
                    </a:lnR>
                    <a:lnT w="0">
                      <a:noFill/>
                    </a:lnT>
                    <a:lnB w="5080">
                      <a:solidFill>
                        <a:srgbClr val="B8B8B8"/>
                      </a:solidFill>
                    </a:lnB>
                    <a:solidFill>
                      <a:srgbClr val="FFFFFF"/>
                    </a:solidFill>
                  </a:tcPr>
                </a:tc>
              </a:tr>
              <a:tr h="594360">
                <a:tc>
                  <a:txBody>
                    <a:bodyPr/>
                    <a:lstStyle/>
                    <a:p>
                      <a:pPr>
                        <a:spcAft>
                          <a:spcPts val="100"/>
                        </a:spcAft>
                        <a:defRPr sz="1050" b="1">
                          <a:solidFill>
                            <a:srgbClr val="0A2373"/>
                          </a:solidFill>
                          <a:latin typeface="Lato"/>
                        </a:defRPr>
                      </a:pPr>
                      <a:r>
                        <a:t>2 Forecast levers</a:t>
                      </a:r>
                    </a:p>
                  </a:txBody>
                  <a:tcPr marL="64008" marR="64008" marT="54864" marB="27432" anchor="t">
                    <a:lnL w="0">
                      <a:noFill/>
                    </a:lnL>
                    <a:lnR w="0">
                      <a:noFill/>
                    </a:lnR>
                    <a:lnT w="0">
                      <a:noFill/>
                    </a:lnT>
                    <a:lnB w="5080">
                      <a:solidFill>
                        <a:srgbClr val="B8B8B8"/>
                      </a:solidFill>
                    </a:lnB>
                    <a:solidFill>
                      <a:srgbClr val="FFFFFF"/>
                    </a:solidFill>
                  </a:tcPr>
                </a:tc>
                <a:tc>
                  <a:txBody>
                    <a:bodyPr/>
                    <a:lstStyle/>
                    <a:p>
                      <a:pPr>
                        <a:spcAft>
                          <a:spcPts val="100"/>
                        </a:spcAft>
                        <a:defRPr sz="1050" b="0">
                          <a:solidFill>
                            <a:srgbClr val="11151A"/>
                          </a:solidFill>
                          <a:latin typeface="Lato"/>
                        </a:defRPr>
                      </a:pPr>
                      <a:r>
                        <a:t>Proposed</a:t>
                      </a:r>
                    </a:p>
                  </a:txBody>
                  <a:tcPr marL="64008" marR="64008" marT="54864" marB="27432" anchor="t">
                    <a:lnL w="0">
                      <a:noFill/>
                    </a:lnL>
                    <a:lnR w="0">
                      <a:noFill/>
                    </a:lnR>
                    <a:lnT w="0">
                      <a:noFill/>
                    </a:lnT>
                    <a:lnB w="5080">
                      <a:solidFill>
                        <a:srgbClr val="B8B8B8"/>
                      </a:solidFill>
                    </a:lnB>
                    <a:solidFill>
                      <a:srgbClr val="FFFFFF"/>
                    </a:solidFill>
                  </a:tcPr>
                </a:tc>
                <a:tc>
                  <a:txBody>
                    <a:bodyPr/>
                    <a:lstStyle/>
                    <a:p>
                      <a:pPr>
                        <a:spcAft>
                          <a:spcPts val="100"/>
                        </a:spcAft>
                        <a:defRPr sz="1050" b="0">
                          <a:solidFill>
                            <a:srgbClr val="11151A"/>
                          </a:solidFill>
                          <a:latin typeface="Lato"/>
                        </a:defRPr>
                      </a:pPr>
                      <a:r>
                        <a:t>20 levers with baseline, rationale and source; 39 of 120 values with a replacement; nine levers added</a:t>
                      </a:r>
                    </a:p>
                  </a:txBody>
                  <a:tcPr marL="64008" marR="64008" marT="54864" marB="27432" anchor="t">
                    <a:lnL w="0">
                      <a:noFill/>
                    </a:lnL>
                    <a:lnR w="0">
                      <a:noFill/>
                    </a:lnR>
                    <a:lnT w="0">
                      <a:noFill/>
                    </a:lnT>
                    <a:lnB w="5080">
                      <a:solidFill>
                        <a:srgbClr val="B8B8B8"/>
                      </a:solidFill>
                    </a:lnB>
                    <a:solidFill>
                      <a:srgbClr val="FFFFFF"/>
                    </a:solidFill>
                  </a:tcPr>
                </a:tc>
                <a:tc>
                  <a:txBody>
                    <a:bodyPr/>
                    <a:lstStyle/>
                    <a:p>
                      <a:pPr>
                        <a:spcAft>
                          <a:spcPts val="100"/>
                        </a:spcAft>
                        <a:defRPr sz="1050" b="0">
                          <a:solidFill>
                            <a:srgbClr val="11151A"/>
                          </a:solidFill>
                          <a:latin typeface="Lato"/>
                        </a:defRPr>
                      </a:pPr>
                      <a:r>
                        <a:t>Some baselines are placeholders; freight is in tonnes</a:t>
                      </a:r>
                    </a:p>
                  </a:txBody>
                  <a:tcPr marL="64008" marR="64008" marT="54864" marB="27432" anchor="t">
                    <a:lnL w="0">
                      <a:noFill/>
                    </a:lnL>
                    <a:lnR w="0">
                      <a:noFill/>
                    </a:lnR>
                    <a:lnT w="0">
                      <a:noFill/>
                    </a:lnT>
                    <a:lnB w="5080">
                      <a:solidFill>
                        <a:srgbClr val="B8B8B8"/>
                      </a:solidFill>
                    </a:lnB>
                    <a:solidFill>
                      <a:srgbClr val="FFFFFF"/>
                    </a:solidFill>
                  </a:tcPr>
                </a:tc>
              </a:tr>
              <a:tr h="594360">
                <a:tc>
                  <a:txBody>
                    <a:bodyPr/>
                    <a:lstStyle/>
                    <a:p>
                      <a:pPr>
                        <a:spcAft>
                          <a:spcPts val="100"/>
                        </a:spcAft>
                        <a:defRPr sz="1050" b="1">
                          <a:solidFill>
                            <a:srgbClr val="0A2373"/>
                          </a:solidFill>
                          <a:latin typeface="Lato"/>
                        </a:defRPr>
                      </a:pPr>
                      <a:r>
                        <a:t>3 Sector baselines</a:t>
                      </a:r>
                    </a:p>
                  </a:txBody>
                  <a:tcPr marL="64008" marR="64008" marT="54864" marB="27432" anchor="t">
                    <a:lnL w="0">
                      <a:noFill/>
                    </a:lnL>
                    <a:lnR w="0">
                      <a:noFill/>
                    </a:lnR>
                    <a:lnT w="0">
                      <a:noFill/>
                    </a:lnT>
                    <a:lnB w="5080">
                      <a:solidFill>
                        <a:srgbClr val="B8B8B8"/>
                      </a:solidFill>
                    </a:lnB>
                    <a:solidFill>
                      <a:srgbClr val="FFFFFF"/>
                    </a:solidFill>
                  </a:tcPr>
                </a:tc>
                <a:tc>
                  <a:txBody>
                    <a:bodyPr/>
                    <a:lstStyle/>
                    <a:p>
                      <a:pPr>
                        <a:spcAft>
                          <a:spcPts val="100"/>
                        </a:spcAft>
                        <a:defRPr sz="1050" b="0">
                          <a:solidFill>
                            <a:srgbClr val="11151A"/>
                          </a:solidFill>
                          <a:latin typeface="Lato"/>
                        </a:defRPr>
                      </a:pPr>
                      <a:r>
                        <a:t>Proposed</a:t>
                      </a:r>
                    </a:p>
                  </a:txBody>
                  <a:tcPr marL="64008" marR="64008" marT="54864" marB="27432" anchor="t">
                    <a:lnL w="0">
                      <a:noFill/>
                    </a:lnL>
                    <a:lnR w="0">
                      <a:noFill/>
                    </a:lnR>
                    <a:lnT w="0">
                      <a:noFill/>
                    </a:lnT>
                    <a:lnB w="5080">
                      <a:solidFill>
                        <a:srgbClr val="B8B8B8"/>
                      </a:solidFill>
                    </a:lnB>
                    <a:solidFill>
                      <a:srgbClr val="FFFFFF"/>
                    </a:solidFill>
                  </a:tcPr>
                </a:tc>
                <a:tc>
                  <a:txBody>
                    <a:bodyPr/>
                    <a:lstStyle/>
                    <a:p>
                      <a:pPr>
                        <a:spcAft>
                          <a:spcPts val="100"/>
                        </a:spcAft>
                        <a:defRPr sz="1050" b="0">
                          <a:solidFill>
                            <a:srgbClr val="11151A"/>
                          </a:solidFill>
                          <a:latin typeface="Lato"/>
                        </a:defRPr>
                      </a:pPr>
                      <a:r>
                        <a:t>Agriculture 1.06 and industry 1.50 bn litres, with the forecast effect and an overlap table</a:t>
                      </a:r>
                    </a:p>
                  </a:txBody>
                  <a:tcPr marL="64008" marR="64008" marT="54864" marB="27432" anchor="t">
                    <a:lnL w="0">
                      <a:noFill/>
                    </a:lnL>
                    <a:lnR w="0">
                      <a:noFill/>
                    </a:lnR>
                    <a:lnT w="0">
                      <a:noFill/>
                    </a:lnT>
                    <a:lnB w="5080">
                      <a:solidFill>
                        <a:srgbClr val="B8B8B8"/>
                      </a:solidFill>
                    </a:lnB>
                    <a:solidFill>
                      <a:srgbClr val="FFFFFF"/>
                    </a:solidFill>
                  </a:tcPr>
                </a:tc>
                <a:tc>
                  <a:txBody>
                    <a:bodyPr/>
                    <a:lstStyle/>
                    <a:p>
                      <a:pPr>
                        <a:spcAft>
                          <a:spcPts val="100"/>
                        </a:spcAft>
                        <a:defRPr sz="1050" b="0">
                          <a:solidFill>
                            <a:srgbClr val="11151A"/>
                          </a:solidFill>
                          <a:latin typeface="Lato"/>
                        </a:defRPr>
                      </a:pPr>
                      <a:r>
                        <a:t>On-road overlap not sized; power generation is 2 bn litres above reported burn</a:t>
                      </a:r>
                    </a:p>
                  </a:txBody>
                  <a:tcPr marL="64008" marR="64008" marT="54864" marB="27432" anchor="t">
                    <a:lnL w="0">
                      <a:noFill/>
                    </a:lnL>
                    <a:lnR w="0">
                      <a:noFill/>
                    </a:lnR>
                    <a:lnT w="0">
                      <a:noFill/>
                    </a:lnT>
                    <a:lnB w="5080">
                      <a:solidFill>
                        <a:srgbClr val="B8B8B8"/>
                      </a:solidFill>
                    </a:lnB>
                    <a:solidFill>
                      <a:srgbClr val="FFFFFF"/>
                    </a:solidFill>
                  </a:tcPr>
                </a:tc>
              </a:tr>
              <a:tr h="594360">
                <a:tc>
                  <a:txBody>
                    <a:bodyPr/>
                    <a:lstStyle/>
                    <a:p>
                      <a:pPr>
                        <a:spcAft>
                          <a:spcPts val="100"/>
                        </a:spcAft>
                        <a:defRPr sz="1050" b="1">
                          <a:solidFill>
                            <a:srgbClr val="0A2373"/>
                          </a:solidFill>
                          <a:latin typeface="Lato"/>
                        </a:defRPr>
                      </a:pPr>
                      <a:r>
                        <a:t>4 Tank handling</a:t>
                      </a:r>
                    </a:p>
                  </a:txBody>
                  <a:tcPr marL="64008" marR="64008" marT="54864" marB="27432" anchor="t">
                    <a:lnL w="0">
                      <a:noFill/>
                    </a:lnL>
                    <a:lnR w="0">
                      <a:noFill/>
                    </a:lnR>
                    <a:lnT w="0">
                      <a:noFill/>
                    </a:lnT>
                    <a:lnB w="5080">
                      <a:solidFill>
                        <a:srgbClr val="B8B8B8"/>
                      </a:solidFill>
                    </a:lnB>
                    <a:solidFill>
                      <a:srgbClr val="FFFFFF"/>
                    </a:solidFill>
                  </a:tcPr>
                </a:tc>
                <a:tc>
                  <a:txBody>
                    <a:bodyPr/>
                    <a:lstStyle/>
                    <a:p>
                      <a:pPr>
                        <a:spcAft>
                          <a:spcPts val="100"/>
                        </a:spcAft>
                        <a:defRPr sz="1050" b="0">
                          <a:solidFill>
                            <a:srgbClr val="11151A"/>
                          </a:solidFill>
                          <a:latin typeface="Lato"/>
                        </a:defRPr>
                      </a:pPr>
                      <a:r>
                        <a:t>Proposed</a:t>
                      </a:r>
                    </a:p>
                  </a:txBody>
                  <a:tcPr marL="64008" marR="64008" marT="54864" marB="27432" anchor="t">
                    <a:lnL w="0">
                      <a:noFill/>
                    </a:lnL>
                    <a:lnR w="0">
                      <a:noFill/>
                    </a:lnR>
                    <a:lnT w="0">
                      <a:noFill/>
                    </a:lnT>
                    <a:lnB w="5080">
                      <a:solidFill>
                        <a:srgbClr val="B8B8B8"/>
                      </a:solidFill>
                    </a:lnB>
                    <a:solidFill>
                      <a:srgbClr val="FFFFFF"/>
                    </a:solidFill>
                  </a:tcPr>
                </a:tc>
                <a:tc>
                  <a:txBody>
                    <a:bodyPr/>
                    <a:lstStyle/>
                    <a:p>
                      <a:pPr>
                        <a:spcAft>
                          <a:spcPts val="100"/>
                        </a:spcAft>
                        <a:defRPr sz="1050" b="0">
                          <a:solidFill>
                            <a:srgbClr val="11151A"/>
                          </a:solidFill>
                          <a:latin typeface="Lato"/>
                        </a:defRPr>
                      </a:pPr>
                      <a:r>
                        <a:t>Lesedi and Durban site assumptions; eight values marked to confirm with the client</a:t>
                      </a:r>
                    </a:p>
                  </a:txBody>
                  <a:tcPr marL="64008" marR="64008" marT="54864" marB="27432" anchor="t">
                    <a:lnL w="0">
                      <a:noFill/>
                    </a:lnL>
                    <a:lnR w="0">
                      <a:noFill/>
                    </a:lnR>
                    <a:lnT w="0">
                      <a:noFill/>
                    </a:lnT>
                    <a:lnB w="5080">
                      <a:solidFill>
                        <a:srgbClr val="B8B8B8"/>
                      </a:solidFill>
                    </a:lnB>
                    <a:solidFill>
                      <a:srgbClr val="FFFFFF"/>
                    </a:solidFill>
                  </a:tcPr>
                </a:tc>
                <a:tc>
                  <a:txBody>
                    <a:bodyPr/>
                    <a:lstStyle/>
                    <a:p>
                      <a:pPr>
                        <a:spcAft>
                          <a:spcPts val="100"/>
                        </a:spcAft>
                        <a:defRPr sz="1050" b="0">
                          <a:solidFill>
                            <a:srgbClr val="11151A"/>
                          </a:solidFill>
                          <a:latin typeface="Lato"/>
                        </a:defRPr>
                      </a:pPr>
                      <a:r>
                        <a:t>No Vopak operating data; other operators' sites not done</a:t>
                      </a:r>
                    </a:p>
                  </a:txBody>
                  <a:tcPr marL="64008" marR="64008" marT="54864" marB="27432" anchor="t">
                    <a:lnL w="0">
                      <a:noFill/>
                    </a:lnL>
                    <a:lnR w="0">
                      <a:noFill/>
                    </a:lnR>
                    <a:lnT w="0">
                      <a:noFill/>
                    </a:lnT>
                    <a:lnB w="5080">
                      <a:solidFill>
                        <a:srgbClr val="B8B8B8"/>
                      </a:solidFill>
                    </a:lnB>
                    <a:solidFill>
                      <a:srgbClr val="FFFFFF"/>
                    </a:solidFill>
                  </a:tcPr>
                </a:tc>
              </a:tr>
              <a:tr h="594360">
                <a:tc>
                  <a:txBody>
                    <a:bodyPr/>
                    <a:lstStyle/>
                    <a:p>
                      <a:pPr>
                        <a:spcAft>
                          <a:spcPts val="100"/>
                        </a:spcAft>
                        <a:defRPr sz="1050" b="1">
                          <a:solidFill>
                            <a:srgbClr val="0A2373"/>
                          </a:solidFill>
                          <a:latin typeface="Lato"/>
                        </a:defRPr>
                      </a:pPr>
                      <a:r>
                        <a:t>5 Hand-back</a:t>
                      </a:r>
                    </a:p>
                  </a:txBody>
                  <a:tcPr marL="64008" marR="64008" marT="54864" marB="27432" anchor="t">
                    <a:lnL w="0">
                      <a:noFill/>
                    </a:lnL>
                    <a:lnR w="0">
                      <a:noFill/>
                    </a:lnR>
                    <a:lnT w="0">
                      <a:noFill/>
                    </a:lnT>
                    <a:lnB w="5080">
                      <a:solidFill>
                        <a:srgbClr val="B8B8B8"/>
                      </a:solidFill>
                    </a:lnB>
                    <a:solidFill>
                      <a:srgbClr val="FFFFFF"/>
                    </a:solidFill>
                  </a:tcPr>
                </a:tc>
                <a:tc>
                  <a:txBody>
                    <a:bodyPr/>
                    <a:lstStyle/>
                    <a:p>
                      <a:pPr>
                        <a:spcAft>
                          <a:spcPts val="100"/>
                        </a:spcAft>
                        <a:defRPr sz="1050" b="0">
                          <a:solidFill>
                            <a:srgbClr val="11151A"/>
                          </a:solidFill>
                          <a:latin typeface="Lato"/>
                        </a:defRPr>
                      </a:pPr>
                      <a:r>
                        <a:t>Ready</a:t>
                      </a:r>
                    </a:p>
                  </a:txBody>
                  <a:tcPr marL="64008" marR="64008" marT="54864" marB="27432" anchor="t">
                    <a:lnL w="0">
                      <a:noFill/>
                    </a:lnL>
                    <a:lnR w="0">
                      <a:noFill/>
                    </a:lnR>
                    <a:lnT w="0">
                      <a:noFill/>
                    </a:lnT>
                    <a:lnB w="5080">
                      <a:solidFill>
                        <a:srgbClr val="B8B8B8"/>
                      </a:solidFill>
                    </a:lnB>
                    <a:solidFill>
                      <a:srgbClr val="FFFFFF"/>
                    </a:solidFill>
                  </a:tcPr>
                </a:tc>
                <a:tc>
                  <a:txBody>
                    <a:bodyPr/>
                    <a:lstStyle/>
                    <a:p>
                      <a:pPr>
                        <a:spcAft>
                          <a:spcPts val="100"/>
                        </a:spcAft>
                        <a:defRPr sz="1050" b="0">
                          <a:solidFill>
                            <a:srgbClr val="11151A"/>
                          </a:solidFill>
                          <a:latin typeface="Lato"/>
                        </a:defRPr>
                      </a:pPr>
                      <a:r>
                        <a:t>This deck, the hand-back note, a 21-item decision log, the workshop workbook with history from 2012, and 288 figures in the current pack checked with none differing</a:t>
                      </a:r>
                    </a:p>
                  </a:txBody>
                  <a:tcPr marL="64008" marR="64008" marT="54864" marB="27432" anchor="t">
                    <a:lnL w="0">
                      <a:noFill/>
                    </a:lnL>
                    <a:lnR w="0">
                      <a:noFill/>
                    </a:lnR>
                    <a:lnT w="0">
                      <a:noFill/>
                    </a:lnT>
                    <a:lnB w="5080">
                      <a:solidFill>
                        <a:srgbClr val="B8B8B8"/>
                      </a:solidFill>
                    </a:lnB>
                    <a:solidFill>
                      <a:srgbClr val="FFFFFF"/>
                    </a:solidFill>
                  </a:tcPr>
                </a:tc>
                <a:tc>
                  <a:txBody>
                    <a:bodyPr/>
                    <a:lstStyle/>
                    <a:p>
                      <a:pPr>
                        <a:spcAft>
                          <a:spcPts val="100"/>
                        </a:spcAft>
                        <a:defRPr sz="1050" b="0">
                          <a:solidFill>
                            <a:srgbClr val="11151A"/>
                          </a:solidFill>
                          <a:latin typeface="Lato"/>
                        </a:defRPr>
                      </a:pPr>
                      <a:r>
                        <a:t>Vehicle stock by age and by fuel within class is in no source held</a:t>
                      </a:r>
                    </a:p>
                  </a:txBody>
                  <a:tcPr marL="64008" marR="64008" marT="54864" marB="27432" anchor="t">
                    <a:lnL w="0">
                      <a:noFill/>
                    </a:lnL>
                    <a:lnR w="0">
                      <a:noFill/>
                    </a:lnR>
                    <a:lnT w="0">
                      <a:noFill/>
                    </a:lnT>
                    <a:lnB w="5080">
                      <a:solidFill>
                        <a:srgbClr val="B8B8B8"/>
                      </a:solidFill>
                    </a:lnB>
                    <a:solidFill>
                      <a:srgbClr val="FFFFFF"/>
                    </a:solidFill>
                  </a:tcPr>
                </a:tc>
              </a:tr>
            </a:tbl>
          </a:graphicData>
        </a:graphic>
      </p:graphicFrame>
      <p:sp>
        <p:nvSpPr>
          <p:cNvPr id="8" name="TextBox 7"/>
          <p:cNvSpPr txBox="1"/>
          <p:nvPr/>
        </p:nvSpPr>
        <p:spPr>
          <a:xfrm>
            <a:off x="457200" y="5760720"/>
            <a:ext cx="10652760" cy="548640"/>
          </a:xfrm>
          <a:prstGeom prst="rect">
            <a:avLst/>
          </a:prstGeom>
          <a:noFill/>
        </p:spPr>
        <p:txBody>
          <a:bodyPr wrap="square" lIns="22860" rIns="22860" tIns="0" bIns="0">
            <a:spAutoFit/>
          </a:bodyPr>
          <a:lstStyle/>
          <a:p>
            <a:pPr>
              <a:spcAft>
                <a:spcPts val="300"/>
              </a:spcAft>
              <a:defRPr sz="1100" b="1">
                <a:solidFill>
                  <a:srgbClr val="0A2373"/>
                </a:solidFill>
                <a:latin typeface="Lato"/>
              </a:defRPr>
            </a:pPr>
            <a:r>
              <a:t>New evidence today: Road Accident Fund accounts give 24.4 bn litres of petrol and diesel levied in the year to March 2025, against 20.8 recorded as sold, and show volumes rising where FIASA shows a fall.</a:t>
            </a:r>
          </a:p>
        </p:txBody>
      </p:sp>
      <p:sp>
        <p:nvSpPr>
          <p:cNvPr id="9" name="Chevron 8">
            <a:hlinkClick action="ppaction://hlinksldjump" r:id="rId2"/>
          </p:cNvPr>
          <p:cNvSpPr/>
          <p:nvPr/>
        </p:nvSpPr>
        <p:spPr>
          <a:xfrm>
            <a:off x="457200" y="73152"/>
            <a:ext cx="2075688" cy="384048"/>
          </a:xfrm>
          <a:prstGeom prst="chevron">
            <a:avLst>
              <a:gd name="adj" fmla="val 12000"/>
            </a:avLst>
          </a:pr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tIns="0" bIns="0"/>
          <a:lstStyle/>
          <a:p>
            <a:pPr algn="ctr">
              <a:defRPr sz="1100" b="0">
                <a:solidFill>
                  <a:srgbClr val="0A2373"/>
                </a:solidFill>
                <a:latin typeface="Lato"/>
              </a:defRPr>
            </a:pPr>
            <a:r>
              <a:t>1  National balance</a:t>
            </a:r>
          </a:p>
        </p:txBody>
      </p:sp>
      <p:sp>
        <p:nvSpPr>
          <p:cNvPr id="10" name="Chevron 9">
            <a:hlinkClick action="ppaction://hlinksldjump" r:id="rId3"/>
          </p:cNvPr>
          <p:cNvSpPr/>
          <p:nvPr/>
        </p:nvSpPr>
        <p:spPr>
          <a:xfrm>
            <a:off x="2587752" y="73152"/>
            <a:ext cx="2075688" cy="384048"/>
          </a:xfrm>
          <a:prstGeom prst="chevron">
            <a:avLst>
              <a:gd name="adj" fmla="val 12000"/>
            </a:avLst>
          </a:pr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tIns="0" bIns="0"/>
          <a:lstStyle/>
          <a:p>
            <a:pPr algn="ctr">
              <a:defRPr sz="1100" b="0">
                <a:solidFill>
                  <a:srgbClr val="0A2373"/>
                </a:solidFill>
                <a:latin typeface="Lato"/>
              </a:defRPr>
            </a:pPr>
            <a:r>
              <a:t>2  Forecast levers</a:t>
            </a:r>
          </a:p>
        </p:txBody>
      </p:sp>
      <p:sp>
        <p:nvSpPr>
          <p:cNvPr id="11" name="Chevron 10">
            <a:hlinkClick action="ppaction://hlinksldjump" r:id="rId4"/>
          </p:cNvPr>
          <p:cNvSpPr/>
          <p:nvPr/>
        </p:nvSpPr>
        <p:spPr>
          <a:xfrm>
            <a:off x="4718304" y="73152"/>
            <a:ext cx="2075688" cy="384048"/>
          </a:xfrm>
          <a:prstGeom prst="chevron">
            <a:avLst>
              <a:gd name="adj" fmla="val 12000"/>
            </a:avLst>
          </a:pr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tIns="0" bIns="0"/>
          <a:lstStyle/>
          <a:p>
            <a:pPr algn="ctr">
              <a:defRPr sz="1100" b="0">
                <a:solidFill>
                  <a:srgbClr val="0A2373"/>
                </a:solidFill>
                <a:latin typeface="Lato"/>
              </a:defRPr>
            </a:pPr>
            <a:r>
              <a:t>3  Sector baselines</a:t>
            </a:r>
          </a:p>
        </p:txBody>
      </p:sp>
      <p:sp>
        <p:nvSpPr>
          <p:cNvPr id="12" name="Chevron 11">
            <a:hlinkClick action="ppaction://hlinksldjump" r:id="rId5"/>
          </p:cNvPr>
          <p:cNvSpPr/>
          <p:nvPr/>
        </p:nvSpPr>
        <p:spPr>
          <a:xfrm>
            <a:off x="6848856" y="73152"/>
            <a:ext cx="2075688" cy="384048"/>
          </a:xfrm>
          <a:prstGeom prst="chevron">
            <a:avLst>
              <a:gd name="adj" fmla="val 12000"/>
            </a:avLst>
          </a:pr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tIns="0" bIns="0"/>
          <a:lstStyle/>
          <a:p>
            <a:pPr algn="ctr">
              <a:defRPr sz="1100" b="0">
                <a:solidFill>
                  <a:srgbClr val="0A2373"/>
                </a:solidFill>
                <a:latin typeface="Lato"/>
              </a:defRPr>
            </a:pPr>
            <a:r>
              <a:t>4  Tank handling</a:t>
            </a:r>
          </a:p>
        </p:txBody>
      </p:sp>
      <p:sp>
        <p:nvSpPr>
          <p:cNvPr id="13" name="Chevron 12">
            <a:hlinkClick action="ppaction://hlinksldjump" r:id="rId6"/>
          </p:cNvPr>
          <p:cNvSpPr/>
          <p:nvPr/>
        </p:nvSpPr>
        <p:spPr>
          <a:xfrm>
            <a:off x="8979408" y="73152"/>
            <a:ext cx="2075688" cy="384048"/>
          </a:xfrm>
          <a:prstGeom prst="chevron">
            <a:avLst>
              <a:gd name="adj" fmla="val 12000"/>
            </a:avLst>
          </a:pr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tIns="0" bIns="0"/>
          <a:lstStyle/>
          <a:p>
            <a:pPr algn="ctr">
              <a:defRPr sz="1100" b="1">
                <a:solidFill>
                  <a:srgbClr val="FFFFFF"/>
                </a:solidFill>
                <a:latin typeface="Lato"/>
              </a:defRPr>
            </a:pPr>
            <a:r>
              <a:t>5  Hand-back</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Decision log: 3 ready, 9 proposed, 9 unresolved</a:t>
            </a:r>
          </a:p>
        </p:txBody>
      </p:sp>
      <p:sp>
        <p:nvSpPr>
          <p:cNvPr id="3" name="TextBox 2"/>
          <p:cNvSpPr txBox="1"/>
          <p:nvPr/>
        </p:nvSpPr>
        <p:spPr>
          <a:xfrm>
            <a:off x="457200" y="1627632"/>
            <a:ext cx="10652760" cy="274320"/>
          </a:xfrm>
          <a:prstGeom prst="rect">
            <a:avLst/>
          </a:prstGeom>
          <a:noFill/>
        </p:spPr>
        <p:txBody>
          <a:bodyPr wrap="square" lIns="22860" rIns="22860" tIns="0" bIns="0">
            <a:spAutoFit/>
          </a:bodyPr>
          <a:lstStyle/>
          <a:p>
            <a:pPr>
              <a:spcAft>
                <a:spcPts val="300"/>
              </a:spcAft>
              <a:defRPr sz="1300" b="1">
                <a:solidFill>
                  <a:srgbClr val="11151A"/>
                </a:solidFill>
                <a:latin typeface="Lato"/>
              </a:defRPr>
            </a:pPr>
            <a:r>
              <a:t>Decisions for Nigel | the nine that are unresolved, with the analyst's proposal | full log in the csv</a:t>
            </a:r>
          </a:p>
        </p:txBody>
      </p:sp>
      <p:cxnSp>
        <p:nvCxnSpPr>
          <p:cNvPr id="4" name="Connector 3"/>
          <p:cNvCxnSpPr/>
          <p:nvPr/>
        </p:nvCxnSpPr>
        <p:spPr>
          <a:xfrm>
            <a:off x="457200" y="1920240"/>
            <a:ext cx="10652760" cy="0"/>
          </a:xfrm>
          <a:prstGeom prst="line">
            <a:avLst/>
          </a:prstGeom>
          <a:ln w="7620">
            <a:solidFill>
              <a:srgbClr val="A0A0A0"/>
            </a:solidFill>
          </a:ln>
        </p:spPr>
        <p:style>
          <a:lnRef idx="2">
            <a:schemeClr val="accent1"/>
          </a:lnRef>
          <a:fillRef idx="0">
            <a:schemeClr val="accent1"/>
          </a:fillRef>
          <a:effectRef idx="1">
            <a:schemeClr val="accent1"/>
          </a:effectRef>
          <a:fontRef idx="minor">
            <a:schemeClr val="tx1"/>
          </a:fontRef>
        </p:style>
      </p:cxnSp>
      <p:sp>
        <p:nvSpPr>
          <p:cNvPr id="5" name="TextBox 4"/>
          <p:cNvSpPr txBox="1"/>
          <p:nvPr/>
        </p:nvSpPr>
        <p:spPr>
          <a:xfrm>
            <a:off x="457200" y="6547104"/>
            <a:ext cx="9692640" cy="182880"/>
          </a:xfrm>
          <a:prstGeom prst="rect">
            <a:avLst/>
          </a:prstGeom>
          <a:noFill/>
        </p:spPr>
        <p:txBody>
          <a:bodyPr wrap="square" lIns="22860" rIns="22860" tIns="0" bIns="0">
            <a:spAutoFit/>
          </a:bodyPr>
          <a:lstStyle/>
          <a:p>
            <a:pPr>
              <a:spcAft>
                <a:spcPts val="300"/>
              </a:spcAft>
              <a:defRPr sz="800" b="0">
                <a:solidFill>
                  <a:srgbClr val="11151A"/>
                </a:solidFill>
                <a:latin typeface="Lato"/>
              </a:defRPr>
            </a:pPr>
            <a:r>
              <a:t>Source: manish_handback_2026-10-07.md and manish_decision_log_2026-10-07.csv on manish-branch. Statuses are the analyst's; nothing is accepted until Nigel decides.</a:t>
            </a:r>
          </a:p>
        </p:txBody>
      </p:sp>
      <p:sp>
        <p:nvSpPr>
          <p:cNvPr id="6" name="TextBox 5"/>
          <p:cNvSpPr txBox="1"/>
          <p:nvPr/>
        </p:nvSpPr>
        <p:spPr>
          <a:xfrm>
            <a:off x="457200" y="6711696"/>
            <a:ext cx="2011680" cy="128016"/>
          </a:xfrm>
          <a:prstGeom prst="rect">
            <a:avLst/>
          </a:prstGeom>
          <a:noFill/>
        </p:spPr>
        <p:txBody>
          <a:bodyPr wrap="square" lIns="22860" rIns="22860" tIns="0" bIns="0">
            <a:spAutoFit/>
          </a:bodyPr>
          <a:lstStyle/>
          <a:p>
            <a:pPr>
              <a:spcAft>
                <a:spcPts val="300"/>
              </a:spcAft>
              <a:defRPr sz="700" b="0">
                <a:solidFill>
                  <a:srgbClr val="11151A"/>
                </a:solidFill>
                <a:latin typeface="Lato"/>
              </a:defRPr>
            </a:pPr>
            <a:r>
              <a:t>Strictly Confidential</a:t>
            </a:r>
          </a:p>
        </p:txBody>
      </p:sp>
      <p:graphicFrame>
        <p:nvGraphicFramePr>
          <p:cNvPr id="7" name="Table 6"/>
          <p:cNvGraphicFramePr>
            <a:graphicFrameLocks noGrp="1"/>
          </p:cNvGraphicFramePr>
          <p:nvPr/>
        </p:nvGraphicFramePr>
        <p:xfrm>
          <a:off x="457200" y="2011680"/>
          <a:ext cx="10652760" cy="4297680"/>
        </p:xfrm>
        <a:graphic>
          <a:graphicData uri="http://schemas.openxmlformats.org/drawingml/2006/table">
            <a:tbl>
              <a:tblPr firstRow="0" bandRow="0"/>
              <a:tblGrid>
                <a:gridCol w="2834640"/>
                <a:gridCol w="5257800"/>
                <a:gridCol w="2560320"/>
              </a:tblGrid>
              <a:tr h="429768">
                <a:tc>
                  <a:txBody>
                    <a:bodyPr/>
                    <a:lstStyle/>
                    <a:p>
                      <a:pPr>
                        <a:spcAft>
                          <a:spcPts val="100"/>
                        </a:spcAft>
                        <a:defRPr sz="850" b="1">
                          <a:solidFill>
                            <a:srgbClr val="0A2373"/>
                          </a:solidFill>
                          <a:latin typeface="Lato"/>
                        </a:defRPr>
                      </a:pPr>
                      <a:r>
                        <a:t>Decision</a:t>
                      </a:r>
                    </a:p>
                  </a:txBody>
                  <a:tcPr marL="64008" marR="64008" marT="54864" marB="27432" anchor="t">
                    <a:lnL w="0">
                      <a:noFill/>
                    </a:lnL>
                    <a:lnR w="0">
                      <a:noFill/>
                    </a:lnR>
                    <a:lnT w="0">
                      <a:noFill/>
                    </a:lnT>
                    <a:lnB w="5080">
                      <a:solidFill>
                        <a:srgbClr val="B8B8B8"/>
                      </a:solidFill>
                    </a:lnB>
                    <a:solidFill>
                      <a:srgbClr val="FFFFFF"/>
                    </a:solidFill>
                  </a:tcPr>
                </a:tc>
                <a:tc>
                  <a:txBody>
                    <a:bodyPr/>
                    <a:lstStyle/>
                    <a:p>
                      <a:pPr>
                        <a:spcAft>
                          <a:spcPts val="100"/>
                        </a:spcAft>
                        <a:defRPr sz="850" b="1">
                          <a:solidFill>
                            <a:srgbClr val="11151A"/>
                          </a:solidFill>
                          <a:latin typeface="Lato"/>
                        </a:defRPr>
                      </a:pPr>
                      <a:r>
                        <a:t>Evidence in brief</a:t>
                      </a:r>
                    </a:p>
                  </a:txBody>
                  <a:tcPr marL="64008" marR="64008" marT="54864" marB="27432" anchor="t">
                    <a:lnL w="0">
                      <a:noFill/>
                    </a:lnL>
                    <a:lnR w="0">
                      <a:noFill/>
                    </a:lnR>
                    <a:lnT w="0">
                      <a:noFill/>
                    </a:lnT>
                    <a:lnB w="5080">
                      <a:solidFill>
                        <a:srgbClr val="B8B8B8"/>
                      </a:solidFill>
                    </a:lnB>
                    <a:solidFill>
                      <a:srgbClr val="FFFFFF"/>
                    </a:solidFill>
                  </a:tcPr>
                </a:tc>
                <a:tc>
                  <a:txBody>
                    <a:bodyPr/>
                    <a:lstStyle/>
                    <a:p>
                      <a:pPr>
                        <a:spcAft>
                          <a:spcPts val="100"/>
                        </a:spcAft>
                        <a:defRPr sz="850" b="1">
                          <a:solidFill>
                            <a:srgbClr val="11151A"/>
                          </a:solidFill>
                          <a:latin typeface="Lato"/>
                        </a:defRPr>
                      </a:pPr>
                      <a:r>
                        <a:t>Proposal</a:t>
                      </a:r>
                    </a:p>
                  </a:txBody>
                  <a:tcPr marL="64008" marR="64008" marT="54864" marB="27432" anchor="t">
                    <a:lnL w="0">
                      <a:noFill/>
                    </a:lnL>
                    <a:lnR w="0">
                      <a:noFill/>
                    </a:lnR>
                    <a:lnT w="0">
                      <a:noFill/>
                    </a:lnT>
                    <a:lnB w="5080">
                      <a:solidFill>
                        <a:srgbClr val="B8B8B8"/>
                      </a:solidFill>
                    </a:lnB>
                    <a:solidFill>
                      <a:srgbClr val="FFFFFF"/>
                    </a:solidFill>
                  </a:tcPr>
                </a:tc>
              </a:tr>
              <a:tr h="429768">
                <a:tc>
                  <a:txBody>
                    <a:bodyPr/>
                    <a:lstStyle/>
                    <a:p>
                      <a:pPr>
                        <a:spcAft>
                          <a:spcPts val="100"/>
                        </a:spcAft>
                        <a:defRPr sz="850" b="1">
                          <a:solidFill>
                            <a:srgbClr val="0A2373"/>
                          </a:solidFill>
                          <a:latin typeface="Lato"/>
                        </a:defRPr>
                      </a:pPr>
                      <a:r>
                        <a:t>D01  Which 2024 national sales figure to use</a:t>
                      </a:r>
                    </a:p>
                  </a:txBody>
                  <a:tcPr marL="64008" marR="64008" marT="54864" marB="27432" anchor="t">
                    <a:lnL w="0">
                      <a:noFill/>
                    </a:lnL>
                    <a:lnR w="0">
                      <a:noFill/>
                    </a:lnR>
                    <a:lnT w="0">
                      <a:noFill/>
                    </a:lnT>
                    <a:lnB w="5080">
                      <a:solidFill>
                        <a:srgbClr val="B8B8B8"/>
                      </a:solidFill>
                    </a:lnB>
                    <a:solidFill>
                      <a:srgbClr val="FFFFFF"/>
                    </a:solidFill>
                  </a:tcPr>
                </a:tc>
                <a:tc>
                  <a:txBody>
                    <a:bodyPr/>
                    <a:lstStyle/>
                    <a:p>
                      <a:pPr>
                        <a:spcAft>
                          <a:spcPts val="100"/>
                        </a:spcAft>
                        <a:defRPr sz="850" b="0">
                          <a:solidFill>
                            <a:srgbClr val="11151A"/>
                          </a:solidFill>
                          <a:latin typeface="Lato"/>
                        </a:defRPr>
                      </a:pPr>
                      <a:r>
                        <a:t>Department has published nothing after 2023. FIASA 2025 edition: petrol 9.03, diesel 11.73 bn litres; FIASA 2024 edition: 8.76 and 11.81. Road Accident Fund levy shows volumes up 0.7%, not down 5%</a:t>
                      </a:r>
                    </a:p>
                  </a:txBody>
                  <a:tcPr marL="64008" marR="64008" marT="54864" marB="27432" anchor="t">
                    <a:lnL w="0">
                      <a:noFill/>
                    </a:lnL>
                    <a:lnR w="0">
                      <a:noFill/>
                    </a:lnR>
                    <a:lnT w="0">
                      <a:noFill/>
                    </a:lnT>
                    <a:lnB w="5080">
                      <a:solidFill>
                        <a:srgbClr val="B8B8B8"/>
                      </a:solidFill>
                    </a:lnB>
                    <a:solidFill>
                      <a:srgbClr val="FFFFFF"/>
                    </a:solidFill>
                  </a:tcPr>
                </a:tc>
                <a:tc>
                  <a:txBody>
                    <a:bodyPr/>
                    <a:lstStyle/>
                    <a:p>
                      <a:pPr>
                        <a:spcAft>
                          <a:spcPts val="100"/>
                        </a:spcAft>
                        <a:defRPr sz="850" b="0">
                          <a:solidFill>
                            <a:srgbClr val="11151A"/>
                          </a:solidFill>
                          <a:latin typeface="Lato"/>
                        </a:defRPr>
                      </a:pPr>
                      <a:r>
                        <a:t>Start the forecast from 2023; carry 2024 as unverified</a:t>
                      </a:r>
                    </a:p>
                  </a:txBody>
                  <a:tcPr marL="64008" marR="64008" marT="54864" marB="27432" anchor="t">
                    <a:lnL w="0">
                      <a:noFill/>
                    </a:lnL>
                    <a:lnR w="0">
                      <a:noFill/>
                    </a:lnR>
                    <a:lnT w="0">
                      <a:noFill/>
                    </a:lnT>
                    <a:lnB w="5080">
                      <a:solidFill>
                        <a:srgbClr val="B8B8B8"/>
                      </a:solidFill>
                    </a:lnB>
                    <a:solidFill>
                      <a:srgbClr val="FFFFFF"/>
                    </a:solidFill>
                  </a:tcPr>
                </a:tc>
              </a:tr>
              <a:tr h="429768">
                <a:tc>
                  <a:txBody>
                    <a:bodyPr/>
                    <a:lstStyle/>
                    <a:p>
                      <a:pPr>
                        <a:spcAft>
                          <a:spcPts val="100"/>
                        </a:spcAft>
                        <a:defRPr sz="850" b="1">
                          <a:solidFill>
                            <a:srgbClr val="0A2373"/>
                          </a:solidFill>
                          <a:latin typeface="Lato"/>
                        </a:defRPr>
                      </a:pPr>
                      <a:r>
                        <a:t>D05  Treatment of the 2014 and 2018 provincial differences</a:t>
                      </a:r>
                    </a:p>
                  </a:txBody>
                  <a:tcPr marL="64008" marR="64008" marT="54864" marB="27432" anchor="t">
                    <a:lnL w="0">
                      <a:noFill/>
                    </a:lnL>
                    <a:lnR w="0">
                      <a:noFill/>
                    </a:lnR>
                    <a:lnT w="0">
                      <a:noFill/>
                    </a:lnT>
                    <a:lnB w="5080">
                      <a:solidFill>
                        <a:srgbClr val="B8B8B8"/>
                      </a:solidFill>
                    </a:lnB>
                    <a:solidFill>
                      <a:srgbClr val="FFFFFF"/>
                    </a:solidFill>
                  </a:tcPr>
                </a:tc>
                <a:tc>
                  <a:txBody>
                    <a:bodyPr/>
                    <a:lstStyle/>
                    <a:p>
                      <a:pPr>
                        <a:spcAft>
                          <a:spcPts val="100"/>
                        </a:spcAft>
                        <a:defRPr sz="850" b="0">
                          <a:solidFill>
                            <a:srgbClr val="11151A"/>
                          </a:solidFill>
                          <a:latin typeface="Lato"/>
                        </a:defRPr>
                      </a:pPr>
                      <a:r>
                        <a:t>Provincial sum is above the national file by 0.13-0.14 bn litres in 2014; 2018 quarter 1 district sheet is missing districts</a:t>
                      </a:r>
                    </a:p>
                  </a:txBody>
                  <a:tcPr marL="64008" marR="64008" marT="54864" marB="27432" anchor="t">
                    <a:lnL w="0">
                      <a:noFill/>
                    </a:lnL>
                    <a:lnR w="0">
                      <a:noFill/>
                    </a:lnR>
                    <a:lnT w="0">
                      <a:noFill/>
                    </a:lnT>
                    <a:lnB w="5080">
                      <a:solidFill>
                        <a:srgbClr val="B8B8B8"/>
                      </a:solidFill>
                    </a:lnB>
                    <a:solidFill>
                      <a:srgbClr val="FFFFFF"/>
                    </a:solidFill>
                  </a:tcPr>
                </a:tc>
                <a:tc>
                  <a:txBody>
                    <a:bodyPr/>
                    <a:lstStyle/>
                    <a:p>
                      <a:pPr>
                        <a:spcAft>
                          <a:spcPts val="100"/>
                        </a:spcAft>
                        <a:defRPr sz="850" b="0">
                          <a:solidFill>
                            <a:srgbClr val="11151A"/>
                          </a:solidFill>
                          <a:latin typeface="Lato"/>
                        </a:defRPr>
                      </a:pPr>
                      <a:r>
                        <a:t>National file stands; both records kept</a:t>
                      </a:r>
                    </a:p>
                  </a:txBody>
                  <a:tcPr marL="64008" marR="64008" marT="54864" marB="27432" anchor="t">
                    <a:lnL w="0">
                      <a:noFill/>
                    </a:lnL>
                    <a:lnR w="0">
                      <a:noFill/>
                    </a:lnR>
                    <a:lnT w="0">
                      <a:noFill/>
                    </a:lnT>
                    <a:lnB w="5080">
                      <a:solidFill>
                        <a:srgbClr val="B8B8B8"/>
                      </a:solidFill>
                    </a:lnB>
                    <a:solidFill>
                      <a:srgbClr val="FFFFFF"/>
                    </a:solidFill>
                  </a:tcPr>
                </a:tc>
              </a:tr>
              <a:tr h="429768">
                <a:tc>
                  <a:txBody>
                    <a:bodyPr/>
                    <a:lstStyle/>
                    <a:p>
                      <a:pPr>
                        <a:spcAft>
                          <a:spcPts val="100"/>
                        </a:spcAft>
                        <a:defRPr sz="850" b="1">
                          <a:solidFill>
                            <a:srgbClr val="0A2373"/>
                          </a:solidFill>
                          <a:latin typeface="Lato"/>
                        </a:defRPr>
                      </a:pPr>
                      <a:r>
                        <a:t>D08  Secunda utilisation</a:t>
                      </a:r>
                    </a:p>
                  </a:txBody>
                  <a:tcPr marL="64008" marR="64008" marT="54864" marB="27432" anchor="t">
                    <a:lnL w="0">
                      <a:noFill/>
                    </a:lnL>
                    <a:lnR w="0">
                      <a:noFill/>
                    </a:lnR>
                    <a:lnT w="0">
                      <a:noFill/>
                    </a:lnT>
                    <a:lnB w="5080">
                      <a:solidFill>
                        <a:srgbClr val="B8B8B8"/>
                      </a:solidFill>
                    </a:lnB>
                    <a:solidFill>
                      <a:srgbClr val="FFFFFF"/>
                    </a:solidFill>
                  </a:tcPr>
                </a:tc>
                <a:tc>
                  <a:txBody>
                    <a:bodyPr/>
                    <a:lstStyle/>
                    <a:p>
                      <a:pPr>
                        <a:spcAft>
                          <a:spcPts val="100"/>
                        </a:spcAft>
                        <a:defRPr sz="850" b="0">
                          <a:solidFill>
                            <a:srgbClr val="11151A"/>
                          </a:solidFill>
                          <a:latin typeface="Lato"/>
                        </a:defRPr>
                      </a:pPr>
                      <a:r>
                        <a:t>Capacity corrected to 150 thousand barrels a day with utilisation re-based so output is unchanged; model gives 62 for 2024, Sasol reports 80</a:t>
                      </a:r>
                    </a:p>
                  </a:txBody>
                  <a:tcPr marL="64008" marR="64008" marT="54864" marB="27432" anchor="t">
                    <a:lnL w="0">
                      <a:noFill/>
                    </a:lnL>
                    <a:lnR w="0">
                      <a:noFill/>
                    </a:lnR>
                    <a:lnT w="0">
                      <a:noFill/>
                    </a:lnT>
                    <a:lnB w="5080">
                      <a:solidFill>
                        <a:srgbClr val="B8B8B8"/>
                      </a:solidFill>
                    </a:lnB>
                    <a:solidFill>
                      <a:srgbClr val="FFFFFF"/>
                    </a:solidFill>
                  </a:tcPr>
                </a:tc>
                <a:tc>
                  <a:txBody>
                    <a:bodyPr/>
                    <a:lstStyle/>
                    <a:p>
                      <a:pPr>
                        <a:spcAft>
                          <a:spcPts val="100"/>
                        </a:spcAft>
                        <a:defRPr sz="850" b="0">
                          <a:solidFill>
                            <a:srgbClr val="11151A"/>
                          </a:solidFill>
                          <a:latin typeface="Lato"/>
                        </a:defRPr>
                      </a:pPr>
                      <a:r>
                        <a:t>Raise utilisation to match reported output</a:t>
                      </a:r>
                    </a:p>
                  </a:txBody>
                  <a:tcPr marL="64008" marR="64008" marT="54864" marB="27432" anchor="t">
                    <a:lnL w="0">
                      <a:noFill/>
                    </a:lnL>
                    <a:lnR w="0">
                      <a:noFill/>
                    </a:lnR>
                    <a:lnT w="0">
                      <a:noFill/>
                    </a:lnT>
                    <a:lnB w="5080">
                      <a:solidFill>
                        <a:srgbClr val="B8B8B8"/>
                      </a:solidFill>
                    </a:lnB>
                    <a:solidFill>
                      <a:srgbClr val="FFFFFF"/>
                    </a:solidFill>
                  </a:tcPr>
                </a:tc>
              </a:tr>
              <a:tr h="429768">
                <a:tc>
                  <a:txBody>
                    <a:bodyPr/>
                    <a:lstStyle/>
                    <a:p>
                      <a:pPr>
                        <a:spcAft>
                          <a:spcPts val="100"/>
                        </a:spcAft>
                        <a:defRPr sz="850" b="1">
                          <a:solidFill>
                            <a:srgbClr val="0A2373"/>
                          </a:solidFill>
                          <a:latin typeface="Lato"/>
                        </a:defRPr>
                      </a:pPr>
                      <a:r>
                        <a:t>D09  Reference case</a:t>
                      </a:r>
                    </a:p>
                  </a:txBody>
                  <a:tcPr marL="64008" marR="64008" marT="54864" marB="27432" anchor="t">
                    <a:lnL w="0">
                      <a:noFill/>
                    </a:lnL>
                    <a:lnR w="0">
                      <a:noFill/>
                    </a:lnR>
                    <a:lnT w="0">
                      <a:noFill/>
                    </a:lnT>
                    <a:lnB w="5080">
                      <a:solidFill>
                        <a:srgbClr val="B8B8B8"/>
                      </a:solidFill>
                    </a:lnB>
                    <a:solidFill>
                      <a:srgbClr val="FFFFFF"/>
                    </a:solidFill>
                  </a:tcPr>
                </a:tc>
                <a:tc>
                  <a:txBody>
                    <a:bodyPr/>
                    <a:lstStyle/>
                    <a:p>
                      <a:pPr>
                        <a:spcAft>
                          <a:spcPts val="100"/>
                        </a:spcAft>
                        <a:defRPr sz="850" b="0">
                          <a:solidFill>
                            <a:srgbClr val="11151A"/>
                          </a:solidFill>
                          <a:latin typeface="Lato"/>
                        </a:defRPr>
                      </a:pPr>
                      <a:r>
                        <a:t>No medium case is agreed; medium values are proposals</a:t>
                      </a:r>
                    </a:p>
                  </a:txBody>
                  <a:tcPr marL="64008" marR="64008" marT="54864" marB="27432" anchor="t">
                    <a:lnL w="0">
                      <a:noFill/>
                    </a:lnL>
                    <a:lnR w="0">
                      <a:noFill/>
                    </a:lnR>
                    <a:lnT w="0">
                      <a:noFill/>
                    </a:lnT>
                    <a:lnB w="5080">
                      <a:solidFill>
                        <a:srgbClr val="B8B8B8"/>
                      </a:solidFill>
                    </a:lnB>
                    <a:solidFill>
                      <a:srgbClr val="FFFFFF"/>
                    </a:solidFill>
                  </a:tcPr>
                </a:tc>
                <a:tc>
                  <a:txBody>
                    <a:bodyPr/>
                    <a:lstStyle/>
                    <a:p>
                      <a:pPr>
                        <a:spcAft>
                          <a:spcPts val="100"/>
                        </a:spcAft>
                        <a:defRPr sz="850" b="0">
                          <a:solidFill>
                            <a:srgbClr val="11151A"/>
                          </a:solidFill>
                          <a:latin typeface="Lato"/>
                        </a:defRPr>
                      </a:pPr>
                      <a:r>
                        <a:t>Agree after the ranges</a:t>
                      </a:r>
                    </a:p>
                  </a:txBody>
                  <a:tcPr marL="64008" marR="64008" marT="54864" marB="27432" anchor="t">
                    <a:lnL w="0">
                      <a:noFill/>
                    </a:lnL>
                    <a:lnR w="0">
                      <a:noFill/>
                    </a:lnR>
                    <a:lnT w="0">
                      <a:noFill/>
                    </a:lnT>
                    <a:lnB w="5080">
                      <a:solidFill>
                        <a:srgbClr val="B8B8B8"/>
                      </a:solidFill>
                    </a:lnB>
                    <a:solidFill>
                      <a:srgbClr val="FFFFFF"/>
                    </a:solidFill>
                  </a:tcPr>
                </a:tc>
              </a:tr>
              <a:tr h="429768">
                <a:tc>
                  <a:txBody>
                    <a:bodyPr/>
                    <a:lstStyle/>
                    <a:p>
                      <a:pPr>
                        <a:spcAft>
                          <a:spcPts val="100"/>
                        </a:spcAft>
                        <a:defRPr sz="850" b="1">
                          <a:solidFill>
                            <a:srgbClr val="0A2373"/>
                          </a:solidFill>
                          <a:latin typeface="Lato"/>
                        </a:defRPr>
                      </a:pPr>
                      <a:r>
                        <a:t>D11  Power generation starting value</a:t>
                      </a:r>
                    </a:p>
                  </a:txBody>
                  <a:tcPr marL="64008" marR="64008" marT="54864" marB="27432" anchor="t">
                    <a:lnL w="0">
                      <a:noFill/>
                    </a:lnL>
                    <a:lnR w="0">
                      <a:noFill/>
                    </a:lnR>
                    <a:lnT w="0">
                      <a:noFill/>
                    </a:lnT>
                    <a:lnB w="5080">
                      <a:solidFill>
                        <a:srgbClr val="B8B8B8"/>
                      </a:solidFill>
                    </a:lnB>
                    <a:solidFill>
                      <a:srgbClr val="FFFFFF"/>
                    </a:solidFill>
                  </a:tcPr>
                </a:tc>
                <a:tc>
                  <a:txBody>
                    <a:bodyPr/>
                    <a:lstStyle/>
                    <a:p>
                      <a:pPr>
                        <a:spcAft>
                          <a:spcPts val="100"/>
                        </a:spcAft>
                        <a:defRPr sz="850" b="0">
                          <a:solidFill>
                            <a:srgbClr val="11151A"/>
                          </a:solidFill>
                          <a:latin typeface="Lato"/>
                        </a:defRPr>
                      </a:pPr>
                      <a:r>
                        <a:t>Model has 3.58 bn litres for 2024; Eskom reports 0.68-0.94 and all plants about 1.6 in the peak year</a:t>
                      </a:r>
                    </a:p>
                  </a:txBody>
                  <a:tcPr marL="64008" marR="64008" marT="54864" marB="27432" anchor="t">
                    <a:lnL w="0">
                      <a:noFill/>
                    </a:lnL>
                    <a:lnR w="0">
                      <a:noFill/>
                    </a:lnR>
                    <a:lnT w="0">
                      <a:noFill/>
                    </a:lnT>
                    <a:lnB w="5080">
                      <a:solidFill>
                        <a:srgbClr val="B8B8B8"/>
                      </a:solidFill>
                    </a:lnB>
                    <a:solidFill>
                      <a:srgbClr val="FFFFFF"/>
                    </a:solidFill>
                  </a:tcPr>
                </a:tc>
                <a:tc>
                  <a:txBody>
                    <a:bodyPr/>
                    <a:lstStyle/>
                    <a:p>
                      <a:pPr>
                        <a:spcAft>
                          <a:spcPts val="100"/>
                        </a:spcAft>
                        <a:defRPr sz="850" b="0">
                          <a:solidFill>
                            <a:srgbClr val="11151A"/>
                          </a:solidFill>
                          <a:latin typeface="Lato"/>
                        </a:defRPr>
                      </a:pPr>
                      <a:r>
                        <a:t>Recalibrate to reported burn at 0.31 litres per kWh</a:t>
                      </a:r>
                    </a:p>
                  </a:txBody>
                  <a:tcPr marL="64008" marR="64008" marT="54864" marB="27432" anchor="t">
                    <a:lnL w="0">
                      <a:noFill/>
                    </a:lnL>
                    <a:lnR w="0">
                      <a:noFill/>
                    </a:lnR>
                    <a:lnT w="0">
                      <a:noFill/>
                    </a:lnT>
                    <a:lnB w="5080">
                      <a:solidFill>
                        <a:srgbClr val="B8B8B8"/>
                      </a:solidFill>
                    </a:lnB>
                    <a:solidFill>
                      <a:srgbClr val="FFFFFF"/>
                    </a:solidFill>
                  </a:tcPr>
                </a:tc>
              </a:tr>
              <a:tr h="429768">
                <a:tc>
                  <a:txBody>
                    <a:bodyPr/>
                    <a:lstStyle/>
                    <a:p>
                      <a:pPr>
                        <a:spcAft>
                          <a:spcPts val="100"/>
                        </a:spcAft>
                        <a:defRPr sz="850" b="1">
                          <a:solidFill>
                            <a:srgbClr val="0A2373"/>
                          </a:solidFill>
                          <a:latin typeface="Lato"/>
                        </a:defRPr>
                      </a:pPr>
                      <a:r>
                        <a:t>D12  Allowance for on-road use inside agriculture and mining diesel</a:t>
                      </a:r>
                    </a:p>
                  </a:txBody>
                  <a:tcPr marL="64008" marR="64008" marT="54864" marB="27432" anchor="t">
                    <a:lnL w="0">
                      <a:noFill/>
                    </a:lnL>
                    <a:lnR w="0">
                      <a:noFill/>
                    </a:lnR>
                    <a:lnT w="0">
                      <a:noFill/>
                    </a:lnT>
                    <a:lnB w="5080">
                      <a:solidFill>
                        <a:srgbClr val="B8B8B8"/>
                      </a:solidFill>
                    </a:lnB>
                    <a:solidFill>
                      <a:srgbClr val="FFFFFF"/>
                    </a:solidFill>
                  </a:tcPr>
                </a:tc>
                <a:tc>
                  <a:txBody>
                    <a:bodyPr/>
                    <a:lstStyle/>
                    <a:p>
                      <a:pPr>
                        <a:spcAft>
                          <a:spcPts val="100"/>
                        </a:spcAft>
                        <a:defRPr sz="850" b="0">
                          <a:solidFill>
                            <a:srgbClr val="11151A"/>
                          </a:solidFill>
                          <a:latin typeface="Lato"/>
                        </a:defRPr>
                      </a:pPr>
                      <a:r>
                        <a:t>No published source sizes it; 20% would be about 0.47 bn litres; Road Accident Fund rebates cover 1.46 bn litres across all rebated sectors</a:t>
                      </a:r>
                    </a:p>
                  </a:txBody>
                  <a:tcPr marL="64008" marR="64008" marT="54864" marB="27432" anchor="t">
                    <a:lnL w="0">
                      <a:noFill/>
                    </a:lnL>
                    <a:lnR w="0">
                      <a:noFill/>
                    </a:lnR>
                    <a:lnT w="0">
                      <a:noFill/>
                    </a:lnT>
                    <a:lnB w="5080">
                      <a:solidFill>
                        <a:srgbClr val="B8B8B8"/>
                      </a:solidFill>
                    </a:lnB>
                    <a:solidFill>
                      <a:srgbClr val="FFFFFF"/>
                    </a:solidFill>
                  </a:tcPr>
                </a:tc>
                <a:tc>
                  <a:txBody>
                    <a:bodyPr/>
                    <a:lstStyle/>
                    <a:p>
                      <a:pPr>
                        <a:spcAft>
                          <a:spcPts val="100"/>
                        </a:spcAft>
                        <a:defRPr sz="850" b="0">
                          <a:solidFill>
                            <a:srgbClr val="11151A"/>
                          </a:solidFill>
                          <a:latin typeface="Lato"/>
                        </a:defRPr>
                      </a:pPr>
                      <a:r>
                        <a:t>None applied; ask SARS for refund data by sector</a:t>
                      </a:r>
                    </a:p>
                  </a:txBody>
                  <a:tcPr marL="64008" marR="64008" marT="54864" marB="27432" anchor="t">
                    <a:lnL w="0">
                      <a:noFill/>
                    </a:lnL>
                    <a:lnR w="0">
                      <a:noFill/>
                    </a:lnR>
                    <a:lnT w="0">
                      <a:noFill/>
                    </a:lnT>
                    <a:lnB w="5080">
                      <a:solidFill>
                        <a:srgbClr val="B8B8B8"/>
                      </a:solidFill>
                    </a:lnB>
                    <a:solidFill>
                      <a:srgbClr val="FFFFFF"/>
                    </a:solidFill>
                  </a:tcPr>
                </a:tc>
              </a:tr>
              <a:tr h="429768">
                <a:tc>
                  <a:txBody>
                    <a:bodyPr/>
                    <a:lstStyle/>
                    <a:p>
                      <a:pPr>
                        <a:spcAft>
                          <a:spcPts val="100"/>
                        </a:spcAft>
                        <a:defRPr sz="850" b="1">
                          <a:solidFill>
                            <a:srgbClr val="0A2373"/>
                          </a:solidFill>
                          <a:latin typeface="Lato"/>
                        </a:defRPr>
                      </a:pPr>
                      <a:r>
                        <a:t>D13  Whether ships' diesel sits inside the inland diesel total</a:t>
                      </a:r>
                    </a:p>
                  </a:txBody>
                  <a:tcPr marL="64008" marR="64008" marT="54864" marB="27432" anchor="t">
                    <a:lnL w="0">
                      <a:noFill/>
                    </a:lnL>
                    <a:lnR w="0">
                      <a:noFill/>
                    </a:lnR>
                    <a:lnT w="0">
                      <a:noFill/>
                    </a:lnT>
                    <a:lnB w="5080">
                      <a:solidFill>
                        <a:srgbClr val="B8B8B8"/>
                      </a:solidFill>
                    </a:lnB>
                    <a:solidFill>
                      <a:srgbClr val="FFFFFF"/>
                    </a:solidFill>
                  </a:tcPr>
                </a:tc>
                <a:tc>
                  <a:txBody>
                    <a:bodyPr/>
                    <a:lstStyle/>
                    <a:p>
                      <a:pPr>
                        <a:spcAft>
                          <a:spcPts val="100"/>
                        </a:spcAft>
                        <a:defRPr sz="850" b="0">
                          <a:solidFill>
                            <a:srgbClr val="11151A"/>
                          </a:solidFill>
                          <a:latin typeface="Lato"/>
                        </a:defRPr>
                      </a:pPr>
                      <a:r>
                        <a:t>Model carries 0.77 bn litres of marine gas oil; no observed figure</a:t>
                      </a:r>
                    </a:p>
                  </a:txBody>
                  <a:tcPr marL="64008" marR="64008" marT="54864" marB="27432" anchor="t">
                    <a:lnL w="0">
                      <a:noFill/>
                    </a:lnL>
                    <a:lnR w="0">
                      <a:noFill/>
                    </a:lnR>
                    <a:lnT w="0">
                      <a:noFill/>
                    </a:lnT>
                    <a:lnB w="5080">
                      <a:solidFill>
                        <a:srgbClr val="B8B8B8"/>
                      </a:solidFill>
                    </a:lnB>
                    <a:solidFill>
                      <a:srgbClr val="FFFFFF"/>
                    </a:solidFill>
                  </a:tcPr>
                </a:tc>
                <a:tc>
                  <a:txBody>
                    <a:bodyPr/>
                    <a:lstStyle/>
                    <a:p>
                      <a:pPr>
                        <a:spcAft>
                          <a:spcPts val="100"/>
                        </a:spcAft>
                        <a:defRPr sz="850" b="0">
                          <a:solidFill>
                            <a:srgbClr val="11151A"/>
                          </a:solidFill>
                          <a:latin typeface="Lato"/>
                        </a:defRPr>
                      </a:pPr>
                      <a:r>
                        <a:t>Decide scope before reconciling to sales</a:t>
                      </a:r>
                    </a:p>
                  </a:txBody>
                  <a:tcPr marL="64008" marR="64008" marT="54864" marB="27432" anchor="t">
                    <a:lnL w="0">
                      <a:noFill/>
                    </a:lnL>
                    <a:lnR w="0">
                      <a:noFill/>
                    </a:lnR>
                    <a:lnT w="0">
                      <a:noFill/>
                    </a:lnT>
                    <a:lnB w="5080">
                      <a:solidFill>
                        <a:srgbClr val="B8B8B8"/>
                      </a:solidFill>
                    </a:lnB>
                    <a:solidFill>
                      <a:srgbClr val="FFFFFF"/>
                    </a:solidFill>
                  </a:tcPr>
                </a:tc>
              </a:tr>
              <a:tr h="429768">
                <a:tc>
                  <a:txBody>
                    <a:bodyPr/>
                    <a:lstStyle/>
                    <a:p>
                      <a:pPr>
                        <a:spcAft>
                          <a:spcPts val="100"/>
                        </a:spcAft>
                        <a:defRPr sz="850" b="1">
                          <a:solidFill>
                            <a:srgbClr val="0A2373"/>
                          </a:solidFill>
                          <a:latin typeface="Lato"/>
                        </a:defRPr>
                      </a:pPr>
                      <a:r>
                        <a:t>D17  Send the data request to Vopak</a:t>
                      </a:r>
                    </a:p>
                  </a:txBody>
                  <a:tcPr marL="64008" marR="64008" marT="54864" marB="27432" anchor="t">
                    <a:lnL w="0">
                      <a:noFill/>
                    </a:lnL>
                    <a:lnR w="0">
                      <a:noFill/>
                    </a:lnR>
                    <a:lnT w="0">
                      <a:noFill/>
                    </a:lnT>
                    <a:lnB w="5080">
                      <a:solidFill>
                        <a:srgbClr val="B8B8B8"/>
                      </a:solidFill>
                    </a:lnB>
                    <a:solidFill>
                      <a:srgbClr val="FFFFFF"/>
                    </a:solidFill>
                  </a:tcPr>
                </a:tc>
                <a:tc>
                  <a:txBody>
                    <a:bodyPr/>
                    <a:lstStyle/>
                    <a:p>
                      <a:pPr>
                        <a:spcAft>
                          <a:spcPts val="100"/>
                        </a:spcAft>
                        <a:defRPr sz="850" b="0">
                          <a:solidFill>
                            <a:srgbClr val="11151A"/>
                          </a:solidFill>
                          <a:latin typeface="Lato"/>
                        </a:defRPr>
                      </a:pPr>
                      <a:r>
                        <a:t>Eight values marked to confirm with client; Vopak's website publishes no operating data</a:t>
                      </a:r>
                    </a:p>
                  </a:txBody>
                  <a:tcPr marL="64008" marR="64008" marT="54864" marB="27432" anchor="t">
                    <a:lnL w="0">
                      <a:noFill/>
                    </a:lnL>
                    <a:lnR w="0">
                      <a:noFill/>
                    </a:lnR>
                    <a:lnT w="0">
                      <a:noFill/>
                    </a:lnT>
                    <a:lnB w="5080">
                      <a:solidFill>
                        <a:srgbClr val="B8B8B8"/>
                      </a:solidFill>
                    </a:lnB>
                    <a:solidFill>
                      <a:srgbClr val="FFFFFF"/>
                    </a:solidFill>
                  </a:tcPr>
                </a:tc>
                <a:tc>
                  <a:txBody>
                    <a:bodyPr/>
                    <a:lstStyle/>
                    <a:p>
                      <a:pPr>
                        <a:spcAft>
                          <a:spcPts val="100"/>
                        </a:spcAft>
                        <a:defRPr sz="850" b="0">
                          <a:solidFill>
                            <a:srgbClr val="11151A"/>
                          </a:solidFill>
                          <a:latin typeface="Lato"/>
                        </a:defRPr>
                      </a:pPr>
                      <a:r>
                        <a:t>Send now</a:t>
                      </a:r>
                    </a:p>
                  </a:txBody>
                  <a:tcPr marL="64008" marR="64008" marT="54864" marB="27432" anchor="t">
                    <a:lnL w="0">
                      <a:noFill/>
                    </a:lnL>
                    <a:lnR w="0">
                      <a:noFill/>
                    </a:lnR>
                    <a:lnT w="0">
                      <a:noFill/>
                    </a:lnT>
                    <a:lnB w="5080">
                      <a:solidFill>
                        <a:srgbClr val="B8B8B8"/>
                      </a:solidFill>
                    </a:lnB>
                    <a:solidFill>
                      <a:srgbClr val="FFFFFF"/>
                    </a:solidFill>
                  </a:tcPr>
                </a:tc>
              </a:tr>
              <a:tr h="429768">
                <a:tc>
                  <a:txBody>
                    <a:bodyPr/>
                    <a:lstStyle/>
                    <a:p>
                      <a:pPr>
                        <a:spcAft>
                          <a:spcPts val="100"/>
                        </a:spcAft>
                        <a:defRPr sz="850" b="1">
                          <a:solidFill>
                            <a:srgbClr val="0A2373"/>
                          </a:solidFill>
                          <a:latin typeface="Lato"/>
                        </a:defRPr>
                      </a:pPr>
                      <a:r>
                        <a:t>D21  Marine baseline elasticities and road parameters</a:t>
                      </a:r>
                    </a:p>
                  </a:txBody>
                  <a:tcPr marL="64008" marR="64008" marT="54864" marB="27432" anchor="t">
                    <a:lnL w="0">
                      <a:noFill/>
                    </a:lnL>
                    <a:lnR w="0">
                      <a:noFill/>
                    </a:lnR>
                    <a:lnT w="0">
                      <a:noFill/>
                    </a:lnT>
                    <a:lnB w="5080">
                      <a:solidFill>
                        <a:srgbClr val="B8B8B8"/>
                      </a:solidFill>
                    </a:lnB>
                    <a:solidFill>
                      <a:srgbClr val="FFFFFF"/>
                    </a:solidFill>
                  </a:tcPr>
                </a:tc>
                <a:tc>
                  <a:txBody>
                    <a:bodyPr/>
                    <a:lstStyle/>
                    <a:p>
                      <a:pPr>
                        <a:spcAft>
                          <a:spcPts val="100"/>
                        </a:spcAft>
                        <a:defRPr sz="850" b="0">
                          <a:solidFill>
                            <a:srgbClr val="11151A"/>
                          </a:solidFill>
                          <a:latin typeface="Lato"/>
                        </a:defRPr>
                      </a:pPr>
                      <a:r>
                        <a:t>Carried over from 6 October; no new evidence</a:t>
                      </a:r>
                    </a:p>
                  </a:txBody>
                  <a:tcPr marL="64008" marR="64008" marT="54864" marB="27432" anchor="t">
                    <a:lnL w="0">
                      <a:noFill/>
                    </a:lnL>
                    <a:lnR w="0">
                      <a:noFill/>
                    </a:lnR>
                    <a:lnT w="0">
                      <a:noFill/>
                    </a:lnT>
                    <a:lnB w="5080">
                      <a:solidFill>
                        <a:srgbClr val="B8B8B8"/>
                      </a:solidFill>
                    </a:lnB>
                    <a:solidFill>
                      <a:srgbClr val="FFFFFF"/>
                    </a:solidFill>
                  </a:tcPr>
                </a:tc>
                <a:tc>
                  <a:txBody>
                    <a:bodyPr/>
                    <a:lstStyle/>
                    <a:p>
                      <a:pPr>
                        <a:spcAft>
                          <a:spcPts val="100"/>
                        </a:spcAft>
                        <a:defRPr sz="850" b="0">
                          <a:solidFill>
                            <a:srgbClr val="11151A"/>
                          </a:solidFill>
                          <a:latin typeface="Lato"/>
                        </a:defRPr>
                      </a:pPr>
                      <a:r>
                        <a:t>Unchanged</a:t>
                      </a:r>
                    </a:p>
                  </a:txBody>
                  <a:tcPr marL="64008" marR="64008" marT="54864" marB="27432" anchor="t">
                    <a:lnL w="0">
                      <a:noFill/>
                    </a:lnL>
                    <a:lnR w="0">
                      <a:noFill/>
                    </a:lnR>
                    <a:lnT w="0">
                      <a:noFill/>
                    </a:lnT>
                    <a:lnB w="5080">
                      <a:solidFill>
                        <a:srgbClr val="B8B8B8"/>
                      </a:solidFill>
                    </a:lnB>
                    <a:solidFill>
                      <a:srgbClr val="FFFFFF"/>
                    </a:solidFill>
                  </a:tcPr>
                </a:tc>
              </a:tr>
            </a:tbl>
          </a:graphicData>
        </a:graphic>
      </p:graphicFrame>
      <p:sp>
        <p:nvSpPr>
          <p:cNvPr id="8" name="Chevron 7">
            <a:hlinkClick action="ppaction://hlinksldjump" r:id="rId2"/>
          </p:cNvPr>
          <p:cNvSpPr/>
          <p:nvPr/>
        </p:nvSpPr>
        <p:spPr>
          <a:xfrm>
            <a:off x="457200" y="73152"/>
            <a:ext cx="2075688" cy="384048"/>
          </a:xfrm>
          <a:prstGeom prst="chevron">
            <a:avLst>
              <a:gd name="adj" fmla="val 12000"/>
            </a:avLst>
          </a:pr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tIns="0" bIns="0"/>
          <a:lstStyle/>
          <a:p>
            <a:pPr algn="ctr">
              <a:defRPr sz="1100" b="0">
                <a:solidFill>
                  <a:srgbClr val="0A2373"/>
                </a:solidFill>
                <a:latin typeface="Lato"/>
              </a:defRPr>
            </a:pPr>
            <a:r>
              <a:t>1  National balance</a:t>
            </a:r>
          </a:p>
        </p:txBody>
      </p:sp>
      <p:sp>
        <p:nvSpPr>
          <p:cNvPr id="9" name="Chevron 8">
            <a:hlinkClick action="ppaction://hlinksldjump" r:id="rId3"/>
          </p:cNvPr>
          <p:cNvSpPr/>
          <p:nvPr/>
        </p:nvSpPr>
        <p:spPr>
          <a:xfrm>
            <a:off x="2587752" y="73152"/>
            <a:ext cx="2075688" cy="384048"/>
          </a:xfrm>
          <a:prstGeom prst="chevron">
            <a:avLst>
              <a:gd name="adj" fmla="val 12000"/>
            </a:avLst>
          </a:pr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tIns="0" bIns="0"/>
          <a:lstStyle/>
          <a:p>
            <a:pPr algn="ctr">
              <a:defRPr sz="1100" b="0">
                <a:solidFill>
                  <a:srgbClr val="0A2373"/>
                </a:solidFill>
                <a:latin typeface="Lato"/>
              </a:defRPr>
            </a:pPr>
            <a:r>
              <a:t>2  Forecast levers</a:t>
            </a:r>
          </a:p>
        </p:txBody>
      </p:sp>
      <p:sp>
        <p:nvSpPr>
          <p:cNvPr id="10" name="Chevron 9">
            <a:hlinkClick action="ppaction://hlinksldjump" r:id="rId4"/>
          </p:cNvPr>
          <p:cNvSpPr/>
          <p:nvPr/>
        </p:nvSpPr>
        <p:spPr>
          <a:xfrm>
            <a:off x="4718304" y="73152"/>
            <a:ext cx="2075688" cy="384048"/>
          </a:xfrm>
          <a:prstGeom prst="chevron">
            <a:avLst>
              <a:gd name="adj" fmla="val 12000"/>
            </a:avLst>
          </a:pr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tIns="0" bIns="0"/>
          <a:lstStyle/>
          <a:p>
            <a:pPr algn="ctr">
              <a:defRPr sz="1100" b="0">
                <a:solidFill>
                  <a:srgbClr val="0A2373"/>
                </a:solidFill>
                <a:latin typeface="Lato"/>
              </a:defRPr>
            </a:pPr>
            <a:r>
              <a:t>3  Sector baselines</a:t>
            </a:r>
          </a:p>
        </p:txBody>
      </p:sp>
      <p:sp>
        <p:nvSpPr>
          <p:cNvPr id="11" name="Chevron 10">
            <a:hlinkClick action="ppaction://hlinksldjump" r:id="rId5"/>
          </p:cNvPr>
          <p:cNvSpPr/>
          <p:nvPr/>
        </p:nvSpPr>
        <p:spPr>
          <a:xfrm>
            <a:off x="6848856" y="73152"/>
            <a:ext cx="2075688" cy="384048"/>
          </a:xfrm>
          <a:prstGeom prst="chevron">
            <a:avLst>
              <a:gd name="adj" fmla="val 12000"/>
            </a:avLst>
          </a:pr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tIns="0" bIns="0"/>
          <a:lstStyle/>
          <a:p>
            <a:pPr algn="ctr">
              <a:defRPr sz="1100" b="0">
                <a:solidFill>
                  <a:srgbClr val="0A2373"/>
                </a:solidFill>
                <a:latin typeface="Lato"/>
              </a:defRPr>
            </a:pPr>
            <a:r>
              <a:t>4  Tank handling</a:t>
            </a:r>
          </a:p>
        </p:txBody>
      </p:sp>
      <p:sp>
        <p:nvSpPr>
          <p:cNvPr id="12" name="Chevron 11">
            <a:hlinkClick action="ppaction://hlinksldjump" r:id="rId6"/>
          </p:cNvPr>
          <p:cNvSpPr/>
          <p:nvPr/>
        </p:nvSpPr>
        <p:spPr>
          <a:xfrm>
            <a:off x="8979408" y="73152"/>
            <a:ext cx="2075688" cy="384048"/>
          </a:xfrm>
          <a:prstGeom prst="chevron">
            <a:avLst>
              <a:gd name="adj" fmla="val 12000"/>
            </a:avLst>
          </a:pr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tIns="0" bIns="0"/>
          <a:lstStyle/>
          <a:p>
            <a:pPr algn="ctr">
              <a:defRPr sz="1100" b="1">
                <a:solidFill>
                  <a:srgbClr val="FFFFFF"/>
                </a:solidFill>
                <a:latin typeface="Lato"/>
              </a:defRPr>
            </a:pPr>
            <a:r>
              <a:t>5  Hand-back</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The workshop workbook now carries sourced history from 2012 and labelled provincial estimates</a:t>
            </a:r>
          </a:p>
        </p:txBody>
      </p:sp>
      <p:sp>
        <p:nvSpPr>
          <p:cNvPr id="3" name="TextBox 2"/>
          <p:cNvSpPr txBox="1"/>
          <p:nvPr/>
        </p:nvSpPr>
        <p:spPr>
          <a:xfrm>
            <a:off x="457200" y="1627632"/>
            <a:ext cx="10652760" cy="274320"/>
          </a:xfrm>
          <a:prstGeom prst="rect">
            <a:avLst/>
          </a:prstGeom>
          <a:noFill/>
        </p:spPr>
        <p:txBody>
          <a:bodyPr wrap="square" lIns="22860" rIns="22860" tIns="0" bIns="0">
            <a:spAutoFit/>
          </a:bodyPr>
          <a:lstStyle/>
          <a:p>
            <a:pPr>
              <a:spcAft>
                <a:spcPts val="300"/>
              </a:spcAft>
              <a:defRPr sz="1300" b="1">
                <a:solidFill>
                  <a:srgbClr val="11151A"/>
                </a:solidFill>
                <a:latin typeface="Lato"/>
              </a:defRPr>
            </a:pPr>
            <a:r>
              <a:t>Demand_baseline_workshop_2026_10_08_history.xlsx | built by one command | Nigel's sheets unchanged</a:t>
            </a:r>
          </a:p>
        </p:txBody>
      </p:sp>
      <p:cxnSp>
        <p:nvCxnSpPr>
          <p:cNvPr id="4" name="Connector 3"/>
          <p:cNvCxnSpPr/>
          <p:nvPr/>
        </p:nvCxnSpPr>
        <p:spPr>
          <a:xfrm>
            <a:off x="457200" y="1920240"/>
            <a:ext cx="10652760" cy="0"/>
          </a:xfrm>
          <a:prstGeom prst="line">
            <a:avLst/>
          </a:prstGeom>
          <a:ln w="7620">
            <a:solidFill>
              <a:srgbClr val="A0A0A0"/>
            </a:solidFill>
          </a:ln>
        </p:spPr>
        <p:style>
          <a:lnRef idx="2">
            <a:schemeClr val="accent1"/>
          </a:lnRef>
          <a:fillRef idx="0">
            <a:schemeClr val="accent1"/>
          </a:fillRef>
          <a:effectRef idx="1">
            <a:schemeClr val="accent1"/>
          </a:effectRef>
          <a:fontRef idx="minor">
            <a:schemeClr val="tx1"/>
          </a:fontRef>
        </p:style>
      </p:cxnSp>
      <p:sp>
        <p:nvSpPr>
          <p:cNvPr id="5" name="TextBox 4"/>
          <p:cNvSpPr txBox="1"/>
          <p:nvPr/>
        </p:nvSpPr>
        <p:spPr>
          <a:xfrm>
            <a:off x="457200" y="6547104"/>
            <a:ext cx="9692640" cy="182880"/>
          </a:xfrm>
          <a:prstGeom prst="rect">
            <a:avLst/>
          </a:prstGeom>
          <a:noFill/>
        </p:spPr>
        <p:txBody>
          <a:bodyPr wrap="square" lIns="22860" rIns="22860" tIns="0" bIns="0">
            <a:spAutoFit/>
          </a:bodyPr>
          <a:lstStyle/>
          <a:p>
            <a:pPr>
              <a:spcAft>
                <a:spcPts val="300"/>
              </a:spcAft>
              <a:defRPr sz="800" b="0">
                <a:solidFill>
                  <a:srgbClr val="11151A"/>
                </a:solidFill>
                <a:latin typeface="Lato"/>
              </a:defRPr>
            </a:pPr>
            <a:r>
              <a:t>Source: manish_handback_2026-10-07.md and manish_decision_log_2026-10-07.csv on manish-branch. Statuses are the analyst's; nothing is accepted until Nigel decides.</a:t>
            </a:r>
          </a:p>
        </p:txBody>
      </p:sp>
      <p:sp>
        <p:nvSpPr>
          <p:cNvPr id="6" name="TextBox 5"/>
          <p:cNvSpPr txBox="1"/>
          <p:nvPr/>
        </p:nvSpPr>
        <p:spPr>
          <a:xfrm>
            <a:off x="457200" y="6711696"/>
            <a:ext cx="2011680" cy="128016"/>
          </a:xfrm>
          <a:prstGeom prst="rect">
            <a:avLst/>
          </a:prstGeom>
          <a:noFill/>
        </p:spPr>
        <p:txBody>
          <a:bodyPr wrap="square" lIns="22860" rIns="22860" tIns="0" bIns="0">
            <a:spAutoFit/>
          </a:bodyPr>
          <a:lstStyle/>
          <a:p>
            <a:pPr>
              <a:spcAft>
                <a:spcPts val="300"/>
              </a:spcAft>
              <a:defRPr sz="700" b="0">
                <a:solidFill>
                  <a:srgbClr val="11151A"/>
                </a:solidFill>
                <a:latin typeface="Lato"/>
              </a:defRPr>
            </a:pPr>
            <a:r>
              <a:t>Strictly Confidential</a:t>
            </a:r>
          </a:p>
        </p:txBody>
      </p:sp>
      <p:graphicFrame>
        <p:nvGraphicFramePr>
          <p:cNvPr id="7" name="Table 6"/>
          <p:cNvGraphicFramePr>
            <a:graphicFrameLocks noGrp="1"/>
          </p:cNvGraphicFramePr>
          <p:nvPr/>
        </p:nvGraphicFramePr>
        <p:xfrm>
          <a:off x="457200" y="2029968"/>
          <a:ext cx="10652760" cy="3657600"/>
        </p:xfrm>
        <a:graphic>
          <a:graphicData uri="http://schemas.openxmlformats.org/drawingml/2006/table">
            <a:tbl>
              <a:tblPr firstRow="0" bandRow="0"/>
              <a:tblGrid>
                <a:gridCol w="1828800"/>
                <a:gridCol w="4663440"/>
                <a:gridCol w="4160520"/>
              </a:tblGrid>
              <a:tr h="522514">
                <a:tc>
                  <a:txBody>
                    <a:bodyPr/>
                    <a:lstStyle/>
                    <a:p>
                      <a:pPr>
                        <a:spcAft>
                          <a:spcPts val="100"/>
                        </a:spcAft>
                        <a:defRPr sz="950" b="1">
                          <a:solidFill>
                            <a:srgbClr val="0A2373"/>
                          </a:solidFill>
                          <a:latin typeface="Lato"/>
                        </a:defRPr>
                      </a:pPr>
                      <a:r>
                        <a:t>Sheet added</a:t>
                      </a:r>
                    </a:p>
                  </a:txBody>
                  <a:tcPr marL="64008" marR="64008" marT="54864" marB="27432" anchor="t">
                    <a:lnL w="0">
                      <a:noFill/>
                    </a:lnL>
                    <a:lnR w="0">
                      <a:noFill/>
                    </a:lnR>
                    <a:lnT w="0">
                      <a:noFill/>
                    </a:lnT>
                    <a:lnB w="5080">
                      <a:solidFill>
                        <a:srgbClr val="B8B8B8"/>
                      </a:solidFill>
                    </a:lnB>
                    <a:solidFill>
                      <a:srgbClr val="FFFFFF"/>
                    </a:solidFill>
                  </a:tcPr>
                </a:tc>
                <a:tc>
                  <a:txBody>
                    <a:bodyPr/>
                    <a:lstStyle/>
                    <a:p>
                      <a:pPr>
                        <a:spcAft>
                          <a:spcPts val="100"/>
                        </a:spcAft>
                        <a:defRPr sz="950" b="1">
                          <a:solidFill>
                            <a:srgbClr val="11151A"/>
                          </a:solidFill>
                          <a:latin typeface="Lato"/>
                        </a:defRPr>
                      </a:pPr>
                      <a:r>
                        <a:t>What it holds</a:t>
                      </a:r>
                    </a:p>
                  </a:txBody>
                  <a:tcPr marL="64008" marR="64008" marT="54864" marB="27432" anchor="t">
                    <a:lnL w="0">
                      <a:noFill/>
                    </a:lnL>
                    <a:lnR w="0">
                      <a:noFill/>
                    </a:lnR>
                    <a:lnT w="0">
                      <a:noFill/>
                    </a:lnT>
                    <a:lnB w="5080">
                      <a:solidFill>
                        <a:srgbClr val="B8B8B8"/>
                      </a:solidFill>
                    </a:lnB>
                    <a:solidFill>
                      <a:srgbClr val="FFFFFF"/>
                    </a:solidFill>
                  </a:tcPr>
                </a:tc>
                <a:tc>
                  <a:txBody>
                    <a:bodyPr/>
                    <a:lstStyle/>
                    <a:p>
                      <a:pPr>
                        <a:spcAft>
                          <a:spcPts val="100"/>
                        </a:spcAft>
                        <a:defRPr sz="950" b="1">
                          <a:solidFill>
                            <a:srgbClr val="11151A"/>
                          </a:solidFill>
                          <a:latin typeface="Lato"/>
                        </a:defRPr>
                      </a:pPr>
                      <a:r>
                        <a:t>What it shows</a:t>
                      </a:r>
                    </a:p>
                  </a:txBody>
                  <a:tcPr marL="64008" marR="64008" marT="54864" marB="27432" anchor="t">
                    <a:lnL w="0">
                      <a:noFill/>
                    </a:lnL>
                    <a:lnR w="0">
                      <a:noFill/>
                    </a:lnR>
                    <a:lnT w="0">
                      <a:noFill/>
                    </a:lnT>
                    <a:lnB w="5080">
                      <a:solidFill>
                        <a:srgbClr val="B8B8B8"/>
                      </a:solidFill>
                    </a:lnB>
                    <a:solidFill>
                      <a:srgbClr val="FFFFFF"/>
                    </a:solidFill>
                  </a:tcPr>
                </a:tc>
              </a:tr>
              <a:tr h="522514">
                <a:tc>
                  <a:txBody>
                    <a:bodyPr/>
                    <a:lstStyle/>
                    <a:p>
                      <a:pPr>
                        <a:spcAft>
                          <a:spcPts val="100"/>
                        </a:spcAft>
                        <a:defRPr sz="950" b="1">
                          <a:solidFill>
                            <a:srgbClr val="0A2373"/>
                          </a:solidFill>
                          <a:latin typeface="Lato"/>
                        </a:defRPr>
                      </a:pPr>
                      <a:r>
                        <a:t>History</a:t>
                      </a:r>
                    </a:p>
                  </a:txBody>
                  <a:tcPr marL="64008" marR="64008" marT="54864" marB="27432" anchor="t">
                    <a:lnL w="0">
                      <a:noFill/>
                    </a:lnL>
                    <a:lnR w="0">
                      <a:noFill/>
                    </a:lnR>
                    <a:lnT w="0">
                      <a:noFill/>
                    </a:lnT>
                    <a:lnB w="5080">
                      <a:solidFill>
                        <a:srgbClr val="B8B8B8"/>
                      </a:solidFill>
                    </a:lnB>
                    <a:solidFill>
                      <a:srgbClr val="FFFFFF"/>
                    </a:solidFill>
                  </a:tcPr>
                </a:tc>
                <a:tc>
                  <a:txBody>
                    <a:bodyPr/>
                    <a:lstStyle/>
                    <a:p>
                      <a:pPr>
                        <a:spcAft>
                          <a:spcPts val="100"/>
                        </a:spcAft>
                        <a:defRPr sz="950" b="0">
                          <a:solidFill>
                            <a:srgbClr val="11151A"/>
                          </a:solidFill>
                          <a:latin typeface="Lato"/>
                        </a:defRPr>
                      </a:pPr>
                      <a:r>
                        <a:t>Department sales by province, customs imports and exports, refinery production, the balance and the Road Accident Fund count, 2012-2025; totals and balances are formulas</a:t>
                      </a:r>
                    </a:p>
                  </a:txBody>
                  <a:tcPr marL="64008" marR="64008" marT="54864" marB="27432" anchor="t">
                    <a:lnL w="0">
                      <a:noFill/>
                    </a:lnL>
                    <a:lnR w="0">
                      <a:noFill/>
                    </a:lnR>
                    <a:lnT w="0">
                      <a:noFill/>
                    </a:lnT>
                    <a:lnB w="5080">
                      <a:solidFill>
                        <a:srgbClr val="B8B8B8"/>
                      </a:solidFill>
                    </a:lnB>
                    <a:solidFill>
                      <a:srgbClr val="FFFFFF"/>
                    </a:solidFill>
                  </a:tcPr>
                </a:tc>
                <a:tc>
                  <a:txBody>
                    <a:bodyPr/>
                    <a:lstStyle/>
                    <a:p>
                      <a:pPr>
                        <a:spcAft>
                          <a:spcPts val="100"/>
                        </a:spcAft>
                        <a:defRPr sz="950" b="0">
                          <a:solidFill>
                            <a:srgbClr val="11151A"/>
                          </a:solidFill>
                          <a:latin typeface="Lato"/>
                        </a:defRPr>
                      </a:pPr>
                      <a:r>
                        <a:t>Net imports of petrol and diesel rose from 3.7 bn litres (2014) to 15.7 bn (2022). Production by product stops at 2021</a:t>
                      </a:r>
                    </a:p>
                  </a:txBody>
                  <a:tcPr marL="64008" marR="64008" marT="54864" marB="27432" anchor="t">
                    <a:lnL w="0">
                      <a:noFill/>
                    </a:lnL>
                    <a:lnR w="0">
                      <a:noFill/>
                    </a:lnR>
                    <a:lnT w="0">
                      <a:noFill/>
                    </a:lnT>
                    <a:lnB w="5080">
                      <a:solidFill>
                        <a:srgbClr val="B8B8B8"/>
                      </a:solidFill>
                    </a:lnB>
                    <a:solidFill>
                      <a:srgbClr val="FFFFFF"/>
                    </a:solidFill>
                  </a:tcPr>
                </a:tc>
              </a:tr>
              <a:tr h="522514">
                <a:tc>
                  <a:txBody>
                    <a:bodyPr/>
                    <a:lstStyle/>
                    <a:p>
                      <a:pPr>
                        <a:spcAft>
                          <a:spcPts val="100"/>
                        </a:spcAft>
                        <a:defRPr sz="950" b="1">
                          <a:solidFill>
                            <a:srgbClr val="0A2373"/>
                          </a:solidFill>
                          <a:latin typeface="Lato"/>
                        </a:defRPr>
                      </a:pPr>
                      <a:r>
                        <a:t>History, section 6</a:t>
                      </a:r>
                    </a:p>
                  </a:txBody>
                  <a:tcPr marL="64008" marR="64008" marT="54864" marB="27432" anchor="t">
                    <a:lnL w="0">
                      <a:noFill/>
                    </a:lnL>
                    <a:lnR w="0">
                      <a:noFill/>
                    </a:lnR>
                    <a:lnT w="0">
                      <a:noFill/>
                    </a:lnT>
                    <a:lnB w="5080">
                      <a:solidFill>
                        <a:srgbClr val="B8B8B8"/>
                      </a:solidFill>
                    </a:lnB>
                    <a:solidFill>
                      <a:srgbClr val="FFFFFF"/>
                    </a:solidFill>
                  </a:tcPr>
                </a:tc>
                <a:tc>
                  <a:txBody>
                    <a:bodyPr/>
                    <a:lstStyle/>
                    <a:p>
                      <a:pPr>
                        <a:spcAft>
                          <a:spcPts val="100"/>
                        </a:spcAft>
                        <a:defRPr sz="950" b="0">
                          <a:solidFill>
                            <a:srgbClr val="11151A"/>
                          </a:solidFill>
                          <a:latin typeface="Lato"/>
                        </a:defRPr>
                      </a:pPr>
                      <a:r>
                        <a:t>Estimated provincial shares and volumes for 2023-2025, kept apart from observed rows</a:t>
                      </a:r>
                    </a:p>
                  </a:txBody>
                  <a:tcPr marL="64008" marR="64008" marT="54864" marB="27432" anchor="t">
                    <a:lnL w="0">
                      <a:noFill/>
                    </a:lnL>
                    <a:lnR w="0">
                      <a:noFill/>
                    </a:lnR>
                    <a:lnT w="0">
                      <a:noFill/>
                    </a:lnT>
                    <a:lnB w="5080">
                      <a:solidFill>
                        <a:srgbClr val="B8B8B8"/>
                      </a:solidFill>
                    </a:lnB>
                    <a:solidFill>
                      <a:srgbClr val="FFFFFF"/>
                    </a:solidFill>
                  </a:tcPr>
                </a:tc>
                <a:tc>
                  <a:txBody>
                    <a:bodyPr/>
                    <a:lstStyle/>
                    <a:p>
                      <a:pPr>
                        <a:spcAft>
                          <a:spcPts val="100"/>
                        </a:spcAft>
                        <a:defRPr sz="950" b="0">
                          <a:solidFill>
                            <a:srgbClr val="11151A"/>
                          </a:solidFill>
                          <a:latin typeface="Lato"/>
                        </a:defRPr>
                      </a:pPr>
                      <a:r>
                        <a:t>Quarter 1 2023 shares are the best of six methods tested: 2.5 share points misallocated for petrol, 5.3 for diesel</a:t>
                      </a:r>
                    </a:p>
                  </a:txBody>
                  <a:tcPr marL="64008" marR="64008" marT="54864" marB="27432" anchor="t">
                    <a:lnL w="0">
                      <a:noFill/>
                    </a:lnL>
                    <a:lnR w="0">
                      <a:noFill/>
                    </a:lnR>
                    <a:lnT w="0">
                      <a:noFill/>
                    </a:lnT>
                    <a:lnB w="5080">
                      <a:solidFill>
                        <a:srgbClr val="B8B8B8"/>
                      </a:solidFill>
                    </a:lnB>
                    <a:solidFill>
                      <a:srgbClr val="FFFFFF"/>
                    </a:solidFill>
                  </a:tcPr>
                </a:tc>
              </a:tr>
              <a:tr h="522514">
                <a:tc>
                  <a:txBody>
                    <a:bodyPr/>
                    <a:lstStyle/>
                    <a:p>
                      <a:pPr>
                        <a:spcAft>
                          <a:spcPts val="100"/>
                        </a:spcAft>
                        <a:defRPr sz="950" b="1">
                          <a:solidFill>
                            <a:srgbClr val="0A2373"/>
                          </a:solidFill>
                          <a:latin typeface="Lato"/>
                        </a:defRPr>
                      </a:pPr>
                      <a:r>
                        <a:t>Sector history</a:t>
                      </a:r>
                    </a:p>
                  </a:txBody>
                  <a:tcPr marL="64008" marR="64008" marT="54864" marB="27432" anchor="t">
                    <a:lnL w="0">
                      <a:noFill/>
                    </a:lnL>
                    <a:lnR w="0">
                      <a:noFill/>
                    </a:lnR>
                    <a:lnT w="0">
                      <a:noFill/>
                    </a:lnT>
                    <a:lnB w="5080">
                      <a:solidFill>
                        <a:srgbClr val="B8B8B8"/>
                      </a:solidFill>
                    </a:lnB>
                    <a:solidFill>
                      <a:srgbClr val="FFFFFF"/>
                    </a:solidFill>
                  </a:tcPr>
                </a:tc>
                <a:tc>
                  <a:txBody>
                    <a:bodyPr/>
                    <a:lstStyle/>
                    <a:p>
                      <a:pPr>
                        <a:spcAft>
                          <a:spcPts val="100"/>
                        </a:spcAft>
                        <a:defRPr sz="950" b="0">
                          <a:solidFill>
                            <a:srgbClr val="11151A"/>
                          </a:solidFill>
                          <a:latin typeface="Lato"/>
                        </a:defRPr>
                      </a:pPr>
                      <a:r>
                        <a:t>Mining, manufacturing and agriculture diesel beside their activity measures, with litres per unit of activity</a:t>
                      </a:r>
                    </a:p>
                  </a:txBody>
                  <a:tcPr marL="64008" marR="64008" marT="54864" marB="27432" anchor="t">
                    <a:lnL w="0">
                      <a:noFill/>
                    </a:lnL>
                    <a:lnR w="0">
                      <a:noFill/>
                    </a:lnR>
                    <a:lnT w="0">
                      <a:noFill/>
                    </a:lnT>
                    <a:lnB w="5080">
                      <a:solidFill>
                        <a:srgbClr val="B8B8B8"/>
                      </a:solidFill>
                    </a:lnB>
                    <a:solidFill>
                      <a:srgbClr val="FFFFFF"/>
                    </a:solidFill>
                  </a:tcPr>
                </a:tc>
                <a:tc>
                  <a:txBody>
                    <a:bodyPr/>
                    <a:lstStyle/>
                    <a:p>
                      <a:pPr>
                        <a:spcAft>
                          <a:spcPts val="100"/>
                        </a:spcAft>
                        <a:defRPr sz="950" b="0">
                          <a:solidFill>
                            <a:srgbClr val="11151A"/>
                          </a:solidFill>
                          <a:latin typeface="Lato"/>
                        </a:defRPr>
                      </a:pPr>
                      <a:r>
                        <a:t>Mining swings between 11 and 17 million litres per index point; indicative 2024: mining 1.40, agriculture 0.96 bn litres</a:t>
                      </a:r>
                    </a:p>
                  </a:txBody>
                  <a:tcPr marL="64008" marR="64008" marT="54864" marB="27432" anchor="t">
                    <a:lnL w="0">
                      <a:noFill/>
                    </a:lnL>
                    <a:lnR w="0">
                      <a:noFill/>
                    </a:lnR>
                    <a:lnT w="0">
                      <a:noFill/>
                    </a:lnT>
                    <a:lnB w="5080">
                      <a:solidFill>
                        <a:srgbClr val="B8B8B8"/>
                      </a:solidFill>
                    </a:lnB>
                    <a:solidFill>
                      <a:srgbClr val="FFFFFF"/>
                    </a:solidFill>
                  </a:tcPr>
                </a:tc>
              </a:tr>
              <a:tr h="522514">
                <a:tc>
                  <a:txBody>
                    <a:bodyPr/>
                    <a:lstStyle/>
                    <a:p>
                      <a:pPr>
                        <a:spcAft>
                          <a:spcPts val="100"/>
                        </a:spcAft>
                        <a:defRPr sz="950" b="1">
                          <a:solidFill>
                            <a:srgbClr val="0A2373"/>
                          </a:solidFill>
                          <a:latin typeface="Lato"/>
                        </a:defRPr>
                      </a:pPr>
                      <a:r>
                        <a:t>Vehicle history</a:t>
                      </a:r>
                    </a:p>
                  </a:txBody>
                  <a:tcPr marL="64008" marR="64008" marT="54864" marB="27432" anchor="t">
                    <a:lnL w="0">
                      <a:noFill/>
                    </a:lnL>
                    <a:lnR w="0">
                      <a:noFill/>
                    </a:lnR>
                    <a:lnT w="0">
                      <a:noFill/>
                    </a:lnT>
                    <a:lnB w="5080">
                      <a:solidFill>
                        <a:srgbClr val="B8B8B8"/>
                      </a:solidFill>
                    </a:lnB>
                    <a:solidFill>
                      <a:srgbClr val="FFFFFF"/>
                    </a:solidFill>
                  </a:tcPr>
                </a:tc>
                <a:tc>
                  <a:txBody>
                    <a:bodyPr/>
                    <a:lstStyle/>
                    <a:p>
                      <a:pPr>
                        <a:spcAft>
                          <a:spcPts val="100"/>
                        </a:spcAft>
                        <a:defRPr sz="950" b="0">
                          <a:solidFill>
                            <a:srgbClr val="11151A"/>
                          </a:solidFill>
                          <a:latin typeface="Lato"/>
                        </a:defRPr>
                      </a:pPr>
                      <a:r>
                        <a:t>Registered vehicles, new sales, retirements, drivetrain and fuel split beside the model's settings</a:t>
                      </a:r>
                    </a:p>
                  </a:txBody>
                  <a:tcPr marL="64008" marR="64008" marT="54864" marB="27432" anchor="t">
                    <a:lnL w="0">
                      <a:noFill/>
                    </a:lnL>
                    <a:lnR w="0">
                      <a:noFill/>
                    </a:lnR>
                    <a:lnT w="0">
                      <a:noFill/>
                    </a:lnT>
                    <a:lnB w="5080">
                      <a:solidFill>
                        <a:srgbClr val="B8B8B8"/>
                      </a:solidFill>
                    </a:lnB>
                    <a:solidFill>
                      <a:srgbClr val="FFFFFF"/>
                    </a:solidFill>
                  </a:tcPr>
                </a:tc>
                <a:tc>
                  <a:txBody>
                    <a:bodyPr/>
                    <a:lstStyle/>
                    <a:p>
                      <a:pPr>
                        <a:spcAft>
                          <a:spcPts val="100"/>
                        </a:spcAft>
                        <a:defRPr sz="950" b="0">
                          <a:solidFill>
                            <a:srgbClr val="11151A"/>
                          </a:solidFill>
                          <a:latin typeface="Lato"/>
                        </a:defRPr>
                      </a:pPr>
                      <a:r>
                        <a:t>Cars are 65-71% of new sales against 78% in the model; petrol per vehicle is 1,056 litres against 1,615 implied</a:t>
                      </a:r>
                    </a:p>
                  </a:txBody>
                  <a:tcPr marL="64008" marR="64008" marT="54864" marB="27432" anchor="t">
                    <a:lnL w="0">
                      <a:noFill/>
                    </a:lnL>
                    <a:lnR w="0">
                      <a:noFill/>
                    </a:lnR>
                    <a:lnT w="0">
                      <a:noFill/>
                    </a:lnT>
                    <a:lnB w="5080">
                      <a:solidFill>
                        <a:srgbClr val="B8B8B8"/>
                      </a:solidFill>
                    </a:lnB>
                    <a:solidFill>
                      <a:srgbClr val="FFFFFF"/>
                    </a:solidFill>
                  </a:tcPr>
                </a:tc>
              </a:tr>
              <a:tr h="522514">
                <a:tc>
                  <a:txBody>
                    <a:bodyPr/>
                    <a:lstStyle/>
                    <a:p>
                      <a:pPr>
                        <a:spcAft>
                          <a:spcPts val="100"/>
                        </a:spcAft>
                        <a:defRPr sz="950" b="1">
                          <a:solidFill>
                            <a:srgbClr val="0A2373"/>
                          </a:solidFill>
                          <a:latin typeface="Lato"/>
                        </a:defRPr>
                      </a:pPr>
                      <a:r>
                        <a:t>Checks</a:t>
                      </a:r>
                    </a:p>
                  </a:txBody>
                  <a:tcPr marL="64008" marR="64008" marT="54864" marB="27432" anchor="t">
                    <a:lnL w="0">
                      <a:noFill/>
                    </a:lnL>
                    <a:lnR w="0">
                      <a:noFill/>
                    </a:lnR>
                    <a:lnT w="0">
                      <a:noFill/>
                    </a:lnT>
                    <a:lnB w="5080">
                      <a:solidFill>
                        <a:srgbClr val="B8B8B8"/>
                      </a:solidFill>
                    </a:lnB>
                    <a:solidFill>
                      <a:srgbClr val="FFFFFF"/>
                    </a:solidFill>
                  </a:tcPr>
                </a:tc>
                <a:tc>
                  <a:txBody>
                    <a:bodyPr/>
                    <a:lstStyle/>
                    <a:p>
                      <a:pPr>
                        <a:spcAft>
                          <a:spcPts val="100"/>
                        </a:spcAft>
                        <a:defRPr sz="950" b="0">
                          <a:solidFill>
                            <a:srgbClr val="11151A"/>
                          </a:solidFill>
                          <a:latin typeface="Lato"/>
                        </a:defRPr>
                      </a:pPr>
                      <a:r>
                        <a:t>66 values on the Evidence sheet recomputed from registered inputs</a:t>
                      </a:r>
                    </a:p>
                  </a:txBody>
                  <a:tcPr marL="64008" marR="64008" marT="54864" marB="27432" anchor="t">
                    <a:lnL w="0">
                      <a:noFill/>
                    </a:lnL>
                    <a:lnR w="0">
                      <a:noFill/>
                    </a:lnR>
                    <a:lnT w="0">
                      <a:noFill/>
                    </a:lnT>
                    <a:lnB w="5080">
                      <a:solidFill>
                        <a:srgbClr val="B8B8B8"/>
                      </a:solidFill>
                    </a:lnB>
                    <a:solidFill>
                      <a:srgbClr val="FFFFFF"/>
                    </a:solidFill>
                  </a:tcPr>
                </a:tc>
                <a:tc>
                  <a:txBody>
                    <a:bodyPr/>
                    <a:lstStyle/>
                    <a:p>
                      <a:pPr>
                        <a:spcAft>
                          <a:spcPts val="100"/>
                        </a:spcAft>
                        <a:defRPr sz="950" b="0">
                          <a:solidFill>
                            <a:srgbClr val="11151A"/>
                          </a:solidFill>
                          <a:latin typeface="Lato"/>
                        </a:defRPr>
                      </a:pPr>
                      <a:r>
                        <a:t>All match</a:t>
                      </a:r>
                    </a:p>
                  </a:txBody>
                  <a:tcPr marL="64008" marR="64008" marT="54864" marB="27432" anchor="t">
                    <a:lnL w="0">
                      <a:noFill/>
                    </a:lnL>
                    <a:lnR w="0">
                      <a:noFill/>
                    </a:lnR>
                    <a:lnT w="0">
                      <a:noFill/>
                    </a:lnT>
                    <a:lnB w="5080">
                      <a:solidFill>
                        <a:srgbClr val="B8B8B8"/>
                      </a:solidFill>
                    </a:lnB>
                    <a:solidFill>
                      <a:srgbClr val="FFFFFF"/>
                    </a:solidFill>
                  </a:tcPr>
                </a:tc>
              </a:tr>
              <a:tr h="522516">
                <a:tc>
                  <a:txBody>
                    <a:bodyPr/>
                    <a:lstStyle/>
                    <a:p>
                      <a:pPr>
                        <a:spcAft>
                          <a:spcPts val="100"/>
                        </a:spcAft>
                        <a:defRPr sz="950" b="1">
                          <a:solidFill>
                            <a:srgbClr val="0A2373"/>
                          </a:solidFill>
                          <a:latin typeface="Lato"/>
                        </a:defRPr>
                      </a:pPr>
                      <a:r>
                        <a:t>History sources</a:t>
                      </a:r>
                    </a:p>
                  </a:txBody>
                  <a:tcPr marL="64008" marR="64008" marT="54864" marB="27432" anchor="t">
                    <a:lnL w="0">
                      <a:noFill/>
                    </a:lnL>
                    <a:lnR w="0">
                      <a:noFill/>
                    </a:lnR>
                    <a:lnT w="0">
                      <a:noFill/>
                    </a:lnT>
                    <a:lnB w="5080">
                      <a:solidFill>
                        <a:srgbClr val="B8B8B8"/>
                      </a:solidFill>
                    </a:lnB>
                    <a:solidFill>
                      <a:srgbClr val="FFFFFF"/>
                    </a:solidFill>
                  </a:tcPr>
                </a:tc>
                <a:tc>
                  <a:txBody>
                    <a:bodyPr/>
                    <a:lstStyle/>
                    <a:p>
                      <a:pPr>
                        <a:spcAft>
                          <a:spcPts val="100"/>
                        </a:spcAft>
                        <a:defRPr sz="950" b="0">
                          <a:solidFill>
                            <a:srgbClr val="11151A"/>
                          </a:solidFill>
                          <a:latin typeface="Lato"/>
                        </a:defRPr>
                      </a:pPr>
                      <a:r>
                        <a:t>Publisher, link, original file, extract and refresh command for each dataset</a:t>
                      </a:r>
                    </a:p>
                  </a:txBody>
                  <a:tcPr marL="64008" marR="64008" marT="54864" marB="27432" anchor="t">
                    <a:lnL w="0">
                      <a:noFill/>
                    </a:lnL>
                    <a:lnR w="0">
                      <a:noFill/>
                    </a:lnR>
                    <a:lnT w="0">
                      <a:noFill/>
                    </a:lnT>
                    <a:lnB w="5080">
                      <a:solidFill>
                        <a:srgbClr val="B8B8B8"/>
                      </a:solidFill>
                    </a:lnB>
                    <a:solidFill>
                      <a:srgbClr val="FFFFFF"/>
                    </a:solidFill>
                  </a:tcPr>
                </a:tc>
                <a:tc>
                  <a:txBody>
                    <a:bodyPr/>
                    <a:lstStyle/>
                    <a:p>
                      <a:pPr>
                        <a:spcAft>
                          <a:spcPts val="100"/>
                        </a:spcAft>
                        <a:defRPr sz="950" b="0">
                          <a:solidFill>
                            <a:srgbClr val="11151A"/>
                          </a:solidFill>
                          <a:latin typeface="Lato"/>
                        </a:defRPr>
                      </a:pPr>
                    </a:p>
                  </a:txBody>
                  <a:tcPr marL="64008" marR="64008" marT="54864" marB="27432" anchor="t">
                    <a:lnL w="0">
                      <a:noFill/>
                    </a:lnL>
                    <a:lnR w="0">
                      <a:noFill/>
                    </a:lnR>
                    <a:lnT w="0">
                      <a:noFill/>
                    </a:lnT>
                    <a:lnB w="5080">
                      <a:solidFill>
                        <a:srgbClr val="B8B8B8"/>
                      </a:solidFill>
                    </a:lnB>
                    <a:solidFill>
                      <a:srgbClr val="FFFFFF"/>
                    </a:solidFill>
                  </a:tcPr>
                </a:tc>
              </a:tr>
            </a:tbl>
          </a:graphicData>
        </a:graphic>
      </p:graphicFrame>
      <p:sp>
        <p:nvSpPr>
          <p:cNvPr id="8" name="TextBox 7"/>
          <p:cNvSpPr txBox="1"/>
          <p:nvPr/>
        </p:nvSpPr>
        <p:spPr>
          <a:xfrm>
            <a:off x="457200" y="5760720"/>
            <a:ext cx="10652760" cy="548640"/>
          </a:xfrm>
          <a:prstGeom prst="rect">
            <a:avLst/>
          </a:prstGeom>
          <a:noFill/>
        </p:spPr>
        <p:txBody>
          <a:bodyPr wrap="square" lIns="22860" rIns="22860" tIns="0" bIns="0">
            <a:spAutoFit/>
          </a:bodyPr>
          <a:lstStyle/>
          <a:p>
            <a:pPr>
              <a:spcAft>
                <a:spcPts val="300"/>
              </a:spcAft>
              <a:defRPr sz="1100" b="0">
                <a:solidFill>
                  <a:srgbClr val="11151A"/>
                </a:solidFill>
                <a:latin typeface="Lato"/>
              </a:defRPr>
            </a:pPr>
            <a:r>
              <a:t>One change to an existing sheet: source selection for 2022 and 2023 is set to the department instead of FIASA. 2024 stays on FIASA, unverified. 2025 has no national sales figure from any source.</a:t>
            </a:r>
          </a:p>
        </p:txBody>
      </p:sp>
      <p:sp>
        <p:nvSpPr>
          <p:cNvPr id="9" name="Chevron 8">
            <a:hlinkClick action="ppaction://hlinksldjump" r:id="rId2"/>
          </p:cNvPr>
          <p:cNvSpPr/>
          <p:nvPr/>
        </p:nvSpPr>
        <p:spPr>
          <a:xfrm>
            <a:off x="457200" y="73152"/>
            <a:ext cx="2075688" cy="384048"/>
          </a:xfrm>
          <a:prstGeom prst="chevron">
            <a:avLst>
              <a:gd name="adj" fmla="val 12000"/>
            </a:avLst>
          </a:pr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tIns="0" bIns="0"/>
          <a:lstStyle/>
          <a:p>
            <a:pPr algn="ctr">
              <a:defRPr sz="1100" b="0">
                <a:solidFill>
                  <a:srgbClr val="0A2373"/>
                </a:solidFill>
                <a:latin typeface="Lato"/>
              </a:defRPr>
            </a:pPr>
            <a:r>
              <a:t>1  National balance</a:t>
            </a:r>
          </a:p>
        </p:txBody>
      </p:sp>
      <p:sp>
        <p:nvSpPr>
          <p:cNvPr id="10" name="Chevron 9">
            <a:hlinkClick action="ppaction://hlinksldjump" r:id="rId3"/>
          </p:cNvPr>
          <p:cNvSpPr/>
          <p:nvPr/>
        </p:nvSpPr>
        <p:spPr>
          <a:xfrm>
            <a:off x="2587752" y="73152"/>
            <a:ext cx="2075688" cy="384048"/>
          </a:xfrm>
          <a:prstGeom prst="chevron">
            <a:avLst>
              <a:gd name="adj" fmla="val 12000"/>
            </a:avLst>
          </a:pr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tIns="0" bIns="0"/>
          <a:lstStyle/>
          <a:p>
            <a:pPr algn="ctr">
              <a:defRPr sz="1100" b="0">
                <a:solidFill>
                  <a:srgbClr val="0A2373"/>
                </a:solidFill>
                <a:latin typeface="Lato"/>
              </a:defRPr>
            </a:pPr>
            <a:r>
              <a:t>2  Forecast levers</a:t>
            </a:r>
          </a:p>
        </p:txBody>
      </p:sp>
      <p:sp>
        <p:nvSpPr>
          <p:cNvPr id="11" name="Chevron 10">
            <a:hlinkClick action="ppaction://hlinksldjump" r:id="rId4"/>
          </p:cNvPr>
          <p:cNvSpPr/>
          <p:nvPr/>
        </p:nvSpPr>
        <p:spPr>
          <a:xfrm>
            <a:off x="4718304" y="73152"/>
            <a:ext cx="2075688" cy="384048"/>
          </a:xfrm>
          <a:prstGeom prst="chevron">
            <a:avLst>
              <a:gd name="adj" fmla="val 12000"/>
            </a:avLst>
          </a:pr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tIns="0" bIns="0"/>
          <a:lstStyle/>
          <a:p>
            <a:pPr algn="ctr">
              <a:defRPr sz="1100" b="0">
                <a:solidFill>
                  <a:srgbClr val="0A2373"/>
                </a:solidFill>
                <a:latin typeface="Lato"/>
              </a:defRPr>
            </a:pPr>
            <a:r>
              <a:t>3  Sector baselines</a:t>
            </a:r>
          </a:p>
        </p:txBody>
      </p:sp>
      <p:sp>
        <p:nvSpPr>
          <p:cNvPr id="12" name="Chevron 11">
            <a:hlinkClick action="ppaction://hlinksldjump" r:id="rId5"/>
          </p:cNvPr>
          <p:cNvSpPr/>
          <p:nvPr/>
        </p:nvSpPr>
        <p:spPr>
          <a:xfrm>
            <a:off x="6848856" y="73152"/>
            <a:ext cx="2075688" cy="384048"/>
          </a:xfrm>
          <a:prstGeom prst="chevron">
            <a:avLst>
              <a:gd name="adj" fmla="val 12000"/>
            </a:avLst>
          </a:pr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tIns="0" bIns="0"/>
          <a:lstStyle/>
          <a:p>
            <a:pPr algn="ctr">
              <a:defRPr sz="1100" b="0">
                <a:solidFill>
                  <a:srgbClr val="0A2373"/>
                </a:solidFill>
                <a:latin typeface="Lato"/>
              </a:defRPr>
            </a:pPr>
            <a:r>
              <a:t>4  Tank handling</a:t>
            </a:r>
          </a:p>
        </p:txBody>
      </p:sp>
      <p:sp>
        <p:nvSpPr>
          <p:cNvPr id="13" name="Chevron 12">
            <a:hlinkClick action="ppaction://hlinksldjump" r:id="rId6"/>
          </p:cNvPr>
          <p:cNvSpPr/>
          <p:nvPr/>
        </p:nvSpPr>
        <p:spPr>
          <a:xfrm>
            <a:off x="8979408" y="73152"/>
            <a:ext cx="2075688" cy="384048"/>
          </a:xfrm>
          <a:prstGeom prst="chevron">
            <a:avLst>
              <a:gd name="adj" fmla="val 12000"/>
            </a:avLst>
          </a:pr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tIns="0" bIns="0"/>
          <a:lstStyle/>
          <a:p>
            <a:pPr algn="ctr">
              <a:defRPr sz="1100" b="1">
                <a:solidFill>
                  <a:srgbClr val="FFFFFF"/>
                </a:solidFill>
                <a:latin typeface="Lato"/>
              </a:defRPr>
            </a:pPr>
            <a:r>
              <a:t>5  Hand-back</a:t>
            </a:r>
          </a:p>
        </p:txBody>
      </p:sp>
    </p:spTree>
  </p:cSld>
  <p:clrMapOvr>
    <a:masterClrMapping/>
  </p:clrMapOvr>
</p:sld>
</file>

<file path=ppt/slides/slide99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1588750" cy="6858000"/>
          </a:xfrm>
          <a:prstGeom prst="rect">
            <a:avLst/>
          </a:pr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3" name="Picture 2" descr="image.jpg"/>
          <p:cNvPicPr>
            <a:picLocks noChangeAspect="1"/>
          </p:cNvPicPr>
          <p:nvPr/>
        </p:nvPicPr>
        <p:blipFill>
          <a:blip r:embed="rId2"/>
          <a:srcRect l="26237" r="26237"/>
          <a:stretch>
            <a:fillRect/>
          </a:stretch>
        </p:blipFill>
        <p:spPr>
          <a:xfrm>
            <a:off x="5794375" y="0"/>
            <a:ext cx="5794375" cy="6858000"/>
          </a:xfrm>
          <a:prstGeom prst="rect">
            <a:avLst/>
          </a:prstGeom>
        </p:spPr>
      </p:pic>
      <p:pic>
        <p:nvPicPr>
          <p:cNvPr id="4" name="Picture 3" descr="image.png"/>
          <p:cNvPicPr>
            <a:picLocks noChangeAspect="1"/>
          </p:cNvPicPr>
          <p:nvPr/>
        </p:nvPicPr>
        <p:blipFill>
          <a:blip r:embed="rId3"/>
          <a:srcRect/>
          <a:stretch>
            <a:fillRect/>
          </a:stretch>
        </p:blipFill>
        <p:spPr>
          <a:xfrm>
            <a:off x="502920" y="457200"/>
            <a:ext cx="1965960" cy="438614"/>
          </a:xfrm>
          <a:prstGeom prst="rect">
            <a:avLst/>
          </a:prstGeom>
        </p:spPr>
      </p:pic>
      <p:sp>
        <p:nvSpPr>
          <p:cNvPr id="5" name="TextBox 4"/>
          <p:cNvSpPr txBox="1"/>
          <p:nvPr/>
        </p:nvSpPr>
        <p:spPr>
          <a:xfrm>
            <a:off x="594360" y="2468880"/>
            <a:ext cx="4709160" cy="1554480"/>
          </a:xfrm>
          <a:prstGeom prst="rect">
            <a:avLst/>
          </a:prstGeom>
          <a:noFill/>
        </p:spPr>
        <p:txBody>
          <a:bodyPr wrap="square" lIns="18288" rIns="18288" tIns="0" bIns="0">
            <a:spAutoFit/>
          </a:bodyPr>
          <a:lstStyle/>
          <a:p>
            <a:pPr>
              <a:spcAft>
                <a:spcPts val="800"/>
              </a:spcAft>
              <a:defRPr sz="3100" b="0">
                <a:solidFill>
                  <a:srgbClr val="FFFFFF"/>
                </a:solidFill>
                <a:latin typeface="Lato"/>
              </a:defRPr>
            </a:pPr>
            <a:r>
              <a:t>Review the branch</a:t>
            </a:r>
          </a:p>
          <a:p>
            <a:pPr>
              <a:spcAft>
                <a:spcPts val="800"/>
              </a:spcAft>
              <a:defRPr sz="3100" b="0">
                <a:solidFill>
                  <a:srgbClr val="FFFFFF"/>
                </a:solidFill>
                <a:latin typeface="Lato"/>
              </a:defRPr>
            </a:pPr>
            <a:r>
              <a:t>and decide</a:t>
            </a:r>
          </a:p>
        </p:txBody>
      </p:sp>
      <p:cxnSp>
        <p:nvCxnSpPr>
          <p:cNvPr id="6" name="Connector 5"/>
          <p:cNvCxnSpPr/>
          <p:nvPr/>
        </p:nvCxnSpPr>
        <p:spPr>
          <a:xfrm>
            <a:off x="594360" y="4251960"/>
            <a:ext cx="4617720" cy="0"/>
          </a:xfrm>
          <a:prstGeom prst="line">
            <a:avLst/>
          </a:prstGeom>
          <a:ln w="7620">
            <a:solidFill>
              <a:srgbClr val="FFFFFF"/>
            </a:solidFill>
          </a:ln>
        </p:spPr>
        <p:style>
          <a:lnRef idx="2">
            <a:schemeClr val="accent1"/>
          </a:lnRef>
          <a:fillRef idx="0">
            <a:schemeClr val="accent1"/>
          </a:fillRef>
          <a:effectRef idx="1">
            <a:schemeClr val="accent1"/>
          </a:effectRef>
          <a:fontRef idx="minor">
            <a:schemeClr val="tx1"/>
          </a:fontRef>
        </p:style>
      </p:cxnSp>
      <p:sp>
        <p:nvSpPr>
          <p:cNvPr id="7" name="TextBox 6"/>
          <p:cNvSpPr txBox="1"/>
          <p:nvPr/>
        </p:nvSpPr>
        <p:spPr>
          <a:xfrm>
            <a:off x="594360" y="4617720"/>
            <a:ext cx="4572000" cy="640080"/>
          </a:xfrm>
          <a:prstGeom prst="rect">
            <a:avLst/>
          </a:prstGeom>
          <a:noFill/>
        </p:spPr>
        <p:txBody>
          <a:bodyPr wrap="square" lIns="18288" rIns="18288" tIns="0" bIns="0">
            <a:spAutoFit/>
          </a:bodyPr>
          <a:lstStyle/>
          <a:p>
            <a:pPr>
              <a:spcAft>
                <a:spcPts val="800"/>
              </a:spcAft>
              <a:defRPr sz="2100" b="0">
                <a:solidFill>
                  <a:srgbClr val="FFFFFF"/>
                </a:solidFill>
                <a:latin typeface="Lato"/>
              </a:defRPr>
            </a:pPr>
            <a:r>
              <a:t>manish-branch | checks pass | nothing merged to main</a:t>
            </a:r>
          </a:p>
        </p:txBody>
      </p:sp>
      <p:sp>
        <p:nvSpPr>
          <p:cNvPr id="8" name="TextBox 7"/>
          <p:cNvSpPr txBox="1"/>
          <p:nvPr/>
        </p:nvSpPr>
        <p:spPr>
          <a:xfrm>
            <a:off x="594360" y="5696712"/>
            <a:ext cx="4572000" cy="274320"/>
          </a:xfrm>
          <a:prstGeom prst="rect">
            <a:avLst/>
          </a:prstGeom>
          <a:noFill/>
        </p:spPr>
        <p:txBody>
          <a:bodyPr wrap="square" lIns="18288" rIns="18288" tIns="0" bIns="0">
            <a:spAutoFit/>
          </a:bodyPr>
          <a:lstStyle/>
          <a:p>
            <a:pPr>
              <a:spcAft>
                <a:spcPts val="800"/>
              </a:spcAft>
              <a:defRPr sz="1300" b="0">
                <a:solidFill>
                  <a:srgbClr val="FFFFFF"/>
                </a:solidFill>
                <a:latin typeface="Lato"/>
              </a:defRPr>
            </a:pPr>
            <a:r>
              <a:t>7 October 2026</a:t>
            </a:r>
          </a:p>
        </p:txBody>
      </p:sp>
      <p:sp>
        <p:nvSpPr>
          <p:cNvPr id="9" name="TextBox 8"/>
          <p:cNvSpPr txBox="1"/>
          <p:nvPr/>
        </p:nvSpPr>
        <p:spPr>
          <a:xfrm>
            <a:off x="594360" y="6053328"/>
            <a:ext cx="4572000" cy="274320"/>
          </a:xfrm>
          <a:prstGeom prst="rect">
            <a:avLst/>
          </a:prstGeom>
          <a:noFill/>
        </p:spPr>
        <p:txBody>
          <a:bodyPr wrap="square" lIns="18288" rIns="18288" tIns="0" bIns="0">
            <a:spAutoFit/>
          </a:bodyPr>
          <a:lstStyle/>
          <a:p>
            <a:pPr>
              <a:spcAft>
                <a:spcPts val="800"/>
              </a:spcAft>
              <a:defRPr sz="1200" b="0">
                <a:solidFill>
                  <a:srgbClr val="FFFFFF"/>
                </a:solidFill>
                <a:latin typeface="Lato"/>
              </a:defRPr>
            </a:pPr>
            <a:r>
              <a:t>Internal working discussion</a:t>
            </a:r>
          </a:p>
        </p:txBody>
      </p:sp>
      <p:sp>
        <p:nvSpPr>
          <p:cNvPr id="10" name="Photo source credit">
            <a:hlinkClick r:id="rId4"/>
          </p:cNvPr>
          <p:cNvSpPr txBox="1"/>
          <p:nvPr/>
        </p:nvSpPr>
        <p:spPr>
          <a:xfrm>
            <a:off x="594360" y="6400800"/>
            <a:ext cx="4754880" cy="164592"/>
          </a:xfrm>
          <a:prstGeom prst="rect">
            <a:avLst/>
          </a:prstGeom>
          <a:noFill/>
        </p:spPr>
        <p:txBody>
          <a:bodyPr wrap="square" lIns="18288" rIns="18288" tIns="0" bIns="0">
            <a:spAutoFit/>
          </a:bodyPr>
          <a:lstStyle/>
          <a:p>
            <a:pPr algn="l">
              <a:spcAft>
                <a:spcPts val="800"/>
              </a:spcAft>
              <a:defRPr sz="800" b="0">
                <a:solidFill>
                  <a:srgbClr val="FFFFFF"/>
                </a:solidFill>
                <a:latin typeface="Lato"/>
              </a:defRPr>
            </a:pPr>
            <a:r>
              <a:t>Photo source: Royal Vopak | Terminal Lesedi | vopak.com</a:t>
            </a:r>
          </a:p>
        </p:txBody>
      </p:sp>
      <p:sp>
        <p:nvSpPr>
          <p:cNvPr id="11" name="Strictly Confidential footer"/>
          <p:cNvSpPr txBox="1"/>
          <p:nvPr/>
        </p:nvSpPr>
        <p:spPr>
          <a:xfrm>
            <a:off x="457200" y="6711696"/>
            <a:ext cx="2011680" cy="128016"/>
          </a:xfrm>
          <a:prstGeom prst="rect">
            <a:avLst/>
          </a:prstGeom>
          <a:noFill/>
        </p:spPr>
        <p:txBody>
          <a:bodyPr wrap="none" lIns="0" rIns="0" tIns="0" bIns="0">
            <a:spAutoFit/>
          </a:bodyPr>
          <a:lstStyle/>
          <a:p>
            <a:pPr>
              <a:spcBef>
                <a:spcPts val="0"/>
              </a:spcBef>
              <a:spcAft>
                <a:spcPts val="0"/>
              </a:spcAft>
              <a:defRPr sz="800">
                <a:solidFill>
                  <a:srgbClr val="BDBEC1"/>
                </a:solidFill>
                <a:latin typeface="Lato"/>
              </a:defRPr>
            </a:pPr>
            <a:r>
              <a:t>Strictly Confidential</a:t>
            </a:r>
          </a:p>
        </p:txBody>
      </p:sp>
    </p:spTree>
  </p:cSld>
  <p:clrMapOvr>
    <a:masterClrMapping/>
  </p:clrMapOvr>
</p:sld>
</file>

<file path=ppt/theme/theme1.xml><?xml version="1.0" encoding="utf-8"?>
<a:theme xmlns:a="http://schemas.openxmlformats.org/drawingml/2006/main" name="Vopak Theme">
  <a:themeElements>
    <a:clrScheme name="Vopak">
      <a:dk1>
        <a:srgbClr val="000000"/>
      </a:dk1>
      <a:lt1>
        <a:srgbClr val="FFFFFF"/>
      </a:lt1>
      <a:dk2>
        <a:srgbClr val="11151A"/>
      </a:dk2>
      <a:lt2>
        <a:srgbClr val="E7E6E6"/>
      </a:lt2>
      <a:accent1>
        <a:srgbClr val="0A2373"/>
      </a:accent1>
      <a:accent2>
        <a:srgbClr val="546CA2"/>
      </a:accent2>
      <a:accent3>
        <a:srgbClr val="BDBEC1"/>
      </a:accent3>
      <a:accent4>
        <a:srgbClr val="404040"/>
      </a:accent4>
      <a:accent5>
        <a:srgbClr val="767676"/>
      </a:accent5>
      <a:accent6>
        <a:srgbClr val="D9D9D9"/>
      </a:accent6>
      <a:hlink>
        <a:srgbClr val="0A2373"/>
      </a:hlink>
      <a:folHlink>
        <a:srgbClr val="546CA2"/>
      </a:folHlink>
    </a:clrScheme>
    <a:fontScheme name="AIA_2017">
      <a:majorFont>
        <a:latin typeface="Lato"/>
        <a:ea typeface=""/>
        <a:cs typeface=""/>
      </a:majorFont>
      <a:minorFont>
        <a:latin typeface="Lato"/>
        <a:ea typeface=""/>
        <a:cs typeface=""/>
      </a:minorFont>
    </a:fontScheme>
    <a:fmtScheme name="Office Them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Vopak Theme" id="{EB158558-B090-4A15-9406-52ADAF46E73D}" vid="{169915E9-BA5A-4298-BC78-09D681881741}"/>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webextensions/_rels/taskpanes.xml.rels><?xml version='1.0' encoding='UTF-8' standalone='yes'?>
<Relationships xmlns="http://schemas.openxmlformats.org/package/2006/relationships"><Relationship Id="rId1" Type="http://schemas.microsoft.com/office/2011/relationships/webextension" Target="webextension1.xml"/></Relationships>
</file>

<file path=ppt/webextensions/taskpanes.xml><?xml version="1.0" encoding="utf-8"?>
<wetp:taskpanes xmlns:wetp="http://schemas.microsoft.com/office/webextensions/taskpanes/2010/11">
  <wetp:taskpane dockstate="right" visibility="0" width="525" row="4">
    <wetp:webextensionref xmlns:r="http://schemas.openxmlformats.org/officeDocument/2006/relationships" r:id="rId1"/>
  </wetp:taskpane>
</wetp:taskpanes>
</file>

<file path=ppt/webextensions/webextension1.xml><?xml version="1.0" encoding="utf-8"?>
<we:webextension xmlns:we="http://schemas.microsoft.com/office/webextensions/webextension/2010/11" id="{3729E3C0-DBBA-4E87-A833-D4D671FDC2D1}">
  <we:reference id="WA200010725" version="1.0.0.1" store="Omex" storeType="OMEX"/>
  <we:alternateReferences>
    <we:reference id="WA200010725" version="1.0.0.1" store="WA200010725" storeType="OMEX"/>
  </we:alternateReferences>
  <we:properties>
    <we:property name="claude.fileId" value="&quot;440e1679-9fef-4664-be92-b7e3c5432c29&quot;"/>
  </we:properties>
  <we:bindings/>
  <we:snapshot xmlns:r="http://schemas.openxmlformats.org/officeDocument/2006/relationships"/>
</we:webextension>
</file>

<file path=customXml/_rels/item1.xml.rels><?xml version='1.0' encoding='UTF-8' standalone='yes'?>
<Relationships xmlns="http://schemas.openxmlformats.org/package/2006/relationships"><Relationship Id="rId1" Type="http://schemas.openxmlformats.org/officeDocument/2006/relationships/customXmlProps" Target="itemProps1.xml"/></Relationships>
</file>

<file path=customXml/_rels/item2.xml.rels><?xml version='1.0' encoding='UTF-8' standalone='yes'?>
<Relationships xmlns="http://schemas.openxmlformats.org/package/2006/relationships"><Relationship Id="rId1" Type="http://schemas.openxmlformats.org/officeDocument/2006/relationships/customXmlProps" Target="itemProps2.xml"/></Relationships>
</file>

<file path=customXml/_rels/item3.xml.rels><?xml version='1.0' encoding='UTF-8' standalone='yes'?>
<Relationships xmlns="http://schemas.openxmlformats.org/package/2006/relationships"><Relationship Id="rId1" Type="http://schemas.openxmlformats.org/officeDocument/2006/relationships/customXmlProps" Target="itemProps3.xml"/></Relationships>
</file>

<file path=customXml/item1.xml><?xml version="1.0" encoding="utf-8"?>
<?mso-contentType ?>
<FormTemplates xmlns="http://schemas.microsoft.com/sharepoint/v3/contenttype/forms">
  <Display>DocumentLibraryForm</Display>
  <Edit>DocumentLibraryForm</Edit>
  <New>DocumentLibraryForm</New>
</FormTemplates>
</file>

<file path=customXml/item2.xml><?xml version="1.0" encoding="utf-8"?>
<ct:contentTypeSchema xmlns:ct="http://schemas.microsoft.com/office/2006/metadata/contentType" xmlns:ma="http://schemas.microsoft.com/office/2006/metadata/properties/metaAttributes" ct:_="" ma:_="" ma:contentTypeName="Document" ma:contentTypeID="0x010100BB14DAA3CC024F49A081857B4C9CD92A" ma:contentTypeVersion="20" ma:contentTypeDescription="Create a new document." ma:contentTypeScope="" ma:versionID="cdb2463664abbc9cc5ebc4769b50ad18">
  <xsd:schema xmlns:xsd="http://www.w3.org/2001/XMLSchema" xmlns:xs="http://www.w3.org/2001/XMLSchema" xmlns:p="http://schemas.microsoft.com/office/2006/metadata/properties" xmlns:ns2="265cb39c-7109-435c-af5d-13dc21a2db6b" xmlns:ns3="62b85a0e-09bb-4b0f-bd28-e34020cdc070" targetNamespace="http://schemas.microsoft.com/office/2006/metadata/properties" ma:root="true" ma:fieldsID="ee545d7bb76dd121542a05c73fb4a941" ns2:_="" ns3:_="">
    <xsd:import namespace="265cb39c-7109-435c-af5d-13dc21a2db6b"/>
    <xsd:import namespace="62b85a0e-09bb-4b0f-bd28-e34020cdc070"/>
    <xsd:element name="properties">
      <xsd:complexType>
        <xsd:sequence>
          <xsd:element name="documentManagement">
            <xsd:complexType>
              <xsd:all>
                <xsd:element ref="ns2:MediaServiceMetadata" minOccurs="0"/>
                <xsd:element ref="ns2:MediaServiceFastMetadata" minOccurs="0"/>
                <xsd:element ref="ns2:MediaServiceAutoKeyPoints" minOccurs="0"/>
                <xsd:element ref="ns2:MediaServiceKeyPoints" minOccurs="0"/>
                <xsd:element ref="ns2:MediaServiceDateTaken" minOccurs="0"/>
                <xsd:element ref="ns2:MediaServiceAutoTags" minOccurs="0"/>
                <xsd:element ref="ns2:MediaServiceGenerationTime" minOccurs="0"/>
                <xsd:element ref="ns2:MediaServiceEventHashCode" minOccurs="0"/>
                <xsd:element ref="ns2:MediaServiceOCR" minOccurs="0"/>
                <xsd:element ref="ns3:SharedWithUsers" minOccurs="0"/>
                <xsd:element ref="ns3:SharedWithDetails" minOccurs="0"/>
                <xsd:element ref="ns2:MediaServiceLocation" minOccurs="0"/>
                <xsd:element ref="ns2:MediaLengthInSeconds" minOccurs="0"/>
                <xsd:element ref="ns2:lcf76f155ced4ddcb4097134ff3c332f" minOccurs="0"/>
                <xsd:element ref="ns3:TaxCatchAll" minOccurs="0"/>
                <xsd:element ref="ns2:MediaServiceObjectDetectorVersions" minOccurs="0"/>
                <xsd:element ref="ns2:MediaServiceSearchProperties" minOccurs="0"/>
                <xsd:element ref="ns2:Archive" minOccurs="0"/>
                <xsd:element ref="ns2:MediaServiceBillingMetadata" minOccurs="0"/>
              </xsd:all>
            </xsd:complexType>
          </xsd:element>
        </xsd:sequence>
      </xsd:complexType>
    </xsd:element>
  </xsd:schema>
  <xsd:schema xmlns:xsd="http://www.w3.org/2001/XMLSchema" xmlns:xs="http://www.w3.org/2001/XMLSchema" xmlns:dms="http://schemas.microsoft.com/office/2006/documentManagement/types" xmlns:pc="http://schemas.microsoft.com/office/infopath/2007/PartnerControls" targetNamespace="265cb39c-7109-435c-af5d-13dc21a2db6b" elementFormDefault="qualified">
    <xsd:import namespace="http://schemas.microsoft.com/office/2006/documentManagement/types"/>
    <xsd:import namespace="http://schemas.microsoft.com/office/infopath/2007/PartnerControls"/>
    <xsd:element name="MediaServiceMetadata" ma:index="8" nillable="true" ma:displayName="MediaServiceMetadata" ma:hidden="true" ma:internalName="MediaServiceMetadata" ma:readOnly="true">
      <xsd:simpleType>
        <xsd:restriction base="dms:Note"/>
      </xsd:simpleType>
    </xsd:element>
    <xsd:element name="MediaServiceFastMetadata" ma:index="9" nillable="true" ma:displayName="MediaServiceFastMetadata" ma:hidden="true" ma:internalName="MediaServiceFastMetadata" ma:readOnly="true">
      <xsd:simpleType>
        <xsd:restriction base="dms:Note"/>
      </xsd:simpleType>
    </xsd:element>
    <xsd:element name="MediaServiceAutoKeyPoints" ma:index="10" nillable="true" ma:displayName="MediaServiceAutoKeyPoints" ma:hidden="true" ma:internalName="MediaServiceAutoKeyPoints" ma:readOnly="true">
      <xsd:simpleType>
        <xsd:restriction base="dms:Note"/>
      </xsd:simpleType>
    </xsd:element>
    <xsd:element name="MediaServiceKeyPoints" ma:index="11" nillable="true" ma:displayName="KeyPoints" ma:internalName="MediaServiceKeyPoints" ma:readOnly="true">
      <xsd:simpleType>
        <xsd:restriction base="dms:Note">
          <xsd:maxLength value="255"/>
        </xsd:restriction>
      </xsd:simpleType>
    </xsd:element>
    <xsd:element name="MediaServiceDateTaken" ma:index="12" nillable="true" ma:displayName="MediaServiceDateTaken" ma:hidden="true" ma:internalName="MediaServiceDateTaken" ma:readOnly="true">
      <xsd:simpleType>
        <xsd:restriction base="dms:Text"/>
      </xsd:simpleType>
    </xsd:element>
    <xsd:element name="MediaServiceAutoTags" ma:index="13" nillable="true" ma:displayName="Tags" ma:internalName="MediaServiceAutoTags" ma:readOnly="true">
      <xsd:simpleType>
        <xsd:restriction base="dms:Text"/>
      </xsd:simpleType>
    </xsd:element>
    <xsd:element name="MediaServiceGenerationTime" ma:index="14" nillable="true" ma:displayName="MediaServiceGenerationTime" ma:hidden="true" ma:internalName="MediaServiceGenerationTime" ma:readOnly="true">
      <xsd:simpleType>
        <xsd:restriction base="dms:Text"/>
      </xsd:simpleType>
    </xsd:element>
    <xsd:element name="MediaServiceEventHashCode" ma:index="15" nillable="true" ma:displayName="MediaServiceEventHashCode" ma:hidden="true" ma:internalName="MediaServiceEventHashCode" ma:readOnly="true">
      <xsd:simpleType>
        <xsd:restriction base="dms:Text"/>
      </xsd:simpleType>
    </xsd:element>
    <xsd:element name="MediaServiceOCR" ma:index="16" nillable="true" ma:displayName="Extracted Text" ma:internalName="MediaServiceOCR" ma:readOnly="true">
      <xsd:simpleType>
        <xsd:restriction base="dms:Note">
          <xsd:maxLength value="255"/>
        </xsd:restriction>
      </xsd:simpleType>
    </xsd:element>
    <xsd:element name="MediaServiceLocation" ma:index="19" nillable="true" ma:displayName="Location" ma:internalName="MediaServiceLocation" ma:readOnly="true">
      <xsd:simpleType>
        <xsd:restriction base="dms:Text"/>
      </xsd:simpleType>
    </xsd:element>
    <xsd:element name="MediaLengthInSeconds" ma:index="20" nillable="true" ma:displayName="Length (seconds)" ma:internalName="MediaLengthInSeconds" ma:readOnly="true">
      <xsd:simpleType>
        <xsd:restriction base="dms:Unknown"/>
      </xsd:simpleType>
    </xsd:element>
    <xsd:element name="lcf76f155ced4ddcb4097134ff3c332f" ma:index="22" nillable="true" ma:taxonomy="true" ma:internalName="lcf76f155ced4ddcb4097134ff3c332f" ma:taxonomyFieldName="MediaServiceImageTags" ma:displayName="Image Tags" ma:readOnly="false" ma:fieldId="{5cf76f15-5ced-4ddc-b409-7134ff3c332f}" ma:taxonomyMulti="true" ma:sspId="df3d1728-64fa-4f01-bb7d-5585de3a980b" ma:termSetId="09814cd3-568e-fe90-9814-8d621ff8fb84" ma:anchorId="fba54fb3-c3e1-fe81-a776-ca4b69148c4d" ma:open="true" ma:isKeyword="false">
      <xsd:complexType>
        <xsd:sequence>
          <xsd:element ref="pc:Terms" minOccurs="0" maxOccurs="1"/>
        </xsd:sequence>
      </xsd:complexType>
    </xsd:element>
    <xsd:element name="MediaServiceObjectDetectorVersions" ma:index="24" nillable="true" ma:displayName="MediaServiceObjectDetectorVersions" ma:description="" ma:hidden="true" ma:indexed="true" ma:internalName="MediaServiceObjectDetectorVersions" ma:readOnly="true">
      <xsd:simpleType>
        <xsd:restriction base="dms:Text"/>
      </xsd:simpleType>
    </xsd:element>
    <xsd:element name="MediaServiceSearchProperties" ma:index="25" nillable="true" ma:displayName="MediaServiceSearchProperties" ma:hidden="true" ma:internalName="MediaServiceSearchProperties" ma:readOnly="true">
      <xsd:simpleType>
        <xsd:restriction base="dms:Note"/>
      </xsd:simpleType>
    </xsd:element>
    <xsd:element name="Archive" ma:index="26" nillable="true" ma:displayName="Archive" ma:default="0" ma:description="Folder to be backed up, archived and removed from SharePoint" ma:format="Dropdown" ma:internalName="Archive">
      <xsd:simpleType>
        <xsd:restriction base="dms:Boolean"/>
      </xsd:simpleType>
    </xsd:element>
    <xsd:element name="MediaServiceBillingMetadata" ma:index="27" nillable="true" ma:displayName="MediaServiceBillingMetadata" ma:hidden="true" ma:internalName="MediaServiceBillingMetadata" ma:readOnly="true">
      <xsd:simpleType>
        <xsd:restriction base="dms:Note"/>
      </xsd:simpleType>
    </xsd:element>
  </xsd:schema>
  <xsd:schema xmlns:xsd="http://www.w3.org/2001/XMLSchema" xmlns:xs="http://www.w3.org/2001/XMLSchema" xmlns:dms="http://schemas.microsoft.com/office/2006/documentManagement/types" xmlns:pc="http://schemas.microsoft.com/office/infopath/2007/PartnerControls" targetNamespace="62b85a0e-09bb-4b0f-bd28-e34020cdc070" elementFormDefault="qualified">
    <xsd:import namespace="http://schemas.microsoft.com/office/2006/documentManagement/types"/>
    <xsd:import namespace="http://schemas.microsoft.com/office/infopath/2007/PartnerControls"/>
    <xsd:element name="SharedWithUsers" ma:index="17" nillable="true" ma:displayName="Shared With" ma:internalName="SharedWithUsers" ma:readOnly="true">
      <xsd:complexType>
        <xsd:complexContent>
          <xsd:extension base="dms:UserMulti">
            <xsd:sequence>
              <xsd:element name="UserInfo" minOccurs="0" maxOccurs="unbounded">
                <xsd:complexType>
                  <xsd:sequence>
                    <xsd:element name="DisplayName" type="xsd:string" minOccurs="0"/>
                    <xsd:element name="AccountId" type="dms:UserId" minOccurs="0" nillable="true"/>
                    <xsd:element name="AccountType" type="xsd:string" minOccurs="0"/>
                  </xsd:sequence>
                </xsd:complexType>
              </xsd:element>
            </xsd:sequence>
          </xsd:extension>
        </xsd:complexContent>
      </xsd:complexType>
    </xsd:element>
    <xsd:element name="SharedWithDetails" ma:index="18" nillable="true" ma:displayName="Shared With Details" ma:internalName="SharedWithDetails" ma:readOnly="true">
      <xsd:simpleType>
        <xsd:restriction base="dms:Note">
          <xsd:maxLength value="255"/>
        </xsd:restriction>
      </xsd:simpleType>
    </xsd:element>
    <xsd:element name="TaxCatchAll" ma:index="23" nillable="true" ma:displayName="Taxonomy Catch All Column" ma:hidden="true" ma:list="{744b13c9-2708-4b8b-a658-00962d7928c2}" ma:internalName="TaxCatchAll" ma:showField="CatchAllData" ma:web="62b85a0e-09bb-4b0f-bd28-e34020cdc070">
      <xsd:complexType>
        <xsd:complexContent>
          <xsd:extension base="dms:MultiChoiceLookup">
            <xsd:sequence>
              <xsd:element name="Value" type="dms:Lookup" maxOccurs="unbounded" minOccurs="0" nillable="true"/>
            </xsd:sequence>
          </xsd:extension>
        </xsd:complexContent>
      </xsd:complexType>
    </xsd:element>
  </xsd:schema>
  <xsd:schema xmlns="http://schemas.openxmlformats.org/package/2006/metadata/core-properties" xmlns:xsd="http://www.w3.org/2001/XMLSchema" xmlns:xsi="http://www.w3.org/2001/XMLSchema-instance" xmlns:dc="http://purl.org/dc/elements/1.1/" xmlns:dcterms="http://purl.org/dc/terms/" xmlns:odoc="http://schemas.microsoft.com/internal/obd" targetNamespace="http://schemas.openxmlformats.org/package/2006/metadata/core-properties" elementFormDefault="qualified" attributeFormDefault="unqualified" blockDefault="#all">
    <xsd:import namespace="http://purl.org/dc/elements/1.1/" schemaLocation="http://dublincore.org/schemas/xmls/qdc/2003/04/02/dc.xsd"/>
    <xsd:import namespace="http://purl.org/dc/terms/" schemaLocation="http://dublincore.org/schemas/xmls/qdc/2003/04/02/dcterms.xsd"/>
    <xsd:element name="coreProperties" type="CT_coreProperties"/>
    <xsd:complexType name="CT_coreProperties">
      <xsd:all>
        <xsd:element ref="dc:creator" minOccurs="0" maxOccurs="1"/>
        <xsd:element ref="dcterms:created" minOccurs="0" maxOccurs="1"/>
        <xsd:element ref="dc:identifier" minOccurs="0" maxOccurs="1"/>
        <xsd:element name="contentType" minOccurs="0" maxOccurs="1" type="xsd:string" ma:index="0" ma:displayName="Content Type"/>
        <xsd:element ref="dc:title" minOccurs="0" maxOccurs="1" ma:index="4" ma:displayName="Title"/>
        <xsd:element ref="dc:subject" minOccurs="0" maxOccurs="1"/>
        <xsd:element ref="dc:description" minOccurs="0" maxOccurs="1"/>
        <xsd:element name="keywords" minOccurs="0" maxOccurs="1" type="xsd:string"/>
        <xsd:element ref="dc:language" minOccurs="0" maxOccurs="1"/>
        <xsd:element name="category" minOccurs="0" maxOccurs="1" type="xsd:string"/>
        <xsd:element name="version" minOccurs="0" maxOccurs="1" type="xsd:string"/>
        <xsd:element name="revision" minOccurs="0" maxOccurs="1" type="xsd:string">
          <xsd:annotation>
            <xsd:documentation>
                        This value indicates the number of saves or revisions. The application is responsible for updating this value after each revision.
                    </xsd:documentation>
          </xsd:annotation>
        </xsd:element>
        <xsd:element name="lastModifiedBy" minOccurs="0" maxOccurs="1" type="xsd:string"/>
        <xsd:element ref="dcterms:modified" minOccurs="0" maxOccurs="1"/>
        <xsd:element name="contentStatus" minOccurs="0" maxOccurs="1" type="xsd:string"/>
      </xsd:all>
    </xsd:complexType>
  </xsd:schema>
  <xs:schema xmlns:pc="http://schemas.microsoft.com/office/infopath/2007/PartnerControls" xmlns:xs="http://www.w3.org/2001/XMLSchema" targetNamespace="http://schemas.microsoft.com/office/infopath/2007/PartnerControls" elementFormDefault="qualified" attributeFormDefault="unqualified">
    <xs:element name="Person">
      <xs:complexType>
        <xs:sequence>
          <xs:element ref="pc:DisplayName" minOccurs="0"/>
          <xs:element ref="pc:AccountId" minOccurs="0"/>
          <xs:element ref="pc:AccountType" minOccurs="0"/>
        </xs:sequence>
      </xs:complexType>
    </xs:element>
    <xs:element name="DisplayName" type="xs:string"/>
    <xs:element name="AccountId" type="xs:string"/>
    <xs:element name="AccountType" type="xs:string"/>
    <xs:element name="BDCAssociatedEntity">
      <xs:complexType>
        <xs:sequence>
          <xs:element ref="pc:BDCEntity" minOccurs="0" maxOccurs="unbounded"/>
        </xs:sequence>
        <xs:attribute ref="pc:EntityNamespace"/>
        <xs:attribute ref="pc:EntityName"/>
        <xs:attribute ref="pc:SystemInstanceName"/>
        <xs:attribute ref="pc:AssociationName"/>
      </xs:complexType>
    </xs:element>
    <xs:attribute name="EntityNamespace" type="xs:string"/>
    <xs:attribute name="EntityName" type="xs:string"/>
    <xs:attribute name="SystemInstanceName" type="xs:string"/>
    <xs:attribute name="AssociationName" type="xs:string"/>
    <xs:element name="BDCEntity">
      <xs:complexType>
        <xs:sequence>
          <xs:element ref="pc:EntityDisplayName" minOccurs="0"/>
          <xs:element ref="pc:EntityInstanceReference" minOccurs="0"/>
          <xs:element ref="pc:EntityId1" minOccurs="0"/>
          <xs:element ref="pc:EntityId2" minOccurs="0"/>
          <xs:element ref="pc:EntityId3" minOccurs="0"/>
          <xs:element ref="pc:EntityId4" minOccurs="0"/>
          <xs:element ref="pc:EntityId5" minOccurs="0"/>
        </xs:sequence>
      </xs:complexType>
    </xs:element>
    <xs:element name="EntityDisplayName" type="xs:string"/>
    <xs:element name="EntityInstanceReference" type="xs:string"/>
    <xs:element name="EntityId1" type="xs:string"/>
    <xs:element name="EntityId2" type="xs:string"/>
    <xs:element name="EntityId3" type="xs:string"/>
    <xs:element name="EntityId4" type="xs:string"/>
    <xs:element name="EntityId5" type="xs:string"/>
    <xs:element name="Terms">
      <xs:complexType>
        <xs:sequence>
          <xs:element ref="pc:TermInfo" minOccurs="0" maxOccurs="unbounded"/>
        </xs:sequence>
      </xs:complexType>
    </xs:element>
    <xs:element name="TermInfo">
      <xs:complexType>
        <xs:sequence>
          <xs:element ref="pc:TermName" minOccurs="0"/>
          <xs:element ref="pc:TermId" minOccurs="0"/>
        </xs:sequence>
      </xs:complexType>
    </xs:element>
    <xs:element name="TermName" type="xs:string"/>
    <xs:element name="TermId" type="xs:string"/>
  </xs:schema>
</ct:contentTypeSchema>
</file>

<file path=customXml/item3.xml><?xml version="1.0" encoding="utf-8"?>
<p:properties xmlns:p="http://schemas.microsoft.com/office/2006/metadata/properties" xmlns:xsi="http://www.w3.org/2001/XMLSchema-instance" xmlns:pc="http://schemas.microsoft.com/office/infopath/2007/PartnerControls">
  <documentManagement>
    <lcf76f155ced4ddcb4097134ff3c332f xmlns="265cb39c-7109-435c-af5d-13dc21a2db6b">
      <Terms xmlns="http://schemas.microsoft.com/office/infopath/2007/PartnerControls"/>
    </lcf76f155ced4ddcb4097134ff3c332f>
    <TaxCatchAll xmlns="62b85a0e-09bb-4b0f-bd28-e34020cdc070" xsi:nil="true"/>
    <SharedWithUsers xmlns="62b85a0e-09bb-4b0f-bd28-e34020cdc070">
      <UserInfo>
        <DisplayName>Joseph Kihara</DisplayName>
        <AccountId>3747</AccountId>
        <AccountType/>
      </UserInfo>
    </SharedWithUsers>
    <Archive xmlns="265cb39c-7109-435c-af5d-13dc21a2db6b">false</Archive>
  </documentManagement>
</p:properties>
</file>

<file path=customXml/itemProps1.xml><?xml version="1.0" encoding="utf-8"?>
<ds:datastoreItem xmlns:ds="http://schemas.openxmlformats.org/officeDocument/2006/customXml" ds:itemID="{1E0AC09D-7AB9-4C7E-89AA-55CFDED1BCB9}">
  <ds:schemaRefs>
    <ds:schemaRef ds:uri="http://schemas.microsoft.com/sharepoint/v3/contenttype/forms"/>
  </ds:schemaRefs>
</ds:datastoreItem>
</file>

<file path=customXml/itemProps2.xml><?xml version="1.0" encoding="utf-8"?>
<ds:datastoreItem xmlns:ds="http://schemas.openxmlformats.org/officeDocument/2006/customXml" ds:itemID="{1B9F3023-3460-4C94-AC6C-4F171062BD4F}">
  <ds:schemaRefs>
    <ds:schemaRef ds:uri="265cb39c-7109-435c-af5d-13dc21a2db6b"/>
    <ds:schemaRef ds:uri="62b85a0e-09bb-4b0f-bd28-e34020cdc070"/>
    <ds:schemaRef ds:uri="http://purl.org/dc/elements/1.1/"/>
    <ds:schemaRef ds:uri="http://purl.org/dc/terms/"/>
    <ds:schemaRef ds:uri="http://schemas.microsoft.com/internal/obd"/>
    <ds:schemaRef ds:uri="http://schemas.microsoft.com/office/2006/documentManagement/types"/>
    <ds:schemaRef ds:uri="http://schemas.microsoft.com/office/2006/metadata/contentType"/>
    <ds:schemaRef ds:uri="http://schemas.microsoft.com/office/2006/metadata/properties"/>
    <ds:schemaRef ds:uri="http://schemas.microsoft.com/office/2006/metadata/properties/metaAttributes"/>
    <ds:schemaRef ds:uri="http://schemas.microsoft.com/office/infopath/2007/PartnerControls"/>
    <ds:schemaRef ds:uri="http://schemas.openxmlformats.org/package/2006/metadata/core-properties"/>
    <ds:schemaRef ds:uri="http://www.w3.org/2001/XMLSchema"/>
  </ds:schemaRefs>
</ds:datastoreItem>
</file>

<file path=customXml/itemProps3.xml><?xml version="1.0" encoding="utf-8"?>
<ds:datastoreItem xmlns:ds="http://schemas.openxmlformats.org/officeDocument/2006/customXml" ds:itemID="{89FA9FA0-2CB2-436E-A336-3A77ADFE4CF1}">
  <ds:schemaRefs>
    <ds:schemaRef ds:uri="http://purl.org/dc/terms/"/>
    <ds:schemaRef ds:uri="http://schemas.microsoft.com/office/infopath/2007/PartnerControls"/>
    <ds:schemaRef ds:uri="http://purl.org/dc/dcmitype/"/>
    <ds:schemaRef ds:uri="http://schemas.openxmlformats.org/package/2006/metadata/core-properties"/>
    <ds:schemaRef ds:uri="http://schemas.microsoft.com/office/2006/metadata/properties"/>
    <ds:schemaRef ds:uri="http://schemas.microsoft.com/office/2006/documentManagement/types"/>
    <ds:schemaRef ds:uri="265cb39c-7109-435c-af5d-13dc21a2db6b"/>
    <ds:schemaRef ds:uri="http://purl.org/dc/elements/1.1/"/>
    <ds:schemaRef ds:uri="62b85a0e-09bb-4b0f-bd28-e34020cdc070"/>
    <ds:schemaRef ds:uri="http://www.w3.org/XML/1998/namespace"/>
  </ds:schemaRefs>
</ds:datastoreItem>
</file>

<file path=docProps/app.xml><?xml version="1.0" encoding="utf-8"?>
<Properties xmlns="http://schemas.openxmlformats.org/officeDocument/2006/extended-properties" xmlns:vt="http://schemas.openxmlformats.org/officeDocument/2006/docPropsVTypes">
  <Template>Vopak Theme</Template>
  <TotalTime>0</TotalTime>
  <Words>15</Words>
  <Application>Microsoft Office PowerPoint</Application>
  <PresentationFormat>Custom</PresentationFormat>
  <Paragraphs>4</Paragraphs>
  <Slides>3</Slides>
  <Notes>0</Notes>
  <HiddenSlides>0</HiddenSlides>
  <MMClips>0</MMClips>
  <ScaleCrop>false</ScaleCrop>
  <HeadingPairs>
    <vt:vector size="6" baseType="variant">
      <vt:variant>
        <vt:lpstr>Fonts Used</vt:lpstr>
      </vt:variant>
      <vt:variant>
        <vt:i4>3</vt:i4>
      </vt:variant>
      <vt:variant>
        <vt:lpstr>Theme</vt:lpstr>
      </vt:variant>
      <vt:variant>
        <vt:i4>1</vt:i4>
      </vt:variant>
      <vt:variant>
        <vt:lpstr>Slide Titles</vt:lpstr>
      </vt:variant>
      <vt:variant>
        <vt:i4>3</vt:i4>
      </vt:variant>
    </vt:vector>
  </HeadingPairs>
  <TitlesOfParts>
    <vt:vector size="7" baseType="lpstr">
      <vt:lpstr>Arial</vt:lpstr>
      <vt:lpstr>Calibri</vt:lpstr>
      <vt:lpstr>Lato</vt:lpstr>
      <vt:lpstr>Vopak Theme</vt:lpstr>
      <vt:lpstr>PowerPoint Presentation</vt:lpstr>
      <vt:lpstr>PowerPoint Presentation</vt:lpstr>
      <vt:lpstr>PowerPoint Presentation</vt:lpstr>
    </vt:vector>
  </TitlesOfParts>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South Africa liquid fuels: Week 1 analytical maps</dc:title>
  <dc:creator>Africa International Advisors</dc:creator>
  <cp:lastModifiedBy>Nigel Zhuwaki</cp:lastModifiedBy>
  <cp:revision>1</cp:revision>
  <dcterms:created xsi:type="dcterms:W3CDTF">2017-11-16T09:19:07Z</dcterms:created>
  <dcterms:modified xsi:type="dcterms:W3CDTF">2026-10-01T12:10:22Z</dcterms:modified>
  <dc:subject>Illustrative demand geography and conditional Vopak market access</dc:subject>
</cp:coreProperties>
</file>

<file path=docProps/custom.xml><?xml version="1.0" encoding="utf-8"?>
<Properties xmlns="http://schemas.openxmlformats.org/officeDocument/2006/custom-properties" xmlns:vt="http://schemas.openxmlformats.org/officeDocument/2006/docPropsVTypes">
  <property fmtid="{D5CDD505-2E9C-101B-9397-08002B2CF9AE}" pid="2" name="ContentTypeId">
    <vt:lpwstr>0x010100BB14DAA3CC024F49A081857B4C9CD92A</vt:lpwstr>
  </property>
  <property fmtid="{D5CDD505-2E9C-101B-9397-08002B2CF9AE}" pid="3" name="MediaServiceImageTags">
    <vt:lpwstr/>
  </property>
</Properties>
</file>