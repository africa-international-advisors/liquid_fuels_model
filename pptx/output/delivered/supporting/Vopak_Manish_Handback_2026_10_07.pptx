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1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10.729528751</c:v>
                </c:pt>
                <c:pt idx="1">
                  <c:v>10.691734654</c:v>
                </c:pt>
                <c:pt idx="2">
                  <c:v>11.223942785</c:v>
                </c:pt>
                <c:pt idx="3">
                  <c:v>10.135812655</c:v>
                </c:pt>
                <c:pt idx="4">
                  <c:v>10.446909538</c:v>
                </c:pt>
                <c:pt idx="5">
                  <c:v>10.470524002</c:v>
                </c:pt>
                <c:pt idx="6">
                  <c:v>8.196576968</c:v>
                </c:pt>
                <c:pt idx="7">
                  <c:v>6.345466608</c:v>
                </c:pt>
                <c:pt idx="8">
                  <c:v>4.584221815</c:v>
                </c:pt>
                <c:pt idx="9">
                  <c:v>5.548194912</c:v>
                </c:pt>
                <c:pt idx="10">
                  <c:v>5.947890582</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9.11707366</c:v>
                </c:pt>
                <c:pt idx="1">
                  <c:v>8.682215257</c:v>
                </c:pt>
                <c:pt idx="2">
                  <c:v>9.543684503</c:v>
                </c:pt>
                <c:pt idx="3">
                  <c:v>7.892459337</c:v>
                </c:pt>
                <c:pt idx="4">
                  <c:v>8.997854948</c:v>
                </c:pt>
                <c:pt idx="5">
                  <c:v>9.059736436</c:v>
                </c:pt>
                <c:pt idx="6">
                  <c:v>5.788786832</c:v>
                </c:pt>
                <c:pt idx="7">
                  <c:v>4.07787555</c:v>
                </c:pt>
                <c:pt idx="8">
                  <c:v>1.652268839</c:v>
                </c:pt>
                <c:pt idx="9">
                  <c:v>0.926913773</c:v>
                </c:pt>
                <c:pt idx="10">
                  <c:v>1.737287544</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9.xml"/><Relationship Id="rId7" Type="http://schemas.openxmlformats.org/officeDocument/2006/relationships/slide" Target="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2024 petrol and diesel sales exceed net imports by 7.7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to 2023; 2024 is FIASA's figure and is unverified; none yet for 2025.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flagged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agree the 2024 sales source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FIASA is used.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after 2021 and stock changes are missing, so the balance is not closed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Missing production and stocks | sales less net imports against production reported in the energy balance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845820">
                <a:tc>
                  <a:txBody>
                    <a:bodyPr/>
                    <a:lstStyle/>
                    <a:p>
                      <a:pPr>
                        <a:spcAft>
                          <a:spcPts val="100"/>
                        </a:spcAft>
                        <a:defRPr sz="950" b="1">
                          <a:solidFill>
                            <a:srgbClr val="0A2373"/>
                          </a:solidFill>
                          <a:latin typeface="Lato"/>
                        </a:defRPr>
                      </a:pPr>
                      <a:r>
                        <a:t>Missing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Production by product, 2022 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Sasol, year to June 2024: Secunda 29.1 and Natref 17.8 million barrels. Glencore, calendar 2024: Astron 166,204 billion Btu.</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refined products; fiscal against calendar years; Natref is Sasol's share only</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Stock changes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monthly stocks, 2023 and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Lowest reliability code; not usable as it stands</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Sales coverage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fuel levy volumes, round figures in media releases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Period is assumed; indicative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 diesel gap of 3 to 4 bn litres a year remains a hypothesis to test. It is not added to demand. Needed to close: output by product and plant, a stock series, and matched periods.</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 New tanks in service since October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 Vopak Q3 2025 release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Vopak's website publishes none of the operating data. Still needed from Vopak: twelve months of outbound volume by product and mode, the new tanks' operational capacity and loading hours.</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a floor,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Target, not realised;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