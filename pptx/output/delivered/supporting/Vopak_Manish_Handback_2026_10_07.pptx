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 Id="rId8" Type="http://schemas.openxmlformats.org/officeDocument/2006/relationships/slide" Target="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 levers added: price, backup generation, freight electrification, hybrids, rail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377440"/>
                <a:gridCol w="1188720"/>
                <a:gridCol w="1463040"/>
                <a:gridCol w="1463040"/>
                <a:gridCol w="4160520"/>
              </a:tblGrid>
              <a:tr h="429768">
                <a:tc>
                  <a:txBody>
                    <a:bodyPr/>
                    <a:lstStyle/>
                    <a:p>
                      <a:pPr>
                        <a:spcAft>
                          <a:spcPts val="100"/>
                        </a:spcAft>
                        <a:defRPr sz="8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2030</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2035</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diesel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Private backup generation</a:t>
                      </a:r>
                    </a:p>
                    <a:p>
                      <a:pPr>
                        <a:spcAft>
                          <a:spcPts val="100"/>
                        </a:spcAft>
                        <a:defRPr sz="8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trucks</a:t>
                      </a:r>
                    </a:p>
                    <a:p>
                      <a:pPr>
                        <a:spcAft>
                          <a:spcPts val="100"/>
                        </a:spcAft>
                        <a:defRPr sz="850" b="1">
                          <a:solidFill>
                            <a:srgbClr val="0A2373"/>
                          </a:solidFill>
                          <a:latin typeface="Lato"/>
                        </a:defRPr>
                      </a:pPr>
                      <a:r>
                        <a:t>% of new truck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0.4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3 / 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South African data. 2025 benchmarks: Brazil 0.4%, Europe 3%, world 9%, China 25% (IEA; ICCT). High case is about 2.5% of the fleet by 2035.</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light commercial</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1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2025 benchmarks: India 1%, Europe 10%, China 14% (IEA). Bakkies differ from vans, so loose comparators.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petrol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Plug-in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a:t>
                      </a:r>
                    </a:p>
                    <a:p>
                      <a:pPr>
                        <a:spcAft>
                          <a:spcPts val="100"/>
                        </a:spcAft>
                        <a:defRPr sz="8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Conventional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a:t>
                      </a:r>
                    </a:p>
                    <a:p>
                      <a:pPr>
                        <a:spcAft>
                          <a:spcPts val="100"/>
                        </a:spcAft>
                        <a:defRPr sz="8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Rail passenger journeys</a:t>
                      </a:r>
                    </a:p>
                    <a:p>
                      <a:pPr>
                        <a:spcAft>
                          <a:spcPts val="100"/>
                        </a:spcAft>
                        <a:defRPr sz="8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74</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Exports to nine neighbours</a:t>
                      </a:r>
                    </a:p>
                    <a:p>
                      <a:pPr>
                        <a:spcAft>
                          <a:spcPts val="100"/>
                        </a:spcAft>
                        <a:defRPr sz="8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1.48</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nine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22-item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today: Road Accident Fund accounts give 24.4 bn litres of petrol and diesel levied in the year to March 2025, against 20.8 recorded as sold, and show volumes rising where FIASA shows a fall.</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9 proposed, 10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10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390698">
                <a:tc>
                  <a:txBody>
                    <a:bodyPr/>
                    <a:lstStyle/>
                    <a:p>
                      <a:pPr>
                        <a:spcAft>
                          <a:spcPts val="100"/>
                        </a:spcAft>
                        <a:defRPr sz="80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D01  Which 2024 national sales figure to use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Department has published nothing after 2023. FIASA 2025 edition: petrol 9.03, diesel 11.73 bn litres; FIASA 2024 edition: 8.76 and 11.81. Road Accident Fund levy shows volumes up 0.7%, not down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Start the forecast from 2023; carry 2024 as unverified</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r h="390700">
                <a:tc>
                  <a:txBody>
                    <a:bodyPr/>
                    <a:lstStyle/>
                    <a:p>
                      <a:pPr>
                        <a:spcAft>
                          <a:spcPts val="100"/>
                        </a:spcAft>
                        <a:defRPr sz="800" b="1">
                          <a:solidFill>
                            <a:srgbClr val="0A2373"/>
                          </a:solidFill>
                          <a:latin typeface="Lato"/>
                        </a:defRPr>
                      </a:pPr>
                      <a:r>
                        <a:t>D22  Power fleet: the three cases and the assumptions behind them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Fleet defined: Ankerlig Gourikwa Avon Dedisa (3,089 MW). Low / medium / high give 20 / 637 / 4,224 million litres from 2031. Unsourced: 10% of output on diesel when gas is available; 40% load factor on gas; 0.31 litres per kWh; Avon and Dedisa continuing after 2030-2031; 6 GW of gas turbines sited at Camden Grootvlei Hendrina Arnot and Kriel; no gas reaching them in the high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Accept the fleet; confirm or change each case setting; replaces the two placeholder stations in the model</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2024 stays on FIASA, unverified. 2025 has no national sales figure from any source.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