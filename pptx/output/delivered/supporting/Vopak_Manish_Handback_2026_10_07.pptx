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73" r:id="rId26"/>
    <p:sldId id="274" r:id="rId27"/>
    <p:sldId id="275"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999.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2.xml"/><Relationship Id="rId8" Type="http://schemas.openxmlformats.org/officeDocument/2006/relationships/slide" Target="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 against 20.76 here.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8"/>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Seven levers added: price, backup generation, hybrids, rail passengers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diesel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Private backup generation</a:t>
                      </a:r>
                    </a:p>
                    <a:p>
                      <a:pPr>
                        <a:spcAft>
                          <a:spcPts val="100"/>
                        </a:spcAft>
                        <a:defRPr sz="9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petrol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Plug-in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Conventional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a:t>
                      </a:r>
                    </a:p>
                    <a:p>
                      <a:pPr>
                        <a:spcAft>
                          <a:spcPts val="100"/>
                        </a:spcAft>
                        <a:defRPr sz="9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Rail passenger journeys</a:t>
                      </a:r>
                    </a:p>
                    <a:p>
                      <a:pPr>
                        <a:spcAft>
                          <a:spcPts val="100"/>
                        </a:spcAft>
                        <a:defRPr sz="9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74</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Exports to nine neighbours</a:t>
                      </a:r>
                    </a:p>
                    <a:p>
                      <a:pPr>
                        <a:spcAft>
                          <a:spcPts val="100"/>
                        </a:spcAft>
                        <a:defRPr sz="9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1.48</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 five priorities have outputs to review; the vehicle block is still to do</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Status against the five priorities of 7 October | ready, proposed or partial</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737360"/>
                <a:gridCol w="1600200"/>
                <a:gridCol w="4206240"/>
                <a:gridCol w="3108960"/>
              </a:tblGrid>
              <a:tr h="594360">
                <a:tc>
                  <a:txBody>
                    <a:bodyPr/>
                    <a:lstStyle/>
                    <a:p>
                      <a:pPr>
                        <a:spcAft>
                          <a:spcPts val="100"/>
                        </a:spcAft>
                        <a:defRPr sz="1050" b="1">
                          <a:solidFill>
                            <a:srgbClr val="0A2373"/>
                          </a:solidFill>
                          <a:latin typeface="Lato"/>
                        </a:defRPr>
                      </a:pPr>
                      <a:r>
                        <a:t>Priority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Status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Ready to review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Not done or not available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1 National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 with stated gaps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Balance rebuilt on customs trade with tests; source differences listed; 2018-2019 traced as far as data allows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Production by product after 2021 and stocks exist in no source found</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2 Forecast levers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20 levers with baseline, rationale and source; 39 of 120 values with a replacement; seven levers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Some baselines are placeholders; freight is in tonnes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3 Sector baselines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Agriculture 1.06 and industry 1.50 bn litres, with the forecast effect and an overlap table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On-road overlap not sized; power generation is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4 Tank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Lesedi and Durban site assumptions; eight values marked to confirm with the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No Vopak operating data; other operators' sites not done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5 Hand-back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This deck, the hand-back note, a 21-item decision log, the workshop workbook with history from 2012, and 224 pack figures on pages 4-10 checked with none differing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Pack pages 12-31 not checked; vehicle block not done</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New evidence today: Road Accident Fund accounts give 24.4 bn litres of petrol and diesel levied in the year to March 2025, against 20.8 recorded as sold, and show volumes rising where FIASA shows a fall.</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3 ready, 9 proposed, 9 unresolved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Decisions for Nigel | the nine that are unresolved, with the analyst's proposal | full log in the csv</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834640"/>
                <a:gridCol w="5257800"/>
                <a:gridCol w="2560320"/>
              </a:tblGrid>
              <a:tr h="429768">
                <a:tc>
                  <a:txBody>
                    <a:bodyPr/>
                    <a:lstStyle/>
                    <a:p>
                      <a:pPr>
                        <a:spcAft>
                          <a:spcPts val="100"/>
                        </a:spcAft>
                        <a:defRPr sz="850" b="1">
                          <a:solidFill>
                            <a:srgbClr val="0A2373"/>
                          </a:solidFill>
                          <a:latin typeface="Lato"/>
                        </a:defRPr>
                      </a:pPr>
                      <a:r>
                        <a:t>Decision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Evidence in brief</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Proposal</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D01  Which 2024 national sales figure to use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has published nothing after 2023. FIASA 2025 edition: petrol 9.03, diesel 11.73 bn litres; FIASA 2024 edition: 8.76 and 11.81. Road Accident Fund levy shows volumes up 0.7%, not down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Start the forecast from 2023; carry 2024 as unverified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D05  Treatment of the 2014 and 2018 provincial differences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Provincial sum is above the national file by 0.13-0.14 bn litres in 2014; 2018 quarter 1 district sheet is missing districts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National file stands; both records kept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D08  Secunda utilisation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Capacity corrected to 150 thousand barrels a day with utilisation re-based so output is unchanged; model gives 62 for 2024, Sasol reports 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Raise utilisation to match reported output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D09  Reference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medium case is agreed; medium values are proposals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Agree after the ranges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D11  Power generation starting 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Model has 3.58 bn litres for 2024; Eskom reports 0.68-0.94 and all plants about 1.6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Recalibrate to reported burn at 0.31 litres per kWh</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D12  Allowance for on-road use inside agriculture and mining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published source sizes it; 20% would be about 0.47 bn litres; Road Accident Fund rebates cover 1.46 bn litres across all rebated sectors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None applied; ask SARS for refund data by sector</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D13  Whether ships' diesel sits inside the inland diesel 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Model carries 0.77 bn litres of marine gas oil; 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Decide scope before reconciling to sales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D17  Send the data request to Vopak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Eight values marked to confirm with client; Vopak's website publishes no operating data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Send now</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D21  Marine baseline elasticities and road parameters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Carried over from 6 October; no new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Unchanged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workshop workbook now carries sourced history from 2012 and labelled provincial estimates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Demand_baseline_workshop_2026_10_08_history.xlsx | built by one command | Nigel's sheets unchanged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828800"/>
                <a:gridCol w="4663440"/>
                <a:gridCol w="4160520"/>
              </a:tblGrid>
              <a:tr h="594360">
                <a:tc>
                  <a:txBody>
                    <a:bodyPr/>
                    <a:lstStyle/>
                    <a:p>
                      <a:pPr>
                        <a:spcAft>
                          <a:spcPts val="100"/>
                        </a:spcAft>
                        <a:defRPr sz="1000" b="1">
                          <a:solidFill>
                            <a:srgbClr val="0A2373"/>
                          </a:solidFill>
                          <a:latin typeface="Lato"/>
                        </a:defRPr>
                      </a:pPr>
                      <a:r>
                        <a:t>Sheet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it holds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it shows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Department sales by province, customs imports and exports, refinery production, the balance and the Road Accident Fund count, 2012-2025; totals and balances are formulas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Net imports of petrol and diesel rose from 3.7 bn litres (2014) to 15.7 bn (2022). Production by product stops at 2021</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History, section 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Estimated provincial shares and volumes for 2023-2025, kept apart from observed rows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Quarter 1 2023 shares are the best of six methods tested: 2.5 share points misallocated for petrol, 5.3 for diesel</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Sector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Mining, manufacturing and agriculture diesel beside their activity measures, with litres per unit of activity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Mining swings between 11 and 17 million litres per index point; indicative 2024: mining 1.40, agriculture 0.96 bn litres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Checks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66 values on the Evidence sheet recomputed from registered inputs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All match</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00" b="1">
                          <a:solidFill>
                            <a:srgbClr val="0A2373"/>
                          </a:solidFill>
                          <a:latin typeface="Lato"/>
                        </a:defRPr>
                      </a:pPr>
                      <a:r>
                        <a:t>History sources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Publisher, link, original file, extract and refresh command for each dataset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One change to an existing sheet: source selection for 2022 and 2023 is set to the department instead of FIASA. 2024 stays on FIASA, unverified. 2025 has no national sales figure from any source.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