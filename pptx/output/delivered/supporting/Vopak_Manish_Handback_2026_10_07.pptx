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76" r:id="rId29"/>
    <p:sldId id="277" r:id="rId30"/>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10.869985937</c:v>
                </c:pt>
                <c:pt idx="1">
                  <c:v>10.685679706</c:v>
                </c:pt>
                <c:pt idx="2">
                  <c:v>11.223942785</c:v>
                </c:pt>
                <c:pt idx="3">
                  <c:v>10.135540679</c:v>
                </c:pt>
                <c:pt idx="4">
                  <c:v>10.234278234</c:v>
                </c:pt>
                <c:pt idx="5">
                  <c:v>10.470524002</c:v>
                </c:pt>
                <c:pt idx="6">
                  <c:v>8.196576968</c:v>
                </c:pt>
                <c:pt idx="7">
                  <c:v>6.345466608</c:v>
                </c:pt>
                <c:pt idx="8">
                  <c:v>4.584221815</c:v>
                </c:pt>
                <c:pt idx="9">
                  <c:v>5.548194912</c:v>
                </c:pt>
              </c:numCache>
            </c:numRef>
          </c:val>
          <c:smooth val="0"/>
        </c:ser>
        <c:ser>
          <c:idx val="1"/>
          <c:order val="1"/>
          <c:tx>
            <c:strRef>
              <c:f>Sheet1!$C$1</c:f>
              <c:strCache>
                <c:ptCount val="1"/>
                <c:pt idx="0">
                  <c:v>Production, energy balance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9.245440187</c:v>
                </c:pt>
                <c:pt idx="1">
                  <c:v>8.654227364</c:v>
                </c:pt>
                <c:pt idx="2">
                  <c:v>9.543684503</c:v>
                </c:pt>
                <c:pt idx="3">
                  <c:v>7.890364359</c:v>
                </c:pt>
                <c:pt idx="4">
                  <c:v>8.777731054</c:v>
                </c:pt>
                <c:pt idx="5">
                  <c:v>9.059736436</c:v>
                </c:pt>
                <c:pt idx="6">
                  <c:v>5.788786832</c:v>
                </c:pt>
                <c:pt idx="7">
                  <c:v>4.077110815</c:v>
                </c:pt>
                <c:pt idx="8">
                  <c:v>1.652268839</c:v>
                </c:pt>
                <c:pt idx="9">
                  <c:v>0.926913773</c:v>
                </c:pt>
              </c:numCache>
            </c:numRef>
          </c:val>
          <c:smooth val="0"/>
        </c:ser>
        <c:ser>
          <c:idx val="1"/>
          <c:order val="1"/>
          <c:tx>
            <c:strRef>
              <c:f>Sheet1!$C$1</c:f>
              <c:strCache>
                <c:ptCount val="1"/>
                <c:pt idx="0">
                  <c:v>Production, energy balance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for power, million litres a year</a:t>
            </a:r>
          </a:p>
        </c:rich>
      </c:tx>
      <c:layout/>
      <c:overlay val="0"/>
    </c:title>
    <c:autoTitleDeleted val="0"/>
    <c:plotArea>
      <c:lineChart>
        <c:grouping val="standard"/>
        <c:varyColors val="0"/>
        <c:ser>
          <c:idx val="0"/>
          <c:order val="0"/>
          <c:tx>
            <c:strRef>
              <c:f>Sheet1!$B$1</c:f>
              <c:strCache>
                <c:ptCount val="1"/>
                <c:pt idx="0">
                  <c:v>Low</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Sheet1!$B$2:$B$15</c:f>
              <c:numCache>
                <c:formatCode>General</c:formatCode>
                <c:ptCount val="14"/>
                <c:pt idx="0">
                  <c:v>301.1482395802973</c:v>
                </c:pt>
                <c:pt idx="1">
                  <c:v>301.1482395802973</c:v>
                </c:pt>
                <c:pt idx="2">
                  <c:v>301.1482395802973</c:v>
                </c:pt>
                <c:pt idx="3">
                  <c:v>301.1482395802973</c:v>
                </c:pt>
                <c:pt idx="4">
                  <c:v>301.1482395802973</c:v>
                </c:pt>
                <c:pt idx="5">
                  <c:v>301.1482395802973</c:v>
                </c:pt>
                <c:pt idx="6">
                  <c:v>118.29500612066454</c:v>
                </c:pt>
                <c:pt idx="7">
                  <c:v>118.29500612066454</c:v>
                </c:pt>
                <c:pt idx="8">
                  <c:v>20.317025939959194</c:v>
                </c:pt>
                <c:pt idx="9">
                  <c:v>20.317025939959194</c:v>
                </c:pt>
                <c:pt idx="10">
                  <c:v>20.317025939959194</c:v>
                </c:pt>
                <c:pt idx="11">
                  <c:v>20.317025939959194</c:v>
                </c:pt>
                <c:pt idx="12">
                  <c:v>20.317025939959194</c:v>
                </c:pt>
                <c:pt idx="13">
                  <c:v>20.317025939959194</c:v>
                </c:pt>
              </c:numCache>
            </c:numRef>
          </c:val>
          <c:smooth val="0"/>
        </c:ser>
        <c:ser>
          <c:idx val="1"/>
          <c:order val="1"/>
          <c:tx>
            <c:strRef>
              <c:f>Sheet1!$C$1</c:f>
              <c:strCache>
                <c:ptCount val="1"/>
                <c:pt idx="0">
                  <c:v>Medium</c:v>
                </c:pt>
              </c:strCache>
            </c:strRef>
          </c:tx>
          <c:spPr>
            <a:ln w="25400">
              <a:solidFill>
                <a:srgbClr val="546CA2"/>
              </a:solidFill>
            </a:ln>
          </c:spPr>
          <c:marker>
            <c:symbol val="circle"/>
            <c:size val="6"/>
            <c:spPr>
              <a:solidFill>
                <a:srgbClr val="546CA2"/>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Sheet1!$C$2:$C$15</c:f>
              <c:numCache>
                <c:formatCode>General</c:formatCode>
                <c:ptCount val="14"/>
                <c:pt idx="0">
                  <c:v>792.0840629554066</c:v>
                </c:pt>
                <c:pt idx="1">
                  <c:v>792.0840629554066</c:v>
                </c:pt>
                <c:pt idx="2">
                  <c:v>792.0840629554066</c:v>
                </c:pt>
                <c:pt idx="3">
                  <c:v>792.0840629554066</c:v>
                </c:pt>
                <c:pt idx="4">
                  <c:v>792.0840629554066</c:v>
                </c:pt>
                <c:pt idx="5">
                  <c:v>792.0840629554066</c:v>
                </c:pt>
                <c:pt idx="6">
                  <c:v>311.1410819003206</c:v>
                </c:pt>
                <c:pt idx="7">
                  <c:v>311.1410819003206</c:v>
                </c:pt>
                <c:pt idx="8">
                  <c:v>637.0130819003207</c:v>
                </c:pt>
                <c:pt idx="9">
                  <c:v>637.0130819003207</c:v>
                </c:pt>
                <c:pt idx="10">
                  <c:v>637.0130819003207</c:v>
                </c:pt>
                <c:pt idx="11">
                  <c:v>637.0130819003207</c:v>
                </c:pt>
                <c:pt idx="12">
                  <c:v>637.0130819003207</c:v>
                </c:pt>
                <c:pt idx="13">
                  <c:v>637.0130819003207</c:v>
                </c:pt>
              </c:numCache>
            </c:numRef>
          </c:val>
          <c:smooth val="0"/>
        </c:ser>
        <c:ser>
          <c:idx val="2"/>
          <c:order val="2"/>
          <c:tx>
            <c:strRef>
              <c:f>Sheet1!$D$1</c:f>
              <c:strCache>
                <c:ptCount val="1"/>
                <c:pt idx="0">
                  <c:v>High</c:v>
                </c:pt>
              </c:strCache>
            </c:strRef>
          </c:tx>
          <c:spPr>
            <a:ln w="25400">
              <a:solidFill>
                <a:srgbClr val="0A2373"/>
              </a:solidFill>
            </a:ln>
          </c:spPr>
          <c:marker>
            <c:symbol val="circle"/>
            <c:size val="6"/>
            <c:spPr>
              <a:solidFill>
                <a:srgbClr val="0A2373"/>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Sheet1!$D$2:$D$15</c:f>
              <c:numCache>
                <c:formatCode>General</c:formatCode>
                <c:ptCount val="14"/>
                <c:pt idx="0">
                  <c:v>1435.4081521422324</c:v>
                </c:pt>
                <c:pt idx="1">
                  <c:v>1435.4081521422324</c:v>
                </c:pt>
                <c:pt idx="2">
                  <c:v>1435.4081521422324</c:v>
                </c:pt>
                <c:pt idx="3">
                  <c:v>1435.4081521422324</c:v>
                </c:pt>
                <c:pt idx="4">
                  <c:v>1435.4081521422324</c:v>
                </c:pt>
                <c:pt idx="5">
                  <c:v>1435.4081521422324</c:v>
                </c:pt>
                <c:pt idx="6">
                  <c:v>1435.4081521422324</c:v>
                </c:pt>
                <c:pt idx="7">
                  <c:v>1435.4081521422324</c:v>
                </c:pt>
                <c:pt idx="8">
                  <c:v>4223.510746138152</c:v>
                </c:pt>
                <c:pt idx="9">
                  <c:v>4223.510746138152</c:v>
                </c:pt>
                <c:pt idx="10">
                  <c:v>4223.510746138152</c:v>
                </c:pt>
                <c:pt idx="11">
                  <c:v>4223.510746138152</c:v>
                </c:pt>
                <c:pt idx="12">
                  <c:v>4223.510746138152</c:v>
                </c:pt>
                <c:pt idx="13">
                  <c:v>4223.510746138152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5000.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1000.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4.xml"/><Relationship Id="rId8" Type="http://schemas.openxmlformats.org/officeDocument/2006/relationships/slide" Target="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slide" Target="slide3.xml"/><Relationship Id="rId4" Type="http://schemas.openxmlformats.org/officeDocument/2006/relationships/slide" Target="slide6.xml"/><Relationship Id="rId5" Type="http://schemas.openxmlformats.org/officeDocument/2006/relationships/slide" Target="slide10.xml"/><Relationship Id="rId6" Type="http://schemas.openxmlformats.org/officeDocument/2006/relationships/slide" Target="slide14.xml"/><Relationship Id="rId7" Type="http://schemas.openxmlformats.org/officeDocument/2006/relationships/slide" Target="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2023 petrol and diesel sales exceed net imports by 6.5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provincial data added up, 2013-2022; department national total for 2023; 2024 and 2025 blank. FIASA and JODI are not used.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None. 2024 is left blank; FIASA is not used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note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no trade figure is selected.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is published to 2021 and sales to 2023; stocks are not published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Production and stocks | sales less net imports against production in the energy balance |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563880">
                <a:tc>
                  <a:txBody>
                    <a:bodyPr/>
                    <a:lstStyle/>
                    <a:p>
                      <a:pPr>
                        <a:spcAft>
                          <a:spcPts val="100"/>
                        </a:spcAft>
                        <a:defRPr sz="950" b="1">
                          <a:solidFill>
                            <a:srgbClr val="0A2373"/>
                          </a:solidFill>
                          <a:latin typeface="Lato"/>
                        </a:defRPr>
                      </a:pPr>
                      <a:r>
                        <a:t>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Production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energy balances, 2007-2021; fifteen files, downloaded again and matched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 published after 2021; 2022 on is blank</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national sales, to 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2024 and 2025 are blank</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Imports,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customs, 2014-2025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In kilograms before 2014</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Stock change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series is published</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Not used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FIASA and JODI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Kept as comparison rows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Matched years are 2014 to 2021. Supply and recorded sales agree within 0.9 bn litres except diesel in 2021, where supply is 1.2 bn litres higher. Not added to demand.</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 levers added: price, backup generation, freight electrification, hybrids, rail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377440"/>
                <a:gridCol w="1188720"/>
                <a:gridCol w="1463040"/>
                <a:gridCol w="1463040"/>
                <a:gridCol w="4160520"/>
              </a:tblGrid>
              <a:tr h="429768">
                <a:tc>
                  <a:txBody>
                    <a:bodyPr/>
                    <a:lstStyle/>
                    <a:p>
                      <a:pPr>
                        <a:spcAft>
                          <a:spcPts val="100"/>
                        </a:spcAft>
                        <a:defRPr sz="8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2030</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2035</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diesel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Private backup generation</a:t>
                      </a:r>
                    </a:p>
                    <a:p>
                      <a:pPr>
                        <a:spcAft>
                          <a:spcPts val="100"/>
                        </a:spcAft>
                        <a:defRPr sz="8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trucks</a:t>
                      </a:r>
                    </a:p>
                    <a:p>
                      <a:pPr>
                        <a:spcAft>
                          <a:spcPts val="100"/>
                        </a:spcAft>
                        <a:defRPr sz="850" b="1">
                          <a:solidFill>
                            <a:srgbClr val="0A2373"/>
                          </a:solidFill>
                          <a:latin typeface="Lato"/>
                        </a:defRPr>
                      </a:pPr>
                      <a:r>
                        <a:t>% of new truck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0.4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3 / 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South African data. 2025 benchmarks: Brazil 0.4%, Europe 3%, world 9%, China 25% (IEA; ICCT). High case is about 2.5% of the fleet by 2035.</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light commercial</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1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2025 benchmarks: India 1%, Europe 10%, China 14% (IEA). Bakkies differ from vans, so loose comparators.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petrol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Plug-in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a:t>
                      </a:r>
                    </a:p>
                    <a:p>
                      <a:pPr>
                        <a:spcAft>
                          <a:spcPts val="100"/>
                        </a:spcAft>
                        <a:defRPr sz="8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Conventional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a:t>
                      </a:r>
                    </a:p>
                    <a:p>
                      <a:pPr>
                        <a:spcAft>
                          <a:spcPts val="100"/>
                        </a:spcAft>
                        <a:defRPr sz="8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Rail passenger journeys</a:t>
                      </a:r>
                    </a:p>
                    <a:p>
                      <a:pPr>
                        <a:spcAft>
                          <a:spcPts val="100"/>
                        </a:spcAft>
                        <a:defRPr sz="8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74</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Exports to nine neighbours</a:t>
                      </a:r>
                    </a:p>
                    <a:p>
                      <a:pPr>
                        <a:spcAft>
                          <a:spcPts val="100"/>
                        </a:spcAft>
                        <a:defRPr sz="8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1.48</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stations, 3,089 MW, burn diesel for power; eight coal stations stop by 2034</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Power generation fleet | installed capacity | diesel stations today and coal stations being retired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45720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 stations today</a:t>
            </a:r>
          </a:p>
        </p:txBody>
      </p:sp>
      <p:graphicFrame>
        <p:nvGraphicFramePr>
          <p:cNvPr id="8" name="Table 7"/>
          <p:cNvGraphicFramePr>
            <a:graphicFrameLocks noGrp="1"/>
          </p:cNvGraphicFramePr>
          <p:nvPr/>
        </p:nvGraphicFramePr>
        <p:xfrm>
          <a:off x="457200" y="2267712"/>
          <a:ext cx="5074920" cy="2011680"/>
        </p:xfrm>
        <a:graphic>
          <a:graphicData uri="http://schemas.openxmlformats.org/drawingml/2006/table">
            <a:tbl>
              <a:tblPr firstRow="0" bandRow="0"/>
              <a:tblGrid>
                <a:gridCol w="1051560"/>
                <a:gridCol w="1463040"/>
                <a:gridCol w="548640"/>
                <a:gridCol w="2011680"/>
              </a:tblGrid>
              <a:tr h="402336">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Owner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changes</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Ankerlig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1,338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Gas supply sought; switch targeted December 2027</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746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Same gas tender</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Avon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670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Contract ends in 2030 (system operator)</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Dedisa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Contract ends in 2030 (system operator)</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4434840"/>
            <a:ext cx="5029200" cy="731520"/>
          </a:xfrm>
          <a:prstGeom prst="rect">
            <a:avLst/>
          </a:prstGeom>
          <a:noFill/>
        </p:spPr>
        <p:txBody>
          <a:bodyPr wrap="square" lIns="22860" rIns="22860" tIns="0" bIns="0">
            <a:spAutoFit/>
          </a:bodyPr>
          <a:lstStyle/>
          <a:p>
            <a:pPr>
              <a:spcAft>
                <a:spcPts val="300"/>
              </a:spcAft>
              <a:defRPr sz="1000" b="0">
                <a:solidFill>
                  <a:srgbClr val="11151A"/>
                </a:solidFill>
                <a:latin typeface="Lato"/>
              </a:defRPr>
            </a:pPr>
            <a:r>
              <a:t>Acacia and Port Rex (171 MW each) burn kerosene and are not counted. The model also carries two placeholder stations of 1,000 and 2,000 MW with no source.</a:t>
            </a:r>
          </a:p>
        </p:txBody>
      </p:sp>
      <p:sp>
        <p:nvSpPr>
          <p:cNvPr id="10" name="TextBox 9"/>
          <p:cNvSpPr txBox="1"/>
          <p:nvPr/>
        </p:nvSpPr>
        <p:spPr>
          <a:xfrm>
            <a:off x="589788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Coal stations being retired</a:t>
            </a:r>
          </a:p>
        </p:txBody>
      </p:sp>
      <p:graphicFrame>
        <p:nvGraphicFramePr>
          <p:cNvPr id="11" name="Table 10"/>
          <p:cNvGraphicFramePr>
            <a:graphicFrameLocks noGrp="1"/>
          </p:cNvGraphicFramePr>
          <p:nvPr/>
        </p:nvGraphicFramePr>
        <p:xfrm>
          <a:off x="5897880" y="2267712"/>
          <a:ext cx="5212080" cy="3017520"/>
        </p:xfrm>
        <a:graphic>
          <a:graphicData uri="http://schemas.openxmlformats.org/drawingml/2006/table">
            <a:tbl>
              <a:tblPr firstRow="0" bandRow="0"/>
              <a:tblGrid>
                <a:gridCol w="1188720"/>
                <a:gridCol w="731520"/>
                <a:gridCol w="3291840"/>
              </a:tblGrid>
              <a:tr h="335280">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Stops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Komati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Shut 31 October 2022</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Camden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1,561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Grootvlei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1,180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Hendrina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1,723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Arnot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2,220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Kriel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2,790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Duvha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3,000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21 February 2034</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Matla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 July 2034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2" name="TextBox 11"/>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Eskom was to decide by end September 2026 whether Camden, Grootvlei, Hendrina, Arnot and Kriel shut, are repowered or run on. No decision had been announced by 8 October.</a:t>
            </a:r>
          </a:p>
        </p:txBody>
      </p:sp>
      <p:sp>
        <p:nvSpPr>
          <p:cNvPr id="13" name="Chevron 12">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4" name="Chevron 13">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5" name="Chevron 14">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6" name="Chevron 15">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7" name="Chevron 16">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for power from 2031: 20 to 4,224 million litres a year, depending on gas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Three cases for Nigel and Henry to confirm | million litres a year | the model has 3,581 for 2024</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5120640" cy="35661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715000" y="2029968"/>
          <a:ext cx="5394960" cy="3474720"/>
        </p:xfrm>
        <a:graphic>
          <a:graphicData uri="http://schemas.openxmlformats.org/drawingml/2006/table">
            <a:tbl>
              <a:tblPr firstRow="0" bandRow="0"/>
              <a:tblGrid>
                <a:gridCol w="1828800"/>
                <a:gridCol w="1005840"/>
                <a:gridCol w="1188720"/>
                <a:gridCol w="1371600"/>
              </a:tblGrid>
              <a:tr h="579120">
                <a:tc>
                  <a:txBody>
                    <a:bodyPr/>
                    <a:lstStyle/>
                    <a:p>
                      <a:pPr>
                        <a:spcAft>
                          <a:spcPts val="100"/>
                        </a:spcAft>
                        <a:defRPr sz="950" b="1">
                          <a:solidFill>
                            <a:srgbClr val="0A2373"/>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Low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Medium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High</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Avon and Dedisa after 2030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Stop</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Ankerlig and 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throughout</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Gas turbines at the five coal sites, 2030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3,000 MW on gas, 10% of output on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6,000 MW, no gas: diesel peakers</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Peaker load factor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17.1%</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2025 / 2030 / 2035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301 / 20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792 / 637 / 637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1,435 / 4,224 / 4,224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Estimated burn was 1,594 million litres in the year to March 2024 and 334 in the year to March 2026. The high case rests on two unsourced assumptions: that the gas turbines are sited at the five stations, and that no gas reaches them.</a:t>
            </a:r>
          </a:p>
        </p:txBody>
      </p:sp>
      <p:sp>
        <p:nvSpPr>
          <p:cNvPr id="10" name="Chevron 9">
            <a:hlinkClick action="ppaction://hlinksldjump" r:id="rId3"/>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1" name="Chevron 10">
            <a:hlinkClick action="ppaction://hlinksldjump" r:id="rId4"/>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2" name="Chevron 11">
            <a:hlinkClick action="ppaction://hlinksldjump" r:id="rId5"/>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3" name="Chevron 12">
            <a:hlinkClick action="ppaction://hlinksldjump" r:id="rId6"/>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4" name="Chevron 13">
            <a:hlinkClick action="ppaction://hlinksldjump" r:id="rId7"/>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nine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23-item decision log, the workshop workbook with history from 2012, and 288 figures in the current pack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Vehicle stock by age and by fuel within class is in no source held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Road Accident Fund accounts give 24.3 bn litres of petrol and diesel levied in the year to March 2024, against 21.9 recorded as sold in calendar 2023, and 24.4 bn in the year to March 2025.</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11 proposed, 9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9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429768">
                <a:tc>
                  <a:txBody>
                    <a:bodyPr/>
                    <a:lstStyle/>
                    <a:p>
                      <a:pPr>
                        <a:spcAft>
                          <a:spcPts val="100"/>
                        </a:spcAft>
                        <a:defRPr sz="80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Provincial sum is above the national file by 0.13-0.14 bn litres in 2014; below it by 0.21-0.22 in 2018, where the quarter 1 district sheet is missing districts. From 8 October the provincial data is the main series and is used as published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Provincial figures stand as published; or scale the one faulty quarter in each year to the national total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D22  Power fleet: the three cases and the assumptions behind them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Fleet defined: Ankerlig Gourikwa Avon Dedisa (3,089 MW). Low / medium / high give 20 / 637 / 4,224 million litres from 2031. Unsourced: 10% of output on diesel when gas is available; 40% load factor on gas; 0.31 litres per kWh; Avon and Dedisa continuing after 2030-2031; 6 GW of gas turbines sited at Camden Grootvlei Hendrina Arnot and Kriel; no gas reaching them in the high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Accept the fleet; confirm or change each case setting; replaces the two placeholder stations in the model</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4160520"/>
              </a:tblGrid>
              <a:tr h="522514">
                <a:tc>
                  <a:txBody>
                    <a:bodyPr/>
                    <a:lstStyle/>
                    <a:p>
                      <a:pPr>
                        <a:spcAft>
                          <a:spcPts val="100"/>
                        </a:spcAft>
                        <a:defRPr sz="95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Vehicle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Registered vehicles, new sales, retirements, drivetrain and fuel split beside the model's settings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Cars are 65-71% of new sales against 78% in the model; petrol per vehicle is 1,056 litres against 1,615 implied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95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The added sheets use no FIASA figure; 2024 on Nigel's own sheet is still set to FIASA, for him to decide.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