
<file path=[Content_Types].xml><?xml version="1.0" encoding="utf-8"?>
<Types xmlns="http://schemas.openxmlformats.org/package/2006/content-types">
  <Default Extension="jpeg" ContentType="image/jpeg"/>
  <Default Extension="jpg" ContentType="image/jpeg"/>
  <Default Extension="png" ContentType="image/png"/>
  <Default Extension="rels" ContentType="application/vnd.openxmlformats-package.relationships+xml"/>
  <Default Extension="xlsx" ContentType="application/vnd.openxmlformats-officedocument.spreadsheetml.sheet"/>
  <Default Extension="xml" ContentType="application/xml"/>
  <Override PartName="/customXml/itemProps1.xml" ContentType="application/vnd.openxmlformats-officedocument.customXmlProperties+xml"/>
  <Override PartName="/customXml/itemProps2.xml" ContentType="application/vnd.openxmlformats-officedocument.customXmlProperties+xml"/>
  <Override PartName="/customXml/itemProps3.xml" ContentType="application/vnd.openxmlformats-officedocument.customXmlProperties+xml"/>
  <Override PartName="/docProps/app.xml" ContentType="application/vnd.openxmlformats-officedocument.extended-properties+xml"/>
  <Override PartName="/docProps/core.xml" ContentType="application/vnd.openxmlformats-package.core-properties+xml"/>
  <Override PartName="/docProps/custom.xml" ContentType="application/vnd.openxmlformats-officedocument.custom-properties+xml"/>
  <Override PartName="/ppt/authors.xml" ContentType="application/vnd.ms-powerpoint.authors+xml"/>
  <Override PartName="/ppt/charts/chart1.xml" ContentType="application/vnd.openxmlformats-officedocument.drawingml.chart+xml"/>
  <Override PartName="/ppt/charts/chart2.xml" ContentType="application/vnd.openxmlformats-officedocument.drawingml.chart+xml"/>
  <Override PartName="/ppt/commentAuthors.xml" ContentType="application/vnd.openxmlformats-officedocument.presentationml.commentAuthor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6.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revisionInfo.xml" ContentType="application/vnd.ms-powerpoint.revisioninfo+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6.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Override PartName="/ppt/webextensions/taskpanes.xml" ContentType="application/vnd.ms-office.webextensiontaskpanes+xml"/>
  <Override PartName="/ppt/webextensions/webextension1.xml" ContentType="application/vnd.ms-office.webextension+xml"/>
</Types>
</file>

<file path=_rels/.rels><?xml version='1.0' encoding='UTF-8' standalone='yes'?>
<Relationships xmlns="http://schemas.openxmlformats.org/package/2006/relationships"><Relationship Id="rId1" Type="http://schemas.microsoft.com/office/2011/relationships/webextensiontaskpanes" Target="ppt/webextensions/taskpanes.xml"/><Relationship Id="rId2" Type="http://schemas.openxmlformats.org/officeDocument/2006/relationships/officeDocument" Target="ppt/presentation.xml"/><Relationship Id="rId3" Type="http://schemas.openxmlformats.org/package/2006/relationships/metadata/core-properties" Target="docProps/core.xml"/><Relationship Id="rId4" Type="http://schemas.openxmlformats.org/officeDocument/2006/relationships/extended-properties" Target="docProps/app.xml"/><Relationship Id="rId5" Type="http://schemas.openxmlformats.org/officeDocument/2006/relationships/custom-properties" Target="docProps/custom.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94" r:id="rId4"/>
  </p:sldMasterIdLst>
  <p:notesMasterIdLst>
    <p:notesMasterId r:id="rId8"/>
  </p:notesMasterIdLst>
  <p:sldIdLst>
    <p:sldId id="256" r:id="rId7"/>
    <p:sldId id="262" r:id="rId6"/>
    <p:sldId id="263" r:id="rId16"/>
    <p:sldId id="264" r:id="rId17"/>
    <p:sldId id="265" r:id="rId5"/>
    <p:sldId id="266" r:id="rId19"/>
    <p:sldId id="267" r:id="rId20"/>
    <p:sldId id="268" r:id="rId21"/>
    <p:sldId id="269" r:id="rId22"/>
    <p:sldId id="270" r:id="rId23"/>
    <p:sldId id="271" r:id="rId24"/>
    <p:sldId id="272" r:id="rId25"/>
    <p:sldId id="261" r:id="rId18"/>
  </p:sldIdLst>
  <p:sldSz cx="11588750" cy="6858000"/>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authors.xml><?xml version="1.0" encoding="utf-8"?>
<p188:authorLst xmlns:a="http://schemas.openxmlformats.org/drawingml/2006/main" xmlns:r="http://schemas.openxmlformats.org/officeDocument/2006/relationships" xmlns:p188="http://schemas.microsoft.com/office/powerpoint/2018/8/main">
  <p188:author id="{5460B812-FB11-E744-2EAF-0F2DA0ECD4BF}" name="Henry Gilfillan" initials="HG" userId="S::Henry.G@africaia.com::20d8d1d5-b81d-4db2-8d49-9db47f87700a" providerId="AD"/>
  <p188:author id="{80F3E917-8A40-6377-B501-C0BF4583C07C}" name="Maria-Salome Milanzi" initials="MM" userId="S::Maria-Salome.M@africaia.com::27b80f15-cda9-458b-a241-0020d0d18b2b" providerId="AD"/>
  <p188:author id="{8653DC3D-E5A6-54BA-B06A-0D6999879F26}" name="Joseph Kihara" initials="JK" userId="S::joseph.k@africaia.com::89b38e7e-ff17-4223-9856-6d82edda0c7c" providerId="AD"/>
  <p188:author id="{79DE144E-B764-F176-BA11-B9193ABDC8E5}" name="Davies Tsikayi" initials="DT" userId="S::Davies.T@africaia.com::87c07fce-c37d-4ded-b6b5-65d5c8b951c1" providerId="AD"/>
  <p188:author id="{31278C59-D498-87BD-2E87-AF9308A52A9D}" name="Shannon Kurz" initials="SK" userId="Shannon Kurz" providerId="None"/>
  <p188:author id="{68AE2466-B378-7AA2-581F-E86841585307}" name="Paayal Kanjee Govind" initials="PK" userId="S::Paayal.KG@africaia.com::50637073-a9d2-4dfa-96c0-927604d7cc3c" providerId="AD"/>
  <p188:author id="{C5B1668E-F34A-2E98-0466-BAF8D463548D}" name="Manish Ramjeawon" initials="MR" userId="S::manish.r@africaia.com::530ca382-ae44-4c47-aaca-bb6bff7153ab" providerId="AD"/>
  <p188:author id="{F720B396-19C0-DB41-D221-DFCF831531AE}" name="Henry Gilfillan" initials="HG" userId="Henry Gilfillan" providerId="None"/>
  <p188:author id="{9FBE07B6-A3E1-BFC7-95A7-1EBCABB54112}" name="Karabo Mashabane" initials="KM" userId="S::Karabo.M@africaia.com::def9b110-1e86-4623-94be-634dc77ab82b" providerId="AD"/>
  <p188:author id="{53709FFD-5FBE-8519-0B68-00C91B158654}" name="James Brown" initials="JB" userId="James Brown" providerId="None"/>
</p188:authorLst>
</file>

<file path=ppt/commentAuthors.xml><?xml version="1.0" encoding="utf-8"?>
<p:cmAuthorLst xmlns:a="http://schemas.openxmlformats.org/drawingml/2006/main" xmlns:r="http://schemas.openxmlformats.org/officeDocument/2006/relationships" xmlns:p="http://schemas.openxmlformats.org/presentationml/2006/main">
  <p:cmAuthor id="7" name="Henry Gilfillan" initials="HG [2]" lastIdx="8" clrIdx="6">
    <p:extLst>
      <p:ext uri="{19B8F6BF-5375-455C-9EA6-DF929625EA0E}">
        <p15:presenceInfo xmlns:p15="http://schemas.microsoft.com/office/powerpoint/2012/main" userId="S::henry.g@africaia.com::20d8d1d5-b81d-4db2-8d49-9db47f87700a" providerId="AD"/>
      </p:ext>
    </p:extLst>
  </p:cmAuthor>
  <p:cmAuthor id="1" name="Abbas Bilgrami" initials="AB [2]" lastIdx="8" clrIdx="0">
    <p:extLst>
      <p:ext uri="{19B8F6BF-5375-455C-9EA6-DF929625EA0E}">
        <p15:presenceInfo xmlns:p15="http://schemas.microsoft.com/office/powerpoint/2012/main" userId="da833efe2a07dd73" providerId="Windows Live"/>
      </p:ext>
    </p:extLst>
  </p:cmAuthor>
  <p:cmAuthor id="8" name="Abbas Bilgrami" initials="AB" lastIdx="34" clrIdx="7">
    <p:extLst>
      <p:ext uri="{19B8F6BF-5375-455C-9EA6-DF929625EA0E}">
        <p15:presenceInfo xmlns:p15="http://schemas.microsoft.com/office/powerpoint/2012/main" userId="S::abbas.b@africaia.com::09d4207e-ca10-48c5-9e33-f8dec02b9ddc" providerId="AD"/>
      </p:ext>
    </p:extLst>
  </p:cmAuthor>
  <p:cmAuthor id="2" name="Henry Gilfillan" initials="HG" lastIdx="82" clrIdx="1">
    <p:extLst>
      <p:ext uri="{19B8F6BF-5375-455C-9EA6-DF929625EA0E}">
        <p15:presenceInfo xmlns:p15="http://schemas.microsoft.com/office/powerpoint/2012/main" userId="Henry Gilfillan" providerId="None"/>
      </p:ext>
    </p:extLst>
  </p:cmAuthor>
  <p:cmAuthor id="9" name="Paayal Kanjee Govind" initials="PKG" lastIdx="4" clrIdx="8">
    <p:extLst>
      <p:ext uri="{19B8F6BF-5375-455C-9EA6-DF929625EA0E}">
        <p15:presenceInfo xmlns:p15="http://schemas.microsoft.com/office/powerpoint/2012/main" userId="Paayal Kanjee Govind" providerId="None"/>
      </p:ext>
    </p:extLst>
  </p:cmAuthor>
  <p:cmAuthor id="3" name="Ismaeel" initials="I" lastIdx="104" clrIdx="2">
    <p:extLst>
      <p:ext uri="{19B8F6BF-5375-455C-9EA6-DF929625EA0E}">
        <p15:presenceInfo xmlns:p15="http://schemas.microsoft.com/office/powerpoint/2012/main" userId="Ismaeel" providerId="None"/>
      </p:ext>
    </p:extLst>
  </p:cmAuthor>
  <p:cmAuthor id="4" name="Jennifer Zeiss" initials="JZ" lastIdx="19" clrIdx="3">
    <p:extLst>
      <p:ext uri="{19B8F6BF-5375-455C-9EA6-DF929625EA0E}">
        <p15:presenceInfo xmlns:p15="http://schemas.microsoft.com/office/powerpoint/2012/main" userId="Jennifer Zeiss" providerId="None"/>
      </p:ext>
    </p:extLst>
  </p:cmAuthor>
  <p:cmAuthor id="5" name="Gabrielle Knott" initials="GK" lastIdx="2" clrIdx="4">
    <p:extLst>
      <p:ext uri="{19B8F6BF-5375-455C-9EA6-DF929625EA0E}">
        <p15:presenceInfo xmlns:p15="http://schemas.microsoft.com/office/powerpoint/2012/main" userId="Gabrielle Knott" providerId="None"/>
      </p:ext>
    </p:extLst>
  </p:cmAuthor>
  <p:cmAuthor id="6" name="James Brown" initials="JB" lastIdx="2" clrIdx="5">
    <p:extLst>
      <p:ext uri="{19B8F6BF-5375-455C-9EA6-DF929625EA0E}">
        <p15:presenceInfo xmlns:p15="http://schemas.microsoft.com/office/powerpoint/2012/main" userId="S::james@africaia.com::5c3cb27f-96be-4c72-848f-aa01b93992f6" providerId="AD"/>
      </p:ext>
    </p:extLst>
  </p:cmAuthor>
</p:cmAuthorLst>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0F3552"/>
    <a:srgbClr val="EBF9FE"/>
    <a:srgbClr val="FDD9A4"/>
    <a:srgbClr val="2D6196"/>
    <a:srgbClr val="326757"/>
    <a:srgbClr val="728A94"/>
    <a:srgbClr val="F01C24"/>
    <a:srgbClr val="56787A"/>
    <a:srgbClr val="CFDFF0"/>
    <a:srgbClr val="008E40"/>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58C87D74-0723-4269-ADB4-1C2880134AC4}" v="1" dt="2026-10-01T12:10:22.388"/>
  </p1510:revLst>
</p1510:revInfo>
</file>

<file path=ppt/tableStyles.xml><?xml version="1.0" encoding="utf-8"?>
<a:tblStyleLst xmlns:a="http://schemas.openxmlformats.org/drawingml/2006/main" def="{5C22544A-7EE6-4342-B048-85BDC9FD1C3A}">
  <a:tblStyle styleId="{5C22544A-7EE6-4342-B048-85BDC9FD1C3A}" styleName="Medium Style 2 - Accent 1">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1">
              <a:tint val="20000"/>
            </a:schemeClr>
          </a:solidFill>
        </a:fill>
      </a:tcStyle>
    </a:wholeTbl>
    <a:band1H>
      <a:tcStyle>
        <a:tcBdr/>
        <a:fill>
          <a:solidFill>
            <a:schemeClr val="accent1">
              <a:tint val="40000"/>
            </a:schemeClr>
          </a:solidFill>
        </a:fill>
      </a:tcStyle>
    </a:band1H>
    <a:band2H>
      <a:tcStyle>
        <a:tcBdr/>
      </a:tcStyle>
    </a:band2H>
    <a:band1V>
      <a:tcStyle>
        <a:tcBdr/>
        <a:fill>
          <a:solidFill>
            <a:schemeClr val="accent1">
              <a:tint val="40000"/>
            </a:schemeClr>
          </a:solidFill>
        </a:fill>
      </a:tcStyle>
    </a:band1V>
    <a:band2V>
      <a:tcStyle>
        <a:tcBdr/>
      </a:tcStyle>
    </a:band2V>
    <a:lastCol>
      <a:tcTxStyle b="on">
        <a:fontRef idx="minor">
          <a:prstClr val="black"/>
        </a:fontRef>
        <a:schemeClr val="lt1"/>
      </a:tcTxStyle>
      <a:tcStyle>
        <a:tcBdr/>
        <a:fill>
          <a:solidFill>
            <a:schemeClr val="accent1"/>
          </a:solidFill>
        </a:fill>
      </a:tcStyle>
    </a:lastCol>
    <a:firstCol>
      <a:tcTxStyle b="on">
        <a:fontRef idx="minor">
          <a:prstClr val="black"/>
        </a:fontRef>
        <a:schemeClr val="lt1"/>
      </a:tcTxStyle>
      <a:tcStyle>
        <a:tcBdr/>
        <a:fill>
          <a:solidFill>
            <a:schemeClr val="accent1"/>
          </a:solidFill>
        </a:fill>
      </a:tcStyle>
    </a:firstCol>
    <a:lastRow>
      <a:tcTxStyle b="on">
        <a:fontRef idx="minor">
          <a:prstClr val="black"/>
        </a:fontRef>
        <a:schemeClr val="lt1"/>
      </a:tcTxStyle>
      <a:tcStyle>
        <a:tcBdr>
          <a:top>
            <a:ln w="38100" cmpd="sng">
              <a:solidFill>
                <a:schemeClr val="lt1"/>
              </a:solidFill>
            </a:ln>
          </a:top>
        </a:tcBdr>
        <a:fill>
          <a:solidFill>
            <a:schemeClr val="accent1"/>
          </a:solidFill>
        </a:fill>
      </a:tcStyle>
    </a:lastRow>
    <a:firstRow>
      <a:tcTxStyle b="on">
        <a:fontRef idx="minor">
          <a:prstClr val="black"/>
        </a:fontRef>
        <a:schemeClr val="lt1"/>
      </a:tcTxStyle>
      <a:tcStyle>
        <a:tcBdr>
          <a:bottom>
            <a:ln w="38100" cmpd="sng">
              <a:solidFill>
                <a:schemeClr val="lt1"/>
              </a:solidFill>
            </a:ln>
          </a:bottom>
        </a:tcBdr>
        <a:fill>
          <a:solidFill>
            <a:schemeClr val="accent1"/>
          </a:solidFill>
        </a:fill>
      </a:tcStyle>
    </a:firstRow>
  </a:tblStyle>
  <a:tblStyle styleId="{00A15C55-8517-42AA-B614-E9B94910E393}" styleName="Medium Style 2 - Accent 4">
    <a:wholeTbl>
      <a:tcTxStyle>
        <a:fontRef idx="minor">
          <a:prstClr val="black"/>
        </a:fontRef>
        <a:schemeClr val="dk1"/>
      </a:tcTxStyle>
      <a:tcStyle>
        <a:tcBdr>
          <a:left>
            <a:ln w="12700" cmpd="sng">
              <a:solidFill>
                <a:schemeClr val="lt1"/>
              </a:solidFill>
            </a:ln>
          </a:left>
          <a:right>
            <a:ln w="12700" cmpd="sng">
              <a:solidFill>
                <a:schemeClr val="lt1"/>
              </a:solidFill>
            </a:ln>
          </a:right>
          <a:top>
            <a:ln w="12700" cmpd="sng">
              <a:solidFill>
                <a:schemeClr val="lt1"/>
              </a:solidFill>
            </a:ln>
          </a:top>
          <a:bottom>
            <a:ln w="12700" cmpd="sng">
              <a:solidFill>
                <a:schemeClr val="lt1"/>
              </a:solidFill>
            </a:ln>
          </a:bottom>
          <a:insideH>
            <a:ln w="12700" cmpd="sng">
              <a:solidFill>
                <a:schemeClr val="lt1"/>
              </a:solidFill>
            </a:ln>
          </a:insideH>
          <a:insideV>
            <a:ln w="12700" cmpd="sng">
              <a:solidFill>
                <a:schemeClr val="lt1"/>
              </a:solidFill>
            </a:ln>
          </a:insideV>
        </a:tcBdr>
        <a:fill>
          <a:solidFill>
            <a:schemeClr val="accent4">
              <a:tint val="20000"/>
            </a:schemeClr>
          </a:solidFill>
        </a:fill>
      </a:tcStyle>
    </a:wholeTbl>
    <a:band1H>
      <a:tcStyle>
        <a:tcBdr/>
        <a:fill>
          <a:solidFill>
            <a:schemeClr val="accent4">
              <a:tint val="40000"/>
            </a:schemeClr>
          </a:solidFill>
        </a:fill>
      </a:tcStyle>
    </a:band1H>
    <a:band2H>
      <a:tcStyle>
        <a:tcBdr/>
      </a:tcStyle>
    </a:band2H>
    <a:band1V>
      <a:tcStyle>
        <a:tcBdr/>
        <a:fill>
          <a:solidFill>
            <a:schemeClr val="accent4">
              <a:tint val="40000"/>
            </a:schemeClr>
          </a:solidFill>
        </a:fill>
      </a:tcStyle>
    </a:band1V>
    <a:band2V>
      <a:tcStyle>
        <a:tcBdr/>
      </a:tcStyle>
    </a:band2V>
    <a:lastCol>
      <a:tcTxStyle b="on">
        <a:fontRef idx="minor">
          <a:prstClr val="black"/>
        </a:fontRef>
        <a:schemeClr val="lt1"/>
      </a:tcTxStyle>
      <a:tcStyle>
        <a:tcBdr/>
        <a:fill>
          <a:solidFill>
            <a:schemeClr val="accent4"/>
          </a:solidFill>
        </a:fill>
      </a:tcStyle>
    </a:lastCol>
    <a:firstCol>
      <a:tcTxStyle b="on">
        <a:fontRef idx="minor">
          <a:prstClr val="black"/>
        </a:fontRef>
        <a:schemeClr val="lt1"/>
      </a:tcTxStyle>
      <a:tcStyle>
        <a:tcBdr/>
        <a:fill>
          <a:solidFill>
            <a:schemeClr val="accent4"/>
          </a:solidFill>
        </a:fill>
      </a:tcStyle>
    </a:firstCol>
    <a:lastRow>
      <a:tcTxStyle b="on">
        <a:fontRef idx="minor">
          <a:prstClr val="black"/>
        </a:fontRef>
        <a:schemeClr val="lt1"/>
      </a:tcTxStyle>
      <a:tcStyle>
        <a:tcBdr>
          <a:top>
            <a:ln w="38100" cmpd="sng">
              <a:solidFill>
                <a:schemeClr val="lt1"/>
              </a:solidFill>
            </a:ln>
          </a:top>
        </a:tcBdr>
        <a:fill>
          <a:solidFill>
            <a:schemeClr val="accent4"/>
          </a:solidFill>
        </a:fill>
      </a:tcStyle>
    </a:lastRow>
    <a:firstRow>
      <a:tcTxStyle b="on">
        <a:fontRef idx="minor">
          <a:prstClr val="black"/>
        </a:fontRef>
        <a:schemeClr val="lt1"/>
      </a:tcTxStyle>
      <a:tcStyle>
        <a:tcBdr>
          <a:bottom>
            <a:ln w="38100" cmpd="sng">
              <a:solidFill>
                <a:schemeClr val="lt1"/>
              </a:solidFill>
            </a:ln>
          </a:bottom>
        </a:tcBdr>
        <a:fill>
          <a:solidFill>
            <a:schemeClr val="accent4"/>
          </a:solidFill>
        </a:fill>
      </a:tcStyle>
    </a:firstRow>
  </a:tblStyle>
  <a:tblStyle styleId="{69012ECD-51FC-41F1-AA8D-1B2483CD663E}" styleName="Light Style 2 - Accent 1">
    <a:wholeTbl>
      <a:tcTxStyle>
        <a:fontRef idx="minor">
          <a:scrgbClr r="0" g="0" b="0"/>
        </a:fontRef>
        <a:schemeClr val="tx1"/>
      </a:tcTxStyle>
      <a:tcStyle>
        <a:tcBdr>
          <a:left>
            <a:lnRef idx="1">
              <a:schemeClr val="accent1"/>
            </a:lnRef>
          </a:left>
          <a:right>
            <a:lnRef idx="1">
              <a:schemeClr val="accent1"/>
            </a:lnRef>
          </a:right>
          <a:top>
            <a:lnRef idx="1">
              <a:schemeClr val="accent1"/>
            </a:lnRef>
          </a:top>
          <a:bottom>
            <a:lnRef idx="1">
              <a:schemeClr val="accent1"/>
            </a:lnRef>
          </a:bottom>
          <a:insideH>
            <a:ln>
              <a:noFill/>
            </a:ln>
          </a:insideH>
          <a:insideV>
            <a:ln>
              <a:noFill/>
            </a:ln>
          </a:insideV>
        </a:tcBdr>
        <a:fill>
          <a:noFill/>
        </a:fill>
      </a:tcStyle>
    </a:wholeTbl>
    <a:band1H>
      <a:tcStyle>
        <a:tcBdr>
          <a:top>
            <a:lnRef idx="1">
              <a:schemeClr val="accent1"/>
            </a:lnRef>
          </a:top>
          <a:bottom>
            <a:lnRef idx="1">
              <a:schemeClr val="accent1"/>
            </a:lnRef>
          </a:bottom>
        </a:tcBdr>
      </a:tcStyle>
    </a:band1H>
    <a:band1V>
      <a:tcStyle>
        <a:tcBdr>
          <a:left>
            <a:lnRef idx="1">
              <a:schemeClr val="accent1"/>
            </a:lnRef>
          </a:left>
          <a:right>
            <a:lnRef idx="1">
              <a:schemeClr val="accent1"/>
            </a:lnRef>
          </a:right>
        </a:tcBdr>
      </a:tcStyle>
    </a:band1V>
    <a:band2V>
      <a:tcStyle>
        <a:tcBdr>
          <a:left>
            <a:lnRef idx="1">
              <a:schemeClr val="accent1"/>
            </a:lnRef>
          </a:left>
          <a:right>
            <a:lnRef idx="1">
              <a:schemeClr val="accent1"/>
            </a:lnRef>
          </a:right>
        </a:tcBdr>
      </a:tcStyle>
    </a:band2V>
    <a:lastCol>
      <a:tcTxStyle b="on"/>
      <a:tcStyle>
        <a:tcBdr/>
      </a:tcStyle>
    </a:lastCol>
    <a:firstCol>
      <a:tcTxStyle b="on"/>
      <a:tcStyle>
        <a:tcBdr/>
      </a:tcStyle>
    </a:firstCol>
    <a:lastRow>
      <a:tcTxStyle b="on"/>
      <a:tcStyle>
        <a:tcBdr>
          <a:top>
            <a:ln w="50800" cmpd="dbl">
              <a:solidFill>
                <a:schemeClr val="accent1"/>
              </a:solidFill>
            </a:ln>
          </a:top>
        </a:tcBdr>
      </a:tcStyle>
    </a:lastRow>
    <a:firstRow>
      <a:tcTxStyle b="on">
        <a:fontRef idx="minor">
          <a:scrgbClr r="0" g="0" b="0"/>
        </a:fontRef>
        <a:schemeClr val="bg1"/>
      </a:tcTxStyle>
      <a:tcStyle>
        <a:tcBdr/>
        <a:fillRef idx="1">
          <a:schemeClr val="accent1"/>
        </a:fillRef>
      </a:tcStyle>
    </a:firstRow>
  </a:tblStyle>
  <a:tblStyle styleId="{C083E6E3-FA7D-4D7B-A595-EF9225AFEA82}" styleName="Light Style 1 – Accent 3">
    <a:wholeTbl>
      <a:tcTxStyle>
        <a:fontRef idx="minor">
          <a:scrgbClr r="0" g="0" b="0"/>
        </a:fontRef>
        <a:schemeClr val="tx1"/>
      </a:tcTxStyle>
      <a:tcStyle>
        <a:tcBdr>
          <a:left>
            <a:ln>
              <a:noFill/>
            </a:ln>
          </a:left>
          <a:right>
            <a:ln>
              <a:noFill/>
            </a:ln>
          </a:right>
          <a:top>
            <a:ln w="12700" cmpd="sng">
              <a:solidFill>
                <a:schemeClr val="accent3"/>
              </a:solidFill>
            </a:ln>
          </a:top>
          <a:bottom>
            <a:ln w="12700" cmpd="sng">
              <a:solidFill>
                <a:schemeClr val="accent3"/>
              </a:solidFill>
            </a:ln>
          </a:bottom>
          <a:insideH>
            <a:ln>
              <a:noFill/>
            </a:ln>
          </a:insideH>
          <a:insideV>
            <a:ln>
              <a:noFill/>
            </a:ln>
          </a:insideV>
        </a:tcBdr>
        <a:fill>
          <a:noFill/>
        </a:fill>
      </a:tcStyle>
    </a:wholeTbl>
    <a:band1H>
      <a:tcStyle>
        <a:tcBdr/>
        <a:fill>
          <a:solidFill>
            <a:schemeClr val="accent3">
              <a:alpha val="20000"/>
            </a:schemeClr>
          </a:solidFill>
        </a:fill>
      </a:tcStyle>
    </a:band1H>
    <a:band2H>
      <a:tcStyle>
        <a:tcBdr/>
      </a:tcStyle>
    </a:band2H>
    <a:band1V>
      <a:tcStyle>
        <a:tcBdr/>
        <a:fill>
          <a:solidFill>
            <a:schemeClr val="accent3">
              <a:alpha val="20000"/>
            </a:schemeClr>
          </a:solidFill>
        </a:fill>
      </a:tcStyle>
    </a:band1V>
    <a:lastCol>
      <a:tcTxStyle b="on"/>
      <a:tcStyle>
        <a:tcBdr/>
      </a:tcStyle>
    </a:lastCol>
    <a:firstCol>
      <a:tcTxStyle b="on"/>
      <a:tcStyle>
        <a:tcBdr/>
      </a:tcStyle>
    </a:firstCol>
    <a:lastRow>
      <a:tcTxStyle b="on"/>
      <a:tcStyle>
        <a:tcBdr>
          <a:top>
            <a:ln w="12700" cmpd="sng">
              <a:solidFill>
                <a:schemeClr val="accent3"/>
              </a:solidFill>
            </a:ln>
          </a:top>
        </a:tcBdr>
        <a:fill>
          <a:noFill/>
        </a:fill>
      </a:tcStyle>
    </a:lastRow>
    <a:firstRow>
      <a:tcTxStyle b="on"/>
      <a:tcStyle>
        <a:tcBdr>
          <a:bottom>
            <a:ln w="12700" cmpd="sng">
              <a:solidFill>
                <a:schemeClr val="accent3"/>
              </a:solidFill>
            </a:ln>
          </a:bottom>
        </a:tcBdr>
        <a:fill>
          <a:noFill/>
        </a:fill>
      </a:tcStyle>
    </a:firstRow>
  </a:tblStyle>
</a:tblStyleLst>
</file>

<file path=ppt/viewProps.xml><?xml version="1.0" encoding="utf-8"?>
<p:viewPr xmlns:a="http://schemas.openxmlformats.org/drawingml/2006/main" xmlns:r="http://schemas.openxmlformats.org/officeDocument/2006/relationships" xmlns:p="http://schemas.openxmlformats.org/presentationml/2006/main">
  <p:normalViewPr>
    <p:restoredLeft sz="15620"/>
    <p:restoredTop sz="94660"/>
  </p:normalViewPr>
  <p:slideViewPr>
    <p:cSldViewPr snapToGrid="0">
      <p:cViewPr varScale="1">
        <p:scale>
          <a:sx n="64" d="100"/>
          <a:sy n="64" d="100"/>
        </p:scale>
        <p:origin x="776" y="52"/>
      </p:cViewPr>
      <p:guideLst/>
    </p:cSldViewPr>
  </p:slid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1" Type="http://schemas.openxmlformats.org/officeDocument/2006/relationships/customXml" Target="../customXml/item1.xml"/><Relationship Id="rId2" Type="http://schemas.openxmlformats.org/officeDocument/2006/relationships/customXml" Target="../customXml/item2.xml"/><Relationship Id="rId3" Type="http://schemas.openxmlformats.org/officeDocument/2006/relationships/customXml" Target="../customXml/item3.xml"/><Relationship Id="rId4" Type="http://schemas.openxmlformats.org/officeDocument/2006/relationships/slideMaster" Target="slideMasters/slideMaster1.xml"/><Relationship Id="rId5" Type="http://schemas.openxmlformats.org/officeDocument/2006/relationships/slide" Target="slides/slide6.xml"/><Relationship Id="rId6" Type="http://schemas.openxmlformats.org/officeDocument/2006/relationships/slide" Target="slides/slide3.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commentAuthors" Target="commentAuthors.xml"/><Relationship Id="rId10" Type="http://schemas.openxmlformats.org/officeDocument/2006/relationships/presProps" Target="presProps.xml"/><Relationship Id="rId11" Type="http://schemas.openxmlformats.org/officeDocument/2006/relationships/viewProps" Target="viewProps.xml"/><Relationship Id="rId12" Type="http://schemas.openxmlformats.org/officeDocument/2006/relationships/theme" Target="theme/theme1.xml"/><Relationship Id="rId13" Type="http://schemas.openxmlformats.org/officeDocument/2006/relationships/tableStyles" Target="tableStyles.xml"/><Relationship Id="rId14" Type="http://schemas.microsoft.com/office/2015/10/relationships/revisionInfo" Target="revisionInfo.xml"/><Relationship Id="rId15" Type="http://schemas.microsoft.com/office/2018/10/relationships/authors" Target="authors.xml"/><Relationship Id="rId16" Type="http://schemas.openxmlformats.org/officeDocument/2006/relationships/slide" Target="slides/slide4.xml"/><Relationship Id="rId17" Type="http://schemas.openxmlformats.org/officeDocument/2006/relationships/slide" Target="slides/slide5.xml"/><Relationship Id="rId18" Type="http://schemas.openxmlformats.org/officeDocument/2006/relationships/slide" Target="slides/slide16.xml"/><Relationship Id="rId19" Type="http://schemas.openxmlformats.org/officeDocument/2006/relationships/slide" Target="slides/slide7.xml"/><Relationship Id="rId20" Type="http://schemas.openxmlformats.org/officeDocument/2006/relationships/slide" Target="slides/slide8.xml"/><Relationship Id="rId21" Type="http://schemas.openxmlformats.org/officeDocument/2006/relationships/slide" Target="slides/slide9.xml"/><Relationship Id="rId22" Type="http://schemas.openxmlformats.org/officeDocument/2006/relationships/slide" Target="slides/slide10.xml"/><Relationship Id="rId23" Type="http://schemas.openxmlformats.org/officeDocument/2006/relationships/slide" Target="slides/slide11.xml"/><Relationship Id="rId24" Type="http://schemas.openxmlformats.org/officeDocument/2006/relationships/slide" Target="slides/slide12.xml"/><Relationship Id="rId25" Type="http://schemas.openxmlformats.org/officeDocument/2006/relationships/slide" Target="slides/slide13.xml"/></Relationships>
</file>

<file path=ppt/charts/_rels/chart1.xml.rels><?xml version='1.0' encoding='UTF-8' standalone='yes'?>
<Relationships xmlns="http://schemas.openxmlformats.org/package/2006/relationships"><Relationship Id="rId1" Type="http://schemas.openxmlformats.org/officeDocument/2006/relationships/package" Target="../embeddings/Microsoft_Excel_Sheet1.xlsx"/></Relationships>
</file>

<file path=ppt/charts/_rels/chart2.xml.rels><?xml version='1.0' encoding='UTF-8' standalone='yes'?>
<Relationships xmlns="http://schemas.openxmlformats.org/package/2006/relationships"><Relationship Id="rId1" Type="http://schemas.openxmlformats.org/officeDocument/2006/relationships/package" Target="../embeddings/Microsoft_Excel_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Petrol,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10.729528751</c:v>
                </c:pt>
                <c:pt idx="1">
                  <c:v>10.691734654</c:v>
                </c:pt>
                <c:pt idx="2">
                  <c:v>11.223942785</c:v>
                </c:pt>
                <c:pt idx="3">
                  <c:v>10.135812655</c:v>
                </c:pt>
                <c:pt idx="4">
                  <c:v>10.446909538</c:v>
                </c:pt>
                <c:pt idx="5">
                  <c:v>10.470524002</c:v>
                </c:pt>
                <c:pt idx="6">
                  <c:v>8.196576968</c:v>
                </c:pt>
                <c:pt idx="7">
                  <c:v>6.345466608</c:v>
                </c:pt>
                <c:pt idx="8">
                  <c:v>4.584221815</c:v>
                </c:pt>
                <c:pt idx="9">
                  <c:v>5.548194912</c:v>
                </c:pt>
                <c:pt idx="10">
                  <c:v>5.947890582</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10.82816</c:v>
                </c:pt>
                <c:pt idx="1">
                  <c:v>10.457813</c:v>
                </c:pt>
                <c:pt idx="2">
                  <c:v>10.393066</c:v>
                </c:pt>
                <c:pt idx="3">
                  <c:v>9.43444</c:v>
                </c:pt>
                <c:pt idx="4">
                  <c:v>9.97456</c:v>
                </c:pt>
                <c:pt idx="5">
                  <c:v>10.424467</c:v>
                </c:pt>
                <c:pt idx="6">
                  <c:v>7.895</c:v>
                </c:pt>
                <c:pt idx="7">
                  <c:v>6.351306667</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chart>
    <c:title>
      <c:tx>
        <c:rich>
          <a:bodyPr/>
          <a:lstStyle/>
          <a:p>
            <a:r>
              <a:rPr sz="1100" b="1">
                <a:latin typeface="Lato"/>
              </a:rPr>
              <a:t>Diesel, billion litres</a:t>
            </a:r>
          </a:p>
        </c:rich>
      </c:tx>
      <c:layout/>
      <c:overlay val="0"/>
    </c:title>
    <c:autoTitleDeleted val="0"/>
    <c:plotArea>
      <c:lineChart>
        <c:grouping val="standard"/>
        <c:varyColors val="0"/>
        <c:ser>
          <c:idx val="0"/>
          <c:order val="0"/>
          <c:tx>
            <c:strRef>
              <c:f>Sheet1!$B$1</c:f>
              <c:strCache>
                <c:ptCount val="1"/>
                <c:pt idx="0">
                  <c:v>Sales less net imports</c:v>
                </c:pt>
              </c:strCache>
            </c:strRef>
          </c:tx>
          <c:spPr>
            <a:ln w="25400">
              <a:solidFill>
                <a:srgbClr val="0A2373"/>
              </a:solidFill>
            </a:ln>
          </c:spPr>
          <c:marker>
            <c:symbol val="circle"/>
            <c:size val="6"/>
            <c:spPr>
              <a:solidFill>
                <a:srgbClr val="0A2373"/>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Sheet1!$B$2:$B$12</c:f>
              <c:numCache>
                <c:formatCode>General</c:formatCode>
                <c:ptCount val="11"/>
                <c:pt idx="0">
                  <c:v>9.11707366</c:v>
                </c:pt>
                <c:pt idx="1">
                  <c:v>8.682215257</c:v>
                </c:pt>
                <c:pt idx="2">
                  <c:v>9.543684503</c:v>
                </c:pt>
                <c:pt idx="3">
                  <c:v>7.892459337</c:v>
                </c:pt>
                <c:pt idx="4">
                  <c:v>8.997854948</c:v>
                </c:pt>
                <c:pt idx="5">
                  <c:v>9.059736436</c:v>
                </c:pt>
                <c:pt idx="6">
                  <c:v>5.788786832</c:v>
                </c:pt>
                <c:pt idx="7">
                  <c:v>4.07787555</c:v>
                </c:pt>
                <c:pt idx="8">
                  <c:v>1.652268839</c:v>
                </c:pt>
                <c:pt idx="9">
                  <c:v>0.926913773</c:v>
                </c:pt>
                <c:pt idx="10">
                  <c:v>1.737287544</c:v>
                </c:pt>
              </c:numCache>
            </c:numRef>
          </c:val>
          <c:smooth val="0"/>
        </c:ser>
        <c:ser>
          <c:idx val="1"/>
          <c:order val="1"/>
          <c:tx>
            <c:strRef>
              <c:f>Sheet1!$C$1</c:f>
              <c:strCache>
                <c:ptCount val="1"/>
                <c:pt idx="0">
                  <c:v>Reported production (to 2021)</c:v>
                </c:pt>
              </c:strCache>
            </c:strRef>
          </c:tx>
          <c:spPr>
            <a:ln w="25400">
              <a:solidFill>
                <a:srgbClr val="7A828C"/>
              </a:solidFill>
              <a:prstDash val="dash"/>
            </a:ln>
          </c:spPr>
          <c:marker>
            <c:symbol val="circle"/>
            <c:size val="6"/>
            <c:spPr>
              <a:solidFill>
                <a:srgbClr val="7A828C"/>
              </a:solidFill>
              <a:ln>
                <a:solidFill>
                  <a:srgbClr val="FFFFFF"/>
                </a:solidFill>
              </a:ln>
            </c:spPr>
          </c:marker>
          <c:cat>
            <c:strRef>
              <c:f>Sheet1!$A$2:$A$12</c:f>
              <c:strCache>
                <c:ptCount val="11"/>
                <c:pt idx="0">
                  <c:v>2014</c:v>
                </c:pt>
                <c:pt idx="1">
                  <c:v>2015</c:v>
                </c:pt>
                <c:pt idx="2">
                  <c:v>2016</c:v>
                </c:pt>
                <c:pt idx="3">
                  <c:v>2017</c:v>
                </c:pt>
                <c:pt idx="4">
                  <c:v>2018</c:v>
                </c:pt>
                <c:pt idx="5">
                  <c:v>2019</c:v>
                </c:pt>
                <c:pt idx="6">
                  <c:v>2020</c:v>
                </c:pt>
                <c:pt idx="7">
                  <c:v>2021</c:v>
                </c:pt>
                <c:pt idx="8">
                  <c:v>2022</c:v>
                </c:pt>
                <c:pt idx="9">
                  <c:v>2023</c:v>
                </c:pt>
                <c:pt idx="10">
                  <c:v>2024</c:v>
                </c:pt>
              </c:strCache>
            </c:strRef>
          </c:cat>
          <c:val>
            <c:numRef>
              <c:f>Sheet1!$C$2:$C$12</c:f>
              <c:numCache>
                <c:formatCode>General</c:formatCode>
                <c:ptCount val="11"/>
                <c:pt idx="0">
                  <c:v>9.58774</c:v>
                </c:pt>
                <c:pt idx="1">
                  <c:v>9.368482</c:v>
                </c:pt>
                <c:pt idx="2">
                  <c:v>9.01419</c:v>
                </c:pt>
                <c:pt idx="3">
                  <c:v>7.921726</c:v>
                </c:pt>
                <c:pt idx="4">
                  <c:v>8.425262</c:v>
                </c:pt>
                <c:pt idx="5">
                  <c:v>9.080357</c:v>
                </c:pt>
                <c:pt idx="6">
                  <c:v>6.4478095</c:v>
                </c:pt>
                <c:pt idx="7">
                  <c:v>5.314964286</c:v>
                </c:pt>
              </c:numCache>
            </c:numRef>
          </c:val>
          <c:smooth val="0"/>
        </c:ser>
        <c:marker val="1"/>
        <c:smooth val="0"/>
        <c:axId val="2118791784"/>
        <c:axId val="2140495176"/>
      </c:lineChart>
      <c:catAx>
        <c:axId val="2118791784"/>
        <c:scaling>
          <c:orientation val="minMax"/>
        </c:scaling>
        <c:delete val="0"/>
        <c:axPos val="b"/>
        <c:majorTickMark val="out"/>
        <c:minorTickMark val="none"/>
        <c:tickLblPos val="nextTo"/>
        <c:spPr>
          <a:ln>
            <a:solidFill>
              <a:srgbClr val="A0A0A0"/>
            </a:solidFill>
          </a:ln>
        </c:spPr>
        <c:crossAx val="2140495176"/>
        <c:crosses val="autoZero"/>
        <c:auto val="1"/>
        <c:lblAlgn val="ctr"/>
        <c:lblOffset val="100"/>
        <c:noMultiLvlLbl val="0"/>
      </c:catAx>
      <c:valAx>
        <c:axId val="2140495176"/>
        <c:scaling>
          <c:max val="12.0"/>
          <c:min val="0.0"/>
        </c:scaling>
        <c:delete val="0"/>
        <c:axPos val="l"/>
        <c:majorGridlines>
          <c:spPr>
            <a:ln>
              <a:solidFill>
                <a:srgbClr val="EEEEEE"/>
              </a:solidFill>
            </a:ln>
          </c:spPr>
        </c:majorGridlines>
        <c:numFmt formatCode="0" sourceLinked="0"/>
        <c:majorTickMark val="out"/>
        <c:minorTickMark val="none"/>
        <c:tickLblPos val="nextTo"/>
        <c:spPr>
          <a:ln>
            <a:noFill/>
          </a:ln>
        </c:spPr>
        <c:crossAx val="2118791784"/>
        <c:crosses val="autoZero"/>
        <c:majorUnit val="3.0"/>
      </c:valAx>
    </c:plotArea>
    <c:legend>
      <c:legendPos val="t"/>
      <c:layout/>
      <c:overlay val="0"/>
    </c:legend>
    <c:plotVisOnly val="1"/>
    <c:dispBlanksAs val="gap"/>
    <c:showDLblsOverMax val="0"/>
  </c:chart>
  <c:txPr>
    <a:bodyPr/>
    <a:lstStyle/>
    <a:p>
      <a:pPr>
        <a:defRPr sz="1000">
          <a:solidFill>
            <a:srgbClr val="11151A"/>
          </a:solidFill>
          <a:latin typeface="Lato"/>
        </a:defRPr>
      </a:pPr>
      <a:endParaRPr lang="en-US"/>
    </a:p>
  </c:txPr>
  <c:externalData r:id="rId1">
    <c:autoUpdate val="0"/>
  </c:externalData>
</c:chartSpace>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GB"/>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8D47D6B1-D525-4628-ADA5-8E1FE74ADA4C}" type="datetimeFigureOut">
              <a:rPr lang="en-GB" smtClean="0"/>
              <a:t>01/10/2026</a:t>
            </a:fld>
            <a:endParaRPr lang="en-GB"/>
          </a:p>
        </p:txBody>
      </p:sp>
      <p:sp>
        <p:nvSpPr>
          <p:cNvPr id="4" name="Slide Image Placeholder 3"/>
          <p:cNvSpPr>
            <a:spLocks noGrp="1" noRot="1" noChangeAspect="1"/>
          </p:cNvSpPr>
          <p:nvPr>
            <p:ph type="sldImg" idx="2"/>
          </p:nvPr>
        </p:nvSpPr>
        <p:spPr>
          <a:xfrm>
            <a:off x="820738" y="1143000"/>
            <a:ext cx="5216525" cy="3086100"/>
          </a:xfrm>
          <a:prstGeom prst="rect">
            <a:avLst/>
          </a:prstGeom>
          <a:noFill/>
          <a:ln w="12700">
            <a:solidFill>
              <a:prstClr val="black"/>
            </a:solidFill>
          </a:ln>
        </p:spPr>
        <p:txBody>
          <a:bodyPr vert="horz" lIns="91440" tIns="45720" rIns="91440" bIns="45720" rtlCol="0" anchor="ctr"/>
          <a:lstStyle/>
          <a:p>
            <a:endParaRPr lang="en-GB"/>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Edit Master text styles</a:t>
            </a:r>
          </a:p>
          <a:p>
            <a:pPr lvl="1"/>
            <a:r>
              <a:rPr lang="en-US"/>
              <a:t>Second level</a:t>
            </a:r>
          </a:p>
          <a:p>
            <a:pPr lvl="2"/>
            <a:r>
              <a:rPr lang="en-US"/>
              <a:t>Third level</a:t>
            </a:r>
          </a:p>
          <a:p>
            <a:pPr lvl="3"/>
            <a:r>
              <a:rPr lang="en-US"/>
              <a:t>Fourth level</a:t>
            </a:r>
          </a:p>
          <a:p>
            <a:pPr lvl="4"/>
            <a:r>
              <a:rPr lang="en-US"/>
              <a:t>Fifth level</a:t>
            </a:r>
            <a:endParaRPr lang="en-GB"/>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GB"/>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74101EB5-DFDD-47C4-B7E0-8A018260211B}" type="slidenum">
              <a:rPr lang="en-GB" smtClean="0"/>
              <a:t>‹#›</a:t>
            </a:fld>
            <a:endParaRPr lang="en-GB"/>
          </a:p>
        </p:txBody>
      </p:sp>
    </p:spTree>
    <p:extLst>
      <p:ext uri="{BB962C8B-B14F-4D97-AF65-F5344CB8AC3E}">
        <p14:creationId xmlns:p14="http://schemas.microsoft.com/office/powerpoint/2010/main" val="1437944897"/>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Speaker note: Walk through four sections: the project question, the analytical</a:t>
            </a:r>
          </a:p>
          <a:p>
            <a:r>
              <a:t>requirements, the model-build problem and the delivery approach. The purpose is to</a:t>
            </a:r>
          </a:p>
          <a:p>
            <a:r>
              <a:t>connect the analyst's tasks to the decisions the engagement needs to support.</a:t>
            </a:r>
          </a:p>
          <a:p>
            <a:r>
              <a:t>Week 1 analytical pack, 6 October 2026. Existing kickoff cover/closing reused at user request.</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a:p>
            <a:r>
              <a:t>SCR delivery order: page 1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Source note: Closing cover photograph: Royal Vopak, Terminal Lesedi. https://www.vopak.com/terminals/vopak-terminal-lesedi</a:t>
            </a:r>
          </a:p>
          <a:p>
            <a:r>
              <a:t>Week 1 analytical pack, 6 October 2026. Existing kickoff cover/closing reused at user request.</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a:p>
            <a:r>
              <a:t>SCR delivery order: page 16 of 16. Gap IDs and original evidence references retained in notes.</a:t>
            </a:r>
          </a:p>
          <a:p>
            <a:r>
              <a:t>6 October SCR editorial pass: presentation copy and map hierarchy only. Source observations, example volumes and model inputs unchanged.</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3.jpeg"/><Relationship Id="rId3" Type="http://schemas.openxmlformats.org/officeDocument/2006/relationships/image" Target="../media/image4.png"/></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5.jpeg"/><Relationship Id="rId3" Type="http://schemas.openxmlformats.org/officeDocument/2006/relationships/image" Target="../media/image4.png"/><Relationship Id="rId4" Type="http://schemas.openxmlformats.org/officeDocument/2006/relationships/image" Target="../media/image6.png"/></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userDrawn="1">
  <p:cSld name="Title">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pic>
        <p:nvPicPr>
          <p:cNvPr id="4" name="Picture 3" descr="A picture containing sky, building, outdoor, city&#10;&#10;Description automatically generated">
            <a:extLst>
              <a:ext uri="{FF2B5EF4-FFF2-40B4-BE49-F238E27FC236}">
                <a16:creationId xmlns:a16="http://schemas.microsoft.com/office/drawing/2014/main" id="{AF958CDF-21C2-4696-B1FF-98C6C69234CE}"/>
              </a:ext>
            </a:extLst>
          </p:cNvPr>
          <p:cNvPicPr>
            <a:picLocks noChangeAspect="1"/>
          </p:cNvPicPr>
          <p:nvPr userDrawn="1"/>
        </p:nvPicPr>
        <p:blipFill rotWithShape="1">
          <a:blip r:embed="rId2">
            <a:extLst>
              <a:ext uri="{28A0092B-C50C-407E-A947-70E740481C1C}">
                <a14:useLocalDpi xmlns:a14="http://schemas.microsoft.com/office/drawing/2010/main"/>
              </a:ext>
            </a:extLst>
          </a:blip>
          <a:srcRect/>
          <a:stretch/>
        </p:blipFill>
        <p:spPr>
          <a:xfrm>
            <a:off x="0" y="1"/>
            <a:ext cx="11588750" cy="6858000"/>
          </a:xfrm>
          <a:prstGeom prst="rect">
            <a:avLst/>
          </a:prstGeom>
        </p:spPr>
      </p:pic>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 y="5137149"/>
            <a:ext cx="4933950" cy="1571625"/>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Tree>
    <p:extLst>
      <p:ext uri="{BB962C8B-B14F-4D97-AF65-F5344CB8AC3E}">
        <p14:creationId xmlns:p14="http://schemas.microsoft.com/office/powerpoint/2010/main" val="17214373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userDrawn="1">
  <p:cSld name="1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7" name="Rectangle 6">
            <a:extLst>
              <a:ext uri="{FF2B5EF4-FFF2-40B4-BE49-F238E27FC236}">
                <a16:creationId xmlns:a16="http://schemas.microsoft.com/office/drawing/2014/main" id="{3E92D3BD-B933-88AB-9C21-59605B00713D}"/>
              </a:ext>
            </a:extLst>
          </p:cNvPr>
          <p:cNvSpPr/>
          <p:nvPr userDrawn="1"/>
        </p:nvSpPr>
        <p:spPr>
          <a:xfrm>
            <a:off x="5111750" y="5727050"/>
            <a:ext cx="6477000" cy="45719"/>
          </a:xfrm>
          <a:prstGeom prst="rect">
            <a:avLst/>
          </a:prstGeom>
          <a:solidFill>
            <a:schemeClr val="bg1"/>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671436813"/>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userDrawn="1">
  <p:cSld name="2_Title">
    <p:spTree>
      <p:nvGrpSpPr>
        <p:cNvPr id="1" name=""/>
        <p:cNvGrpSpPr/>
        <p:nvPr/>
      </p:nvGrpSpPr>
      <p:grpSpPr>
        <a:xfrm>
          <a:off x="0" y="0"/>
          <a:ext cx="0" cy="0"/>
          <a:chOff x="0" y="0"/>
          <a:chExt cx="0" cy="0"/>
        </a:xfrm>
      </p:grpSpPr>
      <p:pic>
        <p:nvPicPr>
          <p:cNvPr id="2" name="Picture 1" descr="Vopak offering simultaneous LNG bunkering service in Rotterdam - Offshore  Energy">
            <a:extLst>
              <a:ext uri="{FF2B5EF4-FFF2-40B4-BE49-F238E27FC236}">
                <a16:creationId xmlns:a16="http://schemas.microsoft.com/office/drawing/2014/main" id="{04892275-F272-DCB3-8D5D-1CEB80A85CC4}"/>
              </a:ext>
            </a:extLst>
          </p:cNvPr>
          <p:cNvPicPr>
            <a:picLocks noChangeAspect="1"/>
          </p:cNvPicPr>
          <p:nvPr userDrawn="1"/>
        </p:nvPicPr>
        <p:blipFill>
          <a:blip r:embed="rId2"/>
          <a:srcRect l="1233" t="15791" r="178" b="318"/>
          <a:stretch>
            <a:fillRect/>
          </a:stretch>
        </p:blipFill>
        <p:spPr>
          <a:xfrm>
            <a:off x="1" y="-12700"/>
            <a:ext cx="11588749" cy="5753329"/>
          </a:xfrm>
          <a:prstGeom prst="rect">
            <a:avLst/>
          </a:prstGeom>
        </p:spPr>
      </p:pic>
      <p:sp>
        <p:nvSpPr>
          <p:cNvPr id="3" name="Slide Number Placeholder 2">
            <a:extLst>
              <a:ext uri="{FF2B5EF4-FFF2-40B4-BE49-F238E27FC236}">
                <a16:creationId xmlns:a16="http://schemas.microsoft.com/office/drawing/2014/main" id="{9509FAFE-21DB-4F6B-8EA1-32FA210B705A}"/>
              </a:ext>
            </a:extLst>
          </p:cNvPr>
          <p:cNvSpPr>
            <a:spLocks noGrp="1"/>
          </p:cNvSpPr>
          <p:nvPr>
            <p:ph type="sldNum" sz="quarter" idx="10"/>
          </p:nvPr>
        </p:nvSpPr>
        <p:spPr/>
        <p:txBody>
          <a:bodyPr/>
          <a:lstStyle/>
          <a:p>
            <a:fld id="{5E48029D-87D6-48C3-BA4B-1065A63511DF}" type="slidenum">
              <a:rPr lang="en-GB" smtClean="0">
                <a:solidFill>
                  <a:schemeClr val="tx1"/>
                </a:solidFill>
              </a:rPr>
              <a:pPr/>
              <a:t>‹#›</a:t>
            </a:fld>
            <a:endParaRPr lang="en-GB">
              <a:solidFill>
                <a:schemeClr val="tx1"/>
              </a:solidFill>
            </a:endParaRPr>
          </a:p>
        </p:txBody>
      </p:sp>
      <p:sp>
        <p:nvSpPr>
          <p:cNvPr id="4" name="Rectangle 3">
            <a:extLst>
              <a:ext uri="{FF2B5EF4-FFF2-40B4-BE49-F238E27FC236}">
                <a16:creationId xmlns:a16="http://schemas.microsoft.com/office/drawing/2014/main" id="{FC81615D-618B-242E-BA84-0838689DFC39}"/>
              </a:ext>
            </a:extLst>
          </p:cNvPr>
          <p:cNvSpPr/>
          <p:nvPr userDrawn="1"/>
        </p:nvSpPr>
        <p:spPr>
          <a:xfrm>
            <a:off x="1" y="5661025"/>
            <a:ext cx="11588749" cy="1200604"/>
          </a:xfrm>
          <a:prstGeom prst="rect">
            <a:avLst/>
          </a:prstGeom>
          <a:solidFill>
            <a:srgbClr val="326757"/>
          </a:solidFill>
          <a:ln>
            <a:no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en-US">
              <a:solidFill>
                <a:schemeClr val="tx1"/>
              </a:solidFill>
            </a:endParaRPr>
          </a:p>
        </p:txBody>
      </p:sp>
      <p:sp>
        <p:nvSpPr>
          <p:cNvPr id="9" name="Text Placeholder 8">
            <a:extLst>
              <a:ext uri="{FF2B5EF4-FFF2-40B4-BE49-F238E27FC236}">
                <a16:creationId xmlns:a16="http://schemas.microsoft.com/office/drawing/2014/main" id="{F597E07F-A0B2-4C60-A493-63795665B2AC}"/>
              </a:ext>
            </a:extLst>
          </p:cNvPr>
          <p:cNvSpPr>
            <a:spLocks noGrp="1"/>
          </p:cNvSpPr>
          <p:nvPr>
            <p:ph type="body" sz="quarter" idx="11"/>
          </p:nvPr>
        </p:nvSpPr>
        <p:spPr>
          <a:xfrm>
            <a:off x="177800" y="5205413"/>
            <a:ext cx="4933950" cy="1652587"/>
          </a:xfrm>
          <a:solidFill>
            <a:schemeClr val="bg1">
              <a:alpha val="50000"/>
            </a:schemeClr>
          </a:solidFill>
        </p:spPr>
        <p:txBody>
          <a:bodyPr anchor="ctr">
            <a:noAutofit/>
          </a:bodyPr>
          <a:lstStyle>
            <a:lvl1pPr marL="0" indent="0">
              <a:buNone/>
              <a:defRPr sz="2400" b="1">
                <a:solidFill>
                  <a:schemeClr val="tx1"/>
                </a:solidFill>
              </a:defRPr>
            </a:lvl1pPr>
            <a:lvl2pPr>
              <a:defRPr sz="2000" b="1">
                <a:solidFill>
                  <a:schemeClr val="tx1"/>
                </a:solidFill>
              </a:defRPr>
            </a:lvl2pPr>
            <a:lvl3pPr>
              <a:defRPr sz="1800" b="1">
                <a:solidFill>
                  <a:schemeClr val="tx1"/>
                </a:solidFill>
              </a:defRPr>
            </a:lvl3pPr>
            <a:lvl4pPr>
              <a:defRPr sz="1600" b="1">
                <a:solidFill>
                  <a:schemeClr val="tx1"/>
                </a:solidFill>
              </a:defRPr>
            </a:lvl4pPr>
            <a:lvl5pPr>
              <a:defRPr sz="1600" b="1">
                <a:solidFill>
                  <a:schemeClr val="tx1"/>
                </a:solidFill>
              </a:defRPr>
            </a:lvl5pPr>
          </a:lstStyle>
          <a:p>
            <a:pPr lvl="0"/>
            <a:r>
              <a:rPr lang="en-US">
                <a:solidFill>
                  <a:schemeClr val="tx1"/>
                </a:solidFill>
              </a:rPr>
              <a:t>Click to edit Master text styles</a:t>
            </a:r>
          </a:p>
        </p:txBody>
      </p:sp>
      <p:sp>
        <p:nvSpPr>
          <p:cNvPr id="10" name="Cover title panel"/>
          <p:cNvSpPr/>
          <p:nvPr/>
        </p:nvSpPr>
        <p:spPr>
          <a:xfrm>
            <a:off x="118872" y="4690872"/>
            <a:ext cx="4992624" cy="1993392"/>
          </a:xfrm>
          <a:prstGeom prst="rect">
            <a:avLst/>
          </a:prstGeom>
          <a:solidFill>
            <a:srgbClr val="E7E6E6">
              <a:alpha val="60000"/>
            </a:srgbClr>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1" name="Vopak cover logo" descr="A blue letter on a black background&#10;&#10;Description automatically generated">
            <a:extLst>
              <a:ext uri="{FF2B5EF4-FFF2-40B4-BE49-F238E27FC236}">
                <a16:creationId xmlns:a16="http://schemas.microsoft.com/office/drawing/2014/main" id="{F643500E-BA42-ED40-0D0F-F69255A71C89}"/>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2229814" y="5675739"/>
            <a:ext cx="2518046" cy="564539"/>
          </a:xfrm>
          <a:prstGeom prst="rect">
            <a:avLst/>
          </a:prstGeom>
        </p:spPr>
      </p:pic>
    </p:spTree>
    <p:extLst>
      <p:ext uri="{BB962C8B-B14F-4D97-AF65-F5344CB8AC3E}">
        <p14:creationId xmlns:p14="http://schemas.microsoft.com/office/powerpoint/2010/main" val="217510623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userDrawn="1">
  <p:cSld name="1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4299527"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2917251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preserve="1" userDrawn="1">
  <p:cSld name="2_Agenda">
    <p:spTree>
      <p:nvGrpSpPr>
        <p:cNvPr id="1" name=""/>
        <p:cNvGrpSpPr/>
        <p:nvPr/>
      </p:nvGrpSpPr>
      <p:grpSpPr>
        <a:xfrm>
          <a:off x="0" y="0"/>
          <a:ext cx="0" cy="0"/>
          <a:chOff x="0" y="0"/>
          <a:chExt cx="0" cy="0"/>
        </a:xfrm>
      </p:grpSpPr>
      <p:sp>
        <p:nvSpPr>
          <p:cNvPr id="3" name="Slide Number Placeholder 2">
            <a:extLst>
              <a:ext uri="{FF2B5EF4-FFF2-40B4-BE49-F238E27FC236}">
                <a16:creationId xmlns:a16="http://schemas.microsoft.com/office/drawing/2014/main" id="{01460789-817F-4161-99E1-BBB95ED4BDDD}"/>
              </a:ext>
            </a:extLst>
          </p:cNvPr>
          <p:cNvSpPr>
            <a:spLocks noGrp="1"/>
          </p:cNvSpPr>
          <p:nvPr>
            <p:ph type="sldNum" sz="quarter" idx="10"/>
          </p:nvPr>
        </p:nvSpPr>
        <p:spPr/>
        <p:txBody>
          <a:bodyPr/>
          <a:lstStyle>
            <a:lvl1pP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sp>
        <p:nvSpPr>
          <p:cNvPr id="8" name="Rectangle 7">
            <a:extLst>
              <a:ext uri="{FF2B5EF4-FFF2-40B4-BE49-F238E27FC236}">
                <a16:creationId xmlns:a16="http://schemas.microsoft.com/office/drawing/2014/main" id="{EB4FC8D6-72B7-40D6-89CC-331B0BF40A6F}"/>
              </a:ext>
            </a:extLst>
          </p:cNvPr>
          <p:cNvSpPr/>
          <p:nvPr userDrawn="1"/>
        </p:nvSpPr>
        <p:spPr>
          <a:xfrm>
            <a:off x="9079200" y="0"/>
            <a:ext cx="2509074" cy="1035049"/>
          </a:xfrm>
          <a:prstGeom prst="rect">
            <a:avLst/>
          </a:prstGeom>
          <a:solidFill>
            <a:schemeClr val="bg1"/>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endParaRPr lang="en-GB">
              <a:solidFill>
                <a:schemeClr val="tx1"/>
              </a:solidFill>
            </a:endParaRPr>
          </a:p>
        </p:txBody>
      </p:sp>
      <p:sp>
        <p:nvSpPr>
          <p:cNvPr id="9" name="Rectangle 8">
            <a:extLst>
              <a:ext uri="{FF2B5EF4-FFF2-40B4-BE49-F238E27FC236}">
                <a16:creationId xmlns:a16="http://schemas.microsoft.com/office/drawing/2014/main" id="{41EDA466-D75C-48F1-9F3F-47B154E770B8}"/>
              </a:ext>
            </a:extLst>
          </p:cNvPr>
          <p:cNvSpPr/>
          <p:nvPr userDrawn="1"/>
        </p:nvSpPr>
        <p:spPr>
          <a:xfrm>
            <a:off x="-29153" y="0"/>
            <a:ext cx="5823528" cy="6858000"/>
          </a:xfrm>
          <a:prstGeom prst="rect">
            <a:avLst/>
          </a:prstGeom>
          <a:solidFill>
            <a:schemeClr val="bg2"/>
          </a:solidFill>
          <a:ln>
            <a:noFill/>
          </a:ln>
        </p:spPr>
        <p:style>
          <a:lnRef idx="2">
            <a:schemeClr val="accent1">
              <a:shade val="50000"/>
            </a:schemeClr>
          </a:lnRef>
          <a:fillRef idx="1">
            <a:schemeClr val="accent1"/>
          </a:fillRef>
          <a:effectRef idx="0">
            <a:schemeClr val="accent1"/>
          </a:effectRef>
          <a:fontRef idx="minor">
            <a:schemeClr val="lt1"/>
          </a:fontRef>
        </p:style>
        <p:txBody>
          <a:bodyPr rtlCol="0" anchor="t"/>
          <a:lstStyle/>
          <a:p>
            <a:pPr algn="ctr"/>
            <a:endParaRPr lang="en-GB" sz="2800" b="1">
              <a:solidFill>
                <a:schemeClr val="tx1"/>
              </a:solidFill>
            </a:endParaRPr>
          </a:p>
          <a:p>
            <a:pPr algn="ctr"/>
            <a:endParaRPr lang="en-GB" sz="2800" b="1">
              <a:solidFill>
                <a:schemeClr val="tx1"/>
              </a:solidFill>
            </a:endParaRPr>
          </a:p>
        </p:txBody>
      </p:sp>
    </p:spTree>
    <p:extLst>
      <p:ext uri="{BB962C8B-B14F-4D97-AF65-F5344CB8AC3E}">
        <p14:creationId xmlns:p14="http://schemas.microsoft.com/office/powerpoint/2010/main" val="642766024"/>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preserve="1" userDrawn="1">
  <p:cSld name="Header only">
    <p:spTree>
      <p:nvGrpSpPr>
        <p:cNvPr id="1" name=""/>
        <p:cNvGrpSpPr/>
        <p:nvPr/>
      </p:nvGrpSpPr>
      <p:grpSpPr>
        <a:xfrm>
          <a:off x="0" y="0"/>
          <a:ext cx="0" cy="0"/>
          <a:chOff x="0" y="0"/>
          <a:chExt cx="0" cy="0"/>
        </a:xfrm>
      </p:grpSpPr>
      <p:sp>
        <p:nvSpPr>
          <p:cNvPr id="6" name="Slide Number Placeholder 5"/>
          <p:cNvSpPr>
            <a:spLocks noGrp="1"/>
          </p:cNvSpPr>
          <p:nvPr>
            <p:ph type="sldNum" sz="quarter" idx="12"/>
          </p:nvPr>
        </p:nvSpPr>
        <p:spPr>
          <a:xfrm>
            <a:off x="10605599" y="6489700"/>
            <a:ext cx="805350" cy="287338"/>
          </a:xfrm>
        </p:spPr>
        <p:txBody>
          <a:bodyPr/>
          <a:lstStyle>
            <a:lvl1pPr>
              <a:defRPr sz="1000">
                <a:solidFill>
                  <a:schemeClr val="tx1"/>
                </a:solidFill>
              </a:defRPr>
            </a:lvl1pPr>
          </a:lstStyle>
          <a:p>
            <a:fld id="{A65E4EDC-57F8-4D5C-B13E-A981C5F2F71A}" type="slidenum">
              <a:rPr lang="en-GB" smtClean="0">
                <a:solidFill>
                  <a:schemeClr val="tx1"/>
                </a:solidFill>
              </a:rPr>
              <a:pPr/>
              <a:t>‹#›</a:t>
            </a:fld>
            <a:endParaRPr lang="en-GB">
              <a:solidFill>
                <a:schemeClr val="tx1"/>
              </a:solidFill>
            </a:endParaRPr>
          </a:p>
        </p:txBody>
      </p:sp>
      <p:sp>
        <p:nvSpPr>
          <p:cNvPr id="3" name="Title Placeholder 1">
            <a:extLst>
              <a:ext uri="{FF2B5EF4-FFF2-40B4-BE49-F238E27FC236}">
                <a16:creationId xmlns:a16="http://schemas.microsoft.com/office/drawing/2014/main" id="{8395ED8E-92E9-32C5-9BE4-BAF8026DD357}"/>
              </a:ext>
            </a:extLst>
          </p:cNvPr>
          <p:cNvSpPr>
            <a:spLocks noGrp="1"/>
          </p:cNvSpPr>
          <p:nvPr>
            <p:ph type="title"/>
          </p:nvPr>
        </p:nvSpPr>
        <p:spPr>
          <a:xfrm>
            <a:off x="457200" y="585216"/>
            <a:ext cx="10561320" cy="822960"/>
          </a:xfrm>
          <a:prstGeom prst="rect">
            <a:avLst/>
          </a:prstGeom>
        </p:spPr>
        <p:txBody>
          <a:bodyPr vert="horz" lIns="91440" tIns="45720" rIns="91440" bIns="45720" rtlCol="0" anchor="ctr">
            <a:normAutofit/>
          </a:bodyPr>
          <a:lstStyle/>
          <a:p>
            <a:r>
              <a:rPr lang="en-US">
                <a:solidFill>
                  <a:schemeClr val="tx1"/>
                </a:solidFill>
              </a:rPr>
              <a:t>Click to edit Master title style</a:t>
            </a:r>
          </a:p>
        </p:txBody>
      </p:sp>
      <p:cxnSp>
        <p:nvCxnSpPr>
          <p:cNvPr id="7" name="Title and body separator"/>
          <p:cNvCxnSpPr/>
          <p:nvPr/>
        </p:nvCxnSpPr>
        <p:spPr>
          <a:xfrm>
            <a:off x="457200" y="1444752"/>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1038964405"/>
      </p:ext>
    </p:extLst>
  </p:cSld>
  <p:clrMapOvr>
    <a:masterClrMapping/>
  </p:clrMapOvr>
  <p:extLst>
    <p:ext uri="{DCECCB84-F9BA-43D5-87BE-67443E8EF086}">
      <p15:sldGuideLst xmlns:p15="http://schemas.microsoft.com/office/powerpoint/2012/main">
        <p15:guide id="3" orient="horz" pos="2160" userDrawn="1">
          <p15:clr>
            <a:srgbClr val="FBAE40"/>
          </p15:clr>
        </p15:guide>
        <p15:guide id="4" pos="3650" userDrawn="1">
          <p15:clr>
            <a:srgbClr val="FBAE40"/>
          </p15:clr>
        </p15:guide>
      </p15:sldGuideLst>
    </p:ext>
  </p:extLst>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theme" Target="../theme/theme1.xml"/><Relationship Id="rId8" Type="http://schemas.openxmlformats.org/officeDocument/2006/relationships/image" Target="../media/image1.png"/><Relationship Id="rId9" Type="http://schemas.openxmlformats.org/officeDocument/2006/relationships/image" Target="../media/image2.png"/></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177801" y="368299"/>
            <a:ext cx="11233148" cy="690101"/>
          </a:xfrm>
          <a:prstGeom prst="rect">
            <a:avLst/>
          </a:prstGeom>
        </p:spPr>
        <p:txBody>
          <a:bodyPr vert="horz" lIns="91440" tIns="45720" rIns="91440" bIns="45720" rtlCol="0" anchor="ctr">
            <a:normAutofit/>
          </a:bodyPr>
          <a:lstStyle/>
          <a:p/>
        </p:txBody>
      </p:sp>
      <p:sp>
        <p:nvSpPr>
          <p:cNvPr id="3" name="Text Placeholder 2"/>
          <p:cNvSpPr>
            <a:spLocks noGrp="1"/>
          </p:cNvSpPr>
          <p:nvPr>
            <p:ph type="body" idx="1"/>
          </p:nvPr>
        </p:nvSpPr>
        <p:spPr>
          <a:xfrm>
            <a:off x="177801" y="1233488"/>
            <a:ext cx="11233149" cy="5256212"/>
          </a:xfrm>
          <a:prstGeom prst="rect">
            <a:avLst/>
          </a:prstGeom>
        </p:spPr>
        <p:txBody>
          <a:bodyPr vert="horz" lIns="91440" tIns="45720" rIns="91440" bIns="45720" rtlCol="0">
            <a:normAutofit/>
          </a:bodyPr>
          <a:lstStyle/>
          <a:p>
            <a:pPr lvl="0"/>
          </a:p>
        </p:txBody>
      </p:sp>
      <p:sp>
        <p:nvSpPr>
          <p:cNvPr id="6" name="Slide Number Placeholder 5"/>
          <p:cNvSpPr>
            <a:spLocks noGrp="1"/>
          </p:cNvSpPr>
          <p:nvPr>
            <p:ph type="sldNum" sz="quarter" idx="4"/>
          </p:nvPr>
        </p:nvSpPr>
        <p:spPr>
          <a:xfrm>
            <a:off x="10605599" y="6489700"/>
            <a:ext cx="805350" cy="287338"/>
          </a:xfrm>
          <a:prstGeom prst="rect">
            <a:avLst/>
          </a:prstGeom>
        </p:spPr>
        <p:txBody>
          <a:bodyPr vert="horz" lIns="91440" tIns="45720" rIns="91440" bIns="45720" rtlCol="0" anchor="ctr"/>
          <a:lstStyle>
            <a:lvl1pPr algn="r">
              <a:defRPr sz="1000">
                <a:solidFill>
                  <a:schemeClr val="tx1"/>
                </a:solidFill>
              </a:defRPr>
            </a:lvl1pPr>
          </a:lstStyle>
          <a:p>
            <a:fld id="{5E48029D-87D6-48C3-BA4B-1065A63511DF}" type="slidenum">
              <a:rPr lang="en-GB" smtClean="0">
                <a:solidFill>
                  <a:schemeClr val="tx1"/>
                </a:solidFill>
              </a:rPr>
              <a:pPr/>
              <a:t>‹#›</a:t>
            </a:fld>
            <a:endParaRPr lang="en-GB">
              <a:solidFill>
                <a:schemeClr val="tx1"/>
              </a:solidFill>
            </a:endParaRPr>
          </a:p>
        </p:txBody>
      </p:sp>
      <p:pic>
        <p:nvPicPr>
          <p:cNvPr id="4" name="Picture 2">
            <a:extLst>
              <a:ext uri="{FF2B5EF4-FFF2-40B4-BE49-F238E27FC236}">
                <a16:creationId xmlns:a16="http://schemas.microsoft.com/office/drawing/2014/main" id="{643CB578-80E0-884E-8515-53279D5DACC1}"/>
              </a:ext>
            </a:extLst>
          </p:cNvPr>
          <p:cNvPicPr>
            <a:picLocks noChangeAspect="1" noChangeArrowheads="1"/>
          </p:cNvPicPr>
          <p:nvPr userDrawn="1"/>
        </p:nvPicPr>
        <p:blipFill>
          <a:blip r:embed="rId8">
            <a:extLst>
              <a:ext uri="{28A0092B-C50C-407E-A947-70E740481C1C}">
                <a14:useLocalDpi xmlns:a14="http://schemas.microsoft.com/office/drawing/2010/main" val="0"/>
              </a:ext>
            </a:extLst>
          </a:blip>
          <a:srcRect/>
          <a:stretch>
            <a:fillRect/>
          </a:stretch>
        </p:blipFill>
        <p:spPr bwMode="auto">
          <a:xfrm>
            <a:off x="10104120" y="6556248"/>
            <a:ext cx="777240" cy="173447"/>
          </a:xfrm>
          <a:prstGeom prst="rect">
            <a:avLst/>
          </a:prstGeom>
          <a:noFill/>
          <a:extLst>
            <a:ext uri="{909E8E84-426E-40DD-AFC4-6F175D3DCCD1}">
              <a14:hiddenFill xmlns:a14="http://schemas.microsoft.com/office/drawing/2010/main">
                <a:solidFill>
                  <a:srgbClr val="FFFFFF"/>
                </a:solidFill>
              </a14:hiddenFill>
            </a:ext>
          </a:extLst>
        </p:spPr>
      </p:pic>
      <p:sp>
        <p:nvSpPr>
          <p:cNvPr id="9" name="Text Placeholder 6">
            <a:extLst>
              <a:ext uri="{FF2B5EF4-FFF2-40B4-BE49-F238E27FC236}">
                <a16:creationId xmlns:a16="http://schemas.microsoft.com/office/drawing/2014/main" id="{5CB3F387-66D0-18CC-51EE-24B908A792B7}"/>
              </a:ext>
            </a:extLst>
          </p:cNvPr>
          <p:cNvSpPr txBox="1">
            <a:spLocks/>
          </p:cNvSpPr>
          <p:nvPr userDrawn="1"/>
        </p:nvSpPr>
        <p:spPr>
          <a:xfrm>
            <a:off x="457200" y="6528816"/>
            <a:ext cx="8595360" cy="228600"/>
          </a:xfrm>
          <a:prstGeom prst="rect">
            <a:avLst/>
          </a:prstGeom>
        </p:spPr>
        <p:txBody>
          <a:bodyPr anchor="ctr" tIns="0" bIns="0">
            <a:normAutofit/>
          </a:bodyPr>
          <a:lstStyle>
            <a:lvl1pPr marL="0" indent="0" algn="l" defTabSz="869137" rtl="0" eaLnBrk="1" latinLnBrk="0" hangingPunct="1">
              <a:lnSpc>
                <a:spcPct val="90000"/>
              </a:lnSpc>
              <a:spcBef>
                <a:spcPts val="951"/>
              </a:spcBef>
              <a:buFont typeface="Arial" panose="020B0604020202020204" pitchFamily="34" charset="0"/>
              <a:buNone/>
              <a:defRPr sz="1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a:lstStyle>
          <a:p>
            <a:pPr>
              <a:defRPr sz="800">
                <a:solidFill>
                  <a:srgbClr val="404040"/>
                </a:solidFill>
                <a:latin typeface="Lato"/>
              </a:defRPr>
            </a:pPr>
          </a:p>
        </p:txBody>
      </p:sp>
      <p:cxnSp>
        <p:nvCxnSpPr>
          <p:cNvPr id="10" name="Fine footer rule"/>
          <p:cNvCxnSpPr/>
          <p:nvPr/>
        </p:nvCxnSpPr>
        <p:spPr>
          <a:xfrm>
            <a:off x="457200" y="6437376"/>
            <a:ext cx="10652760" cy="0"/>
          </a:xfrm>
          <a:prstGeom prst="line">
            <a:avLst/>
          </a:prstGeom>
          <a:ln w="3175">
            <a:solidFill>
              <a:srgbClr val="B0B0B0"/>
            </a:solidFill>
          </a:ln>
        </p:spPr>
        <p:style>
          <a:lnRef idx="2">
            <a:schemeClr val="accent1"/>
          </a:lnRef>
          <a:fillRef idx="0">
            <a:schemeClr val="accent1"/>
          </a:fillRef>
          <a:effectRef idx="1">
            <a:schemeClr val="accent1"/>
          </a:effectRef>
          <a:fontRef idx="minor">
            <a:schemeClr val="tx1"/>
          </a:fontRef>
        </p:style>
      </p:cxnSp>
    </p:spTree>
    <p:extLst>
      <p:ext uri="{BB962C8B-B14F-4D97-AF65-F5344CB8AC3E}">
        <p14:creationId xmlns:p14="http://schemas.microsoft.com/office/powerpoint/2010/main" val="4204016228"/>
      </p:ext>
    </p:extLst>
  </p:cSld>
  <p:clrMap bg1="lt1" tx1="dk1" bg2="lt2" tx2="dk2" accent1="accent1" accent2="accent2" accent3="accent3" accent4="accent4" accent5="accent5" accent6="accent6" hlink="hlink" folHlink="folHlink"/>
  <p:sldLayoutIdLst>
    <p:sldLayoutId id="2147483713" r:id="rId1"/>
    <p:sldLayoutId id="2147483718" r:id="rId2"/>
    <p:sldLayoutId id="2147483723" r:id="rId3"/>
    <p:sldLayoutId id="2147483724" r:id="rId4"/>
    <p:sldLayoutId id="2147483725" r:id="rId5"/>
    <p:sldLayoutId id="2147483698" r:id="rId6"/>
  </p:sldLayoutIdLst>
  <p:hf hdr="0" ftr="0" dt="0"/>
  <p:txStyles>
    <p:titleStyle>
      <a:lvl1pPr algn="l" defTabSz="869137" rtl="0" eaLnBrk="1" latinLnBrk="0" hangingPunct="1">
        <a:lnSpc>
          <a:spcPct val="90000"/>
        </a:lnSpc>
        <a:spcBef>
          <a:spcPct val="0"/>
        </a:spcBef>
        <a:buNone/>
        <a:defRPr sz="2200" b="1" kern="1200">
          <a:solidFill>
            <a:schemeClr val="tx1"/>
          </a:solidFill>
          <a:latin typeface="+mj-lt"/>
          <a:ea typeface="+mj-ea"/>
          <a:cs typeface="+mj-cs"/>
        </a:defRPr>
      </a:lvl1pPr>
    </p:titleStyle>
    <p:bodyStyle>
      <a:lvl1pPr marL="217284" indent="-217284" algn="l" defTabSz="869137" rtl="0" eaLnBrk="1" latinLnBrk="0" hangingPunct="1">
        <a:lnSpc>
          <a:spcPct val="90000"/>
        </a:lnSpc>
        <a:spcBef>
          <a:spcPts val="951"/>
        </a:spcBef>
        <a:buFont typeface="Arial" panose="020B0604020202020204" pitchFamily="34" charset="0"/>
        <a:buChar char="•"/>
        <a:defRPr sz="2000" kern="1200">
          <a:solidFill>
            <a:schemeClr val="tx1"/>
          </a:solidFill>
          <a:latin typeface="+mn-lt"/>
          <a:ea typeface="+mn-ea"/>
          <a:cs typeface="+mn-cs"/>
        </a:defRPr>
      </a:lvl1pPr>
      <a:lvl2pPr marL="651853" indent="-217284" algn="l" defTabSz="869137" rtl="0" eaLnBrk="1" latinLnBrk="0" hangingPunct="1">
        <a:lnSpc>
          <a:spcPct val="90000"/>
        </a:lnSpc>
        <a:spcBef>
          <a:spcPts val="475"/>
        </a:spcBef>
        <a:buFont typeface="Arial" panose="020B0604020202020204" pitchFamily="34" charset="0"/>
        <a:buChar char="•"/>
        <a:defRPr sz="1800" kern="1200">
          <a:solidFill>
            <a:schemeClr val="tx1"/>
          </a:solidFill>
          <a:latin typeface="+mn-lt"/>
          <a:ea typeface="+mn-ea"/>
          <a:cs typeface="+mn-cs"/>
        </a:defRPr>
      </a:lvl2pPr>
      <a:lvl3pPr marL="1086422" indent="-217284" algn="l" defTabSz="869137" rtl="0" eaLnBrk="1" latinLnBrk="0" hangingPunct="1">
        <a:lnSpc>
          <a:spcPct val="90000"/>
        </a:lnSpc>
        <a:spcBef>
          <a:spcPts val="475"/>
        </a:spcBef>
        <a:buFont typeface="Arial" panose="020B0604020202020204" pitchFamily="34" charset="0"/>
        <a:buChar char="•"/>
        <a:defRPr sz="1600" kern="1200">
          <a:solidFill>
            <a:schemeClr val="tx1"/>
          </a:solidFill>
          <a:latin typeface="+mn-lt"/>
          <a:ea typeface="+mn-ea"/>
          <a:cs typeface="+mn-cs"/>
        </a:defRPr>
      </a:lvl3pPr>
      <a:lvl4pPr marL="1520990"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4pPr>
      <a:lvl5pPr marL="1955559" indent="-217284" algn="l" defTabSz="869137" rtl="0" eaLnBrk="1" latinLnBrk="0" hangingPunct="1">
        <a:lnSpc>
          <a:spcPct val="90000"/>
        </a:lnSpc>
        <a:spcBef>
          <a:spcPts val="475"/>
        </a:spcBef>
        <a:buFont typeface="Arial" panose="020B0604020202020204" pitchFamily="34" charset="0"/>
        <a:buChar char="•"/>
        <a:defRPr sz="1400" kern="1200">
          <a:solidFill>
            <a:schemeClr val="tx1"/>
          </a:solidFill>
          <a:latin typeface="+mn-lt"/>
          <a:ea typeface="+mn-ea"/>
          <a:cs typeface="+mn-cs"/>
        </a:defRPr>
      </a:lvl5pPr>
      <a:lvl6pPr marL="2390127"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6pPr>
      <a:lvl7pPr marL="2824696"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7pPr>
      <a:lvl8pPr marL="3259265"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8pPr>
      <a:lvl9pPr marL="3693833" indent="-217284" algn="l" defTabSz="869137" rtl="0" eaLnBrk="1" latinLnBrk="0" hangingPunct="1">
        <a:lnSpc>
          <a:spcPct val="90000"/>
        </a:lnSpc>
        <a:spcBef>
          <a:spcPts val="475"/>
        </a:spcBef>
        <a:buFont typeface="Arial" panose="020B0604020202020204" pitchFamily="34" charset="0"/>
        <a:buChar char="•"/>
        <a:defRPr sz="1711" kern="1200">
          <a:solidFill>
            <a:schemeClr val="tx1"/>
          </a:solidFill>
          <a:latin typeface="+mn-lt"/>
          <a:ea typeface="+mn-ea"/>
          <a:cs typeface="+mn-cs"/>
        </a:defRPr>
      </a:lvl9pPr>
    </p:bodyStyle>
    <p:otherStyle>
      <a:defPPr>
        <a:defRPr lang="en-US"/>
      </a:defPPr>
      <a:lvl1pPr marL="0" algn="l" defTabSz="869137" rtl="0" eaLnBrk="1" latinLnBrk="0" hangingPunct="1">
        <a:defRPr sz="1711" kern="1200">
          <a:solidFill>
            <a:schemeClr val="tx1"/>
          </a:solidFill>
          <a:latin typeface="+mn-lt"/>
          <a:ea typeface="+mn-ea"/>
          <a:cs typeface="+mn-cs"/>
        </a:defRPr>
      </a:lvl1pPr>
      <a:lvl2pPr marL="434569" algn="l" defTabSz="869137" rtl="0" eaLnBrk="1" latinLnBrk="0" hangingPunct="1">
        <a:defRPr sz="1711" kern="1200">
          <a:solidFill>
            <a:schemeClr val="tx1"/>
          </a:solidFill>
          <a:latin typeface="+mn-lt"/>
          <a:ea typeface="+mn-ea"/>
          <a:cs typeface="+mn-cs"/>
        </a:defRPr>
      </a:lvl2pPr>
      <a:lvl3pPr marL="869137" algn="l" defTabSz="869137" rtl="0" eaLnBrk="1" latinLnBrk="0" hangingPunct="1">
        <a:defRPr sz="1711" kern="1200">
          <a:solidFill>
            <a:schemeClr val="tx1"/>
          </a:solidFill>
          <a:latin typeface="+mn-lt"/>
          <a:ea typeface="+mn-ea"/>
          <a:cs typeface="+mn-cs"/>
        </a:defRPr>
      </a:lvl3pPr>
      <a:lvl4pPr marL="1303706" algn="l" defTabSz="869137" rtl="0" eaLnBrk="1" latinLnBrk="0" hangingPunct="1">
        <a:defRPr sz="1711" kern="1200">
          <a:solidFill>
            <a:schemeClr val="tx1"/>
          </a:solidFill>
          <a:latin typeface="+mn-lt"/>
          <a:ea typeface="+mn-ea"/>
          <a:cs typeface="+mn-cs"/>
        </a:defRPr>
      </a:lvl4pPr>
      <a:lvl5pPr marL="1738274" algn="l" defTabSz="869137" rtl="0" eaLnBrk="1" latinLnBrk="0" hangingPunct="1">
        <a:defRPr sz="1711" kern="1200">
          <a:solidFill>
            <a:schemeClr val="tx1"/>
          </a:solidFill>
          <a:latin typeface="+mn-lt"/>
          <a:ea typeface="+mn-ea"/>
          <a:cs typeface="+mn-cs"/>
        </a:defRPr>
      </a:lvl5pPr>
      <a:lvl6pPr marL="2172843" algn="l" defTabSz="869137" rtl="0" eaLnBrk="1" latinLnBrk="0" hangingPunct="1">
        <a:defRPr sz="1711" kern="1200">
          <a:solidFill>
            <a:schemeClr val="tx1"/>
          </a:solidFill>
          <a:latin typeface="+mn-lt"/>
          <a:ea typeface="+mn-ea"/>
          <a:cs typeface="+mn-cs"/>
        </a:defRPr>
      </a:lvl6pPr>
      <a:lvl7pPr marL="2607412" algn="l" defTabSz="869137" rtl="0" eaLnBrk="1" latinLnBrk="0" hangingPunct="1">
        <a:defRPr sz="1711" kern="1200">
          <a:solidFill>
            <a:schemeClr val="tx1"/>
          </a:solidFill>
          <a:latin typeface="+mn-lt"/>
          <a:ea typeface="+mn-ea"/>
          <a:cs typeface="+mn-cs"/>
        </a:defRPr>
      </a:lvl7pPr>
      <a:lvl8pPr marL="3041980" algn="l" defTabSz="869137" rtl="0" eaLnBrk="1" latinLnBrk="0" hangingPunct="1">
        <a:defRPr sz="1711" kern="1200">
          <a:solidFill>
            <a:schemeClr val="tx1"/>
          </a:solidFill>
          <a:latin typeface="+mn-lt"/>
          <a:ea typeface="+mn-ea"/>
          <a:cs typeface="+mn-cs"/>
        </a:defRPr>
      </a:lvl8pPr>
      <a:lvl9pPr marL="3476549" algn="l" defTabSz="869137" rtl="0" eaLnBrk="1" latinLnBrk="0" hangingPunct="1">
        <a:defRPr sz="1711" kern="1200">
          <a:solidFill>
            <a:schemeClr val="tx1"/>
          </a:solidFill>
          <a:latin typeface="+mn-lt"/>
          <a:ea typeface="+mn-ea"/>
          <a:cs typeface="+mn-cs"/>
        </a:defRPr>
      </a:lvl9pPr>
    </p:otherStyle>
  </p:txStyles>
  <p:extLst>
    <p:ext uri="{27BBF7A9-308A-43DC-89C8-2F10F3537804}">
      <p15:sldGuideLst xmlns:p15="http://schemas.microsoft.com/office/powerpoint/2012/main">
        <p15:guide id="12" orient="horz" pos="2160" userDrawn="1">
          <p15:clr>
            <a:srgbClr val="F26B43"/>
          </p15:clr>
        </p15:guide>
        <p15:guide id="13" pos="112" userDrawn="1">
          <p15:clr>
            <a:srgbClr val="F26B43"/>
          </p15:clr>
        </p15:guide>
        <p15:guide id="14" orient="horz" pos="4269" userDrawn="1">
          <p15:clr>
            <a:srgbClr val="F26B43"/>
          </p15:clr>
        </p15:guide>
        <p15:guide id="15" pos="3650" userDrawn="1">
          <p15:clr>
            <a:srgbClr val="F26B43"/>
          </p15:clr>
        </p15:guide>
        <p15:guide id="16" pos="7188" userDrawn="1">
          <p15:clr>
            <a:srgbClr val="F26B43"/>
          </p15:clr>
        </p15:guide>
        <p15:guide id="17" orient="horz" pos="28" userDrawn="1">
          <p15:clr>
            <a:srgbClr val="F26B43"/>
          </p15:clr>
        </p15:guide>
        <p15:guide id="18" orient="horz" pos="686" userDrawn="1">
          <p15:clr>
            <a:srgbClr val="F26B43"/>
          </p15:clr>
        </p15:guide>
        <p15:guide id="19" orient="horz" pos="777" userDrawn="1">
          <p15:clr>
            <a:srgbClr val="F26B43"/>
          </p15:clr>
        </p15:guide>
        <p15:guide id="20" orient="horz" pos="4088" userDrawn="1">
          <p15:clr>
            <a:srgbClr val="F26B43"/>
          </p15:clr>
        </p15:guide>
        <p15:guide id="21" orient="horz" pos="3680" userDrawn="1">
          <p15:clr>
            <a:srgbClr val="F26B43"/>
          </p15:clr>
        </p15:guide>
        <p15:guide id="22" orient="horz" pos="3566" userDrawn="1">
          <p15:clr>
            <a:srgbClr val="F26B43"/>
          </p15:clr>
        </p15:guide>
        <p15:guide id="23" pos="5805" userDrawn="1">
          <p15:clr>
            <a:srgbClr val="F26B43"/>
          </p15:clr>
        </p15:guide>
      </p15:sldGuideLst>
    </p:ext>
  </p:extLst>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7.jpg"/><Relationship Id="rId3" Type="http://schemas.openxmlformats.org/officeDocument/2006/relationships/image" Target="../media/image8.png"/><Relationship Id="rId4" Type="http://schemas.openxmlformats.org/officeDocument/2006/relationships/hyperlink" Target="https://www.vopak.com/terminals/vopak-terminal-durban" TargetMode="External"/><Relationship Id="rId5" Type="http://schemas.openxmlformats.org/officeDocument/2006/relationships/notesSlide" Target="../notesSlides/notesSlide1.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chart" Target="../charts/chart1.xml"/><Relationship Id="rId3" Type="http://schemas.openxmlformats.org/officeDocument/2006/relationships/chart" Target="../charts/chart2.xml"/><Relationship Id="rId4" Type="http://schemas.openxmlformats.org/officeDocument/2006/relationships/slide" Target="slide3.xml"/><Relationship Id="rId5" Type="http://schemas.openxmlformats.org/officeDocument/2006/relationships/slide" Target="slide6.xml"/><Relationship Id="rId6" Type="http://schemas.openxmlformats.org/officeDocument/2006/relationships/slide" Target="slide10.xml"/><Relationship Id="rId7" Type="http://schemas.openxmlformats.org/officeDocument/2006/relationships/slide" Target="slide12.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6.xml"/><Relationship Id="rId2" Type="http://schemas.openxmlformats.org/officeDocument/2006/relationships/slide" Target="slide3.xml"/><Relationship Id="rId3" Type="http://schemas.openxmlformats.org/officeDocument/2006/relationships/slide" Target="slide6.xml"/><Relationship Id="rId4" Type="http://schemas.openxmlformats.org/officeDocument/2006/relationships/slide" Target="slide10.xml"/><Relationship Id="rId5" Type="http://schemas.openxmlformats.org/officeDocument/2006/relationships/slide" Target="slide12.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image" Target="../media/image9.jpg"/><Relationship Id="rId3" Type="http://schemas.openxmlformats.org/officeDocument/2006/relationships/image" Target="../media/image8.png"/><Relationship Id="rId4" Type="http://schemas.openxmlformats.org/officeDocument/2006/relationships/hyperlink" Target="https://www.vopak.com/terminals/vopak-terminal-lesedi" TargetMode="External"/><Relationship Id="rId5" Type="http://schemas.openxmlformats.org/officeDocument/2006/relationships/notesSlide" Target="../notesSlides/notesSlide6.xml"/></Relationships>
</file>

<file path=ppt/slides/slide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1836" r="21836"/>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Liquid fuels</a:t>
            </a:r>
          </a:p>
          <a:p>
            <a:pPr>
              <a:spcAft>
                <a:spcPts val="800"/>
              </a:spcAft>
              <a:defRPr sz="3100" b="0">
                <a:solidFill>
                  <a:srgbClr val="FFFFFF"/>
                </a:solidFill>
                <a:latin typeface="Lato"/>
              </a:defRPr>
            </a:pPr>
            <a:r>
              <a:t>demand and supply</a:t>
            </a:r>
          </a:p>
          <a:p>
            <a:pPr>
              <a:spcAft>
                <a:spcPts val="800"/>
              </a:spcAft>
              <a:defRPr sz="3100" b="0">
                <a:solidFill>
                  <a:srgbClr val="FFFFFF"/>
                </a:solidFill>
                <a:latin typeface="Lato"/>
              </a:defRPr>
            </a:pPr>
            <a:r>
              <a:t>model</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 hand-back</a:t>
            </a:r>
          </a:p>
        </p:txBody>
      </p:sp>
      <p:sp>
        <p:nvSpPr>
          <p:cNvPr id="8" name="TextBox 7"/>
          <p:cNvSpPr txBox="1"/>
          <p:nvPr/>
        </p:nvSpPr>
        <p:spPr>
          <a:xfrm>
            <a:off x="594360" y="5239512"/>
            <a:ext cx="4572000" cy="36576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 Baseline, fuel input tables and decision log</a:t>
            </a:r>
          </a:p>
        </p:txBody>
      </p:sp>
      <p:sp>
        <p:nvSpPr>
          <p:cNvPr id="9" name="TextBox 8"/>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10" name="TextBox 9"/>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1"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Durban | vopak.com</a:t>
            </a:r>
          </a:p>
        </p:txBody>
      </p:sp>
      <p:sp>
        <p:nvSpPr>
          <p:cNvPr id="12"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On customs trade, 2024 petrol and diesel sales exceed net imports by 7.7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Corrected balance | calendar years, billion litres | imports and exports from SARS customs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sp>
        <p:nvSpPr>
          <p:cNvPr id="7" name="TextBox 6"/>
          <p:cNvSpPr txBox="1"/>
          <p:nvPr/>
        </p:nvSpPr>
        <p:spPr>
          <a:xfrm>
            <a:off x="137160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Petrol</a:t>
            </a:r>
          </a:p>
        </p:txBody>
      </p:sp>
      <p:sp>
        <p:nvSpPr>
          <p:cNvPr id="8" name="TextBox 7"/>
          <p:cNvSpPr txBox="1"/>
          <p:nvPr/>
        </p:nvSpPr>
        <p:spPr>
          <a:xfrm>
            <a:off x="5394960" y="2011680"/>
            <a:ext cx="4023360" cy="228600"/>
          </a:xfrm>
          <a:prstGeom prst="rect">
            <a:avLst/>
          </a:prstGeom>
          <a:noFill/>
        </p:spPr>
        <p:txBody>
          <a:bodyPr wrap="square" lIns="22860" rIns="22860" tIns="0" bIns="0">
            <a:spAutoFit/>
          </a:bodyPr>
          <a:lstStyle/>
          <a:p>
            <a:pPr>
              <a:spcAft>
                <a:spcPts val="300"/>
              </a:spcAft>
              <a:defRPr sz="1150" b="1">
                <a:solidFill>
                  <a:srgbClr val="0A2373"/>
                </a:solidFill>
                <a:latin typeface="Lato"/>
              </a:defRPr>
            </a:pPr>
            <a:r>
              <a:t>Diesel</a:t>
            </a:r>
          </a:p>
        </p:txBody>
      </p:sp>
      <p:graphicFrame>
        <p:nvGraphicFramePr>
          <p:cNvPr id="9" name="Table 8"/>
          <p:cNvGraphicFramePr>
            <a:graphicFrameLocks noGrp="1"/>
          </p:cNvGraphicFramePr>
          <p:nvPr/>
        </p:nvGraphicFramePr>
        <p:xfrm>
          <a:off x="457200" y="2267712"/>
          <a:ext cx="8961120" cy="3017520"/>
        </p:xfrm>
        <a:graphic>
          <a:graphicData uri="http://schemas.openxmlformats.org/drawingml/2006/table">
            <a:tbl>
              <a:tblPr firstRow="0" bandRow="0"/>
              <a:tblGrid>
                <a:gridCol w="914400"/>
                <a:gridCol w="1005840"/>
                <a:gridCol w="1005840"/>
                <a:gridCol w="1005840"/>
                <a:gridCol w="1005840"/>
                <a:gridCol w="1005840"/>
                <a:gridCol w="1005840"/>
                <a:gridCol w="1005840"/>
                <a:gridCol w="1005840"/>
              </a:tblGrid>
              <a:tr h="377190">
                <a:tc>
                  <a:txBody>
                    <a:bodyPr/>
                    <a:lstStyle/>
                    <a:p>
                      <a:pPr>
                        <a:spcAft>
                          <a:spcPts val="100"/>
                        </a:spcAft>
                        <a:defRPr sz="1100" b="1">
                          <a:solidFill>
                            <a:srgbClr val="0A2373"/>
                          </a:solidFill>
                          <a:latin typeface="Lato"/>
                        </a:defRPr>
                      </a:pPr>
                      <a:r>
                        <a:t>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1">
                          <a:solidFill>
                            <a:srgbClr val="11151A"/>
                          </a:solidFill>
                          <a:latin typeface="Lato"/>
                        </a:defRPr>
                      </a:pPr>
                      <a:r>
                        <a:t>Sales less</a:t>
                      </a:r>
                    </a:p>
                    <a:p>
                      <a:pPr algn="r">
                        <a:spcAft>
                          <a:spcPts val="100"/>
                        </a:spcAft>
                        <a:defRPr sz="1100" b="1">
                          <a:solidFill>
                            <a:srgbClr val="11151A"/>
                          </a:solidFill>
                          <a:latin typeface="Lato"/>
                        </a:defRPr>
                      </a:pPr>
                      <a:r>
                        <a:t>net imports</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2019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10.47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9.06</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8.20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11.69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6.81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5.79</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6.35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9.76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4.08</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9.18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5.46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12.72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1.65</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12.91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12.87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0.93</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9.03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0.92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5.95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11.73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10.79</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1.74</a:t>
                      </a:r>
                    </a:p>
                  </a:txBody>
                  <a:tcPr marL="64008" marR="64008" marT="54864" marB="27432" anchor="t">
                    <a:lnL w="0">
                      <a:noFill/>
                    </a:lnL>
                    <a:lnR w="0">
                      <a:noFill/>
                    </a:lnR>
                    <a:lnT w="0">
                      <a:noFill/>
                    </a:lnT>
                    <a:lnB w="5080">
                      <a:solidFill>
                        <a:srgbClr val="B8B8B8"/>
                      </a:solidFill>
                    </a:lnB>
                    <a:solidFill>
                      <a:srgbClr val="FFFFFF"/>
                    </a:solidFill>
                  </a:tcPr>
                </a:tc>
              </a:tr>
              <a:tr h="377190">
                <a:tc>
                  <a:txBody>
                    <a:bodyPr/>
                    <a:lstStyle/>
                    <a:p>
                      <a:pPr>
                        <a:spcAft>
                          <a:spcPts val="100"/>
                        </a:spcAft>
                        <a:defRPr sz="1100" b="1">
                          <a:solidFill>
                            <a:srgbClr val="0A2373"/>
                          </a:solidFill>
                          <a:latin typeface="Lato"/>
                        </a:defRPr>
                      </a:pPr>
                      <a:r>
                        <a:t>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4.45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0.80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12.25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0.75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lgn="r">
                        <a:spcAft>
                          <a:spcPts val="100"/>
                        </a:spcAft>
                        <a:defRPr sz="1100" b="0">
                          <a:solidFill>
                            <a:srgbClr val="11151A"/>
                          </a:solidFill>
                          <a:latin typeface="Lato"/>
                        </a:defRPr>
                      </a:pPr>
                      <a:r>
                        <a:t>—</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532120"/>
            <a:ext cx="10652760" cy="82296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Sales less net imports is what production, stock changes and gaps in sales coverage must together supply. It is not a measurement of production.</a:t>
            </a:r>
          </a:p>
          <a:p>
            <a:pPr>
              <a:spcAft>
                <a:spcPts val="300"/>
              </a:spcAft>
              <a:defRPr sz="1100" b="0">
                <a:solidFill>
                  <a:srgbClr val="11151A"/>
                </a:solidFill>
                <a:latin typeface="Lato"/>
              </a:defRPr>
            </a:pPr>
            <a:r>
              <a:t>Sales: department to 2023; 2024 is FIASA's figure and is unverified; none yet for 2025. Rebuilt by one command from registered inputs; a test checks every year against the customs extract.</a:t>
            </a:r>
          </a:p>
        </p:txBody>
      </p:sp>
      <p:sp>
        <p:nvSpPr>
          <p:cNvPr id="11" name="Chevron 10">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Sources agree on most years; five differences need a recorded choice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Source differences | billion litres | every source is kept in its own column of the balance file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291840"/>
        </p:xfrm>
        <a:graphic>
          <a:graphicData uri="http://schemas.openxmlformats.org/drawingml/2006/table">
            <a:tbl>
              <a:tblPr firstRow="0" bandRow="0"/>
              <a:tblGrid>
                <a:gridCol w="2103120"/>
                <a:gridCol w="4754880"/>
                <a:gridCol w="2011680"/>
                <a:gridCol w="1783080"/>
              </a:tblGrid>
              <a:tr h="54864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What the sources say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Used in the balance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Who decides</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p.47: petrol 9.03, diesel 11.73. FIASA 2024 edition, p.32: 8.76 and 11.81. JODI: 10.14 and 10.04 (lowest reliability code). Department: not published. Road Accident Fund levy: 24.4 bn litres for both fuels in the year to March 2025, up 0.7%, against 20.76 here.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FIASA 2025 edition, flagged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agree the 2024 sales source</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2024 diesel imports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10.793. Department trade report 10.8 (rounded). FIASA 14.793, a suspected misprint.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2018 and 2019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2018 diesel: customs 5.12, FIASA 6.11; petrol: 1.83 and 2.19. 2019 diesel: 5.59 and 5.86. 2018 exports are also lower in customs. FIASA and the department's 2018 balance share one earlier reading; today's customs data and UN Comtrade agree with each other. No missing month or tariff 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likely a later customs revision, not proven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2022 diesel exports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 0.89, FIASA 0.70.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Customs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review</a:t>
                      </a:r>
                    </a:p>
                  </a:txBody>
                  <a:tcPr marL="64008" marR="64008" marT="54864" marB="27432" anchor="t">
                    <a:lnL w="0">
                      <a:noFill/>
                    </a:lnL>
                    <a:lnR w="0">
                      <a:noFill/>
                    </a:lnR>
                    <a:lnT w="0">
                      <a:noFill/>
                    </a:lnT>
                    <a:lnB w="5080">
                      <a:solidFill>
                        <a:srgbClr val="B8B8B8"/>
                      </a:solidFill>
                    </a:lnB>
                    <a:solidFill>
                      <a:srgbClr val="FFFFFF"/>
                    </a:solidFill>
                  </a:tcPr>
                </a:tc>
              </a:tr>
              <a:tr h="548640">
                <a:tc>
                  <a:txBody>
                    <a:bodyPr/>
                    <a:lstStyle/>
                    <a:p>
                      <a:pPr>
                        <a:spcAft>
                          <a:spcPts val="100"/>
                        </a:spcAft>
                        <a:defRPr sz="1000" b="1">
                          <a:solidFill>
                            <a:srgbClr val="0A2373"/>
                          </a:solidFill>
                          <a:latin typeface="Lato"/>
                        </a:defRPr>
                      </a:pPr>
                      <a:r>
                        <a:t>2019 and 2020 energy balances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Their import and export lines repeat the previous year's figures.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used for trade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Nigel: confirm</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In the other years from 2014, customs and FIASA differ by 0.2 bn litres or less; the full list is in the balance note. Before 2014 customs is in kilograms or mixed units, so FIASA is used.</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Production after 2021 and stock changes are missing, so the balance is not closed</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Missing production and stocks | sales less net imports against production reported in the energy balance</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fuel_balance_2026-10-06.md and its table on manish-branch, rebuilt 7 October 2026. Analyst's position, pending Nigel's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Chart 6"/>
          <p:cNvGraphicFramePr>
            <a:graphicFrameLocks noGrp="1"/>
          </p:cNvGraphicFramePr>
          <p:nvPr/>
        </p:nvGraphicFramePr>
        <p:xfrm>
          <a:off x="457200" y="2011680"/>
          <a:ext cx="3200400" cy="3429000"/>
        </p:xfrm>
        <a:graphic>
          <a:graphicData uri="http://schemas.openxmlformats.org/drawingml/2006/chart">
            <c:chart xmlns:c="http://schemas.openxmlformats.org/drawingml/2006/chart" r:id="rId2"/>
          </a:graphicData>
        </a:graphic>
      </p:graphicFrame>
      <p:graphicFrame>
        <p:nvGraphicFramePr>
          <p:cNvPr id="8" name="Chart 7"/>
          <p:cNvGraphicFramePr>
            <a:graphicFrameLocks noGrp="1"/>
          </p:cNvGraphicFramePr>
          <p:nvPr/>
        </p:nvGraphicFramePr>
        <p:xfrm>
          <a:off x="3703320" y="2011680"/>
          <a:ext cx="3200400" cy="3429000"/>
        </p:xfrm>
        <a:graphic>
          <a:graphicData uri="http://schemas.openxmlformats.org/drawingml/2006/chart">
            <c:chart xmlns:c="http://schemas.openxmlformats.org/drawingml/2006/chart" r:id="rId3"/>
          </a:graphicData>
        </a:graphic>
      </p:graphicFrame>
      <p:graphicFrame>
        <p:nvGraphicFramePr>
          <p:cNvPr id="9" name="Table 8"/>
          <p:cNvGraphicFramePr>
            <a:graphicFrameLocks noGrp="1"/>
          </p:cNvGraphicFramePr>
          <p:nvPr/>
        </p:nvGraphicFramePr>
        <p:xfrm>
          <a:off x="7040880" y="2029968"/>
          <a:ext cx="4023360" cy="3383280"/>
        </p:xfrm>
        <a:graphic>
          <a:graphicData uri="http://schemas.openxmlformats.org/drawingml/2006/table">
            <a:tbl>
              <a:tblPr firstRow="0" bandRow="0"/>
              <a:tblGrid>
                <a:gridCol w="1188720"/>
                <a:gridCol w="1645920"/>
                <a:gridCol w="1188720"/>
              </a:tblGrid>
              <a:tr h="845820">
                <a:tc>
                  <a:txBody>
                    <a:bodyPr/>
                    <a:lstStyle/>
                    <a:p>
                      <a:pPr>
                        <a:spcAft>
                          <a:spcPts val="100"/>
                        </a:spcAft>
                        <a:defRPr sz="950" b="1">
                          <a:solidFill>
                            <a:srgbClr val="0A2373"/>
                          </a:solidFill>
                          <a:latin typeface="Lato"/>
                        </a:defRPr>
                      </a:pPr>
                      <a:r>
                        <a:t>Missing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What exists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Limit</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Production by product, 2022 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Sasol, year to June 2024: Secunda 29.1 and Natref 17.8 million barrels. Glencore, calendar 2024: Astron 166,204 billion Btu.</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All refined products; fiscal against calendar years; Natref is Sasol's share only</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Stock changes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monthly stocks, 2023 and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Lowest reliability code; not usable as it stands</a:t>
                      </a:r>
                    </a:p>
                  </a:txBody>
                  <a:tcPr marL="64008" marR="64008" marT="54864" marB="27432" anchor="t">
                    <a:lnL w="0">
                      <a:noFill/>
                    </a:lnL>
                    <a:lnR w="0">
                      <a:noFill/>
                    </a:lnR>
                    <a:lnT w="0">
                      <a:noFill/>
                    </a:lnT>
                    <a:lnB w="5080">
                      <a:solidFill>
                        <a:srgbClr val="B8B8B8"/>
                      </a:solidFill>
                    </a:lnB>
                    <a:solidFill>
                      <a:srgbClr val="FFFFFF"/>
                    </a:solidFill>
                  </a:tcPr>
                </a:tc>
              </a:tr>
              <a:tr h="845820">
                <a:tc>
                  <a:txBody>
                    <a:bodyPr/>
                    <a:lstStyle/>
                    <a:p>
                      <a:pPr>
                        <a:spcAft>
                          <a:spcPts val="100"/>
                        </a:spcAft>
                        <a:defRPr sz="950" b="1">
                          <a:solidFill>
                            <a:srgbClr val="0A2373"/>
                          </a:solidFill>
                          <a:latin typeface="Lato"/>
                        </a:defRPr>
                      </a:pPr>
                      <a:r>
                        <a:t>Sales coverage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fuel levy volumes, round figures in media releases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Period is assumed; indicative only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10" name="TextBox 9"/>
          <p:cNvSpPr txBox="1"/>
          <p:nvPr/>
        </p:nvSpPr>
        <p:spPr>
          <a:xfrm>
            <a:off x="457200" y="566928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A diesel gap of 3 to 4 bn litres a year remains a hypothesis to test. It is not added to demand. Needed to close: output by product and plant, a stock series, and matched periods.</a:t>
            </a:r>
          </a:p>
        </p:txBody>
      </p:sp>
      <p:sp>
        <p:nvSpPr>
          <p:cNvPr id="11" name="Chevron 10">
            <a:hlinkClick action="ppaction://hlinksldjump" r:id="rId4"/>
          </p:cNvPr>
          <p:cNvSpPr/>
          <p:nvPr/>
        </p:nvSpPr>
        <p:spPr>
          <a:xfrm>
            <a:off x="457200"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1  National balance</a:t>
            </a:r>
          </a:p>
        </p:txBody>
      </p:sp>
      <p:sp>
        <p:nvSpPr>
          <p:cNvPr id="12" name="Chevron 11">
            <a:hlinkClick action="ppaction://hlinksldjump" r:id="rId5"/>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3" name="Chevron 12">
            <a:hlinkClick action="ppaction://hlinksldjump" r:id="rId6"/>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4" name="Chevron 13">
            <a:hlinkClick action="ppaction://hlinksldjump" r:id="rId7"/>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5" name="Chevron 14"/>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Diesel: rail diversion is capped near 13% by rail-friendly freight; yields move up</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Diesel inputs | low / medium / high for 2030 and 2035 | 11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activity</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980 Mt road payload,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115 / 135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95 / 135 / 150</a:t>
                      </a:r>
                    </a:p>
                    <a:p>
                      <a:pPr>
                        <a:spcAft>
                          <a:spcPts val="100"/>
                        </a:spcAft>
                        <a:defRPr sz="950" b="0">
                          <a:solidFill>
                            <a:srgbClr val="11151A"/>
                          </a:solidFill>
                          <a:latin typeface="Lato"/>
                        </a:defRPr>
                      </a:pPr>
                      <a:r>
                        <a:t>was 95 / 135 / 175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tonnes: 2.4% a year over 2014-2024, at most 3.7% over eleven years. Only tonne-km figure found: 221 bn for 2013.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Road freight moved to rail</a:t>
                      </a:r>
                    </a:p>
                    <a:p>
                      <a:pPr>
                        <a:spcAft>
                          <a:spcPts val="100"/>
                        </a:spcAft>
                        <a:defRPr sz="950" b="1">
                          <a:solidFill>
                            <a:srgbClr val="0A2373"/>
                          </a:solidFill>
                          <a:latin typeface="Lato"/>
                        </a:defRPr>
                      </a:pPr>
                      <a:r>
                        <a:t>% of road freight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rail 161 Mt,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3 / 9</a:t>
                      </a:r>
                    </a:p>
                    <a:p>
                      <a:pPr>
                        <a:spcAft>
                          <a:spcPts val="100"/>
                        </a:spcAft>
                        <a:defRPr sz="950" b="0">
                          <a:solidFill>
                            <a:srgbClr val="11151A"/>
                          </a:solidFill>
                          <a:latin typeface="Lato"/>
                        </a:defRPr>
                      </a:pPr>
                      <a:r>
                        <a:t>was 0 / 10 / 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7 / 13</a:t>
                      </a:r>
                    </a:p>
                    <a:p>
                      <a:pPr>
                        <a:spcAft>
                          <a:spcPts val="100"/>
                        </a:spcAft>
                        <a:defRPr sz="950" b="0">
                          <a:solidFill>
                            <a:srgbClr val="11151A"/>
                          </a:solidFill>
                          <a:latin typeface="Lato"/>
                        </a:defRPr>
                      </a:pPr>
                      <a:r>
                        <a:t>was 0 / 20 / 35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Rail Master Plan (2026): 250 Mt target is 9%, 280 Mt market appetite 12%. Freight Roadmap (2023): rail-friendly general freight left on road is 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power generation</a:t>
                      </a:r>
                    </a:p>
                    <a:p>
                      <a:pPr>
                        <a:spcAft>
                          <a:spcPts val="100"/>
                        </a:spcAft>
                        <a:defRPr sz="950" b="1">
                          <a:solidFill>
                            <a:srgbClr val="0A2373"/>
                          </a:solidFill>
                          <a:latin typeface="Lato"/>
                        </a:defRPr>
                      </a:pPr>
                      <a:r>
                        <a:t>year to March 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5,143 GWh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 25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15 / 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Eskom: year to March 2026 is already 21. Agreed.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to 1.0</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0.75 / 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Operators' reports: Secunda 53%, Natref 71%, Astron 84%. Secunda capacity corrected to FIASA's 150; output unchanged.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Diesel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29</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25 / 30 / 40</a:t>
                      </a:r>
                    </a:p>
                    <a:p>
                      <a:pPr>
                        <a:spcAft>
                          <a:spcPts val="100"/>
                        </a:spcAft>
                        <a:defRPr sz="950" b="0">
                          <a:solidFill>
                            <a:srgbClr val="11151A"/>
                          </a:solidFill>
                          <a:latin typeface="Lato"/>
                        </a:defRPr>
                      </a:pPr>
                      <a:r>
                        <a:t>was 20 / 25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31% in 2023, 29% in 2024. Energy balances before the Durban closures: 40-42% of five fuels. Legacy 25%.</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Jet: movement highs exceed every year on record; fuel per movement can also rise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Jet inputs | low / medium / high for 2030 and 2035 | 6 of 36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600891">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Aircraft movements</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456,214 at ACSA airports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110 / 125</a:t>
                      </a:r>
                    </a:p>
                    <a:p>
                      <a:pPr>
                        <a:spcAft>
                          <a:spcPts val="100"/>
                        </a:spcAft>
                        <a:defRPr sz="950" b="0">
                          <a:solidFill>
                            <a:srgbClr val="11151A"/>
                          </a:solidFill>
                          <a:latin typeface="Lato"/>
                        </a:defRPr>
                      </a:pPr>
                      <a:r>
                        <a:t>was 100 / 120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120 / 140</a:t>
                      </a:r>
                    </a:p>
                    <a:p>
                      <a:pPr>
                        <a:spcAft>
                          <a:spcPts val="100"/>
                        </a:spcAft>
                        <a:defRPr sz="950" b="0">
                          <a:solidFill>
                            <a:srgbClr val="11151A"/>
                          </a:solidFill>
                          <a:latin typeface="Lato"/>
                        </a:defRPr>
                      </a:pPr>
                      <a:r>
                        <a:t>was 100 / 145 / 190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ACSA: 2019 was 112 and the 2016 peak 125. Proposed highs of 140 and 190 exceed every year on record.</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fuel per movement</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4,090 litres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90 / 113</a:t>
                      </a:r>
                    </a:p>
                    <a:p>
                      <a:pPr>
                        <a:spcAft>
                          <a:spcPts val="100"/>
                        </a:spcAft>
                        <a:defRPr sz="950" b="0">
                          <a:solidFill>
                            <a:srgbClr val="11151A"/>
                          </a:solidFill>
                          <a:latin typeface="Lato"/>
                        </a:defRPr>
                      </a:pPr>
                      <a:r>
                        <a:t>was 80 / 90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65 / 80 / 113</a:t>
                      </a:r>
                    </a:p>
                    <a:p>
                      <a:pPr>
                        <a:spcAft>
                          <a:spcPts val="100"/>
                        </a:spcAft>
                        <a:defRPr sz="950" b="0">
                          <a:solidFill>
                            <a:srgbClr val="11151A"/>
                          </a:solidFill>
                          <a:latin typeface="Lato"/>
                        </a:defRPr>
                      </a:pPr>
                      <a:r>
                        <a:t>was 65 / 80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Sales over movements: the 2013-2019 average was 4,608 litres (113). High case should allow a return to it.</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Sustainable fuel share</a:t>
                      </a:r>
                    </a:p>
                    <a:p>
                      <a:pPr>
                        <a:spcAft>
                          <a:spcPts val="100"/>
                        </a:spcAft>
                        <a:defRPr sz="950" b="1">
                          <a:solidFill>
                            <a:srgbClr val="0A2373"/>
                          </a:solidFill>
                          <a:latin typeface="Lato"/>
                        </a:defRPr>
                      </a:pPr>
                      <a:r>
                        <a:t>% of jet volume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p>
                      <a:pPr>
                        <a:spcAft>
                          <a:spcPts val="100"/>
                        </a:spcAft>
                        <a:defRPr sz="950" b="0">
                          <a:solidFill>
                            <a:srgbClr val="11151A"/>
                          </a:solidFill>
                          <a:latin typeface="Lato"/>
                        </a:defRPr>
                      </a:pPr>
                      <a:r>
                        <a:t>unsourced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2 / 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5 / 10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 South African blend requirement sourced. Agreed as a sensitivity.</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petrol; count once.</a:t>
                      </a:r>
                    </a:p>
                  </a:txBody>
                  <a:tcPr marL="64008" marR="64008" marT="54864" marB="27432" anchor="t">
                    <a:lnL w="0">
                      <a:noFill/>
                    </a:lnL>
                    <a:lnR w="0">
                      <a:noFill/>
                    </a:lnR>
                    <a:lnT w="0">
                      <a:noFill/>
                    </a:lnT>
                    <a:lnB w="5080">
                      <a:solidFill>
                        <a:srgbClr val="B8B8B8"/>
                      </a:solidFill>
                    </a:lnB>
                    <a:solidFill>
                      <a:srgbClr val="FFFFFF"/>
                    </a:solidFill>
                  </a:tcPr>
                </a:tc>
              </a:tr>
              <a:tr h="600891">
                <a:tc>
                  <a:txBody>
                    <a:bodyPr/>
                    <a:lstStyle/>
                    <a:p>
                      <a:pPr>
                        <a:spcAft>
                          <a:spcPts val="100"/>
                        </a:spcAft>
                        <a:defRPr sz="950" b="1">
                          <a:solidFill>
                            <a:srgbClr val="0A2373"/>
                          </a:solidFill>
                          <a:latin typeface="Lato"/>
                        </a:defRPr>
                      </a:pPr>
                      <a:r>
                        <a:t>Jet yield</a:t>
                      </a:r>
                    </a:p>
                    <a:p>
                      <a:pPr>
                        <a:spcAft>
                          <a:spcPts val="100"/>
                        </a:spcAft>
                        <a:defRPr sz="950" b="1">
                          <a:solidFill>
                            <a:srgbClr val="0A2373"/>
                          </a:solidFill>
                          <a:latin typeface="Lato"/>
                        </a:defRPr>
                      </a:pPr>
                      <a:r>
                        <a:t>% of capable throughput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a:t>
                      </a:r>
                    </a:p>
                    <a:p>
                      <a:pPr>
                        <a:spcAft>
                          <a:spcPts val="100"/>
                        </a:spcAft>
                        <a:defRPr sz="950" b="0">
                          <a:solidFill>
                            <a:srgbClr val="11151A"/>
                          </a:solidFill>
                          <a:latin typeface="Lato"/>
                        </a:defRPr>
                      </a:pPr>
                      <a:r>
                        <a:t>legacy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 / 10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was 5-8% of the five fuels produced, 2017-2021 energy balances. Agreed.</a:t>
                      </a:r>
                    </a:p>
                  </a:txBody>
                  <a:tcPr marL="64008" marR="64008" marT="54864" marB="27432" anchor="t">
                    <a:lnL w="0">
                      <a:noFill/>
                    </a:lnL>
                    <a:lnR w="0">
                      <a:noFill/>
                    </a:lnR>
                    <a:lnT w="0">
                      <a:noFill/>
                    </a:lnT>
                    <a:lnB w="5080">
                      <a:solidFill>
                        <a:srgbClr val="B8B8B8"/>
                      </a:solidFill>
                    </a:lnB>
                    <a:solidFill>
                      <a:srgbClr val="FFFFFF"/>
                    </a:solidFill>
                  </a:tcPr>
                </a:tc>
              </a:tr>
              <a:tr h="600894">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Jet capability of any restart is not established.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Petrol: mileage and growth sit above the evidence; electric cases now follow named markets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Petrol inputs | low / medium / high for 2030 and 2035 | 22 of 42 values have a proposed replacement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Passenger mileage</a:t>
                      </a:r>
                    </a:p>
                    <a:p>
                      <a:pPr>
                        <a:spcAft>
                          <a:spcPts val="100"/>
                        </a:spcAft>
                        <a:defRPr sz="950" b="1">
                          <a:solidFill>
                            <a:srgbClr val="0A2373"/>
                          </a:solidFill>
                          <a:latin typeface="Lato"/>
                        </a:defRPr>
                      </a:pPr>
                      <a:r>
                        <a:t>km a vehicle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17,000</a:t>
                      </a:r>
                    </a:p>
                    <a:p>
                      <a:pPr>
                        <a:spcAft>
                          <a:spcPts val="100"/>
                        </a:spcAft>
                        <a:defRPr sz="950" b="0">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12,900 / 14,500 / 17,000</a:t>
                      </a:r>
                    </a:p>
                    <a:p>
                      <a:pPr>
                        <a:spcAft>
                          <a:spcPts val="100"/>
                        </a:spcAft>
                        <a:defRPr sz="950" b="0">
                          <a:solidFill>
                            <a:srgbClr val="11151A"/>
                          </a:solidFill>
                          <a:latin typeface="Lato"/>
                        </a:defRPr>
                      </a:pPr>
                      <a:r>
                        <a:t>was 13,600 / 17,000 / 20,400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Stone et al. (2018): 14,457 km for petrol cars. 2023 sales over registered petrol vehicles imply about 12,900.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GDP growth</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2024 actual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1.6 / 2</a:t>
                      </a:r>
                    </a:p>
                    <a:p>
                      <a:pPr>
                        <a:spcAft>
                          <a:spcPts val="100"/>
                        </a:spcAft>
                        <a:defRPr sz="950" b="0">
                          <a:solidFill>
                            <a:srgbClr val="11151A"/>
                          </a:solidFill>
                          <a:latin typeface="Lato"/>
                        </a:defRPr>
                      </a:pPr>
                      <a:r>
                        <a:t>was 1 / 2 / 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0.7% a year over 2014-2024, 1.6% over 2010-2019. Treasury: 2.0% by 2028. Registered cases 1.0, 1.6.</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Battery electric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0.2</a:t>
                      </a:r>
                    </a:p>
                    <a:p>
                      <a:pPr>
                        <a:spcAft>
                          <a:spcPts val="100"/>
                        </a:spcAft>
                        <a:defRPr sz="950" b="0">
                          <a:solidFill>
                            <a:srgbClr val="11151A"/>
                          </a:solidFill>
                          <a:latin typeface="Lato"/>
                        </a:defRPr>
                      </a:pPr>
                      <a:r>
                        <a:t>1,088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4 / 20</a:t>
                      </a:r>
                    </a:p>
                    <a:p>
                      <a:pPr>
                        <a:spcAft>
                          <a:spcPts val="100"/>
                        </a:spcAft>
                        <a:defRPr sz="950" b="0">
                          <a:solidFill>
                            <a:srgbClr val="11151A"/>
                          </a:solidFill>
                          <a:latin typeface="Lato"/>
                        </a:defRPr>
                      </a:pPr>
                      <a:r>
                        <a:t>was 5 / 15 / 30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 / 15 / 40</a:t>
                      </a:r>
                    </a:p>
                    <a:p>
                      <a:pPr>
                        <a:spcAft>
                          <a:spcPts val="100"/>
                        </a:spcAft>
                        <a:defRPr sz="950" b="0">
                          <a:solidFill>
                            <a:srgbClr val="11151A"/>
                          </a:solidFill>
                          <a:latin typeface="Lato"/>
                        </a:defRPr>
                      </a:pPr>
                      <a:r>
                        <a:t>was 15 / 35 / 60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IEA Global EV Outlook 2026, 2025 shares: India nearly 4%, Indonesia 15%, Turkiye over 20% (from 1% in 2022), Vietnam nearly 40%.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New-vehicle efficiency gain</a:t>
                      </a:r>
                    </a:p>
                    <a:p>
                      <a:pPr>
                        <a:spcAft>
                          <a:spcPts val="100"/>
                        </a:spcAft>
                        <a:defRPr sz="950" b="1">
                          <a:solidFill>
                            <a:srgbClr val="0A2373"/>
                          </a:solidFill>
                          <a:latin typeface="Lato"/>
                        </a:defRPr>
                      </a:pPr>
                      <a:r>
                        <a:t>%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 to 1.5</a:t>
                      </a:r>
                    </a:p>
                    <a:p>
                      <a:pPr>
                        <a:spcAft>
                          <a:spcPts val="100"/>
                        </a:spcAft>
                        <a:defRPr sz="950" b="0">
                          <a:solidFill>
                            <a:srgbClr val="11151A"/>
                          </a:solidFill>
                          <a:latin typeface="Lato"/>
                        </a:defRPr>
                      </a:pPr>
                      <a:r>
                        <a:t>registered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 / 1.25 / 1.5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Equals the registered endpoints, which have no source. Agreed for now.</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Plant utilisation</a:t>
                      </a:r>
                    </a:p>
                    <a:p>
                      <a:pPr>
                        <a:spcAft>
                          <a:spcPts val="100"/>
                        </a:spcAft>
                        <a:defRPr sz="950" b="1">
                          <a:solidFill>
                            <a:srgbClr val="0A2373"/>
                          </a:solidFill>
                          <a:latin typeface="Lato"/>
                        </a:defRPr>
                      </a:pPr>
                      <a:r>
                        <a:t>% of capacity, all fuels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67</a:t>
                      </a:r>
                    </a:p>
                    <a:p>
                      <a:pPr>
                        <a:spcAft>
                          <a:spcPts val="100"/>
                        </a:spcAft>
                        <a:defRPr sz="950" b="0">
                          <a:solidFill>
                            <a:srgbClr val="11151A"/>
                          </a:solidFill>
                          <a:latin typeface="Lato"/>
                        </a:defRPr>
                      </a:pPr>
                      <a:r>
                        <a:t>indicative, 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60 / 75 / 90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Same setting as diesel and jet; count once.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Petrol yield</a:t>
                      </a:r>
                    </a:p>
                    <a:p>
                      <a:pPr>
                        <a:spcAft>
                          <a:spcPts val="100"/>
                        </a:spcAft>
                        <a:defRPr sz="950" b="1">
                          <a:solidFill>
                            <a:srgbClr val="0A2373"/>
                          </a:solidFill>
                          <a:latin typeface="Lato"/>
                        </a:defRPr>
                      </a:pPr>
                      <a:r>
                        <a:t>% of refinery output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54</a:t>
                      </a:r>
                    </a:p>
                    <a:p>
                      <a:pPr>
                        <a:spcAft>
                          <a:spcPts val="100"/>
                        </a:spcAft>
                        <a:defRPr sz="950" b="0">
                          <a:solidFill>
                            <a:srgbClr val="11151A"/>
                          </a:solidFill>
                          <a:latin typeface="Lato"/>
                        </a:defRPr>
                      </a:pPr>
                      <a:r>
                        <a:t>JODI 2024, low reliability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45 / 50 / 55</a:t>
                      </a:r>
                    </a:p>
                    <a:p>
                      <a:pPr>
                        <a:spcAft>
                          <a:spcPts val="100"/>
                        </a:spcAft>
                        <a:defRPr sz="950" b="0">
                          <a:solidFill>
                            <a:srgbClr val="11151A"/>
                          </a:solidFill>
                          <a:latin typeface="Lato"/>
                        </a:defRPr>
                      </a:pPr>
                      <a:r>
                        <a:t>was 35 / 45 / 55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JODI: 51% in 2023, 54% in 2024. Energy balances 2017-2021: 47-50% of five fuels. Legacy 45%. Set with diesel.</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Added refining capacity</a:t>
                      </a:r>
                    </a:p>
                    <a:p>
                      <a:pPr>
                        <a:spcAft>
                          <a:spcPts val="100"/>
                        </a:spcAft>
                        <a:defRPr sz="950" b="1">
                          <a:solidFill>
                            <a:srgbClr val="0A2373"/>
                          </a:solidFill>
                          <a:latin typeface="Lato"/>
                        </a:defRPr>
                      </a:pPr>
                      <a:r>
                        <a:t>thousand barrels a day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400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Conditional illustration; no investment decision sourced.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Seven levers added: price, backup generation, hybrids, rail passengers and neighbours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Added by the analyst; not in Nigel's file | low / medium / high for 2030 and 2035 | proposals for review</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fuel_lever_response_2026-10-07.md on manish-branch; Nigel's proposed inputs of 7 October are not edited. Replacements are the analyst's proposals, pending review.</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11680"/>
          <a:ext cx="10652760" cy="4206240"/>
        </p:xfrm>
        <a:graphic>
          <a:graphicData uri="http://schemas.openxmlformats.org/drawingml/2006/table">
            <a:tbl>
              <a:tblPr firstRow="0" bandRow="0"/>
              <a:tblGrid>
                <a:gridCol w="2148840"/>
                <a:gridCol w="1463040"/>
                <a:gridCol w="1600200"/>
                <a:gridCol w="1600200"/>
                <a:gridCol w="3840480"/>
              </a:tblGrid>
              <a:tr h="525780">
                <a:tc>
                  <a:txBody>
                    <a:bodyPr/>
                    <a:lstStyle/>
                    <a:p>
                      <a:pPr>
                        <a:spcAft>
                          <a:spcPts val="100"/>
                        </a:spcAft>
                        <a:defRPr sz="950" b="1">
                          <a:solidFill>
                            <a:srgbClr val="0A2373"/>
                          </a:solidFill>
                          <a:latin typeface="Lato"/>
                        </a:defRPr>
                      </a:pPr>
                      <a:r>
                        <a:t>Lever and unit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Baseline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2030</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2035</a:t>
                      </a:r>
                    </a:p>
                    <a:p>
                      <a:pPr>
                        <a:spcAft>
                          <a:spcPts val="100"/>
                        </a:spcAft>
                        <a:defRPr sz="950" b="1">
                          <a:solidFill>
                            <a:srgbClr val="11151A"/>
                          </a:solidFill>
                          <a:latin typeface="Lato"/>
                        </a:defRPr>
                      </a:pPr>
                      <a:r>
                        <a:t>low / medium / high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1">
                          <a:solidFill>
                            <a:srgbClr val="11151A"/>
                          </a:solidFill>
                          <a:latin typeface="Lato"/>
                        </a:defRPr>
                      </a:pPr>
                      <a:r>
                        <a:t>Rationale and source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diesel price</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wholesale,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Department and CEF prices over CPI: 76-120 in 2011-2025, 143 in October 2026. Boshoff (2012): response -0.13.</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Private backup generation</a:t>
                      </a:r>
                    </a:p>
                    <a:p>
                      <a:pPr>
                        <a:spcAft>
                          <a:spcPts val="100"/>
                        </a:spcAft>
                        <a:defRPr sz="950" b="1">
                          <a:solidFill>
                            <a:srgbClr val="0A2373"/>
                          </a:solidFill>
                          <a:latin typeface="Lato"/>
                        </a:defRPr>
                      </a:pPr>
                      <a:r>
                        <a:t>bn litres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Not measured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 / 0 / 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Diesel sales fell 1.2 bn litres in 2024 as load-shedding ended; grid turbines explain about 0.7. Indicative.</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Real petrol price</a:t>
                      </a:r>
                    </a:p>
                    <a:p>
                      <a:pPr>
                        <a:spcAft>
                          <a:spcPts val="100"/>
                        </a:spcAft>
                        <a:defRPr sz="950" b="1">
                          <a:solidFill>
                            <a:srgbClr val="0A2373"/>
                          </a:solidFill>
                          <a:latin typeface="Lato"/>
                        </a:defRPr>
                      </a:pPr>
                      <a:r>
                        <a:t>2024 = 100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a:t>
                      </a:r>
                    </a:p>
                    <a:p>
                      <a:pPr>
                        <a:spcAft>
                          <a:spcPts val="100"/>
                        </a:spcAft>
                        <a:defRPr sz="950" b="0">
                          <a:solidFill>
                            <a:srgbClr val="11151A"/>
                          </a:solidFill>
                          <a:latin typeface="Lato"/>
                        </a:defRPr>
                      </a:pPr>
                      <a:r>
                        <a:t>retail, inland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80 / 100 / 120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79-109 in 2011-2025, 121 in October 2026. Boshoff (2012): response -0.5, so the high case is about -10%.</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Plug-in hybrid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a:t>
                      </a:r>
                    </a:p>
                    <a:p>
                      <a:pPr>
                        <a:spcAft>
                          <a:spcPts val="100"/>
                        </a:spcAft>
                        <a:defRPr sz="950" b="0">
                          <a:solidFill>
                            <a:srgbClr val="11151A"/>
                          </a:solidFill>
                          <a:latin typeface="Lato"/>
                        </a:defRPr>
                      </a:pPr>
                      <a:r>
                        <a:t>2,810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1.2 / 2.1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0.5 / 2 / 3.7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naamsa: 0.02% in 2022 to 0.47%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Conventional hybrid share</a:t>
                      </a:r>
                    </a:p>
                    <a:p>
                      <a:pPr>
                        <a:spcAft>
                          <a:spcPts val="100"/>
                        </a:spcAft>
                        <a:defRPr sz="950" b="1">
                          <a:solidFill>
                            <a:srgbClr val="0A2373"/>
                          </a:solidFill>
                          <a:latin typeface="Lato"/>
                        </a:defRPr>
                      </a:pPr>
                      <a:r>
                        <a:t>% of new sales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a:t>
                      </a:r>
                    </a:p>
                    <a:p>
                      <a:pPr>
                        <a:spcAft>
                          <a:spcPts val="100"/>
                        </a:spcAft>
                        <a:defRPr sz="950" b="0">
                          <a:solidFill>
                            <a:srgbClr val="11151A"/>
                          </a:solidFill>
                          <a:latin typeface="Lato"/>
                        </a:defRPr>
                      </a:pPr>
                      <a:r>
                        <a:t>12,818 sold,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 / 4.4 / 6.7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2.1 / 6.7 / 11.3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naamsa: 0.77% in 2022 to 2.15% in 2025. Extrapolates South Africa's own sales; not a forecast.</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Rail passenger journeys</a:t>
                      </a:r>
                    </a:p>
                    <a:p>
                      <a:pPr>
                        <a:spcAft>
                          <a:spcPts val="100"/>
                        </a:spcAft>
                        <a:defRPr sz="950" b="1">
                          <a:solidFill>
                            <a:srgbClr val="0A2373"/>
                          </a:solidFill>
                          <a:latin typeface="Lato"/>
                        </a:defRPr>
                      </a:pPr>
                      <a:r>
                        <a:t>million a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74</a:t>
                      </a:r>
                    </a:p>
                    <a:p>
                      <a:pPr>
                        <a:spcAft>
                          <a:spcPts val="100"/>
                        </a:spcAft>
                        <a:defRPr sz="9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180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100 / 250 / 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Stats SA: 317 in 2017, 175 in 2019, 19 in 2022, 103 in 2025. Effect in litres cannot yet be stated.</a:t>
                      </a:r>
                    </a:p>
                  </a:txBody>
                  <a:tcPr marL="64008" marR="64008" marT="54864" marB="27432" anchor="t">
                    <a:lnL w="0">
                      <a:noFill/>
                    </a:lnL>
                    <a:lnR w="0">
                      <a:noFill/>
                    </a:lnR>
                    <a:lnT w="0">
                      <a:noFill/>
                    </a:lnT>
                    <a:lnB w="5080">
                      <a:solidFill>
                        <a:srgbClr val="B8B8B8"/>
                      </a:solidFill>
                    </a:lnB>
                    <a:solidFill>
                      <a:srgbClr val="FFFFFF"/>
                    </a:solidFill>
                  </a:tcPr>
                </a:tc>
              </a:tr>
              <a:tr h="525780">
                <a:tc>
                  <a:txBody>
                    <a:bodyPr/>
                    <a:lstStyle/>
                    <a:p>
                      <a:pPr>
                        <a:spcAft>
                          <a:spcPts val="100"/>
                        </a:spcAft>
                        <a:defRPr sz="950" b="1">
                          <a:solidFill>
                            <a:srgbClr val="0A2373"/>
                          </a:solidFill>
                          <a:latin typeface="Lato"/>
                        </a:defRPr>
                      </a:pPr>
                      <a:r>
                        <a:t>Exports to nine neighbours</a:t>
                      </a:r>
                    </a:p>
                    <a:p>
                      <a:pPr>
                        <a:spcAft>
                          <a:spcPts val="100"/>
                        </a:spcAft>
                        <a:defRPr sz="950" b="1">
                          <a:solidFill>
                            <a:srgbClr val="0A2373"/>
                          </a:solidFill>
                          <a:latin typeface="Lato"/>
                        </a:defRPr>
                      </a:pPr>
                      <a:r>
                        <a:t>bn litres a year,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1.48</a:t>
                      </a:r>
                    </a:p>
                    <a:p>
                      <a:pPr>
                        <a:spcAft>
                          <a:spcPts val="100"/>
                        </a:spcAft>
                        <a:defRPr sz="950" b="0">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0.7 / 1.4 / 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950" b="0">
                          <a:solidFill>
                            <a:srgbClr val="11151A"/>
                          </a:solidFill>
                          <a:latin typeface="Lato"/>
                        </a:defRPr>
                      </a:pPr>
                      <a:r>
                        <a:t>SARS: 2.66 in 2019, 1.37 in 2025; Botswana 1.05 to 0.68. Terminal throughput, not South African demand.</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Chevron 7">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9" name="Chevron 8">
            <a:hlinkClick action="ppaction://hlinksldjump" r:id="rId3"/>
          </p:cNvPr>
          <p:cNvSpPr/>
          <p:nvPr/>
        </p:nvSpPr>
        <p:spPr>
          <a:xfrm>
            <a:off x="2587752"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2  Forecast levers</a:t>
            </a:r>
          </a:p>
        </p:txBody>
      </p:sp>
      <p:sp>
        <p:nvSpPr>
          <p:cNvPr id="10" name="Chevron 9">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1" name="Chevron 10">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2" name="Chevron 11"/>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Sourced starting values lower 2024 diesel demand by 0.63 bn litres</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Agriculture and industry | diesel, billion litres a year | proposed as provisional starting values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2651760"/>
        </p:xfrm>
        <a:graphic>
          <a:graphicData uri="http://schemas.openxmlformats.org/drawingml/2006/table">
            <a:tbl>
              <a:tblPr firstRow="0" bandRow="0"/>
              <a:tblGrid>
                <a:gridCol w="1188720"/>
                <a:gridCol w="1143000"/>
                <a:gridCol w="2286000"/>
                <a:gridCol w="2743200"/>
                <a:gridCol w="1463040"/>
                <a:gridCol w="1828800"/>
              </a:tblGrid>
              <a:tr h="662940">
                <a:tc>
                  <a:txBody>
                    <a:bodyPr/>
                    <a:lstStyle/>
                    <a:p>
                      <a:pPr>
                        <a:spcAft>
                          <a:spcPts val="100"/>
                        </a:spcAft>
                        <a:defRPr sz="1050" b="1">
                          <a:solidFill>
                            <a:srgbClr val="0A2373"/>
                          </a:solidFill>
                          <a:latin typeface="Lato"/>
                        </a:defRPr>
                      </a:pPr>
                      <a:r>
                        <a:t>Sector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Earlier</a:t>
                      </a:r>
                    </a:p>
                    <a:p>
                      <a:pPr>
                        <a:spcAft>
                          <a:spcPts val="100"/>
                        </a:spcAft>
                        <a:defRPr sz="1050" b="1">
                          <a:solidFill>
                            <a:srgbClr val="11151A"/>
                          </a:solidFill>
                          <a:latin typeface="Lato"/>
                        </a:defRPr>
                      </a:pPr>
                      <a:r>
                        <a:t>placeholder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On the branch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Range in the 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Proposed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1">
                          <a:solidFill>
                            <a:srgbClr val="11151A"/>
                          </a:solidFill>
                          <a:latin typeface="Lato"/>
                        </a:defRPr>
                      </a:pPr>
                      <a:r>
                        <a:t>Effect in 2024; 2035</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0.70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 for 2021</a:t>
                      </a:r>
                    </a:p>
                    <a:p>
                      <a:pPr>
                        <a:spcAft>
                          <a:spcPts val="100"/>
                        </a:spcAft>
                        <a:defRPr sz="1050" b="0">
                          <a:solidFill>
                            <a:srgbClr val="11151A"/>
                          </a:solidFill>
                          <a:latin typeface="Lato"/>
                        </a:defRPr>
                      </a:pPr>
                      <a:r>
                        <a:t>energy balance, agriculture and forestry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0.90-1.09 in eight of ten years, 2012-2021; 1.89 and 1.88 in 2016 and 2017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1.06</a:t>
                      </a:r>
                    </a:p>
                    <a:p>
                      <a:pPr>
                        <a:spcAft>
                          <a:spcPts val="100"/>
                        </a:spcAft>
                        <a:defRPr sz="1050" b="0">
                          <a:solidFill>
                            <a:srgbClr val="11151A"/>
                          </a:solidFill>
                          <a:latin typeface="Lato"/>
                        </a:defRPr>
                      </a:pPr>
                      <a:r>
                        <a:t>provisional, about +/-0.1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+0.36; +0.36</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2.50</a:t>
                      </a:r>
                    </a:p>
                    <a:p>
                      <a:pPr>
                        <a:spcAft>
                          <a:spcPts val="100"/>
                        </a:spcAft>
                        <a:defRPr sz="1050" b="0">
                          <a:solidFill>
                            <a:srgbClr val="11151A"/>
                          </a:solidFill>
                          <a:latin typeface="Lato"/>
                        </a:defRPr>
                      </a:pPr>
                      <a:r>
                        <a:t>no source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 for 2021</a:t>
                      </a:r>
                    </a:p>
                    <a:p>
                      <a:pPr>
                        <a:spcAft>
                          <a:spcPts val="100"/>
                        </a:spcAft>
                        <a:defRPr sz="1050" b="0">
                          <a:solidFill>
                            <a:srgbClr val="11151A"/>
                          </a:solidFill>
                          <a:latin typeface="Lato"/>
                        </a:defRPr>
                      </a:pPr>
                      <a:r>
                        <a:t>energy balance, industry; mining is 1.29 of it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1.32-1.93 over 2012-2021. Mining volume is 7% lower in 2024 than 2021, which would give 1.40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1.50</a:t>
                      </a:r>
                    </a:p>
                    <a:p>
                      <a:pPr>
                        <a:spcAft>
                          <a:spcPts val="100"/>
                        </a:spcAft>
                        <a:defRPr sz="1050" b="0">
                          <a:solidFill>
                            <a:srgbClr val="11151A"/>
                          </a:solidFill>
                          <a:latin typeface="Lato"/>
                        </a:defRPr>
                      </a:pPr>
                      <a:r>
                        <a:t>provisional, about +/-0.3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-0.99; -1.06 (high), -1.00 (low)</a:t>
                      </a:r>
                    </a:p>
                  </a:txBody>
                  <a:tcPr marL="64008" marR="64008" marT="54864" marB="27432" anchor="t">
                    <a:lnL w="0">
                      <a:noFill/>
                    </a:lnL>
                    <a:lnR w="0">
                      <a:noFill/>
                    </a:lnR>
                    <a:lnT w="0">
                      <a:noFill/>
                    </a:lnT>
                    <a:lnB w="5080">
                      <a:solidFill>
                        <a:srgbClr val="B8B8B8"/>
                      </a:solidFill>
                    </a:lnB>
                    <a:solidFill>
                      <a:srgbClr val="FFFFFF"/>
                    </a:solidFill>
                  </a:tcPr>
                </a:tc>
              </a:tr>
              <a:tr h="662940">
                <a:tc>
                  <a:txBody>
                    <a:bodyPr/>
                    <a:lstStyle/>
                    <a:p>
                      <a:pPr>
                        <a:spcAft>
                          <a:spcPts val="100"/>
                        </a:spcAft>
                        <a:defRPr sz="1050" b="1">
                          <a:solidFill>
                            <a:srgbClr val="0A2373"/>
                          </a:solidFill>
                          <a:latin typeface="Lato"/>
                        </a:defRPr>
                      </a:pPr>
                      <a:r>
                        <a:t>Both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3.20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2.56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50" b="0">
                          <a:solidFill>
                            <a:srgbClr val="11151A"/>
                          </a:solidFill>
                          <a:latin typeface="Lato"/>
                        </a:defRPr>
                      </a:pPr>
                      <a:r>
                        <a:t>-0.63; -0.69 (high), -0.64 (low)</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4983480"/>
            <a:ext cx="10652760" cy="1097280"/>
          </a:xfrm>
          <a:prstGeom prst="rect">
            <a:avLst/>
          </a:prstGeom>
          <a:noFill/>
        </p:spPr>
        <p:txBody>
          <a:bodyPr wrap="square" lIns="22860" rIns="22860" tIns="0" bIns="0">
            <a:spAutoFit/>
          </a:bodyPr>
          <a:lstStyle/>
          <a:p>
            <a:pPr>
              <a:spcAft>
                <a:spcPts val="300"/>
              </a:spcAft>
              <a:defRPr sz="1100" b="0">
                <a:solidFill>
                  <a:srgbClr val="11151A"/>
                </a:solidFill>
                <a:latin typeface="Lato"/>
              </a:defRPr>
            </a:pPr>
            <a:r>
              <a:t>Why 2021 and not an average: it is the latest balance and one consistent year for both sectors. A 2018-2021 average gives 0.98 and 1.68; the industry average is pulled up by the years before mining output fell.</a:t>
            </a:r>
          </a:p>
          <a:p>
            <a:pPr>
              <a:spcAft>
                <a:spcPts val="300"/>
              </a:spcAft>
              <a:defRPr sz="1100" b="0">
                <a:solidFill>
                  <a:srgbClr val="11151A"/>
                </a:solidFill>
                <a:latin typeface="Lato"/>
              </a:defRPr>
            </a:pPr>
            <a:r>
              <a:t>Decision for Nigel: accept both as provisional, or take the activity-adjusted 1.40 for industry. Both keep the needs-verification flag.</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The totals show no double counting from the two sectors; the excess is in power generation</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Overlaps and double counting | model diesel for 2024 by segment against the evidence, billion litres</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sector_baselines_2026-10-07.md and .csv on manish-branch; department energy balances 2012-2021. A proposal for Nigel's decision; nothing is accepted.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600200"/>
                <a:gridCol w="822960"/>
                <a:gridCol w="3657600"/>
                <a:gridCol w="4572000"/>
              </a:tblGrid>
              <a:tr h="522514">
                <a:tc>
                  <a:txBody>
                    <a:bodyPr/>
                    <a:lstStyle/>
                    <a:p>
                      <a:pPr>
                        <a:spcAft>
                          <a:spcPts val="100"/>
                        </a:spcAft>
                        <a:defRPr sz="1000" b="1">
                          <a:solidFill>
                            <a:srgbClr val="0A2373"/>
                          </a:solidFill>
                          <a:latin typeface="Lato"/>
                        </a:defRPr>
                      </a:pPr>
                      <a:r>
                        <a:t>Model segment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Model</a:t>
                      </a:r>
                    </a:p>
                    <a:p>
                      <a:pPr>
                        <a:spcAft>
                          <a:spcPts val="100"/>
                        </a:spcAft>
                        <a:defRPr sz="1000" b="1">
                          <a:solidFill>
                            <a:srgbClr val="11151A"/>
                          </a:solidFill>
                          <a:latin typeface="Lato"/>
                        </a:defRPr>
                      </a:pPr>
                      <a:r>
                        <a:t>2024</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Overlap or gap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Road vehicles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8.50</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road 6.33; commercial and public services 4.30; together 10.63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The two balance lines swap volume between years while their sum holds, so the split shows who bought the fuel, not where it was burned</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Agriculture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1.06</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Includes farm vehicles on public roads, which are also in the registered fleet. Size unknown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Industry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1.51</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Balance 2021: 1.50; mining 1.29, construction 0.05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Mine haul trucks are unregistered, so no overlap; mines' road vehicles do overlap</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Power generation</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3.58</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Eskom: 0.94 (year to March 2023), 0.68 (to March 2025); about 1.6 for all plants in the peak year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an overlap: the model is at least 2 bn litres above reported burn</a:t>
                      </a:r>
                    </a:p>
                  </a:txBody>
                  <a:tcPr marL="64008" marR="64008" marT="54864" marB="27432" anchor="t">
                    <a:lnL w="0">
                      <a:noFill/>
                    </a:lnL>
                    <a:lnR w="0">
                      <a:noFill/>
                    </a:lnR>
                    <a:lnT w="0">
                      <a:noFill/>
                    </a:lnT>
                    <a:lnB w="5080">
                      <a:solidFill>
                        <a:srgbClr val="B8B8B8"/>
                      </a:solidFill>
                    </a:lnB>
                    <a:solidFill>
                      <a:srgbClr val="FFFFFF"/>
                    </a:solidFill>
                  </a:tcPr>
                </a:tc>
              </a:tr>
              <a:tr h="522514">
                <a:tc>
                  <a:txBody>
                    <a:bodyPr/>
                    <a:lstStyle/>
                    <a:p>
                      <a:pPr>
                        <a:spcAft>
                          <a:spcPts val="100"/>
                        </a:spcAft>
                        <a:defRPr sz="1000" b="1">
                          <a:solidFill>
                            <a:srgbClr val="0A2373"/>
                          </a:solidFill>
                          <a:latin typeface="Lato"/>
                        </a:defRPr>
                      </a:pPr>
                      <a:r>
                        <a:t>Marine gas oil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0.77</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 observed figure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Not established whether ships' diesel is inside inland sales</a:t>
                      </a:r>
                    </a:p>
                  </a:txBody>
                  <a:tcPr marL="64008" marR="64008" marT="54864" marB="27432" anchor="t">
                    <a:lnL w="0">
                      <a:noFill/>
                    </a:lnL>
                    <a:lnR w="0">
                      <a:noFill/>
                    </a:lnR>
                    <a:lnT w="0">
                      <a:noFill/>
                    </a:lnT>
                    <a:lnB w="5080">
                      <a:solidFill>
                        <a:srgbClr val="B8B8B8"/>
                      </a:solidFill>
                    </a:lnB>
                    <a:solidFill>
                      <a:srgbClr val="FFFFFF"/>
                    </a:solidFill>
                  </a:tcPr>
                </a:tc>
              </a:tr>
              <a:tr h="522516">
                <a:tc>
                  <a:txBody>
                    <a:bodyPr/>
                    <a:lstStyle/>
                    <a:p>
                      <a:pPr>
                        <a:spcAft>
                          <a:spcPts val="100"/>
                        </a:spcAft>
                        <a:defRPr sz="1000" b="1">
                          <a:solidFill>
                            <a:srgbClr val="0A2373"/>
                          </a:solidFill>
                          <a:latin typeface="Lato"/>
                        </a:defRPr>
                      </a:pPr>
                      <a:r>
                        <a:t>Total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15.42</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Recorded sales: 12.91 (2023); 11.73 (2024, unverified)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Model is 2.5 to 3.7 above recorded sales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Road vehicles, agriculture and industry are 11.07 in the model against 13.41 of final consumption in the 2021 balance, so those three are short, not double counted. At most 2.56 could overlap with road vehicles; no source sizes it.</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Lesedi: eight loading bays cap the high case near 2.4 turns a month, not 3</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Lesedi, Jameson Park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Design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140,000 m3: petrol 40,000, diesel 80,000, one 20,000 tank for either. New tanks in service since October 2025</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NERSA licence amendment, 6 August 2025; Vopak Q3 2025 release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124,000 m3: 88,000 in the six original tanks; 18,000 assumed for each new tank</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new tanks estimated,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licence application to NERSA, 2020, p.8-9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Pipeline only, at most 1,500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At most 1,500 m3 an hour; 80% road, 20% pipeline. 8 bays at 125 m3 an hour</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Licence application, p.9; NERSA 2025</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Practical road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About 300,000 m3 a month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Bays pumping half the time, 20 hours a day</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2.4 (low / base / high), on operational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Base from Vopak's Durban target; high from road dispatch</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1.5 / 3.0 / 3.6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1.7 / 3.4 / 5.0 on gross capacity and 1 / 2 / 3 turns</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Vopak's website publishes none of the operating data. Still needed from Vopak: twelve months of outbound volume by product and mode, the new tanks' operational capacity and loading hours.</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Title 1"/>
          <p:cNvSpPr>
            <a:spLocks noGrp="1"/>
          </p:cNvSpPr>
          <p:nvPr>
            <p:ph type="title"/>
          </p:nvPr>
        </p:nvSpPr>
        <p:spPr/>
        <p:txBody>
          <a:bodyPr/>
          <a:lstStyle/>
          <a:p>
            <a:r>
              <a:t>Durban: fuel tanks are under half the site, so handling is far below the gross-capacity figure</a:t>
            </a:r>
          </a:p>
        </p:txBody>
      </p:sp>
      <p:sp>
        <p:nvSpPr>
          <p:cNvPr id="3" name="TextBox 2"/>
          <p:cNvSpPr txBox="1"/>
          <p:nvPr/>
        </p:nvSpPr>
        <p:spPr>
          <a:xfrm>
            <a:off x="457200" y="1627632"/>
            <a:ext cx="10652760" cy="274320"/>
          </a:xfrm>
          <a:prstGeom prst="rect">
            <a:avLst/>
          </a:prstGeom>
          <a:noFill/>
        </p:spPr>
        <p:txBody>
          <a:bodyPr wrap="square" lIns="22860" rIns="22860" tIns="0" bIns="0">
            <a:spAutoFit/>
          </a:bodyPr>
          <a:lstStyle/>
          <a:p>
            <a:pPr>
              <a:spcAft>
                <a:spcPts val="300"/>
              </a:spcAft>
              <a:defRPr sz="1300" b="1">
                <a:solidFill>
                  <a:srgbClr val="11151A"/>
                </a:solidFill>
                <a:latin typeface="Lato"/>
              </a:defRPr>
            </a:pPr>
            <a:r>
              <a:t>Vopak Durban, Island View | proposed site assumptions | estimates are to confirm with the client</a:t>
            </a:r>
          </a:p>
        </p:txBody>
      </p:sp>
      <p:cxnSp>
        <p:nvCxnSpPr>
          <p:cNvPr id="4" name="Connector 3"/>
          <p:cNvCxnSpPr/>
          <p:nvPr/>
        </p:nvCxnSpPr>
        <p:spPr>
          <a:xfrm>
            <a:off x="457200" y="1920240"/>
            <a:ext cx="10652760" cy="0"/>
          </a:xfrm>
          <a:prstGeom prst="line">
            <a:avLst/>
          </a:prstGeom>
          <a:ln w="7620">
            <a:solidFill>
              <a:srgbClr val="A0A0A0"/>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457200" y="6547104"/>
            <a:ext cx="9692640" cy="182880"/>
          </a:xfrm>
          <a:prstGeom prst="rect">
            <a:avLst/>
          </a:prstGeom>
          <a:noFill/>
        </p:spPr>
        <p:txBody>
          <a:bodyPr wrap="square" lIns="22860" rIns="22860" tIns="0" bIns="0">
            <a:spAutoFit/>
          </a:bodyPr>
          <a:lstStyle/>
          <a:p>
            <a:pPr>
              <a:spcAft>
                <a:spcPts val="300"/>
              </a:spcAft>
              <a:defRPr sz="800" b="0">
                <a:solidFill>
                  <a:srgbClr val="11151A"/>
                </a:solidFill>
                <a:latin typeface="Lato"/>
              </a:defRPr>
            </a:pPr>
            <a:r>
              <a:t>Source: terminal_site_assumptions.csv and tank_handling_site_assumptions_2026-10-07.md on manish-branch; NERSA licence documents, Vopak and Transnet. No Vopak operating data used.</a:t>
            </a:r>
          </a:p>
        </p:txBody>
      </p:sp>
      <p:sp>
        <p:nvSpPr>
          <p:cNvPr id="6" name="TextBox 5"/>
          <p:cNvSpPr txBox="1"/>
          <p:nvPr/>
        </p:nvSpPr>
        <p:spPr>
          <a:xfrm>
            <a:off x="457200" y="6711696"/>
            <a:ext cx="2011680" cy="128016"/>
          </a:xfrm>
          <a:prstGeom prst="rect">
            <a:avLst/>
          </a:prstGeom>
          <a:noFill/>
        </p:spPr>
        <p:txBody>
          <a:bodyPr wrap="square" lIns="22860" rIns="22860" tIns="0" bIns="0">
            <a:spAutoFit/>
          </a:bodyPr>
          <a:lstStyle/>
          <a:p>
            <a:pPr>
              <a:spcAft>
                <a:spcPts val="300"/>
              </a:spcAft>
              <a:defRPr sz="700" b="0">
                <a:solidFill>
                  <a:srgbClr val="11151A"/>
                </a:solidFill>
                <a:latin typeface="Lato"/>
              </a:defRPr>
            </a:pPr>
            <a:r>
              <a:t>Strictly Confidential</a:t>
            </a:r>
          </a:p>
        </p:txBody>
      </p:sp>
      <p:graphicFrame>
        <p:nvGraphicFramePr>
          <p:cNvPr id="7" name="Table 6"/>
          <p:cNvGraphicFramePr>
            <a:graphicFrameLocks noGrp="1"/>
          </p:cNvGraphicFramePr>
          <p:nvPr/>
        </p:nvGraphicFramePr>
        <p:xfrm>
          <a:off x="457200" y="2029968"/>
          <a:ext cx="10652760" cy="3657600"/>
        </p:xfrm>
        <a:graphic>
          <a:graphicData uri="http://schemas.openxmlformats.org/drawingml/2006/table">
            <a:tbl>
              <a:tblPr firstRow="0" bandRow="0"/>
              <a:tblGrid>
                <a:gridCol w="1828800"/>
                <a:gridCol w="4663440"/>
                <a:gridCol w="1828800"/>
                <a:gridCol w="2331720"/>
              </a:tblGrid>
              <a:tr h="457200">
                <a:tc>
                  <a:txBody>
                    <a:bodyPr/>
                    <a:lstStyle/>
                    <a:p>
                      <a:pPr>
                        <a:spcAft>
                          <a:spcPts val="100"/>
                        </a:spcAft>
                        <a:defRPr sz="1000" b="1">
                          <a:solidFill>
                            <a:srgbClr val="0A2373"/>
                          </a:solidFill>
                          <a:latin typeface="Lato"/>
                        </a:defRPr>
                      </a:pPr>
                      <a:r>
                        <a:t>Item</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Value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Basis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1">
                          <a:solidFill>
                            <a:srgbClr val="11151A"/>
                          </a:solidFill>
                          <a:latin typeface="Lato"/>
                        </a:defRPr>
                      </a:pPr>
                      <a:r>
                        <a:t>Source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Gross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360,246 m3 for petroleum, chemicals and oleochemicals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 checked 6 October 2026</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Built for petrol and diesel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162,000 m3 in ten tanks; a floor, older tanks not counted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of a floor,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news release, 17 February 2017</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Operational capacity,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146,000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Estimate,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90% of design, as at Lesedi</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Receipts and dispatch</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Vessel (five berths), pipeline, rail, truck. No rate published for any mode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 rates not found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terminal page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Pipeline to Gauteng</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148,000 m3 a week for all shippers and products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Evidence</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Transnet Pipelines, 24 inch trunk line</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Monthly turns</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 / 2 / 3 (low / base / high), on operational fuel capacity</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Target, not realised; to confirm with client</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Vopak to NERSA: 'targeting 2-3 throughputs in Durban'</a:t>
                      </a:r>
                    </a:p>
                  </a:txBody>
                  <a:tcPr marL="64008" marR="64008" marT="54864" marB="27432" anchor="t">
                    <a:lnL w="0">
                      <a:noFill/>
                    </a:lnL>
                    <a:lnR w="0">
                      <a:noFill/>
                    </a:lnR>
                    <a:lnT w="0">
                      <a:noFill/>
                    </a:lnT>
                    <a:lnB w="5080">
                      <a:solidFill>
                        <a:srgbClr val="B8B8B8"/>
                      </a:solidFill>
                    </a:lnB>
                    <a:solidFill>
                      <a:srgbClr val="FFFFFF"/>
                    </a:solidFill>
                  </a:tcPr>
                </a:tc>
              </a:tr>
              <a:tr h="457200">
                <a:tc>
                  <a:txBody>
                    <a:bodyPr/>
                    <a:lstStyle/>
                    <a:p>
                      <a:pPr>
                        <a:spcAft>
                          <a:spcPts val="100"/>
                        </a:spcAft>
                        <a:defRPr sz="1000" b="1">
                          <a:solidFill>
                            <a:srgbClr val="0A2373"/>
                          </a:solidFill>
                          <a:latin typeface="Lato"/>
                        </a:defRPr>
                      </a:pPr>
                      <a:r>
                        <a:t>Annual handling, fuel</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1.8 / 3.5 / 5.3 million m3</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Calculated</a:t>
                      </a:r>
                    </a:p>
                  </a:txBody>
                  <a:tcPr marL="64008" marR="64008" marT="54864" marB="27432" anchor="t">
                    <a:lnL w="0">
                      <a:noFill/>
                    </a:lnL>
                    <a:lnR w="0">
                      <a:noFill/>
                    </a:lnR>
                    <a:lnT w="0">
                      <a:noFill/>
                    </a:lnT>
                    <a:lnB w="5080">
                      <a:solidFill>
                        <a:srgbClr val="B8B8B8"/>
                      </a:solidFill>
                    </a:lnB>
                    <a:solidFill>
                      <a:srgbClr val="FFFFFF"/>
                    </a:solidFill>
                  </a:tcPr>
                </a:tc>
                <a:tc>
                  <a:txBody>
                    <a:bodyPr/>
                    <a:lstStyle/>
                    <a:p>
                      <a:pPr>
                        <a:spcAft>
                          <a:spcPts val="100"/>
                        </a:spcAft>
                        <a:defRPr sz="1000" b="0">
                          <a:solidFill>
                            <a:srgbClr val="11151A"/>
                          </a:solidFill>
                          <a:latin typeface="Lato"/>
                        </a:defRPr>
                      </a:pPr>
                      <a:r>
                        <a:t>Pack today: 4.3 / 8.6 / 13.0 on gross capacity</a:t>
                      </a:r>
                    </a:p>
                  </a:txBody>
                  <a:tcPr marL="64008" marR="64008" marT="54864" marB="27432" anchor="t">
                    <a:lnL w="0">
                      <a:noFill/>
                    </a:lnL>
                    <a:lnR w="0">
                      <a:noFill/>
                    </a:lnR>
                    <a:lnT w="0">
                      <a:noFill/>
                    </a:lnT>
                    <a:lnB w="5080">
                      <a:solidFill>
                        <a:srgbClr val="B8B8B8"/>
                      </a:solidFill>
                    </a:lnB>
                    <a:solidFill>
                      <a:srgbClr val="FFFFFF"/>
                    </a:solidFill>
                  </a:tcPr>
                </a:tc>
              </a:tr>
            </a:tbl>
          </a:graphicData>
        </a:graphic>
      </p:graphicFrame>
      <p:sp>
        <p:nvSpPr>
          <p:cNvPr id="8" name="TextBox 7"/>
          <p:cNvSpPr txBox="1"/>
          <p:nvPr/>
        </p:nvSpPr>
        <p:spPr>
          <a:xfrm>
            <a:off x="457200" y="5852160"/>
            <a:ext cx="10652760" cy="548640"/>
          </a:xfrm>
          <a:prstGeom prst="rect">
            <a:avLst/>
          </a:prstGeom>
          <a:noFill/>
        </p:spPr>
        <p:txBody>
          <a:bodyPr wrap="square" lIns="22860" rIns="22860" tIns="0" bIns="0">
            <a:spAutoFit/>
          </a:bodyPr>
          <a:lstStyle/>
          <a:p>
            <a:pPr>
              <a:spcAft>
                <a:spcPts val="300"/>
              </a:spcAft>
              <a:defRPr sz="1100" b="1">
                <a:solidFill>
                  <a:srgbClr val="0A2373"/>
                </a:solidFill>
                <a:latin typeface="Lato"/>
              </a:defRPr>
            </a:pPr>
            <a:r>
              <a:t>The high case needs 438,000 m3 a month, 68% of the whole trunk line if it all went inland by pipe. Durban-to-Lesedi volume is handled at both sites and must be counted once.</a:t>
            </a:r>
          </a:p>
        </p:txBody>
      </p:sp>
      <p:sp>
        <p:nvSpPr>
          <p:cNvPr id="9" name="Chevron 8">
            <a:hlinkClick action="ppaction://hlinksldjump" r:id="rId2"/>
          </p:cNvPr>
          <p:cNvSpPr/>
          <p:nvPr/>
        </p:nvSpPr>
        <p:spPr>
          <a:xfrm>
            <a:off x="457200"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1  National balance</a:t>
            </a:r>
          </a:p>
        </p:txBody>
      </p:sp>
      <p:sp>
        <p:nvSpPr>
          <p:cNvPr id="10" name="Chevron 9">
            <a:hlinkClick action="ppaction://hlinksldjump" r:id="rId3"/>
          </p:cNvPr>
          <p:cNvSpPr/>
          <p:nvPr/>
        </p:nvSpPr>
        <p:spPr>
          <a:xfrm>
            <a:off x="2587752"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2  Forecast levers</a:t>
            </a:r>
          </a:p>
        </p:txBody>
      </p:sp>
      <p:sp>
        <p:nvSpPr>
          <p:cNvPr id="11" name="Chevron 10">
            <a:hlinkClick action="ppaction://hlinksldjump" r:id="rId4"/>
          </p:cNvPr>
          <p:cNvSpPr/>
          <p:nvPr/>
        </p:nvSpPr>
        <p:spPr>
          <a:xfrm>
            <a:off x="4718304"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3  Sector baselines</a:t>
            </a:r>
          </a:p>
        </p:txBody>
      </p:sp>
      <p:sp>
        <p:nvSpPr>
          <p:cNvPr id="12" name="Chevron 11">
            <a:hlinkClick action="ppaction://hlinksldjump" r:id="rId5"/>
          </p:cNvPr>
          <p:cNvSpPr/>
          <p:nvPr/>
        </p:nvSpPr>
        <p:spPr>
          <a:xfrm>
            <a:off x="6848856" y="73152"/>
            <a:ext cx="2075688" cy="384048"/>
          </a:xfrm>
          <a:prstGeom prst="chevron">
            <a:avLst>
              <a:gd name="adj" fmla="val 12000"/>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1">
                <a:solidFill>
                  <a:srgbClr val="FFFFFF"/>
                </a:solidFill>
                <a:latin typeface="Lato"/>
              </a:defRPr>
            </a:pPr>
            <a:r>
              <a:t>4  Tank handling</a:t>
            </a:r>
          </a:p>
        </p:txBody>
      </p:sp>
      <p:sp>
        <p:nvSpPr>
          <p:cNvPr id="13" name="Chevron 12"/>
          <p:cNvSpPr/>
          <p:nvPr/>
        </p:nvSpPr>
        <p:spPr>
          <a:xfrm>
            <a:off x="8979408" y="73152"/>
            <a:ext cx="2075688" cy="384048"/>
          </a:xfrm>
          <a:prstGeom prst="chevron">
            <a:avLst>
              <a:gd name="adj" fmla="val 12000"/>
            </a:avLst>
          </a:prstGeom>
          <a:solidFill>
            <a:srgbClr val="EEEEEE"/>
          </a:solidFill>
          <a:ln>
            <a:noFill/>
          </a:ln>
        </p:spPr>
        <p:style>
          <a:lnRef idx="1">
            <a:schemeClr val="accent1"/>
          </a:lnRef>
          <a:fillRef idx="3">
            <a:schemeClr val="accent1"/>
          </a:fillRef>
          <a:effectRef idx="2">
            <a:schemeClr val="accent1"/>
          </a:effectRef>
          <a:fontRef idx="minor">
            <a:schemeClr val="lt1"/>
          </a:fontRef>
        </p:style>
        <p:txBody>
          <a:bodyPr rtlCol="0" anchor="ctr" tIns="0" bIns="0"/>
          <a:lstStyle/>
          <a:p>
            <a:pPr algn="ctr">
              <a:defRPr sz="1100" b="0">
                <a:solidFill>
                  <a:srgbClr val="0A2373"/>
                </a:solidFill>
                <a:latin typeface="Lato"/>
              </a:defRPr>
            </a:pPr>
            <a:r>
              <a:t>5  Hand-back</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grpSpPr/>
      <p:sp>
        <p:nvSpPr>
          <p:cNvPr id="2" name="Rectangle 1"/>
          <p:cNvSpPr/>
          <p:nvPr/>
        </p:nvSpPr>
        <p:spPr>
          <a:xfrm>
            <a:off x="0" y="0"/>
            <a:ext cx="11588750" cy="6858000"/>
          </a:xfrm>
          <a:prstGeom prst="rect">
            <a:avLst/>
          </a:prstGeom>
          <a:solidFill>
            <a:srgbClr val="0A2373"/>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3" name="Picture 2" descr="image.jpg"/>
          <p:cNvPicPr>
            <a:picLocks noChangeAspect="1"/>
          </p:cNvPicPr>
          <p:nvPr/>
        </p:nvPicPr>
        <p:blipFill>
          <a:blip r:embed="rId2"/>
          <a:srcRect l="26237" r="26237"/>
          <a:stretch>
            <a:fillRect/>
          </a:stretch>
        </p:blipFill>
        <p:spPr>
          <a:xfrm>
            <a:off x="5794375" y="0"/>
            <a:ext cx="5794375" cy="6858000"/>
          </a:xfrm>
          <a:prstGeom prst="rect">
            <a:avLst/>
          </a:prstGeom>
        </p:spPr>
      </p:pic>
      <p:pic>
        <p:nvPicPr>
          <p:cNvPr id="4" name="Picture 3" descr="image.png"/>
          <p:cNvPicPr>
            <a:picLocks noChangeAspect="1"/>
          </p:cNvPicPr>
          <p:nvPr/>
        </p:nvPicPr>
        <p:blipFill>
          <a:blip r:embed="rId3"/>
          <a:srcRect/>
          <a:stretch>
            <a:fillRect/>
          </a:stretch>
        </p:blipFill>
        <p:spPr>
          <a:xfrm>
            <a:off x="502920" y="457200"/>
            <a:ext cx="1965960" cy="438614"/>
          </a:xfrm>
          <a:prstGeom prst="rect">
            <a:avLst/>
          </a:prstGeom>
        </p:spPr>
      </p:pic>
      <p:sp>
        <p:nvSpPr>
          <p:cNvPr id="5" name="TextBox 4"/>
          <p:cNvSpPr txBox="1"/>
          <p:nvPr/>
        </p:nvSpPr>
        <p:spPr>
          <a:xfrm>
            <a:off x="594360" y="2468880"/>
            <a:ext cx="4709160" cy="1554480"/>
          </a:xfrm>
          <a:prstGeom prst="rect">
            <a:avLst/>
          </a:prstGeom>
          <a:noFill/>
        </p:spPr>
        <p:txBody>
          <a:bodyPr wrap="square" lIns="18288" rIns="18288" tIns="0" bIns="0">
            <a:spAutoFit/>
          </a:bodyPr>
          <a:lstStyle/>
          <a:p>
            <a:pPr>
              <a:spcAft>
                <a:spcPts val="800"/>
              </a:spcAft>
              <a:defRPr sz="3100" b="0">
                <a:solidFill>
                  <a:srgbClr val="FFFFFF"/>
                </a:solidFill>
                <a:latin typeface="Lato"/>
              </a:defRPr>
            </a:pPr>
            <a:r>
              <a:t>Review the branch</a:t>
            </a:r>
          </a:p>
          <a:p>
            <a:pPr>
              <a:spcAft>
                <a:spcPts val="800"/>
              </a:spcAft>
              <a:defRPr sz="3100" b="0">
                <a:solidFill>
                  <a:srgbClr val="FFFFFF"/>
                </a:solidFill>
                <a:latin typeface="Lato"/>
              </a:defRPr>
            </a:pPr>
            <a:r>
              <a:t>and decide</a:t>
            </a:r>
          </a:p>
        </p:txBody>
      </p:sp>
      <p:cxnSp>
        <p:nvCxnSpPr>
          <p:cNvPr id="6" name="Connector 5"/>
          <p:cNvCxnSpPr/>
          <p:nvPr/>
        </p:nvCxnSpPr>
        <p:spPr>
          <a:xfrm>
            <a:off x="594360" y="4251960"/>
            <a:ext cx="4617720" cy="0"/>
          </a:xfrm>
          <a:prstGeom prst="line">
            <a:avLst/>
          </a:prstGeom>
          <a:ln w="7620">
            <a:solidFill>
              <a:srgbClr val="FFFFFF"/>
            </a:solidFill>
          </a:ln>
        </p:spPr>
        <p:style>
          <a:lnRef idx="2">
            <a:schemeClr val="accent1"/>
          </a:lnRef>
          <a:fillRef idx="0">
            <a:schemeClr val="accent1"/>
          </a:fillRef>
          <a:effectRef idx="1">
            <a:schemeClr val="accent1"/>
          </a:effectRef>
          <a:fontRef idx="minor">
            <a:schemeClr val="tx1"/>
          </a:fontRef>
        </p:style>
      </p:cxnSp>
      <p:sp>
        <p:nvSpPr>
          <p:cNvPr id="7" name="TextBox 6"/>
          <p:cNvSpPr txBox="1"/>
          <p:nvPr/>
        </p:nvSpPr>
        <p:spPr>
          <a:xfrm>
            <a:off x="594360" y="4617720"/>
            <a:ext cx="4572000" cy="640080"/>
          </a:xfrm>
          <a:prstGeom prst="rect">
            <a:avLst/>
          </a:prstGeom>
          <a:noFill/>
        </p:spPr>
        <p:txBody>
          <a:bodyPr wrap="square" lIns="18288" rIns="18288" tIns="0" bIns="0">
            <a:spAutoFit/>
          </a:bodyPr>
          <a:lstStyle/>
          <a:p>
            <a:pPr>
              <a:spcAft>
                <a:spcPts val="800"/>
              </a:spcAft>
              <a:defRPr sz="2100" b="0">
                <a:solidFill>
                  <a:srgbClr val="FFFFFF"/>
                </a:solidFill>
                <a:latin typeface="Lato"/>
              </a:defRPr>
            </a:pPr>
            <a:r>
              <a:t>manish-branch | checks pass | nothing merged to main</a:t>
            </a:r>
          </a:p>
        </p:txBody>
      </p:sp>
      <p:sp>
        <p:nvSpPr>
          <p:cNvPr id="8" name="TextBox 7"/>
          <p:cNvSpPr txBox="1"/>
          <p:nvPr/>
        </p:nvSpPr>
        <p:spPr>
          <a:xfrm>
            <a:off x="594360" y="5696712"/>
            <a:ext cx="4572000" cy="274320"/>
          </a:xfrm>
          <a:prstGeom prst="rect">
            <a:avLst/>
          </a:prstGeom>
          <a:noFill/>
        </p:spPr>
        <p:txBody>
          <a:bodyPr wrap="square" lIns="18288" rIns="18288" tIns="0" bIns="0">
            <a:spAutoFit/>
          </a:bodyPr>
          <a:lstStyle/>
          <a:p>
            <a:pPr>
              <a:spcAft>
                <a:spcPts val="800"/>
              </a:spcAft>
              <a:defRPr sz="1300" b="0">
                <a:solidFill>
                  <a:srgbClr val="FFFFFF"/>
                </a:solidFill>
                <a:latin typeface="Lato"/>
              </a:defRPr>
            </a:pPr>
            <a:r>
              <a:t>7 October 2026</a:t>
            </a:r>
          </a:p>
        </p:txBody>
      </p:sp>
      <p:sp>
        <p:nvSpPr>
          <p:cNvPr id="9" name="TextBox 8"/>
          <p:cNvSpPr txBox="1"/>
          <p:nvPr/>
        </p:nvSpPr>
        <p:spPr>
          <a:xfrm>
            <a:off x="594360" y="6053328"/>
            <a:ext cx="4572000" cy="274320"/>
          </a:xfrm>
          <a:prstGeom prst="rect">
            <a:avLst/>
          </a:prstGeom>
          <a:noFill/>
        </p:spPr>
        <p:txBody>
          <a:bodyPr wrap="square" lIns="18288" rIns="18288" tIns="0" bIns="0">
            <a:spAutoFit/>
          </a:bodyPr>
          <a:lstStyle/>
          <a:p>
            <a:pPr>
              <a:spcAft>
                <a:spcPts val="800"/>
              </a:spcAft>
              <a:defRPr sz="1200" b="0">
                <a:solidFill>
                  <a:srgbClr val="FFFFFF"/>
                </a:solidFill>
                <a:latin typeface="Lato"/>
              </a:defRPr>
            </a:pPr>
            <a:r>
              <a:t>Internal working discussion</a:t>
            </a:r>
          </a:p>
        </p:txBody>
      </p:sp>
      <p:sp>
        <p:nvSpPr>
          <p:cNvPr id="10" name="Photo source credit">
            <a:hlinkClick r:id="rId4"/>
          </p:cNvPr>
          <p:cNvSpPr txBox="1"/>
          <p:nvPr/>
        </p:nvSpPr>
        <p:spPr>
          <a:xfrm>
            <a:off x="594360" y="6400800"/>
            <a:ext cx="4754880" cy="164592"/>
          </a:xfrm>
          <a:prstGeom prst="rect">
            <a:avLst/>
          </a:prstGeom>
          <a:noFill/>
        </p:spPr>
        <p:txBody>
          <a:bodyPr wrap="square" lIns="18288" rIns="18288" tIns="0" bIns="0">
            <a:spAutoFit/>
          </a:bodyPr>
          <a:lstStyle/>
          <a:p>
            <a:pPr algn="l">
              <a:spcAft>
                <a:spcPts val="800"/>
              </a:spcAft>
              <a:defRPr sz="800" b="0">
                <a:solidFill>
                  <a:srgbClr val="FFFFFF"/>
                </a:solidFill>
                <a:latin typeface="Lato"/>
              </a:defRPr>
            </a:pPr>
            <a:r>
              <a:t>Photo source: Royal Vopak | Terminal Lesedi | vopak.com</a:t>
            </a:r>
          </a:p>
        </p:txBody>
      </p:sp>
      <p:sp>
        <p:nvSpPr>
          <p:cNvPr id="11" name="Strictly Confidential footer"/>
          <p:cNvSpPr txBox="1"/>
          <p:nvPr/>
        </p:nvSpPr>
        <p:spPr>
          <a:xfrm>
            <a:off x="457200" y="6711696"/>
            <a:ext cx="2011680" cy="128016"/>
          </a:xfrm>
          <a:prstGeom prst="rect">
            <a:avLst/>
          </a:prstGeom>
          <a:noFill/>
        </p:spPr>
        <p:txBody>
          <a:bodyPr wrap="none" lIns="0" rIns="0" tIns="0" bIns="0">
            <a:spAutoFit/>
          </a:bodyPr>
          <a:lstStyle/>
          <a:p>
            <a:pPr>
              <a:spcBef>
                <a:spcPts val="0"/>
              </a:spcBef>
              <a:spcAft>
                <a:spcPts val="0"/>
              </a:spcAft>
              <a:defRPr sz="800">
                <a:solidFill>
                  <a:srgbClr val="BDBEC1"/>
                </a:solidFill>
                <a:latin typeface="Lato"/>
              </a:defRPr>
            </a:pPr>
            <a:r>
              <a:t>Strictly Confidential</a:t>
            </a:r>
          </a:p>
        </p:txBody>
      </p:sp>
    </p:spTree>
  </p:cSld>
  <p:clrMapOvr>
    <a:masterClrMapping/>
  </p:clrMapOvr>
</p:sld>
</file>

<file path=ppt/theme/theme1.xml><?xml version="1.0" encoding="utf-8"?>
<a:theme xmlns:a="http://schemas.openxmlformats.org/drawingml/2006/main" name="Vopak Theme">
  <a:themeElements>
    <a:clrScheme name="Vopak">
      <a:dk1>
        <a:srgbClr val="000000"/>
      </a:dk1>
      <a:lt1>
        <a:srgbClr val="FFFFFF"/>
      </a:lt1>
      <a:dk2>
        <a:srgbClr val="11151A"/>
      </a:dk2>
      <a:lt2>
        <a:srgbClr val="E7E6E6"/>
      </a:lt2>
      <a:accent1>
        <a:srgbClr val="0A2373"/>
      </a:accent1>
      <a:accent2>
        <a:srgbClr val="546CA2"/>
      </a:accent2>
      <a:accent3>
        <a:srgbClr val="BDBEC1"/>
      </a:accent3>
      <a:accent4>
        <a:srgbClr val="404040"/>
      </a:accent4>
      <a:accent5>
        <a:srgbClr val="767676"/>
      </a:accent5>
      <a:accent6>
        <a:srgbClr val="D9D9D9"/>
      </a:accent6>
      <a:hlink>
        <a:srgbClr val="0A2373"/>
      </a:hlink>
      <a:folHlink>
        <a:srgbClr val="546CA2"/>
      </a:folHlink>
    </a:clrScheme>
    <a:fontScheme name="AIA_2017">
      <a:majorFont>
        <a:latin typeface="Lato"/>
        <a:ea typeface=""/>
        <a:cs typeface=""/>
      </a:majorFont>
      <a:minorFont>
        <a:latin typeface="Lato"/>
        <a:ea typeface=""/>
        <a:cs typeface=""/>
      </a:minorFont>
    </a:fontScheme>
    <a:fmtScheme name="Office Them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Vopak Theme" id="{EB158558-B090-4A15-9406-52ADAF46E73D}" vid="{169915E9-BA5A-4298-BC78-09D681881741}"/>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webextensions/_rels/taskpanes.xml.rels><?xml version='1.0' encoding='UTF-8' standalone='yes'?>
<Relationships xmlns="http://schemas.openxmlformats.org/package/2006/relationships"><Relationship Id="rId1" Type="http://schemas.microsoft.com/office/2011/relationships/webextension" Target="webextension1.xml"/></Relationships>
</file>

<file path=ppt/webextensions/taskpanes.xml><?xml version="1.0" encoding="utf-8"?>
<wetp:taskpanes xmlns:wetp="http://schemas.microsoft.com/office/webextensions/taskpanes/2010/11">
  <wetp:taskpane dockstate="right" visibility="0" width="525" row="4">
    <wetp:webextensionref xmlns:r="http://schemas.openxmlformats.org/officeDocument/2006/relationships" r:id="rId1"/>
  </wetp:taskpane>
</wetp:taskpanes>
</file>

<file path=ppt/webextensions/webextension1.xml><?xml version="1.0" encoding="utf-8"?>
<we:webextension xmlns:we="http://schemas.microsoft.com/office/webextensions/webextension/2010/11" id="{3729E3C0-DBBA-4E87-A833-D4D671FDC2D1}">
  <we:reference id="WA200010725" version="1.0.0.1" store="Omex" storeType="OMEX"/>
  <we:alternateReferences>
    <we:reference id="WA200010725" version="1.0.0.1" store="WA200010725" storeType="OMEX"/>
  </we:alternateReferences>
  <we:properties>
    <we:property name="claude.fileId" value="&quot;440e1679-9fef-4664-be92-b7e3c5432c29&quot;"/>
  </we:properties>
  <we:bindings/>
  <we:snapshot xmlns:r="http://schemas.openxmlformats.org/officeDocument/2006/relationships"/>
</we:webextension>
</file>

<file path=customXml/_rels/item1.xml.rels><?xml version='1.0' encoding='UTF-8' standalone='yes'?>
<Relationships xmlns="http://schemas.openxmlformats.org/package/2006/relationships"><Relationship Id="rId1" Type="http://schemas.openxmlformats.org/officeDocument/2006/relationships/customXmlProps" Target="itemProps1.xml"/></Relationships>
</file>

<file path=customXml/_rels/item2.xml.rels><?xml version='1.0' encoding='UTF-8' standalone='yes'?>
<Relationships xmlns="http://schemas.openxmlformats.org/package/2006/relationships"><Relationship Id="rId1" Type="http://schemas.openxmlformats.org/officeDocument/2006/relationships/customXmlProps" Target="itemProps2.xml"/></Relationships>
</file>

<file path=customXml/_rels/item3.xml.rels><?xml version='1.0' encoding='UTF-8' standalone='yes'?>
<Relationships xmlns="http://schemas.openxmlformats.org/package/2006/relationships"><Relationship Id="rId1" Type="http://schemas.openxmlformats.org/officeDocument/2006/relationships/customXmlProps" Target="itemProps3.xml"/></Relationships>
</file>

<file path=customXml/item1.xml><?xml version="1.0" encoding="utf-8"?>
<?mso-contentType ?>
<FormTemplates xmlns="http://schemas.microsoft.com/sharepoint/v3/contenttype/forms">
  <Display>DocumentLibraryForm</Display>
  <Edit>DocumentLibraryForm</Edit>
  <New>DocumentLibraryForm</New>
</FormTemplates>
</file>

<file path=customXml/item2.xml><?xml version="1.0" encoding="utf-8"?>
<ct:contentTypeSchema xmlns:ct="http://schemas.microsoft.com/office/2006/metadata/contentType" xmlns:ma="http://schemas.microsoft.com/office/2006/metadata/properties/metaAttributes" ct:_="" ma:_="" ma:contentTypeName="Document" ma:contentTypeID="0x010100BB14DAA3CC024F49A081857B4C9CD92A" ma:contentTypeVersion="20" ma:contentTypeDescription="Create a new document." ma:contentTypeScope="" ma:versionID="cdb2463664abbc9cc5ebc4769b50ad18">
  <xsd:schema xmlns:xsd="http://www.w3.org/2001/XMLSchema" xmlns:xs="http://www.w3.org/2001/XMLSchema" xmlns:p="http://schemas.microsoft.com/office/2006/metadata/properties" xmlns:ns2="265cb39c-7109-435c-af5d-13dc21a2db6b" xmlns:ns3="62b85a0e-09bb-4b0f-bd28-e34020cdc070" targetNamespace="http://schemas.microsoft.com/office/2006/metadata/properties" ma:root="true" ma:fieldsID="ee545d7bb76dd121542a05c73fb4a941" ns2:_="" ns3:_="">
    <xsd:import namespace="265cb39c-7109-435c-af5d-13dc21a2db6b"/>
    <xsd:import namespace="62b85a0e-09bb-4b0f-bd28-e34020cdc070"/>
    <xsd:element name="properties">
      <xsd:complexType>
        <xsd:sequence>
          <xsd:element name="documentManagement">
            <xsd:complexType>
              <xsd:all>
                <xsd:element ref="ns2:MediaServiceMetadata" minOccurs="0"/>
                <xsd:element ref="ns2:MediaServiceFastMetadata" minOccurs="0"/>
                <xsd:element ref="ns2:MediaServiceAutoKeyPoints" minOccurs="0"/>
                <xsd:element ref="ns2:MediaServiceKeyPoints" minOccurs="0"/>
                <xsd:element ref="ns2:MediaServiceDateTaken" minOccurs="0"/>
                <xsd:element ref="ns2:MediaServiceAutoTags" minOccurs="0"/>
                <xsd:element ref="ns2:MediaServiceGenerationTime" minOccurs="0"/>
                <xsd:element ref="ns2:MediaServiceEventHashCode" minOccurs="0"/>
                <xsd:element ref="ns2:MediaServiceOCR" minOccurs="0"/>
                <xsd:element ref="ns3:SharedWithUsers" minOccurs="0"/>
                <xsd:element ref="ns3:SharedWithDetails" minOccurs="0"/>
                <xsd:element ref="ns2:MediaServiceLocation" minOccurs="0"/>
                <xsd:element ref="ns2:MediaLengthInSeconds" minOccurs="0"/>
                <xsd:element ref="ns2:lcf76f155ced4ddcb4097134ff3c332f" minOccurs="0"/>
                <xsd:element ref="ns3:TaxCatchAll" minOccurs="0"/>
                <xsd:element ref="ns2:MediaServiceObjectDetectorVersions" minOccurs="0"/>
                <xsd:element ref="ns2:MediaServiceSearchProperties" minOccurs="0"/>
                <xsd:element ref="ns2:Archive" minOccurs="0"/>
                <xsd:element ref="ns2:MediaServiceBillingMetadata" minOccurs="0"/>
              </xsd:all>
            </xsd:complexType>
          </xsd:element>
        </xsd:sequence>
      </xsd:complexType>
    </xsd:element>
  </xsd:schema>
  <xsd:schema xmlns:xsd="http://www.w3.org/2001/XMLSchema" xmlns:xs="http://www.w3.org/2001/XMLSchema" xmlns:dms="http://schemas.microsoft.com/office/2006/documentManagement/types" xmlns:pc="http://schemas.microsoft.com/office/infopath/2007/PartnerControls" targetNamespace="265cb39c-7109-435c-af5d-13dc21a2db6b" elementFormDefault="qualified">
    <xsd:import namespace="http://schemas.microsoft.com/office/2006/documentManagement/types"/>
    <xsd:import namespace="http://schemas.microsoft.com/office/infopath/2007/PartnerControls"/>
    <xsd:element name="MediaServiceMetadata" ma:index="8" nillable="true" ma:displayName="MediaServiceMetadata" ma:hidden="true" ma:internalName="MediaServiceMetadata" ma:readOnly="true">
      <xsd:simpleType>
        <xsd:restriction base="dms:Note"/>
      </xsd:simpleType>
    </xsd:element>
    <xsd:element name="MediaServiceFastMetadata" ma:index="9" nillable="true" ma:displayName="MediaServiceFastMetadata" ma:hidden="true" ma:internalName="MediaServiceFastMetadata" ma:readOnly="true">
      <xsd:simpleType>
        <xsd:restriction base="dms:Note"/>
      </xsd:simpleType>
    </xsd:element>
    <xsd:element name="MediaServiceAutoKeyPoints" ma:index="10" nillable="true" ma:displayName="MediaServiceAutoKeyPoints" ma:hidden="true" ma:internalName="MediaServiceAutoKeyPoints" ma:readOnly="true">
      <xsd:simpleType>
        <xsd:restriction base="dms:Note"/>
      </xsd:simpleType>
    </xsd:element>
    <xsd:element name="MediaServiceKeyPoints" ma:index="11" nillable="true" ma:displayName="KeyPoints" ma:internalName="MediaServiceKeyPoints" ma:readOnly="true">
      <xsd:simpleType>
        <xsd:restriction base="dms:Note">
          <xsd:maxLength value="255"/>
        </xsd:restriction>
      </xsd:simpleType>
    </xsd:element>
    <xsd:element name="MediaServiceDateTaken" ma:index="12" nillable="true" ma:displayName="MediaServiceDateTaken" ma:hidden="true" ma:internalName="MediaServiceDateTaken" ma:readOnly="true">
      <xsd:simpleType>
        <xsd:restriction base="dms:Text"/>
      </xsd:simpleType>
    </xsd:element>
    <xsd:element name="MediaServiceAutoTags" ma:index="13" nillable="true" ma:displayName="Tags" ma:internalName="MediaServiceAutoTags" ma:readOnly="true">
      <xsd:simpleType>
        <xsd:restriction base="dms:Text"/>
      </xsd:simpleType>
    </xsd:element>
    <xsd:element name="MediaServiceGenerationTime" ma:index="14" nillable="true" ma:displayName="MediaServiceGenerationTime" ma:hidden="true" ma:internalName="MediaServiceGenerationTime" ma:readOnly="true">
      <xsd:simpleType>
        <xsd:restriction base="dms:Text"/>
      </xsd:simpleType>
    </xsd:element>
    <xsd:element name="MediaServiceEventHashCode" ma:index="15" nillable="true" ma:displayName="MediaServiceEventHashCode" ma:hidden="true" ma:internalName="MediaServiceEventHashCode" ma:readOnly="true">
      <xsd:simpleType>
        <xsd:restriction base="dms:Text"/>
      </xsd:simpleType>
    </xsd:element>
    <xsd:element name="MediaServiceOCR" ma:index="16" nillable="true" ma:displayName="Extracted Text" ma:internalName="MediaServiceOCR" ma:readOnly="true">
      <xsd:simpleType>
        <xsd:restriction base="dms:Note">
          <xsd:maxLength value="255"/>
        </xsd:restriction>
      </xsd:simpleType>
    </xsd:element>
    <xsd:element name="MediaServiceLocation" ma:index="19" nillable="true" ma:displayName="Location" ma:internalName="MediaServiceLocation" ma:readOnly="true">
      <xsd:simpleType>
        <xsd:restriction base="dms:Text"/>
      </xsd:simpleType>
    </xsd:element>
    <xsd:element name="MediaLengthInSeconds" ma:index="20" nillable="true" ma:displayName="Length (seconds)" ma:internalName="MediaLengthInSeconds" ma:readOnly="true">
      <xsd:simpleType>
        <xsd:restriction base="dms:Unknown"/>
      </xsd:simpleType>
    </xsd:element>
    <xsd:element name="lcf76f155ced4ddcb4097134ff3c332f" ma:index="22" nillable="true" ma:taxonomy="true" ma:internalName="lcf76f155ced4ddcb4097134ff3c332f" ma:taxonomyFieldName="MediaServiceImageTags" ma:displayName="Image Tags" ma:readOnly="false" ma:fieldId="{5cf76f15-5ced-4ddc-b409-7134ff3c332f}" ma:taxonomyMulti="true" ma:sspId="df3d1728-64fa-4f01-bb7d-5585de3a980b" ma:termSetId="09814cd3-568e-fe90-9814-8d621ff8fb84" ma:anchorId="fba54fb3-c3e1-fe81-a776-ca4b69148c4d" ma:open="true" ma:isKeyword="false">
      <xsd:complexType>
        <xsd:sequence>
          <xsd:element ref="pc:Terms" minOccurs="0" maxOccurs="1"/>
        </xsd:sequence>
      </xsd:complexType>
    </xsd:element>
    <xsd:element name="MediaServiceObjectDetectorVersions" ma:index="24" nillable="true" ma:displayName="MediaServiceObjectDetectorVersions" ma:description="" ma:hidden="true" ma:indexed="true" ma:internalName="MediaServiceObjectDetectorVersions" ma:readOnly="true">
      <xsd:simpleType>
        <xsd:restriction base="dms:Text"/>
      </xsd:simpleType>
    </xsd:element>
    <xsd:element name="MediaServiceSearchProperties" ma:index="25" nillable="true" ma:displayName="MediaServiceSearchProperties" ma:hidden="true" ma:internalName="MediaServiceSearchProperties" ma:readOnly="true">
      <xsd:simpleType>
        <xsd:restriction base="dms:Note"/>
      </xsd:simpleType>
    </xsd:element>
    <xsd:element name="Archive" ma:index="26" nillable="true" ma:displayName="Archive" ma:default="0" ma:description="Folder to be backed up, archived and removed from SharePoint" ma:format="Dropdown" ma:internalName="Archive">
      <xsd:simpleType>
        <xsd:restriction base="dms:Boolean"/>
      </xsd:simpleType>
    </xsd:element>
    <xsd:element name="MediaServiceBillingMetadata" ma:index="27" nillable="true" ma:displayName="MediaServiceBillingMetadata" ma:hidden="true" ma:internalName="MediaServiceBillingMetadata" ma:readOnly="true">
      <xsd:simpleType>
        <xsd:restriction base="dms:Note"/>
      </xsd:simpleType>
    </xsd:element>
  </xsd:schema>
  <xsd:schema xmlns:xsd="http://www.w3.org/2001/XMLSchema" xmlns:xs="http://www.w3.org/2001/XMLSchema" xmlns:dms="http://schemas.microsoft.com/office/2006/documentManagement/types" xmlns:pc="http://schemas.microsoft.com/office/infopath/2007/PartnerControls" targetNamespace="62b85a0e-09bb-4b0f-bd28-e34020cdc070" elementFormDefault="qualified">
    <xsd:import namespace="http://schemas.microsoft.com/office/2006/documentManagement/types"/>
    <xsd:import namespace="http://schemas.microsoft.com/office/infopath/2007/PartnerControls"/>
    <xsd:element name="SharedWithUsers" ma:index="17" nillable="true" ma:displayName="Shared With" ma:internalName="SharedWithUsers" ma:readOnly="true">
      <xsd:complexType>
        <xsd:complexContent>
          <xsd:extension base="dms:UserMulti">
            <xsd:sequence>
              <xsd:element name="UserInfo" minOccurs="0" maxOccurs="unbounded">
                <xsd:complexType>
                  <xsd:sequence>
                    <xsd:element name="DisplayName" type="xsd:string" minOccurs="0"/>
                    <xsd:element name="AccountId" type="dms:UserId" minOccurs="0" nillable="true"/>
                    <xsd:element name="AccountType" type="xsd:string" minOccurs="0"/>
                  </xsd:sequence>
                </xsd:complexType>
              </xsd:element>
            </xsd:sequence>
          </xsd:extension>
        </xsd:complexContent>
      </xsd:complexType>
    </xsd:element>
    <xsd:element name="SharedWithDetails" ma:index="18" nillable="true" ma:displayName="Shared With Details" ma:internalName="SharedWithDetails" ma:readOnly="true">
      <xsd:simpleType>
        <xsd:restriction base="dms:Note">
          <xsd:maxLength value="255"/>
        </xsd:restriction>
      </xsd:simpleType>
    </xsd:element>
    <xsd:element name="TaxCatchAll" ma:index="23" nillable="true" ma:displayName="Taxonomy Catch All Column" ma:hidden="true" ma:list="{744b13c9-2708-4b8b-a658-00962d7928c2}" ma:internalName="TaxCatchAll" ma:showField="CatchAllData" ma:web="62b85a0e-09bb-4b0f-bd28-e34020cdc070">
      <xsd:complexType>
        <xsd:complexContent>
          <xsd:extension base="dms:MultiChoiceLookup">
            <xsd:sequence>
              <xsd:element name="Value" type="dms:Lookup" maxOccurs="unbounded" minOccurs="0" nillable="true"/>
            </xsd:sequence>
          </xsd:extension>
        </xsd:complexContent>
      </xsd:complexType>
    </xsd:element>
  </xsd:schema>
  <xsd:schema xmlns="http://schemas.openxmlformats.org/package/2006/metadata/core-properties" xmlns:xsd="http://www.w3.org/2001/XMLSchema" xmlns:xsi="http://www.w3.org/2001/XMLSchema-instance" xmlns:dc="http://purl.org/dc/elements/1.1/" xmlns:dcterms="http://purl.org/dc/terms/" xmlns:odoc="http://schemas.microsoft.com/internal/obd" targetNamespace="http://schemas.openxmlformats.org/package/2006/metadata/core-properties" elementFormDefault="qualified" attributeFormDefault="unqualified" blockDefault="#all">
    <xsd:import namespace="http://purl.org/dc/elements/1.1/" schemaLocation="http://dublincore.org/schemas/xmls/qdc/2003/04/02/dc.xsd"/>
    <xsd:import namespace="http://purl.org/dc/terms/" schemaLocation="http://dublincore.org/schemas/xmls/qdc/2003/04/02/dcterms.xsd"/>
    <xsd:element name="coreProperties" type="CT_coreProperties"/>
    <xsd:complexType name="CT_coreProperties">
      <xsd:all>
        <xsd:element ref="dc:creator" minOccurs="0" maxOccurs="1"/>
        <xsd:element ref="dcterms:created" minOccurs="0" maxOccurs="1"/>
        <xsd:element ref="dc:identifier" minOccurs="0" maxOccurs="1"/>
        <xsd:element name="contentType" minOccurs="0" maxOccurs="1" type="xsd:string" ma:index="0" ma:displayName="Content Type"/>
        <xsd:element ref="dc:title" minOccurs="0" maxOccurs="1" ma:index="4" ma:displayName="Title"/>
        <xsd:element ref="dc:subject" minOccurs="0" maxOccurs="1"/>
        <xsd:element ref="dc:description" minOccurs="0" maxOccurs="1"/>
        <xsd:element name="keywords" minOccurs="0" maxOccurs="1" type="xsd:string"/>
        <xsd:element ref="dc:language" minOccurs="0" maxOccurs="1"/>
        <xsd:element name="category" minOccurs="0" maxOccurs="1" type="xsd:string"/>
        <xsd:element name="version" minOccurs="0" maxOccurs="1" type="xsd:string"/>
        <xsd:element name="revision" minOccurs="0" maxOccurs="1" type="xsd:string">
          <xsd:annotation>
            <xsd:documentation>
                        This value indicates the number of saves or revisions. The application is responsible for updating this value after each revision.
                    </xsd:documentation>
          </xsd:annotation>
        </xsd:element>
        <xsd:element name="lastModifiedBy" minOccurs="0" maxOccurs="1" type="xsd:string"/>
        <xsd:element ref="dcterms:modified" minOccurs="0" maxOccurs="1"/>
        <xsd:element name="contentStatus" minOccurs="0" maxOccurs="1" type="xsd:string"/>
      </xsd:all>
    </xsd:complexType>
  </xsd:schema>
  <xs:schema xmlns:pc="http://schemas.microsoft.com/office/infopath/2007/PartnerControls" xmlns:xs="http://www.w3.org/2001/XMLSchema" targetNamespace="http://schemas.microsoft.com/office/infopath/2007/PartnerControls" elementFormDefault="qualified" attributeFormDefault="unqualified">
    <xs:element name="Person">
      <xs:complexType>
        <xs:sequence>
          <xs:element ref="pc:DisplayName" minOccurs="0"/>
          <xs:element ref="pc:AccountId" minOccurs="0"/>
          <xs:element ref="pc:AccountType" minOccurs="0"/>
        </xs:sequence>
      </xs:complexType>
    </xs:element>
    <xs:element name="DisplayName" type="xs:string"/>
    <xs:element name="AccountId" type="xs:string"/>
    <xs:element name="AccountType" type="xs:string"/>
    <xs:element name="BDCAssociatedEntity">
      <xs:complexType>
        <xs:sequence>
          <xs:element ref="pc:BDCEntity" minOccurs="0" maxOccurs="unbounded"/>
        </xs:sequence>
        <xs:attribute ref="pc:EntityNamespace"/>
        <xs:attribute ref="pc:EntityName"/>
        <xs:attribute ref="pc:SystemInstanceName"/>
        <xs:attribute ref="pc:AssociationName"/>
      </xs:complexType>
    </xs:element>
    <xs:attribute name="EntityNamespace" type="xs:string"/>
    <xs:attribute name="EntityName" type="xs:string"/>
    <xs:attribute name="SystemInstanceName" type="xs:string"/>
    <xs:attribute name="AssociationName" type="xs:string"/>
    <xs:element name="BDCEntity">
      <xs:complexType>
        <xs:sequence>
          <xs:element ref="pc:EntityDisplayName" minOccurs="0"/>
          <xs:element ref="pc:EntityInstanceReference" minOccurs="0"/>
          <xs:element ref="pc:EntityId1" minOccurs="0"/>
          <xs:element ref="pc:EntityId2" minOccurs="0"/>
          <xs:element ref="pc:EntityId3" minOccurs="0"/>
          <xs:element ref="pc:EntityId4" minOccurs="0"/>
          <xs:element ref="pc:EntityId5" minOccurs="0"/>
        </xs:sequence>
      </xs:complexType>
    </xs:element>
    <xs:element name="EntityDisplayName" type="xs:string"/>
    <xs:element name="EntityInstanceReference" type="xs:string"/>
    <xs:element name="EntityId1" type="xs:string"/>
    <xs:element name="EntityId2" type="xs:string"/>
    <xs:element name="EntityId3" type="xs:string"/>
    <xs:element name="EntityId4" type="xs:string"/>
    <xs:element name="EntityId5" type="xs:string"/>
    <xs:element name="Terms">
      <xs:complexType>
        <xs:sequence>
          <xs:element ref="pc:TermInfo" minOccurs="0" maxOccurs="unbounded"/>
        </xs:sequence>
      </xs:complexType>
    </xs:element>
    <xs:element name="TermInfo">
      <xs:complexType>
        <xs:sequence>
          <xs:element ref="pc:TermName" minOccurs="0"/>
          <xs:element ref="pc:TermId" minOccurs="0"/>
        </xs:sequence>
      </xs:complexType>
    </xs:element>
    <xs:element name="TermName" type="xs:string"/>
    <xs:element name="TermId" type="xs:string"/>
  </xs:schema>
</ct:contentTypeSchema>
</file>

<file path=customXml/item3.xml><?xml version="1.0" encoding="utf-8"?>
<p:properties xmlns:p="http://schemas.microsoft.com/office/2006/metadata/properties" xmlns:xsi="http://www.w3.org/2001/XMLSchema-instance" xmlns:pc="http://schemas.microsoft.com/office/infopath/2007/PartnerControls">
  <documentManagement>
    <lcf76f155ced4ddcb4097134ff3c332f xmlns="265cb39c-7109-435c-af5d-13dc21a2db6b">
      <Terms xmlns="http://schemas.microsoft.com/office/infopath/2007/PartnerControls"/>
    </lcf76f155ced4ddcb4097134ff3c332f>
    <TaxCatchAll xmlns="62b85a0e-09bb-4b0f-bd28-e34020cdc070" xsi:nil="true"/>
    <SharedWithUsers xmlns="62b85a0e-09bb-4b0f-bd28-e34020cdc070">
      <UserInfo>
        <DisplayName>Joseph Kihara</DisplayName>
        <AccountId>3747</AccountId>
        <AccountType/>
      </UserInfo>
    </SharedWithUsers>
    <Archive xmlns="265cb39c-7109-435c-af5d-13dc21a2db6b">false</Archive>
  </documentManagement>
</p:properties>
</file>

<file path=customXml/itemProps1.xml><?xml version="1.0" encoding="utf-8"?>
<ds:datastoreItem xmlns:ds="http://schemas.openxmlformats.org/officeDocument/2006/customXml" ds:itemID="{1E0AC09D-7AB9-4C7E-89AA-55CFDED1BCB9}">
  <ds:schemaRefs>
    <ds:schemaRef ds:uri="http://schemas.microsoft.com/sharepoint/v3/contenttype/forms"/>
  </ds:schemaRefs>
</ds:datastoreItem>
</file>

<file path=customXml/itemProps2.xml><?xml version="1.0" encoding="utf-8"?>
<ds:datastoreItem xmlns:ds="http://schemas.openxmlformats.org/officeDocument/2006/customXml" ds:itemID="{1B9F3023-3460-4C94-AC6C-4F171062BD4F}">
  <ds:schemaRefs>
    <ds:schemaRef ds:uri="265cb39c-7109-435c-af5d-13dc21a2db6b"/>
    <ds:schemaRef ds:uri="62b85a0e-09bb-4b0f-bd28-e34020cdc070"/>
    <ds:schemaRef ds:uri="http://purl.org/dc/elements/1.1/"/>
    <ds:schemaRef ds:uri="http://purl.org/dc/terms/"/>
    <ds:schemaRef ds:uri="http://schemas.microsoft.com/internal/obd"/>
    <ds:schemaRef ds:uri="http://schemas.microsoft.com/office/2006/documentManagement/types"/>
    <ds:schemaRef ds:uri="http://schemas.microsoft.com/office/2006/metadata/contentType"/>
    <ds:schemaRef ds:uri="http://schemas.microsoft.com/office/2006/metadata/properties"/>
    <ds:schemaRef ds:uri="http://schemas.microsoft.com/office/2006/metadata/properties/metaAttributes"/>
    <ds:schemaRef ds:uri="http://schemas.microsoft.com/office/infopath/2007/PartnerControls"/>
    <ds:schemaRef ds:uri="http://schemas.openxmlformats.org/package/2006/metadata/core-properties"/>
    <ds:schemaRef ds:uri="http://www.w3.org/2001/XMLSchema"/>
  </ds:schemaRefs>
</ds:datastoreItem>
</file>

<file path=customXml/itemProps3.xml><?xml version="1.0" encoding="utf-8"?>
<ds:datastoreItem xmlns:ds="http://schemas.openxmlformats.org/officeDocument/2006/customXml" ds:itemID="{89FA9FA0-2CB2-436E-A336-3A77ADFE4CF1}">
  <ds:schemaRefs>
    <ds:schemaRef ds:uri="http://purl.org/dc/terms/"/>
    <ds:schemaRef ds:uri="http://schemas.microsoft.com/office/infopath/2007/PartnerControls"/>
    <ds:schemaRef ds:uri="http://purl.org/dc/dcmitype/"/>
    <ds:schemaRef ds:uri="http://schemas.openxmlformats.org/package/2006/metadata/core-properties"/>
    <ds:schemaRef ds:uri="http://schemas.microsoft.com/office/2006/metadata/properties"/>
    <ds:schemaRef ds:uri="http://schemas.microsoft.com/office/2006/documentManagement/types"/>
    <ds:schemaRef ds:uri="265cb39c-7109-435c-af5d-13dc21a2db6b"/>
    <ds:schemaRef ds:uri="http://purl.org/dc/elements/1.1/"/>
    <ds:schemaRef ds:uri="62b85a0e-09bb-4b0f-bd28-e34020cdc070"/>
    <ds:schemaRef ds:uri="http://www.w3.org/XML/1998/namespace"/>
  </ds:schemaRefs>
</ds:datastoreItem>
</file>

<file path=docProps/app.xml><?xml version="1.0" encoding="utf-8"?>
<Properties xmlns="http://schemas.openxmlformats.org/officeDocument/2006/extended-properties" xmlns:vt="http://schemas.openxmlformats.org/officeDocument/2006/docPropsVTypes">
  <Template>Vopak Theme</Template>
  <TotalTime>0</TotalTime>
  <Words>15</Words>
  <Application>Microsoft Office PowerPoint</Application>
  <PresentationFormat>Custom</PresentationFormat>
  <Paragraphs>4</Paragraphs>
  <Slides>3</Slides>
  <Notes>0</Notes>
  <HiddenSlides>0</HiddenSlides>
  <MMClips>0</MMClips>
  <ScaleCrop>false</ScaleCrop>
  <HeadingPairs>
    <vt:vector size="6" baseType="variant">
      <vt:variant>
        <vt:lpstr>Fonts Used</vt:lpstr>
      </vt:variant>
      <vt:variant>
        <vt:i4>3</vt:i4>
      </vt:variant>
      <vt:variant>
        <vt:lpstr>Theme</vt:lpstr>
      </vt:variant>
      <vt:variant>
        <vt:i4>1</vt:i4>
      </vt:variant>
      <vt:variant>
        <vt:lpstr>Slide Titles</vt:lpstr>
      </vt:variant>
      <vt:variant>
        <vt:i4>3</vt:i4>
      </vt:variant>
    </vt:vector>
  </HeadingPairs>
  <TitlesOfParts>
    <vt:vector size="7" baseType="lpstr">
      <vt:lpstr>Arial</vt:lpstr>
      <vt:lpstr>Calibri</vt:lpstr>
      <vt:lpstr>Lato</vt:lpstr>
      <vt:lpstr>Vopak Theme</vt:lpstr>
      <vt:lpstr>PowerPoint Presentation</vt:lpstr>
      <vt:lpstr>PowerPoint Presentation</vt:lpstr>
      <vt:lpstr>PowerPoint Presentation</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South Africa liquid fuels: Week 1 analytical maps</dc:title>
  <dc:creator>Africa International Advisors</dc:creator>
  <cp:lastModifiedBy>Nigel Zhuwaki</cp:lastModifiedBy>
  <cp:revision>1</cp:revision>
  <dcterms:created xsi:type="dcterms:W3CDTF">2017-11-16T09:19:07Z</dcterms:created>
  <dcterms:modified xsi:type="dcterms:W3CDTF">2026-10-01T12:10:22Z</dcterms:modified>
  <dc:subject>Illustrative demand geography and conditional Vopak market access</dc:subject>
</cp:coreProperties>
</file>

<file path=docProps/custom.xml><?xml version="1.0" encoding="utf-8"?>
<Properties xmlns="http://schemas.openxmlformats.org/officeDocument/2006/custom-properties" xmlns:vt="http://schemas.openxmlformats.org/officeDocument/2006/docPropsVTypes">
  <property fmtid="{D5CDD505-2E9C-101B-9397-08002B2CF9AE}" pid="2" name="ContentTypeId">
    <vt:lpwstr>0x010100BB14DAA3CC024F49A081857B4C9CD92A</vt:lpwstr>
  </property>
  <property fmtid="{D5CDD505-2E9C-101B-9397-08002B2CF9AE}" pid="3" name="MediaServiceImageTags">
    <vt:lpwstr/>
  </property>
</Properties>
</file>