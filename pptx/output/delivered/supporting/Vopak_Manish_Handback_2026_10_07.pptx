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4"/>
  </p:sldMasterIdLst>
  <p:notesMasterIdLst>
    <p:notesMasterId r:id="rId8"/>
  </p:notesMasterIdLst>
  <p:sldIdLst>
    <p:sldId id="256" r:id="rId7"/>
    <p:sldId id="262" r:id="rId6"/>
    <p:sldId id="263" r:id="rId16"/>
    <p:sldId id="264" r:id="rId17"/>
    <p:sldId id="265" r:id="rId5"/>
    <p:sldId id="266" r:id="rId19"/>
    <p:sldId id="267" r:id="rId20"/>
    <p:sldId id="261" r:id="rId18"/>
  </p:sldIdLst>
  <p:sldSz cx="115887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60B812-FB11-E744-2EAF-0F2DA0ECD4BF}" name="Henry Gilfillan" initials="HG" userId="S::Henry.G@africaia.com::20d8d1d5-b81d-4db2-8d49-9db47f87700a" providerId="AD"/>
  <p188:author id="{80F3E917-8A40-6377-B501-C0BF4583C07C}" name="Maria-Salome Milanzi" initials="MM" userId="S::Maria-Salome.M@africaia.com::27b80f15-cda9-458b-a241-0020d0d18b2b" providerId="AD"/>
  <p188:author id="{8653DC3D-E5A6-54BA-B06A-0D6999879F26}" name="Joseph Kihara" initials="JK" userId="S::joseph.k@africaia.com::89b38e7e-ff17-4223-9856-6d82edda0c7c" providerId="AD"/>
  <p188:author id="{79DE144E-B764-F176-BA11-B9193ABDC8E5}" name="Davies Tsikayi" initials="DT" userId="S::Davies.T@africaia.com::87c07fce-c37d-4ded-b6b5-65d5c8b951c1" providerId="AD"/>
  <p188:author id="{31278C59-D498-87BD-2E87-AF9308A52A9D}" name="Shannon Kurz" initials="SK" userId="Shannon Kurz" providerId="None"/>
  <p188:author id="{68AE2466-B378-7AA2-581F-E86841585307}" name="Paayal Kanjee Govind" initials="PK" userId="S::Paayal.KG@africaia.com::50637073-a9d2-4dfa-96c0-927604d7cc3c" providerId="AD"/>
  <p188:author id="{C5B1668E-F34A-2E98-0466-BAF8D463548D}" name="Manish Ramjeawon" initials="MR" userId="S::manish.r@africaia.com::530ca382-ae44-4c47-aaca-bb6bff7153ab" providerId="AD"/>
  <p188:author id="{F720B396-19C0-DB41-D221-DFCF831531AE}" name="Henry Gilfillan" initials="HG" userId="Henry Gilfillan" providerId="None"/>
  <p188:author id="{9FBE07B6-A3E1-BFC7-95A7-1EBCABB54112}" name="Karabo Mashabane" initials="KM" userId="S::Karabo.M@africaia.com::def9b110-1e86-4623-94be-634dc77ab82b" providerId="AD"/>
  <p188:author id="{53709FFD-5FBE-8519-0B68-00C91B158654}" name="James Brown" initials="JB" userId="James Brow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Henry Gilfillan" initials="HG [2]" lastIdx="8" clrIdx="6">
    <p:extLst>
      <p:ext uri="{19B8F6BF-5375-455C-9EA6-DF929625EA0E}">
        <p15:presenceInfo xmlns:p15="http://schemas.microsoft.com/office/powerpoint/2012/main" userId="S::henry.g@africaia.com::20d8d1d5-b81d-4db2-8d49-9db47f87700a" providerId="AD"/>
      </p:ext>
    </p:extLst>
  </p:cmAuthor>
  <p:cmAuthor id="1" name="Abbas Bilgrami" initials="AB [2]" lastIdx="8" clrIdx="0">
    <p:extLst>
      <p:ext uri="{19B8F6BF-5375-455C-9EA6-DF929625EA0E}">
        <p15:presenceInfo xmlns:p15="http://schemas.microsoft.com/office/powerpoint/2012/main" userId="da833efe2a07dd73" providerId="Windows Live"/>
      </p:ext>
    </p:extLst>
  </p:cmAuthor>
  <p:cmAuthor id="8" name="Abbas Bilgrami" initials="AB" lastIdx="34" clrIdx="7">
    <p:extLst>
      <p:ext uri="{19B8F6BF-5375-455C-9EA6-DF929625EA0E}">
        <p15:presenceInfo xmlns:p15="http://schemas.microsoft.com/office/powerpoint/2012/main" userId="S::abbas.b@africaia.com::09d4207e-ca10-48c5-9e33-f8dec02b9ddc" providerId="AD"/>
      </p:ext>
    </p:extLst>
  </p:cmAuthor>
  <p:cmAuthor id="2" name="Henry Gilfillan" initials="HG" lastIdx="82" clrIdx="1">
    <p:extLst>
      <p:ext uri="{19B8F6BF-5375-455C-9EA6-DF929625EA0E}">
        <p15:presenceInfo xmlns:p15="http://schemas.microsoft.com/office/powerpoint/2012/main" userId="Henry Gilfillan" providerId="None"/>
      </p:ext>
    </p:extLst>
  </p:cmAuthor>
  <p:cmAuthor id="9" name="Paayal Kanjee Govind" initials="PKG" lastIdx="4" clrIdx="8">
    <p:extLst>
      <p:ext uri="{19B8F6BF-5375-455C-9EA6-DF929625EA0E}">
        <p15:presenceInfo xmlns:p15="http://schemas.microsoft.com/office/powerpoint/2012/main" userId="Paayal Kanjee Govind" providerId="None"/>
      </p:ext>
    </p:extLst>
  </p:cmAuthor>
  <p:cmAuthor id="3" name="Ismaeel" initials="I" lastIdx="104" clrIdx="2">
    <p:extLst>
      <p:ext uri="{19B8F6BF-5375-455C-9EA6-DF929625EA0E}">
        <p15:presenceInfo xmlns:p15="http://schemas.microsoft.com/office/powerpoint/2012/main" userId="Ismaeel" providerId="None"/>
      </p:ext>
    </p:extLst>
  </p:cmAuthor>
  <p:cmAuthor id="4" name="Jennifer Zeiss" initials="JZ" lastIdx="19" clrIdx="3">
    <p:extLst>
      <p:ext uri="{19B8F6BF-5375-455C-9EA6-DF929625EA0E}">
        <p15:presenceInfo xmlns:p15="http://schemas.microsoft.com/office/powerpoint/2012/main" userId="Jennifer Zeiss" providerId="None"/>
      </p:ext>
    </p:extLst>
  </p:cmAuthor>
  <p:cmAuthor id="5" name="Gabrielle Knott" initials="GK" lastIdx="2" clrIdx="4">
    <p:extLst>
      <p:ext uri="{19B8F6BF-5375-455C-9EA6-DF929625EA0E}">
        <p15:presenceInfo xmlns:p15="http://schemas.microsoft.com/office/powerpoint/2012/main" userId="Gabrielle Knott" providerId="None"/>
      </p:ext>
    </p:extLst>
  </p:cmAuthor>
  <p:cmAuthor id="6" name="James Brown" initials="JB" lastIdx="2" clrIdx="5">
    <p:extLst>
      <p:ext uri="{19B8F6BF-5375-455C-9EA6-DF929625EA0E}">
        <p15:presenceInfo xmlns:p15="http://schemas.microsoft.com/office/powerpoint/2012/main" userId="S::james@africaia.com::5c3cb27f-96be-4c72-848f-aa01b93992f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3552"/>
    <a:srgbClr val="EBF9FE"/>
    <a:srgbClr val="FDD9A4"/>
    <a:srgbClr val="2D6196"/>
    <a:srgbClr val="326757"/>
    <a:srgbClr val="728A94"/>
    <a:srgbClr val="F01C24"/>
    <a:srgbClr val="56787A"/>
    <a:srgbClr val="CFDFF0"/>
    <a:srgbClr val="008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C87D74-0723-4269-ADB4-1C2880134AC4}" v="1" dt="2026-10-01T12:10:22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microsoft.com/office/2018/10/relationships/authors" Target="authors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1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Petrol,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10.729528751</c:v>
                </c:pt>
                <c:pt idx="1">
                  <c:v>10.691734654</c:v>
                </c:pt>
                <c:pt idx="2">
                  <c:v>11.223942785</c:v>
                </c:pt>
                <c:pt idx="3">
                  <c:v>10.135812655</c:v>
                </c:pt>
                <c:pt idx="4">
                  <c:v>10.446909538</c:v>
                </c:pt>
                <c:pt idx="5">
                  <c:v>10.470524002</c:v>
                </c:pt>
                <c:pt idx="6">
                  <c:v>8.196576968</c:v>
                </c:pt>
                <c:pt idx="7">
                  <c:v>6.345466608</c:v>
                </c:pt>
                <c:pt idx="8">
                  <c:v>4.584221815</c:v>
                </c:pt>
                <c:pt idx="9">
                  <c:v>5.548194912</c:v>
                </c:pt>
                <c:pt idx="10">
                  <c:v>5.947890582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10.82816</c:v>
                </c:pt>
                <c:pt idx="1">
                  <c:v>10.457813</c:v>
                </c:pt>
                <c:pt idx="2">
                  <c:v>10.393066</c:v>
                </c:pt>
                <c:pt idx="3">
                  <c:v>9.43444</c:v>
                </c:pt>
                <c:pt idx="4">
                  <c:v>9.97456</c:v>
                </c:pt>
                <c:pt idx="5">
                  <c:v>10.424467</c:v>
                </c:pt>
                <c:pt idx="6">
                  <c:v>7.895</c:v>
                </c:pt>
                <c:pt idx="7">
                  <c:v>6.351306667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Diesel,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9.11707366</c:v>
                </c:pt>
                <c:pt idx="1">
                  <c:v>8.682215257</c:v>
                </c:pt>
                <c:pt idx="2">
                  <c:v>9.543684503</c:v>
                </c:pt>
                <c:pt idx="3">
                  <c:v>7.892459337</c:v>
                </c:pt>
                <c:pt idx="4">
                  <c:v>8.997854948</c:v>
                </c:pt>
                <c:pt idx="5">
                  <c:v>9.059736436</c:v>
                </c:pt>
                <c:pt idx="6">
                  <c:v>5.788786832</c:v>
                </c:pt>
                <c:pt idx="7">
                  <c:v>4.07787555</c:v>
                </c:pt>
                <c:pt idx="8">
                  <c:v>1.652268839</c:v>
                </c:pt>
                <c:pt idx="9">
                  <c:v>0.926913773</c:v>
                </c:pt>
                <c:pt idx="10">
                  <c:v>1.737287544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9.58774</c:v>
                </c:pt>
                <c:pt idx="1">
                  <c:v>9.368482</c:v>
                </c:pt>
                <c:pt idx="2">
                  <c:v>9.01419</c:v>
                </c:pt>
                <c:pt idx="3">
                  <c:v>7.921726</c:v>
                </c:pt>
                <c:pt idx="4">
                  <c:v>8.425262</c:v>
                </c:pt>
                <c:pt idx="5">
                  <c:v>9.080357</c:v>
                </c:pt>
                <c:pt idx="6">
                  <c:v>6.4478095</c:v>
                </c:pt>
                <c:pt idx="7">
                  <c:v>5.314964286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7D6B1-D525-4628-ADA5-8E1FE74ADA4C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20738" y="1143000"/>
            <a:ext cx="521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01EB5-DFDD-47C4-B7E0-8A0182602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94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Walk through four sections: the project question, the analytical</a:t>
            </a:r>
          </a:p>
          <a:p>
            <a:r>
              <a:t>requirements, the model-build problem and the delivery approach. The purpose is to</a:t>
            </a:r>
          </a:p>
          <a:p>
            <a:r>
              <a:t>connect the analyst's tasks to the decisions the engagement needs to support.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note: Closing cover photograph: Royal Vopak, Terminal Lesedi. https://www.vopak.com/terminals/vopak-terminal-lesedi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sky, building, outdoor, city&#10;&#10;Description automatically generated">
            <a:extLst>
              <a:ext uri="{FF2B5EF4-FFF2-40B4-BE49-F238E27FC236}">
                <a16:creationId xmlns:a16="http://schemas.microsoft.com/office/drawing/2014/main" id="{AF958CDF-21C2-4696-B1FF-98C6C69234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158875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" y="5137149"/>
            <a:ext cx="4933950" cy="1571625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143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92D3BD-B933-88AB-9C21-59605B00713D}"/>
              </a:ext>
            </a:extLst>
          </p:cNvPr>
          <p:cNvSpPr/>
          <p:nvPr userDrawn="1"/>
        </p:nvSpPr>
        <p:spPr>
          <a:xfrm>
            <a:off x="5111750" y="5727050"/>
            <a:ext cx="6477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436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06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42995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582352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6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5599" y="6489700"/>
            <a:ext cx="805350" cy="287338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A65E4EDC-57F8-4D5C-B13E-A981C5F2F71A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8395ED8E-92E9-32C5-9BE4-BAF8026D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85216"/>
            <a:ext cx="10561320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Click to edit Master title style</a:t>
            </a:r>
          </a:p>
        </p:txBody>
      </p:sp>
      <p:cxnSp>
        <p:nvCxnSpPr>
          <p:cNvPr id="7" name="Title and body separator"/>
          <p:cNvCxnSpPr/>
          <p:nvPr/>
        </p:nvCxnSpPr>
        <p:spPr>
          <a:xfrm>
            <a:off x="457200" y="1444752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64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65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7801" y="368299"/>
            <a:ext cx="11233148" cy="690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1" y="1233488"/>
            <a:ext cx="11233149" cy="5256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5599" y="6489700"/>
            <a:ext cx="805350" cy="287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43CB578-80E0-884E-8515-53279D5DACC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556248"/>
            <a:ext cx="777240" cy="173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5CB3F387-66D0-18CC-51EE-24B908A792B7}"/>
              </a:ext>
            </a:extLst>
          </p:cNvPr>
          <p:cNvSpPr txBox="1">
            <a:spLocks/>
          </p:cNvSpPr>
          <p:nvPr userDrawn="1"/>
        </p:nvSpPr>
        <p:spPr>
          <a:xfrm>
            <a:off x="457200" y="6528816"/>
            <a:ext cx="8595360" cy="228600"/>
          </a:xfrm>
          <a:prstGeom prst="rect">
            <a:avLst/>
          </a:prstGeom>
        </p:spPr>
        <p:txBody>
          <a:bodyPr anchor="ctr" tIns="0" bIns="0">
            <a:normAutofit/>
          </a:bodyPr>
          <a:lstStyle>
            <a:lvl1pPr marL="0" indent="0" algn="l" defTabSz="869137" rtl="0" eaLnBrk="1" latinLnBrk="0" hangingPunct="1">
              <a:lnSpc>
                <a:spcPct val="90000"/>
              </a:lnSpc>
              <a:spcBef>
                <a:spcPts val="951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185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6422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20990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55559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90127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24696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9265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9383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800">
                <a:solidFill>
                  <a:srgbClr val="404040"/>
                </a:solidFill>
                <a:latin typeface="Lato"/>
              </a:defRPr>
            </a:pPr>
          </a:p>
        </p:txBody>
      </p:sp>
      <p:cxnSp>
        <p:nvCxnSpPr>
          <p:cNvPr id="10" name="Fine footer rule"/>
          <p:cNvCxnSpPr/>
          <p:nvPr/>
        </p:nvCxnSpPr>
        <p:spPr>
          <a:xfrm>
            <a:off x="457200" y="6437376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4016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8" r:id="rId2"/>
    <p:sldLayoutId id="2147483723" r:id="rId3"/>
    <p:sldLayoutId id="2147483724" r:id="rId4"/>
    <p:sldLayoutId id="2147483725" r:id="rId5"/>
    <p:sldLayoutId id="2147483698" r:id="rId6"/>
  </p:sldLayoutIdLst>
  <p:hf hdr="0" ftr="0" dt="0"/>
  <p:txStyles>
    <p:titleStyle>
      <a:lvl1pPr algn="l" defTabSz="869137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284" indent="-217284" algn="l" defTabSz="869137" rtl="0" eaLnBrk="1" latinLnBrk="0" hangingPunct="1">
        <a:lnSpc>
          <a:spcPct val="90000"/>
        </a:lnSpc>
        <a:spcBef>
          <a:spcPts val="95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5185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86422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520990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955559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390127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824696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259265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69383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1pPr>
      <a:lvl2pPr marL="43456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2pPr>
      <a:lvl3pPr marL="869137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3pPr>
      <a:lvl4pPr marL="1303706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4pPr>
      <a:lvl5pPr marL="1738274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5pPr>
      <a:lvl6pPr marL="2172843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607412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04198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47654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2" orient="horz" pos="2160" userDrawn="1">
          <p15:clr>
            <a:srgbClr val="F26B43"/>
          </p15:clr>
        </p15:guide>
        <p15:guide id="13" pos="112" userDrawn="1">
          <p15:clr>
            <a:srgbClr val="F26B43"/>
          </p15:clr>
        </p15:guide>
        <p15:guide id="14" orient="horz" pos="4269" userDrawn="1">
          <p15:clr>
            <a:srgbClr val="F26B43"/>
          </p15:clr>
        </p15:guide>
        <p15:guide id="15" pos="3650" userDrawn="1">
          <p15:clr>
            <a:srgbClr val="F26B43"/>
          </p15:clr>
        </p15:guide>
        <p15:guide id="16" pos="7188" userDrawn="1">
          <p15:clr>
            <a:srgbClr val="F26B43"/>
          </p15:clr>
        </p15:guide>
        <p15:guide id="17" orient="horz" pos="28" userDrawn="1">
          <p15:clr>
            <a:srgbClr val="F26B43"/>
          </p15:clr>
        </p15:guide>
        <p15:guide id="18" orient="horz" pos="686" userDrawn="1">
          <p15:clr>
            <a:srgbClr val="F26B43"/>
          </p15:clr>
        </p15:guide>
        <p15:guide id="19" orient="horz" pos="777" userDrawn="1">
          <p15:clr>
            <a:srgbClr val="F26B43"/>
          </p15:clr>
        </p15:guide>
        <p15:guide id="20" orient="horz" pos="4088" userDrawn="1">
          <p15:clr>
            <a:srgbClr val="F26B43"/>
          </p15:clr>
        </p15:guide>
        <p15:guide id="21" orient="horz" pos="3680" userDrawn="1">
          <p15:clr>
            <a:srgbClr val="F26B43"/>
          </p15:clr>
        </p15:guide>
        <p15:guide id="22" orient="horz" pos="3566" userDrawn="1">
          <p15:clr>
            <a:srgbClr val="F26B43"/>
          </p15:clr>
        </p15:guide>
        <p15:guide id="23" pos="580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durban" TargetMode="External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" Target="slide3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lesedi" TargetMode="Externa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1836" r="21836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Liquid fuels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demand and supply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 hand-back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39512"/>
            <a:ext cx="45720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| Baseline, fuel input tables and decision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1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Durban | vopak.com</a:t>
            </a:r>
          </a:p>
        </p:txBody>
      </p:sp>
      <p:sp>
        <p:nvSpPr>
          <p:cNvPr id="12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 customs trade, 2024 petrol and diesel sales exceed net imports by 7.7 bn litres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Corrected balance | calendar years, billion litres | imports and exports from SARS customs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Petrol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Diesel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67712"/>
          <a:ext cx="8961120" cy="3017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10.47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11.69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6.81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9.18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5.46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4.58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1.65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12.87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11.73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532120"/>
            <a:ext cx="10652760" cy="8229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 less net imports is what production, stock changes and gaps in sales coverage must together supply. It is not a measurement of production.</a:t>
            </a:r>
          </a:p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Sales: department to 2023; 2024 is FIASA's figure and is unverified; none yet for 2025. Rebuilt by one command from registered inputs; a test checks every year against the customs extract.</a:t>
            </a:r>
          </a:p>
        </p:txBody>
      </p:sp>
      <p:sp>
        <p:nvSpPr>
          <p:cNvPr id="11" name="Chevron 10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agree on most years; five differences need a recorded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Source differences | billion litres | every source is kept in its own column of the balance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29968"/>
          <a:ext cx="10652760" cy="32918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754880"/>
                <a:gridCol w="2011680"/>
                <a:gridCol w="178308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the sources say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Used in the balance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Who decides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p.47: petrol 9.03, diesel 11.73. FIASA 2024 edition, p.32: 8.76 and 11.81. JODI: 10.14 and 10.04 (lowest reliability code). Department: not published.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flagged unverified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agree the 2024 sales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diesel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10.793. Department trade report 10.8 (rounded). FIASA 14.793, a suspected misprint.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2018 and 2019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2018 diesel: customs 5.12, FIASA 6.11; petrol: 1.83 and 2.19. 2019 diesel: 5.59 and 5.86. 2018 exports are also lower in customs. FIASA and the department's 2018 balance share one earlier reading; today's customs data and UN Comtrade agree with each other. No missing month or tariff line.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Customs; likely a later customs revision, not proven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 diesel 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0.89, FIASA 0.70.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 and 2020 energy balances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Their import and export lines repeat the previous year's figures.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Not used for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confirm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In the other years from 2014, customs and FIASA differ by 0.2 bn litres or less; the full list is in the balance note. Before 2014 customs is in kilograms or mixed units, so FIASA is used.</a:t>
            </a:r>
          </a:p>
        </p:txBody>
      </p:sp>
      <p:sp>
        <p:nvSpPr>
          <p:cNvPr id="9" name="Chevron 8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0" name="Chevron 9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after 2021 and stock changes are missing, so the balance is not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Missing production and stocks | sales less net imports against production reported in the energy balance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70332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029968"/>
          <a:ext cx="4023360" cy="33832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645920"/>
                <a:gridCol w="1188720"/>
              </a:tblGrid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Missing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exists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Limit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Production by product, 2022 on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Sasol, year to June 2024: Secunda 29.1 and Natref 17.8 million barrels. Glencore, calendar 2024: Astron 166,204 billion Btu.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All refined products; fiscal against calendar years; Natref is Sasol's share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Stock changes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monthly stocks, 2023 and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Lowest reliability code; not usable as it stands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Sales coverage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SARS fuel levy volumes, round figures in media releases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Period is assumed; indicative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A2373"/>
                </a:solidFill>
                <a:latin typeface="Lato"/>
              </a:defRPr>
            </a:pPr>
            <a:r>
              <a:t>A diesel gap of 3 to 4 bn litres a year remains a hypothesis to test. It is not added to demand. Needed to close: output by product and plant, a stock series, and matched periods.</a:t>
            </a:r>
          </a:p>
        </p:txBody>
      </p:sp>
      <p:sp>
        <p:nvSpPr>
          <p:cNvPr id="11" name="Chevron 10">
            <a:hlinkClick action="ppaction://hlinksldjump" r:id="rId4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>
            <a:hlinkClick action="ppaction://hlinksldjump" r:id="rId5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Diesel: rail diversion is capped near 13% by rail-friendly freight; yields move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Diesel inputs | low / medium / high for 2030 and 2035 | 11 of 42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Road freight activity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980 Mt road payload,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95 / 115 / 135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95 / 135 / 150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95 / 135 / 175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Stats SA tonnes: 2.4% a year over 2014-2024, at most 3.7% over eleven years. Only tonne-km figure found: 221 bn for 2013.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Road freight moved to rail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road freight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rail 161 Mt,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3 / 9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0 / 10 / 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7 / 13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0 / 20 / 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Rail Master Plan (2026): 250 Mt target is 9%, 280 Mt market appetite 12%. Freight Roadmap (2023): rail-friendly general freight left on road is 13%.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Diesel power generation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 to March 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5,143 GWh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 / 25 / 60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15 / 50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Eskom: year to March 2026 is already 21. Agreed.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New-vehicle efficiency gain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to 1.0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registered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0.75 / 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0.75 / 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Equals the registered endpoints, which have no source. Agreed for now.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Operators' reports: Secunda 53%, Natref 71%, Astron 84%. Secunda capacity corrected to FIASA's 150; output unchanged.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Diesel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refinery output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29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2024, low reliability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25 / 30 / 40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20 / 25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25 / 30 / 40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20 / 25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JODI: 31% in 2023, 29% in 2024. Energy balances before the Durban closures: 40-42% of five fuels. Legacy 25%.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Conditional illustration; no investment decision sourced.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Jet: movement highs exceed every year on record; fuel per movement can also 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Jet inputs | low / medium / high for 2030 and 2035 | 6 of 36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Aircraft movements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456,214 at ACSA airports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 / 110 / 125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100 / 120 / 140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 / 120 / 140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100 / 145 / 190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ACSA: 2019 was 112 and the 2016 peak 125. Proposed highs of 140 and 190 exceed every year on record.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Jet fuel per movement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4,090 litres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80 / 90 / 113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80 / 90 /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65 / 80 / 113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65 / 80 /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over movements: the 2013-2019 average was 4,608 litres (113). High case should allow a return to it.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Sustainable fuel share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jet volume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unsourced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2 / 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5 / 10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 South African blend requirement sourced. Agreed as a sensitivity.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Same setting as diesel and petrol; count once.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Jet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capable throughput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legacy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10 / 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10 / 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Jet was 5-8% of the five fuels produced, 2017-2021 energy balances. Agreed.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Jet capability of any restart is not established.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Petrol: mileage and growth sit above the evidence; electric cases now follow named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Petrol inputs | low / medium / high for 2030 and 2035 | 22 of 42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Passenger mileage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km a vehicle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placeholder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12,900 / 14,500 / 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13,600 / 17,000 / 20,400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12,900 / 14,500 / 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13,600 / 17,000 / 20,400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Stone et al. (2018): 14,457 km for petrol cars. 2023 sales over registered petrol vehicles imply about 12,900.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Real GDP growth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2024 actual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 / 1.6 / 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 / 2 / 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 / 1.6 / 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 / 2 / 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Stats SA: 0.7% a year over 2014-2024, 1.6% over 2010-2019. Treasury: 2.0% by 2028. Registered cases 1.0, 1.6.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Battery electric share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new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1,088 sold, 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4 / 20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5 / 15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 / 15 / 40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15 / 35 / 60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IEA Global EV Outlook 2026, 2025 shares: India nearly 4%, Indonesia 15%, Turkiye over 20% (from 1% in 2022), Vietnam nearly 40%.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New-vehicle efficiency gain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 to 1.5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registered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 / 1.25 / 1.5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 / 1.25 / 1.5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Equals the registered endpoints, which have no source. Agreed for now.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Same setting as diesel and jet; count once.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Petrol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refinery output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54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2024, low reliability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45 / 50 / 55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35 / 45 / 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45 / 50 / 55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35 / 45 / 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JODI: 51% in 2023, 54% in 2024. Energy balances 2017-2021: 47-50% of five fuels. Legacy 45%. Set with diesel.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Conditional illustration; no investment decision sourced.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6237" r="26237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Review the branch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and decide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manish-branch | checks pass | nothing merged to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0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Lesedi | vopak.com</a:t>
            </a:r>
          </a:p>
        </p:txBody>
      </p:sp>
      <p:sp>
        <p:nvSpPr>
          <p:cNvPr id="11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pak Theme">
  <a:themeElements>
    <a:clrScheme name="Vopak">
      <a:dk1>
        <a:srgbClr val="000000"/>
      </a:dk1>
      <a:lt1>
        <a:srgbClr val="FFFFFF"/>
      </a:lt1>
      <a:dk2>
        <a:srgbClr val="11151A"/>
      </a:dk2>
      <a:lt2>
        <a:srgbClr val="E7E6E6"/>
      </a:lt2>
      <a:accent1>
        <a:srgbClr val="0A2373"/>
      </a:accent1>
      <a:accent2>
        <a:srgbClr val="546CA2"/>
      </a:accent2>
      <a:accent3>
        <a:srgbClr val="BDBEC1"/>
      </a:accent3>
      <a:accent4>
        <a:srgbClr val="404040"/>
      </a:accent4>
      <a:accent5>
        <a:srgbClr val="767676"/>
      </a:accent5>
      <a:accent6>
        <a:srgbClr val="D9D9D9"/>
      </a:accent6>
      <a:hlink>
        <a:srgbClr val="0A2373"/>
      </a:hlink>
      <a:folHlink>
        <a:srgbClr val="546CA2"/>
      </a:folHlink>
    </a:clrScheme>
    <a:fontScheme name="AIA_2017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opak Theme" id="{EB158558-B090-4A15-9406-52ADAF46E73D}" vid="{169915E9-BA5A-4298-BC78-09D68188174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29E3C0-DBBA-4E87-A833-D4D671FDC2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440e1679-9fef-4664-be92-b7e3c5432c29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14DAA3CC024F49A081857B4C9CD92A" ma:contentTypeVersion="20" ma:contentTypeDescription="Create a new document." ma:contentTypeScope="" ma:versionID="cdb2463664abbc9cc5ebc4769b50ad18">
  <xsd:schema xmlns:xsd="http://www.w3.org/2001/XMLSchema" xmlns:xs="http://www.w3.org/2001/XMLSchema" xmlns:p="http://schemas.microsoft.com/office/2006/metadata/properties" xmlns:ns2="265cb39c-7109-435c-af5d-13dc21a2db6b" xmlns:ns3="62b85a0e-09bb-4b0f-bd28-e34020cdc070" targetNamespace="http://schemas.microsoft.com/office/2006/metadata/properties" ma:root="true" ma:fieldsID="ee545d7bb76dd121542a05c73fb4a941" ns2:_="" ns3:_="">
    <xsd:import namespace="265cb39c-7109-435c-af5d-13dc21a2db6b"/>
    <xsd:import namespace="62b85a0e-09bb-4b0f-bd28-e34020cdc07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5cb39c-7109-435c-af5d-13dc21a2d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f3d1728-64fa-4f01-bb7d-5585de3a980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" ma:index="26" nillable="true" ma:displayName="Archive" ma:default="0" ma:description="Folder to be backed up, archived and removed from SharePoint" ma:format="Dropdown" ma:internalName="Archive">
      <xsd:simpleType>
        <xsd:restriction base="dms:Boolean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b85a0e-09bb-4b0f-bd28-e34020cdc070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44b13c9-2708-4b8b-a658-00962d7928c2}" ma:internalName="TaxCatchAll" ma:showField="CatchAllData" ma:web="62b85a0e-09bb-4b0f-bd28-e34020cdc0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5cb39c-7109-435c-af5d-13dc21a2db6b">
      <Terms xmlns="http://schemas.microsoft.com/office/infopath/2007/PartnerControls"/>
    </lcf76f155ced4ddcb4097134ff3c332f>
    <TaxCatchAll xmlns="62b85a0e-09bb-4b0f-bd28-e34020cdc070" xsi:nil="true"/>
    <SharedWithUsers xmlns="62b85a0e-09bb-4b0f-bd28-e34020cdc070">
      <UserInfo>
        <DisplayName>Joseph Kihara</DisplayName>
        <AccountId>3747</AccountId>
        <AccountType/>
      </UserInfo>
    </SharedWithUsers>
    <Archive xmlns="265cb39c-7109-435c-af5d-13dc21a2db6b">false</Archive>
  </documentManagement>
</p:properties>
</file>

<file path=customXml/itemProps1.xml><?xml version="1.0" encoding="utf-8"?>
<ds:datastoreItem xmlns:ds="http://schemas.openxmlformats.org/officeDocument/2006/customXml" ds:itemID="{1E0AC09D-7AB9-4C7E-89AA-55CFDED1BCB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B9F3023-3460-4C94-AC6C-4F171062BD4F}">
  <ds:schemaRefs>
    <ds:schemaRef ds:uri="265cb39c-7109-435c-af5d-13dc21a2db6b"/>
    <ds:schemaRef ds:uri="62b85a0e-09bb-4b0f-bd28-e34020cdc0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9FA9FA0-2CB2-436E-A336-3A77ADFE4CF1}">
  <ds:schemaRefs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265cb39c-7109-435c-af5d-13dc21a2db6b"/>
    <ds:schemaRef ds:uri="http://purl.org/dc/elements/1.1/"/>
    <ds:schemaRef ds:uri="62b85a0e-09bb-4b0f-bd28-e34020cdc07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Vopak Theme</Template>
  <TotalTime>0</TotalTime>
  <Words>15</Words>
  <Application>Microsoft Office PowerPoint</Application>
  <PresentationFormat>Custom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Lato</vt:lpstr>
      <vt:lpstr>Vopak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 Africa liquid fuels: Week 1 analytical maps</dc:title>
  <dc:creator>Africa International Advisors</dc:creator>
  <cp:lastModifiedBy>Nigel Zhuwaki</cp:lastModifiedBy>
  <cp:revision>1</cp:revision>
  <dcterms:created xsi:type="dcterms:W3CDTF">2017-11-16T09:19:07Z</dcterms:created>
  <dcterms:modified xsi:type="dcterms:W3CDTF">2026-10-01T12:10:22Z</dcterms:modified>
  <dc:subject>Illustrative demand geography and conditional Vopak market access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0x010100BB14DAA3CC024F49A081857B4C9CD92A</vt:lpwstr>
  </property>
  <property fmtid="{D5CDD505-2E9C-101B-9397-08002B2CF9AE}" pid="3" name="MediaServiceImageTags">
    <vt:lpwstr/>
  </property>
</Properties>
</file>