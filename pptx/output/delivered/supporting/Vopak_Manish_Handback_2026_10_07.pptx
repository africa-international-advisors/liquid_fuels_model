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6"/>
    <p:sldId id="263" r:id="rId16"/>
    <p:sldId id="264" r:id="rId17"/>
    <p:sldId id="265" r:id="rId5"/>
    <p:sldId id="266" r:id="rId19"/>
    <p:sldId id="267" r:id="rId20"/>
    <p:sldId id="268" r:id="rId21"/>
    <p:sldId id="269" r:id="rId22"/>
    <p:sldId id="270" r:id="rId23"/>
    <p:sldId id="271" r:id="rId24"/>
    <p:sldId id="272" r:id="rId25"/>
    <p:sldId id="273" r:id="rId26"/>
    <p:sldId id="274" r:id="rId27"/>
    <p:sldId id="275" r:id="rId28"/>
    <p:sldId id="276" r:id="rId29"/>
    <p:sldId id="277" r:id="rId30"/>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6.xml"/><Relationship Id="rId6" Type="http://schemas.openxmlformats.org/officeDocument/2006/relationships/slide" Target="slides/slide3.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999.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Lato"/>
              </a:rPr>
              <a:t>Petrol, billion litres</a:t>
            </a:r>
          </a:p>
        </c:rich>
      </c:tx>
      <c:layout/>
      <c:overlay val="0"/>
    </c:title>
    <c:autoTitleDeleted val="0"/>
    <c:plotArea>
      <c:lineChart>
        <c:grouping val="standard"/>
        <c:varyColors val="0"/>
        <c:ser>
          <c:idx val="0"/>
          <c:order val="0"/>
          <c:tx>
            <c:strRef>
              <c:f>Sheet1!$B$1</c:f>
              <c:strCache>
                <c:ptCount val="1"/>
                <c:pt idx="0">
                  <c:v>Sales less net imports</c:v>
                </c:pt>
              </c:strCache>
            </c:strRef>
          </c:tx>
          <c:spPr>
            <a:ln w="25400">
              <a:solidFill>
                <a:srgbClr val="0A2373"/>
              </a:solidFill>
            </a:ln>
          </c:spPr>
          <c:marker>
            <c:symbol val="circle"/>
            <c:size val="6"/>
            <c:spPr>
              <a:solidFill>
                <a:srgbClr val="0A2373"/>
              </a:solidFill>
              <a:ln>
                <a:solidFill>
                  <a:srgbClr val="FFFFFF"/>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formatCode>General</c:formatCode>
                <c:ptCount val="11"/>
                <c:pt idx="0">
                  <c:v>10.729528751</c:v>
                </c:pt>
                <c:pt idx="1">
                  <c:v>10.691734654</c:v>
                </c:pt>
                <c:pt idx="2">
                  <c:v>11.223942785</c:v>
                </c:pt>
                <c:pt idx="3">
                  <c:v>10.135812655</c:v>
                </c:pt>
                <c:pt idx="4">
                  <c:v>10.446909538</c:v>
                </c:pt>
                <c:pt idx="5">
                  <c:v>10.470524002</c:v>
                </c:pt>
                <c:pt idx="6">
                  <c:v>8.196576968</c:v>
                </c:pt>
                <c:pt idx="7">
                  <c:v>6.345466608</c:v>
                </c:pt>
                <c:pt idx="8">
                  <c:v>4.584221815</c:v>
                </c:pt>
                <c:pt idx="9">
                  <c:v>5.548194912</c:v>
                </c:pt>
              </c:numCache>
            </c:numRef>
          </c:val>
          <c:smooth val="0"/>
        </c:ser>
        <c:ser>
          <c:idx val="1"/>
          <c:order val="1"/>
          <c:tx>
            <c:strRef>
              <c:f>Sheet1!$C$1</c:f>
              <c:strCache>
                <c:ptCount val="1"/>
                <c:pt idx="0">
                  <c:v>Production, energy balance (to 2021)</c:v>
                </c:pt>
              </c:strCache>
            </c:strRef>
          </c:tx>
          <c:spPr>
            <a:ln w="25400">
              <a:solidFill>
                <a:srgbClr val="7A828C"/>
              </a:solidFill>
              <a:prstDash val="dash"/>
            </a:ln>
          </c:spPr>
          <c:marker>
            <c:symbol val="circle"/>
            <c:size val="6"/>
            <c:spPr>
              <a:solidFill>
                <a:srgbClr val="7A828C"/>
              </a:solidFill>
              <a:ln>
                <a:solidFill>
                  <a:srgbClr val="FFFFFF"/>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Sheet1!$C$2:$C$12</c:f>
              <c:numCache>
                <c:formatCode>General</c:formatCode>
                <c:ptCount val="11"/>
                <c:pt idx="0">
                  <c:v>10.82816</c:v>
                </c:pt>
                <c:pt idx="1">
                  <c:v>10.457813</c:v>
                </c:pt>
                <c:pt idx="2">
                  <c:v>10.393066</c:v>
                </c:pt>
                <c:pt idx="3">
                  <c:v>9.43444</c:v>
                </c:pt>
                <c:pt idx="4">
                  <c:v>9.97456</c:v>
                </c:pt>
                <c:pt idx="5">
                  <c:v>10.424467</c:v>
                </c:pt>
                <c:pt idx="6">
                  <c:v>7.895</c:v>
                </c:pt>
                <c:pt idx="7">
                  <c:v>6.351306667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A0A0A0"/>
            </a:solidFill>
          </a:ln>
        </c:spPr>
        <c:crossAx val="2140495176"/>
        <c:crosses val="autoZero"/>
        <c:auto val="1"/>
        <c:lblAlgn val="ctr"/>
        <c:lblOffset val="100"/>
        <c:noMultiLvlLbl val="0"/>
      </c:catAx>
      <c:valAx>
        <c:axId val="2140495176"/>
        <c:scaling>
          <c:max val="12.0"/>
          <c:min val="0.0"/>
        </c:scaling>
        <c:delete val="0"/>
        <c:axPos val="l"/>
        <c:majorGridlines>
          <c:spPr>
            <a:ln>
              <a:solidFill>
                <a:srgbClr val="EEEEEE"/>
              </a:solidFill>
            </a:ln>
          </c:spPr>
        </c:majorGridlines>
        <c:numFmt formatCode="0" sourceLinked="0"/>
        <c:majorTickMark val="out"/>
        <c:minorTickMark val="none"/>
        <c:tickLblPos val="nextTo"/>
        <c:spPr>
          <a:ln>
            <a:noFill/>
          </a:ln>
        </c:spPr>
        <c:crossAx val="2118791784"/>
        <c:crosses val="autoZero"/>
        <c:majorUnit val="3.0"/>
      </c:valAx>
    </c:plotArea>
    <c:legend>
      <c:legendPos val="t"/>
      <c:layout/>
      <c:overlay val="0"/>
    </c:legend>
    <c:plotVisOnly val="1"/>
    <c:dispBlanksAs val="gap"/>
    <c:showDLblsOverMax val="0"/>
  </c:chart>
  <c:txPr>
    <a:bodyPr/>
    <a:lstStyle/>
    <a:p>
      <a:pPr>
        <a:defRPr sz="1000">
          <a:solidFill>
            <a:srgbClr val="11151A"/>
          </a:solidFill>
          <a:latin typeface="La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Lato"/>
              </a:rPr>
              <a:t>Diesel, billion litres</a:t>
            </a:r>
          </a:p>
        </c:rich>
      </c:tx>
      <c:layout/>
      <c:overlay val="0"/>
    </c:title>
    <c:autoTitleDeleted val="0"/>
    <c:plotArea>
      <c:lineChart>
        <c:grouping val="standard"/>
        <c:varyColors val="0"/>
        <c:ser>
          <c:idx val="0"/>
          <c:order val="0"/>
          <c:tx>
            <c:strRef>
              <c:f>Sheet1!$B$1</c:f>
              <c:strCache>
                <c:ptCount val="1"/>
                <c:pt idx="0">
                  <c:v>Sales less net imports</c:v>
                </c:pt>
              </c:strCache>
            </c:strRef>
          </c:tx>
          <c:spPr>
            <a:ln w="25400">
              <a:solidFill>
                <a:srgbClr val="0A2373"/>
              </a:solidFill>
            </a:ln>
          </c:spPr>
          <c:marker>
            <c:symbol val="circle"/>
            <c:size val="6"/>
            <c:spPr>
              <a:solidFill>
                <a:srgbClr val="0A2373"/>
              </a:solidFill>
              <a:ln>
                <a:solidFill>
                  <a:srgbClr val="FFFFFF"/>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Sheet1!$B$2:$B$12</c:f>
              <c:numCache>
                <c:formatCode>General</c:formatCode>
                <c:ptCount val="11"/>
                <c:pt idx="0">
                  <c:v>9.11707366</c:v>
                </c:pt>
                <c:pt idx="1">
                  <c:v>8.682215257</c:v>
                </c:pt>
                <c:pt idx="2">
                  <c:v>9.543684503</c:v>
                </c:pt>
                <c:pt idx="3">
                  <c:v>7.892459337</c:v>
                </c:pt>
                <c:pt idx="4">
                  <c:v>8.997854948</c:v>
                </c:pt>
                <c:pt idx="5">
                  <c:v>9.059736436</c:v>
                </c:pt>
                <c:pt idx="6">
                  <c:v>5.788786832</c:v>
                </c:pt>
                <c:pt idx="7">
                  <c:v>4.07787555</c:v>
                </c:pt>
                <c:pt idx="8">
                  <c:v>1.652268839</c:v>
                </c:pt>
                <c:pt idx="9">
                  <c:v>0.926913773</c:v>
                </c:pt>
              </c:numCache>
            </c:numRef>
          </c:val>
          <c:smooth val="0"/>
        </c:ser>
        <c:ser>
          <c:idx val="1"/>
          <c:order val="1"/>
          <c:tx>
            <c:strRef>
              <c:f>Sheet1!$C$1</c:f>
              <c:strCache>
                <c:ptCount val="1"/>
                <c:pt idx="0">
                  <c:v>Production, energy balance (to 2021)</c:v>
                </c:pt>
              </c:strCache>
            </c:strRef>
          </c:tx>
          <c:spPr>
            <a:ln w="25400">
              <a:solidFill>
                <a:srgbClr val="7A828C"/>
              </a:solidFill>
              <a:prstDash val="dash"/>
            </a:ln>
          </c:spPr>
          <c:marker>
            <c:symbol val="circle"/>
            <c:size val="6"/>
            <c:spPr>
              <a:solidFill>
                <a:srgbClr val="7A828C"/>
              </a:solidFill>
              <a:ln>
                <a:solidFill>
                  <a:srgbClr val="FFFFFF"/>
                </a:solidFill>
              </a:ln>
            </c:spPr>
          </c:marker>
          <c:cat>
            <c:strRef>
              <c:f>Sheet1!$A$2:$A$12</c:f>
              <c:strCache>
                <c:ptCount val="11"/>
                <c:pt idx="0">
                  <c:v>2014</c:v>
                </c:pt>
                <c:pt idx="1">
                  <c:v>2015</c:v>
                </c:pt>
                <c:pt idx="2">
                  <c:v>2016</c:v>
                </c:pt>
                <c:pt idx="3">
                  <c:v>2017</c:v>
                </c:pt>
                <c:pt idx="4">
                  <c:v>2018</c:v>
                </c:pt>
                <c:pt idx="5">
                  <c:v>2019</c:v>
                </c:pt>
                <c:pt idx="6">
                  <c:v>2020</c:v>
                </c:pt>
                <c:pt idx="7">
                  <c:v>2021</c:v>
                </c:pt>
                <c:pt idx="8">
                  <c:v>2022</c:v>
                </c:pt>
                <c:pt idx="9">
                  <c:v>2023</c:v>
                </c:pt>
                <c:pt idx="10">
                  <c:v>2024</c:v>
                </c:pt>
              </c:strCache>
            </c:strRef>
          </c:cat>
          <c:val>
            <c:numRef>
              <c:f>Sheet1!$C$2:$C$12</c:f>
              <c:numCache>
                <c:formatCode>General</c:formatCode>
                <c:ptCount val="11"/>
                <c:pt idx="0">
                  <c:v>9.58774</c:v>
                </c:pt>
                <c:pt idx="1">
                  <c:v>9.368482</c:v>
                </c:pt>
                <c:pt idx="2">
                  <c:v>9.01419</c:v>
                </c:pt>
                <c:pt idx="3">
                  <c:v>7.921726</c:v>
                </c:pt>
                <c:pt idx="4">
                  <c:v>8.425262</c:v>
                </c:pt>
                <c:pt idx="5">
                  <c:v>9.080357</c:v>
                </c:pt>
                <c:pt idx="6">
                  <c:v>6.4478095</c:v>
                </c:pt>
                <c:pt idx="7">
                  <c:v>5.314964286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A0A0A0"/>
            </a:solidFill>
          </a:ln>
        </c:spPr>
        <c:crossAx val="2140495176"/>
        <c:crosses val="autoZero"/>
        <c:auto val="1"/>
        <c:lblAlgn val="ctr"/>
        <c:lblOffset val="100"/>
        <c:noMultiLvlLbl val="0"/>
      </c:catAx>
      <c:valAx>
        <c:axId val="2140495176"/>
        <c:scaling>
          <c:max val="12.0"/>
          <c:min val="0.0"/>
        </c:scaling>
        <c:delete val="0"/>
        <c:axPos val="l"/>
        <c:majorGridlines>
          <c:spPr>
            <a:ln>
              <a:solidFill>
                <a:srgbClr val="EEEEEE"/>
              </a:solidFill>
            </a:ln>
          </c:spPr>
        </c:majorGridlines>
        <c:numFmt formatCode="0" sourceLinked="0"/>
        <c:majorTickMark val="out"/>
        <c:minorTickMark val="none"/>
        <c:tickLblPos val="nextTo"/>
        <c:spPr>
          <a:ln>
            <a:noFill/>
          </a:ln>
        </c:spPr>
        <c:crossAx val="2118791784"/>
        <c:crosses val="autoZero"/>
        <c:majorUnit val="3.0"/>
      </c:valAx>
    </c:plotArea>
    <c:legend>
      <c:legendPos val="t"/>
      <c:layout/>
      <c:overlay val="0"/>
    </c:legend>
    <c:plotVisOnly val="1"/>
    <c:dispBlanksAs val="gap"/>
    <c:showDLblsOverMax val="0"/>
  </c:chart>
  <c:txPr>
    <a:bodyPr/>
    <a:lstStyle/>
    <a:p>
      <a:pPr>
        <a:defRPr sz="1000">
          <a:solidFill>
            <a:srgbClr val="11151A"/>
          </a:solidFill>
          <a:latin typeface="La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1">
                <a:latin typeface="Lato"/>
              </a:rPr>
              <a:t>Diesel for power, million litres a year</a:t>
            </a:r>
          </a:p>
        </c:rich>
      </c:tx>
      <c:layout/>
      <c:overlay val="0"/>
    </c:title>
    <c:autoTitleDeleted val="0"/>
    <c:plotArea>
      <c:lineChart>
        <c:grouping val="standard"/>
        <c:varyColors val="0"/>
        <c:ser>
          <c:idx val="0"/>
          <c:order val="0"/>
          <c:tx>
            <c:strRef>
              <c:f>Sheet1!$B$1</c:f>
              <c:strCache>
                <c:ptCount val="1"/>
                <c:pt idx="0">
                  <c:v>Low</c:v>
                </c:pt>
              </c:strCache>
            </c:strRef>
          </c:tx>
          <c:spPr>
            <a:ln w="25400">
              <a:solidFill>
                <a:srgbClr val="7A828C"/>
              </a:solidFill>
              <a:prstDash val="dash"/>
            </a:ln>
          </c:spPr>
          <c:marker>
            <c:symbol val="circle"/>
            <c:size val="6"/>
            <c:spPr>
              <a:solidFill>
                <a:srgbClr val="7A828C"/>
              </a:solidFill>
              <a:ln>
                <a:solidFill>
                  <a:srgbClr val="FFFFFF"/>
                </a:solidFill>
              </a:ln>
            </c:spPr>
          </c:marker>
          <c:cat>
            <c:strRef>
              <c:f>Sheet1!$A$2:$A$15</c:f>
              <c:strCache>
                <c:ptCount val="14"/>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strCache>
            </c:strRef>
          </c:cat>
          <c:val>
            <c:numRef>
              <c:f>Sheet1!$B$2:$B$15</c:f>
              <c:numCache>
                <c:formatCode>General</c:formatCode>
                <c:ptCount val="14"/>
                <c:pt idx="0">
                  <c:v>301.1482395802973</c:v>
                </c:pt>
                <c:pt idx="1">
                  <c:v>301.1482395802973</c:v>
                </c:pt>
                <c:pt idx="2">
                  <c:v>301.1482395802973</c:v>
                </c:pt>
                <c:pt idx="3">
                  <c:v>301.1482395802973</c:v>
                </c:pt>
                <c:pt idx="4">
                  <c:v>301.1482395802973</c:v>
                </c:pt>
                <c:pt idx="5">
                  <c:v>301.1482395802973</c:v>
                </c:pt>
                <c:pt idx="6">
                  <c:v>118.29500612066454</c:v>
                </c:pt>
                <c:pt idx="7">
                  <c:v>118.29500612066454</c:v>
                </c:pt>
                <c:pt idx="8">
                  <c:v>85.63567939376274</c:v>
                </c:pt>
                <c:pt idx="9">
                  <c:v>20.317025939959194</c:v>
                </c:pt>
                <c:pt idx="10">
                  <c:v>20.317025939959194</c:v>
                </c:pt>
                <c:pt idx="11">
                  <c:v>20.317025939959194</c:v>
                </c:pt>
                <c:pt idx="12">
                  <c:v>20.317025939959194</c:v>
                </c:pt>
                <c:pt idx="13">
                  <c:v>20.317025939959194</c:v>
                </c:pt>
              </c:numCache>
            </c:numRef>
          </c:val>
          <c:smooth val="0"/>
        </c:ser>
        <c:ser>
          <c:idx val="1"/>
          <c:order val="1"/>
          <c:tx>
            <c:strRef>
              <c:f>Sheet1!$C$1</c:f>
              <c:strCache>
                <c:ptCount val="1"/>
                <c:pt idx="0">
                  <c:v>Medium</c:v>
                </c:pt>
              </c:strCache>
            </c:strRef>
          </c:tx>
          <c:spPr>
            <a:ln w="25400">
              <a:solidFill>
                <a:srgbClr val="546CA2"/>
              </a:solidFill>
            </a:ln>
          </c:spPr>
          <c:marker>
            <c:symbol val="circle"/>
            <c:size val="6"/>
            <c:spPr>
              <a:solidFill>
                <a:srgbClr val="546CA2"/>
              </a:solidFill>
              <a:ln>
                <a:solidFill>
                  <a:srgbClr val="FFFFFF"/>
                </a:solidFill>
              </a:ln>
            </c:spPr>
          </c:marker>
          <c:cat>
            <c:strRef>
              <c:f>Sheet1!$A$2:$A$15</c:f>
              <c:strCache>
                <c:ptCount val="14"/>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strCache>
            </c:strRef>
          </c:cat>
          <c:val>
            <c:numRef>
              <c:f>Sheet1!$C$2:$C$15</c:f>
              <c:numCache>
                <c:formatCode>General</c:formatCode>
                <c:ptCount val="14"/>
                <c:pt idx="0">
                  <c:v>792.0840629554066</c:v>
                </c:pt>
                <c:pt idx="1">
                  <c:v>792.0840629554066</c:v>
                </c:pt>
                <c:pt idx="2">
                  <c:v>792.0840629554066</c:v>
                </c:pt>
                <c:pt idx="3">
                  <c:v>792.0840629554066</c:v>
                </c:pt>
                <c:pt idx="4">
                  <c:v>792.0840629554066</c:v>
                </c:pt>
                <c:pt idx="5">
                  <c:v>792.0840629554066</c:v>
                </c:pt>
                <c:pt idx="6">
                  <c:v>311.1410819003206</c:v>
                </c:pt>
                <c:pt idx="7">
                  <c:v>311.1410819003206</c:v>
                </c:pt>
                <c:pt idx="8">
                  <c:v>637.0130819003207</c:v>
                </c:pt>
                <c:pt idx="9">
                  <c:v>637.0130819003207</c:v>
                </c:pt>
                <c:pt idx="10">
                  <c:v>637.0130819003207</c:v>
                </c:pt>
                <c:pt idx="11">
                  <c:v>637.0130819003207</c:v>
                </c:pt>
                <c:pt idx="12">
                  <c:v>637.0130819003207</c:v>
                </c:pt>
                <c:pt idx="13">
                  <c:v>637.0130819003207</c:v>
                </c:pt>
              </c:numCache>
            </c:numRef>
          </c:val>
          <c:smooth val="0"/>
        </c:ser>
        <c:ser>
          <c:idx val="2"/>
          <c:order val="2"/>
          <c:tx>
            <c:strRef>
              <c:f>Sheet1!$D$1</c:f>
              <c:strCache>
                <c:ptCount val="1"/>
                <c:pt idx="0">
                  <c:v>High</c:v>
                </c:pt>
              </c:strCache>
            </c:strRef>
          </c:tx>
          <c:spPr>
            <a:ln w="25400">
              <a:solidFill>
                <a:srgbClr val="0A2373"/>
              </a:solidFill>
            </a:ln>
          </c:spPr>
          <c:marker>
            <c:symbol val="circle"/>
            <c:size val="6"/>
            <c:spPr>
              <a:solidFill>
                <a:srgbClr val="0A2373"/>
              </a:solidFill>
              <a:ln>
                <a:solidFill>
                  <a:srgbClr val="FFFFFF"/>
                </a:solidFill>
              </a:ln>
            </c:spPr>
          </c:marker>
          <c:cat>
            <c:strRef>
              <c:f>Sheet1!$A$2:$A$15</c:f>
              <c:strCache>
                <c:ptCount val="14"/>
                <c:pt idx="0">
                  <c:v>2022</c:v>
                </c:pt>
                <c:pt idx="1">
                  <c:v>2023</c:v>
                </c:pt>
                <c:pt idx="2">
                  <c:v>2024</c:v>
                </c:pt>
                <c:pt idx="3">
                  <c:v>2025</c:v>
                </c:pt>
                <c:pt idx="4">
                  <c:v>2026</c:v>
                </c:pt>
                <c:pt idx="5">
                  <c:v>2027</c:v>
                </c:pt>
                <c:pt idx="6">
                  <c:v>2028</c:v>
                </c:pt>
                <c:pt idx="7">
                  <c:v>2029</c:v>
                </c:pt>
                <c:pt idx="8">
                  <c:v>2030</c:v>
                </c:pt>
                <c:pt idx="9">
                  <c:v>2031</c:v>
                </c:pt>
                <c:pt idx="10">
                  <c:v>2032</c:v>
                </c:pt>
                <c:pt idx="11">
                  <c:v>2033</c:v>
                </c:pt>
                <c:pt idx="12">
                  <c:v>2034</c:v>
                </c:pt>
                <c:pt idx="13">
                  <c:v>2035</c:v>
                </c:pt>
              </c:strCache>
            </c:strRef>
          </c:cat>
          <c:val>
            <c:numRef>
              <c:f>Sheet1!$D$2:$D$15</c:f>
              <c:numCache>
                <c:formatCode>General</c:formatCode>
                <c:ptCount val="14"/>
                <c:pt idx="0">
                  <c:v>1435.4081521422324</c:v>
                </c:pt>
                <c:pt idx="1">
                  <c:v>1435.4081521422324</c:v>
                </c:pt>
                <c:pt idx="2">
                  <c:v>1435.4081521422324</c:v>
                </c:pt>
                <c:pt idx="3">
                  <c:v>1435.4081521422324</c:v>
                </c:pt>
                <c:pt idx="4">
                  <c:v>1435.4081521422324</c:v>
                </c:pt>
                <c:pt idx="5">
                  <c:v>1435.4081521422324</c:v>
                </c:pt>
                <c:pt idx="6">
                  <c:v>1435.4081521422324</c:v>
                </c:pt>
                <c:pt idx="7">
                  <c:v>1435.4081521422324</c:v>
                </c:pt>
                <c:pt idx="8">
                  <c:v>4223.510746138152</c:v>
                </c:pt>
                <c:pt idx="9">
                  <c:v>4223.510746138152</c:v>
                </c:pt>
                <c:pt idx="10">
                  <c:v>4223.510746138152</c:v>
                </c:pt>
                <c:pt idx="11">
                  <c:v>4223.510746138152</c:v>
                </c:pt>
                <c:pt idx="12">
                  <c:v>4223.510746138152</c:v>
                </c:pt>
                <c:pt idx="13">
                  <c:v>4223.510746138152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A0A0A0"/>
            </a:solidFill>
          </a:ln>
        </c:spPr>
        <c:crossAx val="2140495176"/>
        <c:crosses val="autoZero"/>
        <c:auto val="1"/>
        <c:lblAlgn val="ctr"/>
        <c:lblOffset val="100"/>
        <c:noMultiLvlLbl val="0"/>
      </c:catAx>
      <c:valAx>
        <c:axId val="2140495176"/>
        <c:scaling>
          <c:max val="5000.0"/>
          <c:min val="0.0"/>
        </c:scaling>
        <c:delete val="0"/>
        <c:axPos val="l"/>
        <c:majorGridlines>
          <c:spPr>
            <a:ln>
              <a:solidFill>
                <a:srgbClr val="EEEEEE"/>
              </a:solidFill>
            </a:ln>
          </c:spPr>
        </c:majorGridlines>
        <c:numFmt formatCode="#,##0" sourceLinked="0"/>
        <c:majorTickMark val="out"/>
        <c:minorTickMark val="none"/>
        <c:tickLblPos val="nextTo"/>
        <c:spPr>
          <a:ln>
            <a:noFill/>
          </a:ln>
        </c:spPr>
        <c:crossAx val="2118791784"/>
        <c:crosses val="autoZero"/>
        <c:majorUnit val="1000.0"/>
      </c:valAx>
    </c:plotArea>
    <c:legend>
      <c:legendPos val="t"/>
      <c:layout/>
      <c:overlay val="0"/>
    </c:legend>
    <c:plotVisOnly val="1"/>
    <c:dispBlanksAs val="gap"/>
    <c:showDLblsOverMax val="0"/>
  </c:chart>
  <c:txPr>
    <a:bodyPr/>
    <a:lstStyle/>
    <a:p>
      <a:pPr>
        <a:defRPr sz="1000">
          <a:solidFill>
            <a:srgbClr val="11151A"/>
          </a:solidFill>
          <a:latin typeface="Lat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slide" Target="slide3.xml"/><Relationship Id="rId5" Type="http://schemas.openxmlformats.org/officeDocument/2006/relationships/slide" Target="slide6.xml"/><Relationship Id="rId6" Type="http://schemas.openxmlformats.org/officeDocument/2006/relationships/slide" Target="slide10.xml"/><Relationship Id="rId7" Type="http://schemas.openxmlformats.org/officeDocument/2006/relationships/slide" Target="slide14.xml"/><Relationship Id="rId8" Type="http://schemas.openxmlformats.org/officeDocument/2006/relationships/slide" Target="slide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 Id="rId3" Type="http://schemas.openxmlformats.org/officeDocument/2006/relationships/slide" Target="slide3.xml"/><Relationship Id="rId4" Type="http://schemas.openxmlformats.org/officeDocument/2006/relationships/slide" Target="slide6.xml"/><Relationship Id="rId5" Type="http://schemas.openxmlformats.org/officeDocument/2006/relationships/slide" Target="slide10.xml"/><Relationship Id="rId6" Type="http://schemas.openxmlformats.org/officeDocument/2006/relationships/slide" Target="slide14.xml"/><Relationship Id="rId7" Type="http://schemas.openxmlformats.org/officeDocument/2006/relationships/slide" Target="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slide" Target="slide14.xml"/><Relationship Id="rId6" Type="http://schemas.openxmlformats.org/officeDocument/2006/relationships/slide" Target="slide16.xml"/></Relationships>
</file>

<file path=ppt/slides/_rels/slide9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Manish hand-back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7 October | Baseline, fuel input tables and decision log</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7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
        <p:nvSpPr>
          <p:cNvPr id="12"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On customs trade, 2023 petrol and diesel sales exceed net imports by 6.5 bn litres</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Corrected balance | calendar years, billion litres | imports and exports from SARS customs</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fuel_balance_2026-10-06.md and its table on manish-branch, rebuilt 7 October 2026. Analyst's position, pending Nigel's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sp>
        <p:nvSpPr>
          <p:cNvPr id="7" name="TextBox 6"/>
          <p:cNvSpPr txBox="1"/>
          <p:nvPr/>
        </p:nvSpPr>
        <p:spPr>
          <a:xfrm>
            <a:off x="1371600" y="2011680"/>
            <a:ext cx="4023360" cy="228600"/>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Petrol</a:t>
            </a:r>
          </a:p>
        </p:txBody>
      </p:sp>
      <p:sp>
        <p:nvSpPr>
          <p:cNvPr id="8" name="TextBox 7"/>
          <p:cNvSpPr txBox="1"/>
          <p:nvPr/>
        </p:nvSpPr>
        <p:spPr>
          <a:xfrm>
            <a:off x="5394960" y="2011680"/>
            <a:ext cx="4023360" cy="228600"/>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Diesel</a:t>
            </a:r>
          </a:p>
        </p:txBody>
      </p:sp>
      <p:graphicFrame>
        <p:nvGraphicFramePr>
          <p:cNvPr id="9" name="Table 8"/>
          <p:cNvGraphicFramePr>
            <a:graphicFrameLocks noGrp="1"/>
          </p:cNvGraphicFramePr>
          <p:nvPr/>
        </p:nvGraphicFramePr>
        <p:xfrm>
          <a:off x="457200" y="2267712"/>
          <a:ext cx="8961120" cy="3017520"/>
        </p:xfrm>
        <a:graphic>
          <a:graphicData uri="http://schemas.openxmlformats.org/drawingml/2006/table">
            <a:tbl>
              <a:tblPr firstRow="0" bandRow="0"/>
              <a:tblGrid>
                <a:gridCol w="914400"/>
                <a:gridCol w="1005840"/>
                <a:gridCol w="1005840"/>
                <a:gridCol w="1005840"/>
                <a:gridCol w="1005840"/>
                <a:gridCol w="1005840"/>
                <a:gridCol w="1005840"/>
                <a:gridCol w="1005840"/>
                <a:gridCol w="1005840"/>
              </a:tblGrid>
              <a:tr h="377190">
                <a:tc>
                  <a:txBody>
                    <a:bodyPr/>
                    <a:lstStyle/>
                    <a:p>
                      <a:pPr>
                        <a:spcAft>
                          <a:spcPts val="100"/>
                        </a:spcAft>
                        <a:defRPr sz="1100" b="1">
                          <a:solidFill>
                            <a:srgbClr val="0A2373"/>
                          </a:solidFill>
                          <a:latin typeface="Lato"/>
                        </a:defRPr>
                      </a:pPr>
                      <a:r>
                        <a:t>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Imports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Exports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Sales less</a:t>
                      </a:r>
                    </a:p>
                    <a:p>
                      <a:pPr algn="r">
                        <a:spcAft>
                          <a:spcPts val="100"/>
                        </a:spcAft>
                        <a:defRPr sz="1100" b="1">
                          <a:solidFill>
                            <a:srgbClr val="11151A"/>
                          </a:solidFill>
                          <a:latin typeface="Lato"/>
                        </a:defRPr>
                      </a:pPr>
                      <a:r>
                        <a:t>net imports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Imports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Exports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1">
                          <a:solidFill>
                            <a:srgbClr val="11151A"/>
                          </a:solidFill>
                          <a:latin typeface="Lato"/>
                        </a:defRPr>
                      </a:pPr>
                      <a:r>
                        <a:t>Sales less</a:t>
                      </a:r>
                    </a:p>
                    <a:p>
                      <a:pPr algn="r">
                        <a:spcAft>
                          <a:spcPts val="100"/>
                        </a:spcAft>
                        <a:defRPr sz="1100" b="1">
                          <a:solidFill>
                            <a:srgbClr val="11151A"/>
                          </a:solidFill>
                          <a:latin typeface="Lato"/>
                        </a:defRPr>
                      </a:pPr>
                      <a:r>
                        <a:t>net imports</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2019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10.77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1.48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1.17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10.47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12.91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5.59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1.74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9.06</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8.76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1.72</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1.15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8.20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11.69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6.81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0.91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5.79</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2021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9.30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4.01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1.05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6.35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12.95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9.76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0.89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4.08</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2022</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9.18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5.46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0.85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4.58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12.72</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11.95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0.89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1.65</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2023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9.04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4.48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0.99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5.55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12.91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12.87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0.89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0.93</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4.00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0.92</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10.79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0.80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r>
              <a:tr h="377190">
                <a:tc>
                  <a:txBody>
                    <a:bodyPr/>
                    <a:lstStyle/>
                    <a:p>
                      <a:pPr>
                        <a:spcAft>
                          <a:spcPts val="100"/>
                        </a:spcAft>
                        <a:defRPr sz="1100" b="1">
                          <a:solidFill>
                            <a:srgbClr val="0A2373"/>
                          </a:solidFill>
                          <a:latin typeface="Lato"/>
                        </a:defRPr>
                      </a:pPr>
                      <a:r>
                        <a:t>2025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4.45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0.80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12.25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0.75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lgn="r">
                        <a:spcAft>
                          <a:spcPts val="100"/>
                        </a:spcAft>
                        <a:defRPr sz="1100" b="0">
                          <a:solidFill>
                            <a:srgbClr val="11151A"/>
                          </a:solidFill>
                          <a:latin typeface="Lato"/>
                        </a:defRPr>
                      </a:pPr>
                      <a:r>
                        <a:t>—</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10" name="TextBox 9"/>
          <p:cNvSpPr txBox="1"/>
          <p:nvPr/>
        </p:nvSpPr>
        <p:spPr>
          <a:xfrm>
            <a:off x="457200" y="5532120"/>
            <a:ext cx="10652760" cy="822960"/>
          </a:xfrm>
          <a:prstGeom prst="rect">
            <a:avLst/>
          </a:prstGeom>
          <a:noFill/>
        </p:spPr>
        <p:txBody>
          <a:bodyPr wrap="square" lIns="22860" rIns="22860" tIns="0" bIns="0">
            <a:spAutoFit/>
          </a:bodyPr>
          <a:lstStyle/>
          <a:p>
            <a:pPr>
              <a:spcAft>
                <a:spcPts val="300"/>
              </a:spcAft>
              <a:defRPr sz="1100" b="0">
                <a:solidFill>
                  <a:srgbClr val="11151A"/>
                </a:solidFill>
                <a:latin typeface="Lato"/>
              </a:defRPr>
            </a:pPr>
            <a:r>
              <a:t>Sales less net imports is what production, stock changes and gaps in sales coverage must together supply. It is not a measurement of production.</a:t>
            </a:r>
          </a:p>
          <a:p>
            <a:pPr>
              <a:spcAft>
                <a:spcPts val="300"/>
              </a:spcAft>
              <a:defRPr sz="1100" b="0">
                <a:solidFill>
                  <a:srgbClr val="11151A"/>
                </a:solidFill>
                <a:latin typeface="Lato"/>
              </a:defRPr>
            </a:pPr>
            <a:r>
              <a:t>Sales: department, which has published to 2023; 2024 and 2025 are blank. FIASA is not used. Rebuilt by one command from registered inputs; a test checks every year against the customs extract.</a:t>
            </a:r>
          </a:p>
        </p:txBody>
      </p:sp>
      <p:sp>
        <p:nvSpPr>
          <p:cNvPr id="11" name="Chevron 10">
            <a:hlinkClick action="ppaction://hlinksldjump" r:id="rId2"/>
          </p:cNvPr>
          <p:cNvSpPr/>
          <p:nvPr/>
        </p:nvSpPr>
        <p:spPr>
          <a:xfrm>
            <a:off x="457200"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1  National balance</a:t>
            </a:r>
          </a:p>
        </p:txBody>
      </p:sp>
      <p:sp>
        <p:nvSpPr>
          <p:cNvPr id="12" name="Chevron 11">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3" name="Chevron 12">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4" name="Chevron 13">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5" name="Chevron 14">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Sources agree on most years; five differences need a recorded choice</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Source differences | billion litres | every source is kept in its own column of the balance file</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fuel_balance_2026-10-06.md and its table on manish-branch, rebuilt 7 October 2026. Analyst's position, pending Nigel's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3291840"/>
        </p:xfrm>
        <a:graphic>
          <a:graphicData uri="http://schemas.openxmlformats.org/drawingml/2006/table">
            <a:tbl>
              <a:tblPr firstRow="0" bandRow="0"/>
              <a:tblGrid>
                <a:gridCol w="2103120"/>
                <a:gridCol w="4754880"/>
                <a:gridCol w="2011680"/>
                <a:gridCol w="1783080"/>
              </a:tblGrid>
              <a:tr h="548640">
                <a:tc>
                  <a:txBody>
                    <a:bodyPr/>
                    <a:lstStyle/>
                    <a:p>
                      <a:pPr>
                        <a:spcAft>
                          <a:spcPts val="100"/>
                        </a:spcAft>
                        <a:defRPr sz="1000" b="1">
                          <a:solidFill>
                            <a:srgbClr val="0A2373"/>
                          </a:solidFill>
                          <a:latin typeface="Lato"/>
                        </a:defRPr>
                      </a:pPr>
                      <a:r>
                        <a:t>Item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What the sources say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Used in the balance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Who decides</a:t>
                      </a:r>
                    </a:p>
                  </a:txBody>
                  <a:tcPr marL="64008" marR="64008" marT="54864" marB="27432" anchor="t">
                    <a:lnL w="0">
                      <a:noFill/>
                    </a:lnL>
                    <a:lnR w="0">
                      <a:noFill/>
                    </a:lnR>
                    <a:lnT w="0">
                      <a:noFill/>
                    </a:lnT>
                    <a:lnB w="5080">
                      <a:solidFill>
                        <a:srgbClr val="B8B8B8"/>
                      </a:solidFill>
                    </a:lnB>
                    <a:solidFill>
                      <a:srgbClr val="FFFFFF"/>
                    </a:solidFill>
                  </a:tcPr>
                </a:tc>
              </a:tr>
              <a:tr h="548640">
                <a:tc>
                  <a:txBody>
                    <a:bodyPr/>
                    <a:lstStyle/>
                    <a:p>
                      <a:pPr>
                        <a:spcAft>
                          <a:spcPts val="100"/>
                        </a:spcAft>
                        <a:defRPr sz="1000" b="1">
                          <a:solidFill>
                            <a:srgbClr val="0A2373"/>
                          </a:solidFill>
                          <a:latin typeface="Lato"/>
                        </a:defRPr>
                      </a:pPr>
                      <a:r>
                        <a:t>2024 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FIASA 2025 edition, p.47: petrol 9.03, diesel 11.73. FIASA 2024 edition, p.32: 8.76 and 11.81. JODI: 10.14 and 10.04 (lowest reliability code). Department: not published. Road Accident Fund levy: 24.4 bn litres for both fuels in the year to March 2025, up 0.7%.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None. 2024 is left blank; FIASA is not used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Nigel: note</a:t>
                      </a:r>
                    </a:p>
                  </a:txBody>
                  <a:tcPr marL="64008" marR="64008" marT="54864" marB="27432" anchor="t">
                    <a:lnL w="0">
                      <a:noFill/>
                    </a:lnL>
                    <a:lnR w="0">
                      <a:noFill/>
                    </a:lnR>
                    <a:lnT w="0">
                      <a:noFill/>
                    </a:lnT>
                    <a:lnB w="5080">
                      <a:solidFill>
                        <a:srgbClr val="B8B8B8"/>
                      </a:solidFill>
                    </a:lnB>
                    <a:solidFill>
                      <a:srgbClr val="FFFFFF"/>
                    </a:solidFill>
                  </a:tcPr>
                </a:tc>
              </a:tr>
              <a:tr h="548640">
                <a:tc>
                  <a:txBody>
                    <a:bodyPr/>
                    <a:lstStyle/>
                    <a:p>
                      <a:pPr>
                        <a:spcAft>
                          <a:spcPts val="100"/>
                        </a:spcAft>
                        <a:defRPr sz="1000" b="1">
                          <a:solidFill>
                            <a:srgbClr val="0A2373"/>
                          </a:solidFill>
                          <a:latin typeface="Lato"/>
                        </a:defRPr>
                      </a:pPr>
                      <a:r>
                        <a:t>2024 diesel imports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Customs 10.793. Department trade report 10.8 (rounded). FIASA 14.793, a suspected misprint.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Customs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Nigel: review</a:t>
                      </a:r>
                    </a:p>
                  </a:txBody>
                  <a:tcPr marL="64008" marR="64008" marT="54864" marB="27432" anchor="t">
                    <a:lnL w="0">
                      <a:noFill/>
                    </a:lnL>
                    <a:lnR w="0">
                      <a:noFill/>
                    </a:lnR>
                    <a:lnT w="0">
                      <a:noFill/>
                    </a:lnT>
                    <a:lnB w="5080">
                      <a:solidFill>
                        <a:srgbClr val="B8B8B8"/>
                      </a:solidFill>
                    </a:lnB>
                    <a:solidFill>
                      <a:srgbClr val="FFFFFF"/>
                    </a:solidFill>
                  </a:tcPr>
                </a:tc>
              </a:tr>
              <a:tr h="548640">
                <a:tc>
                  <a:txBody>
                    <a:bodyPr/>
                    <a:lstStyle/>
                    <a:p>
                      <a:pPr>
                        <a:spcAft>
                          <a:spcPts val="100"/>
                        </a:spcAft>
                        <a:defRPr sz="1000" b="1">
                          <a:solidFill>
                            <a:srgbClr val="0A2373"/>
                          </a:solidFill>
                          <a:latin typeface="Lato"/>
                        </a:defRPr>
                      </a:pPr>
                      <a:r>
                        <a:t>2018 and 2019 trade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2018 diesel: customs 5.12, FIASA 6.11; petrol: 1.83 and 2.19. 2019 diesel: 5.59 and 5.86. 2018 exports are also lower in customs. FIASA and the department's 2018 balance share one earlier reading; today's customs data and UN Comtrade agree with each other. No missing month or tariff line.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Customs; likely a later customs revision, not proven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Nigel: review</a:t>
                      </a:r>
                    </a:p>
                  </a:txBody>
                  <a:tcPr marL="64008" marR="64008" marT="54864" marB="27432" anchor="t">
                    <a:lnL w="0">
                      <a:noFill/>
                    </a:lnL>
                    <a:lnR w="0">
                      <a:noFill/>
                    </a:lnR>
                    <a:lnT w="0">
                      <a:noFill/>
                    </a:lnT>
                    <a:lnB w="5080">
                      <a:solidFill>
                        <a:srgbClr val="B8B8B8"/>
                      </a:solidFill>
                    </a:lnB>
                    <a:solidFill>
                      <a:srgbClr val="FFFFFF"/>
                    </a:solidFill>
                  </a:tcPr>
                </a:tc>
              </a:tr>
              <a:tr h="548640">
                <a:tc>
                  <a:txBody>
                    <a:bodyPr/>
                    <a:lstStyle/>
                    <a:p>
                      <a:pPr>
                        <a:spcAft>
                          <a:spcPts val="100"/>
                        </a:spcAft>
                        <a:defRPr sz="1000" b="1">
                          <a:solidFill>
                            <a:srgbClr val="0A2373"/>
                          </a:solidFill>
                          <a:latin typeface="Lato"/>
                        </a:defRPr>
                      </a:pPr>
                      <a:r>
                        <a:t>2022 diesel exports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Customs 0.89, FIASA 0.70.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Customs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Nigel: review</a:t>
                      </a:r>
                    </a:p>
                  </a:txBody>
                  <a:tcPr marL="64008" marR="64008" marT="54864" marB="27432" anchor="t">
                    <a:lnL w="0">
                      <a:noFill/>
                    </a:lnL>
                    <a:lnR w="0">
                      <a:noFill/>
                    </a:lnR>
                    <a:lnT w="0">
                      <a:noFill/>
                    </a:lnT>
                    <a:lnB w="5080">
                      <a:solidFill>
                        <a:srgbClr val="B8B8B8"/>
                      </a:solidFill>
                    </a:lnB>
                    <a:solidFill>
                      <a:srgbClr val="FFFFFF"/>
                    </a:solidFill>
                  </a:tcPr>
                </a:tc>
              </a:tr>
              <a:tr h="548640">
                <a:tc>
                  <a:txBody>
                    <a:bodyPr/>
                    <a:lstStyle/>
                    <a:p>
                      <a:pPr>
                        <a:spcAft>
                          <a:spcPts val="100"/>
                        </a:spcAft>
                        <a:defRPr sz="1000" b="1">
                          <a:solidFill>
                            <a:srgbClr val="0A2373"/>
                          </a:solidFill>
                          <a:latin typeface="Lato"/>
                        </a:defRPr>
                      </a:pPr>
                      <a:r>
                        <a:t>2019 and 2020 energy balances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Their import and export lines repeat the previous year's figures.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Not used for trade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Nigel: confirm</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5669280"/>
            <a:ext cx="10652760" cy="548640"/>
          </a:xfrm>
          <a:prstGeom prst="rect">
            <a:avLst/>
          </a:prstGeom>
          <a:noFill/>
        </p:spPr>
        <p:txBody>
          <a:bodyPr wrap="square" lIns="22860" rIns="22860" tIns="0" bIns="0">
            <a:spAutoFit/>
          </a:bodyPr>
          <a:lstStyle/>
          <a:p>
            <a:pPr>
              <a:spcAft>
                <a:spcPts val="300"/>
              </a:spcAft>
              <a:defRPr sz="1100" b="0">
                <a:solidFill>
                  <a:srgbClr val="11151A"/>
                </a:solidFill>
                <a:latin typeface="Lato"/>
              </a:defRPr>
            </a:pPr>
            <a:r>
              <a:t>In the other years from 2014, customs and FIASA differ by 0.2 bn litres or less; the full list is in the balance note. Before 2014 customs is in kilograms or mixed units, so no trade figure is selected.</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Production is published to 2021 and sales to 2023; stocks are not published</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Production and stocks | sales less net imports against production in the energy balance | billion litres</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fuel_balance_2026-10-06.md and its table on manish-branch, rebuilt 7 October 2026. Analyst's position, pending Nigel's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Chart 6"/>
          <p:cNvGraphicFramePr>
            <a:graphicFrameLocks noGrp="1"/>
          </p:cNvGraphicFramePr>
          <p:nvPr/>
        </p:nvGraphicFramePr>
        <p:xfrm>
          <a:off x="457200" y="2011680"/>
          <a:ext cx="3200400" cy="3429000"/>
        </p:xfrm>
        <a:graphic>
          <a:graphicData uri="http://schemas.openxmlformats.org/drawingml/2006/chart">
            <c:chart xmlns:c="http://schemas.openxmlformats.org/drawingml/2006/chart" r:id="rId2"/>
          </a:graphicData>
        </a:graphic>
      </p:graphicFrame>
      <p:graphicFrame>
        <p:nvGraphicFramePr>
          <p:cNvPr id="8" name="Chart 7"/>
          <p:cNvGraphicFramePr>
            <a:graphicFrameLocks noGrp="1"/>
          </p:cNvGraphicFramePr>
          <p:nvPr/>
        </p:nvGraphicFramePr>
        <p:xfrm>
          <a:off x="3703320" y="2011680"/>
          <a:ext cx="3200400" cy="3429000"/>
        </p:xfrm>
        <a:graphic>
          <a:graphicData uri="http://schemas.openxmlformats.org/drawingml/2006/chart">
            <c:chart xmlns:c="http://schemas.openxmlformats.org/drawingml/2006/chart" r:id="rId3"/>
          </a:graphicData>
        </a:graphic>
      </p:graphicFrame>
      <p:graphicFrame>
        <p:nvGraphicFramePr>
          <p:cNvPr id="9" name="Table 8"/>
          <p:cNvGraphicFramePr>
            <a:graphicFrameLocks noGrp="1"/>
          </p:cNvGraphicFramePr>
          <p:nvPr/>
        </p:nvGraphicFramePr>
        <p:xfrm>
          <a:off x="7040880" y="2029968"/>
          <a:ext cx="4023360" cy="3383280"/>
        </p:xfrm>
        <a:graphic>
          <a:graphicData uri="http://schemas.openxmlformats.org/drawingml/2006/table">
            <a:tbl>
              <a:tblPr firstRow="0" bandRow="0"/>
              <a:tblGrid>
                <a:gridCol w="1188720"/>
                <a:gridCol w="1645920"/>
                <a:gridCol w="1188720"/>
              </a:tblGrid>
              <a:tr h="563880">
                <a:tc>
                  <a:txBody>
                    <a:bodyPr/>
                    <a:lstStyle/>
                    <a:p>
                      <a:pPr>
                        <a:spcAft>
                          <a:spcPts val="100"/>
                        </a:spcAft>
                        <a:defRPr sz="950" b="1">
                          <a:solidFill>
                            <a:srgbClr val="0A2373"/>
                          </a:solidFill>
                          <a:latin typeface="Lato"/>
                        </a:defRPr>
                      </a:pPr>
                      <a:r>
                        <a:t>Line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What exists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Limit</a:t>
                      </a:r>
                    </a:p>
                  </a:txBody>
                  <a:tcPr marL="64008" marR="64008" marT="54864" marB="27432" anchor="t">
                    <a:lnL w="0">
                      <a:noFill/>
                    </a:lnL>
                    <a:lnR w="0">
                      <a:noFill/>
                    </a:lnR>
                    <a:lnT w="0">
                      <a:noFill/>
                    </a:lnT>
                    <a:lnB w="5080">
                      <a:solidFill>
                        <a:srgbClr val="B8B8B8"/>
                      </a:solidFill>
                    </a:lnB>
                    <a:solidFill>
                      <a:srgbClr val="FFFFFF"/>
                    </a:solidFill>
                  </a:tcPr>
                </a:tc>
              </a:tr>
              <a:tr h="563880">
                <a:tc>
                  <a:txBody>
                    <a:bodyPr/>
                    <a:lstStyle/>
                    <a:p>
                      <a:pPr>
                        <a:spcAft>
                          <a:spcPts val="100"/>
                        </a:spcAft>
                        <a:defRPr sz="950" b="1">
                          <a:solidFill>
                            <a:srgbClr val="0A2373"/>
                          </a:solidFill>
                          <a:latin typeface="Lato"/>
                        </a:defRPr>
                      </a:pPr>
                      <a:r>
                        <a:t>Production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Department energy balances, 2007-2021; fifteen files, downloaded again and matched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None published after 2021; 2022 on is blank</a:t>
                      </a:r>
                    </a:p>
                  </a:txBody>
                  <a:tcPr marL="64008" marR="64008" marT="54864" marB="27432" anchor="t">
                    <a:lnL w="0">
                      <a:noFill/>
                    </a:lnL>
                    <a:lnR w="0">
                      <a:noFill/>
                    </a:lnR>
                    <a:lnT w="0">
                      <a:noFill/>
                    </a:lnT>
                    <a:lnB w="5080">
                      <a:solidFill>
                        <a:srgbClr val="B8B8B8"/>
                      </a:solidFill>
                    </a:lnB>
                    <a:solidFill>
                      <a:srgbClr val="FFFFFF"/>
                    </a:solidFill>
                  </a:tcPr>
                </a:tc>
              </a:tr>
              <a:tr h="563880">
                <a:tc>
                  <a:txBody>
                    <a:bodyPr/>
                    <a:lstStyle/>
                    <a:p>
                      <a:pPr>
                        <a:spcAft>
                          <a:spcPts val="100"/>
                        </a:spcAft>
                        <a:defRPr sz="950" b="1">
                          <a:solidFill>
                            <a:srgbClr val="0A2373"/>
                          </a:solidFill>
                          <a:latin typeface="Lato"/>
                        </a:defRPr>
                      </a:pPr>
                      <a:r>
                        <a:t>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Department national sales, to 2023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2024 and 2025 are blank</a:t>
                      </a:r>
                    </a:p>
                  </a:txBody>
                  <a:tcPr marL="64008" marR="64008" marT="54864" marB="27432" anchor="t">
                    <a:lnL w="0">
                      <a:noFill/>
                    </a:lnL>
                    <a:lnR w="0">
                      <a:noFill/>
                    </a:lnR>
                    <a:lnT w="0">
                      <a:noFill/>
                    </a:lnT>
                    <a:lnB w="5080">
                      <a:solidFill>
                        <a:srgbClr val="B8B8B8"/>
                      </a:solidFill>
                    </a:lnB>
                    <a:solidFill>
                      <a:srgbClr val="FFFFFF"/>
                    </a:solidFill>
                  </a:tcPr>
                </a:tc>
              </a:tr>
              <a:tr h="563880">
                <a:tc>
                  <a:txBody>
                    <a:bodyPr/>
                    <a:lstStyle/>
                    <a:p>
                      <a:pPr>
                        <a:spcAft>
                          <a:spcPts val="100"/>
                        </a:spcAft>
                        <a:defRPr sz="950" b="1">
                          <a:solidFill>
                            <a:srgbClr val="0A2373"/>
                          </a:solidFill>
                          <a:latin typeface="Lato"/>
                        </a:defRPr>
                      </a:pPr>
                      <a:r>
                        <a:t>Imports, exports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SARS customs, 2014-2025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In kilograms before 2014</a:t>
                      </a:r>
                    </a:p>
                  </a:txBody>
                  <a:tcPr marL="64008" marR="64008" marT="54864" marB="27432" anchor="t">
                    <a:lnL w="0">
                      <a:noFill/>
                    </a:lnL>
                    <a:lnR w="0">
                      <a:noFill/>
                    </a:lnR>
                    <a:lnT w="0">
                      <a:noFill/>
                    </a:lnT>
                    <a:lnB w="5080">
                      <a:solidFill>
                        <a:srgbClr val="B8B8B8"/>
                      </a:solidFill>
                    </a:lnB>
                    <a:solidFill>
                      <a:srgbClr val="FFFFFF"/>
                    </a:solidFill>
                  </a:tcPr>
                </a:tc>
              </a:tr>
              <a:tr h="563880">
                <a:tc>
                  <a:txBody>
                    <a:bodyPr/>
                    <a:lstStyle/>
                    <a:p>
                      <a:pPr>
                        <a:spcAft>
                          <a:spcPts val="100"/>
                        </a:spcAft>
                        <a:defRPr sz="950" b="1">
                          <a:solidFill>
                            <a:srgbClr val="0A2373"/>
                          </a:solidFill>
                          <a:latin typeface="Lato"/>
                        </a:defRPr>
                      </a:pPr>
                      <a:r>
                        <a:t>Stock change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None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No series is published</a:t>
                      </a:r>
                    </a:p>
                  </a:txBody>
                  <a:tcPr marL="64008" marR="64008" marT="54864" marB="27432" anchor="t">
                    <a:lnL w="0">
                      <a:noFill/>
                    </a:lnL>
                    <a:lnR w="0">
                      <a:noFill/>
                    </a:lnR>
                    <a:lnT w="0">
                      <a:noFill/>
                    </a:lnT>
                    <a:lnB w="5080">
                      <a:solidFill>
                        <a:srgbClr val="B8B8B8"/>
                      </a:solidFill>
                    </a:lnB>
                    <a:solidFill>
                      <a:srgbClr val="FFFFFF"/>
                    </a:solidFill>
                  </a:tcPr>
                </a:tc>
              </a:tr>
              <a:tr h="563880">
                <a:tc>
                  <a:txBody>
                    <a:bodyPr/>
                    <a:lstStyle/>
                    <a:p>
                      <a:pPr>
                        <a:spcAft>
                          <a:spcPts val="100"/>
                        </a:spcAft>
                        <a:defRPr sz="950" b="1">
                          <a:solidFill>
                            <a:srgbClr val="0A2373"/>
                          </a:solidFill>
                          <a:latin typeface="Lato"/>
                        </a:defRPr>
                      </a:pPr>
                      <a:r>
                        <a:t>Not used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FIASA and JODI</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Kept as comparison rows only</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10" name="TextBox 9"/>
          <p:cNvSpPr txBox="1"/>
          <p:nvPr/>
        </p:nvSpPr>
        <p:spPr>
          <a:xfrm>
            <a:off x="457200" y="566928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Matched years are 2014 to 2021. Supply and recorded sales agree within 0.9 bn litres except diesel in 2021, where supply is 1.2 bn litres higher. Not added to demand.</a:t>
            </a:r>
          </a:p>
        </p:txBody>
      </p:sp>
      <p:sp>
        <p:nvSpPr>
          <p:cNvPr id="11" name="Chevron 10">
            <a:hlinkClick action="ppaction://hlinksldjump" r:id="rId4"/>
          </p:cNvPr>
          <p:cNvSpPr/>
          <p:nvPr/>
        </p:nvSpPr>
        <p:spPr>
          <a:xfrm>
            <a:off x="457200"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1  National balance</a:t>
            </a:r>
          </a:p>
        </p:txBody>
      </p:sp>
      <p:sp>
        <p:nvSpPr>
          <p:cNvPr id="12" name="Chevron 11">
            <a:hlinkClick action="ppaction://hlinksldjump" r:id="rId5"/>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3" name="Chevron 12">
            <a:hlinkClick action="ppaction://hlinksldjump" r:id="rId6"/>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4" name="Chevron 13">
            <a:hlinkClick action="ppaction://hlinksldjump" r:id="rId7"/>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5" name="Chevron 14">
            <a:hlinkClick action="ppaction://hlinksldjump" r:id="rId8"/>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Diesel: rail diversion is capped near 13% by rail-friendly freight; yields move up</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Diesel inputs | low / medium / high for 2030 and 2035 | 11 of 42 values have a proposed replacement</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fuel_lever_response_2026-10-07.md on manish-branch; Nigel's proposed inputs of 7 October are not edited. Replacements are the analyst's proposals, pending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11680"/>
          <a:ext cx="10652760" cy="4206240"/>
        </p:xfrm>
        <a:graphic>
          <a:graphicData uri="http://schemas.openxmlformats.org/drawingml/2006/table">
            <a:tbl>
              <a:tblPr firstRow="0" bandRow="0"/>
              <a:tblGrid>
                <a:gridCol w="2148840"/>
                <a:gridCol w="1463040"/>
                <a:gridCol w="1600200"/>
                <a:gridCol w="1600200"/>
                <a:gridCol w="3840480"/>
              </a:tblGrid>
              <a:tr h="525780">
                <a:tc>
                  <a:txBody>
                    <a:bodyPr/>
                    <a:lstStyle/>
                    <a:p>
                      <a:pPr>
                        <a:spcAft>
                          <a:spcPts val="100"/>
                        </a:spcAft>
                        <a:defRPr sz="950" b="1">
                          <a:solidFill>
                            <a:srgbClr val="0A2373"/>
                          </a:solidFill>
                          <a:latin typeface="Lato"/>
                        </a:defRPr>
                      </a:pPr>
                      <a:r>
                        <a:t>Lever and unit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Baseline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2030</a:t>
                      </a:r>
                    </a:p>
                    <a:p>
                      <a:pPr>
                        <a:spcAft>
                          <a:spcPts val="100"/>
                        </a:spcAft>
                        <a:defRPr sz="9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2035</a:t>
                      </a:r>
                    </a:p>
                    <a:p>
                      <a:pPr>
                        <a:spcAft>
                          <a:spcPts val="100"/>
                        </a:spcAft>
                        <a:defRPr sz="9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Rationale and source</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Road freight activity</a:t>
                      </a:r>
                    </a:p>
                    <a:p>
                      <a:pPr>
                        <a:spcAft>
                          <a:spcPts val="100"/>
                        </a:spcAft>
                        <a:defRPr sz="950" b="1">
                          <a:solidFill>
                            <a:srgbClr val="0A2373"/>
                          </a:solidFill>
                          <a:latin typeface="Lato"/>
                        </a:defRPr>
                      </a:pPr>
                      <a:r>
                        <a:t>2024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100</a:t>
                      </a:r>
                    </a:p>
                    <a:p>
                      <a:pPr>
                        <a:spcAft>
                          <a:spcPts val="100"/>
                        </a:spcAft>
                        <a:defRPr sz="950" b="0">
                          <a:solidFill>
                            <a:srgbClr val="11151A"/>
                          </a:solidFill>
                          <a:latin typeface="Lato"/>
                        </a:defRPr>
                      </a:pPr>
                      <a:r>
                        <a:t>980 Mt road payload, 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95 / 115 / 135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95 / 135 / 150</a:t>
                      </a:r>
                    </a:p>
                    <a:p>
                      <a:pPr>
                        <a:spcAft>
                          <a:spcPts val="100"/>
                        </a:spcAft>
                        <a:defRPr sz="950" b="0">
                          <a:solidFill>
                            <a:srgbClr val="11151A"/>
                          </a:solidFill>
                          <a:latin typeface="Lato"/>
                        </a:defRPr>
                      </a:pPr>
                      <a:r>
                        <a:t>was 95 / 135 / 175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Stats SA tonnes: 2.4% a year over 2014-2024, at most 3.7% over eleven years. Only tonne-km figure found: 221 bn for 2013.</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Road freight moved to rail</a:t>
                      </a:r>
                    </a:p>
                    <a:p>
                      <a:pPr>
                        <a:spcAft>
                          <a:spcPts val="100"/>
                        </a:spcAft>
                        <a:defRPr sz="950" b="1">
                          <a:solidFill>
                            <a:srgbClr val="0A2373"/>
                          </a:solidFill>
                          <a:latin typeface="Lato"/>
                        </a:defRPr>
                      </a:pPr>
                      <a:r>
                        <a:t>% of road freight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a:t>
                      </a:r>
                    </a:p>
                    <a:p>
                      <a:pPr>
                        <a:spcAft>
                          <a:spcPts val="100"/>
                        </a:spcAft>
                        <a:defRPr sz="950" b="0">
                          <a:solidFill>
                            <a:srgbClr val="11151A"/>
                          </a:solidFill>
                          <a:latin typeface="Lato"/>
                        </a:defRPr>
                      </a:pPr>
                      <a:r>
                        <a:t>rail 161 Mt, 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3 / 9</a:t>
                      </a:r>
                    </a:p>
                    <a:p>
                      <a:pPr>
                        <a:spcAft>
                          <a:spcPts val="100"/>
                        </a:spcAft>
                        <a:defRPr sz="950" b="0">
                          <a:solidFill>
                            <a:srgbClr val="11151A"/>
                          </a:solidFill>
                          <a:latin typeface="Lato"/>
                        </a:defRPr>
                      </a:pPr>
                      <a:r>
                        <a:t>was 0 / 10 / 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7 / 13</a:t>
                      </a:r>
                    </a:p>
                    <a:p>
                      <a:pPr>
                        <a:spcAft>
                          <a:spcPts val="100"/>
                        </a:spcAft>
                        <a:defRPr sz="950" b="0">
                          <a:solidFill>
                            <a:srgbClr val="11151A"/>
                          </a:solidFill>
                          <a:latin typeface="Lato"/>
                        </a:defRPr>
                      </a:pPr>
                      <a:r>
                        <a:t>was 0 / 20 / 35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Rail Master Plan (2026): 250 Mt target is 9%, 280 Mt market appetite 12%. Freight Roadmap (2023): rail-friendly general freight left on road is 13%.</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Diesel power generation</a:t>
                      </a:r>
                    </a:p>
                    <a:p>
                      <a:pPr>
                        <a:spcAft>
                          <a:spcPts val="100"/>
                        </a:spcAft>
                        <a:defRPr sz="950" b="1">
                          <a:solidFill>
                            <a:srgbClr val="0A2373"/>
                          </a:solidFill>
                          <a:latin typeface="Lato"/>
                        </a:defRPr>
                      </a:pPr>
                      <a:r>
                        <a:t>year to March 2024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100</a:t>
                      </a:r>
                    </a:p>
                    <a:p>
                      <a:pPr>
                        <a:spcAft>
                          <a:spcPts val="100"/>
                        </a:spcAft>
                        <a:defRPr sz="950" b="0">
                          <a:solidFill>
                            <a:srgbClr val="11151A"/>
                          </a:solidFill>
                          <a:latin typeface="Lato"/>
                        </a:defRPr>
                      </a:pPr>
                      <a:r>
                        <a:t>5,143 GWh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 / 25 / 60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5 / 15 / 50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Eskom: year to March 2026 is already 21. Agreed.</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New-vehicle efficiency gain</a:t>
                      </a:r>
                    </a:p>
                    <a:p>
                      <a:pPr>
                        <a:spcAft>
                          <a:spcPts val="100"/>
                        </a:spcAft>
                        <a:defRPr sz="950" b="1">
                          <a:solidFill>
                            <a:srgbClr val="0A2373"/>
                          </a:solidFill>
                          <a:latin typeface="Lato"/>
                        </a:defRPr>
                      </a:pPr>
                      <a:r>
                        <a:t>% a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0.5 to 1.0</a:t>
                      </a:r>
                    </a:p>
                    <a:p>
                      <a:pPr>
                        <a:spcAft>
                          <a:spcPts val="100"/>
                        </a:spcAft>
                        <a:defRPr sz="950" b="0">
                          <a:solidFill>
                            <a:srgbClr val="11151A"/>
                          </a:solidFill>
                          <a:latin typeface="Lato"/>
                        </a:defRPr>
                      </a:pPr>
                      <a:r>
                        <a:t>registered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0.5 / 0.75 / 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0.5 / 0.75 / 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Equals the registered endpoints, which have no source. Agreed for now.</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Plant utilisation</a:t>
                      </a:r>
                    </a:p>
                    <a:p>
                      <a:pPr>
                        <a:spcAft>
                          <a:spcPts val="100"/>
                        </a:spcAft>
                        <a:defRPr sz="950" b="1">
                          <a:solidFill>
                            <a:srgbClr val="0A2373"/>
                          </a:solidFill>
                          <a:latin typeface="Lato"/>
                        </a:defRPr>
                      </a:pPr>
                      <a:r>
                        <a:t>% of capacity, all fuels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67</a:t>
                      </a:r>
                    </a:p>
                    <a:p>
                      <a:pPr>
                        <a:spcAft>
                          <a:spcPts val="100"/>
                        </a:spcAft>
                        <a:defRPr sz="950" b="0">
                          <a:solidFill>
                            <a:srgbClr val="11151A"/>
                          </a:solidFill>
                          <a:latin typeface="Lato"/>
                        </a:defRPr>
                      </a:pPr>
                      <a:r>
                        <a:t>indicative, 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 / 75 / 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 / 75 / 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Operators' reports: Secunda 53%, Natref 71%, Astron 84%. Secunda capacity corrected to FIASA's 150; output unchanged.</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Diesel yield</a:t>
                      </a:r>
                    </a:p>
                    <a:p>
                      <a:pPr>
                        <a:spcAft>
                          <a:spcPts val="100"/>
                        </a:spcAft>
                        <a:defRPr sz="950" b="1">
                          <a:solidFill>
                            <a:srgbClr val="0A2373"/>
                          </a:solidFill>
                          <a:latin typeface="Lato"/>
                        </a:defRPr>
                      </a:pPr>
                      <a:r>
                        <a:t>% of refinery output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29</a:t>
                      </a:r>
                    </a:p>
                    <a:p>
                      <a:pPr>
                        <a:spcAft>
                          <a:spcPts val="100"/>
                        </a:spcAft>
                        <a:defRPr sz="950" b="0">
                          <a:solidFill>
                            <a:srgbClr val="11151A"/>
                          </a:solidFill>
                          <a:latin typeface="Lato"/>
                        </a:defRPr>
                      </a:pPr>
                      <a:r>
                        <a:t>JODI 2024, low reliability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25 / 30 / 40</a:t>
                      </a:r>
                    </a:p>
                    <a:p>
                      <a:pPr>
                        <a:spcAft>
                          <a:spcPts val="100"/>
                        </a:spcAft>
                        <a:defRPr sz="950" b="0">
                          <a:solidFill>
                            <a:srgbClr val="11151A"/>
                          </a:solidFill>
                          <a:latin typeface="Lato"/>
                        </a:defRPr>
                      </a:pPr>
                      <a:r>
                        <a:t>was 20 / 25 / 30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25 / 30 / 40</a:t>
                      </a:r>
                    </a:p>
                    <a:p>
                      <a:pPr>
                        <a:spcAft>
                          <a:spcPts val="100"/>
                        </a:spcAft>
                        <a:defRPr sz="950" b="0">
                          <a:solidFill>
                            <a:srgbClr val="11151A"/>
                          </a:solidFill>
                          <a:latin typeface="Lato"/>
                        </a:defRPr>
                      </a:pPr>
                      <a:r>
                        <a:t>was 20 / 25 / 30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JODI: 31% in 2023, 29% in 2024. Energy balances before the Durban closures: 40-42% of five fuels. Legacy 25%.</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Added refining capacity</a:t>
                      </a:r>
                    </a:p>
                    <a:p>
                      <a:pPr>
                        <a:spcAft>
                          <a:spcPts val="100"/>
                        </a:spcAft>
                        <a:defRPr sz="950" b="1">
                          <a:solidFill>
                            <a:srgbClr val="0A2373"/>
                          </a:solidFill>
                          <a:latin typeface="Lato"/>
                        </a:defRPr>
                      </a:pPr>
                      <a:r>
                        <a:t>thousand barrels a day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0 / 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0 / 400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Conditional illustration; no investment decision sourced.</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Chevron 7">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9" name="Chevron 8">
            <a:hlinkClick action="ppaction://hlinksldjump" r:id="rId3"/>
          </p:cNvPr>
          <p:cNvSpPr/>
          <p:nvPr/>
        </p:nvSpPr>
        <p:spPr>
          <a:xfrm>
            <a:off x="2587752"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2  Forecast levers</a:t>
            </a:r>
          </a:p>
        </p:txBody>
      </p:sp>
      <p:sp>
        <p:nvSpPr>
          <p:cNvPr id="10" name="Chevron 9">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1" name="Chevron 10">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2" name="Chevron 11">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Jet: movement highs exceed every year on record; fuel per movement can also rise</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Jet inputs | low / medium / high for 2030 and 2035 | 6 of 36 values have a proposed replacement</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fuel_lever_response_2026-10-07.md on manish-branch; Nigel's proposed inputs of 7 October are not edited. Replacements are the analyst's proposals, pending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11680"/>
          <a:ext cx="10652760" cy="4206240"/>
        </p:xfrm>
        <a:graphic>
          <a:graphicData uri="http://schemas.openxmlformats.org/drawingml/2006/table">
            <a:tbl>
              <a:tblPr firstRow="0" bandRow="0"/>
              <a:tblGrid>
                <a:gridCol w="2148840"/>
                <a:gridCol w="1463040"/>
                <a:gridCol w="1600200"/>
                <a:gridCol w="1600200"/>
                <a:gridCol w="3840480"/>
              </a:tblGrid>
              <a:tr h="600891">
                <a:tc>
                  <a:txBody>
                    <a:bodyPr/>
                    <a:lstStyle/>
                    <a:p>
                      <a:pPr>
                        <a:spcAft>
                          <a:spcPts val="100"/>
                        </a:spcAft>
                        <a:defRPr sz="950" b="1">
                          <a:solidFill>
                            <a:srgbClr val="0A2373"/>
                          </a:solidFill>
                          <a:latin typeface="Lato"/>
                        </a:defRPr>
                      </a:pPr>
                      <a:r>
                        <a:t>Lever and unit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Baseline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2030</a:t>
                      </a:r>
                    </a:p>
                    <a:p>
                      <a:pPr>
                        <a:spcAft>
                          <a:spcPts val="100"/>
                        </a:spcAft>
                        <a:defRPr sz="9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2035</a:t>
                      </a:r>
                    </a:p>
                    <a:p>
                      <a:pPr>
                        <a:spcAft>
                          <a:spcPts val="100"/>
                        </a:spcAft>
                        <a:defRPr sz="9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Rationale and source</a:t>
                      </a:r>
                    </a:p>
                  </a:txBody>
                  <a:tcPr marL="64008" marR="64008" marT="54864" marB="27432" anchor="t">
                    <a:lnL w="0">
                      <a:noFill/>
                    </a:lnL>
                    <a:lnR w="0">
                      <a:noFill/>
                    </a:lnR>
                    <a:lnT w="0">
                      <a:noFill/>
                    </a:lnT>
                    <a:lnB w="5080">
                      <a:solidFill>
                        <a:srgbClr val="B8B8B8"/>
                      </a:solidFill>
                    </a:lnB>
                    <a:solidFill>
                      <a:srgbClr val="FFFFFF"/>
                    </a:solidFill>
                  </a:tcPr>
                </a:tc>
              </a:tr>
              <a:tr h="600891">
                <a:tc>
                  <a:txBody>
                    <a:bodyPr/>
                    <a:lstStyle/>
                    <a:p>
                      <a:pPr>
                        <a:spcAft>
                          <a:spcPts val="100"/>
                        </a:spcAft>
                        <a:defRPr sz="950" b="1">
                          <a:solidFill>
                            <a:srgbClr val="0A2373"/>
                          </a:solidFill>
                          <a:latin typeface="Lato"/>
                        </a:defRPr>
                      </a:pPr>
                      <a:r>
                        <a:t>Aircraft movements</a:t>
                      </a:r>
                    </a:p>
                    <a:p>
                      <a:pPr>
                        <a:spcAft>
                          <a:spcPts val="100"/>
                        </a:spcAft>
                        <a:defRPr sz="950" b="1">
                          <a:solidFill>
                            <a:srgbClr val="0A2373"/>
                          </a:solidFill>
                          <a:latin typeface="Lato"/>
                        </a:defRPr>
                      </a:pPr>
                      <a:r>
                        <a:t>2024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100</a:t>
                      </a:r>
                    </a:p>
                    <a:p>
                      <a:pPr>
                        <a:spcAft>
                          <a:spcPts val="100"/>
                        </a:spcAft>
                        <a:defRPr sz="950" b="0">
                          <a:solidFill>
                            <a:srgbClr val="11151A"/>
                          </a:solidFill>
                          <a:latin typeface="Lato"/>
                        </a:defRPr>
                      </a:pPr>
                      <a:r>
                        <a:t>456,214 at ACSA airports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100 / 110 / 125</a:t>
                      </a:r>
                    </a:p>
                    <a:p>
                      <a:pPr>
                        <a:spcAft>
                          <a:spcPts val="100"/>
                        </a:spcAft>
                        <a:defRPr sz="950" b="0">
                          <a:solidFill>
                            <a:srgbClr val="11151A"/>
                          </a:solidFill>
                          <a:latin typeface="Lato"/>
                        </a:defRPr>
                      </a:pPr>
                      <a:r>
                        <a:t>was 100 / 120 / 140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100 / 120 / 140</a:t>
                      </a:r>
                    </a:p>
                    <a:p>
                      <a:pPr>
                        <a:spcAft>
                          <a:spcPts val="100"/>
                        </a:spcAft>
                        <a:defRPr sz="950" b="0">
                          <a:solidFill>
                            <a:srgbClr val="11151A"/>
                          </a:solidFill>
                          <a:latin typeface="Lato"/>
                        </a:defRPr>
                      </a:pPr>
                      <a:r>
                        <a:t>was 100 / 145 / 190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ACSA: 2019 was 112 and the 2016 peak 125. Proposed highs of 140 and 190 exceed every year on record.</a:t>
                      </a:r>
                    </a:p>
                  </a:txBody>
                  <a:tcPr marL="64008" marR="64008" marT="54864" marB="27432" anchor="t">
                    <a:lnL w="0">
                      <a:noFill/>
                    </a:lnL>
                    <a:lnR w="0">
                      <a:noFill/>
                    </a:lnR>
                    <a:lnT w="0">
                      <a:noFill/>
                    </a:lnT>
                    <a:lnB w="5080">
                      <a:solidFill>
                        <a:srgbClr val="B8B8B8"/>
                      </a:solidFill>
                    </a:lnB>
                    <a:solidFill>
                      <a:srgbClr val="FFFFFF"/>
                    </a:solidFill>
                  </a:tcPr>
                </a:tc>
              </a:tr>
              <a:tr h="600891">
                <a:tc>
                  <a:txBody>
                    <a:bodyPr/>
                    <a:lstStyle/>
                    <a:p>
                      <a:pPr>
                        <a:spcAft>
                          <a:spcPts val="100"/>
                        </a:spcAft>
                        <a:defRPr sz="950" b="1">
                          <a:solidFill>
                            <a:srgbClr val="0A2373"/>
                          </a:solidFill>
                          <a:latin typeface="Lato"/>
                        </a:defRPr>
                      </a:pPr>
                      <a:r>
                        <a:t>Jet fuel per movement</a:t>
                      </a:r>
                    </a:p>
                    <a:p>
                      <a:pPr>
                        <a:spcAft>
                          <a:spcPts val="100"/>
                        </a:spcAft>
                        <a:defRPr sz="950" b="1">
                          <a:solidFill>
                            <a:srgbClr val="0A2373"/>
                          </a:solidFill>
                          <a:latin typeface="Lato"/>
                        </a:defRPr>
                      </a:pPr>
                      <a:r>
                        <a:t>2024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100</a:t>
                      </a:r>
                    </a:p>
                    <a:p>
                      <a:pPr>
                        <a:spcAft>
                          <a:spcPts val="100"/>
                        </a:spcAft>
                        <a:defRPr sz="950" b="0">
                          <a:solidFill>
                            <a:srgbClr val="11151A"/>
                          </a:solidFill>
                          <a:latin typeface="Lato"/>
                        </a:defRPr>
                      </a:pPr>
                      <a:r>
                        <a:t>4,090 litres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80 / 90 / 113</a:t>
                      </a:r>
                    </a:p>
                    <a:p>
                      <a:pPr>
                        <a:spcAft>
                          <a:spcPts val="100"/>
                        </a:spcAft>
                        <a:defRPr sz="950" b="0">
                          <a:solidFill>
                            <a:srgbClr val="11151A"/>
                          </a:solidFill>
                          <a:latin typeface="Lato"/>
                        </a:defRPr>
                      </a:pPr>
                      <a:r>
                        <a:t>was 80 / 90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65 / 80 / 113</a:t>
                      </a:r>
                    </a:p>
                    <a:p>
                      <a:pPr>
                        <a:spcAft>
                          <a:spcPts val="100"/>
                        </a:spcAft>
                        <a:defRPr sz="950" b="0">
                          <a:solidFill>
                            <a:srgbClr val="11151A"/>
                          </a:solidFill>
                          <a:latin typeface="Lato"/>
                        </a:defRPr>
                      </a:pPr>
                      <a:r>
                        <a:t>was 65 / 80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Sales over movements: the 2013-2019 average was 4,608 litres (113). High case should allow a return to it.</a:t>
                      </a:r>
                    </a:p>
                  </a:txBody>
                  <a:tcPr marL="64008" marR="64008" marT="54864" marB="27432" anchor="t">
                    <a:lnL w="0">
                      <a:noFill/>
                    </a:lnL>
                    <a:lnR w="0">
                      <a:noFill/>
                    </a:lnR>
                    <a:lnT w="0">
                      <a:noFill/>
                    </a:lnT>
                    <a:lnB w="5080">
                      <a:solidFill>
                        <a:srgbClr val="B8B8B8"/>
                      </a:solidFill>
                    </a:lnB>
                    <a:solidFill>
                      <a:srgbClr val="FFFFFF"/>
                    </a:solidFill>
                  </a:tcPr>
                </a:tc>
              </a:tr>
              <a:tr h="600891">
                <a:tc>
                  <a:txBody>
                    <a:bodyPr/>
                    <a:lstStyle/>
                    <a:p>
                      <a:pPr>
                        <a:spcAft>
                          <a:spcPts val="100"/>
                        </a:spcAft>
                        <a:defRPr sz="950" b="1">
                          <a:solidFill>
                            <a:srgbClr val="0A2373"/>
                          </a:solidFill>
                          <a:latin typeface="Lato"/>
                        </a:defRPr>
                      </a:pPr>
                      <a:r>
                        <a:t>Sustainable fuel share</a:t>
                      </a:r>
                    </a:p>
                    <a:p>
                      <a:pPr>
                        <a:spcAft>
                          <a:spcPts val="100"/>
                        </a:spcAft>
                        <a:defRPr sz="950" b="1">
                          <a:solidFill>
                            <a:srgbClr val="0A2373"/>
                          </a:solidFill>
                          <a:latin typeface="Lato"/>
                        </a:defRPr>
                      </a:pPr>
                      <a:r>
                        <a:t>% of jet volume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a:t>
                      </a:r>
                    </a:p>
                    <a:p>
                      <a:pPr>
                        <a:spcAft>
                          <a:spcPts val="100"/>
                        </a:spcAft>
                        <a:defRPr sz="950" b="0">
                          <a:solidFill>
                            <a:srgbClr val="11151A"/>
                          </a:solidFill>
                          <a:latin typeface="Lato"/>
                        </a:defRPr>
                      </a:pPr>
                      <a:r>
                        <a:t>unsourced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2 / 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5 / 10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No South African blend requirement sourced. Agreed as a sensitivity.</a:t>
                      </a:r>
                    </a:p>
                  </a:txBody>
                  <a:tcPr marL="64008" marR="64008" marT="54864" marB="27432" anchor="t">
                    <a:lnL w="0">
                      <a:noFill/>
                    </a:lnL>
                    <a:lnR w="0">
                      <a:noFill/>
                    </a:lnR>
                    <a:lnT w="0">
                      <a:noFill/>
                    </a:lnT>
                    <a:lnB w="5080">
                      <a:solidFill>
                        <a:srgbClr val="B8B8B8"/>
                      </a:solidFill>
                    </a:lnB>
                    <a:solidFill>
                      <a:srgbClr val="FFFFFF"/>
                    </a:solidFill>
                  </a:tcPr>
                </a:tc>
              </a:tr>
              <a:tr h="600891">
                <a:tc>
                  <a:txBody>
                    <a:bodyPr/>
                    <a:lstStyle/>
                    <a:p>
                      <a:pPr>
                        <a:spcAft>
                          <a:spcPts val="100"/>
                        </a:spcAft>
                        <a:defRPr sz="950" b="1">
                          <a:solidFill>
                            <a:srgbClr val="0A2373"/>
                          </a:solidFill>
                          <a:latin typeface="Lato"/>
                        </a:defRPr>
                      </a:pPr>
                      <a:r>
                        <a:t>Plant utilisation</a:t>
                      </a:r>
                    </a:p>
                    <a:p>
                      <a:pPr>
                        <a:spcAft>
                          <a:spcPts val="100"/>
                        </a:spcAft>
                        <a:defRPr sz="950" b="1">
                          <a:solidFill>
                            <a:srgbClr val="0A2373"/>
                          </a:solidFill>
                          <a:latin typeface="Lato"/>
                        </a:defRPr>
                      </a:pPr>
                      <a:r>
                        <a:t>% of capacity, all fuels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67</a:t>
                      </a:r>
                    </a:p>
                    <a:p>
                      <a:pPr>
                        <a:spcAft>
                          <a:spcPts val="100"/>
                        </a:spcAft>
                        <a:defRPr sz="950" b="0">
                          <a:solidFill>
                            <a:srgbClr val="11151A"/>
                          </a:solidFill>
                          <a:latin typeface="Lato"/>
                        </a:defRPr>
                      </a:pPr>
                      <a:r>
                        <a:t>indicative, 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 / 75 / 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 / 75 / 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Same setting as diesel and petrol; count once.</a:t>
                      </a:r>
                    </a:p>
                  </a:txBody>
                  <a:tcPr marL="64008" marR="64008" marT="54864" marB="27432" anchor="t">
                    <a:lnL w="0">
                      <a:noFill/>
                    </a:lnL>
                    <a:lnR w="0">
                      <a:noFill/>
                    </a:lnR>
                    <a:lnT w="0">
                      <a:noFill/>
                    </a:lnT>
                    <a:lnB w="5080">
                      <a:solidFill>
                        <a:srgbClr val="B8B8B8"/>
                      </a:solidFill>
                    </a:lnB>
                    <a:solidFill>
                      <a:srgbClr val="FFFFFF"/>
                    </a:solidFill>
                  </a:tcPr>
                </a:tc>
              </a:tr>
              <a:tr h="600891">
                <a:tc>
                  <a:txBody>
                    <a:bodyPr/>
                    <a:lstStyle/>
                    <a:p>
                      <a:pPr>
                        <a:spcAft>
                          <a:spcPts val="100"/>
                        </a:spcAft>
                        <a:defRPr sz="950" b="1">
                          <a:solidFill>
                            <a:srgbClr val="0A2373"/>
                          </a:solidFill>
                          <a:latin typeface="Lato"/>
                        </a:defRPr>
                      </a:pPr>
                      <a:r>
                        <a:t>Jet yield</a:t>
                      </a:r>
                    </a:p>
                    <a:p>
                      <a:pPr>
                        <a:spcAft>
                          <a:spcPts val="100"/>
                        </a:spcAft>
                        <a:defRPr sz="950" b="1">
                          <a:solidFill>
                            <a:srgbClr val="0A2373"/>
                          </a:solidFill>
                          <a:latin typeface="Lato"/>
                        </a:defRPr>
                      </a:pPr>
                      <a:r>
                        <a:t>% of capable throughput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a:t>
                      </a:r>
                    </a:p>
                    <a:p>
                      <a:pPr>
                        <a:spcAft>
                          <a:spcPts val="100"/>
                        </a:spcAft>
                        <a:defRPr sz="950" b="0">
                          <a:solidFill>
                            <a:srgbClr val="11151A"/>
                          </a:solidFill>
                          <a:latin typeface="Lato"/>
                        </a:defRPr>
                      </a:pPr>
                      <a:r>
                        <a:t>legacy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5 / 10 / 15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5 / 10 / 15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Jet was 5-8% of the five fuels produced, 2017-2021 energy balances. Agreed.</a:t>
                      </a:r>
                    </a:p>
                  </a:txBody>
                  <a:tcPr marL="64008" marR="64008" marT="54864" marB="27432" anchor="t">
                    <a:lnL w="0">
                      <a:noFill/>
                    </a:lnL>
                    <a:lnR w="0">
                      <a:noFill/>
                    </a:lnR>
                    <a:lnT w="0">
                      <a:noFill/>
                    </a:lnT>
                    <a:lnB w="5080">
                      <a:solidFill>
                        <a:srgbClr val="B8B8B8"/>
                      </a:solidFill>
                    </a:lnB>
                    <a:solidFill>
                      <a:srgbClr val="FFFFFF"/>
                    </a:solidFill>
                  </a:tcPr>
                </a:tc>
              </a:tr>
              <a:tr h="600894">
                <a:tc>
                  <a:txBody>
                    <a:bodyPr/>
                    <a:lstStyle/>
                    <a:p>
                      <a:pPr>
                        <a:spcAft>
                          <a:spcPts val="100"/>
                        </a:spcAft>
                        <a:defRPr sz="950" b="1">
                          <a:solidFill>
                            <a:srgbClr val="0A2373"/>
                          </a:solidFill>
                          <a:latin typeface="Lato"/>
                        </a:defRPr>
                      </a:pPr>
                      <a:r>
                        <a:t>Added refining capacity</a:t>
                      </a:r>
                    </a:p>
                    <a:p>
                      <a:pPr>
                        <a:spcAft>
                          <a:spcPts val="100"/>
                        </a:spcAft>
                        <a:defRPr sz="950" b="1">
                          <a:solidFill>
                            <a:srgbClr val="0A2373"/>
                          </a:solidFill>
                          <a:latin typeface="Lato"/>
                        </a:defRPr>
                      </a:pPr>
                      <a:r>
                        <a:t>thousand barrels a day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0 / 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0 / 400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Jet capability of any restart is not established.</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Chevron 7">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9" name="Chevron 8">
            <a:hlinkClick action="ppaction://hlinksldjump" r:id="rId3"/>
          </p:cNvPr>
          <p:cNvSpPr/>
          <p:nvPr/>
        </p:nvSpPr>
        <p:spPr>
          <a:xfrm>
            <a:off x="2587752"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2  Forecast levers</a:t>
            </a:r>
          </a:p>
        </p:txBody>
      </p:sp>
      <p:sp>
        <p:nvSpPr>
          <p:cNvPr id="10" name="Chevron 9">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1" name="Chevron 10">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2" name="Chevron 11">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Petrol: mileage and growth sit above the evidence; electric cases now follow named markets</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Petrol inputs | low / medium / high for 2030 and 2035 | 22 of 42 values have a proposed replacement</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fuel_lever_response_2026-10-07.md on manish-branch; Nigel's proposed inputs of 7 October are not edited. Replacements are the analyst's proposals, pending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11680"/>
          <a:ext cx="10652760" cy="4206240"/>
        </p:xfrm>
        <a:graphic>
          <a:graphicData uri="http://schemas.openxmlformats.org/drawingml/2006/table">
            <a:tbl>
              <a:tblPr firstRow="0" bandRow="0"/>
              <a:tblGrid>
                <a:gridCol w="2148840"/>
                <a:gridCol w="1463040"/>
                <a:gridCol w="1600200"/>
                <a:gridCol w="1600200"/>
                <a:gridCol w="3840480"/>
              </a:tblGrid>
              <a:tr h="525780">
                <a:tc>
                  <a:txBody>
                    <a:bodyPr/>
                    <a:lstStyle/>
                    <a:p>
                      <a:pPr>
                        <a:spcAft>
                          <a:spcPts val="100"/>
                        </a:spcAft>
                        <a:defRPr sz="950" b="1">
                          <a:solidFill>
                            <a:srgbClr val="0A2373"/>
                          </a:solidFill>
                          <a:latin typeface="Lato"/>
                        </a:defRPr>
                      </a:pPr>
                      <a:r>
                        <a:t>Lever and unit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Baseline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2030</a:t>
                      </a:r>
                    </a:p>
                    <a:p>
                      <a:pPr>
                        <a:spcAft>
                          <a:spcPts val="100"/>
                        </a:spcAft>
                        <a:defRPr sz="9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2035</a:t>
                      </a:r>
                    </a:p>
                    <a:p>
                      <a:pPr>
                        <a:spcAft>
                          <a:spcPts val="100"/>
                        </a:spcAft>
                        <a:defRPr sz="9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Rationale and source</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Passenger mileage</a:t>
                      </a:r>
                    </a:p>
                    <a:p>
                      <a:pPr>
                        <a:spcAft>
                          <a:spcPts val="100"/>
                        </a:spcAft>
                        <a:defRPr sz="950" b="1">
                          <a:solidFill>
                            <a:srgbClr val="0A2373"/>
                          </a:solidFill>
                          <a:latin typeface="Lato"/>
                        </a:defRPr>
                      </a:pPr>
                      <a:r>
                        <a:t>km a vehicle a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17,000</a:t>
                      </a:r>
                    </a:p>
                    <a:p>
                      <a:pPr>
                        <a:spcAft>
                          <a:spcPts val="100"/>
                        </a:spcAft>
                        <a:defRPr sz="950" b="0">
                          <a:solidFill>
                            <a:srgbClr val="11151A"/>
                          </a:solidFill>
                          <a:latin typeface="Lato"/>
                        </a:defRPr>
                      </a:pPr>
                      <a:r>
                        <a:t>placeholder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12,900 / 14,500 / 17,000</a:t>
                      </a:r>
                    </a:p>
                    <a:p>
                      <a:pPr>
                        <a:spcAft>
                          <a:spcPts val="100"/>
                        </a:spcAft>
                        <a:defRPr sz="950" b="0">
                          <a:solidFill>
                            <a:srgbClr val="11151A"/>
                          </a:solidFill>
                          <a:latin typeface="Lato"/>
                        </a:defRPr>
                      </a:pPr>
                      <a:r>
                        <a:t>was 13,600 / 17,000 / 20,400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12,900 / 14,500 / 17,000</a:t>
                      </a:r>
                    </a:p>
                    <a:p>
                      <a:pPr>
                        <a:spcAft>
                          <a:spcPts val="100"/>
                        </a:spcAft>
                        <a:defRPr sz="950" b="0">
                          <a:solidFill>
                            <a:srgbClr val="11151A"/>
                          </a:solidFill>
                          <a:latin typeface="Lato"/>
                        </a:defRPr>
                      </a:pPr>
                      <a:r>
                        <a:t>was 13,600 / 17,000 / 20,400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Stone et al. (2018): 14,457 km for petrol cars. 2023 sales over registered petrol vehicles imply about 12,900.</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Real GDP growth</a:t>
                      </a:r>
                    </a:p>
                    <a:p>
                      <a:pPr>
                        <a:spcAft>
                          <a:spcPts val="100"/>
                        </a:spcAft>
                        <a:defRPr sz="950" b="1">
                          <a:solidFill>
                            <a:srgbClr val="0A2373"/>
                          </a:solidFill>
                          <a:latin typeface="Lato"/>
                        </a:defRPr>
                      </a:pPr>
                      <a:r>
                        <a:t>% a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0.5</a:t>
                      </a:r>
                    </a:p>
                    <a:p>
                      <a:pPr>
                        <a:spcAft>
                          <a:spcPts val="100"/>
                        </a:spcAft>
                        <a:defRPr sz="950" b="0">
                          <a:solidFill>
                            <a:srgbClr val="11151A"/>
                          </a:solidFill>
                          <a:latin typeface="Lato"/>
                        </a:defRPr>
                      </a:pPr>
                      <a:r>
                        <a:t>2024 actual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0.7 / 1.6 / 2</a:t>
                      </a:r>
                    </a:p>
                    <a:p>
                      <a:pPr>
                        <a:spcAft>
                          <a:spcPts val="100"/>
                        </a:spcAft>
                        <a:defRPr sz="950" b="0">
                          <a:solidFill>
                            <a:srgbClr val="11151A"/>
                          </a:solidFill>
                          <a:latin typeface="Lato"/>
                        </a:defRPr>
                      </a:pPr>
                      <a:r>
                        <a:t>was 1 / 2 / 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0.7 / 1.6 / 2</a:t>
                      </a:r>
                    </a:p>
                    <a:p>
                      <a:pPr>
                        <a:spcAft>
                          <a:spcPts val="100"/>
                        </a:spcAft>
                        <a:defRPr sz="950" b="0">
                          <a:solidFill>
                            <a:srgbClr val="11151A"/>
                          </a:solidFill>
                          <a:latin typeface="Lato"/>
                        </a:defRPr>
                      </a:pPr>
                      <a:r>
                        <a:t>was 1 / 2 / 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Stats SA: 0.7% a year over 2014-2024, 1.6% over 2010-2019. Treasury: 2.0% by 2028. Registered cases 1.0, 1.6.</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Battery electric share</a:t>
                      </a:r>
                    </a:p>
                    <a:p>
                      <a:pPr>
                        <a:spcAft>
                          <a:spcPts val="100"/>
                        </a:spcAft>
                        <a:defRPr sz="950" b="1">
                          <a:solidFill>
                            <a:srgbClr val="0A2373"/>
                          </a:solidFill>
                          <a:latin typeface="Lato"/>
                        </a:defRPr>
                      </a:pPr>
                      <a:r>
                        <a:t>% of new 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0.2</a:t>
                      </a:r>
                    </a:p>
                    <a:p>
                      <a:pPr>
                        <a:spcAft>
                          <a:spcPts val="100"/>
                        </a:spcAft>
                        <a:defRPr sz="950" b="0">
                          <a:solidFill>
                            <a:srgbClr val="11151A"/>
                          </a:solidFill>
                          <a:latin typeface="Lato"/>
                        </a:defRPr>
                      </a:pPr>
                      <a:r>
                        <a:t>1,088 sold, 2025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0.5 / 4 / 20</a:t>
                      </a:r>
                    </a:p>
                    <a:p>
                      <a:pPr>
                        <a:spcAft>
                          <a:spcPts val="100"/>
                        </a:spcAft>
                        <a:defRPr sz="950" b="0">
                          <a:solidFill>
                            <a:srgbClr val="11151A"/>
                          </a:solidFill>
                          <a:latin typeface="Lato"/>
                        </a:defRPr>
                      </a:pPr>
                      <a:r>
                        <a:t>was 5 / 15 / 30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2 / 15 / 40</a:t>
                      </a:r>
                    </a:p>
                    <a:p>
                      <a:pPr>
                        <a:spcAft>
                          <a:spcPts val="100"/>
                        </a:spcAft>
                        <a:defRPr sz="950" b="0">
                          <a:solidFill>
                            <a:srgbClr val="11151A"/>
                          </a:solidFill>
                          <a:latin typeface="Lato"/>
                        </a:defRPr>
                      </a:pPr>
                      <a:r>
                        <a:t>was 15 / 35 / 60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IEA Global EV Outlook 2026, 2025 shares: India nearly 4%, Indonesia 15%, Turkiye over 20% (from 1% in 2022), Vietnam nearly 40%.</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New-vehicle efficiency gain</a:t>
                      </a:r>
                    </a:p>
                    <a:p>
                      <a:pPr>
                        <a:spcAft>
                          <a:spcPts val="100"/>
                        </a:spcAft>
                        <a:defRPr sz="950" b="1">
                          <a:solidFill>
                            <a:srgbClr val="0A2373"/>
                          </a:solidFill>
                          <a:latin typeface="Lato"/>
                        </a:defRPr>
                      </a:pPr>
                      <a:r>
                        <a:t>% a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1.0 to 1.5</a:t>
                      </a:r>
                    </a:p>
                    <a:p>
                      <a:pPr>
                        <a:spcAft>
                          <a:spcPts val="100"/>
                        </a:spcAft>
                        <a:defRPr sz="950" b="0">
                          <a:solidFill>
                            <a:srgbClr val="11151A"/>
                          </a:solidFill>
                          <a:latin typeface="Lato"/>
                        </a:defRPr>
                      </a:pPr>
                      <a:r>
                        <a:t>registered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 / 1.25 / 1.5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 / 1.25 / 1.5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Equals the registered endpoints, which have no source. Agreed for now.</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Plant utilisation</a:t>
                      </a:r>
                    </a:p>
                    <a:p>
                      <a:pPr>
                        <a:spcAft>
                          <a:spcPts val="100"/>
                        </a:spcAft>
                        <a:defRPr sz="950" b="1">
                          <a:solidFill>
                            <a:srgbClr val="0A2373"/>
                          </a:solidFill>
                          <a:latin typeface="Lato"/>
                        </a:defRPr>
                      </a:pPr>
                      <a:r>
                        <a:t>% of capacity, all fuels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67</a:t>
                      </a:r>
                    </a:p>
                    <a:p>
                      <a:pPr>
                        <a:spcAft>
                          <a:spcPts val="100"/>
                        </a:spcAft>
                        <a:defRPr sz="950" b="0">
                          <a:solidFill>
                            <a:srgbClr val="11151A"/>
                          </a:solidFill>
                          <a:latin typeface="Lato"/>
                        </a:defRPr>
                      </a:pPr>
                      <a:r>
                        <a:t>indicative, 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 / 75 / 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 / 75 / 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Same setting as diesel and jet; count once.</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Petrol yield</a:t>
                      </a:r>
                    </a:p>
                    <a:p>
                      <a:pPr>
                        <a:spcAft>
                          <a:spcPts val="100"/>
                        </a:spcAft>
                        <a:defRPr sz="950" b="1">
                          <a:solidFill>
                            <a:srgbClr val="0A2373"/>
                          </a:solidFill>
                          <a:latin typeface="Lato"/>
                        </a:defRPr>
                      </a:pPr>
                      <a:r>
                        <a:t>% of refinery output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54</a:t>
                      </a:r>
                    </a:p>
                    <a:p>
                      <a:pPr>
                        <a:spcAft>
                          <a:spcPts val="100"/>
                        </a:spcAft>
                        <a:defRPr sz="950" b="0">
                          <a:solidFill>
                            <a:srgbClr val="11151A"/>
                          </a:solidFill>
                          <a:latin typeface="Lato"/>
                        </a:defRPr>
                      </a:pPr>
                      <a:r>
                        <a:t>JODI 2024, low reliability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45 / 50 / 55</a:t>
                      </a:r>
                    </a:p>
                    <a:p>
                      <a:pPr>
                        <a:spcAft>
                          <a:spcPts val="100"/>
                        </a:spcAft>
                        <a:defRPr sz="950" b="0">
                          <a:solidFill>
                            <a:srgbClr val="11151A"/>
                          </a:solidFill>
                          <a:latin typeface="Lato"/>
                        </a:defRPr>
                      </a:pPr>
                      <a:r>
                        <a:t>was 35 / 45 / 55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45 / 50 / 55</a:t>
                      </a:r>
                    </a:p>
                    <a:p>
                      <a:pPr>
                        <a:spcAft>
                          <a:spcPts val="100"/>
                        </a:spcAft>
                        <a:defRPr sz="950" b="0">
                          <a:solidFill>
                            <a:srgbClr val="11151A"/>
                          </a:solidFill>
                          <a:latin typeface="Lato"/>
                        </a:defRPr>
                      </a:pPr>
                      <a:r>
                        <a:t>was 35 / 45 / 55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JODI: 51% in 2023, 54% in 2024. Energy balances 2017-2021: 47-50% of five fuels. Legacy 45%. Set with diesel.</a:t>
                      </a:r>
                    </a:p>
                  </a:txBody>
                  <a:tcPr marL="64008" marR="64008" marT="54864" marB="27432" anchor="t">
                    <a:lnL w="0">
                      <a:noFill/>
                    </a:lnL>
                    <a:lnR w="0">
                      <a:noFill/>
                    </a:lnR>
                    <a:lnT w="0">
                      <a:noFill/>
                    </a:lnT>
                    <a:lnB w="5080">
                      <a:solidFill>
                        <a:srgbClr val="B8B8B8"/>
                      </a:solidFill>
                    </a:lnB>
                    <a:solidFill>
                      <a:srgbClr val="FFFFFF"/>
                    </a:solidFill>
                  </a:tcPr>
                </a:tc>
              </a:tr>
              <a:tr h="525780">
                <a:tc>
                  <a:txBody>
                    <a:bodyPr/>
                    <a:lstStyle/>
                    <a:p>
                      <a:pPr>
                        <a:spcAft>
                          <a:spcPts val="100"/>
                        </a:spcAft>
                        <a:defRPr sz="950" b="1">
                          <a:solidFill>
                            <a:srgbClr val="0A2373"/>
                          </a:solidFill>
                          <a:latin typeface="Lato"/>
                        </a:defRPr>
                      </a:pPr>
                      <a:r>
                        <a:t>Added refining capacity</a:t>
                      </a:r>
                    </a:p>
                    <a:p>
                      <a:pPr>
                        <a:spcAft>
                          <a:spcPts val="100"/>
                        </a:spcAft>
                        <a:defRPr sz="950" b="1">
                          <a:solidFill>
                            <a:srgbClr val="0A2373"/>
                          </a:solidFill>
                          <a:latin typeface="Lato"/>
                        </a:defRPr>
                      </a:pPr>
                      <a:r>
                        <a:t>thousand barrels a day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0 / 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0 / 0 / 400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Conditional illustration; no investment decision sourced.</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Chevron 7">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9" name="Chevron 8">
            <a:hlinkClick action="ppaction://hlinksldjump" r:id="rId3"/>
          </p:cNvPr>
          <p:cNvSpPr/>
          <p:nvPr/>
        </p:nvSpPr>
        <p:spPr>
          <a:xfrm>
            <a:off x="2587752"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2  Forecast levers</a:t>
            </a:r>
          </a:p>
        </p:txBody>
      </p:sp>
      <p:sp>
        <p:nvSpPr>
          <p:cNvPr id="10" name="Chevron 9">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1" name="Chevron 10">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2" name="Chevron 11">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Nine levers added: price, backup generation, freight electrification, hybrids, rail and neighbours</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Added by the analyst; not in Nigel's file | low / medium / high for 2030 and 2035 | proposals for review</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fuel_lever_response_2026-10-07.md on manish-branch; Nigel's proposed inputs of 7 October are not edited. Replacements are the analyst's proposals, pending review.</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11680"/>
          <a:ext cx="10652760" cy="4297680"/>
        </p:xfrm>
        <a:graphic>
          <a:graphicData uri="http://schemas.openxmlformats.org/drawingml/2006/table">
            <a:tbl>
              <a:tblPr firstRow="0" bandRow="0"/>
              <a:tblGrid>
                <a:gridCol w="2377440"/>
                <a:gridCol w="1188720"/>
                <a:gridCol w="1463040"/>
                <a:gridCol w="1463040"/>
                <a:gridCol w="4160520"/>
              </a:tblGrid>
              <a:tr h="429768">
                <a:tc>
                  <a:txBody>
                    <a:bodyPr/>
                    <a:lstStyle/>
                    <a:p>
                      <a:pPr>
                        <a:spcAft>
                          <a:spcPts val="100"/>
                        </a:spcAft>
                        <a:defRPr sz="850" b="1">
                          <a:solidFill>
                            <a:srgbClr val="0A2373"/>
                          </a:solidFill>
                          <a:latin typeface="Lato"/>
                        </a:defRPr>
                      </a:pPr>
                      <a:r>
                        <a:t>Lever and unit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1">
                          <a:solidFill>
                            <a:srgbClr val="11151A"/>
                          </a:solidFill>
                          <a:latin typeface="Lato"/>
                        </a:defRPr>
                      </a:pPr>
                      <a:r>
                        <a:t>Baseline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1">
                          <a:solidFill>
                            <a:srgbClr val="11151A"/>
                          </a:solidFill>
                          <a:latin typeface="Lato"/>
                        </a:defRPr>
                      </a:pPr>
                      <a:r>
                        <a:t>2030</a:t>
                      </a:r>
                    </a:p>
                    <a:p>
                      <a:pPr>
                        <a:spcAft>
                          <a:spcPts val="100"/>
                        </a:spcAft>
                        <a:defRPr sz="8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1">
                          <a:solidFill>
                            <a:srgbClr val="11151A"/>
                          </a:solidFill>
                          <a:latin typeface="Lato"/>
                        </a:defRPr>
                      </a:pPr>
                      <a:r>
                        <a:t>2035</a:t>
                      </a:r>
                    </a:p>
                    <a:p>
                      <a:pPr>
                        <a:spcAft>
                          <a:spcPts val="100"/>
                        </a:spcAft>
                        <a:defRPr sz="850" b="1">
                          <a:solidFill>
                            <a:srgbClr val="11151A"/>
                          </a:solidFill>
                          <a:latin typeface="Lato"/>
                        </a:defRPr>
                      </a:pPr>
                      <a:r>
                        <a:t>low / medium / high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1">
                          <a:solidFill>
                            <a:srgbClr val="11151A"/>
                          </a:solidFill>
                          <a:latin typeface="Lato"/>
                        </a:defRPr>
                      </a:pPr>
                      <a:r>
                        <a:t>Rationale and source</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Real diesel price</a:t>
                      </a:r>
                    </a:p>
                    <a:p>
                      <a:pPr>
                        <a:spcAft>
                          <a:spcPts val="100"/>
                        </a:spcAft>
                        <a:defRPr sz="850" b="1">
                          <a:solidFill>
                            <a:srgbClr val="0A2373"/>
                          </a:solidFill>
                          <a:latin typeface="Lato"/>
                        </a:defRPr>
                      </a:pPr>
                      <a:r>
                        <a:t>2024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100</a:t>
                      </a:r>
                    </a:p>
                    <a:p>
                      <a:pPr>
                        <a:spcAft>
                          <a:spcPts val="100"/>
                        </a:spcAft>
                        <a:defRPr sz="850" b="0">
                          <a:solidFill>
                            <a:srgbClr val="11151A"/>
                          </a:solidFill>
                          <a:latin typeface="Lato"/>
                        </a:defRPr>
                      </a:pPr>
                      <a:r>
                        <a:t>wholesale, inland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80 / 100 / 140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80 / 100 / 140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Department and CEF prices over CPI: 76-120 in 2011-2025, 143 in October 2026. Boshoff (2012): response -0.13.</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Private backup generation</a:t>
                      </a:r>
                    </a:p>
                    <a:p>
                      <a:pPr>
                        <a:spcAft>
                          <a:spcPts val="100"/>
                        </a:spcAft>
                        <a:defRPr sz="850" b="1">
                          <a:solidFill>
                            <a:srgbClr val="0A2373"/>
                          </a:solidFill>
                          <a:latin typeface="Lato"/>
                        </a:defRPr>
                      </a:pPr>
                      <a:r>
                        <a:t>bn litres a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Not measured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 / 0 / 0.5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 / 0 / 0.5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Diesel sales fell 1.2 bn litres in 2024 as load-shedding ended; grid turbines explain about 0.7. Indicative.</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Electric share of new trucks</a:t>
                      </a:r>
                    </a:p>
                    <a:p>
                      <a:pPr>
                        <a:spcAft>
                          <a:spcPts val="100"/>
                        </a:spcAft>
                        <a:defRPr sz="850" b="1">
                          <a:solidFill>
                            <a:srgbClr val="0A2373"/>
                          </a:solidFill>
                          <a:latin typeface="Lato"/>
                        </a:defRPr>
                      </a:pPr>
                      <a:r>
                        <a:t>% of new truck 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Not reported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 / 0.4 / 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 / 3 / 9</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No South African data. 2025 benchmarks: Brazil 0.4%, Europe 3%, world 9%, China 25% (IEA; ICCT). High case is about 2.5% of the fleet by 2035.</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Electric share of new light commercial</a:t>
                      </a:r>
                    </a:p>
                    <a:p>
                      <a:pPr>
                        <a:spcAft>
                          <a:spcPts val="100"/>
                        </a:spcAft>
                        <a:defRPr sz="850" b="1">
                          <a:solidFill>
                            <a:srgbClr val="0A2373"/>
                          </a:solidFill>
                          <a:latin typeface="Lato"/>
                        </a:defRPr>
                      </a:pPr>
                      <a:r>
                        <a:t>% of new 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Not reported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 / 1 / 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 / 5 / 10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2025 benchmarks: India 1%, Europe 10%, China 14% (IEA). Bakkies differ from vans, so loose comparators.</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Real petrol price</a:t>
                      </a:r>
                    </a:p>
                    <a:p>
                      <a:pPr>
                        <a:spcAft>
                          <a:spcPts val="100"/>
                        </a:spcAft>
                        <a:defRPr sz="850" b="1">
                          <a:solidFill>
                            <a:srgbClr val="0A2373"/>
                          </a:solidFill>
                          <a:latin typeface="Lato"/>
                        </a:defRPr>
                      </a:pPr>
                      <a:r>
                        <a:t>2024 = 100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100</a:t>
                      </a:r>
                    </a:p>
                    <a:p>
                      <a:pPr>
                        <a:spcAft>
                          <a:spcPts val="100"/>
                        </a:spcAft>
                        <a:defRPr sz="850" b="0">
                          <a:solidFill>
                            <a:srgbClr val="11151A"/>
                          </a:solidFill>
                          <a:latin typeface="Lato"/>
                        </a:defRPr>
                      </a:pPr>
                      <a:r>
                        <a:t>retail, inland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80 / 100 / 120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80 / 100 / 120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79-109 in 2011-2025, 121 in October 2026. Boshoff (2012): response -0.5, so the high case is about -10%.</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Plug-in hybrid share</a:t>
                      </a:r>
                    </a:p>
                    <a:p>
                      <a:pPr>
                        <a:spcAft>
                          <a:spcPts val="100"/>
                        </a:spcAft>
                        <a:defRPr sz="850" b="1">
                          <a:solidFill>
                            <a:srgbClr val="0A2373"/>
                          </a:solidFill>
                          <a:latin typeface="Lato"/>
                        </a:defRPr>
                      </a:pPr>
                      <a:r>
                        <a:t>% of new 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0.5</a:t>
                      </a:r>
                    </a:p>
                    <a:p>
                      <a:pPr>
                        <a:spcAft>
                          <a:spcPts val="100"/>
                        </a:spcAft>
                        <a:defRPr sz="850" b="0">
                          <a:solidFill>
                            <a:srgbClr val="11151A"/>
                          </a:solidFill>
                          <a:latin typeface="Lato"/>
                        </a:defRPr>
                      </a:pPr>
                      <a:r>
                        <a:t>2,810 sold, 2025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0.5 / 1.2 / 2.1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0.5 / 2 / 3.7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naamsa: 0.02% in 2022 to 0.47% in 2025. Extrapolates South Africa's own sales; not a forecast.</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Conventional hybrid share</a:t>
                      </a:r>
                    </a:p>
                    <a:p>
                      <a:pPr>
                        <a:spcAft>
                          <a:spcPts val="100"/>
                        </a:spcAft>
                        <a:defRPr sz="850" b="1">
                          <a:solidFill>
                            <a:srgbClr val="0A2373"/>
                          </a:solidFill>
                          <a:latin typeface="Lato"/>
                        </a:defRPr>
                      </a:pPr>
                      <a:r>
                        <a:t>% of new sales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2.1</a:t>
                      </a:r>
                    </a:p>
                    <a:p>
                      <a:pPr>
                        <a:spcAft>
                          <a:spcPts val="100"/>
                        </a:spcAft>
                        <a:defRPr sz="850" b="0">
                          <a:solidFill>
                            <a:srgbClr val="11151A"/>
                          </a:solidFill>
                          <a:latin typeface="Lato"/>
                        </a:defRPr>
                      </a:pPr>
                      <a:r>
                        <a:t>12,818 sold, 2025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2.1 / 4.4 / 6.7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2.1 / 6.7 / 11.3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naamsa: 0.77% in 2022 to 2.15% in 2025. Extrapolates South Africa's own sales; not a forecast.</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Rail passenger journeys</a:t>
                      </a:r>
                    </a:p>
                    <a:p>
                      <a:pPr>
                        <a:spcAft>
                          <a:spcPts val="100"/>
                        </a:spcAft>
                        <a:defRPr sz="850" b="1">
                          <a:solidFill>
                            <a:srgbClr val="0A2373"/>
                          </a:solidFill>
                          <a:latin typeface="Lato"/>
                        </a:defRPr>
                      </a:pPr>
                      <a:r>
                        <a:t>million a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74</a:t>
                      </a:r>
                    </a:p>
                    <a:p>
                      <a:pPr>
                        <a:spcAft>
                          <a:spcPts val="100"/>
                        </a:spcAft>
                        <a:defRPr sz="850" b="0">
                          <a:solidFill>
                            <a:srgbClr val="11151A"/>
                          </a:solidFill>
                          <a:latin typeface="Lato"/>
                        </a:defRPr>
                      </a:pPr>
                      <a:r>
                        <a:t>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100 / 180 / 320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100 / 250 / 320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Stats SA: 317 in 2017, 175 in 2019, 19 in 2022, 103 in 2025. Effect in litres cannot yet be stated.</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50" b="1">
                          <a:solidFill>
                            <a:srgbClr val="0A2373"/>
                          </a:solidFill>
                          <a:latin typeface="Lato"/>
                        </a:defRPr>
                      </a:pPr>
                      <a:r>
                        <a:t>Exports to nine neighbours</a:t>
                      </a:r>
                    </a:p>
                    <a:p>
                      <a:pPr>
                        <a:spcAft>
                          <a:spcPts val="100"/>
                        </a:spcAft>
                        <a:defRPr sz="850" b="1">
                          <a:solidFill>
                            <a:srgbClr val="0A2373"/>
                          </a:solidFill>
                          <a:latin typeface="Lato"/>
                        </a:defRPr>
                      </a:pPr>
                      <a:r>
                        <a:t>bn litres a year, petrol and diesel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1.48</a:t>
                      </a:r>
                    </a:p>
                    <a:p>
                      <a:pPr>
                        <a:spcAft>
                          <a:spcPts val="100"/>
                        </a:spcAft>
                        <a:defRPr sz="850" b="0">
                          <a:solidFill>
                            <a:srgbClr val="11151A"/>
                          </a:solidFill>
                          <a:latin typeface="Lato"/>
                        </a:defRPr>
                      </a:pPr>
                      <a:r>
                        <a:t>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0.7 / 1.4 / 1.7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0.7 / 1.4 / 1.7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50" b="0">
                          <a:solidFill>
                            <a:srgbClr val="11151A"/>
                          </a:solidFill>
                          <a:latin typeface="Lato"/>
                        </a:defRPr>
                      </a:pPr>
                      <a:r>
                        <a:t>SARS: 2.66 in 2019, 1.37 in 2025; Botswana 1.05 to 0.68. Terminal throughput, not South African demand.</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Chevron 7">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9" name="Chevron 8">
            <a:hlinkClick action="ppaction://hlinksldjump" r:id="rId3"/>
          </p:cNvPr>
          <p:cNvSpPr/>
          <p:nvPr/>
        </p:nvSpPr>
        <p:spPr>
          <a:xfrm>
            <a:off x="2587752"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2  Forecast levers</a:t>
            </a:r>
          </a:p>
        </p:txBody>
      </p:sp>
      <p:sp>
        <p:nvSpPr>
          <p:cNvPr id="10" name="Chevron 9">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1" name="Chevron 10">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2" name="Chevron 11">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Sourced starting values lower 2024 diesel demand by 0.63 bn litres</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Agriculture and industry | diesel, billion litres a year | proposed as provisional starting values</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sector_baselines_2026-10-07.md and .csv on manish-branch; department energy balances 2012-2021. A proposal for Nigel's decision; nothing is accepted.</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2651760"/>
        </p:xfrm>
        <a:graphic>
          <a:graphicData uri="http://schemas.openxmlformats.org/drawingml/2006/table">
            <a:tbl>
              <a:tblPr firstRow="0" bandRow="0"/>
              <a:tblGrid>
                <a:gridCol w="1188720"/>
                <a:gridCol w="1143000"/>
                <a:gridCol w="2286000"/>
                <a:gridCol w="2743200"/>
                <a:gridCol w="1463040"/>
                <a:gridCol w="1828800"/>
              </a:tblGrid>
              <a:tr h="662940">
                <a:tc>
                  <a:txBody>
                    <a:bodyPr/>
                    <a:lstStyle/>
                    <a:p>
                      <a:pPr>
                        <a:spcAft>
                          <a:spcPts val="100"/>
                        </a:spcAft>
                        <a:defRPr sz="1050" b="1">
                          <a:solidFill>
                            <a:srgbClr val="0A2373"/>
                          </a:solidFill>
                          <a:latin typeface="Lato"/>
                        </a:defRPr>
                      </a:pPr>
                      <a:r>
                        <a:t>Sector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Earlier</a:t>
                      </a:r>
                    </a:p>
                    <a:p>
                      <a:pPr>
                        <a:spcAft>
                          <a:spcPts val="100"/>
                        </a:spcAft>
                        <a:defRPr sz="1050" b="1">
                          <a:solidFill>
                            <a:srgbClr val="11151A"/>
                          </a:solidFill>
                          <a:latin typeface="Lato"/>
                        </a:defRPr>
                      </a:pPr>
                      <a:r>
                        <a:t>placeholder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On the branch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Range in the 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Proposed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Effect in 2024; 2035</a:t>
                      </a:r>
                    </a:p>
                  </a:txBody>
                  <a:tcPr marL="64008" marR="64008" marT="54864" marB="27432" anchor="t">
                    <a:lnL w="0">
                      <a:noFill/>
                    </a:lnL>
                    <a:lnR w="0">
                      <a:noFill/>
                    </a:lnR>
                    <a:lnT w="0">
                      <a:noFill/>
                    </a:lnT>
                    <a:lnB w="5080">
                      <a:solidFill>
                        <a:srgbClr val="B8B8B8"/>
                      </a:solidFill>
                    </a:lnB>
                    <a:solidFill>
                      <a:srgbClr val="FFFFFF"/>
                    </a:solidFill>
                  </a:tcPr>
                </a:tc>
              </a:tr>
              <a:tr h="662940">
                <a:tc>
                  <a:txBody>
                    <a:bodyPr/>
                    <a:lstStyle/>
                    <a:p>
                      <a:pPr>
                        <a:spcAft>
                          <a:spcPts val="100"/>
                        </a:spcAft>
                        <a:defRPr sz="1050" b="1">
                          <a:solidFill>
                            <a:srgbClr val="0A2373"/>
                          </a:solidFill>
                          <a:latin typeface="Lato"/>
                        </a:defRPr>
                      </a:pPr>
                      <a:r>
                        <a:t>Agriculture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0.70</a:t>
                      </a:r>
                    </a:p>
                    <a:p>
                      <a:pPr>
                        <a:spcAft>
                          <a:spcPts val="100"/>
                        </a:spcAft>
                        <a:defRPr sz="1050" b="0">
                          <a:solidFill>
                            <a:srgbClr val="11151A"/>
                          </a:solidFill>
                          <a:latin typeface="Lato"/>
                        </a:defRPr>
                      </a:pPr>
                      <a:r>
                        <a:t>no source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1.06 for 2021</a:t>
                      </a:r>
                    </a:p>
                    <a:p>
                      <a:pPr>
                        <a:spcAft>
                          <a:spcPts val="100"/>
                        </a:spcAft>
                        <a:defRPr sz="1050" b="0">
                          <a:solidFill>
                            <a:srgbClr val="11151A"/>
                          </a:solidFill>
                          <a:latin typeface="Lato"/>
                        </a:defRPr>
                      </a:pPr>
                      <a:r>
                        <a:t>energy balance, agriculture and forestry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0.90-1.09 in eight of ten years, 2012-2021; 1.89 and 1.88 in 2016 and 2017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1.06</a:t>
                      </a:r>
                    </a:p>
                    <a:p>
                      <a:pPr>
                        <a:spcAft>
                          <a:spcPts val="100"/>
                        </a:spcAft>
                        <a:defRPr sz="1050" b="0">
                          <a:solidFill>
                            <a:srgbClr val="11151A"/>
                          </a:solidFill>
                          <a:latin typeface="Lato"/>
                        </a:defRPr>
                      </a:pPr>
                      <a:r>
                        <a:t>provisional, about +/-0.1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+0.36; +0.36</a:t>
                      </a:r>
                    </a:p>
                  </a:txBody>
                  <a:tcPr marL="64008" marR="64008" marT="54864" marB="27432" anchor="t">
                    <a:lnL w="0">
                      <a:noFill/>
                    </a:lnL>
                    <a:lnR w="0">
                      <a:noFill/>
                    </a:lnR>
                    <a:lnT w="0">
                      <a:noFill/>
                    </a:lnT>
                    <a:lnB w="5080">
                      <a:solidFill>
                        <a:srgbClr val="B8B8B8"/>
                      </a:solidFill>
                    </a:lnB>
                    <a:solidFill>
                      <a:srgbClr val="FFFFFF"/>
                    </a:solidFill>
                  </a:tcPr>
                </a:tc>
              </a:tr>
              <a:tr h="662940">
                <a:tc>
                  <a:txBody>
                    <a:bodyPr/>
                    <a:lstStyle/>
                    <a:p>
                      <a:pPr>
                        <a:spcAft>
                          <a:spcPts val="100"/>
                        </a:spcAft>
                        <a:defRPr sz="1050" b="1">
                          <a:solidFill>
                            <a:srgbClr val="0A2373"/>
                          </a:solidFill>
                          <a:latin typeface="Lato"/>
                        </a:defRPr>
                      </a:pPr>
                      <a:r>
                        <a:t>Industry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2.50</a:t>
                      </a:r>
                    </a:p>
                    <a:p>
                      <a:pPr>
                        <a:spcAft>
                          <a:spcPts val="100"/>
                        </a:spcAft>
                        <a:defRPr sz="1050" b="0">
                          <a:solidFill>
                            <a:srgbClr val="11151A"/>
                          </a:solidFill>
                          <a:latin typeface="Lato"/>
                        </a:defRPr>
                      </a:pPr>
                      <a:r>
                        <a:t>no source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1.50 for 2021</a:t>
                      </a:r>
                    </a:p>
                    <a:p>
                      <a:pPr>
                        <a:spcAft>
                          <a:spcPts val="100"/>
                        </a:spcAft>
                        <a:defRPr sz="1050" b="0">
                          <a:solidFill>
                            <a:srgbClr val="11151A"/>
                          </a:solidFill>
                          <a:latin typeface="Lato"/>
                        </a:defRPr>
                      </a:pPr>
                      <a:r>
                        <a:t>energy balance, industry; mining is 1.29 of it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1.32-1.93 over 2012-2021. Mining volume is 7% lower in 2024 than 2021, which would give 1.40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1.50</a:t>
                      </a:r>
                    </a:p>
                    <a:p>
                      <a:pPr>
                        <a:spcAft>
                          <a:spcPts val="100"/>
                        </a:spcAft>
                        <a:defRPr sz="1050" b="0">
                          <a:solidFill>
                            <a:srgbClr val="11151A"/>
                          </a:solidFill>
                          <a:latin typeface="Lato"/>
                        </a:defRPr>
                      </a:pPr>
                      <a:r>
                        <a:t>provisional, about +/-0.3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-0.99; -1.06 (high), -1.00 (low)</a:t>
                      </a:r>
                    </a:p>
                  </a:txBody>
                  <a:tcPr marL="64008" marR="64008" marT="54864" marB="27432" anchor="t">
                    <a:lnL w="0">
                      <a:noFill/>
                    </a:lnL>
                    <a:lnR w="0">
                      <a:noFill/>
                    </a:lnR>
                    <a:lnT w="0">
                      <a:noFill/>
                    </a:lnT>
                    <a:lnB w="5080">
                      <a:solidFill>
                        <a:srgbClr val="B8B8B8"/>
                      </a:solidFill>
                    </a:lnB>
                    <a:solidFill>
                      <a:srgbClr val="FFFFFF"/>
                    </a:solidFill>
                  </a:tcPr>
                </a:tc>
              </a:tr>
              <a:tr h="662940">
                <a:tc>
                  <a:txBody>
                    <a:bodyPr/>
                    <a:lstStyle/>
                    <a:p>
                      <a:pPr>
                        <a:spcAft>
                          <a:spcPts val="100"/>
                        </a:spcAft>
                        <a:defRPr sz="1050" b="1">
                          <a:solidFill>
                            <a:srgbClr val="0A2373"/>
                          </a:solidFill>
                          <a:latin typeface="Lato"/>
                        </a:defRPr>
                      </a:pPr>
                      <a:r>
                        <a:t>Both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3.20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2.56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2.56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-0.63; -0.69 (high), -0.64 (low)</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4983480"/>
            <a:ext cx="10652760" cy="1097280"/>
          </a:xfrm>
          <a:prstGeom prst="rect">
            <a:avLst/>
          </a:prstGeom>
          <a:noFill/>
        </p:spPr>
        <p:txBody>
          <a:bodyPr wrap="square" lIns="22860" rIns="22860" tIns="0" bIns="0">
            <a:spAutoFit/>
          </a:bodyPr>
          <a:lstStyle/>
          <a:p>
            <a:pPr>
              <a:spcAft>
                <a:spcPts val="300"/>
              </a:spcAft>
              <a:defRPr sz="1100" b="0">
                <a:solidFill>
                  <a:srgbClr val="11151A"/>
                </a:solidFill>
                <a:latin typeface="Lato"/>
              </a:defRPr>
            </a:pPr>
            <a:r>
              <a:t>Why 2021 and not an average: it is the latest balance and one consistent year for both sectors. A 2018-2021 average gives 0.98 and 1.68; the industry average is pulled up by the years before mining output fell.</a:t>
            </a:r>
          </a:p>
          <a:p>
            <a:pPr>
              <a:spcAft>
                <a:spcPts val="300"/>
              </a:spcAft>
              <a:defRPr sz="1100" b="0">
                <a:solidFill>
                  <a:srgbClr val="11151A"/>
                </a:solidFill>
                <a:latin typeface="Lato"/>
              </a:defRPr>
            </a:pPr>
            <a:r>
              <a:t>Decision for Nigel: accept both as provisional, or take the activity-adjusted 1.40 for industry. Both keep the needs-verification flag.</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totals show no double counting from the two sectors; the excess is in power generation</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Overlaps and double counting | model diesel for 2024 by segment against the evidence, billion litres</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sector_baselines_2026-10-07.md and .csv on manish-branch; department energy balances 2012-2021. A proposal for Nigel's decision; nothing is accepted.</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3657600"/>
        </p:xfrm>
        <a:graphic>
          <a:graphicData uri="http://schemas.openxmlformats.org/drawingml/2006/table">
            <a:tbl>
              <a:tblPr firstRow="0" bandRow="0"/>
              <a:tblGrid>
                <a:gridCol w="1600200"/>
                <a:gridCol w="822960"/>
                <a:gridCol w="3657600"/>
                <a:gridCol w="4572000"/>
              </a:tblGrid>
              <a:tr h="522514">
                <a:tc>
                  <a:txBody>
                    <a:bodyPr/>
                    <a:lstStyle/>
                    <a:p>
                      <a:pPr>
                        <a:spcAft>
                          <a:spcPts val="100"/>
                        </a:spcAft>
                        <a:defRPr sz="1000" b="1">
                          <a:solidFill>
                            <a:srgbClr val="0A2373"/>
                          </a:solidFill>
                          <a:latin typeface="Lato"/>
                        </a:defRPr>
                      </a:pPr>
                      <a:r>
                        <a:t>Model segment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Model</a:t>
                      </a:r>
                    </a:p>
                    <a:p>
                      <a:pPr>
                        <a:spcAft>
                          <a:spcPts val="100"/>
                        </a:spcAft>
                        <a:defRPr sz="1000" b="1">
                          <a:solidFill>
                            <a:srgbClr val="11151A"/>
                          </a:solidFill>
                          <a:latin typeface="Lato"/>
                        </a:defRPr>
                      </a:pPr>
                      <a:r>
                        <a:t>2024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Overlap or gap</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1000" b="1">
                          <a:solidFill>
                            <a:srgbClr val="0A2373"/>
                          </a:solidFill>
                          <a:latin typeface="Lato"/>
                        </a:defRPr>
                      </a:pPr>
                      <a:r>
                        <a:t>Road vehicles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8.50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Balance 2021: road 6.33; commercial and public services 4.30; together 10.63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The two balance lines swap volume between years while their sum holds, so the split shows who bought the fuel, not where it was burned</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1000" b="1">
                          <a:solidFill>
                            <a:srgbClr val="0A2373"/>
                          </a:solidFill>
                          <a:latin typeface="Lato"/>
                        </a:defRPr>
                      </a:pPr>
                      <a:r>
                        <a:t>Agriculture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1.06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Balance 2021: 1.06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Includes farm vehicles on public roads, which are also in the registered fleet. Size unknown</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1000" b="1">
                          <a:solidFill>
                            <a:srgbClr val="0A2373"/>
                          </a:solidFill>
                          <a:latin typeface="Lato"/>
                        </a:defRPr>
                      </a:pPr>
                      <a:r>
                        <a:t>Industry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1.51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Balance 2021: 1.50; mining 1.29, construction 0.05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Mine haul trucks are unregistered, so no overlap; mines' road vehicles do overlap</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1000" b="1">
                          <a:solidFill>
                            <a:srgbClr val="0A2373"/>
                          </a:solidFill>
                          <a:latin typeface="Lato"/>
                        </a:defRPr>
                      </a:pPr>
                      <a:r>
                        <a:t>Power generation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3.58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Eskom: 0.94 (year to March 2023), 0.68 (to March 2025); about 1.6 for all plants in the peak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Not an overlap: the model is at least 2 bn litres above reported burn</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1000" b="1">
                          <a:solidFill>
                            <a:srgbClr val="0A2373"/>
                          </a:solidFill>
                          <a:latin typeface="Lato"/>
                        </a:defRPr>
                      </a:pPr>
                      <a:r>
                        <a:t>Marine gas oil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0.77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No observed figure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Not established whether ships' diesel is inside inland sales</a:t>
                      </a:r>
                    </a:p>
                  </a:txBody>
                  <a:tcPr marL="64008" marR="64008" marT="54864" marB="27432" anchor="t">
                    <a:lnL w="0">
                      <a:noFill/>
                    </a:lnL>
                    <a:lnR w="0">
                      <a:noFill/>
                    </a:lnR>
                    <a:lnT w="0">
                      <a:noFill/>
                    </a:lnT>
                    <a:lnB w="5080">
                      <a:solidFill>
                        <a:srgbClr val="B8B8B8"/>
                      </a:solidFill>
                    </a:lnB>
                    <a:solidFill>
                      <a:srgbClr val="FFFFFF"/>
                    </a:solidFill>
                  </a:tcPr>
                </a:tc>
              </a:tr>
              <a:tr h="522516">
                <a:tc>
                  <a:txBody>
                    <a:bodyPr/>
                    <a:lstStyle/>
                    <a:p>
                      <a:pPr>
                        <a:spcAft>
                          <a:spcPts val="100"/>
                        </a:spcAft>
                        <a:defRPr sz="1000" b="1">
                          <a:solidFill>
                            <a:srgbClr val="0A2373"/>
                          </a:solidFill>
                          <a:latin typeface="Lato"/>
                        </a:defRPr>
                      </a:pPr>
                      <a:r>
                        <a:t>Total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15.42</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Recorded sales: 12.91 (2023); 11.73 (2024, unverified)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Model is 2.5 to 3.7 above recorded sales</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585216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Road vehicles, agriculture and industry are 11.07 in the model against 13.41 of final consumption in the 2021 balance, so those three are short, not double counted. At most 2.56 could overlap with road vehicles; no source sizes it.</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Four stations, 3,089 MW, burn diesel for power; eight coal stations stop by 2034</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Power generation fleet | installed capacity | diesel stations today and coal stations being retired</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power_fleet_diesel.csv and the Power fleet sheet of the workshop workbook, manish-branch; Eskom fact sheet GX 0001 (July 2024) and the sources named in the file.</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sp>
        <p:nvSpPr>
          <p:cNvPr id="7" name="TextBox 6"/>
          <p:cNvSpPr txBox="1"/>
          <p:nvPr/>
        </p:nvSpPr>
        <p:spPr>
          <a:xfrm>
            <a:off x="457200" y="2011680"/>
            <a:ext cx="4937760" cy="228600"/>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Diesel stations today</a:t>
            </a:r>
          </a:p>
        </p:txBody>
      </p:sp>
      <p:graphicFrame>
        <p:nvGraphicFramePr>
          <p:cNvPr id="8" name="Table 7"/>
          <p:cNvGraphicFramePr>
            <a:graphicFrameLocks noGrp="1"/>
          </p:cNvGraphicFramePr>
          <p:nvPr/>
        </p:nvGraphicFramePr>
        <p:xfrm>
          <a:off x="457200" y="2267712"/>
          <a:ext cx="5074920" cy="2011680"/>
        </p:xfrm>
        <a:graphic>
          <a:graphicData uri="http://schemas.openxmlformats.org/drawingml/2006/table">
            <a:tbl>
              <a:tblPr firstRow="0" bandRow="0"/>
              <a:tblGrid>
                <a:gridCol w="1051560"/>
                <a:gridCol w="1463040"/>
                <a:gridCol w="548640"/>
                <a:gridCol w="2011680"/>
              </a:tblGrid>
              <a:tr h="402336">
                <a:tc>
                  <a:txBody>
                    <a:bodyPr/>
                    <a:lstStyle/>
                    <a:p>
                      <a:pPr>
                        <a:spcAft>
                          <a:spcPts val="100"/>
                        </a:spcAft>
                        <a:defRPr sz="1000" b="1">
                          <a:solidFill>
                            <a:srgbClr val="0A2373"/>
                          </a:solidFill>
                          <a:latin typeface="Lato"/>
                        </a:defRPr>
                      </a:pPr>
                      <a:r>
                        <a:t>Station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Owner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MW</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What changes</a:t>
                      </a:r>
                    </a:p>
                  </a:txBody>
                  <a:tcPr marL="64008" marR="64008" marT="54864" marB="27432" anchor="t">
                    <a:lnL w="0">
                      <a:noFill/>
                    </a:lnL>
                    <a:lnR w="0">
                      <a:noFill/>
                    </a:lnR>
                    <a:lnT w="0">
                      <a:noFill/>
                    </a:lnT>
                    <a:lnB w="5080">
                      <a:solidFill>
                        <a:srgbClr val="B8B8B8"/>
                      </a:solidFill>
                    </a:lnB>
                    <a:solidFill>
                      <a:srgbClr val="FFFFFF"/>
                    </a:solidFill>
                  </a:tcPr>
                </a:tc>
              </a:tr>
              <a:tr h="402336">
                <a:tc>
                  <a:txBody>
                    <a:bodyPr/>
                    <a:lstStyle/>
                    <a:p>
                      <a:pPr>
                        <a:spcAft>
                          <a:spcPts val="100"/>
                        </a:spcAft>
                        <a:defRPr sz="1000" b="1">
                          <a:solidFill>
                            <a:srgbClr val="0A2373"/>
                          </a:solidFill>
                          <a:latin typeface="Lato"/>
                        </a:defRPr>
                      </a:pPr>
                      <a:r>
                        <a:t>Ankerlig</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Eskom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1,338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Gas supply sought; switch targeted December 2027</a:t>
                      </a:r>
                    </a:p>
                  </a:txBody>
                  <a:tcPr marL="64008" marR="64008" marT="54864" marB="27432" anchor="t">
                    <a:lnL w="0">
                      <a:noFill/>
                    </a:lnL>
                    <a:lnR w="0">
                      <a:noFill/>
                    </a:lnR>
                    <a:lnT w="0">
                      <a:noFill/>
                    </a:lnT>
                    <a:lnB w="5080">
                      <a:solidFill>
                        <a:srgbClr val="B8B8B8"/>
                      </a:solidFill>
                    </a:lnB>
                    <a:solidFill>
                      <a:srgbClr val="FFFFFF"/>
                    </a:solidFill>
                  </a:tcPr>
                </a:tc>
              </a:tr>
              <a:tr h="402336">
                <a:tc>
                  <a:txBody>
                    <a:bodyPr/>
                    <a:lstStyle/>
                    <a:p>
                      <a:pPr>
                        <a:spcAft>
                          <a:spcPts val="100"/>
                        </a:spcAft>
                        <a:defRPr sz="1000" b="1">
                          <a:solidFill>
                            <a:srgbClr val="0A2373"/>
                          </a:solidFill>
                          <a:latin typeface="Lato"/>
                        </a:defRPr>
                      </a:pPr>
                      <a:r>
                        <a:t>Gourikwa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Eskom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746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Same gas tender</a:t>
                      </a:r>
                    </a:p>
                  </a:txBody>
                  <a:tcPr marL="64008" marR="64008" marT="54864" marB="27432" anchor="t">
                    <a:lnL w="0">
                      <a:noFill/>
                    </a:lnL>
                    <a:lnR w="0">
                      <a:noFill/>
                    </a:lnR>
                    <a:lnT w="0">
                      <a:noFill/>
                    </a:lnT>
                    <a:lnB w="5080">
                      <a:solidFill>
                        <a:srgbClr val="B8B8B8"/>
                      </a:solidFill>
                    </a:lnB>
                    <a:solidFill>
                      <a:srgbClr val="FFFFFF"/>
                    </a:solidFill>
                  </a:tcPr>
                </a:tc>
              </a:tr>
              <a:tr h="402336">
                <a:tc>
                  <a:txBody>
                    <a:bodyPr/>
                    <a:lstStyle/>
                    <a:p>
                      <a:pPr>
                        <a:spcAft>
                          <a:spcPts val="100"/>
                        </a:spcAft>
                        <a:defRPr sz="1000" b="1">
                          <a:solidFill>
                            <a:srgbClr val="0A2373"/>
                          </a:solidFill>
                          <a:latin typeface="Lato"/>
                        </a:defRPr>
                      </a:pPr>
                      <a:r>
                        <a:t>Avon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Independent producer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670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Agreement with Eskom ends July 2031</a:t>
                      </a:r>
                    </a:p>
                  </a:txBody>
                  <a:tcPr marL="64008" marR="64008" marT="54864" marB="27432" anchor="t">
                    <a:lnL w="0">
                      <a:noFill/>
                    </a:lnL>
                    <a:lnR w="0">
                      <a:noFill/>
                    </a:lnR>
                    <a:lnT w="0">
                      <a:noFill/>
                    </a:lnT>
                    <a:lnB w="5080">
                      <a:solidFill>
                        <a:srgbClr val="B8B8B8"/>
                      </a:solidFill>
                    </a:lnB>
                    <a:solidFill>
                      <a:srgbClr val="FFFFFF"/>
                    </a:solidFill>
                  </a:tcPr>
                </a:tc>
              </a:tr>
              <a:tr h="402336">
                <a:tc>
                  <a:txBody>
                    <a:bodyPr/>
                    <a:lstStyle/>
                    <a:p>
                      <a:pPr>
                        <a:spcAft>
                          <a:spcPts val="100"/>
                        </a:spcAft>
                        <a:defRPr sz="1000" b="1">
                          <a:solidFill>
                            <a:srgbClr val="0A2373"/>
                          </a:solidFill>
                          <a:latin typeface="Lato"/>
                        </a:defRPr>
                      </a:pPr>
                      <a:r>
                        <a:t>Dedisa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Independent producer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335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Agreement with Eskom ends October 2030</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9" name="TextBox 8"/>
          <p:cNvSpPr txBox="1"/>
          <p:nvPr/>
        </p:nvSpPr>
        <p:spPr>
          <a:xfrm>
            <a:off x="457200" y="4434840"/>
            <a:ext cx="5029200" cy="731520"/>
          </a:xfrm>
          <a:prstGeom prst="rect">
            <a:avLst/>
          </a:prstGeom>
          <a:noFill/>
        </p:spPr>
        <p:txBody>
          <a:bodyPr wrap="square" lIns="22860" rIns="22860" tIns="0" bIns="0">
            <a:spAutoFit/>
          </a:bodyPr>
          <a:lstStyle/>
          <a:p>
            <a:pPr>
              <a:spcAft>
                <a:spcPts val="300"/>
              </a:spcAft>
              <a:defRPr sz="1000" b="0">
                <a:solidFill>
                  <a:srgbClr val="11151A"/>
                </a:solidFill>
                <a:latin typeface="Lato"/>
              </a:defRPr>
            </a:pPr>
            <a:r>
              <a:t>Acacia and Port Rex (171 MW each) burn kerosene and are not counted. The model also carries two placeholder stations of 1,000 and 2,000 MW with no source.</a:t>
            </a:r>
          </a:p>
        </p:txBody>
      </p:sp>
      <p:sp>
        <p:nvSpPr>
          <p:cNvPr id="10" name="TextBox 9"/>
          <p:cNvSpPr txBox="1"/>
          <p:nvPr/>
        </p:nvSpPr>
        <p:spPr>
          <a:xfrm>
            <a:off x="5897880" y="2011680"/>
            <a:ext cx="4937760" cy="228600"/>
          </a:xfrm>
          <a:prstGeom prst="rect">
            <a:avLst/>
          </a:prstGeom>
          <a:noFill/>
        </p:spPr>
        <p:txBody>
          <a:bodyPr wrap="square" lIns="22860" rIns="22860" tIns="0" bIns="0">
            <a:spAutoFit/>
          </a:bodyPr>
          <a:lstStyle/>
          <a:p>
            <a:pPr>
              <a:spcAft>
                <a:spcPts val="300"/>
              </a:spcAft>
              <a:defRPr sz="1150" b="1">
                <a:solidFill>
                  <a:srgbClr val="0A2373"/>
                </a:solidFill>
                <a:latin typeface="Lato"/>
              </a:defRPr>
            </a:pPr>
            <a:r>
              <a:t>Coal stations being retired</a:t>
            </a:r>
          </a:p>
        </p:txBody>
      </p:sp>
      <p:graphicFrame>
        <p:nvGraphicFramePr>
          <p:cNvPr id="11" name="Table 10"/>
          <p:cNvGraphicFramePr>
            <a:graphicFrameLocks noGrp="1"/>
          </p:cNvGraphicFramePr>
          <p:nvPr/>
        </p:nvGraphicFramePr>
        <p:xfrm>
          <a:off x="5897880" y="2267712"/>
          <a:ext cx="5212080" cy="3017520"/>
        </p:xfrm>
        <a:graphic>
          <a:graphicData uri="http://schemas.openxmlformats.org/drawingml/2006/table">
            <a:tbl>
              <a:tblPr firstRow="0" bandRow="0"/>
              <a:tblGrid>
                <a:gridCol w="1188720"/>
                <a:gridCol w="731520"/>
                <a:gridCol w="3291840"/>
              </a:tblGrid>
              <a:tr h="335280">
                <a:tc>
                  <a:txBody>
                    <a:bodyPr/>
                    <a:lstStyle/>
                    <a:p>
                      <a:pPr>
                        <a:spcAft>
                          <a:spcPts val="100"/>
                        </a:spcAft>
                        <a:defRPr sz="1000" b="1">
                          <a:solidFill>
                            <a:srgbClr val="0A2373"/>
                          </a:solidFill>
                          <a:latin typeface="Lato"/>
                        </a:defRPr>
                      </a:pPr>
                      <a:r>
                        <a:t>Station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MW</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Stops</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Komati</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990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Shut 31 October 2022</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Camden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1,561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31 March 2030 (exemption ends)</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Grootvlei</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1,180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31 March 2030 (exemption ends)</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Hendrina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1,723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31 March 2030 (exemption ends)</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Arnot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2,220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31 March 2030 (exemption ends)</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Kriel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2,790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31 March 2030 (exemption ends)</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Duvha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3,000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21 February 2034</a:t>
                      </a:r>
                    </a:p>
                  </a:txBody>
                  <a:tcPr marL="64008" marR="64008" marT="54864" marB="27432" anchor="t">
                    <a:lnL w="0">
                      <a:noFill/>
                    </a:lnL>
                    <a:lnR w="0">
                      <a:noFill/>
                    </a:lnR>
                    <a:lnT w="0">
                      <a:noFill/>
                    </a:lnT>
                    <a:lnB w="5080">
                      <a:solidFill>
                        <a:srgbClr val="B8B8B8"/>
                      </a:solidFill>
                    </a:lnB>
                    <a:solidFill>
                      <a:srgbClr val="FFFFFF"/>
                    </a:solidFill>
                  </a:tcPr>
                </a:tc>
              </a:tr>
              <a:tr h="335280">
                <a:tc>
                  <a:txBody>
                    <a:bodyPr/>
                    <a:lstStyle/>
                    <a:p>
                      <a:pPr>
                        <a:spcAft>
                          <a:spcPts val="100"/>
                        </a:spcAft>
                        <a:defRPr sz="1000" b="1">
                          <a:solidFill>
                            <a:srgbClr val="0A2373"/>
                          </a:solidFill>
                          <a:latin typeface="Lato"/>
                        </a:defRPr>
                      </a:pPr>
                      <a:r>
                        <a:t>Matla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3,600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20 July 2034</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12" name="TextBox 11"/>
          <p:cNvSpPr txBox="1"/>
          <p:nvPr/>
        </p:nvSpPr>
        <p:spPr>
          <a:xfrm>
            <a:off x="457200" y="566928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Eskom was to decide by end September 2026 whether Camden, Grootvlei, Hendrina, Arnot and Kriel shut, are repowered or run on. No decision had been announced by 8 October.</a:t>
            </a:r>
          </a:p>
        </p:txBody>
      </p:sp>
      <p:sp>
        <p:nvSpPr>
          <p:cNvPr id="13" name="Chevron 12">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4" name="Chevron 13">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5" name="Chevron 14">
            <a:hlinkClick action="ppaction://hlinksldjump" r:id="rId4"/>
          </p:cNvPr>
          <p:cNvSpPr/>
          <p:nvPr/>
        </p:nvSpPr>
        <p:spPr>
          <a:xfrm>
            <a:off x="4718304"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3  Sector baselines</a:t>
            </a:r>
          </a:p>
        </p:txBody>
      </p:sp>
      <p:sp>
        <p:nvSpPr>
          <p:cNvPr id="16" name="Chevron 15">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7" name="Chevron 16">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Diesel for power from 2031: 20 to 4,224 million litres a year, depending on gas</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Three cases for Nigel and Henry to confirm | million litres a year | the model has 3,581 for 2024</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power_fleet_diesel.csv and the Power fleet sheet of the workshop workbook, manish-branch; Eskom fact sheet GX 0001 (July 2024) and the sources named in the file.</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Chart 6"/>
          <p:cNvGraphicFramePr>
            <a:graphicFrameLocks noGrp="1"/>
          </p:cNvGraphicFramePr>
          <p:nvPr/>
        </p:nvGraphicFramePr>
        <p:xfrm>
          <a:off x="457200" y="2011680"/>
          <a:ext cx="5120640" cy="356616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5715000" y="2029968"/>
          <a:ext cx="5394960" cy="3474720"/>
        </p:xfrm>
        <a:graphic>
          <a:graphicData uri="http://schemas.openxmlformats.org/drawingml/2006/table">
            <a:tbl>
              <a:tblPr firstRow="0" bandRow="0"/>
              <a:tblGrid>
                <a:gridCol w="1828800"/>
                <a:gridCol w="1005840"/>
                <a:gridCol w="1188720"/>
                <a:gridCol w="1371600"/>
              </a:tblGrid>
              <a:tr h="579120">
                <a:tc>
                  <a:txBody>
                    <a:bodyPr/>
                    <a:lstStyle/>
                    <a:p>
                      <a:pPr>
                        <a:spcAft>
                          <a:spcPts val="100"/>
                        </a:spcAft>
                        <a:defRPr sz="950" b="1">
                          <a:solidFill>
                            <a:srgbClr val="0A2373"/>
                          </a:solidFill>
                          <a:latin typeface="Lato"/>
                        </a:defRPr>
                      </a:pP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Low</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Medium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High</a:t>
                      </a:r>
                    </a:p>
                  </a:txBody>
                  <a:tcPr marL="64008" marR="64008" marT="54864" marB="27432" anchor="t">
                    <a:lnL w="0">
                      <a:noFill/>
                    </a:lnL>
                    <a:lnR w="0">
                      <a:noFill/>
                    </a:lnR>
                    <a:lnT w="0">
                      <a:noFill/>
                    </a:lnT>
                    <a:lnB w="5080">
                      <a:solidFill>
                        <a:srgbClr val="B8B8B8"/>
                      </a:solidFill>
                    </a:lnB>
                    <a:solidFill>
                      <a:srgbClr val="FFFFFF"/>
                    </a:solidFill>
                  </a:tcPr>
                </a:tc>
              </a:tr>
              <a:tr h="579120">
                <a:tc>
                  <a:txBody>
                    <a:bodyPr/>
                    <a:lstStyle/>
                    <a:p>
                      <a:pPr>
                        <a:spcAft>
                          <a:spcPts val="100"/>
                        </a:spcAft>
                        <a:defRPr sz="950" b="1">
                          <a:solidFill>
                            <a:srgbClr val="0A2373"/>
                          </a:solidFill>
                          <a:latin typeface="Lato"/>
                        </a:defRPr>
                      </a:pPr>
                      <a:r>
                        <a:t>Avon and Dedisa after 2030-2031</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Stop</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Continue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Continue</a:t>
                      </a:r>
                    </a:p>
                  </a:txBody>
                  <a:tcPr marL="64008" marR="64008" marT="54864" marB="27432" anchor="t">
                    <a:lnL w="0">
                      <a:noFill/>
                    </a:lnL>
                    <a:lnR w="0">
                      <a:noFill/>
                    </a:lnR>
                    <a:lnT w="0">
                      <a:noFill/>
                    </a:lnT>
                    <a:lnB w="5080">
                      <a:solidFill>
                        <a:srgbClr val="B8B8B8"/>
                      </a:solidFill>
                    </a:lnB>
                    <a:solidFill>
                      <a:srgbClr val="FFFFFF"/>
                    </a:solidFill>
                  </a:tcPr>
                </a:tc>
              </a:tr>
              <a:tr h="579120">
                <a:tc>
                  <a:txBody>
                    <a:bodyPr/>
                    <a:lstStyle/>
                    <a:p>
                      <a:pPr>
                        <a:spcAft>
                          <a:spcPts val="100"/>
                        </a:spcAft>
                        <a:defRPr sz="950" b="1">
                          <a:solidFill>
                            <a:srgbClr val="0A2373"/>
                          </a:solidFill>
                          <a:latin typeface="Lato"/>
                        </a:defRPr>
                      </a:pPr>
                      <a:r>
                        <a:t>Ankerlig and Gourikwa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Gas from 2028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Gas from 2028</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Diesel throughout</a:t>
                      </a:r>
                    </a:p>
                  </a:txBody>
                  <a:tcPr marL="64008" marR="64008" marT="54864" marB="27432" anchor="t">
                    <a:lnL w="0">
                      <a:noFill/>
                    </a:lnL>
                    <a:lnR w="0">
                      <a:noFill/>
                    </a:lnR>
                    <a:lnT w="0">
                      <a:noFill/>
                    </a:lnT>
                    <a:lnB w="5080">
                      <a:solidFill>
                        <a:srgbClr val="B8B8B8"/>
                      </a:solidFill>
                    </a:lnB>
                    <a:solidFill>
                      <a:srgbClr val="FFFFFF"/>
                    </a:solidFill>
                  </a:tcPr>
                </a:tc>
              </a:tr>
              <a:tr h="579120">
                <a:tc>
                  <a:txBody>
                    <a:bodyPr/>
                    <a:lstStyle/>
                    <a:p>
                      <a:pPr>
                        <a:spcAft>
                          <a:spcPts val="100"/>
                        </a:spcAft>
                        <a:defRPr sz="950" b="1">
                          <a:solidFill>
                            <a:srgbClr val="0A2373"/>
                          </a:solidFill>
                          <a:latin typeface="Lato"/>
                        </a:defRPr>
                      </a:pPr>
                      <a:r>
                        <a:t>Gas turbines at the five coal sites, 2030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None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3,000 MW on gas, 10% of output on diesel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6,000 MW, no gas: diesel peakers</a:t>
                      </a:r>
                    </a:p>
                  </a:txBody>
                  <a:tcPr marL="64008" marR="64008" marT="54864" marB="27432" anchor="t">
                    <a:lnL w="0">
                      <a:noFill/>
                    </a:lnL>
                    <a:lnR w="0">
                      <a:noFill/>
                    </a:lnR>
                    <a:lnT w="0">
                      <a:noFill/>
                    </a:lnT>
                    <a:lnB w="5080">
                      <a:solidFill>
                        <a:srgbClr val="B8B8B8"/>
                      </a:solidFill>
                    </a:lnB>
                    <a:solidFill>
                      <a:srgbClr val="FFFFFF"/>
                    </a:solidFill>
                  </a:tcPr>
                </a:tc>
              </a:tr>
              <a:tr h="579120">
                <a:tc>
                  <a:txBody>
                    <a:bodyPr/>
                    <a:lstStyle/>
                    <a:p>
                      <a:pPr>
                        <a:spcAft>
                          <a:spcPts val="100"/>
                        </a:spcAft>
                        <a:defRPr sz="950" b="1">
                          <a:solidFill>
                            <a:srgbClr val="0A2373"/>
                          </a:solidFill>
                          <a:latin typeface="Lato"/>
                        </a:defRPr>
                      </a:pPr>
                      <a:r>
                        <a:t>Peaker load factor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3.6%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9.4%</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17.1%</a:t>
                      </a:r>
                    </a:p>
                  </a:txBody>
                  <a:tcPr marL="64008" marR="64008" marT="54864" marB="27432" anchor="t">
                    <a:lnL w="0">
                      <a:noFill/>
                    </a:lnL>
                    <a:lnR w="0">
                      <a:noFill/>
                    </a:lnR>
                    <a:lnT w="0">
                      <a:noFill/>
                    </a:lnT>
                    <a:lnB w="5080">
                      <a:solidFill>
                        <a:srgbClr val="B8B8B8"/>
                      </a:solidFill>
                    </a:lnB>
                    <a:solidFill>
                      <a:srgbClr val="FFFFFF"/>
                    </a:solidFill>
                  </a:tcPr>
                </a:tc>
              </a:tr>
              <a:tr h="579120">
                <a:tc>
                  <a:txBody>
                    <a:bodyPr/>
                    <a:lstStyle/>
                    <a:p>
                      <a:pPr>
                        <a:spcAft>
                          <a:spcPts val="100"/>
                        </a:spcAft>
                        <a:defRPr sz="950" b="1">
                          <a:solidFill>
                            <a:srgbClr val="0A2373"/>
                          </a:solidFill>
                          <a:latin typeface="Lato"/>
                        </a:defRPr>
                      </a:pPr>
                      <a:r>
                        <a:t>2025 / 2030 / 2035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301 / 86 / 20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792 / 637 / 637</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1,435 / 4,224 / 4,224</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9" name="TextBox 8"/>
          <p:cNvSpPr txBox="1"/>
          <p:nvPr/>
        </p:nvSpPr>
        <p:spPr>
          <a:xfrm>
            <a:off x="457200" y="566928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Estimated burn was 1,594 million litres in the year to March 2024 and 334 in the year to March 2026. The high case rests on two unsourced assumptions: that the gas turbines are sited at the five stations, and that no gas reaches them.</a:t>
            </a:r>
          </a:p>
        </p:txBody>
      </p:sp>
      <p:sp>
        <p:nvSpPr>
          <p:cNvPr id="10" name="Chevron 9">
            <a:hlinkClick action="ppaction://hlinksldjump" r:id="rId3"/>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1" name="Chevron 10">
            <a:hlinkClick action="ppaction://hlinksldjump" r:id="rId4"/>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2" name="Chevron 11">
            <a:hlinkClick action="ppaction://hlinksldjump" r:id="rId5"/>
          </p:cNvPr>
          <p:cNvSpPr/>
          <p:nvPr/>
        </p:nvSpPr>
        <p:spPr>
          <a:xfrm>
            <a:off x="4718304"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3  Sector baselines</a:t>
            </a:r>
          </a:p>
        </p:txBody>
      </p:sp>
      <p:sp>
        <p:nvSpPr>
          <p:cNvPr id="13" name="Chevron 12">
            <a:hlinkClick action="ppaction://hlinksldjump" r:id="rId6"/>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4" name="Chevron 13">
            <a:hlinkClick action="ppaction://hlinksldjump" r:id="rId7"/>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Lesedi: eight loading bays cap the high case near 2.4 turns a month, not 3</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Vopak Lesedi, Jameson Park | proposed site assumptions | estimates are to confirm with the client</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terminal_site_assumptions.csv and tank_handling_site_assumptions_2026-10-07.md on manish-branch; NERSA licence documents, Vopak and Transnet. No Vopak operating data used.</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3657600"/>
        </p:xfrm>
        <a:graphic>
          <a:graphicData uri="http://schemas.openxmlformats.org/drawingml/2006/table">
            <a:tbl>
              <a:tblPr firstRow="0" bandRow="0"/>
              <a:tblGrid>
                <a:gridCol w="1828800"/>
                <a:gridCol w="4663440"/>
                <a:gridCol w="1828800"/>
                <a:gridCol w="2331720"/>
              </a:tblGrid>
              <a:tr h="457200">
                <a:tc>
                  <a:txBody>
                    <a:bodyPr/>
                    <a:lstStyle/>
                    <a:p>
                      <a:pPr>
                        <a:spcAft>
                          <a:spcPts val="100"/>
                        </a:spcAft>
                        <a:defRPr sz="1000" b="1">
                          <a:solidFill>
                            <a:srgbClr val="0A2373"/>
                          </a:solidFill>
                          <a:latin typeface="Lato"/>
                        </a:defRPr>
                      </a:pPr>
                      <a:r>
                        <a:t>Item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Value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Basis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Source</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Design capacity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140,000 m3: petrol 40,000, diesel 80,000, one 20,000 tank for either. New tanks in service since October 2025</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NERSA licence amendment, 6 August 2025; Vopak Q3 2025 release</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Operational capacity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124,000 m3: 88,000 in the six original tanks; 18,000 assumed for each new tank</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 new tanks estimated, to confirm with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Vopak licence application to NERSA, 2020, p.8-9</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Receipts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Pipeline only, at most 1,500 m3 an hour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Licence application, p.9</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Dispatch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At most 1,500 m3 an hour; 80% road, 20% pipeline. 8 bays at 125 m3 an hour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Licence application, p.9; NERSA 2025</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Practical road dispatch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About 300,000 m3 a month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Estimate, to confirm with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Bays pumping half the time, 20 hours a day</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Monthly turns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 / 2 / 2.4 (low / base / high), on operational capacity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Estimate, to confirm with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Base from Vopak's Durban target; high from road dispatch</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Annual handling</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1.5 / 3.0 / 3.6 million m3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Calculated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Pack today: 1.7 / 3.4 / 5.0 on gross capacity and 1 / 2 / 3 turns</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585216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Vopak's website publishes none of the operating data. Still needed from Vopak: twelve months of outbound volume by product and mode, the new tanks' operational capacity and loading hours.</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Durban: fuel tanks are under half the site, so handling is far below the gross-capacity figure</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Vopak Durban, Island View | proposed site assumptions | estimates are to confirm with the client</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terminal_site_assumptions.csv and tank_handling_site_assumptions_2026-10-07.md on manish-branch; NERSA licence documents, Vopak and Transnet. No Vopak operating data used.</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3657600"/>
        </p:xfrm>
        <a:graphic>
          <a:graphicData uri="http://schemas.openxmlformats.org/drawingml/2006/table">
            <a:tbl>
              <a:tblPr firstRow="0" bandRow="0"/>
              <a:tblGrid>
                <a:gridCol w="1828800"/>
                <a:gridCol w="4663440"/>
                <a:gridCol w="1828800"/>
                <a:gridCol w="2331720"/>
              </a:tblGrid>
              <a:tr h="457200">
                <a:tc>
                  <a:txBody>
                    <a:bodyPr/>
                    <a:lstStyle/>
                    <a:p>
                      <a:pPr>
                        <a:spcAft>
                          <a:spcPts val="100"/>
                        </a:spcAft>
                        <a:defRPr sz="1000" b="1">
                          <a:solidFill>
                            <a:srgbClr val="0A2373"/>
                          </a:solidFill>
                          <a:latin typeface="Lato"/>
                        </a:defRPr>
                      </a:pPr>
                      <a:r>
                        <a:t>Item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Value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Basis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1">
                          <a:solidFill>
                            <a:srgbClr val="11151A"/>
                          </a:solidFill>
                          <a:latin typeface="Lato"/>
                        </a:defRPr>
                      </a:pPr>
                      <a:r>
                        <a:t>Source</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Gross capacity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360,246 m3 for petroleum, chemicals and oleochemicals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Vopak terminal page, checked 6 October 2026</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Built for petrol and diesel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162,000 m3 in ten tanks; a floor, older tanks not counted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 of a floor, to confirm with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Vopak news release, 17 February 2017</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Operational capacity, fuel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146,000 m3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Estimate, to confirm with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90% of design, as at Lesedi</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Receipts and dispatch</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Vessel (five berths), pipeline, rail, truck. No rate published for any mode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 rates not found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Vopak terminal page</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Pipeline to Gauteng</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148,000 m3 a week for all shippers and products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Transnet Pipelines, 24 inch trunk line</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Monthly turns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 / 2 / 3 (low / base / high), on operational fuel capacity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Target, not realised; to confirm with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Vopak to NERSA: 'targeting 2-3 throughputs in Durban'</a:t>
                      </a:r>
                    </a:p>
                  </a:txBody>
                  <a:tcPr marL="64008" marR="64008" marT="54864" marB="27432" anchor="t">
                    <a:lnL w="0">
                      <a:noFill/>
                    </a:lnL>
                    <a:lnR w="0">
                      <a:noFill/>
                    </a:lnR>
                    <a:lnT w="0">
                      <a:noFill/>
                    </a:lnT>
                    <a:lnB w="5080">
                      <a:solidFill>
                        <a:srgbClr val="B8B8B8"/>
                      </a:solidFill>
                    </a:lnB>
                    <a:solidFill>
                      <a:srgbClr val="FFFFFF"/>
                    </a:solidFill>
                  </a:tcPr>
                </a:tc>
              </a:tr>
              <a:tr h="457200">
                <a:tc>
                  <a:txBody>
                    <a:bodyPr/>
                    <a:lstStyle/>
                    <a:p>
                      <a:pPr>
                        <a:spcAft>
                          <a:spcPts val="100"/>
                        </a:spcAft>
                        <a:defRPr sz="1000" b="1">
                          <a:solidFill>
                            <a:srgbClr val="0A2373"/>
                          </a:solidFill>
                          <a:latin typeface="Lato"/>
                        </a:defRPr>
                      </a:pPr>
                      <a:r>
                        <a:t>Annual handling, fuel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1.8 / 3.5 / 5.3 million m3</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Calculated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00" b="0">
                          <a:solidFill>
                            <a:srgbClr val="11151A"/>
                          </a:solidFill>
                          <a:latin typeface="Lato"/>
                        </a:defRPr>
                      </a:pPr>
                      <a:r>
                        <a:t>Pack today: 4.3 / 8.6 / 13.0 on gross capacity</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585216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The high case needs 438,000 m3 a month, 68% of the whole trunk line if it all went inland by pipe. Durban-to-Lesedi volume is handled at both sites and must be counted once.</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5  Hand-back</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All five priorities have outputs to review</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Status against the five priorities of 7 October | ready, proposed or partial</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manish_handback_2026-10-07.md and manish_decision_log_2026-10-07.csv on manish-branch. Statuses are the analyst's; nothing is accepted until Nigel decides.</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3566160"/>
        </p:xfrm>
        <a:graphic>
          <a:graphicData uri="http://schemas.openxmlformats.org/drawingml/2006/table">
            <a:tbl>
              <a:tblPr firstRow="0" bandRow="0"/>
              <a:tblGrid>
                <a:gridCol w="1737360"/>
                <a:gridCol w="1600200"/>
                <a:gridCol w="4206240"/>
                <a:gridCol w="3108960"/>
              </a:tblGrid>
              <a:tr h="594360">
                <a:tc>
                  <a:txBody>
                    <a:bodyPr/>
                    <a:lstStyle/>
                    <a:p>
                      <a:pPr>
                        <a:spcAft>
                          <a:spcPts val="100"/>
                        </a:spcAft>
                        <a:defRPr sz="1050" b="1">
                          <a:solidFill>
                            <a:srgbClr val="0A2373"/>
                          </a:solidFill>
                          <a:latin typeface="Lato"/>
                        </a:defRPr>
                      </a:pPr>
                      <a:r>
                        <a:t>Priority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Status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Ready to review</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1">
                          <a:solidFill>
                            <a:srgbClr val="11151A"/>
                          </a:solidFill>
                          <a:latin typeface="Lato"/>
                        </a:defRPr>
                      </a:pPr>
                      <a:r>
                        <a:t>Not done or not available</a:t>
                      </a:r>
                    </a:p>
                  </a:txBody>
                  <a:tcPr marL="64008" marR="64008" marT="54864" marB="27432" anchor="t">
                    <a:lnL w="0">
                      <a:noFill/>
                    </a:lnL>
                    <a:lnR w="0">
                      <a:noFill/>
                    </a:lnR>
                    <a:lnT w="0">
                      <a:noFill/>
                    </a:lnT>
                    <a:lnB w="5080">
                      <a:solidFill>
                        <a:srgbClr val="B8B8B8"/>
                      </a:solidFill>
                    </a:lnB>
                    <a:solidFill>
                      <a:srgbClr val="FFFFFF"/>
                    </a:solidFill>
                  </a:tcPr>
                </a:tc>
              </a:tr>
              <a:tr h="594360">
                <a:tc>
                  <a:txBody>
                    <a:bodyPr/>
                    <a:lstStyle/>
                    <a:p>
                      <a:pPr>
                        <a:spcAft>
                          <a:spcPts val="100"/>
                        </a:spcAft>
                        <a:defRPr sz="1050" b="1">
                          <a:solidFill>
                            <a:srgbClr val="0A2373"/>
                          </a:solidFill>
                          <a:latin typeface="Lato"/>
                        </a:defRPr>
                      </a:pPr>
                      <a:r>
                        <a:t>1 National balance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Ready, with stated gaps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Balance rebuilt on customs trade with tests; source differences listed; 2018-2019 traced as far as data allows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Production by product after 2021 and stocks exist in no source found</a:t>
                      </a:r>
                    </a:p>
                  </a:txBody>
                  <a:tcPr marL="64008" marR="64008" marT="54864" marB="27432" anchor="t">
                    <a:lnL w="0">
                      <a:noFill/>
                    </a:lnL>
                    <a:lnR w="0">
                      <a:noFill/>
                    </a:lnR>
                    <a:lnT w="0">
                      <a:noFill/>
                    </a:lnT>
                    <a:lnB w="5080">
                      <a:solidFill>
                        <a:srgbClr val="B8B8B8"/>
                      </a:solidFill>
                    </a:lnB>
                    <a:solidFill>
                      <a:srgbClr val="FFFFFF"/>
                    </a:solidFill>
                  </a:tcPr>
                </a:tc>
              </a:tr>
              <a:tr h="594360">
                <a:tc>
                  <a:txBody>
                    <a:bodyPr/>
                    <a:lstStyle/>
                    <a:p>
                      <a:pPr>
                        <a:spcAft>
                          <a:spcPts val="100"/>
                        </a:spcAft>
                        <a:defRPr sz="1050" b="1">
                          <a:solidFill>
                            <a:srgbClr val="0A2373"/>
                          </a:solidFill>
                          <a:latin typeface="Lato"/>
                        </a:defRPr>
                      </a:pPr>
                      <a:r>
                        <a:t>2 Forecast levers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Proposed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20 levers with baseline, rationale and source; 39 of 120 values with a replacement; nine levers added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Some baselines are placeholders; freight is in tonnes</a:t>
                      </a:r>
                    </a:p>
                  </a:txBody>
                  <a:tcPr marL="64008" marR="64008" marT="54864" marB="27432" anchor="t">
                    <a:lnL w="0">
                      <a:noFill/>
                    </a:lnL>
                    <a:lnR w="0">
                      <a:noFill/>
                    </a:lnR>
                    <a:lnT w="0">
                      <a:noFill/>
                    </a:lnT>
                    <a:lnB w="5080">
                      <a:solidFill>
                        <a:srgbClr val="B8B8B8"/>
                      </a:solidFill>
                    </a:lnB>
                    <a:solidFill>
                      <a:srgbClr val="FFFFFF"/>
                    </a:solidFill>
                  </a:tcPr>
                </a:tc>
              </a:tr>
              <a:tr h="594360">
                <a:tc>
                  <a:txBody>
                    <a:bodyPr/>
                    <a:lstStyle/>
                    <a:p>
                      <a:pPr>
                        <a:spcAft>
                          <a:spcPts val="100"/>
                        </a:spcAft>
                        <a:defRPr sz="1050" b="1">
                          <a:solidFill>
                            <a:srgbClr val="0A2373"/>
                          </a:solidFill>
                          <a:latin typeface="Lato"/>
                        </a:defRPr>
                      </a:pPr>
                      <a:r>
                        <a:t>3 Sector baselines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Proposed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Agriculture 1.06 and industry 1.50 bn litres, with the forecast effect and an overlap table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On-road overlap not sized; power generation is 2 bn litres above reported burn</a:t>
                      </a:r>
                    </a:p>
                  </a:txBody>
                  <a:tcPr marL="64008" marR="64008" marT="54864" marB="27432" anchor="t">
                    <a:lnL w="0">
                      <a:noFill/>
                    </a:lnL>
                    <a:lnR w="0">
                      <a:noFill/>
                    </a:lnR>
                    <a:lnT w="0">
                      <a:noFill/>
                    </a:lnT>
                    <a:lnB w="5080">
                      <a:solidFill>
                        <a:srgbClr val="B8B8B8"/>
                      </a:solidFill>
                    </a:lnB>
                    <a:solidFill>
                      <a:srgbClr val="FFFFFF"/>
                    </a:solidFill>
                  </a:tcPr>
                </a:tc>
              </a:tr>
              <a:tr h="594360">
                <a:tc>
                  <a:txBody>
                    <a:bodyPr/>
                    <a:lstStyle/>
                    <a:p>
                      <a:pPr>
                        <a:spcAft>
                          <a:spcPts val="100"/>
                        </a:spcAft>
                        <a:defRPr sz="1050" b="1">
                          <a:solidFill>
                            <a:srgbClr val="0A2373"/>
                          </a:solidFill>
                          <a:latin typeface="Lato"/>
                        </a:defRPr>
                      </a:pPr>
                      <a:r>
                        <a:t>4 Tank handling</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Proposed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Lesedi and Durban site assumptions; eight values marked to confirm with the client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No Vopak operating data; other operators' sites not done</a:t>
                      </a:r>
                    </a:p>
                  </a:txBody>
                  <a:tcPr marL="64008" marR="64008" marT="54864" marB="27432" anchor="t">
                    <a:lnL w="0">
                      <a:noFill/>
                    </a:lnL>
                    <a:lnR w="0">
                      <a:noFill/>
                    </a:lnR>
                    <a:lnT w="0">
                      <a:noFill/>
                    </a:lnT>
                    <a:lnB w="5080">
                      <a:solidFill>
                        <a:srgbClr val="B8B8B8"/>
                      </a:solidFill>
                    </a:lnB>
                    <a:solidFill>
                      <a:srgbClr val="FFFFFF"/>
                    </a:solidFill>
                  </a:tcPr>
                </a:tc>
              </a:tr>
              <a:tr h="594360">
                <a:tc>
                  <a:txBody>
                    <a:bodyPr/>
                    <a:lstStyle/>
                    <a:p>
                      <a:pPr>
                        <a:spcAft>
                          <a:spcPts val="100"/>
                        </a:spcAft>
                        <a:defRPr sz="1050" b="1">
                          <a:solidFill>
                            <a:srgbClr val="0A2373"/>
                          </a:solidFill>
                          <a:latin typeface="Lato"/>
                        </a:defRPr>
                      </a:pPr>
                      <a:r>
                        <a:t>5 Hand-back</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Ready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This deck, the hand-back note, a 23-item decision log, the workshop workbook with history from 2012, and 288 figures in the current pack checked with none differing</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1050" b="0">
                          <a:solidFill>
                            <a:srgbClr val="11151A"/>
                          </a:solidFill>
                          <a:latin typeface="Lato"/>
                        </a:defRPr>
                      </a:pPr>
                      <a:r>
                        <a:t>Vehicle stock by age and by fuel within class is in no source held</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5760720"/>
            <a:ext cx="10652760" cy="54864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New evidence: Road Accident Fund accounts give 24.3 bn litres of petrol and diesel levied in the year to March 2024, against 21.9 recorded as sold in calendar 2023, and 24.4 bn in the year to March 2025.</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5  Hand-back</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Decision log: 3 ready, 11 proposed, 9 unresolved</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Decisions for Nigel | the 9 that are unresolved, with the analyst's proposal | full log in the csv</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manish_handback_2026-10-07.md and manish_decision_log_2026-10-07.csv on manish-branch. Statuses are the analyst's; nothing is accepted until Nigel decides.</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11680"/>
          <a:ext cx="10652760" cy="4297680"/>
        </p:xfrm>
        <a:graphic>
          <a:graphicData uri="http://schemas.openxmlformats.org/drawingml/2006/table">
            <a:tbl>
              <a:tblPr firstRow="0" bandRow="0"/>
              <a:tblGrid>
                <a:gridCol w="2834640"/>
                <a:gridCol w="5257800"/>
                <a:gridCol w="2560320"/>
              </a:tblGrid>
              <a:tr h="429768">
                <a:tc>
                  <a:txBody>
                    <a:bodyPr/>
                    <a:lstStyle/>
                    <a:p>
                      <a:pPr>
                        <a:spcAft>
                          <a:spcPts val="100"/>
                        </a:spcAft>
                        <a:defRPr sz="800" b="1">
                          <a:solidFill>
                            <a:srgbClr val="0A2373"/>
                          </a:solidFill>
                          <a:latin typeface="Lato"/>
                        </a:defRPr>
                      </a:pPr>
                      <a:r>
                        <a:t>Decision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1">
                          <a:solidFill>
                            <a:srgbClr val="11151A"/>
                          </a:solidFill>
                          <a:latin typeface="Lato"/>
                        </a:defRPr>
                      </a:pPr>
                      <a:r>
                        <a:t>Evidence in brief</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1">
                          <a:solidFill>
                            <a:srgbClr val="11151A"/>
                          </a:solidFill>
                          <a:latin typeface="Lato"/>
                        </a:defRPr>
                      </a:pPr>
                      <a:r>
                        <a:t>Proposal</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D05  Treatment of the 2014 and 2018 provincial differences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Provincial sum is above the national file by 0.13-0.14 bn litres in 2014; 2018 quarter 1 district sheet is missing districts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National file stands; both records kept</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D08  Secunda utilisation</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Capacity corrected to 150 thousand barrels a day with utilisation re-based so output is unchanged; model gives 62 for 2024, Sasol reports 80</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Raise utilisation to match reported output</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D09  Reference case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No medium case is agreed; medium values are proposals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Agree after the ranges</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D11  Power generation starting value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Model has 3.58 bn litres for 2024; Eskom reports 0.68-0.94 and all plants about 1.6 in the peak year</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Recalibrate to reported burn at 0.31 litres per kWh</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D12  Allowance for on-road use inside agriculture and mining diesel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No published source sizes it; 20% would be about 0.47 bn litres; Road Accident Fund rebates cover 1.46 bn litres across all rebated sectors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None applied; ask SARS for refund data by sector</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D13  Whether ships' diesel sits inside the inland diesel total</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Model carries 0.77 bn litres of marine gas oil; no observed figure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Decide scope before reconciling to sales</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D17  Send the data request to Vopak</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Eight values marked to confirm with client; Vopak's website publishes no operating data</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Send now</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D21  Marine baseline elasticities and road parameters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Carried over from 6 October; no new evidence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Unchanged</a:t>
                      </a:r>
                    </a:p>
                  </a:txBody>
                  <a:tcPr marL="64008" marR="64008" marT="54864" marB="27432" anchor="t">
                    <a:lnL w="0">
                      <a:noFill/>
                    </a:lnL>
                    <a:lnR w="0">
                      <a:noFill/>
                    </a:lnR>
                    <a:lnT w="0">
                      <a:noFill/>
                    </a:lnT>
                    <a:lnB w="5080">
                      <a:solidFill>
                        <a:srgbClr val="B8B8B8"/>
                      </a:solidFill>
                    </a:lnB>
                    <a:solidFill>
                      <a:srgbClr val="FFFFFF"/>
                    </a:solidFill>
                  </a:tcPr>
                </a:tc>
              </a:tr>
              <a:tr h="429768">
                <a:tc>
                  <a:txBody>
                    <a:bodyPr/>
                    <a:lstStyle/>
                    <a:p>
                      <a:pPr>
                        <a:spcAft>
                          <a:spcPts val="100"/>
                        </a:spcAft>
                        <a:defRPr sz="800" b="1">
                          <a:solidFill>
                            <a:srgbClr val="0A2373"/>
                          </a:solidFill>
                          <a:latin typeface="Lato"/>
                        </a:defRPr>
                      </a:pPr>
                      <a:r>
                        <a:t>D22  Power fleet: the three cases and the assumptions behind them</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Fleet defined: Ankerlig Gourikwa Avon Dedisa (3,089 MW). Low / medium / high give 20 / 637 / 4,224 million litres from 2031. Unsourced: 10% of output on diesel when gas is available; 40% load factor on gas; 0.31 litres per kWh; Avon and Dedisa continuing after 2030-2031; 6 GW of gas turbines sited at Camden Grootvlei Hendrina Arnot and Kriel; no gas reaching them in the high case</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800" b="0">
                          <a:solidFill>
                            <a:srgbClr val="11151A"/>
                          </a:solidFill>
                          <a:latin typeface="Lato"/>
                        </a:defRPr>
                      </a:pPr>
                      <a:r>
                        <a:t>Accept the fleet; confirm or change each case setting; replaces the two placeholder stations in the model</a:t>
                      </a: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Chevron 7">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9" name="Chevron 8">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0" name="Chevron 9">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1" name="Chevron 10">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2" name="Chevron 11">
            <a:hlinkClick action="ppaction://hlinksldjump" r:id="rId6"/>
          </p:cNvPr>
          <p:cNvSpPr/>
          <p:nvPr/>
        </p:nvSpPr>
        <p:spPr>
          <a:xfrm>
            <a:off x="8979408"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5  Hand-back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workshop workbook now carries sourced history from 2012 and labelled provincial estimates</a:t>
            </a:r>
          </a:p>
        </p:txBody>
      </p:sp>
      <p:sp>
        <p:nvSpPr>
          <p:cNvPr id="3" name="TextBox 2"/>
          <p:cNvSpPr txBox="1"/>
          <p:nvPr/>
        </p:nvSpPr>
        <p:spPr>
          <a:xfrm>
            <a:off x="457200" y="1627632"/>
            <a:ext cx="10652760" cy="274320"/>
          </a:xfrm>
          <a:prstGeom prst="rect">
            <a:avLst/>
          </a:prstGeom>
          <a:noFill/>
        </p:spPr>
        <p:txBody>
          <a:bodyPr wrap="square" lIns="22860" rIns="22860" tIns="0" bIns="0">
            <a:spAutoFit/>
          </a:bodyPr>
          <a:lstStyle/>
          <a:p>
            <a:pPr>
              <a:spcAft>
                <a:spcPts val="300"/>
              </a:spcAft>
              <a:defRPr sz="1300" b="1">
                <a:solidFill>
                  <a:srgbClr val="11151A"/>
                </a:solidFill>
                <a:latin typeface="Lato"/>
              </a:defRPr>
            </a:pPr>
            <a:r>
              <a:t>Demand_baseline_workshop_2026_10_08_history.xlsx | built by one command | Nigel's sheets unchanged</a:t>
            </a:r>
          </a:p>
        </p:txBody>
      </p:sp>
      <p:cxnSp>
        <p:nvCxnSpPr>
          <p:cNvPr id="4" name="Connector 3"/>
          <p:cNvCxnSpPr/>
          <p:nvPr/>
        </p:nvCxnSpPr>
        <p:spPr>
          <a:xfrm>
            <a:off x="457200" y="1920240"/>
            <a:ext cx="10652760" cy="0"/>
          </a:xfrm>
          <a:prstGeom prst="line">
            <a:avLst/>
          </a:prstGeom>
          <a:ln w="7620">
            <a:solidFill>
              <a:srgbClr val="A0A0A0"/>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457200" y="6547104"/>
            <a:ext cx="9692640" cy="182880"/>
          </a:xfrm>
          <a:prstGeom prst="rect">
            <a:avLst/>
          </a:prstGeom>
          <a:noFill/>
        </p:spPr>
        <p:txBody>
          <a:bodyPr wrap="square" lIns="22860" rIns="22860" tIns="0" bIns="0">
            <a:spAutoFit/>
          </a:bodyPr>
          <a:lstStyle/>
          <a:p>
            <a:pPr>
              <a:spcAft>
                <a:spcPts val="300"/>
              </a:spcAft>
              <a:defRPr sz="800" b="0">
                <a:solidFill>
                  <a:srgbClr val="11151A"/>
                </a:solidFill>
                <a:latin typeface="Lato"/>
              </a:defRPr>
            </a:pPr>
            <a:r>
              <a:t>Source: manish_handback_2026-10-07.md and manish_decision_log_2026-10-07.csv on manish-branch. Statuses are the analyst's; nothing is accepted until Nigel decides.</a:t>
            </a:r>
          </a:p>
        </p:txBody>
      </p:sp>
      <p:sp>
        <p:nvSpPr>
          <p:cNvPr id="6" name="TextBox 5"/>
          <p:cNvSpPr txBox="1"/>
          <p:nvPr/>
        </p:nvSpPr>
        <p:spPr>
          <a:xfrm>
            <a:off x="457200" y="6711696"/>
            <a:ext cx="2011680" cy="128016"/>
          </a:xfrm>
          <a:prstGeom prst="rect">
            <a:avLst/>
          </a:prstGeom>
          <a:noFill/>
        </p:spPr>
        <p:txBody>
          <a:bodyPr wrap="square" lIns="22860" rIns="22860" tIns="0" bIns="0">
            <a:spAutoFit/>
          </a:bodyPr>
          <a:lstStyle/>
          <a:p>
            <a:pPr>
              <a:spcAft>
                <a:spcPts val="300"/>
              </a:spcAft>
              <a:defRPr sz="700" b="0">
                <a:solidFill>
                  <a:srgbClr val="11151A"/>
                </a:solidFill>
                <a:latin typeface="Lato"/>
              </a:defRPr>
            </a:pPr>
            <a:r>
              <a:t>Strictly Confidential</a:t>
            </a:r>
          </a:p>
        </p:txBody>
      </p:sp>
      <p:graphicFrame>
        <p:nvGraphicFramePr>
          <p:cNvPr id="7" name="Table 6"/>
          <p:cNvGraphicFramePr>
            <a:graphicFrameLocks noGrp="1"/>
          </p:cNvGraphicFramePr>
          <p:nvPr/>
        </p:nvGraphicFramePr>
        <p:xfrm>
          <a:off x="457200" y="2029968"/>
          <a:ext cx="10652760" cy="3657600"/>
        </p:xfrm>
        <a:graphic>
          <a:graphicData uri="http://schemas.openxmlformats.org/drawingml/2006/table">
            <a:tbl>
              <a:tblPr firstRow="0" bandRow="0"/>
              <a:tblGrid>
                <a:gridCol w="1828800"/>
                <a:gridCol w="4663440"/>
                <a:gridCol w="4160520"/>
              </a:tblGrid>
              <a:tr h="522514">
                <a:tc>
                  <a:txBody>
                    <a:bodyPr/>
                    <a:lstStyle/>
                    <a:p>
                      <a:pPr>
                        <a:spcAft>
                          <a:spcPts val="100"/>
                        </a:spcAft>
                        <a:defRPr sz="950" b="1">
                          <a:solidFill>
                            <a:srgbClr val="0A2373"/>
                          </a:solidFill>
                          <a:latin typeface="Lato"/>
                        </a:defRPr>
                      </a:pPr>
                      <a:r>
                        <a:t>Sheet added</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What it holds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1">
                          <a:solidFill>
                            <a:srgbClr val="11151A"/>
                          </a:solidFill>
                          <a:latin typeface="Lato"/>
                        </a:defRPr>
                      </a:pPr>
                      <a:r>
                        <a:t>What it shows</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950" b="1">
                          <a:solidFill>
                            <a:srgbClr val="0A2373"/>
                          </a:solidFill>
                          <a:latin typeface="Lato"/>
                        </a:defRPr>
                      </a:pPr>
                      <a:r>
                        <a:t>History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Department sales by province, customs imports and exports, refinery production, the balance and the Road Accident Fund count, 2012-2025; totals and balances are formulas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Net imports of petrol and diesel rose from 3.7 bn litres (2014) to 15.7 bn (2022). Production by product stops at 2021</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950" b="1">
                          <a:solidFill>
                            <a:srgbClr val="0A2373"/>
                          </a:solidFill>
                          <a:latin typeface="Lato"/>
                        </a:defRPr>
                      </a:pPr>
                      <a:r>
                        <a:t>History, section 6</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Estimated provincial shares and volumes for 2023-2025, kept apart from observed rows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Quarter 1 2023 shares are the best of six methods tested: 2.5 share points misallocated for petrol, 5.3 for diesel</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950" b="1">
                          <a:solidFill>
                            <a:srgbClr val="0A2373"/>
                          </a:solidFill>
                          <a:latin typeface="Lato"/>
                        </a:defRPr>
                      </a:pPr>
                      <a:r>
                        <a:t>Sector history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Mining, manufacturing and agriculture diesel beside their activity measures, with litres per unit of activity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Mining swings between 11 and 17 million litres per index point; indicative 2024: mining 1.40, agriculture 0.96 bn litres</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950" b="1">
                          <a:solidFill>
                            <a:srgbClr val="0A2373"/>
                          </a:solidFill>
                          <a:latin typeface="Lato"/>
                        </a:defRPr>
                      </a:pPr>
                      <a:r>
                        <a:t>Vehicle history</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Registered vehicles, new sales, retirements, drivetrain and fuel split beside the model's settings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Cars are 65-71% of new sales against 78% in the model; petrol per vehicle is 1,056 litres against 1,615 implied</a:t>
                      </a:r>
                    </a:p>
                  </a:txBody>
                  <a:tcPr marL="64008" marR="64008" marT="54864" marB="27432" anchor="t">
                    <a:lnL w="0">
                      <a:noFill/>
                    </a:lnL>
                    <a:lnR w="0">
                      <a:noFill/>
                    </a:lnR>
                    <a:lnT w="0">
                      <a:noFill/>
                    </a:lnT>
                    <a:lnB w="5080">
                      <a:solidFill>
                        <a:srgbClr val="B8B8B8"/>
                      </a:solidFill>
                    </a:lnB>
                    <a:solidFill>
                      <a:srgbClr val="FFFFFF"/>
                    </a:solidFill>
                  </a:tcPr>
                </a:tc>
              </a:tr>
              <a:tr h="522514">
                <a:tc>
                  <a:txBody>
                    <a:bodyPr/>
                    <a:lstStyle/>
                    <a:p>
                      <a:pPr>
                        <a:spcAft>
                          <a:spcPts val="100"/>
                        </a:spcAft>
                        <a:defRPr sz="950" b="1">
                          <a:solidFill>
                            <a:srgbClr val="0A2373"/>
                          </a:solidFill>
                          <a:latin typeface="Lato"/>
                        </a:defRPr>
                      </a:pPr>
                      <a:r>
                        <a:t>Checks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66 values on the Evidence sheet recomputed from registered inputs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All match</a:t>
                      </a:r>
                    </a:p>
                  </a:txBody>
                  <a:tcPr marL="64008" marR="64008" marT="54864" marB="27432" anchor="t">
                    <a:lnL w="0">
                      <a:noFill/>
                    </a:lnL>
                    <a:lnR w="0">
                      <a:noFill/>
                    </a:lnR>
                    <a:lnT w="0">
                      <a:noFill/>
                    </a:lnT>
                    <a:lnB w="5080">
                      <a:solidFill>
                        <a:srgbClr val="B8B8B8"/>
                      </a:solidFill>
                    </a:lnB>
                    <a:solidFill>
                      <a:srgbClr val="FFFFFF"/>
                    </a:solidFill>
                  </a:tcPr>
                </a:tc>
              </a:tr>
              <a:tr h="522516">
                <a:tc>
                  <a:txBody>
                    <a:bodyPr/>
                    <a:lstStyle/>
                    <a:p>
                      <a:pPr>
                        <a:spcAft>
                          <a:spcPts val="100"/>
                        </a:spcAft>
                        <a:defRPr sz="950" b="1">
                          <a:solidFill>
                            <a:srgbClr val="0A2373"/>
                          </a:solidFill>
                          <a:latin typeface="Lato"/>
                        </a:defRPr>
                      </a:pPr>
                      <a:r>
                        <a:t>History sources</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r>
                        <a:t>Publisher, link, original file, extract and refresh command for each dataset</a:t>
                      </a:r>
                    </a:p>
                  </a:txBody>
                  <a:tcPr marL="64008" marR="64008" marT="54864" marB="27432" anchor="t">
                    <a:lnL w="0">
                      <a:noFill/>
                    </a:lnL>
                    <a:lnR w="0">
                      <a:noFill/>
                    </a:lnR>
                    <a:lnT w="0">
                      <a:noFill/>
                    </a:lnT>
                    <a:lnB w="5080">
                      <a:solidFill>
                        <a:srgbClr val="B8B8B8"/>
                      </a:solidFill>
                    </a:lnB>
                    <a:solidFill>
                      <a:srgbClr val="FFFFFF"/>
                    </a:solidFill>
                  </a:tcPr>
                </a:tc>
                <a:tc>
                  <a:txBody>
                    <a:bodyPr/>
                    <a:lstStyle/>
                    <a:p>
                      <a:pPr>
                        <a:spcAft>
                          <a:spcPts val="100"/>
                        </a:spcAft>
                        <a:defRPr sz="950" b="0">
                          <a:solidFill>
                            <a:srgbClr val="11151A"/>
                          </a:solidFill>
                          <a:latin typeface="Lato"/>
                        </a:defRPr>
                      </a:pPr>
                    </a:p>
                  </a:txBody>
                  <a:tcPr marL="64008" marR="64008" marT="54864" marB="27432" anchor="t">
                    <a:lnL w="0">
                      <a:noFill/>
                    </a:lnL>
                    <a:lnR w="0">
                      <a:noFill/>
                    </a:lnR>
                    <a:lnT w="0">
                      <a:noFill/>
                    </a:lnT>
                    <a:lnB w="5080">
                      <a:solidFill>
                        <a:srgbClr val="B8B8B8"/>
                      </a:solidFill>
                    </a:lnB>
                    <a:solidFill>
                      <a:srgbClr val="FFFFFF"/>
                    </a:solidFill>
                  </a:tcPr>
                </a:tc>
              </a:tr>
            </a:tbl>
          </a:graphicData>
        </a:graphic>
      </p:graphicFrame>
      <p:sp>
        <p:nvSpPr>
          <p:cNvPr id="8" name="TextBox 7"/>
          <p:cNvSpPr txBox="1"/>
          <p:nvPr/>
        </p:nvSpPr>
        <p:spPr>
          <a:xfrm>
            <a:off x="457200" y="5760720"/>
            <a:ext cx="10652760" cy="548640"/>
          </a:xfrm>
          <a:prstGeom prst="rect">
            <a:avLst/>
          </a:prstGeom>
          <a:noFill/>
        </p:spPr>
        <p:txBody>
          <a:bodyPr wrap="square" lIns="22860" rIns="22860" tIns="0" bIns="0">
            <a:spAutoFit/>
          </a:bodyPr>
          <a:lstStyle/>
          <a:p>
            <a:pPr>
              <a:spcAft>
                <a:spcPts val="300"/>
              </a:spcAft>
              <a:defRPr sz="1100" b="0">
                <a:solidFill>
                  <a:srgbClr val="11151A"/>
                </a:solidFill>
                <a:latin typeface="Lato"/>
              </a:defRPr>
            </a:pPr>
            <a:r>
              <a:t>One change to an existing sheet: source selection for 2022 and 2023 is set to the department instead of FIASA. The added sheets use no FIASA figure; 2024 on Nigel's own sheet is still set to FIASA, for him to decide.</a:t>
            </a:r>
          </a:p>
        </p:txBody>
      </p:sp>
      <p:sp>
        <p:nvSpPr>
          <p:cNvPr id="9" name="Chevron 8">
            <a:hlinkClick action="ppaction://hlinksldjump" r:id="rId2"/>
          </p:cNvPr>
          <p:cNvSpPr/>
          <p:nvPr/>
        </p:nvSpPr>
        <p:spPr>
          <a:xfrm>
            <a:off x="457200"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1  National balance</a:t>
            </a:r>
          </a:p>
        </p:txBody>
      </p:sp>
      <p:sp>
        <p:nvSpPr>
          <p:cNvPr id="10" name="Chevron 9">
            <a:hlinkClick action="ppaction://hlinksldjump" r:id="rId3"/>
          </p:cNvPr>
          <p:cNvSpPr/>
          <p:nvPr/>
        </p:nvSpPr>
        <p:spPr>
          <a:xfrm>
            <a:off x="2587752"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2  Forecast levers</a:t>
            </a:r>
          </a:p>
        </p:txBody>
      </p:sp>
      <p:sp>
        <p:nvSpPr>
          <p:cNvPr id="11" name="Chevron 10">
            <a:hlinkClick action="ppaction://hlinksldjump" r:id="rId4"/>
          </p:cNvPr>
          <p:cNvSpPr/>
          <p:nvPr/>
        </p:nvSpPr>
        <p:spPr>
          <a:xfrm>
            <a:off x="4718304"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3  Sector baselines</a:t>
            </a:r>
          </a:p>
        </p:txBody>
      </p:sp>
      <p:sp>
        <p:nvSpPr>
          <p:cNvPr id="12" name="Chevron 11">
            <a:hlinkClick action="ppaction://hlinksldjump" r:id="rId5"/>
          </p:cNvPr>
          <p:cNvSpPr/>
          <p:nvPr/>
        </p:nvSpPr>
        <p:spPr>
          <a:xfrm>
            <a:off x="6848856" y="73152"/>
            <a:ext cx="2075688"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0">
                <a:solidFill>
                  <a:srgbClr val="0A2373"/>
                </a:solidFill>
                <a:latin typeface="Lato"/>
              </a:defRPr>
            </a:pPr>
            <a:r>
              <a:t>4  Tank handling</a:t>
            </a:r>
          </a:p>
        </p:txBody>
      </p:sp>
      <p:sp>
        <p:nvSpPr>
          <p:cNvPr id="13" name="Chevron 12">
            <a:hlinkClick action="ppaction://hlinksldjump" r:id="rId6"/>
          </p:cNvPr>
          <p:cNvSpPr/>
          <p:nvPr/>
        </p:nvSpPr>
        <p:spPr>
          <a:xfrm>
            <a:off x="8979408" y="73152"/>
            <a:ext cx="2075688"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100" b="1">
                <a:solidFill>
                  <a:srgbClr val="FFFFFF"/>
                </a:solidFill>
                <a:latin typeface="Lato"/>
              </a:defRPr>
            </a:pPr>
            <a:r>
              <a:t>5  Hand-back</a:t>
            </a:r>
          </a:p>
        </p:txBody>
      </p:sp>
    </p:spTree>
  </p:cSld>
  <p:clrMapOvr>
    <a:masterClrMapping/>
  </p:clrMapOvr>
</p:sld>
</file>

<file path=ppt/slides/slide9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Review the branch</a:t>
            </a:r>
          </a:p>
          <a:p>
            <a:pPr>
              <a:spcAft>
                <a:spcPts val="800"/>
              </a:spcAft>
              <a:defRPr sz="3100" b="0">
                <a:solidFill>
                  <a:srgbClr val="FFFFFF"/>
                </a:solidFill>
                <a:latin typeface="Lato"/>
              </a:defRPr>
            </a:pPr>
            <a:r>
              <a:t>and decide</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manish-branch | checks pass | nothing merged to main</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7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
        <p:nvSpPr>
          <p:cNvPr id="11" name="Strictly Confidential footer"/>
          <p:cNvSpPr txBox="1"/>
          <p:nvPr/>
        </p:nvSpPr>
        <p:spPr>
          <a:xfrm>
            <a:off x="457200" y="6711696"/>
            <a:ext cx="2011680" cy="128016"/>
          </a:xfrm>
          <a:prstGeom prst="rect">
            <a:avLst/>
          </a:prstGeom>
          <a:noFill/>
        </p:spPr>
        <p:txBody>
          <a:bodyPr wrap="none" lIns="0" rIns="0" tIns="0" bIns="0">
            <a:spAutoFit/>
          </a:bodyPr>
          <a:lstStyle/>
          <a:p>
            <a:pPr>
              <a:spcBef>
                <a:spcPts val="0"/>
              </a:spcBef>
              <a:spcAft>
                <a:spcPts val="0"/>
              </a:spcAft>
              <a:defRPr sz="800">
                <a:solidFill>
                  <a:srgbClr val="BDBEC1"/>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