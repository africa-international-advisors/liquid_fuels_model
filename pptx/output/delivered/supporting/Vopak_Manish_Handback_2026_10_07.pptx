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4"/>
  </p:sldMasterIdLst>
  <p:notesMasterIdLst>
    <p:notesMasterId r:id="rId8"/>
  </p:notesMasterIdLst>
  <p:sldIdLst>
    <p:sldId id="256" r:id="rId7"/>
    <p:sldId id="275" r:id="rId6"/>
    <p:sldId id="276" r:id="rId16"/>
    <p:sldId id="277" r:id="rId17"/>
    <p:sldId id="274" r:id="rId29"/>
  </p:sldIdLst>
  <p:sldSz cx="1158875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60B812-FB11-E744-2EAF-0F2DA0ECD4BF}" name="Henry Gilfillan" initials="HG" userId="S::Henry.G@africaia.com::20d8d1d5-b81d-4db2-8d49-9db47f87700a" providerId="AD"/>
  <p188:author id="{80F3E917-8A40-6377-B501-C0BF4583C07C}" name="Maria-Salome Milanzi" initials="MM" userId="S::Maria-Salome.M@africaia.com::27b80f15-cda9-458b-a241-0020d0d18b2b" providerId="AD"/>
  <p188:author id="{8653DC3D-E5A6-54BA-B06A-0D6999879F26}" name="Joseph Kihara" initials="JK" userId="S::joseph.k@africaia.com::89b38e7e-ff17-4223-9856-6d82edda0c7c" providerId="AD"/>
  <p188:author id="{79DE144E-B764-F176-BA11-B9193ABDC8E5}" name="Davies Tsikayi" initials="DT" userId="S::Davies.T@africaia.com::87c07fce-c37d-4ded-b6b5-65d5c8b951c1" providerId="AD"/>
  <p188:author id="{31278C59-D498-87BD-2E87-AF9308A52A9D}" name="Shannon Kurz" initials="SK" userId="Shannon Kurz" providerId="None"/>
  <p188:author id="{68AE2466-B378-7AA2-581F-E86841585307}" name="Paayal Kanjee Govind" initials="PK" userId="S::Paayal.KG@africaia.com::50637073-a9d2-4dfa-96c0-927604d7cc3c" providerId="AD"/>
  <p188:author id="{C5B1668E-F34A-2E98-0466-BAF8D463548D}" name="Manish Ramjeawon" initials="MR" userId="S::manish.r@africaia.com::530ca382-ae44-4c47-aaca-bb6bff7153ab" providerId="AD"/>
  <p188:author id="{F720B396-19C0-DB41-D221-DFCF831531AE}" name="Henry Gilfillan" initials="HG" userId="Henry Gilfillan" providerId="None"/>
  <p188:author id="{9FBE07B6-A3E1-BFC7-95A7-1EBCABB54112}" name="Karabo Mashabane" initials="KM" userId="S::Karabo.M@africaia.com::def9b110-1e86-4623-94be-634dc77ab82b" providerId="AD"/>
  <p188:author id="{53709FFD-5FBE-8519-0B68-00C91B158654}" name="James Brown" initials="JB" userId="James Brow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Henry Gilfillan" initials="HG [2]" lastIdx="8" clrIdx="6">
    <p:extLst>
      <p:ext uri="{19B8F6BF-5375-455C-9EA6-DF929625EA0E}">
        <p15:presenceInfo xmlns:p15="http://schemas.microsoft.com/office/powerpoint/2012/main" userId="S::henry.g@africaia.com::20d8d1d5-b81d-4db2-8d49-9db47f87700a" providerId="AD"/>
      </p:ext>
    </p:extLst>
  </p:cmAuthor>
  <p:cmAuthor id="1" name="Abbas Bilgrami" initials="AB [2]" lastIdx="8" clrIdx="0">
    <p:extLst>
      <p:ext uri="{19B8F6BF-5375-455C-9EA6-DF929625EA0E}">
        <p15:presenceInfo xmlns:p15="http://schemas.microsoft.com/office/powerpoint/2012/main" userId="da833efe2a07dd73" providerId="Windows Live"/>
      </p:ext>
    </p:extLst>
  </p:cmAuthor>
  <p:cmAuthor id="8" name="Abbas Bilgrami" initials="AB" lastIdx="34" clrIdx="7">
    <p:extLst>
      <p:ext uri="{19B8F6BF-5375-455C-9EA6-DF929625EA0E}">
        <p15:presenceInfo xmlns:p15="http://schemas.microsoft.com/office/powerpoint/2012/main" userId="S::abbas.b@africaia.com::09d4207e-ca10-48c5-9e33-f8dec02b9ddc" providerId="AD"/>
      </p:ext>
    </p:extLst>
  </p:cmAuthor>
  <p:cmAuthor id="2" name="Henry Gilfillan" initials="HG" lastIdx="82" clrIdx="1">
    <p:extLst>
      <p:ext uri="{19B8F6BF-5375-455C-9EA6-DF929625EA0E}">
        <p15:presenceInfo xmlns:p15="http://schemas.microsoft.com/office/powerpoint/2012/main" userId="Henry Gilfillan" providerId="None"/>
      </p:ext>
    </p:extLst>
  </p:cmAuthor>
  <p:cmAuthor id="9" name="Paayal Kanjee Govind" initials="PKG" lastIdx="4" clrIdx="8">
    <p:extLst>
      <p:ext uri="{19B8F6BF-5375-455C-9EA6-DF929625EA0E}">
        <p15:presenceInfo xmlns:p15="http://schemas.microsoft.com/office/powerpoint/2012/main" userId="Paayal Kanjee Govind" providerId="None"/>
      </p:ext>
    </p:extLst>
  </p:cmAuthor>
  <p:cmAuthor id="3" name="Ismaeel" initials="I" lastIdx="104" clrIdx="2">
    <p:extLst>
      <p:ext uri="{19B8F6BF-5375-455C-9EA6-DF929625EA0E}">
        <p15:presenceInfo xmlns:p15="http://schemas.microsoft.com/office/powerpoint/2012/main" userId="Ismaeel" providerId="None"/>
      </p:ext>
    </p:extLst>
  </p:cmAuthor>
  <p:cmAuthor id="4" name="Jennifer Zeiss" initials="JZ" lastIdx="19" clrIdx="3">
    <p:extLst>
      <p:ext uri="{19B8F6BF-5375-455C-9EA6-DF929625EA0E}">
        <p15:presenceInfo xmlns:p15="http://schemas.microsoft.com/office/powerpoint/2012/main" userId="Jennifer Zeiss" providerId="None"/>
      </p:ext>
    </p:extLst>
  </p:cmAuthor>
  <p:cmAuthor id="5" name="Gabrielle Knott" initials="GK" lastIdx="2" clrIdx="4">
    <p:extLst>
      <p:ext uri="{19B8F6BF-5375-455C-9EA6-DF929625EA0E}">
        <p15:presenceInfo xmlns:p15="http://schemas.microsoft.com/office/powerpoint/2012/main" userId="Gabrielle Knott" providerId="None"/>
      </p:ext>
    </p:extLst>
  </p:cmAuthor>
  <p:cmAuthor id="6" name="James Brown" initials="JB" lastIdx="2" clrIdx="5">
    <p:extLst>
      <p:ext uri="{19B8F6BF-5375-455C-9EA6-DF929625EA0E}">
        <p15:presenceInfo xmlns:p15="http://schemas.microsoft.com/office/powerpoint/2012/main" userId="S::james@africaia.com::5c3cb27f-96be-4c72-848f-aa01b93992f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3552"/>
    <a:srgbClr val="EBF9FE"/>
    <a:srgbClr val="FDD9A4"/>
    <a:srgbClr val="2D6196"/>
    <a:srgbClr val="326757"/>
    <a:srgbClr val="728A94"/>
    <a:srgbClr val="F01C24"/>
    <a:srgbClr val="56787A"/>
    <a:srgbClr val="CFDFF0"/>
    <a:srgbClr val="008E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C87D74-0723-4269-ADB4-1C2880134AC4}" v="1" dt="2026-10-01T12:10:22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commentAuthors" Target="commentAuthors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5/10/relationships/revisionInfo" Target="revisionInfo.xml"/><Relationship Id="rId15" Type="http://schemas.microsoft.com/office/2018/10/relationships/authors" Target="authors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Lato"/>
              </a:rPr>
              <a:t>Petrol, billion litres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less net imports</c:v>
                </c:pt>
              </c:strCache>
            </c:strRef>
          </c:tx>
          <c:spPr>
            <a:ln w="25400">
              <a:solidFill>
                <a:srgbClr val="0A2373"/>
              </a:solidFill>
            </a:ln>
          </c:spPr>
          <c:marker>
            <c:symbol val="circle"/>
            <c:size val="6"/>
            <c:spPr>
              <a:solidFill>
                <a:srgbClr val="0A237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10.729528751</c:v>
                </c:pt>
                <c:pt idx="1">
                  <c:v>10.691734654</c:v>
                </c:pt>
                <c:pt idx="2">
                  <c:v>11.223942785</c:v>
                </c:pt>
                <c:pt idx="3">
                  <c:v>10.135812655</c:v>
                </c:pt>
                <c:pt idx="4">
                  <c:v>10.446909538</c:v>
                </c:pt>
                <c:pt idx="5">
                  <c:v>10.470524002</c:v>
                </c:pt>
                <c:pt idx="6">
                  <c:v>8.196576968</c:v>
                </c:pt>
                <c:pt idx="7">
                  <c:v>6.345466608</c:v>
                </c:pt>
                <c:pt idx="8">
                  <c:v>4.584221815</c:v>
                </c:pt>
                <c:pt idx="9">
                  <c:v>5.548194912</c:v>
                </c:pt>
                <c:pt idx="10">
                  <c:v>5.947890582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Reported production (to 2021)</c:v>
                </c:pt>
              </c:strCache>
            </c:strRef>
          </c:tx>
          <c:spPr>
            <a:ln w="25400">
              <a:solidFill>
                <a:srgbClr val="7A828C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7A828C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10.82816</c:v>
                </c:pt>
                <c:pt idx="1">
                  <c:v>10.457813</c:v>
                </c:pt>
                <c:pt idx="2">
                  <c:v>10.393066</c:v>
                </c:pt>
                <c:pt idx="3">
                  <c:v>9.43444</c:v>
                </c:pt>
                <c:pt idx="4">
                  <c:v>9.97456</c:v>
                </c:pt>
                <c:pt idx="5">
                  <c:v>10.424467</c:v>
                </c:pt>
                <c:pt idx="6">
                  <c:v>7.895</c:v>
                </c:pt>
                <c:pt idx="7">
                  <c:v>6.351306667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0A0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0"/>
          <c:min val="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3.0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solidFill>
            <a:srgbClr val="11151A"/>
          </a:solidFill>
          <a:latin typeface="La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Lato"/>
              </a:rPr>
              <a:t>Diesel, billion litres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less net imports</c:v>
                </c:pt>
              </c:strCache>
            </c:strRef>
          </c:tx>
          <c:spPr>
            <a:ln w="25400">
              <a:solidFill>
                <a:srgbClr val="0A2373"/>
              </a:solidFill>
            </a:ln>
          </c:spPr>
          <c:marker>
            <c:symbol val="circle"/>
            <c:size val="6"/>
            <c:spPr>
              <a:solidFill>
                <a:srgbClr val="0A237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9.11707366</c:v>
                </c:pt>
                <c:pt idx="1">
                  <c:v>8.682215257</c:v>
                </c:pt>
                <c:pt idx="2">
                  <c:v>9.543684503</c:v>
                </c:pt>
                <c:pt idx="3">
                  <c:v>7.892459337</c:v>
                </c:pt>
                <c:pt idx="4">
                  <c:v>8.997854948</c:v>
                </c:pt>
                <c:pt idx="5">
                  <c:v>9.059736436</c:v>
                </c:pt>
                <c:pt idx="6">
                  <c:v>5.788786832</c:v>
                </c:pt>
                <c:pt idx="7">
                  <c:v>4.07787555</c:v>
                </c:pt>
                <c:pt idx="8">
                  <c:v>1.652268839</c:v>
                </c:pt>
                <c:pt idx="9">
                  <c:v>0.926913773</c:v>
                </c:pt>
                <c:pt idx="10">
                  <c:v>1.737287544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Reported production (to 2021)</c:v>
                </c:pt>
              </c:strCache>
            </c:strRef>
          </c:tx>
          <c:spPr>
            <a:ln w="25400">
              <a:solidFill>
                <a:srgbClr val="7A828C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7A828C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9.58774</c:v>
                </c:pt>
                <c:pt idx="1">
                  <c:v>9.368482</c:v>
                </c:pt>
                <c:pt idx="2">
                  <c:v>9.01419</c:v>
                </c:pt>
                <c:pt idx="3">
                  <c:v>7.921726</c:v>
                </c:pt>
                <c:pt idx="4">
                  <c:v>8.425262</c:v>
                </c:pt>
                <c:pt idx="5">
                  <c:v>9.080357</c:v>
                </c:pt>
                <c:pt idx="6">
                  <c:v>6.4478095</c:v>
                </c:pt>
                <c:pt idx="7">
                  <c:v>5.314964286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0A0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0"/>
          <c:min val="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3.0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solidFill>
            <a:srgbClr val="11151A"/>
          </a:solidFill>
          <a:latin typeface="La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47D6B1-D525-4628-ADA5-8E1FE74ADA4C}" type="datetimeFigureOut">
              <a:rPr lang="en-GB" smtClean="0"/>
              <a:t>01/10/2026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20738" y="1143000"/>
            <a:ext cx="5216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101EB5-DFDD-47C4-B7E0-8A018260211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944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Walk through four sections: the project question, the analytical</a:t>
            </a:r>
          </a:p>
          <a:p>
            <a:r>
              <a:t>requirements, the model-build problem and the delivery approach. The purpose is to</a:t>
            </a:r>
          </a:p>
          <a:p>
            <a:r>
              <a:t>connect the analyst's tasks to the decisions the engagement needs to support.</a:t>
            </a:r>
          </a:p>
          <a:p>
            <a:r>
              <a:t>Week 1 analytical pack, 6 October 2026. Existing kickoff cover/closing reused at user request.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  <a:p>
            <a:r>
              <a:t>SCR delivery order: page 1 of 16. Gap IDs and original evidence references retained in notes.</a:t>
            </a:r>
          </a:p>
          <a:p>
            <a:r>
              <a:t>6 October SCR editorial pass: presentation copy and map hierarchy only. Source observations, example volumes and model inputs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Reference appendix. Colour values are read from the theme and map palette; no evidence or model assumptions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9FAFE-21DB-4F6B-8EA1-32FA210B7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pic>
        <p:nvPicPr>
          <p:cNvPr id="4" name="Picture 3" descr="A picture containing sky, building, outdoor, city&#10;&#10;Description automatically generated">
            <a:extLst>
              <a:ext uri="{FF2B5EF4-FFF2-40B4-BE49-F238E27FC236}">
                <a16:creationId xmlns:a16="http://schemas.microsoft.com/office/drawing/2014/main" id="{AF958CDF-21C2-4696-B1FF-98C6C69234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158875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97E07F-A0B2-4C60-A493-63795665B2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" y="5137149"/>
            <a:ext cx="4933950" cy="1571625"/>
          </a:xfrm>
          <a:solidFill>
            <a:schemeClr val="bg1">
              <a:alpha val="50000"/>
            </a:schemeClr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2000" b="1">
                <a:solidFill>
                  <a:schemeClr val="tx1"/>
                </a:solidFill>
              </a:defRPr>
            </a:lvl2pPr>
            <a:lvl3pPr>
              <a:defRPr sz="1800" b="1">
                <a:solidFill>
                  <a:schemeClr val="tx1"/>
                </a:solidFill>
              </a:defRPr>
            </a:lvl3pPr>
            <a:lvl4pPr>
              <a:defRPr sz="1600" b="1">
                <a:solidFill>
                  <a:schemeClr val="tx1"/>
                </a:solidFill>
              </a:defRPr>
            </a:lvl4pPr>
            <a:lvl5pPr>
              <a:defRPr sz="16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>
                <a:solidFill>
                  <a:schemeClr val="tx1"/>
                </a:solidFill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2143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opak offering simultaneous LNG bunkering service in Rotterdam - Offshore  Energy">
            <a:extLst>
              <a:ext uri="{FF2B5EF4-FFF2-40B4-BE49-F238E27FC236}">
                <a16:creationId xmlns:a16="http://schemas.microsoft.com/office/drawing/2014/main" id="{04892275-F272-DCB3-8D5D-1CEB80A85C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33" t="15791" r="178" b="318"/>
          <a:stretch>
            <a:fillRect/>
          </a:stretch>
        </p:blipFill>
        <p:spPr>
          <a:xfrm>
            <a:off x="1" y="-12700"/>
            <a:ext cx="11588749" cy="575332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9FAFE-21DB-4F6B-8EA1-32FA210B7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1615D-618B-242E-BA84-0838689DFC39}"/>
              </a:ext>
            </a:extLst>
          </p:cNvPr>
          <p:cNvSpPr/>
          <p:nvPr userDrawn="1"/>
        </p:nvSpPr>
        <p:spPr>
          <a:xfrm>
            <a:off x="1" y="5661025"/>
            <a:ext cx="11588749" cy="1200604"/>
          </a:xfrm>
          <a:prstGeom prst="rect">
            <a:avLst/>
          </a:prstGeom>
          <a:solidFill>
            <a:srgbClr val="326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97E07F-A0B2-4C60-A493-63795665B2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77800" y="5205413"/>
            <a:ext cx="4933950" cy="1652587"/>
          </a:xfrm>
          <a:solidFill>
            <a:schemeClr val="bg1">
              <a:alpha val="50000"/>
            </a:schemeClr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2000" b="1">
                <a:solidFill>
                  <a:schemeClr val="tx1"/>
                </a:solidFill>
              </a:defRPr>
            </a:lvl2pPr>
            <a:lvl3pPr>
              <a:defRPr sz="1800" b="1">
                <a:solidFill>
                  <a:schemeClr val="tx1"/>
                </a:solidFill>
              </a:defRPr>
            </a:lvl3pPr>
            <a:lvl4pPr>
              <a:defRPr sz="1600" b="1">
                <a:solidFill>
                  <a:schemeClr val="tx1"/>
                </a:solidFill>
              </a:defRPr>
            </a:lvl4pPr>
            <a:lvl5pPr>
              <a:defRPr sz="16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>
                <a:solidFill>
                  <a:schemeClr val="tx1"/>
                </a:solidFill>
              </a:rPr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92D3BD-B933-88AB-9C21-59605B00713D}"/>
              </a:ext>
            </a:extLst>
          </p:cNvPr>
          <p:cNvSpPr/>
          <p:nvPr userDrawn="1"/>
        </p:nvSpPr>
        <p:spPr>
          <a:xfrm>
            <a:off x="5111750" y="5727050"/>
            <a:ext cx="64770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Cover title panel"/>
          <p:cNvSpPr/>
          <p:nvPr/>
        </p:nvSpPr>
        <p:spPr>
          <a:xfrm>
            <a:off x="118872" y="4690872"/>
            <a:ext cx="4992624" cy="1993392"/>
          </a:xfrm>
          <a:prstGeom prst="rect">
            <a:avLst/>
          </a:prstGeom>
          <a:solidFill>
            <a:srgbClr val="E7E6E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Vopak cover logo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F643500E-BA42-ED40-0D0F-F69255A71C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814" y="5675739"/>
            <a:ext cx="2518046" cy="56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436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opak offering simultaneous LNG bunkering service in Rotterdam - Offshore  Energy">
            <a:extLst>
              <a:ext uri="{FF2B5EF4-FFF2-40B4-BE49-F238E27FC236}">
                <a16:creationId xmlns:a16="http://schemas.microsoft.com/office/drawing/2014/main" id="{04892275-F272-DCB3-8D5D-1CEB80A85C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33" t="15791" r="178" b="318"/>
          <a:stretch>
            <a:fillRect/>
          </a:stretch>
        </p:blipFill>
        <p:spPr>
          <a:xfrm>
            <a:off x="1" y="-12700"/>
            <a:ext cx="11588749" cy="575332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9FAFE-21DB-4F6B-8EA1-32FA210B7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1615D-618B-242E-BA84-0838689DFC39}"/>
              </a:ext>
            </a:extLst>
          </p:cNvPr>
          <p:cNvSpPr/>
          <p:nvPr userDrawn="1"/>
        </p:nvSpPr>
        <p:spPr>
          <a:xfrm>
            <a:off x="1" y="5661025"/>
            <a:ext cx="11588749" cy="1200604"/>
          </a:xfrm>
          <a:prstGeom prst="rect">
            <a:avLst/>
          </a:prstGeom>
          <a:solidFill>
            <a:srgbClr val="326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597E07F-A0B2-4C60-A493-63795665B2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77800" y="5205413"/>
            <a:ext cx="4933950" cy="1652587"/>
          </a:xfrm>
          <a:solidFill>
            <a:schemeClr val="bg1">
              <a:alpha val="50000"/>
            </a:schemeClr>
          </a:solidFill>
        </p:spPr>
        <p:txBody>
          <a:bodyPr anchor="ctr">
            <a:noAutofit/>
          </a:bodyPr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2000" b="1">
                <a:solidFill>
                  <a:schemeClr val="tx1"/>
                </a:solidFill>
              </a:defRPr>
            </a:lvl2pPr>
            <a:lvl3pPr>
              <a:defRPr sz="1800" b="1">
                <a:solidFill>
                  <a:schemeClr val="tx1"/>
                </a:solidFill>
              </a:defRPr>
            </a:lvl3pPr>
            <a:lvl4pPr>
              <a:defRPr sz="1600" b="1">
                <a:solidFill>
                  <a:schemeClr val="tx1"/>
                </a:solidFill>
              </a:defRPr>
            </a:lvl4pPr>
            <a:lvl5pPr>
              <a:defRPr sz="16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>
                <a:solidFill>
                  <a:schemeClr val="tx1"/>
                </a:solidFill>
              </a:rPr>
              <a:t>Click to edit Master text styles</a:t>
            </a:r>
          </a:p>
        </p:txBody>
      </p:sp>
      <p:sp>
        <p:nvSpPr>
          <p:cNvPr id="10" name="Cover title panel"/>
          <p:cNvSpPr/>
          <p:nvPr/>
        </p:nvSpPr>
        <p:spPr>
          <a:xfrm>
            <a:off x="118872" y="4690872"/>
            <a:ext cx="4992624" cy="1993392"/>
          </a:xfrm>
          <a:prstGeom prst="rect">
            <a:avLst/>
          </a:prstGeom>
          <a:solidFill>
            <a:srgbClr val="E7E6E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Vopak cover logo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F643500E-BA42-ED40-0D0F-F69255A71C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814" y="5675739"/>
            <a:ext cx="2518046" cy="56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106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460789-817F-4161-99E1-BBB95ED4BD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4FC8D6-72B7-40D6-89CC-331B0BF40A6F}"/>
              </a:ext>
            </a:extLst>
          </p:cNvPr>
          <p:cNvSpPr/>
          <p:nvPr userDrawn="1"/>
        </p:nvSpPr>
        <p:spPr>
          <a:xfrm>
            <a:off x="9079200" y="0"/>
            <a:ext cx="2509074" cy="10350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EDA466-D75C-48F1-9F3F-47B154E770B8}"/>
              </a:ext>
            </a:extLst>
          </p:cNvPr>
          <p:cNvSpPr/>
          <p:nvPr userDrawn="1"/>
        </p:nvSpPr>
        <p:spPr>
          <a:xfrm>
            <a:off x="-29153" y="0"/>
            <a:ext cx="429952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sz="2800" b="1">
              <a:solidFill>
                <a:schemeClr val="tx1"/>
              </a:solidFill>
            </a:endParaRPr>
          </a:p>
          <a:p>
            <a:pPr algn="ctr"/>
            <a:endParaRPr lang="en-GB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72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460789-817F-4161-99E1-BBB95ED4BD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4FC8D6-72B7-40D6-89CC-331B0BF40A6F}"/>
              </a:ext>
            </a:extLst>
          </p:cNvPr>
          <p:cNvSpPr/>
          <p:nvPr userDrawn="1"/>
        </p:nvSpPr>
        <p:spPr>
          <a:xfrm>
            <a:off x="9079200" y="0"/>
            <a:ext cx="2509074" cy="10350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EDA466-D75C-48F1-9F3F-47B154E770B8}"/>
              </a:ext>
            </a:extLst>
          </p:cNvPr>
          <p:cNvSpPr/>
          <p:nvPr userDrawn="1"/>
        </p:nvSpPr>
        <p:spPr>
          <a:xfrm>
            <a:off x="-29153" y="0"/>
            <a:ext cx="582352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sz="2800" b="1">
              <a:solidFill>
                <a:schemeClr val="tx1"/>
              </a:solidFill>
            </a:endParaRPr>
          </a:p>
          <a:p>
            <a:pPr algn="ctr"/>
            <a:endParaRPr lang="en-GB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2766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5599" y="6489700"/>
            <a:ext cx="805350" cy="287338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fld id="{A65E4EDC-57F8-4D5C-B13E-A981C5F2F71A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8395ED8E-92E9-32C5-9BE4-BAF8026DD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85216"/>
            <a:ext cx="10561320" cy="822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Click to edit Master title style</a:t>
            </a:r>
          </a:p>
        </p:txBody>
      </p:sp>
      <p:cxnSp>
        <p:nvCxnSpPr>
          <p:cNvPr id="7" name="Title and body separator"/>
          <p:cNvCxnSpPr/>
          <p:nvPr/>
        </p:nvCxnSpPr>
        <p:spPr>
          <a:xfrm>
            <a:off x="457200" y="1444752"/>
            <a:ext cx="10652760" cy="0"/>
          </a:xfrm>
          <a:prstGeom prst="line">
            <a:avLst/>
          </a:prstGeom>
          <a:ln w="3175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9644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 userDrawn="1">
          <p15:clr>
            <a:srgbClr val="FBAE40"/>
          </p15:clr>
        </p15:guide>
        <p15:guide id="4" pos="365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7801" y="368299"/>
            <a:ext cx="11233148" cy="690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801" y="1233488"/>
            <a:ext cx="11233149" cy="5256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05599" y="6489700"/>
            <a:ext cx="805350" cy="287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E48029D-87D6-48C3-BA4B-1065A63511DF}" type="slidenum">
              <a:rPr lang="en-GB" smtClean="0">
                <a:solidFill>
                  <a:schemeClr val="tx1"/>
                </a:solidFill>
              </a:rPr>
              <a:pPr/>
              <a:t>‹#›</a:t>
            </a:fld>
            <a:endParaRPr lang="en-GB">
              <a:solidFill>
                <a:schemeClr val="tx1"/>
              </a:solidFill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643CB578-80E0-884E-8515-53279D5DACC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4120" y="6556248"/>
            <a:ext cx="777240" cy="173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5CB3F387-66D0-18CC-51EE-24B908A792B7}"/>
              </a:ext>
            </a:extLst>
          </p:cNvPr>
          <p:cNvSpPr txBox="1">
            <a:spLocks/>
          </p:cNvSpPr>
          <p:nvPr userDrawn="1"/>
        </p:nvSpPr>
        <p:spPr>
          <a:xfrm>
            <a:off x="457200" y="6528816"/>
            <a:ext cx="8595360" cy="228600"/>
          </a:xfrm>
          <a:prstGeom prst="rect">
            <a:avLst/>
          </a:prstGeom>
        </p:spPr>
        <p:txBody>
          <a:bodyPr anchor="ctr" tIns="0" bIns="0">
            <a:normAutofit/>
          </a:bodyPr>
          <a:lstStyle>
            <a:lvl1pPr marL="0" indent="0" algn="l" defTabSz="869137" rtl="0" eaLnBrk="1" latinLnBrk="0" hangingPunct="1">
              <a:lnSpc>
                <a:spcPct val="90000"/>
              </a:lnSpc>
              <a:spcBef>
                <a:spcPts val="951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51853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6422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20990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55559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90127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24696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9265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93833" indent="-217284" algn="l" defTabSz="869137" rtl="0" eaLnBrk="1" latinLnBrk="0" hangingPunct="1">
              <a:lnSpc>
                <a:spcPct val="90000"/>
              </a:lnSpc>
              <a:spcBef>
                <a:spcPts val="475"/>
              </a:spcBef>
              <a:buFont typeface="Arial" panose="020B0604020202020204" pitchFamily="34" charset="0"/>
              <a:buChar char="•"/>
              <a:defRPr sz="171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800">
                <a:solidFill>
                  <a:srgbClr val="404040"/>
                </a:solidFill>
                <a:latin typeface="Lato"/>
              </a:defRPr>
            </a:pPr>
          </a:p>
        </p:txBody>
      </p:sp>
      <p:cxnSp>
        <p:nvCxnSpPr>
          <p:cNvPr id="10" name="Fine footer rule"/>
          <p:cNvCxnSpPr/>
          <p:nvPr/>
        </p:nvCxnSpPr>
        <p:spPr>
          <a:xfrm>
            <a:off x="457200" y="6437376"/>
            <a:ext cx="10652760" cy="0"/>
          </a:xfrm>
          <a:prstGeom prst="line">
            <a:avLst/>
          </a:prstGeom>
          <a:ln w="3175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4016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8" r:id="rId2"/>
    <p:sldLayoutId id="2147483723" r:id="rId3"/>
    <p:sldLayoutId id="2147483724" r:id="rId4"/>
    <p:sldLayoutId id="2147483725" r:id="rId5"/>
    <p:sldLayoutId id="2147483698" r:id="rId6"/>
  </p:sldLayoutIdLst>
  <p:hf hdr="0" ftr="0" dt="0"/>
  <p:txStyles>
    <p:titleStyle>
      <a:lvl1pPr algn="l" defTabSz="869137" rtl="0" eaLnBrk="1" latinLnBrk="0" hangingPunct="1">
        <a:lnSpc>
          <a:spcPct val="90000"/>
        </a:lnSpc>
        <a:spcBef>
          <a:spcPct val="0"/>
        </a:spcBef>
        <a:buNone/>
        <a:defRPr sz="2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284" indent="-217284" algn="l" defTabSz="869137" rtl="0" eaLnBrk="1" latinLnBrk="0" hangingPunct="1">
        <a:lnSpc>
          <a:spcPct val="90000"/>
        </a:lnSpc>
        <a:spcBef>
          <a:spcPts val="951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51853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086422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520990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955559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390127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6pPr>
      <a:lvl7pPr marL="2824696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7pPr>
      <a:lvl8pPr marL="3259265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8pPr>
      <a:lvl9pPr marL="3693833" indent="-217284" algn="l" defTabSz="869137" rtl="0" eaLnBrk="1" latinLnBrk="0" hangingPunct="1">
        <a:lnSpc>
          <a:spcPct val="90000"/>
        </a:lnSpc>
        <a:spcBef>
          <a:spcPts val="475"/>
        </a:spcBef>
        <a:buFont typeface="Arial" panose="020B0604020202020204" pitchFamily="34" charset="0"/>
        <a:buChar char="•"/>
        <a:defRPr sz="17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1pPr>
      <a:lvl2pPr marL="434569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2pPr>
      <a:lvl3pPr marL="869137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3pPr>
      <a:lvl4pPr marL="1303706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4pPr>
      <a:lvl5pPr marL="1738274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5pPr>
      <a:lvl6pPr marL="2172843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6pPr>
      <a:lvl7pPr marL="2607412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7pPr>
      <a:lvl8pPr marL="3041980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8pPr>
      <a:lvl9pPr marL="3476549" algn="l" defTabSz="869137" rtl="0" eaLnBrk="1" latinLnBrk="0" hangingPunct="1">
        <a:defRPr sz="171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2" orient="horz" pos="2160" userDrawn="1">
          <p15:clr>
            <a:srgbClr val="F26B43"/>
          </p15:clr>
        </p15:guide>
        <p15:guide id="13" pos="112" userDrawn="1">
          <p15:clr>
            <a:srgbClr val="F26B43"/>
          </p15:clr>
        </p15:guide>
        <p15:guide id="14" orient="horz" pos="4269" userDrawn="1">
          <p15:clr>
            <a:srgbClr val="F26B43"/>
          </p15:clr>
        </p15:guide>
        <p15:guide id="15" pos="3650" userDrawn="1">
          <p15:clr>
            <a:srgbClr val="F26B43"/>
          </p15:clr>
        </p15:guide>
        <p15:guide id="16" pos="7188" userDrawn="1">
          <p15:clr>
            <a:srgbClr val="F26B43"/>
          </p15:clr>
        </p15:guide>
        <p15:guide id="17" orient="horz" pos="28" userDrawn="1">
          <p15:clr>
            <a:srgbClr val="F26B43"/>
          </p15:clr>
        </p15:guide>
        <p15:guide id="18" orient="horz" pos="686" userDrawn="1">
          <p15:clr>
            <a:srgbClr val="F26B43"/>
          </p15:clr>
        </p15:guide>
        <p15:guide id="19" orient="horz" pos="777" userDrawn="1">
          <p15:clr>
            <a:srgbClr val="F26B43"/>
          </p15:clr>
        </p15:guide>
        <p15:guide id="20" orient="horz" pos="4088" userDrawn="1">
          <p15:clr>
            <a:srgbClr val="F26B43"/>
          </p15:clr>
        </p15:guide>
        <p15:guide id="21" orient="horz" pos="3680" userDrawn="1">
          <p15:clr>
            <a:srgbClr val="F26B43"/>
          </p15:clr>
        </p15:guide>
        <p15:guide id="22" orient="horz" pos="3566" userDrawn="1">
          <p15:clr>
            <a:srgbClr val="F26B43"/>
          </p15:clr>
        </p15:guide>
        <p15:guide id="23" pos="580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hyperlink" Target="https://www.vopak.com/terminals/vopak-terminal-durban" TargetMode="External"/><Relationship Id="rId5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" Target="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slide" Target="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88750" cy="6858000"/>
          </a:xfrm>
          <a:prstGeom prst="rect">
            <a:avLst/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l="21836" r="21836"/>
          <a:stretch>
            <a:fillRect/>
          </a:stretch>
        </p:blipFill>
        <p:spPr>
          <a:xfrm>
            <a:off x="5794375" y="0"/>
            <a:ext cx="5794375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2920" y="457200"/>
            <a:ext cx="1965960" cy="438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2468880"/>
            <a:ext cx="4709160" cy="1554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Liquid fuels</a:t>
            </a:r>
          </a:p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demand and supply</a:t>
            </a:r>
          </a:p>
          <a:p>
            <a:pPr>
              <a:spcAft>
                <a:spcPts val="800"/>
              </a:spcAft>
              <a:defRPr sz="3100" b="0">
                <a:solidFill>
                  <a:srgbClr val="FFFFFF"/>
                </a:solidFill>
                <a:latin typeface="Lato"/>
              </a:defRPr>
            </a:pPr>
            <a:r>
              <a:t>model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4251960"/>
            <a:ext cx="4617720" cy="0"/>
          </a:xfrm>
          <a:prstGeom prst="line">
            <a:avLst/>
          </a:prstGeom>
          <a:ln w="762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4617720"/>
            <a:ext cx="45720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FFFFFF"/>
                </a:solidFill>
                <a:latin typeface="Lato"/>
              </a:defRPr>
            </a:pPr>
            <a:r>
              <a:t>Manish hand-back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239512"/>
            <a:ext cx="457200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FFFFFF"/>
                </a:solidFill>
                <a:latin typeface="Lato"/>
              </a:defRPr>
            </a:pPr>
            <a:r>
              <a:t>7 October | Baseline, fuel input tables and decision 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696712"/>
            <a:ext cx="4572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FFFFFF"/>
                </a:solidFill>
                <a:latin typeface="Lato"/>
              </a:defRPr>
            </a:pPr>
            <a:r>
              <a:t>6 October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4572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FFFFFF"/>
                </a:solidFill>
                <a:latin typeface="Lato"/>
              </a:defRPr>
            </a:pPr>
            <a:r>
              <a:t>Internal working discussion</a:t>
            </a:r>
          </a:p>
        </p:txBody>
      </p:sp>
      <p:sp>
        <p:nvSpPr>
          <p:cNvPr id="11" name="Photo source credit">
            <a:hlinkClick r:id="rId4"/>
          </p:cNvPr>
          <p:cNvSpPr txBox="1"/>
          <p:nvPr/>
        </p:nvSpPr>
        <p:spPr>
          <a:xfrm>
            <a:off x="594360" y="6400800"/>
            <a:ext cx="4754880" cy="1645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800"/>
              </a:spcAft>
              <a:defRPr sz="800" b="0">
                <a:solidFill>
                  <a:srgbClr val="FFFFFF"/>
                </a:solidFill>
                <a:latin typeface="Lato"/>
              </a:defRPr>
            </a:pPr>
            <a:r>
              <a:t>Photo source: Royal Vopak | Terminal Durban | vopak.com</a:t>
            </a:r>
          </a:p>
        </p:txBody>
      </p:sp>
      <p:sp>
        <p:nvSpPr>
          <p:cNvPr id="12" name="Strictly Confidential footer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800">
                <a:solidFill>
                  <a:srgbClr val="BDBEC1"/>
                </a:solidFill>
                <a:latin typeface="Lato"/>
              </a:defRPr>
            </a:pPr>
            <a:r>
              <a:t>Strictly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 customs trade, 2024 petrol and diesel sales exceed net imports by 7.7 bn litres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Corrected balance | calendar years, billion litres | imports and exports from SARS customs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fuel_balance_2026-10-06.md and its table on manish-branch, rebuilt 7 October 2026. Analyst's position, pending Nigel's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023360" cy="22860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A2373"/>
                </a:solidFill>
                <a:latin typeface="Lato"/>
              </a:defRPr>
            </a:pPr>
            <a:r>
              <a:t>Petrol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011680"/>
            <a:ext cx="4023360" cy="22860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0A2373"/>
                </a:solidFill>
                <a:latin typeface="Lato"/>
              </a:defRPr>
            </a:pPr>
            <a:r>
              <a:t>Diesel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267712"/>
          <a:ext cx="8961120" cy="3017520"/>
        </p:xfrm>
        <a:graphic>
          <a:graphicData uri="http://schemas.openxmlformats.org/drawingml/2006/table">
            <a:tbl>
              <a:tblPr firstRow="0" bandRow="0"/>
              <a:tblGrid>
                <a:gridCol w="91440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Year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Exports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 less</a:t>
                      </a:r>
                    </a:p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net 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Exports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Sales less</a:t>
                      </a:r>
                    </a:p>
                    <a:p>
                      <a:pPr algn="r">
                        <a:spcAft>
                          <a:spcPts val="100"/>
                        </a:spcAft>
                        <a:defRPr sz="11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net 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2019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10.77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1.48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1.17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10.47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12.91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5.59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1.74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9.06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8.76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1.72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1.15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8.20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11.69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6.81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5.79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9.30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4.01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1.05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6.35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12.95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9.76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4.08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9.18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5.46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4.58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12.72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11.95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1.65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9.04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4.48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5.55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12.91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12.87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9.03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4.00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0.92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5.95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11.73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10.79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1.74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1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4.45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0.80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12.25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0.75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00"/>
                        </a:spcAft>
                        <a:defRPr sz="11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—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532120"/>
            <a:ext cx="10652760" cy="8229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11151A"/>
                </a:solidFill>
                <a:latin typeface="Lato"/>
              </a:defRPr>
            </a:pPr>
            <a:r>
              <a:t>Sales less net imports is what production, stock changes and gaps in sales coverage must together supply. It is not a measurement of production.</a:t>
            </a:r>
          </a:p>
          <a:p>
            <a:pPr>
              <a:spcAft>
                <a:spcPts val="300"/>
              </a:spcAft>
              <a:defRPr sz="1100" b="0">
                <a:solidFill>
                  <a:srgbClr val="11151A"/>
                </a:solidFill>
                <a:latin typeface="Lato"/>
              </a:defRPr>
            </a:pPr>
            <a:r>
              <a:t>Sales: department to 2023; 2024 is FIASA's figure and is unverified; none yet for 2025. Rebuilt by one command from registered inputs; a test checks every year against the customs extract.</a:t>
            </a:r>
          </a:p>
        </p:txBody>
      </p:sp>
      <p:sp>
        <p:nvSpPr>
          <p:cNvPr id="11" name="Chevron 10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12" name="Chevron 11"/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3" name="Chevron 12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4" name="Chevron 13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agree on most years; five differences need a recorded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Source differences | billion litres | every source is kept in its own column of the balance 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fuel_balance_2026-10-06.md and its table on manish-branch, rebuilt 7 October 2026. Analyst's position, pending Nigel's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29968"/>
          <a:ext cx="10652760" cy="329184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4754880"/>
                <a:gridCol w="2011680"/>
                <a:gridCol w="1783080"/>
              </a:tblGrid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Item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What the sources say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Used in the balance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Who decides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sales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FIASA 2025 edition, p.47: petrol 9.03, diesel 11.73. FIASA 2024 edition, p.32: 8.76 and 11.81. JODI: 10.14 and 10.04 (lowest reliability code). Department: not published.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FIASA 2025 edition, flagged unverified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agree the 2024 sales source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2024 diesel imports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 10.793. Department trade report 10.8 (rounded). FIASA 14.793, a suspected misprint.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review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2018 and 2019 trade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2018 diesel: customs 5.12, FIASA 6.11; petrol: 1.83 and 2.19. 2019 diesel: 5.59 and 5.86. 2018 exports are also lower in customs. FIASA and the department's 2018 balance share one earlier reading; today's customs data and UN Comtrade agree with each other. No missing month or tariff line.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Customs; likely a later customs revision, not proven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review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2022 diesel exports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 0.89, FIASA 0.70.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Customs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review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2019 and 2020 energy balances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Their import and export lines repeat the previous year's figures.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Not used for trade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100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Nigel: confirm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669280"/>
            <a:ext cx="10652760" cy="5486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11151A"/>
                </a:solidFill>
                <a:latin typeface="Lato"/>
              </a:defRPr>
            </a:pPr>
            <a:r>
              <a:t>In the other years from 2014, customs and FIASA differ by 0.2 bn litres or less; the full list is in the balance note. Before 2014 customs is in kilograms or mixed units, so FIASA is used.</a:t>
            </a:r>
          </a:p>
        </p:txBody>
      </p:sp>
      <p:sp>
        <p:nvSpPr>
          <p:cNvPr id="9" name="Chevron 8">
            <a:hlinkClick action="ppaction://hlinksldjump" r:id="rId2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10" name="Chevron 9"/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1" name="Chevron 10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2" name="Chevron 11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3" name="Chevron 12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after 2021 and stock changes are missing, so the balance is not closed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27632"/>
            <a:ext cx="10652760" cy="2743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1151A"/>
                </a:solidFill>
                <a:latin typeface="Lato"/>
              </a:defRPr>
            </a:pPr>
            <a:r>
              <a:t>Missing production and stocks | sales less net imports against production reported in the energy balance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920240"/>
            <a:ext cx="10652760" cy="0"/>
          </a:xfrm>
          <a:prstGeom prst="line">
            <a:avLst/>
          </a:prstGeom>
          <a:ln w="762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547104"/>
            <a:ext cx="96926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11151A"/>
                </a:solidFill>
                <a:latin typeface="Lato"/>
              </a:defRPr>
            </a:pPr>
            <a:r>
              <a:t>Source: fuel_balance_2026-10-06.md and its table on manish-branch, rebuilt 7 October 2026. Analyst's position, pending Nigel's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00" b="0">
                <a:solidFill>
                  <a:srgbClr val="11151A"/>
                </a:solidFill>
                <a:latin typeface="Lato"/>
              </a:defRPr>
            </a:pPr>
            <a:r>
              <a:t>Strictly Confidential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011680"/>
          <a:ext cx="320040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703320" y="2011680"/>
          <a:ext cx="3200400" cy="342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2029968"/>
          <a:ext cx="4023360" cy="3383280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1645920"/>
                <a:gridCol w="1188720"/>
              </a:tblGrid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Missing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What exists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Limit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Production by product, 2022 on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Sasol, year to June 2024: Secunda 29.1 and Natref 17.8 million barrels. Glencore, calendar 2024: Astron 166,204 billion Btu.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All refined products; fiscal against calendar years; Natref is Sasol's share only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Stock changes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JODI monthly stocks, 2023 and 2024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Lowest reliability code; not usable as it stands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1">
                          <a:solidFill>
                            <a:srgbClr val="0A2373"/>
                          </a:solidFill>
                          <a:latin typeface="Lato"/>
                        </a:defRPr>
                      </a:pPr>
                      <a:r>
                        <a:t>Sales coverage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SARS fuel levy volumes, round figures in media releases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sz="950" b="0">
                          <a:solidFill>
                            <a:srgbClr val="11151A"/>
                          </a:solidFill>
                          <a:latin typeface="Lato"/>
                        </a:defRPr>
                      </a:pPr>
                      <a:r>
                        <a:t>Period is assumed; indicative only</a:t>
                      </a:r>
                    </a:p>
                  </a:txBody>
                  <a:tcPr marL="64008" marR="64008" marT="54864" marB="2743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5080">
                      <a:solidFill>
                        <a:srgbClr val="B8B8B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5669280"/>
            <a:ext cx="10652760" cy="5486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A2373"/>
                </a:solidFill>
                <a:latin typeface="Lato"/>
              </a:defRPr>
            </a:pPr>
            <a:r>
              <a:t>A diesel gap of 3 to 4 bn litres a year remains a hypothesis to test. It is not added to demand. Needed to close: output by product and plant, a stock series, and matched periods.</a:t>
            </a:r>
          </a:p>
        </p:txBody>
      </p:sp>
      <p:sp>
        <p:nvSpPr>
          <p:cNvPr id="11" name="Chevron 10">
            <a:hlinkClick action="ppaction://hlinksldjump" r:id="rId4"/>
          </p:cNvPr>
          <p:cNvSpPr/>
          <p:nvPr/>
        </p:nvSpPr>
        <p:spPr>
          <a:xfrm>
            <a:off x="457200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0A2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1">
                <a:solidFill>
                  <a:srgbClr val="FFFFFF"/>
                </a:solidFill>
                <a:latin typeface="Lato"/>
              </a:defRPr>
            </a:pPr>
            <a:r>
              <a:t>1  National balance</a:t>
            </a:r>
          </a:p>
        </p:txBody>
      </p:sp>
      <p:sp>
        <p:nvSpPr>
          <p:cNvPr id="12" name="Chevron 11"/>
          <p:cNvSpPr/>
          <p:nvPr/>
        </p:nvSpPr>
        <p:spPr>
          <a:xfrm>
            <a:off x="2587752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2  Forecast levers</a:t>
            </a:r>
          </a:p>
        </p:txBody>
      </p:sp>
      <p:sp>
        <p:nvSpPr>
          <p:cNvPr id="13" name="Chevron 12"/>
          <p:cNvSpPr/>
          <p:nvPr/>
        </p:nvSpPr>
        <p:spPr>
          <a:xfrm>
            <a:off x="4718304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3  Sector baselines</a:t>
            </a:r>
          </a:p>
        </p:txBody>
      </p:sp>
      <p:sp>
        <p:nvSpPr>
          <p:cNvPr id="14" name="Chevron 13"/>
          <p:cNvSpPr/>
          <p:nvPr/>
        </p:nvSpPr>
        <p:spPr>
          <a:xfrm>
            <a:off x="6848856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4  Tank handling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8979408" y="73152"/>
            <a:ext cx="2075688" cy="384048"/>
          </a:xfrm>
          <a:prstGeom prst="chevron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1100" b="0">
                <a:solidFill>
                  <a:srgbClr val="0A2373"/>
                </a:solidFill>
                <a:latin typeface="Lato"/>
              </a:defRPr>
            </a:pPr>
            <a:r>
              <a:t>5  Hand-back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Lato"/>
              </a:rPr>
              <a:t>Presentation palette | colours and HEX codes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7A32D7-624A-4DA4-860D-2E17F522226D}" type="slidenum">
              <a:rPr lang="en-US"/>
              <a:t>‹#›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457200" y="1627632"/>
            <a:ext cx="10652760" cy="3200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000000"/>
                </a:solidFill>
                <a:latin typeface="Lato"/>
              </a:defRPr>
            </a:pPr>
            <a:r>
              <a:t>Reference | colours used in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30552"/>
            <a:ext cx="10652760" cy="256032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A2373"/>
                </a:solidFill>
                <a:latin typeface="Lato"/>
              </a:defRPr>
            </a:pPr>
            <a:r>
              <a:t>Core presentation colours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87168"/>
            <a:ext cx="347472" cy="292608"/>
          </a:xfrm>
          <a:prstGeom prst="rect">
            <a:avLst/>
          </a:prstGeom>
          <a:solidFill>
            <a:srgbClr val="0A2373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4597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Vopak 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651760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#0A2373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2487168"/>
            <a:ext cx="347472" cy="292608"/>
          </a:xfrm>
          <a:prstGeom prst="rect">
            <a:avLst/>
          </a:prstGeom>
          <a:solidFill>
            <a:srgbClr val="546CA2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24597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Secondary 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8456" y="2651760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#546CA2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487168"/>
            <a:ext cx="347472" cy="292608"/>
          </a:xfrm>
          <a:prstGeom prst="rect">
            <a:avLst/>
          </a:prstGeom>
          <a:solidFill>
            <a:srgbClr val="000000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24597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Text / 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651760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#000000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2487168"/>
            <a:ext cx="34747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4597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White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4856" y="2651760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#FFFFFF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35224"/>
            <a:ext cx="347472" cy="292608"/>
          </a:xfrm>
          <a:prstGeom prst="rect">
            <a:avLst/>
          </a:prstGeom>
          <a:solidFill>
            <a:srgbClr val="EEEEEE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29077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Unassessed / neutral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" y="30998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#EEEEEE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35224"/>
            <a:ext cx="347472" cy="292608"/>
          </a:xfrm>
          <a:prstGeom prst="rect">
            <a:avLst/>
          </a:prstGeom>
          <a:solidFill>
            <a:srgbClr val="A0A0A0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9077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Header divider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30998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#A0A0A0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935224"/>
            <a:ext cx="347472" cy="292608"/>
          </a:xfrm>
          <a:prstGeom prst="rect">
            <a:avLst/>
          </a:prstGeom>
          <a:solidFill>
            <a:srgbClr val="B8B8B8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1656" y="29077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Body divider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6" y="30998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#B8B8B8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2935224"/>
            <a:ext cx="347472" cy="292608"/>
          </a:xfrm>
          <a:prstGeom prst="rect">
            <a:avLst/>
          </a:prstGeom>
          <a:solidFill>
            <a:srgbClr val="B0B0B0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4856" y="29077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Frame divider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30998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#B0B0B0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502152"/>
            <a:ext cx="10652760" cy="256032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A2373"/>
                </a:solidFill>
                <a:latin typeface="Lato"/>
              </a:defRPr>
            </a:pPr>
            <a:r>
              <a:t>Sales-map colours | provincial totals, bn litres/year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858768"/>
            <a:ext cx="347472" cy="292608"/>
          </a:xfrm>
          <a:prstGeom prst="rect">
            <a:avLst/>
          </a:prstGeom>
          <a:solidFill>
            <a:srgbClr val="E3EBF6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831335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Below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" y="40233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#E3EBF6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0" y="3858768"/>
            <a:ext cx="347472" cy="292608"/>
          </a:xfrm>
          <a:prstGeom prst="rect">
            <a:avLst/>
          </a:prstGeom>
          <a:solidFill>
            <a:srgbClr val="BACCE4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48456" y="3831335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1 to below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48456" y="40233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#BACCE4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0" y="3858768"/>
            <a:ext cx="347472" cy="292608"/>
          </a:xfrm>
          <a:prstGeom prst="rect">
            <a:avLst/>
          </a:prstGeom>
          <a:solidFill>
            <a:srgbClr val="809CC7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1656" y="3831335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2 to below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1656" y="40233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#809CC7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86800" y="3858768"/>
            <a:ext cx="347472" cy="292608"/>
          </a:xfrm>
          <a:prstGeom prst="rect">
            <a:avLst/>
          </a:prstGeom>
          <a:solidFill>
            <a:srgbClr val="3D619D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4856" y="3831335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4 to below 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34856" y="40233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#3D619D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306824"/>
            <a:ext cx="347472" cy="292608"/>
          </a:xfrm>
          <a:prstGeom prst="rect">
            <a:avLst/>
          </a:prstGeom>
          <a:solidFill>
            <a:srgbClr val="0A2373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2793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6 and above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" y="44714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#0A2373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4306824"/>
            <a:ext cx="347472" cy="292608"/>
          </a:xfrm>
          <a:prstGeom prst="rect">
            <a:avLst/>
          </a:prstGeom>
          <a:solidFill>
            <a:srgbClr val="F5F8FB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48456" y="42793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Map background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48456" y="44714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#F5F8FB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873752"/>
            <a:ext cx="10652760" cy="256032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A2373"/>
                </a:solidFill>
                <a:latin typeface="Lato"/>
              </a:defRPr>
            </a:pPr>
            <a:r>
              <a:t>Other template theme colours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230368"/>
            <a:ext cx="347472" cy="292608"/>
          </a:xfrm>
          <a:prstGeom prst="rect">
            <a:avLst/>
          </a:prstGeom>
          <a:solidFill>
            <a:srgbClr val="11151A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5256" y="52029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Theme dark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" y="53949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#11151A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0" y="5230368"/>
            <a:ext cx="347472" cy="292608"/>
          </a:xfrm>
          <a:prstGeom prst="rect">
            <a:avLst/>
          </a:prstGeom>
          <a:solidFill>
            <a:srgbClr val="E7E6E6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48456" y="52029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Theme light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48456" y="53949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#E7E6E6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0" y="5230368"/>
            <a:ext cx="347472" cy="292608"/>
          </a:xfrm>
          <a:prstGeom prst="rect">
            <a:avLst/>
          </a:prstGeom>
          <a:solidFill>
            <a:srgbClr val="BDBEC1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91656" y="52029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Accent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91656" y="53949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#BDBEC1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0" y="5230368"/>
            <a:ext cx="347472" cy="292608"/>
          </a:xfrm>
          <a:prstGeom prst="rect">
            <a:avLst/>
          </a:prstGeom>
          <a:solidFill>
            <a:srgbClr val="404040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4856" y="5202936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Accent 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34856" y="5394959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#404040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678424"/>
            <a:ext cx="347472" cy="292608"/>
          </a:xfrm>
          <a:prstGeom prst="rect">
            <a:avLst/>
          </a:prstGeom>
          <a:solidFill>
            <a:srgbClr val="767676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5256" y="56509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Accent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5256" y="58430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#767676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0" y="5678424"/>
            <a:ext cx="347472" cy="292608"/>
          </a:xfrm>
          <a:prstGeom prst="rect">
            <a:avLst/>
          </a:prstGeom>
          <a:solidFill>
            <a:srgbClr val="D9D9D9"/>
          </a:solidFill>
          <a:ln w="635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48456" y="5650992"/>
            <a:ext cx="2148840" cy="192024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0">
                <a:solidFill>
                  <a:srgbClr val="000000"/>
                </a:solidFill>
                <a:latin typeface="Lato"/>
              </a:defRPr>
            </a:pPr>
            <a:r>
              <a:t>Accent 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48456" y="5843016"/>
            <a:ext cx="2148840" cy="1828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A2373"/>
                </a:solidFill>
                <a:latin typeface="Lato"/>
              </a:defRPr>
            </a:pPr>
            <a:r>
              <a:t>#D9D9D9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6309360"/>
            <a:ext cx="10652760" cy="210312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000000"/>
                </a:solidFill>
                <a:latin typeface="Lato"/>
              </a:defRPr>
            </a:pPr>
            <a:r>
              <a:t>Typeface: Lato. Sales colours show totals, not density or market share. Grey denotes unassessed demand.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547104"/>
            <a:ext cx="9692640" cy="210312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>
              <a:spcAft>
                <a:spcPts val="300"/>
              </a:spcAft>
              <a:defRPr sz="760" b="0">
                <a:solidFill>
                  <a:srgbClr val="000000"/>
                </a:solidFill>
                <a:latin typeface="Lato"/>
              </a:defRPr>
            </a:pPr>
            <a:r>
              <a:t>Source: supplied Vopak template; pptx/brand_configs/vopak.py; provincial_demand_map.py.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4E0DC-5458-4CA0-A39F-F639EE535370}" type="slidenum">
              <a:rPr lang="en-US"/>
              <a:t>‹#›</a:t>
            </a:fld>
          </a:p>
        </p:txBody>
      </p:sp>
      <p:sp>
        <p:nvSpPr>
          <p:cNvPr id="70" name="Strictly Confidential footer"/>
          <p:cNvSpPr txBox="1"/>
          <p:nvPr/>
        </p:nvSpPr>
        <p:spPr>
          <a:xfrm>
            <a:off x="457200" y="6711696"/>
            <a:ext cx="201168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800">
                <a:solidFill>
                  <a:srgbClr val="767676"/>
                </a:solidFill>
                <a:latin typeface="Lato"/>
              </a:defRPr>
            </a:pPr>
            <a:r>
              <a:t>Strictly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opak Theme">
  <a:themeElements>
    <a:clrScheme name="Vopak">
      <a:dk1>
        <a:srgbClr val="000000"/>
      </a:dk1>
      <a:lt1>
        <a:srgbClr val="FFFFFF"/>
      </a:lt1>
      <a:dk2>
        <a:srgbClr val="11151A"/>
      </a:dk2>
      <a:lt2>
        <a:srgbClr val="E7E6E6"/>
      </a:lt2>
      <a:accent1>
        <a:srgbClr val="0A2373"/>
      </a:accent1>
      <a:accent2>
        <a:srgbClr val="546CA2"/>
      </a:accent2>
      <a:accent3>
        <a:srgbClr val="BDBEC1"/>
      </a:accent3>
      <a:accent4>
        <a:srgbClr val="404040"/>
      </a:accent4>
      <a:accent5>
        <a:srgbClr val="767676"/>
      </a:accent5>
      <a:accent6>
        <a:srgbClr val="D9D9D9"/>
      </a:accent6>
      <a:hlink>
        <a:srgbClr val="0A2373"/>
      </a:hlink>
      <a:folHlink>
        <a:srgbClr val="546CA2"/>
      </a:folHlink>
    </a:clrScheme>
    <a:fontScheme name="AIA_2017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opak Theme" id="{EB158558-B090-4A15-9406-52ADAF46E73D}" vid="{169915E9-BA5A-4298-BC78-09D68188174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29E3C0-DBBA-4E87-A833-D4D671FDC2D1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440e1679-9fef-4664-be92-b7e3c5432c29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14DAA3CC024F49A081857B4C9CD92A" ma:contentTypeVersion="20" ma:contentTypeDescription="Create a new document." ma:contentTypeScope="" ma:versionID="cdb2463664abbc9cc5ebc4769b50ad18">
  <xsd:schema xmlns:xsd="http://www.w3.org/2001/XMLSchema" xmlns:xs="http://www.w3.org/2001/XMLSchema" xmlns:p="http://schemas.microsoft.com/office/2006/metadata/properties" xmlns:ns2="265cb39c-7109-435c-af5d-13dc21a2db6b" xmlns:ns3="62b85a0e-09bb-4b0f-bd28-e34020cdc070" targetNamespace="http://schemas.microsoft.com/office/2006/metadata/properties" ma:root="true" ma:fieldsID="ee545d7bb76dd121542a05c73fb4a941" ns2:_="" ns3:_="">
    <xsd:import namespace="265cb39c-7109-435c-af5d-13dc21a2db6b"/>
    <xsd:import namespace="62b85a0e-09bb-4b0f-bd28-e34020cdc07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Archive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5cb39c-7109-435c-af5d-13dc21a2db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df3d1728-64fa-4f01-bb7d-5585de3a980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chive" ma:index="26" nillable="true" ma:displayName="Archive" ma:default="0" ma:description="Folder to be backed up, archived and removed from SharePoint" ma:format="Dropdown" ma:internalName="Archive">
      <xsd:simpleType>
        <xsd:restriction base="dms:Boolean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b85a0e-09bb-4b0f-bd28-e34020cdc070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44b13c9-2708-4b8b-a658-00962d7928c2}" ma:internalName="TaxCatchAll" ma:showField="CatchAllData" ma:web="62b85a0e-09bb-4b0f-bd28-e34020cdc0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65cb39c-7109-435c-af5d-13dc21a2db6b">
      <Terms xmlns="http://schemas.microsoft.com/office/infopath/2007/PartnerControls"/>
    </lcf76f155ced4ddcb4097134ff3c332f>
    <TaxCatchAll xmlns="62b85a0e-09bb-4b0f-bd28-e34020cdc070" xsi:nil="true"/>
    <SharedWithUsers xmlns="62b85a0e-09bb-4b0f-bd28-e34020cdc070">
      <UserInfo>
        <DisplayName>Joseph Kihara</DisplayName>
        <AccountId>3747</AccountId>
        <AccountType/>
      </UserInfo>
    </SharedWithUsers>
    <Archive xmlns="265cb39c-7109-435c-af5d-13dc21a2db6b">false</Archive>
  </documentManagement>
</p:properties>
</file>

<file path=customXml/itemProps1.xml><?xml version="1.0" encoding="utf-8"?>
<ds:datastoreItem xmlns:ds="http://schemas.openxmlformats.org/officeDocument/2006/customXml" ds:itemID="{1E0AC09D-7AB9-4C7E-89AA-55CFDED1BCB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B9F3023-3460-4C94-AC6C-4F171062BD4F}">
  <ds:schemaRefs>
    <ds:schemaRef ds:uri="265cb39c-7109-435c-af5d-13dc21a2db6b"/>
    <ds:schemaRef ds:uri="62b85a0e-09bb-4b0f-bd28-e34020cdc07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9FA9FA0-2CB2-436E-A336-3A77ADFE4CF1}">
  <ds:schemaRefs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265cb39c-7109-435c-af5d-13dc21a2db6b"/>
    <ds:schemaRef ds:uri="http://purl.org/dc/elements/1.1/"/>
    <ds:schemaRef ds:uri="62b85a0e-09bb-4b0f-bd28-e34020cdc070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Vopak Theme</Template>
  <TotalTime>0</TotalTime>
  <Words>15</Words>
  <Application>Microsoft Office PowerPoint</Application>
  <PresentationFormat>Custom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Lato</vt:lpstr>
      <vt:lpstr>Vopak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 Africa liquid fuels: Week 1 analytical maps</dc:title>
  <dc:creator>Africa International Advisors</dc:creator>
  <cp:lastModifiedBy>Nigel Zhuwaki</cp:lastModifiedBy>
  <cp:revision>1</cp:revision>
  <dcterms:created xsi:type="dcterms:W3CDTF">2017-11-16T09:19:07Z</dcterms:created>
  <dcterms:modified xsi:type="dcterms:W3CDTF">2026-10-01T12:10:22Z</dcterms:modified>
  <dc:subject>Illustrative demand geography and conditional Vopak market access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0x010100BB14DAA3CC024F49A081857B4C9CD92A</vt:lpwstr>
  </property>
  <property fmtid="{D5CDD505-2E9C-101B-9397-08002B2CF9AE}" pid="3" name="MediaServiceImageTags">
    <vt:lpwstr/>
  </property>
</Properties>
</file>