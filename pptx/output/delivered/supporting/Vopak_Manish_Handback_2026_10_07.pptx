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4" r:id="rId4"/>
  </p:sldMasterIdLst>
  <p:notesMasterIdLst>
    <p:notesMasterId r:id="rId8"/>
  </p:notesMasterIdLst>
  <p:sldIdLst>
    <p:sldId id="256" r:id="rId7"/>
    <p:sldId id="262" r:id="rId6"/>
    <p:sldId id="263" r:id="rId16"/>
    <p:sldId id="264" r:id="rId17"/>
    <p:sldId id="265" r:id="rId5"/>
    <p:sldId id="266" r:id="rId19"/>
    <p:sldId id="267" r:id="rId20"/>
    <p:sldId id="268" r:id="rId21"/>
    <p:sldId id="269" r:id="rId22"/>
    <p:sldId id="261" r:id="rId18"/>
  </p:sldIdLst>
  <p:sldSz cx="1158875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460B812-FB11-E744-2EAF-0F2DA0ECD4BF}" name="Henry Gilfillan" initials="HG" userId="S::Henry.G@africaia.com::20d8d1d5-b81d-4db2-8d49-9db47f87700a" providerId="AD"/>
  <p188:author id="{80F3E917-8A40-6377-B501-C0BF4583C07C}" name="Maria-Salome Milanzi" initials="MM" userId="S::Maria-Salome.M@africaia.com::27b80f15-cda9-458b-a241-0020d0d18b2b" providerId="AD"/>
  <p188:author id="{8653DC3D-E5A6-54BA-B06A-0D6999879F26}" name="Joseph Kihara" initials="JK" userId="S::joseph.k@africaia.com::89b38e7e-ff17-4223-9856-6d82edda0c7c" providerId="AD"/>
  <p188:author id="{79DE144E-B764-F176-BA11-B9193ABDC8E5}" name="Davies Tsikayi" initials="DT" userId="S::Davies.T@africaia.com::87c07fce-c37d-4ded-b6b5-65d5c8b951c1" providerId="AD"/>
  <p188:author id="{31278C59-D498-87BD-2E87-AF9308A52A9D}" name="Shannon Kurz" initials="SK" userId="Shannon Kurz" providerId="None"/>
  <p188:author id="{68AE2466-B378-7AA2-581F-E86841585307}" name="Paayal Kanjee Govind" initials="PK" userId="S::Paayal.KG@africaia.com::50637073-a9d2-4dfa-96c0-927604d7cc3c" providerId="AD"/>
  <p188:author id="{C5B1668E-F34A-2E98-0466-BAF8D463548D}" name="Manish Ramjeawon" initials="MR" userId="S::manish.r@africaia.com::530ca382-ae44-4c47-aaca-bb6bff7153ab" providerId="AD"/>
  <p188:author id="{F720B396-19C0-DB41-D221-DFCF831531AE}" name="Henry Gilfillan" initials="HG" userId="Henry Gilfillan" providerId="None"/>
  <p188:author id="{9FBE07B6-A3E1-BFC7-95A7-1EBCABB54112}" name="Karabo Mashabane" initials="KM" userId="S::Karabo.M@africaia.com::def9b110-1e86-4623-94be-634dc77ab82b" providerId="AD"/>
  <p188:author id="{53709FFD-5FBE-8519-0B68-00C91B158654}" name="James Brown" initials="JB" userId="James Brown"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7" name="Henry Gilfillan" initials="HG [2]" lastIdx="8" clrIdx="6">
    <p:extLst>
      <p:ext uri="{19B8F6BF-5375-455C-9EA6-DF929625EA0E}">
        <p15:presenceInfo xmlns:p15="http://schemas.microsoft.com/office/powerpoint/2012/main" userId="S::henry.g@africaia.com::20d8d1d5-b81d-4db2-8d49-9db47f87700a" providerId="AD"/>
      </p:ext>
    </p:extLst>
  </p:cmAuthor>
  <p:cmAuthor id="1" name="Abbas Bilgrami" initials="AB [2]" lastIdx="8" clrIdx="0">
    <p:extLst>
      <p:ext uri="{19B8F6BF-5375-455C-9EA6-DF929625EA0E}">
        <p15:presenceInfo xmlns:p15="http://schemas.microsoft.com/office/powerpoint/2012/main" userId="da833efe2a07dd73" providerId="Windows Live"/>
      </p:ext>
    </p:extLst>
  </p:cmAuthor>
  <p:cmAuthor id="8" name="Abbas Bilgrami" initials="AB" lastIdx="34" clrIdx="7">
    <p:extLst>
      <p:ext uri="{19B8F6BF-5375-455C-9EA6-DF929625EA0E}">
        <p15:presenceInfo xmlns:p15="http://schemas.microsoft.com/office/powerpoint/2012/main" userId="S::abbas.b@africaia.com::09d4207e-ca10-48c5-9e33-f8dec02b9ddc" providerId="AD"/>
      </p:ext>
    </p:extLst>
  </p:cmAuthor>
  <p:cmAuthor id="2" name="Henry Gilfillan" initials="HG" lastIdx="82" clrIdx="1">
    <p:extLst>
      <p:ext uri="{19B8F6BF-5375-455C-9EA6-DF929625EA0E}">
        <p15:presenceInfo xmlns:p15="http://schemas.microsoft.com/office/powerpoint/2012/main" userId="Henry Gilfillan" providerId="None"/>
      </p:ext>
    </p:extLst>
  </p:cmAuthor>
  <p:cmAuthor id="9" name="Paayal Kanjee Govind" initials="PKG" lastIdx="4" clrIdx="8">
    <p:extLst>
      <p:ext uri="{19B8F6BF-5375-455C-9EA6-DF929625EA0E}">
        <p15:presenceInfo xmlns:p15="http://schemas.microsoft.com/office/powerpoint/2012/main" userId="Paayal Kanjee Govind" providerId="None"/>
      </p:ext>
    </p:extLst>
  </p:cmAuthor>
  <p:cmAuthor id="3" name="Ismaeel" initials="I" lastIdx="104" clrIdx="2">
    <p:extLst>
      <p:ext uri="{19B8F6BF-5375-455C-9EA6-DF929625EA0E}">
        <p15:presenceInfo xmlns:p15="http://schemas.microsoft.com/office/powerpoint/2012/main" userId="Ismaeel" providerId="None"/>
      </p:ext>
    </p:extLst>
  </p:cmAuthor>
  <p:cmAuthor id="4" name="Jennifer Zeiss" initials="JZ" lastIdx="19" clrIdx="3">
    <p:extLst>
      <p:ext uri="{19B8F6BF-5375-455C-9EA6-DF929625EA0E}">
        <p15:presenceInfo xmlns:p15="http://schemas.microsoft.com/office/powerpoint/2012/main" userId="Jennifer Zeiss" providerId="None"/>
      </p:ext>
    </p:extLst>
  </p:cmAuthor>
  <p:cmAuthor id="5" name="Gabrielle Knott" initials="GK" lastIdx="2" clrIdx="4">
    <p:extLst>
      <p:ext uri="{19B8F6BF-5375-455C-9EA6-DF929625EA0E}">
        <p15:presenceInfo xmlns:p15="http://schemas.microsoft.com/office/powerpoint/2012/main" userId="Gabrielle Knott" providerId="None"/>
      </p:ext>
    </p:extLst>
  </p:cmAuthor>
  <p:cmAuthor id="6" name="James Brown" initials="JB" lastIdx="2" clrIdx="5">
    <p:extLst>
      <p:ext uri="{19B8F6BF-5375-455C-9EA6-DF929625EA0E}">
        <p15:presenceInfo xmlns:p15="http://schemas.microsoft.com/office/powerpoint/2012/main" userId="S::james@africaia.com::5c3cb27f-96be-4c72-848f-aa01b93992f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3552"/>
    <a:srgbClr val="EBF9FE"/>
    <a:srgbClr val="FDD9A4"/>
    <a:srgbClr val="2D6196"/>
    <a:srgbClr val="326757"/>
    <a:srgbClr val="728A94"/>
    <a:srgbClr val="F01C24"/>
    <a:srgbClr val="56787A"/>
    <a:srgbClr val="CFDFF0"/>
    <a:srgbClr val="008E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8C87D74-0723-4269-ADB4-1C2880134AC4}" v="1" dt="2026-10-01T12:10:22.3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77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6.xml"/><Relationship Id="rId6" Type="http://schemas.openxmlformats.org/officeDocument/2006/relationships/slide" Target="slides/slide3.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commentAuthors" Target="commentAuthors.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microsoft.com/office/2015/10/relationships/revisionInfo" Target="revisionInfo.xml"/><Relationship Id="rId15" Type="http://schemas.microsoft.com/office/2018/10/relationships/authors" Target="authors.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1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latin typeface="Lato"/>
              </a:rPr>
              <a:t>Petrol, billion litres</a:t>
            </a:r>
          </a:p>
        </c:rich>
      </c:tx>
      <c:layout/>
      <c:overlay val="0"/>
    </c:title>
    <c:autoTitleDeleted val="0"/>
    <c:plotArea>
      <c:lineChart>
        <c:grouping val="standard"/>
        <c:varyColors val="0"/>
        <c:ser>
          <c:idx val="0"/>
          <c:order val="0"/>
          <c:tx>
            <c:strRef>
              <c:f>Sheet1!$B$1</c:f>
              <c:strCache>
                <c:ptCount val="1"/>
                <c:pt idx="0">
                  <c:v>Sales less net imports</c:v>
                </c:pt>
              </c:strCache>
            </c:strRef>
          </c:tx>
          <c:spPr>
            <a:ln w="25400">
              <a:solidFill>
                <a:srgbClr val="0A2373"/>
              </a:solidFill>
            </a:ln>
          </c:spPr>
          <c:marker>
            <c:symbol val="circle"/>
            <c:size val="6"/>
            <c:spPr>
              <a:solidFill>
                <a:srgbClr val="0A2373"/>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10.729528751</c:v>
                </c:pt>
                <c:pt idx="1">
                  <c:v>10.691734654</c:v>
                </c:pt>
                <c:pt idx="2">
                  <c:v>11.223942785</c:v>
                </c:pt>
                <c:pt idx="3">
                  <c:v>10.135812655</c:v>
                </c:pt>
                <c:pt idx="4">
                  <c:v>10.446909538</c:v>
                </c:pt>
                <c:pt idx="5">
                  <c:v>10.470524002</c:v>
                </c:pt>
                <c:pt idx="6">
                  <c:v>8.196576968</c:v>
                </c:pt>
                <c:pt idx="7">
                  <c:v>6.345466608</c:v>
                </c:pt>
                <c:pt idx="8">
                  <c:v>4.584221815</c:v>
                </c:pt>
                <c:pt idx="9">
                  <c:v>5.548194912</c:v>
                </c:pt>
                <c:pt idx="10">
                  <c:v>5.947890582</c:v>
                </c:pt>
              </c:numCache>
            </c:numRef>
          </c:val>
          <c:smooth val="0"/>
        </c:ser>
        <c:ser>
          <c:idx val="1"/>
          <c:order val="1"/>
          <c:tx>
            <c:strRef>
              <c:f>Sheet1!$C$1</c:f>
              <c:strCache>
                <c:ptCount val="1"/>
                <c:pt idx="0">
                  <c:v>Reported production (to 2021)</c:v>
                </c:pt>
              </c:strCache>
            </c:strRef>
          </c:tx>
          <c:spPr>
            <a:ln w="25400">
              <a:solidFill>
                <a:srgbClr val="7A828C"/>
              </a:solidFill>
              <a:prstDash val="dash"/>
            </a:ln>
          </c:spPr>
          <c:marker>
            <c:symbol val="circle"/>
            <c:size val="6"/>
            <c:spPr>
              <a:solidFill>
                <a:srgbClr val="7A828C"/>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10.82816</c:v>
                </c:pt>
                <c:pt idx="1">
                  <c:v>10.457813</c:v>
                </c:pt>
                <c:pt idx="2">
                  <c:v>10.393066</c:v>
                </c:pt>
                <c:pt idx="3">
                  <c:v>9.43444</c:v>
                </c:pt>
                <c:pt idx="4">
                  <c:v>9.97456</c:v>
                </c:pt>
                <c:pt idx="5">
                  <c:v>10.424467</c:v>
                </c:pt>
                <c:pt idx="6">
                  <c:v>7.895</c:v>
                </c:pt>
                <c:pt idx="7">
                  <c:v>6.351306667</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A0A0A0"/>
            </a:solidFill>
          </a:ln>
        </c:spPr>
        <c:crossAx val="2140495176"/>
        <c:crosses val="autoZero"/>
        <c:auto val="1"/>
        <c:lblAlgn val="ctr"/>
        <c:lblOffset val="100"/>
        <c:noMultiLvlLbl val="0"/>
      </c:catAx>
      <c:valAx>
        <c:axId val="2140495176"/>
        <c:scaling>
          <c:max val="12.0"/>
          <c:min val="0.0"/>
        </c:scaling>
        <c:delete val="0"/>
        <c:axPos val="l"/>
        <c:majorGridlines>
          <c:spPr>
            <a:ln>
              <a:solidFill>
                <a:srgbClr val="EEEEEE"/>
              </a:solidFill>
            </a:ln>
          </c:spPr>
        </c:majorGridlines>
        <c:numFmt formatCode="0" sourceLinked="0"/>
        <c:majorTickMark val="out"/>
        <c:minorTickMark val="none"/>
        <c:tickLblPos val="nextTo"/>
        <c:spPr>
          <a:ln>
            <a:noFill/>
          </a:ln>
        </c:spPr>
        <c:crossAx val="2118791784"/>
        <c:crosses val="autoZero"/>
        <c:majorUnit val="3.0"/>
      </c:valAx>
    </c:plotArea>
    <c:legend>
      <c:legendPos val="t"/>
      <c:layout/>
      <c:overlay val="0"/>
    </c:legend>
    <c:plotVisOnly val="1"/>
    <c:dispBlanksAs val="gap"/>
    <c:showDLblsOverMax val="0"/>
  </c:chart>
  <c:txPr>
    <a:bodyPr/>
    <a:lstStyle/>
    <a:p>
      <a:pPr>
        <a:defRPr sz="1000">
          <a:solidFill>
            <a:srgbClr val="11151A"/>
          </a:solidFill>
          <a:latin typeface="La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latin typeface="Lato"/>
              </a:rPr>
              <a:t>Diesel, billion litres</a:t>
            </a:r>
          </a:p>
        </c:rich>
      </c:tx>
      <c:layout/>
      <c:overlay val="0"/>
    </c:title>
    <c:autoTitleDeleted val="0"/>
    <c:plotArea>
      <c:lineChart>
        <c:grouping val="standard"/>
        <c:varyColors val="0"/>
        <c:ser>
          <c:idx val="0"/>
          <c:order val="0"/>
          <c:tx>
            <c:strRef>
              <c:f>Sheet1!$B$1</c:f>
              <c:strCache>
                <c:ptCount val="1"/>
                <c:pt idx="0">
                  <c:v>Sales less net imports</c:v>
                </c:pt>
              </c:strCache>
            </c:strRef>
          </c:tx>
          <c:spPr>
            <a:ln w="25400">
              <a:solidFill>
                <a:srgbClr val="0A2373"/>
              </a:solidFill>
            </a:ln>
          </c:spPr>
          <c:marker>
            <c:symbol val="circle"/>
            <c:size val="6"/>
            <c:spPr>
              <a:solidFill>
                <a:srgbClr val="0A2373"/>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9.11707366</c:v>
                </c:pt>
                <c:pt idx="1">
                  <c:v>8.682215257</c:v>
                </c:pt>
                <c:pt idx="2">
                  <c:v>9.543684503</c:v>
                </c:pt>
                <c:pt idx="3">
                  <c:v>7.892459337</c:v>
                </c:pt>
                <c:pt idx="4">
                  <c:v>8.997854948</c:v>
                </c:pt>
                <c:pt idx="5">
                  <c:v>9.059736436</c:v>
                </c:pt>
                <c:pt idx="6">
                  <c:v>5.788786832</c:v>
                </c:pt>
                <c:pt idx="7">
                  <c:v>4.07787555</c:v>
                </c:pt>
                <c:pt idx="8">
                  <c:v>1.652268839</c:v>
                </c:pt>
                <c:pt idx="9">
                  <c:v>0.926913773</c:v>
                </c:pt>
                <c:pt idx="10">
                  <c:v>1.737287544</c:v>
                </c:pt>
              </c:numCache>
            </c:numRef>
          </c:val>
          <c:smooth val="0"/>
        </c:ser>
        <c:ser>
          <c:idx val="1"/>
          <c:order val="1"/>
          <c:tx>
            <c:strRef>
              <c:f>Sheet1!$C$1</c:f>
              <c:strCache>
                <c:ptCount val="1"/>
                <c:pt idx="0">
                  <c:v>Reported production (to 2021)</c:v>
                </c:pt>
              </c:strCache>
            </c:strRef>
          </c:tx>
          <c:spPr>
            <a:ln w="25400">
              <a:solidFill>
                <a:srgbClr val="7A828C"/>
              </a:solidFill>
              <a:prstDash val="dash"/>
            </a:ln>
          </c:spPr>
          <c:marker>
            <c:symbol val="circle"/>
            <c:size val="6"/>
            <c:spPr>
              <a:solidFill>
                <a:srgbClr val="7A828C"/>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9.58774</c:v>
                </c:pt>
                <c:pt idx="1">
                  <c:v>9.368482</c:v>
                </c:pt>
                <c:pt idx="2">
                  <c:v>9.01419</c:v>
                </c:pt>
                <c:pt idx="3">
                  <c:v>7.921726</c:v>
                </c:pt>
                <c:pt idx="4">
                  <c:v>8.425262</c:v>
                </c:pt>
                <c:pt idx="5">
                  <c:v>9.080357</c:v>
                </c:pt>
                <c:pt idx="6">
                  <c:v>6.4478095</c:v>
                </c:pt>
                <c:pt idx="7">
                  <c:v>5.314964286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A0A0A0"/>
            </a:solidFill>
          </a:ln>
        </c:spPr>
        <c:crossAx val="2140495176"/>
        <c:crosses val="autoZero"/>
        <c:auto val="1"/>
        <c:lblAlgn val="ctr"/>
        <c:lblOffset val="100"/>
        <c:noMultiLvlLbl val="0"/>
      </c:catAx>
      <c:valAx>
        <c:axId val="2140495176"/>
        <c:scaling>
          <c:max val="12.0"/>
          <c:min val="0.0"/>
        </c:scaling>
        <c:delete val="0"/>
        <c:axPos val="l"/>
        <c:majorGridlines>
          <c:spPr>
            <a:ln>
              <a:solidFill>
                <a:srgbClr val="EEEEEE"/>
              </a:solidFill>
            </a:ln>
          </c:spPr>
        </c:majorGridlines>
        <c:numFmt formatCode="0" sourceLinked="0"/>
        <c:majorTickMark val="out"/>
        <c:minorTickMark val="none"/>
        <c:tickLblPos val="nextTo"/>
        <c:spPr>
          <a:ln>
            <a:noFill/>
          </a:ln>
        </c:spPr>
        <c:crossAx val="2118791784"/>
        <c:crosses val="autoZero"/>
        <c:majorUnit val="3.0"/>
      </c:valAx>
    </c:plotArea>
    <c:legend>
      <c:legendPos val="t"/>
      <c:layout/>
      <c:overlay val="0"/>
    </c:legend>
    <c:plotVisOnly val="1"/>
    <c:dispBlanksAs val="gap"/>
    <c:showDLblsOverMax val="0"/>
  </c:chart>
  <c:txPr>
    <a:bodyPr/>
    <a:lstStyle/>
    <a:p>
      <a:pPr>
        <a:defRPr sz="1000">
          <a:solidFill>
            <a:srgbClr val="11151A"/>
          </a:solidFill>
          <a:latin typeface="La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47D6B1-D525-4628-ADA5-8E1FE74ADA4C}" type="datetimeFigureOut">
              <a:rPr lang="en-GB" smtClean="0"/>
              <a:t>01/10/2026</a:t>
            </a:fld>
            <a:endParaRPr lang="en-GB"/>
          </a:p>
        </p:txBody>
      </p:sp>
      <p:sp>
        <p:nvSpPr>
          <p:cNvPr id="4" name="Slide Image Placeholder 3"/>
          <p:cNvSpPr>
            <a:spLocks noGrp="1" noRot="1" noChangeAspect="1"/>
          </p:cNvSpPr>
          <p:nvPr>
            <p:ph type="sldImg" idx="2"/>
          </p:nvPr>
        </p:nvSpPr>
        <p:spPr>
          <a:xfrm>
            <a:off x="820738" y="1143000"/>
            <a:ext cx="5216525"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101EB5-DFDD-47C4-B7E0-8A018260211B}" type="slidenum">
              <a:rPr lang="en-GB" smtClean="0"/>
              <a:t>‹#›</a:t>
            </a:fld>
            <a:endParaRPr lang="en-GB"/>
          </a:p>
        </p:txBody>
      </p:sp>
    </p:spTree>
    <p:extLst>
      <p:ext uri="{BB962C8B-B14F-4D97-AF65-F5344CB8AC3E}">
        <p14:creationId xmlns:p14="http://schemas.microsoft.com/office/powerpoint/2010/main" val="14379448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Walk through four sections: the project question, the analytical</a:t>
            </a:r>
          </a:p>
          <a:p>
            <a:r>
              <a:t>requirements, the model-build problem and the delivery approach. The purpose is to</a:t>
            </a:r>
          </a:p>
          <a:p>
            <a:r>
              <a:t>connect the analyst's tasks to the decisions the engagement needs to support.</a:t>
            </a:r>
          </a:p>
          <a:p>
            <a:r>
              <a:t>Week 1 analytical pack, 6 October 2026. Existing kickoff cover/closing reused at user request.</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note: Closing cover photograph: Royal Vopak, Terminal Lesedi. https://www.vopak.com/terminals/vopak-terminal-lesedi</a:t>
            </a:r>
          </a:p>
          <a:p>
            <a:r>
              <a:t>Week 1 analytical pack, 6 October 2026. Existing kickoff cover/closing reused at user request.</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pic>
        <p:nvPicPr>
          <p:cNvPr id="4" name="Picture 3" descr="A picture containing sky, building, outdoor, city&#10;&#10;Description automatically generated">
            <a:extLst>
              <a:ext uri="{FF2B5EF4-FFF2-40B4-BE49-F238E27FC236}">
                <a16:creationId xmlns:a16="http://schemas.microsoft.com/office/drawing/2014/main" id="{AF958CDF-21C2-4696-B1FF-98C6C69234CE}"/>
              </a:ext>
            </a:extLst>
          </p:cNvPr>
          <p:cNvPicPr>
            <a:picLocks noChangeAspect="1"/>
          </p:cNvPicPr>
          <p:nvPr userDrawn="1"/>
        </p:nvPicPr>
        <p:blipFill rotWithShape="1">
          <a:blip r:embed="rId2">
            <a:extLst>
              <a:ext uri="{28A0092B-C50C-407E-A947-70E740481C1C}">
                <a14:useLocalDpi xmlns:a14="http://schemas.microsoft.com/office/drawing/2010/main"/>
              </a:ext>
            </a:extLst>
          </a:blip>
          <a:srcRect/>
          <a:stretch/>
        </p:blipFill>
        <p:spPr>
          <a:xfrm>
            <a:off x="0" y="1"/>
            <a:ext cx="11588750" cy="6858000"/>
          </a:xfrm>
          <a:prstGeom prst="rect">
            <a:avLst/>
          </a:prstGeom>
        </p:spPr>
      </p:pic>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 y="5137149"/>
            <a:ext cx="4933950" cy="1571625"/>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Tree>
    <p:extLst>
      <p:ext uri="{BB962C8B-B14F-4D97-AF65-F5344CB8AC3E}">
        <p14:creationId xmlns:p14="http://schemas.microsoft.com/office/powerpoint/2010/main" val="1721437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7" name="Rectangle 6">
            <a:extLst>
              <a:ext uri="{FF2B5EF4-FFF2-40B4-BE49-F238E27FC236}">
                <a16:creationId xmlns:a16="http://schemas.microsoft.com/office/drawing/2014/main" id="{3E92D3BD-B933-88AB-9C21-59605B00713D}"/>
              </a:ext>
            </a:extLst>
          </p:cNvPr>
          <p:cNvSpPr/>
          <p:nvPr userDrawn="1"/>
        </p:nvSpPr>
        <p:spPr>
          <a:xfrm>
            <a:off x="5111750" y="5727050"/>
            <a:ext cx="6477000" cy="457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671436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1751062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4299527"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29172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582352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642766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Header only">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10605599" y="6489700"/>
            <a:ext cx="805350" cy="287338"/>
          </a:xfrm>
        </p:spPr>
        <p:txBody>
          <a:bodyPr/>
          <a:lstStyle>
            <a:lvl1pPr>
              <a:defRPr sz="1000">
                <a:solidFill>
                  <a:schemeClr val="tx1"/>
                </a:solidFill>
              </a:defRPr>
            </a:lvl1pPr>
          </a:lstStyle>
          <a:p>
            <a:fld id="{A65E4EDC-57F8-4D5C-B13E-A981C5F2F71A}" type="slidenum">
              <a:rPr lang="en-GB" smtClean="0">
                <a:solidFill>
                  <a:schemeClr val="tx1"/>
                </a:solidFill>
              </a:rPr>
              <a:pPr/>
              <a:t>‹#›</a:t>
            </a:fld>
            <a:endParaRPr lang="en-GB">
              <a:solidFill>
                <a:schemeClr val="tx1"/>
              </a:solidFill>
            </a:endParaRPr>
          </a:p>
        </p:txBody>
      </p:sp>
      <p:sp>
        <p:nvSpPr>
          <p:cNvPr id="3" name="Title Placeholder 1">
            <a:extLst>
              <a:ext uri="{FF2B5EF4-FFF2-40B4-BE49-F238E27FC236}">
                <a16:creationId xmlns:a16="http://schemas.microsoft.com/office/drawing/2014/main" id="{8395ED8E-92E9-32C5-9BE4-BAF8026DD357}"/>
              </a:ext>
            </a:extLst>
          </p:cNvPr>
          <p:cNvSpPr>
            <a:spLocks noGrp="1"/>
          </p:cNvSpPr>
          <p:nvPr>
            <p:ph type="title"/>
          </p:nvPr>
        </p:nvSpPr>
        <p:spPr>
          <a:xfrm>
            <a:off x="457200" y="585216"/>
            <a:ext cx="10561320" cy="822960"/>
          </a:xfrm>
          <a:prstGeom prst="rect">
            <a:avLst/>
          </a:prstGeom>
        </p:spPr>
        <p:txBody>
          <a:bodyPr vert="horz" lIns="91440" tIns="45720" rIns="91440" bIns="45720" rtlCol="0" anchor="ctr">
            <a:normAutofit/>
          </a:bodyPr>
          <a:lstStyle/>
          <a:p>
            <a:r>
              <a:rPr lang="en-US">
                <a:solidFill>
                  <a:schemeClr val="tx1"/>
                </a:solidFill>
              </a:rPr>
              <a:t>Click to edit Master title style</a:t>
            </a:r>
          </a:p>
        </p:txBody>
      </p:sp>
      <p:cxnSp>
        <p:nvCxnSpPr>
          <p:cNvPr id="7" name="Title and body separator"/>
          <p:cNvCxnSpPr/>
          <p:nvPr/>
        </p:nvCxnSpPr>
        <p:spPr>
          <a:xfrm>
            <a:off x="457200" y="1444752"/>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38964405"/>
      </p:ext>
    </p:extLst>
  </p:cSld>
  <p:clrMapOvr>
    <a:masterClrMapping/>
  </p:clrMapOvr>
  <p:extLst>
    <p:ext uri="{DCECCB84-F9BA-43D5-87BE-67443E8EF086}">
      <p15:sldGuideLst xmlns:p15="http://schemas.microsoft.com/office/powerpoint/2012/main">
        <p15:guide id="3" orient="horz" pos="2160" userDrawn="1">
          <p15:clr>
            <a:srgbClr val="FBAE40"/>
          </p15:clr>
        </p15:guide>
        <p15:guide id="4" pos="365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png"/><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7801" y="368299"/>
            <a:ext cx="11233148" cy="690101"/>
          </a:xfrm>
          <a:prstGeom prst="rect">
            <a:avLst/>
          </a:prstGeom>
        </p:spPr>
        <p:txBody>
          <a:bodyPr vert="horz" lIns="91440" tIns="45720" rIns="91440" bIns="45720" rtlCol="0" anchor="ctr">
            <a:normAutofit/>
          </a:bodyPr>
          <a:lstStyle/>
          <a:p/>
        </p:txBody>
      </p:sp>
      <p:sp>
        <p:nvSpPr>
          <p:cNvPr id="3" name="Text Placeholder 2"/>
          <p:cNvSpPr>
            <a:spLocks noGrp="1"/>
          </p:cNvSpPr>
          <p:nvPr>
            <p:ph type="body" idx="1"/>
          </p:nvPr>
        </p:nvSpPr>
        <p:spPr>
          <a:xfrm>
            <a:off x="177801" y="1233488"/>
            <a:ext cx="11233149" cy="5256212"/>
          </a:xfrm>
          <a:prstGeom prst="rect">
            <a:avLst/>
          </a:prstGeom>
        </p:spPr>
        <p:txBody>
          <a:bodyPr vert="horz" lIns="91440" tIns="45720" rIns="91440" bIns="45720" rtlCol="0">
            <a:normAutofit/>
          </a:bodyPr>
          <a:lstStyle/>
          <a:p>
            <a:pPr lvl="0"/>
          </a:p>
        </p:txBody>
      </p:sp>
      <p:sp>
        <p:nvSpPr>
          <p:cNvPr id="6" name="Slide Number Placeholder 5"/>
          <p:cNvSpPr>
            <a:spLocks noGrp="1"/>
          </p:cNvSpPr>
          <p:nvPr>
            <p:ph type="sldNum" sz="quarter" idx="4"/>
          </p:nvPr>
        </p:nvSpPr>
        <p:spPr>
          <a:xfrm>
            <a:off x="10605599" y="6489700"/>
            <a:ext cx="805350" cy="287338"/>
          </a:xfrm>
          <a:prstGeom prst="rect">
            <a:avLst/>
          </a:prstGeom>
        </p:spPr>
        <p:txBody>
          <a:bodyPr vert="horz" lIns="91440" tIns="45720" rIns="91440" bIns="45720" rtlCol="0" anchor="ctr"/>
          <a:lstStyle>
            <a:lvl1pPr algn="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pic>
        <p:nvPicPr>
          <p:cNvPr id="4" name="Picture 2">
            <a:extLst>
              <a:ext uri="{FF2B5EF4-FFF2-40B4-BE49-F238E27FC236}">
                <a16:creationId xmlns:a16="http://schemas.microsoft.com/office/drawing/2014/main" id="{643CB578-80E0-884E-8515-53279D5DACC1}"/>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10104120" y="6556248"/>
            <a:ext cx="777240" cy="173447"/>
          </a:xfrm>
          <a:prstGeom prst="rect">
            <a:avLst/>
          </a:prstGeom>
          <a:noFill/>
          <a:extLst>
            <a:ext uri="{909E8E84-426E-40DD-AFC4-6F175D3DCCD1}">
              <a14:hiddenFill xmlns:a14="http://schemas.microsoft.com/office/drawing/2010/main">
                <a:solidFill>
                  <a:srgbClr val="FFFFFF"/>
                </a:solidFill>
              </a14:hiddenFill>
            </a:ext>
          </a:extLst>
        </p:spPr>
      </p:pic>
      <p:sp>
        <p:nvSpPr>
          <p:cNvPr id="9" name="Text Placeholder 6">
            <a:extLst>
              <a:ext uri="{FF2B5EF4-FFF2-40B4-BE49-F238E27FC236}">
                <a16:creationId xmlns:a16="http://schemas.microsoft.com/office/drawing/2014/main" id="{5CB3F387-66D0-18CC-51EE-24B908A792B7}"/>
              </a:ext>
            </a:extLst>
          </p:cNvPr>
          <p:cNvSpPr txBox="1">
            <a:spLocks/>
          </p:cNvSpPr>
          <p:nvPr userDrawn="1"/>
        </p:nvSpPr>
        <p:spPr>
          <a:xfrm>
            <a:off x="457200" y="6528816"/>
            <a:ext cx="8595360" cy="228600"/>
          </a:xfrm>
          <a:prstGeom prst="rect">
            <a:avLst/>
          </a:prstGeom>
        </p:spPr>
        <p:txBody>
          <a:bodyPr anchor="ctr" tIns="0" bIns="0">
            <a:normAutofit/>
          </a:bodyPr>
          <a:lstStyle>
            <a:lvl1pPr marL="0" indent="0" algn="l" defTabSz="869137" rtl="0" eaLnBrk="1" latinLnBrk="0" hangingPunct="1">
              <a:lnSpc>
                <a:spcPct val="90000"/>
              </a:lnSpc>
              <a:spcBef>
                <a:spcPts val="951"/>
              </a:spcBef>
              <a:buFont typeface="Arial" panose="020B0604020202020204" pitchFamily="34" charset="0"/>
              <a:buNone/>
              <a:defRPr sz="1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a:lstStyle>
          <a:p>
            <a:pPr>
              <a:defRPr sz="800">
                <a:solidFill>
                  <a:srgbClr val="404040"/>
                </a:solidFill>
                <a:latin typeface="Lato"/>
              </a:defRPr>
            </a:pPr>
          </a:p>
        </p:txBody>
      </p:sp>
      <p:cxnSp>
        <p:nvCxnSpPr>
          <p:cNvPr id="10" name="Fine footer rule"/>
          <p:cNvCxnSpPr/>
          <p:nvPr/>
        </p:nvCxnSpPr>
        <p:spPr>
          <a:xfrm>
            <a:off x="457200" y="6437376"/>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4016228"/>
      </p:ext>
    </p:extLst>
  </p:cSld>
  <p:clrMap bg1="lt1" tx1="dk1" bg2="lt2" tx2="dk2" accent1="accent1" accent2="accent2" accent3="accent3" accent4="accent4" accent5="accent5" accent6="accent6" hlink="hlink" folHlink="folHlink"/>
  <p:sldLayoutIdLst>
    <p:sldLayoutId id="2147483713" r:id="rId1"/>
    <p:sldLayoutId id="2147483718" r:id="rId2"/>
    <p:sldLayoutId id="2147483723" r:id="rId3"/>
    <p:sldLayoutId id="2147483724" r:id="rId4"/>
    <p:sldLayoutId id="2147483725" r:id="rId5"/>
    <p:sldLayoutId id="2147483698" r:id="rId6"/>
  </p:sldLayoutIdLst>
  <p:hf hdr="0" ftr="0" dt="0"/>
  <p:txStyles>
    <p:titleStyle>
      <a:lvl1pPr algn="l" defTabSz="869137" rtl="0" eaLnBrk="1" latinLnBrk="0" hangingPunct="1">
        <a:lnSpc>
          <a:spcPct val="90000"/>
        </a:lnSpc>
        <a:spcBef>
          <a:spcPct val="0"/>
        </a:spcBef>
        <a:buNone/>
        <a:defRPr sz="2200" b="1" kern="1200">
          <a:solidFill>
            <a:schemeClr val="tx1"/>
          </a:solidFill>
          <a:latin typeface="+mj-lt"/>
          <a:ea typeface="+mj-ea"/>
          <a:cs typeface="+mj-cs"/>
        </a:defRPr>
      </a:lvl1pPr>
    </p:titleStyle>
    <p:bodyStyle>
      <a:lvl1pPr marL="217284" indent="-217284" algn="l" defTabSz="869137" rtl="0" eaLnBrk="1" latinLnBrk="0" hangingPunct="1">
        <a:lnSpc>
          <a:spcPct val="90000"/>
        </a:lnSpc>
        <a:spcBef>
          <a:spcPts val="951"/>
        </a:spcBef>
        <a:buFont typeface="Arial" panose="020B0604020202020204" pitchFamily="34" charset="0"/>
        <a:buChar char="•"/>
        <a:defRPr sz="2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p:bodyStyle>
    <p:otherStyle>
      <a:defPPr>
        <a:defRPr lang="en-US"/>
      </a:defPPr>
      <a:lvl1pPr marL="0" algn="l" defTabSz="869137" rtl="0" eaLnBrk="1" latinLnBrk="0" hangingPunct="1">
        <a:defRPr sz="1711" kern="1200">
          <a:solidFill>
            <a:schemeClr val="tx1"/>
          </a:solidFill>
          <a:latin typeface="+mn-lt"/>
          <a:ea typeface="+mn-ea"/>
          <a:cs typeface="+mn-cs"/>
        </a:defRPr>
      </a:lvl1pPr>
      <a:lvl2pPr marL="434569" algn="l" defTabSz="869137" rtl="0" eaLnBrk="1" latinLnBrk="0" hangingPunct="1">
        <a:defRPr sz="1711" kern="1200">
          <a:solidFill>
            <a:schemeClr val="tx1"/>
          </a:solidFill>
          <a:latin typeface="+mn-lt"/>
          <a:ea typeface="+mn-ea"/>
          <a:cs typeface="+mn-cs"/>
        </a:defRPr>
      </a:lvl2pPr>
      <a:lvl3pPr marL="869137" algn="l" defTabSz="869137" rtl="0" eaLnBrk="1" latinLnBrk="0" hangingPunct="1">
        <a:defRPr sz="1711" kern="1200">
          <a:solidFill>
            <a:schemeClr val="tx1"/>
          </a:solidFill>
          <a:latin typeface="+mn-lt"/>
          <a:ea typeface="+mn-ea"/>
          <a:cs typeface="+mn-cs"/>
        </a:defRPr>
      </a:lvl3pPr>
      <a:lvl4pPr marL="1303706" algn="l" defTabSz="869137" rtl="0" eaLnBrk="1" latinLnBrk="0" hangingPunct="1">
        <a:defRPr sz="1711" kern="1200">
          <a:solidFill>
            <a:schemeClr val="tx1"/>
          </a:solidFill>
          <a:latin typeface="+mn-lt"/>
          <a:ea typeface="+mn-ea"/>
          <a:cs typeface="+mn-cs"/>
        </a:defRPr>
      </a:lvl4pPr>
      <a:lvl5pPr marL="1738274" algn="l" defTabSz="869137" rtl="0" eaLnBrk="1" latinLnBrk="0" hangingPunct="1">
        <a:defRPr sz="1711" kern="1200">
          <a:solidFill>
            <a:schemeClr val="tx1"/>
          </a:solidFill>
          <a:latin typeface="+mn-lt"/>
          <a:ea typeface="+mn-ea"/>
          <a:cs typeface="+mn-cs"/>
        </a:defRPr>
      </a:lvl5pPr>
      <a:lvl6pPr marL="2172843" algn="l" defTabSz="869137" rtl="0" eaLnBrk="1" latinLnBrk="0" hangingPunct="1">
        <a:defRPr sz="1711" kern="1200">
          <a:solidFill>
            <a:schemeClr val="tx1"/>
          </a:solidFill>
          <a:latin typeface="+mn-lt"/>
          <a:ea typeface="+mn-ea"/>
          <a:cs typeface="+mn-cs"/>
        </a:defRPr>
      </a:lvl6pPr>
      <a:lvl7pPr marL="2607412" algn="l" defTabSz="869137" rtl="0" eaLnBrk="1" latinLnBrk="0" hangingPunct="1">
        <a:defRPr sz="1711" kern="1200">
          <a:solidFill>
            <a:schemeClr val="tx1"/>
          </a:solidFill>
          <a:latin typeface="+mn-lt"/>
          <a:ea typeface="+mn-ea"/>
          <a:cs typeface="+mn-cs"/>
        </a:defRPr>
      </a:lvl7pPr>
      <a:lvl8pPr marL="3041980" algn="l" defTabSz="869137" rtl="0" eaLnBrk="1" latinLnBrk="0" hangingPunct="1">
        <a:defRPr sz="1711" kern="1200">
          <a:solidFill>
            <a:schemeClr val="tx1"/>
          </a:solidFill>
          <a:latin typeface="+mn-lt"/>
          <a:ea typeface="+mn-ea"/>
          <a:cs typeface="+mn-cs"/>
        </a:defRPr>
      </a:lvl8pPr>
      <a:lvl9pPr marL="3476549" algn="l" defTabSz="869137" rtl="0" eaLnBrk="1" latinLnBrk="0" hangingPunct="1">
        <a:defRPr sz="1711" kern="1200">
          <a:solidFill>
            <a:schemeClr val="tx1"/>
          </a:solidFill>
          <a:latin typeface="+mn-lt"/>
          <a:ea typeface="+mn-ea"/>
          <a:cs typeface="+mn-cs"/>
        </a:defRPr>
      </a:lvl9pPr>
    </p:otherStyle>
  </p:txStyles>
  <p:extLst>
    <p:ext uri="{27BBF7A9-308A-43DC-89C8-2F10F3537804}">
      <p15:sldGuideLst xmlns:p15="http://schemas.microsoft.com/office/powerpoint/2012/main">
        <p15:guide id="12" orient="horz" pos="2160" userDrawn="1">
          <p15:clr>
            <a:srgbClr val="F26B43"/>
          </p15:clr>
        </p15:guide>
        <p15:guide id="13" pos="112" userDrawn="1">
          <p15:clr>
            <a:srgbClr val="F26B43"/>
          </p15:clr>
        </p15:guide>
        <p15:guide id="14" orient="horz" pos="4269" userDrawn="1">
          <p15:clr>
            <a:srgbClr val="F26B43"/>
          </p15:clr>
        </p15:guide>
        <p15:guide id="15" pos="3650" userDrawn="1">
          <p15:clr>
            <a:srgbClr val="F26B43"/>
          </p15:clr>
        </p15:guide>
        <p15:guide id="16" pos="7188" userDrawn="1">
          <p15:clr>
            <a:srgbClr val="F26B43"/>
          </p15:clr>
        </p15:guide>
        <p15:guide id="17" orient="horz" pos="28" userDrawn="1">
          <p15:clr>
            <a:srgbClr val="F26B43"/>
          </p15:clr>
        </p15:guide>
        <p15:guide id="18" orient="horz" pos="686" userDrawn="1">
          <p15:clr>
            <a:srgbClr val="F26B43"/>
          </p15:clr>
        </p15:guide>
        <p15:guide id="19" orient="horz" pos="777" userDrawn="1">
          <p15:clr>
            <a:srgbClr val="F26B43"/>
          </p15:clr>
        </p15:guide>
        <p15:guide id="20" orient="horz" pos="4088" userDrawn="1">
          <p15:clr>
            <a:srgbClr val="F26B43"/>
          </p15:clr>
        </p15:guide>
        <p15:guide id="21" orient="horz" pos="3680" userDrawn="1">
          <p15:clr>
            <a:srgbClr val="F26B43"/>
          </p15:clr>
        </p15:guide>
        <p15:guide id="22" orient="horz" pos="3566" userDrawn="1">
          <p15:clr>
            <a:srgbClr val="F26B43"/>
          </p15:clr>
        </p15:guide>
        <p15:guide id="23" pos="5805"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 Id="rId3" Type="http://schemas.openxmlformats.org/officeDocument/2006/relationships/image" Target="../media/image8.png"/><Relationship Id="rId4" Type="http://schemas.openxmlformats.org/officeDocument/2006/relationships/hyperlink" Target="https://www.vopak.com/terminals/vopak-terminal-durban" TargetMode="External"/><Relationship Id="rId5"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slide" Target="slide3.xml"/><Relationship Id="rId5" Type="http://schemas.openxmlformats.org/officeDocument/2006/relationships/slide" Target="slide6.xml"/><Relationship Id="rId6" Type="http://schemas.openxmlformats.org/officeDocument/2006/relationships/slide" Target="slide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8.png"/><Relationship Id="rId4" Type="http://schemas.openxmlformats.org/officeDocument/2006/relationships/hyperlink" Target="https://www.vopak.com/terminals/vopak-terminal-lesedi" TargetMode="External"/><Relationship Id="rId5"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1836" r="21836"/>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Liquid fuels</a:t>
            </a:r>
          </a:p>
          <a:p>
            <a:pPr>
              <a:spcAft>
                <a:spcPts val="800"/>
              </a:spcAft>
              <a:defRPr sz="3100" b="0">
                <a:solidFill>
                  <a:srgbClr val="FFFFFF"/>
                </a:solidFill>
                <a:latin typeface="Lato"/>
              </a:defRPr>
            </a:pPr>
            <a:r>
              <a:t>demand and supply</a:t>
            </a:r>
          </a:p>
          <a:p>
            <a:pPr>
              <a:spcAft>
                <a:spcPts val="800"/>
              </a:spcAft>
              <a:defRPr sz="3100" b="0">
                <a:solidFill>
                  <a:srgbClr val="FFFFFF"/>
                </a:solidFill>
                <a:latin typeface="Lato"/>
              </a:defRPr>
            </a:pPr>
            <a:r>
              <a:t>model</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Manish hand-back</a:t>
            </a:r>
          </a:p>
        </p:txBody>
      </p:sp>
      <p:sp>
        <p:nvSpPr>
          <p:cNvPr id="8" name="TextBox 7"/>
          <p:cNvSpPr txBox="1"/>
          <p:nvPr/>
        </p:nvSpPr>
        <p:spPr>
          <a:xfrm>
            <a:off x="594360" y="5239512"/>
            <a:ext cx="4572000" cy="36576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 Baseline, fuel input tables and decision log</a:t>
            </a:r>
          </a:p>
        </p:txBody>
      </p:sp>
      <p:sp>
        <p:nvSpPr>
          <p:cNvPr id="9" name="TextBox 8"/>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2026</a:t>
            </a:r>
          </a:p>
        </p:txBody>
      </p:sp>
      <p:sp>
        <p:nvSpPr>
          <p:cNvPr id="10" name="TextBox 9"/>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1"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Durban | vopak.com</a:t>
            </a:r>
          </a:p>
        </p:txBody>
      </p:sp>
      <p:sp>
        <p:nvSpPr>
          <p:cNvPr id="12"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BDBEC1"/>
                </a:solidFill>
                <a:latin typeface="Lato"/>
              </a:defRPr>
            </a:pPr>
            <a:r>
              <a:t>Strictly 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 customs trade, 2024 petrol and diesel sales exceed net imports by 7.7 bn litres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Corrected balance | calendar years, billion litres | imports and exports from SARS customs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sp>
        <p:nvSpPr>
          <p:cNvPr id="7" name="TextBox 6"/>
          <p:cNvSpPr txBox="1"/>
          <p:nvPr/>
        </p:nvSpPr>
        <p:spPr>
          <a:xfrm>
            <a:off x="1371600" y="2011680"/>
            <a:ext cx="4023360" cy="228600"/>
          </a:xfrm>
          <a:prstGeom prst="rect">
            <a:avLst/>
          </a:prstGeom>
          <a:noFill/>
        </p:spPr>
        <p:txBody>
          <a:bodyPr wrap="square" lIns="22860" rIns="22860" tIns="0" bIns="0">
            <a:spAutoFit/>
          </a:bodyPr>
          <a:lstStyle/>
          <a:p>
            <a:pPr>
              <a:spcAft>
                <a:spcPts val="300"/>
              </a:spcAft>
              <a:defRPr sz="1150" b="1">
                <a:solidFill>
                  <a:srgbClr val="0A2373"/>
                </a:solidFill>
                <a:latin typeface="Lato"/>
              </a:defRPr>
            </a:pPr>
            <a:r>
              <a:t>Petrol</a:t>
            </a:r>
          </a:p>
        </p:txBody>
      </p:sp>
      <p:sp>
        <p:nvSpPr>
          <p:cNvPr id="8" name="TextBox 7"/>
          <p:cNvSpPr txBox="1"/>
          <p:nvPr/>
        </p:nvSpPr>
        <p:spPr>
          <a:xfrm>
            <a:off x="5394960" y="2011680"/>
            <a:ext cx="4023360" cy="228600"/>
          </a:xfrm>
          <a:prstGeom prst="rect">
            <a:avLst/>
          </a:prstGeom>
          <a:noFill/>
        </p:spPr>
        <p:txBody>
          <a:bodyPr wrap="square" lIns="22860" rIns="22860" tIns="0" bIns="0">
            <a:spAutoFit/>
          </a:bodyPr>
          <a:lstStyle/>
          <a:p>
            <a:pPr>
              <a:spcAft>
                <a:spcPts val="300"/>
              </a:spcAft>
              <a:defRPr sz="1150" b="1">
                <a:solidFill>
                  <a:srgbClr val="0A2373"/>
                </a:solidFill>
                <a:latin typeface="Lato"/>
              </a:defRPr>
            </a:pPr>
            <a:r>
              <a:t>Diesel</a:t>
            </a:r>
          </a:p>
        </p:txBody>
      </p:sp>
      <p:graphicFrame>
        <p:nvGraphicFramePr>
          <p:cNvPr id="9" name="Table 8"/>
          <p:cNvGraphicFramePr>
            <a:graphicFrameLocks noGrp="1"/>
          </p:cNvGraphicFramePr>
          <p:nvPr/>
        </p:nvGraphicFramePr>
        <p:xfrm>
          <a:off x="457200" y="2267712"/>
          <a:ext cx="8961120" cy="3017520"/>
        </p:xfrm>
        <a:graphic>
          <a:graphicData uri="http://schemas.openxmlformats.org/drawingml/2006/table">
            <a:tbl>
              <a:tblPr firstRow="0" bandRow="0"/>
              <a:tblGrid>
                <a:gridCol w="914400"/>
                <a:gridCol w="1005840"/>
                <a:gridCol w="1005840"/>
                <a:gridCol w="1005840"/>
                <a:gridCol w="1005840"/>
                <a:gridCol w="1005840"/>
                <a:gridCol w="1005840"/>
                <a:gridCol w="1005840"/>
                <a:gridCol w="1005840"/>
              </a:tblGrid>
              <a:tr h="377190">
                <a:tc>
                  <a:txBody>
                    <a:bodyPr/>
                    <a:lstStyle/>
                    <a:p>
                      <a:pPr>
                        <a:spcAft>
                          <a:spcPts val="100"/>
                        </a:spcAft>
                        <a:defRPr sz="1100" b="1">
                          <a:solidFill>
                            <a:srgbClr val="0A2373"/>
                          </a:solidFill>
                          <a:latin typeface="Lato"/>
                        </a:defRPr>
                      </a:pPr>
                      <a:r>
                        <a:t>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 less</a:t>
                      </a:r>
                    </a:p>
                    <a:p>
                      <a:pPr algn="r">
                        <a:spcAft>
                          <a:spcPts val="100"/>
                        </a:spcAft>
                        <a:defRPr sz="1100" b="1">
                          <a:solidFill>
                            <a:srgbClr val="11151A"/>
                          </a:solidFill>
                          <a:latin typeface="Lato"/>
                        </a:defRPr>
                      </a:pPr>
                      <a:r>
                        <a:t>net 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 less</a:t>
                      </a:r>
                    </a:p>
                    <a:p>
                      <a:pPr algn="r">
                        <a:spcAft>
                          <a:spcPts val="100"/>
                        </a:spcAft>
                        <a:defRPr sz="1100" b="1">
                          <a:solidFill>
                            <a:srgbClr val="11151A"/>
                          </a:solidFill>
                          <a:latin typeface="Lato"/>
                        </a:defRPr>
                      </a:pPr>
                      <a:r>
                        <a:t>net imports</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2019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10.77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1.48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10.47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5.59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1.74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9.06</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8.76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1.72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8.20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11.69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6.81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5.79</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6.35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9.76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4.08</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9.18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5.46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4.58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12.72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11.95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1.65</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9.04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4.48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12.87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0.93</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9.03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5.95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11.73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10.79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1.74</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4.45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0.75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10" name="TextBox 9"/>
          <p:cNvSpPr txBox="1"/>
          <p:nvPr/>
        </p:nvSpPr>
        <p:spPr>
          <a:xfrm>
            <a:off x="457200" y="5532120"/>
            <a:ext cx="10652760" cy="82296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Sales less net imports is what production, stock changes and gaps in sales coverage must together supply. It is not a measurement of production.</a:t>
            </a:r>
          </a:p>
          <a:p>
            <a:pPr>
              <a:spcAft>
                <a:spcPts val="300"/>
              </a:spcAft>
              <a:defRPr sz="1100" b="0">
                <a:solidFill>
                  <a:srgbClr val="11151A"/>
                </a:solidFill>
                <a:latin typeface="Lato"/>
              </a:defRPr>
            </a:pPr>
            <a:r>
              <a:t>Sales: department to 2023; 2024 is FIASA's figure and is unverified; none yet for 2025. Rebuilt by one command from registered inputs; a test checks every year against the customs extract.</a:t>
            </a:r>
          </a:p>
        </p:txBody>
      </p:sp>
      <p:sp>
        <p:nvSpPr>
          <p:cNvPr id="11" name="Chevron 10">
            <a:hlinkClick action="ppaction://hlinksldjump" r:id="rId2"/>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2" name="Chevron 11">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3" name="Chevron 12">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4" name="Chevron 13"/>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5" name="Chevron 14"/>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Sources agree on most years; five differences need a recorded choice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Source differences | billion litres | every source is kept in its own column of the balance file</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291840"/>
        </p:xfrm>
        <a:graphic>
          <a:graphicData uri="http://schemas.openxmlformats.org/drawingml/2006/table">
            <a:tbl>
              <a:tblPr firstRow="0" bandRow="0"/>
              <a:tblGrid>
                <a:gridCol w="2103120"/>
                <a:gridCol w="4754880"/>
                <a:gridCol w="2011680"/>
                <a:gridCol w="1783080"/>
              </a:tblGrid>
              <a:tr h="54864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What the sources say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Used in the balance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Who decides</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2024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FIASA 2025 edition, p.47: petrol 9.03, diesel 11.73. FIASA 2024 edition, p.32: 8.76 and 11.81. JODI: 10.14 and 10.04 (lowest reliability code). Department: not published.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FIASA 2025 edition, flagged unverified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agree the 2024 sales source</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2024 diesel 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10.793. Department trade report 10.8 (rounded). FIASA 14.793, a suspected misprint.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2018 and 2019 trade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2018 diesel: customs 5.12, FIASA 6.11; petrol: 1.83 and 2.19. 2019 diesel: 5.59 and 5.86. 2018 exports are also lower in customs. FIASA and the department's 2018 balance share one earlier reading; today's customs data and UN Comtrade agree with each other. No missing month or tariff 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likely a later customs revision, not proven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2022 diesel 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0.89, FIASA 0.70.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2019 and 2020 energy balances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Their import and export lines repeat the previous year's figures.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used for trade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confirm</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669280"/>
            <a:ext cx="10652760" cy="54864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In the other years from 2014, customs and FIASA differ by 0.2 bn litres or less; the full list is in the balance note. Before 2014 customs is in kilograms or mixed units, so FIASA is used.</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after 2021 and stock changes are missing, so the balance is not closed</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Missing production and stocks | sales less net imports against production reported in the energy balance</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Chart 6"/>
          <p:cNvGraphicFramePr>
            <a:graphicFrameLocks noGrp="1"/>
          </p:cNvGraphicFramePr>
          <p:nvPr/>
        </p:nvGraphicFramePr>
        <p:xfrm>
          <a:off x="457200" y="2011680"/>
          <a:ext cx="3200400" cy="3429000"/>
        </p:xfrm>
        <a:graphic>
          <a:graphicData uri="http://schemas.openxmlformats.org/drawingml/2006/chart">
            <c:chart xmlns:c="http://schemas.openxmlformats.org/drawingml/2006/chart" r:id="rId2"/>
          </a:graphicData>
        </a:graphic>
      </p:graphicFrame>
      <p:graphicFrame>
        <p:nvGraphicFramePr>
          <p:cNvPr id="8" name="Chart 7"/>
          <p:cNvGraphicFramePr>
            <a:graphicFrameLocks noGrp="1"/>
          </p:cNvGraphicFramePr>
          <p:nvPr/>
        </p:nvGraphicFramePr>
        <p:xfrm>
          <a:off x="3703320" y="2011680"/>
          <a:ext cx="3200400" cy="3429000"/>
        </p:xfrm>
        <a:graphic>
          <a:graphicData uri="http://schemas.openxmlformats.org/drawingml/2006/chart">
            <c:chart xmlns:c="http://schemas.openxmlformats.org/drawingml/2006/chart" r:id="rId3"/>
          </a:graphicData>
        </a:graphic>
      </p:graphicFrame>
      <p:graphicFrame>
        <p:nvGraphicFramePr>
          <p:cNvPr id="9" name="Table 8"/>
          <p:cNvGraphicFramePr>
            <a:graphicFrameLocks noGrp="1"/>
          </p:cNvGraphicFramePr>
          <p:nvPr/>
        </p:nvGraphicFramePr>
        <p:xfrm>
          <a:off x="7040880" y="2029968"/>
          <a:ext cx="4023360" cy="3383280"/>
        </p:xfrm>
        <a:graphic>
          <a:graphicData uri="http://schemas.openxmlformats.org/drawingml/2006/table">
            <a:tbl>
              <a:tblPr firstRow="0" bandRow="0"/>
              <a:tblGrid>
                <a:gridCol w="1188720"/>
                <a:gridCol w="1645920"/>
                <a:gridCol w="1188720"/>
              </a:tblGrid>
              <a:tr h="845820">
                <a:tc>
                  <a:txBody>
                    <a:bodyPr/>
                    <a:lstStyle/>
                    <a:p>
                      <a:pPr>
                        <a:spcAft>
                          <a:spcPts val="100"/>
                        </a:spcAft>
                        <a:defRPr sz="950" b="1">
                          <a:solidFill>
                            <a:srgbClr val="0A2373"/>
                          </a:solidFill>
                          <a:latin typeface="Lato"/>
                        </a:defRPr>
                      </a:pPr>
                      <a:r>
                        <a:t>Missing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What exists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Limit</a:t>
                      </a:r>
                    </a:p>
                  </a:txBody>
                  <a:tcPr marL="64008" marR="64008" marT="54864" marB="27432" anchor="t">
                    <a:lnL w="0">
                      <a:noFill/>
                    </a:lnL>
                    <a:lnR w="0">
                      <a:noFill/>
                    </a:lnR>
                    <a:lnT w="0">
                      <a:noFill/>
                    </a:lnT>
                    <a:lnB w="5080">
                      <a:solidFill>
                        <a:srgbClr val="B8B8B8"/>
                      </a:solidFill>
                    </a:lnB>
                    <a:solidFill>
                      <a:srgbClr val="FFFFFF"/>
                    </a:solidFill>
                  </a:tcPr>
                </a:tc>
              </a:tr>
              <a:tr h="845820">
                <a:tc>
                  <a:txBody>
                    <a:bodyPr/>
                    <a:lstStyle/>
                    <a:p>
                      <a:pPr>
                        <a:spcAft>
                          <a:spcPts val="100"/>
                        </a:spcAft>
                        <a:defRPr sz="950" b="1">
                          <a:solidFill>
                            <a:srgbClr val="0A2373"/>
                          </a:solidFill>
                          <a:latin typeface="Lato"/>
                        </a:defRPr>
                      </a:pPr>
                      <a:r>
                        <a:t>Production by product, 2022 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Sasol, year to June 2024: Secunda 29.1 and Natref 17.8 million barrels. Glencore, calendar 2024: Astron 166,204 billion Btu.</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All refined products; fiscal against calendar years; Natref is Sasol's share only</a:t>
                      </a:r>
                    </a:p>
                  </a:txBody>
                  <a:tcPr marL="64008" marR="64008" marT="54864" marB="27432" anchor="t">
                    <a:lnL w="0">
                      <a:noFill/>
                    </a:lnL>
                    <a:lnR w="0">
                      <a:noFill/>
                    </a:lnR>
                    <a:lnT w="0">
                      <a:noFill/>
                    </a:lnT>
                    <a:lnB w="5080">
                      <a:solidFill>
                        <a:srgbClr val="B8B8B8"/>
                      </a:solidFill>
                    </a:lnB>
                    <a:solidFill>
                      <a:srgbClr val="FFFFFF"/>
                    </a:solidFill>
                  </a:tcPr>
                </a:tc>
              </a:tr>
              <a:tr h="845820">
                <a:tc>
                  <a:txBody>
                    <a:bodyPr/>
                    <a:lstStyle/>
                    <a:p>
                      <a:pPr>
                        <a:spcAft>
                          <a:spcPts val="100"/>
                        </a:spcAft>
                        <a:defRPr sz="950" b="1">
                          <a:solidFill>
                            <a:srgbClr val="0A2373"/>
                          </a:solidFill>
                          <a:latin typeface="Lato"/>
                        </a:defRPr>
                      </a:pPr>
                      <a:r>
                        <a:t>Stock changes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monthly stocks, 2023 and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Lowest reliability code; not usable as it stands</a:t>
                      </a:r>
                    </a:p>
                  </a:txBody>
                  <a:tcPr marL="64008" marR="64008" marT="54864" marB="27432" anchor="t">
                    <a:lnL w="0">
                      <a:noFill/>
                    </a:lnL>
                    <a:lnR w="0">
                      <a:noFill/>
                    </a:lnR>
                    <a:lnT w="0">
                      <a:noFill/>
                    </a:lnT>
                    <a:lnB w="5080">
                      <a:solidFill>
                        <a:srgbClr val="B8B8B8"/>
                      </a:solidFill>
                    </a:lnB>
                    <a:solidFill>
                      <a:srgbClr val="FFFFFF"/>
                    </a:solidFill>
                  </a:tcPr>
                </a:tc>
              </a:tr>
              <a:tr h="845820">
                <a:tc>
                  <a:txBody>
                    <a:bodyPr/>
                    <a:lstStyle/>
                    <a:p>
                      <a:pPr>
                        <a:spcAft>
                          <a:spcPts val="100"/>
                        </a:spcAft>
                        <a:defRPr sz="950" b="1">
                          <a:solidFill>
                            <a:srgbClr val="0A2373"/>
                          </a:solidFill>
                          <a:latin typeface="Lato"/>
                        </a:defRPr>
                      </a:pPr>
                      <a:r>
                        <a:t>Sales coverage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SARS fuel levy volumes, round figures in media releases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Period is assumed; indicative only</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10" name="TextBox 9"/>
          <p:cNvSpPr txBox="1"/>
          <p:nvPr/>
        </p:nvSpPr>
        <p:spPr>
          <a:xfrm>
            <a:off x="457200" y="566928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A diesel gap of 3 to 4 bn litres a year remains a hypothesis to test. It is not added to demand. Needed to close: output by product and plant, a stock series, and matched periods.</a:t>
            </a:r>
          </a:p>
        </p:txBody>
      </p:sp>
      <p:sp>
        <p:nvSpPr>
          <p:cNvPr id="11" name="Chevron 10">
            <a:hlinkClick action="ppaction://hlinksldjump" r:id="rId4"/>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2" name="Chevron 11">
            <a:hlinkClick action="ppaction://hlinksldjump" r:id="rId5"/>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3" name="Chevron 12">
            <a:hlinkClick action="ppaction://hlinksldjump" r:id="rId6"/>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4" name="Chevron 13"/>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5" name="Chevron 14"/>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Diesel: rail diversion is capped near 13% by rail-friendly freight; yields move up</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Diesel inputs | low / medium / high for 2030 and 2035 | 11 of 42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525780">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Road freight activity</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980 Mt road payload,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95 / 115 / 135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95 / 135 / 150</a:t>
                      </a:r>
                    </a:p>
                    <a:p>
                      <a:pPr>
                        <a:spcAft>
                          <a:spcPts val="100"/>
                        </a:spcAft>
                        <a:defRPr sz="950" b="0">
                          <a:solidFill>
                            <a:srgbClr val="11151A"/>
                          </a:solidFill>
                          <a:latin typeface="Lato"/>
                        </a:defRPr>
                      </a:pPr>
                      <a:r>
                        <a:t>was 95 / 135 / 175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Stats SA tonnes: 2.4% a year over 2014-2024, at most 3.7% over eleven years. Only tonne-km figure found: 221 bn for 2013.</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Road freight moved to rail</a:t>
                      </a:r>
                    </a:p>
                    <a:p>
                      <a:pPr>
                        <a:spcAft>
                          <a:spcPts val="100"/>
                        </a:spcAft>
                        <a:defRPr sz="950" b="1">
                          <a:solidFill>
                            <a:srgbClr val="0A2373"/>
                          </a:solidFill>
                          <a:latin typeface="Lato"/>
                        </a:defRPr>
                      </a:pPr>
                      <a:r>
                        <a:t>% of road freight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p>
                      <a:pPr>
                        <a:spcAft>
                          <a:spcPts val="100"/>
                        </a:spcAft>
                        <a:defRPr sz="950" b="0">
                          <a:solidFill>
                            <a:srgbClr val="11151A"/>
                          </a:solidFill>
                          <a:latin typeface="Lato"/>
                        </a:defRPr>
                      </a:pPr>
                      <a:r>
                        <a:t>rail 161 Mt,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3 / 9</a:t>
                      </a:r>
                    </a:p>
                    <a:p>
                      <a:pPr>
                        <a:spcAft>
                          <a:spcPts val="100"/>
                        </a:spcAft>
                        <a:defRPr sz="950" b="0">
                          <a:solidFill>
                            <a:srgbClr val="11151A"/>
                          </a:solidFill>
                          <a:latin typeface="Lato"/>
                        </a:defRPr>
                      </a:pPr>
                      <a:r>
                        <a:t>was 0 / 10 / 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7 / 13</a:t>
                      </a:r>
                    </a:p>
                    <a:p>
                      <a:pPr>
                        <a:spcAft>
                          <a:spcPts val="100"/>
                        </a:spcAft>
                        <a:defRPr sz="950" b="0">
                          <a:solidFill>
                            <a:srgbClr val="11151A"/>
                          </a:solidFill>
                          <a:latin typeface="Lato"/>
                        </a:defRPr>
                      </a:pPr>
                      <a:r>
                        <a:t>was 0 / 20 / 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Rail Master Plan (2026): 250 Mt target is 9%, 280 Mt market appetite 12%. Freight Roadmap (2023): rail-friendly general freight left on road is 13%.</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Diesel power generation</a:t>
                      </a:r>
                    </a:p>
                    <a:p>
                      <a:pPr>
                        <a:spcAft>
                          <a:spcPts val="100"/>
                        </a:spcAft>
                        <a:defRPr sz="950" b="1">
                          <a:solidFill>
                            <a:srgbClr val="0A2373"/>
                          </a:solidFill>
                          <a:latin typeface="Lato"/>
                        </a:defRPr>
                      </a:pPr>
                      <a:r>
                        <a:t>year to March 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5,143 GWh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 / 25 / 60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15 / 50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Eskom: year to March 2026 is already 21. Agreed.</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New-vehicle efficiency gain</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to 1.0</a:t>
                      </a:r>
                    </a:p>
                    <a:p>
                      <a:pPr>
                        <a:spcAft>
                          <a:spcPts val="100"/>
                        </a:spcAft>
                        <a:defRPr sz="950" b="0">
                          <a:solidFill>
                            <a:srgbClr val="11151A"/>
                          </a:solidFill>
                          <a:latin typeface="Lato"/>
                        </a:defRPr>
                      </a:pPr>
                      <a:r>
                        <a:t>registered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0.75 / 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0.75 / 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Equals the registered endpoints, which have no source. Agreed for now.</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Operators' reports: Secunda 53%, Natref 71%, Astron 84%. Secunda capacity corrected to FIASA's 150; output unchanged.</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Diesel yield</a:t>
                      </a:r>
                    </a:p>
                    <a:p>
                      <a:pPr>
                        <a:spcAft>
                          <a:spcPts val="100"/>
                        </a:spcAft>
                        <a:defRPr sz="950" b="1">
                          <a:solidFill>
                            <a:srgbClr val="0A2373"/>
                          </a:solidFill>
                          <a:latin typeface="Lato"/>
                        </a:defRPr>
                      </a:pPr>
                      <a:r>
                        <a:t>% of refinery output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29</a:t>
                      </a:r>
                    </a:p>
                    <a:p>
                      <a:pPr>
                        <a:spcAft>
                          <a:spcPts val="100"/>
                        </a:spcAft>
                        <a:defRPr sz="950" b="0">
                          <a:solidFill>
                            <a:srgbClr val="11151A"/>
                          </a:solidFill>
                          <a:latin typeface="Lato"/>
                        </a:defRPr>
                      </a:pPr>
                      <a:r>
                        <a:t>JODI 2024, low reliability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25 / 30 / 40</a:t>
                      </a:r>
                    </a:p>
                    <a:p>
                      <a:pPr>
                        <a:spcAft>
                          <a:spcPts val="100"/>
                        </a:spcAft>
                        <a:defRPr sz="950" b="0">
                          <a:solidFill>
                            <a:srgbClr val="11151A"/>
                          </a:solidFill>
                          <a:latin typeface="Lato"/>
                        </a:defRPr>
                      </a:pPr>
                      <a:r>
                        <a:t>was 20 / 25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25 / 30 / 40</a:t>
                      </a:r>
                    </a:p>
                    <a:p>
                      <a:pPr>
                        <a:spcAft>
                          <a:spcPts val="100"/>
                        </a:spcAft>
                        <a:defRPr sz="950" b="0">
                          <a:solidFill>
                            <a:srgbClr val="11151A"/>
                          </a:solidFill>
                          <a:latin typeface="Lato"/>
                        </a:defRPr>
                      </a:pPr>
                      <a:r>
                        <a:t>was 20 / 25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31% in 2023, 29% in 2024. Energy balances before the Durban closures: 40-42% of five fuels. Legacy 25%.</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Conditional illustration; no investment decision sourced.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Jet: movement highs exceed every year on record; fuel per movement can also rise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Jet inputs | low / medium / high for 2030 and 2035 | 6 of 36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600891">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Aircraft movements</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456,214 at ACSA airports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 / 110 / 125</a:t>
                      </a:r>
                    </a:p>
                    <a:p>
                      <a:pPr>
                        <a:spcAft>
                          <a:spcPts val="100"/>
                        </a:spcAft>
                        <a:defRPr sz="950" b="0">
                          <a:solidFill>
                            <a:srgbClr val="11151A"/>
                          </a:solidFill>
                          <a:latin typeface="Lato"/>
                        </a:defRPr>
                      </a:pPr>
                      <a:r>
                        <a:t>was 100 / 120 /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 / 120 / 140</a:t>
                      </a:r>
                    </a:p>
                    <a:p>
                      <a:pPr>
                        <a:spcAft>
                          <a:spcPts val="100"/>
                        </a:spcAft>
                        <a:defRPr sz="950" b="0">
                          <a:solidFill>
                            <a:srgbClr val="11151A"/>
                          </a:solidFill>
                          <a:latin typeface="Lato"/>
                        </a:defRPr>
                      </a:pPr>
                      <a:r>
                        <a:t>was 100 / 145 / 190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ACSA: 2019 was 112 and the 2016 peak 125. Proposed highs of 140 and 190 exceed every year on record.</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Jet fuel per movement</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4,090 litres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80 / 90 / 113</a:t>
                      </a:r>
                    </a:p>
                    <a:p>
                      <a:pPr>
                        <a:spcAft>
                          <a:spcPts val="100"/>
                        </a:spcAft>
                        <a:defRPr sz="950" b="0">
                          <a:solidFill>
                            <a:srgbClr val="11151A"/>
                          </a:solidFill>
                          <a:latin typeface="Lato"/>
                        </a:defRPr>
                      </a:pPr>
                      <a:r>
                        <a:t>was 80 / 90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65 / 80 / 113</a:t>
                      </a:r>
                    </a:p>
                    <a:p>
                      <a:pPr>
                        <a:spcAft>
                          <a:spcPts val="100"/>
                        </a:spcAft>
                        <a:defRPr sz="950" b="0">
                          <a:solidFill>
                            <a:srgbClr val="11151A"/>
                          </a:solidFill>
                          <a:latin typeface="Lato"/>
                        </a:defRPr>
                      </a:pPr>
                      <a:r>
                        <a:t>was 65 / 80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Sales over movements: the 2013-2019 average was 4,608 litres (113). High case should allow a return to it.</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Sustainable fuel share</a:t>
                      </a:r>
                    </a:p>
                    <a:p>
                      <a:pPr>
                        <a:spcAft>
                          <a:spcPts val="100"/>
                        </a:spcAft>
                        <a:defRPr sz="950" b="1">
                          <a:solidFill>
                            <a:srgbClr val="0A2373"/>
                          </a:solidFill>
                          <a:latin typeface="Lato"/>
                        </a:defRPr>
                      </a:pPr>
                      <a:r>
                        <a:t>% of jet volume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p>
                      <a:pPr>
                        <a:spcAft>
                          <a:spcPts val="100"/>
                        </a:spcAft>
                        <a:defRPr sz="950" b="0">
                          <a:solidFill>
                            <a:srgbClr val="11151A"/>
                          </a:solidFill>
                          <a:latin typeface="Lato"/>
                        </a:defRPr>
                      </a:pPr>
                      <a:r>
                        <a:t>unsourced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2 / 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5 / 10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No South African blend requirement sourced. Agreed as a sensitivity.</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Same setting as diesel and petrol; count once.</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Jet yield</a:t>
                      </a:r>
                    </a:p>
                    <a:p>
                      <a:pPr>
                        <a:spcAft>
                          <a:spcPts val="100"/>
                        </a:spcAft>
                        <a:defRPr sz="950" b="1">
                          <a:solidFill>
                            <a:srgbClr val="0A2373"/>
                          </a:solidFill>
                          <a:latin typeface="Lato"/>
                        </a:defRPr>
                      </a:pPr>
                      <a:r>
                        <a:t>% of capable throughput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a:t>
                      </a:r>
                    </a:p>
                    <a:p>
                      <a:pPr>
                        <a:spcAft>
                          <a:spcPts val="100"/>
                        </a:spcAft>
                        <a:defRPr sz="950" b="0">
                          <a:solidFill>
                            <a:srgbClr val="11151A"/>
                          </a:solidFill>
                          <a:latin typeface="Lato"/>
                        </a:defRPr>
                      </a:pPr>
                      <a:r>
                        <a:t>legacy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10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10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Jet was 5-8% of the five fuels produced, 2017-2021 energy balances. Agreed.</a:t>
                      </a:r>
                    </a:p>
                  </a:txBody>
                  <a:tcPr marL="64008" marR="64008" marT="54864" marB="27432" anchor="t">
                    <a:lnL w="0">
                      <a:noFill/>
                    </a:lnL>
                    <a:lnR w="0">
                      <a:noFill/>
                    </a:lnR>
                    <a:lnT w="0">
                      <a:noFill/>
                    </a:lnT>
                    <a:lnB w="5080">
                      <a:solidFill>
                        <a:srgbClr val="B8B8B8"/>
                      </a:solidFill>
                    </a:lnB>
                    <a:solidFill>
                      <a:srgbClr val="FFFFFF"/>
                    </a:solidFill>
                  </a:tcPr>
                </a:tc>
              </a:tr>
              <a:tr h="600894">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Jet capability of any restart is not established.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Petrol: mileage and growth sit above the evidence; electric cases now follow named markets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Petrol inputs | low / medium / high for 2030 and 2035 | 22 of 42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525780">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Passenger mileage</a:t>
                      </a:r>
                    </a:p>
                    <a:p>
                      <a:pPr>
                        <a:spcAft>
                          <a:spcPts val="100"/>
                        </a:spcAft>
                        <a:defRPr sz="950" b="1">
                          <a:solidFill>
                            <a:srgbClr val="0A2373"/>
                          </a:solidFill>
                          <a:latin typeface="Lato"/>
                        </a:defRPr>
                      </a:pPr>
                      <a:r>
                        <a:t>km a vehicle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17,000</a:t>
                      </a:r>
                    </a:p>
                    <a:p>
                      <a:pPr>
                        <a:spcAft>
                          <a:spcPts val="100"/>
                        </a:spcAft>
                        <a:defRPr sz="950" b="0">
                          <a:solidFill>
                            <a:srgbClr val="11151A"/>
                          </a:solidFill>
                          <a:latin typeface="Lato"/>
                        </a:defRPr>
                      </a:pPr>
                      <a:r>
                        <a:t>placeholder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12,900 / 14,500 / 17,000</a:t>
                      </a:r>
                    </a:p>
                    <a:p>
                      <a:pPr>
                        <a:spcAft>
                          <a:spcPts val="100"/>
                        </a:spcAft>
                        <a:defRPr sz="950" b="0">
                          <a:solidFill>
                            <a:srgbClr val="11151A"/>
                          </a:solidFill>
                          <a:latin typeface="Lato"/>
                        </a:defRPr>
                      </a:pPr>
                      <a:r>
                        <a:t>was 13,600 / 17,000 / 20,400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12,900 / 14,500 / 17,000</a:t>
                      </a:r>
                    </a:p>
                    <a:p>
                      <a:pPr>
                        <a:spcAft>
                          <a:spcPts val="100"/>
                        </a:spcAft>
                        <a:defRPr sz="950" b="0">
                          <a:solidFill>
                            <a:srgbClr val="11151A"/>
                          </a:solidFill>
                          <a:latin typeface="Lato"/>
                        </a:defRPr>
                      </a:pPr>
                      <a:r>
                        <a:t>was 13,600 / 17,000 / 20,400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Stone et al. (2018): 14,457 km for petrol cars. 2023 sales over registered petrol vehicles imply about 12,900.</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Real GDP growth</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a:t>
                      </a:r>
                    </a:p>
                    <a:p>
                      <a:pPr>
                        <a:spcAft>
                          <a:spcPts val="100"/>
                        </a:spcAft>
                        <a:defRPr sz="950" b="0">
                          <a:solidFill>
                            <a:srgbClr val="11151A"/>
                          </a:solidFill>
                          <a:latin typeface="Lato"/>
                        </a:defRPr>
                      </a:pPr>
                      <a:r>
                        <a:t>2024 actual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0.7 / 1.6 / 2</a:t>
                      </a:r>
                    </a:p>
                    <a:p>
                      <a:pPr>
                        <a:spcAft>
                          <a:spcPts val="100"/>
                        </a:spcAft>
                        <a:defRPr sz="950" b="0">
                          <a:solidFill>
                            <a:srgbClr val="11151A"/>
                          </a:solidFill>
                          <a:latin typeface="Lato"/>
                        </a:defRPr>
                      </a:pPr>
                      <a:r>
                        <a:t>was 1 / 2 / 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0.7 / 1.6 / 2</a:t>
                      </a:r>
                    </a:p>
                    <a:p>
                      <a:pPr>
                        <a:spcAft>
                          <a:spcPts val="100"/>
                        </a:spcAft>
                        <a:defRPr sz="950" b="0">
                          <a:solidFill>
                            <a:srgbClr val="11151A"/>
                          </a:solidFill>
                          <a:latin typeface="Lato"/>
                        </a:defRPr>
                      </a:pPr>
                      <a:r>
                        <a:t>was 1 / 2 / 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Stats SA: 0.7% a year over 2014-2024, 1.6% over 2010-2019. Treasury: 2.0% by 2028. Registered cases 1.0, 1.6.</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Battery electric share</a:t>
                      </a:r>
                    </a:p>
                    <a:p>
                      <a:pPr>
                        <a:spcAft>
                          <a:spcPts val="100"/>
                        </a:spcAft>
                        <a:defRPr sz="9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0.2</a:t>
                      </a:r>
                    </a:p>
                    <a:p>
                      <a:pPr>
                        <a:spcAft>
                          <a:spcPts val="100"/>
                        </a:spcAft>
                        <a:defRPr sz="950" b="0">
                          <a:solidFill>
                            <a:srgbClr val="11151A"/>
                          </a:solidFill>
                          <a:latin typeface="Lato"/>
                        </a:defRPr>
                      </a:pPr>
                      <a:r>
                        <a:t>1,088 sold,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4 / 20</a:t>
                      </a:r>
                    </a:p>
                    <a:p>
                      <a:pPr>
                        <a:spcAft>
                          <a:spcPts val="100"/>
                        </a:spcAft>
                        <a:defRPr sz="950" b="0">
                          <a:solidFill>
                            <a:srgbClr val="11151A"/>
                          </a:solidFill>
                          <a:latin typeface="Lato"/>
                        </a:defRPr>
                      </a:pPr>
                      <a:r>
                        <a:t>was 5 / 15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 / 15 / 40</a:t>
                      </a:r>
                    </a:p>
                    <a:p>
                      <a:pPr>
                        <a:spcAft>
                          <a:spcPts val="100"/>
                        </a:spcAft>
                        <a:defRPr sz="950" b="0">
                          <a:solidFill>
                            <a:srgbClr val="11151A"/>
                          </a:solidFill>
                          <a:latin typeface="Lato"/>
                        </a:defRPr>
                      </a:pPr>
                      <a:r>
                        <a:t>was 15 / 35 / 60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IEA Global EV Outlook 2026, 2025 shares: India nearly 4%, Indonesia 15%, Turkiye over 20% (from 1% in 2022), Vietnam nearly 40%.</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New-vehicle efficiency gain</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 to 1.5</a:t>
                      </a:r>
                    </a:p>
                    <a:p>
                      <a:pPr>
                        <a:spcAft>
                          <a:spcPts val="100"/>
                        </a:spcAft>
                        <a:defRPr sz="950" b="0">
                          <a:solidFill>
                            <a:srgbClr val="11151A"/>
                          </a:solidFill>
                          <a:latin typeface="Lato"/>
                        </a:defRPr>
                      </a:pPr>
                      <a:r>
                        <a:t>registered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 / 1.25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 / 1.25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Equals the registered endpoints, which have no source. Agreed for now.</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Same setting as diesel and jet; count once.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Petrol yield</a:t>
                      </a:r>
                    </a:p>
                    <a:p>
                      <a:pPr>
                        <a:spcAft>
                          <a:spcPts val="100"/>
                        </a:spcAft>
                        <a:defRPr sz="950" b="1">
                          <a:solidFill>
                            <a:srgbClr val="0A2373"/>
                          </a:solidFill>
                          <a:latin typeface="Lato"/>
                        </a:defRPr>
                      </a:pPr>
                      <a:r>
                        <a:t>% of refinery output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54</a:t>
                      </a:r>
                    </a:p>
                    <a:p>
                      <a:pPr>
                        <a:spcAft>
                          <a:spcPts val="100"/>
                        </a:spcAft>
                        <a:defRPr sz="950" b="0">
                          <a:solidFill>
                            <a:srgbClr val="11151A"/>
                          </a:solidFill>
                          <a:latin typeface="Lato"/>
                        </a:defRPr>
                      </a:pPr>
                      <a:r>
                        <a:t>JODI 2024, low reliability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45 / 50 / 55</a:t>
                      </a:r>
                    </a:p>
                    <a:p>
                      <a:pPr>
                        <a:spcAft>
                          <a:spcPts val="100"/>
                        </a:spcAft>
                        <a:defRPr sz="950" b="0">
                          <a:solidFill>
                            <a:srgbClr val="11151A"/>
                          </a:solidFill>
                          <a:latin typeface="Lato"/>
                        </a:defRPr>
                      </a:pPr>
                      <a:r>
                        <a:t>was 35 / 45 / 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45 / 50 / 55</a:t>
                      </a:r>
                    </a:p>
                    <a:p>
                      <a:pPr>
                        <a:spcAft>
                          <a:spcPts val="100"/>
                        </a:spcAft>
                        <a:defRPr sz="950" b="0">
                          <a:solidFill>
                            <a:srgbClr val="11151A"/>
                          </a:solidFill>
                          <a:latin typeface="Lato"/>
                        </a:defRPr>
                      </a:pPr>
                      <a:r>
                        <a:t>was 35 / 45 / 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51% in 2023, 54% in 2024. Energy balances 2017-2021: 47-50% of five fuels. Legacy 45%. Set with diesel.</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Conditional illustration; no investment decision sourced.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Sourced starting values lower 2024 diesel demand by 0.63 bn litres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Agriculture and industry | diesel, billion litres a year | proposed as provisional starting values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sector_baselines_2026-10-07.md and .csv on manish-branch; department energy balances 2012-2021. A proposal for Nigel's decision; nothing is accepted.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2651760"/>
        </p:xfrm>
        <a:graphic>
          <a:graphicData uri="http://schemas.openxmlformats.org/drawingml/2006/table">
            <a:tbl>
              <a:tblPr firstRow="0" bandRow="0"/>
              <a:tblGrid>
                <a:gridCol w="1188720"/>
                <a:gridCol w="1143000"/>
                <a:gridCol w="2286000"/>
                <a:gridCol w="2743200"/>
                <a:gridCol w="1463040"/>
                <a:gridCol w="1828800"/>
              </a:tblGrid>
              <a:tr h="662940">
                <a:tc>
                  <a:txBody>
                    <a:bodyPr/>
                    <a:lstStyle/>
                    <a:p>
                      <a:pPr>
                        <a:spcAft>
                          <a:spcPts val="100"/>
                        </a:spcAft>
                        <a:defRPr sz="1050" b="1">
                          <a:solidFill>
                            <a:srgbClr val="0A2373"/>
                          </a:solidFill>
                          <a:latin typeface="Lato"/>
                        </a:defRPr>
                      </a:pPr>
                      <a:r>
                        <a:t>Sector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Earlier</a:t>
                      </a:r>
                    </a:p>
                    <a:p>
                      <a:pPr>
                        <a:spcAft>
                          <a:spcPts val="100"/>
                        </a:spcAft>
                        <a:defRPr sz="1050" b="1">
                          <a:solidFill>
                            <a:srgbClr val="11151A"/>
                          </a:solidFill>
                          <a:latin typeface="Lato"/>
                        </a:defRPr>
                      </a:pPr>
                      <a:r>
                        <a:t>placeholder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On the branch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Range in the 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Proposed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Effect in 2024; 2035</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Agriculture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0.70</a:t>
                      </a:r>
                    </a:p>
                    <a:p>
                      <a:pPr>
                        <a:spcAft>
                          <a:spcPts val="100"/>
                        </a:spcAft>
                        <a:defRPr sz="1050" b="0">
                          <a:solidFill>
                            <a:srgbClr val="11151A"/>
                          </a:solidFill>
                          <a:latin typeface="Lato"/>
                        </a:defRPr>
                      </a:pPr>
                      <a:r>
                        <a:t>no source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1.06 for 2021</a:t>
                      </a:r>
                    </a:p>
                    <a:p>
                      <a:pPr>
                        <a:spcAft>
                          <a:spcPts val="100"/>
                        </a:spcAft>
                        <a:defRPr sz="1050" b="0">
                          <a:solidFill>
                            <a:srgbClr val="11151A"/>
                          </a:solidFill>
                          <a:latin typeface="Lato"/>
                        </a:defRPr>
                      </a:pPr>
                      <a:r>
                        <a:t>energy balance, agriculture and forestry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0.90-1.09 in eight of ten years, 2012-2021; 1.89 and 1.88 in 2016 and 2017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1.06</a:t>
                      </a:r>
                    </a:p>
                    <a:p>
                      <a:pPr>
                        <a:spcAft>
                          <a:spcPts val="100"/>
                        </a:spcAft>
                        <a:defRPr sz="1050" b="0">
                          <a:solidFill>
                            <a:srgbClr val="11151A"/>
                          </a:solidFill>
                          <a:latin typeface="Lato"/>
                        </a:defRPr>
                      </a:pPr>
                      <a:r>
                        <a:t>provisional, about +/-0.1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+0.36; +0.36</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Industry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2.50</a:t>
                      </a:r>
                    </a:p>
                    <a:p>
                      <a:pPr>
                        <a:spcAft>
                          <a:spcPts val="100"/>
                        </a:spcAft>
                        <a:defRPr sz="1050" b="0">
                          <a:solidFill>
                            <a:srgbClr val="11151A"/>
                          </a:solidFill>
                          <a:latin typeface="Lato"/>
                        </a:defRPr>
                      </a:pPr>
                      <a:r>
                        <a:t>no source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1.50 for 2021</a:t>
                      </a:r>
                    </a:p>
                    <a:p>
                      <a:pPr>
                        <a:spcAft>
                          <a:spcPts val="100"/>
                        </a:spcAft>
                        <a:defRPr sz="1050" b="0">
                          <a:solidFill>
                            <a:srgbClr val="11151A"/>
                          </a:solidFill>
                          <a:latin typeface="Lato"/>
                        </a:defRPr>
                      </a:pPr>
                      <a:r>
                        <a:t>energy balance, industry; mining is 1.29 of 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1.32-1.93 over 2012-2021. Mining volume is 7% lower in 2024 than 2021, which would give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1.50</a:t>
                      </a:r>
                    </a:p>
                    <a:p>
                      <a:pPr>
                        <a:spcAft>
                          <a:spcPts val="100"/>
                        </a:spcAft>
                        <a:defRPr sz="1050" b="0">
                          <a:solidFill>
                            <a:srgbClr val="11151A"/>
                          </a:solidFill>
                          <a:latin typeface="Lato"/>
                        </a:defRPr>
                      </a:pPr>
                      <a:r>
                        <a:t>provisional, about +/-0.3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-0.99; -1.06 (high), -1.00 (low)</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Both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3.20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-0.63; -0.69 (high), -0.64 (low)</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4983480"/>
            <a:ext cx="10652760" cy="109728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Why 2021 and not an average: it is the latest balance and one consistent year for both sectors. A 2018-2021 average gives 0.98 and 1.68; the industry average is pulled up by the years before mining output fell.</a:t>
            </a:r>
          </a:p>
          <a:p>
            <a:pPr>
              <a:spcAft>
                <a:spcPts val="300"/>
              </a:spcAft>
              <a:defRPr sz="1100" b="0">
                <a:solidFill>
                  <a:srgbClr val="11151A"/>
                </a:solidFill>
                <a:latin typeface="Lato"/>
              </a:defRPr>
            </a:pPr>
            <a:r>
              <a:t>Decision for Nigel: accept both as provisional, or take the activity-adjusted 1.40 for industry. Both keep the needs-verification flag.</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3  Sector baselines</a:t>
            </a:r>
          </a:p>
        </p:txBody>
      </p:sp>
      <p:sp>
        <p:nvSpPr>
          <p:cNvPr id="12" name="Chevron 11"/>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totals show no double counting from the two sectors; the excess is in power generation</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Overlaps and double counting | model diesel for 2024 by segment against the evidence, billion litres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sector_baselines_2026-10-07.md and .csv on manish-branch; department energy balances 2012-2021. A proposal for Nigel's decision; nothing is accepted.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600200"/>
                <a:gridCol w="822960"/>
                <a:gridCol w="3657600"/>
                <a:gridCol w="4572000"/>
              </a:tblGrid>
              <a:tr h="522514">
                <a:tc>
                  <a:txBody>
                    <a:bodyPr/>
                    <a:lstStyle/>
                    <a:p>
                      <a:pPr>
                        <a:spcAft>
                          <a:spcPts val="100"/>
                        </a:spcAft>
                        <a:defRPr sz="1000" b="1">
                          <a:solidFill>
                            <a:srgbClr val="0A2373"/>
                          </a:solidFill>
                          <a:latin typeface="Lato"/>
                        </a:defRPr>
                      </a:pPr>
                      <a:r>
                        <a:t>Model segment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Model</a:t>
                      </a:r>
                    </a:p>
                    <a:p>
                      <a:pPr>
                        <a:spcAft>
                          <a:spcPts val="100"/>
                        </a:spcAft>
                        <a:defRPr sz="1000" b="1">
                          <a:solidFill>
                            <a:srgbClr val="11151A"/>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Overlap or gap</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Road vehicles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8.50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road 6.33; commercial and public services 4.30; together 10.63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The two balance lines swap volume between years while their sum holds, so the split shows who bought the fuel, not where it was burned</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Agriculture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1.06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1.06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Includes farm vehicles on public roads, which are also in the registered fleet. Size unknown</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Industry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1.50; mining 1.29, construction 0.05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Mine haul trucks are unregistered, so no overlap; mines' road vehicles do overlap</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Power generation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3.58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Eskom: 0.94 (year to March 2023), 0.68 (to March 2025); about 1.6 for all plants in the peak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an overlap: the model is at least 2 bn litres above reported burn</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Marine gas oil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0.77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 observed figure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established whether ships' diesel is inside inland sales</a:t>
                      </a:r>
                    </a:p>
                  </a:txBody>
                  <a:tcPr marL="64008" marR="64008" marT="54864" marB="27432" anchor="t">
                    <a:lnL w="0">
                      <a:noFill/>
                    </a:lnL>
                    <a:lnR w="0">
                      <a:noFill/>
                    </a:lnR>
                    <a:lnT w="0">
                      <a:noFill/>
                    </a:lnT>
                    <a:lnB w="5080">
                      <a:solidFill>
                        <a:srgbClr val="B8B8B8"/>
                      </a:solidFill>
                    </a:lnB>
                    <a:solidFill>
                      <a:srgbClr val="FFFFFF"/>
                    </a:solidFill>
                  </a:tcPr>
                </a:tc>
              </a:tr>
              <a:tr h="522516">
                <a:tc>
                  <a:txBody>
                    <a:bodyPr/>
                    <a:lstStyle/>
                    <a:p>
                      <a:pPr>
                        <a:spcAft>
                          <a:spcPts val="100"/>
                        </a:spcAft>
                        <a:defRPr sz="1000" b="1">
                          <a:solidFill>
                            <a:srgbClr val="0A2373"/>
                          </a:solidFill>
                          <a:latin typeface="Lato"/>
                        </a:defRPr>
                      </a:pPr>
                      <a:r>
                        <a:t>Total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15.42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Recorded sales: 12.91 (2023); 11.73 (2024, unverified)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Model is 2.5 to 3.7 above recorded sales</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Road vehicles, agriculture and industry are 11.07 in the model against 13.41 of final consumption in the 2021 balance, so those three are short, not double counted. At most 2.56 could overlap with road vehicles; no source sizes it.</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3  Sector baselines</a:t>
            </a:r>
          </a:p>
        </p:txBody>
      </p:sp>
      <p:sp>
        <p:nvSpPr>
          <p:cNvPr id="12" name="Chevron 11"/>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6237" r="26237"/>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Review the branch</a:t>
            </a:r>
          </a:p>
          <a:p>
            <a:pPr>
              <a:spcAft>
                <a:spcPts val="800"/>
              </a:spcAft>
              <a:defRPr sz="3100" b="0">
                <a:solidFill>
                  <a:srgbClr val="FFFFFF"/>
                </a:solidFill>
                <a:latin typeface="Lato"/>
              </a:defRPr>
            </a:pPr>
            <a:r>
              <a:t>and decide</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manish-branch | checks pass | nothing merged to main</a:t>
            </a:r>
          </a:p>
        </p:txBody>
      </p:sp>
      <p:sp>
        <p:nvSpPr>
          <p:cNvPr id="8" name="TextBox 7"/>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2026</a:t>
            </a:r>
          </a:p>
        </p:txBody>
      </p:sp>
      <p:sp>
        <p:nvSpPr>
          <p:cNvPr id="9" name="TextBox 8"/>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0"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Lesedi | vopak.com</a:t>
            </a:r>
          </a:p>
        </p:txBody>
      </p:sp>
      <p:sp>
        <p:nvSpPr>
          <p:cNvPr id="11"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BDBEC1"/>
                </a:solidFill>
                <a:latin typeface="Lato"/>
              </a:defRPr>
            </a:pPr>
            <a:r>
              <a:t>Strictly Confidential</a:t>
            </a:r>
          </a:p>
        </p:txBody>
      </p:sp>
    </p:spTree>
  </p:cSld>
  <p:clrMapOvr>
    <a:masterClrMapping/>
  </p:clrMapOvr>
</p:sld>
</file>

<file path=ppt/theme/theme1.xml><?xml version="1.0" encoding="utf-8"?>
<a:theme xmlns:a="http://schemas.openxmlformats.org/drawingml/2006/main" name="Vopak Theme">
  <a:themeElements>
    <a:clrScheme name="Vopak">
      <a:dk1>
        <a:srgbClr val="000000"/>
      </a:dk1>
      <a:lt1>
        <a:srgbClr val="FFFFFF"/>
      </a:lt1>
      <a:dk2>
        <a:srgbClr val="11151A"/>
      </a:dk2>
      <a:lt2>
        <a:srgbClr val="E7E6E6"/>
      </a:lt2>
      <a:accent1>
        <a:srgbClr val="0A2373"/>
      </a:accent1>
      <a:accent2>
        <a:srgbClr val="546CA2"/>
      </a:accent2>
      <a:accent3>
        <a:srgbClr val="BDBEC1"/>
      </a:accent3>
      <a:accent4>
        <a:srgbClr val="404040"/>
      </a:accent4>
      <a:accent5>
        <a:srgbClr val="767676"/>
      </a:accent5>
      <a:accent6>
        <a:srgbClr val="D9D9D9"/>
      </a:accent6>
      <a:hlink>
        <a:srgbClr val="0A2373"/>
      </a:hlink>
      <a:folHlink>
        <a:srgbClr val="546CA2"/>
      </a:folHlink>
    </a:clrScheme>
    <a:fontScheme name="AIA_2017">
      <a:majorFont>
        <a:latin typeface="Lato"/>
        <a:ea typeface=""/>
        <a:cs typeface=""/>
      </a:majorFont>
      <a:minorFont>
        <a:latin typeface="Lato"/>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pak Theme" id="{EB158558-B090-4A15-9406-52ADAF46E73D}" vid="{169915E9-BA5A-4298-BC78-09D68188174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729E3C0-DBBA-4E87-A833-D4D671FDC2D1}">
  <we:reference id="WA200010725" version="1.0.0.1" store="Omex" storeType="OMEX"/>
  <we:alternateReferences>
    <we:reference id="WA200010725" version="1.0.0.1" store="WA200010725" storeType="OMEX"/>
  </we:alternateReferences>
  <we:properties>
    <we:property name="claude.fileId" value="&quot;440e1679-9fef-4664-be92-b7e3c5432c29&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BB14DAA3CC024F49A081857B4C9CD92A" ma:contentTypeVersion="20" ma:contentTypeDescription="Create a new document." ma:contentTypeScope="" ma:versionID="cdb2463664abbc9cc5ebc4769b50ad18">
  <xsd:schema xmlns:xsd="http://www.w3.org/2001/XMLSchema" xmlns:xs="http://www.w3.org/2001/XMLSchema" xmlns:p="http://schemas.microsoft.com/office/2006/metadata/properties" xmlns:ns2="265cb39c-7109-435c-af5d-13dc21a2db6b" xmlns:ns3="62b85a0e-09bb-4b0f-bd28-e34020cdc070" targetNamespace="http://schemas.microsoft.com/office/2006/metadata/properties" ma:root="true" ma:fieldsID="ee545d7bb76dd121542a05c73fb4a941" ns2:_="" ns3:_="">
    <xsd:import namespace="265cb39c-7109-435c-af5d-13dc21a2db6b"/>
    <xsd:import namespace="62b85a0e-09bb-4b0f-bd28-e34020cdc070"/>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Location"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Archive"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65cb39c-7109-435c-af5d-13dc21a2d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df3d1728-64fa-4f01-bb7d-5585de3a980b"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Archive" ma:index="26" nillable="true" ma:displayName="Archive" ma:default="0" ma:description="Folder to be backed up, archived and removed from SharePoint" ma:format="Dropdown" ma:internalName="Archive">
      <xsd:simpleType>
        <xsd:restriction base="dms:Boolean"/>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2b85a0e-09bb-4b0f-bd28-e34020cdc070"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44b13c9-2708-4b8b-a658-00962d7928c2}" ma:internalName="TaxCatchAll" ma:showField="CatchAllData" ma:web="62b85a0e-09bb-4b0f-bd28-e34020cdc07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265cb39c-7109-435c-af5d-13dc21a2db6b">
      <Terms xmlns="http://schemas.microsoft.com/office/infopath/2007/PartnerControls"/>
    </lcf76f155ced4ddcb4097134ff3c332f>
    <TaxCatchAll xmlns="62b85a0e-09bb-4b0f-bd28-e34020cdc070" xsi:nil="true"/>
    <SharedWithUsers xmlns="62b85a0e-09bb-4b0f-bd28-e34020cdc070">
      <UserInfo>
        <DisplayName>Joseph Kihara</DisplayName>
        <AccountId>3747</AccountId>
        <AccountType/>
      </UserInfo>
    </SharedWithUsers>
    <Archive xmlns="265cb39c-7109-435c-af5d-13dc21a2db6b">false</Archive>
  </documentManagement>
</p:properties>
</file>

<file path=customXml/itemProps1.xml><?xml version="1.0" encoding="utf-8"?>
<ds:datastoreItem xmlns:ds="http://schemas.openxmlformats.org/officeDocument/2006/customXml" ds:itemID="{1E0AC09D-7AB9-4C7E-89AA-55CFDED1BCB9}">
  <ds:schemaRefs>
    <ds:schemaRef ds:uri="http://schemas.microsoft.com/sharepoint/v3/contenttype/forms"/>
  </ds:schemaRefs>
</ds:datastoreItem>
</file>

<file path=customXml/itemProps2.xml><?xml version="1.0" encoding="utf-8"?>
<ds:datastoreItem xmlns:ds="http://schemas.openxmlformats.org/officeDocument/2006/customXml" ds:itemID="{1B9F3023-3460-4C94-AC6C-4F171062BD4F}">
  <ds:schemaRefs>
    <ds:schemaRef ds:uri="265cb39c-7109-435c-af5d-13dc21a2db6b"/>
    <ds:schemaRef ds:uri="62b85a0e-09bb-4b0f-bd28-e34020cdc07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9FA9FA0-2CB2-436E-A336-3A77ADFE4CF1}">
  <ds:schemaRefs>
    <ds:schemaRef ds:uri="http://purl.org/dc/terms/"/>
    <ds:schemaRef ds:uri="http://schemas.microsoft.com/office/infopath/2007/PartnerControls"/>
    <ds:schemaRef ds:uri="http://purl.org/dc/dcmitype/"/>
    <ds:schemaRef ds:uri="http://schemas.openxmlformats.org/package/2006/metadata/core-properties"/>
    <ds:schemaRef ds:uri="http://schemas.microsoft.com/office/2006/metadata/properties"/>
    <ds:schemaRef ds:uri="http://schemas.microsoft.com/office/2006/documentManagement/types"/>
    <ds:schemaRef ds:uri="265cb39c-7109-435c-af5d-13dc21a2db6b"/>
    <ds:schemaRef ds:uri="http://purl.org/dc/elements/1.1/"/>
    <ds:schemaRef ds:uri="62b85a0e-09bb-4b0f-bd28-e34020cdc070"/>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Vopak Theme</Template>
  <TotalTime>0</TotalTime>
  <Words>15</Words>
  <Application>Microsoft Office PowerPoint</Application>
  <PresentationFormat>Custom</PresentationFormat>
  <Paragraphs>4</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Lato</vt:lpstr>
      <vt:lpstr>Vopak Theme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South Africa liquid fuels: Week 1 analytical maps</dc:title>
  <dc:creator>Africa International Advisors</dc:creator>
  <cp:lastModifiedBy>Nigel Zhuwaki</cp:lastModifiedBy>
  <cp:revision>1</cp:revision>
  <dcterms:created xsi:type="dcterms:W3CDTF">2017-11-16T09:19:07Z</dcterms:created>
  <dcterms:modified xsi:type="dcterms:W3CDTF">2026-10-01T12:10:22Z</dcterms:modified>
  <dc:subject>Illustrative demand geography and conditional Vopak market access</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0x010100BB14DAA3CC024F49A081857B4C9CD92A</vt:lpwstr>
  </property>
  <property fmtid="{D5CDD505-2E9C-101B-9397-08002B2CF9AE}" pid="3" name="MediaServiceImageTags">
    <vt:lpwstr/>
  </property>
</Properties>
</file>