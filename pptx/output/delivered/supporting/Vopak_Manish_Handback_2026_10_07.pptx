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73" r:id="rId26"/>
    <p:sldId id="274" r:id="rId27"/>
    <p:sldId id="275" r:id="rId28"/>
    <p:sldId id="276" r:id="rId29"/>
    <p:sldId id="277" r:id="rId30"/>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999.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for power, million litres a year</a:t>
            </a:r>
          </a:p>
        </c:rich>
      </c:tx>
      <c:layout/>
      <c:overlay val="0"/>
    </c:title>
    <c:autoTitleDeleted val="0"/>
    <c:plotArea>
      <c:lineChart>
        <c:grouping val="standard"/>
        <c:varyColors val="0"/>
        <c:ser>
          <c:idx val="0"/>
          <c:order val="0"/>
          <c:tx>
            <c:strRef>
              <c:f>Sheet1!$B$1</c:f>
              <c:strCache>
                <c:ptCount val="1"/>
                <c:pt idx="0">
                  <c:v>Low</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Sheet1!$B$2:$B$15</c:f>
              <c:numCache>
                <c:formatCode>General</c:formatCode>
                <c:ptCount val="14"/>
                <c:pt idx="0">
                  <c:v>301.1482395802973</c:v>
                </c:pt>
                <c:pt idx="1">
                  <c:v>301.1482395802973</c:v>
                </c:pt>
                <c:pt idx="2">
                  <c:v>301.1482395802973</c:v>
                </c:pt>
                <c:pt idx="3">
                  <c:v>301.1482395802973</c:v>
                </c:pt>
                <c:pt idx="4">
                  <c:v>301.1482395802973</c:v>
                </c:pt>
                <c:pt idx="5">
                  <c:v>301.1482395802973</c:v>
                </c:pt>
                <c:pt idx="6">
                  <c:v>118.29500612066454</c:v>
                </c:pt>
                <c:pt idx="7">
                  <c:v>118.29500612066454</c:v>
                </c:pt>
                <c:pt idx="8">
                  <c:v>85.63567939376274</c:v>
                </c:pt>
                <c:pt idx="9">
                  <c:v>20.317025939959194</c:v>
                </c:pt>
                <c:pt idx="10">
                  <c:v>20.317025939959194</c:v>
                </c:pt>
                <c:pt idx="11">
                  <c:v>20.317025939959194</c:v>
                </c:pt>
                <c:pt idx="12">
                  <c:v>20.317025939959194</c:v>
                </c:pt>
                <c:pt idx="13">
                  <c:v>20.317025939959194</c:v>
                </c:pt>
              </c:numCache>
            </c:numRef>
          </c:val>
          <c:smooth val="0"/>
        </c:ser>
        <c:ser>
          <c:idx val="1"/>
          <c:order val="1"/>
          <c:tx>
            <c:strRef>
              <c:f>Sheet1!$C$1</c:f>
              <c:strCache>
                <c:ptCount val="1"/>
                <c:pt idx="0">
                  <c:v>Medium</c:v>
                </c:pt>
              </c:strCache>
            </c:strRef>
          </c:tx>
          <c:spPr>
            <a:ln w="25400">
              <a:solidFill>
                <a:srgbClr val="546CA2"/>
              </a:solidFill>
            </a:ln>
          </c:spPr>
          <c:marker>
            <c:symbol val="circle"/>
            <c:size val="6"/>
            <c:spPr>
              <a:solidFill>
                <a:srgbClr val="546CA2"/>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Sheet1!$C$2:$C$15</c:f>
              <c:numCache>
                <c:formatCode>General</c:formatCode>
                <c:ptCount val="14"/>
                <c:pt idx="0">
                  <c:v>792.0840629554066</c:v>
                </c:pt>
                <c:pt idx="1">
                  <c:v>792.0840629554066</c:v>
                </c:pt>
                <c:pt idx="2">
                  <c:v>792.0840629554066</c:v>
                </c:pt>
                <c:pt idx="3">
                  <c:v>792.0840629554066</c:v>
                </c:pt>
                <c:pt idx="4">
                  <c:v>792.0840629554066</c:v>
                </c:pt>
                <c:pt idx="5">
                  <c:v>792.0840629554066</c:v>
                </c:pt>
                <c:pt idx="6">
                  <c:v>311.1410819003206</c:v>
                </c:pt>
                <c:pt idx="7">
                  <c:v>311.1410819003206</c:v>
                </c:pt>
                <c:pt idx="8">
                  <c:v>637.0130819003207</c:v>
                </c:pt>
                <c:pt idx="9">
                  <c:v>637.0130819003207</c:v>
                </c:pt>
                <c:pt idx="10">
                  <c:v>637.0130819003207</c:v>
                </c:pt>
                <c:pt idx="11">
                  <c:v>637.0130819003207</c:v>
                </c:pt>
                <c:pt idx="12">
                  <c:v>637.0130819003207</c:v>
                </c:pt>
                <c:pt idx="13">
                  <c:v>637.0130819003207</c:v>
                </c:pt>
              </c:numCache>
            </c:numRef>
          </c:val>
          <c:smooth val="0"/>
        </c:ser>
        <c:ser>
          <c:idx val="2"/>
          <c:order val="2"/>
          <c:tx>
            <c:strRef>
              <c:f>Sheet1!$D$1</c:f>
              <c:strCache>
                <c:ptCount val="1"/>
                <c:pt idx="0">
                  <c:v>High</c:v>
                </c:pt>
              </c:strCache>
            </c:strRef>
          </c:tx>
          <c:spPr>
            <a:ln w="25400">
              <a:solidFill>
                <a:srgbClr val="0A2373"/>
              </a:solidFill>
            </a:ln>
          </c:spPr>
          <c:marker>
            <c:symbol val="circle"/>
            <c:size val="6"/>
            <c:spPr>
              <a:solidFill>
                <a:srgbClr val="0A2373"/>
              </a:solidFill>
              <a:ln>
                <a:solidFill>
                  <a:srgbClr val="FFFFFF"/>
                </a:solidFill>
              </a:ln>
            </c:spPr>
          </c:marker>
          <c:cat>
            <c:strRef>
              <c:f>Sheet1!$A$2:$A$15</c:f>
              <c:strCache>
                <c:ptCount val="14"/>
                <c:pt idx="0">
                  <c:v>2022</c:v>
                </c:pt>
                <c:pt idx="1">
                  <c:v>2023</c:v>
                </c:pt>
                <c:pt idx="2">
                  <c:v>2024</c:v>
                </c:pt>
                <c:pt idx="3">
                  <c:v>2025</c:v>
                </c:pt>
                <c:pt idx="4">
                  <c:v>2026</c:v>
                </c:pt>
                <c:pt idx="5">
                  <c:v>2027</c:v>
                </c:pt>
                <c:pt idx="6">
                  <c:v>2028</c:v>
                </c:pt>
                <c:pt idx="7">
                  <c:v>2029</c:v>
                </c:pt>
                <c:pt idx="8">
                  <c:v>2030</c:v>
                </c:pt>
                <c:pt idx="9">
                  <c:v>2031</c:v>
                </c:pt>
                <c:pt idx="10">
                  <c:v>2032</c:v>
                </c:pt>
                <c:pt idx="11">
                  <c:v>2033</c:v>
                </c:pt>
                <c:pt idx="12">
                  <c:v>2034</c:v>
                </c:pt>
                <c:pt idx="13">
                  <c:v>2035</c:v>
                </c:pt>
              </c:strCache>
            </c:strRef>
          </c:cat>
          <c:val>
            <c:numRef>
              <c:f>Sheet1!$D$2:$D$15</c:f>
              <c:numCache>
                <c:formatCode>General</c:formatCode>
                <c:ptCount val="14"/>
                <c:pt idx="0">
                  <c:v>1435.4081521422324</c:v>
                </c:pt>
                <c:pt idx="1">
                  <c:v>1435.4081521422324</c:v>
                </c:pt>
                <c:pt idx="2">
                  <c:v>1435.4081521422324</c:v>
                </c:pt>
                <c:pt idx="3">
                  <c:v>1435.4081521422324</c:v>
                </c:pt>
                <c:pt idx="4">
                  <c:v>1435.4081521422324</c:v>
                </c:pt>
                <c:pt idx="5">
                  <c:v>1435.4081521422324</c:v>
                </c:pt>
                <c:pt idx="6">
                  <c:v>1435.4081521422324</c:v>
                </c:pt>
                <c:pt idx="7">
                  <c:v>1435.4081521422324</c:v>
                </c:pt>
                <c:pt idx="8">
                  <c:v>4223.510746138152</c:v>
                </c:pt>
                <c:pt idx="9">
                  <c:v>4223.510746138152</c:v>
                </c:pt>
                <c:pt idx="10">
                  <c:v>4223.510746138152</c:v>
                </c:pt>
                <c:pt idx="11">
                  <c:v>4223.510746138152</c:v>
                </c:pt>
                <c:pt idx="12">
                  <c:v>4223.510746138152</c:v>
                </c:pt>
                <c:pt idx="13">
                  <c:v>4223.510746138152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5000.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1000.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4.xml"/><Relationship Id="rId8" Type="http://schemas.openxmlformats.org/officeDocument/2006/relationships/slide" Target="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slide" Target="slide3.xml"/><Relationship Id="rId4" Type="http://schemas.openxmlformats.org/officeDocument/2006/relationships/slide" Target="slide6.xml"/><Relationship Id="rId5" Type="http://schemas.openxmlformats.org/officeDocument/2006/relationships/slide" Target="slide10.xml"/><Relationship Id="rId6" Type="http://schemas.openxmlformats.org/officeDocument/2006/relationships/slide" Target="slide14.xml"/><Relationship Id="rId7" Type="http://schemas.openxmlformats.org/officeDocument/2006/relationships/slide" Target="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6.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 against 20.76 here.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a:hlinkClick action="ppaction://hlinksldjump" r:id="rId8"/>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Nine levers added: price, backup generation, freight electrification, hybrids, rail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377440"/>
                <a:gridCol w="1188720"/>
                <a:gridCol w="1463040"/>
                <a:gridCol w="1463040"/>
                <a:gridCol w="4160520"/>
              </a:tblGrid>
              <a:tr h="429768">
                <a:tc>
                  <a:txBody>
                    <a:bodyPr/>
                    <a:lstStyle/>
                    <a:p>
                      <a:pPr>
                        <a:spcAft>
                          <a:spcPts val="100"/>
                        </a:spcAft>
                        <a:defRPr sz="8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2030</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2035</a:t>
                      </a:r>
                    </a:p>
                    <a:p>
                      <a:pPr>
                        <a:spcAft>
                          <a:spcPts val="100"/>
                        </a:spcAft>
                        <a:defRPr sz="8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diesel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Private backup generation</a:t>
                      </a:r>
                    </a:p>
                    <a:p>
                      <a:pPr>
                        <a:spcAft>
                          <a:spcPts val="100"/>
                        </a:spcAft>
                        <a:defRPr sz="8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trucks</a:t>
                      </a:r>
                    </a:p>
                    <a:p>
                      <a:pPr>
                        <a:spcAft>
                          <a:spcPts val="100"/>
                        </a:spcAft>
                        <a:defRPr sz="850" b="1">
                          <a:solidFill>
                            <a:srgbClr val="0A2373"/>
                          </a:solidFill>
                          <a:latin typeface="Lato"/>
                        </a:defRPr>
                      </a:pPr>
                      <a:r>
                        <a:t>% of new truck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0.4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3 / 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 South African data. 2025 benchmarks: Brazil 0.4%, Europe 3%, world 9%, China 25% (IEA; ICCT). High case is about 2.5% of the fleet by 2035.</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Electric share of new light commercial</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Not reported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1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2025 benchmarks: India 1%, Europe 10%, China 14% (IEA). Bakkies differ from vans, so loose comparators.</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Real petrol price</a:t>
                      </a:r>
                    </a:p>
                    <a:p>
                      <a:pPr>
                        <a:spcAft>
                          <a:spcPts val="100"/>
                        </a:spcAft>
                        <a:defRPr sz="8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a:t>
                      </a:r>
                    </a:p>
                    <a:p>
                      <a:pPr>
                        <a:spcAft>
                          <a:spcPts val="100"/>
                        </a:spcAft>
                        <a:defRPr sz="8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Plug-in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a:t>
                      </a:r>
                    </a:p>
                    <a:p>
                      <a:pPr>
                        <a:spcAft>
                          <a:spcPts val="100"/>
                        </a:spcAft>
                        <a:defRPr sz="8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Conventional hybrid share</a:t>
                      </a:r>
                    </a:p>
                    <a:p>
                      <a:pPr>
                        <a:spcAft>
                          <a:spcPts val="100"/>
                        </a:spcAft>
                        <a:defRPr sz="8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a:t>
                      </a:r>
                    </a:p>
                    <a:p>
                      <a:pPr>
                        <a:spcAft>
                          <a:spcPts val="100"/>
                        </a:spcAft>
                        <a:defRPr sz="8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Rail passenger journeys</a:t>
                      </a:r>
                    </a:p>
                    <a:p>
                      <a:pPr>
                        <a:spcAft>
                          <a:spcPts val="100"/>
                        </a:spcAft>
                        <a:defRPr sz="8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74</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429768">
                <a:tc>
                  <a:txBody>
                    <a:bodyPr/>
                    <a:lstStyle/>
                    <a:p>
                      <a:pPr>
                        <a:spcAft>
                          <a:spcPts val="100"/>
                        </a:spcAft>
                        <a:defRPr sz="850" b="1">
                          <a:solidFill>
                            <a:srgbClr val="0A2373"/>
                          </a:solidFill>
                          <a:latin typeface="Lato"/>
                        </a:defRPr>
                      </a:pPr>
                      <a:r>
                        <a:t>Exports to nine neighbours</a:t>
                      </a:r>
                    </a:p>
                    <a:p>
                      <a:pPr>
                        <a:spcAft>
                          <a:spcPts val="100"/>
                        </a:spcAft>
                        <a:defRPr sz="8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1.48</a:t>
                      </a:r>
                    </a:p>
                    <a:p>
                      <a:pPr>
                        <a:spcAft>
                          <a:spcPts val="100"/>
                        </a:spcAft>
                        <a:defRPr sz="8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stations, 3,089 MW, burn diesel for power; eight coal stations stop by 2034</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Power generation fleet | installed capacity | diesel stations today and coal stations being retired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45720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 stations today</a:t>
            </a:r>
          </a:p>
        </p:txBody>
      </p:sp>
      <p:graphicFrame>
        <p:nvGraphicFramePr>
          <p:cNvPr id="8" name="Table 7"/>
          <p:cNvGraphicFramePr>
            <a:graphicFrameLocks noGrp="1"/>
          </p:cNvGraphicFramePr>
          <p:nvPr/>
        </p:nvGraphicFramePr>
        <p:xfrm>
          <a:off x="457200" y="2267712"/>
          <a:ext cx="5074920" cy="2011680"/>
        </p:xfrm>
        <a:graphic>
          <a:graphicData uri="http://schemas.openxmlformats.org/drawingml/2006/table">
            <a:tbl>
              <a:tblPr firstRow="0" bandRow="0"/>
              <a:tblGrid>
                <a:gridCol w="1051560"/>
                <a:gridCol w="1463040"/>
                <a:gridCol w="548640"/>
                <a:gridCol w="2011680"/>
              </a:tblGrid>
              <a:tr h="402336">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Owner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changes</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Ankerlig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1,338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Gas supply sought; switch targeted December 2027</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746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Same gas tender</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Avon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670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Agreement with Eskom ends July 2031</a:t>
                      </a:r>
                    </a:p>
                  </a:txBody>
                  <a:tcPr marL="64008" marR="64008" marT="54864" marB="27432" anchor="t">
                    <a:lnL w="0">
                      <a:noFill/>
                    </a:lnL>
                    <a:lnR w="0">
                      <a:noFill/>
                    </a:lnR>
                    <a:lnT w="0">
                      <a:noFill/>
                    </a:lnT>
                    <a:lnB w="5080">
                      <a:solidFill>
                        <a:srgbClr val="B8B8B8"/>
                      </a:solidFill>
                    </a:lnB>
                    <a:solidFill>
                      <a:srgbClr val="FFFFFF"/>
                    </a:solidFill>
                  </a:tcPr>
                </a:tc>
              </a:tr>
              <a:tr h="402336">
                <a:tc>
                  <a:txBody>
                    <a:bodyPr/>
                    <a:lstStyle/>
                    <a:p>
                      <a:pPr>
                        <a:spcAft>
                          <a:spcPts val="100"/>
                        </a:spcAft>
                        <a:defRPr sz="1000" b="1">
                          <a:solidFill>
                            <a:srgbClr val="0A2373"/>
                          </a:solidFill>
                          <a:latin typeface="Lato"/>
                        </a:defRPr>
                      </a:pPr>
                      <a:r>
                        <a:t>Dedisa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Independent producer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Agreement with Eskom ends October 2030</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4434840"/>
            <a:ext cx="5029200" cy="731520"/>
          </a:xfrm>
          <a:prstGeom prst="rect">
            <a:avLst/>
          </a:prstGeom>
          <a:noFill/>
        </p:spPr>
        <p:txBody>
          <a:bodyPr wrap="square" lIns="22860" rIns="22860" tIns="0" bIns="0">
            <a:spAutoFit/>
          </a:bodyPr>
          <a:lstStyle/>
          <a:p>
            <a:pPr>
              <a:spcAft>
                <a:spcPts val="300"/>
              </a:spcAft>
              <a:defRPr sz="1000" b="0">
                <a:solidFill>
                  <a:srgbClr val="11151A"/>
                </a:solidFill>
                <a:latin typeface="Lato"/>
              </a:defRPr>
            </a:pPr>
            <a:r>
              <a:t>Acacia and Port Rex (171 MW each) burn kerosene and are not counted. The model also carries two placeholder stations of 1,000 and 2,000 MW with no source.</a:t>
            </a:r>
          </a:p>
        </p:txBody>
      </p:sp>
      <p:sp>
        <p:nvSpPr>
          <p:cNvPr id="10" name="TextBox 9"/>
          <p:cNvSpPr txBox="1"/>
          <p:nvPr/>
        </p:nvSpPr>
        <p:spPr>
          <a:xfrm>
            <a:off x="5897880" y="2011680"/>
            <a:ext cx="49377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Coal stations being retired</a:t>
            </a:r>
          </a:p>
        </p:txBody>
      </p:sp>
      <p:graphicFrame>
        <p:nvGraphicFramePr>
          <p:cNvPr id="11" name="Table 10"/>
          <p:cNvGraphicFramePr>
            <a:graphicFrameLocks noGrp="1"/>
          </p:cNvGraphicFramePr>
          <p:nvPr/>
        </p:nvGraphicFramePr>
        <p:xfrm>
          <a:off x="5897880" y="2267712"/>
          <a:ext cx="5212080" cy="3017520"/>
        </p:xfrm>
        <a:graphic>
          <a:graphicData uri="http://schemas.openxmlformats.org/drawingml/2006/table">
            <a:tbl>
              <a:tblPr firstRow="0" bandRow="0"/>
              <a:tblGrid>
                <a:gridCol w="1188720"/>
                <a:gridCol w="731520"/>
                <a:gridCol w="3291840"/>
              </a:tblGrid>
              <a:tr h="335280">
                <a:tc>
                  <a:txBody>
                    <a:bodyPr/>
                    <a:lstStyle/>
                    <a:p>
                      <a:pPr>
                        <a:spcAft>
                          <a:spcPts val="100"/>
                        </a:spcAft>
                        <a:defRPr sz="1000" b="1">
                          <a:solidFill>
                            <a:srgbClr val="0A2373"/>
                          </a:solidFill>
                          <a:latin typeface="Lato"/>
                        </a:defRPr>
                      </a:pPr>
                      <a:r>
                        <a:t>Station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Stops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Komati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Shut 31 October 2022</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Camden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1,561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Grootvlei</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1,180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Hendrina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1,723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Arnot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2,220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Kriel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2,790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31 March 2030 (exemption ends)</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Duvha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3,000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21 February 2034</a:t>
                      </a:r>
                    </a:p>
                  </a:txBody>
                  <a:tcPr marL="64008" marR="64008" marT="54864" marB="27432" anchor="t">
                    <a:lnL w="0">
                      <a:noFill/>
                    </a:lnL>
                    <a:lnR w="0">
                      <a:noFill/>
                    </a:lnR>
                    <a:lnT w="0">
                      <a:noFill/>
                    </a:lnT>
                    <a:lnB w="5080">
                      <a:solidFill>
                        <a:srgbClr val="B8B8B8"/>
                      </a:solidFill>
                    </a:lnB>
                    <a:solidFill>
                      <a:srgbClr val="FFFFFF"/>
                    </a:solidFill>
                  </a:tcPr>
                </a:tc>
              </a:tr>
              <a:tr h="335280">
                <a:tc>
                  <a:txBody>
                    <a:bodyPr/>
                    <a:lstStyle/>
                    <a:p>
                      <a:pPr>
                        <a:spcAft>
                          <a:spcPts val="100"/>
                        </a:spcAft>
                        <a:defRPr sz="1000" b="1">
                          <a:solidFill>
                            <a:srgbClr val="0A2373"/>
                          </a:solidFill>
                          <a:latin typeface="Lato"/>
                        </a:defRPr>
                      </a:pPr>
                      <a:r>
                        <a:t>Matla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 July 2034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2" name="TextBox 11"/>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Eskom was to decide by end September 2026 whether Camden, Grootvlei, Hendrina, Arnot and Kriel shut, are repowered or run on. No decision had been announced by 8 October.</a:t>
            </a:r>
          </a:p>
        </p:txBody>
      </p:sp>
      <p:sp>
        <p:nvSpPr>
          <p:cNvPr id="13" name="Chevron 12">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4" name="Chevron 13">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5" name="Chevron 14">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6" name="Chevron 15">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7" name="Chevron 16">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for power from 2031: 20 to 4,224 million litres a year, depending on gas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Three cases for Nigel and Henry to confirm | million litres a year | the model has 3,581 for 2024</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power_fleet_diesel.csv and the Power fleet sheet of the workshop workbook, manish-branch; Eskom fact sheet GX 0001 (July 2024) and the sources named in the file.</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5120640" cy="35661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715000" y="2029968"/>
          <a:ext cx="5394960" cy="3474720"/>
        </p:xfrm>
        <a:graphic>
          <a:graphicData uri="http://schemas.openxmlformats.org/drawingml/2006/table">
            <a:tbl>
              <a:tblPr firstRow="0" bandRow="0"/>
              <a:tblGrid>
                <a:gridCol w="1828800"/>
                <a:gridCol w="1005840"/>
                <a:gridCol w="1188720"/>
                <a:gridCol w="1371600"/>
              </a:tblGrid>
              <a:tr h="579120">
                <a:tc>
                  <a:txBody>
                    <a:bodyPr/>
                    <a:lstStyle/>
                    <a:p>
                      <a:pPr>
                        <a:spcAft>
                          <a:spcPts val="100"/>
                        </a:spcAft>
                        <a:defRPr sz="950" b="1">
                          <a:solidFill>
                            <a:srgbClr val="0A2373"/>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Low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Medium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High</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Avon and Dedisa after 2030-2031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Stop</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Continue</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Ankerlig and Gourikwa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Gas from 2028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throughout</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Gas turbines at the five coal sites, 2030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3,000 MW on gas, 10% of output on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6,000 MW, no gas: diesel peakers</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Peaker load factor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17.1%</a:t>
                      </a:r>
                    </a:p>
                  </a:txBody>
                  <a:tcPr marL="64008" marR="64008" marT="54864" marB="27432" anchor="t">
                    <a:lnL w="0">
                      <a:noFill/>
                    </a:lnL>
                    <a:lnR w="0">
                      <a:noFill/>
                    </a:lnR>
                    <a:lnT w="0">
                      <a:noFill/>
                    </a:lnT>
                    <a:lnB w="5080">
                      <a:solidFill>
                        <a:srgbClr val="B8B8B8"/>
                      </a:solidFill>
                    </a:lnB>
                    <a:solidFill>
                      <a:srgbClr val="FFFFFF"/>
                    </a:solidFill>
                  </a:tcPr>
                </a:tc>
              </a:tr>
              <a:tr h="579120">
                <a:tc>
                  <a:txBody>
                    <a:bodyPr/>
                    <a:lstStyle/>
                    <a:p>
                      <a:pPr>
                        <a:spcAft>
                          <a:spcPts val="100"/>
                        </a:spcAft>
                        <a:defRPr sz="950" b="1">
                          <a:solidFill>
                            <a:srgbClr val="0A2373"/>
                          </a:solidFill>
                          <a:latin typeface="Lato"/>
                        </a:defRPr>
                      </a:pPr>
                      <a:r>
                        <a:t>2025 / 2030 / 2035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301 / 86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792 / 637 / 637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1,435 / 4,224 / 4,224</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9" name="TextBox 8"/>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Estimated burn was 1,594 million litres in the year to March 2024 and 334 in the year to March 2026. The high case rests on two unsourced assumptions: that the gas turbines are sited at the five stations, and that no gas reaches them.</a:t>
            </a:r>
          </a:p>
        </p:txBody>
      </p:sp>
      <p:sp>
        <p:nvSpPr>
          <p:cNvPr id="10" name="Chevron 9">
            <a:hlinkClick action="ppaction://hlinksldjump" r:id="rId3"/>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1" name="Chevron 10">
            <a:hlinkClick action="ppaction://hlinksldjump" r:id="rId4"/>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2" name="Chevron 11">
            <a:hlinkClick action="ppaction://hlinksldjump" r:id="rId5"/>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3" name="Chevron 12">
            <a:hlinkClick action="ppaction://hlinksldjump" r:id="rId6"/>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4" name="Chevron 13">
            <a:hlinkClick action="ppaction://hlinksldjump" r:id="rId7"/>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All five priorities have outputs to review</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Status against the five priorities of 7 October | ready, proposed or partial</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566160"/>
        </p:xfrm>
        <a:graphic>
          <a:graphicData uri="http://schemas.openxmlformats.org/drawingml/2006/table">
            <a:tbl>
              <a:tblPr firstRow="0" bandRow="0"/>
              <a:tblGrid>
                <a:gridCol w="1737360"/>
                <a:gridCol w="1600200"/>
                <a:gridCol w="4206240"/>
                <a:gridCol w="3108960"/>
              </a:tblGrid>
              <a:tr h="594360">
                <a:tc>
                  <a:txBody>
                    <a:bodyPr/>
                    <a:lstStyle/>
                    <a:p>
                      <a:pPr>
                        <a:spcAft>
                          <a:spcPts val="100"/>
                        </a:spcAft>
                        <a:defRPr sz="1050" b="1">
                          <a:solidFill>
                            <a:srgbClr val="0A2373"/>
                          </a:solidFill>
                          <a:latin typeface="Lato"/>
                        </a:defRPr>
                      </a:pPr>
                      <a:r>
                        <a:t>Priority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Status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Ready to review</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Not done or not available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1 National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 with stated gaps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Balance rebuilt on customs trade with tests; source differences listed; 2018-2019 traced as far as data allows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Production by product after 2021 and stocks exist in no source found</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2 Forecast levers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20 levers with baseline, rationale and source; 39 of 120 values with a replacement; nine levers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Some baselines are placeholders; freight is in tonnes</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3 Sector baselines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Agriculture 1.06 and industry 1.50 bn litres, with the forecast effect and an overlap table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On-road overlap not sized; power generation is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4 Tank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Lesedi and Durban site assumptions; eight values marked to confirm with the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No Vopak operating data; other operators' sites not done</a:t>
                      </a:r>
                    </a:p>
                  </a:txBody>
                  <a:tcPr marL="64008" marR="64008" marT="54864" marB="27432" anchor="t">
                    <a:lnL w="0">
                      <a:noFill/>
                    </a:lnL>
                    <a:lnR w="0">
                      <a:noFill/>
                    </a:lnR>
                    <a:lnT w="0">
                      <a:noFill/>
                    </a:lnT>
                    <a:lnB w="5080">
                      <a:solidFill>
                        <a:srgbClr val="B8B8B8"/>
                      </a:solidFill>
                    </a:lnB>
                    <a:solidFill>
                      <a:srgbClr val="FFFFFF"/>
                    </a:solidFill>
                  </a:tcPr>
                </a:tc>
              </a:tr>
              <a:tr h="594360">
                <a:tc>
                  <a:txBody>
                    <a:bodyPr/>
                    <a:lstStyle/>
                    <a:p>
                      <a:pPr>
                        <a:spcAft>
                          <a:spcPts val="100"/>
                        </a:spcAft>
                        <a:defRPr sz="1050" b="1">
                          <a:solidFill>
                            <a:srgbClr val="0A2373"/>
                          </a:solidFill>
                          <a:latin typeface="Lato"/>
                        </a:defRPr>
                      </a:pPr>
                      <a:r>
                        <a:t>5 Hand-back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Ready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This deck, the hand-back note, a 22-item decision log, the workshop workbook with history from 2012, and 288 figures in the current pack checked with none differing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Vehicle stock by age and by fuel within class is in no source held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New evidence today: Road Accident Fund accounts give 24.4 bn litres of petrol and diesel levied in the year to March 2025, against 20.8 recorded as sold, and show volumes rising where FIASA shows a fall.</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log: 3 ready, 9 proposed, 10 unresolved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Decisions for Nigel | the 10 that are unresolved, with the analyst's proposal | full log in the csv</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97680"/>
        </p:xfrm>
        <a:graphic>
          <a:graphicData uri="http://schemas.openxmlformats.org/drawingml/2006/table">
            <a:tbl>
              <a:tblPr firstRow="0" bandRow="0"/>
              <a:tblGrid>
                <a:gridCol w="2834640"/>
                <a:gridCol w="5257800"/>
                <a:gridCol w="2560320"/>
              </a:tblGrid>
              <a:tr h="390698">
                <a:tc>
                  <a:txBody>
                    <a:bodyPr/>
                    <a:lstStyle/>
                    <a:p>
                      <a:pPr>
                        <a:spcAft>
                          <a:spcPts val="100"/>
                        </a:spcAft>
                        <a:defRPr sz="800" b="1">
                          <a:solidFill>
                            <a:srgbClr val="0A2373"/>
                          </a:solidFill>
                          <a:latin typeface="Lato"/>
                        </a:defRPr>
                      </a:pPr>
                      <a:r>
                        <a:t>Decision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Evidence in brief</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1">
                          <a:solidFill>
                            <a:srgbClr val="11151A"/>
                          </a:solidFill>
                          <a:latin typeface="Lato"/>
                        </a:defRPr>
                      </a:pPr>
                      <a:r>
                        <a:t>Proposal</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D01  Which 2024 national sales figure to use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Department has published nothing after 2023. FIASA 2025 edition: petrol 9.03, diesel 11.73 bn litres; FIASA 2024 edition: 8.76 and 11.81. Road Accident Fund levy shows volumes up 0.7%, not down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Start the forecast from 2023; carry 2024 as unverified</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D05  Treatment of the 2014 and 2018 provincial differences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Provincial sum is above the national file by 0.13-0.14 bn litres in 2014; 2018 quarter 1 district sheet is missing districts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National file stands; both records kept</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D08  Secunda utilisation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Capacity corrected to 150 thousand barrels a day with utilisation re-based so output is unchanged; model gives 62 for 2024, Sasol reports 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Raise utilisation to match reported output</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D09  Reference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medium case is agreed; medium values are proposals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Agree after the ranges</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D11  Power generation starting 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has 3.58 bn litres for 2024; Eskom reports 0.68-0.94 and all plants about 1.6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Recalibrate to reported burn at 0.31 litres per kWh</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D12  Allowance for on-road use inside agriculture and mining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 published source sizes it; 20% would be about 0.47 bn litres; Road Accident Fund rebates cover 1.46 bn litres across all rebated sectors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None applied; ask SARS for refund data by sector</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D13  Whether ships' diesel sits inside the inland diesel 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Model carries 0.77 bn litres of marine gas oil; 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Decide scope before reconciling to sales</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D17  Send the data request to Vopak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Eight values marked to confirm with client; Vopak's website publishes no operating data</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Send now</a:t>
                      </a:r>
                    </a:p>
                  </a:txBody>
                  <a:tcPr marL="64008" marR="64008" marT="54864" marB="27432" anchor="t">
                    <a:lnL w="0">
                      <a:noFill/>
                    </a:lnL>
                    <a:lnR w="0">
                      <a:noFill/>
                    </a:lnR>
                    <a:lnT w="0">
                      <a:noFill/>
                    </a:lnT>
                    <a:lnB w="5080">
                      <a:solidFill>
                        <a:srgbClr val="B8B8B8"/>
                      </a:solidFill>
                    </a:lnB>
                    <a:solidFill>
                      <a:srgbClr val="FFFFFF"/>
                    </a:solidFill>
                  </a:tcPr>
                </a:tc>
              </a:tr>
              <a:tr h="390698">
                <a:tc>
                  <a:txBody>
                    <a:bodyPr/>
                    <a:lstStyle/>
                    <a:p>
                      <a:pPr>
                        <a:spcAft>
                          <a:spcPts val="100"/>
                        </a:spcAft>
                        <a:defRPr sz="800" b="1">
                          <a:solidFill>
                            <a:srgbClr val="0A2373"/>
                          </a:solidFill>
                          <a:latin typeface="Lato"/>
                        </a:defRPr>
                      </a:pPr>
                      <a:r>
                        <a:t>D21  Marine baseline elasticities and road parameters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Carried over from 6 October; no new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Unchanged</a:t>
                      </a:r>
                    </a:p>
                  </a:txBody>
                  <a:tcPr marL="64008" marR="64008" marT="54864" marB="27432" anchor="t">
                    <a:lnL w="0">
                      <a:noFill/>
                    </a:lnL>
                    <a:lnR w="0">
                      <a:noFill/>
                    </a:lnR>
                    <a:lnT w="0">
                      <a:noFill/>
                    </a:lnT>
                    <a:lnB w="5080">
                      <a:solidFill>
                        <a:srgbClr val="B8B8B8"/>
                      </a:solidFill>
                    </a:lnB>
                    <a:solidFill>
                      <a:srgbClr val="FFFFFF"/>
                    </a:solidFill>
                  </a:tcPr>
                </a:tc>
              </a:tr>
              <a:tr h="390700">
                <a:tc>
                  <a:txBody>
                    <a:bodyPr/>
                    <a:lstStyle/>
                    <a:p>
                      <a:pPr>
                        <a:spcAft>
                          <a:spcPts val="100"/>
                        </a:spcAft>
                        <a:defRPr sz="800" b="1">
                          <a:solidFill>
                            <a:srgbClr val="0A2373"/>
                          </a:solidFill>
                          <a:latin typeface="Lato"/>
                        </a:defRPr>
                      </a:pPr>
                      <a:r>
                        <a:t>D22  Power fleet: the three cases and the assumptions behind them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Fleet defined: Ankerlig Gourikwa Avon Dedisa (3,089 MW). Low / medium / high give 20 / 637 / 4,224 million litres from 2031. Unsourced: 10% of output on diesel when gas is available; 40% load factor on gas; 0.31 litres per kWh; Avon and Dedisa continuing after 2030-2031; 6 GW of gas turbines sited at Camden Grootvlei Hendrina Arnot and Kriel; no gas reaching them in the high case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800" b="0">
                          <a:solidFill>
                            <a:srgbClr val="11151A"/>
                          </a:solidFill>
                          <a:latin typeface="Lato"/>
                        </a:defRPr>
                      </a:pPr>
                      <a:r>
                        <a:t>Accept the fleet; confirm or change each case setting; replaces the two placeholder stations in the model</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workshop workbook now carries sourced history from 2012 and labelled provincial estimates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Demand_baseline_workshop_2026_10_08_history.xlsx | built by one command | Nigel's sheets unchanged</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manish_handback_2026-10-07.md and manish_decision_log_2026-10-07.csv on manish-branch. Statuses are the analyst's; nothing is accepted until Nigel decides.</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4160520"/>
              </a:tblGrid>
              <a:tr h="522514">
                <a:tc>
                  <a:txBody>
                    <a:bodyPr/>
                    <a:lstStyle/>
                    <a:p>
                      <a:pPr>
                        <a:spcAft>
                          <a:spcPts val="100"/>
                        </a:spcAft>
                        <a:defRPr sz="950" b="1">
                          <a:solidFill>
                            <a:srgbClr val="0A2373"/>
                          </a:solidFill>
                          <a:latin typeface="Lato"/>
                        </a:defRPr>
                      </a:pPr>
                      <a:r>
                        <a:t>Sheet added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holds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it shows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sales by province, customs imports and exports, refinery production, the balance and the Road Accident Fund count, 2012-2025; totals and balances are formulas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Net imports of petrol and diesel rose from 3.7 bn litres (2014) to 15.7 bn (2022). Production by product stops at 2021</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History, section 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Estimated provincial shares and volumes for 2023-2025, kept apart from observed rows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Quarter 1 2023 shares are the best of six methods tested: 2.5 share points misallocated for petrol, 5.3 for diesel</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Sector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manufacturing and agriculture diesel beside their activity measures, with litres per unit of activity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Mining swings between 11 and 17 million litres per index point; indicative 2024: mining 1.40, agriculture 0.96 bn litres</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Vehicle history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Registered vehicles, new sales, retirements, drivetrain and fuel split beside the model's settings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Cars are 65-71% of new sales against 78% in the model; petrol per vehicle is 1,056 litres against 1,615 implied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950" b="1">
                          <a:solidFill>
                            <a:srgbClr val="0A2373"/>
                          </a:solidFill>
                          <a:latin typeface="Lato"/>
                        </a:defRPr>
                      </a:pPr>
                      <a:r>
                        <a:t>Checks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66 values on the Evidence sheet recomputed from registered inputs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match</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950" b="1">
                          <a:solidFill>
                            <a:srgbClr val="0A2373"/>
                          </a:solidFill>
                          <a:latin typeface="Lato"/>
                        </a:defRPr>
                      </a:pPr>
                      <a:r>
                        <a:t>History sources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Publisher, link, original file, extract and refresh command for each dataset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76072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One change to an existing sheet: source selection for 2022 and 2023 is set to the department instead of FIASA. 2024 stays on FIASA, unverified. 2025 has no national sales figure from any source.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a:hlinkClick action="ppaction://hlinksldjump" r:id="rId6"/>
          </p:cNvPr>
          <p:cNvSpPr/>
          <p:nvPr/>
        </p:nvSpPr>
        <p:spPr>
          <a:xfrm>
            <a:off x="8979408"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5  Hand-back</a:t>
            </a:r>
          </a:p>
        </p:txBody>
      </p:sp>
    </p:spTree>
  </p:cSld>
  <p:clrMapOvr>
    <a:masterClrMapping/>
  </p:clrMapOvr>
</p:sld>
</file>

<file path=ppt/slides/slide9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