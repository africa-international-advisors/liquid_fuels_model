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ppt/notesSlides/notesSlide8.xml" ContentType="application/vnd.openxmlformats-officedocument.presentationml.notesSlide+xml"/>
  <Override PartName="/ppt/charts/chart7.xml" ContentType="application/vnd.openxmlformats-officedocument.drawingml.chart+xml"/>
  <Override PartName="/ppt/notesSlides/notesSlide9.xml" ContentType="application/vnd.openxmlformats-officedocument.presentationml.notesSlide+xml"/>
  <Override PartName="/ppt/charts/chart8.xml" ContentType="application/vnd.openxmlformats-officedocument.drawingml.chart+xml"/>
  <Override PartName="/ppt/notesSlides/notesSlide10.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notesSlides/notesSlide11.xml" ContentType="application/vnd.openxmlformats-officedocument.presentationml.notesSlide+xml"/>
  <Override PartName="/ppt/charts/chart16.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notesSlides/notesSlide14.xml" ContentType="application/vnd.openxmlformats-officedocument.presentationml.notesSlide+xml"/>
  <Override PartName="/ppt/charts/chart23.xml" ContentType="application/vnd.openxmlformats-officedocument.drawingml.chart+xml"/>
  <Override PartName="/ppt/charts/chart24.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5.xml" ContentType="application/vnd.openxmlformats-officedocument.drawingml.chart+xml"/>
  <Override PartName="/ppt/charts/chart26.xml" ContentType="application/vnd.openxmlformats-officedocument.drawingml.char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7"/>
  </p:notesMasterIdLst>
  <p:sldIdLst>
    <p:sldId id="256" r:id="rId5"/>
    <p:sldId id="300" r:id="rId6"/>
    <p:sldId id="258" r:id="rId7"/>
    <p:sldId id="338" r:id="rId8"/>
    <p:sldId id="339" r:id="rId9"/>
    <p:sldId id="280" r:id="rId10"/>
    <p:sldId id="311" r:id="rId11"/>
    <p:sldId id="273" r:id="rId12"/>
    <p:sldId id="321" r:id="rId13"/>
    <p:sldId id="302" r:id="rId14"/>
    <p:sldId id="310" r:id="rId15"/>
    <p:sldId id="276" r:id="rId16"/>
    <p:sldId id="303" r:id="rId17"/>
    <p:sldId id="309" r:id="rId18"/>
    <p:sldId id="322" r:id="rId19"/>
    <p:sldId id="342" r:id="rId20"/>
    <p:sldId id="279" r:id="rId21"/>
    <p:sldId id="268" r:id="rId22"/>
    <p:sldId id="324" r:id="rId23"/>
    <p:sldId id="343" r:id="rId24"/>
    <p:sldId id="306" r:id="rId25"/>
    <p:sldId id="307" r:id="rId26"/>
  </p:sldIdLst>
  <p:sldSz cx="11588750" cy="6858000"/>
  <p:notesSz cx="6858000" cy="9144000"/>
  <p:embeddedFontLst>
    <p:embeddedFont>
      <p:font typeface="Lato" panose="020F0502020204030203" pitchFamily="34"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941DFA-BBD6-4151-84AE-CF30C61E49F7}" v="522" dt="2026-10-14T13:17:33.9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96" d="100"/>
          <a:sy n="96" d="100"/>
        </p:scale>
        <p:origin x="24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Production</c:v>
                </c:pt>
              </c:strCache>
            </c:strRef>
          </c:tx>
          <c:spPr>
            <a:solidFill>
              <a:srgbClr val="6782B4"/>
            </a:solidFill>
          </c:spPr>
          <c:invertIfNegative val="1"/>
          <c:dLbls>
            <c:dLbl>
              <c:idx val="1"/>
              <c:delete val="1"/>
              <c:extLst>
                <c:ext xmlns:c15="http://schemas.microsoft.com/office/drawing/2012/chart" uri="{CE6537A1-D6FC-4f65-9D91-7224C49458BB}"/>
                <c:ext xmlns:c16="http://schemas.microsoft.com/office/drawing/2014/chart" uri="{C3380CC4-5D6E-409C-BE32-E72D297353CC}">
                  <c16:uniqueId val="{00000000-67FC-4E03-89DD-5F3A9462561A}"/>
                </c:ext>
              </c:extLst>
            </c:dLbl>
            <c:spPr>
              <a:noFill/>
              <a:ln>
                <a:noFill/>
              </a:ln>
              <a:effectLst/>
            </c:spPr>
            <c:txPr>
              <a:bodyPr anchorCtr="1"/>
              <a:lstStyle/>
              <a:p>
                <a:pPr>
                  <a:defRPr sz="1125">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Supply</c:v>
                </c:pt>
                <c:pt idx="1">
                  <c:v>Uses</c:v>
                </c:pt>
              </c:strCache>
            </c:strRef>
          </c:cat>
          <c:val>
            <c:numRef>
              <c:f>Sheet1!$B$2:$B$3</c:f>
              <c:numCache>
                <c:formatCode>0.0</c:formatCode>
                <c:ptCount val="2"/>
                <c:pt idx="0">
                  <c:v>10.225867130847353</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098-444E-B683-B147F17C1B41}"/>
            </c:ext>
          </c:extLst>
        </c:ser>
        <c:ser>
          <c:idx val="1"/>
          <c:order val="1"/>
          <c:tx>
            <c:strRef>
              <c:f>Sheet1!$C$1</c:f>
              <c:strCache>
                <c:ptCount val="1"/>
                <c:pt idx="0">
                  <c:v>Imports</c:v>
                </c:pt>
              </c:strCache>
            </c:strRef>
          </c:tx>
          <c:spPr>
            <a:solidFill>
              <a:srgbClr val="0A2373"/>
            </a:solidFill>
          </c:spPr>
          <c:invertIfNegative val="1"/>
          <c:dLbls>
            <c:dLbl>
              <c:idx val="1"/>
              <c:delete val="1"/>
              <c:extLst>
                <c:ext xmlns:c15="http://schemas.microsoft.com/office/drawing/2012/chart" uri="{CE6537A1-D6FC-4f65-9D91-7224C49458BB}"/>
                <c:ext xmlns:c16="http://schemas.microsoft.com/office/drawing/2014/chart" uri="{C3380CC4-5D6E-409C-BE32-E72D297353CC}">
                  <c16:uniqueId val="{00000001-67FC-4E03-89DD-5F3A9462561A}"/>
                </c:ext>
              </c:extLst>
            </c:dLbl>
            <c:spPr>
              <a:noFill/>
              <a:ln>
                <a:noFill/>
              </a:ln>
              <a:effectLst/>
            </c:spPr>
            <c:txPr>
              <a:bodyPr anchorCtr="1"/>
              <a:lstStyle/>
              <a:p>
                <a:pPr>
                  <a:defRPr sz="1125">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Supply</c:v>
                </c:pt>
                <c:pt idx="1">
                  <c:v>Uses</c:v>
                </c:pt>
              </c:strCache>
            </c:strRef>
          </c:cat>
          <c:val>
            <c:numRef>
              <c:f>Sheet1!$C$2:$C$3</c:f>
              <c:numCache>
                <c:formatCode>0.0</c:formatCode>
                <c:ptCount val="2"/>
                <c:pt idx="0">
                  <c:v>16.702191440219998</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098-444E-B683-B147F17C1B41}"/>
            </c:ext>
          </c:extLst>
        </c:ser>
        <c:ser>
          <c:idx val="2"/>
          <c:order val="2"/>
          <c:tx>
            <c:strRef>
              <c:f>Sheet1!$D$1</c:f>
              <c:strCache>
                <c:ptCount val="1"/>
                <c:pt idx="0">
                  <c:v>Consumption</c:v>
                </c:pt>
              </c:strCache>
            </c:strRef>
          </c:tx>
          <c:spPr>
            <a:solidFill>
              <a:srgbClr val="3F5596"/>
            </a:solidFill>
          </c:spPr>
          <c:invertIfNegative val="1"/>
          <c:dLbls>
            <c:dLbl>
              <c:idx val="0"/>
              <c:delete val="1"/>
              <c:extLst>
                <c:ext xmlns:c15="http://schemas.microsoft.com/office/drawing/2012/chart" uri="{CE6537A1-D6FC-4f65-9D91-7224C49458BB}"/>
                <c:ext xmlns:c16="http://schemas.microsoft.com/office/drawing/2014/chart" uri="{C3380CC4-5D6E-409C-BE32-E72D297353CC}">
                  <c16:uniqueId val="{00000002-67FC-4E03-89DD-5F3A9462561A}"/>
                </c:ext>
              </c:extLst>
            </c:dLbl>
            <c:spPr>
              <a:noFill/>
              <a:ln>
                <a:noFill/>
              </a:ln>
              <a:effectLst/>
            </c:spPr>
            <c:txPr>
              <a:bodyPr anchorCtr="1"/>
              <a:lstStyle/>
              <a:p>
                <a:pPr>
                  <a:defRPr sz="1125">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Supply</c:v>
                </c:pt>
                <c:pt idx="1">
                  <c:v>Uses</c:v>
                </c:pt>
              </c:strCache>
            </c:strRef>
          </c:cat>
          <c:val>
            <c:numRef>
              <c:f>Sheet1!$D$2:$D$3</c:f>
              <c:numCache>
                <c:formatCode>0.0</c:formatCode>
                <c:ptCount val="2"/>
                <c:pt idx="0">
                  <c:v>0</c:v>
                </c:pt>
                <c:pt idx="1">
                  <c:v>25.379595894997355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098-444E-B683-B147F17C1B41}"/>
            </c:ext>
          </c:extLst>
        </c:ser>
        <c:ser>
          <c:idx val="3"/>
          <c:order val="3"/>
          <c:tx>
            <c:strRef>
              <c:f>Sheet1!$E$1</c:f>
              <c:strCache>
                <c:ptCount val="1"/>
                <c:pt idx="0">
                  <c:v>Exports</c:v>
                </c:pt>
              </c:strCache>
            </c:strRef>
          </c:tx>
          <c:spPr>
            <a:solidFill>
              <a:srgbClr val="929292"/>
            </a:solidFill>
          </c:spPr>
          <c:invertIfNegative val="1"/>
          <c:dLbls>
            <c:dLbl>
              <c:idx val="0"/>
              <c:delete val="1"/>
              <c:extLst>
                <c:ext xmlns:c15="http://schemas.microsoft.com/office/drawing/2012/chart" uri="{CE6537A1-D6FC-4f65-9D91-7224C49458BB}"/>
                <c:ext xmlns:c16="http://schemas.microsoft.com/office/drawing/2014/chart" uri="{C3380CC4-5D6E-409C-BE32-E72D297353CC}">
                  <c16:uniqueId val="{00000003-67FC-4E03-89DD-5F3A9462561A}"/>
                </c:ext>
              </c:extLst>
            </c:dLbl>
            <c:spPr>
              <a:noFill/>
              <a:ln>
                <a:noFill/>
              </a:ln>
              <a:effectLst/>
            </c:spPr>
            <c:txPr>
              <a:bodyPr anchorCtr="1"/>
              <a:lstStyle/>
              <a:p>
                <a:pPr>
                  <a:defRPr sz="1125">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Supply</c:v>
                </c:pt>
                <c:pt idx="1">
                  <c:v>Uses</c:v>
                </c:pt>
              </c:strCache>
            </c:strRef>
          </c:cat>
          <c:val>
            <c:numRef>
              <c:f>Sheet1!$E$2:$E$3</c:f>
              <c:numCache>
                <c:formatCode>0.0</c:formatCode>
                <c:ptCount val="2"/>
                <c:pt idx="0">
                  <c:v>0</c:v>
                </c:pt>
                <c:pt idx="1">
                  <c:v>1.5484626760700002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5098-444E-B683-B147F17C1B41}"/>
            </c:ext>
          </c:extLst>
        </c:ser>
        <c:dLbls>
          <c:dLblPos val="ctr"/>
          <c:showLegendKey val="0"/>
          <c:showVal val="1"/>
          <c:showCatName val="0"/>
          <c:showSerName val="0"/>
          <c:showPercent val="0"/>
          <c:showBubbleSize val="0"/>
        </c:dLbls>
        <c:gapWidth val="13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050">
                <a:solidFill>
                  <a:srgbClr val="666666"/>
                </a:solidFill>
              </a:defRPr>
            </a:pPr>
            <a:endParaRPr lang="en-US"/>
          </a:p>
        </c:txPr>
        <c:crossAx val="48672768"/>
        <c:crosses val="autoZero"/>
        <c:auto val="1"/>
        <c:lblAlgn val="ctr"/>
        <c:lblOffset val="100"/>
        <c:noMultiLvlLbl val="1"/>
      </c:catAx>
      <c:valAx>
        <c:axId val="48672768"/>
        <c:scaling>
          <c:orientation val="minMax"/>
        </c:scaling>
        <c:delete val="0"/>
        <c:axPos val="l"/>
        <c:numFmt formatCode="0.0" sourceLinked="1"/>
        <c:majorTickMark val="none"/>
        <c:minorTickMark val="none"/>
        <c:tickLblPos val="nextTo"/>
        <c:spPr>
          <a:ln w="9525">
            <a:solidFill>
              <a:srgbClr val="D4D4D4"/>
            </a:solidFill>
            <a:prstDash val="solid"/>
          </a:ln>
        </c:spPr>
        <c:txPr>
          <a:bodyPr anchorCtr="1"/>
          <a:lstStyle/>
          <a:p>
            <a:pPr>
              <a:defRPr sz="900">
                <a:solidFill>
                  <a:srgbClr val="666666"/>
                </a:solidFill>
              </a:defRPr>
            </a:pPr>
            <a:endParaRPr lang="en-US"/>
          </a:p>
        </c:txPr>
        <c:crossAx val="48650112"/>
        <c:crosses val="autoZero"/>
        <c:crossBetween val="between"/>
      </c:valAx>
    </c:plotArea>
    <c:legend>
      <c:legendPos val="b"/>
      <c:overlay val="0"/>
      <c:txPr>
        <a:bodyPr/>
        <a:lstStyle/>
        <a:p>
          <a:pPr>
            <a:defRPr sz="900"/>
          </a:pPr>
          <a:endParaRPr lang="en-US"/>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areaChart>
        <c:grouping val="stacked"/>
        <c:varyColors val="1"/>
        <c:ser>
          <c:idx val="0"/>
          <c:order val="0"/>
          <c:tx>
            <c:strRef>
              <c:f>Sheet1!$B$1</c:f>
              <c:strCache>
                <c:ptCount val="1"/>
                <c:pt idx="0">
                  <c:v>Petrol</c:v>
                </c:pt>
              </c:strCache>
            </c:strRef>
          </c:tx>
          <c:spPr>
            <a:solidFill>
              <a:srgbClr val="0A2373"/>
            </a:solidFill>
            <a:ln w="23813">
              <a:solidFill>
                <a:srgbClr val="0A2373"/>
              </a:solidFill>
            </a:ln>
          </c:spPr>
          <c:cat>
            <c:strRef>
              <c:f>Sheet1!$A$2:$A$14</c:f>
              <c:strCache>
                <c:ptCount val="13"/>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strCache>
            </c:strRef>
          </c:cat>
          <c:val>
            <c:numRef>
              <c:f>Sheet1!$B$2:$B$14</c:f>
              <c:numCache>
                <c:formatCode>0.00</c:formatCode>
                <c:ptCount val="13"/>
                <c:pt idx="0">
                  <c:v>11.439925235</c:v>
                </c:pt>
                <c:pt idx="1">
                  <c:v>10.890207679</c:v>
                </c:pt>
                <c:pt idx="2">
                  <c:v>11.475709420318001</c:v>
                </c:pt>
                <c:pt idx="3">
                  <c:v>11.462252466686001</c:v>
                </c:pt>
                <c:pt idx="4">
                  <c:v>11.174082980369999</c:v>
                </c:pt>
                <c:pt idx="5">
                  <c:v>11.141630546702</c:v>
                </c:pt>
                <c:pt idx="6">
                  <c:v>10.773208065062001</c:v>
                </c:pt>
                <c:pt idx="7">
                  <c:v>8.7614709614960002</c:v>
                </c:pt>
                <c:pt idx="8">
                  <c:v>9.3015842276830014</c:v>
                </c:pt>
                <c:pt idx="9">
                  <c:v>8.756573192341417</c:v>
                </c:pt>
                <c:pt idx="10">
                  <c:v>9.2049195487719793</c:v>
                </c:pt>
                <c:pt idx="11">
                  <c:v>9.1197435536507943</c:v>
                </c:pt>
                <c:pt idx="12">
                  <c:v>9.292761996897422</c:v>
                </c:pt>
              </c:numCache>
            </c:numRef>
          </c:val>
          <c:extLst>
            <c:ext xmlns:c16="http://schemas.microsoft.com/office/drawing/2014/chart" uri="{C3380CC4-5D6E-409C-BE32-E72D297353CC}">
              <c16:uniqueId val="{00000000-2499-4ABA-B741-0B7E1B91FC7B}"/>
            </c:ext>
          </c:extLst>
        </c:ser>
        <c:ser>
          <c:idx val="1"/>
          <c:order val="1"/>
          <c:tx>
            <c:strRef>
              <c:f>Sheet1!$C$1</c:f>
              <c:strCache>
                <c:ptCount val="1"/>
                <c:pt idx="0">
                  <c:v>Diesel</c:v>
                </c:pt>
              </c:strCache>
            </c:strRef>
          </c:tx>
          <c:spPr>
            <a:solidFill>
              <a:srgbClr val="6782B4"/>
            </a:solidFill>
            <a:ln w="23813">
              <a:solidFill>
                <a:srgbClr val="6782B4"/>
              </a:solidFill>
            </a:ln>
          </c:spPr>
          <c:cat>
            <c:strRef>
              <c:f>Sheet1!$A$2:$A$14</c:f>
              <c:strCache>
                <c:ptCount val="13"/>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strCache>
            </c:strRef>
          </c:cat>
          <c:val>
            <c:numRef>
              <c:f>Sheet1!$C$2:$C$14</c:f>
              <c:numCache>
                <c:formatCode>0.00</c:formatCode>
                <c:ptCount val="13"/>
                <c:pt idx="0">
                  <c:v>12.141281548</c:v>
                </c:pt>
                <c:pt idx="1">
                  <c:v>12.615023359</c:v>
                </c:pt>
                <c:pt idx="2">
                  <c:v>13.520139251950001</c:v>
                </c:pt>
                <c:pt idx="3">
                  <c:v>12.082374038422001</c:v>
                </c:pt>
                <c:pt idx="4">
                  <c:v>12.147245167188997</c:v>
                </c:pt>
                <c:pt idx="5">
                  <c:v>12.538744325998</c:v>
                </c:pt>
                <c:pt idx="6">
                  <c:v>12.908631232216999</c:v>
                </c:pt>
                <c:pt idx="7">
                  <c:v>11.689957759296</c:v>
                </c:pt>
                <c:pt idx="8">
                  <c:v>12.945782750434999</c:v>
                </c:pt>
                <c:pt idx="9">
                  <c:v>14.132784588041019</c:v>
                </c:pt>
                <c:pt idx="10">
                  <c:v>16.56363949530229</c:v>
                </c:pt>
                <c:pt idx="11">
                  <c:v>14.941823083410691</c:v>
                </c:pt>
                <c:pt idx="12">
                  <c:v>16.086833898099933</c:v>
                </c:pt>
              </c:numCache>
            </c:numRef>
          </c:val>
          <c:extLst>
            <c:ext xmlns:c16="http://schemas.microsoft.com/office/drawing/2014/chart" uri="{C3380CC4-5D6E-409C-BE32-E72D297353CC}">
              <c16:uniqueId val="{00000001-2499-4ABA-B741-0B7E1B91FC7B}"/>
            </c:ext>
          </c:extLst>
        </c:ser>
        <c:dLbls>
          <c:showLegendKey val="0"/>
          <c:showVal val="0"/>
          <c:showCatName val="0"/>
          <c:showSerName val="0"/>
          <c:showPercent val="0"/>
          <c:showBubbleSize val="0"/>
        </c:dLbls>
        <c:axId val="48650112"/>
        <c:axId val="48672768"/>
      </c:area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72768"/>
        <c:crosses val="autoZero"/>
        <c:auto val="1"/>
        <c:lblAlgn val="ctr"/>
        <c:lblOffset val="100"/>
        <c:noMultiLvlLbl val="1"/>
      </c:catAx>
      <c:valAx>
        <c:axId val="48672768"/>
        <c:scaling>
          <c:orientation val="minMax"/>
        </c:scaling>
        <c:delete val="0"/>
        <c:axPos val="l"/>
        <c:numFmt formatCode="0" sourceLinked="0"/>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50112"/>
        <c:crosses val="autoZero"/>
        <c:crossBetween val="between"/>
      </c:valAx>
    </c:plotArea>
    <c:legend>
      <c:legendPos val="b"/>
      <c:overlay val="0"/>
    </c:legend>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 road 8.59</c:v>
                </c:pt>
              </c:strCache>
            </c:strRef>
          </c:tx>
          <c:spPr>
            <a:solidFill>
              <a:srgbClr val="0A2373"/>
            </a:solidFill>
          </c:spPr>
          <c:invertIfNegative val="0"/>
          <c:cat>
            <c:strRef>
              <c:f>Sheet1!$A$2:$A$4</c:f>
              <c:strCache>
                <c:ptCount val="3"/>
                <c:pt idx="0">
                  <c:v>2023E</c:v>
                </c:pt>
                <c:pt idx="1">
                  <c:v>2024E</c:v>
                </c:pt>
                <c:pt idx="2">
                  <c:v>2025E</c:v>
                </c:pt>
              </c:strCache>
            </c:strRef>
          </c:cat>
          <c:val>
            <c:numRef>
              <c:f>Sheet1!$B$2:$B$4</c:f>
              <c:numCache>
                <c:formatCode>0.00</c:formatCode>
                <c:ptCount val="3"/>
                <c:pt idx="0">
                  <c:v>8.7658416100872412</c:v>
                </c:pt>
                <c:pt idx="1">
                  <c:v>8.6775257558656111</c:v>
                </c:pt>
                <c:pt idx="2">
                  <c:v>8.5900996838752661</c:v>
                </c:pt>
              </c:numCache>
            </c:numRef>
          </c:val>
          <c:extLst>
            <c:ext xmlns:c16="http://schemas.microsoft.com/office/drawing/2014/chart" uri="{C3380CC4-5D6E-409C-BE32-E72D297353CC}">
              <c16:uniqueId val="{00000000-5BB7-4AB8-893B-D630D4D8836C}"/>
            </c:ext>
          </c:extLst>
        </c:ser>
        <c:ser>
          <c:idx val="1"/>
          <c:order val="1"/>
          <c:tx>
            <c:strRef>
              <c:f>Sheet1!$C$1</c:f>
              <c:strCache>
                <c:ptCount val="1"/>
                <c:pt idx="0">
                  <c:v>Other petrol 0.27</c:v>
                </c:pt>
              </c:strCache>
            </c:strRef>
          </c:tx>
          <c:spPr>
            <a:solidFill>
              <a:srgbClr val="3F5596"/>
            </a:solidFill>
          </c:spPr>
          <c:invertIfNegative val="0"/>
          <c:cat>
            <c:strRef>
              <c:f>Sheet1!$A$2:$A$4</c:f>
              <c:strCache>
                <c:ptCount val="3"/>
                <c:pt idx="0">
                  <c:v>2023E</c:v>
                </c:pt>
                <c:pt idx="1">
                  <c:v>2024E</c:v>
                </c:pt>
                <c:pt idx="2">
                  <c:v>2025E</c:v>
                </c:pt>
              </c:strCache>
            </c:strRef>
          </c:cat>
          <c:val>
            <c:numRef>
              <c:f>Sheet1!$C$2:$C$4</c:f>
              <c:numCache>
                <c:formatCode>0.00</c:formatCode>
                <c:ptCount val="3"/>
                <c:pt idx="0">
                  <c:v>0.27110850340476028</c:v>
                </c:pt>
                <c:pt idx="1">
                  <c:v>0.26837708523295728</c:v>
                </c:pt>
                <c:pt idx="2">
                  <c:v>0.26567318609923529</c:v>
                </c:pt>
              </c:numCache>
            </c:numRef>
          </c:val>
          <c:extLst>
            <c:ext xmlns:c16="http://schemas.microsoft.com/office/drawing/2014/chart" uri="{C3380CC4-5D6E-409C-BE32-E72D297353CC}">
              <c16:uniqueId val="{00000001-5BB7-4AB8-893B-D630D4D8836C}"/>
            </c:ext>
          </c:extLst>
        </c:ser>
        <c:ser>
          <c:idx val="2"/>
          <c:order val="2"/>
          <c:tx>
            <c:strRef>
              <c:f>Sheet1!$D$1</c:f>
              <c:strCache>
                <c:ptCount val="1"/>
                <c:pt idx="0">
                  <c:v>Freight diesel 4.82</c:v>
                </c:pt>
              </c:strCache>
            </c:strRef>
          </c:tx>
          <c:spPr>
            <a:solidFill>
              <a:srgbClr val="6782B4"/>
            </a:solidFill>
          </c:spPr>
          <c:invertIfNegative val="0"/>
          <c:cat>
            <c:strRef>
              <c:f>Sheet1!$A$2:$A$4</c:f>
              <c:strCache>
                <c:ptCount val="3"/>
                <c:pt idx="0">
                  <c:v>2023E</c:v>
                </c:pt>
                <c:pt idx="1">
                  <c:v>2024E</c:v>
                </c:pt>
                <c:pt idx="2">
                  <c:v>2025E</c:v>
                </c:pt>
              </c:strCache>
            </c:strRef>
          </c:cat>
          <c:val>
            <c:numRef>
              <c:f>Sheet1!$D$2:$D$4</c:f>
              <c:numCache>
                <c:formatCode>0.00</c:formatCode>
                <c:ptCount val="3"/>
                <c:pt idx="0">
                  <c:v>4.841361915996</c:v>
                </c:pt>
                <c:pt idx="1">
                  <c:v>4.8653266574801801</c:v>
                </c:pt>
                <c:pt idx="2">
                  <c:v>4.8245471123879353</c:v>
                </c:pt>
              </c:numCache>
            </c:numRef>
          </c:val>
          <c:extLst>
            <c:ext xmlns:c16="http://schemas.microsoft.com/office/drawing/2014/chart" uri="{C3380CC4-5D6E-409C-BE32-E72D297353CC}">
              <c16:uniqueId val="{00000002-5BB7-4AB8-893B-D630D4D8836C}"/>
            </c:ext>
          </c:extLst>
        </c:ser>
        <c:ser>
          <c:idx val="3"/>
          <c:order val="3"/>
          <c:tx>
            <c:strRef>
              <c:f>Sheet1!$E$1</c:f>
              <c:strCache>
                <c:ptCount val="1"/>
                <c:pt idx="0">
                  <c:v>Other road diesel 1.61</c:v>
                </c:pt>
              </c:strCache>
            </c:strRef>
          </c:tx>
          <c:spPr>
            <a:solidFill>
              <a:srgbClr val="9DB0D3"/>
            </a:solidFill>
          </c:spPr>
          <c:invertIfNegative val="0"/>
          <c:cat>
            <c:strRef>
              <c:f>Sheet1!$A$2:$A$4</c:f>
              <c:strCache>
                <c:ptCount val="3"/>
                <c:pt idx="0">
                  <c:v>2023E</c:v>
                </c:pt>
                <c:pt idx="1">
                  <c:v>2024E</c:v>
                </c:pt>
                <c:pt idx="2">
                  <c:v>2025E</c:v>
                </c:pt>
              </c:strCache>
            </c:strRef>
          </c:cat>
          <c:val>
            <c:numRef>
              <c:f>Sheet1!$E$2:$E$4</c:f>
              <c:numCache>
                <c:formatCode>0.00</c:formatCode>
                <c:ptCount val="3"/>
                <c:pt idx="0">
                  <c:v>1.613787305332</c:v>
                </c:pt>
                <c:pt idx="1">
                  <c:v>1.6217755524933932</c:v>
                </c:pt>
                <c:pt idx="2">
                  <c:v>1.6081823707959784</c:v>
                </c:pt>
              </c:numCache>
            </c:numRef>
          </c:val>
          <c:extLst>
            <c:ext xmlns:c16="http://schemas.microsoft.com/office/drawing/2014/chart" uri="{C3380CC4-5D6E-409C-BE32-E72D297353CC}">
              <c16:uniqueId val="{00000003-5BB7-4AB8-893B-D630D4D8836C}"/>
            </c:ext>
          </c:extLst>
        </c:ser>
        <c:ser>
          <c:idx val="4"/>
          <c:order val="4"/>
          <c:tx>
            <c:strRef>
              <c:f>Sheet1!$F$1</c:f>
              <c:strCache>
                <c:ptCount val="1"/>
                <c:pt idx="0">
                  <c:v>Mining 1.41</c:v>
                </c:pt>
              </c:strCache>
            </c:strRef>
          </c:tx>
          <c:spPr>
            <a:solidFill>
              <a:srgbClr val="404040"/>
            </a:solidFill>
          </c:spPr>
          <c:invertIfNegative val="0"/>
          <c:cat>
            <c:strRef>
              <c:f>Sheet1!$A$2:$A$4</c:f>
              <c:strCache>
                <c:ptCount val="3"/>
                <c:pt idx="0">
                  <c:v>2023E</c:v>
                </c:pt>
                <c:pt idx="1">
                  <c:v>2024E</c:v>
                </c:pt>
                <c:pt idx="2">
                  <c:v>2025E</c:v>
                </c:pt>
              </c:strCache>
            </c:strRef>
          </c:cat>
          <c:val>
            <c:numRef>
              <c:f>Sheet1!$F$2:$F$4</c:f>
              <c:numCache>
                <c:formatCode>0.00</c:formatCode>
                <c:ptCount val="3"/>
                <c:pt idx="0">
                  <c:v>1.3959664570874284</c:v>
                </c:pt>
                <c:pt idx="1">
                  <c:v>1.4037204366913902</c:v>
                </c:pt>
                <c:pt idx="2">
                  <c:v>1.4063467846217641</c:v>
                </c:pt>
              </c:numCache>
            </c:numRef>
          </c:val>
          <c:extLst>
            <c:ext xmlns:c16="http://schemas.microsoft.com/office/drawing/2014/chart" uri="{C3380CC4-5D6E-409C-BE32-E72D297353CC}">
              <c16:uniqueId val="{00000004-5BB7-4AB8-893B-D630D4D8836C}"/>
            </c:ext>
          </c:extLst>
        </c:ser>
        <c:ser>
          <c:idx val="5"/>
          <c:order val="5"/>
          <c:tx>
            <c:strRef>
              <c:f>Sheet1!$G$1</c:f>
              <c:strCache>
                <c:ptCount val="1"/>
                <c:pt idx="0">
                  <c:v>Agriculture 1.13</c:v>
                </c:pt>
              </c:strCache>
            </c:strRef>
          </c:tx>
          <c:spPr>
            <a:solidFill>
              <a:srgbClr val="767676"/>
            </a:solidFill>
          </c:spPr>
          <c:invertIfNegative val="0"/>
          <c:cat>
            <c:strRef>
              <c:f>Sheet1!$A$2:$A$4</c:f>
              <c:strCache>
                <c:ptCount val="3"/>
                <c:pt idx="0">
                  <c:v>2023E</c:v>
                </c:pt>
                <c:pt idx="1">
                  <c:v>2024E</c:v>
                </c:pt>
                <c:pt idx="2">
                  <c:v>2025E</c:v>
                </c:pt>
              </c:strCache>
            </c:strRef>
          </c:cat>
          <c:val>
            <c:numRef>
              <c:f>Sheet1!$G$2:$G$4</c:f>
              <c:numCache>
                <c:formatCode>0.00</c:formatCode>
                <c:ptCount val="3"/>
                <c:pt idx="0">
                  <c:v>1.0552755203659356</c:v>
                </c:pt>
                <c:pt idx="1">
                  <c:v>0.9633403153504746</c:v>
                </c:pt>
                <c:pt idx="2">
                  <c:v>1.1312246982365153</c:v>
                </c:pt>
              </c:numCache>
            </c:numRef>
          </c:val>
          <c:extLst>
            <c:ext xmlns:c16="http://schemas.microsoft.com/office/drawing/2014/chart" uri="{C3380CC4-5D6E-409C-BE32-E72D297353CC}">
              <c16:uniqueId val="{00000005-5BB7-4AB8-893B-D630D4D8836C}"/>
            </c:ext>
          </c:extLst>
        </c:ser>
        <c:ser>
          <c:idx val="6"/>
          <c:order val="6"/>
          <c:tx>
            <c:strRef>
              <c:f>Sheet1!$H$1</c:f>
              <c:strCache>
                <c:ptCount val="1"/>
                <c:pt idx="0">
                  <c:v>Manufacturing 0.17</c:v>
                </c:pt>
              </c:strCache>
            </c:strRef>
          </c:tx>
          <c:spPr>
            <a:solidFill>
              <a:srgbClr val="929292"/>
            </a:solidFill>
          </c:spPr>
          <c:invertIfNegative val="0"/>
          <c:cat>
            <c:strRef>
              <c:f>Sheet1!$A$2:$A$4</c:f>
              <c:strCache>
                <c:ptCount val="3"/>
                <c:pt idx="0">
                  <c:v>2023E</c:v>
                </c:pt>
                <c:pt idx="1">
                  <c:v>2024E</c:v>
                </c:pt>
                <c:pt idx="2">
                  <c:v>2025E</c:v>
                </c:pt>
              </c:strCache>
            </c:strRef>
          </c:cat>
          <c:val>
            <c:numRef>
              <c:f>Sheet1!$H$2:$H$4</c:f>
              <c:numCache>
                <c:formatCode>0.00</c:formatCode>
                <c:ptCount val="3"/>
                <c:pt idx="0">
                  <c:v>0.16789786744139165</c:v>
                </c:pt>
                <c:pt idx="1">
                  <c:v>0.16721110753544252</c:v>
                </c:pt>
                <c:pt idx="2">
                  <c:v>0.16507618000173108</c:v>
                </c:pt>
              </c:numCache>
            </c:numRef>
          </c:val>
          <c:extLst>
            <c:ext xmlns:c16="http://schemas.microsoft.com/office/drawing/2014/chart" uri="{C3380CC4-5D6E-409C-BE32-E72D297353CC}">
              <c16:uniqueId val="{00000006-5BB7-4AB8-893B-D630D4D8836C}"/>
            </c:ext>
          </c:extLst>
        </c:ser>
        <c:ser>
          <c:idx val="7"/>
          <c:order val="7"/>
          <c:tx>
            <c:strRef>
              <c:f>Sheet1!$I$1</c:f>
              <c:strCache>
                <c:ptCount val="1"/>
                <c:pt idx="0">
                  <c:v>Power 0.88</c:v>
                </c:pt>
              </c:strCache>
            </c:strRef>
          </c:tx>
          <c:spPr>
            <a:solidFill>
              <a:srgbClr val="BDBEC1"/>
            </a:solidFill>
          </c:spPr>
          <c:invertIfNegative val="0"/>
          <c:cat>
            <c:strRef>
              <c:f>Sheet1!$A$2:$A$4</c:f>
              <c:strCache>
                <c:ptCount val="3"/>
                <c:pt idx="0">
                  <c:v>2023E</c:v>
                </c:pt>
                <c:pt idx="1">
                  <c:v>2024E</c:v>
                </c:pt>
                <c:pt idx="2">
                  <c:v>2025E</c:v>
                </c:pt>
              </c:strCache>
            </c:strRef>
          </c:cat>
          <c:val>
            <c:numRef>
              <c:f>Sheet1!$I$2:$I$4</c:f>
              <c:numCache>
                <c:formatCode>0.00</c:formatCode>
                <c:ptCount val="3"/>
                <c:pt idx="0">
                  <c:v>1.2778800000000003</c:v>
                </c:pt>
                <c:pt idx="1">
                  <c:v>1.5972900000000001</c:v>
                </c:pt>
                <c:pt idx="2">
                  <c:v>0.88431999999999999</c:v>
                </c:pt>
              </c:numCache>
            </c:numRef>
          </c:val>
          <c:extLst>
            <c:ext xmlns:c16="http://schemas.microsoft.com/office/drawing/2014/chart" uri="{C3380CC4-5D6E-409C-BE32-E72D297353CC}">
              <c16:uniqueId val="{00000007-5BB7-4AB8-893B-D630D4D8836C}"/>
            </c:ext>
          </c:extLst>
        </c:ser>
        <c:ser>
          <c:idx val="8"/>
          <c:order val="8"/>
          <c:tx>
            <c:strRef>
              <c:f>Sheet1!$J$1</c:f>
              <c:strCache>
                <c:ptCount val="1"/>
                <c:pt idx="0">
                  <c:v>Other diesel 2.11</c:v>
                </c:pt>
              </c:strCache>
            </c:strRef>
          </c:tx>
          <c:spPr>
            <a:solidFill>
              <a:srgbClr val="D9D9D9"/>
            </a:solidFill>
          </c:spPr>
          <c:invertIfNegative val="0"/>
          <c:cat>
            <c:strRef>
              <c:f>Sheet1!$A$2:$A$4</c:f>
              <c:strCache>
                <c:ptCount val="3"/>
                <c:pt idx="0">
                  <c:v>2023E</c:v>
                </c:pt>
                <c:pt idx="1">
                  <c:v>2024E</c:v>
                </c:pt>
                <c:pt idx="2">
                  <c:v>2025E</c:v>
                </c:pt>
              </c:strCache>
            </c:strRef>
          </c:cat>
          <c:val>
            <c:numRef>
              <c:f>Sheet1!$J$2:$J$4</c:f>
              <c:numCache>
                <c:formatCode>0.00</c:formatCode>
                <c:ptCount val="3"/>
                <c:pt idx="0">
                  <c:v>2.5553308995852442</c:v>
                </c:pt>
                <c:pt idx="1">
                  <c:v>2.5165420959151987</c:v>
                </c:pt>
                <c:pt idx="2">
                  <c:v>2.1119181810768164</c:v>
                </c:pt>
              </c:numCache>
            </c:numRef>
          </c:val>
          <c:extLst>
            <c:ext xmlns:c16="http://schemas.microsoft.com/office/drawing/2014/chart" uri="{C3380CC4-5D6E-409C-BE32-E72D297353CC}">
              <c16:uniqueId val="{00000008-5BB7-4AB8-893B-D630D4D8836C}"/>
            </c:ext>
          </c:extLst>
        </c:ser>
        <c:ser>
          <c:idx val="9"/>
          <c:order val="9"/>
          <c:tx>
            <c:strRef>
              <c:f>Sheet1!$K$1</c:f>
              <c:strCache>
                <c:ptCount val="1"/>
                <c:pt idx="0">
                  <c:v>Not allocated 4.39</c:v>
                </c:pt>
              </c:strCache>
            </c:strRef>
          </c:tx>
          <c:spPr>
            <a:solidFill>
              <a:srgbClr val="E3E7F1"/>
            </a:solidFill>
          </c:spPr>
          <c:invertIfNegative val="0"/>
          <c:cat>
            <c:strRef>
              <c:f>Sheet1!$A$2:$A$4</c:f>
              <c:strCache>
                <c:ptCount val="3"/>
                <c:pt idx="0">
                  <c:v>2023E</c:v>
                </c:pt>
                <c:pt idx="1">
                  <c:v>2024E</c:v>
                </c:pt>
                <c:pt idx="2">
                  <c:v>2025E</c:v>
                </c:pt>
              </c:strCache>
            </c:strRef>
          </c:cat>
          <c:val>
            <c:numRef>
              <c:f>Sheet1!$K$2:$K$4</c:f>
              <c:numCache>
                <c:formatCode>0.00</c:formatCode>
                <c:ptCount val="3"/>
                <c:pt idx="0">
                  <c:v>3.8241089647742683</c:v>
                </c:pt>
                <c:pt idx="1">
                  <c:v>1.9804576304968364</c:v>
                </c:pt>
                <c:pt idx="2">
                  <c:v>4.3922076979021121</c:v>
                </c:pt>
              </c:numCache>
            </c:numRef>
          </c:val>
          <c:extLst>
            <c:ext xmlns:c16="http://schemas.microsoft.com/office/drawing/2014/chart" uri="{C3380CC4-5D6E-409C-BE32-E72D297353CC}">
              <c16:uniqueId val="{00000008-5BB7-4AB8-893B-D630D4D8836C}"/>
            </c:ext>
          </c:extLst>
        </c:ser>
        <c:dLbls>
          <c:showLegendKey val="0"/>
          <c:showVal val="0"/>
          <c:showCatName val="0"/>
          <c:showSerName val="0"/>
          <c:showPercent val="0"/>
          <c:showBubbleSize val="0"/>
        </c:dLbls>
        <c:gapWidth val="55"/>
        <c:overlap val="10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113994440"/>
        <c:crosses val="autoZero"/>
        <c:auto val="1"/>
        <c:lblAlgn val="ctr"/>
        <c:lblOffset val="100"/>
        <c:noMultiLvlLbl val="0"/>
      </c:catAx>
      <c:valAx>
        <c:axId val="-2113994440"/>
        <c:scaling>
          <c:orientation val="minMax"/>
          <c:max val="30"/>
          <c:min val="0"/>
        </c:scaling>
        <c:delete val="0"/>
        <c:axPos val="l"/>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068027336"/>
        <c:crosses val="autoZero"/>
        <c:crossBetween val="between"/>
        <c:majorUnit val="5"/>
      </c:valAx>
    </c:plotArea>
    <c:legend>
      <c:legendPos val="r"/>
      <c:overlay val="0"/>
      <c:txPr>
        <a:bodyPr/>
        <a:lstStyle/>
        <a:p>
          <a:pPr>
            <a:defRPr sz="900"/>
          </a:pPr>
          <a:endParaRPr lang="en-US"/>
        </a:p>
      </c:txPr>
    </c:legend>
    <c:plotVisOnly val="1"/>
    <c:dispBlanksAs val="gap"/>
    <c:showDLblsOverMax val="1"/>
  </c:chart>
  <c:txPr>
    <a:bodyPr/>
    <a:lstStyle/>
    <a:p>
      <a:pPr>
        <a:defRPr sz="1000">
          <a:latin typeface="Lat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strRef>
              <c:f>Sheet1!$B$1</c:f>
              <c:strCache>
                <c:ptCount val="1"/>
                <c:pt idx="0">
                  <c:v>Road freight</c:v>
                </c:pt>
              </c:strCache>
            </c:strRef>
          </c:tx>
          <c:spPr>
            <a:ln w="23813">
              <a:solidFill>
                <a:srgbClr val="3F5596"/>
              </a:solidFill>
            </a:ln>
          </c:spPr>
          <c:marker>
            <c:symbol val="none"/>
          </c:marker>
          <c:cat>
            <c:strRef>
              <c:f>Sheet1!$A$2:$A$4</c:f>
              <c:strCache>
                <c:ptCount val="3"/>
                <c:pt idx="0">
                  <c:v>2023E</c:v>
                </c:pt>
                <c:pt idx="1">
                  <c:v>2024E</c:v>
                </c:pt>
                <c:pt idx="2">
                  <c:v>2025E</c:v>
                </c:pt>
              </c:strCache>
            </c:strRef>
          </c:cat>
          <c:val>
            <c:numRef>
              <c:f>Sheet1!$B$2:$B$4</c:f>
              <c:numCache>
                <c:formatCode>0.00</c:formatCode>
                <c:ptCount val="3"/>
                <c:pt idx="0">
                  <c:v>4.841361915996</c:v>
                </c:pt>
                <c:pt idx="1">
                  <c:v>4.8653266574801801</c:v>
                </c:pt>
                <c:pt idx="2">
                  <c:v>4.8245471123879353</c:v>
                </c:pt>
              </c:numCache>
            </c:numRef>
          </c:val>
          <c:smooth val="0"/>
          <c:extLst>
            <c:ext xmlns:c16="http://schemas.microsoft.com/office/drawing/2014/chart" uri="{C3380CC4-5D6E-409C-BE32-E72D297353CC}">
              <c16:uniqueId val="{00000000-331E-4DA0-A4F4-2DC791D5E469}"/>
            </c:ext>
          </c:extLst>
        </c:ser>
        <c:ser>
          <c:idx val="1"/>
          <c:order val="1"/>
          <c:tx>
            <c:strRef>
              <c:f>Sheet1!$C$1</c:f>
              <c:strCache>
                <c:ptCount val="1"/>
                <c:pt idx="0">
                  <c:v>Power</c:v>
                </c:pt>
              </c:strCache>
            </c:strRef>
          </c:tx>
          <c:spPr>
            <a:ln w="23813">
              <a:solidFill>
                <a:srgbClr val="404040"/>
              </a:solidFill>
            </a:ln>
          </c:spPr>
          <c:marker>
            <c:symbol val="none"/>
          </c:marker>
          <c:cat>
            <c:strRef>
              <c:f>Sheet1!$A$2:$A$4</c:f>
              <c:strCache>
                <c:ptCount val="3"/>
                <c:pt idx="0">
                  <c:v>2023E</c:v>
                </c:pt>
                <c:pt idx="1">
                  <c:v>2024E</c:v>
                </c:pt>
                <c:pt idx="2">
                  <c:v>2025E</c:v>
                </c:pt>
              </c:strCache>
            </c:strRef>
          </c:cat>
          <c:val>
            <c:numRef>
              <c:f>Sheet1!$C$2:$C$4</c:f>
              <c:numCache>
                <c:formatCode>0.00</c:formatCode>
                <c:ptCount val="3"/>
                <c:pt idx="0">
                  <c:v>1.2778800000000003</c:v>
                </c:pt>
                <c:pt idx="1">
                  <c:v>1.5972900000000001</c:v>
                </c:pt>
                <c:pt idx="2">
                  <c:v>0.88431999999999999</c:v>
                </c:pt>
              </c:numCache>
            </c:numRef>
          </c:val>
          <c:smooth val="0"/>
          <c:extLst>
            <c:ext xmlns:c16="http://schemas.microsoft.com/office/drawing/2014/chart" uri="{C3380CC4-5D6E-409C-BE32-E72D297353CC}">
              <c16:uniqueId val="{00000001-331E-4DA0-A4F4-2DC791D5E469}"/>
            </c:ext>
          </c:extLst>
        </c:ser>
        <c:ser>
          <c:idx val="2"/>
          <c:order val="2"/>
          <c:tx>
            <c:strRef>
              <c:f>Sheet1!$D$1</c:f>
              <c:strCache>
                <c:ptCount val="1"/>
                <c:pt idx="0">
                  <c:v>Other diesel</c:v>
                </c:pt>
              </c:strCache>
            </c:strRef>
          </c:tx>
          <c:spPr>
            <a:ln w="23813">
              <a:solidFill>
                <a:srgbClr val="BDBEC1"/>
              </a:solidFill>
            </a:ln>
          </c:spPr>
          <c:marker>
            <c:symbol val="none"/>
          </c:marker>
          <c:cat>
            <c:strRef>
              <c:f>Sheet1!$A$2:$A$4</c:f>
              <c:strCache>
                <c:ptCount val="3"/>
                <c:pt idx="0">
                  <c:v>2023E</c:v>
                </c:pt>
                <c:pt idx="1">
                  <c:v>2024E</c:v>
                </c:pt>
                <c:pt idx="2">
                  <c:v>2025E</c:v>
                </c:pt>
              </c:strCache>
            </c:strRef>
          </c:cat>
          <c:val>
            <c:numRef>
              <c:f>Sheet1!$D$2:$D$4</c:f>
              <c:numCache>
                <c:formatCode>0.00</c:formatCode>
                <c:ptCount val="3"/>
                <c:pt idx="0">
                  <c:v>2.5553308995852442</c:v>
                </c:pt>
                <c:pt idx="1">
                  <c:v>2.5165420959151987</c:v>
                </c:pt>
                <c:pt idx="2">
                  <c:v>2.1119181810768164</c:v>
                </c:pt>
              </c:numCache>
            </c:numRef>
          </c:val>
          <c:smooth val="0"/>
          <c:extLst>
            <c:ext xmlns:c16="http://schemas.microsoft.com/office/drawing/2014/chart" uri="{C3380CC4-5D6E-409C-BE32-E72D297353CC}">
              <c16:uniqueId val="{00000002-331E-4DA0-A4F4-2DC791D5E469}"/>
            </c:ext>
          </c:extLst>
        </c:ser>
        <c:ser>
          <c:idx val="3"/>
          <c:order val="3"/>
          <c:tx>
            <c:strRef>
              <c:f>Sheet1!$E$1</c:f>
              <c:strCache>
                <c:ptCount val="1"/>
                <c:pt idx="0">
                  <c:v>Other road</c:v>
                </c:pt>
              </c:strCache>
            </c:strRef>
          </c:tx>
          <c:spPr>
            <a:ln w="23813">
              <a:solidFill>
                <a:srgbClr val="9DB0D3"/>
              </a:solidFill>
            </a:ln>
          </c:spPr>
          <c:marker>
            <c:symbol val="none"/>
          </c:marker>
          <c:cat>
            <c:strRef>
              <c:f>Sheet1!$A$2:$A$4</c:f>
              <c:strCache>
                <c:ptCount val="3"/>
                <c:pt idx="0">
                  <c:v>2023E</c:v>
                </c:pt>
                <c:pt idx="1">
                  <c:v>2024E</c:v>
                </c:pt>
                <c:pt idx="2">
                  <c:v>2025E</c:v>
                </c:pt>
              </c:strCache>
            </c:strRef>
          </c:cat>
          <c:val>
            <c:numRef>
              <c:f>Sheet1!$E$2:$E$4</c:f>
              <c:numCache>
                <c:formatCode>0.00</c:formatCode>
                <c:ptCount val="3"/>
                <c:pt idx="0">
                  <c:v>1.613787305332</c:v>
                </c:pt>
                <c:pt idx="1">
                  <c:v>1.6217755524933932</c:v>
                </c:pt>
                <c:pt idx="2">
                  <c:v>1.6081823707959784</c:v>
                </c:pt>
              </c:numCache>
            </c:numRef>
          </c:val>
          <c:smooth val="0"/>
          <c:extLst>
            <c:ext xmlns:c16="http://schemas.microsoft.com/office/drawing/2014/chart" uri="{C3380CC4-5D6E-409C-BE32-E72D297353CC}">
              <c16:uniqueId val="{00000003-331E-4DA0-A4F4-2DC791D5E469}"/>
            </c:ext>
          </c:extLst>
        </c:ser>
        <c:ser>
          <c:idx val="4"/>
          <c:order val="4"/>
          <c:tx>
            <c:strRef>
              <c:f>Sheet1!$F$1</c:f>
              <c:strCache>
                <c:ptCount val="1"/>
                <c:pt idx="0">
                  <c:v>Mining</c:v>
                </c:pt>
              </c:strCache>
            </c:strRef>
          </c:tx>
          <c:spPr>
            <a:ln w="23813">
              <a:solidFill>
                <a:srgbClr val="0A2373"/>
              </a:solidFill>
            </a:ln>
          </c:spPr>
          <c:marker>
            <c:symbol val="none"/>
          </c:marker>
          <c:cat>
            <c:strRef>
              <c:f>Sheet1!$A$2:$A$4</c:f>
              <c:strCache>
                <c:ptCount val="3"/>
                <c:pt idx="0">
                  <c:v>2023E</c:v>
                </c:pt>
                <c:pt idx="1">
                  <c:v>2024E</c:v>
                </c:pt>
                <c:pt idx="2">
                  <c:v>2025E</c:v>
                </c:pt>
              </c:strCache>
            </c:strRef>
          </c:cat>
          <c:val>
            <c:numRef>
              <c:f>Sheet1!$F$2:$F$4</c:f>
              <c:numCache>
                <c:formatCode>0.00</c:formatCode>
                <c:ptCount val="3"/>
                <c:pt idx="0">
                  <c:v>1.3959664570874284</c:v>
                </c:pt>
                <c:pt idx="1">
                  <c:v>1.4037204366913902</c:v>
                </c:pt>
                <c:pt idx="2">
                  <c:v>1.4063467846217641</c:v>
                </c:pt>
              </c:numCache>
            </c:numRef>
          </c:val>
          <c:smooth val="0"/>
          <c:extLst>
            <c:ext xmlns:c16="http://schemas.microsoft.com/office/drawing/2014/chart" uri="{C3380CC4-5D6E-409C-BE32-E72D297353CC}">
              <c16:uniqueId val="{00000004-331E-4DA0-A4F4-2DC791D5E469}"/>
            </c:ext>
          </c:extLst>
        </c:ser>
        <c:ser>
          <c:idx val="5"/>
          <c:order val="5"/>
          <c:tx>
            <c:strRef>
              <c:f>Sheet1!$G$1</c:f>
              <c:strCache>
                <c:ptCount val="1"/>
                <c:pt idx="0">
                  <c:v>Agriculture</c:v>
                </c:pt>
              </c:strCache>
            </c:strRef>
          </c:tx>
          <c:spPr>
            <a:ln w="23813">
              <a:solidFill>
                <a:srgbClr val="6782B4"/>
              </a:solidFill>
            </a:ln>
          </c:spPr>
          <c:marker>
            <c:symbol val="none"/>
          </c:marker>
          <c:cat>
            <c:strRef>
              <c:f>Sheet1!$A$2:$A$4</c:f>
              <c:strCache>
                <c:ptCount val="3"/>
                <c:pt idx="0">
                  <c:v>2023E</c:v>
                </c:pt>
                <c:pt idx="1">
                  <c:v>2024E</c:v>
                </c:pt>
                <c:pt idx="2">
                  <c:v>2025E</c:v>
                </c:pt>
              </c:strCache>
            </c:strRef>
          </c:cat>
          <c:val>
            <c:numRef>
              <c:f>Sheet1!$G$2:$G$4</c:f>
              <c:numCache>
                <c:formatCode>0.00</c:formatCode>
                <c:ptCount val="3"/>
                <c:pt idx="0">
                  <c:v>1.0552755203659356</c:v>
                </c:pt>
                <c:pt idx="1">
                  <c:v>0.9633403153504746</c:v>
                </c:pt>
                <c:pt idx="2">
                  <c:v>1.1312246982365153</c:v>
                </c:pt>
              </c:numCache>
            </c:numRef>
          </c:val>
          <c:smooth val="0"/>
          <c:extLst>
            <c:ext xmlns:c16="http://schemas.microsoft.com/office/drawing/2014/chart" uri="{C3380CC4-5D6E-409C-BE32-E72D297353CC}">
              <c16:uniqueId val="{00000005-331E-4DA0-A4F4-2DC791D5E469}"/>
            </c:ext>
          </c:extLst>
        </c:ser>
        <c:ser>
          <c:idx val="6"/>
          <c:order val="6"/>
          <c:tx>
            <c:strRef>
              <c:f>Sheet1!$H$1</c:f>
              <c:strCache>
                <c:ptCount val="1"/>
                <c:pt idx="0">
                  <c:v>Manufacturing</c:v>
                </c:pt>
              </c:strCache>
            </c:strRef>
          </c:tx>
          <c:spPr>
            <a:ln w="23813">
              <a:solidFill>
                <a:srgbClr val="868686"/>
              </a:solidFill>
            </a:ln>
          </c:spPr>
          <c:marker>
            <c:symbol val="none"/>
          </c:marker>
          <c:cat>
            <c:strRef>
              <c:f>Sheet1!$A$2:$A$4</c:f>
              <c:strCache>
                <c:ptCount val="3"/>
                <c:pt idx="0">
                  <c:v>2023E</c:v>
                </c:pt>
                <c:pt idx="1">
                  <c:v>2024E</c:v>
                </c:pt>
                <c:pt idx="2">
                  <c:v>2025E</c:v>
                </c:pt>
              </c:strCache>
            </c:strRef>
          </c:cat>
          <c:val>
            <c:numRef>
              <c:f>Sheet1!$H$2:$H$4</c:f>
              <c:numCache>
                <c:formatCode>0.00</c:formatCode>
                <c:ptCount val="3"/>
                <c:pt idx="0">
                  <c:v>0.16789786744139165</c:v>
                </c:pt>
                <c:pt idx="1">
                  <c:v>0.16721110753544252</c:v>
                </c:pt>
                <c:pt idx="2">
                  <c:v>0.16507618000173108</c:v>
                </c:pt>
              </c:numCache>
            </c:numRef>
          </c:val>
          <c:smooth val="0"/>
          <c:extLst>
            <c:ext xmlns:c16="http://schemas.microsoft.com/office/drawing/2014/chart" uri="{C3380CC4-5D6E-409C-BE32-E72D297353CC}">
              <c16:uniqueId val="{00000006-331E-4DA0-A4F4-2DC791D5E469}"/>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50112"/>
        <c:crosses val="autoZero"/>
        <c:crossBetween val="between"/>
      </c:valAx>
    </c:plotArea>
    <c:legend>
      <c:legendPos val="b"/>
      <c:overlay val="0"/>
    </c:legend>
    <c:plotVisOnly val="1"/>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Eskom diesel and kerosene</c:v>
                </c:pt>
              </c:strCache>
            </c:strRef>
          </c:tx>
          <c:spPr>
            <a:solidFill>
              <a:srgbClr val="0A2373"/>
            </a:solidFill>
            <a:ln w="23813">
              <a:solidFill>
                <a:srgbClr val="0A2373"/>
              </a:solidFill>
            </a:ln>
          </c:spPr>
          <c:invertIfNegative val="1"/>
          <c:dLbls>
            <c:spPr>
              <a:noFill/>
              <a:ln>
                <a:noFill/>
              </a:ln>
              <a:effectLst/>
            </c:spPr>
            <c:txPr>
              <a:bodyPr anchorCtr="1"/>
              <a:lstStyle/>
              <a:p>
                <a:pPr>
                  <a:defRPr sz="900">
                    <a:solidFill>
                      <a:srgbClr val="3333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FY2023</c:v>
                </c:pt>
                <c:pt idx="1">
                  <c:v>FY2024</c:v>
                </c:pt>
                <c:pt idx="2">
                  <c:v>FY2025</c:v>
                </c:pt>
                <c:pt idx="3">
                  <c:v>FY2026</c:v>
                </c:pt>
              </c:strCache>
            </c:strRef>
          </c:cat>
          <c:val>
            <c:numRef>
              <c:f>Sheet1!$B$2:$B$5</c:f>
              <c:numCache>
                <c:formatCode>0.00</c:formatCode>
                <c:ptCount val="4"/>
                <c:pt idx="0">
                  <c:v>0.9375</c:v>
                </c:pt>
                <c:pt idx="1">
                  <c:v>1.1294999999999999</c:v>
                </c:pt>
                <c:pt idx="2">
                  <c:v>0.67910000000000004</c:v>
                </c:pt>
                <c:pt idx="3">
                  <c:v>0.25659999999999999</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0A2373"/>
                    </a:solidFill>
                  </a:ln>
                </c14:spPr>
              </c14:invertSolidFillFmt>
            </c:ext>
            <c:ext xmlns:c16="http://schemas.microsoft.com/office/drawing/2014/chart" uri="{C3380CC4-5D6E-409C-BE32-E72D297353CC}">
              <c16:uniqueId val="{00000000-CE5C-482E-870C-C7109AA53DEC}"/>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72768"/>
        <c:crosses val="autoZero"/>
        <c:auto val="1"/>
        <c:lblAlgn val="ctr"/>
        <c:lblOffset val="100"/>
        <c:noMultiLvlLbl val="1"/>
      </c:catAx>
      <c:valAx>
        <c:axId val="48672768"/>
        <c:scaling>
          <c:orientation val="minMax"/>
        </c:scaling>
        <c:delete val="0"/>
        <c:axPos val="l"/>
        <c:numFmt formatCode="0.00" sourceLinked="1"/>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Road, million tonnes</c:v>
                </c:pt>
              </c:strCache>
            </c:strRef>
          </c:tx>
          <c:spPr>
            <a:solidFill>
              <a:srgbClr val="0A2373"/>
            </a:solidFill>
            <a:ln w="23813">
              <a:solidFill>
                <a:srgbClr val="0A2373"/>
              </a:solidFill>
            </a:ln>
          </c:spPr>
          <c:invertIfNegative val="1"/>
          <c:dPt>
            <c:idx val="3"/>
            <c:invertIfNegative val="1"/>
            <c:bubble3D val="0"/>
            <c:spPr>
              <a:pattFill prst="wdUpDiag">
                <a:fgClr>
                  <a:srgbClr val="0A2373"/>
                </a:fgClr>
                <a:bgClr>
                  <a:srgbClr val="FFFFFF"/>
                </a:bgClr>
              </a:pattFill>
              <a:ln w="12700">
                <a:solidFill>
                  <a:srgbClr val="0A2373"/>
                </a:solidFill>
                <a:prstDash val="dash"/>
              </a:ln>
            </c:spPr>
            <c:extLst>
              <c:ext xmlns:c16="http://schemas.microsoft.com/office/drawing/2014/chart" uri="{C3380CC4-5D6E-409C-BE32-E72D297353CC}">
                <c16:uniqueId val="{00000001-8B06-4C01-8086-C0CBF979E67B}"/>
              </c:ext>
            </c:extLst>
          </c:dPt>
          <c:dLbls>
            <c:spPr>
              <a:noFill/>
              <a:ln>
                <a:noFill/>
              </a:ln>
              <a:effectLst/>
            </c:spPr>
            <c:txPr>
              <a:bodyPr anchorCtr="1"/>
              <a:lstStyle/>
              <a:p>
                <a:pPr>
                  <a:defRPr sz="900">
                    <a:solidFill>
                      <a:srgbClr val="3333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2024</c:v>
                </c:pt>
                <c:pt idx="1">
                  <c:v>2025</c:v>
                </c:pt>
                <c:pt idx="2">
                  <c:v>2026*</c:v>
                </c:pt>
                <c:pt idx="3">
                  <c:v>2030</c:v>
                </c:pt>
              </c:strCache>
            </c:strRef>
          </c:cat>
          <c:val>
            <c:numRef>
              <c:f>Sheet1!$B$2:$B$5</c:f>
              <c:numCache>
                <c:formatCode>#,##0</c:formatCode>
                <c:ptCount val="4"/>
                <c:pt idx="0">
                  <c:v>979.798</c:v>
                </c:pt>
                <c:pt idx="1">
                  <c:v>976.46799999999996</c:v>
                </c:pt>
                <c:pt idx="2">
                  <c:v>973.76400000000001</c:v>
                </c:pt>
                <c:pt idx="3">
                  <c:v>1006.4506784158061</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0A2373"/>
                    </a:solidFill>
                  </a:ln>
                </c14:spPr>
              </c14:invertSolidFillFmt>
            </c:ext>
            <c:ext xmlns:c16="http://schemas.microsoft.com/office/drawing/2014/chart" uri="{C3380CC4-5D6E-409C-BE32-E72D297353CC}">
              <c16:uniqueId val="{00000000-4381-4800-BBB0-336A2215AD99}"/>
            </c:ext>
          </c:extLst>
        </c:ser>
        <c:ser>
          <c:idx val="1"/>
          <c:order val="1"/>
          <c:tx>
            <c:strRef>
              <c:f>Sheet1!$C$1</c:f>
              <c:strCache>
                <c:ptCount val="1"/>
                <c:pt idx="0">
                  <c:v>Rail, million tonnes</c:v>
                </c:pt>
              </c:strCache>
            </c:strRef>
          </c:tx>
          <c:spPr>
            <a:solidFill>
              <a:srgbClr val="6782B4"/>
            </a:solidFill>
            <a:ln w="23813">
              <a:solidFill>
                <a:srgbClr val="6782B4"/>
              </a:solidFill>
            </a:ln>
          </c:spPr>
          <c:invertIfNegative val="1"/>
          <c:dPt>
            <c:idx val="3"/>
            <c:invertIfNegative val="1"/>
            <c:bubble3D val="0"/>
            <c:spPr>
              <a:pattFill prst="wdUpDiag">
                <a:fgClr>
                  <a:srgbClr val="6782B4"/>
                </a:fgClr>
                <a:bgClr>
                  <a:srgbClr val="FFFFFF"/>
                </a:bgClr>
              </a:pattFill>
              <a:ln w="12700">
                <a:solidFill>
                  <a:srgbClr val="6782B4"/>
                </a:solidFill>
                <a:prstDash val="dash"/>
              </a:ln>
            </c:spPr>
            <c:extLst>
              <c:ext xmlns:c16="http://schemas.microsoft.com/office/drawing/2014/chart" uri="{C3380CC4-5D6E-409C-BE32-E72D297353CC}">
                <c16:uniqueId val="{00000002-F391-4C13-A651-B285AF319B6C}"/>
              </c:ext>
            </c:extLst>
          </c:dPt>
          <c:dLbls>
            <c:spPr>
              <a:noFill/>
              <a:ln>
                <a:noFill/>
              </a:ln>
              <a:effectLst/>
            </c:spPr>
            <c:txPr>
              <a:bodyPr anchorCtr="1"/>
              <a:lstStyle/>
              <a:p>
                <a:pPr>
                  <a:defRPr sz="900">
                    <a:solidFill>
                      <a:srgbClr val="3333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2024</c:v>
                </c:pt>
                <c:pt idx="1">
                  <c:v>2025</c:v>
                </c:pt>
                <c:pt idx="2">
                  <c:v>2026*</c:v>
                </c:pt>
                <c:pt idx="3">
                  <c:v>2030</c:v>
                </c:pt>
              </c:strCache>
            </c:strRef>
          </c:cat>
          <c:val>
            <c:numRef>
              <c:f>Sheet1!$C$2:$C$5</c:f>
              <c:numCache>
                <c:formatCode>#,##0</c:formatCode>
                <c:ptCount val="4"/>
                <c:pt idx="0">
                  <c:v>160.745</c:v>
                </c:pt>
                <c:pt idx="1">
                  <c:v>168.26300000000001</c:v>
                </c:pt>
                <c:pt idx="2">
                  <c:v>173.39142857142858</c:v>
                </c:pt>
                <c:pt idx="3">
                  <c:v>250</c:v>
                </c:pt>
              </c:numCache>
            </c:numRef>
          </c:val>
          <c:extLst>
            <c:ext xmlns:c14="http://schemas.microsoft.com/office/drawing/2007/8/2/chart" uri="{6F2FDCE9-48DA-4B69-8628-5D25D57E5C99}">
              <c14:invertSolidFillFmt>
                <c14:spPr xmlns:c14="http://schemas.microsoft.com/office/drawing/2007/8/2/chart">
                  <a:solidFill>
                    <a:srgbClr val="FFFFFF"/>
                  </a:solidFill>
                  <a:ln w="23813">
                    <a:solidFill>
                      <a:srgbClr val="6782B4"/>
                    </a:solidFill>
                  </a:ln>
                </c14:spPr>
              </c14:invertSolidFillFmt>
            </c:ext>
            <c:ext xmlns:c16="http://schemas.microsoft.com/office/drawing/2014/chart" uri="{C3380CC4-5D6E-409C-BE32-E72D297353CC}">
              <c16:uniqueId val="{00000001-4381-4800-BBB0-336A2215AD99}"/>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72768"/>
        <c:crosses val="autoZero"/>
        <c:auto val="1"/>
        <c:lblAlgn val="ctr"/>
        <c:lblOffset val="100"/>
        <c:noMultiLvlLbl val="1"/>
      </c:catAx>
      <c:valAx>
        <c:axId val="48672768"/>
        <c:scaling>
          <c:orientation val="minMax"/>
        </c:scaling>
        <c:delete val="0"/>
        <c:axPos val="l"/>
        <c:numFmt formatCode="#,##0" sourceLinked="0"/>
        <c:majorTickMark val="none"/>
        <c:minorTickMark val="none"/>
        <c:tickLblPos val="nextTo"/>
        <c:spPr>
          <a:ln w="9525">
            <a:solidFill>
              <a:srgbClr val="D4D4D4"/>
            </a:solidFill>
            <a:prstDash val="solid"/>
          </a:ln>
        </c:spPr>
        <c:txPr>
          <a:bodyPr anchorCtr="1"/>
          <a:lstStyle/>
          <a:p>
            <a:pPr>
              <a:defRPr sz="900">
                <a:solidFill>
                  <a:srgbClr val="555555"/>
                </a:solidFill>
              </a:defRPr>
            </a:pPr>
            <a:endParaRPr lang="en-US"/>
          </a:p>
        </c:txPr>
        <c:crossAx val="48650112"/>
        <c:crosses val="autoZero"/>
        <c:crossBetween val="between"/>
      </c:valAx>
    </c:plotArea>
    <c:legend>
      <c:legendPos val="b"/>
      <c:overlay val="0"/>
    </c:legend>
    <c:plotVisOnly val="1"/>
    <c:dispBlanksAs val="zero"/>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BEV</c:v>
                </c:pt>
              </c:strCache>
            </c:strRef>
          </c:tx>
          <c:spPr>
            <a:solidFill>
              <a:srgbClr val="929292"/>
            </a:solidFill>
          </c:spPr>
          <c:invertIfNegative val="0"/>
          <c:cat>
            <c:strRef>
              <c:f>Sheet1!$A$2:$A$9</c:f>
              <c:strCache>
                <c:ptCount val="8"/>
                <c:pt idx="0">
                  <c:v>2019</c:v>
                </c:pt>
                <c:pt idx="1">
                  <c:v>2020</c:v>
                </c:pt>
                <c:pt idx="2">
                  <c:v>2021</c:v>
                </c:pt>
                <c:pt idx="3">
                  <c:v>2022</c:v>
                </c:pt>
                <c:pt idx="4">
                  <c:v>2023</c:v>
                </c:pt>
                <c:pt idx="5">
                  <c:v>2024</c:v>
                </c:pt>
                <c:pt idx="6">
                  <c:v>2025</c:v>
                </c:pt>
                <c:pt idx="7">
                  <c:v>2026 annualised</c:v>
                </c:pt>
              </c:strCache>
            </c:strRef>
          </c:cat>
          <c:val>
            <c:numRef>
              <c:f>Sheet1!$B$2:$B$9</c:f>
              <c:numCache>
                <c:formatCode>#,##0</c:formatCode>
                <c:ptCount val="8"/>
                <c:pt idx="0">
                  <c:v>154</c:v>
                </c:pt>
                <c:pt idx="1">
                  <c:v>92</c:v>
                </c:pt>
                <c:pt idx="2">
                  <c:v>218</c:v>
                </c:pt>
                <c:pt idx="3">
                  <c:v>502</c:v>
                </c:pt>
                <c:pt idx="4">
                  <c:v>929</c:v>
                </c:pt>
                <c:pt idx="5">
                  <c:v>1257</c:v>
                </c:pt>
                <c:pt idx="6">
                  <c:v>1088</c:v>
                </c:pt>
                <c:pt idx="7">
                  <c:v>3794</c:v>
                </c:pt>
              </c:numCache>
            </c:numRef>
          </c:val>
          <c:extLst>
            <c:ext xmlns:c16="http://schemas.microsoft.com/office/drawing/2014/chart" uri="{C3380CC4-5D6E-409C-BE32-E72D297353CC}">
              <c16:uniqueId val="{00000000-785B-492A-B87F-602A98085CFA}"/>
            </c:ext>
          </c:extLst>
        </c:ser>
        <c:ser>
          <c:idx val="1"/>
          <c:order val="1"/>
          <c:tx>
            <c:strRef>
              <c:f>Sheet1!$C$1</c:f>
              <c:strCache>
                <c:ptCount val="1"/>
                <c:pt idx="0">
                  <c:v>Plug-in hybrid</c:v>
                </c:pt>
              </c:strCache>
            </c:strRef>
          </c:tx>
          <c:spPr>
            <a:solidFill>
              <a:srgbClr val="6782B4"/>
            </a:solidFill>
          </c:spPr>
          <c:invertIfNegative val="0"/>
          <c:cat>
            <c:strRef>
              <c:f>Sheet1!$A$2:$A$9</c:f>
              <c:strCache>
                <c:ptCount val="8"/>
                <c:pt idx="0">
                  <c:v>2019</c:v>
                </c:pt>
                <c:pt idx="1">
                  <c:v>2020</c:v>
                </c:pt>
                <c:pt idx="2">
                  <c:v>2021</c:v>
                </c:pt>
                <c:pt idx="3">
                  <c:v>2022</c:v>
                </c:pt>
                <c:pt idx="4">
                  <c:v>2023</c:v>
                </c:pt>
                <c:pt idx="5">
                  <c:v>2024</c:v>
                </c:pt>
                <c:pt idx="6">
                  <c:v>2025</c:v>
                </c:pt>
                <c:pt idx="7">
                  <c:v>2026 annualised</c:v>
                </c:pt>
              </c:strCache>
            </c:strRef>
          </c:cat>
          <c:val>
            <c:numRef>
              <c:f>Sheet1!$C$2:$C$9</c:f>
              <c:numCache>
                <c:formatCode>#,##0</c:formatCode>
                <c:ptCount val="8"/>
                <c:pt idx="0">
                  <c:v>72</c:v>
                </c:pt>
                <c:pt idx="1">
                  <c:v>77</c:v>
                </c:pt>
                <c:pt idx="2">
                  <c:v>51</c:v>
                </c:pt>
                <c:pt idx="3">
                  <c:v>122</c:v>
                </c:pt>
                <c:pt idx="4">
                  <c:v>368</c:v>
                </c:pt>
                <c:pt idx="5">
                  <c:v>738</c:v>
                </c:pt>
                <c:pt idx="6">
                  <c:v>2810</c:v>
                </c:pt>
                <c:pt idx="7">
                  <c:v>9246</c:v>
                </c:pt>
              </c:numCache>
            </c:numRef>
          </c:val>
          <c:extLst>
            <c:ext xmlns:c16="http://schemas.microsoft.com/office/drawing/2014/chart" uri="{C3380CC4-5D6E-409C-BE32-E72D297353CC}">
              <c16:uniqueId val="{00000001-785B-492A-B87F-602A98085CFA}"/>
            </c:ext>
          </c:extLst>
        </c:ser>
        <c:ser>
          <c:idx val="2"/>
          <c:order val="2"/>
          <c:tx>
            <c:strRef>
              <c:f>Sheet1!$D$1</c:f>
              <c:strCache>
                <c:ptCount val="1"/>
                <c:pt idx="0">
                  <c:v>Conventional hybrid</c:v>
                </c:pt>
              </c:strCache>
            </c:strRef>
          </c:tx>
          <c:spPr>
            <a:solidFill>
              <a:srgbClr val="0A2373"/>
            </a:solidFill>
          </c:spPr>
          <c:invertIfNegative val="0"/>
          <c:cat>
            <c:strRef>
              <c:f>Sheet1!$A$2:$A$9</c:f>
              <c:strCache>
                <c:ptCount val="8"/>
                <c:pt idx="0">
                  <c:v>2019</c:v>
                </c:pt>
                <c:pt idx="1">
                  <c:v>2020</c:v>
                </c:pt>
                <c:pt idx="2">
                  <c:v>2021</c:v>
                </c:pt>
                <c:pt idx="3">
                  <c:v>2022</c:v>
                </c:pt>
                <c:pt idx="4">
                  <c:v>2023</c:v>
                </c:pt>
                <c:pt idx="5">
                  <c:v>2024</c:v>
                </c:pt>
                <c:pt idx="6">
                  <c:v>2025</c:v>
                </c:pt>
                <c:pt idx="7">
                  <c:v>2026 annualised</c:v>
                </c:pt>
              </c:strCache>
            </c:strRef>
          </c:cat>
          <c:val>
            <c:numRef>
              <c:f>Sheet1!$D$2:$D$9</c:f>
              <c:numCache>
                <c:formatCode>#,##0</c:formatCode>
                <c:ptCount val="8"/>
                <c:pt idx="0">
                  <c:v>181</c:v>
                </c:pt>
                <c:pt idx="1">
                  <c:v>155</c:v>
                </c:pt>
                <c:pt idx="2">
                  <c:v>627</c:v>
                </c:pt>
                <c:pt idx="3">
                  <c:v>4070</c:v>
                </c:pt>
                <c:pt idx="4">
                  <c:v>6485</c:v>
                </c:pt>
                <c:pt idx="5">
                  <c:v>13616</c:v>
                </c:pt>
                <c:pt idx="6">
                  <c:v>12818</c:v>
                </c:pt>
                <c:pt idx="7">
                  <c:v>13352</c:v>
                </c:pt>
              </c:numCache>
            </c:numRef>
          </c:val>
          <c:extLst>
            <c:ext xmlns:c16="http://schemas.microsoft.com/office/drawing/2014/chart" uri="{C3380CC4-5D6E-409C-BE32-E72D297353CC}">
              <c16:uniqueId val="{00000002-785B-492A-B87F-602A98085CFA}"/>
            </c:ext>
          </c:extLst>
        </c:ser>
        <c:dLbls>
          <c:showLegendKey val="0"/>
          <c:showVal val="0"/>
          <c:showCatName val="0"/>
          <c:showSerName val="0"/>
          <c:showPercent val="0"/>
          <c:showBubbleSize val="0"/>
        </c:dLbls>
        <c:gapWidth val="70"/>
        <c:overlap val="-10"/>
        <c:axId val="-2068027336"/>
        <c:axId val="-2113994440"/>
      </c:barChart>
      <c:lineChart>
        <c:grouping val="standard"/>
        <c:varyColors val="0"/>
        <c:ser>
          <c:idx val="3"/>
          <c:order val="3"/>
          <c:tx>
            <c:strRef>
              <c:f>Sheet1!$E$1</c:f>
              <c:strCache>
                <c:ptCount val="1"/>
                <c:pt idx="0">
                  <c:v>Peak petrol, R/litre</c:v>
                </c:pt>
              </c:strCache>
            </c:strRef>
          </c:tx>
          <c:spPr>
            <a:ln w="23813" cap="rnd">
              <a:solidFill>
                <a:srgbClr val="404040"/>
              </a:solidFill>
              <a:round/>
            </a:ln>
          </c:spPr>
          <c:marker>
            <c:symbol val="circle"/>
            <c:size val="5"/>
            <c:spPr>
              <a:solidFill>
                <a:srgbClr val="404040"/>
              </a:solidFill>
              <a:ln w="9525">
                <a:solidFill>
                  <a:srgbClr val="404040"/>
                </a:solidFill>
              </a:ln>
            </c:spPr>
          </c:marker>
          <c:cat>
            <c:strRef>
              <c:f>Sheet1!$A$2:$A$9</c:f>
              <c:strCache>
                <c:ptCount val="8"/>
                <c:pt idx="0">
                  <c:v>2019</c:v>
                </c:pt>
                <c:pt idx="1">
                  <c:v>2020</c:v>
                </c:pt>
                <c:pt idx="2">
                  <c:v>2021</c:v>
                </c:pt>
                <c:pt idx="3">
                  <c:v>2022</c:v>
                </c:pt>
                <c:pt idx="4">
                  <c:v>2023</c:v>
                </c:pt>
                <c:pt idx="5">
                  <c:v>2024</c:v>
                </c:pt>
                <c:pt idx="6">
                  <c:v>2025</c:v>
                </c:pt>
                <c:pt idx="7">
                  <c:v>2026 annualised</c:v>
                </c:pt>
              </c:strCache>
            </c:strRef>
          </c:cat>
          <c:val>
            <c:numRef>
              <c:f>Sheet1!$E$2:$E$9</c:f>
              <c:numCache>
                <c:formatCode>0.00</c:formatCode>
                <c:ptCount val="8"/>
                <c:pt idx="0">
                  <c:v>16.760000000000002</c:v>
                </c:pt>
                <c:pt idx="1">
                  <c:v>16.16</c:v>
                </c:pt>
                <c:pt idx="2">
                  <c:v>20.29</c:v>
                </c:pt>
                <c:pt idx="3">
                  <c:v>26.74</c:v>
                </c:pt>
                <c:pt idx="4">
                  <c:v>25.68</c:v>
                </c:pt>
                <c:pt idx="5">
                  <c:v>25.49</c:v>
                </c:pt>
                <c:pt idx="6">
                  <c:v>22.41</c:v>
                </c:pt>
                <c:pt idx="7">
                  <c:v>30.25</c:v>
                </c:pt>
              </c:numCache>
            </c:numRef>
          </c:val>
          <c:smooth val="0"/>
          <c:extLst>
            <c:ext xmlns:c16="http://schemas.microsoft.com/office/drawing/2014/chart" uri="{C3380CC4-5D6E-409C-BE32-E72D297353CC}">
              <c16:uniqueId val="{00000000-25CB-4A6E-A511-F6D962698607}"/>
            </c:ext>
          </c:extLst>
        </c:ser>
        <c:dLbls>
          <c:showLegendKey val="0"/>
          <c:showVal val="0"/>
          <c:showCatName val="0"/>
          <c:showSerName val="0"/>
          <c:showPercent val="0"/>
          <c:showBubbleSize val="0"/>
        </c:dLbls>
        <c:marker val="1"/>
        <c:smooth val="0"/>
        <c:axId val="50650001"/>
        <c:axId val="50650002"/>
      </c:line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113994440"/>
        <c:crosses val="autoZero"/>
        <c:auto val="1"/>
        <c:lblAlgn val="ctr"/>
        <c:lblOffset val="100"/>
        <c:noMultiLvlLbl val="0"/>
      </c:catAx>
      <c:valAx>
        <c:axId val="-2113994440"/>
        <c:scaling>
          <c:orientation val="minMax"/>
          <c:max val="16000"/>
          <c:min val="0"/>
        </c:scaling>
        <c:delete val="0"/>
        <c:axPos val="l"/>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068027336"/>
        <c:crosses val="autoZero"/>
        <c:crossBetween val="between"/>
        <c:majorUnit val="4000"/>
      </c:valAx>
      <c:catAx>
        <c:axId val="50650001"/>
        <c:scaling>
          <c:orientation val="minMax"/>
        </c:scaling>
        <c:delete val="1"/>
        <c:axPos val="b"/>
        <c:numFmt formatCode="General" sourceLinked="1"/>
        <c:majorTickMark val="none"/>
        <c:minorTickMark val="none"/>
        <c:tickLblPos val="nextTo"/>
        <c:crossAx val="50650002"/>
        <c:crosses val="autoZero"/>
        <c:auto val="1"/>
        <c:lblAlgn val="ctr"/>
        <c:lblOffset val="100"/>
        <c:noMultiLvlLbl val="0"/>
      </c:catAx>
      <c:valAx>
        <c:axId val="50650002"/>
        <c:scaling>
          <c:orientation val="minMax"/>
          <c:max val="32"/>
          <c:min val="0"/>
        </c:scaling>
        <c:delete val="0"/>
        <c:axPos val="r"/>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50650001"/>
        <c:crosses val="max"/>
        <c:crossBetween val="between"/>
        <c:majorUnit val="8"/>
      </c:valAx>
      <c:dTable>
        <c:showHorzBorder val="1"/>
        <c:showVertBorder val="0"/>
        <c:showOutline val="0"/>
        <c:showKeys val="1"/>
        <c:spPr>
          <a:noFill/>
          <a:ln w="9525">
            <a:solidFill>
              <a:srgbClr val="D4D4D4"/>
            </a:solidFill>
          </a:ln>
        </c:spPr>
        <c:txPr>
          <a:bodyPr/>
          <a:lstStyle/>
          <a:p>
            <a:pPr rtl="0">
              <a:defRPr sz="800">
                <a:solidFill>
                  <a:srgbClr val="666666"/>
                </a:solidFill>
              </a:defRPr>
            </a:pPr>
            <a:endParaRPr lang="en-US"/>
          </a:p>
        </c:txPr>
      </c:dTable>
    </c:plotArea>
    <c:plotVisOnly val="1"/>
    <c:dispBlanksAs val="gap"/>
    <c:showDLblsOverMax val="1"/>
  </c:chart>
  <c:txPr>
    <a:bodyPr/>
    <a:lstStyle/>
    <a:p>
      <a:pPr>
        <a:defRPr sz="1000">
          <a:latin typeface="Lato"/>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Petrol</c:v>
                </c:pt>
              </c:strCache>
            </c:strRef>
          </c:tx>
          <c:spPr>
            <a:ln w="28575">
              <a:solidFill>
                <a:srgbClr val="0A2373"/>
              </a:solidFill>
            </a:ln>
          </c:spPr>
          <c:marker>
            <c:symbol val="none"/>
          </c:marker>
          <c:dLbls>
            <c:dLbl>
              <c:idx val="0"/>
              <c:tx>
                <c:rich>
                  <a:bodyPr/>
                  <a:lstStyle/>
                  <a:p>
                    <a:r>
                      <a:rPr lang="en-US" sz="900" b="1">
                        <a:solidFill>
                          <a:srgbClr val="0A2373"/>
                        </a:solidFill>
                      </a:rPr>
                      <a:t>13.6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855-43FE-A160-7175CDA4C965}"/>
                </c:ext>
              </c:extLst>
            </c:dLbl>
            <c:dLbl>
              <c:idx val="10"/>
              <c:tx>
                <c:rich>
                  <a:bodyPr/>
                  <a:lstStyle/>
                  <a:p>
                    <a:r>
                      <a:rPr lang="en-US" sz="900" b="1">
                        <a:solidFill>
                          <a:srgbClr val="0A2373"/>
                        </a:solidFill>
                      </a:rPr>
                      <a:t>11.5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855-43FE-A160-7175CDA4C965}"/>
                </c:ext>
              </c:extLst>
            </c:dLbl>
            <c:dLbl>
              <c:idx val="20"/>
              <c:tx>
                <c:rich>
                  <a:bodyPr/>
                  <a:lstStyle/>
                  <a:p>
                    <a:r>
                      <a:rPr lang="en-US" sz="900" b="1">
                        <a:solidFill>
                          <a:srgbClr val="0A2373"/>
                        </a:solidFill>
                      </a:rPr>
                      <a:t>11.2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855-43FE-A160-7175CDA4C96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Sheet1!$A$2:$A$22</c:f>
              <c:strCache>
                <c:ptCount val="21"/>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strCache>
            </c:strRef>
          </c:cat>
          <c:val>
            <c:numRef>
              <c:f>Sheet1!$B$2:$B$22</c:f>
              <c:numCache>
                <c:formatCode>0.0</c:formatCode>
                <c:ptCount val="21"/>
                <c:pt idx="0">
                  <c:v>13.605</c:v>
                </c:pt>
                <c:pt idx="1">
                  <c:v>13.467000000000001</c:v>
                </c:pt>
                <c:pt idx="2">
                  <c:v>13.532999999999999</c:v>
                </c:pt>
                <c:pt idx="3">
                  <c:v>13.224</c:v>
                </c:pt>
                <c:pt idx="4">
                  <c:v>12.919</c:v>
                </c:pt>
                <c:pt idx="5">
                  <c:v>12.632</c:v>
                </c:pt>
                <c:pt idx="6">
                  <c:v>12.351000000000001</c:v>
                </c:pt>
                <c:pt idx="7">
                  <c:v>11.952</c:v>
                </c:pt>
                <c:pt idx="8">
                  <c:v>11.9</c:v>
                </c:pt>
                <c:pt idx="9">
                  <c:v>11.689</c:v>
                </c:pt>
                <c:pt idx="10">
                  <c:v>11.548999999999999</c:v>
                </c:pt>
                <c:pt idx="11">
                  <c:v>11.486000000000001</c:v>
                </c:pt>
                <c:pt idx="12">
                  <c:v>11.375</c:v>
                </c:pt>
                <c:pt idx="13">
                  <c:v>11.334</c:v>
                </c:pt>
                <c:pt idx="14">
                  <c:v>11.423</c:v>
                </c:pt>
                <c:pt idx="15">
                  <c:v>11.468</c:v>
                </c:pt>
                <c:pt idx="16">
                  <c:v>11.401</c:v>
                </c:pt>
                <c:pt idx="17">
                  <c:v>11.459</c:v>
                </c:pt>
                <c:pt idx="18">
                  <c:v>11.378</c:v>
                </c:pt>
                <c:pt idx="19">
                  <c:v>11.234</c:v>
                </c:pt>
                <c:pt idx="20">
                  <c:v>11.199</c:v>
                </c:pt>
              </c:numCache>
            </c:numRef>
          </c:val>
          <c:smooth val="0"/>
          <c:extLst>
            <c:ext xmlns:c16="http://schemas.microsoft.com/office/drawing/2014/chart" uri="{C3380CC4-5D6E-409C-BE32-E72D297353CC}">
              <c16:uniqueId val="{00000003-B855-43FE-A160-7175CDA4C965}"/>
            </c:ext>
          </c:extLst>
        </c:ser>
        <c:ser>
          <c:idx val="1"/>
          <c:order val="1"/>
          <c:tx>
            <c:strRef>
              <c:f>Sheet1!$C$1</c:f>
              <c:strCache>
                <c:ptCount val="1"/>
                <c:pt idx="0">
                  <c:v>Diesel</c:v>
                </c:pt>
              </c:strCache>
            </c:strRef>
          </c:tx>
          <c:spPr>
            <a:ln w="28575">
              <a:solidFill>
                <a:srgbClr val="6782B4"/>
              </a:solidFill>
            </a:ln>
          </c:spPr>
          <c:marker>
            <c:symbol val="none"/>
          </c:marker>
          <c:dLbls>
            <c:dLbl>
              <c:idx val="0"/>
              <c:tx>
                <c:rich>
                  <a:bodyPr/>
                  <a:lstStyle/>
                  <a:p>
                    <a:r>
                      <a:rPr lang="en-US" sz="900" b="1">
                        <a:solidFill>
                          <a:srgbClr val="6782B4"/>
                        </a:solidFill>
                      </a:rPr>
                      <a:t>12.5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B855-43FE-A160-7175CDA4C965}"/>
                </c:ext>
              </c:extLst>
            </c:dLbl>
            <c:dLbl>
              <c:idx val="10"/>
              <c:tx>
                <c:rich>
                  <a:bodyPr/>
                  <a:lstStyle/>
                  <a:p>
                    <a:r>
                      <a:rPr lang="en-US" sz="900" b="1">
                        <a:solidFill>
                          <a:srgbClr val="6782B4"/>
                        </a:solidFill>
                      </a:rPr>
                      <a:t>10.3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855-43FE-A160-7175CDA4C965}"/>
                </c:ext>
              </c:extLst>
            </c:dLbl>
            <c:dLbl>
              <c:idx val="20"/>
              <c:tx>
                <c:rich>
                  <a:bodyPr/>
                  <a:lstStyle/>
                  <a:p>
                    <a:r>
                      <a:rPr lang="en-US" sz="900" b="1">
                        <a:solidFill>
                          <a:srgbClr val="6782B4"/>
                        </a:solidFill>
                      </a:rPr>
                      <a:t>10.3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B855-43FE-A160-7175CDA4C96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Sheet1!$A$2:$A$22</c:f>
              <c:strCache>
                <c:ptCount val="21"/>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strCache>
            </c:strRef>
          </c:cat>
          <c:val>
            <c:numRef>
              <c:f>Sheet1!$C$2:$C$22</c:f>
              <c:numCache>
                <c:formatCode>0.0</c:formatCode>
                <c:ptCount val="21"/>
                <c:pt idx="0">
                  <c:v>12.478</c:v>
                </c:pt>
                <c:pt idx="1">
                  <c:v>12.037000000000001</c:v>
                </c:pt>
                <c:pt idx="2">
                  <c:v>12.037000000000001</c:v>
                </c:pt>
                <c:pt idx="3">
                  <c:v>11.368</c:v>
                </c:pt>
                <c:pt idx="4">
                  <c:v>11.246</c:v>
                </c:pt>
                <c:pt idx="5">
                  <c:v>11.148</c:v>
                </c:pt>
                <c:pt idx="6">
                  <c:v>11.035</c:v>
                </c:pt>
                <c:pt idx="7">
                  <c:v>11.116</c:v>
                </c:pt>
                <c:pt idx="8">
                  <c:v>10.824</c:v>
                </c:pt>
                <c:pt idx="9">
                  <c:v>10.342000000000001</c:v>
                </c:pt>
                <c:pt idx="10">
                  <c:v>10.337</c:v>
                </c:pt>
                <c:pt idx="11">
                  <c:v>10.151999999999999</c:v>
                </c:pt>
                <c:pt idx="12">
                  <c:v>10.209</c:v>
                </c:pt>
                <c:pt idx="13">
                  <c:v>10.295</c:v>
                </c:pt>
                <c:pt idx="14">
                  <c:v>9.9640000000000004</c:v>
                </c:pt>
                <c:pt idx="15">
                  <c:v>10.039999999999999</c:v>
                </c:pt>
                <c:pt idx="16">
                  <c:v>10.189</c:v>
                </c:pt>
                <c:pt idx="17">
                  <c:v>10.122999999999999</c:v>
                </c:pt>
                <c:pt idx="18">
                  <c:v>10.401</c:v>
                </c:pt>
                <c:pt idx="19">
                  <c:v>10.323</c:v>
                </c:pt>
                <c:pt idx="20">
                  <c:v>10.342000000000001</c:v>
                </c:pt>
              </c:numCache>
            </c:numRef>
          </c:val>
          <c:smooth val="0"/>
          <c:extLst>
            <c:ext xmlns:c16="http://schemas.microsoft.com/office/drawing/2014/chart" uri="{C3380CC4-5D6E-409C-BE32-E72D297353CC}">
              <c16:uniqueId val="{00000007-B855-43FE-A160-7175CDA4C965}"/>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a:solidFill>
              <a:srgbClr val="D4D4D4"/>
            </a:solidFill>
          </a:ln>
        </c:spPr>
        <c:txPr>
          <a:bodyPr/>
          <a:lstStyle/>
          <a:p>
            <a:pPr>
              <a:defRPr sz="850">
                <a:solidFill>
                  <a:srgbClr val="666666"/>
                </a:solidFill>
              </a:defRPr>
            </a:pPr>
            <a:endParaRPr lang="en-US"/>
          </a:p>
        </c:txPr>
        <c:crossAx val="2140495176"/>
        <c:crosses val="autoZero"/>
        <c:auto val="1"/>
        <c:lblAlgn val="ctr"/>
        <c:lblOffset val="100"/>
        <c:tickLblSkip val="2"/>
        <c:tickMarkSkip val="2"/>
        <c:noMultiLvlLbl val="0"/>
      </c:catAx>
      <c:valAx>
        <c:axId val="2140495176"/>
        <c:scaling>
          <c:orientation val="minMax"/>
          <c:max val="16"/>
          <c:min val="8"/>
        </c:scaling>
        <c:delete val="0"/>
        <c:axPos val="l"/>
        <c:numFmt formatCode="0" sourceLinked="0"/>
        <c:majorTickMark val="none"/>
        <c:minorTickMark val="none"/>
        <c:tickLblPos val="nextTo"/>
        <c:spPr>
          <a:ln>
            <a:solidFill>
              <a:srgbClr val="D4D4D4"/>
            </a:solidFill>
          </a:ln>
        </c:spPr>
        <c:txPr>
          <a:bodyPr/>
          <a:lstStyle/>
          <a:p>
            <a:pPr>
              <a:defRPr sz="850">
                <a:solidFill>
                  <a:srgbClr val="666666"/>
                </a:solidFill>
              </a:defRPr>
            </a:pPr>
            <a:endParaRPr lang="en-US"/>
          </a:p>
        </c:txPr>
        <c:crossAx val="2118791784"/>
        <c:crosses val="autoZero"/>
        <c:crossBetween val="between"/>
        <c:majorUnit val="2"/>
      </c:valAx>
    </c:plotArea>
    <c:legend>
      <c:legendPos val="b"/>
      <c:overlay val="0"/>
      <c:txPr>
        <a:bodyPr/>
        <a:lstStyle/>
        <a:p>
          <a:pPr>
            <a:defRPr sz="900"/>
          </a:pPr>
          <a:endParaRPr lang="en-US"/>
        </a:p>
      </c:txPr>
    </c:legend>
    <c:plotVisOnly val="1"/>
    <c:dispBlanksAs val="gap"/>
    <c:showDLblsOverMax val="0"/>
  </c:chart>
  <c:txPr>
    <a:bodyPr/>
    <a:lstStyle/>
    <a:p>
      <a:pPr>
        <a:defRPr sz="900">
          <a:latin typeface="Lato"/>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Secunda</c:v>
                </c:pt>
              </c:strCache>
            </c:strRef>
          </c:tx>
          <c:spPr>
            <a:solidFill>
              <a:srgbClr val="0A2373"/>
            </a:solidFill>
          </c:spPr>
          <c:invertIfNegative val="0"/>
          <c:dLbls>
            <c:numFmt formatCode="0.0;;" sourceLinked="0"/>
            <c:spPr>
              <a:noFill/>
              <a:ln>
                <a:noFill/>
              </a:ln>
              <a:effectLst/>
            </c:spPr>
            <c:txPr>
              <a:bodyPr/>
              <a:lstStyle/>
              <a:p>
                <a:pPr>
                  <a:defRPr sz="900">
                    <a:solidFill>
                      <a:srgbClr val="FFFFFF"/>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2022E</c:v>
                </c:pt>
                <c:pt idx="1">
                  <c:v>2023E</c:v>
                </c:pt>
                <c:pt idx="2">
                  <c:v>2024E</c:v>
                </c:pt>
                <c:pt idx="3">
                  <c:v>2025E</c:v>
                </c:pt>
              </c:strCache>
            </c:strRef>
          </c:cat>
          <c:val>
            <c:numRef>
              <c:f>Sheet1!$B$2:$B$5</c:f>
              <c:numCache>
                <c:formatCode>0.0</c:formatCode>
                <c:ptCount val="4"/>
                <c:pt idx="0">
                  <c:v>4.1781861107078404</c:v>
                </c:pt>
                <c:pt idx="1">
                  <c:v>4.2783481065124809</c:v>
                </c:pt>
                <c:pt idx="2">
                  <c:v>4.163877254164321</c:v>
                </c:pt>
                <c:pt idx="3">
                  <c:v>3.949244406011521</c:v>
                </c:pt>
              </c:numCache>
            </c:numRef>
          </c:val>
          <c:extLst>
            <c:ext xmlns:c16="http://schemas.microsoft.com/office/drawing/2014/chart" uri="{C3380CC4-5D6E-409C-BE32-E72D297353CC}">
              <c16:uniqueId val="{00000000-5E42-42A0-B4ED-778D6C88A243}"/>
            </c:ext>
          </c:extLst>
        </c:ser>
        <c:ser>
          <c:idx val="1"/>
          <c:order val="1"/>
          <c:tx>
            <c:strRef>
              <c:f>Sheet1!$C$1</c:f>
              <c:strCache>
                <c:ptCount val="1"/>
                <c:pt idx="0">
                  <c:v>Natref</c:v>
                </c:pt>
              </c:strCache>
            </c:strRef>
          </c:tx>
          <c:spPr>
            <a:solidFill>
              <a:srgbClr val="6782B4"/>
            </a:solidFill>
          </c:spPr>
          <c:invertIfNegative val="0"/>
          <c:dLbls>
            <c:numFmt formatCode="0.0;;" sourceLinked="0"/>
            <c:spPr>
              <a:noFill/>
              <a:ln>
                <a:noFill/>
              </a:ln>
              <a:effectLst/>
            </c:spPr>
            <c:txPr>
              <a:bodyPr/>
              <a:lstStyle/>
              <a:p>
                <a:pPr>
                  <a:defRPr sz="900">
                    <a:solidFill>
                      <a:srgbClr val="FFFFFF"/>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2022E</c:v>
                </c:pt>
                <c:pt idx="1">
                  <c:v>2023E</c:v>
                </c:pt>
                <c:pt idx="2">
                  <c:v>2024E</c:v>
                </c:pt>
                <c:pt idx="3">
                  <c:v>2025E</c:v>
                </c:pt>
              </c:strCache>
            </c:strRef>
          </c:cat>
          <c:val>
            <c:numRef>
              <c:f>Sheet1!$C$2:$C$5</c:f>
              <c:numCache>
                <c:formatCode>0.0</c:formatCode>
                <c:ptCount val="4"/>
                <c:pt idx="0">
                  <c:v>3.0454660886545946</c:v>
                </c:pt>
                <c:pt idx="1">
                  <c:v>2.771535276447568</c:v>
                </c:pt>
                <c:pt idx="2">
                  <c:v>2.8682167395794602</c:v>
                </c:pt>
                <c:pt idx="3">
                  <c:v>2.3686958467313515</c:v>
                </c:pt>
              </c:numCache>
            </c:numRef>
          </c:val>
          <c:extLst>
            <c:ext xmlns:c16="http://schemas.microsoft.com/office/drawing/2014/chart" uri="{C3380CC4-5D6E-409C-BE32-E72D297353CC}">
              <c16:uniqueId val="{00000001-5E42-42A0-B4ED-778D6C88A243}"/>
            </c:ext>
          </c:extLst>
        </c:ser>
        <c:ser>
          <c:idx val="2"/>
          <c:order val="2"/>
          <c:tx>
            <c:strRef>
              <c:f>Sheet1!$D$1</c:f>
              <c:strCache>
                <c:ptCount val="1"/>
                <c:pt idx="0">
                  <c:v>Astron</c:v>
                </c:pt>
              </c:strCache>
            </c:strRef>
          </c:tx>
          <c:spPr>
            <a:solidFill>
              <a:srgbClr val="929292"/>
            </a:solidFill>
          </c:spPr>
          <c:invertIfNegative val="0"/>
          <c:dLbls>
            <c:numFmt formatCode="0.0;;" sourceLinked="0"/>
            <c:spPr>
              <a:noFill/>
              <a:ln>
                <a:noFill/>
              </a:ln>
              <a:effectLst/>
            </c:spPr>
            <c:txPr>
              <a:bodyPr/>
              <a:lstStyle/>
              <a:p>
                <a:pPr>
                  <a:defRPr sz="900">
                    <a:solidFill>
                      <a:srgbClr val="FFFFFF"/>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2022E</c:v>
                </c:pt>
                <c:pt idx="1">
                  <c:v>2023E</c:v>
                </c:pt>
                <c:pt idx="2">
                  <c:v>2024E</c:v>
                </c:pt>
                <c:pt idx="3">
                  <c:v>2025E</c:v>
                </c:pt>
              </c:strCache>
            </c:strRef>
          </c:cat>
          <c:val>
            <c:numRef>
              <c:f>Sheet1!$D$2:$D$5</c:f>
              <c:numCache>
                <c:formatCode>0.0</c:formatCode>
                <c:ptCount val="4"/>
                <c:pt idx="0">
                  <c:v>0</c:v>
                </c:pt>
                <c:pt idx="1">
                  <c:v>3.2493342670042211</c:v>
                </c:pt>
                <c:pt idx="2">
                  <c:v>3.9516507702277068</c:v>
                </c:pt>
                <c:pt idx="3">
                  <c:v>3.9079268781044805</c:v>
                </c:pt>
              </c:numCache>
            </c:numRef>
          </c:val>
          <c:extLst>
            <c:ext xmlns:c16="http://schemas.microsoft.com/office/drawing/2014/chart" uri="{C3380CC4-5D6E-409C-BE32-E72D297353CC}">
              <c16:uniqueId val="{00000002-5E42-42A0-B4ED-778D6C88A243}"/>
            </c:ext>
          </c:extLst>
        </c:ser>
        <c:dLbls>
          <c:showLegendKey val="0"/>
          <c:showVal val="1"/>
          <c:showCatName val="0"/>
          <c:showSerName val="0"/>
          <c:showPercent val="0"/>
          <c:showBubbleSize val="0"/>
        </c:dLbls>
        <c:gapWidth val="70"/>
        <c:overlap val="10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113994440"/>
        <c:crosses val="autoZero"/>
        <c:auto val="1"/>
        <c:lblAlgn val="ctr"/>
        <c:lblOffset val="100"/>
        <c:noMultiLvlLbl val="0"/>
      </c:catAx>
      <c:valAx>
        <c:axId val="-2113994440"/>
        <c:scaling>
          <c:orientation val="minMax"/>
          <c:max val="12"/>
          <c:min val="0"/>
        </c:scaling>
        <c:delete val="0"/>
        <c:axPos val="l"/>
        <c:numFmt formatCode="0.0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068027336"/>
        <c:crosses val="autoZero"/>
        <c:crossBetween val="between"/>
        <c:majorUnit val="2"/>
      </c:valAx>
    </c:plotArea>
    <c:legend>
      <c:legendPos val="b"/>
      <c:overlay val="0"/>
    </c:legend>
    <c:plotVisOnly val="1"/>
    <c:dispBlanksAs val="gap"/>
    <c:showDLblsOverMax val="1"/>
  </c:chart>
  <c:txPr>
    <a:bodyPr/>
    <a:lstStyle/>
    <a:p>
      <a:pPr>
        <a:defRPr sz="1000">
          <a:latin typeface="Lato"/>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21</c:v>
                </c:pt>
                <c:pt idx="1">
                  <c:v>22</c:v>
                </c:pt>
                <c:pt idx="2">
                  <c:v>23</c:v>
                </c:pt>
                <c:pt idx="3">
                  <c:v>24</c:v>
                </c:pt>
                <c:pt idx="4">
                  <c:v>25</c:v>
                </c:pt>
                <c:pt idx="5">
                  <c:v>26*</c:v>
                </c:pt>
              </c:strCache>
            </c:strRef>
          </c:cat>
          <c:val>
            <c:numRef>
              <c:f>Sheet1!$B$2:$B$7</c:f>
              <c:numCache>
                <c:formatCode>0.0</c:formatCode>
                <c:ptCount val="6"/>
                <c:pt idx="0">
                  <c:v>3.9454366999999997E-2</c:v>
                </c:pt>
                <c:pt idx="1">
                  <c:v>2.8805740999999999E-2</c:v>
                </c:pt>
                <c:pt idx="2">
                  <c:v>1.2542200000000001E-4</c:v>
                </c:pt>
                <c:pt idx="3">
                  <c:v>1.0095670000000001E-3</c:v>
                </c:pt>
                <c:pt idx="4">
                  <c:v>4.4164850000000004E-3</c:v>
                </c:pt>
                <c:pt idx="5">
                  <c:v>7.2505664999999997E-3</c:v>
                </c:pt>
              </c:numCache>
            </c:numRef>
          </c:val>
          <c:extLst>
            <c:ext xmlns:c16="http://schemas.microsoft.com/office/drawing/2014/chart" uri="{C3380CC4-5D6E-409C-BE32-E72D297353CC}">
              <c16:uniqueId val="{00000000-37F7-4069-A320-8D5F04C09044}"/>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21</c:v>
                </c:pt>
                <c:pt idx="1">
                  <c:v>22</c:v>
                </c:pt>
                <c:pt idx="2">
                  <c:v>23</c:v>
                </c:pt>
                <c:pt idx="3">
                  <c:v>24</c:v>
                </c:pt>
                <c:pt idx="4">
                  <c:v>25</c:v>
                </c:pt>
                <c:pt idx="5">
                  <c:v>26*</c:v>
                </c:pt>
              </c:strCache>
            </c:strRef>
          </c:cat>
          <c:val>
            <c:numRef>
              <c:f>Sheet1!$C$2:$C$7</c:f>
              <c:numCache>
                <c:formatCode>0.0</c:formatCode>
                <c:ptCount val="6"/>
                <c:pt idx="0">
                  <c:v>0.20133574000000001</c:v>
                </c:pt>
                <c:pt idx="1">
                  <c:v>0.27415852431999999</c:v>
                </c:pt>
                <c:pt idx="2">
                  <c:v>0.25457083899999999</c:v>
                </c:pt>
                <c:pt idx="3">
                  <c:v>0.18582006085</c:v>
                </c:pt>
                <c:pt idx="4">
                  <c:v>8.2022506000000009E-2</c:v>
                </c:pt>
                <c:pt idx="5">
                  <c:v>0.10627057949999999</c:v>
                </c:pt>
              </c:numCache>
            </c:numRef>
          </c:val>
          <c:extLst>
            <c:ext xmlns:c16="http://schemas.microsoft.com/office/drawing/2014/chart" uri="{C3380CC4-5D6E-409C-BE32-E72D297353CC}">
              <c16:uniqueId val="{00000001-37F7-4069-A320-8D5F04C09044}"/>
            </c:ext>
          </c:extLst>
        </c:ser>
        <c:ser>
          <c:idx val="2"/>
          <c:order val="2"/>
          <c:tx>
            <c:strRef>
              <c:f>Sheet1!$D$1</c:f>
              <c:strCache>
                <c:ptCount val="1"/>
                <c:pt idx="0">
                  <c:v>Total</c:v>
                </c:pt>
              </c:strCache>
            </c:strRef>
          </c:tx>
          <c:spPr>
            <a:noFill/>
            <a:ln>
              <a:noFill/>
            </a:ln>
          </c:spPr>
          <c:invertIfNegative val="1"/>
          <c:dLbls>
            <c:dLbl>
              <c:idx val="0"/>
              <c:tx>
                <c:rich>
                  <a:bodyPr/>
                  <a:lstStyle/>
                  <a:p>
                    <a:r>
                      <a:rPr lang="en-US" sz="650" b="1">
                        <a:solidFill>
                          <a:srgbClr val="0A2373"/>
                        </a:solidFill>
                      </a:rPr>
                      <a:t>0.24</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7F7-4069-A320-8D5F04C09044}"/>
                </c:ext>
              </c:extLst>
            </c:dLbl>
            <c:dLbl>
              <c:idx val="1"/>
              <c:tx>
                <c:rich>
                  <a:bodyPr/>
                  <a:lstStyle/>
                  <a:p>
                    <a:r>
                      <a:rPr lang="en-US" sz="650" b="1">
                        <a:solidFill>
                          <a:srgbClr val="0A2373"/>
                        </a:solidFill>
                      </a:rPr>
                      <a:t>0.30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7F7-4069-A320-8D5F04C09044}"/>
                </c:ext>
              </c:extLst>
            </c:dLbl>
            <c:dLbl>
              <c:idx val="2"/>
              <c:tx>
                <c:rich>
                  <a:bodyPr/>
                  <a:lstStyle/>
                  <a:p>
                    <a:r>
                      <a:rPr lang="en-US" sz="650" b="1">
                        <a:solidFill>
                          <a:srgbClr val="0A2373"/>
                        </a:solidFill>
                      </a:rPr>
                      <a:t>0.25</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7F7-4069-A320-8D5F04C09044}"/>
                </c:ext>
              </c:extLst>
            </c:dLbl>
            <c:dLbl>
              <c:idx val="3"/>
              <c:tx>
                <c:rich>
                  <a:bodyPr/>
                  <a:lstStyle/>
                  <a:p>
                    <a:r>
                      <a:rPr lang="en-US" sz="650" b="1">
                        <a:solidFill>
                          <a:srgbClr val="0A2373"/>
                        </a:solidFill>
                      </a:rPr>
                      <a:t>0.19</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7F7-4069-A320-8D5F04C09044}"/>
                </c:ext>
              </c:extLst>
            </c:dLbl>
            <c:dLbl>
              <c:idx val="4"/>
              <c:tx>
                <c:rich>
                  <a:bodyPr/>
                  <a:lstStyle/>
                  <a:p>
                    <a:r>
                      <a:rPr lang="en-US" sz="650" b="1">
                        <a:solidFill>
                          <a:srgbClr val="0A2373"/>
                        </a:solidFill>
                      </a:rPr>
                      <a:t>0.09</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37F7-4069-A320-8D5F04C09044}"/>
                </c:ext>
              </c:extLst>
            </c:dLbl>
            <c:dLbl>
              <c:idx val="5"/>
              <c:tx>
                <c:rich>
                  <a:bodyPr/>
                  <a:lstStyle/>
                  <a:p>
                    <a:r>
                      <a:rPr lang="en-US" sz="650" b="1">
                        <a:solidFill>
                          <a:srgbClr val="0A2373"/>
                        </a:solidFill>
                      </a:rPr>
                      <a:t>0.11</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37F7-4069-A320-8D5F04C0904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21</c:v>
                </c:pt>
                <c:pt idx="1">
                  <c:v>22</c:v>
                </c:pt>
                <c:pt idx="2">
                  <c:v>23</c:v>
                </c:pt>
                <c:pt idx="3">
                  <c:v>24</c:v>
                </c:pt>
                <c:pt idx="4">
                  <c:v>25</c:v>
                </c:pt>
                <c:pt idx="5">
                  <c:v>26*</c:v>
                </c:pt>
              </c:strCache>
            </c:strRef>
          </c:cat>
          <c:val>
            <c:numRef>
              <c:f>Sheet1!$D$2:$D$7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8-37F7-4069-A320-8D5F04C09044}"/>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D4D4D4"/>
            </a:solidFill>
          </a:ln>
        </c:spPr>
        <c:txPr>
          <a:bodyPr/>
          <a:lstStyle/>
          <a:p>
            <a:pPr>
              <a:defRPr sz="700">
                <a:solidFill>
                  <a:srgbClr val="666666"/>
                </a:solidFill>
              </a:defRPr>
            </a:pPr>
            <a:endParaRPr lang="en-US"/>
          </a:p>
        </c:txPr>
        <c:crossAx val="-2113994440"/>
        <c:crosses val="autoZero"/>
        <c:auto val="1"/>
        <c:lblAlgn val="ctr"/>
        <c:lblOffset val="100"/>
        <c:noMultiLvlLbl val="0"/>
      </c:catAx>
      <c:valAx>
        <c:axId val="-2113994440"/>
        <c:scaling>
          <c:orientation val="minMax"/>
          <c:max val="0.39991283022239998"/>
          <c:min val="0"/>
        </c:scaling>
        <c:delete val="1"/>
        <c:axPos val="l"/>
        <c:numFmt formatCode="0.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700">
          <a:latin typeface="Lato"/>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21</c:v>
                </c:pt>
                <c:pt idx="1">
                  <c:v>22</c:v>
                </c:pt>
                <c:pt idx="2">
                  <c:v>23</c:v>
                </c:pt>
                <c:pt idx="3">
                  <c:v>24</c:v>
                </c:pt>
                <c:pt idx="4">
                  <c:v>25</c:v>
                </c:pt>
                <c:pt idx="5">
                  <c:v>26*</c:v>
                </c:pt>
              </c:strCache>
            </c:strRef>
          </c:cat>
          <c:val>
            <c:numRef>
              <c:f>Sheet1!$B$2:$B$7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0-53C6-4F15-B495-A4D26ABE6FB1}"/>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21</c:v>
                </c:pt>
                <c:pt idx="1">
                  <c:v>22</c:v>
                </c:pt>
                <c:pt idx="2">
                  <c:v>23</c:v>
                </c:pt>
                <c:pt idx="3">
                  <c:v>24</c:v>
                </c:pt>
                <c:pt idx="4">
                  <c:v>25</c:v>
                </c:pt>
                <c:pt idx="5">
                  <c:v>26*</c:v>
                </c:pt>
              </c:strCache>
            </c:strRef>
          </c:cat>
          <c:val>
            <c:numRef>
              <c:f>Sheet1!$C$2:$C$7</c:f>
              <c:numCache>
                <c:formatCode>0.0</c:formatCode>
                <c:ptCount val="6"/>
                <c:pt idx="0">
                  <c:v>0.23403681500000001</c:v>
                </c:pt>
                <c:pt idx="1">
                  <c:v>0.33131978899999998</c:v>
                </c:pt>
                <c:pt idx="2">
                  <c:v>0.32076670200000001</c:v>
                </c:pt>
                <c:pt idx="3">
                  <c:v>0.39078247700000002</c:v>
                </c:pt>
                <c:pt idx="4">
                  <c:v>0.65791460000000002</c:v>
                </c:pt>
                <c:pt idx="5">
                  <c:v>0.80340755850000001</c:v>
                </c:pt>
              </c:numCache>
            </c:numRef>
          </c:val>
          <c:extLst>
            <c:ext xmlns:c16="http://schemas.microsoft.com/office/drawing/2014/chart" uri="{C3380CC4-5D6E-409C-BE32-E72D297353CC}">
              <c16:uniqueId val="{00000001-53C6-4F15-B495-A4D26ABE6FB1}"/>
            </c:ext>
          </c:extLst>
        </c:ser>
        <c:ser>
          <c:idx val="2"/>
          <c:order val="2"/>
          <c:tx>
            <c:strRef>
              <c:f>Sheet1!$D$1</c:f>
              <c:strCache>
                <c:ptCount val="1"/>
                <c:pt idx="0">
                  <c:v>Total</c:v>
                </c:pt>
              </c:strCache>
            </c:strRef>
          </c:tx>
          <c:spPr>
            <a:noFill/>
            <a:ln>
              <a:noFill/>
            </a:ln>
          </c:spPr>
          <c:invertIfNegative val="1"/>
          <c:dLbls>
            <c:dLbl>
              <c:idx val="0"/>
              <c:tx>
                <c:rich>
                  <a:bodyPr/>
                  <a:lstStyle/>
                  <a:p>
                    <a:r>
                      <a:rPr lang="en-US" sz="650" b="1">
                        <a:solidFill>
                          <a:srgbClr val="0A2373"/>
                        </a:solidFill>
                      </a:rPr>
                      <a:t>0.23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3C6-4F15-B495-A4D26ABE6FB1}"/>
                </c:ext>
              </c:extLst>
            </c:dLbl>
            <c:dLbl>
              <c:idx val="1"/>
              <c:tx>
                <c:rich>
                  <a:bodyPr/>
                  <a:lstStyle/>
                  <a:p>
                    <a:r>
                      <a:rPr lang="en-US" sz="650" b="1">
                        <a:solidFill>
                          <a:srgbClr val="0A2373"/>
                        </a:solidFill>
                      </a:rPr>
                      <a:t>0.33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3C6-4F15-B495-A4D26ABE6FB1}"/>
                </c:ext>
              </c:extLst>
            </c:dLbl>
            <c:dLbl>
              <c:idx val="2"/>
              <c:tx>
                <c:rich>
                  <a:bodyPr/>
                  <a:lstStyle/>
                  <a:p>
                    <a:r>
                      <a:rPr lang="en-US" sz="650" b="1">
                        <a:solidFill>
                          <a:srgbClr val="0A2373"/>
                        </a:solidFill>
                      </a:rPr>
                      <a:t>0.32</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3C6-4F15-B495-A4D26ABE6FB1}"/>
                </c:ext>
              </c:extLst>
            </c:dLbl>
            <c:dLbl>
              <c:idx val="3"/>
              <c:tx>
                <c:rich>
                  <a:bodyPr/>
                  <a:lstStyle/>
                  <a:p>
                    <a:r>
                      <a:rPr lang="en-US" sz="650" b="1">
                        <a:solidFill>
                          <a:srgbClr val="0A2373"/>
                        </a:solidFill>
                      </a:rPr>
                      <a:t>0.39</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3C6-4F15-B495-A4D26ABE6FB1}"/>
                </c:ext>
              </c:extLst>
            </c:dLbl>
            <c:dLbl>
              <c:idx val="4"/>
              <c:tx>
                <c:rich>
                  <a:bodyPr/>
                  <a:lstStyle/>
                  <a:p>
                    <a:r>
                      <a:rPr lang="en-US" sz="650" b="1">
                        <a:solidFill>
                          <a:srgbClr val="0A2373"/>
                        </a:solidFill>
                      </a:rPr>
                      <a:t>0.66</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53C6-4F15-B495-A4D26ABE6FB1}"/>
                </c:ext>
              </c:extLst>
            </c:dLbl>
            <c:dLbl>
              <c:idx val="5"/>
              <c:tx>
                <c:rich>
                  <a:bodyPr/>
                  <a:lstStyle/>
                  <a:p>
                    <a:r>
                      <a:rPr lang="en-US" sz="650" b="1">
                        <a:solidFill>
                          <a:srgbClr val="0A2373"/>
                        </a:solidFill>
                      </a:rPr>
                      <a:t>0.80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53C6-4F15-B495-A4D26ABE6FB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21</c:v>
                </c:pt>
                <c:pt idx="1">
                  <c:v>22</c:v>
                </c:pt>
                <c:pt idx="2">
                  <c:v>23</c:v>
                </c:pt>
                <c:pt idx="3">
                  <c:v>24</c:v>
                </c:pt>
                <c:pt idx="4">
                  <c:v>25</c:v>
                </c:pt>
                <c:pt idx="5">
                  <c:v>26*</c:v>
                </c:pt>
              </c:strCache>
            </c:strRef>
          </c:cat>
          <c:val>
            <c:numRef>
              <c:f>Sheet1!$D$2:$D$7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8-53C6-4F15-B495-A4D26ABE6FB1}"/>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D4D4D4"/>
            </a:solidFill>
          </a:ln>
        </c:spPr>
        <c:txPr>
          <a:bodyPr/>
          <a:lstStyle/>
          <a:p>
            <a:pPr>
              <a:defRPr sz="700">
                <a:solidFill>
                  <a:srgbClr val="666666"/>
                </a:solidFill>
              </a:defRPr>
            </a:pPr>
            <a:endParaRPr lang="en-US"/>
          </a:p>
        </c:txPr>
        <c:crossAx val="-2113994440"/>
        <c:crosses val="autoZero"/>
        <c:auto val="1"/>
        <c:lblAlgn val="ctr"/>
        <c:lblOffset val="100"/>
        <c:noMultiLvlLbl val="0"/>
      </c:catAx>
      <c:valAx>
        <c:axId val="-2113994440"/>
        <c:scaling>
          <c:orientation val="minMax"/>
          <c:max val="1.0604979772200001"/>
          <c:min val="0"/>
        </c:scaling>
        <c:delete val="1"/>
        <c:axPos val="l"/>
        <c:numFmt formatCode="0.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700">
          <a:latin typeface="Lato"/>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21</c:v>
                </c:pt>
                <c:pt idx="1">
                  <c:v>22</c:v>
                </c:pt>
                <c:pt idx="2">
                  <c:v>23</c:v>
                </c:pt>
                <c:pt idx="3">
                  <c:v>24</c:v>
                </c:pt>
                <c:pt idx="4">
                  <c:v>25</c:v>
                </c:pt>
                <c:pt idx="5">
                  <c:v>26*</c:v>
                </c:pt>
              </c:strCache>
            </c:strRef>
          </c:cat>
          <c:val>
            <c:numRef>
              <c:f>Sheet1!$B$2:$B$7</c:f>
              <c:numCache>
                <c:formatCode>0.0</c:formatCode>
                <c:ptCount val="6"/>
                <c:pt idx="0">
                  <c:v>2.436564685</c:v>
                </c:pt>
                <c:pt idx="1">
                  <c:v>3.8826693620000001</c:v>
                </c:pt>
                <c:pt idx="2">
                  <c:v>4.1655992309999998</c:v>
                </c:pt>
                <c:pt idx="3">
                  <c:v>3.8047252239999998</c:v>
                </c:pt>
                <c:pt idx="4">
                  <c:v>4.2289797389999997</c:v>
                </c:pt>
                <c:pt idx="5">
                  <c:v>3.8049074625000001</c:v>
                </c:pt>
              </c:numCache>
            </c:numRef>
          </c:val>
          <c:extLst>
            <c:ext xmlns:c16="http://schemas.microsoft.com/office/drawing/2014/chart" uri="{C3380CC4-5D6E-409C-BE32-E72D297353CC}">
              <c16:uniqueId val="{00000000-F022-46E9-9328-32F9A0C42325}"/>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21</c:v>
                </c:pt>
                <c:pt idx="1">
                  <c:v>22</c:v>
                </c:pt>
                <c:pt idx="2">
                  <c:v>23</c:v>
                </c:pt>
                <c:pt idx="3">
                  <c:v>24</c:v>
                </c:pt>
                <c:pt idx="4">
                  <c:v>25</c:v>
                </c:pt>
                <c:pt idx="5">
                  <c:v>26*</c:v>
                </c:pt>
              </c:strCache>
            </c:strRef>
          </c:cat>
          <c:val>
            <c:numRef>
              <c:f>Sheet1!$C$2:$C$7</c:f>
              <c:numCache>
                <c:formatCode>0.0</c:formatCode>
                <c:ptCount val="6"/>
                <c:pt idx="0">
                  <c:v>5.8348731799999998</c:v>
                </c:pt>
                <c:pt idx="1">
                  <c:v>7.8812480063399999</c:v>
                </c:pt>
                <c:pt idx="2">
                  <c:v>9.1250365104199993</c:v>
                </c:pt>
                <c:pt idx="3">
                  <c:v>8.0328899376400003</c:v>
                </c:pt>
                <c:pt idx="4">
                  <c:v>8.9315354406399994</c:v>
                </c:pt>
                <c:pt idx="5">
                  <c:v>8.1965573910000007</c:v>
                </c:pt>
              </c:numCache>
            </c:numRef>
          </c:val>
          <c:extLst>
            <c:ext xmlns:c16="http://schemas.microsoft.com/office/drawing/2014/chart" uri="{C3380CC4-5D6E-409C-BE32-E72D297353CC}">
              <c16:uniqueId val="{00000001-F022-46E9-9328-32F9A0C42325}"/>
            </c:ext>
          </c:extLst>
        </c:ser>
        <c:ser>
          <c:idx val="2"/>
          <c:order val="2"/>
          <c:tx>
            <c:strRef>
              <c:f>Sheet1!$D$1</c:f>
              <c:strCache>
                <c:ptCount val="1"/>
                <c:pt idx="0">
                  <c:v>Total</c:v>
                </c:pt>
              </c:strCache>
            </c:strRef>
          </c:tx>
          <c:spPr>
            <a:noFill/>
            <a:ln>
              <a:noFill/>
            </a:ln>
          </c:spPr>
          <c:invertIfNegative val="1"/>
          <c:dLbls>
            <c:dLbl>
              <c:idx val="0"/>
              <c:tx>
                <c:rich>
                  <a:bodyPr/>
                  <a:lstStyle/>
                  <a:p>
                    <a:r>
                      <a:rPr lang="en-US" sz="650" b="1">
                        <a:solidFill>
                          <a:srgbClr val="0A2373"/>
                        </a:solidFill>
                      </a:rPr>
                      <a:t>8.3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F022-46E9-9328-32F9A0C42325}"/>
                </c:ext>
              </c:extLst>
            </c:dLbl>
            <c:dLbl>
              <c:idx val="1"/>
              <c:tx>
                <c:rich>
                  <a:bodyPr/>
                  <a:lstStyle/>
                  <a:p>
                    <a:r>
                      <a:rPr lang="en-US" sz="650" b="1">
                        <a:solidFill>
                          <a:srgbClr val="0A2373"/>
                        </a:solidFill>
                      </a:rPr>
                      <a:t>11.8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022-46E9-9328-32F9A0C42325}"/>
                </c:ext>
              </c:extLst>
            </c:dLbl>
            <c:dLbl>
              <c:idx val="2"/>
              <c:tx>
                <c:rich>
                  <a:bodyPr/>
                  <a:lstStyle/>
                  <a:p>
                    <a:r>
                      <a:rPr lang="en-US" sz="650" b="1">
                        <a:solidFill>
                          <a:srgbClr val="0A2373"/>
                        </a:solidFill>
                      </a:rPr>
                      <a:t>13.3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F022-46E9-9328-32F9A0C42325}"/>
                </c:ext>
              </c:extLst>
            </c:dLbl>
            <c:dLbl>
              <c:idx val="3"/>
              <c:tx>
                <c:rich>
                  <a:bodyPr/>
                  <a:lstStyle/>
                  <a:p>
                    <a:r>
                      <a:rPr lang="en-US" sz="650" b="1">
                        <a:solidFill>
                          <a:srgbClr val="0A2373"/>
                        </a:solidFill>
                      </a:rPr>
                      <a:t>11.8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F022-46E9-9328-32F9A0C42325}"/>
                </c:ext>
              </c:extLst>
            </c:dLbl>
            <c:dLbl>
              <c:idx val="4"/>
              <c:tx>
                <c:rich>
                  <a:bodyPr/>
                  <a:lstStyle/>
                  <a:p>
                    <a:r>
                      <a:rPr lang="en-US" sz="650" b="1">
                        <a:solidFill>
                          <a:srgbClr val="0A2373"/>
                        </a:solidFill>
                      </a:rPr>
                      <a:t>13.2</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F022-46E9-9328-32F9A0C42325}"/>
                </c:ext>
              </c:extLst>
            </c:dLbl>
            <c:dLbl>
              <c:idx val="5"/>
              <c:tx>
                <c:rich>
                  <a:bodyPr/>
                  <a:lstStyle/>
                  <a:p>
                    <a:r>
                      <a:rPr lang="en-US" sz="650" b="1">
                        <a:solidFill>
                          <a:srgbClr val="0A2373"/>
                        </a:solidFill>
                      </a:rPr>
                      <a:t>12.0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F022-46E9-9328-32F9A0C4232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21</c:v>
                </c:pt>
                <c:pt idx="1">
                  <c:v>22</c:v>
                </c:pt>
                <c:pt idx="2">
                  <c:v>23</c:v>
                </c:pt>
                <c:pt idx="3">
                  <c:v>24</c:v>
                </c:pt>
                <c:pt idx="4">
                  <c:v>25</c:v>
                </c:pt>
                <c:pt idx="5">
                  <c:v>26*</c:v>
                </c:pt>
              </c:strCache>
            </c:strRef>
          </c:cat>
          <c:val>
            <c:numRef>
              <c:f>Sheet1!$D$2:$D$7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8-F022-46E9-9328-32F9A0C42325}"/>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D4D4D4"/>
            </a:solidFill>
          </a:ln>
        </c:spPr>
        <c:txPr>
          <a:bodyPr/>
          <a:lstStyle/>
          <a:p>
            <a:pPr>
              <a:defRPr sz="700">
                <a:solidFill>
                  <a:srgbClr val="666666"/>
                </a:solidFill>
              </a:defRPr>
            </a:pPr>
            <a:endParaRPr lang="en-US"/>
          </a:p>
        </c:txPr>
        <c:crossAx val="-2113994440"/>
        <c:crosses val="autoZero"/>
        <c:auto val="1"/>
        <c:lblAlgn val="ctr"/>
        <c:lblOffset val="100"/>
        <c:noMultiLvlLbl val="0"/>
      </c:catAx>
      <c:valAx>
        <c:axId val="-2113994440"/>
        <c:scaling>
          <c:orientation val="minMax"/>
          <c:max val="17.5436391786744"/>
          <c:min val="0"/>
        </c:scaling>
        <c:delete val="1"/>
        <c:axPos val="l"/>
        <c:numFmt formatCode="0.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700">
          <a:latin typeface="Lato"/>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21</c:v>
                </c:pt>
                <c:pt idx="1">
                  <c:v>22</c:v>
                </c:pt>
                <c:pt idx="2">
                  <c:v>23</c:v>
                </c:pt>
                <c:pt idx="3">
                  <c:v>24</c:v>
                </c:pt>
                <c:pt idx="4">
                  <c:v>25</c:v>
                </c:pt>
                <c:pt idx="5">
                  <c:v>26*</c:v>
                </c:pt>
              </c:strCache>
            </c:strRef>
          </c:cat>
          <c:val>
            <c:numRef>
              <c:f>Sheet1!$B$2:$B$7</c:f>
              <c:numCache>
                <c:formatCode>0.0</c:formatCode>
                <c:ptCount val="6"/>
                <c:pt idx="0">
                  <c:v>0.10053881521000001</c:v>
                </c:pt>
                <c:pt idx="1">
                  <c:v>4.3437557930000002E-2</c:v>
                </c:pt>
                <c:pt idx="2">
                  <c:v>8.399809338E-2</c:v>
                </c:pt>
                <c:pt idx="3">
                  <c:v>6.4028557899999991E-2</c:v>
                </c:pt>
                <c:pt idx="4">
                  <c:v>3.4475556150000003E-2</c:v>
                </c:pt>
                <c:pt idx="5">
                  <c:v>1.0151050889999999E-2</c:v>
                </c:pt>
              </c:numCache>
            </c:numRef>
          </c:val>
          <c:extLst>
            <c:ext xmlns:c16="http://schemas.microsoft.com/office/drawing/2014/chart" uri="{C3380CC4-5D6E-409C-BE32-E72D297353CC}">
              <c16:uniqueId val="{00000000-7B81-40DF-AA97-1B2F44C169CE}"/>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21</c:v>
                </c:pt>
                <c:pt idx="1">
                  <c:v>22</c:v>
                </c:pt>
                <c:pt idx="2">
                  <c:v>23</c:v>
                </c:pt>
                <c:pt idx="3">
                  <c:v>24</c:v>
                </c:pt>
                <c:pt idx="4">
                  <c:v>25</c:v>
                </c:pt>
                <c:pt idx="5">
                  <c:v>26*</c:v>
                </c:pt>
              </c:strCache>
            </c:strRef>
          </c:cat>
          <c:val>
            <c:numRef>
              <c:f>Sheet1!$C$2:$C$7</c:f>
              <c:numCache>
                <c:formatCode>0.0</c:formatCode>
                <c:ptCount val="6"/>
                <c:pt idx="0">
                  <c:v>1.1377156989999999</c:v>
                </c:pt>
                <c:pt idx="1">
                  <c:v>0.98170948324000007</c:v>
                </c:pt>
                <c:pt idx="2">
                  <c:v>1.7812067980000001</c:v>
                </c:pt>
                <c:pt idx="3">
                  <c:v>1.224850803</c:v>
                </c:pt>
                <c:pt idx="4">
                  <c:v>1.2384626239300001</c:v>
                </c:pt>
                <c:pt idx="5">
                  <c:v>0.87386333223000001</c:v>
                </c:pt>
              </c:numCache>
            </c:numRef>
          </c:val>
          <c:extLst>
            <c:ext xmlns:c16="http://schemas.microsoft.com/office/drawing/2014/chart" uri="{C3380CC4-5D6E-409C-BE32-E72D297353CC}">
              <c16:uniqueId val="{00000001-7B81-40DF-AA97-1B2F44C169CE}"/>
            </c:ext>
          </c:extLst>
        </c:ser>
        <c:ser>
          <c:idx val="2"/>
          <c:order val="2"/>
          <c:tx>
            <c:strRef>
              <c:f>Sheet1!$D$1</c:f>
              <c:strCache>
                <c:ptCount val="1"/>
                <c:pt idx="0">
                  <c:v>Total</c:v>
                </c:pt>
              </c:strCache>
            </c:strRef>
          </c:tx>
          <c:spPr>
            <a:noFill/>
            <a:ln>
              <a:noFill/>
            </a:ln>
          </c:spPr>
          <c:invertIfNegative val="1"/>
          <c:dLbls>
            <c:dLbl>
              <c:idx val="0"/>
              <c:tx>
                <c:rich>
                  <a:bodyPr/>
                  <a:lstStyle/>
                  <a:p>
                    <a:r>
                      <a:rPr lang="en-US" sz="650" b="1">
                        <a:solidFill>
                          <a:srgbClr val="0A2373"/>
                        </a:solidFill>
                      </a:rPr>
                      <a:t>1.2</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B81-40DF-AA97-1B2F44C169CE}"/>
                </c:ext>
              </c:extLst>
            </c:dLbl>
            <c:dLbl>
              <c:idx val="1"/>
              <c:tx>
                <c:rich>
                  <a:bodyPr/>
                  <a:lstStyle/>
                  <a:p>
                    <a:r>
                      <a:rPr lang="en-US" sz="650" b="1">
                        <a:solidFill>
                          <a:srgbClr val="0A2373"/>
                        </a:solidFill>
                      </a:rPr>
                      <a:t>1.0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B81-40DF-AA97-1B2F44C169CE}"/>
                </c:ext>
              </c:extLst>
            </c:dLbl>
            <c:dLbl>
              <c:idx val="2"/>
              <c:tx>
                <c:rich>
                  <a:bodyPr/>
                  <a:lstStyle/>
                  <a:p>
                    <a:r>
                      <a:rPr lang="en-US" sz="650" b="1">
                        <a:solidFill>
                          <a:srgbClr val="0A2373"/>
                        </a:solidFill>
                      </a:rPr>
                      <a:t>1.9</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7B81-40DF-AA97-1B2F44C169CE}"/>
                </c:ext>
              </c:extLst>
            </c:dLbl>
            <c:dLbl>
              <c:idx val="3"/>
              <c:tx>
                <c:rich>
                  <a:bodyPr/>
                  <a:lstStyle/>
                  <a:p>
                    <a:r>
                      <a:rPr lang="en-US" sz="650" b="1">
                        <a:solidFill>
                          <a:srgbClr val="0A2373"/>
                        </a:solidFill>
                      </a:rPr>
                      <a:t>1.3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7B81-40DF-AA97-1B2F44C169CE}"/>
                </c:ext>
              </c:extLst>
            </c:dLbl>
            <c:dLbl>
              <c:idx val="4"/>
              <c:tx>
                <c:rich>
                  <a:bodyPr/>
                  <a:lstStyle/>
                  <a:p>
                    <a:r>
                      <a:rPr lang="en-US" sz="650" b="1">
                        <a:solidFill>
                          <a:srgbClr val="0A2373"/>
                        </a:solidFill>
                      </a:rPr>
                      <a:t>1.3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7B81-40DF-AA97-1B2F44C169CE}"/>
                </c:ext>
              </c:extLst>
            </c:dLbl>
            <c:dLbl>
              <c:idx val="5"/>
              <c:tx>
                <c:rich>
                  <a:bodyPr/>
                  <a:lstStyle/>
                  <a:p>
                    <a:r>
                      <a:rPr lang="en-US" sz="650" b="1">
                        <a:solidFill>
                          <a:srgbClr val="0A2373"/>
                        </a:solidFill>
                      </a:rPr>
                      <a:t>0.88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7B81-40DF-AA97-1B2F44C169C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21</c:v>
                </c:pt>
                <c:pt idx="1">
                  <c:v>22</c:v>
                </c:pt>
                <c:pt idx="2">
                  <c:v>23</c:v>
                </c:pt>
                <c:pt idx="3">
                  <c:v>24</c:v>
                </c:pt>
                <c:pt idx="4">
                  <c:v>25</c:v>
                </c:pt>
                <c:pt idx="5">
                  <c:v>26*</c:v>
                </c:pt>
              </c:strCache>
            </c:strRef>
          </c:cat>
          <c:val>
            <c:numRef>
              <c:f>Sheet1!$D$2:$D$7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8-7B81-40DF-AA97-1B2F44C169CE}"/>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D4D4D4"/>
            </a:solidFill>
          </a:ln>
        </c:spPr>
        <c:txPr>
          <a:bodyPr/>
          <a:lstStyle/>
          <a:p>
            <a:pPr>
              <a:defRPr sz="700">
                <a:solidFill>
                  <a:srgbClr val="666666"/>
                </a:solidFill>
              </a:defRPr>
            </a:pPr>
            <a:endParaRPr lang="en-US"/>
          </a:p>
        </c:txPr>
        <c:crossAx val="-2113994440"/>
        <c:crosses val="autoZero"/>
        <c:auto val="1"/>
        <c:lblAlgn val="ctr"/>
        <c:lblOffset val="100"/>
        <c:noMultiLvlLbl val="0"/>
      </c:catAx>
      <c:valAx>
        <c:axId val="-2113994440"/>
        <c:scaling>
          <c:orientation val="minMax"/>
          <c:max val="2.4620704566216003"/>
          <c:min val="0"/>
        </c:scaling>
        <c:delete val="1"/>
        <c:axPos val="l"/>
        <c:numFmt formatCode="0.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700">
          <a:latin typeface="Lato"/>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21</c:v>
                </c:pt>
                <c:pt idx="1">
                  <c:v>22</c:v>
                </c:pt>
                <c:pt idx="2">
                  <c:v>23</c:v>
                </c:pt>
                <c:pt idx="3">
                  <c:v>24</c:v>
                </c:pt>
                <c:pt idx="4">
                  <c:v>25</c:v>
                </c:pt>
                <c:pt idx="5">
                  <c:v>26*</c:v>
                </c:pt>
              </c:strCache>
            </c:strRef>
          </c:cat>
          <c:val>
            <c:numRef>
              <c:f>Sheet1!$B$2:$B$7</c:f>
              <c:numCache>
                <c:formatCode>0.0</c:formatCode>
                <c:ptCount val="6"/>
                <c:pt idx="0">
                  <c:v>1.4319451160000001</c:v>
                </c:pt>
                <c:pt idx="1">
                  <c:v>1.500340893</c:v>
                </c:pt>
                <c:pt idx="2">
                  <c:v>0.23304925800000001</c:v>
                </c:pt>
                <c:pt idx="3">
                  <c:v>0.13109100000000001</c:v>
                </c:pt>
                <c:pt idx="4">
                  <c:v>0.185597544</c:v>
                </c:pt>
                <c:pt idx="5">
                  <c:v>0.50034697800000005</c:v>
                </c:pt>
              </c:numCache>
            </c:numRef>
          </c:val>
          <c:extLst>
            <c:ext xmlns:c16="http://schemas.microsoft.com/office/drawing/2014/chart" uri="{C3380CC4-5D6E-409C-BE32-E72D297353CC}">
              <c16:uniqueId val="{00000000-523E-4EFE-95E5-51F6E8C3C596}"/>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21</c:v>
                </c:pt>
                <c:pt idx="1">
                  <c:v>22</c:v>
                </c:pt>
                <c:pt idx="2">
                  <c:v>23</c:v>
                </c:pt>
                <c:pt idx="3">
                  <c:v>24</c:v>
                </c:pt>
                <c:pt idx="4">
                  <c:v>25</c:v>
                </c:pt>
                <c:pt idx="5">
                  <c:v>26*</c:v>
                </c:pt>
              </c:strCache>
            </c:strRef>
          </c:cat>
          <c:val>
            <c:numRef>
              <c:f>Sheet1!$C$2:$C$7</c:f>
              <c:numCache>
                <c:formatCode>0.0</c:formatCode>
                <c:ptCount val="6"/>
                <c:pt idx="0">
                  <c:v>2.3507153220000001</c:v>
                </c:pt>
                <c:pt idx="1">
                  <c:v>2.4850970270000001</c:v>
                </c:pt>
                <c:pt idx="2">
                  <c:v>1.3875841170000001</c:v>
                </c:pt>
                <c:pt idx="3">
                  <c:v>0.95747642899999996</c:v>
                </c:pt>
                <c:pt idx="4">
                  <c:v>1.3353921849999999</c:v>
                </c:pt>
                <c:pt idx="5">
                  <c:v>1.1798282204999999</c:v>
                </c:pt>
              </c:numCache>
            </c:numRef>
          </c:val>
          <c:extLst>
            <c:ext xmlns:c16="http://schemas.microsoft.com/office/drawing/2014/chart" uri="{C3380CC4-5D6E-409C-BE32-E72D297353CC}">
              <c16:uniqueId val="{00000001-523E-4EFE-95E5-51F6E8C3C596}"/>
            </c:ext>
          </c:extLst>
        </c:ser>
        <c:ser>
          <c:idx val="2"/>
          <c:order val="2"/>
          <c:tx>
            <c:strRef>
              <c:f>Sheet1!$D$1</c:f>
              <c:strCache>
                <c:ptCount val="1"/>
                <c:pt idx="0">
                  <c:v>Total</c:v>
                </c:pt>
              </c:strCache>
            </c:strRef>
          </c:tx>
          <c:spPr>
            <a:noFill/>
            <a:ln>
              <a:noFill/>
            </a:ln>
          </c:spPr>
          <c:invertIfNegative val="1"/>
          <c:dLbls>
            <c:dLbl>
              <c:idx val="0"/>
              <c:tx>
                <c:rich>
                  <a:bodyPr/>
                  <a:lstStyle/>
                  <a:p>
                    <a:r>
                      <a:rPr lang="en-US" sz="650" b="1">
                        <a:solidFill>
                          <a:srgbClr val="0A2373"/>
                        </a:solidFill>
                      </a:rPr>
                      <a:t>3.8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23E-4EFE-95E5-51F6E8C3C596}"/>
                </c:ext>
              </c:extLst>
            </c:dLbl>
            <c:dLbl>
              <c:idx val="1"/>
              <c:tx>
                <c:rich>
                  <a:bodyPr/>
                  <a:lstStyle/>
                  <a:p>
                    <a:r>
                      <a:rPr lang="en-US" sz="650" b="1">
                        <a:solidFill>
                          <a:srgbClr val="0A2373"/>
                        </a:solidFill>
                      </a:rPr>
                      <a:t>4.0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23E-4EFE-95E5-51F6E8C3C596}"/>
                </c:ext>
              </c:extLst>
            </c:dLbl>
            <c:dLbl>
              <c:idx val="2"/>
              <c:tx>
                <c:rich>
                  <a:bodyPr/>
                  <a:lstStyle/>
                  <a:p>
                    <a:r>
                      <a:rPr lang="en-US" sz="650" b="1">
                        <a:solidFill>
                          <a:srgbClr val="0A2373"/>
                        </a:solidFill>
                      </a:rPr>
                      <a:t>1.6</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23E-4EFE-95E5-51F6E8C3C596}"/>
                </c:ext>
              </c:extLst>
            </c:dLbl>
            <c:dLbl>
              <c:idx val="3"/>
              <c:tx>
                <c:rich>
                  <a:bodyPr/>
                  <a:lstStyle/>
                  <a:p>
                    <a:r>
                      <a:rPr lang="en-US" sz="650" b="1">
                        <a:solidFill>
                          <a:srgbClr val="0A2373"/>
                        </a:solidFill>
                      </a:rPr>
                      <a:t>1.1</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23E-4EFE-95E5-51F6E8C3C596}"/>
                </c:ext>
              </c:extLst>
            </c:dLbl>
            <c:dLbl>
              <c:idx val="4"/>
              <c:tx>
                <c:rich>
                  <a:bodyPr/>
                  <a:lstStyle/>
                  <a:p>
                    <a:r>
                      <a:rPr lang="en-US" sz="650" b="1">
                        <a:solidFill>
                          <a:srgbClr val="0A2373"/>
                        </a:solidFill>
                      </a:rPr>
                      <a:t>1.5</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523E-4EFE-95E5-51F6E8C3C596}"/>
                </c:ext>
              </c:extLst>
            </c:dLbl>
            <c:dLbl>
              <c:idx val="5"/>
              <c:tx>
                <c:rich>
                  <a:bodyPr/>
                  <a:lstStyle/>
                  <a:p>
                    <a:r>
                      <a:rPr lang="en-US" sz="650" b="1">
                        <a:solidFill>
                          <a:srgbClr val="0A2373"/>
                        </a:solidFill>
                      </a:rPr>
                      <a:t>1.7</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523E-4EFE-95E5-51F6E8C3C59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21</c:v>
                </c:pt>
                <c:pt idx="1">
                  <c:v>22</c:v>
                </c:pt>
                <c:pt idx="2">
                  <c:v>23</c:v>
                </c:pt>
                <c:pt idx="3">
                  <c:v>24</c:v>
                </c:pt>
                <c:pt idx="4">
                  <c:v>25</c:v>
                </c:pt>
                <c:pt idx="5">
                  <c:v>26*</c:v>
                </c:pt>
              </c:strCache>
            </c:strRef>
          </c:cat>
          <c:val>
            <c:numRef>
              <c:f>Sheet1!$D$2:$D$7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8-523E-4EFE-95E5-51F6E8C3C596}"/>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D4D4D4"/>
            </a:solidFill>
          </a:ln>
        </c:spPr>
        <c:txPr>
          <a:bodyPr/>
          <a:lstStyle/>
          <a:p>
            <a:pPr>
              <a:defRPr sz="700">
                <a:solidFill>
                  <a:srgbClr val="666666"/>
                </a:solidFill>
              </a:defRPr>
            </a:pPr>
            <a:endParaRPr lang="en-US"/>
          </a:p>
        </c:txPr>
        <c:crossAx val="-2113994440"/>
        <c:crosses val="autoZero"/>
        <c:auto val="1"/>
        <c:lblAlgn val="ctr"/>
        <c:lblOffset val="100"/>
        <c:noMultiLvlLbl val="0"/>
      </c:catAx>
      <c:valAx>
        <c:axId val="-2113994440"/>
        <c:scaling>
          <c:orientation val="minMax"/>
          <c:max val="5.2607780544000002"/>
          <c:min val="0"/>
        </c:scaling>
        <c:delete val="1"/>
        <c:axPos val="l"/>
        <c:numFmt formatCode="0.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700">
          <a:latin typeface="Lato"/>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21</c:v>
                </c:pt>
                <c:pt idx="1">
                  <c:v>22</c:v>
                </c:pt>
                <c:pt idx="2">
                  <c:v>23</c:v>
                </c:pt>
                <c:pt idx="3">
                  <c:v>24</c:v>
                </c:pt>
                <c:pt idx="4">
                  <c:v>25</c:v>
                </c:pt>
                <c:pt idx="5">
                  <c:v>26*</c:v>
                </c:pt>
              </c:strCache>
            </c:strRef>
          </c:cat>
          <c:val>
            <c:numRef>
              <c:f>Sheet1!$B$2:$B$7</c:f>
              <c:numCache>
                <c:formatCode>0.0</c:formatCode>
                <c:ptCount val="6"/>
                <c:pt idx="0">
                  <c:v>0.62103852287000005</c:v>
                </c:pt>
                <c:pt idx="1">
                  <c:v>0.56779023878000001</c:v>
                </c:pt>
                <c:pt idx="2">
                  <c:v>0.59843659401999993</c:v>
                </c:pt>
                <c:pt idx="3">
                  <c:v>0.50940610099999994</c:v>
                </c:pt>
                <c:pt idx="4">
                  <c:v>0.42406481499999998</c:v>
                </c:pt>
                <c:pt idx="5">
                  <c:v>0.35037628500000001</c:v>
                </c:pt>
              </c:numCache>
            </c:numRef>
          </c:val>
          <c:extLst>
            <c:ext xmlns:c16="http://schemas.microsoft.com/office/drawing/2014/chart" uri="{C3380CC4-5D6E-409C-BE32-E72D297353CC}">
              <c16:uniqueId val="{00000000-F5F2-42F4-A719-A3E5A110EA5F}"/>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21</c:v>
                </c:pt>
                <c:pt idx="1">
                  <c:v>22</c:v>
                </c:pt>
                <c:pt idx="2">
                  <c:v>23</c:v>
                </c:pt>
                <c:pt idx="3">
                  <c:v>24</c:v>
                </c:pt>
                <c:pt idx="4">
                  <c:v>25</c:v>
                </c:pt>
                <c:pt idx="5">
                  <c:v>26*</c:v>
                </c:pt>
              </c:strCache>
            </c:strRef>
          </c:cat>
          <c:val>
            <c:numRef>
              <c:f>Sheet1!$C$2:$C$7</c:f>
              <c:numCache>
                <c:formatCode>0.0</c:formatCode>
                <c:ptCount val="6"/>
                <c:pt idx="0">
                  <c:v>0.48075666387999999</c:v>
                </c:pt>
                <c:pt idx="1">
                  <c:v>0.48588674162000001</c:v>
                </c:pt>
                <c:pt idx="2">
                  <c:v>0.44778899929999999</c:v>
                </c:pt>
                <c:pt idx="3">
                  <c:v>0.28068064399999998</c:v>
                </c:pt>
                <c:pt idx="4">
                  <c:v>0.25296072600000002</c:v>
                </c:pt>
                <c:pt idx="5">
                  <c:v>0.22929233400000001</c:v>
                </c:pt>
              </c:numCache>
            </c:numRef>
          </c:val>
          <c:extLst>
            <c:ext xmlns:c16="http://schemas.microsoft.com/office/drawing/2014/chart" uri="{C3380CC4-5D6E-409C-BE32-E72D297353CC}">
              <c16:uniqueId val="{00000001-F5F2-42F4-A719-A3E5A110EA5F}"/>
            </c:ext>
          </c:extLst>
        </c:ser>
        <c:ser>
          <c:idx val="2"/>
          <c:order val="2"/>
          <c:tx>
            <c:strRef>
              <c:f>Sheet1!$D$1</c:f>
              <c:strCache>
                <c:ptCount val="1"/>
                <c:pt idx="0">
                  <c:v>Total</c:v>
                </c:pt>
              </c:strCache>
            </c:strRef>
          </c:tx>
          <c:spPr>
            <a:noFill/>
            <a:ln>
              <a:noFill/>
            </a:ln>
          </c:spPr>
          <c:invertIfNegative val="1"/>
          <c:dLbls>
            <c:dLbl>
              <c:idx val="0"/>
              <c:tx>
                <c:rich>
                  <a:bodyPr/>
                  <a:lstStyle/>
                  <a:p>
                    <a:r>
                      <a:rPr lang="en-US" sz="650" b="1">
                        <a:solidFill>
                          <a:srgbClr val="0A2373"/>
                        </a:solidFill>
                      </a:rPr>
                      <a:t>1.1</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F5F2-42F4-A719-A3E5A110EA5F}"/>
                </c:ext>
              </c:extLst>
            </c:dLbl>
            <c:dLbl>
              <c:idx val="1"/>
              <c:tx>
                <c:rich>
                  <a:bodyPr/>
                  <a:lstStyle/>
                  <a:p>
                    <a:r>
                      <a:rPr lang="en-US" sz="650" b="1">
                        <a:solidFill>
                          <a:srgbClr val="0A2373"/>
                        </a:solidFill>
                      </a:rPr>
                      <a:t>1.1</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5F2-42F4-A719-A3E5A110EA5F}"/>
                </c:ext>
              </c:extLst>
            </c:dLbl>
            <c:dLbl>
              <c:idx val="2"/>
              <c:tx>
                <c:rich>
                  <a:bodyPr/>
                  <a:lstStyle/>
                  <a:p>
                    <a:r>
                      <a:rPr lang="en-US" sz="650" b="1">
                        <a:solidFill>
                          <a:srgbClr val="0A2373"/>
                        </a:solidFill>
                      </a:rPr>
                      <a:t>1.0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F5F2-42F4-A719-A3E5A110EA5F}"/>
                </c:ext>
              </c:extLst>
            </c:dLbl>
            <c:dLbl>
              <c:idx val="3"/>
              <c:tx>
                <c:rich>
                  <a:bodyPr/>
                  <a:lstStyle/>
                  <a:p>
                    <a:r>
                      <a:rPr lang="en-US" sz="650" b="1">
                        <a:solidFill>
                          <a:srgbClr val="0A2373"/>
                        </a:solidFill>
                      </a:rPr>
                      <a:t>0.79</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F5F2-42F4-A719-A3E5A110EA5F}"/>
                </c:ext>
              </c:extLst>
            </c:dLbl>
            <c:dLbl>
              <c:idx val="4"/>
              <c:tx>
                <c:rich>
                  <a:bodyPr/>
                  <a:lstStyle/>
                  <a:p>
                    <a:r>
                      <a:rPr lang="en-US" sz="650" b="1">
                        <a:solidFill>
                          <a:srgbClr val="0A2373"/>
                        </a:solidFill>
                      </a:rPr>
                      <a:t>0.68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F5F2-42F4-A719-A3E5A110EA5F}"/>
                </c:ext>
              </c:extLst>
            </c:dLbl>
            <c:dLbl>
              <c:idx val="5"/>
              <c:tx>
                <c:rich>
                  <a:bodyPr/>
                  <a:lstStyle/>
                  <a:p>
                    <a:r>
                      <a:rPr lang="en-US" sz="650" b="1">
                        <a:solidFill>
                          <a:srgbClr val="0A2373"/>
                        </a:solidFill>
                      </a:rPr>
                      <a:t>0.58</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F5F2-42F4-A719-A3E5A110EA5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21</c:v>
                </c:pt>
                <c:pt idx="1">
                  <c:v>22</c:v>
                </c:pt>
                <c:pt idx="2">
                  <c:v>23</c:v>
                </c:pt>
                <c:pt idx="3">
                  <c:v>24</c:v>
                </c:pt>
                <c:pt idx="4">
                  <c:v>25</c:v>
                </c:pt>
                <c:pt idx="5">
                  <c:v>26*</c:v>
                </c:pt>
              </c:strCache>
            </c:strRef>
          </c:cat>
          <c:val>
            <c:numRef>
              <c:f>Sheet1!$D$2:$D$7</c:f>
              <c:numCache>
                <c:formatCode>0.0</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8-F5F2-42F4-A719-A3E5A110EA5F}"/>
            </c:ext>
          </c:extLst>
        </c:ser>
        <c:dLbls>
          <c:showLegendKey val="0"/>
          <c:showVal val="0"/>
          <c:showCatName val="0"/>
          <c:showSerName val="0"/>
          <c:showPercent val="0"/>
          <c:showBubbleSize val="0"/>
        </c:dLbls>
        <c:gapWidth val="45"/>
        <c:overlap val="10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D4D4D4"/>
            </a:solidFill>
          </a:ln>
        </c:spPr>
        <c:txPr>
          <a:bodyPr/>
          <a:lstStyle/>
          <a:p>
            <a:pPr>
              <a:defRPr sz="700">
                <a:solidFill>
                  <a:srgbClr val="666666"/>
                </a:solidFill>
              </a:defRPr>
            </a:pPr>
            <a:endParaRPr lang="en-US"/>
          </a:p>
        </c:txPr>
        <c:crossAx val="-2113994440"/>
        <c:crosses val="autoZero"/>
        <c:auto val="1"/>
        <c:lblAlgn val="ctr"/>
        <c:lblOffset val="100"/>
        <c:noMultiLvlLbl val="0"/>
      </c:catAx>
      <c:valAx>
        <c:axId val="-2113994440"/>
        <c:scaling>
          <c:orientation val="minMax"/>
          <c:max val="1.45436964651"/>
          <c:min val="0"/>
        </c:scaling>
        <c:delete val="1"/>
        <c:axPos val="l"/>
        <c:numFmt formatCode="0.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700">
          <a:latin typeface="Lato"/>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Petrol</c:v>
                </c:pt>
              </c:strCache>
            </c:strRef>
          </c:tx>
          <c:spPr>
            <a:solidFill>
              <a:srgbClr val="0A2373"/>
            </a:solidFill>
          </c:spPr>
          <c:invertIfNegative val="0"/>
          <c:cat>
            <c:strRef>
              <c:f>Sheet1!$A$2:$A$7</c:f>
              <c:strCache>
                <c:ptCount val="6"/>
                <c:pt idx="0">
                  <c:v>Gauteng 7.7</c:v>
                </c:pt>
                <c:pt idx="1">
                  <c:v>KwaZulu-Natal 5.0</c:v>
                </c:pt>
                <c:pt idx="2">
                  <c:v>Mpumalanga 2.1</c:v>
                </c:pt>
                <c:pt idx="3">
                  <c:v>Free State 1.6</c:v>
                </c:pt>
                <c:pt idx="4">
                  <c:v>North West 1.2</c:v>
                </c:pt>
                <c:pt idx="5">
                  <c:v>Limpopo 0.6</c:v>
                </c:pt>
              </c:strCache>
            </c:strRef>
          </c:cat>
          <c:val>
            <c:numRef>
              <c:f>Sheet1!$B$2:$B$7</c:f>
              <c:numCache>
                <c:formatCode>0.0</c:formatCode>
                <c:ptCount val="6"/>
                <c:pt idx="0">
                  <c:v>3.5719113448006126</c:v>
                </c:pt>
                <c:pt idx="1">
                  <c:v>1.5165454948723205</c:v>
                </c:pt>
                <c:pt idx="2">
                  <c:v>0.61945775826851512</c:v>
                </c:pt>
                <c:pt idx="3">
                  <c:v>0.59435871203257906</c:v>
                </c:pt>
                <c:pt idx="4">
                  <c:v>0.45342059722517492</c:v>
                </c:pt>
                <c:pt idx="5">
                  <c:v>0.27685846461137487</c:v>
                </c:pt>
              </c:numCache>
            </c:numRef>
          </c:val>
          <c:extLst>
            <c:ext xmlns:c16="http://schemas.microsoft.com/office/drawing/2014/chart" uri="{C3380CC4-5D6E-409C-BE32-E72D297353CC}">
              <c16:uniqueId val="{00000000-CD3C-405B-8380-07EFF01004AC}"/>
            </c:ext>
          </c:extLst>
        </c:ser>
        <c:ser>
          <c:idx val="1"/>
          <c:order val="1"/>
          <c:tx>
            <c:strRef>
              <c:f>Sheet1!$C$1</c:f>
              <c:strCache>
                <c:ptCount val="1"/>
                <c:pt idx="0">
                  <c:v>Diesel</c:v>
                </c:pt>
              </c:strCache>
            </c:strRef>
          </c:tx>
          <c:spPr>
            <a:solidFill>
              <a:srgbClr val="6782B4"/>
            </a:solidFill>
          </c:spPr>
          <c:invertIfNegative val="0"/>
          <c:cat>
            <c:strRef>
              <c:f>Sheet1!$A$2:$A$7</c:f>
              <c:strCache>
                <c:ptCount val="6"/>
                <c:pt idx="0">
                  <c:v>Gauteng 7.7</c:v>
                </c:pt>
                <c:pt idx="1">
                  <c:v>KwaZulu-Natal 5.0</c:v>
                </c:pt>
                <c:pt idx="2">
                  <c:v>Mpumalanga 2.1</c:v>
                </c:pt>
                <c:pt idx="3">
                  <c:v>Free State 1.6</c:v>
                </c:pt>
                <c:pt idx="4">
                  <c:v>North West 1.2</c:v>
                </c:pt>
                <c:pt idx="5">
                  <c:v>Limpopo 0.6</c:v>
                </c:pt>
              </c:strCache>
            </c:strRef>
          </c:cat>
          <c:val>
            <c:numRef>
              <c:f>Sheet1!$C$2:$C$7</c:f>
              <c:numCache>
                <c:formatCode>0.0</c:formatCode>
                <c:ptCount val="6"/>
                <c:pt idx="0">
                  <c:v>4.1477724354390064</c:v>
                </c:pt>
                <c:pt idx="1">
                  <c:v>3.5235989309250497</c:v>
                </c:pt>
                <c:pt idx="2">
                  <c:v>1.4482763886329639</c:v>
                </c:pt>
                <c:pt idx="3">
                  <c:v>0.9890184692962487</c:v>
                </c:pt>
                <c:pt idx="4">
                  <c:v>0.78415324647162288</c:v>
                </c:pt>
                <c:pt idx="5">
                  <c:v>0.28080391971961527</c:v>
                </c:pt>
              </c:numCache>
            </c:numRef>
          </c:val>
          <c:extLst>
            <c:ext xmlns:c16="http://schemas.microsoft.com/office/drawing/2014/chart" uri="{C3380CC4-5D6E-409C-BE32-E72D297353CC}">
              <c16:uniqueId val="{00000001-CD3C-405B-8380-07EFF01004AC}"/>
            </c:ext>
          </c:extLst>
        </c:ser>
        <c:dLbls>
          <c:showLegendKey val="0"/>
          <c:showVal val="0"/>
          <c:showCatName val="0"/>
          <c:showSerName val="0"/>
          <c:showPercent val="0"/>
          <c:showBubbleSize val="0"/>
        </c:dLbls>
        <c:gapWidth val="60"/>
        <c:overlap val="10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3994440"/>
        <c:crosses val="autoZero"/>
        <c:auto val="1"/>
        <c:lblAlgn val="ctr"/>
        <c:lblOffset val="100"/>
        <c:noMultiLvlLbl val="0"/>
      </c:catAx>
      <c:valAx>
        <c:axId val="-2113994440"/>
        <c:scaling>
          <c:orientation val="minMax"/>
          <c:max val="8"/>
          <c:min val="0"/>
        </c:scaling>
        <c:delete val="0"/>
        <c:axPos val="l"/>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068027336"/>
        <c:crosses val="autoZero"/>
        <c:crossBetween val="between"/>
        <c:majorUnit val="2"/>
      </c:valAx>
    </c:plotArea>
    <c:legend>
      <c:legendPos val="b"/>
      <c:overlay val="0"/>
      <c:txPr>
        <a:bodyPr/>
        <a:lstStyle/>
        <a:p>
          <a:pPr>
            <a:defRPr sz="800"/>
          </a:pPr>
          <a:endParaRPr lang="en-US"/>
        </a:p>
      </c:txPr>
    </c:legend>
    <c:plotVisOnly val="1"/>
    <c:dispBlanksAs val="gap"/>
    <c:showDLblsOverMax val="1"/>
  </c:chart>
  <c:txPr>
    <a:bodyPr/>
    <a:lstStyle/>
    <a:p>
      <a:pPr>
        <a:defRPr sz="900">
          <a:latin typeface="Lato"/>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1  Economic activity</c:v>
                </c:pt>
              </c:strCache>
            </c:strRef>
          </c:tx>
          <c:spPr>
            <a:ln w="23813">
              <a:solidFill>
                <a:srgbClr val="0A2373"/>
              </a:solidFill>
            </a:ln>
          </c:spPr>
          <c:marker>
            <c:symbol val="none"/>
          </c:marker>
          <c:cat>
            <c:strRef>
              <c:f>Sheet1!$A$2:$A$17</c:f>
              <c:strCache>
                <c:ptCount val="16"/>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strCache>
            </c:strRef>
          </c:cat>
          <c:val>
            <c:numRef>
              <c:f>Sheet1!$B$2:$B$17</c:f>
              <c:numCache>
                <c:formatCode>0.0</c:formatCode>
                <c:ptCount val="16"/>
                <c:pt idx="0">
                  <c:v>3.9738016033111956</c:v>
                </c:pt>
                <c:pt idx="1">
                  <c:v>4.0997137435235089</c:v>
                </c:pt>
                <c:pt idx="2">
                  <c:v>4.1979524119134668</c:v>
                </c:pt>
                <c:pt idx="3">
                  <c:v>4.3022911761431404</c:v>
                </c:pt>
                <c:pt idx="4">
                  <c:v>4.3631181068005995</c:v>
                </c:pt>
                <c:pt idx="5">
                  <c:v>4.4207925174144709</c:v>
                </c:pt>
                <c:pt idx="6">
                  <c:v>4.4501709961145135</c:v>
                </c:pt>
                <c:pt idx="7">
                  <c:v>4.5017016154848308</c:v>
                </c:pt>
                <c:pt idx="8">
                  <c:v>4.5717833790533957</c:v>
                </c:pt>
                <c:pt idx="9">
                  <c:v>4.5836670705621652</c:v>
                </c:pt>
                <c:pt idx="10">
                  <c:v>4.3009044207306824</c:v>
                </c:pt>
                <c:pt idx="11">
                  <c:v>4.509870255259866</c:v>
                </c:pt>
                <c:pt idx="12">
                  <c:v>4.6026895463647746</c:v>
                </c:pt>
                <c:pt idx="13">
                  <c:v>4.6397920363245602</c:v>
                </c:pt>
                <c:pt idx="14">
                  <c:v>4.6646076638986917</c:v>
                </c:pt>
                <c:pt idx="15">
                  <c:v>4.7166005974934793</c:v>
                </c:pt>
              </c:numCache>
            </c:numRef>
          </c:val>
          <c:smooth val="0"/>
          <c:extLst>
            <c:ext xmlns:c16="http://schemas.microsoft.com/office/drawing/2014/chart" uri="{C3380CC4-5D6E-409C-BE32-E72D297353CC}">
              <c16:uniqueId val="{00000000-CC91-44EE-B48B-086570EA52A0}"/>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40495176"/>
        <c:crosses val="autoZero"/>
        <c:auto val="1"/>
        <c:lblAlgn val="ctr"/>
        <c:lblOffset val="100"/>
        <c:noMultiLvlLbl val="0"/>
      </c:catAx>
      <c:valAx>
        <c:axId val="2140495176"/>
        <c:scaling>
          <c:orientation val="minMax"/>
          <c:max val="5"/>
          <c:min val="0"/>
        </c:scaling>
        <c:delete val="0"/>
        <c:axPos val="l"/>
        <c:numFmt formatCode="0.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8791784"/>
        <c:crosses val="autoZero"/>
        <c:crossBetween val="between"/>
        <c:majorUnit val="1"/>
      </c:valAx>
    </c:plotArea>
    <c:plotVisOnly val="1"/>
    <c:dispBlanksAs val="gap"/>
    <c:showDLblsOverMax val="0"/>
  </c:chart>
  <c:txPr>
    <a:bodyPr/>
    <a:lstStyle/>
    <a:p>
      <a:pPr>
        <a:defRPr sz="800">
          <a:latin typeface="Lato"/>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2  Petrol price</c:v>
                </c:pt>
              </c:strCache>
            </c:strRef>
          </c:tx>
          <c:spPr>
            <a:ln w="23813">
              <a:solidFill>
                <a:srgbClr val="0A2373"/>
              </a:solidFill>
            </a:ln>
          </c:spPr>
          <c:marker>
            <c:symbol val="none"/>
          </c:marker>
          <c:cat>
            <c:strRef>
              <c:f>Sheet1!$A$2:$A$16</c:f>
              <c:strCache>
                <c:ptCount val="15"/>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pt idx="13">
                  <c:v>2025</c:v>
                </c:pt>
                <c:pt idx="14">
                  <c:v>2026*</c:v>
                </c:pt>
              </c:strCache>
            </c:strRef>
          </c:cat>
          <c:val>
            <c:numRef>
              <c:f>Sheet1!$B$2:$B$16</c:f>
              <c:numCache>
                <c:formatCode>0</c:formatCode>
                <c:ptCount val="15"/>
                <c:pt idx="0">
                  <c:v>11.563330000000001</c:v>
                </c:pt>
                <c:pt idx="1">
                  <c:v>12.921669999999999</c:v>
                </c:pt>
                <c:pt idx="2">
                  <c:v>13.838330000000001</c:v>
                </c:pt>
                <c:pt idx="3">
                  <c:v>12.41333</c:v>
                </c:pt>
                <c:pt idx="4">
                  <c:v>12.58667</c:v>
                </c:pt>
                <c:pt idx="5">
                  <c:v>13.623330000000001</c:v>
                </c:pt>
                <c:pt idx="6">
                  <c:v>15.422499999999999</c:v>
                </c:pt>
                <c:pt idx="7">
                  <c:v>15.734999999999999</c:v>
                </c:pt>
                <c:pt idx="8">
                  <c:v>14.749169999999999</c:v>
                </c:pt>
                <c:pt idx="9">
                  <c:v>17.559999999999999</c:v>
                </c:pt>
                <c:pt idx="10">
                  <c:v>22.795830000000002</c:v>
                </c:pt>
                <c:pt idx="11">
                  <c:v>23.135830000000002</c:v>
                </c:pt>
                <c:pt idx="12">
                  <c:v>23.11833</c:v>
                </c:pt>
                <c:pt idx="13">
                  <c:v>21.656669999999998</c:v>
                </c:pt>
                <c:pt idx="14">
                  <c:v>24.805</c:v>
                </c:pt>
              </c:numCache>
            </c:numRef>
          </c:val>
          <c:smooth val="0"/>
          <c:extLst>
            <c:ext xmlns:c16="http://schemas.microsoft.com/office/drawing/2014/chart" uri="{C3380CC4-5D6E-409C-BE32-E72D297353CC}">
              <c16:uniqueId val="{00000000-D76B-4ED7-8670-C6ECBB054AFB}"/>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40495176"/>
        <c:crosses val="autoZero"/>
        <c:auto val="1"/>
        <c:lblAlgn val="ctr"/>
        <c:lblOffset val="100"/>
        <c:noMultiLvlLbl val="0"/>
      </c:catAx>
      <c:valAx>
        <c:axId val="2140495176"/>
        <c:scaling>
          <c:orientation val="minMax"/>
          <c:max val="30"/>
          <c:min val="0"/>
        </c:scaling>
        <c:delete val="0"/>
        <c:axPos val="l"/>
        <c:numFmt formatCode="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8791784"/>
        <c:crosses val="autoZero"/>
        <c:crossBetween val="between"/>
        <c:majorUnit val="10"/>
      </c:valAx>
    </c:plotArea>
    <c:plotVisOnly val="1"/>
    <c:dispBlanksAs val="gap"/>
    <c:showDLblsOverMax val="0"/>
  </c:chart>
  <c:txPr>
    <a:bodyPr/>
    <a:lstStyle/>
    <a:p>
      <a:pPr>
        <a:defRPr sz="800">
          <a:latin typeface="Lato"/>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3  Power recovery</c:v>
                </c:pt>
              </c:strCache>
            </c:strRef>
          </c:tx>
          <c:spPr>
            <a:solidFill>
              <a:srgbClr val="0A2373"/>
            </a:solidFill>
          </c:spPr>
          <c:invertIfNegative val="0"/>
          <c:cat>
            <c:strRef>
              <c:f>Sheet1!$A$2:$A$12</c:f>
              <c:strCache>
                <c:ptCount val="11"/>
                <c:pt idx="0">
                  <c:v>FY16</c:v>
                </c:pt>
                <c:pt idx="1">
                  <c:v>FY17</c:v>
                </c:pt>
                <c:pt idx="2">
                  <c:v>FY18</c:v>
                </c:pt>
                <c:pt idx="3">
                  <c:v>FY19</c:v>
                </c:pt>
                <c:pt idx="4">
                  <c:v>FY20</c:v>
                </c:pt>
                <c:pt idx="5">
                  <c:v>FY21</c:v>
                </c:pt>
                <c:pt idx="6">
                  <c:v>FY22</c:v>
                </c:pt>
                <c:pt idx="7">
                  <c:v>FY23</c:v>
                </c:pt>
                <c:pt idx="8">
                  <c:v>FY24</c:v>
                </c:pt>
                <c:pt idx="9">
                  <c:v>FY25</c:v>
                </c:pt>
                <c:pt idx="10">
                  <c:v>FY26</c:v>
                </c:pt>
              </c:strCache>
            </c:strRef>
          </c:cat>
          <c:val>
            <c:numRef>
              <c:f>Sheet1!$B$2:$B$12</c:f>
              <c:numCache>
                <c:formatCode>0.0</c:formatCode>
                <c:ptCount val="11"/>
                <c:pt idx="0">
                  <c:v>1.2478</c:v>
                </c:pt>
                <c:pt idx="1">
                  <c:v>0.01</c:v>
                </c:pt>
                <c:pt idx="2">
                  <c:v>3.78E-2</c:v>
                </c:pt>
                <c:pt idx="3">
                  <c:v>0.38500000000000001</c:v>
                </c:pt>
                <c:pt idx="4">
                  <c:v>0.42619999999999997</c:v>
                </c:pt>
                <c:pt idx="5">
                  <c:v>0.4587</c:v>
                </c:pt>
                <c:pt idx="6">
                  <c:v>0.58040000000000003</c:v>
                </c:pt>
                <c:pt idx="7">
                  <c:v>0.9375</c:v>
                </c:pt>
                <c:pt idx="8">
                  <c:v>1.1294999999999999</c:v>
                </c:pt>
                <c:pt idx="9">
                  <c:v>0.67910000000000004</c:v>
                </c:pt>
                <c:pt idx="10">
                  <c:v>0.25659999999999999</c:v>
                </c:pt>
              </c:numCache>
            </c:numRef>
          </c:val>
          <c:extLst>
            <c:ext xmlns:c16="http://schemas.microsoft.com/office/drawing/2014/chart" uri="{C3380CC4-5D6E-409C-BE32-E72D297353CC}">
              <c16:uniqueId val="{00000000-CFD9-4CEF-8CEF-AB6885C37F0E}"/>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3994440"/>
        <c:crosses val="autoZero"/>
        <c:auto val="1"/>
        <c:lblAlgn val="ctr"/>
        <c:lblOffset val="100"/>
        <c:noMultiLvlLbl val="0"/>
      </c:catAx>
      <c:valAx>
        <c:axId val="-2113994440"/>
        <c:scaling>
          <c:orientation val="minMax"/>
          <c:max val="1.5"/>
          <c:min val="0"/>
        </c:scaling>
        <c:delete val="0"/>
        <c:axPos val="l"/>
        <c:numFmt formatCode="0.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068027336"/>
        <c:crosses val="autoZero"/>
        <c:crossBetween val="between"/>
        <c:majorUnit val="0.5"/>
      </c:valAx>
    </c:plotArea>
    <c:plotVisOnly val="1"/>
    <c:dispBlanksAs val="gap"/>
    <c:showDLblsOverMax val="1"/>
  </c:chart>
  <c:txPr>
    <a:bodyPr/>
    <a:lstStyle/>
    <a:p>
      <a:pPr>
        <a:defRPr sz="800">
          <a:latin typeface="Lato"/>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4  Road to rail</c:v>
                </c:pt>
              </c:strCache>
            </c:strRef>
          </c:tx>
          <c:spPr>
            <a:ln w="23813">
              <a:solidFill>
                <a:srgbClr val="0A2373"/>
              </a:solidFill>
            </a:ln>
          </c:spPr>
          <c:marker>
            <c:symbol val="none"/>
          </c:marker>
          <c:cat>
            <c:strRef>
              <c:f>Sheet1!$A$2:$A$18</c:f>
              <c:strCache>
                <c:ptCount val="17"/>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strCache>
            </c:strRef>
          </c:cat>
          <c:val>
            <c:numRef>
              <c:f>Sheet1!$B$2:$B$18</c:f>
              <c:numCache>
                <c:formatCode>0</c:formatCode>
                <c:ptCount val="17"/>
                <c:pt idx="0">
                  <c:v>181.15600000000001</c:v>
                </c:pt>
                <c:pt idx="1">
                  <c:v>193.78199999999998</c:v>
                </c:pt>
                <c:pt idx="2">
                  <c:v>205.428</c:v>
                </c:pt>
                <c:pt idx="3">
                  <c:v>211.40199999999999</c:v>
                </c:pt>
                <c:pt idx="4">
                  <c:v>219.982</c:v>
                </c:pt>
                <c:pt idx="5">
                  <c:v>219.02600000000001</c:v>
                </c:pt>
                <c:pt idx="6">
                  <c:v>215.012</c:v>
                </c:pt>
                <c:pt idx="7">
                  <c:v>225.22800000000001</c:v>
                </c:pt>
                <c:pt idx="8">
                  <c:v>216.542</c:v>
                </c:pt>
                <c:pt idx="9">
                  <c:v>214.03</c:v>
                </c:pt>
                <c:pt idx="10">
                  <c:v>190.267</c:v>
                </c:pt>
                <c:pt idx="11">
                  <c:v>177.155</c:v>
                </c:pt>
                <c:pt idx="12">
                  <c:v>155.91300000000001</c:v>
                </c:pt>
                <c:pt idx="13">
                  <c:v>160.1</c:v>
                </c:pt>
                <c:pt idx="14">
                  <c:v>160.745</c:v>
                </c:pt>
                <c:pt idx="15">
                  <c:v>168.25900000000001</c:v>
                </c:pt>
                <c:pt idx="16">
                  <c:v>173.39142857142858</c:v>
                </c:pt>
              </c:numCache>
            </c:numRef>
          </c:val>
          <c:smooth val="0"/>
          <c:extLst>
            <c:ext xmlns:c16="http://schemas.microsoft.com/office/drawing/2014/chart" uri="{C3380CC4-5D6E-409C-BE32-E72D297353CC}">
              <c16:uniqueId val="{00000000-3F4B-4FEC-B877-C533225F322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40495176"/>
        <c:crosses val="autoZero"/>
        <c:auto val="1"/>
        <c:lblAlgn val="ctr"/>
        <c:lblOffset val="100"/>
        <c:noMultiLvlLbl val="0"/>
      </c:catAx>
      <c:valAx>
        <c:axId val="2140495176"/>
        <c:scaling>
          <c:orientation val="minMax"/>
          <c:max val="250"/>
          <c:min val="0"/>
        </c:scaling>
        <c:delete val="0"/>
        <c:axPos val="l"/>
        <c:numFmt formatCode="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8791784"/>
        <c:crosses val="autoZero"/>
        <c:crossBetween val="between"/>
        <c:majorUnit val="50"/>
      </c:valAx>
    </c:plotArea>
    <c:plotVisOnly val="1"/>
    <c:dispBlanksAs val="gap"/>
    <c:showDLblsOverMax val="0"/>
  </c:chart>
  <c:txPr>
    <a:bodyPr/>
    <a:lstStyle/>
    <a:p>
      <a:pPr>
        <a:defRPr sz="800">
          <a:latin typeface="Lato"/>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5  Electrified vehicles</c:v>
                </c:pt>
              </c:strCache>
            </c:strRef>
          </c:tx>
          <c:spPr>
            <a:solidFill>
              <a:srgbClr val="0A2373"/>
            </a:solidFill>
          </c:spPr>
          <c:invertIfNegative val="0"/>
          <c:cat>
            <c:strRef>
              <c:f>Sheet1!$A$2:$A$9</c:f>
              <c:strCache>
                <c:ptCount val="8"/>
                <c:pt idx="0">
                  <c:v>2019</c:v>
                </c:pt>
                <c:pt idx="1">
                  <c:v>2020</c:v>
                </c:pt>
                <c:pt idx="2">
                  <c:v>2021</c:v>
                </c:pt>
                <c:pt idx="3">
                  <c:v>2022</c:v>
                </c:pt>
                <c:pt idx="4">
                  <c:v>2023</c:v>
                </c:pt>
                <c:pt idx="5">
                  <c:v>2024</c:v>
                </c:pt>
                <c:pt idx="6">
                  <c:v>2025</c:v>
                </c:pt>
                <c:pt idx="7">
                  <c:v>2026*</c:v>
                </c:pt>
              </c:strCache>
            </c:strRef>
          </c:cat>
          <c:val>
            <c:numRef>
              <c:f>Sheet1!$B$2:$B$9</c:f>
              <c:numCache>
                <c:formatCode>#,##0</c:formatCode>
                <c:ptCount val="8"/>
                <c:pt idx="0">
                  <c:v>407</c:v>
                </c:pt>
                <c:pt idx="1">
                  <c:v>324</c:v>
                </c:pt>
                <c:pt idx="2">
                  <c:v>896</c:v>
                </c:pt>
                <c:pt idx="3">
                  <c:v>4694</c:v>
                </c:pt>
                <c:pt idx="4">
                  <c:v>7782</c:v>
                </c:pt>
                <c:pt idx="5">
                  <c:v>15611</c:v>
                </c:pt>
                <c:pt idx="6">
                  <c:v>16716</c:v>
                </c:pt>
                <c:pt idx="7">
                  <c:v>26392</c:v>
                </c:pt>
              </c:numCache>
            </c:numRef>
          </c:val>
          <c:extLst>
            <c:ext xmlns:c16="http://schemas.microsoft.com/office/drawing/2014/chart" uri="{C3380CC4-5D6E-409C-BE32-E72D297353CC}">
              <c16:uniqueId val="{00000000-9334-4314-9E94-1839D9A25A33}"/>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3994440"/>
        <c:crosses val="autoZero"/>
        <c:auto val="1"/>
        <c:lblAlgn val="ctr"/>
        <c:lblOffset val="100"/>
        <c:noMultiLvlLbl val="0"/>
      </c:catAx>
      <c:valAx>
        <c:axId val="-2113994440"/>
        <c:scaling>
          <c:orientation val="minMax"/>
          <c:max val="30000"/>
          <c:min val="0"/>
        </c:scaling>
        <c:delete val="0"/>
        <c:axPos val="l"/>
        <c:numFmt formatCode="#,##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068027336"/>
        <c:crosses val="autoZero"/>
        <c:crossBetween val="between"/>
        <c:majorUnit val="10000"/>
      </c:valAx>
    </c:plotArea>
    <c:plotVisOnly val="1"/>
    <c:dispBlanksAs val="gap"/>
    <c:showDLblsOverMax val="1"/>
  </c:chart>
  <c:txPr>
    <a:bodyPr/>
    <a:lstStyle/>
    <a:p>
      <a:pPr>
        <a:defRPr sz="800">
          <a:latin typeface="Lato"/>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Petrol</c:v>
                </c:pt>
              </c:strCache>
            </c:strRef>
          </c:tx>
          <c:spPr>
            <a:ln w="25400">
              <a:solidFill>
                <a:srgbClr val="0A2373"/>
              </a:solidFill>
            </a:ln>
          </c:spPr>
          <c:marker>
            <c:symbol val="none"/>
          </c:marker>
          <c:cat>
            <c:strRef>
              <c:f>Sheet1!$A$2:$A$22</c:f>
              <c:strCache>
                <c:ptCount val="21"/>
                <c:pt idx="0">
                  <c:v>2006</c:v>
                </c:pt>
                <c:pt idx="10">
                  <c:v>2016</c:v>
                </c:pt>
                <c:pt idx="20">
                  <c:v>2026</c:v>
                </c:pt>
              </c:strCache>
            </c:strRef>
          </c:cat>
          <c:val>
            <c:numRef>
              <c:f>Sheet1!$B$2:$B$22</c:f>
              <c:numCache>
                <c:formatCode>0.0</c:formatCode>
                <c:ptCount val="21"/>
                <c:pt idx="0">
                  <c:v>13.605</c:v>
                </c:pt>
                <c:pt idx="1">
                  <c:v>13.467000000000001</c:v>
                </c:pt>
                <c:pt idx="2">
                  <c:v>13.532999999999999</c:v>
                </c:pt>
                <c:pt idx="3">
                  <c:v>13.224</c:v>
                </c:pt>
                <c:pt idx="4">
                  <c:v>12.919</c:v>
                </c:pt>
                <c:pt idx="5">
                  <c:v>12.632</c:v>
                </c:pt>
                <c:pt idx="6">
                  <c:v>12.351000000000001</c:v>
                </c:pt>
                <c:pt idx="7">
                  <c:v>11.952</c:v>
                </c:pt>
                <c:pt idx="8">
                  <c:v>11.9</c:v>
                </c:pt>
                <c:pt idx="9">
                  <c:v>11.689</c:v>
                </c:pt>
                <c:pt idx="10">
                  <c:v>11.548999999999999</c:v>
                </c:pt>
                <c:pt idx="11">
                  <c:v>11.486000000000001</c:v>
                </c:pt>
                <c:pt idx="12">
                  <c:v>11.375</c:v>
                </c:pt>
                <c:pt idx="13">
                  <c:v>11.334</c:v>
                </c:pt>
                <c:pt idx="14">
                  <c:v>11.423</c:v>
                </c:pt>
                <c:pt idx="15">
                  <c:v>11.468</c:v>
                </c:pt>
                <c:pt idx="16">
                  <c:v>11.401</c:v>
                </c:pt>
                <c:pt idx="17">
                  <c:v>11.459</c:v>
                </c:pt>
                <c:pt idx="18">
                  <c:v>11.378</c:v>
                </c:pt>
                <c:pt idx="19">
                  <c:v>11.234</c:v>
                </c:pt>
                <c:pt idx="20">
                  <c:v>11.199</c:v>
                </c:pt>
              </c:numCache>
            </c:numRef>
          </c:val>
          <c:smooth val="0"/>
          <c:extLst>
            <c:ext xmlns:c16="http://schemas.microsoft.com/office/drawing/2014/chart" uri="{C3380CC4-5D6E-409C-BE32-E72D297353CC}">
              <c16:uniqueId val="{00000000-E5DB-49CC-A5BA-1CE7F2613F63}"/>
            </c:ext>
          </c:extLst>
        </c:ser>
        <c:ser>
          <c:idx val="1"/>
          <c:order val="1"/>
          <c:tx>
            <c:strRef>
              <c:f>Sheet1!$C$1</c:f>
              <c:strCache>
                <c:ptCount val="1"/>
                <c:pt idx="0">
                  <c:v>Diesel</c:v>
                </c:pt>
              </c:strCache>
            </c:strRef>
          </c:tx>
          <c:spPr>
            <a:ln w="25400">
              <a:solidFill>
                <a:srgbClr val="6782B4"/>
              </a:solidFill>
            </a:ln>
          </c:spPr>
          <c:marker>
            <c:symbol val="none"/>
          </c:marker>
          <c:cat>
            <c:strRef>
              <c:f>Sheet1!$A$2:$A$22</c:f>
              <c:strCache>
                <c:ptCount val="21"/>
                <c:pt idx="0">
                  <c:v>2006</c:v>
                </c:pt>
                <c:pt idx="10">
                  <c:v>2016</c:v>
                </c:pt>
                <c:pt idx="20">
                  <c:v>2026</c:v>
                </c:pt>
              </c:strCache>
            </c:strRef>
          </c:cat>
          <c:val>
            <c:numRef>
              <c:f>Sheet1!$C$2:$C$22</c:f>
              <c:numCache>
                <c:formatCode>0.0</c:formatCode>
                <c:ptCount val="21"/>
                <c:pt idx="0">
                  <c:v>12.478</c:v>
                </c:pt>
                <c:pt idx="1">
                  <c:v>12.037000000000001</c:v>
                </c:pt>
                <c:pt idx="2">
                  <c:v>12.037000000000001</c:v>
                </c:pt>
                <c:pt idx="3">
                  <c:v>11.368</c:v>
                </c:pt>
                <c:pt idx="4">
                  <c:v>11.246</c:v>
                </c:pt>
                <c:pt idx="5">
                  <c:v>11.148</c:v>
                </c:pt>
                <c:pt idx="6">
                  <c:v>11.035</c:v>
                </c:pt>
                <c:pt idx="7">
                  <c:v>11.116</c:v>
                </c:pt>
                <c:pt idx="8">
                  <c:v>10.824</c:v>
                </c:pt>
                <c:pt idx="9">
                  <c:v>10.342000000000001</c:v>
                </c:pt>
                <c:pt idx="10">
                  <c:v>10.337</c:v>
                </c:pt>
                <c:pt idx="11">
                  <c:v>10.151999999999999</c:v>
                </c:pt>
                <c:pt idx="12">
                  <c:v>10.209</c:v>
                </c:pt>
                <c:pt idx="13">
                  <c:v>10.295</c:v>
                </c:pt>
                <c:pt idx="14">
                  <c:v>9.9640000000000004</c:v>
                </c:pt>
                <c:pt idx="15">
                  <c:v>10.039999999999999</c:v>
                </c:pt>
                <c:pt idx="16">
                  <c:v>10.189</c:v>
                </c:pt>
                <c:pt idx="17">
                  <c:v>10.122999999999999</c:v>
                </c:pt>
                <c:pt idx="18">
                  <c:v>10.401</c:v>
                </c:pt>
                <c:pt idx="19">
                  <c:v>10.323</c:v>
                </c:pt>
                <c:pt idx="20">
                  <c:v>10.342000000000001</c:v>
                </c:pt>
              </c:numCache>
            </c:numRef>
          </c:val>
          <c:smooth val="0"/>
          <c:extLst>
            <c:ext xmlns:c16="http://schemas.microsoft.com/office/drawing/2014/chart" uri="{C3380CC4-5D6E-409C-BE32-E72D297353CC}">
              <c16:uniqueId val="{00000000-E5DB-49CC-A5BA-1CE7F2613F63}"/>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40495176"/>
        <c:crosses val="autoZero"/>
        <c:auto val="1"/>
        <c:lblAlgn val="ctr"/>
        <c:lblOffset val="100"/>
        <c:noMultiLvlLbl val="0"/>
      </c:catAx>
      <c:valAx>
        <c:axId val="2140495176"/>
        <c:scaling>
          <c:orientation val="minMax"/>
          <c:max val="16"/>
          <c:min val="8"/>
        </c:scaling>
        <c:delete val="0"/>
        <c:axPos val="l"/>
        <c:numFmt formatCode="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8791784"/>
        <c:crosses val="autoZero"/>
        <c:crossBetween val="between"/>
        <c:majorUnit val="2"/>
      </c:valAx>
    </c:plotArea>
    <c:plotVisOnly val="1"/>
    <c:dispBlanksAs val="zero"/>
    <c:showDLblsOverMax val="0"/>
  </c:chart>
  <c:txPr>
    <a:bodyPr/>
    <a:lstStyle/>
    <a:p>
      <a:pPr>
        <a:defRPr sz="800">
          <a:latin typeface="Lato"/>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History</c:v>
                </c:pt>
              </c:strCache>
            </c:strRef>
          </c:tx>
          <c:spPr>
            <a:ln w="23813">
              <a:solidFill>
                <a:srgbClr val="11151A"/>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Sheet1!$B$2:$B$19</c:f>
              <c:numCache>
                <c:formatCode>0.0</c:formatCode>
                <c:ptCount val="18"/>
                <c:pt idx="0">
                  <c:v>8.6574770096980238</c:v>
                </c:pt>
                <c:pt idx="1">
                  <c:v>8.2414631804872425</c:v>
                </c:pt>
                <c:pt idx="2">
                  <c:v>8.6845576728437521</c:v>
                </c:pt>
                <c:pt idx="3">
                  <c:v>8.6743737543043924</c:v>
                </c:pt>
                <c:pt idx="4">
                  <c:v>8.4562935963113599</c:v>
                </c:pt>
                <c:pt idx="5">
                  <c:v>8.4317343275558372</c:v>
                </c:pt>
                <c:pt idx="6">
                  <c:v>8.1529205154781401</c:v>
                </c:pt>
                <c:pt idx="7">
                  <c:v>6.6304833171655302</c:v>
                </c:pt>
                <c:pt idx="8">
                  <c:v>7.0392288367901497</c:v>
                </c:pt>
                <c:pt idx="9">
                  <c:v>6.6267767961014865</c:v>
                </c:pt>
                <c:pt idx="10">
                  <c:v>6.9660751912784082</c:v>
                </c:pt>
                <c:pt idx="11">
                  <c:v>6.9016159221492934</c:v>
                </c:pt>
                <c:pt idx="12">
                  <c:v>7.0325523718105769</c:v>
                </c:pt>
              </c:numCache>
            </c:numRef>
          </c:val>
          <c:smooth val="0"/>
          <c:extLst>
            <c:ext xmlns:c16="http://schemas.microsoft.com/office/drawing/2014/chart" uri="{C3380CC4-5D6E-409C-BE32-E72D297353CC}">
              <c16:uniqueId val="{00000000-208D-4410-90D7-F73D88D19382}"/>
            </c:ext>
          </c:extLst>
        </c:ser>
        <c:ser>
          <c:idx val="1"/>
          <c:order val="1"/>
          <c:tx>
            <c:strRef>
              <c:f>Sheet1!$C$1</c:f>
              <c:strCache>
                <c:ptCount val="1"/>
                <c:pt idx="0">
                  <c:v>Low</c:v>
                </c:pt>
              </c:strCache>
            </c:strRef>
          </c:tx>
          <c:spPr>
            <a:ln w="23813">
              <a:solidFill>
                <a:srgbClr val="0A2373"/>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Sheet1!$C$2:$C$19</c:f>
              <c:numCache>
                <c:formatCode>General</c:formatCode>
                <c:ptCount val="18"/>
                <c:pt idx="12" formatCode="0.0">
                  <c:v>7.0325523718105769</c:v>
                </c:pt>
                <c:pt idx="13" formatCode="0.0">
                  <c:v>6.82129806738714</c:v>
                </c:pt>
                <c:pt idx="14" formatCode="0.0">
                  <c:v>6.6857016332569161</c:v>
                </c:pt>
                <c:pt idx="15" formatCode="0.0">
                  <c:v>6.5920595587877777</c:v>
                </c:pt>
                <c:pt idx="16" formatCode="0.0">
                  <c:v>6.5204768371609685</c:v>
                </c:pt>
                <c:pt idx="17" formatCode="0.0">
                  <c:v>6.458156803694636</c:v>
                </c:pt>
              </c:numCache>
            </c:numRef>
          </c:val>
          <c:smooth val="0"/>
          <c:extLst>
            <c:ext xmlns:c16="http://schemas.microsoft.com/office/drawing/2014/chart" uri="{C3380CC4-5D6E-409C-BE32-E72D297353CC}">
              <c16:uniqueId val="{00000001-208D-4410-90D7-F73D88D19382}"/>
            </c:ext>
          </c:extLst>
        </c:ser>
        <c:ser>
          <c:idx val="2"/>
          <c:order val="2"/>
          <c:tx>
            <c:strRef>
              <c:f>Sheet1!$D$1</c:f>
              <c:strCache>
                <c:ptCount val="1"/>
                <c:pt idx="0">
                  <c:v>Base</c:v>
                </c:pt>
              </c:strCache>
            </c:strRef>
          </c:tx>
          <c:spPr>
            <a:ln w="23813">
              <a:solidFill>
                <a:srgbClr val="6782B4"/>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Sheet1!$D$2:$D$19</c:f>
              <c:numCache>
                <c:formatCode>General</c:formatCode>
                <c:ptCount val="18"/>
                <c:pt idx="12" formatCode="0.0">
                  <c:v>7.0325523718105769</c:v>
                </c:pt>
                <c:pt idx="13" formatCode="0.0">
                  <c:v>6.8559988378878449</c:v>
                </c:pt>
                <c:pt idx="14" formatCode="0.0">
                  <c:v>6.7966922414201445</c:v>
                </c:pt>
                <c:pt idx="15" formatCode="0.0">
                  <c:v>6.8058073098698531</c:v>
                </c:pt>
                <c:pt idx="16" formatCode="0.0">
                  <c:v>6.8557048777737206</c:v>
                </c:pt>
                <c:pt idx="17" formatCode="0.0">
                  <c:v>6.9297161347951146</c:v>
                </c:pt>
              </c:numCache>
            </c:numRef>
          </c:val>
          <c:smooth val="0"/>
          <c:extLst>
            <c:ext xmlns:c16="http://schemas.microsoft.com/office/drawing/2014/chart" uri="{C3380CC4-5D6E-409C-BE32-E72D297353CC}">
              <c16:uniqueId val="{00000002-208D-4410-90D7-F73D88D19382}"/>
            </c:ext>
          </c:extLst>
        </c:ser>
        <c:ser>
          <c:idx val="3"/>
          <c:order val="3"/>
          <c:tx>
            <c:strRef>
              <c:f>Sheet1!$E$1</c:f>
              <c:strCache>
                <c:ptCount val="1"/>
                <c:pt idx="0">
                  <c:v>High</c:v>
                </c:pt>
              </c:strCache>
            </c:strRef>
          </c:tx>
          <c:spPr>
            <a:ln w="23813">
              <a:solidFill>
                <a:srgbClr val="929292"/>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Sheet1!$E$2:$E$19</c:f>
              <c:numCache>
                <c:formatCode>General</c:formatCode>
                <c:ptCount val="18"/>
                <c:pt idx="12" formatCode="0.0">
                  <c:v>7.0325523718105769</c:v>
                </c:pt>
                <c:pt idx="13" formatCode="0.0">
                  <c:v>6.8907884790808902</c:v>
                </c:pt>
                <c:pt idx="14" formatCode="0.0">
                  <c:v>6.9050110232165771</c:v>
                </c:pt>
                <c:pt idx="15" formatCode="0.0">
                  <c:v>7.0173895480910042</c:v>
                </c:pt>
                <c:pt idx="16" formatCode="0.0">
                  <c:v>7.1975543190243556</c:v>
                </c:pt>
                <c:pt idx="17" formatCode="0.0">
                  <c:v>7.4298361503931769</c:v>
                </c:pt>
              </c:numCache>
            </c:numRef>
          </c:val>
          <c:smooth val="0"/>
          <c:extLst>
            <c:ext xmlns:c16="http://schemas.microsoft.com/office/drawing/2014/chart" uri="{C3380CC4-5D6E-409C-BE32-E72D297353CC}">
              <c16:uniqueId val="{00000003-208D-4410-90D7-F73D88D19382}"/>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40495176"/>
        <c:crosses val="autoZero"/>
        <c:auto val="1"/>
        <c:lblAlgn val="ctr"/>
        <c:lblOffset val="100"/>
        <c:noMultiLvlLbl val="0"/>
      </c:catAx>
      <c:valAx>
        <c:axId val="2140495176"/>
        <c:scaling>
          <c:orientation val="minMax"/>
          <c:max val="14"/>
          <c:min val="0"/>
        </c:scaling>
        <c:delete val="0"/>
        <c:axPos val="l"/>
        <c:numFmt formatCode="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8791784"/>
        <c:crosses val="autoZero"/>
        <c:crossBetween val="between"/>
        <c:majorUnit val="2"/>
      </c:valAx>
    </c:plotArea>
    <c:legend>
      <c:legendPos val="b"/>
      <c:overlay val="0"/>
      <c:txPr>
        <a:bodyPr/>
        <a:lstStyle/>
        <a:p>
          <a:pPr>
            <a:defRPr sz="800"/>
          </a:pPr>
          <a:endParaRPr lang="en-US"/>
        </a:p>
      </c:txPr>
    </c:legend>
    <c:plotVisOnly val="1"/>
    <c:dispBlanksAs val="gap"/>
    <c:showDLblsOverMax val="0"/>
  </c:chart>
  <c:txPr>
    <a:bodyPr/>
    <a:lstStyle/>
    <a:p>
      <a:pPr>
        <a:defRPr sz="900">
          <a:latin typeface="Lato"/>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History</c:v>
                </c:pt>
              </c:strCache>
            </c:strRef>
          </c:tx>
          <c:spPr>
            <a:ln w="23813">
              <a:solidFill>
                <a:srgbClr val="11151A"/>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Sheet1!$B$2:$B$19</c:f>
              <c:numCache>
                <c:formatCode>0.0</c:formatCode>
                <c:ptCount val="18"/>
                <c:pt idx="0">
                  <c:v>8.4331142072160148</c:v>
                </c:pt>
                <c:pt idx="1">
                  <c:v>8.7621666866517174</c:v>
                </c:pt>
                <c:pt idx="2">
                  <c:v>9.3908437884747133</c:v>
                </c:pt>
                <c:pt idx="3">
                  <c:v>8.3921981182537451</c:v>
                </c:pt>
                <c:pt idx="4">
                  <c:v>8.4372564290655223</c:v>
                </c:pt>
                <c:pt idx="5">
                  <c:v>8.7091846522281902</c:v>
                </c:pt>
                <c:pt idx="6">
                  <c:v>8.9661013962775407</c:v>
                </c:pt>
                <c:pt idx="7">
                  <c:v>8.1196328799337874</c:v>
                </c:pt>
                <c:pt idx="8">
                  <c:v>8.9919061677808809</c:v>
                </c:pt>
                <c:pt idx="9">
                  <c:v>9.8163761400101137</c:v>
                </c:pt>
                <c:pt idx="10">
                  <c:v>11.504803920311662</c:v>
                </c:pt>
                <c:pt idx="11">
                  <c:v>10.378319622048098</c:v>
                </c:pt>
                <c:pt idx="12">
                  <c:v>11.173623390484506</c:v>
                </c:pt>
              </c:numCache>
            </c:numRef>
          </c:val>
          <c:smooth val="0"/>
          <c:extLst>
            <c:ext xmlns:c16="http://schemas.microsoft.com/office/drawing/2014/chart" uri="{C3380CC4-5D6E-409C-BE32-E72D297353CC}">
              <c16:uniqueId val="{00000000-A0B8-4EA7-893B-DC0965401B76}"/>
            </c:ext>
          </c:extLst>
        </c:ser>
        <c:ser>
          <c:idx val="1"/>
          <c:order val="1"/>
          <c:tx>
            <c:strRef>
              <c:f>Sheet1!$C$1</c:f>
              <c:strCache>
                <c:ptCount val="1"/>
                <c:pt idx="0">
                  <c:v>Low</c:v>
                </c:pt>
              </c:strCache>
            </c:strRef>
          </c:tx>
          <c:spPr>
            <a:ln w="23813">
              <a:solidFill>
                <a:srgbClr val="0A2373"/>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Sheet1!$C$2:$C$19</c:f>
              <c:numCache>
                <c:formatCode>General</c:formatCode>
                <c:ptCount val="18"/>
                <c:pt idx="12" formatCode="0.0">
                  <c:v>11.173623390484506</c:v>
                </c:pt>
                <c:pt idx="13" formatCode="0.0">
                  <c:v>11.176306744010418</c:v>
                </c:pt>
                <c:pt idx="14" formatCode="0.0">
                  <c:v>11.179064594345698</c:v>
                </c:pt>
                <c:pt idx="15" formatCode="0.0">
                  <c:v>11.18171889659555</c:v>
                </c:pt>
                <c:pt idx="16" formatCode="0.0">
                  <c:v>11.183984023736736</c:v>
                </c:pt>
                <c:pt idx="17" formatCode="0.0">
                  <c:v>11.185412637074087</c:v>
                </c:pt>
              </c:numCache>
            </c:numRef>
          </c:val>
          <c:smooth val="0"/>
          <c:extLst>
            <c:ext xmlns:c16="http://schemas.microsoft.com/office/drawing/2014/chart" uri="{C3380CC4-5D6E-409C-BE32-E72D297353CC}">
              <c16:uniqueId val="{00000001-A0B8-4EA7-893B-DC0965401B76}"/>
            </c:ext>
          </c:extLst>
        </c:ser>
        <c:ser>
          <c:idx val="2"/>
          <c:order val="2"/>
          <c:tx>
            <c:strRef>
              <c:f>Sheet1!$D$1</c:f>
              <c:strCache>
                <c:ptCount val="1"/>
                <c:pt idx="0">
                  <c:v>Base</c:v>
                </c:pt>
              </c:strCache>
            </c:strRef>
          </c:tx>
          <c:spPr>
            <a:ln w="23813">
              <a:solidFill>
                <a:srgbClr val="6782B4"/>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Sheet1!$D$2:$D$19</c:f>
              <c:numCache>
                <c:formatCode>General</c:formatCode>
                <c:ptCount val="18"/>
                <c:pt idx="12" formatCode="0.0">
                  <c:v>11.173623390484506</c:v>
                </c:pt>
                <c:pt idx="13" formatCode="0.0">
                  <c:v>11.312582084274673</c:v>
                </c:pt>
                <c:pt idx="14" formatCode="0.0">
                  <c:v>11.453570969689268</c:v>
                </c:pt>
                <c:pt idx="15" formatCode="0.0">
                  <c:v>11.596502378249671</c:v>
                </c:pt>
                <c:pt idx="16" formatCode="0.0">
                  <c:v>11.741215738525613</c:v>
                </c:pt>
                <c:pt idx="17" formatCode="0.0">
                  <c:v>11.887438882059332</c:v>
                </c:pt>
              </c:numCache>
            </c:numRef>
          </c:val>
          <c:smooth val="0"/>
          <c:extLst>
            <c:ext xmlns:c16="http://schemas.microsoft.com/office/drawing/2014/chart" uri="{C3380CC4-5D6E-409C-BE32-E72D297353CC}">
              <c16:uniqueId val="{00000002-A0B8-4EA7-893B-DC0965401B76}"/>
            </c:ext>
          </c:extLst>
        </c:ser>
        <c:ser>
          <c:idx val="3"/>
          <c:order val="3"/>
          <c:tx>
            <c:strRef>
              <c:f>Sheet1!$E$1</c:f>
              <c:strCache>
                <c:ptCount val="1"/>
                <c:pt idx="0">
                  <c:v>High</c:v>
                </c:pt>
              </c:strCache>
            </c:strRef>
          </c:tx>
          <c:spPr>
            <a:ln w="23813">
              <a:solidFill>
                <a:srgbClr val="929292"/>
              </a:solidFill>
            </a:ln>
          </c:spPr>
          <c:marker>
            <c:symbol val="none"/>
          </c:marker>
          <c:cat>
            <c:strRef>
              <c:f>Sheet1!$A$2:$A$19</c:f>
              <c:strCache>
                <c:ptCount val="18"/>
                <c:pt idx="0">
                  <c:v>2013</c:v>
                </c:pt>
                <c:pt idx="1">
                  <c:v>2014</c:v>
                </c:pt>
                <c:pt idx="2">
                  <c:v>2015</c:v>
                </c:pt>
                <c:pt idx="3">
                  <c:v>2016</c:v>
                </c:pt>
                <c:pt idx="4">
                  <c:v>2017</c:v>
                </c:pt>
                <c:pt idx="5">
                  <c:v>2018</c:v>
                </c:pt>
                <c:pt idx="6">
                  <c:v>2019</c:v>
                </c:pt>
                <c:pt idx="7">
                  <c:v>2020</c:v>
                </c:pt>
                <c:pt idx="8">
                  <c:v>2021</c:v>
                </c:pt>
                <c:pt idx="9">
                  <c:v>2022E</c:v>
                </c:pt>
                <c:pt idx="10">
                  <c:v>2023E</c:v>
                </c:pt>
                <c:pt idx="11">
                  <c:v>2024E</c:v>
                </c:pt>
                <c:pt idx="12">
                  <c:v>2025E</c:v>
                </c:pt>
                <c:pt idx="13">
                  <c:v>2026</c:v>
                </c:pt>
                <c:pt idx="14">
                  <c:v>2027</c:v>
                </c:pt>
                <c:pt idx="15">
                  <c:v>2028</c:v>
                </c:pt>
                <c:pt idx="16">
                  <c:v>2029</c:v>
                </c:pt>
                <c:pt idx="17">
                  <c:v>2030</c:v>
                </c:pt>
              </c:strCache>
            </c:strRef>
          </c:cat>
          <c:val>
            <c:numRef>
              <c:f>Sheet1!$E$2:$E$19</c:f>
              <c:numCache>
                <c:formatCode>General</c:formatCode>
                <c:ptCount val="18"/>
                <c:pt idx="12" formatCode="0.0">
                  <c:v>11.173623390484506</c:v>
                </c:pt>
                <c:pt idx="13" formatCode="0.0">
                  <c:v>11.473595305799838</c:v>
                </c:pt>
                <c:pt idx="14" formatCode="0.0">
                  <c:v>11.781249325118944</c:v>
                </c:pt>
                <c:pt idx="15" formatCode="0.0">
                  <c:v>12.096751397041615</c:v>
                </c:pt>
                <c:pt idx="16" formatCode="0.0">
                  <c:v>12.420254308302264</c:v>
                </c:pt>
                <c:pt idx="17" formatCode="0.0">
                  <c:v>12.751890558986707</c:v>
                </c:pt>
              </c:numCache>
            </c:numRef>
          </c:val>
          <c:smooth val="0"/>
          <c:extLst>
            <c:ext xmlns:c16="http://schemas.microsoft.com/office/drawing/2014/chart" uri="{C3380CC4-5D6E-409C-BE32-E72D297353CC}">
              <c16:uniqueId val="{00000003-A0B8-4EA7-893B-DC0965401B76}"/>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40495176"/>
        <c:crosses val="autoZero"/>
        <c:auto val="1"/>
        <c:lblAlgn val="ctr"/>
        <c:lblOffset val="100"/>
        <c:noMultiLvlLbl val="0"/>
      </c:catAx>
      <c:valAx>
        <c:axId val="2140495176"/>
        <c:scaling>
          <c:orientation val="minMax"/>
          <c:max val="14"/>
          <c:min val="0"/>
        </c:scaling>
        <c:delete val="0"/>
        <c:axPos val="l"/>
        <c:numFmt formatCode="0" sourceLinked="0"/>
        <c:majorTickMark val="none"/>
        <c:minorTickMark val="none"/>
        <c:tickLblPos val="nextTo"/>
        <c:spPr>
          <a:ln w="9525">
            <a:solidFill>
              <a:srgbClr val="D4D4D4"/>
            </a:solidFill>
          </a:ln>
        </c:spPr>
        <c:txPr>
          <a:bodyPr/>
          <a:lstStyle/>
          <a:p>
            <a:pPr>
              <a:defRPr sz="800">
                <a:solidFill>
                  <a:srgbClr val="666666"/>
                </a:solidFill>
              </a:defRPr>
            </a:pPr>
            <a:endParaRPr lang="en-US"/>
          </a:p>
        </c:txPr>
        <c:crossAx val="2118791784"/>
        <c:crosses val="autoZero"/>
        <c:crossBetween val="between"/>
        <c:majorUnit val="2"/>
      </c:valAx>
    </c:plotArea>
    <c:legend>
      <c:legendPos val="b"/>
      <c:overlay val="0"/>
      <c:txPr>
        <a:bodyPr/>
        <a:lstStyle/>
        <a:p>
          <a:pPr>
            <a:defRPr sz="800"/>
          </a:pPr>
          <a:endParaRPr lang="en-US"/>
        </a:p>
      </c:txPr>
    </c:legend>
    <c:plotVisOnly val="1"/>
    <c:dispBlanksAs val="gap"/>
    <c:showDLblsOverMax val="0"/>
  </c:chart>
  <c:txPr>
    <a:bodyPr/>
    <a:lstStyle/>
    <a:p>
      <a:pPr>
        <a:defRPr sz="900">
          <a:latin typeface="Lato"/>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November 2025 report</c:v>
                </c:pt>
              </c:strCache>
            </c:strRef>
          </c:tx>
          <c:spPr>
            <a:solidFill>
              <a:srgbClr val="929292"/>
            </a:solidFill>
          </c:spPr>
          <c:invertIfNegative val="0"/>
          <c:dLbls>
            <c:numFmt formatCode="0.0" sourceLinked="0"/>
            <c:spPr>
              <a:noFill/>
              <a:ln>
                <a:noFill/>
              </a:ln>
              <a:effectLst/>
            </c:spPr>
            <c:txPr>
              <a:bodyPr/>
              <a:lstStyle/>
              <a:p>
                <a:pPr>
                  <a:defRPr sz="800">
                    <a:solidFill>
                      <a:srgbClr val="666666"/>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Mid / Base</c:v>
                </c:pt>
                <c:pt idx="2">
                  <c:v>High</c:v>
                </c:pt>
              </c:strCache>
            </c:strRef>
          </c:cat>
          <c:val>
            <c:numRef>
              <c:f>Sheet1!$B$2:$B$4</c:f>
              <c:numCache>
                <c:formatCode>0.0</c:formatCode>
                <c:ptCount val="3"/>
                <c:pt idx="0">
                  <c:v>7.0006215300000001</c:v>
                </c:pt>
                <c:pt idx="1">
                  <c:v>7.4027971380000004</c:v>
                </c:pt>
                <c:pt idx="2">
                  <c:v>7.8049727449999997</c:v>
                </c:pt>
              </c:numCache>
            </c:numRef>
          </c:val>
          <c:extLst>
            <c:ext xmlns:c16="http://schemas.microsoft.com/office/drawing/2014/chart" uri="{C3380CC4-5D6E-409C-BE32-E72D297353CC}">
              <c16:uniqueId val="{00000000-E09C-47B7-9C62-74809365C0F7}"/>
            </c:ext>
          </c:extLst>
        </c:ser>
        <c:ser>
          <c:idx val="1"/>
          <c:order val="1"/>
          <c:tx>
            <c:strRef>
              <c:f>Sheet1!$C$1</c:f>
              <c:strCache>
                <c:ptCount val="1"/>
                <c:pt idx="0">
                  <c:v>This year (October 2026)</c:v>
                </c:pt>
              </c:strCache>
            </c:strRef>
          </c:tx>
          <c:spPr>
            <a:solidFill>
              <a:srgbClr val="0A2373"/>
            </a:solidFill>
          </c:spPr>
          <c:invertIfNegative val="0"/>
          <c:dLbls>
            <c:numFmt formatCode="0.0" sourceLinked="0"/>
            <c:spPr>
              <a:noFill/>
              <a:ln>
                <a:noFill/>
              </a:ln>
              <a:effectLst/>
            </c:spPr>
            <c:txPr>
              <a:bodyPr/>
              <a:lstStyle/>
              <a:p>
                <a:pPr>
                  <a:defRPr sz="800">
                    <a:solidFill>
                      <a:srgbClr val="666666"/>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Mid / Base</c:v>
                </c:pt>
                <c:pt idx="2">
                  <c:v>High</c:v>
                </c:pt>
              </c:strCache>
            </c:strRef>
          </c:cat>
          <c:val>
            <c:numRef>
              <c:f>Sheet1!$C$2:$C$4</c:f>
              <c:numCache>
                <c:formatCode>0.0</c:formatCode>
                <c:ptCount val="3"/>
                <c:pt idx="0">
                  <c:v>6.458156803694636</c:v>
                </c:pt>
                <c:pt idx="1">
                  <c:v>6.9297161347951146</c:v>
                </c:pt>
                <c:pt idx="2">
                  <c:v>7.4298361503931769</c:v>
                </c:pt>
              </c:numCache>
            </c:numRef>
          </c:val>
          <c:extLst>
            <c:ext xmlns:c16="http://schemas.microsoft.com/office/drawing/2014/chart" uri="{C3380CC4-5D6E-409C-BE32-E72D297353CC}">
              <c16:uniqueId val="{00000001-E09C-47B7-9C62-74809365C0F7}"/>
            </c:ext>
          </c:extLst>
        </c:ser>
        <c:dLbls>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113994440"/>
        <c:crosses val="autoZero"/>
        <c:auto val="1"/>
        <c:lblAlgn val="ctr"/>
        <c:lblOffset val="100"/>
        <c:noMultiLvlLbl val="0"/>
      </c:catAx>
      <c:valAx>
        <c:axId val="-2113994440"/>
        <c:scaling>
          <c:orientation val="minMax"/>
          <c:max val="14"/>
          <c:min val="0"/>
        </c:scaling>
        <c:delete val="0"/>
        <c:axPos val="l"/>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068027336"/>
        <c:crosses val="autoZero"/>
        <c:crossBetween val="between"/>
        <c:majorUnit val="2"/>
      </c:valAx>
    </c:plotArea>
    <c:legend>
      <c:legendPos val="b"/>
      <c:overlay val="0"/>
      <c:txPr>
        <a:bodyPr/>
        <a:lstStyle/>
        <a:p>
          <a:pPr>
            <a:defRPr sz="800"/>
          </a:pPr>
          <a:endParaRPr lang="en-US"/>
        </a:p>
      </c:txPr>
    </c:legend>
    <c:plotVisOnly val="1"/>
    <c:dispBlanksAs val="gap"/>
    <c:showDLblsOverMax val="1"/>
  </c:chart>
  <c:txPr>
    <a:bodyPr/>
    <a:lstStyle/>
    <a:p>
      <a:pPr>
        <a:defRPr sz="900">
          <a:latin typeface="Lato"/>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November 2025 report</c:v>
                </c:pt>
              </c:strCache>
            </c:strRef>
          </c:tx>
          <c:spPr>
            <a:solidFill>
              <a:srgbClr val="929292"/>
            </a:solidFill>
          </c:spPr>
          <c:invertIfNegative val="0"/>
          <c:dLbls>
            <c:numFmt formatCode="0.0" sourceLinked="0"/>
            <c:spPr>
              <a:noFill/>
              <a:ln>
                <a:noFill/>
              </a:ln>
              <a:effectLst/>
            </c:spPr>
            <c:txPr>
              <a:bodyPr/>
              <a:lstStyle/>
              <a:p>
                <a:pPr>
                  <a:defRPr sz="800">
                    <a:solidFill>
                      <a:srgbClr val="666666"/>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Mid / Base</c:v>
                </c:pt>
                <c:pt idx="2">
                  <c:v>High</c:v>
                </c:pt>
              </c:strCache>
            </c:strRef>
          </c:cat>
          <c:val>
            <c:numRef>
              <c:f>Sheet1!$B$2:$B$4</c:f>
              <c:numCache>
                <c:formatCode>0.0</c:formatCode>
                <c:ptCount val="3"/>
                <c:pt idx="0">
                  <c:v>7.5572208208727041</c:v>
                </c:pt>
                <c:pt idx="1">
                  <c:v>8.5305197577151066</c:v>
                </c:pt>
                <c:pt idx="2">
                  <c:v>9.5038186945575092</c:v>
                </c:pt>
              </c:numCache>
            </c:numRef>
          </c:val>
          <c:extLst>
            <c:ext xmlns:c16="http://schemas.microsoft.com/office/drawing/2014/chart" uri="{C3380CC4-5D6E-409C-BE32-E72D297353CC}">
              <c16:uniqueId val="{00000000-A128-486B-9391-1E54046B46A5}"/>
            </c:ext>
          </c:extLst>
        </c:ser>
        <c:ser>
          <c:idx val="1"/>
          <c:order val="1"/>
          <c:tx>
            <c:strRef>
              <c:f>Sheet1!$C$1</c:f>
              <c:strCache>
                <c:ptCount val="1"/>
                <c:pt idx="0">
                  <c:v>This year (October 2026)</c:v>
                </c:pt>
              </c:strCache>
            </c:strRef>
          </c:tx>
          <c:spPr>
            <a:solidFill>
              <a:srgbClr val="0A2373"/>
            </a:solidFill>
          </c:spPr>
          <c:invertIfNegative val="0"/>
          <c:dLbls>
            <c:numFmt formatCode="0.0" sourceLinked="0"/>
            <c:spPr>
              <a:noFill/>
              <a:ln>
                <a:noFill/>
              </a:ln>
              <a:effectLst/>
            </c:spPr>
            <c:txPr>
              <a:bodyPr/>
              <a:lstStyle/>
              <a:p>
                <a:pPr>
                  <a:defRPr sz="800">
                    <a:solidFill>
                      <a:srgbClr val="666666"/>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Mid / Base</c:v>
                </c:pt>
                <c:pt idx="2">
                  <c:v>High</c:v>
                </c:pt>
              </c:strCache>
            </c:strRef>
          </c:cat>
          <c:val>
            <c:numRef>
              <c:f>Sheet1!$C$2:$C$4</c:f>
              <c:numCache>
                <c:formatCode>0.0</c:formatCode>
                <c:ptCount val="3"/>
                <c:pt idx="0">
                  <c:v>11.185412637074087</c:v>
                </c:pt>
                <c:pt idx="1">
                  <c:v>11.887438882059332</c:v>
                </c:pt>
                <c:pt idx="2">
                  <c:v>12.751890558986707</c:v>
                </c:pt>
              </c:numCache>
            </c:numRef>
          </c:val>
          <c:extLst>
            <c:ext xmlns:c16="http://schemas.microsoft.com/office/drawing/2014/chart" uri="{C3380CC4-5D6E-409C-BE32-E72D297353CC}">
              <c16:uniqueId val="{00000001-A128-486B-9391-1E54046B46A5}"/>
            </c:ext>
          </c:extLst>
        </c:ser>
        <c:dLbls>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113994440"/>
        <c:crosses val="autoZero"/>
        <c:auto val="1"/>
        <c:lblAlgn val="ctr"/>
        <c:lblOffset val="100"/>
        <c:noMultiLvlLbl val="0"/>
      </c:catAx>
      <c:valAx>
        <c:axId val="-2113994440"/>
        <c:scaling>
          <c:orientation val="minMax"/>
          <c:max val="14"/>
          <c:min val="0"/>
        </c:scaling>
        <c:delete val="0"/>
        <c:axPos val="l"/>
        <c:numFmt formatCode="0" sourceLinked="0"/>
        <c:majorTickMark val="none"/>
        <c:minorTickMark val="none"/>
        <c:tickLblPos val="nextTo"/>
        <c:spPr>
          <a:ln w="9525">
            <a:solidFill>
              <a:srgbClr val="D4D4D4"/>
            </a:solidFill>
          </a:ln>
        </c:spPr>
        <c:txPr>
          <a:bodyPr/>
          <a:lstStyle/>
          <a:p>
            <a:pPr>
              <a:defRPr sz="900">
                <a:solidFill>
                  <a:srgbClr val="666666"/>
                </a:solidFill>
              </a:defRPr>
            </a:pPr>
            <a:endParaRPr lang="en-US"/>
          </a:p>
        </c:txPr>
        <c:crossAx val="-2068027336"/>
        <c:crosses val="autoZero"/>
        <c:crossBetween val="between"/>
        <c:majorUnit val="2"/>
      </c:valAx>
    </c:plotArea>
    <c:legend>
      <c:legendPos val="b"/>
      <c:overlay val="0"/>
      <c:txPr>
        <a:bodyPr/>
        <a:lstStyle/>
        <a:p>
          <a:pPr>
            <a:defRPr sz="800"/>
          </a:pPr>
          <a:endParaRPr lang="en-US"/>
        </a:p>
      </c:txPr>
    </c:legend>
    <c:plotVisOnly val="1"/>
    <c:dispBlanksAs val="gap"/>
    <c:showDLblsOverMax val="1"/>
  </c:chart>
  <c:txPr>
    <a:bodyPr/>
    <a:lstStyle/>
    <a:p>
      <a:pPr>
        <a:defRPr sz="900">
          <a:latin typeface="La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South Africa fuel market outlook. Sources and assumptions are stated on the analytical pages. Cover photograph: Royal Vopak, Terminal Durban.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Department national sales; SARS 2025 trade; analytical workbook v02. 2025 demand is estimated; 5.8bn L production is a planning assumption. Gross import need includes exports and assumes no stock change.</a:t>
            </a:r>
          </a:p>
          <a:p>
            <a:r>
              <a:t>Figures reused from South Africa market story v37; no new model assumptions.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8003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Stats SA sector activity and freight; Eskom Integrated Report 2025 p141; Sasol and Glencore production disclosures; Galp and Petromoc infrastructure disclosures. Detailed evidence: South Africa story v37 pp7–11.</a:t>
            </a:r>
          </a:p>
          <a:p>
            <a:r>
              <a:t>Figures reused from South Africa market story v37; no new model assumptions.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Department annual sales, 2013–2023. Estimated 2024–2025: analytical workbook v02. The Department series is used consistently. Segment split: analytical workbook v02, Segments. Displayed figures rounded; other diesel remains unallocated.</a:t>
            </a:r>
          </a:p>
          <a:p>
            <a:r>
              <a:t>Demand is estimated at 20.99bn litres in 2025; road uses account for most allocated demand.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49796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Stats SA mining/manufacturing indices and agriculture real GVA; mean 2018–2021 fuel intensity. Sector diesel values after 2021 are estimates.</a:t>
            </a:r>
          </a:p>
          <a:p>
            <a:r>
              <a:t>Sector activity produces different demand paths; applying one GDP growth rate would hide these differences.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21251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Eskom Integrated Report 2025, p141. Fiscal years end in March. Reported series includes diesel and kerosene; private backup consumption is outside this series. Analytical workbook v02, Segments: IPP conversion and private-backup assumptions.</a:t>
            </a:r>
          </a:p>
          <a:p>
            <a:r>
              <a:t>Improved electricity supply reduces peaking and backup fuel use; the private-backup contribution remains estimated.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99738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Stats SA P7162 December 2025 p7; all reported freight. Analytical workbook v02, Evidence.</a:t>
            </a:r>
          </a:p>
          <a:p>
            <a:r>
              <a:t>Road remains the dominant freight mode; sustained rail recovery could change the diesel required to move goods.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72670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naamsa all-market sales 2025; master workbook Vehicle history S31:S36; evidence retained in market story v27 p11. Analytical workbook v02: efficiency is a planning assumption; avoid double-counting hybrid savings.</a:t>
            </a:r>
          </a:p>
          <a:p>
            <a:r>
              <a:t>The model’s fuel-efficiency path is a planning assumption; new-vehicle sales alone do not quantify national fuel savings.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15099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Analytical workbook v02: Driver bridge (Base), Assumptions (Base: efficiency). Effects are modelled, not observed savings. Efficiency applies to road fuel after activity growth; rail is applied afterwards. Do not add a separate EV saving to the same efficiency allowance.</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41793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a:t>Department energy balances 2014–2021; consolidated review workbook, DR01 national balance rows 8/17. Sasol FY2025/FY2026; Glencore 2024/2025. 2025: 5.8bn L planning assumption. Historical production ends in 2021; no interpolated observations.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69450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a:t>Market-sizing issue tree reused from market-sizing v2000, slide 3. National demand/product estimates and production assumption aligned to analytical workbook v02. Provincial catchments retain 2022 source periods. Capture remains illustrative; Walvis Bay diversion unquantified.</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70455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Framework: analytical workbook v02 and market-sizing workbook. Gateway shares and customer access require validation. Walvis Bay is a route to assess; no diversion volume is assigned. Stock build increases import need; stock draw reduces it.</a:t>
            </a:r>
          </a:p>
          <a:p>
            <a:r>
              <a:t>Figures reused from South Africa market story v37; no new model assumptions.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30144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endParaRPr lang="en-ZA"/>
          </a:p>
        </p:txBody>
      </p:sp>
    </p:spTree>
    <p:extLst>
      <p:ext uri="{BB962C8B-B14F-4D97-AF65-F5344CB8AC3E}">
        <p14:creationId xmlns:p14="http://schemas.microsoft.com/office/powerpoint/2010/main" val="2363511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a:t>Restored from South Africa story v37; analytical workbook v02, Scenarios and Driver bridge. Gross imports = demand − domestic supply + fixed 2025 exports; zero stock change. 2025 production: 5.8bn L assumption. Restart volumes and timing are scenario assumptions.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66473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Analytical workbook v02 base scenario; market-sizing workbook and working-capacity assessment. Capture is illustrative; Lesedi is included within Durban flow. Contracted share, product balance and usable capacity remain to be established.</a:t>
            </a:r>
          </a:p>
          <a:p>
            <a:r>
              <a:t>Figures reused from South Africa market story v37; no new model assumptions.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169690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discussion. Cover photograph: Royal Vopak, Terminal Durban.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pic>
        <p:nvPicPr>
          <p:cNvPr id="12" name="Picture 3"/>
          <p:cNvPicPr>
            <a:picLocks noChangeAspect="1"/>
          </p:cNvPicPr>
          <p:nvPr/>
        </p:nvPicPr>
        <p:blipFill rotWithShape="1">
          <a:blip r:embed="rId2"/>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 y="5137149"/>
            <a:ext cx="4933950" cy="1571625"/>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13" name="Picture 1"/>
          <p:cNvPicPr>
            <a:picLocks noChangeAspect="1"/>
          </p:cNvPicPr>
          <p:nvPr/>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a:spLocks noGrp="1"/>
          </p:cNvSpPr>
          <p:nvPr/>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77800" y="5205413"/>
            <a:ext cx="4933950" cy="1652587"/>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a:spLocks noGrp="1"/>
          </p:cNvSpPr>
          <p:nvPr/>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0" name="Cover title panel">
            <a:extLst>
              <a:ext uri="{FF2B5EF4-FFF2-40B4-BE49-F238E27FC236}">
                <a16:creationId xmlns:a16="http://schemas.microsoft.com/office/drawing/2014/main" id="{B6CC79FF-F297-46B4-B0E4-850EE5B89B78}"/>
              </a:ext>
            </a:extLst>
          </p:cNvPr>
          <p:cNvSpPr>
            <a:spLocks noGrp="1"/>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9" name="Vopak cover logo"/>
          <p:cNvPicPr>
            <a:picLocks noChangeAspect="1"/>
          </p:cNvPicPr>
          <p:nvPr/>
        </p:nvPicPr>
        <p:blipFill>
          <a:blip r:embed="rId3"/>
          <a:stretch>
            <a:fillRect/>
          </a:stretch>
        </p:blipFill>
        <p:spPr>
          <a:xfrm>
            <a:off x="2229814" y="5675739"/>
            <a:ext cx="2518046" cy="56453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13" name="Picture 1"/>
          <p:cNvPicPr>
            <a:picLocks noChangeAspect="1"/>
          </p:cNvPicPr>
          <p:nvPr/>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idx="10"/>
          </p:nvPr>
        </p:nvSpPr>
        <p:spPr/>
        <p:txBody>
          <a:bodyPr/>
          <a:lstStyle/>
          <a:p>
            <a:fld id="{5E48029D-87D6-48C3-BA4B-1065A63511DF}" type="slidenum">
              <a:rPr>
                <a:solidFill>
                  <a:schemeClr val="tx1"/>
                </a:solidFill>
              </a:rPr>
              <a:t>‹#›</a:t>
            </a:fld>
            <a:endParaRPr>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a:spLocks noGrp="1"/>
          </p:cNvSpPr>
          <p:nvPr/>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idx="11"/>
          </p:nvPr>
        </p:nvSpPr>
        <p:spPr>
          <a:xfrm>
            <a:off x="177800" y="5205413"/>
            <a:ext cx="4933950" cy="1652587"/>
          </a:xfrm>
          <a:prstGeom prst="rect">
            <a:avLst/>
          </a:prstGeom>
          <a:solidFill>
            <a:schemeClr val="bg1">
              <a:alpha val="50000"/>
            </a:schemeClr>
          </a:solidFill>
        </p:spPr>
        <p:txBody>
          <a:bodyPr anchor="ctr">
            <a:noAutofit/>
          </a:bodyPr>
          <a:lstStyle>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a:pPr lvl="0">
              <a:buNone/>
            </a:pPr>
            <a:r>
              <a:rPr>
                <a:solidFill>
                  <a:schemeClr val="tx1"/>
                </a:solidFill>
              </a:rPr>
              <a:t>Click to edit Master text styles</a:t>
            </a:r>
          </a:p>
        </p:txBody>
      </p:sp>
      <p:sp>
        <p:nvSpPr>
          <p:cNvPr id="10" name="Cover title panel">
            <a:extLst>
              <a:ext uri="{FF2B5EF4-FFF2-40B4-BE49-F238E27FC236}">
                <a16:creationId xmlns:a16="http://schemas.microsoft.com/office/drawing/2014/main" id="{571FD3DD-6D32-43BA-B044-BAFA89A96F83}"/>
              </a:ext>
            </a:extLst>
          </p:cNvPr>
          <p:cNvSpPr>
            <a:spLocks noGrp="1"/>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18" name="Vopak cover logo"/>
          <p:cNvPicPr>
            <a:picLocks noChangeAspect="1"/>
          </p:cNvPicPr>
          <p:nvPr/>
        </p:nvPicPr>
        <p:blipFill>
          <a:blip r:embed="rId3"/>
          <a:stretch>
            <a:fillRect/>
          </a:stretch>
        </p:blipFill>
        <p:spPr>
          <a:xfrm>
            <a:off x="2229814" y="5675739"/>
            <a:ext cx="2518046" cy="56453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idx="10"/>
          </p:nvPr>
        </p:nvSpPr>
        <p:spPr/>
        <p:txBody>
          <a:bodyPr/>
          <a:lstStyle>
            <a:lvl1pP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a:spLocks noGrp="1"/>
          </p:cNvSpPr>
          <p:nvPr/>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a:spLocks noGrp="1"/>
          </p:cNvSpPr>
          <p:nvPr/>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lgn="ctr">
              <a:buNone/>
            </a:pPr>
            <a:endParaRPr sz="2800" b="1">
              <a:solidFill>
                <a:schemeClr val="tx1"/>
              </a:solidFill>
            </a:endParaRPr>
          </a:p>
          <a:p>
            <a:pPr algn="ctr">
              <a:buNone/>
            </a:pPr>
            <a:endParaRPr sz="2800" b="1">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idx="10"/>
          </p:nvPr>
        </p:nvSpPr>
        <p:spPr/>
        <p:txBody>
          <a:bodyPr/>
          <a:lstStyle>
            <a:lvl1pP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a:spLocks noGrp="1"/>
          </p:cNvSpPr>
          <p:nvPr/>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a:spLocks noGrp="1"/>
          </p:cNvSpPr>
          <p:nvPr/>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algn="ctr">
              <a:buNone/>
            </a:pPr>
            <a:endParaRPr sz="2800" b="1">
              <a:solidFill>
                <a:schemeClr val="tx1"/>
              </a:solidFill>
            </a:endParaRPr>
          </a:p>
          <a:p>
            <a:pPr algn="ctr">
              <a:buNone/>
            </a:pPr>
            <a:endParaRPr sz="2800" b="1">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196FAB5-3A31-4A82-B70E-C4CDDAD20A82}"/>
              </a:ext>
            </a:extLst>
          </p:cNvPr>
          <p:cNvSpPr>
            <a:spLocks noGrp="1"/>
          </p:cNvSpPr>
          <p:nvPr>
            <p:ph type="sldNum" idx="12"/>
          </p:nvPr>
        </p:nvSpPr>
        <p:spPr>
          <a:xfrm>
            <a:off x="10605599" y="6489700"/>
            <a:ext cx="805350" cy="287338"/>
          </a:xfrm>
        </p:spPr>
        <p:txBody>
          <a:bodyPr/>
          <a:lstStyle>
            <a:lvl1pPr>
              <a:buNone/>
              <a:defRPr sz="1000">
                <a:solidFill>
                  <a:schemeClr val="tx1"/>
                </a:solidFill>
              </a:defRPr>
            </a:lvl1pPr>
          </a:lstStyle>
          <a:p>
            <a:fld id="{A65E4EDC-57F8-4D5C-B13E-A981C5F2F71A}" type="slidenum">
              <a:rPr>
                <a:solidFill>
                  <a:schemeClr val="tx1"/>
                </a:solidFill>
              </a:rPr>
              <a:t>‹#›</a:t>
            </a:fld>
            <a:endParaRPr>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anchor="ctr">
            <a:normAutofit/>
          </a:bodyPr>
          <a:lstStyle/>
          <a:p>
            <a:r>
              <a:rPr>
                <a:solidFill>
                  <a:schemeClr val="tx1"/>
                </a:solidFill>
              </a:rPr>
              <a:t>Click to edit Master title style</a:t>
            </a:r>
          </a:p>
        </p:txBody>
      </p:sp>
      <p:sp>
        <p:nvSpPr>
          <p:cNvPr id="7" name="Title and body separator">
            <a:extLst>
              <a:ext uri="{FF2B5EF4-FFF2-40B4-BE49-F238E27FC236}">
                <a16:creationId xmlns:a16="http://schemas.microsoft.com/office/drawing/2014/main" id="{6079D373-E04F-4CB2-8D62-0EE11526CD3C}"/>
              </a:ext>
            </a:extLst>
          </p:cNvPr>
          <p:cNvSpPr>
            <a:spLocks noGrp="1"/>
          </p:cNvSpPr>
          <p:nvPr/>
        </p:nv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txBody>
          <a:bodyPr/>
          <a:lstStyle/>
          <a:p>
            <a:endParaRPr lang="en-Z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opak Exhibit + Commentary v1" preserve="1" userDrawn="1">
  <p:cSld name="Vopak Exhibit + Commentary v1">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196FAB5-3A31-4A82-B70E-C4CDDAD20A82}"/>
              </a:ext>
            </a:extLst>
          </p:cNvPr>
          <p:cNvSpPr>
            <a:spLocks noGrp="1"/>
          </p:cNvSpPr>
          <p:nvPr>
            <p:ph type="sldNum" idx="12"/>
          </p:nvPr>
        </p:nvSpPr>
        <p:spPr>
          <a:xfrm>
            <a:off x="10605599" y="6489700"/>
            <a:ext cx="805350" cy="287338"/>
          </a:xfrm>
        </p:spPr>
        <p:txBody>
          <a:bodyPr/>
          <a:lstStyle>
            <a:lvl1pPr>
              <a:buNone/>
              <a:defRPr sz="1000">
                <a:solidFill>
                  <a:schemeClr val="tx1"/>
                </a:solidFill>
              </a:defRPr>
            </a:lvl1pPr>
          </a:lstStyle>
          <a:p>
            <a:fld id="{A65E4EDC-57F8-4D5C-B13E-A981C5F2F71A}" type="slidenum">
              <a:rPr>
                <a:solidFill>
                  <a:schemeClr val="tx1"/>
                </a:solidFill>
              </a:rPr>
              <a:t>‹#›</a:t>
            </a:fld>
            <a:endParaRPr>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anchor="ctr">
            <a:normAutofit/>
          </a:bodyPr>
          <a:lstStyle/>
          <a:p>
            <a:r>
              <a:rPr>
                <a:solidFill>
                  <a:schemeClr val="tx1"/>
                </a:solidFill>
              </a:rPr>
              <a:t>Click to edit Master title style</a:t>
            </a:r>
          </a:p>
        </p:txBody>
      </p:sp>
      <p:sp>
        <p:nvSpPr>
          <p:cNvPr id="7" name="Title and body separator">
            <a:extLst>
              <a:ext uri="{FF2B5EF4-FFF2-40B4-BE49-F238E27FC236}">
                <a16:creationId xmlns:a16="http://schemas.microsoft.com/office/drawing/2014/main" id="{6079D373-E04F-4CB2-8D62-0EE11526CD3C}"/>
              </a:ext>
            </a:extLst>
          </p:cNvPr>
          <p:cNvSpPr>
            <a:spLocks noGrp="1"/>
          </p:cNvSpPr>
          <p:nvPr/>
        </p:nv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txBody>
          <a:bodyPr/>
          <a:lstStyle/>
          <a:p>
            <a:endParaRPr lang="en-Z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C860AC-EA18-440E-B23B-E92B7C49F015}"/>
              </a:ext>
            </a:extLst>
          </p:cNvPr>
          <p:cNvSpPr>
            <a:spLocks noGrp="1"/>
          </p:cNvSpPr>
          <p:nvPr>
            <p:ph type="title"/>
          </p:nvPr>
        </p:nvSpPr>
        <p:spPr>
          <a:xfrm>
            <a:off x="177801" y="368299"/>
            <a:ext cx="11233148" cy="690101"/>
          </a:xfrm>
          <a:prstGeom prst="rect">
            <a:avLst/>
          </a:prstGeom>
        </p:spPr>
        <p:txBody>
          <a:bodyPr vert="horz" lIns="91440" tIns="45720" rIns="91440" bIns="45720" anchor="ctr">
            <a:normAutofit/>
          </a:bodyPr>
          <a:lstStyle/>
          <a:p>
            <a:endParaRPr/>
          </a:p>
        </p:txBody>
      </p:sp>
      <p:sp>
        <p:nvSpPr>
          <p:cNvPr id="3" name="Text Placeholder 2">
            <a:extLst>
              <a:ext uri="{FF2B5EF4-FFF2-40B4-BE49-F238E27FC236}">
                <a16:creationId xmlns:a16="http://schemas.microsoft.com/office/drawing/2014/main" id="{8C59D33E-9E34-4BB4-9EFE-331A0FF3C833}"/>
              </a:ext>
            </a:extLst>
          </p:cNvPr>
          <p:cNvSpPr>
            <a:spLocks noGrp="1"/>
          </p:cNvSpPr>
          <p:nvPr>
            <p:ph type="body" idx="1"/>
          </p:nvPr>
        </p:nvSpPr>
        <p:spPr>
          <a:xfrm>
            <a:off x="177801" y="1233488"/>
            <a:ext cx="11233149" cy="5256212"/>
          </a:xfrm>
          <a:prstGeom prst="rect">
            <a:avLst/>
          </a:prstGeom>
        </p:spPr>
        <p:txBody>
          <a:bodyPr vert="horz" lIns="91440" tIns="45720" rIns="91440" bIns="45720">
            <a:normAutofit/>
          </a:bodyPr>
          <a:lstStyle/>
          <a:p>
            <a:pPr lvl="0">
              <a:buNone/>
            </a:pPr>
            <a:endParaRPr/>
          </a:p>
        </p:txBody>
      </p:sp>
      <p:sp>
        <p:nvSpPr>
          <p:cNvPr id="6" name="Slide Number Placeholder 5">
            <a:extLst>
              <a:ext uri="{FF2B5EF4-FFF2-40B4-BE49-F238E27FC236}">
                <a16:creationId xmlns:a16="http://schemas.microsoft.com/office/drawing/2014/main" id="{A722AEE9-FEF7-46B6-98E2-A569C4A8AD3C}"/>
              </a:ext>
            </a:extLst>
          </p:cNvPr>
          <p:cNvSpPr>
            <a:spLocks noGrp="1"/>
          </p:cNvSpPr>
          <p:nvPr>
            <p:ph type="sldNum" idx="4"/>
          </p:nvPr>
        </p:nvSpPr>
        <p:spPr>
          <a:xfrm>
            <a:off x="10605599" y="6489700"/>
            <a:ext cx="805350" cy="287338"/>
          </a:xfrm>
          <a:prstGeom prst="rect">
            <a:avLst/>
          </a:prstGeom>
        </p:spPr>
        <p:txBody>
          <a:bodyPr vert="horz" lIns="91440" tIns="45720" rIns="91440" bIns="45720" anchor="ctr"/>
          <a:lstStyle>
            <a:lvl1pPr algn="r">
              <a:buNone/>
              <a:defRPr sz="1000">
                <a:solidFill>
                  <a:schemeClr val="tx1"/>
                </a:solidFill>
              </a:defRPr>
            </a:lvl1pPr>
          </a:lstStyle>
          <a:p>
            <a:fld id="{5E48029D-87D6-48C3-BA4B-1065A63511DF}" type="slidenum">
              <a:rPr>
                <a:solidFill>
                  <a:schemeClr val="tx1"/>
                </a:solidFill>
              </a:rPr>
              <a:t>‹#›</a:t>
            </a:fld>
            <a:endParaRPr>
              <a:solidFill>
                <a:schemeClr val="tx1"/>
              </a:solidFill>
            </a:endParaRPr>
          </a:p>
        </p:txBody>
      </p:sp>
      <p:pic>
        <p:nvPicPr>
          <p:cNvPr id="15" name="Picture 2"/>
          <p:cNvPicPr>
            <a:picLocks noChangeAspect="1"/>
          </p:cNvPicPr>
          <p:nvPr/>
        </p:nvPicPr>
        <p:blipFill>
          <a:blip r:embed="rId9"/>
          <a:srcRect/>
          <a:stretch>
            <a:fillRect/>
          </a:stretch>
        </p:blipFill>
        <p:spPr>
          <a:xfrm>
            <a:off x="9906000" y="6515100"/>
            <a:ext cx="952500" cy="212558"/>
          </a:xfrm>
          <a:prstGeom prst="rect">
            <a:avLst/>
          </a:prstGeom>
        </p:spPr>
      </p:pic>
      <p:sp>
        <p:nvSpPr>
          <p:cNvPr id="9" name="Text Placeholder 6">
            <a:extLst>
              <a:ext uri="{FF2B5EF4-FFF2-40B4-BE49-F238E27FC236}">
                <a16:creationId xmlns:a16="http://schemas.microsoft.com/office/drawing/2014/main" id="{5CB3F387-66D0-18CC-51EE-24B908A792B7}"/>
              </a:ext>
            </a:extLst>
          </p:cNvPr>
          <p:cNvSpPr>
            <a:spLocks noGrp="1"/>
          </p:cNvSpPr>
          <p:nvPr/>
        </p:nvSpPr>
        <p:spPr>
          <a:xfrm>
            <a:off x="457200" y="6528816"/>
            <a:ext cx="8595360" cy="228600"/>
          </a:xfrm>
          <a:prstGeom prst="rect">
            <a:avLst/>
          </a:prstGeom>
        </p:spPr>
        <p:txBody>
          <a:bodyPr tIns="0" bIns="0" anchor="ctr">
            <a:normAutofit/>
          </a:bodyPr>
          <a:lstStyle>
            <a:lvl1pPr marL="0" indent="0" algn="l" defTabSz="869137">
              <a:lnSpc>
                <a:spcPct val="90000"/>
              </a:lnSpc>
              <a:spcBef>
                <a:spcPts val="951"/>
              </a:spcBef>
              <a:buFont typeface="Arial"/>
              <a:buNone/>
              <a:defRPr sz="1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a:lstStyle>
          <a:p>
            <a:pPr>
              <a:buNone/>
              <a:defRPr sz="800">
                <a:solidFill>
                  <a:srgbClr val="404040"/>
                </a:solidFill>
                <a:latin typeface="Lato"/>
                <a:ea typeface="Lato"/>
                <a:cs typeface="Lato"/>
              </a:defRPr>
            </a:pPr>
            <a:endParaRPr/>
          </a:p>
        </p:txBody>
      </p:sp>
      <p:sp>
        <p:nvSpPr>
          <p:cNvPr id="10" name="Fine footer rule">
            <a:extLst>
              <a:ext uri="{FF2B5EF4-FFF2-40B4-BE49-F238E27FC236}">
                <a16:creationId xmlns:a16="http://schemas.microsoft.com/office/drawing/2014/main" id="{B4062CE9-9215-4788-A6E3-2613DEB91A9E}"/>
              </a:ext>
            </a:extLst>
          </p:cNvPr>
          <p:cNvSpPr>
            <a:spLocks noGrp="1"/>
          </p:cNvSpPr>
          <p:nvPr/>
        </p:nv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txBody>
          <a:bodyPr/>
          <a:lstStyle/>
          <a:p>
            <a:endParaRPr lang="en-Z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869137">
        <a:lnSpc>
          <a:spcPct val="90000"/>
        </a:lnSpc>
        <a:spcBef>
          <a:spcPct val="0"/>
        </a:spcBef>
        <a:buNone/>
        <a:defRPr sz="2200" b="1" kern="1200">
          <a:solidFill>
            <a:schemeClr val="tx1"/>
          </a:solidFill>
          <a:latin typeface="+mj-lt"/>
          <a:ea typeface="+mj-lt"/>
          <a:cs typeface="+mj-lt"/>
        </a:defRPr>
      </a:lvl1pPr>
    </p:titleStyle>
    <p:bodyStyle>
      <a:lvl1pPr marL="217284" indent="-217284" algn="l" defTabSz="869137">
        <a:lnSpc>
          <a:spcPct val="90000"/>
        </a:lnSpc>
        <a:spcBef>
          <a:spcPts val="951"/>
        </a:spcBef>
        <a:buFont typeface="Arial"/>
        <a:buChar char="•"/>
        <a:defRPr sz="2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p:bodyStyle>
    <p:otherStyle>
      <a:lvl1pPr marL="0" algn="l" defTabSz="869137">
        <a:buNone/>
        <a:defRPr sz="1711" kern="1200">
          <a:solidFill>
            <a:schemeClr val="tx1"/>
          </a:solidFill>
          <a:latin typeface="+mn-lt"/>
          <a:ea typeface="+mn-lt"/>
          <a:cs typeface="+mn-lt"/>
        </a:defRPr>
      </a:lvl1pPr>
      <a:lvl2pPr marL="434569" algn="l" defTabSz="869137">
        <a:buNone/>
        <a:defRPr sz="1711" kern="1200">
          <a:solidFill>
            <a:schemeClr val="tx1"/>
          </a:solidFill>
          <a:latin typeface="+mn-lt"/>
          <a:ea typeface="+mn-lt"/>
          <a:cs typeface="+mn-lt"/>
        </a:defRPr>
      </a:lvl2pPr>
      <a:lvl3pPr marL="869137" algn="l" defTabSz="869137">
        <a:buNone/>
        <a:defRPr sz="1711" kern="1200">
          <a:solidFill>
            <a:schemeClr val="tx1"/>
          </a:solidFill>
          <a:latin typeface="+mn-lt"/>
          <a:ea typeface="+mn-lt"/>
          <a:cs typeface="+mn-lt"/>
        </a:defRPr>
      </a:lvl3pPr>
      <a:lvl4pPr marL="1303706" algn="l" defTabSz="869137">
        <a:buNone/>
        <a:defRPr sz="1711" kern="1200">
          <a:solidFill>
            <a:schemeClr val="tx1"/>
          </a:solidFill>
          <a:latin typeface="+mn-lt"/>
          <a:ea typeface="+mn-lt"/>
          <a:cs typeface="+mn-lt"/>
        </a:defRPr>
      </a:lvl4pPr>
      <a:lvl5pPr marL="1738274" algn="l" defTabSz="869137">
        <a:buNone/>
        <a:defRPr sz="1711" kern="1200">
          <a:solidFill>
            <a:schemeClr val="tx1"/>
          </a:solidFill>
          <a:latin typeface="+mn-lt"/>
          <a:ea typeface="+mn-lt"/>
          <a:cs typeface="+mn-lt"/>
        </a:defRPr>
      </a:lvl5pPr>
      <a:lvl6pPr marL="2172843" algn="l" defTabSz="869137">
        <a:buNone/>
        <a:defRPr sz="1711" kern="1200">
          <a:solidFill>
            <a:schemeClr val="tx1"/>
          </a:solidFill>
          <a:latin typeface="+mn-lt"/>
          <a:ea typeface="+mn-lt"/>
          <a:cs typeface="+mn-lt"/>
        </a:defRPr>
      </a:lvl6pPr>
      <a:lvl7pPr marL="2607412" algn="l" defTabSz="869137">
        <a:buNone/>
        <a:defRPr sz="1711" kern="1200">
          <a:solidFill>
            <a:schemeClr val="tx1"/>
          </a:solidFill>
          <a:latin typeface="+mn-lt"/>
          <a:ea typeface="+mn-lt"/>
          <a:cs typeface="+mn-lt"/>
        </a:defRPr>
      </a:lvl7pPr>
      <a:lvl8pPr marL="3041980" algn="l" defTabSz="869137">
        <a:buNone/>
        <a:defRPr sz="1711" kern="1200">
          <a:solidFill>
            <a:schemeClr val="tx1"/>
          </a:solidFill>
          <a:latin typeface="+mn-lt"/>
          <a:ea typeface="+mn-lt"/>
          <a:cs typeface="+mn-lt"/>
        </a:defRPr>
      </a:lvl8pPr>
      <a:lvl9pPr marL="3476549" algn="l" defTabSz="869137">
        <a:buNone/>
        <a:defRPr sz="1711" kern="1200">
          <a:solidFill>
            <a:schemeClr val="tx1"/>
          </a:solidFill>
          <a:latin typeface="+mn-lt"/>
          <a:ea typeface="+mn-lt"/>
          <a:cs typeface="+mn-lt"/>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5.xml"/><Relationship Id="rId3" Type="http://schemas.openxmlformats.org/officeDocument/2006/relationships/slide" Target="slide4.xml"/><Relationship Id="rId7" Type="http://schemas.openxmlformats.org/officeDocument/2006/relationships/slide" Target="slide8.xml"/><Relationship Id="rId12" Type="http://schemas.openxmlformats.org/officeDocument/2006/relationships/slide" Target="slide12.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slide" Target="slide7.xml"/><Relationship Id="rId11" Type="http://schemas.openxmlformats.org/officeDocument/2006/relationships/slide" Target="slide11.xml"/><Relationship Id="rId5" Type="http://schemas.openxmlformats.org/officeDocument/2006/relationships/slide" Target="slide6.xml"/><Relationship Id="rId10" Type="http://schemas.openxmlformats.org/officeDocument/2006/relationships/slide" Target="slide16.xml"/><Relationship Id="rId4" Type="http://schemas.openxmlformats.org/officeDocument/2006/relationships/slide" Target="slide5.xml"/><Relationship Id="rId9" Type="http://schemas.openxmlformats.org/officeDocument/2006/relationships/slide" Target="slide10.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chart" Target="../charts/chart15.xml"/><Relationship Id="rId3" Type="http://schemas.openxmlformats.org/officeDocument/2006/relationships/chart" Target="../charts/chart10.xml"/><Relationship Id="rId7" Type="http://schemas.openxmlformats.org/officeDocument/2006/relationships/chart" Target="../charts/chart14.xm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chart" Target="../charts/chart13.xml"/><Relationship Id="rId5" Type="http://schemas.openxmlformats.org/officeDocument/2006/relationships/chart" Target="../charts/chart12.xml"/><Relationship Id="rId4" Type="http://schemas.openxmlformats.org/officeDocument/2006/relationships/chart" Target="../charts/char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8" Type="http://schemas.openxmlformats.org/officeDocument/2006/relationships/chart" Target="../charts/chart22.xml"/><Relationship Id="rId3" Type="http://schemas.openxmlformats.org/officeDocument/2006/relationships/chart" Target="../charts/chart17.xml"/><Relationship Id="rId7" Type="http://schemas.openxmlformats.org/officeDocument/2006/relationships/chart" Target="../charts/chart21.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chart" Target="../charts/chart20.xml"/><Relationship Id="rId5" Type="http://schemas.openxmlformats.org/officeDocument/2006/relationships/chart" Target="../charts/chart19.xml"/><Relationship Id="rId4" Type="http://schemas.openxmlformats.org/officeDocument/2006/relationships/chart" Target="../charts/chart18.xml"/></Relationships>
</file>

<file path=ppt/slides/_rels/slide16.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chart" Target="../charts/chart2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C39121-817A-4D3C-899A-D0A0C1F58930}"/>
              </a:ext>
            </a:extLst>
          </p:cNvPr>
          <p:cNvSpPr>
            <a:spLocks noGrp="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solidFill>
                  <a:srgbClr val="FFFFFF"/>
                </a:solidFill>
              </a:defRPr>
            </a:pPr>
            <a:endParaRPr/>
          </a:p>
        </p:txBody>
      </p:sp>
      <p:pic>
        <p:nvPicPr>
          <p:cNvPr id="16" name="Picture 2"/>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17" name="Picture 3"/>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a:extLst>
              <a:ext uri="{FF2B5EF4-FFF2-40B4-BE49-F238E27FC236}">
                <a16:creationId xmlns:a16="http://schemas.microsoft.com/office/drawing/2014/main" id="{5FD954C5-04DB-4280-B44C-D964E6C9CDDA}"/>
              </a:ext>
            </a:extLst>
          </p:cNvPr>
          <p:cNvSpPr>
            <a:spLocks noGrp="1"/>
          </p:cNvSpPr>
          <p:nvPr/>
        </p:nvSpPr>
        <p:spPr>
          <a:xfrm>
            <a:off x="594360" y="2468880"/>
            <a:ext cx="4709160" cy="1636345"/>
          </a:xfrm>
          <a:prstGeom prst="rect">
            <a:avLst/>
          </a:prstGeom>
          <a:noFill/>
        </p:spPr>
        <p:txBody>
          <a:bodyPr wrap="square" lIns="18288" tIns="0" rIns="18288" bIns="0">
            <a:spAutoFit/>
          </a:bodyPr>
          <a:lstStyle/>
          <a:p>
            <a:pPr>
              <a:spcAft>
                <a:spcPts val="800"/>
              </a:spcAft>
              <a:buNone/>
              <a:defRPr sz="3100" b="0">
                <a:solidFill>
                  <a:srgbClr val="FFFFFF"/>
                </a:solidFill>
                <a:latin typeface="Lato"/>
                <a:ea typeface="Lato"/>
                <a:cs typeface="Lato"/>
              </a:defRPr>
            </a:pPr>
            <a:r>
              <a:rPr>
                <a:solidFill>
                  <a:srgbClr val="FFFFFF"/>
                </a:solidFill>
              </a:rPr>
              <a:t>South Africa</a:t>
            </a:r>
          </a:p>
          <a:p>
            <a:pPr>
              <a:spcAft>
                <a:spcPts val="800"/>
              </a:spcAft>
              <a:buNone/>
              <a:defRPr sz="3100" b="0">
                <a:solidFill>
                  <a:srgbClr val="FFFFFF"/>
                </a:solidFill>
                <a:latin typeface="Lato"/>
                <a:ea typeface="Lato"/>
                <a:cs typeface="Lato"/>
              </a:defRPr>
            </a:pPr>
            <a:r>
              <a:rPr>
                <a:solidFill>
                  <a:srgbClr val="FFFFFF"/>
                </a:solidFill>
              </a:rPr>
              <a:t>liquid fuels</a:t>
            </a:r>
          </a:p>
          <a:p>
            <a:pPr>
              <a:spcAft>
                <a:spcPts val="800"/>
              </a:spcAft>
              <a:buNone/>
              <a:defRPr sz="3100" b="0">
                <a:solidFill>
                  <a:srgbClr val="FFFFFF"/>
                </a:solidFill>
                <a:latin typeface="Lato"/>
                <a:ea typeface="Lato"/>
                <a:cs typeface="Lato"/>
              </a:defRPr>
            </a:pPr>
            <a:r>
              <a:rPr>
                <a:solidFill>
                  <a:srgbClr val="FFFFFF"/>
                </a:solidFill>
              </a:rPr>
              <a:t>market outlook</a:t>
            </a:r>
          </a:p>
        </p:txBody>
      </p:sp>
      <p:sp>
        <p:nvSpPr>
          <p:cNvPr id="6" name="Connector 5">
            <a:extLst>
              <a:ext uri="{FF2B5EF4-FFF2-40B4-BE49-F238E27FC236}">
                <a16:creationId xmlns:a16="http://schemas.microsoft.com/office/drawing/2014/main" id="{8AC3AB0E-746B-4AF6-ABCD-D6526DA2BFFE}"/>
              </a:ext>
            </a:extLst>
          </p:cNvPr>
          <p:cNvSpPr>
            <a:spLocks noGrp="1"/>
          </p:cNvSpPr>
          <p:nvPr/>
        </p:nv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txBody>
          <a:bodyPr/>
          <a:lstStyle/>
          <a:p>
            <a:endParaRPr lang="en-ZA"/>
          </a:p>
        </p:txBody>
      </p:sp>
      <p:sp>
        <p:nvSpPr>
          <p:cNvPr id="7" name="TextBox 6">
            <a:extLst>
              <a:ext uri="{FF2B5EF4-FFF2-40B4-BE49-F238E27FC236}">
                <a16:creationId xmlns:a16="http://schemas.microsoft.com/office/drawing/2014/main" id="{92702DF3-0D72-4A19-ADCB-903E36583053}"/>
              </a:ext>
            </a:extLst>
          </p:cNvPr>
          <p:cNvSpPr>
            <a:spLocks noGrp="1"/>
          </p:cNvSpPr>
          <p:nvPr/>
        </p:nvSpPr>
        <p:spPr>
          <a:xfrm>
            <a:off x="594360" y="4617720"/>
            <a:ext cx="4572000" cy="523220"/>
          </a:xfrm>
          <a:prstGeom prst="rect">
            <a:avLst/>
          </a:prstGeom>
          <a:noFill/>
        </p:spPr>
        <p:txBody>
          <a:bodyPr wrap="square" lIns="18288" tIns="0" rIns="18288" bIns="0">
            <a:spAutoFit/>
          </a:bodyPr>
          <a:lstStyle/>
          <a:p>
            <a:pPr>
              <a:spcAft>
                <a:spcPts val="800"/>
              </a:spcAft>
              <a:buNone/>
              <a:defRPr sz="2100" b="0">
                <a:solidFill>
                  <a:srgbClr val="FFFFFF"/>
                </a:solidFill>
                <a:latin typeface="Lato"/>
                <a:ea typeface="Lato"/>
                <a:cs typeface="Lato"/>
              </a:defRPr>
            </a:pPr>
            <a:r>
              <a:rPr sz="1700">
                <a:solidFill>
                  <a:srgbClr val="FFFFFF"/>
                </a:solidFill>
              </a:rPr>
              <a:t>Demand, supply and routes — implications for Vopak</a:t>
            </a:r>
          </a:p>
        </p:txBody>
      </p:sp>
      <p:sp>
        <p:nvSpPr>
          <p:cNvPr id="8" name="TextBox 7">
            <a:extLst>
              <a:ext uri="{FF2B5EF4-FFF2-40B4-BE49-F238E27FC236}">
                <a16:creationId xmlns:a16="http://schemas.microsoft.com/office/drawing/2014/main" id="{C5CB190A-7488-44E1-8968-36FDC90EDA0B}"/>
              </a:ext>
            </a:extLst>
          </p:cNvPr>
          <p:cNvSpPr>
            <a:spLocks noGrp="1"/>
          </p:cNvSpPr>
          <p:nvPr/>
        </p:nvSpPr>
        <p:spPr>
          <a:xfrm>
            <a:off x="594360" y="52395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a:solidFill>
                  <a:srgbClr val="FFFFFF"/>
                </a:solidFill>
              </a:rPr>
              <a:t>Durban and Lesedi | Market-sizing framework</a:t>
            </a:r>
          </a:p>
        </p:txBody>
      </p:sp>
      <p:sp>
        <p:nvSpPr>
          <p:cNvPr id="9" name="TextBox 8">
            <a:extLst>
              <a:ext uri="{FF2B5EF4-FFF2-40B4-BE49-F238E27FC236}">
                <a16:creationId xmlns:a16="http://schemas.microsoft.com/office/drawing/2014/main" id="{D208E6D2-5587-493C-AED5-50FFAEFBCE44}"/>
              </a:ext>
            </a:extLst>
          </p:cNvPr>
          <p:cNvSpPr>
            <a:spLocks noGrp="1"/>
          </p:cNvSpPr>
          <p:nvPr/>
        </p:nvSpPr>
        <p:spPr>
          <a:xfrm>
            <a:off x="594360" y="56967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lang="en-ZA">
                <a:solidFill>
                  <a:srgbClr val="FFFFFF"/>
                </a:solidFill>
              </a:rPr>
              <a:t>14 October 2026</a:t>
            </a:r>
            <a:endParaRPr>
              <a:solidFill>
                <a:srgbClr val="FFFFFF"/>
              </a:solidFill>
            </a:endParaRPr>
          </a:p>
        </p:txBody>
      </p:sp>
      <p:sp>
        <p:nvSpPr>
          <p:cNvPr id="10" name="TextBox 9">
            <a:extLst>
              <a:ext uri="{FF2B5EF4-FFF2-40B4-BE49-F238E27FC236}">
                <a16:creationId xmlns:a16="http://schemas.microsoft.com/office/drawing/2014/main" id="{15A94E5E-E17D-406B-B780-6593F829C0CA}"/>
              </a:ext>
            </a:extLst>
          </p:cNvPr>
          <p:cNvSpPr>
            <a:spLocks noGrp="1"/>
          </p:cNvSpPr>
          <p:nvPr/>
        </p:nvSpPr>
        <p:spPr>
          <a:xfrm>
            <a:off x="594360" y="6053328"/>
            <a:ext cx="4572000" cy="369332"/>
          </a:xfrm>
          <a:prstGeom prst="rect">
            <a:avLst/>
          </a:prstGeom>
          <a:noFill/>
        </p:spPr>
        <p:txBody>
          <a:bodyPr wrap="square" lIns="18288" tIns="0" rIns="18288" bIns="0">
            <a:spAutoFit/>
          </a:bodyPr>
          <a:lstStyle/>
          <a:p>
            <a:pPr>
              <a:spcAft>
                <a:spcPts val="800"/>
              </a:spcAft>
              <a:buNone/>
              <a:defRPr sz="1200" b="0">
                <a:solidFill>
                  <a:srgbClr val="FFFFFF"/>
                </a:solidFill>
                <a:latin typeface="Lato"/>
                <a:ea typeface="Lato"/>
                <a:cs typeface="Lato"/>
              </a:defRPr>
            </a:pPr>
            <a:r>
              <a:rPr sz="1200">
                <a:solidFill>
                  <a:srgbClr val="FFFFFF"/>
                </a:solidFill>
              </a:rPr>
              <a:t>Planning estimates and illustrative capture. Customer access and usable capacity remain to be established.</a:t>
            </a:r>
          </a:p>
        </p:txBody>
      </p:sp>
      <p:sp>
        <p:nvSpPr>
          <p:cNvPr id="11" name="Photo source credit">
            <a:extLst>
              <a:ext uri="{FF2B5EF4-FFF2-40B4-BE49-F238E27FC236}">
                <a16:creationId xmlns:a16="http://schemas.microsoft.com/office/drawing/2014/main" id="{605235CD-EC7B-4D28-A4DA-C6360164F0A7}"/>
              </a:ext>
            </a:extLst>
          </p:cNvPr>
          <p:cNvSpPr>
            <a:spLocks noGrp="1"/>
          </p:cNvSpPr>
          <p:nvPr/>
        </p:nvSpPr>
        <p:spPr>
          <a:xfrm>
            <a:off x="594360" y="6400800"/>
            <a:ext cx="4754880" cy="164592"/>
          </a:xfrm>
          <a:prstGeom prst="rect">
            <a:avLst/>
          </a:prstGeom>
          <a:noFill/>
        </p:spPr>
        <p:txBody>
          <a:bodyPr wrap="square" lIns="18288" tIns="0" rIns="18288" bIns="0">
            <a:spAutoFit/>
          </a:bodyPr>
          <a:lstStyle/>
          <a:p>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a:ext uri="{FF2B5EF4-FFF2-40B4-BE49-F238E27FC236}">
                <a16:creationId xmlns:a16="http://schemas.microsoft.com/office/drawing/2014/main" id="{ED5236C5-84CC-47CC-8ACF-9C81666786AA}"/>
              </a:ext>
            </a:extLst>
          </p:cNvPr>
          <p:cNvSpPr>
            <a:spLocks noGrp="1"/>
          </p:cNvSpPr>
          <p:nvPr/>
        </p:nvSpPr>
        <p:spPr>
          <a:xfrm>
            <a:off x="59436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745302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p:txBody>
          <a:bodyPr/>
          <a:lstStyle/>
          <a:p>
            <a:pPr>
              <a:buNone/>
              <a:defRPr sz="1000">
                <a:latin typeface="Lato"/>
                <a:ea typeface="Lato"/>
                <a:cs typeface="Lato"/>
              </a:defRPr>
            </a:pPr>
            <a:r>
              <a:rPr lang="en-ZA" sz="1100"/>
              <a:t>2</a:t>
            </a:r>
            <a:endParaRPr sz="1100"/>
          </a:p>
        </p:txBody>
      </p:sp>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In 2025 about 10bn litres of local production and 16.7bn litres of imports supplied a 25bn-litre market</a:t>
            </a:r>
            <a:endParaRPr>
              <a:solidFill>
                <a:schemeClr val="dk1"/>
              </a:solidFill>
              <a:latin typeface="Lato"/>
              <a:ea typeface="Lato"/>
              <a:cs typeface="Lato"/>
            </a:endParaRPr>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GB" sz="600">
                <a:solidFill>
                  <a:srgbClr val="111111"/>
                </a:solidFill>
                <a:latin typeface="Lato"/>
                <a:ea typeface="Lato"/>
                <a:cs typeface="Lato"/>
              </a:rPr>
              <a:t>Production: Sasol and Glencore reports, analytical workbook v02 shares (p10). Imports and exports: SARS customs, calendar 2025, litres. Consumption = production + imports − exports; stock change assumed nil. Levy: Road Accident Fund annual report 2024/25, gross levies at 218c a litre.</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66" name="Section navigation 1"/>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1  Overview</a:t>
            </a:r>
          </a:p>
        </p:txBody>
      </p:sp>
      <p:sp>
        <p:nvSpPr>
          <p:cNvPr id="6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6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69"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22" name="Evidence unit">
            <a:extLst>
              <a:ext uri="{FF2B5EF4-FFF2-40B4-BE49-F238E27FC236}">
                <a16:creationId xmlns:a16="http://schemas.microsoft.com/office/drawing/2014/main" id="{FC1A39E3-57CF-EED8-721E-D863AA948703}"/>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lang="en-ZA" sz="975" b="0">
                <a:solidFill>
                  <a:srgbClr val="626262"/>
                </a:solidFill>
                <a:latin typeface="Lato"/>
                <a:ea typeface="Lato"/>
                <a:cs typeface="Lato"/>
              </a:rPr>
              <a:t>Billion litres | calendar 2025E</a:t>
            </a:r>
            <a:endParaRPr sz="975" b="0">
              <a:solidFill>
                <a:srgbClr val="626262"/>
              </a:solidFill>
              <a:latin typeface="Lato"/>
              <a:ea typeface="Lato"/>
              <a:cs typeface="Lato"/>
            </a:endParaRPr>
          </a:p>
        </p:txBody>
      </p:sp>
      <p:sp>
        <p:nvSpPr>
          <p:cNvPr id="23" name="Evidence insights">
            <a:extLst>
              <a:ext uri="{FF2B5EF4-FFF2-40B4-BE49-F238E27FC236}">
                <a16:creationId xmlns:a16="http://schemas.microsoft.com/office/drawing/2014/main" id="{D9783925-0AC7-F42D-CE65-EFD015F64305}"/>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lang="en-GB" sz="1300" b="0">
                <a:solidFill>
                  <a:srgbClr val="11151A"/>
                </a:solidFill>
                <a:latin typeface="Lato"/>
                <a:ea typeface="Lato"/>
                <a:cs typeface="Lato"/>
              </a:rPr>
              <a:t>Supply: 10.2bn L estimated production + 16.7bn L recorded imports.
Uses: 1.5bn L recorded exports, leaving 25.4bn L consumed: petrol 9.3, diesel 16.1.
Consumption is production plus imports less exports. It is 4.4bn L above the earlier estimate from Department sales (21.0), almost all in diesel.
Cross-check: the road-fuel levy was charged on 24.4bn L in the year to March 2025.</a:t>
            </a:r>
            <a:endParaRPr sz="1300" b="0">
              <a:solidFill>
                <a:srgbClr val="11151A"/>
              </a:solidFill>
              <a:latin typeface="Lato"/>
              <a:ea typeface="Lato"/>
              <a:cs typeface="Lato"/>
            </a:endParaRPr>
          </a:p>
        </p:txBody>
      </p:sp>
      <p:sp>
        <p:nvSpPr>
          <p:cNvPr id="24" name="Evidence takeaway">
            <a:extLst>
              <a:ext uri="{FF2B5EF4-FFF2-40B4-BE49-F238E27FC236}">
                <a16:creationId xmlns:a16="http://schemas.microsoft.com/office/drawing/2014/main" id="{F99B9D74-922F-317F-263E-F2536C0C76F0}"/>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lang="en-ZA" sz="1275" b="0">
                <a:solidFill>
                  <a:srgbClr val="0A2373"/>
                </a:solidFill>
                <a:latin typeface="Lato"/>
                <a:ea typeface="Lato"/>
                <a:cs typeface="Lato"/>
              </a:rPr>
              <a:t>Imports meet about 66% of national petrol and diesel consumption.</a:t>
            </a:r>
            <a:endParaRPr sz="1275" b="0">
              <a:solidFill>
                <a:srgbClr val="0A2373"/>
              </a:solidFill>
              <a:latin typeface="Lato"/>
              <a:ea typeface="Lato"/>
              <a:cs typeface="Lato"/>
            </a:endParaRPr>
          </a:p>
        </p:txBody>
      </p:sp>
      <p:sp>
        <p:nvSpPr>
          <p:cNvPr id="25" name="Vopak exhibit left heading">
            <a:extLst>
              <a:ext uri="{FF2B5EF4-FFF2-40B4-BE49-F238E27FC236}">
                <a16:creationId xmlns:a16="http://schemas.microsoft.com/office/drawing/2014/main" id="{2078293A-06CD-E24D-A1D4-5D5A4F014FCC}"/>
              </a:ext>
            </a:extLst>
          </p:cNvPr>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lang="en-ZA" sz="1400" b="1">
                <a:latin typeface="Lato"/>
              </a:rPr>
              <a:t>2025E petrol and diesel balance</a:t>
            </a:r>
            <a:endParaRPr sz="1400" b="1">
              <a:latin typeface="Lato"/>
            </a:endParaRPr>
          </a:p>
        </p:txBody>
      </p:sp>
      <p:sp>
        <p:nvSpPr>
          <p:cNvPr id="26" name="Vopak exhibit right heading">
            <a:extLst>
              <a:ext uri="{FF2B5EF4-FFF2-40B4-BE49-F238E27FC236}">
                <a16:creationId xmlns:a16="http://schemas.microsoft.com/office/drawing/2014/main" id="{CCB0A90D-3C75-BE7C-37E3-52E5C4A2A0C4}"/>
              </a:ext>
            </a:extLst>
          </p:cNvPr>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rPr lang="en-GB" sz="1300"/>
              <a:t>Recorded trade, estimated production</a:t>
            </a:r>
            <a:endParaRPr sz="1300"/>
          </a:p>
        </p:txBody>
      </p:sp>
      <p:cxnSp>
        <p:nvCxnSpPr>
          <p:cNvPr id="27" name="Vopak exhibit left rule">
            <a:extLst>
              <a:ext uri="{FF2B5EF4-FFF2-40B4-BE49-F238E27FC236}">
                <a16:creationId xmlns:a16="http://schemas.microsoft.com/office/drawing/2014/main" id="{DE1D99BE-4A5C-E2CA-913D-2AD83CBD541D}"/>
              </a:ext>
            </a:extLst>
          </p:cNvPr>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Vopak exhibit right rule">
            <a:extLst>
              <a:ext uri="{FF2B5EF4-FFF2-40B4-BE49-F238E27FC236}">
                <a16:creationId xmlns:a16="http://schemas.microsoft.com/office/drawing/2014/main" id="{AA069320-2CAE-3674-A292-C8B016B8C9BA}"/>
              </a:ext>
            </a:extLst>
          </p:cNvPr>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9" name="Vopak exhibit divider">
            <a:extLst>
              <a:ext uri="{FF2B5EF4-FFF2-40B4-BE49-F238E27FC236}">
                <a16:creationId xmlns:a16="http://schemas.microsoft.com/office/drawing/2014/main" id="{B9A6B1EA-F8D5-F43D-C0BA-9F85D8834AE4}"/>
              </a:ext>
            </a:extLst>
          </p:cNvP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0" name="Vopak exhibit marker 0">
            <a:extLst>
              <a:ext uri="{FF2B5EF4-FFF2-40B4-BE49-F238E27FC236}">
                <a16:creationId xmlns:a16="http://schemas.microsoft.com/office/drawing/2014/main" id="{4ABD902C-A424-48F5-F570-578E003BC3A5}"/>
              </a:ext>
            </a:extLst>
          </p:cNvPr>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Vopak exhibit marker 1">
            <a:extLst>
              <a:ext uri="{FF2B5EF4-FFF2-40B4-BE49-F238E27FC236}">
                <a16:creationId xmlns:a16="http://schemas.microsoft.com/office/drawing/2014/main" id="{26EB6FF8-ED69-15AB-0475-32C273DBB8E2}"/>
              </a:ext>
            </a:extLst>
          </p:cNvPr>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Vopak exhibit marker 2">
            <a:extLst>
              <a:ext uri="{FF2B5EF4-FFF2-40B4-BE49-F238E27FC236}">
                <a16:creationId xmlns:a16="http://schemas.microsoft.com/office/drawing/2014/main" id="{18D752D8-7BF5-1DE5-7FE8-3D2C169CD54D}"/>
              </a:ext>
            </a:extLst>
          </p:cNvPr>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33" name="Chart">
            <a:extLst>
              <a:ext uri="{FF2B5EF4-FFF2-40B4-BE49-F238E27FC236}">
                <a16:creationId xmlns:a16="http://schemas.microsoft.com/office/drawing/2014/main" id="{39FFC294-1E86-1485-C073-327B6D2264B6}"/>
              </a:ext>
            </a:extLst>
          </p:cNvPr>
          <p:cNvGraphicFramePr/>
          <p:nvPr/>
        </p:nvGraphicFramePr>
        <p:xfrm>
          <a:off x="457200" y="2333625"/>
          <a:ext cx="6446520" cy="3095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2191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Changes in demand, domestic supply and import routes could reduce flows through Durban</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3</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600">
                <a:solidFill>
                  <a:srgbClr val="111111"/>
                </a:solidFill>
                <a:latin typeface="Lato"/>
                <a:ea typeface="Lato"/>
                <a:cs typeface="Lato"/>
              </a:rPr>
              <a:t>Demand baseline: p4. Driver evidence: pp5–11. Sizing: pp12–14. Drivers and outlook: pp15–17. Stats SA; Eskom; Sasol; Glencore; Galp; Petromoc; naamsa. Scenario outcomes are separate from observed evidence.</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Table 54"/>
          <p:cNvGraphicFramePr/>
          <p:nvPr>
            <p:extLst>
              <p:ext uri="{D42A27DB-BD31-4B8C-83A1-F6EECF244321}">
                <p14:modId xmlns:p14="http://schemas.microsoft.com/office/powerpoint/2010/main" val="3448812382"/>
              </p:ext>
            </p:extLst>
          </p:nvPr>
        </p:nvGraphicFramePr>
        <p:xfrm>
          <a:off x="457200" y="1572768"/>
          <a:ext cx="10648950" cy="4404360"/>
        </p:xfrm>
        <a:graphic>
          <a:graphicData uri="http://schemas.openxmlformats.org/drawingml/2006/table">
            <a:tbl>
              <a:tblPr/>
              <a:tblGrid>
                <a:gridCol w="18097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6362700">
                  <a:extLst>
                    <a:ext uri="{9D8B030D-6E8A-4147-A177-3AD203B41FA5}">
                      <a16:colId xmlns:a16="http://schemas.microsoft.com/office/drawing/2014/main" val="20002"/>
                    </a:ext>
                  </a:extLst>
                </a:gridCol>
              </a:tblGrid>
              <a:tr h="381000">
                <a:tc>
                  <a:txBody>
                    <a:bodyPr/>
                    <a:lstStyle/>
                    <a:p>
                      <a:r>
                        <a:rPr sz="1350" b="1" dirty="0">
                          <a:solidFill>
                            <a:srgbClr val="11151A"/>
                          </a:solidFill>
                          <a:latin typeface="Lato" panose="020F0502020204030203" pitchFamily="34" charset="0"/>
                          <a:ea typeface="Lato"/>
                          <a:cs typeface="Lato"/>
                        </a:rPr>
                        <a:t>Complication</a:t>
                      </a:r>
                    </a:p>
                  </a:txBody>
                  <a:tcPr>
                    <a:lnL w="12700">
                      <a:noFill/>
                    </a:lnL>
                    <a:lnR w="12700">
                      <a:noFill/>
                    </a:lnR>
                    <a:lnT w="12700">
                      <a:noFill/>
                    </a:lnT>
                    <a:lnB w="12700">
                      <a:solidFill>
                        <a:srgbClr val="666666"/>
                      </a:solidFill>
                    </a:lnB>
                    <a:solidFill>
                      <a:srgbClr val="FFFFFF"/>
                    </a:solidFill>
                  </a:tcPr>
                </a:tc>
                <a:tc>
                  <a:txBody>
                    <a:bodyPr/>
                    <a:lstStyle/>
                    <a:p>
                      <a:r>
                        <a:rPr sz="1350" b="1">
                          <a:solidFill>
                            <a:srgbClr val="11151A"/>
                          </a:solidFill>
                          <a:latin typeface="Lato" panose="020F0502020204030203" pitchFamily="34" charset="0"/>
                          <a:ea typeface="Lato"/>
                          <a:cs typeface="Lato"/>
                        </a:rPr>
                        <a:t>Driver</a:t>
                      </a:r>
                    </a:p>
                  </a:txBody>
                  <a:tcPr>
                    <a:lnL w="12700">
                      <a:noFill/>
                    </a:lnL>
                    <a:lnR w="12700">
                      <a:noFill/>
                    </a:lnR>
                    <a:lnT w="12700">
                      <a:noFill/>
                    </a:lnT>
                    <a:lnB w="12700">
                      <a:solidFill>
                        <a:srgbClr val="666666"/>
                      </a:solidFill>
                    </a:lnB>
                    <a:solidFill>
                      <a:srgbClr val="FFFFFF"/>
                    </a:solidFill>
                  </a:tcPr>
                </a:tc>
                <a:tc>
                  <a:txBody>
                    <a:bodyPr/>
                    <a:lstStyle/>
                    <a:p>
                      <a:r>
                        <a:rPr sz="1350" b="1">
                          <a:solidFill>
                            <a:srgbClr val="11151A"/>
                          </a:solidFill>
                          <a:latin typeface="Lato" panose="020F0502020204030203" pitchFamily="34" charset="0"/>
                          <a:ea typeface="Lato"/>
                          <a:cs typeface="Lato"/>
                        </a:rPr>
                        <a:t>What changes for fuel demand and Durban flows</a:t>
                      </a:r>
                    </a:p>
                  </a:txBody>
                  <a:tcPr>
                    <a:lnL w="12700">
                      <a:noFill/>
                    </a:lnL>
                    <a:lnR w="12700">
                      <a:noFill/>
                    </a:lnR>
                    <a:lnT w="12700">
                      <a:noFill/>
                    </a:lnT>
                    <a:lnB w="12700">
                      <a:solidFill>
                        <a:srgbClr val="666666"/>
                      </a:solidFill>
                    </a:lnB>
                    <a:solidFill>
                      <a:srgbClr val="FFFFFF"/>
                    </a:solidFill>
                  </a:tcPr>
                </a:tc>
                <a:extLst>
                  <a:ext uri="{0D108BD9-81ED-4DB2-BD59-A6C34878D82A}">
                    <a16:rowId xmlns:a16="http://schemas.microsoft.com/office/drawing/2014/main" val="10000"/>
                  </a:ext>
                </a:extLst>
              </a:tr>
              <a:tr h="457200">
                <a:tc>
                  <a:txBody>
                    <a:bodyPr/>
                    <a:lstStyle/>
                    <a:p>
                      <a:r>
                        <a:rPr lang="en-ZA" sz="1350" b="1">
                          <a:solidFill>
                            <a:srgbClr val="11151A"/>
                          </a:solidFill>
                          <a:latin typeface="Lato" panose="020F0502020204030203" pitchFamily="34" charset="0"/>
                          <a:ea typeface="Lato"/>
                          <a:cs typeface="Lato"/>
                        </a:rPr>
                        <a:t>Baseline</a:t>
                      </a:r>
                      <a:endParaRPr sz="1350" b="1">
                        <a:solidFill>
                          <a:srgbClr val="11151A"/>
                        </a:solidFill>
                        <a:latin typeface="Lato" panose="020F0502020204030203" pitchFamily="34" charset="0"/>
                        <a:ea typeface="Lato"/>
                        <a:cs typeface="Lato"/>
                      </a:endParaRPr>
                    </a:p>
                  </a:txBody>
                  <a:tcPr>
                    <a:lnL w="6350">
                      <a:noFill/>
                    </a:lnL>
                    <a:lnR w="6350">
                      <a:noFill/>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r>
                        <a:rPr lang="en-ZA" sz="1350" b="0" u="sng" dirty="0">
                          <a:solidFill>
                            <a:srgbClr val="0A2373"/>
                          </a:solidFill>
                          <a:latin typeface="Lato" panose="020F0502020204030203" pitchFamily="34" charset="0"/>
                          <a:ea typeface="Lato"/>
                          <a:cs typeface="Lato"/>
                          <a:hlinkClick r:id="rId3" action="ppaction://hlinksldjump">
                            <a:extLst>
                              <a:ext uri="{A12FA001-AC4F-418D-AE19-62706E023703}">
                                <ahyp:hlinkClr xmlns:ahyp="http://schemas.microsoft.com/office/drawing/2018/hyperlinkcolor" val="tx"/>
                              </a:ext>
                            </a:extLst>
                          </a:hlinkClick>
                        </a:rPr>
                        <a:t>Baseline demand | p4</a:t>
                      </a:r>
                      <a:endParaRPr sz="1350" b="0" u="sng" dirty="0">
                        <a:solidFill>
                          <a:srgbClr val="0A2373"/>
                        </a:solidFill>
                        <a:latin typeface="Lato" panose="020F0502020204030203" pitchFamily="34" charset="0"/>
                        <a:ea typeface="Lato"/>
                        <a:cs typeface="Lato"/>
                      </a:endParaRPr>
                    </a:p>
                  </a:txBody>
                  <a:tcPr>
                    <a:lnL w="6350">
                      <a:noFill/>
                    </a:lnL>
                    <a:lnR w="6350">
                      <a:noFill/>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tc>
                  <a:txBody>
                    <a:bodyPr/>
                    <a:lstStyle/>
                    <a:p>
                      <a:r>
                        <a:rPr lang="en-GB" sz="1350" b="0">
                          <a:solidFill>
                            <a:srgbClr val="11151A"/>
                          </a:solidFill>
                          <a:latin typeface="Lato" panose="020F0502020204030203" pitchFamily="34" charset="0"/>
                          <a:ea typeface="Lato"/>
                          <a:cs typeface="Lato"/>
                        </a:rPr>
                        <a:t>About 25.4bn-litre market in 2025 (production plus imports less exports); petrol/diesel history and the end-use split establish the starting point.</a:t>
                      </a:r>
                      <a:endParaRPr sz="1350" b="0">
                        <a:solidFill>
                          <a:srgbClr val="11151A"/>
                        </a:solidFill>
                        <a:latin typeface="Lato" panose="020F0502020204030203" pitchFamily="34" charset="0"/>
                        <a:ea typeface="Lato"/>
                        <a:cs typeface="Lato"/>
                      </a:endParaRPr>
                    </a:p>
                  </a:txBody>
                  <a:tcPr>
                    <a:lnL w="6350">
                      <a:noFill/>
                    </a:lnL>
                    <a:lnR w="6350">
                      <a:noFill/>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54382165"/>
                  </a:ext>
                </a:extLst>
              </a:tr>
              <a:tr h="457200">
                <a:tc>
                  <a:txBody>
                    <a:bodyPr/>
                    <a:lstStyle/>
                    <a:p>
                      <a:r>
                        <a:rPr sz="1350" b="1">
                          <a:solidFill>
                            <a:srgbClr val="11151A"/>
                          </a:solidFill>
                          <a:latin typeface="Lato" panose="020F0502020204030203" pitchFamily="34" charset="0"/>
                          <a:ea typeface="Lato"/>
                          <a:cs typeface="Lato"/>
                        </a:rPr>
                        <a:t>1  Demand</a:t>
                      </a:r>
                    </a:p>
                  </a:txBody>
                  <a:tcPr>
                    <a:lnL w="6350">
                      <a:noFill/>
                    </a:lnL>
                    <a:lnR w="6350">
                      <a:noFill/>
                    </a:lnR>
                    <a:lnT w="12700" cap="flat" cmpd="sng" algn="ctr">
                      <a:solidFill>
                        <a:srgbClr val="666666"/>
                      </a:solidFill>
                      <a:prstDash val="solid"/>
                      <a:round/>
                      <a:headEnd type="none" w="med" len="med"/>
                      <a:tailEnd type="none" w="med" len="med"/>
                    </a:lnT>
                    <a:lnB w="6350">
                      <a:solidFill>
                        <a:srgbClr val="D0D0D0"/>
                      </a:solidFill>
                    </a:lnB>
                    <a:solidFill>
                      <a:srgbClr val="FFFFFF"/>
                    </a:solidFill>
                  </a:tcPr>
                </a:tc>
                <a:tc>
                  <a:txBody>
                    <a:bodyPr/>
                    <a:lstStyle/>
                    <a:p>
                      <a:r>
                        <a:rPr lang="en-ZA" sz="1350" b="0" u="sng" dirty="0">
                          <a:solidFill>
                            <a:srgbClr val="0A2373"/>
                          </a:solidFill>
                          <a:latin typeface="Lato" panose="020F0502020204030203" pitchFamily="34" charset="0"/>
                          <a:ea typeface="Lato"/>
                          <a:cs typeface="Lato"/>
                          <a:hlinkClick r:id="rId4" action="ppaction://hlinksldjump">
                            <a:extLst>
                              <a:ext uri="{A12FA001-AC4F-418D-AE19-62706E023703}">
                                <ahyp:hlinkClr xmlns:ahyp="http://schemas.microsoft.com/office/drawing/2018/hyperlinkcolor" val="tx"/>
                              </a:ext>
                            </a:extLst>
                          </a:hlinkClick>
                        </a:rPr>
                        <a:t>Sector activity | p5</a:t>
                      </a:r>
                      <a:endParaRPr sz="1350" b="0" u="sng" dirty="0">
                        <a:solidFill>
                          <a:srgbClr val="0A2373"/>
                        </a:solidFill>
                        <a:latin typeface="Lato" panose="020F0502020204030203" pitchFamily="34" charset="0"/>
                        <a:ea typeface="Lato"/>
                        <a:cs typeface="Lato"/>
                      </a:endParaRPr>
                    </a:p>
                  </a:txBody>
                  <a:tcPr>
                    <a:lnL w="6350">
                      <a:noFill/>
                    </a:lnL>
                    <a:lnR w="6350">
                      <a:noFill/>
                    </a:lnR>
                    <a:lnT w="12700" cap="flat" cmpd="sng" algn="ctr">
                      <a:solidFill>
                        <a:srgbClr val="666666"/>
                      </a:solidFill>
                      <a:prstDash val="solid"/>
                      <a:round/>
                      <a:headEnd type="none" w="med" len="med"/>
                      <a:tailEnd type="none" w="med" len="med"/>
                    </a:lnT>
                    <a:lnB w="6350">
                      <a:solidFill>
                        <a:srgbClr val="D0D0D0"/>
                      </a:solidFill>
                    </a:lnB>
                    <a:solidFill>
                      <a:srgbClr val="FFFFFF"/>
                    </a:solidFill>
                  </a:tcPr>
                </a:tc>
                <a:tc>
                  <a:txBody>
                    <a:bodyPr/>
                    <a:lstStyle/>
                    <a:p>
                      <a:r>
                        <a:rPr sz="1350" b="0">
                          <a:solidFill>
                            <a:srgbClr val="11151A"/>
                          </a:solidFill>
                          <a:latin typeface="Lato" panose="020F0502020204030203" pitchFamily="34" charset="0"/>
                          <a:ea typeface="Lato"/>
                          <a:cs typeface="Lato"/>
                        </a:rPr>
                        <a:t>Mining, manufacturing and agriculture drive equipment and freight demand along different growth paths.</a:t>
                      </a:r>
                    </a:p>
                  </a:txBody>
                  <a:tcPr>
                    <a:lnL w="6350">
                      <a:noFill/>
                    </a:lnL>
                    <a:lnR w="6350">
                      <a:noFill/>
                    </a:lnR>
                    <a:lnT w="12700" cap="flat" cmpd="sng" algn="ctr">
                      <a:solidFill>
                        <a:srgbClr val="666666"/>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1"/>
                  </a:ext>
                </a:extLst>
              </a:tr>
              <a:tr h="457200">
                <a:tc>
                  <a:txBody>
                    <a:bodyPr/>
                    <a:lstStyle/>
                    <a:p>
                      <a:endParaRPr sz="1350" b="1">
                        <a:latin typeface="Lato" panose="020F0502020204030203" pitchFamily="34" charset="0"/>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ZA" sz="1350" b="0" u="sng" dirty="0">
                          <a:solidFill>
                            <a:srgbClr val="0A2373"/>
                          </a:solidFill>
                          <a:latin typeface="Lato" panose="020F0502020204030203" pitchFamily="34" charset="0"/>
                          <a:ea typeface="Lato"/>
                          <a:cs typeface="Lato"/>
                          <a:hlinkClick r:id="rId5" action="ppaction://hlinksldjump">
                            <a:extLst>
                              <a:ext uri="{A12FA001-AC4F-418D-AE19-62706E023703}">
                                <ahyp:hlinkClr xmlns:ahyp="http://schemas.microsoft.com/office/drawing/2018/hyperlinkcolor" val="tx"/>
                              </a:ext>
                            </a:extLst>
                          </a:hlinkClick>
                        </a:rPr>
                        <a:t>Eskom recovery | p6</a:t>
                      </a:r>
                      <a:endParaRPr sz="1350" b="0" u="sng" dirty="0">
                        <a:solidFill>
                          <a:srgbClr val="0A2373"/>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sz="1350" b="0">
                          <a:solidFill>
                            <a:srgbClr val="11151A"/>
                          </a:solidFill>
                          <a:latin typeface="Lato" panose="020F0502020204030203" pitchFamily="34" charset="0"/>
                          <a:ea typeface="Lato"/>
                          <a:cs typeface="Lato"/>
                        </a:rPr>
                        <a:t>Reliable electricity reduces peaking and backup diesel at utilities, mines, factories and farms.</a:t>
                      </a: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2"/>
                  </a:ext>
                </a:extLst>
              </a:tr>
              <a:tr h="457200">
                <a:tc>
                  <a:txBody>
                    <a:bodyPr/>
                    <a:lstStyle/>
                    <a:p>
                      <a:endParaRPr sz="1350" b="1">
                        <a:latin typeface="Lato" panose="020F0502020204030203" pitchFamily="34" charset="0"/>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ZA" sz="1350" b="0" u="sng" dirty="0">
                          <a:solidFill>
                            <a:srgbClr val="0A2373"/>
                          </a:solidFill>
                          <a:latin typeface="Lato" panose="020F0502020204030203" pitchFamily="34" charset="0"/>
                          <a:ea typeface="Lato"/>
                          <a:cs typeface="Lato"/>
                          <a:hlinkClick r:id="rId6" action="ppaction://hlinksldjump">
                            <a:extLst>
                              <a:ext uri="{A12FA001-AC4F-418D-AE19-62706E023703}">
                                <ahyp:hlinkClr xmlns:ahyp="http://schemas.microsoft.com/office/drawing/2018/hyperlinkcolor" val="tx"/>
                              </a:ext>
                            </a:extLst>
                          </a:hlinkClick>
                        </a:rPr>
                        <a:t>Road-to-rail | p7</a:t>
                      </a:r>
                      <a:endParaRPr sz="1350" b="0" u="sng" dirty="0">
                        <a:solidFill>
                          <a:srgbClr val="0A2373"/>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sz="1350" b="0">
                          <a:solidFill>
                            <a:srgbClr val="11151A"/>
                          </a:solidFill>
                          <a:latin typeface="Lato" panose="020F0502020204030203" pitchFamily="34" charset="0"/>
                          <a:ea typeface="Lato"/>
                          <a:cs typeface="Lato"/>
                        </a:rPr>
                        <a:t>Freight shifted from trucks reduces road diesel use; net savings depend on rail traction.</a:t>
                      </a: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3"/>
                  </a:ext>
                </a:extLst>
              </a:tr>
              <a:tr h="457200">
                <a:tc>
                  <a:txBody>
                    <a:bodyPr/>
                    <a:lstStyle/>
                    <a:p>
                      <a:endParaRPr sz="1350" b="1">
                        <a:latin typeface="Lato" panose="020F0502020204030203" pitchFamily="34" charset="0"/>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350" b="0" u="sng" dirty="0">
                          <a:solidFill>
                            <a:srgbClr val="0A2373"/>
                          </a:solidFill>
                          <a:latin typeface="Lato" panose="020F0502020204030203" pitchFamily="34" charset="0"/>
                          <a:ea typeface="Lato"/>
                          <a:cs typeface="Lato"/>
                          <a:hlinkClick r:id="rId7" action="ppaction://hlinksldjump">
                            <a:extLst>
                              <a:ext uri="{A12FA001-AC4F-418D-AE19-62706E023703}">
                                <ahyp:hlinkClr xmlns:ahyp="http://schemas.microsoft.com/office/drawing/2018/hyperlinkcolor" val="tx"/>
                              </a:ext>
                            </a:extLst>
                          </a:hlinkClick>
                        </a:rPr>
                        <a:t>Vehicle sales p8</a:t>
                      </a:r>
                      <a:r>
                        <a:rPr lang="en-GB" sz="1350" b="0" dirty="0">
                          <a:solidFill>
                            <a:srgbClr val="0A2373"/>
                          </a:solidFill>
                          <a:latin typeface="Lato" panose="020F0502020204030203" pitchFamily="34" charset="0"/>
                          <a:ea typeface="Lato"/>
                          <a:cs typeface="Lato"/>
                        </a:rPr>
                        <a:t> | </a:t>
                      </a:r>
                      <a:r>
                        <a:rPr lang="en-GB" sz="1350" b="0" u="sng" dirty="0">
                          <a:solidFill>
                            <a:srgbClr val="0A2373"/>
                          </a:solidFill>
                          <a:latin typeface="Lato" panose="020F0502020204030203" pitchFamily="34" charset="0"/>
                          <a:ea typeface="Lato"/>
                          <a:cs typeface="Lato"/>
                          <a:hlinkClick r:id="rId8" action="ppaction://hlinksldjump">
                            <a:extLst>
                              <a:ext uri="{A12FA001-AC4F-418D-AE19-62706E023703}">
                                <ahyp:hlinkClr xmlns:ahyp="http://schemas.microsoft.com/office/drawing/2018/hyperlinkcolor" val="tx"/>
                              </a:ext>
                            </a:extLst>
                          </a:hlinkClick>
                        </a:rPr>
                        <a:t>Efficiency p9</a:t>
                      </a:r>
                      <a:endParaRPr sz="1350" b="0" u="sng" dirty="0">
                        <a:solidFill>
                          <a:srgbClr val="0A2373"/>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sz="1350" b="0">
                          <a:solidFill>
                            <a:srgbClr val="11151A"/>
                          </a:solidFill>
                          <a:latin typeface="Lato" panose="020F0502020204030203" pitchFamily="34" charset="0"/>
                          <a:ea typeface="Lato"/>
                          <a:cs typeface="Lato"/>
                        </a:rPr>
                        <a:t>Lower fuel consumption per </a:t>
                      </a:r>
                      <a:r>
                        <a:rPr sz="1350" b="0" err="1">
                          <a:solidFill>
                            <a:srgbClr val="11151A"/>
                          </a:solidFill>
                          <a:latin typeface="Lato" panose="020F0502020204030203" pitchFamily="34" charset="0"/>
                          <a:ea typeface="Lato"/>
                          <a:cs typeface="Lato"/>
                        </a:rPr>
                        <a:t>kilometre</a:t>
                      </a:r>
                      <a:r>
                        <a:rPr sz="1350" b="0">
                          <a:solidFill>
                            <a:srgbClr val="11151A"/>
                          </a:solidFill>
                          <a:latin typeface="Lato" panose="020F0502020204030203" pitchFamily="34" charset="0"/>
                          <a:ea typeface="Lato"/>
                          <a:cs typeface="Lato"/>
                        </a:rPr>
                        <a:t> reduces demand at a given level of road activity.</a:t>
                      </a: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4"/>
                  </a:ext>
                </a:extLst>
              </a:tr>
              <a:tr h="457200">
                <a:tc>
                  <a:txBody>
                    <a:bodyPr/>
                    <a:lstStyle/>
                    <a:p>
                      <a:r>
                        <a:rPr sz="1350" b="1">
                          <a:solidFill>
                            <a:srgbClr val="11151A"/>
                          </a:solidFill>
                          <a:latin typeface="Lato" panose="020F0502020204030203" pitchFamily="34" charset="0"/>
                          <a:ea typeface="Lato"/>
                          <a:cs typeface="Lato"/>
                        </a:rPr>
                        <a:t>2  Domestic supply</a:t>
                      </a: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350" b="0" u="sng" dirty="0">
                          <a:solidFill>
                            <a:srgbClr val="0A2373"/>
                          </a:solidFill>
                          <a:latin typeface="Lato" panose="020F0502020204030203" pitchFamily="34" charset="0"/>
                          <a:ea typeface="Lato"/>
                          <a:cs typeface="Lato"/>
                          <a:hlinkClick r:id="rId9" action="ppaction://hlinksldjump">
                            <a:extLst>
                              <a:ext uri="{A12FA001-AC4F-418D-AE19-62706E023703}">
                                <ahyp:hlinkClr xmlns:ahyp="http://schemas.microsoft.com/office/drawing/2018/hyperlinkcolor" val="tx"/>
                              </a:ext>
                            </a:extLst>
                          </a:hlinkClick>
                        </a:rPr>
                        <a:t>Refinery history p10</a:t>
                      </a:r>
                      <a:r>
                        <a:rPr lang="en-GB" sz="1350" b="0" dirty="0">
                          <a:solidFill>
                            <a:srgbClr val="0A2373"/>
                          </a:solidFill>
                          <a:latin typeface="Lato" panose="020F0502020204030203" pitchFamily="34" charset="0"/>
                          <a:ea typeface="Lato"/>
                          <a:cs typeface="Lato"/>
                        </a:rPr>
                        <a:t> | </a:t>
                      </a:r>
                      <a:r>
                        <a:rPr lang="en-GB" sz="1350" b="0" u="sng" dirty="0">
                          <a:solidFill>
                            <a:srgbClr val="0A2373"/>
                          </a:solidFill>
                          <a:latin typeface="Lato" panose="020F0502020204030203" pitchFamily="34" charset="0"/>
                          <a:ea typeface="Lato"/>
                          <a:cs typeface="Lato"/>
                          <a:hlinkClick r:id="rId10" action="ppaction://hlinksldjump">
                            <a:extLst>
                              <a:ext uri="{A12FA001-AC4F-418D-AE19-62706E023703}">
                                <ahyp:hlinkClr xmlns:ahyp="http://schemas.microsoft.com/office/drawing/2018/hyperlinkcolor" val="tx"/>
                              </a:ext>
                            </a:extLst>
                          </a:hlinkClick>
                        </a:rPr>
                        <a:t>Outlook p16</a:t>
                      </a:r>
                      <a:endParaRPr sz="1350" b="0" u="sng" dirty="0">
                        <a:solidFill>
                          <a:srgbClr val="0A2373"/>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sz="1350" b="0">
                          <a:solidFill>
                            <a:srgbClr val="11151A"/>
                          </a:solidFill>
                          <a:latin typeface="Lato" panose="020F0502020204030203" pitchFamily="34" charset="0"/>
                          <a:ea typeface="Lato"/>
                          <a:cs typeface="Lato"/>
                        </a:rPr>
                        <a:t>Higher production displaces imports; outages or lower output increase import dependence.</a:t>
                      </a: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5"/>
                  </a:ext>
                </a:extLst>
              </a:tr>
              <a:tr h="457200">
                <a:tc>
                  <a:txBody>
                    <a:bodyPr/>
                    <a:lstStyle/>
                    <a:p>
                      <a:r>
                        <a:rPr sz="1350" b="1">
                          <a:solidFill>
                            <a:srgbClr val="11151A"/>
                          </a:solidFill>
                          <a:latin typeface="Lato" panose="020F0502020204030203" pitchFamily="34" charset="0"/>
                          <a:ea typeface="Lato"/>
                          <a:cs typeface="Lato"/>
                        </a:rPr>
                        <a:t>3  Import routes</a:t>
                      </a: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350" b="0" u="sng" dirty="0">
                          <a:solidFill>
                            <a:srgbClr val="0A2373"/>
                          </a:solidFill>
                          <a:latin typeface="Lato" panose="020F0502020204030203" pitchFamily="34" charset="0"/>
                          <a:ea typeface="Lato"/>
                          <a:cs typeface="Lato"/>
                          <a:hlinkClick r:id="rId11" action="ppaction://hlinksldjump">
                            <a:extLst>
                              <a:ext uri="{A12FA001-AC4F-418D-AE19-62706E023703}">
                                <ahyp:hlinkClr xmlns:ahyp="http://schemas.microsoft.com/office/drawing/2018/hyperlinkcolor" val="tx"/>
                              </a:ext>
                            </a:extLst>
                          </a:hlinkClick>
                        </a:rPr>
                        <a:t>Ports and inland connections | p11</a:t>
                      </a:r>
                      <a:endParaRPr sz="1350" b="0" u="sng" dirty="0">
                        <a:solidFill>
                          <a:srgbClr val="0A2373"/>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sz="1350" b="0">
                          <a:solidFill>
                            <a:srgbClr val="11151A"/>
                          </a:solidFill>
                          <a:latin typeface="Lato" panose="020F0502020204030203" pitchFamily="34" charset="0"/>
                          <a:ea typeface="Lato"/>
                          <a:cs typeface="Lato"/>
                        </a:rPr>
                        <a:t>Matola competes for inland supply. Assess Walvis Bay, pipeline access and delivered cost; Walvis Bay diversion is unquantified.</a:t>
                      </a: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6"/>
                  </a:ext>
                </a:extLst>
              </a:tr>
              <a:tr h="457200">
                <a:tc>
                  <a:txBody>
                    <a:bodyPr/>
                    <a:lstStyle/>
                    <a:p>
                      <a:r>
                        <a:rPr sz="1350" b="1">
                          <a:solidFill>
                            <a:srgbClr val="11151A"/>
                          </a:solidFill>
                          <a:latin typeface="Lato" panose="020F0502020204030203" pitchFamily="34" charset="0"/>
                          <a:ea typeface="Lato"/>
                          <a:cs typeface="Lato"/>
                        </a:rPr>
                        <a:t>4  Outlook</a:t>
                      </a: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350" b="0" u="sng" dirty="0">
                          <a:solidFill>
                            <a:srgbClr val="0A2373"/>
                          </a:solidFill>
                          <a:latin typeface="Lato" panose="020F0502020204030203" pitchFamily="34" charset="0"/>
                          <a:ea typeface="Lato"/>
                          <a:cs typeface="Lato"/>
                          <a:hlinkClick r:id="rId12" action="ppaction://hlinksldjump">
                            <a:extLst>
                              <a:ext uri="{A12FA001-AC4F-418D-AE19-62706E023703}">
                                <ahyp:hlinkClr xmlns:ahyp="http://schemas.microsoft.com/office/drawing/2018/hyperlinkcolor" val="tx"/>
                              </a:ext>
                            </a:extLst>
                          </a:hlinkClick>
                        </a:rPr>
                        <a:t>Sizing pp12–14</a:t>
                      </a:r>
                      <a:r>
                        <a:rPr lang="en-GB" sz="1350" b="0" dirty="0">
                          <a:solidFill>
                            <a:srgbClr val="0A2373"/>
                          </a:solidFill>
                          <a:latin typeface="Lato" panose="020F0502020204030203" pitchFamily="34" charset="0"/>
                          <a:ea typeface="Lato"/>
                          <a:cs typeface="Lato"/>
                        </a:rPr>
                        <a:t> | </a:t>
                      </a:r>
                      <a:r>
                        <a:rPr lang="en-GB" sz="1350" b="0" u="sng" dirty="0">
                          <a:solidFill>
                            <a:srgbClr val="0A2373"/>
                          </a:solidFill>
                          <a:latin typeface="Lato" panose="020F0502020204030203" pitchFamily="34" charset="0"/>
                          <a:ea typeface="Lato"/>
                          <a:cs typeface="Lato"/>
                          <a:hlinkClick r:id="rId13" action="ppaction://hlinksldjump">
                            <a:extLst>
                              <a:ext uri="{A12FA001-AC4F-418D-AE19-62706E023703}">
                                <ahyp:hlinkClr xmlns:ahyp="http://schemas.microsoft.com/office/drawing/2018/hyperlinkcolor" val="tx"/>
                              </a:ext>
                            </a:extLst>
                          </a:hlinkClick>
                        </a:rPr>
                        <a:t>Drivers and outlook pp15–17</a:t>
                      </a:r>
                      <a:endParaRPr sz="1350" b="0" u="sng" dirty="0">
                        <a:solidFill>
                          <a:srgbClr val="0A2373"/>
                        </a:solidFill>
                        <a:latin typeface="Lato" panose="020F0502020204030203" pitchFamily="34" charset="0"/>
                        <a:ea typeface="Lato"/>
                        <a:cs typeface="Lato"/>
                      </a:endParaRP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r>
                        <a:rPr lang="en-GB" sz="1350" b="0">
                          <a:solidFill>
                            <a:srgbClr val="11151A"/>
                          </a:solidFill>
                          <a:latin typeface="Lato" panose="020F0502020204030203" pitchFamily="34" charset="0"/>
                          <a:ea typeface="Lato"/>
                          <a:cs typeface="Lato"/>
                        </a:rPr>
                        <a:t>Base case 2030, market of interest: demand 18.8bn L, of which 12.5bn L brought in.</a:t>
                      </a:r>
                      <a:r>
                        <a:rPr sz="1350" b="0">
                          <a:solidFill>
                            <a:srgbClr val="11151A"/>
                          </a:solidFill>
                          <a:latin typeface="Lato" panose="020F0502020204030203" pitchFamily="34" charset="0"/>
                          <a:ea typeface="Lato"/>
                          <a:cs typeface="Lato"/>
                        </a:rPr>
                        <a:t> </a:t>
                      </a:r>
                      <a:r>
                        <a:rPr lang="en-ZA" sz="1350" b="0" dirty="0">
                          <a:solidFill>
                            <a:srgbClr val="11151A"/>
                          </a:solidFill>
                          <a:latin typeface="Lato" panose="020F0502020204030203" pitchFamily="34" charset="0"/>
                          <a:ea typeface="Lato"/>
                          <a:cs typeface="Lato"/>
                        </a:rPr>
                        <a:t>Illustrative capture 2.4bn L</a:t>
                      </a:r>
                      <a:r>
                        <a:rPr sz="1350" b="0" dirty="0">
                          <a:solidFill>
                            <a:srgbClr val="11151A"/>
                          </a:solidFill>
                          <a:latin typeface="Lato" panose="020F0502020204030203" pitchFamily="34" charset="0"/>
                          <a:ea typeface="Lato"/>
                          <a:cs typeface="Lato"/>
                        </a:rPr>
                        <a:t> until Vopak’s throughput is supplied.</a:t>
                      </a:r>
                    </a:p>
                  </a:txBody>
                  <a:tcPr>
                    <a:lnL w="6350">
                      <a:noFill/>
                    </a:lnL>
                    <a:lnR w="635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7"/>
                  </a:ext>
                </a:extLst>
              </a:tr>
            </a:tbl>
          </a:graphicData>
        </a:graphic>
      </p:graphicFrame>
      <p:sp>
        <p:nvSpPr>
          <p:cNvPr id="50" name="C takeaway">
            <a:extLst>
              <a:ext uri="{FF2B5EF4-FFF2-40B4-BE49-F238E27FC236}">
                <a16:creationId xmlns:a16="http://schemas.microsoft.com/office/drawing/2014/main" id="{8EDB4A11-F00B-43B5-90A8-7BAE0B454DB7}"/>
              </a:ext>
            </a:extLst>
          </p:cNvPr>
          <p:cNvSpPr>
            <a:spLocks noGrp="1"/>
          </p:cNvSpPr>
          <p:nvPr/>
        </p:nvSpPr>
        <p:spPr>
          <a:xfrm>
            <a:off x="457200" y="5943600"/>
            <a:ext cx="10648950" cy="4191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A large national import market does not automatically translate into growth for Vopak.</a:t>
            </a:r>
          </a:p>
        </p:txBody>
      </p:sp>
      <p:sp>
        <p:nvSpPr>
          <p:cNvPr id="56" name="Section navigation 1"/>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1  Overview</a:t>
            </a:r>
          </a:p>
        </p:txBody>
      </p:sp>
      <p:sp>
        <p:nvSpPr>
          <p:cNvPr id="5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5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59"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Tree>
    <p:extLst>
      <p:ext uri="{BB962C8B-B14F-4D97-AF65-F5344CB8AC3E}">
        <p14:creationId xmlns:p14="http://schemas.microsoft.com/office/powerpoint/2010/main" val="2019262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South Africa’s fuel market is about 25bn litres, dominated by road demand</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4</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Department annual sales, 2013–2021 (2022–2023 sales were 21.9 and 21.9bn L). 2022–2025: production (p10) + SARS imports − SARS exports, stock change nil. Demand by use: analytical workbook v02, Segments, which sums to its sales-based totals; the difference is shown as not allocated.</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CE11BB42-2F58-4DB0-B03D-997F7CBFE311}"/>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sz="975" b="0">
                <a:solidFill>
                  <a:srgbClr val="626262"/>
                </a:solidFill>
                <a:latin typeface="Lato"/>
                <a:ea typeface="Lato"/>
                <a:cs typeface="Lato"/>
              </a:rPr>
              <a:t>Billion litres | to 2021 Department sales; 2022E–2025E production + imports − exports</a:t>
            </a:r>
          </a:p>
        </p:txBody>
      </p:sp>
      <p:sp>
        <p:nvSpPr>
          <p:cNvPr id="81" name="Evidence unit">
            <a:extLst>
              <a:ext uri="{FF2B5EF4-FFF2-40B4-BE49-F238E27FC236}">
                <a16:creationId xmlns:a16="http://schemas.microsoft.com/office/drawing/2014/main" id="{CE11BB42-2F58-4DB0-B03D-997F7CBFE311}"/>
              </a:ext>
            </a:extLst>
          </p:cNvPr>
          <p:cNvSpPr>
            <a:spLocks noGrp="1"/>
          </p:cNvSpPr>
          <p:nvPr/>
        </p:nvSpPr>
        <p:spPr>
          <a:xfrm>
            <a:off x="7424927" y="2020824"/>
            <a:ext cx="3685032" cy="237744"/>
          </a:xfrm>
          <a:prstGeom prst="rect">
            <a:avLst/>
          </a:prstGeom>
          <a:noFill/>
          <a:ln w="0">
            <a:noFill/>
          </a:ln>
        </p:spPr>
        <p:txBody>
          <a:bodyPr>
            <a:noAutofit/>
          </a:bodyPr>
          <a:lstStyle/>
          <a:p>
            <a:pPr>
              <a:defRPr sz="975" b="0">
                <a:solidFill>
                  <a:srgbClr val="626262"/>
                </a:solidFill>
                <a:latin typeface="Lato"/>
                <a:ea typeface="Lato"/>
                <a:cs typeface="Lato"/>
              </a:defRPr>
            </a:pPr>
            <a:r>
              <a:rPr sz="975" b="0">
                <a:solidFill>
                  <a:srgbClr val="626262"/>
                </a:solidFill>
                <a:latin typeface="Lato"/>
                <a:ea typeface="Lato"/>
                <a:cs typeface="Lato"/>
              </a:rPr>
              <a:t>Billion litres | legend shows 2025E values</a:t>
            </a:r>
          </a:p>
        </p:txBody>
      </p:sp>
      <p:graphicFrame>
        <p:nvGraphicFramePr>
          <p:cNvPr id="67" name="Chart"/>
          <p:cNvGraphicFramePr/>
          <p:nvPr/>
        </p:nvGraphicFramePr>
        <p:xfrm>
          <a:off x="457200" y="2333625"/>
          <a:ext cx="644652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56" name="Evidence insights">
            <a:extLst>
              <a:ext uri="{FF2B5EF4-FFF2-40B4-BE49-F238E27FC236}">
                <a16:creationId xmlns:a16="http://schemas.microsoft.com/office/drawing/2014/main" id="{FCE7A989-7F27-4238-BBD6-07720078ECF6}"/>
              </a:ext>
            </a:extLst>
          </p:cNvPr>
          <p:cNvSpPr>
            <a:spLocks noGrp="1"/>
          </p:cNvSpPr>
          <p:nvPr/>
        </p:nvSpPr>
        <p:spPr>
          <a:xfrm>
            <a:off x="7424928" y="5486400"/>
            <a:ext cx="3685032" cy="777240"/>
          </a:xfrm>
          <a:prstGeom prst="rect">
            <a:avLst/>
          </a:prstGeom>
          <a:noFill/>
          <a:ln w="0">
            <a:noFill/>
          </a:ln>
        </p:spPr>
        <p:txBody>
          <a:bodyPr>
            <a:noAutofit/>
          </a:bodyPr>
          <a:lstStyle/>
          <a:p>
            <a:pPr>
              <a:defRPr sz="1200" b="0">
                <a:solidFill>
                  <a:srgbClr val="11151A"/>
                </a:solidFill>
                <a:latin typeface="Lato"/>
                <a:ea typeface="Lato"/>
                <a:cs typeface="Lato"/>
              </a:defRPr>
            </a:pPr>
            <a:r>
              <a:rPr sz="1200" b="0">
                <a:solidFill>
                  <a:srgbClr val="11151A"/>
                </a:solidFill>
                <a:latin typeface="Lato"/>
                <a:ea typeface="Lato"/>
                <a:cs typeface="Lato"/>
              </a:rPr>
              <a:t>Totals: 25.8, 24.1 and 25.4bn litres. Uses are allocated up to the earlier sales-based estimate; the rest, mostly diesel, is not yet allocated.</a:t>
            </a:r>
          </a:p>
        </p:txBody>
      </p:sp>
      <p:sp>
        <p:nvSpPr>
          <p:cNvPr id="57" name="Evidence takeaway">
            <a:extLst>
              <a:ext uri="{FF2B5EF4-FFF2-40B4-BE49-F238E27FC236}">
                <a16:creationId xmlns:a16="http://schemas.microsoft.com/office/drawing/2014/main" id="{8988A7A0-2695-41BD-B859-B66256617D61}"/>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Demand was about 25.4bn litres in 2025: petrol 9.3, diesel 16.1. Road uses account for most of the allocated demand.</a:t>
            </a: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sz="1400" b="1">
                <a:latin typeface="Lato"/>
              </a:rPr>
              <a:t>Petrol and diesel demand, 2013–2025E</a:t>
            </a: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t>Demand by use, 2023E–2025E</a:t>
            </a: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80" name="Chart"/>
          <p:cNvGraphicFramePr>
            <a:graphicFrameLocks noGrp="1"/>
          </p:cNvGraphicFramePr>
          <p:nvPr/>
        </p:nvGraphicFramePr>
        <p:xfrm>
          <a:off x="7333488" y="2286000"/>
          <a:ext cx="3867912" cy="316382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49083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Agricultural fuel demand rebounds and </a:t>
            </a:r>
            <a:r>
              <a:rPr lang="en-GB" sz="2100" b="1">
                <a:solidFill>
                  <a:srgbClr val="000000"/>
                </a:solidFill>
                <a:latin typeface="Lato"/>
                <a:ea typeface="Lato"/>
                <a:cs typeface="Lato"/>
              </a:rPr>
              <a:t>power fuel use falls by about a third</a:t>
            </a:r>
            <a:r>
              <a:rPr sz="2100" b="1">
                <a:solidFill>
                  <a:srgbClr val="000000"/>
                </a:solidFill>
                <a:latin typeface="Lato"/>
                <a:ea typeface="Lato"/>
                <a:cs typeface="Lato"/>
              </a:rPr>
              <a:t>, while mining and manufacturing remain broadly flat</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5</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Stats SA mining/manufacturing indices and agriculture real GVA; mean 2018–2021 fuel intensity. Sector diesel values after 2021 are estimates. Road freight and other road diesel: assumed 75% / 25% split of road diesel. </a:t>
            </a:r>
            <a:r>
              <a:rPr lang="en-GB" sz="600">
                <a:solidFill>
                  <a:srgbClr val="111111"/>
                </a:solidFill>
                <a:latin typeface="Lato"/>
                <a:ea typeface="Lato"/>
                <a:cs typeface="Lato"/>
              </a:rPr>
              <a:t>Power: Eskom fiscal-year fuel use and independent-producer turbines; any private backup sits in other diesel.</a:t>
            </a:r>
            <a:r>
              <a:rPr sz="600">
                <a:solidFill>
                  <a:srgbClr val="111111"/>
                </a:solidFill>
                <a:latin typeface="Lato"/>
                <a:ea typeface="Lato"/>
                <a:cs typeface="Lato"/>
              </a:rPr>
              <a:t> The seven uses add to estimated diesel demand. Analytical workbook v02, Segments.</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B2F54BB6-3DF1-494B-A1D0-ED247468EB78}"/>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sz="975" b="0">
                <a:solidFill>
                  <a:srgbClr val="626262"/>
                </a:solidFill>
                <a:latin typeface="Lato"/>
                <a:ea typeface="Lato"/>
                <a:cs typeface="Lato"/>
              </a:rPr>
              <a:t>Billion litres</a:t>
            </a:r>
          </a:p>
        </p:txBody>
      </p:sp>
      <p:graphicFrame>
        <p:nvGraphicFramePr>
          <p:cNvPr id="67" name="Chart"/>
          <p:cNvGraphicFramePr/>
          <p:nvPr/>
        </p:nvGraphicFramePr>
        <p:xfrm>
          <a:off x="457200" y="2333625"/>
          <a:ext cx="644652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56" name="Evidence insights">
            <a:extLst>
              <a:ext uri="{FF2B5EF4-FFF2-40B4-BE49-F238E27FC236}">
                <a16:creationId xmlns:a16="http://schemas.microsoft.com/office/drawing/2014/main" id="{73EB2C9D-54D5-4881-B5D3-76093EDE63DB}"/>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Road freight: 4.84 → 4.82bn L
</a:t>
            </a:r>
            <a:r>
              <a:rPr lang="en-ZA" sz="1350" b="0">
                <a:solidFill>
                  <a:srgbClr val="11151A"/>
                </a:solidFill>
                <a:latin typeface="Lato"/>
                <a:ea typeface="Lato"/>
                <a:cs typeface="Lato"/>
              </a:rPr>
              <a:t>Power: 1.28 → 0.88bn L</a:t>
            </a:r>
            <a:r>
              <a:rPr sz="1350" b="0">
                <a:solidFill>
                  <a:srgbClr val="11151A"/>
                </a:solidFill>
                <a:latin typeface="Lato"/>
                <a:ea typeface="Lato"/>
                <a:cs typeface="Lato"/>
              </a:rPr>
              <a:t>
Agriculture: 1.06 → 1.13bn L
Mining: 1.40 → 1.41bn L; manufacturing about 0.17bn L
All uses are estimates. Road freight is an assumed 75% of road diesel; manufacturing is an industry residual, not a complete census.</a:t>
            </a:r>
          </a:p>
        </p:txBody>
      </p:sp>
      <p:sp>
        <p:nvSpPr>
          <p:cNvPr id="57" name="Evidence takeaway">
            <a:extLst>
              <a:ext uri="{FF2B5EF4-FFF2-40B4-BE49-F238E27FC236}">
                <a16:creationId xmlns:a16="http://schemas.microsoft.com/office/drawing/2014/main" id="{F3035DD3-9A13-4DB4-82F9-7FE50E5794A6}"/>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Sector activity produces different demand paths; applying one GDP growth rate would hide these differences.</a:t>
            </a: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sz="1400" b="1">
                <a:latin typeface="Lato"/>
              </a:rPr>
              <a:t>Estimated sector diesel demand</a:t>
            </a: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t>Estimated diesel use</a:t>
            </a: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8389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Eskom’s fuel use fell by 40% in FY2025 and a further 62% in FY2026 as electricity supply improved</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6</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Eskom Integrated Report 2025, p141. FY2026: Minister of Electricity and Energy, July 2026, as reported by MyBroadband, 25 August 2026; not in Eskom’s 2026 report. April–October 2026: Eskom statement, 9 October 2026. Fiscal years end in March. Reported series includes diesel and kerosene; private backup consumption is outside this series. </a:t>
            </a:r>
            <a:r>
              <a:rPr lang="en-GB" sz="600">
                <a:solidFill>
                  <a:srgbClr val="111111"/>
                </a:solidFill>
                <a:latin typeface="Lato"/>
                <a:ea typeface="Lato"/>
                <a:cs typeface="Lato"/>
              </a:rPr>
              <a:t>Analytical workbook v02, Segments: IPP conversion.</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1D76C1D3-E0D1-4DF8-8BFF-19EE5B120BFC}"/>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sz="975" b="0">
                <a:solidFill>
                  <a:srgbClr val="626262"/>
                </a:solidFill>
                <a:latin typeface="Lato"/>
                <a:ea typeface="Lato"/>
                <a:cs typeface="Lato"/>
              </a:rPr>
              <a:t>Billion litres</a:t>
            </a:r>
          </a:p>
        </p:txBody>
      </p:sp>
      <p:graphicFrame>
        <p:nvGraphicFramePr>
          <p:cNvPr id="67" name="Chart"/>
          <p:cNvGraphicFramePr/>
          <p:nvPr/>
        </p:nvGraphicFramePr>
        <p:xfrm>
          <a:off x="457200" y="2333625"/>
          <a:ext cx="644652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56" name="Evidence insights">
            <a:extLst>
              <a:ext uri="{FF2B5EF4-FFF2-40B4-BE49-F238E27FC236}">
                <a16:creationId xmlns:a16="http://schemas.microsoft.com/office/drawing/2014/main" id="{4CD8A506-5D30-43C8-9E33-1BCF7AE33E90}"/>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Eskom: 1.130bn L in FY2024 → 0.679bn L in FY2025 → 0.257bn L in FY2026 (diesel + kerosene).</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1 April to 8 October 2026: turbine output 152 GWh, about 85% below a year earlier; diesel spend R1.16bn against R5.98bn.</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2025 power-station estimate: 0.88bn L (Eskom and independent-producer turbines).</a:t>
            </a:r>
            <a:endParaRPr sz="1350" b="0">
              <a:solidFill>
                <a:srgbClr val="11151A"/>
              </a:solidFill>
              <a:latin typeface="Lato"/>
              <a:ea typeface="Lato"/>
              <a:cs typeface="Lato"/>
            </a:endParaRP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IPP conversion and fiscal-year proxies are estimates; private use is not measured by Eskom.</a:t>
            </a:r>
          </a:p>
        </p:txBody>
      </p:sp>
      <p:sp>
        <p:nvSpPr>
          <p:cNvPr id="57" name="Evidence takeaway">
            <a:extLst>
              <a:ext uri="{FF2B5EF4-FFF2-40B4-BE49-F238E27FC236}">
                <a16:creationId xmlns:a16="http://schemas.microsoft.com/office/drawing/2014/main" id="{8D46E9F3-0652-401F-9297-93C9F69858AE}"/>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Improved electricity supply reduces peaking and backup fuel use; </a:t>
            </a:r>
            <a:r>
              <a:rPr lang="en-GB" sz="1275" b="0">
                <a:solidFill>
                  <a:srgbClr val="0A2373"/>
                </a:solidFill>
                <a:latin typeface="Lato"/>
                <a:ea typeface="Lato"/>
                <a:cs typeface="Lato"/>
              </a:rPr>
              <a:t>private backup use is not measured</a:t>
            </a:r>
            <a:r>
              <a:rPr sz="1275" b="0">
                <a:solidFill>
                  <a:srgbClr val="0A2373"/>
                </a:solidFill>
                <a:latin typeface="Lato"/>
                <a:ea typeface="Lato"/>
                <a:cs typeface="Lato"/>
              </a:rPr>
              <a:t>.</a:t>
            </a: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sz="1400" b="1">
                <a:latin typeface="Lato"/>
              </a:rPr>
              <a:t>Eskom diesel and kerosene use</a:t>
            </a: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t>Power fuel use</a:t>
            </a: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7518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Even at Transnet’s 2030 rail target, road freight still grows; the shift to rail saves about 0.3bn litres of diesel a year</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7</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Stats SA P7162 (Dec 2025 p7; Jul 2026), all freight; * 2026 = Jan–Jul × 12/7. 2030: freight grows with real GDP (Treasury, 2026 Budget Review, Table 2.2: 1.6–2.0% a year; 2.0% held for 2029–30); rail = Transnet target (chief executive, Apr and Sep 2026); road = balance. Road: 4.82bn L freight diesel, 2025 (workbook v02; authored 75% of road diesel) ÷ road tonnes. Tonnes, not tonne-km.</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46D7730D-DAEB-4247-BEB8-65B71E753D87}"/>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sz="975" b="0">
                <a:solidFill>
                  <a:srgbClr val="626262"/>
                </a:solidFill>
                <a:latin typeface="Lato"/>
                <a:ea typeface="Lato"/>
                <a:cs typeface="Lato"/>
              </a:rPr>
              <a:t>Million tonnes | * 2026 annualised from January–July | hatched 2030: rail = Transnet target, road = balance if freight grows with GDP</a:t>
            </a:r>
          </a:p>
        </p:txBody>
      </p:sp>
      <p:graphicFrame>
        <p:nvGraphicFramePr>
          <p:cNvPr id="67" name="Chart"/>
          <p:cNvGraphicFramePr/>
          <p:nvPr/>
        </p:nvGraphicFramePr>
        <p:xfrm>
          <a:off x="457200" y="2333625"/>
          <a:ext cx="644652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56" name="Evidence insights">
            <a:extLst>
              <a:ext uri="{FF2B5EF4-FFF2-40B4-BE49-F238E27FC236}">
                <a16:creationId xmlns:a16="http://schemas.microsoft.com/office/drawing/2014/main" id="{A99F6146-19FF-452C-8900-2955E23FAB66}"/>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Rail: 168.3m tonnes in 2025, 173.4m in 2026* (January–July +5.3%). Reaching 250m by 2030 needs 8.2% a year.</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If total freight grows with GDP, it reaches 1,256m tonnes in 2030. With rail at 250m, road is 1,006m: 3% above 2025.</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Against 2025 mode shares, 65m tonnes move to rail. Road freight uses about 4.9 litres of diesel a tonne, so road saves 0.32bn L.</a:t>
            </a:r>
          </a:p>
        </p:txBody>
      </p:sp>
      <p:sp>
        <p:nvSpPr>
          <p:cNvPr id="57" name="Evidence takeaway">
            <a:extLst>
              <a:ext uri="{FF2B5EF4-FFF2-40B4-BE49-F238E27FC236}">
                <a16:creationId xmlns:a16="http://schemas.microsoft.com/office/drawing/2014/main" id="{C9201D2F-AD35-4F1E-80D5-1C262355C9FE}"/>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sz="1275" b="0">
                <a:solidFill>
                  <a:srgbClr val="0A2373"/>
                </a:solidFill>
                <a:latin typeface="Lato"/>
                <a:ea typeface="Lato"/>
                <a:cs typeface="Lato"/>
              </a:rPr>
              <a:t>Rail growth slows road freight rather than shrinking it: diesel saved is </a:t>
            </a:r>
            <a:r>
              <a:rPr lang="en-GB" sz="1275" b="0">
                <a:solidFill>
                  <a:srgbClr val="0A2373"/>
                </a:solidFill>
                <a:latin typeface="Lato"/>
                <a:ea typeface="Lato"/>
                <a:cs typeface="Lato"/>
              </a:rPr>
              <a:t>about 0.3bn litres a year by 2030</a:t>
            </a:r>
            <a:r>
              <a:rPr sz="1275" b="0">
                <a:solidFill>
                  <a:srgbClr val="0A2373"/>
                </a:solidFill>
                <a:latin typeface="Lato"/>
                <a:ea typeface="Lato"/>
                <a:cs typeface="Lato"/>
              </a:rPr>
              <a:t>.</a:t>
            </a: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sz="1400" b="1">
                <a:latin typeface="Lato"/>
              </a:rPr>
              <a:t>Reported road and rail freight</a:t>
            </a: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t>2030 freight and diesel</a:t>
            </a: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2412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Hybrids dominate electrified new-vehicle sales; fleet fuel savings emerge as vehicles turn over</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8</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dirty="0" err="1">
                <a:solidFill>
                  <a:srgbClr val="111111"/>
                </a:solidFill>
                <a:latin typeface="Lato"/>
                <a:ea typeface="Lato"/>
                <a:cs typeface="Lato"/>
              </a:rPr>
              <a:t>naamsa</a:t>
            </a:r>
            <a:r>
              <a:rPr sz="600" dirty="0">
                <a:solidFill>
                  <a:srgbClr val="111111"/>
                </a:solidFill>
                <a:latin typeface="Lato"/>
                <a:ea typeface="Lato"/>
                <a:cs typeface="Lato"/>
              </a:rPr>
              <a:t> new energy vehicle sales, 2019–2025 (Quarterly Review of Business Conditions: Q3 2024 for 2019; Q2 2026 for 2020–2025); master workbook Vehicle history</a:t>
            </a:r>
            <a:r>
              <a:rPr sz="600">
                <a:solidFill>
                  <a:srgbClr val="111111"/>
                </a:solidFill>
                <a:latin typeface="Lato"/>
                <a:ea typeface="Lato"/>
                <a:cs typeface="Lato"/>
              </a:rPr>
              <a:t>. 2026</a:t>
            </a:r>
            <a:r>
              <a:rPr sz="600" dirty="0">
                <a:solidFill>
                  <a:srgbClr val="111111"/>
                </a:solidFill>
                <a:latin typeface="Lato"/>
                <a:ea typeface="Lato"/>
                <a:cs typeface="Lato"/>
              </a:rPr>
              <a:t>: </a:t>
            </a:r>
            <a:r>
              <a:rPr sz="600" dirty="0" err="1">
                <a:solidFill>
                  <a:srgbClr val="111111"/>
                </a:solidFill>
                <a:latin typeface="Lato"/>
                <a:ea typeface="Lato"/>
                <a:cs typeface="Lato"/>
              </a:rPr>
              <a:t>naamsa</a:t>
            </a:r>
            <a:r>
              <a:rPr sz="600" dirty="0">
                <a:solidFill>
                  <a:srgbClr val="111111"/>
                </a:solidFill>
                <a:latin typeface="Lato"/>
                <a:ea typeface="Lato"/>
                <a:cs typeface="Lato"/>
              </a:rPr>
              <a:t> Q1 and Q2 2026 reviews; </a:t>
            </a:r>
            <a:r>
              <a:rPr sz="600" dirty="0" err="1">
                <a:solidFill>
                  <a:srgbClr val="111111"/>
                </a:solidFill>
                <a:latin typeface="Lato"/>
                <a:ea typeface="Lato"/>
                <a:cs typeface="Lato"/>
              </a:rPr>
              <a:t>naamsa</a:t>
            </a:r>
            <a:r>
              <a:rPr sz="600" dirty="0">
                <a:solidFill>
                  <a:srgbClr val="111111"/>
                </a:solidFill>
                <a:latin typeface="Lato"/>
                <a:ea typeface="Lato"/>
                <a:cs typeface="Lato"/>
              </a:rPr>
              <a:t> notes new brands began reporting in 2026. Petrol: Department price history, 95 octane inland retail; highest monthly price in each year, 2026 to October.</a:t>
            </a:r>
            <a:endParaRPr sz="600" dirty="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2D7877C5-B65D-4837-9FE4-2B32D94EE59D}"/>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sz="975" b="0" dirty="0">
                <a:solidFill>
                  <a:srgbClr val="626262"/>
                </a:solidFill>
                <a:latin typeface="Lato"/>
                <a:ea typeface="Lato"/>
                <a:cs typeface="Lato"/>
              </a:rPr>
              <a:t>Vehicles sold | line: highest petrol price in the year, R/</a:t>
            </a:r>
            <a:r>
              <a:rPr sz="975" b="0" dirty="0" err="1">
                <a:solidFill>
                  <a:srgbClr val="626262"/>
                </a:solidFill>
                <a:latin typeface="Lato"/>
                <a:ea typeface="Lato"/>
                <a:cs typeface="Lato"/>
              </a:rPr>
              <a:t>litre</a:t>
            </a:r>
            <a:r>
              <a:rPr sz="975" b="0" dirty="0">
                <a:solidFill>
                  <a:srgbClr val="626262"/>
                </a:solidFill>
                <a:latin typeface="Lato"/>
                <a:ea typeface="Lato"/>
                <a:cs typeface="Lato"/>
              </a:rPr>
              <a:t> (right axis) | 2026 sales: </a:t>
            </a:r>
            <a:r>
              <a:rPr lang="en-ZA" sz="975" dirty="0">
                <a:solidFill>
                  <a:srgbClr val="626262"/>
                </a:solidFill>
                <a:latin typeface="Lato"/>
                <a:ea typeface="Lato"/>
                <a:cs typeface="Lato"/>
              </a:rPr>
              <a:t>annualised (January–June )</a:t>
            </a:r>
            <a:endParaRPr sz="975" b="0" dirty="0">
              <a:solidFill>
                <a:srgbClr val="626262"/>
              </a:solidFill>
              <a:latin typeface="Lato"/>
              <a:ea typeface="Lato"/>
              <a:cs typeface="Lato"/>
            </a:endParaRPr>
          </a:p>
        </p:txBody>
      </p:sp>
      <p:sp>
        <p:nvSpPr>
          <p:cNvPr id="56" name="Evidence insights">
            <a:extLst>
              <a:ext uri="{FF2B5EF4-FFF2-40B4-BE49-F238E27FC236}">
                <a16:creationId xmlns:a16="http://schemas.microsoft.com/office/drawing/2014/main" id="{33C62F36-CE4A-4CE7-AA40-33340BDFC8F1}"/>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sz="1350" b="0">
                <a:solidFill>
                  <a:srgbClr val="11151A"/>
                </a:solidFill>
                <a:latin typeface="Lato"/>
                <a:ea typeface="Lato"/>
                <a:cs typeface="Lato"/>
              </a:rPr>
              <a:t>Electrified sales rose from 407 in 2019 to 16,716 in 2025. First half of 2026: 13,196, against 7,162 a year earlier (26,392 annualised).</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The highest petrol price in each year rose from R16.76 a litre in 2019 to R26.74 in 2022, eased to R22.41 in 2025 and reached R30.25 in October 2026.</a:t>
            </a:r>
          </a:p>
          <a:p>
            <a:endParaRPr sz="1350" b="0">
              <a:solidFill>
                <a:srgbClr val="11151A"/>
              </a:solidFill>
              <a:latin typeface="Lato"/>
              <a:ea typeface="Lato"/>
              <a:cs typeface="Lato"/>
            </a:endParaRPr>
          </a:p>
          <a:p>
            <a:pPr>
              <a:defRPr sz="1350" b="0">
                <a:solidFill>
                  <a:srgbClr val="11151A"/>
                </a:solidFill>
                <a:latin typeface="Lato"/>
                <a:ea typeface="Lato"/>
                <a:cs typeface="Lato"/>
              </a:defRPr>
            </a:pPr>
            <a:r>
              <a:rPr sz="1350" b="0">
                <a:solidFill>
                  <a:srgbClr val="11151A"/>
                </a:solidFill>
                <a:latin typeface="Lato"/>
                <a:ea typeface="Lato"/>
                <a:cs typeface="Lato"/>
              </a:rPr>
              <a:t>New sales are not fleet penetration. Efficiency and mileage must be modelled separately.</a:t>
            </a:r>
          </a:p>
        </p:txBody>
      </p:sp>
      <p:sp>
        <p:nvSpPr>
          <p:cNvPr id="57" name="Evidence takeaway">
            <a:extLst>
              <a:ext uri="{FF2B5EF4-FFF2-40B4-BE49-F238E27FC236}">
                <a16:creationId xmlns:a16="http://schemas.microsoft.com/office/drawing/2014/main" id="{B6C53BD9-36CF-4A69-841C-FDA40E078E5B}"/>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lang="en-GB" sz="1275" b="0">
                <a:solidFill>
                  <a:srgbClr val="0A2373"/>
                </a:solidFill>
                <a:latin typeface="Lato"/>
                <a:ea typeface="Lato"/>
                <a:cs typeface="Lato"/>
              </a:rPr>
              <a:t>Electrified sales are growing fast but are still a small share of new vehicles; new sales alone do not show fuel saved.</a:t>
            </a:r>
            <a:endParaRPr sz="1275" b="0">
              <a:solidFill>
                <a:srgbClr val="0A2373"/>
              </a:solidFill>
              <a:latin typeface="Lato"/>
              <a:ea typeface="Lato"/>
              <a:cs typeface="Lato"/>
            </a:endParaRP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sz="1400" b="1">
                <a:latin typeface="Lato"/>
              </a:rPr>
              <a:t>Electrified vehicle sales and the petrol price, 2019–2026</a:t>
            </a: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t>Different fuel-use effects</a:t>
            </a: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80" name="Chart"/>
          <p:cNvGraphicFramePr>
            <a:graphicFrameLocks noGrp="1"/>
          </p:cNvGraphicFramePr>
          <p:nvPr/>
        </p:nvGraphicFramePr>
        <p:xfrm>
          <a:off x="457200" y="2286000"/>
          <a:ext cx="6446520" cy="33375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01456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Each year South Africa’s vehicles use about 0.5–0.8% less petrol and 0.4–0.7% less diesel per km</a:t>
            </a:r>
            <a:endParaRPr dirty="0">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9</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GB" sz="600">
                <a:solidFill>
                  <a:srgbClr val="111111"/>
                </a:solidFill>
                <a:latin typeface="Lato"/>
                <a:ea typeface="Lato"/>
                <a:cs typeface="Lato"/>
              </a:rPr>
              <a:t>Chart: US EPA and Department of Energy, fueleconomy.gov vehicle file (downloaded 14 October 2026); combined label MPG converted per vehicle at 235.215 ÷ MPG; conventional petrol (no hybrids, flex-fuel, plug-ins) and diesel; each year’s change measured within vehicle classes present in both years, chained back from the 2026 average; not sales-weighted; diesel rests on 1–9 classes a year. Text: IEA/GFEI WP15 (2017); IEA (Dec 2021); eNaTIS 2022–25; Lightstone; Stone et al. (2018).</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2D7877C5-B65D-4837-9FE4-2B32D94EE59D}"/>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Litres per 100 km of new vehicles, at the 2026 vehicle mix | US model years | same vehicle classes year to year</a:t>
            </a:r>
            <a:endParaRPr sz="975" b="0">
              <a:solidFill>
                <a:srgbClr val="626262"/>
              </a:solidFill>
              <a:latin typeface="Lato"/>
              <a:ea typeface="Lato"/>
              <a:cs typeface="Lato"/>
            </a:endParaRPr>
          </a:p>
        </p:txBody>
      </p:sp>
      <p:sp>
        <p:nvSpPr>
          <p:cNvPr id="56" name="Evidence insights">
            <a:extLst>
              <a:ext uri="{FF2B5EF4-FFF2-40B4-BE49-F238E27FC236}">
                <a16:creationId xmlns:a16="http://schemas.microsoft.com/office/drawing/2014/main" id="{33C62F36-CE4A-4CE7-AA40-33340BDFC8F1}"/>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lang="en-GB" sz="1350" b="0">
                <a:solidFill>
                  <a:srgbClr val="11151A"/>
                </a:solidFill>
                <a:latin typeface="Lato"/>
                <a:ea typeface="Lato"/>
                <a:cs typeface="Lato"/>
              </a:rPr>
              <a:t>New vehicles use about 1% less fuel each year: since 2006, petrol from 13.6 to 11.2 litres per 100 km and diesel from 12.5 to 10.3 (US, chart). In South Africa, new light vehicles went from 8.8 to 7.4 litres, 2005–2019.</a:t>
            </a:r>
            <a:endParaRPr sz="1350" b="0">
              <a:solidFill>
                <a:srgbClr val="11151A"/>
              </a:solidFill>
              <a:latin typeface="Lato"/>
              <a:ea typeface="Lato"/>
              <a:cs typeface="Lato"/>
            </a:endParaRPr>
          </a:p>
          <a:p>
            <a:pPr>
              <a:defRPr sz="1350" b="0">
                <a:solidFill>
                  <a:srgbClr val="11151A"/>
                </a:solidFill>
                <a:latin typeface="Lato"/>
                <a:ea typeface="Lato"/>
                <a:cs typeface="Lato"/>
              </a:defRPr>
            </a:pPr>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Fleet: new cars and LCVs are 4.4% of the fleet each year and 2.5% are scrapped (2023–25). Average age is 10.5 years.</a:t>
            </a:r>
            <a:endParaRPr sz="1350" b="0">
              <a:solidFill>
                <a:srgbClr val="11151A"/>
              </a:solidFill>
              <a:latin typeface="Lato"/>
              <a:ea typeface="Lato"/>
              <a:cs typeface="Lato"/>
            </a:endParaRPr>
          </a:p>
          <a:p>
            <a:pPr>
              <a:defRPr sz="1350" b="0">
                <a:solidFill>
                  <a:srgbClr val="11151A"/>
                </a:solidFill>
                <a:latin typeface="Lato"/>
                <a:ea typeface="Lato"/>
                <a:cs typeface="Lato"/>
              </a:defRPr>
            </a:pPr>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So the whole fleet improves about half as fast as new vehicles. Petrol: 0.5–0.8% a year, depending on whether new-vehicle gains continued after 2019.</a:t>
            </a:r>
            <a:endParaRPr sz="1350" b="0">
              <a:solidFill>
                <a:srgbClr val="11151A"/>
              </a:solidFill>
              <a:latin typeface="Lato"/>
              <a:ea typeface="Lato"/>
              <a:cs typeface="Lato"/>
            </a:endParaRPr>
          </a:p>
          <a:p>
            <a:pPr>
              <a:defRPr sz="1350" b="0">
                <a:solidFill>
                  <a:srgbClr val="11151A"/>
                </a:solidFill>
                <a:latin typeface="Lato"/>
                <a:ea typeface="Lato"/>
                <a:cs typeface="Lato"/>
              </a:defRPr>
            </a:pPr>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Diesel: 0.4–0.7% a year. Bakkies, SUVs and cars use 36% of road diesel (0.4–0.6%); trucks, buses and taxis 64% (0.4–0.75%). New diesels use 8.5% less than the fleet average.</a:t>
            </a:r>
            <a:endParaRPr sz="1350" b="0">
              <a:solidFill>
                <a:srgbClr val="11151A"/>
              </a:solidFill>
              <a:latin typeface="Lato"/>
              <a:ea typeface="Lato"/>
              <a:cs typeface="Lato"/>
            </a:endParaRPr>
          </a:p>
        </p:txBody>
      </p:sp>
      <p:sp>
        <p:nvSpPr>
          <p:cNvPr id="57" name="Evidence takeaway">
            <a:extLst>
              <a:ext uri="{FF2B5EF4-FFF2-40B4-BE49-F238E27FC236}">
                <a16:creationId xmlns:a16="http://schemas.microsoft.com/office/drawing/2014/main" id="{B6C53BD9-36CF-4A69-841C-FDA40E078E5B}"/>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lang="en-GB" sz="1275" b="0">
                <a:solidFill>
                  <a:srgbClr val="0A2373"/>
                </a:solidFill>
                <a:latin typeface="Lato"/>
                <a:ea typeface="Lato"/>
                <a:cs typeface="Lato"/>
              </a:rPr>
              <a:t>New vehicles improve about 1% a year, but old vehicles stay on the road for a long time, so the fleet improves only about half as fast.</a:t>
            </a:r>
            <a:endParaRPr sz="1275" b="0">
              <a:solidFill>
                <a:srgbClr val="0A2373"/>
              </a:solidFill>
              <a:latin typeface="Lato"/>
              <a:ea typeface="Lato"/>
              <a:cs typeface="Lato"/>
            </a:endParaRP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lang="en-GB" sz="1400" b="1">
                <a:latin typeface="Lato"/>
              </a:rPr>
              <a:t>New vehicles use 17% less fuel than in 2006: about 1% a year</a:t>
            </a:r>
            <a:endParaRPr sz="1400" b="1">
              <a:latin typeface="Lato"/>
            </a:endParaRP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rPr lang="en-GB"/>
              <a:t>From new vehicles to the whole fleet</a:t>
            </a:r>
            <a:endParaRP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80" name="Chart"/>
          <p:cNvGraphicFramePr>
            <a:graphicFrameLocks noGrp="1"/>
          </p:cNvGraphicFramePr>
          <p:nvPr/>
        </p:nvGraphicFramePr>
        <p:xfrm>
          <a:off x="457200" y="2331720"/>
          <a:ext cx="6446520" cy="29535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41619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Three refineries produced about 10.2bn litres of petrol and diesel in 2025, half the 2014 level</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10</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600">
                <a:solidFill>
                  <a:srgbClr val="111111"/>
                </a:solidFill>
                <a:latin typeface="Lato"/>
                <a:ea typeface="Lato"/>
                <a:cs typeface="Lato"/>
              </a:rPr>
              <a:t>Sasol production and sales metrics, years to June 2022–2025, p4 (Secunda total refined product; Natref production); Glencore annual reports 2023 p104, 2024 p85, 2025 p69 (Astron). Petrol and diesel shares and energy conversion: analytical workbook v02, Plant supply. Sasol’s years to June stand in for calendar years. 2014–2021: Department energy balances.</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 name="Production units">
            <a:extLst>
              <a:ext uri="{FF2B5EF4-FFF2-40B4-BE49-F238E27FC236}">
                <a16:creationId xmlns:a16="http://schemas.microsoft.com/office/drawing/2014/main" id="{598D68E6-506B-83CF-E42D-20F1DB24959C}"/>
              </a:ext>
            </a:extLst>
          </p:cNvPr>
          <p:cNvSpPr txBox="1"/>
          <p:nvPr/>
        </p:nvSpPr>
        <p:spPr>
          <a:xfrm>
            <a:off x="457200" y="2019300"/>
            <a:ext cx="6446520" cy="238125"/>
          </a:xfrm>
          <a:prstGeom prst="rect">
            <a:avLst/>
          </a:prstGeom>
          <a:noFill/>
        </p:spPr>
        <p:txBody>
          <a:bodyPr vert="horz" lIns="0" tIns="0" rIns="0" bIns="0" rtlCol="0">
            <a:spAutoFit/>
          </a:bodyPr>
          <a:lstStyle/>
          <a:p>
            <a:r>
              <a:rPr lang="en-GB" sz="975">
                <a:solidFill>
                  <a:srgbClr val="11151A"/>
                </a:solidFill>
                <a:latin typeface="Lato" panose="020F0502020204030203" pitchFamily="34" charset="0"/>
              </a:rPr>
              <a:t>Billion litres, petrol and diesel | estimated from operators’ reports | totals: 7.2, 10.3, 11.0, 10.2</a:t>
            </a:r>
            <a:endParaRPr lang="en-ZA" sz="975">
              <a:solidFill>
                <a:srgbClr val="11151A"/>
              </a:solidFill>
              <a:latin typeface="Lato" panose="020F0502020204030203" pitchFamily="34" charset="0"/>
            </a:endParaRPr>
          </a:p>
        </p:txBody>
      </p:sp>
      <p:sp>
        <p:nvSpPr>
          <p:cNvPr id="9" name="Production assumption">
            <a:extLst>
              <a:ext uri="{FF2B5EF4-FFF2-40B4-BE49-F238E27FC236}">
                <a16:creationId xmlns:a16="http://schemas.microsoft.com/office/drawing/2014/main" id="{51A3749D-D6C3-C4BC-7358-CD309F40E23B}"/>
              </a:ext>
            </a:extLst>
          </p:cNvPr>
          <p:cNvSpPr txBox="1"/>
          <p:nvPr/>
        </p:nvSpPr>
        <p:spPr>
          <a:xfrm>
            <a:off x="7424928" y="2190750"/>
            <a:ext cx="3685032" cy="533400"/>
          </a:xfrm>
          <a:prstGeom prst="rect">
            <a:avLst/>
          </a:prstGeom>
          <a:noFill/>
        </p:spPr>
        <p:txBody>
          <a:bodyPr vert="horz" lIns="0" tIns="0" rIns="0" bIns="0" rtlCol="0">
            <a:spAutoFit/>
          </a:bodyPr>
          <a:lstStyle/>
          <a:p>
            <a:r>
              <a:rPr lang="en-ZA" sz="2625" b="1">
                <a:solidFill>
                  <a:srgbClr val="0A2373"/>
                </a:solidFill>
                <a:latin typeface="Lato" panose="020F0502020204030203" pitchFamily="34" charset="0"/>
              </a:rPr>
              <a:t>10.2bn litres</a:t>
            </a:r>
          </a:p>
        </p:txBody>
      </p:sp>
      <p:sp>
        <p:nvSpPr>
          <p:cNvPr id="10" name="Production commentary">
            <a:extLst>
              <a:ext uri="{FF2B5EF4-FFF2-40B4-BE49-F238E27FC236}">
                <a16:creationId xmlns:a16="http://schemas.microsoft.com/office/drawing/2014/main" id="{DE27518A-7FCE-6AAE-5765-F02BEA973D8D}"/>
              </a:ext>
            </a:extLst>
          </p:cNvPr>
          <p:cNvSpPr txBox="1"/>
          <p:nvPr/>
        </p:nvSpPr>
        <p:spPr>
          <a:xfrm>
            <a:off x="7424928" y="2857500"/>
            <a:ext cx="3685032" cy="1869743"/>
          </a:xfrm>
          <a:prstGeom prst="rect">
            <a:avLst/>
          </a:prstGeom>
          <a:noFill/>
        </p:spPr>
        <p:txBody>
          <a:bodyPr vert="horz" lIns="0" tIns="0" rIns="0" bIns="0" rtlCol="0">
            <a:spAutoFit/>
          </a:bodyPr>
          <a:lstStyle/>
          <a:p>
            <a:r>
              <a:rPr lang="en-GB" sz="1350">
                <a:solidFill>
                  <a:srgbClr val="11151A"/>
                </a:solidFill>
                <a:latin typeface="Lato" panose="020F0502020204030203" pitchFamily="34" charset="0"/>
              </a:rPr>
              <a:t>Estimated from Sasol’s and Glencore’s reports; no national figure has been published since 2021.
Reported combined production fell from 20.42bn L in 2014 to 11.67bn L in 2021.
2025: Secunda 3.9, Natref 2.4, Astron 3.9bn L; petrol 5.6, diesel 4.6.</a:t>
            </a:r>
            <a:endParaRPr lang="en-ZA" sz="1350">
              <a:solidFill>
                <a:srgbClr val="11151A"/>
              </a:solidFill>
              <a:latin typeface="Lato" panose="020F0502020204030203" pitchFamily="34" charset="0"/>
            </a:endParaRPr>
          </a:p>
        </p:txBody>
      </p:sp>
      <p:sp>
        <p:nvSpPr>
          <p:cNvPr id="11" name="Production events">
            <a:extLst>
              <a:ext uri="{FF2B5EF4-FFF2-40B4-BE49-F238E27FC236}">
                <a16:creationId xmlns:a16="http://schemas.microsoft.com/office/drawing/2014/main" id="{FD879A5F-C40E-C552-1498-C800F603FC6B}"/>
              </a:ext>
            </a:extLst>
          </p:cNvPr>
          <p:cNvSpPr txBox="1"/>
          <p:nvPr/>
        </p:nvSpPr>
        <p:spPr>
          <a:xfrm>
            <a:off x="457200" y="5303520"/>
            <a:ext cx="6446520" cy="1005840"/>
          </a:xfrm>
          <a:prstGeom prst="rect">
            <a:avLst/>
          </a:prstGeom>
          <a:noFill/>
        </p:spPr>
        <p:txBody>
          <a:bodyPr vert="horz" lIns="0" tIns="0" rIns="0" bIns="0" rtlCol="0">
            <a:spAutoFit/>
          </a:bodyPr>
          <a:lstStyle/>
          <a:p>
            <a:r>
              <a:rPr lang="en-GB" sz="1200">
                <a:solidFill>
                  <a:srgbClr val="11151A"/>
                </a:solidFill>
                <a:latin typeface="Lato" panose="020F0502020204030203" pitchFamily="34" charset="0"/>
              </a:rPr>
              <a:t>How the estimates were calculated: Sasol’s reported fuels output for Secunda (chemicals already excluded) and Natref (scaled up from its 63.64% share), and Glencore’s reported output for Astron, converted to litres; then the share that is petrol and diesel: Secunda 90%, Natref 64%, Astron 80%. Astron was offline in 2022.</a:t>
            </a:r>
            <a:endParaRPr lang="en-ZA" sz="1200">
              <a:solidFill>
                <a:srgbClr val="11151A"/>
              </a:solidFill>
              <a:latin typeface="Lato" panose="020F0502020204030203" pitchFamily="34" charset="0"/>
            </a:endParaRPr>
          </a:p>
        </p:txBody>
      </p:sp>
      <p:sp>
        <p:nvSpPr>
          <p:cNvPr id="9003"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9004"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9005" name="Section navigation 3"/>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3  Market changes</a:t>
            </a:r>
          </a:p>
        </p:txBody>
      </p:sp>
      <p:sp>
        <p:nvSpPr>
          <p:cNvPr id="9006"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sp>
        <p:nvSpPr>
          <p:cNvPr id="9007"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sz="1400" b="1">
                <a:latin typeface="Lato"/>
              </a:rPr>
              <a:t>Estimated petrol and diesel production by refinery, 2022E–2025E</a:t>
            </a:r>
          </a:p>
        </p:txBody>
      </p:sp>
      <p:sp>
        <p:nvSpPr>
          <p:cNvPr id="9008"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t>2025E production</a:t>
            </a:r>
          </a:p>
        </p:txBody>
      </p:sp>
      <p:cxnSp>
        <p:nvCxnSpPr>
          <p:cNvPr id="9009"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010"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011"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012"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013"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9014"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9015" name="Chart"/>
          <p:cNvGraphicFramePr>
            <a:graphicFrameLocks noGrp="1"/>
          </p:cNvGraphicFramePr>
          <p:nvPr/>
        </p:nvGraphicFramePr>
        <p:xfrm>
          <a:off x="457200" y="2333625"/>
          <a:ext cx="6446520" cy="2857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1445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Durban lands almost all fuel for the market of interest; little comes in through Maputo, and exports to Botswana are falling</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11</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600">
                <a:solidFill>
                  <a:srgbClr val="111111"/>
                </a:solidFill>
                <a:latin typeface="Lato"/>
                <a:ea typeface="Lato"/>
                <a:cs typeface="Lato"/>
              </a:rPr>
              <a:t>SARS customs, petrol and diesel, litres: imports by district office (offices add to the national total; </a:t>
            </a:r>
            <a:r>
              <a:rPr lang="en-GB" sz="600">
                <a:solidFill>
                  <a:srgbClr val="111111"/>
                </a:solidFill>
                <a:latin typeface="Lato"/>
                <a:ea typeface="Lato"/>
                <a:cs typeface="Lato"/>
              </a:rPr>
              <a:t>Komatipoort is the Lebombo border post on the road from Maputo</a:t>
            </a:r>
            <a:r>
              <a:rPr lang="en-ZA" sz="600">
                <a:solidFill>
                  <a:srgbClr val="111111"/>
                </a:solidFill>
                <a:latin typeface="Lato"/>
                <a:ea typeface="Lato"/>
                <a:cs typeface="Lato"/>
              </a:rPr>
              <a:t>); exports by partner country. 2026 = January–August × 12/8. Records show where fuel is cleared, not where it is used. Base map: AIA board report, November 2025. Market of interest: p13.</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9003"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9004"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9005" name="Section navigation 3"/>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3  Market changes</a:t>
            </a:r>
          </a:p>
        </p:txBody>
      </p:sp>
      <p:sp>
        <p:nvSpPr>
          <p:cNvPr id="9006" name="Section navigation 4"/>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4  Vopak outlook</a:t>
            </a:r>
          </a:p>
        </p:txBody>
      </p:sp>
      <p:pic>
        <p:nvPicPr>
          <p:cNvPr id="5" name="Base map">
            <a:extLst>
              <a:ext uri="{FF2B5EF4-FFF2-40B4-BE49-F238E27FC236}">
                <a16:creationId xmlns:a16="http://schemas.microsoft.com/office/drawing/2014/main" id="{C272D2A7-982A-C2ED-0D66-1CA8BEF6541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148840" y="1481328"/>
            <a:ext cx="7287768" cy="4892040"/>
          </a:xfrm>
          <a:prstGeom prst="rect">
            <a:avLst/>
          </a:prstGeom>
        </p:spPr>
      </p:pic>
      <p:sp>
        <p:nvSpPr>
          <p:cNvPr id="9008" name="Entry card"/>
          <p:cNvSpPr/>
          <p:nvPr/>
        </p:nvSpPr>
        <p:spPr>
          <a:xfrm>
            <a:off x="9482328" y="1481328"/>
            <a:ext cx="1645920" cy="1188720"/>
          </a:xfrm>
          <a:prstGeom prst="rect">
            <a:avLst/>
          </a:prstGeom>
          <a:solidFill>
            <a:srgbClr val="FFFFFF"/>
          </a:solidFill>
          <a:ln w="9525">
            <a:solidFill>
              <a:srgbClr val="B4B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009" name="Leader"/>
          <p:cNvCxnSpPr/>
          <p:nvPr/>
        </p:nvCxnSpPr>
        <p:spPr>
          <a:xfrm flipH="1">
            <a:off x="7744896" y="2670048"/>
            <a:ext cx="1737432" cy="600044"/>
          </a:xfrm>
          <a:prstGeom prst="line">
            <a:avLst/>
          </a:prstGeom>
          <a:ln w="9525">
            <a:solidFill>
              <a:srgbClr val="0A2373"/>
            </a:solidFill>
          </a:ln>
        </p:spPr>
        <p:style>
          <a:lnRef idx="2">
            <a:schemeClr val="accent1"/>
          </a:lnRef>
          <a:fillRef idx="0">
            <a:schemeClr val="accent1"/>
          </a:fillRef>
          <a:effectRef idx="1">
            <a:schemeClr val="accent1"/>
          </a:effectRef>
          <a:fontRef idx="minor">
            <a:schemeClr val="tx1"/>
          </a:fontRef>
        </p:style>
      </p:cxnSp>
      <p:sp>
        <p:nvSpPr>
          <p:cNvPr id="9010" name="Entry point"/>
          <p:cNvSpPr/>
          <p:nvPr/>
        </p:nvSpPr>
        <p:spPr>
          <a:xfrm>
            <a:off x="7703748" y="3228944"/>
            <a:ext cx="82296" cy="82296"/>
          </a:xfrm>
          <a:prstGeom prst="ellipse">
            <a:avLst/>
          </a:prstGeom>
          <a:solidFill>
            <a:srgbClr val="0A237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1" name="Card heading"/>
          <p:cNvSpPr txBox="1"/>
          <p:nvPr/>
        </p:nvSpPr>
        <p:spPr>
          <a:xfrm>
            <a:off x="9555480" y="1527048"/>
            <a:ext cx="1499616" cy="369332"/>
          </a:xfrm>
          <a:prstGeom prst="rect">
            <a:avLst/>
          </a:prstGeom>
          <a:noFill/>
        </p:spPr>
        <p:txBody>
          <a:bodyPr wrap="square" lIns="0" tIns="0" rIns="0" bIns="0" anchor="t">
            <a:spAutoFit/>
          </a:bodyPr>
          <a:lstStyle/>
          <a:p>
            <a:pPr algn="l"/>
            <a:r>
              <a:rPr lang="en-ZA" sz="900" b="1" dirty="0">
                <a:solidFill>
                  <a:srgbClr val="0A2373"/>
                </a:solidFill>
                <a:latin typeface="Lato"/>
              </a:rPr>
              <a:t>Imports from Maputo</a:t>
            </a:r>
            <a:endParaRPr sz="900" b="1" dirty="0">
              <a:solidFill>
                <a:srgbClr val="0A2373"/>
              </a:solidFill>
              <a:latin typeface="Lato"/>
            </a:endParaRPr>
          </a:p>
          <a:p>
            <a:pPr algn="l"/>
            <a:r>
              <a:rPr lang="en-GB" sz="750" b="0" dirty="0">
                <a:solidFill>
                  <a:srgbClr val="666666"/>
                </a:solidFill>
                <a:latin typeface="Lato"/>
              </a:rPr>
              <a:t>By road, cleared at </a:t>
            </a:r>
            <a:r>
              <a:rPr lang="en-GB" sz="750" b="0" dirty="0" err="1">
                <a:solidFill>
                  <a:srgbClr val="666666"/>
                </a:solidFill>
                <a:latin typeface="Lato"/>
              </a:rPr>
              <a:t>Komatipoort</a:t>
            </a:r>
            <a:r>
              <a:rPr lang="en-GB" sz="750" b="0" dirty="0">
                <a:solidFill>
                  <a:srgbClr val="666666"/>
                </a:solidFill>
                <a:latin typeface="Lato"/>
              </a:rPr>
              <a:t> | 0.09bn L in 2025</a:t>
            </a:r>
            <a:endParaRPr sz="750" b="0" dirty="0">
              <a:solidFill>
                <a:srgbClr val="666666"/>
              </a:solidFill>
              <a:latin typeface="Lato"/>
            </a:endParaRPr>
          </a:p>
        </p:txBody>
      </p:sp>
      <p:graphicFrame>
        <p:nvGraphicFramePr>
          <p:cNvPr id="9012" name="Card chart"/>
          <p:cNvGraphicFramePr>
            <a:graphicFrameLocks noGrp="1"/>
          </p:cNvGraphicFramePr>
          <p:nvPr/>
        </p:nvGraphicFramePr>
        <p:xfrm>
          <a:off x="9509759" y="1911095"/>
          <a:ext cx="1591056" cy="731520"/>
        </p:xfrm>
        <a:graphic>
          <a:graphicData uri="http://schemas.openxmlformats.org/drawingml/2006/chart">
            <c:chart xmlns:c="http://schemas.openxmlformats.org/drawingml/2006/chart" xmlns:r="http://schemas.openxmlformats.org/officeDocument/2006/relationships" r:id="rId3"/>
          </a:graphicData>
        </a:graphic>
      </p:graphicFrame>
      <p:sp>
        <p:nvSpPr>
          <p:cNvPr id="9013" name="Entry card"/>
          <p:cNvSpPr/>
          <p:nvPr/>
        </p:nvSpPr>
        <p:spPr>
          <a:xfrm>
            <a:off x="9482328" y="2761488"/>
            <a:ext cx="1645920" cy="1188720"/>
          </a:xfrm>
          <a:prstGeom prst="rect">
            <a:avLst/>
          </a:prstGeom>
          <a:solidFill>
            <a:srgbClr val="FFFFFF"/>
          </a:solidFill>
          <a:ln w="9525">
            <a:solidFill>
              <a:srgbClr val="B4B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014" name="Leader"/>
          <p:cNvCxnSpPr/>
          <p:nvPr/>
        </p:nvCxnSpPr>
        <p:spPr>
          <a:xfrm flipH="1">
            <a:off x="7827419" y="3950208"/>
            <a:ext cx="1654909" cy="283859"/>
          </a:xfrm>
          <a:prstGeom prst="line">
            <a:avLst/>
          </a:prstGeom>
          <a:ln w="9525">
            <a:solidFill>
              <a:srgbClr val="0A2373"/>
            </a:solidFill>
          </a:ln>
        </p:spPr>
        <p:style>
          <a:lnRef idx="2">
            <a:schemeClr val="accent1"/>
          </a:lnRef>
          <a:fillRef idx="0">
            <a:schemeClr val="accent1"/>
          </a:fillRef>
          <a:effectRef idx="1">
            <a:schemeClr val="accent1"/>
          </a:effectRef>
          <a:fontRef idx="minor">
            <a:schemeClr val="tx1"/>
          </a:fontRef>
        </p:style>
      </p:cxnSp>
      <p:sp>
        <p:nvSpPr>
          <p:cNvPr id="9015" name="Entry point"/>
          <p:cNvSpPr/>
          <p:nvPr/>
        </p:nvSpPr>
        <p:spPr>
          <a:xfrm>
            <a:off x="7786271" y="4192919"/>
            <a:ext cx="82296" cy="82296"/>
          </a:xfrm>
          <a:prstGeom prst="ellipse">
            <a:avLst/>
          </a:prstGeom>
          <a:solidFill>
            <a:srgbClr val="0A237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6" name="Card heading"/>
          <p:cNvSpPr txBox="1"/>
          <p:nvPr/>
        </p:nvSpPr>
        <p:spPr>
          <a:xfrm>
            <a:off x="9555480" y="2807208"/>
            <a:ext cx="1499616" cy="384048"/>
          </a:xfrm>
          <a:prstGeom prst="rect">
            <a:avLst/>
          </a:prstGeom>
          <a:noFill/>
        </p:spPr>
        <p:txBody>
          <a:bodyPr wrap="square" lIns="0" tIns="0" rIns="0" bIns="0" anchor="t">
            <a:spAutoFit/>
          </a:bodyPr>
          <a:lstStyle/>
          <a:p>
            <a:pPr algn="l"/>
            <a:r>
              <a:rPr sz="900" b="1">
                <a:solidFill>
                  <a:srgbClr val="0A2373"/>
                </a:solidFill>
                <a:latin typeface="Lato"/>
              </a:rPr>
              <a:t>Richards Bay</a:t>
            </a:r>
          </a:p>
          <a:p>
            <a:pPr algn="l"/>
            <a:r>
              <a:rPr sz="750" b="0">
                <a:solidFill>
                  <a:srgbClr val="666666"/>
                </a:solidFill>
                <a:latin typeface="Lato"/>
              </a:rPr>
              <a:t>Imports | 0.7bn L in 2025</a:t>
            </a:r>
          </a:p>
        </p:txBody>
      </p:sp>
      <p:graphicFrame>
        <p:nvGraphicFramePr>
          <p:cNvPr id="9017" name="Card chart"/>
          <p:cNvGraphicFramePr>
            <a:graphicFrameLocks noGrp="1"/>
          </p:cNvGraphicFramePr>
          <p:nvPr/>
        </p:nvGraphicFramePr>
        <p:xfrm>
          <a:off x="9509759" y="3191256"/>
          <a:ext cx="1591056" cy="731520"/>
        </p:xfrm>
        <a:graphic>
          <a:graphicData uri="http://schemas.openxmlformats.org/drawingml/2006/chart">
            <c:chart xmlns:c="http://schemas.openxmlformats.org/drawingml/2006/chart" xmlns:r="http://schemas.openxmlformats.org/officeDocument/2006/relationships" r:id="rId4"/>
          </a:graphicData>
        </a:graphic>
      </p:graphicFrame>
      <p:sp>
        <p:nvSpPr>
          <p:cNvPr id="9018" name="Entry card"/>
          <p:cNvSpPr/>
          <p:nvPr/>
        </p:nvSpPr>
        <p:spPr>
          <a:xfrm>
            <a:off x="9482328" y="4041648"/>
            <a:ext cx="1645920" cy="1307592"/>
          </a:xfrm>
          <a:prstGeom prst="rect">
            <a:avLst/>
          </a:prstGeom>
          <a:solidFill>
            <a:srgbClr val="FFFFFF"/>
          </a:solidFill>
          <a:ln w="9525">
            <a:solidFill>
              <a:srgbClr val="B4B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019" name="Leader"/>
          <p:cNvCxnSpPr/>
          <p:nvPr/>
        </p:nvCxnSpPr>
        <p:spPr>
          <a:xfrm flipH="1" flipV="1">
            <a:off x="7538590" y="4548518"/>
            <a:ext cx="1943738" cy="146926"/>
          </a:xfrm>
          <a:prstGeom prst="line">
            <a:avLst/>
          </a:prstGeom>
          <a:ln w="9525">
            <a:solidFill>
              <a:srgbClr val="0A2373"/>
            </a:solidFill>
          </a:ln>
        </p:spPr>
        <p:style>
          <a:lnRef idx="2">
            <a:schemeClr val="accent1"/>
          </a:lnRef>
          <a:fillRef idx="0">
            <a:schemeClr val="accent1"/>
          </a:fillRef>
          <a:effectRef idx="1">
            <a:schemeClr val="accent1"/>
          </a:effectRef>
          <a:fontRef idx="minor">
            <a:schemeClr val="tx1"/>
          </a:fontRef>
        </p:style>
      </p:cxnSp>
      <p:sp>
        <p:nvSpPr>
          <p:cNvPr id="9020" name="Entry point"/>
          <p:cNvSpPr/>
          <p:nvPr/>
        </p:nvSpPr>
        <p:spPr>
          <a:xfrm>
            <a:off x="7497442" y="4507370"/>
            <a:ext cx="82296" cy="82296"/>
          </a:xfrm>
          <a:prstGeom prst="ellipse">
            <a:avLst/>
          </a:prstGeom>
          <a:solidFill>
            <a:srgbClr val="0A237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21" name="Card heading"/>
          <p:cNvSpPr txBox="1"/>
          <p:nvPr/>
        </p:nvSpPr>
        <p:spPr>
          <a:xfrm>
            <a:off x="9555480" y="4087368"/>
            <a:ext cx="1499616" cy="384048"/>
          </a:xfrm>
          <a:prstGeom prst="rect">
            <a:avLst/>
          </a:prstGeom>
          <a:noFill/>
        </p:spPr>
        <p:txBody>
          <a:bodyPr wrap="square" lIns="0" tIns="0" rIns="0" bIns="0" anchor="t">
            <a:spAutoFit/>
          </a:bodyPr>
          <a:lstStyle/>
          <a:p>
            <a:pPr algn="l"/>
            <a:r>
              <a:rPr sz="900" b="1">
                <a:solidFill>
                  <a:srgbClr val="0A2373"/>
                </a:solidFill>
                <a:latin typeface="Lato"/>
              </a:rPr>
              <a:t>Durban</a:t>
            </a:r>
          </a:p>
          <a:p>
            <a:pPr algn="l"/>
            <a:r>
              <a:rPr sz="750" b="0">
                <a:solidFill>
                  <a:srgbClr val="666666"/>
                </a:solidFill>
                <a:latin typeface="Lato"/>
              </a:rPr>
              <a:t>Imports | 13.2bn L in 2025, 79% of SA</a:t>
            </a:r>
          </a:p>
        </p:txBody>
      </p:sp>
      <p:graphicFrame>
        <p:nvGraphicFramePr>
          <p:cNvPr id="9022" name="Card chart"/>
          <p:cNvGraphicFramePr>
            <a:graphicFrameLocks noGrp="1"/>
          </p:cNvGraphicFramePr>
          <p:nvPr/>
        </p:nvGraphicFramePr>
        <p:xfrm>
          <a:off x="9509759" y="4471416"/>
          <a:ext cx="1591056" cy="850392"/>
        </p:xfrm>
        <a:graphic>
          <a:graphicData uri="http://schemas.openxmlformats.org/drawingml/2006/chart">
            <c:chart xmlns:c="http://schemas.openxmlformats.org/drawingml/2006/chart" xmlns:r="http://schemas.openxmlformats.org/officeDocument/2006/relationships" r:id="rId5"/>
          </a:graphicData>
        </a:graphic>
      </p:graphicFrame>
      <p:sp>
        <p:nvSpPr>
          <p:cNvPr id="9023" name="Entry card"/>
          <p:cNvSpPr/>
          <p:nvPr/>
        </p:nvSpPr>
        <p:spPr>
          <a:xfrm>
            <a:off x="7882127" y="5138928"/>
            <a:ext cx="1481328" cy="1216152"/>
          </a:xfrm>
          <a:prstGeom prst="rect">
            <a:avLst/>
          </a:prstGeom>
          <a:solidFill>
            <a:srgbClr val="FFFFFF"/>
          </a:solidFill>
          <a:ln w="9525">
            <a:solidFill>
              <a:srgbClr val="B4B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024" name="Leader"/>
          <p:cNvCxnSpPr/>
          <p:nvPr/>
        </p:nvCxnSpPr>
        <p:spPr>
          <a:xfrm flipH="1" flipV="1">
            <a:off x="6636000" y="5455788"/>
            <a:ext cx="1246127" cy="291216"/>
          </a:xfrm>
          <a:prstGeom prst="line">
            <a:avLst/>
          </a:prstGeom>
          <a:ln w="9525">
            <a:solidFill>
              <a:srgbClr val="0A2373"/>
            </a:solidFill>
          </a:ln>
        </p:spPr>
        <p:style>
          <a:lnRef idx="2">
            <a:schemeClr val="accent1"/>
          </a:lnRef>
          <a:fillRef idx="0">
            <a:schemeClr val="accent1"/>
          </a:fillRef>
          <a:effectRef idx="1">
            <a:schemeClr val="accent1"/>
          </a:effectRef>
          <a:fontRef idx="minor">
            <a:schemeClr val="tx1"/>
          </a:fontRef>
        </p:style>
      </p:cxnSp>
      <p:sp>
        <p:nvSpPr>
          <p:cNvPr id="9025" name="Entry point"/>
          <p:cNvSpPr/>
          <p:nvPr/>
        </p:nvSpPr>
        <p:spPr>
          <a:xfrm>
            <a:off x="6594852" y="5414640"/>
            <a:ext cx="82296" cy="82296"/>
          </a:xfrm>
          <a:prstGeom prst="ellipse">
            <a:avLst/>
          </a:prstGeom>
          <a:solidFill>
            <a:srgbClr val="0A237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26" name="Card heading"/>
          <p:cNvSpPr txBox="1"/>
          <p:nvPr/>
        </p:nvSpPr>
        <p:spPr>
          <a:xfrm>
            <a:off x="7955279" y="5184648"/>
            <a:ext cx="1335024" cy="384048"/>
          </a:xfrm>
          <a:prstGeom prst="rect">
            <a:avLst/>
          </a:prstGeom>
          <a:noFill/>
        </p:spPr>
        <p:txBody>
          <a:bodyPr wrap="square" lIns="0" tIns="0" rIns="0" bIns="0" anchor="t">
            <a:spAutoFit/>
          </a:bodyPr>
          <a:lstStyle/>
          <a:p>
            <a:pPr algn="l"/>
            <a:r>
              <a:rPr sz="900" b="1">
                <a:solidFill>
                  <a:srgbClr val="0A2373"/>
                </a:solidFill>
                <a:latin typeface="Lato"/>
              </a:rPr>
              <a:t>Other SA ports</a:t>
            </a:r>
          </a:p>
          <a:p>
            <a:pPr algn="l"/>
            <a:r>
              <a:rPr sz="750" b="0">
                <a:solidFill>
                  <a:srgbClr val="666666"/>
                </a:solidFill>
                <a:latin typeface="Lato"/>
              </a:rPr>
              <a:t>Mossel Bay, Gqeberha, East London | 1.3bn L in 2025</a:t>
            </a:r>
          </a:p>
        </p:txBody>
      </p:sp>
      <p:graphicFrame>
        <p:nvGraphicFramePr>
          <p:cNvPr id="9027" name="Card chart"/>
          <p:cNvGraphicFramePr>
            <a:graphicFrameLocks noGrp="1"/>
          </p:cNvGraphicFramePr>
          <p:nvPr/>
        </p:nvGraphicFramePr>
        <p:xfrm>
          <a:off x="7909559" y="5568696"/>
          <a:ext cx="1426464" cy="758952"/>
        </p:xfrm>
        <a:graphic>
          <a:graphicData uri="http://schemas.openxmlformats.org/drawingml/2006/chart">
            <c:chart xmlns:c="http://schemas.openxmlformats.org/drawingml/2006/chart" xmlns:r="http://schemas.openxmlformats.org/officeDocument/2006/relationships" r:id="rId6"/>
          </a:graphicData>
        </a:graphic>
      </p:graphicFrame>
      <p:sp>
        <p:nvSpPr>
          <p:cNvPr id="9028" name="Entry card"/>
          <p:cNvSpPr/>
          <p:nvPr/>
        </p:nvSpPr>
        <p:spPr>
          <a:xfrm>
            <a:off x="457200" y="4892040"/>
            <a:ext cx="1645920" cy="1298448"/>
          </a:xfrm>
          <a:prstGeom prst="rect">
            <a:avLst/>
          </a:prstGeom>
          <a:solidFill>
            <a:srgbClr val="FFFFFF"/>
          </a:solidFill>
          <a:ln w="9525">
            <a:solidFill>
              <a:srgbClr val="B4B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029" name="Leader"/>
          <p:cNvCxnSpPr/>
          <p:nvPr/>
        </p:nvCxnSpPr>
        <p:spPr>
          <a:xfrm>
            <a:off x="2103120" y="5541264"/>
            <a:ext cx="1794165" cy="167116"/>
          </a:xfrm>
          <a:prstGeom prst="line">
            <a:avLst/>
          </a:prstGeom>
          <a:ln w="9525">
            <a:solidFill>
              <a:srgbClr val="0A2373"/>
            </a:solidFill>
          </a:ln>
        </p:spPr>
        <p:style>
          <a:lnRef idx="2">
            <a:schemeClr val="accent1"/>
          </a:lnRef>
          <a:fillRef idx="0">
            <a:schemeClr val="accent1"/>
          </a:fillRef>
          <a:effectRef idx="1">
            <a:schemeClr val="accent1"/>
          </a:effectRef>
          <a:fontRef idx="minor">
            <a:schemeClr val="tx1"/>
          </a:fontRef>
        </p:style>
      </p:cxnSp>
      <p:sp>
        <p:nvSpPr>
          <p:cNvPr id="9030" name="Entry point"/>
          <p:cNvSpPr/>
          <p:nvPr/>
        </p:nvSpPr>
        <p:spPr>
          <a:xfrm>
            <a:off x="3856137" y="5667232"/>
            <a:ext cx="82296" cy="82296"/>
          </a:xfrm>
          <a:prstGeom prst="ellipse">
            <a:avLst/>
          </a:prstGeom>
          <a:solidFill>
            <a:srgbClr val="0A237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31" name="Card heading"/>
          <p:cNvSpPr txBox="1"/>
          <p:nvPr/>
        </p:nvSpPr>
        <p:spPr>
          <a:xfrm>
            <a:off x="530352" y="4937759"/>
            <a:ext cx="1499616" cy="384048"/>
          </a:xfrm>
          <a:prstGeom prst="rect">
            <a:avLst/>
          </a:prstGeom>
          <a:noFill/>
        </p:spPr>
        <p:txBody>
          <a:bodyPr wrap="square" lIns="0" tIns="0" rIns="0" bIns="0" anchor="t">
            <a:spAutoFit/>
          </a:bodyPr>
          <a:lstStyle/>
          <a:p>
            <a:pPr algn="l"/>
            <a:r>
              <a:rPr sz="900" b="1">
                <a:solidFill>
                  <a:srgbClr val="0A2373"/>
                </a:solidFill>
                <a:latin typeface="Lato"/>
              </a:rPr>
              <a:t>Cape Town</a:t>
            </a:r>
          </a:p>
          <a:p>
            <a:pPr algn="l"/>
            <a:r>
              <a:rPr sz="750" b="0">
                <a:solidFill>
                  <a:srgbClr val="666666"/>
                </a:solidFill>
                <a:latin typeface="Lato"/>
              </a:rPr>
              <a:t>Imports | 1.5bn L in 2025</a:t>
            </a:r>
          </a:p>
        </p:txBody>
      </p:sp>
      <p:graphicFrame>
        <p:nvGraphicFramePr>
          <p:cNvPr id="9032" name="Card chart"/>
          <p:cNvGraphicFramePr>
            <a:graphicFrameLocks noGrp="1"/>
          </p:cNvGraphicFramePr>
          <p:nvPr/>
        </p:nvGraphicFramePr>
        <p:xfrm>
          <a:off x="484632" y="5321807"/>
          <a:ext cx="1591056" cy="841247"/>
        </p:xfrm>
        <a:graphic>
          <a:graphicData uri="http://schemas.openxmlformats.org/drawingml/2006/chart">
            <c:chart xmlns:c="http://schemas.openxmlformats.org/drawingml/2006/chart" xmlns:r="http://schemas.openxmlformats.org/officeDocument/2006/relationships" r:id="rId7"/>
          </a:graphicData>
        </a:graphic>
      </p:graphicFrame>
      <p:sp>
        <p:nvSpPr>
          <p:cNvPr id="9033" name="Entry card"/>
          <p:cNvSpPr/>
          <p:nvPr/>
        </p:nvSpPr>
        <p:spPr>
          <a:xfrm>
            <a:off x="3017520" y="1755648"/>
            <a:ext cx="1645920" cy="1298448"/>
          </a:xfrm>
          <a:prstGeom prst="rect">
            <a:avLst/>
          </a:prstGeom>
          <a:solidFill>
            <a:srgbClr val="FFFFFF"/>
          </a:solidFill>
          <a:ln w="9525">
            <a:solidFill>
              <a:srgbClr val="B4B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034" name="Leader"/>
          <p:cNvCxnSpPr/>
          <p:nvPr/>
        </p:nvCxnSpPr>
        <p:spPr>
          <a:xfrm>
            <a:off x="4663440" y="3054096"/>
            <a:ext cx="1327853" cy="128362"/>
          </a:xfrm>
          <a:prstGeom prst="line">
            <a:avLst/>
          </a:prstGeom>
          <a:ln w="9525">
            <a:solidFill>
              <a:srgbClr val="0A2373"/>
            </a:solidFill>
          </a:ln>
        </p:spPr>
        <p:style>
          <a:lnRef idx="2">
            <a:schemeClr val="accent1"/>
          </a:lnRef>
          <a:fillRef idx="0">
            <a:schemeClr val="accent1"/>
          </a:fillRef>
          <a:effectRef idx="1">
            <a:schemeClr val="accent1"/>
          </a:effectRef>
          <a:fontRef idx="minor">
            <a:schemeClr val="tx1"/>
          </a:fontRef>
        </p:style>
      </p:cxnSp>
      <p:sp>
        <p:nvSpPr>
          <p:cNvPr id="9035" name="Entry point"/>
          <p:cNvSpPr/>
          <p:nvPr/>
        </p:nvSpPr>
        <p:spPr>
          <a:xfrm>
            <a:off x="5950145" y="3141310"/>
            <a:ext cx="82296" cy="82296"/>
          </a:xfrm>
          <a:prstGeom prst="ellipse">
            <a:avLst/>
          </a:prstGeom>
          <a:solidFill>
            <a:srgbClr val="0A237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36" name="Card heading"/>
          <p:cNvSpPr txBox="1"/>
          <p:nvPr/>
        </p:nvSpPr>
        <p:spPr>
          <a:xfrm>
            <a:off x="3090672" y="1801368"/>
            <a:ext cx="1499616" cy="384048"/>
          </a:xfrm>
          <a:prstGeom prst="rect">
            <a:avLst/>
          </a:prstGeom>
          <a:noFill/>
        </p:spPr>
        <p:txBody>
          <a:bodyPr wrap="square" lIns="0" tIns="0" rIns="0" bIns="0" anchor="t">
            <a:spAutoFit/>
          </a:bodyPr>
          <a:lstStyle/>
          <a:p>
            <a:pPr algn="l"/>
            <a:r>
              <a:rPr sz="900" b="1">
                <a:solidFill>
                  <a:srgbClr val="0A2373"/>
                </a:solidFill>
                <a:latin typeface="Lato"/>
              </a:rPr>
              <a:t>Exports to Botswana</a:t>
            </a:r>
          </a:p>
          <a:p>
            <a:pPr algn="l"/>
            <a:r>
              <a:rPr sz="750" b="0">
                <a:solidFill>
                  <a:srgbClr val="666666"/>
                </a:solidFill>
                <a:latin typeface="Lato"/>
              </a:rPr>
              <a:t>1.05bn L in 2022 → 0.68 in 2025</a:t>
            </a:r>
          </a:p>
        </p:txBody>
      </p:sp>
      <p:graphicFrame>
        <p:nvGraphicFramePr>
          <p:cNvPr id="9037" name="Card chart"/>
          <p:cNvGraphicFramePr>
            <a:graphicFrameLocks noGrp="1"/>
          </p:cNvGraphicFramePr>
          <p:nvPr/>
        </p:nvGraphicFramePr>
        <p:xfrm>
          <a:off x="3044951" y="2185415"/>
          <a:ext cx="1591056" cy="841247"/>
        </p:xfrm>
        <a:graphic>
          <a:graphicData uri="http://schemas.openxmlformats.org/drawingml/2006/chart">
            <c:chart xmlns:c="http://schemas.openxmlformats.org/drawingml/2006/chart" xmlns:r="http://schemas.openxmlformats.org/officeDocument/2006/relationships" r:id="rId8"/>
          </a:graphicData>
        </a:graphic>
      </p:graphicFrame>
      <p:sp>
        <p:nvSpPr>
          <p:cNvPr id="9038" name="Market of interest"/>
          <p:cNvSpPr/>
          <p:nvPr/>
        </p:nvSpPr>
        <p:spPr>
          <a:xfrm>
            <a:off x="4800600" y="3931920"/>
            <a:ext cx="1783080" cy="731520"/>
          </a:xfrm>
          <a:prstGeom prst="rect">
            <a:avLst/>
          </a:prstGeom>
          <a:solidFill>
            <a:srgbClr val="E3E7F1"/>
          </a:solidFill>
          <a:ln w="9525">
            <a:solidFill>
              <a:srgbClr val="0A2373"/>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900" b="1">
                <a:solidFill>
                  <a:srgbClr val="0A2373"/>
                </a:solidFill>
                <a:latin typeface="Lato"/>
              </a:rPr>
              <a:t>Market of interest</a:t>
            </a:r>
          </a:p>
          <a:p>
            <a:pPr algn="ctr"/>
            <a:r>
              <a:rPr sz="700" b="0">
                <a:solidFill>
                  <a:srgbClr val="0A2373"/>
                </a:solidFill>
                <a:latin typeface="Lato"/>
              </a:rPr>
              <a:t>Gauteng, KZN, Mpumalanga, Free State, North West, Limpopo</a:t>
            </a:r>
          </a:p>
          <a:p>
            <a:pPr algn="ctr"/>
            <a:r>
              <a:rPr sz="700" b="1">
                <a:solidFill>
                  <a:srgbClr val="0A2373"/>
                </a:solidFill>
                <a:latin typeface="Lato"/>
              </a:rPr>
              <a:t>18.2bn L used, 11.9bn L brought in, 2025E (p13)</a:t>
            </a:r>
          </a:p>
        </p:txBody>
      </p:sp>
      <p:sp>
        <p:nvSpPr>
          <p:cNvPr id="9039" name="Legend key"/>
          <p:cNvSpPr/>
          <p:nvPr/>
        </p:nvSpPr>
        <p:spPr>
          <a:xfrm>
            <a:off x="457200" y="1591056"/>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40" name="Legend label"/>
          <p:cNvSpPr txBox="1"/>
          <p:nvPr/>
        </p:nvSpPr>
        <p:spPr>
          <a:xfrm>
            <a:off x="612648" y="1554480"/>
            <a:ext cx="548640" cy="182880"/>
          </a:xfrm>
          <a:prstGeom prst="rect">
            <a:avLst/>
          </a:prstGeom>
          <a:noFill/>
        </p:spPr>
        <p:txBody>
          <a:bodyPr wrap="square" lIns="0" tIns="0" rIns="0" bIns="0" anchor="t">
            <a:spAutoFit/>
          </a:bodyPr>
          <a:lstStyle/>
          <a:p>
            <a:pPr algn="l"/>
            <a:r>
              <a:rPr sz="900" b="0">
                <a:solidFill>
                  <a:srgbClr val="11151A"/>
                </a:solidFill>
                <a:latin typeface="Lato"/>
              </a:rPr>
              <a:t>Petrol</a:t>
            </a:r>
          </a:p>
        </p:txBody>
      </p:sp>
      <p:sp>
        <p:nvSpPr>
          <p:cNvPr id="9041" name="Legend key"/>
          <p:cNvSpPr/>
          <p:nvPr/>
        </p:nvSpPr>
        <p:spPr>
          <a:xfrm>
            <a:off x="1188720" y="1591056"/>
            <a:ext cx="109728" cy="109728"/>
          </a:xfrm>
          <a:prstGeom prst="rect">
            <a:avLst/>
          </a:prstGeom>
          <a:solidFill>
            <a:srgbClr val="67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42" name="Legend label"/>
          <p:cNvSpPr txBox="1"/>
          <p:nvPr/>
        </p:nvSpPr>
        <p:spPr>
          <a:xfrm>
            <a:off x="1344168" y="1554480"/>
            <a:ext cx="548640" cy="182880"/>
          </a:xfrm>
          <a:prstGeom prst="rect">
            <a:avLst/>
          </a:prstGeom>
          <a:noFill/>
        </p:spPr>
        <p:txBody>
          <a:bodyPr wrap="square" lIns="0" tIns="0" rIns="0" bIns="0" anchor="t">
            <a:spAutoFit/>
          </a:bodyPr>
          <a:lstStyle/>
          <a:p>
            <a:pPr algn="l"/>
            <a:r>
              <a:rPr sz="900" b="0">
                <a:solidFill>
                  <a:srgbClr val="11151A"/>
                </a:solidFill>
                <a:latin typeface="Lato"/>
              </a:rPr>
              <a:t>Diesel</a:t>
            </a:r>
          </a:p>
        </p:txBody>
      </p:sp>
      <p:sp>
        <p:nvSpPr>
          <p:cNvPr id="9043" name="Evidence unit"/>
          <p:cNvSpPr txBox="1"/>
          <p:nvPr/>
        </p:nvSpPr>
        <p:spPr>
          <a:xfrm>
            <a:off x="457200" y="1783080"/>
            <a:ext cx="1600200" cy="274320"/>
          </a:xfrm>
          <a:prstGeom prst="rect">
            <a:avLst/>
          </a:prstGeom>
          <a:noFill/>
        </p:spPr>
        <p:txBody>
          <a:bodyPr wrap="square" lIns="0" tIns="0" rIns="0" bIns="0" anchor="t">
            <a:spAutoFit/>
          </a:bodyPr>
          <a:lstStyle/>
          <a:p>
            <a:pPr algn="l"/>
            <a:r>
              <a:rPr sz="750" b="0">
                <a:solidFill>
                  <a:srgbClr val="666666"/>
                </a:solidFill>
                <a:latin typeface="Lato"/>
              </a:rPr>
              <a:t>Billion litres | 26* = 2026, annualised from January–August | each chart has its own scale</a:t>
            </a:r>
          </a:p>
        </p:txBody>
      </p:sp>
      <p:sp>
        <p:nvSpPr>
          <p:cNvPr id="9044" name="Findings"/>
          <p:cNvSpPr txBox="1"/>
          <p:nvPr/>
        </p:nvSpPr>
        <p:spPr>
          <a:xfrm>
            <a:off x="457200" y="2331720"/>
            <a:ext cx="1627632" cy="2492990"/>
          </a:xfrm>
          <a:prstGeom prst="rect">
            <a:avLst/>
          </a:prstGeom>
          <a:noFill/>
        </p:spPr>
        <p:txBody>
          <a:bodyPr wrap="square" lIns="0" tIns="0" rIns="0" bIns="0" anchor="t">
            <a:spAutoFit/>
          </a:bodyPr>
          <a:lstStyle/>
          <a:p>
            <a:pPr algn="l"/>
            <a:r>
              <a:rPr sz="900" b="1" dirty="0">
                <a:solidFill>
                  <a:srgbClr val="0A2373"/>
                </a:solidFill>
                <a:latin typeface="Lato"/>
              </a:rPr>
              <a:t>Durban </a:t>
            </a:r>
            <a:r>
              <a:rPr sz="900" b="0" dirty="0">
                <a:solidFill>
                  <a:srgbClr val="11151A"/>
                </a:solidFill>
                <a:latin typeface="Lato"/>
              </a:rPr>
              <a:t>landed 79% of South Africa’s imports in 2025; the NMPP pipeline carries it inland to Lesedi.</a:t>
            </a:r>
          </a:p>
          <a:p>
            <a:pPr algn="l"/>
            <a:endParaRPr sz="900" b="0" dirty="0">
              <a:solidFill>
                <a:srgbClr val="11151A"/>
              </a:solidFill>
              <a:latin typeface="Lato"/>
            </a:endParaRPr>
          </a:p>
          <a:p>
            <a:pPr algn="l"/>
            <a:r>
              <a:rPr sz="900" b="1" dirty="0">
                <a:solidFill>
                  <a:srgbClr val="0A2373"/>
                </a:solidFill>
                <a:latin typeface="Lato"/>
              </a:rPr>
              <a:t>Maputo </a:t>
            </a:r>
            <a:r>
              <a:rPr lang="en-GB" sz="900" b="0" dirty="0">
                <a:solidFill>
                  <a:srgbClr val="11151A"/>
                </a:solidFill>
                <a:latin typeface="Lato"/>
              </a:rPr>
              <a:t>imports into South Africa come by road and are cleared at </a:t>
            </a:r>
            <a:r>
              <a:rPr lang="en-GB" sz="900" b="0" dirty="0" err="1">
                <a:solidFill>
                  <a:srgbClr val="11151A"/>
                </a:solidFill>
                <a:latin typeface="Lato"/>
              </a:rPr>
              <a:t>Komatipoort</a:t>
            </a:r>
            <a:r>
              <a:rPr lang="en-GB" sz="900" b="0" dirty="0">
                <a:solidFill>
                  <a:srgbClr val="11151A"/>
                </a:solidFill>
                <a:latin typeface="Lato"/>
              </a:rPr>
              <a:t>: down from 0.30bn L in 2022 to 0.09 in 2025.</a:t>
            </a:r>
            <a:endParaRPr sz="900" b="0" dirty="0">
              <a:solidFill>
                <a:srgbClr val="11151A"/>
              </a:solidFill>
              <a:latin typeface="Lato"/>
            </a:endParaRPr>
          </a:p>
          <a:p>
            <a:pPr algn="l"/>
            <a:endParaRPr sz="900" b="0" dirty="0">
              <a:solidFill>
                <a:srgbClr val="11151A"/>
              </a:solidFill>
              <a:latin typeface="Lato"/>
            </a:endParaRPr>
          </a:p>
          <a:p>
            <a:pPr algn="l"/>
            <a:r>
              <a:rPr sz="900" b="1" dirty="0">
                <a:solidFill>
                  <a:srgbClr val="0A2373"/>
                </a:solidFill>
                <a:latin typeface="Lato"/>
              </a:rPr>
              <a:t>Walvis Bay </a:t>
            </a:r>
            <a:r>
              <a:rPr sz="900" b="0" dirty="0">
                <a:solidFill>
                  <a:srgbClr val="11151A"/>
                </a:solidFill>
                <a:latin typeface="Lato"/>
              </a:rPr>
              <a:t>fuel is not recorded entering South Africa through Botswana or Namibia.</a:t>
            </a:r>
          </a:p>
          <a:p>
            <a:pPr algn="l"/>
            <a:endParaRPr sz="900" b="0" dirty="0">
              <a:solidFill>
                <a:srgbClr val="11151A"/>
              </a:solidFill>
              <a:latin typeface="Lato"/>
            </a:endParaRPr>
          </a:p>
          <a:p>
            <a:pPr algn="l"/>
            <a:r>
              <a:rPr sz="900" b="1" dirty="0">
                <a:solidFill>
                  <a:srgbClr val="0A2373"/>
                </a:solidFill>
                <a:latin typeface="Lato"/>
              </a:rPr>
              <a:t>Botswana </a:t>
            </a:r>
            <a:r>
              <a:rPr sz="900" b="0" dirty="0">
                <a:solidFill>
                  <a:srgbClr val="11151A"/>
                </a:solidFill>
                <a:latin typeface="Lato"/>
              </a:rPr>
              <a:t>is buying less from South Africa: exports fell from 1.05bn L to 0.68.</a:t>
            </a:r>
          </a:p>
        </p:txBody>
      </p:sp>
    </p:spTree>
    <p:extLst>
      <p:ext uri="{BB962C8B-B14F-4D97-AF65-F5344CB8AC3E}">
        <p14:creationId xmlns:p14="http://schemas.microsoft.com/office/powerpoint/2010/main" val="1360522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29820-6AD7-45D4-9363-60B3BAF1A46E}"/>
              </a:ext>
            </a:extLst>
          </p:cNvPr>
          <p:cNvSpPr>
            <a:spLocks noGrp="1"/>
          </p:cNvSpPr>
          <p:nvPr>
            <p:ph type="title"/>
          </p:nvPr>
        </p:nvSpPr>
        <p:spPr/>
        <p:txBody>
          <a:bodyPr>
            <a:normAutofit/>
          </a:bodyPr>
          <a:lstStyle/>
          <a:p>
            <a:r>
              <a:rPr>
                <a:solidFill>
                  <a:schemeClr val="dk1"/>
                </a:solidFill>
                <a:latin typeface="Lato"/>
                <a:ea typeface="Lato"/>
                <a:cs typeface="Lato"/>
              </a:rPr>
              <a:t>Durban and Lesedi market sizing and investment issue tree</a:t>
            </a:r>
          </a:p>
        </p:txBody>
      </p:sp>
      <p:sp>
        <p:nvSpPr>
          <p:cNvPr id="3" name="Slide Number Placeholder">
            <a:extLst>
              <a:ext uri="{FF2B5EF4-FFF2-40B4-BE49-F238E27FC236}">
                <a16:creationId xmlns:a16="http://schemas.microsoft.com/office/drawing/2014/main" id="{6A4E33D8-8941-444F-A929-A253CD7660A3}"/>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12</a:t>
            </a:r>
            <a:endParaRPr sz="1100"/>
          </a:p>
        </p:txBody>
      </p:sp>
      <p:sp>
        <p:nvSpPr>
          <p:cNvPr id="8" name="Unified source footer">
            <a:extLst>
              <a:ext uri="{FF2B5EF4-FFF2-40B4-BE49-F238E27FC236}">
                <a16:creationId xmlns:a16="http://schemas.microsoft.com/office/drawing/2014/main" id="{4A247A30-8235-4513-B205-84A25D462858}"/>
              </a:ext>
            </a:extLst>
          </p:cNvPr>
          <p:cNvSpPr>
            <a:spLocks noGrp="1"/>
          </p:cNvSpPr>
          <p:nvPr/>
        </p:nvSpPr>
        <p:spPr>
          <a:xfrm>
            <a:off x="457200" y="6492240"/>
            <a:ext cx="9326880" cy="102977"/>
          </a:xfrm>
          <a:prstGeom prst="rect">
            <a:avLst/>
          </a:prstGeom>
          <a:noFill/>
        </p:spPr>
        <p:txBody>
          <a:bodyPr wrap="square" lIns="0" tIns="0" rIns="0" bIns="0">
            <a:spAutoFit/>
          </a:bodyPr>
          <a:lstStyle/>
          <a:p>
            <a:pPr>
              <a:lnSpc>
                <a:spcPts val="900"/>
              </a:lnSpc>
              <a:spcBef>
                <a:spcPts val="0"/>
              </a:spcBef>
              <a:spcAft>
                <a:spcPts val="0"/>
              </a:spcAft>
              <a:buNone/>
              <a:defRPr sz="600" b="0">
                <a:solidFill>
                  <a:srgbClr val="000000"/>
                </a:solidFill>
                <a:latin typeface="Lato"/>
                <a:ea typeface="Lato"/>
                <a:cs typeface="Lato"/>
              </a:defRPr>
            </a:pPr>
            <a:r>
              <a:rPr lang="en-GB" sz="600"/>
              <a:t>Analytical workbook v02; SARS 2025; district sales 2022 grown to 2025; Transnet Pipelines FY2025. Production is estimated from operators’ reports; capture is illustrative. Shared Durban–Lesedi fuel is counted once. Historical catchments retain their stated years.</a:t>
            </a:r>
            <a:endParaRPr sz="600"/>
          </a:p>
        </p:txBody>
      </p:sp>
      <p:sp>
        <p:nvSpPr>
          <p:cNvPr id="48" name="Strictly Confidential footer">
            <a:extLst>
              <a:ext uri="{FF2B5EF4-FFF2-40B4-BE49-F238E27FC236}">
                <a16:creationId xmlns:a16="http://schemas.microsoft.com/office/drawing/2014/main" id="{6C61FD50-75B5-4875-BAFA-6D41D2E7A1FD}"/>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4" name="Demand panel">
            <a:extLst>
              <a:ext uri="{FF2B5EF4-FFF2-40B4-BE49-F238E27FC236}">
                <a16:creationId xmlns:a16="http://schemas.microsoft.com/office/drawing/2014/main" id="{13D7FB2A-425B-4C88-DAC4-6B5E0F4F15E9}"/>
              </a:ext>
            </a:extLst>
          </p:cNvPr>
          <p:cNvSpPr>
            <a:spLocks noGrp="1"/>
          </p:cNvSpPr>
          <p:nvPr/>
        </p:nvSpPr>
        <p:spPr>
          <a:xfrm>
            <a:off x="355600" y="1549400"/>
            <a:ext cx="2108200" cy="4597400"/>
          </a:xfrm>
          <a:prstGeom prst="rect">
            <a:avLst/>
          </a:prstGeom>
          <a:solidFill>
            <a:srgbClr val="EEF1F6"/>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Supply panel">
            <a:extLst>
              <a:ext uri="{FF2B5EF4-FFF2-40B4-BE49-F238E27FC236}">
                <a16:creationId xmlns:a16="http://schemas.microsoft.com/office/drawing/2014/main" id="{EDF9E6D9-DC05-D64B-93EE-3112FC8385C1}"/>
              </a:ext>
            </a:extLst>
          </p:cNvPr>
          <p:cNvSpPr>
            <a:spLocks noGrp="1"/>
          </p:cNvSpPr>
          <p:nvPr/>
        </p:nvSpPr>
        <p:spPr>
          <a:xfrm>
            <a:off x="2565400" y="1549400"/>
            <a:ext cx="3403600" cy="4597400"/>
          </a:xfrm>
          <a:prstGeom prst="rect">
            <a:avLst/>
          </a:prstGeom>
          <a:solidFill>
            <a:srgbClr val="EEF1F6"/>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Opportunity panel">
            <a:extLst>
              <a:ext uri="{FF2B5EF4-FFF2-40B4-BE49-F238E27FC236}">
                <a16:creationId xmlns:a16="http://schemas.microsoft.com/office/drawing/2014/main" id="{41E361D9-0C89-9050-52FE-9860D18566DF}"/>
              </a:ext>
            </a:extLst>
          </p:cNvPr>
          <p:cNvSpPr>
            <a:spLocks noGrp="1"/>
          </p:cNvSpPr>
          <p:nvPr/>
        </p:nvSpPr>
        <p:spPr>
          <a:xfrm>
            <a:off x="6070600" y="1549400"/>
            <a:ext cx="3060700" cy="4597400"/>
          </a:xfrm>
          <a:prstGeom prst="rect">
            <a:avLst/>
          </a:prstGeom>
          <a:solidFill>
            <a:srgbClr val="EEF1F6"/>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Investment panel">
            <a:extLst>
              <a:ext uri="{FF2B5EF4-FFF2-40B4-BE49-F238E27FC236}">
                <a16:creationId xmlns:a16="http://schemas.microsoft.com/office/drawing/2014/main" id="{7EB7908E-9958-408F-3537-2A89642FDC6D}"/>
              </a:ext>
            </a:extLst>
          </p:cNvPr>
          <p:cNvSpPr>
            <a:spLocks noGrp="1"/>
          </p:cNvSpPr>
          <p:nvPr/>
        </p:nvSpPr>
        <p:spPr>
          <a:xfrm>
            <a:off x="9232900" y="1549400"/>
            <a:ext cx="1981200" cy="4597400"/>
          </a:xfrm>
          <a:prstGeom prst="rect">
            <a:avLst/>
          </a:prstGeom>
          <a:solidFill>
            <a:srgbClr val="EEF1F6"/>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Demand heading">
            <a:extLst>
              <a:ext uri="{FF2B5EF4-FFF2-40B4-BE49-F238E27FC236}">
                <a16:creationId xmlns:a16="http://schemas.microsoft.com/office/drawing/2014/main" id="{5E10CFA9-C012-27D2-B26F-FF5D806DD0C9}"/>
              </a:ext>
            </a:extLst>
          </p:cNvPr>
          <p:cNvSpPr>
            <a:spLocks noGrp="1"/>
          </p:cNvSpPr>
          <p:nvPr/>
        </p:nvSpPr>
        <p:spPr>
          <a:xfrm>
            <a:off x="457200" y="1638300"/>
            <a:ext cx="1905000" cy="241300"/>
          </a:xfrm>
          <a:prstGeom prst="rect">
            <a:avLst/>
          </a:prstGeom>
          <a:noFill/>
        </p:spPr>
        <p:txBody>
          <a:bodyPr vert="horz" wrap="square" lIns="0" tIns="0" rIns="0" bIns="0">
            <a:noAutofit/>
          </a:bodyPr>
          <a:lstStyle/>
          <a:p>
            <a:pPr>
              <a:spcAft>
                <a:spcPts val="200"/>
              </a:spcAft>
              <a:buNone/>
            </a:pPr>
            <a:r>
              <a:rPr sz="1200" b="1">
                <a:solidFill>
                  <a:schemeClr val="accent1"/>
                </a:solidFill>
                <a:latin typeface="Lato"/>
                <a:ea typeface="Lato"/>
                <a:cs typeface="Lato"/>
              </a:rPr>
              <a:t>1  NATIONAL DEMAND</a:t>
            </a:r>
          </a:p>
        </p:txBody>
      </p:sp>
      <p:sp>
        <p:nvSpPr>
          <p:cNvPr id="14" name="System heading">
            <a:extLst>
              <a:ext uri="{FF2B5EF4-FFF2-40B4-BE49-F238E27FC236}">
                <a16:creationId xmlns:a16="http://schemas.microsoft.com/office/drawing/2014/main" id="{D1B803F8-148F-F52B-6733-F8C59DCFA18E}"/>
              </a:ext>
            </a:extLst>
          </p:cNvPr>
          <p:cNvSpPr>
            <a:spLocks noGrp="1"/>
          </p:cNvSpPr>
          <p:nvPr/>
        </p:nvSpPr>
        <p:spPr>
          <a:xfrm>
            <a:off x="2667000" y="1638300"/>
            <a:ext cx="3200400" cy="241300"/>
          </a:xfrm>
          <a:prstGeom prst="rect">
            <a:avLst/>
          </a:prstGeom>
          <a:noFill/>
        </p:spPr>
        <p:txBody>
          <a:bodyPr vert="horz" wrap="square" lIns="0" tIns="0" rIns="0" bIns="0">
            <a:noAutofit/>
          </a:bodyPr>
          <a:lstStyle/>
          <a:p>
            <a:pPr>
              <a:spcAft>
                <a:spcPts val="200"/>
              </a:spcAft>
              <a:buNone/>
            </a:pPr>
            <a:r>
              <a:rPr sz="1200" b="1">
                <a:solidFill>
                  <a:schemeClr val="accent1"/>
                </a:solidFill>
                <a:latin typeface="Lato"/>
                <a:ea typeface="Lato"/>
                <a:cs typeface="Lato"/>
              </a:rPr>
              <a:t>2  SUPPLY AND DELIVERY</a:t>
            </a:r>
          </a:p>
        </p:txBody>
      </p:sp>
      <p:sp>
        <p:nvSpPr>
          <p:cNvPr id="15" name="Terminal heading">
            <a:extLst>
              <a:ext uri="{FF2B5EF4-FFF2-40B4-BE49-F238E27FC236}">
                <a16:creationId xmlns:a16="http://schemas.microsoft.com/office/drawing/2014/main" id="{EA11C542-C5C8-C25B-C917-5395829365FA}"/>
              </a:ext>
            </a:extLst>
          </p:cNvPr>
          <p:cNvSpPr>
            <a:spLocks noGrp="1"/>
          </p:cNvSpPr>
          <p:nvPr/>
        </p:nvSpPr>
        <p:spPr>
          <a:xfrm>
            <a:off x="6172200" y="1638300"/>
            <a:ext cx="2857500" cy="241300"/>
          </a:xfrm>
          <a:prstGeom prst="rect">
            <a:avLst/>
          </a:prstGeom>
          <a:noFill/>
        </p:spPr>
        <p:txBody>
          <a:bodyPr vert="horz" wrap="square" lIns="0" tIns="0" rIns="0" bIns="0">
            <a:noAutofit/>
          </a:bodyPr>
          <a:lstStyle/>
          <a:p>
            <a:pPr>
              <a:spcAft>
                <a:spcPts val="200"/>
              </a:spcAft>
              <a:buNone/>
            </a:pPr>
            <a:r>
              <a:rPr sz="1200" b="1">
                <a:solidFill>
                  <a:schemeClr val="accent1"/>
                </a:solidFill>
                <a:latin typeface="Lato"/>
                <a:ea typeface="Lato"/>
                <a:cs typeface="Lato"/>
              </a:rPr>
              <a:t>3  VOPAK OPPORTUNITY</a:t>
            </a:r>
          </a:p>
        </p:txBody>
      </p:sp>
      <p:sp>
        <p:nvSpPr>
          <p:cNvPr id="16" name="Investment heading">
            <a:extLst>
              <a:ext uri="{FF2B5EF4-FFF2-40B4-BE49-F238E27FC236}">
                <a16:creationId xmlns:a16="http://schemas.microsoft.com/office/drawing/2014/main" id="{788AB381-C5D3-5D15-F133-8717DE0477FB}"/>
              </a:ext>
            </a:extLst>
          </p:cNvPr>
          <p:cNvSpPr>
            <a:spLocks noGrp="1"/>
          </p:cNvSpPr>
          <p:nvPr/>
        </p:nvSpPr>
        <p:spPr>
          <a:xfrm>
            <a:off x="9334500" y="1638300"/>
            <a:ext cx="1778000" cy="241300"/>
          </a:xfrm>
          <a:prstGeom prst="rect">
            <a:avLst/>
          </a:prstGeom>
          <a:noFill/>
        </p:spPr>
        <p:txBody>
          <a:bodyPr vert="horz" wrap="square" lIns="0" tIns="0" rIns="0" bIns="0">
            <a:noAutofit/>
          </a:bodyPr>
          <a:lstStyle/>
          <a:p>
            <a:pPr>
              <a:spcAft>
                <a:spcPts val="200"/>
              </a:spcAft>
              <a:buNone/>
            </a:pPr>
            <a:r>
              <a:rPr sz="1200" b="1">
                <a:solidFill>
                  <a:schemeClr val="accent1"/>
                </a:solidFill>
                <a:latin typeface="Lato"/>
                <a:ea typeface="Lato"/>
                <a:cs typeface="Lato"/>
              </a:rPr>
              <a:t>4  INVESTMENT</a:t>
            </a:r>
          </a:p>
        </p:txBody>
      </p:sp>
      <p:cxnSp>
        <p:nvCxnSpPr>
          <p:cNvPr id="108" name="Column heading rule"/>
          <p:cNvCxnSpPr/>
          <p:nvPr/>
        </p:nvCxnSpPr>
        <p:spPr>
          <a:xfrm>
            <a:off x="457200" y="1917700"/>
            <a:ext cx="19050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09" name="Column heading rule"/>
          <p:cNvCxnSpPr/>
          <p:nvPr/>
        </p:nvCxnSpPr>
        <p:spPr>
          <a:xfrm>
            <a:off x="2667000" y="1917700"/>
            <a:ext cx="32004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10" name="Column heading rule"/>
          <p:cNvCxnSpPr/>
          <p:nvPr/>
        </p:nvCxnSpPr>
        <p:spPr>
          <a:xfrm>
            <a:off x="6172200" y="1917700"/>
            <a:ext cx="28575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11" name="Column heading rule"/>
          <p:cNvCxnSpPr/>
          <p:nvPr/>
        </p:nvCxnSpPr>
        <p:spPr>
          <a:xfrm>
            <a:off x="9334500" y="1917700"/>
            <a:ext cx="17780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21" name="National market">
            <a:extLst>
              <a:ext uri="{FF2B5EF4-FFF2-40B4-BE49-F238E27FC236}">
                <a16:creationId xmlns:a16="http://schemas.microsoft.com/office/drawing/2014/main" id="{1F4039F1-5645-86DE-916D-FF2ABE7750B0}"/>
              </a:ext>
            </a:extLst>
          </p:cNvPr>
          <p:cNvSpPr>
            <a:spLocks noGrp="1"/>
          </p:cNvSpPr>
          <p:nvPr/>
        </p:nvSpPr>
        <p:spPr>
          <a:xfrm>
            <a:off x="457200" y="2006600"/>
            <a:ext cx="1905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lang="fr-FR" sz="1050" b="1">
                <a:solidFill>
                  <a:schemeClr val="accent1"/>
                </a:solidFill>
                <a:latin typeface="Lato"/>
                <a:ea typeface="Lato"/>
                <a:cs typeface="Lato"/>
              </a:rPr>
              <a:t>National consumption
2025 estimate
25.4bn litres</a:t>
            </a:r>
            <a:endParaRPr sz="1050">
              <a:solidFill>
                <a:schemeClr val="dk1"/>
              </a:solidFill>
              <a:latin typeface="Lato"/>
              <a:ea typeface="Lato"/>
              <a:cs typeface="Lato"/>
            </a:endParaRPr>
          </a:p>
        </p:txBody>
      </p:sp>
      <p:sp>
        <p:nvSpPr>
          <p:cNvPr id="22" name="Product demand">
            <a:extLst>
              <a:ext uri="{FF2B5EF4-FFF2-40B4-BE49-F238E27FC236}">
                <a16:creationId xmlns:a16="http://schemas.microsoft.com/office/drawing/2014/main" id="{FC0C19CA-8D25-70AE-0BD5-852428AD766E}"/>
              </a:ext>
            </a:extLst>
          </p:cNvPr>
          <p:cNvSpPr>
            <a:spLocks noGrp="1"/>
          </p:cNvSpPr>
          <p:nvPr/>
        </p:nvSpPr>
        <p:spPr>
          <a:xfrm>
            <a:off x="457200" y="3073400"/>
            <a:ext cx="1905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lang="en-GB" sz="1050" b="1">
                <a:solidFill>
                  <a:schemeClr val="accent1"/>
                </a:solidFill>
                <a:latin typeface="Lato"/>
                <a:ea typeface="Lato"/>
                <a:cs typeface="Lato"/>
              </a:rPr>
              <a:t>Demand by product
Petrol 9.3bn L
Diesel 16.1bn L</a:t>
            </a:r>
            <a:endParaRPr sz="1050">
              <a:solidFill>
                <a:schemeClr val="dk1"/>
              </a:solidFill>
              <a:latin typeface="Lato"/>
              <a:ea typeface="Lato"/>
              <a:cs typeface="Lato"/>
            </a:endParaRPr>
          </a:p>
        </p:txBody>
      </p:sp>
      <p:sp>
        <p:nvSpPr>
          <p:cNvPr id="23" name="Sector demand">
            <a:extLst>
              <a:ext uri="{FF2B5EF4-FFF2-40B4-BE49-F238E27FC236}">
                <a16:creationId xmlns:a16="http://schemas.microsoft.com/office/drawing/2014/main" id="{0F861E75-7AA1-B3FD-4B6B-FE7B0ECE42C9}"/>
              </a:ext>
            </a:extLst>
          </p:cNvPr>
          <p:cNvSpPr>
            <a:spLocks noGrp="1"/>
          </p:cNvSpPr>
          <p:nvPr/>
        </p:nvSpPr>
        <p:spPr>
          <a:xfrm>
            <a:off x="457200" y="4140200"/>
            <a:ext cx="1905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lang="en-GB" sz="1050" b="1">
                <a:solidFill>
                  <a:schemeClr val="accent1"/>
                </a:solidFill>
                <a:latin typeface="Lato"/>
                <a:ea typeface="Lato"/>
                <a:cs typeface="Lato"/>
              </a:rPr>
              <a:t>Demand by use
Road, mining, agriculture
Manufacturing and power</a:t>
            </a:r>
            <a:endParaRPr sz="1050">
              <a:solidFill>
                <a:schemeClr val="dk1"/>
              </a:solidFill>
              <a:latin typeface="Lato"/>
              <a:ea typeface="Lato"/>
              <a:cs typeface="Lato"/>
            </a:endParaRPr>
          </a:p>
        </p:txBody>
      </p:sp>
      <p:sp>
        <p:nvSpPr>
          <p:cNvPr id="24" name="Demand parameters">
            <a:extLst>
              <a:ext uri="{FF2B5EF4-FFF2-40B4-BE49-F238E27FC236}">
                <a16:creationId xmlns:a16="http://schemas.microsoft.com/office/drawing/2014/main" id="{79B1AEA4-0900-4A1F-2A44-2F05809E06FC}"/>
              </a:ext>
            </a:extLst>
          </p:cNvPr>
          <p:cNvSpPr>
            <a:spLocks noGrp="1"/>
          </p:cNvSpPr>
          <p:nvPr/>
        </p:nvSpPr>
        <p:spPr>
          <a:xfrm>
            <a:off x="457200" y="5207000"/>
            <a:ext cx="1905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Demand parameters</a:t>
            </a:r>
          </a:p>
          <a:p>
            <a:pPr>
              <a:spcAft>
                <a:spcPts val="200"/>
              </a:spcAft>
              <a:buNone/>
            </a:pPr>
            <a:r>
              <a:rPr sz="1050">
                <a:solidFill>
                  <a:schemeClr val="dk1"/>
                </a:solidFill>
                <a:latin typeface="Lato"/>
                <a:ea typeface="Lato"/>
                <a:cs typeface="Lato"/>
              </a:rPr>
              <a:t>GDP and sectors</a:t>
            </a:r>
          </a:p>
          <a:p>
            <a:pPr>
              <a:spcAft>
                <a:spcPts val="200"/>
              </a:spcAft>
              <a:buNone/>
            </a:pPr>
            <a:r>
              <a:rPr sz="1050">
                <a:solidFill>
                  <a:schemeClr val="dk1"/>
                </a:solidFill>
                <a:latin typeface="Lato"/>
                <a:ea typeface="Lato"/>
                <a:cs typeface="Lato"/>
              </a:rPr>
              <a:t>EVs, fleet, efficiency</a:t>
            </a:r>
          </a:p>
          <a:p>
            <a:pPr>
              <a:spcAft>
                <a:spcPts val="200"/>
              </a:spcAft>
              <a:buNone/>
            </a:pPr>
            <a:r>
              <a:rPr sz="1050">
                <a:solidFill>
                  <a:schemeClr val="dk1"/>
                </a:solidFill>
                <a:latin typeface="Lato"/>
                <a:ea typeface="Lato"/>
                <a:cs typeface="Lato"/>
              </a:rPr>
              <a:t>Freight, prices, power</a:t>
            </a:r>
          </a:p>
        </p:txBody>
      </p:sp>
      <p:sp>
        <p:nvSpPr>
          <p:cNvPr id="25" name="Imports">
            <a:extLst>
              <a:ext uri="{FF2B5EF4-FFF2-40B4-BE49-F238E27FC236}">
                <a16:creationId xmlns:a16="http://schemas.microsoft.com/office/drawing/2014/main" id="{724C6B42-EF01-8CC4-3352-533547797903}"/>
              </a:ext>
            </a:extLst>
          </p:cNvPr>
          <p:cNvSpPr>
            <a:spLocks noGrp="1"/>
          </p:cNvSpPr>
          <p:nvPr/>
        </p:nvSpPr>
        <p:spPr>
          <a:xfrm>
            <a:off x="2667000" y="2006600"/>
            <a:ext cx="1524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Gross imports, 2025</a:t>
            </a:r>
          </a:p>
          <a:p>
            <a:pPr>
              <a:spcAft>
                <a:spcPts val="200"/>
              </a:spcAft>
              <a:buNone/>
            </a:pPr>
            <a:r>
              <a:rPr sz="1050">
                <a:solidFill>
                  <a:schemeClr val="dk1"/>
                </a:solidFill>
                <a:latin typeface="Lato"/>
                <a:ea typeface="Lato"/>
                <a:cs typeface="Lato"/>
              </a:rPr>
              <a:t>Petrol 4.45B L</a:t>
            </a:r>
          </a:p>
          <a:p>
            <a:pPr>
              <a:spcAft>
                <a:spcPts val="200"/>
              </a:spcAft>
              <a:buNone/>
            </a:pPr>
            <a:r>
              <a:rPr sz="1050">
                <a:solidFill>
                  <a:schemeClr val="dk1"/>
                </a:solidFill>
                <a:latin typeface="Lato"/>
                <a:ea typeface="Lato"/>
                <a:cs typeface="Lato"/>
              </a:rPr>
              <a:t>Diesel 12.25B L</a:t>
            </a:r>
          </a:p>
        </p:txBody>
      </p:sp>
      <p:sp>
        <p:nvSpPr>
          <p:cNvPr id="26" name="Production">
            <a:extLst>
              <a:ext uri="{FF2B5EF4-FFF2-40B4-BE49-F238E27FC236}">
                <a16:creationId xmlns:a16="http://schemas.microsoft.com/office/drawing/2014/main" id="{0F3927D4-99CC-B20A-F042-9B8286A9C86F}"/>
              </a:ext>
            </a:extLst>
          </p:cNvPr>
          <p:cNvSpPr>
            <a:spLocks noGrp="1"/>
          </p:cNvSpPr>
          <p:nvPr/>
        </p:nvSpPr>
        <p:spPr>
          <a:xfrm>
            <a:off x="4343400" y="2006600"/>
            <a:ext cx="1524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lang="en-GB" sz="1050" b="1">
                <a:solidFill>
                  <a:schemeClr val="accent1"/>
                </a:solidFill>
                <a:latin typeface="Lato"/>
                <a:ea typeface="Lato"/>
                <a:cs typeface="Lato"/>
              </a:rPr>
              <a:t>Domestic production
10.2bn L in 2025
Operators’ reports</a:t>
            </a:r>
            <a:endParaRPr sz="1050">
              <a:solidFill>
                <a:schemeClr val="dk1"/>
              </a:solidFill>
              <a:latin typeface="Lato"/>
              <a:ea typeface="Lato"/>
              <a:cs typeface="Lato"/>
            </a:endParaRPr>
          </a:p>
        </p:txBody>
      </p:sp>
      <p:sp>
        <p:nvSpPr>
          <p:cNvPr id="27" name="Ports">
            <a:extLst>
              <a:ext uri="{FF2B5EF4-FFF2-40B4-BE49-F238E27FC236}">
                <a16:creationId xmlns:a16="http://schemas.microsoft.com/office/drawing/2014/main" id="{2B5A0F96-8E3F-071A-F8DA-79BFBC4EB29F}"/>
              </a:ext>
            </a:extLst>
          </p:cNvPr>
          <p:cNvSpPr>
            <a:spLocks noGrp="1"/>
          </p:cNvSpPr>
          <p:nvPr/>
        </p:nvSpPr>
        <p:spPr>
          <a:xfrm>
            <a:off x="2667000" y="3073400"/>
            <a:ext cx="1524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lang="en-GB" sz="1050" b="1">
                <a:solidFill>
                  <a:schemeClr val="accent1"/>
                </a:solidFill>
                <a:latin typeface="Lato"/>
                <a:ea typeface="Lato"/>
                <a:cs typeface="Lato"/>
              </a:rPr>
              <a:t>Ports and alternatives
Durban, Matola
Assess Walvis Bay</a:t>
            </a:r>
            <a:endParaRPr sz="1050">
              <a:solidFill>
                <a:schemeClr val="dk1"/>
              </a:solidFill>
              <a:latin typeface="Lato"/>
              <a:ea typeface="Lato"/>
              <a:cs typeface="Lato"/>
            </a:endParaRPr>
          </a:p>
        </p:txBody>
      </p:sp>
      <p:sp>
        <p:nvSpPr>
          <p:cNvPr id="28" name="Inland">
            <a:extLst>
              <a:ext uri="{FF2B5EF4-FFF2-40B4-BE49-F238E27FC236}">
                <a16:creationId xmlns:a16="http://schemas.microsoft.com/office/drawing/2014/main" id="{6DE5F7CC-0E48-CEF6-8887-230FDB8586C9}"/>
              </a:ext>
            </a:extLst>
          </p:cNvPr>
          <p:cNvSpPr>
            <a:spLocks noGrp="1"/>
          </p:cNvSpPr>
          <p:nvPr/>
        </p:nvSpPr>
        <p:spPr>
          <a:xfrm>
            <a:off x="4343400" y="3073400"/>
            <a:ext cx="1524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Inland delivery</a:t>
            </a:r>
          </a:p>
          <a:p>
            <a:pPr>
              <a:spcAft>
                <a:spcPts val="200"/>
              </a:spcAft>
              <a:buNone/>
            </a:pPr>
            <a:r>
              <a:rPr sz="1050">
                <a:solidFill>
                  <a:schemeClr val="dk1"/>
                </a:solidFill>
                <a:latin typeface="Lato"/>
                <a:ea typeface="Lato"/>
                <a:cs typeface="Lato"/>
              </a:rPr>
              <a:t>NMPP trunk line</a:t>
            </a:r>
          </a:p>
          <a:p>
            <a:pPr>
              <a:spcAft>
                <a:spcPts val="200"/>
              </a:spcAft>
              <a:buNone/>
            </a:pPr>
            <a:r>
              <a:rPr sz="1050">
                <a:solidFill>
                  <a:schemeClr val="dk1"/>
                </a:solidFill>
                <a:latin typeface="Lato"/>
                <a:ea typeface="Lato"/>
                <a:cs typeface="Lato"/>
              </a:rPr>
              <a:t>Road and rail</a:t>
            </a:r>
          </a:p>
        </p:txBody>
      </p:sp>
      <p:sp>
        <p:nvSpPr>
          <p:cNvPr id="29" name="Coastal demand">
            <a:extLst>
              <a:ext uri="{FF2B5EF4-FFF2-40B4-BE49-F238E27FC236}">
                <a16:creationId xmlns:a16="http://schemas.microsoft.com/office/drawing/2014/main" id="{57507AA1-D9BB-C5C3-2D0D-F57B42E1B24B}"/>
              </a:ext>
            </a:extLst>
          </p:cNvPr>
          <p:cNvSpPr>
            <a:spLocks noGrp="1"/>
          </p:cNvSpPr>
          <p:nvPr/>
        </p:nvSpPr>
        <p:spPr>
          <a:xfrm>
            <a:off x="2667000" y="4140200"/>
            <a:ext cx="1524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Coastal demand</a:t>
            </a:r>
          </a:p>
          <a:p>
            <a:pPr>
              <a:spcAft>
                <a:spcPts val="200"/>
              </a:spcAft>
              <a:buNone/>
            </a:pPr>
            <a:r>
              <a:rPr sz="1050">
                <a:solidFill>
                  <a:schemeClr val="dk1"/>
                </a:solidFill>
                <a:latin typeface="Lato"/>
                <a:ea typeface="Lato"/>
                <a:cs typeface="Lato"/>
              </a:rPr>
              <a:t>KZN, WC, EC</a:t>
            </a:r>
          </a:p>
          <a:p>
            <a:pPr>
              <a:spcAft>
                <a:spcPts val="200"/>
              </a:spcAft>
              <a:buNone/>
            </a:pPr>
            <a:r>
              <a:rPr sz="1050">
                <a:solidFill>
                  <a:schemeClr val="dk1"/>
                </a:solidFill>
                <a:latin typeface="Lato"/>
                <a:ea typeface="Lato"/>
                <a:cs typeface="Lato"/>
              </a:rPr>
              <a:t>Port-adjacent markets</a:t>
            </a:r>
          </a:p>
        </p:txBody>
      </p:sp>
      <p:sp>
        <p:nvSpPr>
          <p:cNvPr id="30" name="Inland demand">
            <a:extLst>
              <a:ext uri="{FF2B5EF4-FFF2-40B4-BE49-F238E27FC236}">
                <a16:creationId xmlns:a16="http://schemas.microsoft.com/office/drawing/2014/main" id="{17D23A6F-391A-B4D0-0390-170FB56988A5}"/>
              </a:ext>
            </a:extLst>
          </p:cNvPr>
          <p:cNvSpPr>
            <a:spLocks noGrp="1"/>
          </p:cNvSpPr>
          <p:nvPr/>
        </p:nvSpPr>
        <p:spPr>
          <a:xfrm>
            <a:off x="4343400" y="4140200"/>
            <a:ext cx="1524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Inland demand</a:t>
            </a:r>
          </a:p>
          <a:p>
            <a:pPr>
              <a:spcAft>
                <a:spcPts val="200"/>
              </a:spcAft>
              <a:buNone/>
            </a:pPr>
            <a:r>
              <a:rPr sz="1050">
                <a:solidFill>
                  <a:schemeClr val="dk1"/>
                </a:solidFill>
                <a:latin typeface="Lato"/>
                <a:ea typeface="Lato"/>
                <a:cs typeface="Lato"/>
              </a:rPr>
              <a:t>Gauteng and interior</a:t>
            </a:r>
          </a:p>
          <a:p>
            <a:pPr>
              <a:spcAft>
                <a:spcPts val="200"/>
              </a:spcAft>
              <a:buNone/>
            </a:pPr>
            <a:r>
              <a:rPr sz="1050">
                <a:solidFill>
                  <a:schemeClr val="dk1"/>
                </a:solidFill>
                <a:latin typeface="Lato"/>
                <a:ea typeface="Lato"/>
                <a:cs typeface="Lato"/>
              </a:rPr>
              <a:t>Six inland provinces</a:t>
            </a:r>
          </a:p>
        </p:txBody>
      </p:sp>
      <p:sp>
        <p:nvSpPr>
          <p:cNvPr id="31" name="Supply and route parameters">
            <a:extLst>
              <a:ext uri="{FF2B5EF4-FFF2-40B4-BE49-F238E27FC236}">
                <a16:creationId xmlns:a16="http://schemas.microsoft.com/office/drawing/2014/main" id="{2AB4CDEB-D76D-6E84-27BA-C508DCB5FD97}"/>
              </a:ext>
            </a:extLst>
          </p:cNvPr>
          <p:cNvSpPr>
            <a:spLocks noGrp="1"/>
          </p:cNvSpPr>
          <p:nvPr/>
        </p:nvSpPr>
        <p:spPr>
          <a:xfrm>
            <a:off x="2667000" y="5207000"/>
            <a:ext cx="32004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Supply and route parameters</a:t>
            </a:r>
          </a:p>
          <a:p>
            <a:pPr>
              <a:spcAft>
                <a:spcPts val="200"/>
              </a:spcAft>
              <a:buNone/>
            </a:pPr>
            <a:r>
              <a:rPr sz="1050">
                <a:solidFill>
                  <a:schemeClr val="dk1"/>
                </a:solidFill>
                <a:latin typeface="Lato"/>
                <a:ea typeface="Lato"/>
                <a:cs typeface="Lato"/>
              </a:rPr>
              <a:t>Refinery closures, restarts, gas</a:t>
            </a:r>
          </a:p>
          <a:p>
            <a:pPr>
              <a:spcAft>
                <a:spcPts val="200"/>
              </a:spcAft>
              <a:buNone/>
            </a:pPr>
            <a:r>
              <a:rPr sz="1050">
                <a:solidFill>
                  <a:schemeClr val="dk1"/>
                </a:solidFill>
                <a:latin typeface="Lato"/>
                <a:ea typeface="Lato"/>
                <a:cs typeface="Lato"/>
              </a:rPr>
              <a:t>Delivered cost, routes, contracts</a:t>
            </a:r>
          </a:p>
          <a:p>
            <a:pPr>
              <a:spcAft>
                <a:spcPts val="200"/>
              </a:spcAft>
              <a:buNone/>
            </a:pPr>
            <a:r>
              <a:rPr sz="1050">
                <a:solidFill>
                  <a:schemeClr val="dk1"/>
                </a:solidFill>
                <a:latin typeface="Lato"/>
                <a:ea typeface="Lato"/>
                <a:cs typeface="Lato"/>
              </a:rPr>
              <a:t>Port, pipeline, rail capacity</a:t>
            </a:r>
          </a:p>
        </p:txBody>
      </p:sp>
      <p:sp>
        <p:nvSpPr>
          <p:cNvPr id="32" name="Market sizing">
            <a:extLst>
              <a:ext uri="{FF2B5EF4-FFF2-40B4-BE49-F238E27FC236}">
                <a16:creationId xmlns:a16="http://schemas.microsoft.com/office/drawing/2014/main" id="{91CBF5AA-AFA2-4C43-CD42-91247C5EBFB1}"/>
              </a:ext>
            </a:extLst>
          </p:cNvPr>
          <p:cNvSpPr>
            <a:spLocks noGrp="1"/>
          </p:cNvSpPr>
          <p:nvPr/>
        </p:nvSpPr>
        <p:spPr>
          <a:xfrm>
            <a:off x="6172200" y="2006600"/>
            <a:ext cx="28575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Market context</a:t>
            </a:r>
          </a:p>
          <a:p>
            <a:pPr>
              <a:spcAft>
                <a:spcPts val="200"/>
              </a:spcAft>
              <a:buNone/>
            </a:pPr>
            <a:r>
              <a:rPr sz="1050">
                <a:solidFill>
                  <a:schemeClr val="dk1"/>
                </a:solidFill>
                <a:latin typeface="Lato"/>
                <a:ea typeface="Lato"/>
                <a:cs typeface="Lato"/>
              </a:rPr>
              <a:t>2025 Durban customs 13.16B L</a:t>
            </a:r>
          </a:p>
          <a:p>
            <a:pPr>
              <a:spcAft>
                <a:spcPts val="200"/>
              </a:spcAft>
              <a:buNone/>
            </a:pPr>
            <a:r>
              <a:rPr sz="1050">
                <a:solidFill>
                  <a:schemeClr val="dk1"/>
                </a:solidFill>
                <a:latin typeface="Lato"/>
                <a:ea typeface="Lato"/>
                <a:cs typeface="Lato"/>
              </a:rPr>
              <a:t>Catchments and gateway overlap</a:t>
            </a:r>
          </a:p>
        </p:txBody>
      </p:sp>
      <p:sp>
        <p:nvSpPr>
          <p:cNvPr id="33" name="Durban opportunity">
            <a:extLst>
              <a:ext uri="{FF2B5EF4-FFF2-40B4-BE49-F238E27FC236}">
                <a16:creationId xmlns:a16="http://schemas.microsoft.com/office/drawing/2014/main" id="{AD85D3EA-9660-11AF-4D62-53DF642A83A9}"/>
              </a:ext>
            </a:extLst>
          </p:cNvPr>
          <p:cNvSpPr>
            <a:spLocks noGrp="1"/>
          </p:cNvSpPr>
          <p:nvPr/>
        </p:nvSpPr>
        <p:spPr>
          <a:xfrm>
            <a:off x="6172200" y="3073400"/>
            <a:ext cx="13716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Durban context</a:t>
            </a:r>
          </a:p>
          <a:p>
            <a:pPr>
              <a:spcAft>
                <a:spcPts val="200"/>
              </a:spcAft>
              <a:buNone/>
            </a:pPr>
            <a:r>
              <a:rPr sz="1050">
                <a:solidFill>
                  <a:schemeClr val="dk1"/>
                </a:solidFill>
                <a:latin typeface="Lato"/>
                <a:ea typeface="Lato"/>
                <a:cs typeface="Lato"/>
              </a:rPr>
              <a:t>Imports 13.16B L</a:t>
            </a:r>
          </a:p>
          <a:p>
            <a:pPr>
              <a:spcAft>
                <a:spcPts val="200"/>
              </a:spcAft>
              <a:buNone/>
            </a:pPr>
            <a:r>
              <a:rPr lang="en-ZA" sz="1050">
                <a:solidFill>
                  <a:schemeClr val="dk1"/>
                </a:solidFill>
                <a:latin typeface="Lato"/>
                <a:ea typeface="Lato"/>
                <a:cs typeface="Lato"/>
              </a:rPr>
              <a:t>KZN need 5.04B L</a:t>
            </a:r>
            <a:endParaRPr sz="1050">
              <a:solidFill>
                <a:schemeClr val="dk1"/>
              </a:solidFill>
              <a:latin typeface="Lato"/>
              <a:ea typeface="Lato"/>
              <a:cs typeface="Lato"/>
            </a:endParaRPr>
          </a:p>
        </p:txBody>
      </p:sp>
      <p:sp>
        <p:nvSpPr>
          <p:cNvPr id="34" name="Lesedi opportunity">
            <a:extLst>
              <a:ext uri="{FF2B5EF4-FFF2-40B4-BE49-F238E27FC236}">
                <a16:creationId xmlns:a16="http://schemas.microsoft.com/office/drawing/2014/main" id="{63890191-72E5-0DCF-2859-0532EF4E4C33}"/>
              </a:ext>
            </a:extLst>
          </p:cNvPr>
          <p:cNvSpPr>
            <a:spLocks noGrp="1"/>
          </p:cNvSpPr>
          <p:nvPr/>
        </p:nvSpPr>
        <p:spPr>
          <a:xfrm>
            <a:off x="7658100" y="3073400"/>
            <a:ext cx="13716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Lesedi catchments</a:t>
            </a:r>
          </a:p>
          <a:p>
            <a:pPr>
              <a:spcAft>
                <a:spcPts val="200"/>
              </a:spcAft>
              <a:buNone/>
            </a:pPr>
            <a:r>
              <a:rPr lang="en-ZA" sz="1050">
                <a:solidFill>
                  <a:schemeClr val="dk1"/>
                </a:solidFill>
                <a:latin typeface="Lato"/>
                <a:ea typeface="Lato"/>
                <a:cs typeface="Lato"/>
              </a:rPr>
              <a:t>Inland 13.17B L</a:t>
            </a:r>
            <a:endParaRPr sz="1050">
              <a:solidFill>
                <a:schemeClr val="dk1"/>
              </a:solidFill>
              <a:latin typeface="Lato"/>
              <a:ea typeface="Lato"/>
              <a:cs typeface="Lato"/>
            </a:endParaRPr>
          </a:p>
          <a:p>
            <a:pPr>
              <a:spcAft>
                <a:spcPts val="200"/>
              </a:spcAft>
              <a:buNone/>
            </a:pPr>
            <a:r>
              <a:rPr lang="en-ZA" sz="1050">
                <a:solidFill>
                  <a:schemeClr val="dk1"/>
                </a:solidFill>
                <a:latin typeface="Lato"/>
                <a:ea typeface="Lato"/>
                <a:cs typeface="Lato"/>
              </a:rPr>
              <a:t>Net need 6.85B L</a:t>
            </a:r>
            <a:endParaRPr sz="1050">
              <a:solidFill>
                <a:schemeClr val="dk1"/>
              </a:solidFill>
              <a:latin typeface="Lato"/>
              <a:ea typeface="Lato"/>
              <a:cs typeface="Lato"/>
            </a:endParaRPr>
          </a:p>
        </p:txBody>
      </p:sp>
      <p:sp>
        <p:nvSpPr>
          <p:cNvPr id="35" name="Share">
            <a:extLst>
              <a:ext uri="{FF2B5EF4-FFF2-40B4-BE49-F238E27FC236}">
                <a16:creationId xmlns:a16="http://schemas.microsoft.com/office/drawing/2014/main" id="{824CBCA9-E304-3B46-C99C-02F33E9F9976}"/>
              </a:ext>
            </a:extLst>
          </p:cNvPr>
          <p:cNvSpPr>
            <a:spLocks noGrp="1"/>
          </p:cNvSpPr>
          <p:nvPr/>
        </p:nvSpPr>
        <p:spPr>
          <a:xfrm>
            <a:off x="6172200" y="4140200"/>
            <a:ext cx="28575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Conditional base capture</a:t>
            </a:r>
          </a:p>
          <a:p>
            <a:pPr>
              <a:spcAft>
                <a:spcPts val="200"/>
              </a:spcAft>
              <a:buNone/>
            </a:pPr>
            <a:r>
              <a:rPr lang="en-ZA" sz="1050">
                <a:solidFill>
                  <a:schemeClr val="dk1"/>
                </a:solidFill>
                <a:latin typeface="Lato"/>
                <a:ea typeface="Lato"/>
                <a:cs typeface="Lato"/>
              </a:rPr>
              <a:t>Total 2.38B L: Durban 1.01, Lesedi 1.37</a:t>
            </a:r>
            <a:endParaRPr sz="1050">
              <a:solidFill>
                <a:schemeClr val="dk1"/>
              </a:solidFill>
              <a:latin typeface="Lato"/>
              <a:ea typeface="Lato"/>
              <a:cs typeface="Lato"/>
            </a:endParaRPr>
          </a:p>
          <a:p>
            <a:pPr>
              <a:spcAft>
                <a:spcPts val="200"/>
              </a:spcAft>
              <a:buNone/>
            </a:pPr>
            <a:r>
              <a:rPr lang="en-ZA" sz="1050">
                <a:solidFill>
                  <a:schemeClr val="dk1"/>
                </a:solidFill>
                <a:latin typeface="Lato"/>
                <a:ea typeface="Lato"/>
                <a:cs typeface="Lato"/>
              </a:rPr>
              <a:t>20% of import requirement</a:t>
            </a:r>
            <a:endParaRPr sz="1050">
              <a:solidFill>
                <a:schemeClr val="dk1"/>
              </a:solidFill>
              <a:latin typeface="Lato"/>
              <a:ea typeface="Lato"/>
              <a:cs typeface="Lato"/>
            </a:endParaRPr>
          </a:p>
        </p:txBody>
      </p:sp>
      <p:sp>
        <p:nvSpPr>
          <p:cNvPr id="36" name="Headroom">
            <a:extLst>
              <a:ext uri="{FF2B5EF4-FFF2-40B4-BE49-F238E27FC236}">
                <a16:creationId xmlns:a16="http://schemas.microsoft.com/office/drawing/2014/main" id="{05E0AD0B-A792-4BDD-1EB7-B01AECA4226C}"/>
              </a:ext>
            </a:extLst>
          </p:cNvPr>
          <p:cNvSpPr>
            <a:spLocks noGrp="1"/>
          </p:cNvSpPr>
          <p:nvPr/>
        </p:nvSpPr>
        <p:spPr>
          <a:xfrm>
            <a:off x="6172200" y="5207000"/>
            <a:ext cx="28575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Incremental opportunity</a:t>
            </a:r>
          </a:p>
          <a:p>
            <a:pPr>
              <a:spcAft>
                <a:spcPts val="200"/>
              </a:spcAft>
              <a:buNone/>
            </a:pPr>
            <a:r>
              <a:rPr sz="1050">
                <a:solidFill>
                  <a:schemeClr val="dk1"/>
                </a:solidFill>
                <a:latin typeface="Lato"/>
                <a:ea typeface="Lato"/>
                <a:cs typeface="Lato"/>
              </a:rPr>
              <a:t>Needs existing throughput baseline</a:t>
            </a:r>
          </a:p>
          <a:p>
            <a:pPr>
              <a:spcAft>
                <a:spcPts val="200"/>
              </a:spcAft>
              <a:buNone/>
            </a:pPr>
            <a:r>
              <a:rPr sz="1050">
                <a:solidFill>
                  <a:schemeClr val="dk1"/>
                </a:solidFill>
                <a:latin typeface="Lato"/>
                <a:ea typeface="Lato"/>
                <a:cs typeface="Lato"/>
              </a:rPr>
              <a:t>Access and commitments unverified</a:t>
            </a:r>
          </a:p>
        </p:txBody>
      </p:sp>
      <p:sp>
        <p:nvSpPr>
          <p:cNvPr id="37" name="Additional capture">
            <a:extLst>
              <a:ext uri="{FF2B5EF4-FFF2-40B4-BE49-F238E27FC236}">
                <a16:creationId xmlns:a16="http://schemas.microsoft.com/office/drawing/2014/main" id="{6E600B91-FC4C-0363-791E-1A64E047C78A}"/>
              </a:ext>
            </a:extLst>
          </p:cNvPr>
          <p:cNvSpPr>
            <a:spLocks noGrp="1"/>
          </p:cNvSpPr>
          <p:nvPr/>
        </p:nvSpPr>
        <p:spPr>
          <a:xfrm>
            <a:off x="9334500" y="2006600"/>
            <a:ext cx="1778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Additional capture</a:t>
            </a:r>
          </a:p>
          <a:p>
            <a:pPr>
              <a:spcAft>
                <a:spcPts val="200"/>
              </a:spcAft>
              <a:buNone/>
            </a:pPr>
            <a:r>
              <a:rPr sz="1050">
                <a:solidFill>
                  <a:schemeClr val="dk1"/>
                </a:solidFill>
                <a:latin typeface="Lato"/>
                <a:ea typeface="Lato"/>
                <a:cs typeface="Lato"/>
              </a:rPr>
              <a:t>Customers, contracts</a:t>
            </a:r>
          </a:p>
          <a:p>
            <a:pPr>
              <a:spcAft>
                <a:spcPts val="200"/>
              </a:spcAft>
              <a:buNone/>
            </a:pPr>
            <a:r>
              <a:rPr sz="1050">
                <a:solidFill>
                  <a:schemeClr val="dk1"/>
                </a:solidFill>
                <a:latin typeface="Lato"/>
                <a:ea typeface="Lato"/>
                <a:cs typeface="Lato"/>
              </a:rPr>
              <a:t>Competition</a:t>
            </a:r>
          </a:p>
        </p:txBody>
      </p:sp>
      <p:sp>
        <p:nvSpPr>
          <p:cNvPr id="38" name="Existing capacity">
            <a:extLst>
              <a:ext uri="{FF2B5EF4-FFF2-40B4-BE49-F238E27FC236}">
                <a16:creationId xmlns:a16="http://schemas.microsoft.com/office/drawing/2014/main" id="{DFB2E8DF-FA37-1759-42B2-545E0BF9734F}"/>
              </a:ext>
            </a:extLst>
          </p:cNvPr>
          <p:cNvSpPr>
            <a:spLocks noGrp="1"/>
          </p:cNvSpPr>
          <p:nvPr/>
        </p:nvSpPr>
        <p:spPr>
          <a:xfrm>
            <a:off x="9334500" y="3073400"/>
            <a:ext cx="1778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Existing assets</a:t>
            </a:r>
          </a:p>
          <a:p>
            <a:pPr>
              <a:spcAft>
                <a:spcPts val="200"/>
              </a:spcAft>
              <a:buNone/>
            </a:pPr>
            <a:r>
              <a:rPr sz="1050">
                <a:solidFill>
                  <a:schemeClr val="dk1"/>
                </a:solidFill>
                <a:latin typeface="Lato"/>
                <a:ea typeface="Lato"/>
                <a:cs typeface="Lato"/>
              </a:rPr>
              <a:t>Tanks and turns</a:t>
            </a:r>
          </a:p>
          <a:p>
            <a:pPr>
              <a:spcAft>
                <a:spcPts val="200"/>
              </a:spcAft>
              <a:buNone/>
            </a:pPr>
            <a:r>
              <a:rPr sz="1050">
                <a:solidFill>
                  <a:schemeClr val="dk1"/>
                </a:solidFill>
                <a:latin typeface="Lato"/>
                <a:ea typeface="Lato"/>
                <a:cs typeface="Lato"/>
              </a:rPr>
              <a:t>Receipt and dispatch</a:t>
            </a:r>
          </a:p>
        </p:txBody>
      </p:sp>
      <p:sp>
        <p:nvSpPr>
          <p:cNvPr id="39" name="Investment economics">
            <a:extLst>
              <a:ext uri="{FF2B5EF4-FFF2-40B4-BE49-F238E27FC236}">
                <a16:creationId xmlns:a16="http://schemas.microsoft.com/office/drawing/2014/main" id="{060FE6FB-6025-293B-144C-0BFFB8319407}"/>
              </a:ext>
            </a:extLst>
          </p:cNvPr>
          <p:cNvSpPr>
            <a:spLocks noGrp="1"/>
          </p:cNvSpPr>
          <p:nvPr/>
        </p:nvSpPr>
        <p:spPr>
          <a:xfrm>
            <a:off x="9334500" y="4140200"/>
            <a:ext cx="1778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New investment</a:t>
            </a:r>
          </a:p>
          <a:p>
            <a:pPr>
              <a:spcAft>
                <a:spcPts val="200"/>
              </a:spcAft>
              <a:buNone/>
            </a:pPr>
            <a:r>
              <a:rPr sz="1050">
                <a:solidFill>
                  <a:schemeClr val="dk1"/>
                </a:solidFill>
                <a:latin typeface="Lato"/>
                <a:ea typeface="Lato"/>
                <a:cs typeface="Lato"/>
              </a:rPr>
              <a:t>Volume, capex, returns</a:t>
            </a:r>
          </a:p>
          <a:p>
            <a:pPr>
              <a:spcAft>
                <a:spcPts val="200"/>
              </a:spcAft>
              <a:buNone/>
            </a:pPr>
            <a:r>
              <a:rPr sz="1050">
                <a:solidFill>
                  <a:schemeClr val="dk1"/>
                </a:solidFill>
                <a:latin typeface="Lato"/>
                <a:ea typeface="Lato"/>
                <a:cs typeface="Lato"/>
              </a:rPr>
              <a:t>Alternatives, downside</a:t>
            </a:r>
          </a:p>
        </p:txBody>
      </p:sp>
      <p:sp>
        <p:nvSpPr>
          <p:cNvPr id="40" name="Resolution">
            <a:extLst>
              <a:ext uri="{FF2B5EF4-FFF2-40B4-BE49-F238E27FC236}">
                <a16:creationId xmlns:a16="http://schemas.microsoft.com/office/drawing/2014/main" id="{10B2C088-2253-7876-FF66-3F71B4F5F524}"/>
              </a:ext>
            </a:extLst>
          </p:cNvPr>
          <p:cNvSpPr>
            <a:spLocks noGrp="1"/>
          </p:cNvSpPr>
          <p:nvPr/>
        </p:nvSpPr>
        <p:spPr>
          <a:xfrm>
            <a:off x="9334500" y="5207000"/>
            <a:ext cx="1778000" cy="889000"/>
          </a:xfrm>
          <a:prstGeom prst="rect">
            <a:avLst/>
          </a:prstGeom>
          <a:solidFill>
            <a:srgbClr val="FFFFFF"/>
          </a:solidFill>
          <a:ln w="9525" cmpd="sng">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anchor="t"/>
          <a:lstStyle/>
          <a:p>
            <a:pPr>
              <a:spcAft>
                <a:spcPts val="400"/>
              </a:spcAft>
              <a:buNone/>
            </a:pPr>
            <a:r>
              <a:rPr sz="1050" b="1">
                <a:solidFill>
                  <a:schemeClr val="accent1"/>
                </a:solidFill>
                <a:latin typeface="Lato"/>
                <a:ea typeface="Lato"/>
                <a:cs typeface="Lato"/>
              </a:rPr>
              <a:t>Resolution</a:t>
            </a:r>
          </a:p>
          <a:p>
            <a:pPr>
              <a:spcAft>
                <a:spcPts val="200"/>
              </a:spcAft>
              <a:buNone/>
            </a:pPr>
            <a:r>
              <a:rPr sz="1050">
                <a:solidFill>
                  <a:schemeClr val="dk1"/>
                </a:solidFill>
                <a:latin typeface="Lato"/>
                <a:ea typeface="Lato"/>
                <a:cs typeface="Lato"/>
              </a:rPr>
              <a:t>Vopak share by site</a:t>
            </a:r>
          </a:p>
          <a:p>
            <a:pPr>
              <a:spcAft>
                <a:spcPts val="200"/>
              </a:spcAft>
              <a:buNone/>
            </a:pPr>
            <a:r>
              <a:rPr sz="1050">
                <a:solidFill>
                  <a:schemeClr val="dk1"/>
                </a:solidFill>
                <a:latin typeface="Lato"/>
                <a:ea typeface="Lato"/>
                <a:cs typeface="Lato"/>
              </a:rPr>
              <a:t>Scope for investment</a:t>
            </a:r>
          </a:p>
        </p:txBody>
      </p:sp>
      <p:sp>
        <p:nvSpPr>
          <p:cNvPr id="41" name="National market tag">
            <a:extLst>
              <a:ext uri="{FF2B5EF4-FFF2-40B4-BE49-F238E27FC236}">
                <a16:creationId xmlns:a16="http://schemas.microsoft.com/office/drawing/2014/main" id="{8D1DF495-2867-B96E-BBC0-866DC91750D0}"/>
              </a:ext>
            </a:extLst>
          </p:cNvPr>
          <p:cNvSpPr>
            <a:spLocks noGrp="1"/>
          </p:cNvSpPr>
          <p:nvPr/>
        </p:nvSpPr>
        <p:spPr>
          <a:xfrm>
            <a:off x="533400" y="2705100"/>
            <a:ext cx="17526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2025 demand estimate</a:t>
            </a:r>
            <a:endParaRPr sz="900" b="1">
              <a:solidFill>
                <a:schemeClr val="accent1"/>
              </a:solidFill>
              <a:latin typeface="Lato"/>
              <a:ea typeface="Lato"/>
              <a:cs typeface="Lato"/>
            </a:endParaRPr>
          </a:p>
        </p:txBody>
      </p:sp>
      <p:sp>
        <p:nvSpPr>
          <p:cNvPr id="42" name="Product demand tag">
            <a:extLst>
              <a:ext uri="{FF2B5EF4-FFF2-40B4-BE49-F238E27FC236}">
                <a16:creationId xmlns:a16="http://schemas.microsoft.com/office/drawing/2014/main" id="{506514FF-4240-195A-1129-AC4FE8DA6F4C}"/>
              </a:ext>
            </a:extLst>
          </p:cNvPr>
          <p:cNvSpPr>
            <a:spLocks noGrp="1"/>
          </p:cNvSpPr>
          <p:nvPr/>
        </p:nvSpPr>
        <p:spPr>
          <a:xfrm>
            <a:off x="533400" y="3771900"/>
            <a:ext cx="17526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2025 estimates</a:t>
            </a:r>
            <a:endParaRPr sz="900" b="1">
              <a:solidFill>
                <a:schemeClr val="accent1"/>
              </a:solidFill>
              <a:latin typeface="Lato"/>
              <a:ea typeface="Lato"/>
              <a:cs typeface="Lato"/>
            </a:endParaRPr>
          </a:p>
        </p:txBody>
      </p:sp>
      <p:sp>
        <p:nvSpPr>
          <p:cNvPr id="43" name="Sector demand tag">
            <a:extLst>
              <a:ext uri="{FF2B5EF4-FFF2-40B4-BE49-F238E27FC236}">
                <a16:creationId xmlns:a16="http://schemas.microsoft.com/office/drawing/2014/main" id="{8249794E-311C-E01E-4EBA-076C8507785A}"/>
              </a:ext>
            </a:extLst>
          </p:cNvPr>
          <p:cNvSpPr>
            <a:spLocks noGrp="1"/>
          </p:cNvSpPr>
          <p:nvPr/>
        </p:nvSpPr>
        <p:spPr>
          <a:xfrm>
            <a:off x="533400" y="4838700"/>
            <a:ext cx="17526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2025 segment estimates</a:t>
            </a:r>
            <a:endParaRPr sz="900" b="1">
              <a:solidFill>
                <a:schemeClr val="accent1"/>
              </a:solidFill>
              <a:latin typeface="Lato"/>
              <a:ea typeface="Lato"/>
              <a:cs typeface="Lato"/>
            </a:endParaRPr>
          </a:p>
        </p:txBody>
      </p:sp>
      <p:sp>
        <p:nvSpPr>
          <p:cNvPr id="44" name="Imports tag">
            <a:extLst>
              <a:ext uri="{FF2B5EF4-FFF2-40B4-BE49-F238E27FC236}">
                <a16:creationId xmlns:a16="http://schemas.microsoft.com/office/drawing/2014/main" id="{45D45AB1-1162-38C5-E090-A37FA7AA51E7}"/>
              </a:ext>
            </a:extLst>
          </p:cNvPr>
          <p:cNvSpPr>
            <a:spLocks noGrp="1"/>
          </p:cNvSpPr>
          <p:nvPr/>
        </p:nvSpPr>
        <p:spPr>
          <a:xfrm>
            <a:off x="2743200" y="2705100"/>
            <a:ext cx="1371600" cy="152400"/>
          </a:xfrm>
          <a:prstGeom prst="rect">
            <a:avLst/>
          </a:prstGeom>
          <a:noFill/>
        </p:spPr>
        <p:txBody>
          <a:bodyPr vert="horz" wrap="square" lIns="0" tIns="0" rIns="0" bIns="0">
            <a:noAutofit/>
          </a:bodyPr>
          <a:lstStyle/>
          <a:p>
            <a:pPr>
              <a:spcAft>
                <a:spcPts val="200"/>
              </a:spcAft>
              <a:buNone/>
            </a:pPr>
            <a:r>
              <a:rPr sz="900" b="1">
                <a:solidFill>
                  <a:schemeClr val="accent1"/>
                </a:solidFill>
                <a:latin typeface="Lato"/>
                <a:ea typeface="Lato"/>
                <a:cs typeface="Lato"/>
              </a:rPr>
              <a:t>2025 gross 16.70B L</a:t>
            </a:r>
          </a:p>
        </p:txBody>
      </p:sp>
      <p:sp>
        <p:nvSpPr>
          <p:cNvPr id="45" name="Production tag">
            <a:extLst>
              <a:ext uri="{FF2B5EF4-FFF2-40B4-BE49-F238E27FC236}">
                <a16:creationId xmlns:a16="http://schemas.microsoft.com/office/drawing/2014/main" id="{201F4CC4-568A-0AF6-9662-B95C70B285AF}"/>
              </a:ext>
            </a:extLst>
          </p:cNvPr>
          <p:cNvSpPr>
            <a:spLocks noGrp="1"/>
          </p:cNvSpPr>
          <p:nvPr/>
        </p:nvSpPr>
        <p:spPr>
          <a:xfrm>
            <a:off x="4419600" y="2705100"/>
            <a:ext cx="13716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2025 estimate (p10)</a:t>
            </a:r>
            <a:endParaRPr sz="900" b="1">
              <a:solidFill>
                <a:schemeClr val="accent1"/>
              </a:solidFill>
              <a:latin typeface="Lato"/>
              <a:ea typeface="Lato"/>
              <a:cs typeface="Lato"/>
            </a:endParaRPr>
          </a:p>
        </p:txBody>
      </p:sp>
      <p:sp>
        <p:nvSpPr>
          <p:cNvPr id="46" name="Ports tag">
            <a:extLst>
              <a:ext uri="{FF2B5EF4-FFF2-40B4-BE49-F238E27FC236}">
                <a16:creationId xmlns:a16="http://schemas.microsoft.com/office/drawing/2014/main" id="{51B6C907-0FB6-0E43-7CE6-E139C7D0A042}"/>
              </a:ext>
            </a:extLst>
          </p:cNvPr>
          <p:cNvSpPr>
            <a:spLocks noGrp="1"/>
          </p:cNvSpPr>
          <p:nvPr/>
        </p:nvSpPr>
        <p:spPr>
          <a:xfrm>
            <a:off x="2743200" y="3771900"/>
            <a:ext cx="1371600" cy="152400"/>
          </a:xfrm>
          <a:prstGeom prst="rect">
            <a:avLst/>
          </a:prstGeom>
          <a:noFill/>
        </p:spPr>
        <p:txBody>
          <a:bodyPr vert="horz" wrap="square" lIns="0" tIns="0" rIns="0" bIns="0">
            <a:noAutofit/>
          </a:bodyPr>
          <a:lstStyle/>
          <a:p>
            <a:pPr>
              <a:spcAft>
                <a:spcPts val="200"/>
              </a:spcAft>
              <a:buNone/>
            </a:pPr>
            <a:r>
              <a:rPr sz="900" b="1">
                <a:solidFill>
                  <a:schemeClr val="accent1"/>
                </a:solidFill>
                <a:latin typeface="Lato"/>
                <a:ea typeface="Lato"/>
                <a:cs typeface="Lato"/>
              </a:rPr>
              <a:t>2025 · Durban 13.2B L</a:t>
            </a:r>
          </a:p>
        </p:txBody>
      </p:sp>
      <p:sp>
        <p:nvSpPr>
          <p:cNvPr id="49" name="Inland tag">
            <a:extLst>
              <a:ext uri="{FF2B5EF4-FFF2-40B4-BE49-F238E27FC236}">
                <a16:creationId xmlns:a16="http://schemas.microsoft.com/office/drawing/2014/main" id="{17EC9F05-1A0A-C138-1FA5-7412DE30E3BA}"/>
              </a:ext>
            </a:extLst>
          </p:cNvPr>
          <p:cNvSpPr>
            <a:spLocks noGrp="1"/>
          </p:cNvSpPr>
          <p:nvPr/>
        </p:nvSpPr>
        <p:spPr>
          <a:xfrm>
            <a:off x="4419600" y="3771900"/>
            <a:ext cx="1371600" cy="152400"/>
          </a:xfrm>
          <a:prstGeom prst="rect">
            <a:avLst/>
          </a:prstGeom>
          <a:noFill/>
        </p:spPr>
        <p:txBody>
          <a:bodyPr vert="horz" wrap="square" lIns="0" tIns="0" rIns="0" bIns="0">
            <a:noAutofit/>
          </a:bodyPr>
          <a:lstStyle/>
          <a:p>
            <a:pPr>
              <a:spcAft>
                <a:spcPts val="200"/>
              </a:spcAft>
              <a:buNone/>
            </a:pPr>
            <a:r>
              <a:rPr sz="900" b="1">
                <a:solidFill>
                  <a:schemeClr val="accent1"/>
                </a:solidFill>
                <a:latin typeface="Lato"/>
                <a:ea typeface="Lato"/>
                <a:cs typeface="Lato"/>
              </a:rPr>
              <a:t>FY25 use 5.46B L/yr</a:t>
            </a:r>
          </a:p>
        </p:txBody>
      </p:sp>
      <p:sp>
        <p:nvSpPr>
          <p:cNvPr id="50" name="Coastal demand tag">
            <a:extLst>
              <a:ext uri="{FF2B5EF4-FFF2-40B4-BE49-F238E27FC236}">
                <a16:creationId xmlns:a16="http://schemas.microsoft.com/office/drawing/2014/main" id="{956E9484-D3A6-A1C6-A247-860F334D3AC4}"/>
              </a:ext>
            </a:extLst>
          </p:cNvPr>
          <p:cNvSpPr>
            <a:spLocks noGrp="1"/>
          </p:cNvSpPr>
          <p:nvPr/>
        </p:nvSpPr>
        <p:spPr>
          <a:xfrm>
            <a:off x="2743200" y="4838700"/>
            <a:ext cx="1371600" cy="152400"/>
          </a:xfrm>
          <a:prstGeom prst="rect">
            <a:avLst/>
          </a:prstGeom>
          <a:noFill/>
        </p:spPr>
        <p:txBody>
          <a:bodyPr vert="horz" wrap="square" lIns="0" tIns="0" rIns="0" bIns="0">
            <a:noAutofit/>
          </a:bodyPr>
          <a:lstStyle/>
          <a:p>
            <a:pPr>
              <a:spcAft>
                <a:spcPts val="200"/>
              </a:spcAft>
              <a:buNone/>
            </a:pPr>
            <a:r>
              <a:rPr sz="900" b="1">
                <a:solidFill>
                  <a:schemeClr val="accent1"/>
                </a:solidFill>
                <a:latin typeface="Lato"/>
                <a:ea typeface="Lato"/>
                <a:cs typeface="Lato"/>
              </a:rPr>
              <a:t>2022 · 10.0B L · proxy</a:t>
            </a:r>
          </a:p>
        </p:txBody>
      </p:sp>
      <p:sp>
        <p:nvSpPr>
          <p:cNvPr id="51" name="Inland demand tag">
            <a:extLst>
              <a:ext uri="{FF2B5EF4-FFF2-40B4-BE49-F238E27FC236}">
                <a16:creationId xmlns:a16="http://schemas.microsoft.com/office/drawing/2014/main" id="{9E107268-37A7-23B8-39C5-7A9C2AB058F2}"/>
              </a:ext>
            </a:extLst>
          </p:cNvPr>
          <p:cNvSpPr>
            <a:spLocks noGrp="1"/>
          </p:cNvSpPr>
          <p:nvPr/>
        </p:nvSpPr>
        <p:spPr>
          <a:xfrm>
            <a:off x="4419600" y="4838700"/>
            <a:ext cx="1371600" cy="152400"/>
          </a:xfrm>
          <a:prstGeom prst="rect">
            <a:avLst/>
          </a:prstGeom>
          <a:noFill/>
        </p:spPr>
        <p:txBody>
          <a:bodyPr vert="horz" wrap="square" lIns="0" tIns="0" rIns="0" bIns="0">
            <a:noAutofit/>
          </a:bodyPr>
          <a:lstStyle/>
          <a:p>
            <a:pPr>
              <a:spcAft>
                <a:spcPts val="200"/>
              </a:spcAft>
              <a:buNone/>
            </a:pPr>
            <a:r>
              <a:rPr sz="900" b="1">
                <a:solidFill>
                  <a:schemeClr val="accent1"/>
                </a:solidFill>
                <a:latin typeface="Lato"/>
                <a:ea typeface="Lato"/>
                <a:cs typeface="Lato"/>
              </a:rPr>
              <a:t>2022 · 12.0B L · proxy</a:t>
            </a:r>
          </a:p>
        </p:txBody>
      </p:sp>
      <p:sp>
        <p:nvSpPr>
          <p:cNvPr id="52" name="Market sizing tag">
            <a:extLst>
              <a:ext uri="{FF2B5EF4-FFF2-40B4-BE49-F238E27FC236}">
                <a16:creationId xmlns:a16="http://schemas.microsoft.com/office/drawing/2014/main" id="{C096C2C5-D37B-3528-AA9C-63E04EEC5FF3}"/>
              </a:ext>
            </a:extLst>
          </p:cNvPr>
          <p:cNvSpPr>
            <a:spLocks noGrp="1"/>
          </p:cNvSpPr>
          <p:nvPr/>
        </p:nvSpPr>
        <p:spPr>
          <a:xfrm>
            <a:off x="6248400" y="2705100"/>
            <a:ext cx="2705100" cy="152400"/>
          </a:xfrm>
          <a:prstGeom prst="rect">
            <a:avLst/>
          </a:prstGeom>
          <a:noFill/>
        </p:spPr>
        <p:txBody>
          <a:bodyPr vert="horz" wrap="square" lIns="0" tIns="0" rIns="0" bIns="0">
            <a:noAutofit/>
          </a:bodyPr>
          <a:lstStyle/>
          <a:p>
            <a:pPr>
              <a:spcAft>
                <a:spcPts val="200"/>
              </a:spcAft>
              <a:buNone/>
            </a:pPr>
            <a:r>
              <a:rPr sz="900" b="1">
                <a:solidFill>
                  <a:schemeClr val="accent1"/>
                </a:solidFill>
                <a:latin typeface="Lato"/>
                <a:ea typeface="Lato"/>
                <a:cs typeface="Lato"/>
              </a:rPr>
              <a:t>Gateway proxy; capture not observed</a:t>
            </a:r>
          </a:p>
        </p:txBody>
      </p:sp>
      <p:sp>
        <p:nvSpPr>
          <p:cNvPr id="53" name="Durban opportunity tag">
            <a:extLst>
              <a:ext uri="{FF2B5EF4-FFF2-40B4-BE49-F238E27FC236}">
                <a16:creationId xmlns:a16="http://schemas.microsoft.com/office/drawing/2014/main" id="{9E9902C2-0AF9-C9D5-B8FE-F017EB81602A}"/>
              </a:ext>
            </a:extLst>
          </p:cNvPr>
          <p:cNvSpPr>
            <a:spLocks noGrp="1"/>
          </p:cNvSpPr>
          <p:nvPr/>
        </p:nvSpPr>
        <p:spPr>
          <a:xfrm>
            <a:off x="6248400" y="3771900"/>
            <a:ext cx="12192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2025 · p13</a:t>
            </a:r>
            <a:endParaRPr sz="900" b="1">
              <a:solidFill>
                <a:schemeClr val="accent1"/>
              </a:solidFill>
              <a:latin typeface="Lato"/>
              <a:ea typeface="Lato"/>
              <a:cs typeface="Lato"/>
            </a:endParaRPr>
          </a:p>
        </p:txBody>
      </p:sp>
      <p:sp>
        <p:nvSpPr>
          <p:cNvPr id="54" name="Lesedi opportunity tag">
            <a:extLst>
              <a:ext uri="{FF2B5EF4-FFF2-40B4-BE49-F238E27FC236}">
                <a16:creationId xmlns:a16="http://schemas.microsoft.com/office/drawing/2014/main" id="{5B840FCC-C4C2-9CED-168F-98C14A7C2F24}"/>
              </a:ext>
            </a:extLst>
          </p:cNvPr>
          <p:cNvSpPr>
            <a:spLocks noGrp="1"/>
          </p:cNvSpPr>
          <p:nvPr/>
        </p:nvSpPr>
        <p:spPr>
          <a:xfrm>
            <a:off x="7734300" y="3771900"/>
            <a:ext cx="12192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2025 · p13</a:t>
            </a:r>
            <a:endParaRPr sz="900" b="1">
              <a:solidFill>
                <a:schemeClr val="accent1"/>
              </a:solidFill>
              <a:latin typeface="Lato"/>
              <a:ea typeface="Lato"/>
              <a:cs typeface="Lato"/>
            </a:endParaRPr>
          </a:p>
        </p:txBody>
      </p:sp>
      <p:sp>
        <p:nvSpPr>
          <p:cNvPr id="55" name="Share tag">
            <a:extLst>
              <a:ext uri="{FF2B5EF4-FFF2-40B4-BE49-F238E27FC236}">
                <a16:creationId xmlns:a16="http://schemas.microsoft.com/office/drawing/2014/main" id="{9D1D8A45-42BD-CA85-EB3F-5061EFCF24A3}"/>
              </a:ext>
            </a:extLst>
          </p:cNvPr>
          <p:cNvSpPr>
            <a:spLocks noGrp="1"/>
          </p:cNvSpPr>
          <p:nvPr/>
        </p:nvSpPr>
        <p:spPr>
          <a:xfrm>
            <a:off x="6248400" y="4838700"/>
            <a:ext cx="2705100" cy="152400"/>
          </a:xfrm>
          <a:prstGeom prst="rect">
            <a:avLst/>
          </a:prstGeom>
          <a:noFill/>
        </p:spPr>
        <p:txBody>
          <a:bodyPr vert="horz" wrap="square" lIns="0" tIns="0" rIns="0" bIns="0">
            <a:noAutofit/>
          </a:bodyPr>
          <a:lstStyle/>
          <a:p>
            <a:pPr>
              <a:spcAft>
                <a:spcPts val="200"/>
              </a:spcAft>
              <a:buNone/>
            </a:pPr>
            <a:r>
              <a:rPr lang="en-ZA" sz="900" b="1">
                <a:solidFill>
                  <a:schemeClr val="accent1"/>
                </a:solidFill>
                <a:latin typeface="Lato"/>
                <a:ea typeface="Lato"/>
                <a:cs typeface="Lato"/>
              </a:rPr>
              <a:t>Illustrative capture</a:t>
            </a:r>
            <a:endParaRPr sz="900" b="1">
              <a:solidFill>
                <a:schemeClr val="accent1"/>
              </a:solidFill>
              <a:latin typeface="Lato"/>
              <a:ea typeface="Lato"/>
              <a:cs typeface="Lato"/>
            </a:endParaRPr>
          </a:p>
        </p:txBody>
      </p:sp>
      <p:sp>
        <p:nvSpPr>
          <p:cNvPr id="56" name="Headroom tag">
            <a:extLst>
              <a:ext uri="{FF2B5EF4-FFF2-40B4-BE49-F238E27FC236}">
                <a16:creationId xmlns:a16="http://schemas.microsoft.com/office/drawing/2014/main" id="{2F7794D4-8CCE-E4F1-4E7A-13708B4520F0}"/>
              </a:ext>
            </a:extLst>
          </p:cNvPr>
          <p:cNvSpPr>
            <a:spLocks noGrp="1"/>
          </p:cNvSpPr>
          <p:nvPr/>
        </p:nvSpPr>
        <p:spPr>
          <a:xfrm>
            <a:off x="6248400" y="5905500"/>
            <a:ext cx="2705100" cy="152400"/>
          </a:xfrm>
          <a:prstGeom prst="rect">
            <a:avLst/>
          </a:prstGeom>
          <a:noFill/>
        </p:spPr>
        <p:txBody>
          <a:bodyPr vert="horz" wrap="square" lIns="0" tIns="0" rIns="0" bIns="0">
            <a:noAutofit/>
          </a:bodyPr>
          <a:lstStyle/>
          <a:p>
            <a:pPr>
              <a:spcAft>
                <a:spcPts val="200"/>
              </a:spcAft>
              <a:buNone/>
            </a:pPr>
            <a:r>
              <a:rPr sz="900">
                <a:solidFill>
                  <a:srgbClr val="808080"/>
                </a:solidFill>
                <a:latin typeface="Lato"/>
                <a:ea typeface="Lato"/>
                <a:cs typeface="Lato"/>
              </a:rPr>
              <a:t>Pending · DR02/05</a:t>
            </a:r>
          </a:p>
        </p:txBody>
      </p:sp>
      <p:sp>
        <p:nvSpPr>
          <p:cNvPr id="57" name="Additional capture tag">
            <a:extLst>
              <a:ext uri="{FF2B5EF4-FFF2-40B4-BE49-F238E27FC236}">
                <a16:creationId xmlns:a16="http://schemas.microsoft.com/office/drawing/2014/main" id="{D3F3C301-3CD5-70ED-3897-AC853D7F1384}"/>
              </a:ext>
            </a:extLst>
          </p:cNvPr>
          <p:cNvSpPr>
            <a:spLocks noGrp="1"/>
          </p:cNvSpPr>
          <p:nvPr/>
        </p:nvSpPr>
        <p:spPr>
          <a:xfrm>
            <a:off x="9410700" y="2705100"/>
            <a:ext cx="1625600" cy="152400"/>
          </a:xfrm>
          <a:prstGeom prst="rect">
            <a:avLst/>
          </a:prstGeom>
          <a:noFill/>
        </p:spPr>
        <p:txBody>
          <a:bodyPr vert="horz" wrap="square" lIns="0" tIns="0" rIns="0" bIns="0">
            <a:noAutofit/>
          </a:bodyPr>
          <a:lstStyle/>
          <a:p>
            <a:pPr>
              <a:spcAft>
                <a:spcPts val="200"/>
              </a:spcAft>
              <a:buNone/>
            </a:pPr>
            <a:r>
              <a:rPr sz="900">
                <a:solidFill>
                  <a:srgbClr val="808080"/>
                </a:solidFill>
                <a:latin typeface="Lato"/>
                <a:ea typeface="Lato"/>
                <a:cs typeface="Lato"/>
              </a:rPr>
              <a:t>Pending · DR02/05</a:t>
            </a:r>
          </a:p>
        </p:txBody>
      </p:sp>
      <p:sp>
        <p:nvSpPr>
          <p:cNvPr id="58" name="Existing capacity tag">
            <a:extLst>
              <a:ext uri="{FF2B5EF4-FFF2-40B4-BE49-F238E27FC236}">
                <a16:creationId xmlns:a16="http://schemas.microsoft.com/office/drawing/2014/main" id="{7033E250-411E-32FA-83F3-A34FD61AA039}"/>
              </a:ext>
            </a:extLst>
          </p:cNvPr>
          <p:cNvSpPr>
            <a:spLocks noGrp="1"/>
          </p:cNvSpPr>
          <p:nvPr/>
        </p:nvSpPr>
        <p:spPr>
          <a:xfrm>
            <a:off x="9410700" y="3771900"/>
            <a:ext cx="1625600" cy="152400"/>
          </a:xfrm>
          <a:prstGeom prst="rect">
            <a:avLst/>
          </a:prstGeom>
          <a:noFill/>
        </p:spPr>
        <p:txBody>
          <a:bodyPr vert="horz" wrap="square" lIns="0" tIns="0" rIns="0" bIns="0">
            <a:noAutofit/>
          </a:bodyPr>
          <a:lstStyle/>
          <a:p>
            <a:pPr>
              <a:spcAft>
                <a:spcPts val="200"/>
              </a:spcAft>
              <a:buNone/>
            </a:pPr>
            <a:r>
              <a:rPr sz="900">
                <a:solidFill>
                  <a:srgbClr val="808080"/>
                </a:solidFill>
                <a:latin typeface="Lato"/>
                <a:ea typeface="Lato"/>
                <a:cs typeface="Lato"/>
              </a:rPr>
              <a:t>Pending · DR03</a:t>
            </a:r>
          </a:p>
        </p:txBody>
      </p:sp>
      <p:sp>
        <p:nvSpPr>
          <p:cNvPr id="59" name="Investment economics tag">
            <a:extLst>
              <a:ext uri="{FF2B5EF4-FFF2-40B4-BE49-F238E27FC236}">
                <a16:creationId xmlns:a16="http://schemas.microsoft.com/office/drawing/2014/main" id="{1A45A8CC-C6B7-7080-3CEA-0E352F2696E8}"/>
              </a:ext>
            </a:extLst>
          </p:cNvPr>
          <p:cNvSpPr>
            <a:spLocks noGrp="1"/>
          </p:cNvSpPr>
          <p:nvPr/>
        </p:nvSpPr>
        <p:spPr>
          <a:xfrm>
            <a:off x="9410700" y="4838700"/>
            <a:ext cx="1625600" cy="152400"/>
          </a:xfrm>
          <a:prstGeom prst="rect">
            <a:avLst/>
          </a:prstGeom>
          <a:noFill/>
        </p:spPr>
        <p:txBody>
          <a:bodyPr vert="horz" wrap="square" lIns="0" tIns="0" rIns="0" bIns="0">
            <a:noAutofit/>
          </a:bodyPr>
          <a:lstStyle/>
          <a:p>
            <a:pPr>
              <a:spcAft>
                <a:spcPts val="200"/>
              </a:spcAft>
              <a:buNone/>
            </a:pPr>
            <a:r>
              <a:rPr sz="900">
                <a:solidFill>
                  <a:srgbClr val="808080"/>
                </a:solidFill>
                <a:latin typeface="Lato"/>
                <a:ea typeface="Lato"/>
                <a:cs typeface="Lato"/>
              </a:rPr>
              <a:t>Pending · DR06</a:t>
            </a:r>
          </a:p>
        </p:txBody>
      </p:sp>
      <p:cxnSp>
        <p:nvCxnSpPr>
          <p:cNvPr id="159" name="Product sums to consumption"/>
          <p:cNvCxnSpPr>
            <a:stCxn id="22" idx="0"/>
            <a:endCxn id="21" idx="2"/>
          </p:cNvCxnSpPr>
          <p:nvPr/>
        </p:nvCxnSpPr>
        <p:spPr>
          <a:xfrm flipV="1">
            <a:off x="14097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Uses determine product demand"/>
          <p:cNvCxnSpPr>
            <a:stCxn id="23" idx="0"/>
            <a:endCxn id="22" idx="2"/>
          </p:cNvCxnSpPr>
          <p:nvPr/>
        </p:nvCxnSpPr>
        <p:spPr>
          <a:xfrm flipV="1">
            <a:off x="14097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Demand parameter effect"/>
          <p:cNvCxnSpPr>
            <a:stCxn id="24" idx="0"/>
            <a:endCxn id="23" idx="2"/>
          </p:cNvCxnSpPr>
          <p:nvPr/>
        </p:nvCxnSpPr>
        <p:spPr>
          <a:xfrm flipV="1">
            <a:off x="14097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2" name="Demand sets import requirement"/>
          <p:cNvCxnSpPr>
            <a:stCxn id="21" idx="3"/>
            <a:endCxn id="25" idx="1"/>
          </p:cNvCxnSpPr>
          <p:nvPr/>
        </p:nvCxnSpPr>
        <p:spPr>
          <a:xfrm>
            <a:off x="2362200" y="2451100"/>
            <a:ext cx="304800"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Imports land at ports"/>
          <p:cNvCxnSpPr>
            <a:stCxn id="25" idx="2"/>
            <a:endCxn id="27" idx="0"/>
          </p:cNvCxnSpPr>
          <p:nvPr/>
        </p:nvCxnSpPr>
        <p:spPr>
          <a:xfrm>
            <a:off x="34290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Domestic output moves inland"/>
          <p:cNvCxnSpPr>
            <a:stCxn id="26" idx="2"/>
            <a:endCxn id="28" idx="0"/>
          </p:cNvCxnSpPr>
          <p:nvPr/>
        </p:nvCxnSpPr>
        <p:spPr>
          <a:xfrm>
            <a:off x="51054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Ports to inland delivery"/>
          <p:cNvCxnSpPr>
            <a:stCxn id="27" idx="3"/>
            <a:endCxn id="28" idx="1"/>
          </p:cNvCxnSpPr>
          <p:nvPr/>
        </p:nvCxnSpPr>
        <p:spPr>
          <a:xfrm>
            <a:off x="4191000" y="3517900"/>
            <a:ext cx="152400"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Ports serve coastal demand"/>
          <p:cNvCxnSpPr>
            <a:stCxn id="27" idx="2"/>
            <a:endCxn id="29" idx="0"/>
          </p:cNvCxnSpPr>
          <p:nvPr/>
        </p:nvCxnSpPr>
        <p:spPr>
          <a:xfrm>
            <a:off x="34290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Inland delivery serves inland demand"/>
          <p:cNvCxnSpPr>
            <a:stCxn id="28" idx="2"/>
            <a:endCxn id="30" idx="0"/>
          </p:cNvCxnSpPr>
          <p:nvPr/>
        </p:nvCxnSpPr>
        <p:spPr>
          <a:xfrm>
            <a:off x="51054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upply parameter effect on coastal"/>
          <p:cNvCxnSpPr>
            <a:endCxn id="29" idx="2"/>
          </p:cNvCxnSpPr>
          <p:nvPr/>
        </p:nvCxnSpPr>
        <p:spPr>
          <a:xfrm flipV="1">
            <a:off x="34290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9" name="Supply parameter effect on inland"/>
          <p:cNvCxnSpPr>
            <a:endCxn id="30" idx="2"/>
          </p:cNvCxnSpPr>
          <p:nvPr/>
        </p:nvCxnSpPr>
        <p:spPr>
          <a:xfrm flipV="1">
            <a:off x="51054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0" name="Routes into market sizing"/>
          <p:cNvCxnSpPr>
            <a:stCxn id="28" idx="3"/>
            <a:endCxn id="32" idx="1"/>
          </p:cNvCxnSpPr>
          <p:nvPr/>
        </p:nvCxnSpPr>
        <p:spPr>
          <a:xfrm flipV="1">
            <a:off x="5867400" y="2451100"/>
            <a:ext cx="304800" cy="10668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Destinations into market sizing"/>
          <p:cNvCxnSpPr>
            <a:stCxn id="30" idx="3"/>
            <a:endCxn id="32" idx="1"/>
          </p:cNvCxnSpPr>
          <p:nvPr/>
        </p:nvCxnSpPr>
        <p:spPr>
          <a:xfrm flipV="1">
            <a:off x="5867400" y="2451100"/>
            <a:ext cx="304800" cy="21336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Market sizing to Durban"/>
          <p:cNvCxnSpPr>
            <a:endCxn id="33" idx="0"/>
          </p:cNvCxnSpPr>
          <p:nvPr/>
        </p:nvCxnSpPr>
        <p:spPr>
          <a:xfrm>
            <a:off x="68580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Market sizing to Lesedi"/>
          <p:cNvCxnSpPr>
            <a:endCxn id="34" idx="0"/>
          </p:cNvCxnSpPr>
          <p:nvPr/>
        </p:nvCxnSpPr>
        <p:spPr>
          <a:xfrm>
            <a:off x="83439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Durban into share"/>
          <p:cNvCxnSpPr/>
          <p:nvPr/>
        </p:nvCxnSpPr>
        <p:spPr>
          <a:xfrm>
            <a:off x="68580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Lesedi into share"/>
          <p:cNvCxnSpPr/>
          <p:nvPr/>
        </p:nvCxnSpPr>
        <p:spPr>
          <a:xfrm>
            <a:off x="83439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Share to headroom"/>
          <p:cNvCxnSpPr>
            <a:stCxn id="35" idx="2"/>
            <a:endCxn id="36" idx="0"/>
          </p:cNvCxnSpPr>
          <p:nvPr/>
        </p:nvCxnSpPr>
        <p:spPr>
          <a:xfrm>
            <a:off x="7600950" y="50292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Headroom into investment"/>
          <p:cNvCxnSpPr>
            <a:stCxn id="36" idx="3"/>
            <a:endCxn id="37" idx="1"/>
          </p:cNvCxnSpPr>
          <p:nvPr/>
        </p:nvCxnSpPr>
        <p:spPr>
          <a:xfrm flipV="1">
            <a:off x="9029700" y="2451100"/>
            <a:ext cx="304800" cy="32004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Capture to capacity"/>
          <p:cNvCxnSpPr>
            <a:stCxn id="37" idx="2"/>
            <a:endCxn id="38" idx="0"/>
          </p:cNvCxnSpPr>
          <p:nvPr/>
        </p:nvCxnSpPr>
        <p:spPr>
          <a:xfrm>
            <a:off x="102235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Capacity to returns"/>
          <p:cNvCxnSpPr>
            <a:stCxn id="38" idx="2"/>
            <a:endCxn id="39" idx="0"/>
          </p:cNvCxnSpPr>
          <p:nvPr/>
        </p:nvCxnSpPr>
        <p:spPr>
          <a:xfrm>
            <a:off x="102235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Returns to resolution"/>
          <p:cNvCxnSpPr>
            <a:stCxn id="39" idx="2"/>
            <a:endCxn id="40" idx="0"/>
          </p:cNvCxnSpPr>
          <p:nvPr/>
        </p:nvCxnSpPr>
        <p:spPr>
          <a:xfrm>
            <a:off x="10223500" y="50292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1"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182"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183"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184"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spTree>
    <p:extLst>
      <p:ext uri="{BB962C8B-B14F-4D97-AF65-F5344CB8AC3E}">
        <p14:creationId xmlns:p14="http://schemas.microsoft.com/office/powerpoint/2010/main" val="3788155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The market of interest used about 18.2bn litres in 2025, of which about 12bn litres had to be brought in</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13</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600">
                <a:solidFill>
                  <a:srgbClr val="111111"/>
                </a:solidFill>
                <a:latin typeface="Lato"/>
                <a:ea typeface="Lato"/>
                <a:cs typeface="Lato"/>
              </a:rPr>
              <a:t>Department fuel sales by magisterial district, four quarters of 2022 (latest full year), grown to 2025 at national growth by product (2025 demand = production + imports − exports, p4). Market of interest as in the AIA board report of November 2025: Gauteng, Limpopo, North West, Free State, Mpumalanga, KwaZulu-Natal. Production: p10. Assumes Secunda and Natref output stays in the area. Sales are recorded where fuel is sold.</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2D7877C5-B65D-4837-9FE4-2B32D94EE59D}"/>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Billion litres, 2025E | 2022 district shares applied to 2025 national demand | totals beside each name</a:t>
            </a:r>
            <a:endParaRPr sz="975" b="0">
              <a:solidFill>
                <a:srgbClr val="626262"/>
              </a:solidFill>
              <a:latin typeface="Lato"/>
              <a:ea typeface="Lato"/>
              <a:cs typeface="Lato"/>
            </a:endParaRPr>
          </a:p>
        </p:txBody>
      </p:sp>
      <p:sp>
        <p:nvSpPr>
          <p:cNvPr id="82" name="Evidence unit">
            <a:extLst>
              <a:ext uri="{FF2B5EF4-FFF2-40B4-BE49-F238E27FC236}">
                <a16:creationId xmlns:a16="http://schemas.microsoft.com/office/drawing/2014/main" id="{2D7877C5-B65D-4837-9FE4-2B32D94EE59D}"/>
              </a:ext>
            </a:extLst>
          </p:cNvPr>
          <p:cNvSpPr>
            <a:spLocks noGrp="1"/>
          </p:cNvSpPr>
          <p:nvPr/>
        </p:nvSpPr>
        <p:spPr>
          <a:xfrm>
            <a:off x="457200" y="2286000"/>
            <a:ext cx="3154680" cy="237744"/>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By province | all 190 magisterial districts: pp21–22</a:t>
            </a:r>
            <a:endParaRPr sz="975" b="0">
              <a:solidFill>
                <a:srgbClr val="626262"/>
              </a:solidFill>
              <a:latin typeface="Lato"/>
              <a:ea typeface="Lato"/>
              <a:cs typeface="Lato"/>
            </a:endParaRPr>
          </a:p>
        </p:txBody>
      </p:sp>
      <p:sp>
        <p:nvSpPr>
          <p:cNvPr id="56" name="Evidence insights">
            <a:extLst>
              <a:ext uri="{FF2B5EF4-FFF2-40B4-BE49-F238E27FC236}">
                <a16:creationId xmlns:a16="http://schemas.microsoft.com/office/drawing/2014/main" id="{33C62F36-CE4A-4CE7-AA40-33340BDFC8F1}"/>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lang="en-GB" sz="1350" b="0">
                <a:solidFill>
                  <a:srgbClr val="11151A"/>
                </a:solidFill>
                <a:latin typeface="Lato"/>
                <a:ea typeface="Lato"/>
                <a:cs typeface="Lato"/>
              </a:rPr>
              <a:t>Market of interest, 2025: 18.2bn L (72% of national 25.4): petrol 7.0, diesel 11.2. Gauteng and KwaZulu-Natal are 70%.
Made inside the area: Secunda and Natref, 6.3bn L (petrol 3.7, diesel 2.6; p10).
To be brought in: about 11.9bn L, petrol 3.3 and diesel 8.5, through Durban or other routes (p11).
Method: each district's 2022 share of national sales, by product, applied to 2025 national demand (p4). On 2022 sales alone the area was 15.8bn L.</a:t>
            </a:r>
            <a:endParaRPr sz="1350" b="0">
              <a:solidFill>
                <a:srgbClr val="11151A"/>
              </a:solidFill>
              <a:latin typeface="Lato"/>
              <a:ea typeface="Lato"/>
              <a:cs typeface="Lato"/>
            </a:endParaRPr>
          </a:p>
        </p:txBody>
      </p:sp>
      <p:sp>
        <p:nvSpPr>
          <p:cNvPr id="57" name="Evidence takeaway">
            <a:extLst>
              <a:ext uri="{FF2B5EF4-FFF2-40B4-BE49-F238E27FC236}">
                <a16:creationId xmlns:a16="http://schemas.microsoft.com/office/drawing/2014/main" id="{B6C53BD9-36CF-4A69-841C-FDA40E078E5B}"/>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lang="en-GB" sz="1275" b="0">
                <a:solidFill>
                  <a:srgbClr val="0A2373"/>
                </a:solidFill>
                <a:latin typeface="Lato"/>
                <a:ea typeface="Lato"/>
                <a:cs typeface="Lato"/>
              </a:rPr>
              <a:t>Local refineries cover about 35% of the market of interest; the other 65% must be imported or moved in.</a:t>
            </a:r>
            <a:endParaRPr sz="1275" b="0">
              <a:solidFill>
                <a:srgbClr val="0A2373"/>
              </a:solidFill>
              <a:latin typeface="Lato"/>
              <a:ea typeface="Lato"/>
              <a:cs typeface="Lato"/>
            </a:endParaRP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solidFill>
                  <a:srgbClr val="0A2373"/>
                </a:solidFill>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solidFill>
                  <a:srgbClr val="0A2373"/>
                </a:solidFill>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solidFill>
                  <a:srgbClr val="0A2373"/>
                </a:solidFill>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b="1">
                <a:solidFill>
                  <a:srgbClr val="FFFFFF"/>
                </a:solidFill>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lang="en-ZA" sz="1400" b="1">
                <a:latin typeface="Lato"/>
              </a:rPr>
              <a:t>Petrol and diesel demand in the market of interest, 2025E</a:t>
            </a:r>
            <a:endParaRPr sz="1400" b="1">
              <a:latin typeface="Lato"/>
            </a:endParaRP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rPr lang="en-GB"/>
              <a:t>From demand to import requirement</a:t>
            </a:r>
            <a:endParaRP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84" name="Chart"/>
          <p:cNvGraphicFramePr>
            <a:graphicFrameLocks noGrp="1"/>
          </p:cNvGraphicFramePr>
          <p:nvPr>
            <p:extLst>
              <p:ext uri="{D42A27DB-BD31-4B8C-83A1-F6EECF244321}">
                <p14:modId xmlns:p14="http://schemas.microsoft.com/office/powerpoint/2010/main" val="246002071"/>
              </p:ext>
            </p:extLst>
          </p:nvPr>
        </p:nvGraphicFramePr>
        <p:xfrm>
          <a:off x="457200" y="2542032"/>
          <a:ext cx="6446519" cy="27889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10033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How the national fuel market translates into Vopak’s addressable volume</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14</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Demand: production + imports − exports (p4); SARS customs imports, 2025; SARS customs, Durban office, 2025; Department district sales 2022 grown to 2025 (p13); market-sizing workbook. Bars are drawn to scale. Step 3 assumes Secunda and Natref output stays in the market of interest; Matola also supplies inland. Step 5: 146,000 m³ working fuel tanks (estimate) at Vopak’s stated target of 2–3 turns a month. Capture is an illustrative 20%, not a contracted share. Walvis Bay is a route to assess; no diversion volume is assigned.</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0" name="M takeaway">
            <a:extLst>
              <a:ext uri="{FF2B5EF4-FFF2-40B4-BE49-F238E27FC236}">
                <a16:creationId xmlns:a16="http://schemas.microsoft.com/office/drawing/2014/main" id="{494014AF-E149-4482-8FCD-16CEC0025A82}"/>
              </a:ext>
            </a:extLst>
          </p:cNvPr>
          <p:cNvSpPr>
            <a:spLocks noGrp="1"/>
          </p:cNvSpPr>
          <p:nvPr/>
        </p:nvSpPr>
        <p:spPr>
          <a:xfrm>
            <a:off x="457200" y="5756656"/>
            <a:ext cx="10648950" cy="304800"/>
          </a:xfrm>
          <a:prstGeom prst="rect">
            <a:avLst/>
          </a:prstGeom>
          <a:noFill/>
          <a:ln w="0">
            <a:noFill/>
          </a:ln>
        </p:spPr>
        <p:txBody>
          <a:bodyPr>
            <a:noAutofit/>
          </a:bodyPr>
          <a:lstStyle/>
          <a:p>
            <a:pPr>
              <a:defRPr sz="1500" b="1">
                <a:solidFill>
                  <a:srgbClr val="0A2373"/>
                </a:solidFill>
                <a:latin typeface="Lato"/>
                <a:ea typeface="Lato"/>
                <a:cs typeface="Lato"/>
              </a:defRPr>
            </a:pPr>
            <a:r>
              <a:rPr sz="1500" b="1">
                <a:solidFill>
                  <a:srgbClr val="0A2373"/>
                </a:solidFill>
                <a:latin typeface="Lato"/>
                <a:ea typeface="Lato"/>
                <a:cs typeface="Lato"/>
              </a:rPr>
              <a:t>Step 5: Vopak’s Durban tanks handle about 3.5bn litres a year at two turns a month; volumes above that need new tanks.</a:t>
            </a:r>
          </a:p>
        </p:txBody>
      </p:sp>
      <p:sp>
        <p:nvSpPr>
          <p:cNvPr id="56"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5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5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59"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sp>
        <p:nvSpPr>
          <p:cNvPr id="60" name="TextBox 59"/>
          <p:cNvSpPr txBox="1"/>
          <p:nvPr/>
        </p:nvSpPr>
        <p:spPr>
          <a:xfrm>
            <a:off x="530352" y="1682496"/>
            <a:ext cx="2377440" cy="329184"/>
          </a:xfrm>
          <a:prstGeom prst="rect">
            <a:avLst/>
          </a:prstGeom>
          <a:noFill/>
        </p:spPr>
        <p:txBody>
          <a:bodyPr wrap="square" lIns="0" tIns="0" rIns="0" bIns="0" anchor="ctr">
            <a:spAutoFit/>
          </a:bodyPr>
          <a:lstStyle/>
          <a:p>
            <a:pPr algn="l"/>
            <a:r>
              <a:rPr sz="1350" b="1">
                <a:solidFill>
                  <a:srgbClr val="11151A"/>
                </a:solidFill>
                <a:latin typeface="Lato"/>
              </a:rPr>
              <a:t>Sizing step</a:t>
            </a:r>
          </a:p>
        </p:txBody>
      </p:sp>
      <p:sp>
        <p:nvSpPr>
          <p:cNvPr id="61" name="TextBox 60"/>
          <p:cNvSpPr txBox="1"/>
          <p:nvPr/>
        </p:nvSpPr>
        <p:spPr>
          <a:xfrm>
            <a:off x="3154680" y="1682496"/>
            <a:ext cx="2286000" cy="329184"/>
          </a:xfrm>
          <a:prstGeom prst="rect">
            <a:avLst/>
          </a:prstGeom>
          <a:noFill/>
        </p:spPr>
        <p:txBody>
          <a:bodyPr wrap="square" lIns="0" tIns="0" rIns="0" bIns="0" anchor="ctr">
            <a:spAutoFit/>
          </a:bodyPr>
          <a:lstStyle/>
          <a:p>
            <a:pPr algn="l"/>
            <a:r>
              <a:rPr sz="1350" b="1">
                <a:solidFill>
                  <a:srgbClr val="11151A"/>
                </a:solidFill>
                <a:latin typeface="Lato"/>
              </a:rPr>
              <a:t>Billion litres a year, 2025E</a:t>
            </a:r>
          </a:p>
        </p:txBody>
      </p:sp>
      <p:sp>
        <p:nvSpPr>
          <p:cNvPr id="62" name="TextBox 61"/>
          <p:cNvSpPr txBox="1"/>
          <p:nvPr/>
        </p:nvSpPr>
        <p:spPr>
          <a:xfrm>
            <a:off x="7818120" y="1682496"/>
            <a:ext cx="3291840" cy="329184"/>
          </a:xfrm>
          <a:prstGeom prst="rect">
            <a:avLst/>
          </a:prstGeom>
          <a:noFill/>
        </p:spPr>
        <p:txBody>
          <a:bodyPr wrap="square" lIns="0" tIns="0" rIns="0" bIns="0" anchor="ctr">
            <a:spAutoFit/>
          </a:bodyPr>
          <a:lstStyle/>
          <a:p>
            <a:pPr algn="l"/>
            <a:r>
              <a:rPr sz="1350" b="1">
                <a:solidFill>
                  <a:srgbClr val="11151A"/>
                </a:solidFill>
                <a:latin typeface="Lato"/>
              </a:rPr>
              <a:t>Basis</a:t>
            </a:r>
          </a:p>
        </p:txBody>
      </p:sp>
      <p:sp>
        <p:nvSpPr>
          <p:cNvPr id="106" name="Funnel key"/>
          <p:cNvSpPr/>
          <p:nvPr/>
        </p:nvSpPr>
        <p:spPr>
          <a:xfrm>
            <a:off x="5623560" y="1787652"/>
            <a:ext cx="118872" cy="118872"/>
          </a:xfrm>
          <a:prstGeom prst="rect">
            <a:avLst/>
          </a:prstGeom>
          <a:solidFill>
            <a:srgbClr val="0A237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07" name="Funnel key label"/>
          <p:cNvSpPr txBox="1"/>
          <p:nvPr/>
        </p:nvSpPr>
        <p:spPr>
          <a:xfrm>
            <a:off x="5788152" y="1682496"/>
            <a:ext cx="548640" cy="329184"/>
          </a:xfrm>
          <a:prstGeom prst="rect">
            <a:avLst/>
          </a:prstGeom>
          <a:noFill/>
        </p:spPr>
        <p:txBody>
          <a:bodyPr wrap="square" lIns="0" tIns="0" rIns="0" bIns="0" anchor="ctr">
            <a:spAutoFit/>
          </a:bodyPr>
          <a:lstStyle/>
          <a:p>
            <a:r>
              <a:rPr sz="1150" b="0">
                <a:solidFill>
                  <a:srgbClr val="11151A"/>
                </a:solidFill>
                <a:latin typeface="Lato"/>
              </a:rPr>
              <a:t>Petrol</a:t>
            </a:r>
          </a:p>
        </p:txBody>
      </p:sp>
      <p:sp>
        <p:nvSpPr>
          <p:cNvPr id="108" name="Funnel key"/>
          <p:cNvSpPr/>
          <p:nvPr/>
        </p:nvSpPr>
        <p:spPr>
          <a:xfrm>
            <a:off x="6400800" y="1787652"/>
            <a:ext cx="118872" cy="118872"/>
          </a:xfrm>
          <a:prstGeom prst="rect">
            <a:avLst/>
          </a:prstGeom>
          <a:solidFill>
            <a:srgbClr val="6782B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09" name="Funnel key label"/>
          <p:cNvSpPr txBox="1"/>
          <p:nvPr/>
        </p:nvSpPr>
        <p:spPr>
          <a:xfrm>
            <a:off x="6565392" y="1682496"/>
            <a:ext cx="548640" cy="329184"/>
          </a:xfrm>
          <a:prstGeom prst="rect">
            <a:avLst/>
          </a:prstGeom>
          <a:noFill/>
        </p:spPr>
        <p:txBody>
          <a:bodyPr wrap="square" lIns="0" tIns="0" rIns="0" bIns="0" anchor="ctr">
            <a:spAutoFit/>
          </a:bodyPr>
          <a:lstStyle/>
          <a:p>
            <a:r>
              <a:rPr sz="1150" b="0">
                <a:solidFill>
                  <a:srgbClr val="11151A"/>
                </a:solidFill>
                <a:latin typeface="Lato"/>
              </a:rPr>
              <a:t>Diesel</a:t>
            </a:r>
          </a:p>
        </p:txBody>
      </p:sp>
      <p:cxnSp>
        <p:nvCxnSpPr>
          <p:cNvPr id="63" name="Funnel rule"/>
          <p:cNvCxnSpPr/>
          <p:nvPr/>
        </p:nvCxnSpPr>
        <p:spPr>
          <a:xfrm>
            <a:off x="457200" y="2048256"/>
            <a:ext cx="10652760" cy="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
        <p:nvSpPr>
          <p:cNvPr id="65" name="Funnel step"/>
          <p:cNvSpPr txBox="1"/>
          <p:nvPr/>
        </p:nvSpPr>
        <p:spPr>
          <a:xfrm>
            <a:off x="530352" y="2238756"/>
            <a:ext cx="2651760" cy="508000"/>
          </a:xfrm>
          <a:prstGeom prst="rect">
            <a:avLst/>
          </a:prstGeom>
          <a:noFill/>
        </p:spPr>
        <p:txBody>
          <a:bodyPr wrap="square" lIns="0" tIns="0" rIns="0" bIns="0" anchor="ctr">
            <a:spAutoFit/>
          </a:bodyPr>
          <a:lstStyle/>
          <a:p>
            <a:pPr algn="l"/>
            <a:r>
              <a:rPr sz="1350" b="1">
                <a:solidFill>
                  <a:srgbClr val="11151A"/>
                </a:solidFill>
                <a:latin typeface="Lato"/>
              </a:rPr>
              <a:t>1  National demand</a:t>
            </a:r>
          </a:p>
        </p:txBody>
      </p:sp>
      <p:cxnSp>
        <p:nvCxnSpPr>
          <p:cNvPr id="7" name="Funnel rule"/>
          <p:cNvCxnSpPr/>
          <p:nvPr/>
        </p:nvCxnSpPr>
        <p:spPr>
          <a:xfrm>
            <a:off x="457200" y="2937256"/>
            <a:ext cx="10652760" cy="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
        <p:nvSpPr>
          <p:cNvPr id="110" name="Funnel bar"/>
          <p:cNvSpPr/>
          <p:nvPr/>
        </p:nvSpPr>
        <p:spPr>
          <a:xfrm>
            <a:off x="3154679" y="2238756"/>
            <a:ext cx="1397050" cy="508000"/>
          </a:xfrm>
          <a:prstGeom prst="rect">
            <a:avLst/>
          </a:prstGeom>
          <a:solidFill>
            <a:srgbClr val="0A237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ato"/>
              </a:rPr>
              <a:t>9.3</a:t>
            </a:r>
          </a:p>
        </p:txBody>
      </p:sp>
      <p:sp>
        <p:nvSpPr>
          <p:cNvPr id="111" name="Funnel bar"/>
          <p:cNvSpPr/>
          <p:nvPr/>
        </p:nvSpPr>
        <p:spPr>
          <a:xfrm>
            <a:off x="4570017" y="2238756"/>
            <a:ext cx="2425139" cy="508000"/>
          </a:xfrm>
          <a:prstGeom prst="rect">
            <a:avLst/>
          </a:prstGeom>
          <a:solidFill>
            <a:srgbClr val="6782B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ato"/>
              </a:rPr>
              <a:t>16.1</a:t>
            </a:r>
          </a:p>
        </p:txBody>
      </p:sp>
      <p:sp>
        <p:nvSpPr>
          <p:cNvPr id="112" name="Funnel total"/>
          <p:cNvSpPr txBox="1"/>
          <p:nvPr/>
        </p:nvSpPr>
        <p:spPr>
          <a:xfrm>
            <a:off x="7096757" y="2238756"/>
            <a:ext cx="2194560" cy="508000"/>
          </a:xfrm>
          <a:prstGeom prst="rect">
            <a:avLst/>
          </a:prstGeom>
          <a:noFill/>
        </p:spPr>
        <p:txBody>
          <a:bodyPr wrap="square" lIns="0" tIns="0" rIns="0" bIns="0" anchor="ctr">
            <a:spAutoFit/>
          </a:bodyPr>
          <a:lstStyle/>
          <a:p>
            <a:r>
              <a:rPr sz="1400" b="1">
                <a:solidFill>
                  <a:srgbClr val="0A2373"/>
                </a:solidFill>
                <a:latin typeface="Lato"/>
              </a:rPr>
              <a:t>= 25.4</a:t>
            </a:r>
          </a:p>
        </p:txBody>
      </p:sp>
      <p:sp>
        <p:nvSpPr>
          <p:cNvPr id="113" name="Funnel basis"/>
          <p:cNvSpPr txBox="1"/>
          <p:nvPr/>
        </p:nvSpPr>
        <p:spPr>
          <a:xfrm>
            <a:off x="7818120" y="2073656"/>
            <a:ext cx="2880360" cy="838200"/>
          </a:xfrm>
          <a:prstGeom prst="rect">
            <a:avLst/>
          </a:prstGeom>
          <a:noFill/>
        </p:spPr>
        <p:txBody>
          <a:bodyPr wrap="square" lIns="0" tIns="0" rIns="0" bIns="0" anchor="ctr">
            <a:spAutoFit/>
          </a:bodyPr>
          <a:lstStyle/>
          <a:p>
            <a:r>
              <a:rPr sz="1100" b="0">
                <a:solidFill>
                  <a:srgbClr val="11151A"/>
                </a:solidFill>
                <a:latin typeface="Lato"/>
              </a:rPr>
              <a:t>Petrol 9.3 and diesel 16.1: production plus imports less exports (p4).</a:t>
            </a:r>
          </a:p>
        </p:txBody>
      </p:sp>
      <p:sp>
        <p:nvSpPr>
          <p:cNvPr id="9" name="Funnel step"/>
          <p:cNvSpPr txBox="1"/>
          <p:nvPr/>
        </p:nvSpPr>
        <p:spPr>
          <a:xfrm>
            <a:off x="530352" y="3127756"/>
            <a:ext cx="2651760" cy="508000"/>
          </a:xfrm>
          <a:prstGeom prst="rect">
            <a:avLst/>
          </a:prstGeom>
          <a:noFill/>
        </p:spPr>
        <p:txBody>
          <a:bodyPr wrap="square" lIns="0" tIns="0" rIns="0" bIns="0" anchor="ctr">
            <a:spAutoFit/>
          </a:bodyPr>
          <a:lstStyle/>
          <a:p>
            <a:pPr algn="l"/>
            <a:r>
              <a:rPr sz="1350" b="1">
                <a:solidFill>
                  <a:srgbClr val="11151A"/>
                </a:solidFill>
                <a:latin typeface="Lato"/>
              </a:rPr>
              <a:t>2  Market of interest</a:t>
            </a:r>
          </a:p>
        </p:txBody>
      </p:sp>
      <p:cxnSp>
        <p:nvCxnSpPr>
          <p:cNvPr id="10" name="Funnel rule"/>
          <p:cNvCxnSpPr/>
          <p:nvPr/>
        </p:nvCxnSpPr>
        <p:spPr>
          <a:xfrm>
            <a:off x="457200" y="3826256"/>
            <a:ext cx="10652760" cy="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
        <p:nvSpPr>
          <p:cNvPr id="4" name="Funnel link"/>
          <p:cNvSpPr/>
          <p:nvPr/>
        </p:nvSpPr>
        <p:spPr>
          <a:xfrm>
            <a:off x="3154679" y="2746756"/>
            <a:ext cx="3840478" cy="381000"/>
          </a:xfrm>
          <a:custGeom>
            <a:avLst/>
            <a:gdLst/>
            <a:ahLst/>
            <a:cxnLst/>
            <a:rect l="l" t="t" r="r" b="b"/>
            <a:pathLst>
              <a:path w="3840478" h="381000">
                <a:moveTo>
                  <a:pt x="0" y="0"/>
                </a:moveTo>
                <a:lnTo>
                  <a:pt x="3840478" y="0"/>
                </a:lnTo>
                <a:lnTo>
                  <a:pt x="3297731" y="381000"/>
                </a:lnTo>
                <a:lnTo>
                  <a:pt x="542746" y="381000"/>
                </a:lnTo>
                <a:close/>
              </a:path>
            </a:pathLst>
          </a:custGeom>
          <a:solidFill>
            <a:srgbClr val="E3E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Funnel bar"/>
          <p:cNvSpPr/>
          <p:nvPr/>
        </p:nvSpPr>
        <p:spPr>
          <a:xfrm>
            <a:off x="3697425" y="3127756"/>
            <a:ext cx="1055032" cy="508000"/>
          </a:xfrm>
          <a:prstGeom prst="rect">
            <a:avLst/>
          </a:prstGeom>
          <a:solidFill>
            <a:srgbClr val="0A237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ato"/>
              </a:rPr>
              <a:t>7.0</a:t>
            </a:r>
          </a:p>
        </p:txBody>
      </p:sp>
      <p:sp>
        <p:nvSpPr>
          <p:cNvPr id="115" name="Funnel bar"/>
          <p:cNvSpPr/>
          <p:nvPr/>
        </p:nvSpPr>
        <p:spPr>
          <a:xfrm>
            <a:off x="4770745" y="3127756"/>
            <a:ext cx="1681665" cy="508000"/>
          </a:xfrm>
          <a:prstGeom prst="rect">
            <a:avLst/>
          </a:prstGeom>
          <a:solidFill>
            <a:srgbClr val="6782B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ato"/>
              </a:rPr>
              <a:t>11.2</a:t>
            </a:r>
          </a:p>
        </p:txBody>
      </p:sp>
      <p:sp>
        <p:nvSpPr>
          <p:cNvPr id="116" name="Funnel total"/>
          <p:cNvSpPr txBox="1"/>
          <p:nvPr/>
        </p:nvSpPr>
        <p:spPr>
          <a:xfrm>
            <a:off x="6554010" y="3127756"/>
            <a:ext cx="2194560" cy="508000"/>
          </a:xfrm>
          <a:prstGeom prst="rect">
            <a:avLst/>
          </a:prstGeom>
          <a:noFill/>
        </p:spPr>
        <p:txBody>
          <a:bodyPr wrap="square" lIns="0" tIns="0" rIns="0" bIns="0" anchor="ctr">
            <a:spAutoFit/>
          </a:bodyPr>
          <a:lstStyle/>
          <a:p>
            <a:r>
              <a:rPr sz="1400" b="1">
                <a:solidFill>
                  <a:srgbClr val="0A2373"/>
                </a:solidFill>
                <a:latin typeface="Lato"/>
              </a:rPr>
              <a:t>= 18.2</a:t>
            </a:r>
          </a:p>
        </p:txBody>
      </p:sp>
      <p:sp>
        <p:nvSpPr>
          <p:cNvPr id="117" name="Funnel basis"/>
          <p:cNvSpPr txBox="1"/>
          <p:nvPr/>
        </p:nvSpPr>
        <p:spPr>
          <a:xfrm>
            <a:off x="7818120" y="2962656"/>
            <a:ext cx="2880360" cy="838200"/>
          </a:xfrm>
          <a:prstGeom prst="rect">
            <a:avLst/>
          </a:prstGeom>
          <a:noFill/>
        </p:spPr>
        <p:txBody>
          <a:bodyPr wrap="square" lIns="0" tIns="0" rIns="0" bIns="0" anchor="ctr">
            <a:spAutoFit/>
          </a:bodyPr>
          <a:lstStyle/>
          <a:p>
            <a:r>
              <a:rPr sz="1100" b="0">
                <a:solidFill>
                  <a:srgbClr val="11151A"/>
                </a:solidFill>
                <a:latin typeface="Lato"/>
              </a:rPr>
              <a:t>Gauteng, KwaZulu-Natal, Mpumalanga, Free State, North West and Limpopo: 72% of national demand (p13).</a:t>
            </a:r>
          </a:p>
        </p:txBody>
      </p:sp>
      <p:sp>
        <p:nvSpPr>
          <p:cNvPr id="11" name="Funnel step"/>
          <p:cNvSpPr txBox="1"/>
          <p:nvPr/>
        </p:nvSpPr>
        <p:spPr>
          <a:xfrm>
            <a:off x="530352" y="4016756"/>
            <a:ext cx="2651760" cy="508000"/>
          </a:xfrm>
          <a:prstGeom prst="rect">
            <a:avLst/>
          </a:prstGeom>
          <a:noFill/>
        </p:spPr>
        <p:txBody>
          <a:bodyPr wrap="square" lIns="0" tIns="0" rIns="0" bIns="0" anchor="ctr">
            <a:spAutoFit/>
          </a:bodyPr>
          <a:lstStyle/>
          <a:p>
            <a:pPr algn="l"/>
            <a:r>
              <a:rPr sz="1350" b="1">
                <a:solidFill>
                  <a:srgbClr val="11151A"/>
                </a:solidFill>
                <a:latin typeface="Lato"/>
              </a:rPr>
              <a:t>3  Addressable market</a:t>
            </a:r>
          </a:p>
        </p:txBody>
      </p:sp>
      <p:cxnSp>
        <p:nvCxnSpPr>
          <p:cNvPr id="12" name="Funnel rule"/>
          <p:cNvCxnSpPr/>
          <p:nvPr/>
        </p:nvCxnSpPr>
        <p:spPr>
          <a:xfrm>
            <a:off x="457200" y="4715256"/>
            <a:ext cx="10652760" cy="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
        <p:nvSpPr>
          <p:cNvPr id="5" name="Funnel link"/>
          <p:cNvSpPr/>
          <p:nvPr/>
        </p:nvSpPr>
        <p:spPr>
          <a:xfrm>
            <a:off x="3697425" y="3635756"/>
            <a:ext cx="2754985" cy="381000"/>
          </a:xfrm>
          <a:custGeom>
            <a:avLst/>
            <a:gdLst/>
            <a:ahLst/>
            <a:cxnLst/>
            <a:rect l="l" t="t" r="r" b="b"/>
            <a:pathLst>
              <a:path w="2754985" h="381000">
                <a:moveTo>
                  <a:pt x="0" y="0"/>
                </a:moveTo>
                <a:lnTo>
                  <a:pt x="2754985" y="0"/>
                </a:lnTo>
                <a:lnTo>
                  <a:pt x="2276965" y="381000"/>
                </a:lnTo>
                <a:lnTo>
                  <a:pt x="478020" y="381000"/>
                </a:lnTo>
                <a:close/>
              </a:path>
            </a:pathLst>
          </a:custGeom>
          <a:solidFill>
            <a:srgbClr val="E3E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Funnel bar"/>
          <p:cNvSpPr/>
          <p:nvPr/>
        </p:nvSpPr>
        <p:spPr>
          <a:xfrm>
            <a:off x="4175445" y="4016756"/>
            <a:ext cx="497096" cy="508000"/>
          </a:xfrm>
          <a:prstGeom prst="rect">
            <a:avLst/>
          </a:prstGeom>
          <a:solidFill>
            <a:srgbClr val="0A237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ato"/>
              </a:rPr>
              <a:t>3.3</a:t>
            </a:r>
          </a:p>
        </p:txBody>
      </p:sp>
      <p:sp>
        <p:nvSpPr>
          <p:cNvPr id="119" name="Funnel bar"/>
          <p:cNvSpPr/>
          <p:nvPr/>
        </p:nvSpPr>
        <p:spPr>
          <a:xfrm>
            <a:off x="4690829" y="4016756"/>
            <a:ext cx="1283561" cy="508000"/>
          </a:xfrm>
          <a:prstGeom prst="rect">
            <a:avLst/>
          </a:prstGeom>
          <a:solidFill>
            <a:srgbClr val="6782B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Lato"/>
              </a:rPr>
              <a:t>8.5</a:t>
            </a:r>
          </a:p>
        </p:txBody>
      </p:sp>
      <p:sp>
        <p:nvSpPr>
          <p:cNvPr id="120" name="Funnel total"/>
          <p:cNvSpPr txBox="1"/>
          <p:nvPr/>
        </p:nvSpPr>
        <p:spPr>
          <a:xfrm>
            <a:off x="6075990" y="4016756"/>
            <a:ext cx="2194560" cy="508000"/>
          </a:xfrm>
          <a:prstGeom prst="rect">
            <a:avLst/>
          </a:prstGeom>
          <a:noFill/>
        </p:spPr>
        <p:txBody>
          <a:bodyPr wrap="square" lIns="0" tIns="0" rIns="0" bIns="0" anchor="ctr">
            <a:spAutoFit/>
          </a:bodyPr>
          <a:lstStyle/>
          <a:p>
            <a:r>
              <a:rPr sz="1400" b="1">
                <a:solidFill>
                  <a:srgbClr val="0A2373"/>
                </a:solidFill>
                <a:latin typeface="Lato"/>
              </a:rPr>
              <a:t>= 11.9</a:t>
            </a:r>
          </a:p>
        </p:txBody>
      </p:sp>
      <p:sp>
        <p:nvSpPr>
          <p:cNvPr id="121" name="Funnel basis"/>
          <p:cNvSpPr txBox="1"/>
          <p:nvPr/>
        </p:nvSpPr>
        <p:spPr>
          <a:xfrm>
            <a:off x="7818120" y="3851656"/>
            <a:ext cx="2880360" cy="838200"/>
          </a:xfrm>
          <a:prstGeom prst="rect">
            <a:avLst/>
          </a:prstGeom>
          <a:noFill/>
        </p:spPr>
        <p:txBody>
          <a:bodyPr wrap="square" lIns="0" tIns="0" rIns="0" bIns="0" anchor="ctr">
            <a:spAutoFit/>
          </a:bodyPr>
          <a:lstStyle/>
          <a:p>
            <a:r>
              <a:rPr sz="1100" b="0">
                <a:solidFill>
                  <a:srgbClr val="11151A"/>
                </a:solidFill>
                <a:latin typeface="Lato"/>
              </a:rPr>
              <a:t>Market of interest less Secunda and Natref (p13): KwaZulu-Natal 5.0, inland 6.8. National imports 16.7 (66% of demand); Durban lands 13.2 (79%).</a:t>
            </a:r>
          </a:p>
        </p:txBody>
      </p:sp>
      <p:sp>
        <p:nvSpPr>
          <p:cNvPr id="13" name="Funnel step"/>
          <p:cNvSpPr txBox="1"/>
          <p:nvPr/>
        </p:nvSpPr>
        <p:spPr>
          <a:xfrm>
            <a:off x="530352" y="4905756"/>
            <a:ext cx="2651760" cy="508000"/>
          </a:xfrm>
          <a:prstGeom prst="rect">
            <a:avLst/>
          </a:prstGeom>
          <a:noFill/>
        </p:spPr>
        <p:txBody>
          <a:bodyPr wrap="square" lIns="0" tIns="0" rIns="0" bIns="0" anchor="ctr">
            <a:spAutoFit/>
          </a:bodyPr>
          <a:lstStyle/>
          <a:p>
            <a:pPr algn="l"/>
            <a:r>
              <a:rPr sz="1350" b="1">
                <a:solidFill>
                  <a:srgbClr val="11151A"/>
                </a:solidFill>
                <a:latin typeface="Lato"/>
              </a:rPr>
              <a:t>4  Achievable capture</a:t>
            </a:r>
          </a:p>
        </p:txBody>
      </p:sp>
      <p:cxnSp>
        <p:nvCxnSpPr>
          <p:cNvPr id="14" name="Funnel rule"/>
          <p:cNvCxnSpPr/>
          <p:nvPr/>
        </p:nvCxnSpPr>
        <p:spPr>
          <a:xfrm>
            <a:off x="457200" y="5604256"/>
            <a:ext cx="10652760" cy="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
        <p:nvSpPr>
          <p:cNvPr id="6" name="Funnel link"/>
          <p:cNvSpPr/>
          <p:nvPr/>
        </p:nvSpPr>
        <p:spPr>
          <a:xfrm>
            <a:off x="4175445" y="4524756"/>
            <a:ext cx="1798945" cy="381000"/>
          </a:xfrm>
          <a:custGeom>
            <a:avLst/>
            <a:gdLst/>
            <a:ahLst/>
            <a:cxnLst/>
            <a:rect l="l" t="t" r="r" b="b"/>
            <a:pathLst>
              <a:path w="1798945" h="381000">
                <a:moveTo>
                  <a:pt x="0" y="0"/>
                </a:moveTo>
                <a:lnTo>
                  <a:pt x="1798945" y="0"/>
                </a:lnTo>
                <a:lnTo>
                  <a:pt x="1079367" y="381000"/>
                </a:lnTo>
                <a:lnTo>
                  <a:pt x="719578" y="381000"/>
                </a:lnTo>
                <a:close/>
              </a:path>
            </a:pathLst>
          </a:custGeom>
          <a:solidFill>
            <a:srgbClr val="E3E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Funnel bar"/>
          <p:cNvSpPr/>
          <p:nvPr/>
        </p:nvSpPr>
        <p:spPr>
          <a:xfrm>
            <a:off x="4895023" y="4905756"/>
            <a:ext cx="92104" cy="508000"/>
          </a:xfrm>
          <a:prstGeom prst="rect">
            <a:avLst/>
          </a:prstGeom>
          <a:solidFill>
            <a:srgbClr val="0A237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23" name="Funnel bar"/>
          <p:cNvSpPr/>
          <p:nvPr/>
        </p:nvSpPr>
        <p:spPr>
          <a:xfrm>
            <a:off x="5005415" y="4905756"/>
            <a:ext cx="249397" cy="508000"/>
          </a:xfrm>
          <a:prstGeom prst="rect">
            <a:avLst/>
          </a:prstGeom>
          <a:solidFill>
            <a:srgbClr val="6782B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24" name="Funnel total"/>
          <p:cNvSpPr txBox="1"/>
          <p:nvPr/>
        </p:nvSpPr>
        <p:spPr>
          <a:xfrm>
            <a:off x="5356412" y="4905756"/>
            <a:ext cx="2194560" cy="508000"/>
          </a:xfrm>
          <a:prstGeom prst="rect">
            <a:avLst/>
          </a:prstGeom>
          <a:noFill/>
        </p:spPr>
        <p:txBody>
          <a:bodyPr wrap="square" lIns="0" tIns="0" rIns="0" bIns="0" anchor="ctr">
            <a:spAutoFit/>
          </a:bodyPr>
          <a:lstStyle/>
          <a:p>
            <a:r>
              <a:rPr sz="1150" b="1">
                <a:solidFill>
                  <a:srgbClr val="0A2373"/>
                </a:solidFill>
                <a:latin typeface="Lato"/>
              </a:rPr>
              <a:t>= 2.4  (petrol 0.7, diesel 1.7)</a:t>
            </a:r>
          </a:p>
        </p:txBody>
      </p:sp>
      <p:sp>
        <p:nvSpPr>
          <p:cNvPr id="125" name="Funnel basis"/>
          <p:cNvSpPr txBox="1"/>
          <p:nvPr/>
        </p:nvSpPr>
        <p:spPr>
          <a:xfrm>
            <a:off x="7818120" y="4740656"/>
            <a:ext cx="2880360" cy="838200"/>
          </a:xfrm>
          <a:prstGeom prst="rect">
            <a:avLst/>
          </a:prstGeom>
          <a:noFill/>
        </p:spPr>
        <p:txBody>
          <a:bodyPr wrap="square" lIns="0" tIns="0" rIns="0" bIns="0" anchor="ctr">
            <a:spAutoFit/>
          </a:bodyPr>
          <a:lstStyle/>
          <a:p>
            <a:r>
              <a:rPr sz="1100" b="0">
                <a:solidFill>
                  <a:srgbClr val="11151A"/>
                </a:solidFill>
                <a:latin typeface="Lato"/>
              </a:rPr>
              <a:t>Illustrative 20% of step 3: 1.0 at Durban, 1.4 through Lesedi. Vopak’s actual share is not published.</a:t>
            </a:r>
          </a:p>
        </p:txBody>
      </p:sp>
    </p:spTree>
    <p:extLst>
      <p:ext uri="{BB962C8B-B14F-4D97-AF65-F5344CB8AC3E}">
        <p14:creationId xmlns:p14="http://schemas.microsoft.com/office/powerpoint/2010/main" val="673878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Six drivers shape fuel demand: the economy, price, power, rail, electrified vehicles and efficiency</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15</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Stats SA (GDP; land transport survey P7162, July 2026 release); Department price history; Eskom Integrated Report 2025 and, for FY2026, the Minister of Electricity and Energy as reported by MyBroadband, 25 August 2026; naamsa quarterly reviews. Efficiency: US EPA and Department of Energy, fueleconomy.gov, like for like at the 2026 vehicle mix, as on p9. Detail: pp5–9.</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0" name="M takeaway">
            <a:extLst>
              <a:ext uri="{FF2B5EF4-FFF2-40B4-BE49-F238E27FC236}">
                <a16:creationId xmlns:a16="http://schemas.microsoft.com/office/drawing/2014/main" id="{494014AF-E149-4482-8FCD-16CEC0025A82}"/>
              </a:ext>
            </a:extLst>
          </p:cNvPr>
          <p:cNvSpPr>
            <a:spLocks noGrp="1"/>
          </p:cNvSpPr>
          <p:nvPr/>
        </p:nvSpPr>
        <p:spPr>
          <a:xfrm>
            <a:off x="457200" y="5870448"/>
            <a:ext cx="10648950" cy="304800"/>
          </a:xfrm>
          <a:prstGeom prst="rect">
            <a:avLst/>
          </a:prstGeom>
          <a:noFill/>
          <a:ln w="0">
            <a:noFill/>
          </a:ln>
        </p:spPr>
        <p:txBody>
          <a:bodyPr>
            <a:noAutofit/>
          </a:bodyPr>
          <a:lstStyle/>
          <a:p>
            <a:pPr>
              <a:defRPr sz="1500" b="1">
                <a:solidFill>
                  <a:srgbClr val="0A2373"/>
                </a:solidFill>
                <a:latin typeface="Lato"/>
                <a:ea typeface="Lato"/>
                <a:cs typeface="Lato"/>
              </a:defRPr>
            </a:pPr>
            <a:r>
              <a:rPr sz="1500" b="1">
                <a:solidFill>
                  <a:srgbClr val="0A2373"/>
                </a:solidFill>
                <a:latin typeface="Lato"/>
                <a:ea typeface="Lato"/>
                <a:cs typeface="Lato"/>
              </a:rPr>
              <a:t>The economy lifts diesel demand; power recovery, rail, electrified vehicles and efficiency pull demand down.</a:t>
            </a:r>
          </a:p>
        </p:txBody>
      </p:sp>
      <p:sp>
        <p:nvSpPr>
          <p:cNvPr id="56"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5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5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59"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sp>
        <p:nvSpPr>
          <p:cNvPr id="60" name="TextBox 59"/>
          <p:cNvSpPr txBox="1"/>
          <p:nvPr/>
        </p:nvSpPr>
        <p:spPr>
          <a:xfrm>
            <a:off x="457200" y="1645920"/>
            <a:ext cx="3429000" cy="237744"/>
          </a:xfrm>
          <a:prstGeom prst="rect">
            <a:avLst/>
          </a:prstGeom>
          <a:noFill/>
        </p:spPr>
        <p:txBody>
          <a:bodyPr wrap="square" lIns="0" tIns="0" rIns="0" bIns="0" anchor="ctr">
            <a:spAutoFit/>
          </a:bodyPr>
          <a:lstStyle/>
          <a:p>
            <a:r>
              <a:rPr sz="1200" b="1">
                <a:solidFill>
                  <a:srgbClr val="11151A"/>
                </a:solidFill>
                <a:latin typeface="Lato"/>
              </a:rPr>
              <a:t>1  Economic activity</a:t>
            </a:r>
          </a:p>
        </p:txBody>
      </p:sp>
      <p:sp>
        <p:nvSpPr>
          <p:cNvPr id="61" name="TextBox 60"/>
          <p:cNvSpPr txBox="1"/>
          <p:nvPr/>
        </p:nvSpPr>
        <p:spPr>
          <a:xfrm>
            <a:off x="457200" y="1874519"/>
            <a:ext cx="3429000" cy="182880"/>
          </a:xfrm>
          <a:prstGeom prst="rect">
            <a:avLst/>
          </a:prstGeom>
          <a:noFill/>
        </p:spPr>
        <p:txBody>
          <a:bodyPr wrap="square" lIns="0" tIns="0" rIns="0" bIns="0" anchor="ctr">
            <a:spAutoFit/>
          </a:bodyPr>
          <a:lstStyle/>
          <a:p>
            <a:r>
              <a:rPr sz="900" b="0">
                <a:solidFill>
                  <a:srgbClr val="666666"/>
                </a:solidFill>
                <a:latin typeface="Lato"/>
              </a:rPr>
              <a:t>GDP, R trillion at constant 2015 prices</a:t>
            </a:r>
          </a:p>
        </p:txBody>
      </p:sp>
      <p:graphicFrame>
        <p:nvGraphicFramePr>
          <p:cNvPr id="62" name="Chart"/>
          <p:cNvGraphicFramePr>
            <a:graphicFrameLocks noGrp="1"/>
          </p:cNvGraphicFramePr>
          <p:nvPr/>
        </p:nvGraphicFramePr>
        <p:xfrm>
          <a:off x="384048" y="2048256"/>
          <a:ext cx="3502152" cy="1572768"/>
        </p:xfrm>
        <a:graphic>
          <a:graphicData uri="http://schemas.openxmlformats.org/drawingml/2006/chart">
            <c:chart xmlns:c="http://schemas.openxmlformats.org/drawingml/2006/chart" xmlns:r="http://schemas.openxmlformats.org/officeDocument/2006/relationships" r:id="rId3"/>
          </a:graphicData>
        </a:graphic>
      </p:graphicFrame>
      <p:sp>
        <p:nvSpPr>
          <p:cNvPr id="63" name="TextBox 62"/>
          <p:cNvSpPr txBox="1"/>
          <p:nvPr/>
        </p:nvSpPr>
        <p:spPr>
          <a:xfrm>
            <a:off x="4069080" y="1645920"/>
            <a:ext cx="3429000" cy="237744"/>
          </a:xfrm>
          <a:prstGeom prst="rect">
            <a:avLst/>
          </a:prstGeom>
          <a:noFill/>
        </p:spPr>
        <p:txBody>
          <a:bodyPr wrap="square" lIns="0" tIns="0" rIns="0" bIns="0" anchor="ctr">
            <a:spAutoFit/>
          </a:bodyPr>
          <a:lstStyle/>
          <a:p>
            <a:r>
              <a:rPr sz="1200" b="1">
                <a:solidFill>
                  <a:srgbClr val="11151A"/>
                </a:solidFill>
                <a:latin typeface="Lato"/>
              </a:rPr>
              <a:t>2  Petrol price</a:t>
            </a:r>
          </a:p>
        </p:txBody>
      </p:sp>
      <p:sp>
        <p:nvSpPr>
          <p:cNvPr id="64" name="TextBox 63"/>
          <p:cNvSpPr txBox="1"/>
          <p:nvPr/>
        </p:nvSpPr>
        <p:spPr>
          <a:xfrm>
            <a:off x="4069080" y="1874519"/>
            <a:ext cx="3429000" cy="182880"/>
          </a:xfrm>
          <a:prstGeom prst="rect">
            <a:avLst/>
          </a:prstGeom>
          <a:noFill/>
        </p:spPr>
        <p:txBody>
          <a:bodyPr wrap="square" lIns="0" tIns="0" rIns="0" bIns="0" anchor="ctr">
            <a:spAutoFit/>
          </a:bodyPr>
          <a:lstStyle/>
          <a:p>
            <a:r>
              <a:rPr sz="900" b="0">
                <a:solidFill>
                  <a:srgbClr val="666666"/>
                </a:solidFill>
                <a:latin typeface="Lato"/>
              </a:rPr>
              <a:t>Rand a litre, annual average | 2026* = January–October</a:t>
            </a:r>
          </a:p>
        </p:txBody>
      </p:sp>
      <p:graphicFrame>
        <p:nvGraphicFramePr>
          <p:cNvPr id="65" name="Chart"/>
          <p:cNvGraphicFramePr>
            <a:graphicFrameLocks noGrp="1"/>
          </p:cNvGraphicFramePr>
          <p:nvPr/>
        </p:nvGraphicFramePr>
        <p:xfrm>
          <a:off x="3995928" y="2048256"/>
          <a:ext cx="3502152" cy="1572768"/>
        </p:xfrm>
        <a:graphic>
          <a:graphicData uri="http://schemas.openxmlformats.org/drawingml/2006/chart">
            <c:chart xmlns:c="http://schemas.openxmlformats.org/drawingml/2006/chart" xmlns:r="http://schemas.openxmlformats.org/officeDocument/2006/relationships" r:id="rId4"/>
          </a:graphicData>
        </a:graphic>
      </p:graphicFrame>
      <p:sp>
        <p:nvSpPr>
          <p:cNvPr id="66" name="TextBox 65"/>
          <p:cNvSpPr txBox="1"/>
          <p:nvPr/>
        </p:nvSpPr>
        <p:spPr>
          <a:xfrm>
            <a:off x="7680960" y="1645920"/>
            <a:ext cx="3429000" cy="237744"/>
          </a:xfrm>
          <a:prstGeom prst="rect">
            <a:avLst/>
          </a:prstGeom>
          <a:noFill/>
        </p:spPr>
        <p:txBody>
          <a:bodyPr wrap="square" lIns="0" tIns="0" rIns="0" bIns="0" anchor="ctr">
            <a:spAutoFit/>
          </a:bodyPr>
          <a:lstStyle/>
          <a:p>
            <a:r>
              <a:rPr sz="1200" b="1">
                <a:solidFill>
                  <a:srgbClr val="11151A"/>
                </a:solidFill>
                <a:latin typeface="Lato"/>
              </a:rPr>
              <a:t>3  Power recovery</a:t>
            </a:r>
          </a:p>
        </p:txBody>
      </p:sp>
      <p:sp>
        <p:nvSpPr>
          <p:cNvPr id="67" name="TextBox 66"/>
          <p:cNvSpPr txBox="1"/>
          <p:nvPr/>
        </p:nvSpPr>
        <p:spPr>
          <a:xfrm>
            <a:off x="7680960" y="1874519"/>
            <a:ext cx="3429000" cy="182880"/>
          </a:xfrm>
          <a:prstGeom prst="rect">
            <a:avLst/>
          </a:prstGeom>
          <a:noFill/>
        </p:spPr>
        <p:txBody>
          <a:bodyPr wrap="square" lIns="0" tIns="0" rIns="0" bIns="0" anchor="ctr">
            <a:spAutoFit/>
          </a:bodyPr>
          <a:lstStyle/>
          <a:p>
            <a:r>
              <a:rPr sz="900" b="0">
                <a:solidFill>
                  <a:srgbClr val="666666"/>
                </a:solidFill>
                <a:latin typeface="Lato"/>
              </a:rPr>
              <a:t>Eskom diesel and kerosene, billion litres, years to March</a:t>
            </a:r>
          </a:p>
        </p:txBody>
      </p:sp>
      <p:graphicFrame>
        <p:nvGraphicFramePr>
          <p:cNvPr id="68" name="Chart"/>
          <p:cNvGraphicFramePr>
            <a:graphicFrameLocks noGrp="1"/>
          </p:cNvGraphicFramePr>
          <p:nvPr/>
        </p:nvGraphicFramePr>
        <p:xfrm>
          <a:off x="7607808" y="2048256"/>
          <a:ext cx="3502152" cy="1572768"/>
        </p:xfrm>
        <a:graphic>
          <a:graphicData uri="http://schemas.openxmlformats.org/drawingml/2006/chart">
            <c:chart xmlns:c="http://schemas.openxmlformats.org/drawingml/2006/chart" xmlns:r="http://schemas.openxmlformats.org/officeDocument/2006/relationships" r:id="rId5"/>
          </a:graphicData>
        </a:graphic>
      </p:graphicFrame>
      <p:sp>
        <p:nvSpPr>
          <p:cNvPr id="69" name="TextBox 68"/>
          <p:cNvSpPr txBox="1"/>
          <p:nvPr/>
        </p:nvSpPr>
        <p:spPr>
          <a:xfrm>
            <a:off x="457200" y="3730752"/>
            <a:ext cx="3429000" cy="237744"/>
          </a:xfrm>
          <a:prstGeom prst="rect">
            <a:avLst/>
          </a:prstGeom>
          <a:noFill/>
        </p:spPr>
        <p:txBody>
          <a:bodyPr wrap="square" lIns="0" tIns="0" rIns="0" bIns="0" anchor="ctr">
            <a:spAutoFit/>
          </a:bodyPr>
          <a:lstStyle/>
          <a:p>
            <a:r>
              <a:rPr sz="1200" b="1">
                <a:solidFill>
                  <a:srgbClr val="11151A"/>
                </a:solidFill>
                <a:latin typeface="Lato"/>
              </a:rPr>
              <a:t>4  Road to rail</a:t>
            </a:r>
          </a:p>
        </p:txBody>
      </p:sp>
      <p:sp>
        <p:nvSpPr>
          <p:cNvPr id="70" name="TextBox 69"/>
          <p:cNvSpPr txBox="1"/>
          <p:nvPr/>
        </p:nvSpPr>
        <p:spPr>
          <a:xfrm>
            <a:off x="457200" y="3959352"/>
            <a:ext cx="3429000" cy="182880"/>
          </a:xfrm>
          <a:prstGeom prst="rect">
            <a:avLst/>
          </a:prstGeom>
          <a:noFill/>
        </p:spPr>
        <p:txBody>
          <a:bodyPr wrap="square" lIns="0" tIns="0" rIns="0" bIns="0" anchor="ctr">
            <a:spAutoFit/>
          </a:bodyPr>
          <a:lstStyle/>
          <a:p>
            <a:r>
              <a:rPr sz="900" b="0">
                <a:solidFill>
                  <a:srgbClr val="666666"/>
                </a:solidFill>
                <a:latin typeface="Lato"/>
              </a:rPr>
              <a:t>Rail freight, million tonnes | 2026* annualised from January–July</a:t>
            </a:r>
          </a:p>
        </p:txBody>
      </p:sp>
      <p:graphicFrame>
        <p:nvGraphicFramePr>
          <p:cNvPr id="71" name="Chart"/>
          <p:cNvGraphicFramePr>
            <a:graphicFrameLocks noGrp="1"/>
          </p:cNvGraphicFramePr>
          <p:nvPr/>
        </p:nvGraphicFramePr>
        <p:xfrm>
          <a:off x="384048" y="4133088"/>
          <a:ext cx="3502152" cy="1572768"/>
        </p:xfrm>
        <a:graphic>
          <a:graphicData uri="http://schemas.openxmlformats.org/drawingml/2006/chart">
            <c:chart xmlns:c="http://schemas.openxmlformats.org/drawingml/2006/chart" xmlns:r="http://schemas.openxmlformats.org/officeDocument/2006/relationships" r:id="rId6"/>
          </a:graphicData>
        </a:graphic>
      </p:graphicFrame>
      <p:sp>
        <p:nvSpPr>
          <p:cNvPr id="72" name="TextBox 71"/>
          <p:cNvSpPr txBox="1"/>
          <p:nvPr/>
        </p:nvSpPr>
        <p:spPr>
          <a:xfrm>
            <a:off x="4069080" y="3730752"/>
            <a:ext cx="3429000" cy="237744"/>
          </a:xfrm>
          <a:prstGeom prst="rect">
            <a:avLst/>
          </a:prstGeom>
          <a:noFill/>
        </p:spPr>
        <p:txBody>
          <a:bodyPr wrap="square" lIns="0" tIns="0" rIns="0" bIns="0" anchor="ctr">
            <a:spAutoFit/>
          </a:bodyPr>
          <a:lstStyle/>
          <a:p>
            <a:r>
              <a:rPr sz="1200" b="1">
                <a:solidFill>
                  <a:srgbClr val="11151A"/>
                </a:solidFill>
                <a:latin typeface="Lato"/>
              </a:rPr>
              <a:t>5  Electrified vehicles</a:t>
            </a:r>
          </a:p>
        </p:txBody>
      </p:sp>
      <p:sp>
        <p:nvSpPr>
          <p:cNvPr id="73" name="TextBox 72"/>
          <p:cNvSpPr txBox="1"/>
          <p:nvPr/>
        </p:nvSpPr>
        <p:spPr>
          <a:xfrm>
            <a:off x="4069080" y="3959352"/>
            <a:ext cx="3429000" cy="182880"/>
          </a:xfrm>
          <a:prstGeom prst="rect">
            <a:avLst/>
          </a:prstGeom>
          <a:noFill/>
        </p:spPr>
        <p:txBody>
          <a:bodyPr wrap="square" lIns="0" tIns="0" rIns="0" bIns="0" anchor="ctr">
            <a:spAutoFit/>
          </a:bodyPr>
          <a:lstStyle/>
          <a:p>
            <a:r>
              <a:rPr sz="900" b="0">
                <a:solidFill>
                  <a:srgbClr val="666666"/>
                </a:solidFill>
                <a:latin typeface="Lato"/>
              </a:rPr>
              <a:t>New sales, all electrified types | 2026* = January–June × 2</a:t>
            </a:r>
          </a:p>
        </p:txBody>
      </p:sp>
      <p:graphicFrame>
        <p:nvGraphicFramePr>
          <p:cNvPr id="74" name="Chart"/>
          <p:cNvGraphicFramePr>
            <a:graphicFrameLocks noGrp="1"/>
          </p:cNvGraphicFramePr>
          <p:nvPr/>
        </p:nvGraphicFramePr>
        <p:xfrm>
          <a:off x="3995928" y="4133088"/>
          <a:ext cx="3502152" cy="1572768"/>
        </p:xfrm>
        <a:graphic>
          <a:graphicData uri="http://schemas.openxmlformats.org/drawingml/2006/chart">
            <c:chart xmlns:c="http://schemas.openxmlformats.org/drawingml/2006/chart" xmlns:r="http://schemas.openxmlformats.org/officeDocument/2006/relationships" r:id="rId7"/>
          </a:graphicData>
        </a:graphic>
      </p:graphicFrame>
      <p:sp>
        <p:nvSpPr>
          <p:cNvPr id="75" name="TextBox 74"/>
          <p:cNvSpPr txBox="1"/>
          <p:nvPr/>
        </p:nvSpPr>
        <p:spPr>
          <a:xfrm>
            <a:off x="7680960" y="3730752"/>
            <a:ext cx="3429000" cy="237744"/>
          </a:xfrm>
          <a:prstGeom prst="rect">
            <a:avLst/>
          </a:prstGeom>
          <a:noFill/>
        </p:spPr>
        <p:txBody>
          <a:bodyPr wrap="square" lIns="0" tIns="0" rIns="0" bIns="0" anchor="ctr">
            <a:spAutoFit/>
          </a:bodyPr>
          <a:lstStyle/>
          <a:p>
            <a:r>
              <a:rPr sz="1200" b="1" dirty="0">
                <a:solidFill>
                  <a:srgbClr val="11151A"/>
                </a:solidFill>
                <a:latin typeface="Lato"/>
              </a:rPr>
              <a:t>6  Vehicle efficiency</a:t>
            </a:r>
          </a:p>
        </p:txBody>
      </p:sp>
      <p:sp>
        <p:nvSpPr>
          <p:cNvPr id="76" name="TextBox 75"/>
          <p:cNvSpPr txBox="1"/>
          <p:nvPr/>
        </p:nvSpPr>
        <p:spPr>
          <a:xfrm>
            <a:off x="7680960" y="3959352"/>
            <a:ext cx="3429000" cy="182880"/>
          </a:xfrm>
          <a:prstGeom prst="rect">
            <a:avLst/>
          </a:prstGeom>
          <a:noFill/>
        </p:spPr>
        <p:txBody>
          <a:bodyPr wrap="square" lIns="0" tIns="0" rIns="0" bIns="0" anchor="ctr">
            <a:spAutoFit/>
          </a:bodyPr>
          <a:lstStyle/>
          <a:p>
            <a:r>
              <a:rPr sz="900" b="0">
                <a:solidFill>
                  <a:srgbClr val="666666"/>
                </a:solidFill>
                <a:latin typeface="Lato"/>
              </a:rPr>
              <a:t>L/100 km, new vehicles (US, like for like): petrol (dark), diesel (light)</a:t>
            </a:r>
          </a:p>
        </p:txBody>
      </p:sp>
      <p:graphicFrame>
        <p:nvGraphicFramePr>
          <p:cNvPr id="77" name="Chart"/>
          <p:cNvGraphicFramePr>
            <a:graphicFrameLocks noGrp="1"/>
          </p:cNvGraphicFramePr>
          <p:nvPr/>
        </p:nvGraphicFramePr>
        <p:xfrm>
          <a:off x="7607808" y="4133088"/>
          <a:ext cx="3502152" cy="1572768"/>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173976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Demand in the market of interest reaches about 18.8bn litres by 2030 in the base case (17.6–20.2bn L)</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16</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600" dirty="0">
                <a:solidFill>
                  <a:srgbClr val="111111"/>
                </a:solidFill>
                <a:latin typeface="Lato"/>
                <a:ea typeface="Lato"/>
                <a:cs typeface="Lato"/>
              </a:rPr>
              <a:t>History: Department sales to 2021; 2022E–2025E production + imports − exports (p4); market of interest at its 2022 district share by product (p13). Cases: 2025E uses from the analytical workbook v02 (Segments), scaled to the market of interest; drivers and sources on p19. Secunda and Natref held at 2025E output.</a:t>
            </a:r>
            <a:endParaRPr sz="600" dirty="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2D7877C5-B65D-4837-9FE4-2B32D94EE59D}"/>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Billion litres, market of interest | history to 2025E at 2022 district shares, then cases to 2030</a:t>
            </a:r>
            <a:endParaRPr sz="975" b="0">
              <a:solidFill>
                <a:srgbClr val="626262"/>
              </a:solidFill>
              <a:latin typeface="Lato"/>
              <a:ea typeface="Lato"/>
              <a:cs typeface="Lato"/>
            </a:endParaRPr>
          </a:p>
        </p:txBody>
      </p:sp>
      <p:sp>
        <p:nvSpPr>
          <p:cNvPr id="83" name="Evidence unit">
            <a:extLst>
              <a:ext uri="{FF2B5EF4-FFF2-40B4-BE49-F238E27FC236}">
                <a16:creationId xmlns:a16="http://schemas.microsoft.com/office/drawing/2014/main" id="{2D7877C5-B65D-4837-9FE4-2B32D94EE59D}"/>
              </a:ext>
            </a:extLst>
          </p:cNvPr>
          <p:cNvSpPr>
            <a:spLocks noGrp="1"/>
          </p:cNvSpPr>
          <p:nvPr/>
        </p:nvSpPr>
        <p:spPr>
          <a:xfrm>
            <a:off x="3749039" y="2286000"/>
            <a:ext cx="3154680" cy="237744"/>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Diesel</a:t>
            </a:r>
            <a:endParaRPr sz="975" b="0">
              <a:solidFill>
                <a:srgbClr val="626262"/>
              </a:solidFill>
              <a:latin typeface="Lato"/>
              <a:ea typeface="Lato"/>
              <a:cs typeface="Lato"/>
            </a:endParaRPr>
          </a:p>
        </p:txBody>
      </p:sp>
      <p:sp>
        <p:nvSpPr>
          <p:cNvPr id="82" name="Evidence unit">
            <a:extLst>
              <a:ext uri="{FF2B5EF4-FFF2-40B4-BE49-F238E27FC236}">
                <a16:creationId xmlns:a16="http://schemas.microsoft.com/office/drawing/2014/main" id="{2D7877C5-B65D-4837-9FE4-2B32D94EE59D}"/>
              </a:ext>
            </a:extLst>
          </p:cNvPr>
          <p:cNvSpPr>
            <a:spLocks noGrp="1"/>
          </p:cNvSpPr>
          <p:nvPr/>
        </p:nvSpPr>
        <p:spPr>
          <a:xfrm>
            <a:off x="457200" y="2286000"/>
            <a:ext cx="3154680" cy="237744"/>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Petrol</a:t>
            </a:r>
            <a:endParaRPr sz="975" b="0">
              <a:solidFill>
                <a:srgbClr val="626262"/>
              </a:solidFill>
              <a:latin typeface="Lato"/>
              <a:ea typeface="Lato"/>
              <a:cs typeface="Lato"/>
            </a:endParaRPr>
          </a:p>
        </p:txBody>
      </p:sp>
      <p:sp>
        <p:nvSpPr>
          <p:cNvPr id="56" name="Evidence insights">
            <a:extLst>
              <a:ext uri="{FF2B5EF4-FFF2-40B4-BE49-F238E27FC236}">
                <a16:creationId xmlns:a16="http://schemas.microsoft.com/office/drawing/2014/main" id="{33C62F36-CE4A-4CE7-AA40-33340BDFC8F1}"/>
              </a:ext>
            </a:extLst>
          </p:cNvPr>
          <p:cNvSpPr>
            <a:spLocks noGrp="1"/>
          </p:cNvSpPr>
          <p:nvPr/>
        </p:nvSpPr>
        <p:spPr>
          <a:xfrm>
            <a:off x="7424928" y="2238375"/>
            <a:ext cx="3685032" cy="3143250"/>
          </a:xfrm>
          <a:prstGeom prst="rect">
            <a:avLst/>
          </a:prstGeom>
          <a:noFill/>
          <a:ln w="0">
            <a:noFill/>
          </a:ln>
        </p:spPr>
        <p:txBody>
          <a:bodyPr>
            <a:noAutofit/>
          </a:bodyPr>
          <a:lstStyle/>
          <a:p>
            <a:pPr>
              <a:defRPr sz="1350" b="0">
                <a:solidFill>
                  <a:srgbClr val="11151A"/>
                </a:solidFill>
                <a:latin typeface="Lato"/>
                <a:ea typeface="Lato"/>
                <a:cs typeface="Lato"/>
              </a:defRPr>
            </a:pPr>
            <a:r>
              <a:rPr lang="en-GB" sz="1350" b="0">
                <a:solidFill>
                  <a:srgbClr val="11151A"/>
                </a:solidFill>
                <a:latin typeface="Lato"/>
                <a:ea typeface="Lato"/>
                <a:cs typeface="Lato"/>
              </a:rPr>
              <a:t>Petrol, 2030: low 6.5bn L; base 6.9; high 7.4. In 2025E it is 7.0.</a:t>
            </a:r>
            <a:endParaRPr sz="1350" b="0">
              <a:solidFill>
                <a:srgbClr val="11151A"/>
              </a:solidFill>
              <a:latin typeface="Lato"/>
              <a:ea typeface="Lato"/>
              <a:cs typeface="Lato"/>
            </a:endParaRPr>
          </a:p>
          <a:p>
            <a:pPr>
              <a:defRPr sz="1350" b="0">
                <a:solidFill>
                  <a:srgbClr val="11151A"/>
                </a:solidFill>
                <a:latin typeface="Lato"/>
                <a:ea typeface="Lato"/>
                <a:cs typeface="Lato"/>
              </a:defRPr>
            </a:pPr>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Diesel, 2030: low 11.2bn L; base 11.9; high 12.8. In 2025E it is 11.2.</a:t>
            </a:r>
            <a:endParaRPr sz="1350" b="0">
              <a:solidFill>
                <a:srgbClr val="11151A"/>
              </a:solidFill>
              <a:latin typeface="Lato"/>
              <a:ea typeface="Lato"/>
              <a:cs typeface="Lato"/>
            </a:endParaRPr>
          </a:p>
          <a:p>
            <a:pPr>
              <a:defRPr sz="1350" b="0">
                <a:solidFill>
                  <a:srgbClr val="11151A"/>
                </a:solidFill>
                <a:latin typeface="Lato"/>
                <a:ea typeface="Lato"/>
                <a:cs typeface="Lato"/>
              </a:defRPr>
            </a:pPr>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To be brought in, 2030: low 11.3bn L; base 12.5; high 13.9, after Secunda and Natref (6.3bn L).</a:t>
            </a:r>
            <a:endParaRPr sz="1350" b="0">
              <a:solidFill>
                <a:srgbClr val="11151A"/>
              </a:solidFill>
              <a:latin typeface="Lato"/>
              <a:ea typeface="Lato"/>
              <a:cs typeface="Lato"/>
            </a:endParaRPr>
          </a:p>
          <a:p>
            <a:pPr>
              <a:defRPr sz="1350" b="0">
                <a:solidFill>
                  <a:srgbClr val="11151A"/>
                </a:solidFill>
                <a:latin typeface="Lato"/>
                <a:ea typeface="Lato"/>
                <a:cs typeface="Lato"/>
              </a:defRPr>
            </a:pPr>
            <a:endParaRPr sz="1350" b="0">
              <a:solidFill>
                <a:srgbClr val="11151A"/>
              </a:solidFill>
              <a:latin typeface="Lato"/>
              <a:ea typeface="Lato"/>
              <a:cs typeface="Lato"/>
            </a:endParaRPr>
          </a:p>
          <a:p>
            <a:pPr>
              <a:defRPr sz="1350" b="0">
                <a:solidFill>
                  <a:srgbClr val="11151A"/>
                </a:solidFill>
                <a:latin typeface="Lato"/>
                <a:ea typeface="Lato"/>
                <a:cs typeface="Lato"/>
              </a:defRPr>
            </a:pPr>
            <a:r>
              <a:rPr lang="en-GB" sz="1350" b="0">
                <a:solidFill>
                  <a:srgbClr val="11151A"/>
                </a:solidFill>
                <a:latin typeface="Lato"/>
                <a:ea typeface="Lato"/>
                <a:cs typeface="Lato"/>
              </a:rPr>
              <a:t>Petrol falls in 2026 as prices rise; the cases differ in GDP growth, petrol price, efficiency, rail, electric vehicles and peaker use (p19).</a:t>
            </a:r>
            <a:endParaRPr sz="1350" b="0">
              <a:solidFill>
                <a:srgbClr val="11151A"/>
              </a:solidFill>
              <a:latin typeface="Lato"/>
              <a:ea typeface="Lato"/>
              <a:cs typeface="Lato"/>
            </a:endParaRPr>
          </a:p>
        </p:txBody>
      </p:sp>
      <p:sp>
        <p:nvSpPr>
          <p:cNvPr id="57" name="Evidence takeaway">
            <a:extLst>
              <a:ext uri="{FF2B5EF4-FFF2-40B4-BE49-F238E27FC236}">
                <a16:creationId xmlns:a16="http://schemas.microsoft.com/office/drawing/2014/main" id="{B6C53BD9-36CF-4A69-841C-FDA40E078E5B}"/>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lang="en-GB" sz="1275" b="0">
                <a:solidFill>
                  <a:srgbClr val="0A2373"/>
                </a:solidFill>
                <a:latin typeface="Lato"/>
                <a:ea typeface="Lato"/>
                <a:cs typeface="Lato"/>
              </a:rPr>
              <a:t>Demand grows slowly in the base case; diesel sets the range, from 11.2 to 12.8bn litres in 2030.</a:t>
            </a:r>
            <a:endParaRPr sz="1275" b="0">
              <a:solidFill>
                <a:srgbClr val="0A2373"/>
              </a:solidFill>
              <a:latin typeface="Lato"/>
              <a:ea typeface="Lato"/>
              <a:cs typeface="Lato"/>
            </a:endParaRP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solidFill>
                  <a:srgbClr val="0A2373"/>
                </a:solidFill>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solidFill>
                  <a:srgbClr val="0A2373"/>
                </a:solidFill>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solidFill>
                  <a:srgbClr val="0A2373"/>
                </a:solidFill>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b="1">
                <a:solidFill>
                  <a:srgbClr val="FFFFFF"/>
                </a:solidFill>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lang="en-ZA" sz="1400" b="1">
                <a:latin typeface="Lato"/>
              </a:rPr>
              <a:t>Market of interest: petrol and diesel demand, history and cases to 2030</a:t>
            </a:r>
            <a:endParaRPr sz="1400" b="1">
              <a:latin typeface="Lato"/>
            </a:endParaRPr>
          </a:p>
        </p:txBody>
      </p:sp>
      <p:sp>
        <p:nvSpPr>
          <p:cNvPr id="73" name="Vopak exhibit right heading"/>
          <p:cNvSpPr txBox="1"/>
          <p:nvPr/>
        </p:nvSpPr>
        <p:spPr>
          <a:xfrm>
            <a:off x="7424927" y="1627632"/>
            <a:ext cx="3685032" cy="384048"/>
          </a:xfrm>
          <a:prstGeom prst="rect">
            <a:avLst/>
          </a:prstGeom>
          <a:noFill/>
        </p:spPr>
        <p:txBody>
          <a:bodyPr wrap="square" lIns="0" tIns="0" rIns="0" bIns="0">
            <a:spAutoFit/>
          </a:bodyPr>
          <a:lstStyle/>
          <a:p>
            <a:pPr>
              <a:spcAft>
                <a:spcPts val="300"/>
              </a:spcAft>
              <a:defRPr sz="1400" b="1">
                <a:solidFill>
                  <a:srgbClr val="000000"/>
                </a:solidFill>
                <a:latin typeface="Lato"/>
              </a:defRPr>
            </a:pPr>
            <a:r>
              <a:rPr lang="en-GB"/>
              <a:t>2030 demand by case</a:t>
            </a:r>
            <a:endParaRP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85" name="Chart"/>
          <p:cNvGraphicFramePr>
            <a:graphicFrameLocks noGrp="1"/>
          </p:cNvGraphicFramePr>
          <p:nvPr/>
        </p:nvGraphicFramePr>
        <p:xfrm>
          <a:off x="457200" y="2542032"/>
          <a:ext cx="3154680" cy="2788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6" name="Chart"/>
          <p:cNvGraphicFramePr>
            <a:graphicFrameLocks noGrp="1"/>
          </p:cNvGraphicFramePr>
          <p:nvPr/>
        </p:nvGraphicFramePr>
        <p:xfrm>
          <a:off x="3749039" y="2542032"/>
          <a:ext cx="3154680" cy="27889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46506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Substantial imports sustain the market, while customer capture determines Vopak’s expansion</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17</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GB" sz="600">
                <a:solidFill>
                  <a:srgbClr val="111111"/>
                </a:solidFill>
                <a:latin typeface="Lato"/>
                <a:ea typeface="Lato"/>
                <a:cs typeface="Lato"/>
              </a:rPr>
              <a:t>Base case, pp16 and 19;</a:t>
            </a:r>
            <a:r>
              <a:rPr sz="600">
                <a:solidFill>
                  <a:srgbClr val="111111"/>
                </a:solidFill>
                <a:latin typeface="Lato"/>
                <a:ea typeface="Lato"/>
                <a:cs typeface="Lato"/>
              </a:rPr>
              <a:t> market-sizing workbook and working-capacity assessment. </a:t>
            </a:r>
            <a:r>
              <a:rPr lang="en-ZA" sz="600">
                <a:solidFill>
                  <a:srgbClr val="111111"/>
                </a:solidFill>
                <a:latin typeface="Lato"/>
                <a:ea typeface="Lato"/>
                <a:cs typeface="Lato"/>
              </a:rPr>
              <a:t>Capture is illustrative. Contracted</a:t>
            </a:r>
            <a:r>
              <a:rPr sz="600">
                <a:solidFill>
                  <a:srgbClr val="111111"/>
                </a:solidFill>
                <a:latin typeface="Lato"/>
                <a:ea typeface="Lato"/>
                <a:cs typeface="Lato"/>
              </a:rPr>
              <a:t> share, product balance and usable capacity remain to be established. </a:t>
            </a:r>
            <a:r>
              <a:rPr lang="en-GB" sz="600">
                <a:solidFill>
                  <a:srgbClr val="111111"/>
                </a:solidFill>
                <a:latin typeface="Lato"/>
                <a:ea typeface="Lato"/>
                <a:cs typeface="Lato"/>
              </a:rPr>
              <a:t>Capture base: market-of-interest import requirement 2025, KwaZulu-Natal 5.0bn L and inland provinces 6.8bn L (p13).</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49" name="R import number">
            <a:extLst>
              <a:ext uri="{FF2B5EF4-FFF2-40B4-BE49-F238E27FC236}">
                <a16:creationId xmlns:a16="http://schemas.microsoft.com/office/drawing/2014/main" id="{260BAFE8-15A8-41E9-B151-B19C2116E893}"/>
              </a:ext>
            </a:extLst>
          </p:cNvPr>
          <p:cNvSpPr>
            <a:spLocks noGrp="1"/>
          </p:cNvSpPr>
          <p:nvPr/>
        </p:nvSpPr>
        <p:spPr>
          <a:xfrm>
            <a:off x="457200" y="1752600"/>
            <a:ext cx="3190875" cy="571500"/>
          </a:xfrm>
          <a:prstGeom prst="rect">
            <a:avLst/>
          </a:prstGeom>
          <a:noFill/>
          <a:ln w="0">
            <a:noFill/>
          </a:ln>
        </p:spPr>
        <p:txBody>
          <a:bodyPr>
            <a:noAutofit/>
          </a:bodyPr>
          <a:lstStyle/>
          <a:p>
            <a:pPr>
              <a:defRPr sz="3150" b="1">
                <a:solidFill>
                  <a:srgbClr val="0A2373"/>
                </a:solidFill>
                <a:latin typeface="Lato"/>
                <a:ea typeface="Lato"/>
                <a:cs typeface="Lato"/>
              </a:defRPr>
            </a:pPr>
            <a:r>
              <a:rPr lang="en-ZA" sz="3150" b="1">
                <a:solidFill>
                  <a:srgbClr val="0A2373"/>
                </a:solidFill>
                <a:latin typeface="Lato"/>
                <a:ea typeface="Lato"/>
                <a:cs typeface="Lato"/>
              </a:rPr>
              <a:t>12.5bn L</a:t>
            </a:r>
            <a:endParaRPr sz="3150" b="1">
              <a:solidFill>
                <a:srgbClr val="0A2373"/>
              </a:solidFill>
              <a:latin typeface="Lato"/>
              <a:ea typeface="Lato"/>
              <a:cs typeface="Lato"/>
            </a:endParaRPr>
          </a:p>
        </p:txBody>
      </p:sp>
      <p:sp>
        <p:nvSpPr>
          <p:cNvPr id="50" name="R import label">
            <a:extLst>
              <a:ext uri="{FF2B5EF4-FFF2-40B4-BE49-F238E27FC236}">
                <a16:creationId xmlns:a16="http://schemas.microsoft.com/office/drawing/2014/main" id="{C9FFBA8D-480C-4A1F-A8C7-B8EB1088BA82}"/>
              </a:ext>
            </a:extLst>
          </p:cNvPr>
          <p:cNvSpPr>
            <a:spLocks noGrp="1"/>
          </p:cNvSpPr>
          <p:nvPr/>
        </p:nvSpPr>
        <p:spPr>
          <a:xfrm>
            <a:off x="457200" y="2390775"/>
            <a:ext cx="3190875" cy="361950"/>
          </a:xfrm>
          <a:prstGeom prst="rect">
            <a:avLst/>
          </a:prstGeom>
          <a:noFill/>
          <a:ln w="0">
            <a:noFill/>
          </a:ln>
        </p:spPr>
        <p:txBody>
          <a:bodyPr>
            <a:noAutofit/>
          </a:bodyPr>
          <a:lstStyle/>
          <a:p>
            <a:pPr>
              <a:defRPr sz="1650" b="1">
                <a:solidFill>
                  <a:srgbClr val="0A2373"/>
                </a:solidFill>
                <a:latin typeface="Lato"/>
                <a:ea typeface="Lato"/>
                <a:cs typeface="Lato"/>
              </a:defRPr>
            </a:pPr>
            <a:r>
              <a:rPr lang="en-GB" sz="1650" b="1">
                <a:solidFill>
                  <a:srgbClr val="0A2373"/>
                </a:solidFill>
                <a:latin typeface="Lato"/>
                <a:ea typeface="Lato"/>
                <a:cs typeface="Lato"/>
              </a:rPr>
              <a:t>2030 import requirement, market of interest</a:t>
            </a:r>
            <a:endParaRPr sz="1650" b="1">
              <a:solidFill>
                <a:srgbClr val="0A2373"/>
              </a:solidFill>
              <a:latin typeface="Lato"/>
              <a:ea typeface="Lato"/>
              <a:cs typeface="Lato"/>
            </a:endParaRPr>
          </a:p>
        </p:txBody>
      </p:sp>
      <p:sp>
        <p:nvSpPr>
          <p:cNvPr id="51" name="R import explanation">
            <a:extLst>
              <a:ext uri="{FF2B5EF4-FFF2-40B4-BE49-F238E27FC236}">
                <a16:creationId xmlns:a16="http://schemas.microsoft.com/office/drawing/2014/main" id="{23C30C66-5E1C-44A5-B25D-90D8061177E8}"/>
              </a:ext>
            </a:extLst>
          </p:cNvPr>
          <p:cNvSpPr>
            <a:spLocks noGrp="1"/>
          </p:cNvSpPr>
          <p:nvPr/>
        </p:nvSpPr>
        <p:spPr>
          <a:xfrm>
            <a:off x="457200" y="2895600"/>
            <a:ext cx="3190875" cy="1524000"/>
          </a:xfrm>
          <a:prstGeom prst="rect">
            <a:avLst/>
          </a:prstGeom>
          <a:noFill/>
          <a:ln w="0">
            <a:noFill/>
          </a:ln>
        </p:spPr>
        <p:txBody>
          <a:bodyPr>
            <a:noAutofit/>
          </a:bodyPr>
          <a:lstStyle/>
          <a:p>
            <a:pPr>
              <a:defRPr sz="1500" b="0">
                <a:solidFill>
                  <a:srgbClr val="11151A"/>
                </a:solidFill>
                <a:latin typeface="Lato"/>
                <a:ea typeface="Lato"/>
                <a:cs typeface="Lato"/>
              </a:defRPr>
            </a:pPr>
            <a:r>
              <a:rPr lang="en-GB" sz="1500" b="0">
                <a:solidFill>
                  <a:srgbClr val="11151A"/>
                </a:solidFill>
                <a:latin typeface="Lato"/>
                <a:ea typeface="Lato"/>
                <a:cs typeface="Lato"/>
              </a:rPr>
              <a:t>Base case: demand of 18.8bn litres less Secunda and Natref output (6.3bn litres, held at 2025E). Growth broadly offsets efficiency, rail, power and electric-vehicle reductions (p16).</a:t>
            </a:r>
            <a:endParaRPr sz="1500" b="0">
              <a:solidFill>
                <a:srgbClr val="11151A"/>
              </a:solidFill>
              <a:latin typeface="Lato"/>
              <a:ea typeface="Lato"/>
              <a:cs typeface="Lato"/>
            </a:endParaRPr>
          </a:p>
        </p:txBody>
      </p:sp>
      <p:sp>
        <p:nvSpPr>
          <p:cNvPr id="52" name="R capture number">
            <a:extLst>
              <a:ext uri="{FF2B5EF4-FFF2-40B4-BE49-F238E27FC236}">
                <a16:creationId xmlns:a16="http://schemas.microsoft.com/office/drawing/2014/main" id="{73F80A3F-D9B3-4000-A4AB-8E2E01D3C4A7}"/>
              </a:ext>
            </a:extLst>
          </p:cNvPr>
          <p:cNvSpPr>
            <a:spLocks noGrp="1"/>
          </p:cNvSpPr>
          <p:nvPr/>
        </p:nvSpPr>
        <p:spPr>
          <a:xfrm>
            <a:off x="4191000" y="1752600"/>
            <a:ext cx="3238500" cy="571500"/>
          </a:xfrm>
          <a:prstGeom prst="rect">
            <a:avLst/>
          </a:prstGeom>
          <a:noFill/>
          <a:ln w="0">
            <a:noFill/>
          </a:ln>
        </p:spPr>
        <p:txBody>
          <a:bodyPr>
            <a:noAutofit/>
          </a:bodyPr>
          <a:lstStyle/>
          <a:p>
            <a:pPr>
              <a:defRPr sz="3150" b="1">
                <a:solidFill>
                  <a:srgbClr val="0A2373"/>
                </a:solidFill>
                <a:latin typeface="Lato"/>
                <a:ea typeface="Lato"/>
                <a:cs typeface="Lato"/>
              </a:defRPr>
            </a:pPr>
            <a:r>
              <a:rPr lang="en-ZA" sz="3150" b="1">
                <a:solidFill>
                  <a:srgbClr val="FF0000"/>
                </a:solidFill>
                <a:latin typeface="Lato"/>
                <a:ea typeface="Lato"/>
                <a:cs typeface="Lato"/>
              </a:rPr>
              <a:t>2.4bn L</a:t>
            </a:r>
          </a:p>
        </p:txBody>
      </p:sp>
      <p:sp>
        <p:nvSpPr>
          <p:cNvPr id="53" name="R capture label">
            <a:extLst>
              <a:ext uri="{FF2B5EF4-FFF2-40B4-BE49-F238E27FC236}">
                <a16:creationId xmlns:a16="http://schemas.microsoft.com/office/drawing/2014/main" id="{EE6602FD-9CFB-455B-B275-89691F622F23}"/>
              </a:ext>
            </a:extLst>
          </p:cNvPr>
          <p:cNvSpPr>
            <a:spLocks noGrp="1"/>
          </p:cNvSpPr>
          <p:nvPr/>
        </p:nvSpPr>
        <p:spPr>
          <a:xfrm>
            <a:off x="4191000" y="2390775"/>
            <a:ext cx="3238500" cy="571500"/>
          </a:xfrm>
          <a:prstGeom prst="rect">
            <a:avLst/>
          </a:prstGeom>
          <a:noFill/>
          <a:ln w="0">
            <a:noFill/>
          </a:ln>
        </p:spPr>
        <p:txBody>
          <a:bodyPr>
            <a:noAutofit/>
          </a:bodyPr>
          <a:lstStyle/>
          <a:p>
            <a:pPr>
              <a:defRPr sz="1650" b="1">
                <a:solidFill>
                  <a:srgbClr val="0A2373"/>
                </a:solidFill>
                <a:latin typeface="Lato"/>
                <a:ea typeface="Lato"/>
                <a:cs typeface="Lato"/>
              </a:defRPr>
            </a:pPr>
            <a:r>
              <a:rPr sz="1650" b="1">
                <a:solidFill>
                  <a:srgbClr val="0A2373"/>
                </a:solidFill>
                <a:latin typeface="Lato"/>
                <a:ea typeface="Lato"/>
                <a:cs typeface="Lato"/>
              </a:rPr>
              <a:t>Illustrative capture, Durban and Lesedi</a:t>
            </a:r>
          </a:p>
        </p:txBody>
      </p:sp>
      <p:sp>
        <p:nvSpPr>
          <p:cNvPr id="54" name="R capture explanation">
            <a:extLst>
              <a:ext uri="{FF2B5EF4-FFF2-40B4-BE49-F238E27FC236}">
                <a16:creationId xmlns:a16="http://schemas.microsoft.com/office/drawing/2014/main" id="{554DE4F0-5279-41A6-99D7-8E85850A18E9}"/>
              </a:ext>
            </a:extLst>
          </p:cNvPr>
          <p:cNvSpPr>
            <a:spLocks noGrp="1"/>
          </p:cNvSpPr>
          <p:nvPr/>
        </p:nvSpPr>
        <p:spPr>
          <a:xfrm>
            <a:off x="4191000" y="3086100"/>
            <a:ext cx="3238500" cy="1819275"/>
          </a:xfrm>
          <a:prstGeom prst="rect">
            <a:avLst/>
          </a:prstGeom>
          <a:noFill/>
          <a:ln w="0">
            <a:noFill/>
          </a:ln>
        </p:spPr>
        <p:txBody>
          <a:bodyPr>
            <a:noAutofit/>
          </a:bodyPr>
          <a:lstStyle/>
          <a:p>
            <a:pPr>
              <a:defRPr sz="1500" b="0">
                <a:solidFill>
                  <a:srgbClr val="11151A"/>
                </a:solidFill>
                <a:latin typeface="Lato"/>
                <a:ea typeface="Lato"/>
                <a:cs typeface="Lato"/>
              </a:defRPr>
            </a:pPr>
            <a:r>
              <a:rPr lang="en-GB" sz="1500" b="0">
                <a:solidFill>
                  <a:srgbClr val="11151A"/>
                </a:solidFill>
                <a:latin typeface="Lato"/>
                <a:ea typeface="Lato"/>
                <a:cs typeface="Lato"/>
              </a:rPr>
              <a:t>Assumes 20% of the 11.9bn litres the market of interest had to bring in, in 2025 (p13–14): 1.0bn litres at Durban and 1.4bn litres through Lesedi.</a:t>
            </a:r>
            <a:endParaRPr sz="1500" b="0">
              <a:solidFill>
                <a:srgbClr val="11151A"/>
              </a:solidFill>
              <a:latin typeface="Lato"/>
              <a:ea typeface="Lato"/>
              <a:cs typeface="Lato"/>
            </a:endParaRPr>
          </a:p>
          <a:p>
            <a:endParaRPr sz="1500" b="0">
              <a:solidFill>
                <a:srgbClr val="11151A"/>
              </a:solidFill>
              <a:latin typeface="Lato"/>
              <a:ea typeface="Lato"/>
              <a:cs typeface="Lato"/>
            </a:endParaRPr>
          </a:p>
          <a:p>
            <a:pPr>
              <a:defRPr sz="1500" b="0">
                <a:solidFill>
                  <a:srgbClr val="11151A"/>
                </a:solidFill>
                <a:latin typeface="Lato"/>
                <a:ea typeface="Lato"/>
                <a:cs typeface="Lato"/>
              </a:defRPr>
            </a:pPr>
            <a:r>
              <a:rPr sz="1500" b="0">
                <a:solidFill>
                  <a:srgbClr val="11151A"/>
                </a:solidFill>
                <a:latin typeface="Lato"/>
                <a:ea typeface="Lato"/>
                <a:cs typeface="Lato"/>
              </a:rPr>
              <a:t>Illustrative share; no explicit deduction for Matola or Walvis Bay diversion.</a:t>
            </a:r>
          </a:p>
        </p:txBody>
      </p:sp>
      <p:sp>
        <p:nvSpPr>
          <p:cNvPr id="55" name="R investment header">
            <a:extLst>
              <a:ext uri="{FF2B5EF4-FFF2-40B4-BE49-F238E27FC236}">
                <a16:creationId xmlns:a16="http://schemas.microsoft.com/office/drawing/2014/main" id="{6A925A1A-A629-4397-BA11-F03C2572F53B}"/>
              </a:ext>
            </a:extLst>
          </p:cNvPr>
          <p:cNvSpPr>
            <a:spLocks noGrp="1"/>
          </p:cNvSpPr>
          <p:nvPr/>
        </p:nvSpPr>
        <p:spPr>
          <a:xfrm>
            <a:off x="7953375" y="1838325"/>
            <a:ext cx="3152775" cy="904875"/>
          </a:xfrm>
          <a:prstGeom prst="rect">
            <a:avLst/>
          </a:prstGeom>
          <a:noFill/>
          <a:ln w="0">
            <a:noFill/>
          </a:ln>
        </p:spPr>
        <p:txBody>
          <a:bodyPr>
            <a:noAutofit/>
          </a:bodyPr>
          <a:lstStyle/>
          <a:p>
            <a:pPr>
              <a:defRPr sz="1875" b="1">
                <a:solidFill>
                  <a:srgbClr val="0A2373"/>
                </a:solidFill>
                <a:latin typeface="Lato"/>
                <a:ea typeface="Lato"/>
                <a:cs typeface="Lato"/>
              </a:defRPr>
            </a:pPr>
            <a:r>
              <a:rPr sz="1875" b="1">
                <a:solidFill>
                  <a:srgbClr val="0A2373"/>
                </a:solidFill>
                <a:latin typeface="Lato"/>
                <a:ea typeface="Lato"/>
                <a:cs typeface="Lato"/>
              </a:rPr>
              <a:t>Expansion follows</a:t>
            </a:r>
          </a:p>
          <a:p>
            <a:pPr>
              <a:defRPr sz="1875" b="1">
                <a:solidFill>
                  <a:srgbClr val="0A2373"/>
                </a:solidFill>
                <a:latin typeface="Lato"/>
                <a:ea typeface="Lato"/>
                <a:cs typeface="Lato"/>
              </a:defRPr>
            </a:pPr>
            <a:r>
              <a:rPr sz="1875" b="1">
                <a:solidFill>
                  <a:srgbClr val="0A2373"/>
                </a:solidFill>
                <a:latin typeface="Lato"/>
                <a:ea typeface="Lato"/>
                <a:cs typeface="Lato"/>
              </a:rPr>
              <a:t>secured incremental flow</a:t>
            </a:r>
          </a:p>
        </p:txBody>
      </p:sp>
      <p:sp>
        <p:nvSpPr>
          <p:cNvPr id="56" name="R investment explanation">
            <a:extLst>
              <a:ext uri="{FF2B5EF4-FFF2-40B4-BE49-F238E27FC236}">
                <a16:creationId xmlns:a16="http://schemas.microsoft.com/office/drawing/2014/main" id="{8186998E-16B1-4433-9175-288EE1C95EF8}"/>
              </a:ext>
            </a:extLst>
          </p:cNvPr>
          <p:cNvSpPr>
            <a:spLocks noGrp="1"/>
          </p:cNvSpPr>
          <p:nvPr/>
        </p:nvSpPr>
        <p:spPr>
          <a:xfrm>
            <a:off x="7953375" y="2933700"/>
            <a:ext cx="3152775" cy="1990725"/>
          </a:xfrm>
          <a:prstGeom prst="rect">
            <a:avLst/>
          </a:prstGeom>
          <a:noFill/>
          <a:ln w="0">
            <a:noFill/>
          </a:ln>
        </p:spPr>
        <p:txBody>
          <a:bodyPr>
            <a:noAutofit/>
          </a:bodyPr>
          <a:lstStyle/>
          <a:p>
            <a:pPr>
              <a:defRPr sz="1500" b="0">
                <a:solidFill>
                  <a:srgbClr val="11151A"/>
                </a:solidFill>
                <a:latin typeface="Lato"/>
                <a:ea typeface="Lato"/>
                <a:cs typeface="Lato"/>
              </a:defRPr>
            </a:pPr>
            <a:r>
              <a:rPr sz="1500" b="0">
                <a:solidFill>
                  <a:srgbClr val="11151A"/>
                </a:solidFill>
                <a:latin typeface="Lato"/>
                <a:ea typeface="Lato"/>
                <a:cs typeface="Lato"/>
              </a:rPr>
              <a:t>The illustrative flow fits the preliminary working-tank calculation.</a:t>
            </a:r>
          </a:p>
          <a:p>
            <a:endParaRPr sz="1500" b="0">
              <a:solidFill>
                <a:srgbClr val="11151A"/>
              </a:solidFill>
              <a:latin typeface="Lato"/>
              <a:ea typeface="Lato"/>
              <a:cs typeface="Lato"/>
            </a:endParaRPr>
          </a:p>
          <a:p>
            <a:pPr>
              <a:defRPr sz="1500" b="0">
                <a:solidFill>
                  <a:srgbClr val="11151A"/>
                </a:solidFill>
                <a:latin typeface="Lato"/>
                <a:ea typeface="Lato"/>
                <a:cs typeface="Lato"/>
              </a:defRPr>
            </a:pPr>
            <a:r>
              <a:rPr sz="1500" b="0">
                <a:solidFill>
                  <a:srgbClr val="11151A"/>
                </a:solidFill>
                <a:latin typeface="Lato"/>
                <a:ea typeface="Lato"/>
                <a:cs typeface="Lato"/>
              </a:rPr>
              <a:t>Secure additional customer volumes, establish usable capacity, and identify the constraint that investment would solve.</a:t>
            </a:r>
          </a:p>
        </p:txBody>
      </p:sp>
      <p:sp>
        <p:nvSpPr>
          <p:cNvPr id="57" name="R bottom rule">
            <a:extLst>
              <a:ext uri="{FF2B5EF4-FFF2-40B4-BE49-F238E27FC236}">
                <a16:creationId xmlns:a16="http://schemas.microsoft.com/office/drawing/2014/main" id="{1DD97E1A-8A77-4409-8E52-CAB8F618A46A}"/>
              </a:ext>
            </a:extLst>
          </p:cNvPr>
          <p:cNvSpPr>
            <a:spLocks noGrp="1"/>
          </p:cNvSpPr>
          <p:nvPr/>
        </p:nvSpPr>
        <p:spPr>
          <a:xfrm>
            <a:off x="457200" y="5305425"/>
            <a:ext cx="10648950" cy="9525"/>
          </a:xfrm>
          <a:prstGeom prst="rect">
            <a:avLst/>
          </a:prstGeom>
          <a:solidFill>
            <a:srgbClr val="C5C5C5"/>
          </a:solidFill>
          <a:ln w="0">
            <a:noFill/>
          </a:ln>
        </p:spPr>
        <p:txBody>
          <a:bodyPr/>
          <a:lstStyle/>
          <a:p>
            <a:endParaRPr lang="en-ZA"/>
          </a:p>
        </p:txBody>
      </p:sp>
      <p:sp>
        <p:nvSpPr>
          <p:cNvPr id="58" name="R takeaway">
            <a:extLst>
              <a:ext uri="{FF2B5EF4-FFF2-40B4-BE49-F238E27FC236}">
                <a16:creationId xmlns:a16="http://schemas.microsoft.com/office/drawing/2014/main" id="{9484190C-CA09-41A4-9196-410D3AB213F5}"/>
              </a:ext>
            </a:extLst>
          </p:cNvPr>
          <p:cNvSpPr>
            <a:spLocks noGrp="1"/>
          </p:cNvSpPr>
          <p:nvPr/>
        </p:nvSpPr>
        <p:spPr>
          <a:xfrm>
            <a:off x="457200" y="5619750"/>
            <a:ext cx="10648950" cy="457200"/>
          </a:xfrm>
          <a:prstGeom prst="rect">
            <a:avLst/>
          </a:prstGeom>
          <a:noFill/>
          <a:ln w="0">
            <a:noFill/>
          </a:ln>
        </p:spPr>
        <p:txBody>
          <a:bodyPr>
            <a:noAutofit/>
          </a:bodyPr>
          <a:lstStyle/>
          <a:p>
            <a:pPr>
              <a:defRPr sz="1725" b="1">
                <a:solidFill>
                  <a:srgbClr val="0A2373"/>
                </a:solidFill>
                <a:latin typeface="Lato"/>
                <a:ea typeface="Lato"/>
                <a:cs typeface="Lato"/>
              </a:defRPr>
            </a:pPr>
            <a:r>
              <a:rPr lang="en-GB" sz="1725" b="1">
                <a:solidFill>
                  <a:srgbClr val="FF0000"/>
                </a:solidFill>
                <a:latin typeface="Lato"/>
                <a:ea typeface="Lato"/>
                <a:cs typeface="Lato"/>
              </a:rPr>
              <a:t>Invest where secured additional volumes create a demonstrated capacity shortfall.</a:t>
            </a:r>
          </a:p>
        </p:txBody>
      </p:sp>
      <p:sp>
        <p:nvSpPr>
          <p:cNvPr id="59"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60"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61"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62"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spTree>
    <p:extLst>
      <p:ext uri="{BB962C8B-B14F-4D97-AF65-F5344CB8AC3E}">
        <p14:creationId xmlns:p14="http://schemas.microsoft.com/office/powerpoint/2010/main" val="271811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C39121-817A-4D3C-899A-D0A0C1F58930}"/>
              </a:ext>
            </a:extLst>
          </p:cNvPr>
          <p:cNvSpPr>
            <a:spLocks noGrp="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defRPr>
                <a:solidFill>
                  <a:srgbClr val="FFFFFF"/>
                </a:solidFill>
              </a:defRPr>
            </a:pPr>
            <a:endParaRPr/>
          </a:p>
        </p:txBody>
      </p:sp>
      <p:pic>
        <p:nvPicPr>
          <p:cNvPr id="16" name="Picture 2"/>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17" name="Picture 3"/>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a:extLst>
              <a:ext uri="{FF2B5EF4-FFF2-40B4-BE49-F238E27FC236}">
                <a16:creationId xmlns:a16="http://schemas.microsoft.com/office/drawing/2014/main" id="{5FD954C5-04DB-4280-B44C-D964E6C9CDDA}"/>
              </a:ext>
            </a:extLst>
          </p:cNvPr>
          <p:cNvSpPr>
            <a:spLocks noGrp="1"/>
          </p:cNvSpPr>
          <p:nvPr/>
        </p:nvSpPr>
        <p:spPr>
          <a:xfrm>
            <a:off x="594360" y="2468880"/>
            <a:ext cx="4709160" cy="1636345"/>
          </a:xfrm>
          <a:prstGeom prst="rect">
            <a:avLst/>
          </a:prstGeom>
          <a:noFill/>
        </p:spPr>
        <p:txBody>
          <a:bodyPr wrap="square" lIns="18288" tIns="0" rIns="18288" bIns="0">
            <a:spAutoFit/>
          </a:bodyPr>
          <a:lstStyle/>
          <a:p>
            <a:pPr>
              <a:spcAft>
                <a:spcPts val="800"/>
              </a:spcAft>
              <a:buNone/>
              <a:defRPr sz="3100" b="0">
                <a:solidFill>
                  <a:srgbClr val="FFFFFF"/>
                </a:solidFill>
                <a:latin typeface="Lato"/>
                <a:ea typeface="Lato"/>
                <a:cs typeface="Lato"/>
              </a:defRPr>
            </a:pPr>
            <a:r>
              <a:rPr>
                <a:solidFill>
                  <a:srgbClr val="FFFFFF"/>
                </a:solidFill>
              </a:rPr>
              <a:t>Thank you</a:t>
            </a:r>
          </a:p>
        </p:txBody>
      </p:sp>
      <p:sp>
        <p:nvSpPr>
          <p:cNvPr id="6" name="Connector 5">
            <a:extLst>
              <a:ext uri="{FF2B5EF4-FFF2-40B4-BE49-F238E27FC236}">
                <a16:creationId xmlns:a16="http://schemas.microsoft.com/office/drawing/2014/main" id="{8AC3AB0E-746B-4AF6-ABCD-D6526DA2BFFE}"/>
              </a:ext>
            </a:extLst>
          </p:cNvPr>
          <p:cNvSpPr>
            <a:spLocks noGrp="1"/>
          </p:cNvSpPr>
          <p:nvPr/>
        </p:nv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txBody>
          <a:bodyPr/>
          <a:lstStyle/>
          <a:p>
            <a:endParaRPr lang="en-ZA"/>
          </a:p>
        </p:txBody>
      </p:sp>
      <p:sp>
        <p:nvSpPr>
          <p:cNvPr id="7" name="TextBox 6">
            <a:extLst>
              <a:ext uri="{FF2B5EF4-FFF2-40B4-BE49-F238E27FC236}">
                <a16:creationId xmlns:a16="http://schemas.microsoft.com/office/drawing/2014/main" id="{92702DF3-0D72-4A19-ADCB-903E36583053}"/>
              </a:ext>
            </a:extLst>
          </p:cNvPr>
          <p:cNvSpPr>
            <a:spLocks noGrp="1"/>
          </p:cNvSpPr>
          <p:nvPr/>
        </p:nvSpPr>
        <p:spPr>
          <a:xfrm>
            <a:off x="594360" y="4617720"/>
            <a:ext cx="4572000" cy="523220"/>
          </a:xfrm>
          <a:prstGeom prst="rect">
            <a:avLst/>
          </a:prstGeom>
          <a:noFill/>
        </p:spPr>
        <p:txBody>
          <a:bodyPr wrap="square" lIns="18288" tIns="0" rIns="18288" bIns="0">
            <a:spAutoFit/>
          </a:bodyPr>
          <a:lstStyle/>
          <a:p>
            <a:pPr>
              <a:spcAft>
                <a:spcPts val="800"/>
              </a:spcAft>
              <a:buNone/>
              <a:defRPr sz="2100" b="0">
                <a:solidFill>
                  <a:srgbClr val="FFFFFF"/>
                </a:solidFill>
                <a:latin typeface="Lato"/>
                <a:ea typeface="Lato"/>
                <a:cs typeface="Lato"/>
              </a:defRPr>
            </a:pPr>
            <a:r>
              <a:rPr sz="1700">
                <a:solidFill>
                  <a:srgbClr val="FFFFFF"/>
                </a:solidFill>
              </a:rPr>
              <a:t>South Africa fuel market and Vopak opportunity</a:t>
            </a:r>
          </a:p>
        </p:txBody>
      </p:sp>
      <p:sp>
        <p:nvSpPr>
          <p:cNvPr id="8" name="TextBox 7">
            <a:extLst>
              <a:ext uri="{FF2B5EF4-FFF2-40B4-BE49-F238E27FC236}">
                <a16:creationId xmlns:a16="http://schemas.microsoft.com/office/drawing/2014/main" id="{C5CB190A-7488-44E1-8968-36FDC90EDA0B}"/>
              </a:ext>
            </a:extLst>
          </p:cNvPr>
          <p:cNvSpPr>
            <a:spLocks noGrp="1"/>
          </p:cNvSpPr>
          <p:nvPr/>
        </p:nvSpPr>
        <p:spPr>
          <a:xfrm>
            <a:off x="594360" y="52395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a:solidFill>
                  <a:srgbClr val="FFFFFF"/>
                </a:solidFill>
              </a:rPr>
              <a:t>Discussion</a:t>
            </a:r>
          </a:p>
        </p:txBody>
      </p:sp>
      <p:sp>
        <p:nvSpPr>
          <p:cNvPr id="9" name="TextBox 8">
            <a:extLst>
              <a:ext uri="{FF2B5EF4-FFF2-40B4-BE49-F238E27FC236}">
                <a16:creationId xmlns:a16="http://schemas.microsoft.com/office/drawing/2014/main" id="{D208E6D2-5587-493C-AED5-50FFAEFBCE44}"/>
              </a:ext>
            </a:extLst>
          </p:cNvPr>
          <p:cNvSpPr>
            <a:spLocks noGrp="1"/>
          </p:cNvSpPr>
          <p:nvPr/>
        </p:nvSpPr>
        <p:spPr>
          <a:xfrm>
            <a:off x="594360" y="5696712"/>
            <a:ext cx="4572000" cy="200055"/>
          </a:xfrm>
          <a:prstGeom prst="rect">
            <a:avLst/>
          </a:prstGeom>
          <a:noFill/>
        </p:spPr>
        <p:txBody>
          <a:bodyPr wrap="square" lIns="18288" tIns="0" rIns="18288" bIns="0">
            <a:spAutoFit/>
          </a:bodyPr>
          <a:lstStyle/>
          <a:p>
            <a:pPr>
              <a:spcAft>
                <a:spcPts val="800"/>
              </a:spcAft>
              <a:buNone/>
              <a:defRPr sz="1300" b="0">
                <a:solidFill>
                  <a:srgbClr val="FFFFFF"/>
                </a:solidFill>
                <a:latin typeface="Lato"/>
                <a:ea typeface="Lato"/>
                <a:cs typeface="Lato"/>
              </a:defRPr>
            </a:pPr>
            <a:r>
              <a:rPr lang="en-ZA">
                <a:solidFill>
                  <a:srgbClr val="FFFFFF"/>
                </a:solidFill>
              </a:rPr>
              <a:t>14 October 2026</a:t>
            </a:r>
            <a:endParaRPr>
              <a:solidFill>
                <a:srgbClr val="FFFFFF"/>
              </a:solidFill>
            </a:endParaRPr>
          </a:p>
        </p:txBody>
      </p:sp>
      <p:sp>
        <p:nvSpPr>
          <p:cNvPr id="10" name="TextBox 9">
            <a:extLst>
              <a:ext uri="{FF2B5EF4-FFF2-40B4-BE49-F238E27FC236}">
                <a16:creationId xmlns:a16="http://schemas.microsoft.com/office/drawing/2014/main" id="{15A94E5E-E17D-406B-B780-6593F829C0CA}"/>
              </a:ext>
            </a:extLst>
          </p:cNvPr>
          <p:cNvSpPr>
            <a:spLocks noGrp="1"/>
          </p:cNvSpPr>
          <p:nvPr/>
        </p:nvSpPr>
        <p:spPr>
          <a:xfrm>
            <a:off x="594360" y="6053328"/>
            <a:ext cx="4572000" cy="369332"/>
          </a:xfrm>
          <a:prstGeom prst="rect">
            <a:avLst/>
          </a:prstGeom>
          <a:noFill/>
        </p:spPr>
        <p:txBody>
          <a:bodyPr wrap="square" lIns="18288" tIns="0" rIns="18288" bIns="0">
            <a:spAutoFit/>
          </a:bodyPr>
          <a:lstStyle/>
          <a:p>
            <a:pPr>
              <a:spcAft>
                <a:spcPts val="800"/>
              </a:spcAft>
              <a:buNone/>
              <a:defRPr sz="1200" b="0">
                <a:solidFill>
                  <a:srgbClr val="FFFFFF"/>
                </a:solidFill>
                <a:latin typeface="Lato"/>
                <a:ea typeface="Lato"/>
                <a:cs typeface="Lato"/>
              </a:defRPr>
            </a:pPr>
            <a:endParaRPr sz="1200">
              <a:solidFill>
                <a:srgbClr val="FFFFFF"/>
              </a:solidFill>
            </a:endParaRPr>
          </a:p>
        </p:txBody>
      </p:sp>
      <p:sp>
        <p:nvSpPr>
          <p:cNvPr id="11" name="Photo source credit">
            <a:extLst>
              <a:ext uri="{FF2B5EF4-FFF2-40B4-BE49-F238E27FC236}">
                <a16:creationId xmlns:a16="http://schemas.microsoft.com/office/drawing/2014/main" id="{605235CD-EC7B-4D28-A4DA-C6360164F0A7}"/>
              </a:ext>
            </a:extLst>
          </p:cNvPr>
          <p:cNvSpPr>
            <a:spLocks noGrp="1"/>
          </p:cNvSpPr>
          <p:nvPr/>
        </p:nvSpPr>
        <p:spPr>
          <a:xfrm>
            <a:off x="594360" y="6400800"/>
            <a:ext cx="4754880" cy="164592"/>
          </a:xfrm>
          <a:prstGeom prst="rect">
            <a:avLst/>
          </a:prstGeom>
          <a:noFill/>
        </p:spPr>
        <p:txBody>
          <a:bodyPr wrap="square" lIns="18288" tIns="0" rIns="18288" bIns="0">
            <a:spAutoFit/>
          </a:bodyPr>
          <a:lstStyle/>
          <a:p>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a:ext uri="{FF2B5EF4-FFF2-40B4-BE49-F238E27FC236}">
                <a16:creationId xmlns:a16="http://schemas.microsoft.com/office/drawing/2014/main" id="{ED5236C5-84CC-47CC-8ACF-9C81666786AA}"/>
              </a:ext>
            </a:extLst>
          </p:cNvPr>
          <p:cNvSpPr>
            <a:spLocks noGrp="1"/>
          </p:cNvSpPr>
          <p:nvPr/>
        </p:nvSpPr>
        <p:spPr>
          <a:xfrm>
            <a:off x="59436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745302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Appendix: assumptions behind the Low, Base and High demand cases</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19</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700">
                <a:solidFill>
                  <a:srgbClr val="111111"/>
                </a:solidFill>
                <a:latin typeface="Lato"/>
                <a:ea typeface="Lato"/>
                <a:cs typeface="Lato"/>
              </a:rPr>
              <a:t>Full references: IMF World Economic Outlook, October 2026; National Treasury 2026 Budget Review, Table 2.2; Medium-Term Development Plan 2024–2029; Akinboade, Ziramba and Kumo (2008), Energy Economics; Brons et al. (2008), Energy Economics; draft National Rail Master Plan (April 2026); system operator Medium-Term System Adequacy Outlook 2026–2030; Eskom 0.31 L/kWh (FY2024–25).</a:t>
            </a:r>
            <a:endParaRPr sz="7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0" name="M takeaway">
            <a:extLst>
              <a:ext uri="{FF2B5EF4-FFF2-40B4-BE49-F238E27FC236}">
                <a16:creationId xmlns:a16="http://schemas.microsoft.com/office/drawing/2014/main" id="{494014AF-E149-4482-8FCD-16CEC0025A82}"/>
              </a:ext>
            </a:extLst>
          </p:cNvPr>
          <p:cNvSpPr>
            <a:spLocks noGrp="1"/>
          </p:cNvSpPr>
          <p:nvPr/>
        </p:nvSpPr>
        <p:spPr>
          <a:xfrm>
            <a:off x="457200" y="5669280"/>
            <a:ext cx="10648950" cy="304800"/>
          </a:xfrm>
          <a:prstGeom prst="rect">
            <a:avLst/>
          </a:prstGeom>
          <a:noFill/>
          <a:ln w="0">
            <a:noFill/>
          </a:ln>
        </p:spPr>
        <p:txBody>
          <a:bodyPr>
            <a:noAutofit/>
          </a:bodyPr>
          <a:lstStyle/>
          <a:p>
            <a:pPr>
              <a:defRPr sz="1500" b="1">
                <a:solidFill>
                  <a:srgbClr val="0A2373"/>
                </a:solidFill>
                <a:latin typeface="Lato"/>
                <a:ea typeface="Lato"/>
                <a:cs typeface="Lato"/>
              </a:defRPr>
            </a:pPr>
            <a:r>
              <a:rPr lang="en-GB" sz="1500" b="1">
                <a:solidFill>
                  <a:srgbClr val="0A2373"/>
                </a:solidFill>
                <a:latin typeface="Lato"/>
                <a:ea typeface="Lato"/>
                <a:cs typeface="Lato"/>
              </a:rPr>
              <a:t>Each case applies the same calculation to 2025E demand in the market of interest; only the rates differ. They are cases, not forecasts.</a:t>
            </a:r>
            <a:endParaRPr sz="1500" b="1">
              <a:solidFill>
                <a:srgbClr val="0A2373"/>
              </a:solidFill>
              <a:latin typeface="Lato"/>
              <a:ea typeface="Lato"/>
              <a:cs typeface="Lato"/>
            </a:endParaRPr>
          </a:p>
        </p:txBody>
      </p:sp>
      <p:sp>
        <p:nvSpPr>
          <p:cNvPr id="56"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5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5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59"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graphicFrame>
        <p:nvGraphicFramePr>
          <p:cNvPr id="60" name="Assumptions table"/>
          <p:cNvGraphicFramePr>
            <a:graphicFrameLocks noGrp="1"/>
          </p:cNvGraphicFramePr>
          <p:nvPr>
            <p:extLst>
              <p:ext uri="{D42A27DB-BD31-4B8C-83A1-F6EECF244321}">
                <p14:modId xmlns:p14="http://schemas.microsoft.com/office/powerpoint/2010/main" val="2561362402"/>
              </p:ext>
            </p:extLst>
          </p:nvPr>
        </p:nvGraphicFramePr>
        <p:xfrm>
          <a:off x="457200" y="1498600"/>
          <a:ext cx="10223500" cy="3522980"/>
        </p:xfrm>
        <a:graphic>
          <a:graphicData uri="http://schemas.openxmlformats.org/drawingml/2006/table">
            <a:tbl>
              <a:tblPr/>
              <a:tblGrid>
                <a:gridCol w="1905000">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gridCol w="660400">
                  <a:extLst>
                    <a:ext uri="{9D8B030D-6E8A-4147-A177-3AD203B41FA5}">
                      <a16:colId xmlns:a16="http://schemas.microsoft.com/office/drawing/2014/main" val="20003"/>
                    </a:ext>
                  </a:extLst>
                </a:gridCol>
                <a:gridCol w="3175000">
                  <a:extLst>
                    <a:ext uri="{9D8B030D-6E8A-4147-A177-3AD203B41FA5}">
                      <a16:colId xmlns:a16="http://schemas.microsoft.com/office/drawing/2014/main" val="20004"/>
                    </a:ext>
                  </a:extLst>
                </a:gridCol>
                <a:gridCol w="3162300">
                  <a:extLst>
                    <a:ext uri="{9D8B030D-6E8A-4147-A177-3AD203B41FA5}">
                      <a16:colId xmlns:a16="http://schemas.microsoft.com/office/drawing/2014/main" val="4256707724"/>
                    </a:ext>
                  </a:extLst>
                </a:gridCol>
              </a:tblGrid>
              <a:tr h="228600">
                <a:tc>
                  <a:txBody>
                    <a:bodyPr/>
                    <a:lstStyle/>
                    <a:p>
                      <a:r>
                        <a:rPr lang="en-ZA" sz="1100" b="1">
                          <a:solidFill>
                            <a:srgbClr val="11151A"/>
                          </a:solidFill>
                          <a:latin typeface="Lato" panose="020F0502020204030203" pitchFamily="34" charset="0"/>
                        </a:rPr>
                        <a:t>Assumption</a:t>
                      </a:r>
                      <a:endParaRPr sz="1100" b="1" dirty="0">
                        <a:solidFill>
                          <a:srgbClr val="11151A"/>
                        </a:solidFill>
                        <a:latin typeface="Lato" panose="020F0502020204030203" pitchFamily="34" charset="0"/>
                      </a:endParaRPr>
                    </a:p>
                  </a:txBody>
                  <a:tcPr marL="38100" marR="38100" marT="12700" marB="12700" anchor="ctr">
                    <a:lnL w="6350">
                      <a:noFill/>
                    </a:lnL>
                    <a:lnR w="6350">
                      <a:noFill/>
                    </a:lnR>
                    <a:lnT w="6350">
                      <a:noFill/>
                    </a:lnT>
                    <a:lnB w="12700">
                      <a:solidFill>
                        <a:srgbClr val="7F7F7F"/>
                      </a:solidFill>
                    </a:lnB>
                    <a:noFill/>
                  </a:tcPr>
                </a:tc>
                <a:tc>
                  <a:txBody>
                    <a:bodyPr/>
                    <a:lstStyle/>
                    <a:p>
                      <a:r>
                        <a:rPr lang="en-ZA" sz="1100" b="1">
                          <a:solidFill>
                            <a:srgbClr val="11151A"/>
                          </a:solidFill>
                          <a:latin typeface="Lato" panose="020F0502020204030203" pitchFamily="34" charset="0"/>
                        </a:rPr>
                        <a:t>Low</a:t>
                      </a:r>
                      <a:endParaRPr sz="1100" b="1">
                        <a:solidFill>
                          <a:srgbClr val="11151A"/>
                        </a:solidFill>
                        <a:latin typeface="Lato" panose="020F0502020204030203" pitchFamily="34" charset="0"/>
                      </a:endParaRPr>
                    </a:p>
                  </a:txBody>
                  <a:tcPr marL="38100" marR="38100" marT="12700" marB="12700" anchor="ctr">
                    <a:lnL w="6350">
                      <a:noFill/>
                    </a:lnL>
                    <a:lnR w="6350">
                      <a:noFill/>
                    </a:lnR>
                    <a:lnT w="6350">
                      <a:noFill/>
                    </a:lnT>
                    <a:lnB w="12700">
                      <a:solidFill>
                        <a:srgbClr val="7F7F7F"/>
                      </a:solidFill>
                    </a:lnB>
                    <a:noFill/>
                  </a:tcPr>
                </a:tc>
                <a:tc>
                  <a:txBody>
                    <a:bodyPr/>
                    <a:lstStyle/>
                    <a:p>
                      <a:r>
                        <a:rPr lang="en-ZA" sz="1100" b="1">
                          <a:solidFill>
                            <a:srgbClr val="11151A"/>
                          </a:solidFill>
                          <a:latin typeface="Lato" panose="020F0502020204030203" pitchFamily="34" charset="0"/>
                        </a:rPr>
                        <a:t>Base</a:t>
                      </a:r>
                      <a:endParaRPr sz="1100" b="1">
                        <a:solidFill>
                          <a:srgbClr val="11151A"/>
                        </a:solidFill>
                        <a:latin typeface="Lato" panose="020F0502020204030203" pitchFamily="34" charset="0"/>
                      </a:endParaRPr>
                    </a:p>
                  </a:txBody>
                  <a:tcPr marL="38100" marR="38100" marT="12700" marB="12700" anchor="ctr">
                    <a:lnL w="6350">
                      <a:noFill/>
                    </a:lnL>
                    <a:lnR w="6350">
                      <a:noFill/>
                    </a:lnR>
                    <a:lnT w="6350">
                      <a:noFill/>
                    </a:lnT>
                    <a:lnB w="12700">
                      <a:solidFill>
                        <a:srgbClr val="7F7F7F"/>
                      </a:solidFill>
                    </a:lnB>
                    <a:noFill/>
                  </a:tcPr>
                </a:tc>
                <a:tc>
                  <a:txBody>
                    <a:bodyPr/>
                    <a:lstStyle/>
                    <a:p>
                      <a:r>
                        <a:rPr lang="en-ZA" sz="1100" b="1">
                          <a:solidFill>
                            <a:srgbClr val="11151A"/>
                          </a:solidFill>
                          <a:latin typeface="Lato" panose="020F0502020204030203" pitchFamily="34" charset="0"/>
                        </a:rPr>
                        <a:t>High</a:t>
                      </a:r>
                      <a:endParaRPr sz="1100" b="1">
                        <a:solidFill>
                          <a:srgbClr val="11151A"/>
                        </a:solidFill>
                        <a:latin typeface="Lato" panose="020F0502020204030203" pitchFamily="34" charset="0"/>
                      </a:endParaRPr>
                    </a:p>
                  </a:txBody>
                  <a:tcPr marL="38100" marR="38100" marT="12700" marB="12700" anchor="ctr">
                    <a:lnL w="6350">
                      <a:noFill/>
                    </a:lnL>
                    <a:lnR w="6350">
                      <a:noFill/>
                    </a:lnR>
                    <a:lnT w="6350">
                      <a:noFill/>
                    </a:lnT>
                    <a:lnB w="12700">
                      <a:solidFill>
                        <a:srgbClr val="7F7F7F"/>
                      </a:solidFill>
                    </a:lnB>
                    <a:noFill/>
                  </a:tcPr>
                </a:tc>
                <a:tc>
                  <a:txBody>
                    <a:bodyPr/>
                    <a:lstStyle/>
                    <a:p>
                      <a:r>
                        <a:rPr lang="en-ZA" sz="1100" b="1">
                          <a:solidFill>
                            <a:srgbClr val="11151A"/>
                          </a:solidFill>
                          <a:latin typeface="Lato" panose="020F0502020204030203" pitchFamily="34" charset="0"/>
                        </a:rPr>
                        <a:t>What it applies to</a:t>
                      </a:r>
                      <a:endParaRPr sz="1100" b="1">
                        <a:solidFill>
                          <a:srgbClr val="11151A"/>
                        </a:solidFill>
                        <a:latin typeface="Lato" panose="020F0502020204030203" pitchFamily="34" charset="0"/>
                      </a:endParaRPr>
                    </a:p>
                  </a:txBody>
                  <a:tcPr marL="38100" marR="38100" marT="12700" marB="12700" anchor="ctr">
                    <a:lnL w="6350">
                      <a:noFill/>
                    </a:lnL>
                    <a:lnR w="6350">
                      <a:noFill/>
                    </a:lnR>
                    <a:lnT w="6350">
                      <a:noFill/>
                    </a:lnT>
                    <a:lnB w="12700">
                      <a:solidFill>
                        <a:srgbClr val="7F7F7F"/>
                      </a:solidFill>
                    </a:lnB>
                    <a:noFill/>
                  </a:tcPr>
                </a:tc>
                <a:tc>
                  <a:txBody>
                    <a:bodyPr/>
                    <a:lstStyle/>
                    <a:p>
                      <a:r>
                        <a:rPr lang="en-ZA" sz="1100" b="1">
                          <a:solidFill>
                            <a:srgbClr val="11151A"/>
                          </a:solidFill>
                          <a:latin typeface="Lato" panose="020F0502020204030203" pitchFamily="34" charset="0"/>
                        </a:rPr>
                        <a:t>Source</a:t>
                      </a:r>
                      <a:endParaRPr sz="1100" b="1">
                        <a:solidFill>
                          <a:srgbClr val="11151A"/>
                        </a:solidFill>
                        <a:latin typeface="Lato" panose="020F0502020204030203" pitchFamily="34" charset="0"/>
                      </a:endParaRPr>
                    </a:p>
                  </a:txBody>
                  <a:tcPr marL="38100" marR="38100" marT="12700" marB="12700" anchor="ctr">
                    <a:lnL w="6350">
                      <a:noFill/>
                    </a:lnL>
                    <a:lnR w="6350">
                      <a:noFill/>
                    </a:lnR>
                    <a:lnT w="6350">
                      <a:noFill/>
                    </a:lnT>
                    <a:lnB w="1270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10000"/>
                  </a:ext>
                </a:extLst>
              </a:tr>
              <a:tr h="165100">
                <a:tc>
                  <a:txBody>
                    <a:bodyPr/>
                    <a:lstStyle/>
                    <a:p>
                      <a:r>
                        <a:rPr lang="en-ZA" sz="950" b="1">
                          <a:solidFill>
                            <a:srgbClr val="0A2373"/>
                          </a:solidFill>
                          <a:latin typeface="Lato" panose="020F0502020204030203" pitchFamily="34" charset="0"/>
                        </a:rPr>
                        <a:t>PETROL</a:t>
                      </a:r>
                      <a:endParaRPr sz="950" b="1" dirty="0">
                        <a:solidFill>
                          <a:srgbClr val="0A2373"/>
                        </a:solidFill>
                        <a:latin typeface="Lato" panose="020F0502020204030203" pitchFamily="34" charset="0"/>
                      </a:endParaRPr>
                    </a:p>
                  </a:txBody>
                  <a:tcPr marL="38100" marR="38100" marT="12700" marB="12700" anchor="ctr">
                    <a:lnL w="6350">
                      <a:noFill/>
                    </a:lnL>
                    <a:lnR w="6350">
                      <a:noFill/>
                    </a:lnR>
                    <a:lnT w="12700" cap="flat" cmpd="sng" algn="ctr">
                      <a:solidFill>
                        <a:srgbClr val="7F7F7F"/>
                      </a:solidFill>
                      <a:prstDash val="solid"/>
                      <a:round/>
                      <a:headEnd type="none" w="med" len="med"/>
                      <a:tailEnd type="none" w="med" len="med"/>
                    </a:lnT>
                    <a:lnB w="6350">
                      <a:solidFill>
                        <a:srgbClr val="D0D0D0"/>
                      </a:solidFill>
                    </a:lnB>
                    <a:solidFill>
                      <a:srgbClr val="E3E7F1"/>
                    </a:solidFill>
                  </a:tcPr>
                </a:tc>
                <a:tc>
                  <a:txBody>
                    <a:bodyPr/>
                    <a:lstStyle/>
                    <a:p>
                      <a:endParaRPr sz="950" b="1">
                        <a:solidFill>
                          <a:srgbClr val="0A2373"/>
                        </a:solidFill>
                        <a:latin typeface="Lato" panose="020F0502020204030203" pitchFamily="34" charset="0"/>
                      </a:endParaRPr>
                    </a:p>
                  </a:txBody>
                  <a:tcPr marL="38100" marR="38100" marT="12700" marB="12700" anchor="ctr">
                    <a:lnL w="6350">
                      <a:noFill/>
                    </a:lnL>
                    <a:lnR w="6350">
                      <a:noFill/>
                    </a:lnR>
                    <a:lnT w="12700" cap="flat" cmpd="sng" algn="ctr">
                      <a:solidFill>
                        <a:srgbClr val="7F7F7F"/>
                      </a:solidFill>
                      <a:prstDash val="solid"/>
                      <a:round/>
                      <a:headEnd type="none" w="med" len="med"/>
                      <a:tailEnd type="none" w="med" len="med"/>
                    </a:lnT>
                    <a:lnB w="6350">
                      <a:solidFill>
                        <a:srgbClr val="D0D0D0"/>
                      </a:solidFill>
                    </a:lnB>
                    <a:solidFill>
                      <a:srgbClr val="E3E7F1"/>
                    </a:solidFill>
                  </a:tcPr>
                </a:tc>
                <a:tc>
                  <a:txBody>
                    <a:bodyPr/>
                    <a:lstStyle/>
                    <a:p>
                      <a:endParaRPr sz="950" b="1">
                        <a:solidFill>
                          <a:srgbClr val="0A2373"/>
                        </a:solidFill>
                        <a:latin typeface="Lato" panose="020F0502020204030203" pitchFamily="34" charset="0"/>
                      </a:endParaRPr>
                    </a:p>
                  </a:txBody>
                  <a:tcPr marL="38100" marR="38100" marT="12700" marB="12700" anchor="ctr">
                    <a:lnL w="6350">
                      <a:noFill/>
                    </a:lnL>
                    <a:lnR w="6350">
                      <a:noFill/>
                    </a:lnR>
                    <a:lnT w="12700" cap="flat" cmpd="sng" algn="ctr">
                      <a:solidFill>
                        <a:srgbClr val="7F7F7F"/>
                      </a:solidFill>
                      <a:prstDash val="solid"/>
                      <a:round/>
                      <a:headEnd type="none" w="med" len="med"/>
                      <a:tailEnd type="none" w="med" len="med"/>
                    </a:lnT>
                    <a:lnB w="6350">
                      <a:solidFill>
                        <a:srgbClr val="D0D0D0"/>
                      </a:solidFill>
                    </a:lnB>
                    <a:solidFill>
                      <a:srgbClr val="E3E7F1"/>
                    </a:solidFill>
                  </a:tcPr>
                </a:tc>
                <a:tc>
                  <a:txBody>
                    <a:bodyPr/>
                    <a:lstStyle/>
                    <a:p>
                      <a:endParaRPr sz="950" b="1">
                        <a:solidFill>
                          <a:srgbClr val="0A2373"/>
                        </a:solidFill>
                        <a:latin typeface="Lato" panose="020F0502020204030203" pitchFamily="34" charset="0"/>
                      </a:endParaRPr>
                    </a:p>
                  </a:txBody>
                  <a:tcPr marL="38100" marR="38100" marT="12700" marB="12700" anchor="ctr">
                    <a:lnL w="6350">
                      <a:noFill/>
                    </a:lnL>
                    <a:lnR w="6350">
                      <a:noFill/>
                    </a:lnR>
                    <a:lnT w="12700" cap="flat" cmpd="sng" algn="ctr">
                      <a:solidFill>
                        <a:srgbClr val="7F7F7F"/>
                      </a:solidFill>
                      <a:prstDash val="solid"/>
                      <a:round/>
                      <a:headEnd type="none" w="med" len="med"/>
                      <a:tailEnd type="none" w="med" len="med"/>
                    </a:lnT>
                    <a:lnB w="6350">
                      <a:solidFill>
                        <a:srgbClr val="D0D0D0"/>
                      </a:solidFill>
                    </a:lnB>
                    <a:solidFill>
                      <a:srgbClr val="E3E7F1"/>
                    </a:solidFill>
                  </a:tcPr>
                </a:tc>
                <a:tc>
                  <a:txBody>
                    <a:bodyPr/>
                    <a:lstStyle/>
                    <a:p>
                      <a:endParaRPr sz="850" b="1">
                        <a:solidFill>
                          <a:srgbClr val="0A2373"/>
                        </a:solidFill>
                        <a:latin typeface="Lato" panose="020F0502020204030203" pitchFamily="34" charset="0"/>
                      </a:endParaRPr>
                    </a:p>
                  </a:txBody>
                  <a:tcPr marL="38100" marR="38100" marT="12700" marB="12700" anchor="ctr">
                    <a:lnL w="6350">
                      <a:noFill/>
                    </a:lnL>
                    <a:lnR w="6350">
                      <a:noFill/>
                    </a:lnR>
                    <a:lnT w="12700" cap="flat" cmpd="sng" algn="ctr">
                      <a:solidFill>
                        <a:srgbClr val="7F7F7F"/>
                      </a:solidFill>
                      <a:prstDash val="solid"/>
                      <a:round/>
                      <a:headEnd type="none" w="med" len="med"/>
                      <a:tailEnd type="none" w="med" len="med"/>
                    </a:lnT>
                    <a:lnB w="6350">
                      <a:solidFill>
                        <a:srgbClr val="D0D0D0"/>
                      </a:solidFill>
                    </a:lnB>
                    <a:solidFill>
                      <a:srgbClr val="E3E7F1"/>
                    </a:solidFill>
                  </a:tcPr>
                </a:tc>
                <a:tc>
                  <a:txBody>
                    <a:bodyPr/>
                    <a:lstStyle/>
                    <a:p>
                      <a:endParaRPr sz="850" b="1">
                        <a:solidFill>
                          <a:srgbClr val="0A2373"/>
                        </a:solidFill>
                        <a:latin typeface="Lato" panose="020F0502020204030203" pitchFamily="34" charset="0"/>
                      </a:endParaRPr>
                    </a:p>
                  </a:txBody>
                  <a:tcPr marL="38100" marR="38100" marT="12700" marB="12700" anchor="ctr">
                    <a:lnL w="6350">
                      <a:noFill/>
                    </a:lnL>
                    <a:lnR w="6350">
                      <a:noFill/>
                    </a:lnR>
                    <a:lnT w="12700" cap="flat" cmpd="sng" algn="ctr">
                      <a:solidFill>
                        <a:srgbClr val="7F7F7F"/>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extLst>
                  <a:ext uri="{0D108BD9-81ED-4DB2-BD59-A6C34878D82A}">
                    <a16:rowId xmlns:a16="http://schemas.microsoft.com/office/drawing/2014/main" val="10001"/>
                  </a:ext>
                </a:extLst>
              </a:tr>
              <a:tr h="165100">
                <a:tc>
                  <a:txBody>
                    <a:bodyPr/>
                    <a:lstStyle/>
                    <a:p>
                      <a:r>
                        <a:rPr lang="en-ZA" sz="950" b="0">
                          <a:solidFill>
                            <a:srgbClr val="11151A"/>
                          </a:solidFill>
                          <a:latin typeface="Lato" panose="020F0502020204030203" pitchFamily="34" charset="0"/>
                        </a:rPr>
                        <a:t>Starting point, 2025E</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7.0bn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7.0bn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7.0bn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Market of interest (p13)</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Sasol, Glencore, SARS; Department district sales (pp4, 13)</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2"/>
                  </a:ext>
                </a:extLst>
              </a:tr>
              <a:tr h="165100">
                <a:tc>
                  <a:txBody>
                    <a:bodyPr/>
                    <a:lstStyle/>
                    <a:p>
                      <a:r>
                        <a:rPr lang="en-GB" sz="950" b="0">
                          <a:solidFill>
                            <a:srgbClr val="11151A"/>
                          </a:solidFill>
                          <a:latin typeface="Lato" panose="020F0502020204030203" pitchFamily="34" charset="0"/>
                        </a:rPr>
                        <a:t>GDP growth a year, 2026–30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1.0%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2.0%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3.0%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Petrol +0.36% per 1% of GDP</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IMF WEO Oct 2026; Treasury 2026 Budget Review; MTDP 2024–29</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3"/>
                  </a:ext>
                </a:extLst>
              </a:tr>
              <a:tr h="165100">
                <a:tc>
                  <a:txBody>
                    <a:bodyPr/>
                    <a:lstStyle/>
                    <a:p>
                      <a:r>
                        <a:rPr lang="en-GB" sz="950" b="0">
                          <a:solidFill>
                            <a:srgbClr val="11151A"/>
                          </a:solidFill>
                          <a:latin typeface="Lato" panose="020F0502020204030203" pitchFamily="34" charset="0"/>
                        </a:rPr>
                        <a:t>Real petrol price in 2030 vs 2025</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+15%</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Same</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−13%</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2026 is 15% above 2025; low holds it, base eases back, high mirrors low; effect −0.47, phased</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Department prices to Oct 2026; Akinboade et al. (2008); Brons et al. (2008); high: AIA</a:t>
                      </a:r>
                      <a:endParaRPr sz="8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4"/>
                  </a:ext>
                </a:extLst>
              </a:tr>
              <a:tr h="165100">
                <a:tc>
                  <a:txBody>
                    <a:bodyPr/>
                    <a:lstStyle/>
                    <a:p>
                      <a:r>
                        <a:rPr lang="en-GB" sz="950" b="0">
                          <a:solidFill>
                            <a:srgbClr val="11151A"/>
                          </a:solidFill>
                          <a:latin typeface="Lato" panose="020F0502020204030203" pitchFamily="34" charset="0"/>
                        </a:rPr>
                        <a:t>Efficiency gain a year</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0.8%</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0.65%</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0.5%</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Road petrol</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850" b="0">
                          <a:solidFill>
                            <a:srgbClr val="11151A"/>
                          </a:solidFill>
                          <a:latin typeface="Lato" panose="020F0502020204030203" pitchFamily="34" charset="0"/>
                        </a:rPr>
                        <a:t>IEA/GFEI; eNaTIS; Lightstone; Stone et al. (2018) (p9)</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5"/>
                  </a:ext>
                </a:extLst>
              </a:tr>
              <a:tr h="165100">
                <a:tc>
                  <a:txBody>
                    <a:bodyPr/>
                    <a:lstStyle/>
                    <a:p>
                      <a:r>
                        <a:rPr lang="en-GB" sz="950" b="0">
                          <a:solidFill>
                            <a:srgbClr val="11151A"/>
                          </a:solidFill>
                          <a:latin typeface="Lato" panose="020F0502020204030203" pitchFamily="34" charset="0"/>
                        </a:rPr>
                        <a:t>EV share of new sales, 2030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4.3%</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2.7%</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0">
                          <a:solidFill>
                            <a:srgbClr val="11151A"/>
                          </a:solidFill>
                          <a:latin typeface="Lato" panose="020F0502020204030203" pitchFamily="34" charset="0"/>
                        </a:rPr>
                        <a:t>1.0%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Displaces road petrol</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GB" sz="850" b="0">
                          <a:solidFill>
                            <a:srgbClr val="11151A"/>
                          </a:solidFill>
                          <a:latin typeface="Lato" panose="020F0502020204030203" pitchFamily="34" charset="0"/>
                        </a:rPr>
                        <a:t>S-curves: AIA analysis (2025); eNaTIS fleet and sales</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6"/>
                  </a:ext>
                </a:extLst>
              </a:tr>
              <a:tr h="165100">
                <a:tc>
                  <a:txBody>
                    <a:bodyPr/>
                    <a:lstStyle/>
                    <a:p>
                      <a:r>
                        <a:rPr lang="en-ZA" sz="950" b="1">
                          <a:solidFill>
                            <a:srgbClr val="11151A"/>
                          </a:solidFill>
                          <a:latin typeface="Lato" panose="020F0502020204030203" pitchFamily="34" charset="0"/>
                        </a:rPr>
                        <a:t>Petrol demand in 2030</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1">
                          <a:solidFill>
                            <a:srgbClr val="11151A"/>
                          </a:solidFill>
                          <a:latin typeface="Lato" panose="020F0502020204030203" pitchFamily="34" charset="0"/>
                        </a:rPr>
                        <a:t>6.5bn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1">
                          <a:solidFill>
                            <a:srgbClr val="11151A"/>
                          </a:solidFill>
                          <a:latin typeface="Lato" panose="020F0502020204030203" pitchFamily="34" charset="0"/>
                        </a:rPr>
                        <a:t>6.9bn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1">
                          <a:solidFill>
                            <a:srgbClr val="11151A"/>
                          </a:solidFill>
                          <a:latin typeface="Lato" panose="020F0502020204030203" pitchFamily="34" charset="0"/>
                        </a:rPr>
                        <a:t>7.4bn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Result of the rows above</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3857718325"/>
                  </a:ext>
                </a:extLst>
              </a:tr>
              <a:tr h="165100">
                <a:tc>
                  <a:txBody>
                    <a:bodyPr/>
                    <a:lstStyle/>
                    <a:p>
                      <a:r>
                        <a:rPr lang="en-ZA" sz="950" b="1">
                          <a:solidFill>
                            <a:srgbClr val="0A2373"/>
                          </a:solidFill>
                          <a:latin typeface="Lato" panose="020F0502020204030203" pitchFamily="34" charset="0"/>
                        </a:rPr>
                        <a:t>DIESEL</a:t>
                      </a:r>
                      <a:endParaRPr sz="950" b="1" dirty="0">
                        <a:solidFill>
                          <a:srgbClr val="0A2373"/>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tc>
                  <a:txBody>
                    <a:bodyPr/>
                    <a:lstStyle/>
                    <a:p>
                      <a:endParaRPr sz="950" b="1">
                        <a:solidFill>
                          <a:srgbClr val="0A2373"/>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tc>
                  <a:txBody>
                    <a:bodyPr/>
                    <a:lstStyle/>
                    <a:p>
                      <a:endParaRPr sz="950" b="1">
                        <a:solidFill>
                          <a:srgbClr val="0A2373"/>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tc>
                  <a:txBody>
                    <a:bodyPr/>
                    <a:lstStyle/>
                    <a:p>
                      <a:endParaRPr sz="950" b="1">
                        <a:solidFill>
                          <a:srgbClr val="0A2373"/>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tc>
                  <a:txBody>
                    <a:bodyPr/>
                    <a:lstStyle/>
                    <a:p>
                      <a:endParaRPr sz="850" b="1" dirty="0">
                        <a:solidFill>
                          <a:srgbClr val="0A2373"/>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tc>
                  <a:txBody>
                    <a:bodyPr/>
                    <a:lstStyle/>
                    <a:p>
                      <a:endParaRPr sz="850" b="1" dirty="0">
                        <a:solidFill>
                          <a:srgbClr val="0A2373"/>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3E7F1"/>
                    </a:solidFill>
                  </a:tcPr>
                </a:tc>
                <a:extLst>
                  <a:ext uri="{0D108BD9-81ED-4DB2-BD59-A6C34878D82A}">
                    <a16:rowId xmlns:a16="http://schemas.microsoft.com/office/drawing/2014/main" val="9377420"/>
                  </a:ext>
                </a:extLst>
              </a:tr>
              <a:tr h="165100">
                <a:tc>
                  <a:txBody>
                    <a:bodyPr/>
                    <a:lstStyle/>
                    <a:p>
                      <a:r>
                        <a:rPr lang="en-ZA" sz="950" b="0">
                          <a:solidFill>
                            <a:srgbClr val="11151A"/>
                          </a:solidFill>
                          <a:latin typeface="Lato" panose="020F0502020204030203" pitchFamily="34" charset="0"/>
                        </a:rPr>
                        <a:t>Starting point, 2025E</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11.2bn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11.2bn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11.2bn L</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Market of interest (p13)</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Sasol, Glencore, SARS; Department district sales (pp4, 13)</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7"/>
                  </a:ext>
                </a:extLst>
              </a:tr>
              <a:tr h="165100">
                <a:tc>
                  <a:txBody>
                    <a:bodyPr/>
                    <a:lstStyle/>
                    <a:p>
                      <a:r>
                        <a:rPr lang="en-GB" sz="950" b="0">
                          <a:solidFill>
                            <a:srgbClr val="11151A"/>
                          </a:solidFill>
                          <a:latin typeface="Lato" panose="020F0502020204030203" pitchFamily="34" charset="0"/>
                        </a:rPr>
                        <a:t>GDP growth a year, 2026–30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2.0%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3.0%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All diesel use except power, in line with GDP</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IMF WEO Oct 2026; Treasury 2026 Budget Review; MTDP 2024–29</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3305385145"/>
                  </a:ext>
                </a:extLst>
              </a:tr>
              <a:tr h="165100">
                <a:tc>
                  <a:txBody>
                    <a:bodyPr/>
                    <a:lstStyle/>
                    <a:p>
                      <a:r>
                        <a:rPr lang="en-GB" sz="950" b="0">
                          <a:solidFill>
                            <a:srgbClr val="11151A"/>
                          </a:solidFill>
                          <a:latin typeface="Lato" panose="020F0502020204030203" pitchFamily="34" charset="0"/>
                        </a:rPr>
                        <a:t>Efficiency gain a year</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0.7%</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0.55%</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0.4%</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Road diesel</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850" b="0">
                          <a:solidFill>
                            <a:srgbClr val="11151A"/>
                          </a:solidFill>
                          <a:latin typeface="Lato" panose="020F0502020204030203" pitchFamily="34" charset="0"/>
                        </a:rPr>
                        <a:t>IEA/GFEI; eNaTIS; Stone et al. (2018) (p9)</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490356371"/>
                  </a:ext>
                </a:extLst>
              </a:tr>
              <a:tr h="165100">
                <a:tc>
                  <a:txBody>
                    <a:bodyPr/>
                    <a:lstStyle/>
                    <a:p>
                      <a:r>
                        <a:rPr lang="en-GB" sz="950" b="0">
                          <a:solidFill>
                            <a:srgbClr val="11151A"/>
                          </a:solidFill>
                          <a:latin typeface="Lato" panose="020F0502020204030203" pitchFamily="34" charset="0"/>
                        </a:rPr>
                        <a:t>EV share of new sales, 2030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4.3%</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2.7%</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Bakkies, SUVs and cars</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S-curves: AIA analysis (2025); eNaTIS fleet and sales</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2218827610"/>
                  </a:ext>
                </a:extLst>
              </a:tr>
              <a:tr h="165100">
                <a:tc>
                  <a:txBody>
                    <a:bodyPr/>
                    <a:lstStyle/>
                    <a:p>
                      <a:r>
                        <a:rPr lang="en-ZA" sz="950" b="0">
                          <a:solidFill>
                            <a:srgbClr val="11151A"/>
                          </a:solidFill>
                          <a:latin typeface="Lato" panose="020F0502020204030203" pitchFamily="34" charset="0"/>
                        </a:rPr>
                        <a:t>Rail freight in 2030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262m t</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250m t</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215m t</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Road freight diesel; 7.2 / 6.1 / 2.8% of road freight moved, phased evenly</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850" b="0">
                          <a:solidFill>
                            <a:srgbClr val="11151A"/>
                          </a:solidFill>
                          <a:latin typeface="Lato" panose="020F0502020204030203" pitchFamily="34" charset="0"/>
                        </a:rPr>
                        <a:t>Rail master plan (262m t); Transnet target; Stats SA P7162 (5% a year)</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188658457"/>
                  </a:ext>
                </a:extLst>
              </a:tr>
              <a:tr h="165100">
                <a:tc>
                  <a:txBody>
                    <a:bodyPr/>
                    <a:lstStyle/>
                    <a:p>
                      <a:r>
                        <a:rPr lang="en-ZA" sz="950" b="0">
                          <a:solidFill>
                            <a:srgbClr val="11151A"/>
                          </a:solidFill>
                          <a:latin typeface="Lato" panose="020F0502020204030203" pitchFamily="34" charset="0"/>
                        </a:rPr>
                        <a:t>Peaker load factor, 2030</a:t>
                      </a:r>
                      <a:endParaRPr sz="9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1.4%</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4.5%</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0">
                          <a:solidFill>
                            <a:srgbClr val="11151A"/>
                          </a:solidFill>
                          <a:latin typeface="Lato" panose="020F0502020204030203" pitchFamily="34" charset="0"/>
                        </a:rPr>
                        <a:t>10%</a:t>
                      </a:r>
                      <a:endParaRPr sz="950" b="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Avon (670 MW, KwaZulu-Natal)</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Eskom 2026 turbine output; system operator outlook 2026–30; high case: AIA</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858116310"/>
                  </a:ext>
                </a:extLst>
              </a:tr>
              <a:tr h="165100">
                <a:tc>
                  <a:txBody>
                    <a:bodyPr/>
                    <a:lstStyle/>
                    <a:p>
                      <a:r>
                        <a:rPr lang="en-ZA" sz="950" b="1">
                          <a:solidFill>
                            <a:srgbClr val="11151A"/>
                          </a:solidFill>
                          <a:latin typeface="Lato" panose="020F0502020204030203" pitchFamily="34" charset="0"/>
                        </a:rPr>
                        <a:t>Diesel demand in 2030</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1">
                          <a:solidFill>
                            <a:srgbClr val="11151A"/>
                          </a:solidFill>
                          <a:latin typeface="Lato" panose="020F0502020204030203" pitchFamily="34" charset="0"/>
                        </a:rPr>
                        <a:t>11.2bn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1">
                          <a:solidFill>
                            <a:srgbClr val="11151A"/>
                          </a:solidFill>
                          <a:latin typeface="Lato" panose="020F0502020204030203" pitchFamily="34" charset="0"/>
                        </a:rPr>
                        <a:t>11.9bn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ZA" sz="950" b="1">
                          <a:solidFill>
                            <a:srgbClr val="11151A"/>
                          </a:solidFill>
                          <a:latin typeface="Lato" panose="020F0502020204030203" pitchFamily="34" charset="0"/>
                        </a:rPr>
                        <a:t>12.8bn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r>
                        <a:rPr lang="en-GB" sz="850" b="0">
                          <a:solidFill>
                            <a:srgbClr val="11151A"/>
                          </a:solidFill>
                          <a:latin typeface="Lato" panose="020F0502020204030203" pitchFamily="34" charset="0"/>
                        </a:rPr>
                        <a:t>Result of the rows above</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2624428711"/>
                  </a:ext>
                </a:extLst>
              </a:tr>
              <a:tr h="165100">
                <a:tc>
                  <a:txBody>
                    <a:bodyPr/>
                    <a:lstStyle/>
                    <a:p>
                      <a:r>
                        <a:rPr lang="en-ZA" sz="950" b="1">
                          <a:solidFill>
                            <a:srgbClr val="11151A"/>
                          </a:solidFill>
                          <a:latin typeface="Lato" panose="020F0502020204030203" pitchFamily="34" charset="0"/>
                        </a:rPr>
                        <a:t>Total demand in 2030</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1">
                          <a:solidFill>
                            <a:srgbClr val="11151A"/>
                          </a:solidFill>
                          <a:latin typeface="Lato" panose="020F0502020204030203" pitchFamily="34" charset="0"/>
                        </a:rPr>
                        <a:t>17.6bn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1">
                          <a:solidFill>
                            <a:srgbClr val="11151A"/>
                          </a:solidFill>
                          <a:latin typeface="Lato" panose="020F0502020204030203" pitchFamily="34" charset="0"/>
                        </a:rPr>
                        <a:t>18.8bn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950" b="1">
                          <a:solidFill>
                            <a:srgbClr val="11151A"/>
                          </a:solidFill>
                          <a:latin typeface="Lato" panose="020F0502020204030203" pitchFamily="34" charset="0"/>
                        </a:rPr>
                        <a:t>20.2bn L</a:t>
                      </a:r>
                      <a:endParaRPr sz="950" b="1">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r>
                        <a:rPr lang="en-ZA" sz="850" b="0">
                          <a:solidFill>
                            <a:srgbClr val="11151A"/>
                          </a:solidFill>
                          <a:latin typeface="Lato" panose="020F0502020204030203" pitchFamily="34" charset="0"/>
                        </a:rPr>
                        <a:t>Petrol plus diesel, market of interest</a:t>
                      </a:r>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tc>
                  <a:txBody>
                    <a:bodyPr/>
                    <a:lstStyle/>
                    <a:p>
                      <a:endParaRPr sz="850" b="0" dirty="0">
                        <a:solidFill>
                          <a:srgbClr val="11151A"/>
                        </a:solidFill>
                        <a:latin typeface="Lato" panose="020F0502020204030203" pitchFamily="34" charset="0"/>
                      </a:endParaRPr>
                    </a:p>
                  </a:txBody>
                  <a:tcPr marL="38100" marR="38100" marT="12700" marB="12700" anchor="ctr">
                    <a:lnL w="6350">
                      <a:noFill/>
                    </a:lnL>
                    <a:lnR w="6350">
                      <a:noFill/>
                    </a:lnR>
                    <a:lnT w="6350" cap="flat" cmpd="sng" algn="ctr">
                      <a:solidFill>
                        <a:srgbClr val="D0D0D0"/>
                      </a:solidFill>
                      <a:prstDash val="solid"/>
                      <a:round/>
                      <a:headEnd type="none" w="med" len="med"/>
                      <a:tailEnd type="none" w="med" len="med"/>
                    </a:lnT>
                    <a:lnB w="6350">
                      <a:solidFill>
                        <a:srgbClr val="D0D0D0"/>
                      </a:solidFill>
                    </a:lnB>
                    <a:noFill/>
                  </a:tcPr>
                </a:tc>
                <a:extLst>
                  <a:ext uri="{0D108BD9-81ED-4DB2-BD59-A6C34878D82A}">
                    <a16:rowId xmlns:a16="http://schemas.microsoft.com/office/drawing/2014/main" val="1887753537"/>
                  </a:ext>
                </a:extLst>
              </a:tr>
            </a:tbl>
          </a:graphicData>
        </a:graphic>
      </p:graphicFrame>
      <p:sp>
        <p:nvSpPr>
          <p:cNvPr id="4" name="Rectangle 3">
            <a:extLst>
              <a:ext uri="{FF2B5EF4-FFF2-40B4-BE49-F238E27FC236}">
                <a16:creationId xmlns:a16="http://schemas.microsoft.com/office/drawing/2014/main" id="{6F5F904C-5A0D-5019-71C7-F17859BE002D}"/>
              </a:ext>
            </a:extLst>
          </p:cNvPr>
          <p:cNvSpPr/>
          <p:nvPr/>
        </p:nvSpPr>
        <p:spPr>
          <a:xfrm>
            <a:off x="9147175" y="367665"/>
            <a:ext cx="2339975" cy="86042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400" dirty="0">
                <a:solidFill>
                  <a:schemeClr val="tx1"/>
                </a:solidFill>
              </a:rPr>
              <a:t>No data on installed capacity of backup generators or diesel consumed</a:t>
            </a:r>
          </a:p>
        </p:txBody>
      </p:sp>
    </p:spTree>
    <p:extLst>
      <p:ext uri="{BB962C8B-B14F-4D97-AF65-F5344CB8AC3E}">
        <p14:creationId xmlns:p14="http://schemas.microsoft.com/office/powerpoint/2010/main" val="3187193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lang="en-GB" sz="2100" b="1">
                <a:solidFill>
                  <a:srgbClr val="000000"/>
                </a:solidFill>
                <a:latin typeface="Lato"/>
                <a:ea typeface="Lato"/>
                <a:cs typeface="Lato"/>
              </a:rPr>
              <a:t>Appendix: in the market of interest, this year’s 2030 base case is 2.9bn litres above the November 2025 mid case</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20</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lang="en-ZA" sz="600">
                <a:solidFill>
                  <a:srgbClr val="111111"/>
                </a:solidFill>
                <a:latin typeface="Lato"/>
                <a:ea typeface="Lato"/>
                <a:cs typeface="Lato"/>
              </a:rPr>
              <a:t>November 2025: AIA Vopak board report, 25 November 2025, slides 10 (diesel) and 16 (petrol), </a:t>
            </a:r>
            <a:r>
              <a:rPr lang="en-GB" sz="600">
                <a:solidFill>
                  <a:srgbClr val="111111"/>
                </a:solidFill>
                <a:latin typeface="Lato"/>
                <a:ea typeface="Lato"/>
                <a:cs typeface="Lato"/>
              </a:rPr>
              <a:t>market-of-interest low, mid and high forecasts; method from its slides 5 (drivers), 7 (peakers) and 12 (price).</a:t>
            </a:r>
            <a:r>
              <a:rPr lang="en-ZA" sz="600">
                <a:solidFill>
                  <a:srgbClr val="111111"/>
                </a:solidFill>
                <a:latin typeface="Lato"/>
                <a:ea typeface="Lato"/>
                <a:cs typeface="Lato"/>
              </a:rPr>
              <a:t> This year: market-of-interest cases (pp16 and 19). Mid and base are compared as the central cases.</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3" name="Evidence unit">
            <a:extLst>
              <a:ext uri="{FF2B5EF4-FFF2-40B4-BE49-F238E27FC236}">
                <a16:creationId xmlns:a16="http://schemas.microsoft.com/office/drawing/2014/main" id="{2D7877C5-B65D-4837-9FE4-2B32D94EE59D}"/>
              </a:ext>
            </a:extLst>
          </p:cNvPr>
          <p:cNvSpPr>
            <a:spLocks noGrp="1"/>
          </p:cNvSpPr>
          <p:nvPr/>
        </p:nvSpPr>
        <p:spPr>
          <a:xfrm>
            <a:off x="457200" y="2019300"/>
            <a:ext cx="6446520" cy="238125"/>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Billion litres, market of interest, demand in 2030</a:t>
            </a:r>
            <a:endParaRPr sz="975" b="0">
              <a:solidFill>
                <a:srgbClr val="626262"/>
              </a:solidFill>
              <a:latin typeface="Lato"/>
              <a:ea typeface="Lato"/>
              <a:cs typeface="Lato"/>
            </a:endParaRPr>
          </a:p>
        </p:txBody>
      </p:sp>
      <p:sp>
        <p:nvSpPr>
          <p:cNvPr id="83" name="Evidence unit">
            <a:extLst>
              <a:ext uri="{FF2B5EF4-FFF2-40B4-BE49-F238E27FC236}">
                <a16:creationId xmlns:a16="http://schemas.microsoft.com/office/drawing/2014/main" id="{2D7877C5-B65D-4837-9FE4-2B32D94EE59D}"/>
              </a:ext>
            </a:extLst>
          </p:cNvPr>
          <p:cNvSpPr>
            <a:spLocks noGrp="1"/>
          </p:cNvSpPr>
          <p:nvPr/>
        </p:nvSpPr>
        <p:spPr>
          <a:xfrm>
            <a:off x="3749039" y="2286000"/>
            <a:ext cx="3154680" cy="237744"/>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Diesel</a:t>
            </a:r>
            <a:endParaRPr sz="975" b="0">
              <a:solidFill>
                <a:srgbClr val="626262"/>
              </a:solidFill>
              <a:latin typeface="Lato"/>
              <a:ea typeface="Lato"/>
              <a:cs typeface="Lato"/>
            </a:endParaRPr>
          </a:p>
        </p:txBody>
      </p:sp>
      <p:sp>
        <p:nvSpPr>
          <p:cNvPr id="82" name="Evidence unit">
            <a:extLst>
              <a:ext uri="{FF2B5EF4-FFF2-40B4-BE49-F238E27FC236}">
                <a16:creationId xmlns:a16="http://schemas.microsoft.com/office/drawing/2014/main" id="{2D7877C5-B65D-4837-9FE4-2B32D94EE59D}"/>
              </a:ext>
            </a:extLst>
          </p:cNvPr>
          <p:cNvSpPr>
            <a:spLocks noGrp="1"/>
          </p:cNvSpPr>
          <p:nvPr/>
        </p:nvSpPr>
        <p:spPr>
          <a:xfrm>
            <a:off x="457200" y="2286000"/>
            <a:ext cx="3154680" cy="237744"/>
          </a:xfrm>
          <a:prstGeom prst="rect">
            <a:avLst/>
          </a:prstGeom>
          <a:noFill/>
          <a:ln w="0">
            <a:noFill/>
          </a:ln>
        </p:spPr>
        <p:txBody>
          <a:bodyPr>
            <a:noAutofit/>
          </a:bodyPr>
          <a:lstStyle/>
          <a:p>
            <a:pPr>
              <a:defRPr sz="975" b="0">
                <a:solidFill>
                  <a:srgbClr val="626262"/>
                </a:solidFill>
                <a:latin typeface="Lato"/>
                <a:ea typeface="Lato"/>
                <a:cs typeface="Lato"/>
              </a:defRPr>
            </a:pPr>
            <a:r>
              <a:rPr lang="en-GB" sz="975" b="0">
                <a:solidFill>
                  <a:srgbClr val="626262"/>
                </a:solidFill>
                <a:latin typeface="Lato"/>
                <a:ea typeface="Lato"/>
                <a:cs typeface="Lato"/>
              </a:rPr>
              <a:t>Petrol</a:t>
            </a:r>
            <a:endParaRPr sz="975" b="0">
              <a:solidFill>
                <a:srgbClr val="626262"/>
              </a:solidFill>
              <a:latin typeface="Lato"/>
              <a:ea typeface="Lato"/>
              <a:cs typeface="Lato"/>
            </a:endParaRPr>
          </a:p>
        </p:txBody>
      </p:sp>
      <p:sp>
        <p:nvSpPr>
          <p:cNvPr id="57" name="Evidence takeaway">
            <a:extLst>
              <a:ext uri="{FF2B5EF4-FFF2-40B4-BE49-F238E27FC236}">
                <a16:creationId xmlns:a16="http://schemas.microsoft.com/office/drawing/2014/main" id="{B6C53BD9-36CF-4A69-841C-FDA40E078E5B}"/>
              </a:ext>
            </a:extLst>
          </p:cNvPr>
          <p:cNvSpPr>
            <a:spLocks noGrp="1"/>
          </p:cNvSpPr>
          <p:nvPr/>
        </p:nvSpPr>
        <p:spPr>
          <a:xfrm>
            <a:off x="457200" y="5715000"/>
            <a:ext cx="6446520" cy="619125"/>
          </a:xfrm>
          <a:prstGeom prst="rect">
            <a:avLst/>
          </a:prstGeom>
          <a:noFill/>
          <a:ln w="0">
            <a:noFill/>
          </a:ln>
        </p:spPr>
        <p:txBody>
          <a:bodyPr>
            <a:noAutofit/>
          </a:bodyPr>
          <a:lstStyle/>
          <a:p>
            <a:pPr>
              <a:defRPr sz="1275" b="0">
                <a:solidFill>
                  <a:srgbClr val="0A2373"/>
                </a:solidFill>
                <a:latin typeface="Lato"/>
                <a:ea typeface="Lato"/>
                <a:cs typeface="Lato"/>
              </a:defRPr>
            </a:pPr>
            <a:r>
              <a:rPr lang="en-GB" sz="1275" b="0">
                <a:solidFill>
                  <a:srgbClr val="0A2373"/>
                </a:solidFill>
                <a:latin typeface="Lato"/>
                <a:ea typeface="Lato"/>
                <a:cs typeface="Lato"/>
              </a:rPr>
              <a:t>The 2.9bn litre gap is mostly the higher diesel starting point (2.8bn L); petrol is 0.5bn L lower because of prices, efficiency and electric vehicles.</a:t>
            </a:r>
            <a:endParaRPr sz="1275" b="0">
              <a:solidFill>
                <a:srgbClr val="0A2373"/>
              </a:solidFill>
              <a:latin typeface="Lato"/>
              <a:ea typeface="Lato"/>
              <a:cs typeface="Lato"/>
            </a:endParaRPr>
          </a:p>
        </p:txBody>
      </p:sp>
      <p:sp>
        <p:nvSpPr>
          <p:cNvPr id="68"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solidFill>
                  <a:srgbClr val="0A2373"/>
                </a:solidFill>
                <a:latin typeface="Lato"/>
              </a:rPr>
              <a:t>1  Overview</a:t>
            </a:r>
          </a:p>
        </p:txBody>
      </p:sp>
      <p:sp>
        <p:nvSpPr>
          <p:cNvPr id="69"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solidFill>
                  <a:srgbClr val="0A2373"/>
                </a:solidFill>
                <a:latin typeface="Lato"/>
              </a:rPr>
              <a:t>2  Market baseline</a:t>
            </a:r>
          </a:p>
        </p:txBody>
      </p:sp>
      <p:sp>
        <p:nvSpPr>
          <p:cNvPr id="70"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solidFill>
                  <a:srgbClr val="0A2373"/>
                </a:solidFill>
                <a:latin typeface="Lato"/>
              </a:rPr>
              <a:t>3  Market changes</a:t>
            </a:r>
          </a:p>
        </p:txBody>
      </p:sp>
      <p:sp>
        <p:nvSpPr>
          <p:cNvPr id="71"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b="1">
                <a:solidFill>
                  <a:srgbClr val="FFFFFF"/>
                </a:solidFill>
                <a:latin typeface="Lato"/>
              </a:rPr>
              <a:t>4  Vopak outlook</a:t>
            </a:r>
          </a:p>
        </p:txBody>
      </p:sp>
      <p:sp>
        <p:nvSpPr>
          <p:cNvPr id="72" name="Vopak exhibit left heading"/>
          <p:cNvSpPr txBox="1"/>
          <p:nvPr/>
        </p:nvSpPr>
        <p:spPr>
          <a:xfrm>
            <a:off x="457200" y="1627632"/>
            <a:ext cx="6446520" cy="384048"/>
          </a:xfrm>
          <a:prstGeom prst="rect">
            <a:avLst/>
          </a:prstGeom>
          <a:noFill/>
        </p:spPr>
        <p:txBody>
          <a:bodyPr wrap="none" lIns="22860" tIns="0" rIns="22860" bIns="0">
            <a:noAutofit/>
          </a:bodyPr>
          <a:lstStyle/>
          <a:p>
            <a:pPr>
              <a:defRPr sz="1400" b="1">
                <a:solidFill>
                  <a:srgbClr val="000000"/>
                </a:solidFill>
                <a:latin typeface="Lato"/>
              </a:defRPr>
            </a:pPr>
            <a:r>
              <a:rPr lang="en-GB" sz="1400" b="1">
                <a:latin typeface="Lato"/>
              </a:rPr>
              <a:t>Market of interest, 2030: November 2025 against this year</a:t>
            </a:r>
            <a:endParaRPr sz="1400" b="1">
              <a:latin typeface="Lato"/>
            </a:endParaRPr>
          </a:p>
        </p:txBody>
      </p:sp>
      <p:sp>
        <p:nvSpPr>
          <p:cNvPr id="73" name="Vopak exhibit right heading"/>
          <p:cNvSpPr txBox="1"/>
          <p:nvPr/>
        </p:nvSpPr>
        <p:spPr>
          <a:xfrm>
            <a:off x="7424927" y="1627632"/>
            <a:ext cx="3685032" cy="215444"/>
          </a:xfrm>
          <a:prstGeom prst="rect">
            <a:avLst/>
          </a:prstGeom>
          <a:noFill/>
        </p:spPr>
        <p:txBody>
          <a:bodyPr wrap="square" lIns="0" tIns="0" rIns="0" bIns="0">
            <a:spAutoFit/>
          </a:bodyPr>
          <a:lstStyle/>
          <a:p>
            <a:pPr>
              <a:spcAft>
                <a:spcPts val="300"/>
              </a:spcAft>
              <a:defRPr sz="1400" b="1">
                <a:solidFill>
                  <a:srgbClr val="000000"/>
                </a:solidFill>
                <a:latin typeface="Lato"/>
              </a:defRPr>
            </a:pPr>
            <a:r>
              <a:rPr lang="en-GB"/>
              <a:t>What each forecast includes</a:t>
            </a:r>
            <a:endParaRPr/>
          </a:p>
        </p:txBody>
      </p:sp>
      <p:cxnSp>
        <p:nvCxnSpPr>
          <p:cNvPr id="74" name="Vopak exhibit left rule"/>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Vopak exhibit right rule"/>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Vopak exhibit divider"/>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77" name="Vopak exhibit marker 0"/>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Vopak exhibit marker 1"/>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9" name="Vopak exhibit marker 2"/>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graphicFrame>
        <p:nvGraphicFramePr>
          <p:cNvPr id="84" name="Chart"/>
          <p:cNvGraphicFramePr>
            <a:graphicFrameLocks noGrp="1"/>
          </p:cNvGraphicFramePr>
          <p:nvPr/>
        </p:nvGraphicFramePr>
        <p:xfrm>
          <a:off x="457200" y="2542032"/>
          <a:ext cx="3154680" cy="27889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5" name="Chart"/>
          <p:cNvGraphicFramePr>
            <a:graphicFrameLocks noGrp="1"/>
          </p:cNvGraphicFramePr>
          <p:nvPr/>
        </p:nvGraphicFramePr>
        <p:xfrm>
          <a:off x="3749039" y="2542032"/>
          <a:ext cx="3154680" cy="2788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Method comparison">
            <a:extLst>
              <a:ext uri="{FF2B5EF4-FFF2-40B4-BE49-F238E27FC236}">
                <a16:creationId xmlns:a16="http://schemas.microsoft.com/office/drawing/2014/main" id="{564EFD79-4359-3337-578D-0E90F2A45518}"/>
              </a:ext>
            </a:extLst>
          </p:cNvPr>
          <p:cNvGraphicFramePr>
            <a:graphicFrameLocks noGrp="1"/>
          </p:cNvGraphicFramePr>
          <p:nvPr>
            <p:extLst>
              <p:ext uri="{D42A27DB-BD31-4B8C-83A1-F6EECF244321}">
                <p14:modId xmlns:p14="http://schemas.microsoft.com/office/powerpoint/2010/main" val="987298149"/>
              </p:ext>
            </p:extLst>
          </p:nvPr>
        </p:nvGraphicFramePr>
        <p:xfrm>
          <a:off x="7424928" y="2238375"/>
          <a:ext cx="3685032" cy="2574925"/>
        </p:xfrm>
        <a:graphic>
          <a:graphicData uri="http://schemas.openxmlformats.org/drawingml/2006/table">
            <a:tbl>
              <a:tblPr firstRow="1" bandRow="1">
                <a:tableStyleId>{5C22544A-7EE6-4342-B048-85BDC9FD1C3A}</a:tableStyleId>
              </a:tblPr>
              <a:tblGrid>
                <a:gridCol w="958108">
                  <a:extLst>
                    <a:ext uri="{9D8B030D-6E8A-4147-A177-3AD203B41FA5}">
                      <a16:colId xmlns:a16="http://schemas.microsoft.com/office/drawing/2014/main" val="2840174439"/>
                    </a:ext>
                  </a:extLst>
                </a:gridCol>
                <a:gridCol w="1252911">
                  <a:extLst>
                    <a:ext uri="{9D8B030D-6E8A-4147-A177-3AD203B41FA5}">
                      <a16:colId xmlns:a16="http://schemas.microsoft.com/office/drawing/2014/main" val="2290636861"/>
                    </a:ext>
                  </a:extLst>
                </a:gridCol>
                <a:gridCol w="1474013">
                  <a:extLst>
                    <a:ext uri="{9D8B030D-6E8A-4147-A177-3AD203B41FA5}">
                      <a16:colId xmlns:a16="http://schemas.microsoft.com/office/drawing/2014/main" val="2540084763"/>
                    </a:ext>
                  </a:extLst>
                </a:gridCol>
              </a:tblGrid>
              <a:tr h="276225">
                <a:tc>
                  <a:txBody>
                    <a:bodyPr/>
                    <a:lstStyle/>
                    <a:p>
                      <a:endParaRPr lang="en-ZA" sz="850" b="1">
                        <a:solidFill>
                          <a:srgbClr val="0A2373"/>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12700" cmpd="sng">
                      <a:solidFill>
                        <a:schemeClr val="lt1"/>
                      </a:solidFill>
                    </a:lnT>
                    <a:lnB w="6350" cmpd="sng">
                      <a:solidFill>
                        <a:srgbClr val="D4D4D4"/>
                      </a:solidFill>
                    </a:lnB>
                    <a:noFill/>
                  </a:tcPr>
                </a:tc>
                <a:tc>
                  <a:txBody>
                    <a:bodyPr/>
                    <a:lstStyle/>
                    <a:p>
                      <a:r>
                        <a:rPr lang="en-ZA" sz="850" b="1">
                          <a:solidFill>
                            <a:srgbClr val="0A2373"/>
                          </a:solidFill>
                          <a:latin typeface="Lato" panose="020F0502020204030203" pitchFamily="34" charset="0"/>
                        </a:rPr>
                        <a:t>November 2025</a:t>
                      </a:r>
                    </a:p>
                  </a:txBody>
                  <a:tcPr marL="38100" marR="38100" marT="25400" marB="25400">
                    <a:lnL w="12700" cmpd="sng">
                      <a:solidFill>
                        <a:schemeClr val="lt1"/>
                      </a:solidFill>
                    </a:lnL>
                    <a:lnR w="12700" cmpd="sng">
                      <a:solidFill>
                        <a:schemeClr val="lt1"/>
                      </a:solidFill>
                    </a:lnR>
                    <a:lnT w="12700" cmpd="sng">
                      <a:solidFill>
                        <a:schemeClr val="lt1"/>
                      </a:solidFill>
                    </a:lnT>
                    <a:lnB w="6350" cmpd="sng">
                      <a:solidFill>
                        <a:srgbClr val="D4D4D4"/>
                      </a:solidFill>
                    </a:lnB>
                    <a:noFill/>
                  </a:tcPr>
                </a:tc>
                <a:tc>
                  <a:txBody>
                    <a:bodyPr/>
                    <a:lstStyle/>
                    <a:p>
                      <a:r>
                        <a:rPr lang="en-ZA" sz="850" b="1">
                          <a:solidFill>
                            <a:srgbClr val="0A2373"/>
                          </a:solidFill>
                          <a:latin typeface="Lato" panose="020F0502020204030203" pitchFamily="34" charset="0"/>
                        </a:rPr>
                        <a:t>This year</a:t>
                      </a:r>
                    </a:p>
                  </a:txBody>
                  <a:tcPr marL="38100" marR="38100" marT="25400" marB="25400">
                    <a:lnL w="12700" cmpd="sng">
                      <a:solidFill>
                        <a:schemeClr val="lt1"/>
                      </a:solidFill>
                    </a:lnL>
                    <a:lnR w="12700" cmpd="sng">
                      <a:solidFill>
                        <a:schemeClr val="lt1"/>
                      </a:solidFill>
                    </a:lnR>
                    <a:lnT w="12700" cmpd="sng">
                      <a:solidFill>
                        <a:schemeClr val="lt1"/>
                      </a:solidFill>
                    </a:lnT>
                    <a:lnB w="6350" cmpd="sng">
                      <a:solidFill>
                        <a:srgbClr val="D4D4D4"/>
                      </a:solidFill>
                    </a:lnB>
                    <a:noFill/>
                  </a:tcPr>
                </a:tc>
                <a:extLst>
                  <a:ext uri="{0D108BD9-81ED-4DB2-BD59-A6C34878D82A}">
                    <a16:rowId xmlns:a16="http://schemas.microsoft.com/office/drawing/2014/main" val="1423504081"/>
                  </a:ext>
                </a:extLst>
              </a:tr>
              <a:tr h="282222">
                <a:tc>
                  <a:txBody>
                    <a:bodyPr/>
                    <a:lstStyle/>
                    <a:p>
                      <a:r>
                        <a:rPr lang="en-ZA" sz="850" b="1">
                          <a:solidFill>
                            <a:srgbClr val="11151A"/>
                          </a:solidFill>
                          <a:latin typeface="Lato" panose="020F0502020204030203" pitchFamily="34" charset="0"/>
                        </a:rPr>
                        <a:t>Starting point, 2025</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a:solidFill>
                            <a:srgbClr val="11151A"/>
                          </a:solidFill>
                          <a:latin typeface="Lato" panose="020F0502020204030203" pitchFamily="34" charset="0"/>
                        </a:rPr>
                        <a:t>Department sales; diesel 8.4bn L, petrol 7.0</a:t>
                      </a:r>
                      <a:endParaRPr lang="en-ZA" sz="850" b="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fr-FR" sz="850" b="0">
                          <a:solidFill>
                            <a:srgbClr val="11151A"/>
                          </a:solidFill>
                          <a:latin typeface="Lato" panose="020F0502020204030203" pitchFamily="34" charset="0"/>
                        </a:rPr>
                        <a:t>Production + imports − exports; diesel 11.2bn L, petrol 7.0</a:t>
                      </a:r>
                      <a:endParaRPr lang="en-ZA" sz="850" b="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3857092562"/>
                  </a:ext>
                </a:extLst>
              </a:tr>
              <a:tr h="282222">
                <a:tc>
                  <a:txBody>
                    <a:bodyPr/>
                    <a:lstStyle/>
                    <a:p>
                      <a:r>
                        <a:rPr lang="en-ZA" sz="850" b="1">
                          <a:solidFill>
                            <a:srgbClr val="11151A"/>
                          </a:solidFill>
                          <a:latin typeface="Lato" panose="020F0502020204030203" pitchFamily="34" charset="0"/>
                        </a:rPr>
                        <a:t>GDP growth</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dirty="0">
                          <a:solidFill>
                            <a:srgbClr val="11151A"/>
                          </a:solidFill>
                          <a:latin typeface="Lato" panose="020F0502020204030203" pitchFamily="34" charset="0"/>
                        </a:rPr>
                        <a:t>Treasury MTBPS, 1.0–1.6% a year</a:t>
                      </a:r>
                      <a:endParaRPr lang="en-ZA" sz="850" b="0" dirty="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a:solidFill>
                            <a:srgbClr val="11151A"/>
                          </a:solidFill>
                          <a:latin typeface="Lato" panose="020F0502020204030203" pitchFamily="34" charset="0"/>
                        </a:rPr>
                        <a:t>IMF / Treasury / 3% target: 1.0 / 2.0 / 3.0% a year</a:t>
                      </a:r>
                      <a:endParaRPr lang="en-ZA" sz="850" b="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423049836"/>
                  </a:ext>
                </a:extLst>
              </a:tr>
              <a:tr h="282222">
                <a:tc>
                  <a:txBody>
                    <a:bodyPr/>
                    <a:lstStyle/>
                    <a:p>
                      <a:r>
                        <a:rPr lang="en-ZA" sz="850" b="1">
                          <a:solidFill>
                            <a:srgbClr val="11151A"/>
                          </a:solidFill>
                          <a:latin typeface="Lato" panose="020F0502020204030203" pitchFamily="34" charset="0"/>
                        </a:rPr>
                        <a:t>Petrol price</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dirty="0">
                          <a:solidFill>
                            <a:srgbClr val="11151A"/>
                          </a:solidFill>
                          <a:latin typeface="Lato" panose="020F0502020204030203" pitchFamily="34" charset="0"/>
                        </a:rPr>
                        <a:t>Current prices, adjusted for inflation</a:t>
                      </a:r>
                      <a:endParaRPr lang="en-ZA" sz="850" b="0" dirty="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a:solidFill>
                            <a:srgbClr val="11151A"/>
                          </a:solidFill>
                          <a:latin typeface="Lato" panose="020F0502020204030203" pitchFamily="34" charset="0"/>
                        </a:rPr>
                        <a:t>2026 rise; demand response −0.47, phased in</a:t>
                      </a:r>
                      <a:endParaRPr lang="en-ZA" sz="850" b="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2678802633"/>
                  </a:ext>
                </a:extLst>
              </a:tr>
              <a:tr h="282222">
                <a:tc>
                  <a:txBody>
                    <a:bodyPr/>
                    <a:lstStyle/>
                    <a:p>
                      <a:r>
                        <a:rPr lang="en-ZA" sz="850" b="1">
                          <a:solidFill>
                            <a:srgbClr val="11151A"/>
                          </a:solidFill>
                          <a:latin typeface="Lato" panose="020F0502020204030203" pitchFamily="34" charset="0"/>
                        </a:rPr>
                        <a:t>Efficiency</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ZA" sz="850" b="0" dirty="0">
                          <a:solidFill>
                            <a:srgbClr val="11151A"/>
                          </a:solidFill>
                          <a:latin typeface="Lato" panose="020F0502020204030203" pitchFamily="34" charset="0"/>
                        </a:rPr>
                        <a:t>0.5–1.0% a year</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ZA" sz="850" b="0">
                          <a:solidFill>
                            <a:srgbClr val="11151A"/>
                          </a:solidFill>
                          <a:latin typeface="Lato" panose="020F0502020204030203" pitchFamily="34" charset="0"/>
                        </a:rPr>
                        <a:t>SA fleet: petrol 0.5–0.8%, diesel 0.4–0.7%</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875651872"/>
                  </a:ext>
                </a:extLst>
              </a:tr>
              <a:tr h="282222">
                <a:tc>
                  <a:txBody>
                    <a:bodyPr/>
                    <a:lstStyle/>
                    <a:p>
                      <a:r>
                        <a:rPr lang="en-ZA" sz="850" b="1">
                          <a:solidFill>
                            <a:srgbClr val="11151A"/>
                          </a:solidFill>
                          <a:latin typeface="Lato" panose="020F0502020204030203" pitchFamily="34" charset="0"/>
                        </a:rPr>
                        <a:t>Electric vehicles</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ZA" sz="850" b="0" dirty="0">
                          <a:solidFill>
                            <a:srgbClr val="11151A"/>
                          </a:solidFill>
                          <a:latin typeface="Lato" panose="020F0502020204030203" pitchFamily="34" charset="0"/>
                        </a:rPr>
                        <a:t>Fixed penetration rates (UNDP)</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a:solidFill>
                            <a:srgbClr val="11151A"/>
                          </a:solidFill>
                          <a:latin typeface="Lato" panose="020F0502020204030203" pitchFamily="34" charset="0"/>
                        </a:rPr>
                        <a:t>S-curve of new sales, run through the vehicle fleet</a:t>
                      </a:r>
                      <a:endParaRPr lang="en-ZA" sz="850" b="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1776949461"/>
                  </a:ext>
                </a:extLst>
              </a:tr>
              <a:tr h="282222">
                <a:tc>
                  <a:txBody>
                    <a:bodyPr/>
                    <a:lstStyle/>
                    <a:p>
                      <a:r>
                        <a:rPr lang="en-ZA" sz="850" b="1">
                          <a:solidFill>
                            <a:srgbClr val="11151A"/>
                          </a:solidFill>
                          <a:latin typeface="Lato" panose="020F0502020204030203" pitchFamily="34" charset="0"/>
                        </a:rPr>
                        <a:t>Rail</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dirty="0">
                          <a:solidFill>
                            <a:srgbClr val="11151A"/>
                          </a:solidFill>
                          <a:latin typeface="Lato" panose="020F0502020204030203" pitchFamily="34" charset="0"/>
                        </a:rPr>
                        <a:t>2025 growth rates; no shift assumed</a:t>
                      </a:r>
                      <a:endParaRPr lang="en-ZA" sz="850" b="0" dirty="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a:solidFill>
                            <a:srgbClr val="11151A"/>
                          </a:solidFill>
                          <a:latin typeface="Lato" panose="020F0502020204030203" pitchFamily="34" charset="0"/>
                        </a:rPr>
                        <a:t>Rail at 215–262m t by 2030</a:t>
                      </a:r>
                      <a:endParaRPr lang="en-ZA" sz="850" b="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3686653697"/>
                  </a:ext>
                </a:extLst>
              </a:tr>
              <a:tr h="282222">
                <a:tc>
                  <a:txBody>
                    <a:bodyPr/>
                    <a:lstStyle/>
                    <a:p>
                      <a:r>
                        <a:rPr lang="en-ZA" sz="850" b="1">
                          <a:solidFill>
                            <a:srgbClr val="11151A"/>
                          </a:solidFill>
                          <a:latin typeface="Lato" panose="020F0502020204030203" pitchFamily="34" charset="0"/>
                        </a:rPr>
                        <a:t>Power stations</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ZA" sz="850" b="0" dirty="0">
                          <a:solidFill>
                            <a:srgbClr val="11151A"/>
                          </a:solidFill>
                          <a:latin typeface="Lato" panose="020F0502020204030203" pitchFamily="34" charset="0"/>
                        </a:rPr>
                        <a:t>Eskom improving; peakers subdued</a:t>
                      </a: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tc>
                  <a:txBody>
                    <a:bodyPr/>
                    <a:lstStyle/>
                    <a:p>
                      <a:r>
                        <a:rPr lang="en-GB" sz="850" b="0">
                          <a:solidFill>
                            <a:srgbClr val="11151A"/>
                          </a:solidFill>
                          <a:latin typeface="Lato" panose="020F0502020204030203" pitchFamily="34" charset="0"/>
                        </a:rPr>
                        <a:t>Avon peaker at 1.4–10% load factor</a:t>
                      </a:r>
                      <a:endParaRPr lang="en-ZA" sz="850" b="0">
                        <a:solidFill>
                          <a:srgbClr val="11151A"/>
                        </a:solidFill>
                        <a:latin typeface="Lato" panose="020F0502020204030203" pitchFamily="34" charset="0"/>
                      </a:endParaRPr>
                    </a:p>
                  </a:txBody>
                  <a:tcPr marL="38100" marR="38100" marT="25400" marB="25400">
                    <a:lnL w="12700" cmpd="sng">
                      <a:solidFill>
                        <a:schemeClr val="lt1"/>
                      </a:solidFill>
                    </a:lnL>
                    <a:lnR w="12700" cmpd="sng">
                      <a:solidFill>
                        <a:schemeClr val="lt1"/>
                      </a:solidFill>
                    </a:lnR>
                    <a:lnT w="6350" cmpd="sng">
                      <a:solidFill>
                        <a:srgbClr val="D4D4D4"/>
                      </a:solidFill>
                    </a:lnT>
                    <a:lnB w="6350" cmpd="sng">
                      <a:solidFill>
                        <a:srgbClr val="D4D4D4"/>
                      </a:solidFill>
                    </a:lnB>
                    <a:noFill/>
                  </a:tcPr>
                </a:tc>
                <a:extLst>
                  <a:ext uri="{0D108BD9-81ED-4DB2-BD59-A6C34878D82A}">
                    <a16:rowId xmlns:a16="http://schemas.microsoft.com/office/drawing/2014/main" val="1584976029"/>
                  </a:ext>
                </a:extLst>
              </a:tr>
            </a:tbl>
          </a:graphicData>
        </a:graphic>
      </p:graphicFrame>
    </p:spTree>
    <p:extLst>
      <p:ext uri="{BB962C8B-B14F-4D97-AF65-F5344CB8AC3E}">
        <p14:creationId xmlns:p14="http://schemas.microsoft.com/office/powerpoint/2010/main" val="3191172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Appendix: demand in every magisterial district of the market of interest (1 of 2)</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21</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Department fuel sales by magisterial district, four quarters of 2022, grown to 2025 at national growth by product (2025 demand = production + imports − exports, p4); method as p13. Sales are recorded where fuel is sold, which may differ from where it is used.</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6"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5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5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59"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sp>
        <p:nvSpPr>
          <p:cNvPr id="60" name="Evidence unit"/>
          <p:cNvSpPr txBox="1"/>
          <p:nvPr/>
        </p:nvSpPr>
        <p:spPr>
          <a:xfrm>
            <a:off x="457200" y="1591056"/>
            <a:ext cx="10652760" cy="201168"/>
          </a:xfrm>
          <a:prstGeom prst="rect">
            <a:avLst/>
          </a:prstGeom>
          <a:noFill/>
        </p:spPr>
        <p:txBody>
          <a:bodyPr wrap="none" lIns="0" tIns="0" bIns="0">
            <a:spAutoFit/>
          </a:bodyPr>
          <a:lstStyle/>
          <a:p>
            <a:r>
              <a:rPr sz="1000">
                <a:solidFill>
                  <a:srgbClr val="666666"/>
                </a:solidFill>
                <a:latin typeface="Lato"/>
              </a:rPr>
              <a:t>Million litres, 2025E | largest district first within each province | province totals match p13</a:t>
            </a:r>
          </a:p>
        </p:txBody>
      </p:sp>
      <p:sp>
        <p:nvSpPr>
          <p:cNvPr id="61" name="Province heading"/>
          <p:cNvSpPr txBox="1"/>
          <p:nvPr/>
        </p:nvSpPr>
        <p:spPr>
          <a:xfrm>
            <a:off x="457200" y="1828800"/>
            <a:ext cx="2526030" cy="219456"/>
          </a:xfrm>
          <a:prstGeom prst="rect">
            <a:avLst/>
          </a:prstGeom>
          <a:noFill/>
        </p:spPr>
        <p:txBody>
          <a:bodyPr wrap="none" lIns="0" tIns="0" bIns="0">
            <a:spAutoFit/>
          </a:bodyPr>
          <a:lstStyle/>
          <a:p>
            <a:r>
              <a:rPr sz="1000" b="1">
                <a:solidFill>
                  <a:srgbClr val="0A2373"/>
                </a:solidFill>
                <a:latin typeface="Lato"/>
              </a:rPr>
              <a:t>Gauteng: 22 districts, 7.7bn L</a:t>
            </a:r>
          </a:p>
        </p:txBody>
      </p:sp>
      <p:graphicFrame>
        <p:nvGraphicFramePr>
          <p:cNvPr id="62" name="District table"/>
          <p:cNvGraphicFramePr>
            <a:graphicFrameLocks noGrp="1"/>
          </p:cNvGraphicFramePr>
          <p:nvPr/>
        </p:nvGraphicFramePr>
        <p:xfrm>
          <a:off x="457200" y="2075688"/>
          <a:ext cx="2526030" cy="3423504"/>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Johannesburg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1,726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2,854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Pretoria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678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786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1,464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Randburg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376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227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603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Kempton Park</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248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203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451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Alberton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366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Germiston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284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Vereeniging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250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Krugersdorp</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232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Roodepoort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Benoni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168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Boksburg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149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Vanderbijlpark</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132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Randfontein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107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Brakpan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87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Wonderboom</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86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Springs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Bronkhorstspruit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Soshanguve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Nigel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Westonaria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0">
                          <a:solidFill>
                            <a:srgbClr val="11151A"/>
                          </a:solidFill>
                          <a:latin typeface="Lato"/>
                        </a:rPr>
                        <a:t>Oberholzer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1"/>
                  </a:ext>
                </a:extLst>
              </a:tr>
              <a:tr h="142646">
                <a:tc>
                  <a:txBody>
                    <a:bodyPr/>
                    <a:lstStyle/>
                    <a:p>
                      <a:pPr algn="l"/>
                      <a:r>
                        <a:rPr sz="700" b="0">
                          <a:solidFill>
                            <a:srgbClr val="11151A"/>
                          </a:solidFill>
                          <a:latin typeface="Lato"/>
                        </a:rPr>
                        <a:t>Cullinan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2"/>
                  </a:ext>
                </a:extLst>
              </a:tr>
              <a:tr h="142646">
                <a:tc>
                  <a:txBody>
                    <a:bodyPr/>
                    <a:lstStyle/>
                    <a:p>
                      <a:pPr algn="l"/>
                      <a:r>
                        <a:rPr sz="700" b="1">
                          <a:solidFill>
                            <a:srgbClr val="11151A"/>
                          </a:solidFill>
                          <a:latin typeface="Lato"/>
                        </a:rPr>
                        <a:t>Gauteng total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3,572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4,148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7,720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extLst>
                  <a:ext uri="{0D108BD9-81ED-4DB2-BD59-A6C34878D82A}">
                    <a16:rowId xmlns:a16="http://schemas.microsoft.com/office/drawing/2014/main" val="10023"/>
                  </a:ext>
                </a:extLst>
              </a:tr>
            </a:tbl>
          </a:graphicData>
        </a:graphic>
      </p:graphicFrame>
      <p:sp>
        <p:nvSpPr>
          <p:cNvPr id="63" name="Province heading"/>
          <p:cNvSpPr txBox="1"/>
          <p:nvPr/>
        </p:nvSpPr>
        <p:spPr>
          <a:xfrm>
            <a:off x="3166110" y="1828800"/>
            <a:ext cx="2526030" cy="219456"/>
          </a:xfrm>
          <a:prstGeom prst="rect">
            <a:avLst/>
          </a:prstGeom>
          <a:noFill/>
        </p:spPr>
        <p:txBody>
          <a:bodyPr wrap="none" lIns="0" tIns="0" bIns="0">
            <a:spAutoFit/>
          </a:bodyPr>
          <a:lstStyle/>
          <a:p>
            <a:r>
              <a:rPr sz="1000" b="1">
                <a:solidFill>
                  <a:srgbClr val="0A2373"/>
                </a:solidFill>
                <a:latin typeface="Lato"/>
              </a:rPr>
              <a:t>KwaZulu-Natal: 45 districts, 5.0bn L (1 of 2)</a:t>
            </a:r>
          </a:p>
        </p:txBody>
      </p:sp>
      <p:graphicFrame>
        <p:nvGraphicFramePr>
          <p:cNvPr id="64" name="District table"/>
          <p:cNvGraphicFramePr>
            <a:graphicFrameLocks noGrp="1"/>
          </p:cNvGraphicFramePr>
          <p:nvPr/>
        </p:nvGraphicFramePr>
        <p:xfrm>
          <a:off x="3166110" y="2075688"/>
          <a:ext cx="2526030" cy="3423504"/>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Durban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701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2,204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2,905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Pinetown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380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492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Pietermaritzburg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430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Inanda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172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Lower Umfolozi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153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Newcastle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100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Lower Tugela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91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Port Shepstone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Chatsworth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Mount Currie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Kliprivier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Umzinto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Camperdown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Estcourt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Vryheid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Umlazi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Lions River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Eshowe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Hlabisa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Mtunzini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0">
                          <a:solidFill>
                            <a:srgbClr val="11151A"/>
                          </a:solidFill>
                          <a:latin typeface="Lato"/>
                        </a:rPr>
                        <a:t>Umbumbulu</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1"/>
                  </a:ext>
                </a:extLst>
              </a:tr>
              <a:tr h="142646">
                <a:tc>
                  <a:txBody>
                    <a:bodyPr/>
                    <a:lstStyle/>
                    <a:p>
                      <a:pPr algn="l"/>
                      <a:r>
                        <a:rPr sz="700" b="0">
                          <a:solidFill>
                            <a:srgbClr val="11151A"/>
                          </a:solidFill>
                          <a:latin typeface="Lato"/>
                        </a:rPr>
                        <a:t>Ubombo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2"/>
                  </a:ext>
                </a:extLst>
              </a:tr>
              <a:tr h="142646">
                <a:tc>
                  <a:txBody>
                    <a:bodyPr/>
                    <a:lstStyle/>
                    <a:p>
                      <a:pPr algn="l"/>
                      <a:r>
                        <a:rPr sz="700" b="0">
                          <a:solidFill>
                            <a:srgbClr val="11151A"/>
                          </a:solidFill>
                          <a:latin typeface="Lato"/>
                        </a:rPr>
                        <a:t>Kranskop</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3"/>
                  </a:ext>
                </a:extLst>
              </a:tr>
            </a:tbl>
          </a:graphicData>
        </a:graphic>
      </p:graphicFrame>
      <p:sp>
        <p:nvSpPr>
          <p:cNvPr id="65" name="Province heading"/>
          <p:cNvSpPr txBox="1"/>
          <p:nvPr/>
        </p:nvSpPr>
        <p:spPr>
          <a:xfrm>
            <a:off x="5875020" y="1828800"/>
            <a:ext cx="2526030" cy="219456"/>
          </a:xfrm>
          <a:prstGeom prst="rect">
            <a:avLst/>
          </a:prstGeom>
          <a:noFill/>
        </p:spPr>
        <p:txBody>
          <a:bodyPr wrap="none" lIns="0" tIns="0" bIns="0">
            <a:spAutoFit/>
          </a:bodyPr>
          <a:lstStyle/>
          <a:p>
            <a:r>
              <a:rPr sz="1000" b="1">
                <a:solidFill>
                  <a:srgbClr val="0A2373"/>
                </a:solidFill>
                <a:latin typeface="Lato"/>
              </a:rPr>
              <a:t>KwaZulu-Natal: 45 districts, 5.0bn L (2 of 2)</a:t>
            </a:r>
          </a:p>
        </p:txBody>
      </p:sp>
      <p:graphicFrame>
        <p:nvGraphicFramePr>
          <p:cNvPr id="66" name="District table"/>
          <p:cNvGraphicFramePr>
            <a:graphicFrameLocks noGrp="1"/>
          </p:cNvGraphicFramePr>
          <p:nvPr/>
        </p:nvGraphicFramePr>
        <p:xfrm>
          <a:off x="5875020" y="2075688"/>
          <a:ext cx="2526030" cy="3423504"/>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Dundee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Mahlabatini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Umvoti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Mooirivier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Ingwavuma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Alfred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Nongoma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Mtonjaneni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Ixopo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Nqutu</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Bergville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Paulpietersburg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Nkandla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Underberg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Glencoe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Dannhauser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Richmond (KZN)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Polela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New Hanover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Ndwedwe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0">
                          <a:solidFill>
                            <a:srgbClr val="11151A"/>
                          </a:solidFill>
                          <a:latin typeface="Lato"/>
                        </a:rPr>
                        <a:t>Ngotshe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1"/>
                  </a:ext>
                </a:extLst>
              </a:tr>
              <a:tr h="142646">
                <a:tc>
                  <a:txBody>
                    <a:bodyPr/>
                    <a:lstStyle/>
                    <a:p>
                      <a:pPr algn="l"/>
                      <a:r>
                        <a:rPr sz="700" b="0">
                          <a:solidFill>
                            <a:srgbClr val="11151A"/>
                          </a:solidFill>
                          <a:latin typeface="Lato"/>
                        </a:rPr>
                        <a:t>Impendle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2"/>
                  </a:ext>
                </a:extLst>
              </a:tr>
              <a:tr h="142646">
                <a:tc>
                  <a:txBody>
                    <a:bodyPr/>
                    <a:lstStyle/>
                    <a:p>
                      <a:pPr algn="l"/>
                      <a:r>
                        <a:rPr sz="700" b="1">
                          <a:solidFill>
                            <a:srgbClr val="11151A"/>
                          </a:solidFill>
                          <a:latin typeface="Lato"/>
                        </a:rPr>
                        <a:t>KwaZulu-Natal total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1,517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3,524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5,040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extLst>
                  <a:ext uri="{0D108BD9-81ED-4DB2-BD59-A6C34878D82A}">
                    <a16:rowId xmlns:a16="http://schemas.microsoft.com/office/drawing/2014/main" val="10023"/>
                  </a:ext>
                </a:extLst>
              </a:tr>
            </a:tbl>
          </a:graphicData>
        </a:graphic>
      </p:graphicFrame>
      <p:sp>
        <p:nvSpPr>
          <p:cNvPr id="67" name="Province heading"/>
          <p:cNvSpPr txBox="1"/>
          <p:nvPr/>
        </p:nvSpPr>
        <p:spPr>
          <a:xfrm>
            <a:off x="8583930" y="1828800"/>
            <a:ext cx="2526030" cy="219456"/>
          </a:xfrm>
          <a:prstGeom prst="rect">
            <a:avLst/>
          </a:prstGeom>
          <a:noFill/>
        </p:spPr>
        <p:txBody>
          <a:bodyPr wrap="none" lIns="0" tIns="0" bIns="0">
            <a:spAutoFit/>
          </a:bodyPr>
          <a:lstStyle/>
          <a:p>
            <a:r>
              <a:rPr sz="1000" b="1">
                <a:solidFill>
                  <a:srgbClr val="0A2373"/>
                </a:solidFill>
                <a:latin typeface="Lato"/>
              </a:rPr>
              <a:t>Mpumalanga: 28 districts, 2.1bn L</a:t>
            </a:r>
          </a:p>
        </p:txBody>
      </p:sp>
      <p:graphicFrame>
        <p:nvGraphicFramePr>
          <p:cNvPr id="68" name="District table"/>
          <p:cNvGraphicFramePr>
            <a:graphicFrameLocks noGrp="1"/>
          </p:cNvGraphicFramePr>
          <p:nvPr/>
        </p:nvGraphicFramePr>
        <p:xfrm>
          <a:off x="8583930" y="2075688"/>
          <a:ext cx="2526030" cy="4279380"/>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Middelburg (MP)</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355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Highveld Ridge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157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390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Witbank</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232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Nelspruit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134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Volksrust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Standerton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Delmas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107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Piet Retief</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White River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Lydenburg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Letaba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Ermelo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Belfast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Barberton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Bethal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Kriel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Groblersdal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Balfour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Kwamhlanga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Pilgrims Rest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0">
                          <a:solidFill>
                            <a:srgbClr val="11151A"/>
                          </a:solidFill>
                          <a:latin typeface="Lato"/>
                        </a:rPr>
                        <a:t>Mdutjana (Siyabuswa)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1"/>
                  </a:ext>
                </a:extLst>
              </a:tr>
              <a:tr h="142646">
                <a:tc>
                  <a:txBody>
                    <a:bodyPr/>
                    <a:lstStyle/>
                    <a:p>
                      <a:pPr algn="l"/>
                      <a:r>
                        <a:rPr sz="700" b="0">
                          <a:solidFill>
                            <a:srgbClr val="11151A"/>
                          </a:solidFill>
                          <a:latin typeface="Lato"/>
                        </a:rPr>
                        <a:t>Nsikazi (Kangwane)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2"/>
                  </a:ext>
                </a:extLst>
              </a:tr>
              <a:tr h="142646">
                <a:tc>
                  <a:txBody>
                    <a:bodyPr/>
                    <a:lstStyle/>
                    <a:p>
                      <a:pPr algn="l"/>
                      <a:r>
                        <a:rPr sz="700" b="0">
                          <a:solidFill>
                            <a:srgbClr val="11151A"/>
                          </a:solidFill>
                          <a:latin typeface="Lato"/>
                        </a:rPr>
                        <a:t>Nkomazi (Kamhulshwa)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3"/>
                  </a:ext>
                </a:extLst>
              </a:tr>
              <a:tr h="142646">
                <a:tc>
                  <a:txBody>
                    <a:bodyPr/>
                    <a:lstStyle/>
                    <a:p>
                      <a:pPr algn="l"/>
                      <a:r>
                        <a:rPr sz="700" b="0">
                          <a:solidFill>
                            <a:srgbClr val="11151A"/>
                          </a:solidFill>
                          <a:latin typeface="Lato"/>
                        </a:rPr>
                        <a:t>Molopo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4"/>
                  </a:ext>
                </a:extLst>
              </a:tr>
              <a:tr h="142646">
                <a:tc>
                  <a:txBody>
                    <a:bodyPr/>
                    <a:lstStyle/>
                    <a:p>
                      <a:pPr algn="l"/>
                      <a:r>
                        <a:rPr sz="700" b="0">
                          <a:solidFill>
                            <a:srgbClr val="11151A"/>
                          </a:solidFill>
                          <a:latin typeface="Lato"/>
                        </a:rPr>
                        <a:t>Carolina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5"/>
                  </a:ext>
                </a:extLst>
              </a:tr>
              <a:tr h="142646">
                <a:tc>
                  <a:txBody>
                    <a:bodyPr/>
                    <a:lstStyle/>
                    <a:p>
                      <a:pPr algn="l"/>
                      <a:r>
                        <a:rPr sz="700" b="0">
                          <a:solidFill>
                            <a:srgbClr val="11151A"/>
                          </a:solidFill>
                          <a:latin typeface="Lato"/>
                        </a:rPr>
                        <a:t>Moutse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6"/>
                  </a:ext>
                </a:extLst>
              </a:tr>
              <a:tr h="142646">
                <a:tc>
                  <a:txBody>
                    <a:bodyPr/>
                    <a:lstStyle/>
                    <a:p>
                      <a:pPr algn="l"/>
                      <a:r>
                        <a:rPr sz="700" b="0">
                          <a:solidFill>
                            <a:srgbClr val="11151A"/>
                          </a:solidFill>
                          <a:latin typeface="Lato"/>
                        </a:rPr>
                        <a:t>Waterval-Boven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7"/>
                  </a:ext>
                </a:extLst>
              </a:tr>
              <a:tr h="142646">
                <a:tc>
                  <a:txBody>
                    <a:bodyPr/>
                    <a:lstStyle/>
                    <a:p>
                      <a:pPr algn="l"/>
                      <a:r>
                        <a:rPr sz="700" b="0">
                          <a:solidFill>
                            <a:srgbClr val="11151A"/>
                          </a:solidFill>
                          <a:latin typeface="Lato"/>
                        </a:rPr>
                        <a:t>Eerstehoek</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8"/>
                  </a:ext>
                </a:extLst>
              </a:tr>
              <a:tr h="142646">
                <a:tc>
                  <a:txBody>
                    <a:bodyPr/>
                    <a:lstStyle/>
                    <a:p>
                      <a:pPr algn="l"/>
                      <a:r>
                        <a:rPr sz="700" b="1">
                          <a:solidFill>
                            <a:srgbClr val="11151A"/>
                          </a:solidFill>
                          <a:latin typeface="Lato"/>
                        </a:rPr>
                        <a:t>Mpumalanga total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619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1,448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2,068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extLst>
                  <a:ext uri="{0D108BD9-81ED-4DB2-BD59-A6C34878D82A}">
                    <a16:rowId xmlns:a16="http://schemas.microsoft.com/office/drawing/2014/main" val="10029"/>
                  </a:ext>
                </a:extLst>
              </a:tr>
            </a:tbl>
          </a:graphicData>
        </a:graphic>
      </p:graphicFrame>
    </p:spTree>
    <p:extLst>
      <p:ext uri="{BB962C8B-B14F-4D97-AF65-F5344CB8AC3E}">
        <p14:creationId xmlns:p14="http://schemas.microsoft.com/office/powerpoint/2010/main" val="2866411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9C0B-9C65-4A8A-AA1A-1B16A6CFB44A}"/>
              </a:ext>
            </a:extLst>
          </p:cNvPr>
          <p:cNvSpPr>
            <a:spLocks noGrp="1"/>
          </p:cNvSpPr>
          <p:nvPr>
            <p:ph type="title"/>
          </p:nvPr>
        </p:nvSpPr>
        <p:spPr/>
        <p:txBody>
          <a:bodyPr>
            <a:noAutofit/>
          </a:bodyPr>
          <a:lstStyle/>
          <a:p>
            <a:pPr>
              <a:defRPr sz="2100" b="1">
                <a:solidFill>
                  <a:srgbClr val="000000"/>
                </a:solidFill>
                <a:latin typeface="Lato"/>
                <a:ea typeface="Lato"/>
                <a:cs typeface="Lato"/>
              </a:defRPr>
            </a:pPr>
            <a:r>
              <a:rPr sz="2100" b="1">
                <a:solidFill>
                  <a:srgbClr val="000000"/>
                </a:solidFill>
                <a:latin typeface="Lato"/>
                <a:ea typeface="Lato"/>
                <a:cs typeface="Lato"/>
              </a:rPr>
              <a:t>Appendix: demand in every magisterial district of the market of interest (2 of 2)</a:t>
            </a:r>
            <a:endParaRPr>
              <a:solidFill>
                <a:schemeClr val="dk1"/>
              </a:solidFill>
              <a:latin typeface="Lato"/>
              <a:ea typeface="Lato"/>
              <a:cs typeface="Lato"/>
            </a:endParaRPr>
          </a:p>
        </p:txBody>
      </p:sp>
      <p:sp>
        <p:nvSpPr>
          <p:cNvPr id="3" name="Slide Number Placeholder">
            <a:extLst>
              <a:ext uri="{FF2B5EF4-FFF2-40B4-BE49-F238E27FC236}">
                <a16:creationId xmlns:a16="http://schemas.microsoft.com/office/drawing/2014/main" id="{530C5375-C5BC-4994-A040-C2B9FB773F81}"/>
              </a:ext>
            </a:extLst>
          </p:cNvPr>
          <p:cNvSpPr>
            <a:spLocks noGrp="1"/>
          </p:cNvSpPr>
          <p:nvPr>
            <p:ph type="sldNum" idx="12"/>
          </p:nvPr>
        </p:nvSpPr>
        <p:spPr>
          <a:xfrm>
            <a:off x="10972800" y="6515100"/>
            <a:ext cx="355600" cy="241300"/>
          </a:xfrm>
        </p:spPr>
        <p:txBody>
          <a:bodyPr/>
          <a:lstStyle/>
          <a:p>
            <a:pPr>
              <a:buNone/>
              <a:defRPr sz="1000">
                <a:latin typeface="Lato"/>
                <a:ea typeface="Lato"/>
                <a:cs typeface="Lato"/>
              </a:defRPr>
            </a:pPr>
            <a:r>
              <a:rPr lang="en-ZA" sz="1100"/>
              <a:t>22</a:t>
            </a:r>
            <a:endParaRPr sz="1100"/>
          </a:p>
        </p:txBody>
      </p:sp>
      <p:sp>
        <p:nvSpPr>
          <p:cNvPr id="8" name="Unified source footer">
            <a:extLst>
              <a:ext uri="{FF2B5EF4-FFF2-40B4-BE49-F238E27FC236}">
                <a16:creationId xmlns:a16="http://schemas.microsoft.com/office/drawing/2014/main" id="{15D4BEE9-50D7-488E-9F31-6371512319CF}"/>
              </a:ext>
            </a:extLst>
          </p:cNvPr>
          <p:cNvSpPr>
            <a:spLocks noGrp="1"/>
          </p:cNvSpPr>
          <p:nvPr/>
        </p:nvSpPr>
        <p:spPr>
          <a:xfrm>
            <a:off x="457200" y="6492240"/>
            <a:ext cx="9326880" cy="237744"/>
          </a:xfrm>
          <a:prstGeom prst="rect">
            <a:avLst/>
          </a:prstGeom>
          <a:noFill/>
        </p:spPr>
        <p:txBody>
          <a:bodyPr wrap="square" lIns="0" tIns="0" rIns="0" bIns="0">
            <a:noAutofit/>
          </a:bodyPr>
          <a:lstStyle/>
          <a:p>
            <a:pPr>
              <a:lnSpc>
                <a:spcPts val="900"/>
              </a:lnSpc>
              <a:spcBef>
                <a:spcPts val="0"/>
              </a:spcBef>
              <a:spcAft>
                <a:spcPts val="0"/>
              </a:spcAft>
              <a:buNone/>
              <a:defRPr sz="600" b="0">
                <a:solidFill>
                  <a:srgbClr val="111111"/>
                </a:solidFill>
                <a:latin typeface="Lato"/>
                <a:ea typeface="Lato"/>
                <a:cs typeface="Lato"/>
              </a:defRPr>
            </a:pPr>
            <a:r>
              <a:rPr sz="600">
                <a:solidFill>
                  <a:srgbClr val="111111"/>
                </a:solidFill>
                <a:latin typeface="Lato"/>
                <a:ea typeface="Lato"/>
                <a:cs typeface="Lato"/>
              </a:rPr>
              <a:t>Department fuel sales by magisterial district, four quarters of 2022, grown to 2025 at national growth by product (2025 demand = production + imports − exports, p4); method as p13. Sales are recorded where fuel is sold, which may differ from where it is used.</a:t>
            </a:r>
            <a:endParaRPr sz="600"/>
          </a:p>
        </p:txBody>
      </p:sp>
      <p:sp>
        <p:nvSpPr>
          <p:cNvPr id="48" name="Strictly Confidential footer">
            <a:extLst>
              <a:ext uri="{FF2B5EF4-FFF2-40B4-BE49-F238E27FC236}">
                <a16:creationId xmlns:a16="http://schemas.microsoft.com/office/drawing/2014/main" id="{FA0CDA0B-279B-4ECE-AFE5-E9EE74F6CFE2}"/>
              </a:ext>
            </a:extLst>
          </p:cNvPr>
          <p:cNvSpPr>
            <a:spLocks noGrp="1"/>
          </p:cNvSpPr>
          <p:nvPr/>
        </p:nvSpPr>
        <p:spPr>
          <a:xfrm>
            <a:off x="457200" y="6729984"/>
            <a:ext cx="2011680" cy="118872"/>
          </a:xfrm>
          <a:prstGeom prst="rect">
            <a:avLst/>
          </a:prstGeom>
          <a:noFill/>
        </p:spPr>
        <p:txBody>
          <a:bodyPr wrap="none" lIns="0" tIns="0" rIns="0" bIns="0">
            <a:spAutoFit/>
          </a:bodyPr>
          <a:lstStyle/>
          <a:p>
            <a:pPr>
              <a:spcBef>
                <a:spcPts val="0"/>
              </a:spcBef>
              <a:spcAft>
                <a:spcPts val="0"/>
              </a:spcAft>
              <a:buNone/>
              <a:defRPr sz="750">
                <a:solidFill>
                  <a:srgbClr val="767676"/>
                </a:solidFill>
                <a:latin typeface="Lato"/>
                <a:ea typeface="Lato"/>
                <a:cs typeface="Lato"/>
              </a:defRPr>
            </a:pPr>
            <a:r>
              <a:t>Strictly Confidential</a:t>
            </a:r>
          </a:p>
        </p:txBody>
      </p:sp>
      <p:sp>
        <p:nvSpPr>
          <p:cNvPr id="56" name="Section navigation 1"/>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1  Overview</a:t>
            </a:r>
          </a:p>
        </p:txBody>
      </p:sp>
      <p:sp>
        <p:nvSpPr>
          <p:cNvPr id="57" name="Section navigation 2"/>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2  Market baseline</a:t>
            </a:r>
          </a:p>
        </p:txBody>
      </p:sp>
      <p:sp>
        <p:nvSpPr>
          <p:cNvPr id="58" name="Section navigation 3"/>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0">
                <a:solidFill>
                  <a:srgbClr val="0A2373"/>
                </a:solidFill>
                <a:latin typeface="Lato"/>
              </a:defRPr>
            </a:pPr>
            <a:r>
              <a:rPr sz="1050">
                <a:latin typeface="Lato"/>
              </a:rPr>
              <a:t>3  Market changes</a:t>
            </a:r>
          </a:p>
        </p:txBody>
      </p:sp>
      <p:sp>
        <p:nvSpPr>
          <p:cNvPr id="59" name="Section navigation 4"/>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wrap="none" lIns="164592" tIns="0" rIns="164592" bIns="0" rtlCol="0" anchor="ctr">
            <a:noAutofit/>
          </a:bodyPr>
          <a:lstStyle/>
          <a:p>
            <a:pPr algn="ctr">
              <a:defRPr sz="1050" b="1">
                <a:solidFill>
                  <a:srgbClr val="FFFFFF"/>
                </a:solidFill>
                <a:latin typeface="Lato"/>
              </a:defRPr>
            </a:pPr>
            <a:r>
              <a:rPr sz="1050">
                <a:latin typeface="Lato"/>
              </a:rPr>
              <a:t>4  Vopak outlook</a:t>
            </a:r>
          </a:p>
        </p:txBody>
      </p:sp>
      <p:sp>
        <p:nvSpPr>
          <p:cNvPr id="60" name="Evidence unit"/>
          <p:cNvSpPr txBox="1"/>
          <p:nvPr/>
        </p:nvSpPr>
        <p:spPr>
          <a:xfrm>
            <a:off x="457200" y="1591056"/>
            <a:ext cx="10652760" cy="201168"/>
          </a:xfrm>
          <a:prstGeom prst="rect">
            <a:avLst/>
          </a:prstGeom>
          <a:noFill/>
        </p:spPr>
        <p:txBody>
          <a:bodyPr wrap="none" lIns="0" tIns="0" bIns="0">
            <a:spAutoFit/>
          </a:bodyPr>
          <a:lstStyle/>
          <a:p>
            <a:r>
              <a:rPr sz="1000">
                <a:solidFill>
                  <a:srgbClr val="666666"/>
                </a:solidFill>
                <a:latin typeface="Lato"/>
              </a:rPr>
              <a:t>Million litres, 2025E | largest district first within each province | province totals match p13</a:t>
            </a:r>
          </a:p>
        </p:txBody>
      </p:sp>
      <p:sp>
        <p:nvSpPr>
          <p:cNvPr id="61" name="Province heading"/>
          <p:cNvSpPr txBox="1"/>
          <p:nvPr/>
        </p:nvSpPr>
        <p:spPr>
          <a:xfrm>
            <a:off x="457200" y="1828800"/>
            <a:ext cx="2526030" cy="219456"/>
          </a:xfrm>
          <a:prstGeom prst="rect">
            <a:avLst/>
          </a:prstGeom>
          <a:noFill/>
        </p:spPr>
        <p:txBody>
          <a:bodyPr wrap="none" lIns="0" tIns="0" bIns="0">
            <a:spAutoFit/>
          </a:bodyPr>
          <a:lstStyle/>
          <a:p>
            <a:r>
              <a:rPr sz="1000" b="1">
                <a:solidFill>
                  <a:srgbClr val="0A2373"/>
                </a:solidFill>
                <a:latin typeface="Lato"/>
              </a:rPr>
              <a:t>Free State: 41 districts, 1.6bn L (1 of 2)</a:t>
            </a:r>
          </a:p>
        </p:txBody>
      </p:sp>
      <p:graphicFrame>
        <p:nvGraphicFramePr>
          <p:cNvPr id="62" name="District table"/>
          <p:cNvGraphicFramePr>
            <a:graphicFrameLocks noGrp="1"/>
          </p:cNvGraphicFramePr>
          <p:nvPr/>
        </p:nvGraphicFramePr>
        <p:xfrm>
          <a:off x="457200" y="2075688"/>
          <a:ext cx="2526030" cy="3138212"/>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Sasolburg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231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286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Bloemfontein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292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Kroonstad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221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Welkom</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Harrismith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Bethlehem</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Reitz</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Koppies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Witsieshoek</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Bothaville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Virginia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Ladybrand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Parys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Bethulie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Odendaalsrus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Viljoenskroon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Botshabelo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Bultfontein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Ficksburg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Ventersburg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0">
                          <a:solidFill>
                            <a:srgbClr val="11151A"/>
                          </a:solidFill>
                          <a:latin typeface="Lato"/>
                        </a:rPr>
                        <a:t>Heilbron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1"/>
                  </a:ext>
                </a:extLst>
              </a:tr>
            </a:tbl>
          </a:graphicData>
        </a:graphic>
      </p:graphicFrame>
      <p:sp>
        <p:nvSpPr>
          <p:cNvPr id="63" name="Province heading"/>
          <p:cNvSpPr txBox="1"/>
          <p:nvPr/>
        </p:nvSpPr>
        <p:spPr>
          <a:xfrm>
            <a:off x="3166110" y="1828800"/>
            <a:ext cx="2526030" cy="219456"/>
          </a:xfrm>
          <a:prstGeom prst="rect">
            <a:avLst/>
          </a:prstGeom>
          <a:noFill/>
        </p:spPr>
        <p:txBody>
          <a:bodyPr wrap="none" lIns="0" tIns="0" bIns="0">
            <a:spAutoFit/>
          </a:bodyPr>
          <a:lstStyle/>
          <a:p>
            <a:r>
              <a:rPr sz="1000" b="1">
                <a:solidFill>
                  <a:srgbClr val="0A2373"/>
                </a:solidFill>
                <a:latin typeface="Lato"/>
              </a:rPr>
              <a:t>Free State: 41 districts, 1.6bn L (2 of 2)</a:t>
            </a:r>
          </a:p>
        </p:txBody>
      </p:sp>
      <p:graphicFrame>
        <p:nvGraphicFramePr>
          <p:cNvPr id="64" name="District table"/>
          <p:cNvGraphicFramePr>
            <a:graphicFrameLocks noGrp="1"/>
          </p:cNvGraphicFramePr>
          <p:nvPr/>
        </p:nvGraphicFramePr>
        <p:xfrm>
          <a:off x="3166110" y="2075688"/>
          <a:ext cx="2526030" cy="3138212"/>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Senekal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Frankfort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Marquard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Thaba'nchu</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Clocolan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Rouxville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Brandfort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Trompsburg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Wesselsbron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Theunissen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Vrede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Hoopstad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Boshof</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Fauresmith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Lindley</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Petrusburg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Smithfield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Zastron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Winburg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Hennenman</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1">
                          <a:solidFill>
                            <a:srgbClr val="11151A"/>
                          </a:solidFill>
                          <a:latin typeface="Lato"/>
                        </a:rPr>
                        <a:t>Free State total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594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989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1,583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extLst>
                  <a:ext uri="{0D108BD9-81ED-4DB2-BD59-A6C34878D82A}">
                    <a16:rowId xmlns:a16="http://schemas.microsoft.com/office/drawing/2014/main" val="10021"/>
                  </a:ext>
                </a:extLst>
              </a:tr>
            </a:tbl>
          </a:graphicData>
        </a:graphic>
      </p:graphicFrame>
      <p:sp>
        <p:nvSpPr>
          <p:cNvPr id="65" name="Province heading"/>
          <p:cNvSpPr txBox="1"/>
          <p:nvPr/>
        </p:nvSpPr>
        <p:spPr>
          <a:xfrm>
            <a:off x="5875020" y="1828800"/>
            <a:ext cx="2526030" cy="219456"/>
          </a:xfrm>
          <a:prstGeom prst="rect">
            <a:avLst/>
          </a:prstGeom>
          <a:noFill/>
        </p:spPr>
        <p:txBody>
          <a:bodyPr wrap="none" lIns="0" tIns="0" bIns="0">
            <a:spAutoFit/>
          </a:bodyPr>
          <a:lstStyle/>
          <a:p>
            <a:r>
              <a:rPr sz="1000" b="1">
                <a:solidFill>
                  <a:srgbClr val="0A2373"/>
                </a:solidFill>
                <a:latin typeface="Lato"/>
              </a:rPr>
              <a:t>North West: 26 districts, 1.2bn L</a:t>
            </a:r>
          </a:p>
        </p:txBody>
      </p:sp>
      <p:graphicFrame>
        <p:nvGraphicFramePr>
          <p:cNvPr id="66" name="District table"/>
          <p:cNvGraphicFramePr>
            <a:graphicFrameLocks noGrp="1"/>
          </p:cNvGraphicFramePr>
          <p:nvPr/>
        </p:nvGraphicFramePr>
        <p:xfrm>
          <a:off x="5875020" y="2075688"/>
          <a:ext cx="2526030" cy="3994088"/>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Klerksdorp</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259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395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Rustenburg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259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Brits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129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Potchefstroom</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Molopo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70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Lichtenburg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Vryburg (south)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Odi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Mankwe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Wolmaranstad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Marico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Schweizer-Reneke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Moretele 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Bloemhof</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Christiana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Swartruggens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Taung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Vryburg (west)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Ventersdorp</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Delareyville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0">
                          <a:solidFill>
                            <a:srgbClr val="11151A"/>
                          </a:solidFill>
                          <a:latin typeface="Lato"/>
                        </a:rPr>
                        <a:t>Coligny</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1"/>
                  </a:ext>
                </a:extLst>
              </a:tr>
              <a:tr h="142646">
                <a:tc>
                  <a:txBody>
                    <a:bodyPr/>
                    <a:lstStyle/>
                    <a:p>
                      <a:pPr algn="l"/>
                      <a:r>
                        <a:rPr sz="700" b="0">
                          <a:solidFill>
                            <a:srgbClr val="11151A"/>
                          </a:solidFill>
                          <a:latin typeface="Lato"/>
                        </a:rPr>
                        <a:t>Lehurutshe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2"/>
                  </a:ext>
                </a:extLst>
              </a:tr>
              <a:tr h="142646">
                <a:tc>
                  <a:txBody>
                    <a:bodyPr/>
                    <a:lstStyle/>
                    <a:p>
                      <a:pPr algn="l"/>
                      <a:r>
                        <a:rPr sz="700" b="0">
                          <a:solidFill>
                            <a:srgbClr val="11151A"/>
                          </a:solidFill>
                          <a:latin typeface="Lato"/>
                        </a:rPr>
                        <a:t>Koster</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3"/>
                  </a:ext>
                </a:extLst>
              </a:tr>
              <a:tr h="142646">
                <a:tc>
                  <a:txBody>
                    <a:bodyPr/>
                    <a:lstStyle/>
                    <a:p>
                      <a:pPr algn="l"/>
                      <a:r>
                        <a:rPr sz="700" b="0">
                          <a:solidFill>
                            <a:srgbClr val="11151A"/>
                          </a:solidFill>
                          <a:latin typeface="Lato"/>
                        </a:rPr>
                        <a:t>Ditsobotla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4"/>
                  </a:ext>
                </a:extLst>
              </a:tr>
              <a:tr h="142646">
                <a:tc>
                  <a:txBody>
                    <a:bodyPr/>
                    <a:lstStyle/>
                    <a:p>
                      <a:pPr algn="l"/>
                      <a:r>
                        <a:rPr sz="700" b="0">
                          <a:solidFill>
                            <a:srgbClr val="11151A"/>
                          </a:solidFill>
                          <a:latin typeface="Lato"/>
                        </a:rPr>
                        <a:t>Vryburg (north-east)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5"/>
                  </a:ext>
                </a:extLst>
              </a:tr>
              <a:tr h="142646">
                <a:tc>
                  <a:txBody>
                    <a:bodyPr/>
                    <a:lstStyle/>
                    <a:p>
                      <a:pPr algn="l"/>
                      <a:r>
                        <a:rPr sz="700" b="0">
                          <a:solidFill>
                            <a:srgbClr val="11151A"/>
                          </a:solidFill>
                          <a:latin typeface="Lato"/>
                        </a:rPr>
                        <a:t>Kudumane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6"/>
                  </a:ext>
                </a:extLst>
              </a:tr>
              <a:tr h="142646">
                <a:tc>
                  <a:txBody>
                    <a:bodyPr/>
                    <a:lstStyle/>
                    <a:p>
                      <a:pPr algn="l"/>
                      <a:r>
                        <a:rPr sz="700" b="1">
                          <a:solidFill>
                            <a:srgbClr val="11151A"/>
                          </a:solidFill>
                          <a:latin typeface="Lato"/>
                        </a:rPr>
                        <a:t>North West total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453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784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1,238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extLst>
                  <a:ext uri="{0D108BD9-81ED-4DB2-BD59-A6C34878D82A}">
                    <a16:rowId xmlns:a16="http://schemas.microsoft.com/office/drawing/2014/main" val="10027"/>
                  </a:ext>
                </a:extLst>
              </a:tr>
            </a:tbl>
          </a:graphicData>
        </a:graphic>
      </p:graphicFrame>
      <p:sp>
        <p:nvSpPr>
          <p:cNvPr id="67" name="Province heading"/>
          <p:cNvSpPr txBox="1"/>
          <p:nvPr/>
        </p:nvSpPr>
        <p:spPr>
          <a:xfrm>
            <a:off x="8583930" y="1828800"/>
            <a:ext cx="2526030" cy="219456"/>
          </a:xfrm>
          <a:prstGeom prst="rect">
            <a:avLst/>
          </a:prstGeom>
          <a:noFill/>
        </p:spPr>
        <p:txBody>
          <a:bodyPr wrap="none" lIns="0" tIns="0" bIns="0">
            <a:spAutoFit/>
          </a:bodyPr>
          <a:lstStyle/>
          <a:p>
            <a:r>
              <a:rPr sz="1000" b="1">
                <a:solidFill>
                  <a:srgbClr val="0A2373"/>
                </a:solidFill>
                <a:latin typeface="Lato"/>
              </a:rPr>
              <a:t>Limpopo: 28 districts, 0.6bn L</a:t>
            </a:r>
          </a:p>
        </p:txBody>
      </p:sp>
      <p:graphicFrame>
        <p:nvGraphicFramePr>
          <p:cNvPr id="68" name="District table"/>
          <p:cNvGraphicFramePr>
            <a:graphicFrameLocks noGrp="1"/>
          </p:cNvGraphicFramePr>
          <p:nvPr/>
        </p:nvGraphicFramePr>
        <p:xfrm>
          <a:off x="8583930" y="2075688"/>
          <a:ext cx="2526030" cy="4279380"/>
        </p:xfrm>
        <a:graphic>
          <a:graphicData uri="http://schemas.openxmlformats.org/drawingml/2006/table">
            <a:tbl>
              <a:tblPr>
                <a:tableStyleId>{5940675A-B579-460E-94D1-54222C63F5DA}</a:tableStyleId>
              </a:tblPr>
              <a:tblGrid>
                <a:gridCol w="115443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142646">
                <a:tc>
                  <a:txBody>
                    <a:bodyPr/>
                    <a:lstStyle/>
                    <a:p>
                      <a:pPr algn="l"/>
                      <a:r>
                        <a:rPr sz="700" b="1">
                          <a:solidFill>
                            <a:srgbClr val="FFFFFF"/>
                          </a:solidFill>
                          <a:latin typeface="Lato"/>
                        </a:rPr>
                        <a:t>District</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Petrol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Diesel</a:t>
                      </a:r>
                    </a:p>
                  </a:txBody>
                  <a:tcPr marL="36576" marR="36576" marT="0" marB="0" anchor="ctr">
                    <a:lnL w="0">
                      <a:noFill/>
                    </a:lnL>
                    <a:lnR w="0">
                      <a:noFill/>
                    </a:lnR>
                    <a:lnT w="0">
                      <a:noFill/>
                    </a:lnT>
                    <a:lnB w="6350">
                      <a:solidFill>
                        <a:srgbClr val="D4D4D4"/>
                      </a:solidFill>
                    </a:lnB>
                    <a:solidFill>
                      <a:srgbClr val="0A2373"/>
                    </a:solidFill>
                  </a:tcPr>
                </a:tc>
                <a:tc>
                  <a:txBody>
                    <a:bodyPr/>
                    <a:lstStyle/>
                    <a:p>
                      <a:pPr algn="r"/>
                      <a:r>
                        <a:rPr sz="700" b="1">
                          <a:solidFill>
                            <a:srgbClr val="FFFFFF"/>
                          </a:solidFill>
                          <a:latin typeface="Lato"/>
                        </a:rPr>
                        <a:t>Total</a:t>
                      </a:r>
                    </a:p>
                  </a:txBody>
                  <a:tcPr marL="36576" marR="36576" marT="0" marB="0" anchor="ctr">
                    <a:lnL w="0">
                      <a:noFill/>
                    </a:lnL>
                    <a:lnR w="0">
                      <a:noFill/>
                    </a:lnR>
                    <a:lnT w="0">
                      <a:noFill/>
                    </a:lnT>
                    <a:lnB w="6350">
                      <a:solidFill>
                        <a:srgbClr val="D4D4D4"/>
                      </a:solidFill>
                    </a:lnB>
                    <a:solidFill>
                      <a:srgbClr val="0A2373"/>
                    </a:solidFill>
                  </a:tcPr>
                </a:tc>
                <a:extLst>
                  <a:ext uri="{0D108BD9-81ED-4DB2-BD59-A6C34878D82A}">
                    <a16:rowId xmlns:a16="http://schemas.microsoft.com/office/drawing/2014/main" val="10000"/>
                  </a:ext>
                </a:extLst>
              </a:tr>
              <a:tr h="142646">
                <a:tc>
                  <a:txBody>
                    <a:bodyPr/>
                    <a:lstStyle/>
                    <a:p>
                      <a:pPr algn="l"/>
                      <a:r>
                        <a:rPr sz="700" b="0">
                          <a:solidFill>
                            <a:srgbClr val="11151A"/>
                          </a:solidFill>
                          <a:latin typeface="Lato"/>
                        </a:rPr>
                        <a:t>Polokwane (south)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181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1"/>
                  </a:ext>
                </a:extLst>
              </a:tr>
              <a:tr h="142646">
                <a:tc>
                  <a:txBody>
                    <a:bodyPr/>
                    <a:lstStyle/>
                    <a:p>
                      <a:pPr algn="l"/>
                      <a:r>
                        <a:rPr sz="700" b="0">
                          <a:solidFill>
                            <a:srgbClr val="11151A"/>
                          </a:solidFill>
                          <a:latin typeface="Lato"/>
                        </a:rPr>
                        <a:t>Soutpansberg (central)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2"/>
                  </a:ext>
                </a:extLst>
              </a:tr>
              <a:tr h="142646">
                <a:tc>
                  <a:txBody>
                    <a:bodyPr/>
                    <a:lstStyle/>
                    <a:p>
                      <a:pPr algn="l"/>
                      <a:r>
                        <a:rPr sz="700" b="0">
                          <a:solidFill>
                            <a:srgbClr val="11151A"/>
                          </a:solidFill>
                          <a:latin typeface="Lato"/>
                        </a:rPr>
                        <a:t>Polokwane (north)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3"/>
                  </a:ext>
                </a:extLst>
              </a:tr>
              <a:tr h="142646">
                <a:tc>
                  <a:txBody>
                    <a:bodyPr/>
                    <a:lstStyle/>
                    <a:p>
                      <a:pPr algn="l"/>
                      <a:r>
                        <a:rPr sz="700" b="0">
                          <a:solidFill>
                            <a:srgbClr val="11151A"/>
                          </a:solidFill>
                          <a:latin typeface="Lato"/>
                        </a:rPr>
                        <a:t>Thohoyandou (west)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4"/>
                  </a:ext>
                </a:extLst>
              </a:tr>
              <a:tr h="142646">
                <a:tc>
                  <a:txBody>
                    <a:bodyPr/>
                    <a:lstStyle/>
                    <a:p>
                      <a:pPr algn="l"/>
                      <a:r>
                        <a:rPr sz="700" b="0">
                          <a:solidFill>
                            <a:srgbClr val="11151A"/>
                          </a:solidFill>
                          <a:latin typeface="Lato"/>
                        </a:rPr>
                        <a:t>Phalaborwa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5"/>
                  </a:ext>
                </a:extLst>
              </a:tr>
              <a:tr h="142646">
                <a:tc>
                  <a:txBody>
                    <a:bodyPr/>
                    <a:lstStyle/>
                    <a:p>
                      <a:pPr algn="l"/>
                      <a:r>
                        <a:rPr sz="700" b="0">
                          <a:solidFill>
                            <a:srgbClr val="11151A"/>
                          </a:solidFill>
                          <a:latin typeface="Lato"/>
                        </a:rPr>
                        <a:t>Waterberg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6"/>
                  </a:ext>
                </a:extLst>
              </a:tr>
              <a:tr h="142646">
                <a:tc>
                  <a:txBody>
                    <a:bodyPr/>
                    <a:lstStyle/>
                    <a:p>
                      <a:pPr algn="l"/>
                      <a:r>
                        <a:rPr sz="700" b="0">
                          <a:solidFill>
                            <a:srgbClr val="11151A"/>
                          </a:solidFill>
                          <a:latin typeface="Lato"/>
                        </a:rPr>
                        <a:t>Mokopane (south)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7"/>
                  </a:ext>
                </a:extLst>
              </a:tr>
              <a:tr h="142646">
                <a:tc>
                  <a:txBody>
                    <a:bodyPr/>
                    <a:lstStyle/>
                    <a:p>
                      <a:pPr algn="l"/>
                      <a:r>
                        <a:rPr sz="700" b="0">
                          <a:solidFill>
                            <a:srgbClr val="11151A"/>
                          </a:solidFill>
                          <a:latin typeface="Lato"/>
                        </a:rPr>
                        <a:t>Giyani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8"/>
                  </a:ext>
                </a:extLst>
              </a:tr>
              <a:tr h="142646">
                <a:tc>
                  <a:txBody>
                    <a:bodyPr/>
                    <a:lstStyle/>
                    <a:p>
                      <a:pPr algn="l"/>
                      <a:r>
                        <a:rPr sz="700" b="0">
                          <a:solidFill>
                            <a:srgbClr val="11151A"/>
                          </a:solidFill>
                          <a:latin typeface="Lato"/>
                        </a:rPr>
                        <a:t>Musina (east)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9</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09"/>
                  </a:ext>
                </a:extLst>
              </a:tr>
              <a:tr h="142646">
                <a:tc>
                  <a:txBody>
                    <a:bodyPr/>
                    <a:lstStyle/>
                    <a:p>
                      <a:pPr algn="l"/>
                      <a:r>
                        <a:rPr sz="700" b="0">
                          <a:solidFill>
                            <a:srgbClr val="11151A"/>
                          </a:solidFill>
                          <a:latin typeface="Lato"/>
                        </a:rPr>
                        <a:t>Thabazimbi (east)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0"/>
                  </a:ext>
                </a:extLst>
              </a:tr>
              <a:tr h="142646">
                <a:tc>
                  <a:txBody>
                    <a:bodyPr/>
                    <a:lstStyle/>
                    <a:p>
                      <a:pPr algn="l"/>
                      <a:r>
                        <a:rPr sz="700" b="0">
                          <a:solidFill>
                            <a:srgbClr val="11151A"/>
                          </a:solidFill>
                          <a:latin typeface="Lato"/>
                        </a:rPr>
                        <a:t>Thabamoopo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1"/>
                  </a:ext>
                </a:extLst>
              </a:tr>
              <a:tr h="142646">
                <a:tc>
                  <a:txBody>
                    <a:bodyPr/>
                    <a:lstStyle/>
                    <a:p>
                      <a:pPr algn="l"/>
                      <a:r>
                        <a:rPr sz="700" b="0">
                          <a:solidFill>
                            <a:srgbClr val="11151A"/>
                          </a:solidFill>
                          <a:latin typeface="Lato"/>
                        </a:rPr>
                        <a:t>Lephalale (Ellisras)</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2"/>
                  </a:ext>
                </a:extLst>
              </a:tr>
              <a:tr h="142646">
                <a:tc>
                  <a:txBody>
                    <a:bodyPr/>
                    <a:lstStyle/>
                    <a:p>
                      <a:pPr algn="l"/>
                      <a:r>
                        <a:rPr sz="700" b="0">
                          <a:solidFill>
                            <a:srgbClr val="11151A"/>
                          </a:solidFill>
                          <a:latin typeface="Lato"/>
                        </a:rPr>
                        <a:t>Bela-Bela (Warmbad)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3"/>
                  </a:ext>
                </a:extLst>
              </a:tr>
              <a:tr h="142646">
                <a:tc>
                  <a:txBody>
                    <a:bodyPr/>
                    <a:lstStyle/>
                    <a:p>
                      <a:pPr algn="l"/>
                      <a:r>
                        <a:rPr sz="700" b="0">
                          <a:solidFill>
                            <a:srgbClr val="11151A"/>
                          </a:solidFill>
                          <a:latin typeface="Lato"/>
                        </a:rPr>
                        <a:t>Musina (west)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4"/>
                  </a:ext>
                </a:extLst>
              </a:tr>
              <a:tr h="142646">
                <a:tc>
                  <a:txBody>
                    <a:bodyPr/>
                    <a:lstStyle/>
                    <a:p>
                      <a:pPr algn="l"/>
                      <a:r>
                        <a:rPr sz="700" b="0">
                          <a:solidFill>
                            <a:srgbClr val="11151A"/>
                          </a:solidFill>
                          <a:latin typeface="Lato"/>
                        </a:rPr>
                        <a:t>Malamulele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5"/>
                  </a:ext>
                </a:extLst>
              </a:tr>
              <a:tr h="142646">
                <a:tc>
                  <a:txBody>
                    <a:bodyPr/>
                    <a:lstStyle/>
                    <a:p>
                      <a:pPr algn="l"/>
                      <a:r>
                        <a:rPr sz="700" b="0">
                          <a:solidFill>
                            <a:srgbClr val="11151A"/>
                          </a:solidFill>
                          <a:latin typeface="Lato"/>
                        </a:rPr>
                        <a:t>Mokopane (north)</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6"/>
                  </a:ext>
                </a:extLst>
              </a:tr>
              <a:tr h="142646">
                <a:tc>
                  <a:txBody>
                    <a:bodyPr/>
                    <a:lstStyle/>
                    <a:p>
                      <a:pPr algn="l"/>
                      <a:r>
                        <a:rPr sz="700" b="0">
                          <a:solidFill>
                            <a:srgbClr val="11151A"/>
                          </a:solidFill>
                          <a:latin typeface="Lato"/>
                        </a:rPr>
                        <a:t>Mhala</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7"/>
                  </a:ext>
                </a:extLst>
              </a:tr>
              <a:tr h="142646">
                <a:tc>
                  <a:txBody>
                    <a:bodyPr/>
                    <a:lstStyle/>
                    <a:p>
                      <a:pPr algn="l"/>
                      <a:r>
                        <a:rPr sz="700" b="0">
                          <a:solidFill>
                            <a:srgbClr val="11151A"/>
                          </a:solidFill>
                          <a:latin typeface="Lato"/>
                        </a:rPr>
                        <a:t>Thohoyandou (east)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6</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8"/>
                  </a:ext>
                </a:extLst>
              </a:tr>
              <a:tr h="142646">
                <a:tc>
                  <a:txBody>
                    <a:bodyPr/>
                    <a:lstStyle/>
                    <a:p>
                      <a:pPr algn="l"/>
                      <a:r>
                        <a:rPr sz="700" b="0">
                          <a:solidFill>
                            <a:srgbClr val="11151A"/>
                          </a:solidFill>
                          <a:latin typeface="Lato"/>
                        </a:rPr>
                        <a:t>Seshego</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5</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19"/>
                  </a:ext>
                </a:extLst>
              </a:tr>
              <a:tr h="142646">
                <a:tc>
                  <a:txBody>
                    <a:bodyPr/>
                    <a:lstStyle/>
                    <a:p>
                      <a:pPr algn="l"/>
                      <a:r>
                        <a:rPr sz="700" b="0">
                          <a:solidFill>
                            <a:srgbClr val="11151A"/>
                          </a:solidFill>
                          <a:latin typeface="Lato"/>
                        </a:rPr>
                        <a:t>Thabazimbi (west)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0"/>
                  </a:ext>
                </a:extLst>
              </a:tr>
              <a:tr h="142646">
                <a:tc>
                  <a:txBody>
                    <a:bodyPr/>
                    <a:lstStyle/>
                    <a:p>
                      <a:pPr algn="l"/>
                      <a:r>
                        <a:rPr sz="700" b="0">
                          <a:solidFill>
                            <a:srgbClr val="11151A"/>
                          </a:solidFill>
                          <a:latin typeface="Lato"/>
                        </a:rPr>
                        <a:t>Soutpansberg (east)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1"/>
                  </a:ext>
                </a:extLst>
              </a:tr>
              <a:tr h="142646">
                <a:tc>
                  <a:txBody>
                    <a:bodyPr/>
                    <a:lstStyle/>
                    <a:p>
                      <a:pPr algn="l"/>
                      <a:r>
                        <a:rPr sz="700" b="0">
                          <a:solidFill>
                            <a:srgbClr val="11151A"/>
                          </a:solidFill>
                          <a:latin typeface="Lato"/>
                        </a:rPr>
                        <a:t>Namakgale</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4</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2"/>
                  </a:ext>
                </a:extLst>
              </a:tr>
              <a:tr h="142646">
                <a:tc>
                  <a:txBody>
                    <a:bodyPr/>
                    <a:lstStyle/>
                    <a:p>
                      <a:pPr algn="l"/>
                      <a:r>
                        <a:rPr sz="700" b="0">
                          <a:solidFill>
                            <a:srgbClr val="11151A"/>
                          </a:solidFill>
                          <a:latin typeface="Lato"/>
                        </a:rPr>
                        <a:t>Lulekani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3"/>
                  </a:ext>
                </a:extLst>
              </a:tr>
              <a:tr h="142646">
                <a:tc>
                  <a:txBody>
                    <a:bodyPr/>
                    <a:lstStyle/>
                    <a:p>
                      <a:pPr algn="l"/>
                      <a:r>
                        <a:rPr sz="700" b="0">
                          <a:solidFill>
                            <a:srgbClr val="11151A"/>
                          </a:solidFill>
                          <a:latin typeface="Lato"/>
                        </a:rPr>
                        <a:t>Bochum</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3</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4"/>
                  </a:ext>
                </a:extLst>
              </a:tr>
              <a:tr h="142646">
                <a:tc>
                  <a:txBody>
                    <a:bodyPr/>
                    <a:lstStyle/>
                    <a:p>
                      <a:pPr algn="l"/>
                      <a:r>
                        <a:rPr sz="700" b="0">
                          <a:solidFill>
                            <a:srgbClr val="11151A"/>
                          </a:solidFill>
                          <a:latin typeface="Lato"/>
                        </a:rPr>
                        <a:t>Mapulaneng</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5"/>
                  </a:ext>
                </a:extLst>
              </a:tr>
              <a:tr h="142646">
                <a:tc>
                  <a:txBody>
                    <a:bodyPr/>
                    <a:lstStyle/>
                    <a:p>
                      <a:pPr algn="l"/>
                      <a:r>
                        <a:rPr sz="700" b="0">
                          <a:solidFill>
                            <a:srgbClr val="11151A"/>
                          </a:solidFill>
                          <a:latin typeface="Lato"/>
                        </a:rPr>
                        <a:t>Ritavi</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2</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6"/>
                  </a:ext>
                </a:extLst>
              </a:tr>
              <a:tr h="142646">
                <a:tc>
                  <a:txBody>
                    <a:bodyPr/>
                    <a:lstStyle/>
                    <a:p>
                      <a:pPr algn="l"/>
                      <a:r>
                        <a:rPr sz="700" b="0">
                          <a:solidFill>
                            <a:srgbClr val="11151A"/>
                          </a:solidFill>
                          <a:latin typeface="Lato"/>
                        </a:rPr>
                        <a:t>Sekhukhuneland</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7"/>
                  </a:ext>
                </a:extLst>
              </a:tr>
              <a:tr h="142646">
                <a:tc>
                  <a:txBody>
                    <a:bodyPr/>
                    <a:lstStyle/>
                    <a:p>
                      <a:pPr algn="l"/>
                      <a:r>
                        <a:rPr sz="700" b="0">
                          <a:solidFill>
                            <a:srgbClr val="11151A"/>
                          </a:solidFill>
                          <a:latin typeface="Lato"/>
                        </a:rPr>
                        <a:t>Mokerong 1 (east)</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0">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tc>
                  <a:txBody>
                    <a:bodyPr/>
                    <a:lstStyle/>
                    <a:p>
                      <a:pPr algn="r"/>
                      <a:r>
                        <a:rPr sz="700" b="1">
                          <a:solidFill>
                            <a:srgbClr val="11151A"/>
                          </a:solidFill>
                          <a:latin typeface="Lato"/>
                        </a:rPr>
                        <a:t>0</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noFill/>
                  </a:tcPr>
                </a:tc>
                <a:extLst>
                  <a:ext uri="{0D108BD9-81ED-4DB2-BD59-A6C34878D82A}">
                    <a16:rowId xmlns:a16="http://schemas.microsoft.com/office/drawing/2014/main" val="10028"/>
                  </a:ext>
                </a:extLst>
              </a:tr>
              <a:tr h="142646">
                <a:tc>
                  <a:txBody>
                    <a:bodyPr/>
                    <a:lstStyle/>
                    <a:p>
                      <a:pPr algn="l"/>
                      <a:r>
                        <a:rPr sz="700" b="1">
                          <a:solidFill>
                            <a:srgbClr val="11151A"/>
                          </a:solidFill>
                          <a:latin typeface="Lato"/>
                        </a:rPr>
                        <a:t>Limpopo total</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277</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281</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tc>
                  <a:txBody>
                    <a:bodyPr/>
                    <a:lstStyle/>
                    <a:p>
                      <a:pPr algn="r"/>
                      <a:r>
                        <a:rPr sz="700" b="1">
                          <a:solidFill>
                            <a:srgbClr val="11151A"/>
                          </a:solidFill>
                          <a:latin typeface="Lato"/>
                        </a:rPr>
                        <a:t>558</a:t>
                      </a:r>
                    </a:p>
                  </a:txBody>
                  <a:tcPr marL="36576" marR="36576" marT="0" marB="0" anchor="ctr">
                    <a:lnL w="0">
                      <a:noFill/>
                    </a:lnL>
                    <a:lnR w="0">
                      <a:noFill/>
                    </a:lnR>
                    <a:lnT w="6350" cap="flat" cmpd="sng" algn="ctr">
                      <a:solidFill>
                        <a:srgbClr val="D4D4D4"/>
                      </a:solidFill>
                      <a:prstDash val="solid"/>
                      <a:round/>
                      <a:headEnd type="none" w="med" len="med"/>
                      <a:tailEnd type="none" w="med" len="med"/>
                    </a:lnT>
                    <a:lnB w="6350">
                      <a:solidFill>
                        <a:srgbClr val="D4D4D4"/>
                      </a:solidFill>
                    </a:lnB>
                    <a:solidFill>
                      <a:srgbClr val="E3E7F1"/>
                    </a:solidFill>
                  </a:tcPr>
                </a:tc>
                <a:extLst>
                  <a:ext uri="{0D108BD9-81ED-4DB2-BD59-A6C34878D82A}">
                    <a16:rowId xmlns:a16="http://schemas.microsoft.com/office/drawing/2014/main" val="10029"/>
                  </a:ext>
                </a:extLst>
              </a:tr>
            </a:tbl>
          </a:graphicData>
        </a:graphic>
      </p:graphicFrame>
    </p:spTree>
    <p:extLst>
      <p:ext uri="{BB962C8B-B14F-4D97-AF65-F5344CB8AC3E}">
        <p14:creationId xmlns:p14="http://schemas.microsoft.com/office/powerpoint/2010/main" val="1666240488"/>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Archive xmlns="265cb39c-7109-435c-af5d-13dc21a2db6b">false</Archive>
    <TaxCatchAll xmlns="62b85a0e-09bb-4b0f-bd28-e34020cdc07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343FF5-2136-45AF-8AEA-720F11C4F25A}">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EC696D7-B64B-4B33-9418-B6CE719B4C55}">
  <ds:schemaRefs>
    <ds:schemaRef ds:uri="265cb39c-7109-435c-af5d-13dc21a2db6b"/>
    <ds:schemaRef ds:uri="62b85a0e-09bb-4b0f-bd28-e34020cdc070"/>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4291FEC-B74E-46BE-BF33-15B47576BAA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6975</Words>
  <Application>Microsoft Office PowerPoint</Application>
  <PresentationFormat>Custom</PresentationFormat>
  <Paragraphs>1442</Paragraphs>
  <Slides>22</Slides>
  <Notes>16</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Lato</vt:lpstr>
      <vt:lpstr>Arial</vt:lpstr>
      <vt:lpstr>Vopak Theme</vt:lpstr>
      <vt:lpstr>PowerPoint Presentation</vt:lpstr>
      <vt:lpstr>In 2025 about 10bn litres of local production and 16.7bn litres of imports supplied a 25bn-litre market</vt:lpstr>
      <vt:lpstr>Changes in demand, domestic supply and import routes could reduce flows through Durban</vt:lpstr>
      <vt:lpstr>South Africa’s fuel market is about 25bn litres, dominated by road demand</vt:lpstr>
      <vt:lpstr>Agricultural fuel demand rebounds and power fuel use falls by about a third, while mining and manufacturing remain broadly flat</vt:lpstr>
      <vt:lpstr>Eskom’s fuel use fell by 40% in FY2025 and a further 62% in FY2026 as electricity supply improved</vt:lpstr>
      <vt:lpstr>Even at Transnet’s 2030 rail target, road freight still grows; the shift to rail saves about 0.3bn litres of diesel a year</vt:lpstr>
      <vt:lpstr>Hybrids dominate electrified new-vehicle sales; fleet fuel savings emerge as vehicles turn over</vt:lpstr>
      <vt:lpstr>Each year South Africa’s vehicles use about 0.5–0.8% less petrol and 0.4–0.7% less diesel per km</vt:lpstr>
      <vt:lpstr>Three refineries produced about 10.2bn litres of petrol and diesel in 2025, half the 2014 level</vt:lpstr>
      <vt:lpstr>Durban lands almost all fuel for the market of interest; little comes in through Maputo, and exports to Botswana are falling</vt:lpstr>
      <vt:lpstr>Durban and Lesedi market sizing and investment issue tree</vt:lpstr>
      <vt:lpstr>The market of interest used about 18.2bn litres in 2025, of which about 12bn litres had to be brought in</vt:lpstr>
      <vt:lpstr>How the national fuel market translates into Vopak’s addressable volume</vt:lpstr>
      <vt:lpstr>Six drivers shape fuel demand: the economy, price, power, rail, electrified vehicles and efficiency</vt:lpstr>
      <vt:lpstr>Demand in the market of interest reaches about 18.8bn litres by 2030 in the base case (17.6–20.2bn L)</vt:lpstr>
      <vt:lpstr>Substantial imports sustain the market, while customer capture determines Vopak’s expansion</vt:lpstr>
      <vt:lpstr>PowerPoint Presentation</vt:lpstr>
      <vt:lpstr>Appendix: assumptions behind the Low, Base and High demand cases</vt:lpstr>
      <vt:lpstr>Appendix: in the market of interest, this year’s 2030 base case is 2.9bn litres above the November 2025 mid case</vt:lpstr>
      <vt:lpstr>Appendix: demand in every magisterial district of the market of interest (1 of 2)</vt:lpstr>
      <vt:lpstr>Appendix: demand in every magisterial district of the market of interest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Manish Ramjeawon</cp:lastModifiedBy>
  <cp:revision>1</cp:revision>
  <dcterms:created xsi:type="dcterms:W3CDTF">2026-10-11T22:01:42Z</dcterms:created>
  <dcterms:modified xsi:type="dcterms:W3CDTF">2026-10-14T13:23:03Z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