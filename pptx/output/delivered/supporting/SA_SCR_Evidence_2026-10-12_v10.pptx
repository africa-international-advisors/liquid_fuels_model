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9" r:id="rId13"/>
    <p:sldId id="266" r:id="rId14"/>
    <p:sldId id="271" r:id="rId15"/>
    <p:sldId id="267" r:id="rId16"/>
    <p:sldId id="268" r:id="rId17"/>
  </p:sldIdLst>
  <p:sldSz cx="1158875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8/10/relationships/authors" Target="authors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Production (assumed)</c:v>
          </c:tx>
          <c:spPr>
            <a:solidFill>
              <a:srgbClr val="6782B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Data'!$B$2:$B$3</c:f>
              <c:numCache>
                <c:formatCode>0.00;\-0.00;</c:formatCode>
                <c:ptCount val="2"/>
                <c:pt idx="0">
                  <c:v>5.8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98-444E-B683-B147F17C1B41}"/>
            </c:ext>
          </c:extLst>
        </c:ser>
        <c:ser>
          <c:idx val="1"/>
          <c:order val="1"/>
          <c:tx>
            <c:v>Imports (recorded)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Data'!$D$2:$D$3</c:f>
              <c:numCache>
                <c:formatCode>0.00;\-0.00;</c:formatCode>
                <c:ptCount val="2"/>
                <c:pt idx="0">
                  <c:v>16.70219144022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098-444E-B683-B147F17C1B41}"/>
            </c:ext>
          </c:extLst>
        </c:ser>
        <c:ser>
          <c:idx val="2"/>
          <c:order val="2"/>
          <c:tx>
            <c:v>Consumption (estimated)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Data'!$F$2:$F$3</c:f>
              <c:numCache>
                <c:formatCode>0.00;\-0.00;</c:formatCode>
                <c:ptCount val="2"/>
                <c:pt idx="0">
                  <c:v>0</c:v>
                </c:pt>
                <c:pt idx="1">
                  <c:v>20.9873881970952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098-444E-B683-B147F17C1B41}"/>
            </c:ext>
          </c:extLst>
        </c:ser>
        <c:ser>
          <c:idx val="3"/>
          <c:order val="3"/>
          <c:tx>
            <c:v>Exports (recorded)</c:v>
          </c:tx>
          <c:spPr>
            <a:solidFill>
              <a:srgbClr val="9292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Data'!$H$2:$H$3</c:f>
              <c:numCache>
                <c:formatCode>0.00;\-0.00;</c:formatCode>
                <c:ptCount val="2"/>
                <c:pt idx="0">
                  <c:v>0</c:v>
                </c:pt>
                <c:pt idx="1">
                  <c:v>1.54846267607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098-444E-B683-B147F17C1B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;\-0.00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ChartSnapshot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areaChart>
        <c:grouping val="stacked"/>
        <c:varyColors val="1"/>
        <c:ser>
          <c:idx val="0"/>
          <c:order val="0"/>
          <c:tx>
            <c:v>Petrol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1.39596645708743</c:v>
                </c:pt>
                <c:pt idx="1">
                  <c:v>1.40372043669139</c:v>
                </c:pt>
                <c:pt idx="2">
                  <c:v>1.40634678462176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</c:v>
                </c:pt>
                <c:pt idx="1">
                  <c:v>0.963340315350475</c:v>
                </c:pt>
                <c:pt idx="2">
                  <c:v>1.13122469823652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</c:v>
                </c:pt>
                <c:pt idx="1">
                  <c:v>0.167211107535443</c:v>
                </c:pt>
                <c:pt idx="2">
                  <c:v>0.165076180001731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1.1295</c:v>
                </c:pt>
                <c:pt idx="2">
                  <c:v>0.6791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2025 new sales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BEV</c:v>
                </c:pt>
                <c:pt idx="1">
                  <c:v>Plug-in hybrid</c:v>
                </c:pt>
                <c:pt idx="2">
                  <c:v>Conventional hybrid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1088</c:v>
                </c:pt>
                <c:pt idx="1">
                  <c:v>2810</c:v>
                </c:pt>
                <c:pt idx="2">
                  <c:v>12818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71-4A9C-9D08-603FEE1AD9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2030 effect vs 2025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Activity growth</c:v>
                </c:pt>
                <c:pt idx="1">
                  <c:v>Vehicle efficiency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1.53818879985528</c:v>
                </c:pt>
                <c:pt idx="1">
                  <c:v>-0.79316985514452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8B-40EC-AE78-F0B1F8FA20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10.393066</c:v>
                </c:pt>
                <c:pt idx="3">
                  <c:v>9.43444</c:v>
                </c:pt>
                <c:pt idx="4">
                  <c:v>9.97456</c:v>
                </c:pt>
                <c:pt idx="5">
                  <c:v>10.424467</c:v>
                </c:pt>
                <c:pt idx="6">
                  <c:v>7.895</c:v>
                </c:pt>
                <c:pt idx="7">
                  <c:v>6.351306667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</c:v>
                </c:pt>
                <c:pt idx="1">
                  <c:v>9.368482</c:v>
                </c:pt>
                <c:pt idx="2">
                  <c:v>9.01419</c:v>
                </c:pt>
                <c:pt idx="3">
                  <c:v>7.921726</c:v>
                </c:pt>
                <c:pt idx="4">
                  <c:v>8.425262</c:v>
                </c:pt>
                <c:pt idx="5">
                  <c:v>9.080357</c:v>
                </c:pt>
                <c:pt idx="6">
                  <c:v>6.4478095</c:v>
                </c:pt>
                <c:pt idx="7">
                  <c:v>5.314964286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Low imports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16.7358508731652</c:v>
                </c:pt>
                <c:pt idx="1">
                  <c:v>16.1649850898511</c:v>
                </c:pt>
                <c:pt idx="2">
                  <c:v>15.5983645642248</c:v>
                </c:pt>
                <c:pt idx="3">
                  <c:v>15.0359352753671</c:v>
                </c:pt>
                <c:pt idx="4">
                  <c:v>11.644311431365</c:v>
                </c:pt>
                <c:pt idx="5">
                  <c:v>8.25677283009669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57-4CA9-AD2A-3657A817E3C7}"/>
            </c:ext>
          </c:extLst>
        </c:ser>
        <c:ser>
          <c:idx val="1"/>
          <c:order val="1"/>
          <c:tx>
            <c:v>Base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16.7358508731652</c:v>
                </c:pt>
                <c:pt idx="1">
                  <c:v>16.7080359068366</c:v>
                </c:pt>
                <c:pt idx="2">
                  <c:v>16.6810375302384</c:v>
                </c:pt>
                <c:pt idx="3">
                  <c:v>16.6548693095932</c:v>
                </c:pt>
                <c:pt idx="4">
                  <c:v>16.6295450366319</c:v>
                </c:pt>
                <c:pt idx="5">
                  <c:v>16.6050787321592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57-4CA9-AD2A-3657A817E3C7}"/>
            </c:ext>
          </c:extLst>
        </c:ser>
        <c:ser>
          <c:idx val="2"/>
          <c:order val="2"/>
          <c:tx>
            <c:v>High imports</c:v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16.7358508731652</c:v>
                </c:pt>
                <c:pt idx="1">
                  <c:v>17.3082936211733</c:v>
                </c:pt>
                <c:pt idx="2">
                  <c:v>17.8888406280197</c:v>
                </c:pt>
                <c:pt idx="3">
                  <c:v>18.4776598514453</c:v>
                </c:pt>
                <c:pt idx="4">
                  <c:v>19.0749228043164</c:v>
                </c:pt>
                <c:pt idx="5">
                  <c:v>19.6808046315979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57-4CA9-AD2A-3657A817E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pak Exhibit + Commentary v1" preserve="1" userDrawn="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11" Type="http://schemas.openxmlformats.org/officeDocument/2006/relationships/slide" Target="slide11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2025 production and imports broadly cover consumption and exports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Balance; SARS calendar-2025 customs. Demand estimated; production assumed; trade recorded. Stock change and statistical/scope differences unresolved. Values rounded; the 0.034bn L gap uses unrounded data.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22" name="Evidence unit">
            <a:extLst>
              <a:ext uri="{FF2B5EF4-FFF2-40B4-BE49-F238E27FC236}">
                <a16:creationId xmlns:a16="http://schemas.microsoft.com/office/drawing/2014/main" id="{FC1A39E3-57CF-EED8-721E-D863AA948703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ZA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calendar 2025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Evidence insights">
            <a:extLst>
              <a:ext uri="{FF2B5EF4-FFF2-40B4-BE49-F238E27FC236}">
                <a16:creationId xmlns:a16="http://schemas.microsoft.com/office/drawing/2014/main" id="{D9783925-0AC7-F42D-CE65-EFD015F64305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Supply: 5.80bn L assumed production + 16.70bn L recorded imports.
Uses: 20.99bn L estimated consumption + 1.55bn L recorded exports.
Supply is 0.034bn L below uses. Stock change is unmeasured; the gap remains a reconciliation item.
Petrol and diesel differences offset: −2.00bn L and +1.97bn L respectively.</a:t>
            </a:r>
            <a:endParaRPr sz="13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Evidence takeaway">
            <a:extLst>
              <a:ext uri="{FF2B5EF4-FFF2-40B4-BE49-F238E27FC236}">
                <a16:creationId xmlns:a16="http://schemas.microsoft.com/office/drawing/2014/main" id="{F99B9D74-922F-317F-263E-F2536C0C76F0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Production + imports − exports = 20.95bn L available, versus 20.99bn L estimated consumption.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" name="Vopak exhibit left heading">
            <a:extLst>
              <a:ext uri="{FF2B5EF4-FFF2-40B4-BE49-F238E27FC236}">
                <a16:creationId xmlns:a16="http://schemas.microsoft.com/office/drawing/2014/main" id="{2078293A-06CD-E24D-A1D4-5D5A4F014FCC}"/>
              </a:ext>
            </a:extLst>
          </p:cNvPr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2025 petrol and diesel balance</a:t>
            </a:r>
            <a:endParaRPr sz="1400" b="1">
              <a:latin typeface="Lato"/>
            </a:endParaRPr>
          </a:p>
        </p:txBody>
      </p:sp>
      <p:sp>
        <p:nvSpPr>
          <p:cNvPr id="26" name="Vopak exhibit right heading">
            <a:extLst>
              <a:ext uri="{FF2B5EF4-FFF2-40B4-BE49-F238E27FC236}">
                <a16:creationId xmlns:a16="http://schemas.microsoft.com/office/drawing/2014/main" id="{CCB0A90D-3C75-BE7C-37E3-52E5C4A2A0C4}"/>
              </a:ext>
            </a:extLst>
          </p:cNvPr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/>
              <a:t>Reported trade; estimated domestic balance</a:t>
            </a:r>
            <a:endParaRPr sz="1300"/>
          </a:p>
        </p:txBody>
      </p:sp>
      <p:cxnSp>
        <p:nvCxnSpPr>
          <p:cNvPr id="27" name="Vopak exhibit left rule">
            <a:extLst>
              <a:ext uri="{FF2B5EF4-FFF2-40B4-BE49-F238E27FC236}">
                <a16:creationId xmlns:a16="http://schemas.microsoft.com/office/drawing/2014/main" id="{DE1D99BE-4A5C-E2CA-913D-2AD83CBD541D}"/>
              </a:ext>
            </a:extLst>
          </p:cNvPr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opak exhibit right rule">
            <a:extLst>
              <a:ext uri="{FF2B5EF4-FFF2-40B4-BE49-F238E27FC236}">
                <a16:creationId xmlns:a16="http://schemas.microsoft.com/office/drawing/2014/main" id="{AA069320-2CAE-3674-A292-C8B016B8C9BA}"/>
              </a:ext>
            </a:extLst>
          </p:cNvPr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opak exhibit divider">
            <a:extLst>
              <a:ext uri="{FF2B5EF4-FFF2-40B4-BE49-F238E27FC236}">
                <a16:creationId xmlns:a16="http://schemas.microsoft.com/office/drawing/2014/main" id="{B9A6B1EA-F8D5-F43D-C0BA-9F85D8834AE4}"/>
              </a:ext>
            </a:extLst>
          </p:cNvPr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opak exhibit marker 0">
            <a:extLst>
              <a:ext uri="{FF2B5EF4-FFF2-40B4-BE49-F238E27FC236}">
                <a16:creationId xmlns:a16="http://schemas.microsoft.com/office/drawing/2014/main" id="{4ABD902C-A424-48F5-F570-578E003BC3A5}"/>
              </a:ext>
            </a:extLst>
          </p:cNvPr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Vopak exhibit marker 1">
            <a:extLst>
              <a:ext uri="{FF2B5EF4-FFF2-40B4-BE49-F238E27FC236}">
                <a16:creationId xmlns:a16="http://schemas.microsoft.com/office/drawing/2014/main" id="{26EB6FF8-ED69-15AB-0475-32C273DBB8E2}"/>
              </a:ext>
            </a:extLst>
          </p:cNvPr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opak exhibit marker 2">
            <a:extLst>
              <a:ext uri="{FF2B5EF4-FFF2-40B4-BE49-F238E27FC236}">
                <a16:creationId xmlns:a16="http://schemas.microsoft.com/office/drawing/2014/main" id="{18D752D8-7BF5-1DE5-7FE8-3D2C169CD54D}"/>
              </a:ext>
            </a:extLst>
          </p:cNvPr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">
            <a:extLst>
              <a:ext uri="{FF2B5EF4-FFF2-40B4-BE49-F238E27FC236}">
                <a16:creationId xmlns:a16="http://schemas.microsoft.com/office/drawing/2014/main" id="{39FFC294-1E86-1485-C073-327B6D2264B6}"/>
              </a:ext>
            </a:extLst>
          </p:cNvPr>
          <p:cNvGraphicFramePr/>
          <p:nvPr/>
        </p:nvGraphicFramePr>
        <p:xfrm>
          <a:off x="457200" y="2333625"/>
          <a:ext cx="644652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00" name="Balance stack label 0"/>
          <p:cNvSpPr txBox="1"/>
          <p:nvPr/>
        </p:nvSpPr>
        <p:spPr>
          <a:xfrm>
            <a:off x="1847850" y="4543425"/>
            <a:ext cx="1104900" cy="219075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Production</a:t>
            </a:r>
          </a:p>
        </p:txBody>
      </p:sp>
      <p:sp>
        <p:nvSpPr>
          <p:cNvPr id="9901" name="Balance stack label 1"/>
          <p:cNvSpPr txBox="1"/>
          <p:nvPr/>
        </p:nvSpPr>
        <p:spPr>
          <a:xfrm>
            <a:off x="1933575" y="3314700"/>
            <a:ext cx="933450" cy="219075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Imports</a:t>
            </a:r>
          </a:p>
        </p:txBody>
      </p:sp>
      <p:sp>
        <p:nvSpPr>
          <p:cNvPr id="9902" name="Balance stack label 2"/>
          <p:cNvSpPr txBox="1"/>
          <p:nvPr/>
        </p:nvSpPr>
        <p:spPr>
          <a:xfrm>
            <a:off x="4667250" y="3714750"/>
            <a:ext cx="1276350" cy="219075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Consumption</a:t>
            </a:r>
          </a:p>
        </p:txBody>
      </p:sp>
      <p:sp>
        <p:nvSpPr>
          <p:cNvPr id="9903" name="Balance stack label 3"/>
          <p:cNvSpPr txBox="1"/>
          <p:nvPr/>
        </p:nvSpPr>
        <p:spPr>
          <a:xfrm>
            <a:off x="6019800" y="2686050"/>
            <a:ext cx="857250" cy="219075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 algn="ctr"/>
            <a:r>
              <a:rPr sz="1125">
                <a:solidFill>
                  <a:srgbClr val="555555"/>
                </a:solidFill>
                <a:latin typeface="Lato"/>
              </a:rPr>
              <a:t>Exports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pp5–11. Restored import outlook: p14. Stats SA; Eskom; Sasol; Glencore; Galp; Petromoc; naamsa. Scenario outcomes are separate from observed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3145589907"/>
              </p:ext>
            </p:extLst>
          </p:nvPr>
        </p:nvGraphicFramePr>
        <p:xfrm>
          <a:off x="457200" y="1657350"/>
          <a:ext cx="10648950" cy="3905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sales p8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Efficiency p9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history p10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Outlook p14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p11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 road 8.59 | Freight 4.82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road diesel 1.61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 1.41 | Agriculture 1.13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1.08 | Manufacturing 0.17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petrol 0.27 | Other diesel 1.91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All values: 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estimated demand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all-market sales 2025; master workbook Vehicle history S31:S36; evidence retained in market story v27 p11.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sales, or 0.18% of all new vehicles.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Improving vehicle efficiency partly offsets growth in fuel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versus 2025 | modelled base-case effects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Engine and vehicle improvements, fleet renewal and operating practices can lower fuel use per kilometre.
The base case assumes 1% annual improvement in road-fuel efficiency, saving 0.79bn L by 2030.
Activity adds 1.54bn L across non-power uses. Rail and power effects are accounted for separately.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efficiency effect is a planning assumption; new-vehicle sales do not measure fleet-wide fuel savings.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400" b="1">
                <a:latin typeface="Lato"/>
              </a:rPr>
              <a:t>Activity and efficiency effects by 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Less fuel for each kilometre travelled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868091FB-E293-A565-29C2-21D2FCD881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394084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531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NMPP is the established inland connection discussed at right.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Durban 2.63B L, Lesedi 1.32B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Lesedi included in Durban flow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40386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recovery could materially reduce imports from the 16.6bn-litre base case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existing combined scenarios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2030 imports: base 16.61bn L; low-import case 8.26bn L; high-import case 19.68bn L.
The low-import case adds 0.87bn L of operating output and 5.67bn L from assumed restarts.
Demand assumptions also vary across these cases. The chart is not an isolated refinery sensitivity or a probability forecast.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Higher domestic output displaces imports; restart timing, utilisation and product yields determine the effect.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Gross import requirement, 2025–2030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Domestic supply drives the largest reduction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4FB408B-3022-BC37-CBE7-5FEF1AFBF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950206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498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3364</Words>
  <Application>Microsoft Office PowerPoint</Application>
  <DocSecurity>0</DocSecurity>
  <PresentationFormat>Custom</PresentationFormat>
  <Paragraphs>376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Vopak Theme</vt:lpstr>
      <vt:lpstr>PowerPoint Presentation</vt:lpstr>
      <vt:lpstr>2025 production and imports broadly cover consumption and exports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Improving vehicle efficiency partly offsets growth in fuel demand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Refinery recovery could materially reduce imports from the 16.6bn-litre base case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Nigel Zhuwaki</cp:lastModifiedBy>
  <cp:revision>4</cp:revision>
  <dcterms:created xsi:type="dcterms:W3CDTF">2026-10-11T22:01:42Z</dcterms:created>
  <dcterms:modified xsi:type="dcterms:W3CDTF">2026-10-11T23:35:21Z</dcterms:modified>
</cp:coreProperties>
</file>