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94" r:id="rId4"/>
  </p:sldMasterIdLst>
  <p:notesMasterIdLst>
    <p:notesMasterId r:id="rId14"/>
  </p:notesMasterIdLst>
  <p:sldIdLst>
    <p:sldId id="256" r:id="rId5"/>
    <p:sldId id="290" r:id="rId6"/>
    <p:sldId id="289" r:id="rId7"/>
    <p:sldId id="291" r:id="rId8"/>
    <p:sldId id="292" r:id="rId9"/>
    <p:sldId id="293" r:id="rId10"/>
    <p:sldId id="294" r:id="rId11"/>
    <p:sldId id="295" r:id="rId12"/>
    <p:sldId id="296" r:id="rId13"/>
  </p:sldIdLst>
  <p:sldSz cx="11588750" cy="6858000"/>
  <p:notesSz cx="6858000" cy="9144000"/>
  <p:embeddedFontLst>
    <p:embeddedFont>
      <p:font typeface="Lato" panose="020F0502020204030203" pitchFamily="34" charset="0"/>
      <p:regular r:id="rId15"/>
      <p:bold r:id="rId16"/>
      <p:italic r:id="rId17"/>
      <p:boldItalic r:id="rId18"/>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5460B812-FB11-E744-2EAF-0F2DA0ECD4BF}" name="Henry Gilfillan" initials="HG" userId="S::Henry.G@africaia.com::20d8d1d5-b81d-4db2-8d49-9db47f87700a" providerId="AD"/>
  <p188:author id="{80F3E917-8A40-6377-B501-C0BF4583C07C}" name="Maria-Salome Milanzi" initials="MM" userId="S::Maria-Salome.M@africaia.com::27b80f15-cda9-458b-a241-0020d0d18b2b" providerId="AD"/>
  <p188:author id="{8653DC3D-E5A6-54BA-B06A-0D6999879F26}" name="Joseph Kihara" initials="JK" userId="S::joseph.k@africaia.com::89b38e7e-ff17-4223-9856-6d82edda0c7c" providerId="AD"/>
  <p188:author id="{79DE144E-B764-F176-BA11-B9193ABDC8E5}" name="Davies Tsikayi" initials="DT" userId="S::Davies.T@africaia.com::87c07fce-c37d-4ded-b6b5-65d5c8b951c1" providerId="AD"/>
  <p188:author id="{31278C59-D498-87BD-2E87-AF9308A52A9D}" name="Shannon Kurz" initials="SK" userId="Shannon Kurz" providerId="None"/>
  <p188:author id="{68AE2466-B378-7AA2-581F-E86841585307}" name="Paayal Kanjee Govind" initials="PK" userId="S::Paayal.KG@africaia.com::50637073-a9d2-4dfa-96c0-927604d7cc3c" providerId="AD"/>
  <p188:author id="{C5B1668E-F34A-2E98-0466-BAF8D463548D}" name="Manish Ramjeawon" initials="MR" userId="S::manish.r@africaia.com::530ca382-ae44-4c47-aaca-bb6bff7153ab" providerId="AD"/>
  <p188:author id="{F720B396-19C0-DB41-D221-DFCF831531AE}" name="Henry Gilfillan" initials="HG" userId="Henry Gilfillan" providerId="None"/>
  <p188:author id="{9FBE07B6-A3E1-BFC7-95A7-1EBCABB54112}" name="Karabo Mashabane" initials="KM" userId="S::Karabo.M@africaia.com::def9b110-1e86-4623-94be-634dc77ab82b" providerId="AD"/>
  <p188:author id="{53709FFD-5FBE-8519-0B68-00C91B158654}" name="James Brown" initials="JB" userId="James Brown" providerId="None"/>
</p188:authorLst>
</file>

<file path=ppt/commentAuthors.xml><?xml version="1.0" encoding="utf-8"?>
<p:cmAuthorLst xmlns:a="http://schemas.openxmlformats.org/drawingml/2006/main" xmlns:r="http://schemas.openxmlformats.org/officeDocument/2006/relationships" xmlns:p="http://schemas.openxmlformats.org/presentationml/2006/main">
  <p:cmAuthor id="7" name="Henry Gilfillan" initials="HG [2]" lastIdx="8" clrIdx="6">
    <p:extLst>
      <p:ext uri="{19B8F6BF-5375-455C-9EA6-DF929625EA0E}">
        <p15:presenceInfo xmlns:p15="http://schemas.microsoft.com/office/powerpoint/2012/main" userId="S::henry.g@africaia.com::20d8d1d5-b81d-4db2-8d49-9db47f87700a" providerId="AD"/>
      </p:ext>
    </p:extLst>
  </p:cmAuthor>
  <p:cmAuthor id="1" name="Abbas Bilgrami" initials="AB [2]" lastIdx="8" clrIdx="0">
    <p:extLst>
      <p:ext uri="{19B8F6BF-5375-455C-9EA6-DF929625EA0E}">
        <p15:presenceInfo xmlns:p15="http://schemas.microsoft.com/office/powerpoint/2012/main" userId="da833efe2a07dd73" providerId="Windows Live"/>
      </p:ext>
    </p:extLst>
  </p:cmAuthor>
  <p:cmAuthor id="8" name="Abbas Bilgrami" initials="AB" lastIdx="34" clrIdx="7">
    <p:extLst>
      <p:ext uri="{19B8F6BF-5375-455C-9EA6-DF929625EA0E}">
        <p15:presenceInfo xmlns:p15="http://schemas.microsoft.com/office/powerpoint/2012/main" userId="S::abbas.b@africaia.com::09d4207e-ca10-48c5-9e33-f8dec02b9ddc" providerId="AD"/>
      </p:ext>
    </p:extLst>
  </p:cmAuthor>
  <p:cmAuthor id="2" name="Henry Gilfillan" initials="HG" lastIdx="82" clrIdx="1">
    <p:extLst>
      <p:ext uri="{19B8F6BF-5375-455C-9EA6-DF929625EA0E}">
        <p15:presenceInfo xmlns:p15="http://schemas.microsoft.com/office/powerpoint/2012/main" userId="Henry Gilfillan" providerId="None"/>
      </p:ext>
    </p:extLst>
  </p:cmAuthor>
  <p:cmAuthor id="9" name="Paayal Kanjee Govind" initials="PKG" lastIdx="4" clrIdx="8">
    <p:extLst>
      <p:ext uri="{19B8F6BF-5375-455C-9EA6-DF929625EA0E}">
        <p15:presenceInfo xmlns:p15="http://schemas.microsoft.com/office/powerpoint/2012/main" userId="Paayal Kanjee Govind" providerId="None"/>
      </p:ext>
    </p:extLst>
  </p:cmAuthor>
  <p:cmAuthor id="3" name="Ismaeel" initials="I" lastIdx="104" clrIdx="2">
    <p:extLst>
      <p:ext uri="{19B8F6BF-5375-455C-9EA6-DF929625EA0E}">
        <p15:presenceInfo xmlns:p15="http://schemas.microsoft.com/office/powerpoint/2012/main" userId="Ismaeel" providerId="None"/>
      </p:ext>
    </p:extLst>
  </p:cmAuthor>
  <p:cmAuthor id="4" name="Jennifer Zeiss" initials="JZ" lastIdx="19" clrIdx="3">
    <p:extLst>
      <p:ext uri="{19B8F6BF-5375-455C-9EA6-DF929625EA0E}">
        <p15:presenceInfo xmlns:p15="http://schemas.microsoft.com/office/powerpoint/2012/main" userId="Jennifer Zeiss" providerId="None"/>
      </p:ext>
    </p:extLst>
  </p:cmAuthor>
  <p:cmAuthor id="5" name="Gabrielle Knott" initials="GK" lastIdx="2" clrIdx="4">
    <p:extLst>
      <p:ext uri="{19B8F6BF-5375-455C-9EA6-DF929625EA0E}">
        <p15:presenceInfo xmlns:p15="http://schemas.microsoft.com/office/powerpoint/2012/main" userId="Gabrielle Knott" providerId="None"/>
      </p:ext>
    </p:extLst>
  </p:cmAuthor>
  <p:cmAuthor id="6" name="James Brown" initials="JB" lastIdx="2" clrIdx="5">
    <p:extLst>
      <p:ext uri="{19B8F6BF-5375-455C-9EA6-DF929625EA0E}">
        <p15:presenceInfo xmlns:p15="http://schemas.microsoft.com/office/powerpoint/2012/main" userId="S::james@africaia.com::5c3cb27f-96be-4c72-848f-aa01b93992f6"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F3552"/>
    <a:srgbClr val="EBF9FE"/>
    <a:srgbClr val="FDD9A4"/>
    <a:srgbClr val="2D6196"/>
    <a:srgbClr val="326757"/>
    <a:srgbClr val="728A94"/>
    <a:srgbClr val="F01C24"/>
    <a:srgbClr val="56787A"/>
    <a:srgbClr val="CFDFF0"/>
    <a:srgbClr val="008E4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8C87D74-0723-4269-ADB4-1C2880134AC4}" v="1" dt="2026-10-01T12:10:22.38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9" d="100"/>
          <a:sy n="99" d="100"/>
        </p:scale>
        <p:origin x="1104"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font" Target="fonts/font4.fntdata"/><Relationship Id="rId3" Type="http://schemas.openxmlformats.org/officeDocument/2006/relationships/customXml" Target="../customXml/item3.xml"/><Relationship Id="rId21"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font" Target="fonts/font3.fntdata"/><Relationship Id="rId25" Type="http://schemas.microsoft.com/office/2018/10/relationships/authors" Target="authors.xml"/><Relationship Id="rId2" Type="http://schemas.openxmlformats.org/officeDocument/2006/relationships/customXml" Target="../customXml/item2.xml"/><Relationship Id="rId16" Type="http://schemas.openxmlformats.org/officeDocument/2006/relationships/font" Target="fonts/font2.fntdata"/><Relationship Id="rId20"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microsoft.com/office/2015/10/relationships/revisionInfo" Target="revisionInfo.xml"/><Relationship Id="rId5" Type="http://schemas.openxmlformats.org/officeDocument/2006/relationships/slide" Target="slides/slide1.xml"/><Relationship Id="rId15" Type="http://schemas.openxmlformats.org/officeDocument/2006/relationships/font" Target="fonts/font1.fntdata"/><Relationship Id="rId23"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commentAuthors" Target="commentAuthor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notesMaster" Target="notesMasters/notesMaster1.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D47D6B1-D525-4628-ADA5-8E1FE74ADA4C}" type="datetimeFigureOut">
              <a:rPr lang="en-GB" smtClean="0"/>
              <a:t>09/10/2026</a:t>
            </a:fld>
            <a:endParaRPr lang="en-GB"/>
          </a:p>
        </p:txBody>
      </p:sp>
      <p:sp>
        <p:nvSpPr>
          <p:cNvPr id="4" name="Slide Image Placeholder 3"/>
          <p:cNvSpPr>
            <a:spLocks noGrp="1" noRot="1" noChangeAspect="1"/>
          </p:cNvSpPr>
          <p:nvPr>
            <p:ph type="sldImg" idx="2"/>
          </p:nvPr>
        </p:nvSpPr>
        <p:spPr>
          <a:xfrm>
            <a:off x="820738" y="1143000"/>
            <a:ext cx="5216525"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4101EB5-DFDD-47C4-B7E0-8A018260211B}" type="slidenum">
              <a:rPr lang="en-GB" smtClean="0"/>
              <a:t>‹#›</a:t>
            </a:fld>
            <a:endParaRPr lang="en-GB"/>
          </a:p>
        </p:txBody>
      </p:sp>
    </p:spTree>
    <p:extLst>
      <p:ext uri="{BB962C8B-B14F-4D97-AF65-F5344CB8AC3E}">
        <p14:creationId xmlns:p14="http://schemas.microsoft.com/office/powerpoint/2010/main" val="14379448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GB"/>
              <a:t>Cover from the supplied Vopak 1_Title layout (reference: SA_Market_Story_2026-10-08_v25.pptx, slide 1); photo credit retained. Page numbers start after the cover so the p.# deep-dive markers on the issue tree match.</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GB"/>
              <a:t>National balance above the issue tree: production + imports - exports - sales = supply less sales, where supply less sales is the stock change and statistical difference together. All figures are Manish's DR01 balance file (workstreams/WS1_data_validation/fuel_balance_petrol_diesel_2009_2025_2026-10-06.csv): production from the department energy balances (none after 2021), trade from SARS customs, sales from the department. No residual is labelled as production. v9 showed implied production for 2023-24, energy-balance trade for 2021 and FIASA sales for 2024; all three are withdrawn (overlap log, items 1-3). The 2021 energy balance uses higher imports than customs (diesel 11.2 against 9.8B L), unexplained and open with Manish. The PS session figure of about 20B L has no department source after 2023; FIASA and JODI are excluded by instruction.</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GB"/>
              <a:t>Source: workstreams/WS0_governance/meetings/2026-10-08_ps_session_manish_ramjeawon.docx and Nigel's supplied market sizing.jpg storyboard.</a:t>
            </a:r>
          </a:p>
          <a:p>
            <a:r>
              <a:rPr lang="en-GB"/>
              <a:t>This is the issue-tree framework requested after the PS session. The roughly 20 billion litres is the discussion's provisional annual petrol-plus-diesel consumption total. It is not gross imports, addressable terminal volume or verified throughput. No market shares have been calculated.</a:t>
            </a:r>
          </a:p>
          <a:p>
            <a:r>
              <a:rPr lang="en-GB"/>
              <a:t>Reconcile product/year consumption against actual domestic production, gross imports, exports and stock changes. Keep statistical differences explicit. Capacity is not production.</a:t>
            </a:r>
          </a:p>
          <a:p>
            <a:r>
              <a:rPr lang="en-GB"/>
              <a:t>Estimate the accessible annual market separately for Durban and Lesedi from product compatibility, destination demand, feasible routes, delivered cost and terminal access. Both imported and domestic fuel can influence each site's opportunity. Customer and contractual restrictions narrow achievable capture.</a:t>
            </a:r>
          </a:p>
          <a:p>
            <a:r>
              <a:rPr lang="en-GB"/>
              <a:t>Request site/product throughput, actual working tanks, turns, occupancy, receipt and dispatch limits and customer commitments from the client. Calculate current accessible-market share and national-market share with explicit denominators. Trace common Durban-Lesedi flows so the combined opportunity is deduplicated.</a:t>
            </a:r>
          </a:p>
          <a:p>
            <a:r>
              <a:rPr lang="en-GB"/>
              <a:t>Compare additional achievable capture with existing handling capability, then operational improvements and expansion alternatives. Annual throughput in litres cannot directly determine storage cubic metres. Investment requires incremental cash flows and downside tests across coherent demand and domestic-supply worlds.</a:t>
            </a:r>
          </a:p>
          <a:p>
            <a:r>
              <a:rPr lang="en-GB"/>
              <a:t>Parameters have different effects: road-to-rail changes freight diesel use and delivery choices; EV turnover and ICE efficiency affect road fuel demand; Eskom recovery and IPP delivery affect power diesel demand; refinery output and closures affect the import requirement and origin of flows; infrastructure capacity and access limit routes and terminal capture.</a:t>
            </a:r>
          </a:p>
          <a:p>
            <a:r>
              <a:rPr lang="en-GB"/>
              <a:t>Manish handback: close evidence gaps, consolidate the baseline and build the terminal market-size methodology with source/year/unit, observed or estimated status, owner and unresolved gaps. Nigel coordinates client inputs. Nigel and Henry review scenario and capture assumptions. No commercial commitment or business approval is implied.</a:t>
            </a:r>
          </a:p>
          <a:p>
            <a:r>
              <a:rPr lang="en-GB"/>
              <a:t>Layout: four columns and four rows. Column 2 reads source (imports, production), route (ports, inland delivery), destination (coastal, inland demand) then parameters. Sources and destinations each add to national consumption; routes are throughput and overlap, so they do not add. Volume tags come from pptx/story/issue_tree_volumes_2026_10_08.json, built by pptx/scripts/issue_tree_volumes.py: 2023 department sales (observed), 2023 department trade review (rounded narrative, not customs), production implied as sales less imports plus exports with stock change unknown, and 2022 provincial sales split into coastal (KZN, WC, EC) and inland provinces as a presentation proxy, not a registered assumption. The PS figure of about 20B litres likely reflects 2024; FIASA 2024 (20.8B) remains unverified. All other tags are pending the named data requests.</a:t>
            </a:r>
          </a:p>
          <a:p>
            <a:r>
              <a:rPr lang="en-GB"/>
              <a:t>Template provenance: copied from the current SA_Market_Story_2026-10-08_v25.pptx, slide 14, with its supplied Vopak master and named Header only layout retained. Original preserved. All diagram content is editable native PowerPoint text and connectors.</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GB"/>
              <a:t>Deep dive for Demand by product on the issue tree. Provincial petrol and diesel sales from workstreams/WS1_data_validation/provincial_petrol_diesel_2013_2024_2026-10-06.csv (Manish, DR01). 2022 is the last fully observed year; 2023 splits the national total by first-quarter 2023 shares, back-tested at 2.5 share points for petrol and 5.3 for diesel. Gauteng maps to Lesedi's catchment and KZN to Durban's coastal catchment; the pipeline also carries Durban imports inland, so catchment is not the same as site market. The coastal grouping is a presentation choice and needs a register row before any model use.</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GB"/>
              <a:t>Deep dive for Demand by use. Three sources are shown side by side for calibration with Manish; none is adopted here. The balance is 2021 final consumption, petrol and diesel; the model baseline is the engine's 2024 high-demand segments with Manish's sourced starting values (agriculture 1.06 and industry 1.50 diesel, both provisional); reported power is Eskom's turbine fuel plus independent plants estimated from generation at 0.31 litres per kWh (DR07). Power diesel is not final consumption in the balance. The model's generation segment is well above reported burn in every recent year, and the balance's commercial and public line has no model counterpart. Calibration decision owners: Nigel and Manish.</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GB"/>
              <a:t>Deep dive for Demand parameters. Values are read from workstreams/WS2_model_development/fuel_lever_response_2026-10-07.csv: for each lever the baseline, and 2035 low / medium / high as proposed by Manish, with how many of Nigel's proposed values he revised. Supply levers (plant utilisation, yields, restart capacity) belong to the supply side and are not shown. Exports to neighbours are terminal throughput, not South African demand. No lever value is an accepted input; Nigel and Henry review scenario settings. The rail and road activity levers overlap, as do EV share and new-cohort efficiency: the DR07 acceptance test (no double count) is still open.</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GB"/>
              <a:t>Rows compare modes: network, actual throughput, capacity and use, relevance to Durban and Lesedi. Manish's DR04 and DR08 evidence (8 October, merged as PR #1) is primary; tags marked 'pack research' are public sources found separately the same day and not in DR04. Overlaps are recorded in workstreams/WS0_governance/workplan/overlap_log_2026_10_08.md (item 4). Transnet FY24 = year to March 2024. Not found publicly: per-port liquid bulk after 2021, a petroleum-only port split, Durban berth capacity, Durban-to-Gauteng fuel by rail or road, and an inland supply split by mode in volumes. The 38.9 port figure is printed as million kilometres in the TNPA table; treated as million kilolitres pending confirmation. TPL volumes include crude to Natref and Natref/Secunda product in the inland network, so they are not all Durban imports. The FY26 14.3B L figure is news only and is not shown.</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GB"/>
              <a:t>This page groups the outstanding requests in the existing DR01-DR09 register and adds the explicit evidence gaps raised in the 8 October PS session. It is a request summary, not evidence that requests were sent or data received. No new delivery dates are committed.</a:t>
            </a:r>
          </a:p>
          <a:p>
            <a:r>
              <a:rPr lang="en-GB"/>
              <a:t>Manish: assemble public evidence, retain original source files, consolidate observed versus estimated data, and estimate accessible terminal markets while client inputs are pending. Nigel coordinates commercial requests and reviews the baseline. Henry's review concerns scenario settings and specialist power assumptions.</a:t>
            </a:r>
          </a:p>
          <a:p>
            <a:r>
              <a:rPr lang="en-GB"/>
              <a:t>DR01: compatible product/year definitions, actual output and explicit stock changes/statistical differences. Resolve the 2024 sales source and blank 2025 national sales rather than manufacturing observations.</a:t>
            </a:r>
          </a:p>
          <a:p>
            <a:r>
              <a:rPr lang="en-GB"/>
              <a:t>DR04: public port liquid-bulk capacity and pipeline/road/rail connections; confirm working service capacity, actual access rights and destination-matched route economics with operators. Geographic connectivity alone does not establish customer access.</a:t>
            </a:r>
          </a:p>
          <a:p>
            <a:r>
              <a:rPr lang="en-GB"/>
              <a:t>DR07: reported historical Eskom litres rather than generation-based estimates, vehicle composition by province/class, historical petrol/diesel efficiency, and the source paper behind retirement and road diesel split assumptions. Document renewable and gas commissioning dependencies, coal retirements and rail traction. Nigel/Henry review low/medium/high assumptions; scenarios must avoid double counting. Marine remains an open baseline gap; jet evidence is assembled but a separate model is not agreed in this handback.</a:t>
            </a:r>
          </a:p>
          <a:p>
            <a:r>
              <a:rPr lang="en-GB"/>
              <a:t>DR08: complete refinery/synfuels inventory including PetroSA/Mossgas, Secunda, Natref, SAPREF and other national sites, with actual annual product output, feedstock and restart/closure dependencies. Capacity alone does not establish production.</a:t>
            </a:r>
          </a:p>
          <a:p>
            <a:r>
              <a:rPr lang="en-GB"/>
              <a:t>DR02/05: latest 36 complete months of anonymised product/site movements, destinations, customer commitments, contestable volumes and contracts. Explicitly flag shared Durban-Lesedi flows and final deliveries. Verify market share against an explicit accessible-market denominator.</a:t>
            </a:r>
          </a:p>
          <a:p>
            <a:r>
              <a:rPr lang="en-GB"/>
              <a:t>DR03: product-compatible working and unavailable/committed tankage, stock policy, observed turns, occupancy, downtime and peak receipt/dispatch limits.</a:t>
            </a:r>
          </a:p>
          <a:p>
            <a:r>
              <a:rPr lang="en-GB"/>
              <a:t>DR06: storage and handling revenue terms, incremental operating costs, capex, schedule, ramp-up, tax, working capital, asset life and hurdle rate. Compare existing assets, operating improvements and expansion on incremental cash flows.</a:t>
            </a:r>
          </a:p>
          <a:p>
            <a:r>
              <a:rPr lang="en-GB"/>
              <a:t>DR09 is still outstanding but is a separate EV adjacency case, not a prerequisite to the petrol/diesel terminal market-sizing bridge.</a:t>
            </a:r>
          </a:p>
          <a:p>
            <a:r>
              <a:rPr lang="en-GB"/>
              <a:t>The underlying register and full acceptance tests follow:</a:t>
            </a:r>
          </a:p>
          <a:p>
            <a:r>
              <a:rPr lang="en-GB"/>
              <a:t>[</a:t>
            </a:r>
          </a:p>
          <a:p>
            <a:r>
              <a:rPr lang="en-GB"/>
              <a:t>    {</a:t>
            </a:r>
          </a:p>
          <a:p>
            <a:r>
              <a:rPr lang="en-GB"/>
              <a:t>        "id":  "DR01",</a:t>
            </a:r>
          </a:p>
          <a:p>
            <a:r>
              <a:rPr lang="en-GB"/>
              <a:t>        "priority":  "P1",</a:t>
            </a:r>
          </a:p>
          <a:p>
            <a:r>
              <a:rPr lang="en-GB"/>
              <a:t>        "step":  "Baseline",</a:t>
            </a:r>
          </a:p>
          <a:p>
            <a:r>
              <a:rPr lang="en-GB"/>
              <a:t>        "request":  "National product balance",</a:t>
            </a:r>
          </a:p>
          <a:p>
            <a:r>
              <a:rPr lang="en-GB"/>
              <a:t>        "required_fields_and_period":  "Latest complete calendar year and 2021/2022 bridge; petrol/diesel production, imports, exports, stock changes and statistical differences; units and coverage",</a:t>
            </a:r>
          </a:p>
          <a:p>
            <a:r>
              <a:rPr lang="en-GB"/>
              <a:t>        "proposed_coordinator":  "Manish / Nigel review",</a:t>
            </a:r>
          </a:p>
          <a:p>
            <a:r>
              <a:rPr lang="en-GB"/>
              <a:t>        "proposed_data_provider":  "Department / SARS / producers",</a:t>
            </a:r>
          </a:p>
          <a:p>
            <a:r>
              <a:rPr lang="en-GB"/>
              <a:t>        "expiry_trigger":  "Before baseline adoption",</a:t>
            </a:r>
          </a:p>
          <a:p>
            <a:r>
              <a:rPr lang="en-GB"/>
              <a:t>        "acceptance_test":  "Reconcile definitions and source revisions; no residual labelled as production",</a:t>
            </a:r>
          </a:p>
          <a:p>
            <a:r>
              <a:rPr lang="en-GB"/>
              <a:t>        "status":  "Prepared; not sent",</a:t>
            </a:r>
          </a:p>
          <a:p>
            <a:r>
              <a:rPr lang="en-GB"/>
              <a:t>        "received_file":  "",</a:t>
            </a:r>
          </a:p>
          <a:p>
            <a:r>
              <a:rPr lang="en-GB"/>
              <a:t>        "received_date":  ""</a:t>
            </a:r>
          </a:p>
          <a:p>
            <a:r>
              <a:rPr lang="en-GB"/>
              <a:t>    },</a:t>
            </a:r>
          </a:p>
          <a:p>
            <a:r>
              <a:rPr lang="en-GB"/>
              <a:t>    {</a:t>
            </a:r>
          </a:p>
          <a:p>
            <a:r>
              <a:rPr lang="en-GB"/>
              <a:t>        "id":  "DR02",</a:t>
            </a:r>
          </a:p>
          <a:p>
            <a:r>
              <a:rPr lang="en-GB"/>
              <a:t>        "priority":  "P1",</a:t>
            </a:r>
          </a:p>
          <a:p>
            <a:r>
              <a:rPr lang="en-GB"/>
              <a:t>        "step":  "Capture",</a:t>
            </a:r>
          </a:p>
          <a:p>
            <a:r>
              <a:rPr lang="en-GB"/>
              <a:t>        "request":  "Terminal movements",</a:t>
            </a:r>
          </a:p>
          <a:p>
            <a:r>
              <a:rPr lang="en-GB"/>
              <a:t>        "required_fields_and_period":  "Latest 36 complete months; terminal, product, origin, destination, customer ID, receipt/dispatch m3; flag Durban-Lesedi transfers and final customer deliveries",</a:t>
            </a:r>
          </a:p>
          <a:p>
            <a:r>
              <a:rPr lang="en-GB"/>
              <a:t>        "proposed_coordinator":  "Nigel to coordinate",</a:t>
            </a:r>
          </a:p>
          <a:p>
            <a:r>
              <a:rPr lang="en-GB"/>
              <a:t>        "proposed_data_provider":  "Vopak operations / commercial",</a:t>
            </a:r>
          </a:p>
          <a:p>
            <a:r>
              <a:rPr lang="en-GB"/>
              <a:t>        "expiry_trigger":  "Before market-share estimate",</a:t>
            </a:r>
          </a:p>
          <a:p>
            <a:r>
              <a:rPr lang="en-GB"/>
              <a:t>        "acceptance_test":  "Deduplicate chain deliveries; reconcile monthly totals to operating reports",</a:t>
            </a:r>
          </a:p>
          <a:p>
            <a:r>
              <a:rPr lang="en-GB"/>
              <a:t>        "status":  "Prepared; not sent",</a:t>
            </a:r>
          </a:p>
          <a:p>
            <a:r>
              <a:rPr lang="en-GB"/>
              <a:t>        "received_file":  "",</a:t>
            </a:r>
          </a:p>
          <a:p>
            <a:r>
              <a:rPr lang="en-GB"/>
              <a:t>        "received_date":  ""</a:t>
            </a:r>
          </a:p>
          <a:p>
            <a:r>
              <a:rPr lang="en-GB"/>
              <a:t>    },</a:t>
            </a:r>
          </a:p>
          <a:p>
            <a:r>
              <a:rPr lang="en-GB"/>
              <a:t>    {</a:t>
            </a:r>
          </a:p>
          <a:p>
            <a:r>
              <a:rPr lang="en-GB"/>
              <a:t>        "id":  "DR03",</a:t>
            </a:r>
          </a:p>
          <a:p>
            <a:r>
              <a:rPr lang="en-GB"/>
              <a:t>        "priority":  "P1",</a:t>
            </a:r>
          </a:p>
          <a:p>
            <a:r>
              <a:rPr lang="en-GB"/>
              <a:t>        "step":  "Assets",</a:t>
            </a:r>
          </a:p>
          <a:p>
            <a:r>
              <a:rPr lang="en-GB"/>
              <a:t>        "request":  "Working capacity and service limits",</a:t>
            </a:r>
          </a:p>
          <a:p>
            <a:r>
              <a:rPr lang="en-GB"/>
              <a:t>        "required_fields_and_period":  "Tank/product gross and working m3; unavailable/committed capacity; stock policy; actual turns; monthly receipt/dispatch m3; hourly and peak limits; downtime",</a:t>
            </a:r>
          </a:p>
          <a:p>
            <a:r>
              <a:rPr lang="en-GB"/>
              <a:t>        "proposed_coordinator":  "Nigel to coordinate",</a:t>
            </a:r>
          </a:p>
          <a:p>
            <a:r>
              <a:rPr lang="en-GB"/>
              <a:t>        "proposed_data_provider":  "Vopak operations",</a:t>
            </a:r>
          </a:p>
          <a:p>
            <a:r>
              <a:rPr lang="en-GB"/>
              <a:t>        "expiry_trigger":  "Before capacity-shortfall conclusion",</a:t>
            </a:r>
          </a:p>
          <a:p>
            <a:r>
              <a:rPr lang="en-GB"/>
              <a:t>        "acceptance_test":  "Eligible working tankage and achievable throughput reconciled by product and terminal",</a:t>
            </a:r>
          </a:p>
          <a:p>
            <a:r>
              <a:rPr lang="en-GB"/>
              <a:t>        "status":  "Prepared; not sent",</a:t>
            </a:r>
          </a:p>
          <a:p>
            <a:r>
              <a:rPr lang="en-GB"/>
              <a:t>        "received_file":  "",</a:t>
            </a:r>
          </a:p>
          <a:p>
            <a:r>
              <a:rPr lang="en-GB"/>
              <a:t>        "received_date":  ""</a:t>
            </a:r>
          </a:p>
          <a:p>
            <a:r>
              <a:rPr lang="en-GB"/>
              <a:t>    },</a:t>
            </a:r>
          </a:p>
          <a:p>
            <a:r>
              <a:rPr lang="en-GB"/>
              <a:t>    {</a:t>
            </a:r>
          </a:p>
          <a:p>
            <a:r>
              <a:rPr lang="en-GB"/>
              <a:t>        "id":  "DR04",</a:t>
            </a:r>
          </a:p>
          <a:p>
            <a:r>
              <a:rPr lang="en-GB"/>
              <a:t>        "priority":  "P1",</a:t>
            </a:r>
          </a:p>
          <a:p>
            <a:r>
              <a:rPr lang="en-GB"/>
              <a:t>        "step":  "Routes",</a:t>
            </a:r>
          </a:p>
          <a:p>
            <a:r>
              <a:rPr lang="en-GB"/>
              <a:t>        "request":  "Matched delivered economics",</a:t>
            </a:r>
          </a:p>
          <a:p>
            <a:r>
              <a:rPr lang="en-GB"/>
              <a:t>        "required_fields_and_period":  "Same petrol/diesel spec and inland destination; dated product basis and handling/road/rail/pipeline/border/loss/finance costs; tax basis, currency, transit time, access rights and available annual capacity",</a:t>
            </a:r>
          </a:p>
          <a:p>
            <a:r>
              <a:rPr lang="en-GB"/>
              <a:t>        "proposed_coordinator":  "Manish / Nigel review",</a:t>
            </a:r>
          </a:p>
          <a:p>
            <a:r>
              <a:rPr lang="en-GB"/>
              <a:t>        "proposed_data_provider":  "Logistics operators / Vopak",</a:t>
            </a:r>
          </a:p>
          <a:p>
            <a:r>
              <a:rPr lang="en-GB"/>
              <a:t>        "expiry_trigger":  "Before corridor ranking",</a:t>
            </a:r>
          </a:p>
          <a:p>
            <a:r>
              <a:rPr lang="en-GB"/>
              <a:t>        "acceptance_test":  "Compare same product/date/destination; confirm tanker access and service availability",</a:t>
            </a:r>
          </a:p>
          <a:p>
            <a:r>
              <a:rPr lang="en-GB"/>
              <a:t>        "status":  "Prepared; not sent",</a:t>
            </a:r>
          </a:p>
          <a:p>
            <a:r>
              <a:rPr lang="en-GB"/>
              <a:t>        "received_file":  "",</a:t>
            </a:r>
          </a:p>
          <a:p>
            <a:r>
              <a:rPr lang="en-GB"/>
              <a:t>        "received_date":  ""</a:t>
            </a:r>
          </a:p>
          <a:p>
            <a:r>
              <a:rPr lang="en-GB"/>
              <a:t>    },</a:t>
            </a:r>
          </a:p>
          <a:p>
            <a:r>
              <a:rPr lang="en-GB"/>
              <a:t>    {</a:t>
            </a:r>
          </a:p>
          <a:p>
            <a:r>
              <a:rPr lang="en-GB"/>
              <a:t>        "id":  "DR05",</a:t>
            </a:r>
          </a:p>
          <a:p>
            <a:r>
              <a:rPr lang="en-GB"/>
              <a:t>        "priority":  "P1",</a:t>
            </a:r>
          </a:p>
          <a:p>
            <a:r>
              <a:rPr lang="en-GB"/>
              <a:t>        "step":  "Capture",</a:t>
            </a:r>
          </a:p>
          <a:p>
            <a:r>
              <a:rPr lang="en-GB"/>
              <a:t>        "request":  "Customer access and commitments",</a:t>
            </a:r>
          </a:p>
          <a:p>
            <a:r>
              <a:rPr lang="en-GB"/>
              <a:t>        "required_fields_and_period":  "Anonymised customer/product/destination annual m3; sourcing alternatives, contract dates, committed vs contestable volumes and renewal assumptions",</a:t>
            </a:r>
          </a:p>
          <a:p>
            <a:r>
              <a:rPr lang="en-GB"/>
              <a:t>        "proposed_coordinator":  "Nigel to coordinate",</a:t>
            </a:r>
          </a:p>
          <a:p>
            <a:r>
              <a:rPr lang="en-GB"/>
              <a:t>        "proposed_data_provider":  "Vopak commercial",</a:t>
            </a:r>
          </a:p>
          <a:p>
            <a:r>
              <a:rPr lang="en-GB"/>
              <a:t>        "expiry_trigger":  "Before capturable-volume adoption",</a:t>
            </a:r>
          </a:p>
          <a:p>
            <a:r>
              <a:rPr lang="en-GB"/>
              <a:t>        "acceptance_test":  "Mutually exclusive customer pools; confirmed rights and no assumed capacity-share proxy",</a:t>
            </a:r>
          </a:p>
          <a:p>
            <a:r>
              <a:rPr lang="en-GB"/>
              <a:t>        "status":  "Prepared; not sent",</a:t>
            </a:r>
          </a:p>
          <a:p>
            <a:r>
              <a:rPr lang="en-GB"/>
              <a:t>        "received_file":  "",</a:t>
            </a:r>
          </a:p>
          <a:p>
            <a:r>
              <a:rPr lang="en-GB"/>
              <a:t>        "received_date":  ""</a:t>
            </a:r>
          </a:p>
          <a:p>
            <a:r>
              <a:rPr lang="en-GB"/>
              <a:t>    },</a:t>
            </a:r>
          </a:p>
          <a:p>
            <a:r>
              <a:rPr lang="en-GB"/>
              <a:t>    {</a:t>
            </a:r>
          </a:p>
          <a:p>
            <a:r>
              <a:rPr lang="en-GB"/>
              <a:t>        "id":  "DR06",</a:t>
            </a:r>
          </a:p>
          <a:p>
            <a:r>
              <a:rPr lang="en-GB"/>
              <a:t>        "priority":  "P1",</a:t>
            </a:r>
          </a:p>
          <a:p>
            <a:r>
              <a:rPr lang="en-GB"/>
              <a:t>        "step":  "Returns",</a:t>
            </a:r>
          </a:p>
          <a:p>
            <a:r>
              <a:rPr lang="en-GB"/>
              <a:t>        "request":  "Commercial terms and project options",</a:t>
            </a:r>
          </a:p>
          <a:p>
            <a:r>
              <a:rPr lang="en-GB"/>
              <a:t>        "required_fields_and_period":  "Incremental storage/handling revenue, variable and fixed costs; tank/debottleneck capex, schedule, ramp-up, working capital, tax, hurdle rate and asset life; effects on existing revenue",</a:t>
            </a:r>
          </a:p>
          <a:p>
            <a:r>
              <a:rPr lang="en-GB"/>
              <a:t>        "proposed_coordinator":  "Nigel to coordinate",</a:t>
            </a:r>
          </a:p>
          <a:p>
            <a:r>
              <a:rPr lang="en-GB"/>
              <a:t>        "proposed_data_provider":  "Vopak finance / engineering / commercial",</a:t>
            </a:r>
          </a:p>
          <a:p>
            <a:r>
              <a:rPr lang="en-GB"/>
              <a:t>        "expiry_trigger":  "Before investment recommendation",</a:t>
            </a:r>
          </a:p>
          <a:p>
            <a:r>
              <a:rPr lang="en-GB"/>
              <a:t>        "acceptance_test":  "Compare existing assets, debottleneck and expansion on incremental cash flows",</a:t>
            </a:r>
          </a:p>
          <a:p>
            <a:r>
              <a:rPr lang="en-GB"/>
              <a:t>        "status":  "Prepared; not sent",</a:t>
            </a:r>
          </a:p>
          <a:p>
            <a:r>
              <a:rPr lang="en-GB"/>
              <a:t>        "received_file":  "",</a:t>
            </a:r>
          </a:p>
          <a:p>
            <a:r>
              <a:rPr lang="en-GB"/>
              <a:t>        "received_date":  ""</a:t>
            </a:r>
          </a:p>
          <a:p>
            <a:r>
              <a:rPr lang="en-GB"/>
              <a:t>    },</a:t>
            </a:r>
          </a:p>
          <a:p>
            <a:r>
              <a:rPr lang="en-GB"/>
              <a:t>    {</a:t>
            </a:r>
          </a:p>
          <a:p>
            <a:r>
              <a:rPr lang="en-GB"/>
              <a:t>        "id":  "DR07",</a:t>
            </a:r>
          </a:p>
          <a:p>
            <a:r>
              <a:rPr lang="en-GB"/>
              <a:t>        "priority":  "P2",</a:t>
            </a:r>
          </a:p>
          <a:p>
            <a:r>
              <a:rPr lang="en-GB"/>
              <a:t>        "step":  "Demand worlds",</a:t>
            </a:r>
          </a:p>
          <a:p>
            <a:r>
              <a:rPr lang="en-GB"/>
              <a:t>        "request":  "Annual demand lever calibration",</a:t>
            </a:r>
          </a:p>
          <a:p>
            <a:r>
              <a:rPr lang="en-GB"/>
              <a:t>        "required_fields_and_period":  "Product/sector activity, transferable freight tonne-km, rail traction, EV fleet replacement, ICE efficiency; Eskom/IPP/private backup separately; generation commissioning and retirements",</a:t>
            </a:r>
          </a:p>
          <a:p>
            <a:r>
              <a:rPr lang="en-GB"/>
              <a:t>        "proposed_coordinator":  "Manish / Nigel review",</a:t>
            </a:r>
          </a:p>
          <a:p>
            <a:r>
              <a:rPr lang="en-GB"/>
              <a:t>        "proposed_data_provider":  "Public sources / sector specialists",</a:t>
            </a:r>
          </a:p>
          <a:p>
            <a:r>
              <a:rPr lang="en-GB"/>
              <a:t>        "expiry_trigger":  "Before L/M/H demand adoption",</a:t>
            </a:r>
          </a:p>
          <a:p>
            <a:r>
              <a:rPr lang="en-GB"/>
              <a:t>        "acceptance_test":  "No rail/EV/efficiency double count; power balance and dispatch constrain diesel",</a:t>
            </a:r>
          </a:p>
          <a:p>
            <a:r>
              <a:rPr lang="en-GB"/>
              <a:t>        "status":  "Prepared; not sent",</a:t>
            </a:r>
          </a:p>
          <a:p>
            <a:r>
              <a:rPr lang="en-GB"/>
              <a:t>        "received_file":  "",</a:t>
            </a:r>
          </a:p>
          <a:p>
            <a:r>
              <a:rPr lang="en-GB"/>
              <a:t>        "received_date":  ""</a:t>
            </a:r>
          </a:p>
          <a:p>
            <a:r>
              <a:rPr lang="en-GB"/>
              <a:t>    },</a:t>
            </a:r>
          </a:p>
          <a:p>
            <a:r>
              <a:rPr lang="en-GB"/>
              <a:t>    {</a:t>
            </a:r>
          </a:p>
          <a:p>
            <a:r>
              <a:rPr lang="en-GB"/>
              <a:t>        "id":  "DR08",</a:t>
            </a:r>
          </a:p>
          <a:p>
            <a:r>
              <a:rPr lang="en-GB"/>
              <a:t>        "priority":  "P2",</a:t>
            </a:r>
          </a:p>
          <a:p>
            <a:r>
              <a:rPr lang="en-GB"/>
              <a:t>        "step":  "Supply worlds",</a:t>
            </a:r>
          </a:p>
          <a:p>
            <a:r>
              <a:rPr lang="en-GB"/>
              <a:t>        "request":  "Annual plant output calibration",</a:t>
            </a:r>
          </a:p>
          <a:p>
            <a:r>
              <a:rPr lang="en-GB"/>
              <a:t>        "required_fields_and_period":  "SAPREF funded timing/ramp/yields; Natref availability/utilisation; Secunda gas/MRG liquids penalty; PetroSA feedstock/restart; product-specific annual output",</a:t>
            </a:r>
          </a:p>
          <a:p>
            <a:r>
              <a:rPr lang="en-GB"/>
              <a:t>        "proposed_coordinator":  "Manish / Nigel review",</a:t>
            </a:r>
          </a:p>
          <a:p>
            <a:r>
              <a:rPr lang="en-GB"/>
              <a:t>        "proposed_data_provider":  "Producers / public disclosures",</a:t>
            </a:r>
          </a:p>
          <a:p>
            <a:r>
              <a:rPr lang="en-GB"/>
              <a:t>        "expiry_trigger":  "Before L/M/H supply adoption",</a:t>
            </a:r>
          </a:p>
          <a:p>
            <a:r>
              <a:rPr lang="en-GB"/>
              <a:t>        "acceptance_test":  "Nameplate converted to output; dependencies and scenario consistency reviewed",</a:t>
            </a:r>
          </a:p>
          <a:p>
            <a:r>
              <a:rPr lang="en-GB"/>
              <a:t>        "status":  "Prepared; not sent",</a:t>
            </a:r>
          </a:p>
          <a:p>
            <a:r>
              <a:rPr lang="en-GB"/>
              <a:t>        "received_file":  "",</a:t>
            </a:r>
          </a:p>
          <a:p>
            <a:r>
              <a:rPr lang="en-GB"/>
              <a:t>        "received_date":  ""</a:t>
            </a:r>
          </a:p>
          <a:p>
            <a:r>
              <a:rPr lang="en-GB"/>
              <a:t>    },</a:t>
            </a:r>
          </a:p>
          <a:p>
            <a:r>
              <a:rPr lang="en-GB"/>
              <a:t>    {</a:t>
            </a:r>
          </a:p>
          <a:p>
            <a:r>
              <a:rPr lang="en-GB"/>
              <a:t>        "id":  "DR09",</a:t>
            </a:r>
          </a:p>
          <a:p>
            <a:r>
              <a:rPr lang="en-GB"/>
              <a:t>        "priority":  "P2",</a:t>
            </a:r>
          </a:p>
          <a:p>
            <a:r>
              <a:rPr lang="en-GB"/>
              <a:t>        "step":  "EV adjacency",</a:t>
            </a:r>
          </a:p>
          <a:p>
            <a:r>
              <a:rPr lang="en-GB"/>
              <a:t>        "request":  "Separate EV investment case",</a:t>
            </a:r>
          </a:p>
          <a:p>
            <a:r>
              <a:rPr lang="en-GB"/>
              <a:t>        "required_fields_and_period":  "Customer energy and charging demand; utilisation by location; power connection and tariff; capex, costs, commercial terms, partner model and strategic mandate",</a:t>
            </a:r>
          </a:p>
          <a:p>
            <a:r>
              <a:rPr lang="en-GB"/>
              <a:t>        "proposed_coordinator":  "Nigel to coordinate",</a:t>
            </a:r>
          </a:p>
          <a:p>
            <a:r>
              <a:rPr lang="en-GB"/>
              <a:t>        "proposed_data_provider":  "Potential customers / Vopak strategy / power partners",</a:t>
            </a:r>
          </a:p>
          <a:p>
            <a:r>
              <a:rPr lang="en-GB"/>
              <a:t>        "expiry_trigger":  "Before EV investment screening",</a:t>
            </a:r>
          </a:p>
          <a:p>
            <a:r>
              <a:rPr lang="en-GB"/>
              <a:t>        "acceptance_test":  "Standalone customer, power-access and incremental-return case; not inferred from low fuel demand",</a:t>
            </a:r>
          </a:p>
          <a:p>
            <a:r>
              <a:rPr lang="en-GB"/>
              <a:t>        "status":  "Prepared; not sent",</a:t>
            </a:r>
          </a:p>
          <a:p>
            <a:r>
              <a:rPr lang="en-GB"/>
              <a:t>        "received_file":  "",</a:t>
            </a:r>
          </a:p>
          <a:p>
            <a:r>
              <a:rPr lang="en-GB"/>
              <a:t>        "received_date":  ""</a:t>
            </a:r>
          </a:p>
          <a:p>
            <a:r>
              <a:rPr lang="en-GB"/>
              <a:t>    }</a:t>
            </a:r>
          </a:p>
          <a:p>
            <a:r>
              <a:rPr lang="en-GB"/>
              <a:t>]</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GB"/>
              <a:t>Closing page. Decisions: the demand-by-use baseline (overlap log item 6, page 4), the demand lever cases and the open DR07 double-count test (page 5), and whether to register the coastal and inland grouping (page 3). Requests: client data DR02/05, DR03 and DR06 (prepared, not sent); operator output by product and stock change (DR08, DR01 gaps); current trunk-line capacity and whether Vopak Durban can inject into the NMPP (DR04 gaps). Build next: the Durban and Lesedi market sizing method, an independent figure check for this pack, and recording receipt of DR01, DR04, DR07 and DR08 in the register file. No delivery dates are committed.</a:t>
            </a:r>
            <a:endParaRP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9509FAFE-21DB-4F6B-8EA1-32FA210B705A}"/>
              </a:ext>
            </a:extLst>
          </p:cNvPr>
          <p:cNvSpPr>
            <a:spLocks noGrp="1"/>
          </p:cNvSpPr>
          <p:nvPr>
            <p:ph type="sldNum" sz="quarter" idx="10"/>
          </p:nvPr>
        </p:nvSpPr>
        <p:spPr/>
        <p:txBody>
          <a:bodyPr/>
          <a:lstStyle/>
          <a:p>
            <a:fld id="{5E48029D-87D6-48C3-BA4B-1065A63511DF}" type="slidenum">
              <a:rPr lang="en-GB" smtClean="0">
                <a:solidFill>
                  <a:schemeClr val="tx1"/>
                </a:solidFill>
              </a:rPr>
              <a:pPr/>
              <a:t>‹#›</a:t>
            </a:fld>
            <a:endParaRPr lang="en-GB">
              <a:solidFill>
                <a:schemeClr val="tx1"/>
              </a:solidFill>
            </a:endParaRPr>
          </a:p>
        </p:txBody>
      </p:sp>
      <p:pic>
        <p:nvPicPr>
          <p:cNvPr id="4" name="Picture 3" descr="A picture containing sky, building, outdoor, city&#10;&#10;Description automatically generated">
            <a:extLst>
              <a:ext uri="{FF2B5EF4-FFF2-40B4-BE49-F238E27FC236}">
                <a16:creationId xmlns:a16="http://schemas.microsoft.com/office/drawing/2014/main" id="{AF958CDF-21C2-4696-B1FF-98C6C69234CE}"/>
              </a:ext>
            </a:extLst>
          </p:cNvPr>
          <p:cNvPicPr>
            <a:picLocks noChangeAspect="1"/>
          </p:cNvPicPr>
          <p:nvPr userDrawn="1"/>
        </p:nvPicPr>
        <p:blipFill rotWithShape="1">
          <a:blip r:embed="rId2">
            <a:extLst>
              <a:ext uri="{28A0092B-C50C-407E-A947-70E740481C1C}">
                <a14:useLocalDpi xmlns:a14="http://schemas.microsoft.com/office/drawing/2010/main"/>
              </a:ext>
            </a:extLst>
          </a:blip>
          <a:srcRect/>
          <a:stretch/>
        </p:blipFill>
        <p:spPr>
          <a:xfrm>
            <a:off x="0" y="1"/>
            <a:ext cx="11588750" cy="6858000"/>
          </a:xfrm>
          <a:prstGeom prst="rect">
            <a:avLst/>
          </a:prstGeom>
        </p:spPr>
      </p:pic>
      <p:sp>
        <p:nvSpPr>
          <p:cNvPr id="9" name="Text Placeholder 8">
            <a:extLst>
              <a:ext uri="{FF2B5EF4-FFF2-40B4-BE49-F238E27FC236}">
                <a16:creationId xmlns:a16="http://schemas.microsoft.com/office/drawing/2014/main" id="{F597E07F-A0B2-4C60-A493-63795665B2AC}"/>
              </a:ext>
            </a:extLst>
          </p:cNvPr>
          <p:cNvSpPr>
            <a:spLocks noGrp="1"/>
          </p:cNvSpPr>
          <p:nvPr>
            <p:ph type="body" sz="quarter" idx="11"/>
          </p:nvPr>
        </p:nvSpPr>
        <p:spPr>
          <a:xfrm>
            <a:off x="1" y="5137149"/>
            <a:ext cx="4933950" cy="1571625"/>
          </a:xfrm>
          <a:solidFill>
            <a:schemeClr val="bg1">
              <a:alpha val="50000"/>
            </a:schemeClr>
          </a:solidFill>
        </p:spPr>
        <p:txBody>
          <a:bodyPr anchor="ctr">
            <a:noAutofit/>
          </a:bodyPr>
          <a:lstStyle>
            <a:lvl1pPr marL="0" indent="0">
              <a:buNone/>
              <a:defRPr sz="2400" b="1">
                <a:solidFill>
                  <a:schemeClr val="tx1"/>
                </a:solidFill>
              </a:defRPr>
            </a:lvl1pPr>
            <a:lvl2pPr>
              <a:defRPr sz="2000" b="1">
                <a:solidFill>
                  <a:schemeClr val="tx1"/>
                </a:solidFill>
              </a:defRPr>
            </a:lvl2pPr>
            <a:lvl3pPr>
              <a:defRPr sz="1800" b="1">
                <a:solidFill>
                  <a:schemeClr val="tx1"/>
                </a:solidFill>
              </a:defRPr>
            </a:lvl3pPr>
            <a:lvl4pPr>
              <a:defRPr sz="1600" b="1">
                <a:solidFill>
                  <a:schemeClr val="tx1"/>
                </a:solidFill>
              </a:defRPr>
            </a:lvl4pPr>
            <a:lvl5pPr>
              <a:defRPr sz="1600" b="1">
                <a:solidFill>
                  <a:schemeClr val="tx1"/>
                </a:solidFill>
              </a:defRPr>
            </a:lvl5pPr>
          </a:lstStyle>
          <a:p>
            <a:pPr lvl="0"/>
            <a:r>
              <a:rPr lang="en-US">
                <a:solidFill>
                  <a:schemeClr val="tx1"/>
                </a:solidFill>
              </a:rPr>
              <a:t>Click to edit Master text styles</a:t>
            </a:r>
          </a:p>
        </p:txBody>
      </p:sp>
    </p:spTree>
    <p:extLst>
      <p:ext uri="{BB962C8B-B14F-4D97-AF65-F5344CB8AC3E}">
        <p14:creationId xmlns:p14="http://schemas.microsoft.com/office/powerpoint/2010/main" val="17214373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Title">
    <p:spTree>
      <p:nvGrpSpPr>
        <p:cNvPr id="1" name=""/>
        <p:cNvGrpSpPr/>
        <p:nvPr/>
      </p:nvGrpSpPr>
      <p:grpSpPr>
        <a:xfrm>
          <a:off x="0" y="0"/>
          <a:ext cx="0" cy="0"/>
          <a:chOff x="0" y="0"/>
          <a:chExt cx="0" cy="0"/>
        </a:xfrm>
      </p:grpSpPr>
      <p:pic>
        <p:nvPicPr>
          <p:cNvPr id="2" name="Picture 1" descr="Vopak offering simultaneous LNG bunkering service in Rotterdam - Offshore  Energy">
            <a:extLst>
              <a:ext uri="{FF2B5EF4-FFF2-40B4-BE49-F238E27FC236}">
                <a16:creationId xmlns:a16="http://schemas.microsoft.com/office/drawing/2014/main" id="{04892275-F272-DCB3-8D5D-1CEB80A85CC4}"/>
              </a:ext>
            </a:extLst>
          </p:cNvPr>
          <p:cNvPicPr>
            <a:picLocks noChangeAspect="1"/>
          </p:cNvPicPr>
          <p:nvPr userDrawn="1"/>
        </p:nvPicPr>
        <p:blipFill>
          <a:blip r:embed="rId2"/>
          <a:srcRect l="1233" t="15791" r="178" b="318"/>
          <a:stretch>
            <a:fillRect/>
          </a:stretch>
        </p:blipFill>
        <p:spPr>
          <a:xfrm>
            <a:off x="1" y="-12700"/>
            <a:ext cx="11588749" cy="5753329"/>
          </a:xfrm>
          <a:prstGeom prst="rect">
            <a:avLst/>
          </a:prstGeom>
        </p:spPr>
      </p:pic>
      <p:sp>
        <p:nvSpPr>
          <p:cNvPr id="3" name="Slide Number Placeholder 2">
            <a:extLst>
              <a:ext uri="{FF2B5EF4-FFF2-40B4-BE49-F238E27FC236}">
                <a16:creationId xmlns:a16="http://schemas.microsoft.com/office/drawing/2014/main" id="{9509FAFE-21DB-4F6B-8EA1-32FA210B705A}"/>
              </a:ext>
            </a:extLst>
          </p:cNvPr>
          <p:cNvSpPr>
            <a:spLocks noGrp="1"/>
          </p:cNvSpPr>
          <p:nvPr>
            <p:ph type="sldNum" sz="quarter" idx="10"/>
          </p:nvPr>
        </p:nvSpPr>
        <p:spPr/>
        <p:txBody>
          <a:bodyPr/>
          <a:lstStyle/>
          <a:p>
            <a:fld id="{5E48029D-87D6-48C3-BA4B-1065A63511DF}" type="slidenum">
              <a:rPr lang="en-GB" smtClean="0">
                <a:solidFill>
                  <a:schemeClr val="tx1"/>
                </a:solidFill>
              </a:rPr>
              <a:pPr/>
              <a:t>‹#›</a:t>
            </a:fld>
            <a:endParaRPr lang="en-GB">
              <a:solidFill>
                <a:schemeClr val="tx1"/>
              </a:solidFill>
            </a:endParaRPr>
          </a:p>
        </p:txBody>
      </p:sp>
      <p:sp>
        <p:nvSpPr>
          <p:cNvPr id="4" name="Rectangle 3">
            <a:extLst>
              <a:ext uri="{FF2B5EF4-FFF2-40B4-BE49-F238E27FC236}">
                <a16:creationId xmlns:a16="http://schemas.microsoft.com/office/drawing/2014/main" id="{FC81615D-618B-242E-BA84-0838689DFC39}"/>
              </a:ext>
            </a:extLst>
          </p:cNvPr>
          <p:cNvSpPr/>
          <p:nvPr userDrawn="1"/>
        </p:nvSpPr>
        <p:spPr>
          <a:xfrm>
            <a:off x="1" y="5661025"/>
            <a:ext cx="11588749" cy="1200604"/>
          </a:xfrm>
          <a:prstGeom prst="rect">
            <a:avLst/>
          </a:prstGeom>
          <a:solidFill>
            <a:srgbClr val="32675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9" name="Text Placeholder 8">
            <a:extLst>
              <a:ext uri="{FF2B5EF4-FFF2-40B4-BE49-F238E27FC236}">
                <a16:creationId xmlns:a16="http://schemas.microsoft.com/office/drawing/2014/main" id="{F597E07F-A0B2-4C60-A493-63795665B2AC}"/>
              </a:ext>
            </a:extLst>
          </p:cNvPr>
          <p:cNvSpPr>
            <a:spLocks noGrp="1"/>
          </p:cNvSpPr>
          <p:nvPr>
            <p:ph type="body" sz="quarter" idx="11"/>
          </p:nvPr>
        </p:nvSpPr>
        <p:spPr>
          <a:xfrm>
            <a:off x="177800" y="5205413"/>
            <a:ext cx="4933950" cy="1652587"/>
          </a:xfrm>
          <a:solidFill>
            <a:schemeClr val="bg1">
              <a:alpha val="50000"/>
            </a:schemeClr>
          </a:solidFill>
        </p:spPr>
        <p:txBody>
          <a:bodyPr anchor="ctr">
            <a:noAutofit/>
          </a:bodyPr>
          <a:lstStyle>
            <a:lvl1pPr marL="0" indent="0">
              <a:buNone/>
              <a:defRPr sz="2400" b="1">
                <a:solidFill>
                  <a:schemeClr val="tx1"/>
                </a:solidFill>
              </a:defRPr>
            </a:lvl1pPr>
            <a:lvl2pPr>
              <a:defRPr sz="2000" b="1">
                <a:solidFill>
                  <a:schemeClr val="tx1"/>
                </a:solidFill>
              </a:defRPr>
            </a:lvl2pPr>
            <a:lvl3pPr>
              <a:defRPr sz="1800" b="1">
                <a:solidFill>
                  <a:schemeClr val="tx1"/>
                </a:solidFill>
              </a:defRPr>
            </a:lvl3pPr>
            <a:lvl4pPr>
              <a:defRPr sz="1600" b="1">
                <a:solidFill>
                  <a:schemeClr val="tx1"/>
                </a:solidFill>
              </a:defRPr>
            </a:lvl4pPr>
            <a:lvl5pPr>
              <a:defRPr sz="1600" b="1">
                <a:solidFill>
                  <a:schemeClr val="tx1"/>
                </a:solidFill>
              </a:defRPr>
            </a:lvl5pPr>
          </a:lstStyle>
          <a:p>
            <a:pPr lvl="0"/>
            <a:r>
              <a:rPr lang="en-US">
                <a:solidFill>
                  <a:schemeClr val="tx1"/>
                </a:solidFill>
              </a:rPr>
              <a:t>Click to edit Master text styles</a:t>
            </a:r>
          </a:p>
        </p:txBody>
      </p:sp>
      <p:sp>
        <p:nvSpPr>
          <p:cNvPr id="7" name="Rectangle 6">
            <a:extLst>
              <a:ext uri="{FF2B5EF4-FFF2-40B4-BE49-F238E27FC236}">
                <a16:creationId xmlns:a16="http://schemas.microsoft.com/office/drawing/2014/main" id="{3E92D3BD-B933-88AB-9C21-59605B00713D}"/>
              </a:ext>
            </a:extLst>
          </p:cNvPr>
          <p:cNvSpPr/>
          <p:nvPr userDrawn="1"/>
        </p:nvSpPr>
        <p:spPr>
          <a:xfrm>
            <a:off x="5111750" y="5727050"/>
            <a:ext cx="6477000" cy="4571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0" name="Cover title panel"/>
          <p:cNvSpPr/>
          <p:nvPr/>
        </p:nvSpPr>
        <p:spPr>
          <a:xfrm>
            <a:off x="118872" y="4690872"/>
            <a:ext cx="4992624" cy="1993392"/>
          </a:xfrm>
          <a:prstGeom prst="rect">
            <a:avLst/>
          </a:prstGeom>
          <a:solidFill>
            <a:srgbClr val="E7E6E6">
              <a:alpha val="6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1" name="Vopak cover logo" descr="A blue letter on a black background&#10;&#10;Description automatically generated">
            <a:extLst>
              <a:ext uri="{FF2B5EF4-FFF2-40B4-BE49-F238E27FC236}">
                <a16:creationId xmlns:a16="http://schemas.microsoft.com/office/drawing/2014/main" id="{F643500E-BA42-ED40-0D0F-F69255A71C8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29814" y="5675739"/>
            <a:ext cx="2518046" cy="564539"/>
          </a:xfrm>
          <a:prstGeom prst="rect">
            <a:avLst/>
          </a:prstGeom>
        </p:spPr>
      </p:pic>
    </p:spTree>
    <p:extLst>
      <p:ext uri="{BB962C8B-B14F-4D97-AF65-F5344CB8AC3E}">
        <p14:creationId xmlns:p14="http://schemas.microsoft.com/office/powerpoint/2010/main" val="267143681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_Title">
    <p:spTree>
      <p:nvGrpSpPr>
        <p:cNvPr id="1" name=""/>
        <p:cNvGrpSpPr/>
        <p:nvPr/>
      </p:nvGrpSpPr>
      <p:grpSpPr>
        <a:xfrm>
          <a:off x="0" y="0"/>
          <a:ext cx="0" cy="0"/>
          <a:chOff x="0" y="0"/>
          <a:chExt cx="0" cy="0"/>
        </a:xfrm>
      </p:grpSpPr>
      <p:pic>
        <p:nvPicPr>
          <p:cNvPr id="2" name="Picture 1" descr="Vopak offering simultaneous LNG bunkering service in Rotterdam - Offshore  Energy">
            <a:extLst>
              <a:ext uri="{FF2B5EF4-FFF2-40B4-BE49-F238E27FC236}">
                <a16:creationId xmlns:a16="http://schemas.microsoft.com/office/drawing/2014/main" id="{04892275-F272-DCB3-8D5D-1CEB80A85CC4}"/>
              </a:ext>
            </a:extLst>
          </p:cNvPr>
          <p:cNvPicPr>
            <a:picLocks noChangeAspect="1"/>
          </p:cNvPicPr>
          <p:nvPr userDrawn="1"/>
        </p:nvPicPr>
        <p:blipFill>
          <a:blip r:embed="rId2"/>
          <a:srcRect l="1233" t="15791" r="178" b="318"/>
          <a:stretch>
            <a:fillRect/>
          </a:stretch>
        </p:blipFill>
        <p:spPr>
          <a:xfrm>
            <a:off x="1" y="-12700"/>
            <a:ext cx="11588749" cy="5753329"/>
          </a:xfrm>
          <a:prstGeom prst="rect">
            <a:avLst/>
          </a:prstGeom>
        </p:spPr>
      </p:pic>
      <p:sp>
        <p:nvSpPr>
          <p:cNvPr id="3" name="Slide Number Placeholder 2">
            <a:extLst>
              <a:ext uri="{FF2B5EF4-FFF2-40B4-BE49-F238E27FC236}">
                <a16:creationId xmlns:a16="http://schemas.microsoft.com/office/drawing/2014/main" id="{9509FAFE-21DB-4F6B-8EA1-32FA210B705A}"/>
              </a:ext>
            </a:extLst>
          </p:cNvPr>
          <p:cNvSpPr>
            <a:spLocks noGrp="1"/>
          </p:cNvSpPr>
          <p:nvPr>
            <p:ph type="sldNum" sz="quarter" idx="10"/>
          </p:nvPr>
        </p:nvSpPr>
        <p:spPr/>
        <p:txBody>
          <a:bodyPr/>
          <a:lstStyle/>
          <a:p>
            <a:fld id="{5E48029D-87D6-48C3-BA4B-1065A63511DF}" type="slidenum">
              <a:rPr lang="en-GB" smtClean="0">
                <a:solidFill>
                  <a:schemeClr val="tx1"/>
                </a:solidFill>
              </a:rPr>
              <a:pPr/>
              <a:t>‹#›</a:t>
            </a:fld>
            <a:endParaRPr lang="en-GB">
              <a:solidFill>
                <a:schemeClr val="tx1"/>
              </a:solidFill>
            </a:endParaRPr>
          </a:p>
        </p:txBody>
      </p:sp>
      <p:sp>
        <p:nvSpPr>
          <p:cNvPr id="4" name="Rectangle 3">
            <a:extLst>
              <a:ext uri="{FF2B5EF4-FFF2-40B4-BE49-F238E27FC236}">
                <a16:creationId xmlns:a16="http://schemas.microsoft.com/office/drawing/2014/main" id="{FC81615D-618B-242E-BA84-0838689DFC39}"/>
              </a:ext>
            </a:extLst>
          </p:cNvPr>
          <p:cNvSpPr/>
          <p:nvPr userDrawn="1"/>
        </p:nvSpPr>
        <p:spPr>
          <a:xfrm>
            <a:off x="1" y="5661025"/>
            <a:ext cx="11588749" cy="1200604"/>
          </a:xfrm>
          <a:prstGeom prst="rect">
            <a:avLst/>
          </a:prstGeom>
          <a:solidFill>
            <a:srgbClr val="32675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9" name="Text Placeholder 8">
            <a:extLst>
              <a:ext uri="{FF2B5EF4-FFF2-40B4-BE49-F238E27FC236}">
                <a16:creationId xmlns:a16="http://schemas.microsoft.com/office/drawing/2014/main" id="{F597E07F-A0B2-4C60-A493-63795665B2AC}"/>
              </a:ext>
            </a:extLst>
          </p:cNvPr>
          <p:cNvSpPr>
            <a:spLocks noGrp="1"/>
          </p:cNvSpPr>
          <p:nvPr>
            <p:ph type="body" sz="quarter" idx="11"/>
          </p:nvPr>
        </p:nvSpPr>
        <p:spPr>
          <a:xfrm>
            <a:off x="177800" y="5205413"/>
            <a:ext cx="4933950" cy="1652587"/>
          </a:xfrm>
          <a:solidFill>
            <a:schemeClr val="bg1">
              <a:alpha val="50000"/>
            </a:schemeClr>
          </a:solidFill>
        </p:spPr>
        <p:txBody>
          <a:bodyPr anchor="ctr">
            <a:noAutofit/>
          </a:bodyPr>
          <a:lstStyle>
            <a:lvl1pPr marL="0" indent="0">
              <a:buNone/>
              <a:defRPr sz="2400" b="1">
                <a:solidFill>
                  <a:schemeClr val="tx1"/>
                </a:solidFill>
              </a:defRPr>
            </a:lvl1pPr>
            <a:lvl2pPr>
              <a:defRPr sz="2000" b="1">
                <a:solidFill>
                  <a:schemeClr val="tx1"/>
                </a:solidFill>
              </a:defRPr>
            </a:lvl2pPr>
            <a:lvl3pPr>
              <a:defRPr sz="1800" b="1">
                <a:solidFill>
                  <a:schemeClr val="tx1"/>
                </a:solidFill>
              </a:defRPr>
            </a:lvl3pPr>
            <a:lvl4pPr>
              <a:defRPr sz="1600" b="1">
                <a:solidFill>
                  <a:schemeClr val="tx1"/>
                </a:solidFill>
              </a:defRPr>
            </a:lvl4pPr>
            <a:lvl5pPr>
              <a:defRPr sz="1600" b="1">
                <a:solidFill>
                  <a:schemeClr val="tx1"/>
                </a:solidFill>
              </a:defRPr>
            </a:lvl5pPr>
          </a:lstStyle>
          <a:p>
            <a:pPr lvl="0"/>
            <a:r>
              <a:rPr lang="en-US">
                <a:solidFill>
                  <a:schemeClr val="tx1"/>
                </a:solidFill>
              </a:rPr>
              <a:t>Click to edit Master text styles</a:t>
            </a:r>
          </a:p>
        </p:txBody>
      </p:sp>
      <p:sp>
        <p:nvSpPr>
          <p:cNvPr id="10" name="Cover title panel"/>
          <p:cNvSpPr/>
          <p:nvPr/>
        </p:nvSpPr>
        <p:spPr>
          <a:xfrm>
            <a:off x="118872" y="4690872"/>
            <a:ext cx="4992624" cy="1993392"/>
          </a:xfrm>
          <a:prstGeom prst="rect">
            <a:avLst/>
          </a:prstGeom>
          <a:solidFill>
            <a:srgbClr val="E7E6E6">
              <a:alpha val="6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1" name="Vopak cover logo" descr="A blue letter on a black background&#10;&#10;Description automatically generated">
            <a:extLst>
              <a:ext uri="{FF2B5EF4-FFF2-40B4-BE49-F238E27FC236}">
                <a16:creationId xmlns:a16="http://schemas.microsoft.com/office/drawing/2014/main" id="{F643500E-BA42-ED40-0D0F-F69255A71C8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29814" y="5675739"/>
            <a:ext cx="2518046" cy="564539"/>
          </a:xfrm>
          <a:prstGeom prst="rect">
            <a:avLst/>
          </a:prstGeom>
        </p:spPr>
      </p:pic>
    </p:spTree>
    <p:extLst>
      <p:ext uri="{BB962C8B-B14F-4D97-AF65-F5344CB8AC3E}">
        <p14:creationId xmlns:p14="http://schemas.microsoft.com/office/powerpoint/2010/main" val="21751062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Agenda">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01460789-817F-4161-99E1-BBB95ED4BDDD}"/>
              </a:ext>
            </a:extLst>
          </p:cNvPr>
          <p:cNvSpPr>
            <a:spLocks noGrp="1"/>
          </p:cNvSpPr>
          <p:nvPr>
            <p:ph type="sldNum" sz="quarter" idx="10"/>
          </p:nvPr>
        </p:nvSpPr>
        <p:spPr/>
        <p:txBody>
          <a:bodyPr/>
          <a:lstStyle>
            <a:lvl1pPr>
              <a:defRPr sz="1000">
                <a:solidFill>
                  <a:schemeClr val="tx1"/>
                </a:solidFill>
              </a:defRPr>
            </a:lvl1pPr>
          </a:lstStyle>
          <a:p>
            <a:fld id="{5E48029D-87D6-48C3-BA4B-1065A63511DF}" type="slidenum">
              <a:rPr lang="en-GB" smtClean="0">
                <a:solidFill>
                  <a:schemeClr val="tx1"/>
                </a:solidFill>
              </a:rPr>
              <a:pPr/>
              <a:t>‹#›</a:t>
            </a:fld>
            <a:endParaRPr lang="en-GB">
              <a:solidFill>
                <a:schemeClr val="tx1"/>
              </a:solidFill>
            </a:endParaRPr>
          </a:p>
        </p:txBody>
      </p:sp>
      <p:sp>
        <p:nvSpPr>
          <p:cNvPr id="8" name="Rectangle 7">
            <a:extLst>
              <a:ext uri="{FF2B5EF4-FFF2-40B4-BE49-F238E27FC236}">
                <a16:creationId xmlns:a16="http://schemas.microsoft.com/office/drawing/2014/main" id="{EB4FC8D6-72B7-40D6-89CC-331B0BF40A6F}"/>
              </a:ext>
            </a:extLst>
          </p:cNvPr>
          <p:cNvSpPr/>
          <p:nvPr userDrawn="1"/>
        </p:nvSpPr>
        <p:spPr>
          <a:xfrm>
            <a:off x="9079200" y="0"/>
            <a:ext cx="2509074" cy="103504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9" name="Rectangle 8">
            <a:extLst>
              <a:ext uri="{FF2B5EF4-FFF2-40B4-BE49-F238E27FC236}">
                <a16:creationId xmlns:a16="http://schemas.microsoft.com/office/drawing/2014/main" id="{41EDA466-D75C-48F1-9F3F-47B154E770B8}"/>
              </a:ext>
            </a:extLst>
          </p:cNvPr>
          <p:cNvSpPr/>
          <p:nvPr userDrawn="1"/>
        </p:nvSpPr>
        <p:spPr>
          <a:xfrm>
            <a:off x="-29153" y="0"/>
            <a:ext cx="4299527"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GB" sz="2800" b="1">
              <a:solidFill>
                <a:schemeClr val="tx1"/>
              </a:solidFill>
            </a:endParaRPr>
          </a:p>
          <a:p>
            <a:pPr algn="ctr"/>
            <a:endParaRPr lang="en-GB" sz="2800" b="1">
              <a:solidFill>
                <a:schemeClr val="tx1"/>
              </a:solidFill>
            </a:endParaRPr>
          </a:p>
        </p:txBody>
      </p:sp>
    </p:spTree>
    <p:extLst>
      <p:ext uri="{BB962C8B-B14F-4D97-AF65-F5344CB8AC3E}">
        <p14:creationId xmlns:p14="http://schemas.microsoft.com/office/powerpoint/2010/main" val="2917251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2_Agenda">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01460789-817F-4161-99E1-BBB95ED4BDDD}"/>
              </a:ext>
            </a:extLst>
          </p:cNvPr>
          <p:cNvSpPr>
            <a:spLocks noGrp="1"/>
          </p:cNvSpPr>
          <p:nvPr>
            <p:ph type="sldNum" sz="quarter" idx="10"/>
          </p:nvPr>
        </p:nvSpPr>
        <p:spPr/>
        <p:txBody>
          <a:bodyPr/>
          <a:lstStyle>
            <a:lvl1pPr>
              <a:defRPr sz="1000">
                <a:solidFill>
                  <a:schemeClr val="tx1"/>
                </a:solidFill>
              </a:defRPr>
            </a:lvl1pPr>
          </a:lstStyle>
          <a:p>
            <a:fld id="{5E48029D-87D6-48C3-BA4B-1065A63511DF}" type="slidenum">
              <a:rPr lang="en-GB" smtClean="0">
                <a:solidFill>
                  <a:schemeClr val="tx1"/>
                </a:solidFill>
              </a:rPr>
              <a:pPr/>
              <a:t>‹#›</a:t>
            </a:fld>
            <a:endParaRPr lang="en-GB">
              <a:solidFill>
                <a:schemeClr val="tx1"/>
              </a:solidFill>
            </a:endParaRPr>
          </a:p>
        </p:txBody>
      </p:sp>
      <p:sp>
        <p:nvSpPr>
          <p:cNvPr id="8" name="Rectangle 7">
            <a:extLst>
              <a:ext uri="{FF2B5EF4-FFF2-40B4-BE49-F238E27FC236}">
                <a16:creationId xmlns:a16="http://schemas.microsoft.com/office/drawing/2014/main" id="{EB4FC8D6-72B7-40D6-89CC-331B0BF40A6F}"/>
              </a:ext>
            </a:extLst>
          </p:cNvPr>
          <p:cNvSpPr/>
          <p:nvPr userDrawn="1"/>
        </p:nvSpPr>
        <p:spPr>
          <a:xfrm>
            <a:off x="9079200" y="0"/>
            <a:ext cx="2509074" cy="103504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9" name="Rectangle 8">
            <a:extLst>
              <a:ext uri="{FF2B5EF4-FFF2-40B4-BE49-F238E27FC236}">
                <a16:creationId xmlns:a16="http://schemas.microsoft.com/office/drawing/2014/main" id="{41EDA466-D75C-48F1-9F3F-47B154E770B8}"/>
              </a:ext>
            </a:extLst>
          </p:cNvPr>
          <p:cNvSpPr/>
          <p:nvPr userDrawn="1"/>
        </p:nvSpPr>
        <p:spPr>
          <a:xfrm>
            <a:off x="-29153" y="0"/>
            <a:ext cx="5823528"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GB" sz="2800" b="1">
              <a:solidFill>
                <a:schemeClr val="tx1"/>
              </a:solidFill>
            </a:endParaRPr>
          </a:p>
          <a:p>
            <a:pPr algn="ctr"/>
            <a:endParaRPr lang="en-GB" sz="2800" b="1">
              <a:solidFill>
                <a:schemeClr val="tx1"/>
              </a:solidFill>
            </a:endParaRPr>
          </a:p>
        </p:txBody>
      </p:sp>
    </p:spTree>
    <p:extLst>
      <p:ext uri="{BB962C8B-B14F-4D97-AF65-F5344CB8AC3E}">
        <p14:creationId xmlns:p14="http://schemas.microsoft.com/office/powerpoint/2010/main" val="6427660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Header only">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a:xfrm>
            <a:off x="10605599" y="6489700"/>
            <a:ext cx="805350" cy="287338"/>
          </a:xfrm>
        </p:spPr>
        <p:txBody>
          <a:bodyPr/>
          <a:lstStyle>
            <a:lvl1pPr>
              <a:defRPr sz="1000">
                <a:solidFill>
                  <a:schemeClr val="tx1"/>
                </a:solidFill>
              </a:defRPr>
            </a:lvl1pPr>
          </a:lstStyle>
          <a:p>
            <a:fld id="{A65E4EDC-57F8-4D5C-B13E-A981C5F2F71A}" type="slidenum">
              <a:rPr lang="en-GB" smtClean="0">
                <a:solidFill>
                  <a:schemeClr val="tx1"/>
                </a:solidFill>
              </a:rPr>
              <a:pPr/>
              <a:t>‹#›</a:t>
            </a:fld>
            <a:endParaRPr lang="en-GB">
              <a:solidFill>
                <a:schemeClr val="tx1"/>
              </a:solidFill>
            </a:endParaRPr>
          </a:p>
        </p:txBody>
      </p:sp>
      <p:sp>
        <p:nvSpPr>
          <p:cNvPr id="3" name="Title Placeholder 1">
            <a:extLst>
              <a:ext uri="{FF2B5EF4-FFF2-40B4-BE49-F238E27FC236}">
                <a16:creationId xmlns:a16="http://schemas.microsoft.com/office/drawing/2014/main" id="{8395ED8E-92E9-32C5-9BE4-BAF8026DD357}"/>
              </a:ext>
            </a:extLst>
          </p:cNvPr>
          <p:cNvSpPr>
            <a:spLocks noGrp="1"/>
          </p:cNvSpPr>
          <p:nvPr>
            <p:ph type="title"/>
          </p:nvPr>
        </p:nvSpPr>
        <p:spPr>
          <a:xfrm>
            <a:off x="457200" y="585216"/>
            <a:ext cx="10561320" cy="822960"/>
          </a:xfrm>
          <a:prstGeom prst="rect">
            <a:avLst/>
          </a:prstGeom>
        </p:spPr>
        <p:txBody>
          <a:bodyPr vert="horz" lIns="91440" tIns="45720" rIns="91440" bIns="45720" rtlCol="0" anchor="ctr">
            <a:normAutofit/>
          </a:bodyPr>
          <a:lstStyle/>
          <a:p>
            <a:r>
              <a:rPr lang="en-US">
                <a:solidFill>
                  <a:schemeClr val="tx1"/>
                </a:solidFill>
              </a:rPr>
              <a:t>Click to edit Master title style</a:t>
            </a:r>
          </a:p>
        </p:txBody>
      </p:sp>
      <p:cxnSp>
        <p:nvCxnSpPr>
          <p:cNvPr id="7" name="Title and body separator"/>
          <p:cNvCxnSpPr/>
          <p:nvPr/>
        </p:nvCxnSpPr>
        <p:spPr>
          <a:xfrm>
            <a:off x="457200" y="1444752"/>
            <a:ext cx="10652760" cy="0"/>
          </a:xfrm>
          <a:prstGeom prst="line">
            <a:avLst/>
          </a:prstGeom>
          <a:ln w="3175">
            <a:solidFill>
              <a:srgbClr val="B0B0B0"/>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038964405"/>
      </p:ext>
    </p:extLst>
  </p:cSld>
  <p:clrMapOvr>
    <a:masterClrMapping/>
  </p:clrMapOvr>
  <p:extLst>
    <p:ext uri="{DCECCB84-F9BA-43D5-87BE-67443E8EF086}">
      <p15:sldGuideLst xmlns:p15="http://schemas.microsoft.com/office/powerpoint/2012/main">
        <p15:guide id="3" orient="horz" pos="2160" userDrawn="1">
          <p15:clr>
            <a:srgbClr val="FBAE40"/>
          </p15:clr>
        </p15:guide>
        <p15:guide id="4" pos="3650" userDrawn="1">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77801" y="368299"/>
            <a:ext cx="11233148" cy="690101"/>
          </a:xfrm>
          <a:prstGeom prst="rect">
            <a:avLst/>
          </a:prstGeom>
        </p:spPr>
        <p:txBody>
          <a:bodyPr vert="horz" lIns="91440" tIns="45720" rIns="91440" bIns="45720" rtlCol="0" anchor="ctr">
            <a:normAutofit/>
          </a:bodyPr>
          <a:lstStyle/>
          <a:p>
            <a:endParaRPr/>
          </a:p>
        </p:txBody>
      </p:sp>
      <p:sp>
        <p:nvSpPr>
          <p:cNvPr id="3" name="Text Placeholder 2"/>
          <p:cNvSpPr>
            <a:spLocks noGrp="1"/>
          </p:cNvSpPr>
          <p:nvPr>
            <p:ph type="body" idx="1"/>
          </p:nvPr>
        </p:nvSpPr>
        <p:spPr>
          <a:xfrm>
            <a:off x="177801" y="1233488"/>
            <a:ext cx="11233149" cy="5256212"/>
          </a:xfrm>
          <a:prstGeom prst="rect">
            <a:avLst/>
          </a:prstGeom>
        </p:spPr>
        <p:txBody>
          <a:bodyPr vert="horz" lIns="91440" tIns="45720" rIns="91440" bIns="45720" rtlCol="0">
            <a:normAutofit/>
          </a:bodyPr>
          <a:lstStyle/>
          <a:p>
            <a:pPr lvl="0"/>
            <a:endParaRPr/>
          </a:p>
        </p:txBody>
      </p:sp>
      <p:sp>
        <p:nvSpPr>
          <p:cNvPr id="6" name="Slide Number Placeholder 5"/>
          <p:cNvSpPr>
            <a:spLocks noGrp="1"/>
          </p:cNvSpPr>
          <p:nvPr>
            <p:ph type="sldNum" sz="quarter" idx="4"/>
          </p:nvPr>
        </p:nvSpPr>
        <p:spPr>
          <a:xfrm>
            <a:off x="10605599" y="6489700"/>
            <a:ext cx="805350" cy="287338"/>
          </a:xfrm>
          <a:prstGeom prst="rect">
            <a:avLst/>
          </a:prstGeom>
        </p:spPr>
        <p:txBody>
          <a:bodyPr vert="horz" lIns="91440" tIns="45720" rIns="91440" bIns="45720" rtlCol="0" anchor="ctr"/>
          <a:lstStyle>
            <a:lvl1pPr algn="r">
              <a:defRPr sz="1000">
                <a:solidFill>
                  <a:schemeClr val="tx1"/>
                </a:solidFill>
              </a:defRPr>
            </a:lvl1pPr>
          </a:lstStyle>
          <a:p>
            <a:fld id="{5E48029D-87D6-48C3-BA4B-1065A63511DF}" type="slidenum">
              <a:rPr lang="en-GB" smtClean="0">
                <a:solidFill>
                  <a:schemeClr val="tx1"/>
                </a:solidFill>
              </a:rPr>
              <a:pPr/>
              <a:t>‹#›</a:t>
            </a:fld>
            <a:endParaRPr lang="en-GB">
              <a:solidFill>
                <a:schemeClr val="tx1"/>
              </a:solidFill>
            </a:endParaRPr>
          </a:p>
        </p:txBody>
      </p:sp>
      <p:pic>
        <p:nvPicPr>
          <p:cNvPr id="4" name="Picture 2">
            <a:extLst>
              <a:ext uri="{FF2B5EF4-FFF2-40B4-BE49-F238E27FC236}">
                <a16:creationId xmlns:a16="http://schemas.microsoft.com/office/drawing/2014/main" id="{643CB578-80E0-884E-8515-53279D5DACC1}"/>
              </a:ext>
            </a:extLst>
          </p:cNvPr>
          <p:cNvPicPr>
            <a:picLocks noChangeAspect="1" noChangeArrowheads="1"/>
          </p:cNvPicPr>
          <p:nvPr userDrawn="1"/>
        </p:nvPicPr>
        <p:blipFill>
          <a:blip r:embed="rId8">
            <a:extLst>
              <a:ext uri="{28A0092B-C50C-407E-A947-70E740481C1C}">
                <a14:useLocalDpi xmlns:a14="http://schemas.microsoft.com/office/drawing/2010/main" val="0"/>
              </a:ext>
            </a:extLst>
          </a:blip>
          <a:srcRect/>
          <a:stretch>
            <a:fillRect/>
          </a:stretch>
        </p:blipFill>
        <p:spPr bwMode="auto">
          <a:xfrm>
            <a:off x="9906000" y="6515100"/>
            <a:ext cx="952500" cy="212558"/>
          </a:xfrm>
          <a:prstGeom prst="rect">
            <a:avLst/>
          </a:prstGeom>
          <a:noFill/>
          <a:extLst>
            <a:ext uri="{909E8E84-426E-40DD-AFC4-6F175D3DCCD1}">
              <a14:hiddenFill xmlns:a14="http://schemas.microsoft.com/office/drawing/2010/main">
                <a:solidFill>
                  <a:srgbClr val="FFFFFF"/>
                </a:solidFill>
              </a14:hiddenFill>
            </a:ext>
          </a:extLst>
        </p:spPr>
      </p:pic>
      <p:sp>
        <p:nvSpPr>
          <p:cNvPr id="9" name="Text Placeholder 6">
            <a:extLst>
              <a:ext uri="{FF2B5EF4-FFF2-40B4-BE49-F238E27FC236}">
                <a16:creationId xmlns:a16="http://schemas.microsoft.com/office/drawing/2014/main" id="{5CB3F387-66D0-18CC-51EE-24B908A792B7}"/>
              </a:ext>
            </a:extLst>
          </p:cNvPr>
          <p:cNvSpPr txBox="1">
            <a:spLocks/>
          </p:cNvSpPr>
          <p:nvPr userDrawn="1"/>
        </p:nvSpPr>
        <p:spPr>
          <a:xfrm>
            <a:off x="457200" y="6528816"/>
            <a:ext cx="8595360" cy="228600"/>
          </a:xfrm>
          <a:prstGeom prst="rect">
            <a:avLst/>
          </a:prstGeom>
        </p:spPr>
        <p:txBody>
          <a:bodyPr tIns="0" bIns="0" anchor="ctr">
            <a:normAutofit/>
          </a:bodyPr>
          <a:lstStyle>
            <a:lvl1pPr marL="0" indent="0" algn="l" defTabSz="869137" rtl="0" eaLnBrk="1" latinLnBrk="0" hangingPunct="1">
              <a:lnSpc>
                <a:spcPct val="90000"/>
              </a:lnSpc>
              <a:spcBef>
                <a:spcPts val="951"/>
              </a:spcBef>
              <a:buFont typeface="Arial" panose="020B0604020202020204" pitchFamily="34" charset="0"/>
              <a:buNone/>
              <a:defRPr sz="1000" kern="1200">
                <a:solidFill>
                  <a:schemeClr val="tx1"/>
                </a:solidFill>
                <a:latin typeface="+mn-lt"/>
                <a:ea typeface="+mn-ea"/>
                <a:cs typeface="+mn-cs"/>
              </a:defRPr>
            </a:lvl1pPr>
            <a:lvl2pPr marL="651853" indent="-217284" algn="l" defTabSz="869137" rtl="0" eaLnBrk="1" latinLnBrk="0" hangingPunct="1">
              <a:lnSpc>
                <a:spcPct val="90000"/>
              </a:lnSpc>
              <a:spcBef>
                <a:spcPts val="475"/>
              </a:spcBef>
              <a:buFont typeface="Arial" panose="020B0604020202020204" pitchFamily="34" charset="0"/>
              <a:buChar char="•"/>
              <a:defRPr sz="1800" kern="1200">
                <a:solidFill>
                  <a:schemeClr val="tx1"/>
                </a:solidFill>
                <a:latin typeface="+mn-lt"/>
                <a:ea typeface="+mn-ea"/>
                <a:cs typeface="+mn-cs"/>
              </a:defRPr>
            </a:lvl2pPr>
            <a:lvl3pPr marL="1086422" indent="-217284" algn="l" defTabSz="869137" rtl="0" eaLnBrk="1" latinLnBrk="0" hangingPunct="1">
              <a:lnSpc>
                <a:spcPct val="90000"/>
              </a:lnSpc>
              <a:spcBef>
                <a:spcPts val="475"/>
              </a:spcBef>
              <a:buFont typeface="Arial" panose="020B0604020202020204" pitchFamily="34" charset="0"/>
              <a:buChar char="•"/>
              <a:defRPr sz="1600" kern="1200">
                <a:solidFill>
                  <a:schemeClr val="tx1"/>
                </a:solidFill>
                <a:latin typeface="+mn-lt"/>
                <a:ea typeface="+mn-ea"/>
                <a:cs typeface="+mn-cs"/>
              </a:defRPr>
            </a:lvl3pPr>
            <a:lvl4pPr marL="1520990" indent="-217284" algn="l" defTabSz="869137" rtl="0" eaLnBrk="1" latinLnBrk="0" hangingPunct="1">
              <a:lnSpc>
                <a:spcPct val="90000"/>
              </a:lnSpc>
              <a:spcBef>
                <a:spcPts val="475"/>
              </a:spcBef>
              <a:buFont typeface="Arial" panose="020B0604020202020204" pitchFamily="34" charset="0"/>
              <a:buChar char="•"/>
              <a:defRPr sz="1400" kern="1200">
                <a:solidFill>
                  <a:schemeClr val="tx1"/>
                </a:solidFill>
                <a:latin typeface="+mn-lt"/>
                <a:ea typeface="+mn-ea"/>
                <a:cs typeface="+mn-cs"/>
              </a:defRPr>
            </a:lvl4pPr>
            <a:lvl5pPr marL="1955559" indent="-217284" algn="l" defTabSz="869137" rtl="0" eaLnBrk="1" latinLnBrk="0" hangingPunct="1">
              <a:lnSpc>
                <a:spcPct val="90000"/>
              </a:lnSpc>
              <a:spcBef>
                <a:spcPts val="475"/>
              </a:spcBef>
              <a:buFont typeface="Arial" panose="020B0604020202020204" pitchFamily="34" charset="0"/>
              <a:buChar char="•"/>
              <a:defRPr sz="1400" kern="1200">
                <a:solidFill>
                  <a:schemeClr val="tx1"/>
                </a:solidFill>
                <a:latin typeface="+mn-lt"/>
                <a:ea typeface="+mn-ea"/>
                <a:cs typeface="+mn-cs"/>
              </a:defRPr>
            </a:lvl5pPr>
            <a:lvl6pPr marL="2390127"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6pPr>
            <a:lvl7pPr marL="2824696"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7pPr>
            <a:lvl8pPr marL="3259265"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8pPr>
            <a:lvl9pPr marL="3693833"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9pPr>
          </a:lstStyle>
          <a:p>
            <a:pPr>
              <a:defRPr sz="800">
                <a:solidFill>
                  <a:srgbClr val="404040"/>
                </a:solidFill>
                <a:latin typeface="Lato"/>
              </a:defRPr>
            </a:pPr>
            <a:endParaRPr/>
          </a:p>
        </p:txBody>
      </p:sp>
      <p:cxnSp>
        <p:nvCxnSpPr>
          <p:cNvPr id="10" name="Fine footer rule"/>
          <p:cNvCxnSpPr/>
          <p:nvPr/>
        </p:nvCxnSpPr>
        <p:spPr>
          <a:xfrm>
            <a:off x="457200" y="6437376"/>
            <a:ext cx="10652760" cy="0"/>
          </a:xfrm>
          <a:prstGeom prst="line">
            <a:avLst/>
          </a:prstGeom>
          <a:ln w="3175">
            <a:solidFill>
              <a:srgbClr val="B0B0B0"/>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204016228"/>
      </p:ext>
    </p:extLst>
  </p:cSld>
  <p:clrMap bg1="lt1" tx1="dk1" bg2="lt2" tx2="dk2" accent1="accent1" accent2="accent2" accent3="accent3" accent4="accent4" accent5="accent5" accent6="accent6" hlink="hlink" folHlink="folHlink"/>
  <p:sldLayoutIdLst>
    <p:sldLayoutId id="2147483713" r:id="rId1"/>
    <p:sldLayoutId id="2147483718" r:id="rId2"/>
    <p:sldLayoutId id="2147483723" r:id="rId3"/>
    <p:sldLayoutId id="2147483724" r:id="rId4"/>
    <p:sldLayoutId id="2147483725" r:id="rId5"/>
    <p:sldLayoutId id="2147483698" r:id="rId6"/>
  </p:sldLayoutIdLst>
  <p:hf hdr="0" ftr="0" dt="0"/>
  <p:txStyles>
    <p:titleStyle>
      <a:lvl1pPr algn="l" defTabSz="869137" rtl="0" eaLnBrk="1" latinLnBrk="0" hangingPunct="1">
        <a:lnSpc>
          <a:spcPct val="90000"/>
        </a:lnSpc>
        <a:spcBef>
          <a:spcPct val="0"/>
        </a:spcBef>
        <a:buNone/>
        <a:defRPr sz="2200" b="1" kern="1200">
          <a:solidFill>
            <a:schemeClr val="tx1"/>
          </a:solidFill>
          <a:latin typeface="+mj-lt"/>
          <a:ea typeface="+mj-ea"/>
          <a:cs typeface="+mj-cs"/>
        </a:defRPr>
      </a:lvl1pPr>
    </p:titleStyle>
    <p:bodyStyle>
      <a:lvl1pPr marL="217284" indent="-217284" algn="l" defTabSz="869137" rtl="0" eaLnBrk="1" latinLnBrk="0" hangingPunct="1">
        <a:lnSpc>
          <a:spcPct val="90000"/>
        </a:lnSpc>
        <a:spcBef>
          <a:spcPts val="951"/>
        </a:spcBef>
        <a:buFont typeface="Arial" panose="020B0604020202020204" pitchFamily="34" charset="0"/>
        <a:buChar char="•"/>
        <a:defRPr sz="2000" kern="1200">
          <a:solidFill>
            <a:schemeClr val="tx1"/>
          </a:solidFill>
          <a:latin typeface="+mn-lt"/>
          <a:ea typeface="+mn-ea"/>
          <a:cs typeface="+mn-cs"/>
        </a:defRPr>
      </a:lvl1pPr>
      <a:lvl2pPr marL="651853" indent="-217284" algn="l" defTabSz="869137" rtl="0" eaLnBrk="1" latinLnBrk="0" hangingPunct="1">
        <a:lnSpc>
          <a:spcPct val="90000"/>
        </a:lnSpc>
        <a:spcBef>
          <a:spcPts val="475"/>
        </a:spcBef>
        <a:buFont typeface="Arial" panose="020B0604020202020204" pitchFamily="34" charset="0"/>
        <a:buChar char="•"/>
        <a:defRPr sz="1800" kern="1200">
          <a:solidFill>
            <a:schemeClr val="tx1"/>
          </a:solidFill>
          <a:latin typeface="+mn-lt"/>
          <a:ea typeface="+mn-ea"/>
          <a:cs typeface="+mn-cs"/>
        </a:defRPr>
      </a:lvl2pPr>
      <a:lvl3pPr marL="1086422" indent="-217284" algn="l" defTabSz="869137" rtl="0" eaLnBrk="1" latinLnBrk="0" hangingPunct="1">
        <a:lnSpc>
          <a:spcPct val="90000"/>
        </a:lnSpc>
        <a:spcBef>
          <a:spcPts val="475"/>
        </a:spcBef>
        <a:buFont typeface="Arial" panose="020B0604020202020204" pitchFamily="34" charset="0"/>
        <a:buChar char="•"/>
        <a:defRPr sz="1600" kern="1200">
          <a:solidFill>
            <a:schemeClr val="tx1"/>
          </a:solidFill>
          <a:latin typeface="+mn-lt"/>
          <a:ea typeface="+mn-ea"/>
          <a:cs typeface="+mn-cs"/>
        </a:defRPr>
      </a:lvl3pPr>
      <a:lvl4pPr marL="1520990" indent="-217284" algn="l" defTabSz="869137" rtl="0" eaLnBrk="1" latinLnBrk="0" hangingPunct="1">
        <a:lnSpc>
          <a:spcPct val="90000"/>
        </a:lnSpc>
        <a:spcBef>
          <a:spcPts val="475"/>
        </a:spcBef>
        <a:buFont typeface="Arial" panose="020B0604020202020204" pitchFamily="34" charset="0"/>
        <a:buChar char="•"/>
        <a:defRPr sz="1400" kern="1200">
          <a:solidFill>
            <a:schemeClr val="tx1"/>
          </a:solidFill>
          <a:latin typeface="+mn-lt"/>
          <a:ea typeface="+mn-ea"/>
          <a:cs typeface="+mn-cs"/>
        </a:defRPr>
      </a:lvl4pPr>
      <a:lvl5pPr marL="1955559" indent="-217284" algn="l" defTabSz="869137" rtl="0" eaLnBrk="1" latinLnBrk="0" hangingPunct="1">
        <a:lnSpc>
          <a:spcPct val="90000"/>
        </a:lnSpc>
        <a:spcBef>
          <a:spcPts val="475"/>
        </a:spcBef>
        <a:buFont typeface="Arial" panose="020B0604020202020204" pitchFamily="34" charset="0"/>
        <a:buChar char="•"/>
        <a:defRPr sz="1400" kern="1200">
          <a:solidFill>
            <a:schemeClr val="tx1"/>
          </a:solidFill>
          <a:latin typeface="+mn-lt"/>
          <a:ea typeface="+mn-ea"/>
          <a:cs typeface="+mn-cs"/>
        </a:defRPr>
      </a:lvl5pPr>
      <a:lvl6pPr marL="2390127"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6pPr>
      <a:lvl7pPr marL="2824696"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7pPr>
      <a:lvl8pPr marL="3259265"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8pPr>
      <a:lvl9pPr marL="3693833"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9pPr>
    </p:bodyStyle>
    <p:otherStyle>
      <a:defPPr>
        <a:defRPr lang="en-US"/>
      </a:defPPr>
      <a:lvl1pPr marL="0" algn="l" defTabSz="869137" rtl="0" eaLnBrk="1" latinLnBrk="0" hangingPunct="1">
        <a:defRPr sz="1711" kern="1200">
          <a:solidFill>
            <a:schemeClr val="tx1"/>
          </a:solidFill>
          <a:latin typeface="+mn-lt"/>
          <a:ea typeface="+mn-ea"/>
          <a:cs typeface="+mn-cs"/>
        </a:defRPr>
      </a:lvl1pPr>
      <a:lvl2pPr marL="434569" algn="l" defTabSz="869137" rtl="0" eaLnBrk="1" latinLnBrk="0" hangingPunct="1">
        <a:defRPr sz="1711" kern="1200">
          <a:solidFill>
            <a:schemeClr val="tx1"/>
          </a:solidFill>
          <a:latin typeface="+mn-lt"/>
          <a:ea typeface="+mn-ea"/>
          <a:cs typeface="+mn-cs"/>
        </a:defRPr>
      </a:lvl2pPr>
      <a:lvl3pPr marL="869137" algn="l" defTabSz="869137" rtl="0" eaLnBrk="1" latinLnBrk="0" hangingPunct="1">
        <a:defRPr sz="1711" kern="1200">
          <a:solidFill>
            <a:schemeClr val="tx1"/>
          </a:solidFill>
          <a:latin typeface="+mn-lt"/>
          <a:ea typeface="+mn-ea"/>
          <a:cs typeface="+mn-cs"/>
        </a:defRPr>
      </a:lvl3pPr>
      <a:lvl4pPr marL="1303706" algn="l" defTabSz="869137" rtl="0" eaLnBrk="1" latinLnBrk="0" hangingPunct="1">
        <a:defRPr sz="1711" kern="1200">
          <a:solidFill>
            <a:schemeClr val="tx1"/>
          </a:solidFill>
          <a:latin typeface="+mn-lt"/>
          <a:ea typeface="+mn-ea"/>
          <a:cs typeface="+mn-cs"/>
        </a:defRPr>
      </a:lvl4pPr>
      <a:lvl5pPr marL="1738274" algn="l" defTabSz="869137" rtl="0" eaLnBrk="1" latinLnBrk="0" hangingPunct="1">
        <a:defRPr sz="1711" kern="1200">
          <a:solidFill>
            <a:schemeClr val="tx1"/>
          </a:solidFill>
          <a:latin typeface="+mn-lt"/>
          <a:ea typeface="+mn-ea"/>
          <a:cs typeface="+mn-cs"/>
        </a:defRPr>
      </a:lvl5pPr>
      <a:lvl6pPr marL="2172843" algn="l" defTabSz="869137" rtl="0" eaLnBrk="1" latinLnBrk="0" hangingPunct="1">
        <a:defRPr sz="1711" kern="1200">
          <a:solidFill>
            <a:schemeClr val="tx1"/>
          </a:solidFill>
          <a:latin typeface="+mn-lt"/>
          <a:ea typeface="+mn-ea"/>
          <a:cs typeface="+mn-cs"/>
        </a:defRPr>
      </a:lvl6pPr>
      <a:lvl7pPr marL="2607412" algn="l" defTabSz="869137" rtl="0" eaLnBrk="1" latinLnBrk="0" hangingPunct="1">
        <a:defRPr sz="1711" kern="1200">
          <a:solidFill>
            <a:schemeClr val="tx1"/>
          </a:solidFill>
          <a:latin typeface="+mn-lt"/>
          <a:ea typeface="+mn-ea"/>
          <a:cs typeface="+mn-cs"/>
        </a:defRPr>
      </a:lvl7pPr>
      <a:lvl8pPr marL="3041980" algn="l" defTabSz="869137" rtl="0" eaLnBrk="1" latinLnBrk="0" hangingPunct="1">
        <a:defRPr sz="1711" kern="1200">
          <a:solidFill>
            <a:schemeClr val="tx1"/>
          </a:solidFill>
          <a:latin typeface="+mn-lt"/>
          <a:ea typeface="+mn-ea"/>
          <a:cs typeface="+mn-cs"/>
        </a:defRPr>
      </a:lvl8pPr>
      <a:lvl9pPr marL="3476549" algn="l" defTabSz="869137" rtl="0" eaLnBrk="1" latinLnBrk="0" hangingPunct="1">
        <a:defRPr sz="1711" kern="1200">
          <a:solidFill>
            <a:schemeClr val="tx1"/>
          </a:solidFill>
          <a:latin typeface="+mn-lt"/>
          <a:ea typeface="+mn-ea"/>
          <a:cs typeface="+mn-cs"/>
        </a:defRPr>
      </a:lvl9pPr>
    </p:otherStyle>
  </p:txStyles>
  <p:extLst>
    <p:ext uri="{27BBF7A9-308A-43DC-89C8-2F10F3537804}">
      <p15:sldGuideLst xmlns:p15="http://schemas.microsoft.com/office/powerpoint/2012/main">
        <p15:guide id="12" orient="horz" pos="2160" userDrawn="1">
          <p15:clr>
            <a:srgbClr val="F26B43"/>
          </p15:clr>
        </p15:guide>
        <p15:guide id="13" pos="112" userDrawn="1">
          <p15:clr>
            <a:srgbClr val="F26B43"/>
          </p15:clr>
        </p15:guide>
        <p15:guide id="14" orient="horz" pos="4269" userDrawn="1">
          <p15:clr>
            <a:srgbClr val="F26B43"/>
          </p15:clr>
        </p15:guide>
        <p15:guide id="15" pos="3650" userDrawn="1">
          <p15:clr>
            <a:srgbClr val="F26B43"/>
          </p15:clr>
        </p15:guide>
        <p15:guide id="16" pos="7188" userDrawn="1">
          <p15:clr>
            <a:srgbClr val="F26B43"/>
          </p15:clr>
        </p15:guide>
        <p15:guide id="17" orient="horz" pos="28" userDrawn="1">
          <p15:clr>
            <a:srgbClr val="F26B43"/>
          </p15:clr>
        </p15:guide>
        <p15:guide id="18" orient="horz" pos="686" userDrawn="1">
          <p15:clr>
            <a:srgbClr val="F26B43"/>
          </p15:clr>
        </p15:guide>
        <p15:guide id="19" orient="horz" pos="777" userDrawn="1">
          <p15:clr>
            <a:srgbClr val="F26B43"/>
          </p15:clr>
        </p15:guide>
        <p15:guide id="20" orient="horz" pos="4088" userDrawn="1">
          <p15:clr>
            <a:srgbClr val="F26B43"/>
          </p15:clr>
        </p15:guide>
        <p15:guide id="21" orient="horz" pos="3680" userDrawn="1">
          <p15:clr>
            <a:srgbClr val="F26B43"/>
          </p15:clr>
        </p15:guide>
        <p15:guide id="22" orient="horz" pos="3566" userDrawn="1">
          <p15:clr>
            <a:srgbClr val="F26B43"/>
          </p15:clr>
        </p15:guide>
        <p15:guide id="23" pos="5805"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1588750" cy="6858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FFFFFF"/>
                </a:solidFill>
              </a:defRPr>
            </a:pPr>
            <a:endParaRPr/>
          </a:p>
        </p:txBody>
      </p:sp>
      <p:pic>
        <p:nvPicPr>
          <p:cNvPr id="3" name="Picture 2" descr="image.jpg"/>
          <p:cNvPicPr>
            <a:picLocks noChangeAspect="1"/>
          </p:cNvPicPr>
          <p:nvPr/>
        </p:nvPicPr>
        <p:blipFill>
          <a:blip r:embed="rId3"/>
          <a:srcRect l="21836" r="21836"/>
          <a:stretch>
            <a:fillRect/>
          </a:stretch>
        </p:blipFill>
        <p:spPr>
          <a:xfrm>
            <a:off x="5794375" y="0"/>
            <a:ext cx="5794375" cy="6858000"/>
          </a:xfrm>
          <a:prstGeom prst="rect">
            <a:avLst/>
          </a:prstGeom>
        </p:spPr>
      </p:pic>
      <p:pic>
        <p:nvPicPr>
          <p:cNvPr id="4" name="Picture 3" descr="image.png"/>
          <p:cNvPicPr>
            <a:picLocks noChangeAspect="1"/>
          </p:cNvPicPr>
          <p:nvPr/>
        </p:nvPicPr>
        <p:blipFill>
          <a:blip r:embed="rId4"/>
          <a:srcRect/>
          <a:stretch>
            <a:fillRect/>
          </a:stretch>
        </p:blipFill>
        <p:spPr>
          <a:xfrm>
            <a:off x="502920" y="457200"/>
            <a:ext cx="1965960" cy="438614"/>
          </a:xfrm>
          <a:prstGeom prst="rect">
            <a:avLst/>
          </a:prstGeom>
        </p:spPr>
      </p:pic>
      <p:sp>
        <p:nvSpPr>
          <p:cNvPr id="5" name="TextBox 4"/>
          <p:cNvSpPr txBox="1"/>
          <p:nvPr/>
        </p:nvSpPr>
        <p:spPr>
          <a:xfrm>
            <a:off x="594360" y="2468880"/>
            <a:ext cx="4709160" cy="1056700"/>
          </a:xfrm>
          <a:prstGeom prst="rect">
            <a:avLst/>
          </a:prstGeom>
          <a:noFill/>
        </p:spPr>
        <p:txBody>
          <a:bodyPr wrap="square" lIns="18288" tIns="0" rIns="18288" bIns="0">
            <a:spAutoFit/>
          </a:bodyPr>
          <a:lstStyle/>
          <a:p>
            <a:pPr>
              <a:spcAft>
                <a:spcPts val="800"/>
              </a:spcAft>
              <a:defRPr sz="3100" b="0">
                <a:solidFill>
                  <a:srgbClr val="FFFFFF"/>
                </a:solidFill>
                <a:latin typeface="Lato"/>
              </a:defRPr>
            </a:pPr>
            <a:r>
              <a:rPr lang="en-GB">
                <a:solidFill>
                  <a:srgbClr val="FFFFFF"/>
                </a:solidFill>
              </a:rPr>
              <a:t>Durban and Lesedi</a:t>
            </a:r>
          </a:p>
          <a:p>
            <a:pPr>
              <a:spcAft>
                <a:spcPts val="800"/>
              </a:spcAft>
              <a:defRPr sz="3100" b="0">
                <a:solidFill>
                  <a:srgbClr val="FFFFFF"/>
                </a:solidFill>
                <a:latin typeface="Lato"/>
              </a:defRPr>
            </a:pPr>
            <a:r>
              <a:rPr lang="en-GB">
                <a:solidFill>
                  <a:srgbClr val="FFFFFF"/>
                </a:solidFill>
              </a:rPr>
              <a:t>market sizing</a:t>
            </a:r>
            <a:endParaRPr>
              <a:solidFill>
                <a:srgbClr val="FFFFFF"/>
              </a:solidFill>
            </a:endParaRPr>
          </a:p>
        </p:txBody>
      </p:sp>
      <p:cxnSp>
        <p:nvCxnSpPr>
          <p:cNvPr id="6" name="Connector 5"/>
          <p:cNvCxnSpPr/>
          <p:nvPr/>
        </p:nvCxnSpPr>
        <p:spPr>
          <a:xfrm>
            <a:off x="594360" y="4251960"/>
            <a:ext cx="4617720" cy="0"/>
          </a:xfrm>
          <a:prstGeom prst="line">
            <a:avLst/>
          </a:prstGeom>
          <a:ln w="7620">
            <a:solidFill>
              <a:srgbClr val="FFFFFF"/>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4617720"/>
            <a:ext cx="4572000" cy="261610"/>
          </a:xfrm>
          <a:prstGeom prst="rect">
            <a:avLst/>
          </a:prstGeom>
          <a:noFill/>
        </p:spPr>
        <p:txBody>
          <a:bodyPr wrap="square" lIns="18288" tIns="0" rIns="18288" bIns="0">
            <a:spAutoFit/>
          </a:bodyPr>
          <a:lstStyle/>
          <a:p>
            <a:pPr>
              <a:spcAft>
                <a:spcPts val="800"/>
              </a:spcAft>
              <a:defRPr sz="2100" b="0">
                <a:solidFill>
                  <a:srgbClr val="FFFFFF"/>
                </a:solidFill>
                <a:latin typeface="Lato"/>
              </a:defRPr>
            </a:pPr>
            <a:r>
              <a:rPr lang="en-GB" sz="1700">
                <a:solidFill>
                  <a:srgbClr val="FFFFFF"/>
                </a:solidFill>
              </a:rPr>
              <a:t>National balance, issue tree and deep dives</a:t>
            </a:r>
            <a:endParaRPr sz="1700">
              <a:solidFill>
                <a:srgbClr val="FFFFFF"/>
              </a:solidFill>
            </a:endParaRPr>
          </a:p>
        </p:txBody>
      </p:sp>
      <p:sp>
        <p:nvSpPr>
          <p:cNvPr id="8" name="TextBox 7"/>
          <p:cNvSpPr txBox="1"/>
          <p:nvPr/>
        </p:nvSpPr>
        <p:spPr>
          <a:xfrm>
            <a:off x="594360" y="5239512"/>
            <a:ext cx="4572000" cy="200055"/>
          </a:xfrm>
          <a:prstGeom prst="rect">
            <a:avLst/>
          </a:prstGeom>
          <a:noFill/>
        </p:spPr>
        <p:txBody>
          <a:bodyPr wrap="square" lIns="18288" tIns="0" rIns="18288" bIns="0">
            <a:spAutoFit/>
          </a:bodyPr>
          <a:lstStyle/>
          <a:p>
            <a:pPr>
              <a:spcAft>
                <a:spcPts val="800"/>
              </a:spcAft>
              <a:defRPr sz="1300" b="0">
                <a:solidFill>
                  <a:srgbClr val="FFFFFF"/>
                </a:solidFill>
                <a:latin typeface="Lato"/>
              </a:defRPr>
            </a:pPr>
            <a:r>
              <a:rPr lang="it-IT">
                <a:solidFill>
                  <a:srgbClr val="FFFFFF"/>
                </a:solidFill>
              </a:rPr>
              <a:t>South Africa petrol and diesel, Durban-Lesedi corridor</a:t>
            </a:r>
            <a:endParaRPr>
              <a:solidFill>
                <a:srgbClr val="FFFFFF"/>
              </a:solidFill>
            </a:endParaRPr>
          </a:p>
        </p:txBody>
      </p:sp>
      <p:sp>
        <p:nvSpPr>
          <p:cNvPr id="9" name="TextBox 8"/>
          <p:cNvSpPr txBox="1"/>
          <p:nvPr/>
        </p:nvSpPr>
        <p:spPr>
          <a:xfrm>
            <a:off x="594360" y="5696712"/>
            <a:ext cx="4572000" cy="200055"/>
          </a:xfrm>
          <a:prstGeom prst="rect">
            <a:avLst/>
          </a:prstGeom>
          <a:noFill/>
        </p:spPr>
        <p:txBody>
          <a:bodyPr wrap="square" lIns="18288" tIns="0" rIns="18288" bIns="0">
            <a:spAutoFit/>
          </a:bodyPr>
          <a:lstStyle/>
          <a:p>
            <a:pPr>
              <a:spcAft>
                <a:spcPts val="800"/>
              </a:spcAft>
              <a:defRPr sz="1300" b="0">
                <a:solidFill>
                  <a:srgbClr val="FFFFFF"/>
                </a:solidFill>
                <a:latin typeface="Lato"/>
              </a:defRPr>
            </a:pPr>
            <a:r>
              <a:rPr lang="en-ZW">
                <a:solidFill>
                  <a:srgbClr val="FFFFFF"/>
                </a:solidFill>
              </a:rPr>
              <a:t>9 October 2026</a:t>
            </a:r>
            <a:endParaRPr>
              <a:solidFill>
                <a:srgbClr val="FFFFFF"/>
              </a:solidFill>
            </a:endParaRPr>
          </a:p>
        </p:txBody>
      </p:sp>
      <p:sp>
        <p:nvSpPr>
          <p:cNvPr id="10" name="TextBox 9"/>
          <p:cNvSpPr txBox="1"/>
          <p:nvPr/>
        </p:nvSpPr>
        <p:spPr>
          <a:xfrm>
            <a:off x="594360" y="6053328"/>
            <a:ext cx="4572000" cy="369332"/>
          </a:xfrm>
          <a:prstGeom prst="rect">
            <a:avLst/>
          </a:prstGeom>
          <a:noFill/>
        </p:spPr>
        <p:txBody>
          <a:bodyPr wrap="square" lIns="18288" tIns="0" rIns="18288" bIns="0">
            <a:spAutoFit/>
          </a:bodyPr>
          <a:lstStyle/>
          <a:p>
            <a:pPr>
              <a:spcAft>
                <a:spcPts val="800"/>
              </a:spcAft>
              <a:defRPr sz="1200" b="0">
                <a:solidFill>
                  <a:srgbClr val="FFFFFF"/>
                </a:solidFill>
                <a:latin typeface="Lato"/>
              </a:defRPr>
            </a:pPr>
            <a:r>
              <a:rPr lang="en-GB" sz="1200">
                <a:solidFill>
                  <a:srgbClr val="FFFFFF"/>
                </a:solidFill>
              </a:rPr>
              <a:t>Draft for review. Lever cases are proposals, not accepted inputs; open exceptions mean outputs are provisional.</a:t>
            </a:r>
            <a:endParaRPr sz="1200">
              <a:solidFill>
                <a:srgbClr val="FFFFFF"/>
              </a:solidFill>
            </a:endParaRPr>
          </a:p>
        </p:txBody>
      </p:sp>
      <p:sp>
        <p:nvSpPr>
          <p:cNvPr id="11" name="Photo source credit"/>
          <p:cNvSpPr txBox="1"/>
          <p:nvPr/>
        </p:nvSpPr>
        <p:spPr>
          <a:xfrm>
            <a:off x="594360" y="6400800"/>
            <a:ext cx="4754880" cy="164592"/>
          </a:xfrm>
          <a:prstGeom prst="rect">
            <a:avLst/>
          </a:prstGeom>
          <a:noFill/>
        </p:spPr>
        <p:txBody>
          <a:bodyPr wrap="square" lIns="18288" tIns="0" rIns="18288" bIns="0">
            <a:spAutoFit/>
          </a:bodyPr>
          <a:lstStyle/>
          <a:p>
            <a:pPr algn="l">
              <a:spcAft>
                <a:spcPts val="800"/>
              </a:spcAft>
              <a:defRPr sz="800" b="0">
                <a:solidFill>
                  <a:srgbClr val="FFFFFF"/>
                </a:solidFill>
                <a:latin typeface="Lato"/>
              </a:defRPr>
            </a:pPr>
            <a:r>
              <a:rPr>
                <a:solidFill>
                  <a:srgbClr val="FFFFFF"/>
                </a:solidFill>
              </a:rPr>
              <a:t>Photo source: Royal Vopak | Terminal Durban | vopak.com</a:t>
            </a:r>
          </a:p>
        </p:txBody>
      </p:sp>
      <p:sp>
        <p:nvSpPr>
          <p:cNvPr id="12" name="Strictly Confidential footer"/>
          <p:cNvSpPr txBox="1"/>
          <p:nvPr/>
        </p:nvSpPr>
        <p:spPr>
          <a:xfrm>
            <a:off x="594360" y="6729984"/>
            <a:ext cx="2011680" cy="118872"/>
          </a:xfrm>
          <a:prstGeom prst="rect">
            <a:avLst/>
          </a:prstGeom>
          <a:noFill/>
        </p:spPr>
        <p:txBody>
          <a:bodyPr wrap="none" lIns="0" tIns="0" rIns="0" bIns="0">
            <a:spAutoFit/>
          </a:bodyPr>
          <a:lstStyle/>
          <a:p>
            <a:pPr>
              <a:spcBef>
                <a:spcPts val="0"/>
              </a:spcBef>
              <a:spcAft>
                <a:spcPts val="0"/>
              </a:spcAft>
              <a:defRPr sz="750">
                <a:solidFill>
                  <a:srgbClr val="BDBEC1"/>
                </a:solidFill>
                <a:latin typeface="Lato"/>
              </a:defRPr>
            </a:pPr>
            <a:r>
              <a:t>Strictly Confidential</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a:solidFill>
                  <a:schemeClr val="dk1"/>
                </a:solidFill>
                <a:latin typeface="Lato"/>
              </a:rPr>
              <a:t>National petrol and diesel balance: what makes up the ~20B litres</a:t>
            </a:r>
            <a:endParaRPr dirty="0">
              <a:solidFill>
                <a:schemeClr val="dk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1</a:t>
            </a:r>
            <a:endParaRPr sz="1100"/>
          </a:p>
        </p:txBody>
      </p:sp>
      <p:sp>
        <p:nvSpPr>
          <p:cNvPr id="8" name="Unified source footer"/>
          <p:cNvSpPr txBox="1"/>
          <p:nvPr/>
        </p:nvSpPr>
        <p:spPr>
          <a:xfrm>
            <a:off x="457200" y="6184900"/>
            <a:ext cx="10652760" cy="104837"/>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GB" sz="670"/>
              <a:t>Source: Manish DR01 (8 Oct): department energy balance (production to 2021), SARS customs (trade), department sales. Supply less sales = stock change + statistical difference, not production. FIASA and JODI not used. Petrol and diesel only.</a:t>
            </a:r>
            <a:endParaRPr sz="670"/>
          </a:p>
        </p:txBody>
      </p:sp>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F6826E68-0B27-3E9A-731F-737F28F0FB19}"/>
              </a:ext>
            </a:extLst>
          </p:cNvPr>
          <p:cNvSpPr/>
          <p:nvPr/>
        </p:nvSpPr>
        <p:spPr>
          <a:xfrm>
            <a:off x="457200" y="88900"/>
            <a:ext cx="2575560" cy="279400"/>
          </a:xfrm>
          <a:prstGeom prst="rect">
            <a:avLst/>
          </a:prstGeom>
          <a:solidFill>
            <a:schemeClr val="lt1">
              <a:shade val="965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Executive summary</a:t>
            </a:r>
          </a:p>
        </p:txBody>
      </p:sp>
      <p:sp>
        <p:nvSpPr>
          <p:cNvPr id="10" name="SCR 2">
            <a:extLst>
              <a:ext uri="{FF2B5EF4-FFF2-40B4-BE49-F238E27FC236}">
                <a16:creationId xmlns:a16="http://schemas.microsoft.com/office/drawing/2014/main" id="{DB3FBD92-8DAF-542E-83C8-61B53DE1024F}"/>
              </a:ext>
            </a:extLst>
          </p:cNvPr>
          <p:cNvSpPr/>
          <p:nvPr/>
        </p:nvSpPr>
        <p:spPr>
          <a:xfrm>
            <a:off x="3149600" y="88900"/>
            <a:ext cx="2575560" cy="279400"/>
          </a:xfrm>
          <a:prstGeom prst="rect">
            <a:avLst/>
          </a:prstGeom>
          <a:solidFill>
            <a:schemeClr val="lt1">
              <a:shade val="965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Situation</a:t>
            </a:r>
          </a:p>
        </p:txBody>
      </p:sp>
      <p:sp>
        <p:nvSpPr>
          <p:cNvPr id="11" name="SCR 3">
            <a:extLst>
              <a:ext uri="{FF2B5EF4-FFF2-40B4-BE49-F238E27FC236}">
                <a16:creationId xmlns:a16="http://schemas.microsoft.com/office/drawing/2014/main" id="{8954CB5A-2161-59A0-D177-7E44BC8E444E}"/>
              </a:ext>
            </a:extLst>
          </p:cNvPr>
          <p:cNvSpPr/>
          <p:nvPr/>
        </p:nvSpPr>
        <p:spPr>
          <a:xfrm>
            <a:off x="5842000" y="88900"/>
            <a:ext cx="2575560" cy="279400"/>
          </a:xfrm>
          <a:prstGeom prst="rect">
            <a:avLst/>
          </a:prstGeom>
          <a:solidFill>
            <a:schemeClr val="lt1">
              <a:shade val="965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Complication</a:t>
            </a:r>
          </a:p>
        </p:txBody>
      </p:sp>
      <p:sp>
        <p:nvSpPr>
          <p:cNvPr id="12" name="SCR 4">
            <a:extLst>
              <a:ext uri="{FF2B5EF4-FFF2-40B4-BE49-F238E27FC236}">
                <a16:creationId xmlns:a16="http://schemas.microsoft.com/office/drawing/2014/main" id="{9E01BBF5-098D-3FC4-718C-6B01C403EC02}"/>
              </a:ext>
            </a:extLst>
          </p:cNvPr>
          <p:cNvSpPr/>
          <p:nvPr/>
        </p:nvSpPr>
        <p:spPr>
          <a:xfrm>
            <a:off x="8534400" y="88900"/>
            <a:ext cx="2575560" cy="279400"/>
          </a:xfrm>
          <a:prstGeom prst="rect">
            <a:avLst/>
          </a:prstGeom>
          <a:solidFill>
            <a:schemeClr val="accent1"/>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latin typeface="Lato" panose="020F0502020204030203" pitchFamily="34" charset="0"/>
              </a:rPr>
              <a:t>Resolution</a:t>
            </a:r>
          </a:p>
        </p:txBody>
      </p:sp>
      <p:sp>
        <p:nvSpPr>
          <p:cNvPr id="47" name="Balance panel">
            <a:extLst>
              <a:ext uri="{FF2B5EF4-FFF2-40B4-BE49-F238E27FC236}">
                <a16:creationId xmlns:a16="http://schemas.microsoft.com/office/drawing/2014/main" id="{E630849E-EDC3-CC94-23B8-AB1F83275E7D}"/>
              </a:ext>
            </a:extLst>
          </p:cNvPr>
          <p:cNvSpPr/>
          <p:nvPr/>
        </p:nvSpPr>
        <p:spPr>
          <a:xfrm>
            <a:off x="355600" y="1447800"/>
            <a:ext cx="10858500" cy="3327400"/>
          </a:xfrm>
          <a:prstGeom prst="rect">
            <a:avLst/>
          </a:prstGeom>
          <a:solidFill>
            <a:srgbClr val="EEF1F6"/>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92" name="Findings panel">
            <a:extLst>
              <a:ext uri="{FF2B5EF4-FFF2-40B4-BE49-F238E27FC236}">
                <a16:creationId xmlns:a16="http://schemas.microsoft.com/office/drawing/2014/main" id="{5363F664-DE63-7468-605D-454C2CE98E30}"/>
              </a:ext>
            </a:extLst>
          </p:cNvPr>
          <p:cNvSpPr/>
          <p:nvPr/>
        </p:nvSpPr>
        <p:spPr>
          <a:xfrm>
            <a:off x="355600" y="4876800"/>
            <a:ext cx="10858500" cy="1320800"/>
          </a:xfrm>
          <a:prstGeom prst="rect">
            <a:avLst/>
          </a:prstGeom>
          <a:solidFill>
            <a:srgbClr val="EEF1F6"/>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93" name="Year heading">
            <a:extLst>
              <a:ext uri="{FF2B5EF4-FFF2-40B4-BE49-F238E27FC236}">
                <a16:creationId xmlns:a16="http://schemas.microsoft.com/office/drawing/2014/main" id="{E1478EE4-CEFB-1765-5C15-1325D5389443}"/>
              </a:ext>
            </a:extLst>
          </p:cNvPr>
          <p:cNvSpPr txBox="1"/>
          <p:nvPr/>
        </p:nvSpPr>
        <p:spPr>
          <a:xfrm>
            <a:off x="457200" y="1638300"/>
            <a:ext cx="889000" cy="241300"/>
          </a:xfrm>
          <a:prstGeom prst="rect">
            <a:avLst/>
          </a:prstGeom>
          <a:noFill/>
        </p:spPr>
        <p:txBody>
          <a:bodyPr vert="horz" wrap="square" lIns="0" tIns="0" rIns="0" bIns="0" rtlCol="0">
            <a:noAutofit/>
          </a:bodyPr>
          <a:lstStyle/>
          <a:p>
            <a:pPr>
              <a:spcAft>
                <a:spcPts val="200"/>
              </a:spcAft>
            </a:pPr>
            <a:r>
              <a:rPr lang="en-ZA" sz="1200" b="1">
                <a:solidFill>
                  <a:schemeClr val="accent1"/>
                </a:solidFill>
                <a:latin typeface="Lato" panose="020F0502020204030203" pitchFamily="34" charset="0"/>
              </a:rPr>
              <a:t>Year</a:t>
            </a:r>
          </a:p>
        </p:txBody>
      </p:sp>
      <p:sp>
        <p:nvSpPr>
          <p:cNvPr id="94" name="Term heading production">
            <a:extLst>
              <a:ext uri="{FF2B5EF4-FFF2-40B4-BE49-F238E27FC236}">
                <a16:creationId xmlns:a16="http://schemas.microsoft.com/office/drawing/2014/main" id="{1226A1A8-9B72-3414-C95A-178EA0F6195E}"/>
              </a:ext>
            </a:extLst>
          </p:cNvPr>
          <p:cNvSpPr txBox="1"/>
          <p:nvPr/>
        </p:nvSpPr>
        <p:spPr>
          <a:xfrm>
            <a:off x="1536700" y="1638300"/>
            <a:ext cx="1651000" cy="241300"/>
          </a:xfrm>
          <a:prstGeom prst="rect">
            <a:avLst/>
          </a:prstGeom>
          <a:noFill/>
        </p:spPr>
        <p:txBody>
          <a:bodyPr vert="horz" wrap="square" lIns="0" tIns="0" rIns="0" bIns="0" rtlCol="0">
            <a:noAutofit/>
          </a:bodyPr>
          <a:lstStyle/>
          <a:p>
            <a:pPr>
              <a:spcAft>
                <a:spcPts val="200"/>
              </a:spcAft>
            </a:pPr>
            <a:r>
              <a:rPr lang="en-ZA" sz="1100" b="1">
                <a:solidFill>
                  <a:schemeClr val="accent1"/>
                </a:solidFill>
                <a:latin typeface="Lato" panose="020F0502020204030203" pitchFamily="34" charset="0"/>
              </a:rPr>
              <a:t>Domestic production</a:t>
            </a:r>
          </a:p>
        </p:txBody>
      </p:sp>
      <p:sp>
        <p:nvSpPr>
          <p:cNvPr id="95" name="Term heading imports">
            <a:extLst>
              <a:ext uri="{FF2B5EF4-FFF2-40B4-BE49-F238E27FC236}">
                <a16:creationId xmlns:a16="http://schemas.microsoft.com/office/drawing/2014/main" id="{D700BB26-7B77-F610-9F89-6F88C092EC54}"/>
              </a:ext>
            </a:extLst>
          </p:cNvPr>
          <p:cNvSpPr txBox="1"/>
          <p:nvPr/>
        </p:nvSpPr>
        <p:spPr>
          <a:xfrm>
            <a:off x="3505200" y="1638300"/>
            <a:ext cx="1651000" cy="241300"/>
          </a:xfrm>
          <a:prstGeom prst="rect">
            <a:avLst/>
          </a:prstGeom>
          <a:noFill/>
        </p:spPr>
        <p:txBody>
          <a:bodyPr vert="horz" wrap="square" lIns="0" tIns="0" rIns="0" bIns="0" rtlCol="0">
            <a:noAutofit/>
          </a:bodyPr>
          <a:lstStyle/>
          <a:p>
            <a:pPr>
              <a:spcAft>
                <a:spcPts val="200"/>
              </a:spcAft>
            </a:pPr>
            <a:r>
              <a:rPr lang="en-ZA" sz="1100" b="1">
                <a:solidFill>
                  <a:schemeClr val="accent1"/>
                </a:solidFill>
                <a:latin typeface="Lato" panose="020F0502020204030203" pitchFamily="34" charset="0"/>
              </a:rPr>
              <a:t>Gross imports</a:t>
            </a:r>
          </a:p>
        </p:txBody>
      </p:sp>
      <p:sp>
        <p:nvSpPr>
          <p:cNvPr id="96" name="Term heading exports">
            <a:extLst>
              <a:ext uri="{FF2B5EF4-FFF2-40B4-BE49-F238E27FC236}">
                <a16:creationId xmlns:a16="http://schemas.microsoft.com/office/drawing/2014/main" id="{704BE4E6-48DE-9D4F-4A5E-895AD067CA8D}"/>
              </a:ext>
            </a:extLst>
          </p:cNvPr>
          <p:cNvSpPr txBox="1"/>
          <p:nvPr/>
        </p:nvSpPr>
        <p:spPr>
          <a:xfrm>
            <a:off x="5473700" y="1638300"/>
            <a:ext cx="1651000" cy="241300"/>
          </a:xfrm>
          <a:prstGeom prst="rect">
            <a:avLst/>
          </a:prstGeom>
          <a:noFill/>
        </p:spPr>
        <p:txBody>
          <a:bodyPr vert="horz" wrap="square" lIns="0" tIns="0" rIns="0" bIns="0" rtlCol="0">
            <a:noAutofit/>
          </a:bodyPr>
          <a:lstStyle/>
          <a:p>
            <a:pPr>
              <a:spcAft>
                <a:spcPts val="200"/>
              </a:spcAft>
            </a:pPr>
            <a:r>
              <a:rPr lang="en-ZA" sz="1100" b="1">
                <a:solidFill>
                  <a:schemeClr val="accent1"/>
                </a:solidFill>
                <a:latin typeface="Lato" panose="020F0502020204030203" pitchFamily="34" charset="0"/>
              </a:rPr>
              <a:t>Exports</a:t>
            </a:r>
          </a:p>
        </p:txBody>
      </p:sp>
      <p:sp>
        <p:nvSpPr>
          <p:cNvPr id="97" name="Term heading sales">
            <a:extLst>
              <a:ext uri="{FF2B5EF4-FFF2-40B4-BE49-F238E27FC236}">
                <a16:creationId xmlns:a16="http://schemas.microsoft.com/office/drawing/2014/main" id="{A368AA63-40A6-A62A-E07D-BC00A9054BE9}"/>
              </a:ext>
            </a:extLst>
          </p:cNvPr>
          <p:cNvSpPr txBox="1"/>
          <p:nvPr/>
        </p:nvSpPr>
        <p:spPr>
          <a:xfrm>
            <a:off x="7442200" y="1638300"/>
            <a:ext cx="1651000" cy="241300"/>
          </a:xfrm>
          <a:prstGeom prst="rect">
            <a:avLst/>
          </a:prstGeom>
          <a:noFill/>
        </p:spPr>
        <p:txBody>
          <a:bodyPr vert="horz" wrap="square" lIns="0" tIns="0" rIns="0" bIns="0" rtlCol="0">
            <a:noAutofit/>
          </a:bodyPr>
          <a:lstStyle/>
          <a:p>
            <a:pPr>
              <a:spcAft>
                <a:spcPts val="200"/>
              </a:spcAft>
            </a:pPr>
            <a:r>
              <a:rPr lang="en-ZA" sz="1100" b="1">
                <a:solidFill>
                  <a:schemeClr val="accent1"/>
                </a:solidFill>
                <a:latin typeface="Lato" panose="020F0502020204030203" pitchFamily="34" charset="0"/>
              </a:rPr>
              <a:t>Sales</a:t>
            </a:r>
          </a:p>
        </p:txBody>
      </p:sp>
      <p:sp>
        <p:nvSpPr>
          <p:cNvPr id="98" name="Term heading supply_less_sales">
            <a:extLst>
              <a:ext uri="{FF2B5EF4-FFF2-40B4-BE49-F238E27FC236}">
                <a16:creationId xmlns:a16="http://schemas.microsoft.com/office/drawing/2014/main" id="{C552D6C1-6F11-99CB-6F93-8DA02A08BE8D}"/>
              </a:ext>
            </a:extLst>
          </p:cNvPr>
          <p:cNvSpPr txBox="1"/>
          <p:nvPr/>
        </p:nvSpPr>
        <p:spPr>
          <a:xfrm>
            <a:off x="9410700" y="1638300"/>
            <a:ext cx="1651000" cy="241300"/>
          </a:xfrm>
          <a:prstGeom prst="rect">
            <a:avLst/>
          </a:prstGeom>
          <a:noFill/>
        </p:spPr>
        <p:txBody>
          <a:bodyPr vert="horz" wrap="square" lIns="0" tIns="0" rIns="0" bIns="0" rtlCol="0">
            <a:noAutofit/>
          </a:bodyPr>
          <a:lstStyle/>
          <a:p>
            <a:pPr>
              <a:spcAft>
                <a:spcPts val="200"/>
              </a:spcAft>
            </a:pPr>
            <a:r>
              <a:rPr lang="en-ZA" sz="1100" b="1">
                <a:solidFill>
                  <a:schemeClr val="accent1"/>
                </a:solidFill>
                <a:latin typeface="Lato" panose="020F0502020204030203" pitchFamily="34" charset="0"/>
              </a:rPr>
              <a:t>Supply less sales</a:t>
            </a:r>
          </a:p>
        </p:txBody>
      </p:sp>
      <p:cxnSp>
        <p:nvCxnSpPr>
          <p:cNvPr id="99" name="Equation heading rule">
            <a:extLst>
              <a:ext uri="{FF2B5EF4-FFF2-40B4-BE49-F238E27FC236}">
                <a16:creationId xmlns:a16="http://schemas.microsoft.com/office/drawing/2014/main" id="{3B7F3CA4-C164-F60D-06EB-E9DC5EF9995A}"/>
              </a:ext>
            </a:extLst>
          </p:cNvPr>
          <p:cNvCxnSpPr/>
          <p:nvPr/>
        </p:nvCxnSpPr>
        <p:spPr>
          <a:xfrm>
            <a:off x="457200" y="1917700"/>
            <a:ext cx="10604500" cy="0"/>
          </a:xfrm>
          <a:prstGeom prst="straightConnector1">
            <a:avLst/>
          </a:prstGeom>
          <a:ln w="8255">
            <a:solidFill>
              <a:schemeClr val="dk1"/>
            </a:solidFill>
          </a:ln>
        </p:spPr>
        <p:style>
          <a:lnRef idx="1">
            <a:schemeClr val="accent1"/>
          </a:lnRef>
          <a:fillRef idx="0">
            <a:schemeClr val="accent1"/>
          </a:fillRef>
          <a:effectRef idx="0">
            <a:schemeClr val="accent1"/>
          </a:effectRef>
          <a:fontRef idx="minor">
            <a:schemeClr val="tx1"/>
          </a:fontRef>
        </p:style>
      </p:cxnSp>
      <p:sp>
        <p:nvSpPr>
          <p:cNvPr id="100" name="Year 2019">
            <a:extLst>
              <a:ext uri="{FF2B5EF4-FFF2-40B4-BE49-F238E27FC236}">
                <a16:creationId xmlns:a16="http://schemas.microsoft.com/office/drawing/2014/main" id="{3FB78940-8CDC-3FC2-D7FA-FB4D4C49CF48}"/>
              </a:ext>
            </a:extLst>
          </p:cNvPr>
          <p:cNvSpPr txBox="1"/>
          <p:nvPr/>
        </p:nvSpPr>
        <p:spPr>
          <a:xfrm>
            <a:off x="457200" y="2108199"/>
            <a:ext cx="990600" cy="558800"/>
          </a:xfrm>
          <a:prstGeom prst="rect">
            <a:avLst/>
          </a:prstGeom>
          <a:noFill/>
        </p:spPr>
        <p:txBody>
          <a:bodyPr vert="horz" wrap="square" lIns="0" tIns="0" rIns="0" bIns="0" rtlCol="0">
            <a:noAutofit/>
          </a:bodyPr>
          <a:lstStyle/>
          <a:p>
            <a:pPr>
              <a:spcAft>
                <a:spcPts val="200"/>
              </a:spcAft>
            </a:pPr>
            <a:r>
              <a:rPr lang="en-GB" sz="1400" b="1">
                <a:solidFill>
                  <a:schemeClr val="accent1"/>
                </a:solidFill>
                <a:latin typeface="Lato" panose="020F0502020204030203" pitchFamily="34" charset="0"/>
              </a:rPr>
              <a:t>2019</a:t>
            </a:r>
          </a:p>
          <a:p>
            <a:pPr>
              <a:spcAft>
                <a:spcPts val="200"/>
              </a:spcAft>
            </a:pPr>
            <a:r>
              <a:rPr lang="en-GB" sz="900">
                <a:solidFill>
                  <a:schemeClr val="dk1"/>
                </a:solidFill>
                <a:latin typeface="Lato" panose="020F0502020204030203" pitchFamily="34" charset="0"/>
              </a:rPr>
              <a:t>Energy balance, customs, sales</a:t>
            </a:r>
            <a:endParaRPr lang="en-ZA" sz="900">
              <a:solidFill>
                <a:schemeClr val="dk1"/>
              </a:solidFill>
              <a:latin typeface="Lato" panose="020F0502020204030203" pitchFamily="34" charset="0"/>
            </a:endParaRPr>
          </a:p>
        </p:txBody>
      </p:sp>
      <p:sp>
        <p:nvSpPr>
          <p:cNvPr id="101" name="Balance 2019 production">
            <a:extLst>
              <a:ext uri="{FF2B5EF4-FFF2-40B4-BE49-F238E27FC236}">
                <a16:creationId xmlns:a16="http://schemas.microsoft.com/office/drawing/2014/main" id="{91D201B8-C7B6-0F3B-A17F-07FCBE5A174F}"/>
              </a:ext>
            </a:extLst>
          </p:cNvPr>
          <p:cNvSpPr/>
          <p:nvPr/>
        </p:nvSpPr>
        <p:spPr>
          <a:xfrm>
            <a:off x="1536700" y="2032000"/>
            <a:ext cx="1651000" cy="787400"/>
          </a:xfrm>
          <a:prstGeom prst="rect">
            <a:avLst/>
          </a:prstGeom>
          <a:solidFill>
            <a:srgbClr val="FFFFFF"/>
          </a:solidFill>
          <a:ln w="9525" cap="flat" cmpd="sng" algn="ctr">
            <a:solidFill>
              <a:schemeClr val="accent1"/>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76200" tIns="50800" rIns="76200" bIns="38100" rtlCol="0" anchor="t"/>
          <a:lstStyle/>
          <a:p>
            <a:pPr>
              <a:spcAft>
                <a:spcPts val="400"/>
              </a:spcAft>
            </a:pPr>
            <a:r>
              <a:rPr lang="en-ZA" sz="1500" b="1">
                <a:solidFill>
                  <a:schemeClr val="accent1"/>
                </a:solidFill>
                <a:latin typeface="Lato" panose="020F0502020204030203" pitchFamily="34" charset="0"/>
              </a:rPr>
              <a:t>19.5B L</a:t>
            </a:r>
          </a:p>
          <a:p>
            <a:pPr>
              <a:spcAft>
                <a:spcPts val="200"/>
              </a:spcAft>
            </a:pPr>
            <a:r>
              <a:rPr lang="en-ZA" sz="950">
                <a:solidFill>
                  <a:schemeClr val="dk1"/>
                </a:solidFill>
                <a:latin typeface="Lato" panose="020F0502020204030203" pitchFamily="34" charset="0"/>
              </a:rPr>
              <a:t>Petrol 10.4 · diesel 9.1</a:t>
            </a:r>
          </a:p>
        </p:txBody>
      </p:sp>
      <p:sp>
        <p:nvSpPr>
          <p:cNvPr id="102" name="Balance 2019 production tag">
            <a:extLst>
              <a:ext uri="{FF2B5EF4-FFF2-40B4-BE49-F238E27FC236}">
                <a16:creationId xmlns:a16="http://schemas.microsoft.com/office/drawing/2014/main" id="{B4F9B778-90B6-BBCF-507E-7AAEAAAD8BC4}"/>
              </a:ext>
            </a:extLst>
          </p:cNvPr>
          <p:cNvSpPr txBox="1"/>
          <p:nvPr/>
        </p:nvSpPr>
        <p:spPr>
          <a:xfrm>
            <a:off x="1612900" y="2628900"/>
            <a:ext cx="1498600" cy="152400"/>
          </a:xfrm>
          <a:prstGeom prst="rect">
            <a:avLst/>
          </a:prstGeom>
          <a:noFill/>
        </p:spPr>
        <p:txBody>
          <a:bodyPr vert="horz" wrap="square" lIns="0" tIns="0" rIns="0" bIns="0" rtlCol="0">
            <a:noAutofit/>
          </a:bodyPr>
          <a:lstStyle/>
          <a:p>
            <a:pPr>
              <a:spcAft>
                <a:spcPts val="200"/>
              </a:spcAft>
            </a:pPr>
            <a:r>
              <a:rPr lang="en-ZA" sz="900" b="1">
                <a:solidFill>
                  <a:schemeClr val="accent1"/>
                </a:solidFill>
                <a:latin typeface="Lato" panose="020F0502020204030203" pitchFamily="34" charset="0"/>
              </a:rPr>
              <a:t>observed · DR01</a:t>
            </a:r>
          </a:p>
        </p:txBody>
      </p:sp>
      <p:sp>
        <p:nvSpPr>
          <p:cNvPr id="103" name="Operator 2019 0">
            <a:extLst>
              <a:ext uri="{FF2B5EF4-FFF2-40B4-BE49-F238E27FC236}">
                <a16:creationId xmlns:a16="http://schemas.microsoft.com/office/drawing/2014/main" id="{62AD1041-4824-621E-EF27-8BA5A8C62AE1}"/>
              </a:ext>
            </a:extLst>
          </p:cNvPr>
          <p:cNvSpPr txBox="1"/>
          <p:nvPr/>
        </p:nvSpPr>
        <p:spPr>
          <a:xfrm>
            <a:off x="3187700" y="2285999"/>
            <a:ext cx="317500" cy="279400"/>
          </a:xfrm>
          <a:prstGeom prst="rect">
            <a:avLst/>
          </a:prstGeom>
          <a:noFill/>
        </p:spPr>
        <p:txBody>
          <a:bodyPr vert="horz" wrap="square" lIns="0" tIns="0" rIns="0" bIns="0" rtlCol="0">
            <a:noAutofit/>
          </a:bodyPr>
          <a:lstStyle/>
          <a:p>
            <a:pPr algn="ctr">
              <a:spcAft>
                <a:spcPts val="200"/>
              </a:spcAft>
            </a:pPr>
            <a:r>
              <a:rPr lang="en-ZA" sz="1600" b="1">
                <a:solidFill>
                  <a:schemeClr val="accent1"/>
                </a:solidFill>
                <a:latin typeface="Lato" panose="020F0502020204030203" pitchFamily="34" charset="0"/>
              </a:rPr>
              <a:t>+</a:t>
            </a:r>
          </a:p>
        </p:txBody>
      </p:sp>
      <p:sp>
        <p:nvSpPr>
          <p:cNvPr id="104" name="Balance 2019 imports">
            <a:extLst>
              <a:ext uri="{FF2B5EF4-FFF2-40B4-BE49-F238E27FC236}">
                <a16:creationId xmlns:a16="http://schemas.microsoft.com/office/drawing/2014/main" id="{96E43262-C313-6EDC-AFC1-CE16C6572932}"/>
              </a:ext>
            </a:extLst>
          </p:cNvPr>
          <p:cNvSpPr/>
          <p:nvPr/>
        </p:nvSpPr>
        <p:spPr>
          <a:xfrm>
            <a:off x="3505200" y="2032000"/>
            <a:ext cx="1651000" cy="787400"/>
          </a:xfrm>
          <a:prstGeom prst="rect">
            <a:avLst/>
          </a:prstGeom>
          <a:solidFill>
            <a:srgbClr val="FFFFFF"/>
          </a:solidFill>
          <a:ln w="9525" cap="flat" cmpd="sng" algn="ctr">
            <a:solidFill>
              <a:schemeClr val="accent1"/>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76200" tIns="50800" rIns="76200" bIns="38100" rtlCol="0" anchor="t"/>
          <a:lstStyle/>
          <a:p>
            <a:pPr>
              <a:spcAft>
                <a:spcPts val="400"/>
              </a:spcAft>
            </a:pPr>
            <a:r>
              <a:rPr lang="en-ZA" sz="1500" b="1">
                <a:solidFill>
                  <a:schemeClr val="accent1"/>
                </a:solidFill>
                <a:latin typeface="Lato" panose="020F0502020204030203" pitchFamily="34" charset="0"/>
              </a:rPr>
              <a:t>7.1B L</a:t>
            </a:r>
          </a:p>
          <a:p>
            <a:pPr>
              <a:spcAft>
                <a:spcPts val="200"/>
              </a:spcAft>
            </a:pPr>
            <a:r>
              <a:rPr lang="en-ZA" sz="950">
                <a:solidFill>
                  <a:schemeClr val="dk1"/>
                </a:solidFill>
                <a:latin typeface="Lato" panose="020F0502020204030203" pitchFamily="34" charset="0"/>
              </a:rPr>
              <a:t>Petrol 1.5 · diesel 5.6</a:t>
            </a:r>
          </a:p>
        </p:txBody>
      </p:sp>
      <p:sp>
        <p:nvSpPr>
          <p:cNvPr id="105" name="Balance 2019 imports tag">
            <a:extLst>
              <a:ext uri="{FF2B5EF4-FFF2-40B4-BE49-F238E27FC236}">
                <a16:creationId xmlns:a16="http://schemas.microsoft.com/office/drawing/2014/main" id="{3E941C5E-6E18-99D4-8EF8-DE4F69EFD703}"/>
              </a:ext>
            </a:extLst>
          </p:cNvPr>
          <p:cNvSpPr txBox="1"/>
          <p:nvPr/>
        </p:nvSpPr>
        <p:spPr>
          <a:xfrm>
            <a:off x="3581400" y="2628900"/>
            <a:ext cx="1498600" cy="152400"/>
          </a:xfrm>
          <a:prstGeom prst="rect">
            <a:avLst/>
          </a:prstGeom>
          <a:noFill/>
        </p:spPr>
        <p:txBody>
          <a:bodyPr vert="horz" wrap="square" lIns="0" tIns="0" rIns="0" bIns="0" rtlCol="0">
            <a:noAutofit/>
          </a:bodyPr>
          <a:lstStyle/>
          <a:p>
            <a:pPr>
              <a:spcAft>
                <a:spcPts val="200"/>
              </a:spcAft>
            </a:pPr>
            <a:r>
              <a:rPr lang="en-ZA" sz="900" b="1">
                <a:solidFill>
                  <a:schemeClr val="accent1"/>
                </a:solidFill>
                <a:latin typeface="Lato" panose="020F0502020204030203" pitchFamily="34" charset="0"/>
              </a:rPr>
              <a:t>customs · DR01</a:t>
            </a:r>
          </a:p>
        </p:txBody>
      </p:sp>
      <p:sp>
        <p:nvSpPr>
          <p:cNvPr id="106" name="Operator 2019 1">
            <a:extLst>
              <a:ext uri="{FF2B5EF4-FFF2-40B4-BE49-F238E27FC236}">
                <a16:creationId xmlns:a16="http://schemas.microsoft.com/office/drawing/2014/main" id="{D2E11CBF-19C9-6F31-319C-55A0F36951C8}"/>
              </a:ext>
            </a:extLst>
          </p:cNvPr>
          <p:cNvSpPr txBox="1"/>
          <p:nvPr/>
        </p:nvSpPr>
        <p:spPr>
          <a:xfrm>
            <a:off x="5156200" y="2285999"/>
            <a:ext cx="317500" cy="279400"/>
          </a:xfrm>
          <a:prstGeom prst="rect">
            <a:avLst/>
          </a:prstGeom>
          <a:noFill/>
        </p:spPr>
        <p:txBody>
          <a:bodyPr vert="horz" wrap="square" lIns="0" tIns="0" rIns="0" bIns="0" rtlCol="0">
            <a:noAutofit/>
          </a:bodyPr>
          <a:lstStyle/>
          <a:p>
            <a:pPr algn="ctr">
              <a:spcAft>
                <a:spcPts val="200"/>
              </a:spcAft>
            </a:pPr>
            <a:r>
              <a:rPr lang="en-ZA" sz="1600" b="1">
                <a:solidFill>
                  <a:schemeClr val="accent1"/>
                </a:solidFill>
                <a:latin typeface="Lato" panose="020F0502020204030203" pitchFamily="34" charset="0"/>
              </a:rPr>
              <a:t>−</a:t>
            </a:r>
          </a:p>
        </p:txBody>
      </p:sp>
      <p:sp>
        <p:nvSpPr>
          <p:cNvPr id="107" name="Balance 2019 exports">
            <a:extLst>
              <a:ext uri="{FF2B5EF4-FFF2-40B4-BE49-F238E27FC236}">
                <a16:creationId xmlns:a16="http://schemas.microsoft.com/office/drawing/2014/main" id="{B21F5C63-C5EF-1D52-561B-402BFF24FBF9}"/>
              </a:ext>
            </a:extLst>
          </p:cNvPr>
          <p:cNvSpPr/>
          <p:nvPr/>
        </p:nvSpPr>
        <p:spPr>
          <a:xfrm>
            <a:off x="5473700" y="2032000"/>
            <a:ext cx="1651000" cy="787400"/>
          </a:xfrm>
          <a:prstGeom prst="rect">
            <a:avLst/>
          </a:prstGeom>
          <a:solidFill>
            <a:srgbClr val="FFFFFF"/>
          </a:solidFill>
          <a:ln w="9525" cap="flat" cmpd="sng" algn="ctr">
            <a:solidFill>
              <a:schemeClr val="accent1"/>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76200" tIns="50800" rIns="76200" bIns="38100" rtlCol="0" anchor="t"/>
          <a:lstStyle/>
          <a:p>
            <a:pPr>
              <a:spcAft>
                <a:spcPts val="400"/>
              </a:spcAft>
            </a:pPr>
            <a:r>
              <a:rPr lang="en-ZA" sz="1500" b="1">
                <a:solidFill>
                  <a:schemeClr val="accent1"/>
                </a:solidFill>
                <a:latin typeface="Lato" panose="020F0502020204030203" pitchFamily="34" charset="0"/>
              </a:rPr>
              <a:t>2.9B L</a:t>
            </a:r>
          </a:p>
          <a:p>
            <a:pPr>
              <a:spcAft>
                <a:spcPts val="200"/>
              </a:spcAft>
            </a:pPr>
            <a:r>
              <a:rPr lang="en-ZA" sz="950">
                <a:solidFill>
                  <a:schemeClr val="dk1"/>
                </a:solidFill>
                <a:latin typeface="Lato" panose="020F0502020204030203" pitchFamily="34" charset="0"/>
              </a:rPr>
              <a:t>Petrol 1.2 · diesel 1.7</a:t>
            </a:r>
          </a:p>
        </p:txBody>
      </p:sp>
      <p:sp>
        <p:nvSpPr>
          <p:cNvPr id="108" name="Balance 2019 exports tag">
            <a:extLst>
              <a:ext uri="{FF2B5EF4-FFF2-40B4-BE49-F238E27FC236}">
                <a16:creationId xmlns:a16="http://schemas.microsoft.com/office/drawing/2014/main" id="{47FE46A8-2722-CB4B-F100-F3CCC78E6CD6}"/>
              </a:ext>
            </a:extLst>
          </p:cNvPr>
          <p:cNvSpPr txBox="1"/>
          <p:nvPr/>
        </p:nvSpPr>
        <p:spPr>
          <a:xfrm>
            <a:off x="5549900" y="2628900"/>
            <a:ext cx="1498600" cy="152400"/>
          </a:xfrm>
          <a:prstGeom prst="rect">
            <a:avLst/>
          </a:prstGeom>
          <a:noFill/>
        </p:spPr>
        <p:txBody>
          <a:bodyPr vert="horz" wrap="square" lIns="0" tIns="0" rIns="0" bIns="0" rtlCol="0">
            <a:noAutofit/>
          </a:bodyPr>
          <a:lstStyle/>
          <a:p>
            <a:pPr>
              <a:spcAft>
                <a:spcPts val="200"/>
              </a:spcAft>
            </a:pPr>
            <a:r>
              <a:rPr lang="en-ZA" sz="900" b="1">
                <a:solidFill>
                  <a:schemeClr val="accent1"/>
                </a:solidFill>
                <a:latin typeface="Lato" panose="020F0502020204030203" pitchFamily="34" charset="0"/>
              </a:rPr>
              <a:t>customs · DR01</a:t>
            </a:r>
          </a:p>
        </p:txBody>
      </p:sp>
      <p:sp>
        <p:nvSpPr>
          <p:cNvPr id="109" name="Operator 2019 2">
            <a:extLst>
              <a:ext uri="{FF2B5EF4-FFF2-40B4-BE49-F238E27FC236}">
                <a16:creationId xmlns:a16="http://schemas.microsoft.com/office/drawing/2014/main" id="{2FFAF5BF-8C50-997A-C831-B3213BE9C1C7}"/>
              </a:ext>
            </a:extLst>
          </p:cNvPr>
          <p:cNvSpPr txBox="1"/>
          <p:nvPr/>
        </p:nvSpPr>
        <p:spPr>
          <a:xfrm>
            <a:off x="7124700" y="2285999"/>
            <a:ext cx="317500" cy="279400"/>
          </a:xfrm>
          <a:prstGeom prst="rect">
            <a:avLst/>
          </a:prstGeom>
          <a:noFill/>
        </p:spPr>
        <p:txBody>
          <a:bodyPr vert="horz" wrap="square" lIns="0" tIns="0" rIns="0" bIns="0" rtlCol="0">
            <a:noAutofit/>
          </a:bodyPr>
          <a:lstStyle/>
          <a:p>
            <a:pPr algn="ctr">
              <a:spcAft>
                <a:spcPts val="200"/>
              </a:spcAft>
            </a:pPr>
            <a:r>
              <a:rPr lang="en-ZA" sz="1600" b="1">
                <a:solidFill>
                  <a:schemeClr val="accent1"/>
                </a:solidFill>
                <a:latin typeface="Lato" panose="020F0502020204030203" pitchFamily="34" charset="0"/>
              </a:rPr>
              <a:t>−</a:t>
            </a:r>
          </a:p>
        </p:txBody>
      </p:sp>
      <p:sp>
        <p:nvSpPr>
          <p:cNvPr id="110" name="Balance 2019 sales">
            <a:extLst>
              <a:ext uri="{FF2B5EF4-FFF2-40B4-BE49-F238E27FC236}">
                <a16:creationId xmlns:a16="http://schemas.microsoft.com/office/drawing/2014/main" id="{5D2C21A8-7D1E-7B13-E211-FD154A2F50F3}"/>
              </a:ext>
            </a:extLst>
          </p:cNvPr>
          <p:cNvSpPr/>
          <p:nvPr/>
        </p:nvSpPr>
        <p:spPr>
          <a:xfrm>
            <a:off x="7442200" y="2032000"/>
            <a:ext cx="1651000" cy="787400"/>
          </a:xfrm>
          <a:prstGeom prst="rect">
            <a:avLst/>
          </a:prstGeom>
          <a:solidFill>
            <a:srgbClr val="FFFFFF"/>
          </a:solidFill>
          <a:ln w="9525" cap="flat" cmpd="sng" algn="ctr">
            <a:solidFill>
              <a:schemeClr val="accent1"/>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76200" tIns="50800" rIns="76200" bIns="38100" rtlCol="0" anchor="t"/>
          <a:lstStyle/>
          <a:p>
            <a:pPr>
              <a:spcAft>
                <a:spcPts val="400"/>
              </a:spcAft>
            </a:pPr>
            <a:r>
              <a:rPr lang="en-ZA" sz="1500" b="1">
                <a:solidFill>
                  <a:schemeClr val="accent1"/>
                </a:solidFill>
                <a:latin typeface="Lato" panose="020F0502020204030203" pitchFamily="34" charset="0"/>
              </a:rPr>
              <a:t>23.7B L</a:t>
            </a:r>
          </a:p>
          <a:p>
            <a:pPr>
              <a:spcAft>
                <a:spcPts val="200"/>
              </a:spcAft>
            </a:pPr>
            <a:r>
              <a:rPr lang="en-ZA" sz="950">
                <a:solidFill>
                  <a:schemeClr val="dk1"/>
                </a:solidFill>
                <a:latin typeface="Lato" panose="020F0502020204030203" pitchFamily="34" charset="0"/>
              </a:rPr>
              <a:t>Petrol 10.8 · diesel 12.9</a:t>
            </a:r>
          </a:p>
        </p:txBody>
      </p:sp>
      <p:sp>
        <p:nvSpPr>
          <p:cNvPr id="111" name="Balance 2019 sales tag">
            <a:extLst>
              <a:ext uri="{FF2B5EF4-FFF2-40B4-BE49-F238E27FC236}">
                <a16:creationId xmlns:a16="http://schemas.microsoft.com/office/drawing/2014/main" id="{91592FD3-DDFA-EE2B-9B40-1843F761E40A}"/>
              </a:ext>
            </a:extLst>
          </p:cNvPr>
          <p:cNvSpPr txBox="1"/>
          <p:nvPr/>
        </p:nvSpPr>
        <p:spPr>
          <a:xfrm>
            <a:off x="7518400" y="2628900"/>
            <a:ext cx="1498600" cy="152400"/>
          </a:xfrm>
          <a:prstGeom prst="rect">
            <a:avLst/>
          </a:prstGeom>
          <a:noFill/>
        </p:spPr>
        <p:txBody>
          <a:bodyPr vert="horz" wrap="square" lIns="0" tIns="0" rIns="0" bIns="0" rtlCol="0">
            <a:noAutofit/>
          </a:bodyPr>
          <a:lstStyle/>
          <a:p>
            <a:pPr>
              <a:spcAft>
                <a:spcPts val="200"/>
              </a:spcAft>
            </a:pPr>
            <a:r>
              <a:rPr lang="en-ZA" sz="900" b="1">
                <a:solidFill>
                  <a:schemeClr val="accent1"/>
                </a:solidFill>
                <a:latin typeface="Lato" panose="020F0502020204030203" pitchFamily="34" charset="0"/>
              </a:rPr>
              <a:t>observed · DR01</a:t>
            </a:r>
          </a:p>
        </p:txBody>
      </p:sp>
      <p:sp>
        <p:nvSpPr>
          <p:cNvPr id="112" name="Operator 2019 3">
            <a:extLst>
              <a:ext uri="{FF2B5EF4-FFF2-40B4-BE49-F238E27FC236}">
                <a16:creationId xmlns:a16="http://schemas.microsoft.com/office/drawing/2014/main" id="{5DAB3966-B1EB-ACCF-B2B5-772BC18F11AB}"/>
              </a:ext>
            </a:extLst>
          </p:cNvPr>
          <p:cNvSpPr txBox="1"/>
          <p:nvPr/>
        </p:nvSpPr>
        <p:spPr>
          <a:xfrm>
            <a:off x="9093200" y="2285999"/>
            <a:ext cx="317500" cy="279400"/>
          </a:xfrm>
          <a:prstGeom prst="rect">
            <a:avLst/>
          </a:prstGeom>
          <a:noFill/>
        </p:spPr>
        <p:txBody>
          <a:bodyPr vert="horz" wrap="square" lIns="0" tIns="0" rIns="0" bIns="0" rtlCol="0">
            <a:noAutofit/>
          </a:bodyPr>
          <a:lstStyle/>
          <a:p>
            <a:pPr algn="ctr">
              <a:spcAft>
                <a:spcPts val="200"/>
              </a:spcAft>
            </a:pPr>
            <a:r>
              <a:rPr lang="en-ZA" sz="1600" b="1">
                <a:solidFill>
                  <a:schemeClr val="accent1"/>
                </a:solidFill>
                <a:latin typeface="Lato" panose="020F0502020204030203" pitchFamily="34" charset="0"/>
              </a:rPr>
              <a:t>=</a:t>
            </a:r>
          </a:p>
        </p:txBody>
      </p:sp>
      <p:sp>
        <p:nvSpPr>
          <p:cNvPr id="113" name="Balance 2019 supply_less_sales">
            <a:extLst>
              <a:ext uri="{FF2B5EF4-FFF2-40B4-BE49-F238E27FC236}">
                <a16:creationId xmlns:a16="http://schemas.microsoft.com/office/drawing/2014/main" id="{ACE8C19A-1AC6-0076-D49F-11B0DAF2ED56}"/>
              </a:ext>
            </a:extLst>
          </p:cNvPr>
          <p:cNvSpPr/>
          <p:nvPr/>
        </p:nvSpPr>
        <p:spPr>
          <a:xfrm>
            <a:off x="9410700" y="2032000"/>
            <a:ext cx="1651000" cy="787400"/>
          </a:xfrm>
          <a:prstGeom prst="rect">
            <a:avLst/>
          </a:prstGeom>
          <a:solidFill>
            <a:srgbClr val="FFFFFF"/>
          </a:solidFill>
          <a:ln w="9525" cap="flat" cmpd="sng" algn="ctr">
            <a:solidFill>
              <a:schemeClr val="accent1"/>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76200" tIns="50800" rIns="76200" bIns="38100" rtlCol="0" anchor="t"/>
          <a:lstStyle/>
          <a:p>
            <a:pPr>
              <a:spcAft>
                <a:spcPts val="400"/>
              </a:spcAft>
            </a:pPr>
            <a:r>
              <a:rPr lang="en-ZA" sz="1500" b="1">
                <a:solidFill>
                  <a:schemeClr val="accent1"/>
                </a:solidFill>
                <a:latin typeface="Lato" panose="020F0502020204030203" pitchFamily="34" charset="0"/>
              </a:rPr>
              <a:t>0.0B L</a:t>
            </a:r>
          </a:p>
          <a:p>
            <a:pPr>
              <a:spcAft>
                <a:spcPts val="200"/>
              </a:spcAft>
            </a:pPr>
            <a:r>
              <a:rPr lang="en-ZA" sz="950">
                <a:solidFill>
                  <a:schemeClr val="dk1"/>
                </a:solidFill>
                <a:latin typeface="Lato" panose="020F0502020204030203" pitchFamily="34" charset="0"/>
              </a:rPr>
              <a:t>Petrol 0.0 · diesel 0.0</a:t>
            </a:r>
          </a:p>
        </p:txBody>
      </p:sp>
      <p:sp>
        <p:nvSpPr>
          <p:cNvPr id="114" name="Balance 2019 supply_less_sales tag">
            <a:extLst>
              <a:ext uri="{FF2B5EF4-FFF2-40B4-BE49-F238E27FC236}">
                <a16:creationId xmlns:a16="http://schemas.microsoft.com/office/drawing/2014/main" id="{1EEC28AF-5D91-16D5-38C2-210B695DA873}"/>
              </a:ext>
            </a:extLst>
          </p:cNvPr>
          <p:cNvSpPr txBox="1"/>
          <p:nvPr/>
        </p:nvSpPr>
        <p:spPr>
          <a:xfrm>
            <a:off x="9486900" y="2628900"/>
            <a:ext cx="1498600" cy="152400"/>
          </a:xfrm>
          <a:prstGeom prst="rect">
            <a:avLst/>
          </a:prstGeom>
          <a:noFill/>
        </p:spPr>
        <p:txBody>
          <a:bodyPr vert="horz" wrap="square" lIns="0" tIns="0" rIns="0" bIns="0" rtlCol="0">
            <a:noAutofit/>
          </a:bodyPr>
          <a:lstStyle/>
          <a:p>
            <a:pPr>
              <a:spcAft>
                <a:spcPts val="200"/>
              </a:spcAft>
            </a:pPr>
            <a:r>
              <a:rPr lang="en-ZA" sz="900" b="1">
                <a:solidFill>
                  <a:schemeClr val="accent1"/>
                </a:solidFill>
                <a:latin typeface="Lato" panose="020F0502020204030203" pitchFamily="34" charset="0"/>
              </a:rPr>
              <a:t>Stocks + stat. difference</a:t>
            </a:r>
          </a:p>
        </p:txBody>
      </p:sp>
      <p:sp>
        <p:nvSpPr>
          <p:cNvPr id="115" name="Year 2021">
            <a:extLst>
              <a:ext uri="{FF2B5EF4-FFF2-40B4-BE49-F238E27FC236}">
                <a16:creationId xmlns:a16="http://schemas.microsoft.com/office/drawing/2014/main" id="{F8A358A4-D216-31CB-BD99-A874929B314D}"/>
              </a:ext>
            </a:extLst>
          </p:cNvPr>
          <p:cNvSpPr txBox="1"/>
          <p:nvPr/>
        </p:nvSpPr>
        <p:spPr>
          <a:xfrm>
            <a:off x="457200" y="3022599"/>
            <a:ext cx="990600" cy="558800"/>
          </a:xfrm>
          <a:prstGeom prst="rect">
            <a:avLst/>
          </a:prstGeom>
          <a:noFill/>
        </p:spPr>
        <p:txBody>
          <a:bodyPr vert="horz" wrap="square" lIns="0" tIns="0" rIns="0" bIns="0" rtlCol="0">
            <a:noAutofit/>
          </a:bodyPr>
          <a:lstStyle/>
          <a:p>
            <a:pPr>
              <a:spcAft>
                <a:spcPts val="200"/>
              </a:spcAft>
            </a:pPr>
            <a:r>
              <a:rPr lang="en-GB" sz="1400" b="1">
                <a:solidFill>
                  <a:schemeClr val="accent1"/>
                </a:solidFill>
                <a:latin typeface="Lato" panose="020F0502020204030203" pitchFamily="34" charset="0"/>
              </a:rPr>
              <a:t>2021</a:t>
            </a:r>
          </a:p>
          <a:p>
            <a:pPr>
              <a:spcAft>
                <a:spcPts val="200"/>
              </a:spcAft>
            </a:pPr>
            <a:r>
              <a:rPr lang="en-GB" sz="900">
                <a:solidFill>
                  <a:schemeClr val="dk1"/>
                </a:solidFill>
                <a:latin typeface="Lato" panose="020F0502020204030203" pitchFamily="34" charset="0"/>
              </a:rPr>
              <a:t>Energy balance, customs, sales</a:t>
            </a:r>
            <a:endParaRPr lang="en-ZA" sz="900">
              <a:solidFill>
                <a:schemeClr val="dk1"/>
              </a:solidFill>
              <a:latin typeface="Lato" panose="020F0502020204030203" pitchFamily="34" charset="0"/>
            </a:endParaRPr>
          </a:p>
        </p:txBody>
      </p:sp>
      <p:sp>
        <p:nvSpPr>
          <p:cNvPr id="116" name="Balance 2021 production">
            <a:extLst>
              <a:ext uri="{FF2B5EF4-FFF2-40B4-BE49-F238E27FC236}">
                <a16:creationId xmlns:a16="http://schemas.microsoft.com/office/drawing/2014/main" id="{CBEAE6BB-B2BE-E4C0-19C1-9C3574381AF9}"/>
              </a:ext>
            </a:extLst>
          </p:cNvPr>
          <p:cNvSpPr/>
          <p:nvPr/>
        </p:nvSpPr>
        <p:spPr>
          <a:xfrm>
            <a:off x="1536700" y="2946400"/>
            <a:ext cx="1651000" cy="787400"/>
          </a:xfrm>
          <a:prstGeom prst="rect">
            <a:avLst/>
          </a:prstGeom>
          <a:solidFill>
            <a:srgbClr val="FFFFFF"/>
          </a:solidFill>
          <a:ln w="9525" cap="flat" cmpd="sng" algn="ctr">
            <a:solidFill>
              <a:schemeClr val="accent1"/>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76200" tIns="50800" rIns="76200" bIns="38100" rtlCol="0" anchor="t"/>
          <a:lstStyle/>
          <a:p>
            <a:pPr>
              <a:spcAft>
                <a:spcPts val="400"/>
              </a:spcAft>
            </a:pPr>
            <a:r>
              <a:rPr lang="en-ZA" sz="1500" b="1">
                <a:solidFill>
                  <a:schemeClr val="accent1"/>
                </a:solidFill>
                <a:latin typeface="Lato" panose="020F0502020204030203" pitchFamily="34" charset="0"/>
              </a:rPr>
              <a:t>11.7B L</a:t>
            </a:r>
          </a:p>
          <a:p>
            <a:pPr>
              <a:spcAft>
                <a:spcPts val="200"/>
              </a:spcAft>
            </a:pPr>
            <a:r>
              <a:rPr lang="en-ZA" sz="950">
                <a:solidFill>
                  <a:schemeClr val="dk1"/>
                </a:solidFill>
                <a:latin typeface="Lato" panose="020F0502020204030203" pitchFamily="34" charset="0"/>
              </a:rPr>
              <a:t>Petrol 6.4 · diesel 5.3</a:t>
            </a:r>
          </a:p>
        </p:txBody>
      </p:sp>
      <p:sp>
        <p:nvSpPr>
          <p:cNvPr id="117" name="Balance 2021 production tag">
            <a:extLst>
              <a:ext uri="{FF2B5EF4-FFF2-40B4-BE49-F238E27FC236}">
                <a16:creationId xmlns:a16="http://schemas.microsoft.com/office/drawing/2014/main" id="{CC8BCB22-9A91-5B03-C36A-D16C613697C1}"/>
              </a:ext>
            </a:extLst>
          </p:cNvPr>
          <p:cNvSpPr txBox="1"/>
          <p:nvPr/>
        </p:nvSpPr>
        <p:spPr>
          <a:xfrm>
            <a:off x="1612900" y="3543300"/>
            <a:ext cx="1498600" cy="152400"/>
          </a:xfrm>
          <a:prstGeom prst="rect">
            <a:avLst/>
          </a:prstGeom>
          <a:noFill/>
        </p:spPr>
        <p:txBody>
          <a:bodyPr vert="horz" wrap="square" lIns="0" tIns="0" rIns="0" bIns="0" rtlCol="0">
            <a:noAutofit/>
          </a:bodyPr>
          <a:lstStyle/>
          <a:p>
            <a:pPr>
              <a:spcAft>
                <a:spcPts val="200"/>
              </a:spcAft>
            </a:pPr>
            <a:r>
              <a:rPr lang="en-ZA" sz="900" b="1">
                <a:solidFill>
                  <a:schemeClr val="accent1"/>
                </a:solidFill>
                <a:latin typeface="Lato" panose="020F0502020204030203" pitchFamily="34" charset="0"/>
              </a:rPr>
              <a:t>observed · DR01</a:t>
            </a:r>
          </a:p>
        </p:txBody>
      </p:sp>
      <p:sp>
        <p:nvSpPr>
          <p:cNvPr id="118" name="Operator 2021 0">
            <a:extLst>
              <a:ext uri="{FF2B5EF4-FFF2-40B4-BE49-F238E27FC236}">
                <a16:creationId xmlns:a16="http://schemas.microsoft.com/office/drawing/2014/main" id="{4AB1CA13-D47B-F075-76CD-6921E4B9B72E}"/>
              </a:ext>
            </a:extLst>
          </p:cNvPr>
          <p:cNvSpPr txBox="1"/>
          <p:nvPr/>
        </p:nvSpPr>
        <p:spPr>
          <a:xfrm>
            <a:off x="3187700" y="3200399"/>
            <a:ext cx="317500" cy="279400"/>
          </a:xfrm>
          <a:prstGeom prst="rect">
            <a:avLst/>
          </a:prstGeom>
          <a:noFill/>
        </p:spPr>
        <p:txBody>
          <a:bodyPr vert="horz" wrap="square" lIns="0" tIns="0" rIns="0" bIns="0" rtlCol="0">
            <a:noAutofit/>
          </a:bodyPr>
          <a:lstStyle/>
          <a:p>
            <a:pPr algn="ctr">
              <a:spcAft>
                <a:spcPts val="200"/>
              </a:spcAft>
            </a:pPr>
            <a:r>
              <a:rPr lang="en-ZA" sz="1600" b="1">
                <a:solidFill>
                  <a:schemeClr val="accent1"/>
                </a:solidFill>
                <a:latin typeface="Lato" panose="020F0502020204030203" pitchFamily="34" charset="0"/>
              </a:rPr>
              <a:t>+</a:t>
            </a:r>
          </a:p>
        </p:txBody>
      </p:sp>
      <p:sp>
        <p:nvSpPr>
          <p:cNvPr id="119" name="Balance 2021 imports">
            <a:extLst>
              <a:ext uri="{FF2B5EF4-FFF2-40B4-BE49-F238E27FC236}">
                <a16:creationId xmlns:a16="http://schemas.microsoft.com/office/drawing/2014/main" id="{9ADBB037-7AF9-E817-1B13-E744C64FDF2F}"/>
              </a:ext>
            </a:extLst>
          </p:cNvPr>
          <p:cNvSpPr/>
          <p:nvPr/>
        </p:nvSpPr>
        <p:spPr>
          <a:xfrm>
            <a:off x="3505200" y="2946400"/>
            <a:ext cx="1651000" cy="787400"/>
          </a:xfrm>
          <a:prstGeom prst="rect">
            <a:avLst/>
          </a:prstGeom>
          <a:solidFill>
            <a:srgbClr val="FFFFFF"/>
          </a:solidFill>
          <a:ln w="9525" cap="flat" cmpd="sng" algn="ctr">
            <a:solidFill>
              <a:schemeClr val="accent1"/>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76200" tIns="50800" rIns="76200" bIns="38100" rtlCol="0" anchor="t"/>
          <a:lstStyle/>
          <a:p>
            <a:pPr>
              <a:spcAft>
                <a:spcPts val="400"/>
              </a:spcAft>
            </a:pPr>
            <a:r>
              <a:rPr lang="en-ZA" sz="1500" b="1">
                <a:solidFill>
                  <a:schemeClr val="accent1"/>
                </a:solidFill>
                <a:latin typeface="Lato" panose="020F0502020204030203" pitchFamily="34" charset="0"/>
              </a:rPr>
              <a:t>13.8B L</a:t>
            </a:r>
          </a:p>
          <a:p>
            <a:pPr>
              <a:spcAft>
                <a:spcPts val="200"/>
              </a:spcAft>
            </a:pPr>
            <a:r>
              <a:rPr lang="en-ZA" sz="950">
                <a:solidFill>
                  <a:schemeClr val="dk1"/>
                </a:solidFill>
                <a:latin typeface="Lato" panose="020F0502020204030203" pitchFamily="34" charset="0"/>
              </a:rPr>
              <a:t>Petrol 4.0 · diesel 9.8</a:t>
            </a:r>
          </a:p>
        </p:txBody>
      </p:sp>
      <p:sp>
        <p:nvSpPr>
          <p:cNvPr id="120" name="Balance 2021 imports tag">
            <a:extLst>
              <a:ext uri="{FF2B5EF4-FFF2-40B4-BE49-F238E27FC236}">
                <a16:creationId xmlns:a16="http://schemas.microsoft.com/office/drawing/2014/main" id="{9B36190A-2C68-0D82-1DF9-6B88A7CB7CF1}"/>
              </a:ext>
            </a:extLst>
          </p:cNvPr>
          <p:cNvSpPr txBox="1"/>
          <p:nvPr/>
        </p:nvSpPr>
        <p:spPr>
          <a:xfrm>
            <a:off x="3581400" y="3543300"/>
            <a:ext cx="1498600" cy="152400"/>
          </a:xfrm>
          <a:prstGeom prst="rect">
            <a:avLst/>
          </a:prstGeom>
          <a:noFill/>
        </p:spPr>
        <p:txBody>
          <a:bodyPr vert="horz" wrap="square" lIns="0" tIns="0" rIns="0" bIns="0" rtlCol="0">
            <a:noAutofit/>
          </a:bodyPr>
          <a:lstStyle/>
          <a:p>
            <a:pPr>
              <a:spcAft>
                <a:spcPts val="200"/>
              </a:spcAft>
            </a:pPr>
            <a:r>
              <a:rPr lang="en-ZA" sz="900" b="1">
                <a:solidFill>
                  <a:schemeClr val="accent1"/>
                </a:solidFill>
                <a:latin typeface="Lato" panose="020F0502020204030203" pitchFamily="34" charset="0"/>
              </a:rPr>
              <a:t>customs · DR01</a:t>
            </a:r>
          </a:p>
        </p:txBody>
      </p:sp>
      <p:sp>
        <p:nvSpPr>
          <p:cNvPr id="121" name="Operator 2021 1">
            <a:extLst>
              <a:ext uri="{FF2B5EF4-FFF2-40B4-BE49-F238E27FC236}">
                <a16:creationId xmlns:a16="http://schemas.microsoft.com/office/drawing/2014/main" id="{7923EE13-443C-F199-9D50-33BC689483CA}"/>
              </a:ext>
            </a:extLst>
          </p:cNvPr>
          <p:cNvSpPr txBox="1"/>
          <p:nvPr/>
        </p:nvSpPr>
        <p:spPr>
          <a:xfrm>
            <a:off x="5156200" y="3200399"/>
            <a:ext cx="317500" cy="279400"/>
          </a:xfrm>
          <a:prstGeom prst="rect">
            <a:avLst/>
          </a:prstGeom>
          <a:noFill/>
        </p:spPr>
        <p:txBody>
          <a:bodyPr vert="horz" wrap="square" lIns="0" tIns="0" rIns="0" bIns="0" rtlCol="0">
            <a:noAutofit/>
          </a:bodyPr>
          <a:lstStyle/>
          <a:p>
            <a:pPr algn="ctr">
              <a:spcAft>
                <a:spcPts val="200"/>
              </a:spcAft>
            </a:pPr>
            <a:r>
              <a:rPr lang="en-ZA" sz="1600" b="1">
                <a:solidFill>
                  <a:schemeClr val="accent1"/>
                </a:solidFill>
                <a:latin typeface="Lato" panose="020F0502020204030203" pitchFamily="34" charset="0"/>
              </a:rPr>
              <a:t>−</a:t>
            </a:r>
          </a:p>
        </p:txBody>
      </p:sp>
      <p:sp>
        <p:nvSpPr>
          <p:cNvPr id="122" name="Balance 2021 exports">
            <a:extLst>
              <a:ext uri="{FF2B5EF4-FFF2-40B4-BE49-F238E27FC236}">
                <a16:creationId xmlns:a16="http://schemas.microsoft.com/office/drawing/2014/main" id="{BAC6C6F4-E194-B8BB-5AE8-8B4219FC0C53}"/>
              </a:ext>
            </a:extLst>
          </p:cNvPr>
          <p:cNvSpPr/>
          <p:nvPr/>
        </p:nvSpPr>
        <p:spPr>
          <a:xfrm>
            <a:off x="5473700" y="2946400"/>
            <a:ext cx="1651000" cy="787400"/>
          </a:xfrm>
          <a:prstGeom prst="rect">
            <a:avLst/>
          </a:prstGeom>
          <a:solidFill>
            <a:srgbClr val="FFFFFF"/>
          </a:solidFill>
          <a:ln w="9525" cap="flat" cmpd="sng" algn="ctr">
            <a:solidFill>
              <a:schemeClr val="accent1"/>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76200" tIns="50800" rIns="76200" bIns="38100" rtlCol="0" anchor="t"/>
          <a:lstStyle/>
          <a:p>
            <a:pPr>
              <a:spcAft>
                <a:spcPts val="400"/>
              </a:spcAft>
            </a:pPr>
            <a:r>
              <a:rPr lang="en-ZA" sz="1500" b="1">
                <a:solidFill>
                  <a:schemeClr val="accent1"/>
                </a:solidFill>
                <a:latin typeface="Lato" panose="020F0502020204030203" pitchFamily="34" charset="0"/>
              </a:rPr>
              <a:t>1.9B L</a:t>
            </a:r>
          </a:p>
          <a:p>
            <a:pPr>
              <a:spcAft>
                <a:spcPts val="200"/>
              </a:spcAft>
            </a:pPr>
            <a:r>
              <a:rPr lang="en-ZA" sz="950">
                <a:solidFill>
                  <a:schemeClr val="dk1"/>
                </a:solidFill>
                <a:latin typeface="Lato" panose="020F0502020204030203" pitchFamily="34" charset="0"/>
              </a:rPr>
              <a:t>Petrol 1.1 · diesel 0.9</a:t>
            </a:r>
          </a:p>
        </p:txBody>
      </p:sp>
      <p:sp>
        <p:nvSpPr>
          <p:cNvPr id="123" name="Balance 2021 exports tag">
            <a:extLst>
              <a:ext uri="{FF2B5EF4-FFF2-40B4-BE49-F238E27FC236}">
                <a16:creationId xmlns:a16="http://schemas.microsoft.com/office/drawing/2014/main" id="{1C1A36D5-8607-F3F3-E1A8-EF14BB042FAC}"/>
              </a:ext>
            </a:extLst>
          </p:cNvPr>
          <p:cNvSpPr txBox="1"/>
          <p:nvPr/>
        </p:nvSpPr>
        <p:spPr>
          <a:xfrm>
            <a:off x="5549900" y="3543300"/>
            <a:ext cx="1498600" cy="152400"/>
          </a:xfrm>
          <a:prstGeom prst="rect">
            <a:avLst/>
          </a:prstGeom>
          <a:noFill/>
        </p:spPr>
        <p:txBody>
          <a:bodyPr vert="horz" wrap="square" lIns="0" tIns="0" rIns="0" bIns="0" rtlCol="0">
            <a:noAutofit/>
          </a:bodyPr>
          <a:lstStyle/>
          <a:p>
            <a:pPr>
              <a:spcAft>
                <a:spcPts val="200"/>
              </a:spcAft>
            </a:pPr>
            <a:r>
              <a:rPr lang="en-ZA" sz="900" b="1">
                <a:solidFill>
                  <a:schemeClr val="accent1"/>
                </a:solidFill>
                <a:latin typeface="Lato" panose="020F0502020204030203" pitchFamily="34" charset="0"/>
              </a:rPr>
              <a:t>customs · DR01</a:t>
            </a:r>
          </a:p>
        </p:txBody>
      </p:sp>
      <p:sp>
        <p:nvSpPr>
          <p:cNvPr id="124" name="Operator 2021 2">
            <a:extLst>
              <a:ext uri="{FF2B5EF4-FFF2-40B4-BE49-F238E27FC236}">
                <a16:creationId xmlns:a16="http://schemas.microsoft.com/office/drawing/2014/main" id="{94AE4993-9891-1090-FFA1-B474768E4507}"/>
              </a:ext>
            </a:extLst>
          </p:cNvPr>
          <p:cNvSpPr txBox="1"/>
          <p:nvPr/>
        </p:nvSpPr>
        <p:spPr>
          <a:xfrm>
            <a:off x="7124700" y="3200399"/>
            <a:ext cx="317500" cy="279400"/>
          </a:xfrm>
          <a:prstGeom prst="rect">
            <a:avLst/>
          </a:prstGeom>
          <a:noFill/>
        </p:spPr>
        <p:txBody>
          <a:bodyPr vert="horz" wrap="square" lIns="0" tIns="0" rIns="0" bIns="0" rtlCol="0">
            <a:noAutofit/>
          </a:bodyPr>
          <a:lstStyle/>
          <a:p>
            <a:pPr algn="ctr">
              <a:spcAft>
                <a:spcPts val="200"/>
              </a:spcAft>
            </a:pPr>
            <a:r>
              <a:rPr lang="en-ZA" sz="1600" b="1">
                <a:solidFill>
                  <a:schemeClr val="accent1"/>
                </a:solidFill>
                <a:latin typeface="Lato" panose="020F0502020204030203" pitchFamily="34" charset="0"/>
              </a:rPr>
              <a:t>−</a:t>
            </a:r>
          </a:p>
        </p:txBody>
      </p:sp>
      <p:sp>
        <p:nvSpPr>
          <p:cNvPr id="125" name="Balance 2021 sales">
            <a:extLst>
              <a:ext uri="{FF2B5EF4-FFF2-40B4-BE49-F238E27FC236}">
                <a16:creationId xmlns:a16="http://schemas.microsoft.com/office/drawing/2014/main" id="{4CE1AD4E-22A2-51AF-A349-4DA01A79E6F5}"/>
              </a:ext>
            </a:extLst>
          </p:cNvPr>
          <p:cNvSpPr/>
          <p:nvPr/>
        </p:nvSpPr>
        <p:spPr>
          <a:xfrm>
            <a:off x="7442200" y="2946400"/>
            <a:ext cx="1651000" cy="787400"/>
          </a:xfrm>
          <a:prstGeom prst="rect">
            <a:avLst/>
          </a:prstGeom>
          <a:solidFill>
            <a:srgbClr val="FFFFFF"/>
          </a:solidFill>
          <a:ln w="9525" cap="flat" cmpd="sng" algn="ctr">
            <a:solidFill>
              <a:schemeClr val="accent1"/>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76200" tIns="50800" rIns="76200" bIns="38100" rtlCol="0" anchor="t"/>
          <a:lstStyle/>
          <a:p>
            <a:pPr>
              <a:spcAft>
                <a:spcPts val="400"/>
              </a:spcAft>
            </a:pPr>
            <a:r>
              <a:rPr lang="en-ZA" sz="1500" b="1">
                <a:solidFill>
                  <a:schemeClr val="accent1"/>
                </a:solidFill>
                <a:latin typeface="Lato" panose="020F0502020204030203" pitchFamily="34" charset="0"/>
              </a:rPr>
              <a:t>22.2B L</a:t>
            </a:r>
          </a:p>
          <a:p>
            <a:pPr>
              <a:spcAft>
                <a:spcPts val="200"/>
              </a:spcAft>
            </a:pPr>
            <a:r>
              <a:rPr lang="en-ZA" sz="950">
                <a:solidFill>
                  <a:schemeClr val="dk1"/>
                </a:solidFill>
                <a:latin typeface="Lato" panose="020F0502020204030203" pitchFamily="34" charset="0"/>
              </a:rPr>
              <a:t>Petrol 9.3 · diesel 12.9</a:t>
            </a:r>
          </a:p>
        </p:txBody>
      </p:sp>
      <p:sp>
        <p:nvSpPr>
          <p:cNvPr id="126" name="Balance 2021 sales tag">
            <a:extLst>
              <a:ext uri="{FF2B5EF4-FFF2-40B4-BE49-F238E27FC236}">
                <a16:creationId xmlns:a16="http://schemas.microsoft.com/office/drawing/2014/main" id="{C1FF9068-F05F-9CBC-A057-F0330E7E309F}"/>
              </a:ext>
            </a:extLst>
          </p:cNvPr>
          <p:cNvSpPr txBox="1"/>
          <p:nvPr/>
        </p:nvSpPr>
        <p:spPr>
          <a:xfrm>
            <a:off x="7518400" y="3543300"/>
            <a:ext cx="1498600" cy="152400"/>
          </a:xfrm>
          <a:prstGeom prst="rect">
            <a:avLst/>
          </a:prstGeom>
          <a:noFill/>
        </p:spPr>
        <p:txBody>
          <a:bodyPr vert="horz" wrap="square" lIns="0" tIns="0" rIns="0" bIns="0" rtlCol="0">
            <a:noAutofit/>
          </a:bodyPr>
          <a:lstStyle/>
          <a:p>
            <a:pPr>
              <a:spcAft>
                <a:spcPts val="200"/>
              </a:spcAft>
            </a:pPr>
            <a:r>
              <a:rPr lang="en-ZA" sz="900" b="1">
                <a:solidFill>
                  <a:schemeClr val="accent1"/>
                </a:solidFill>
                <a:latin typeface="Lato" panose="020F0502020204030203" pitchFamily="34" charset="0"/>
              </a:rPr>
              <a:t>observed · DR01</a:t>
            </a:r>
          </a:p>
        </p:txBody>
      </p:sp>
      <p:sp>
        <p:nvSpPr>
          <p:cNvPr id="127" name="Operator 2021 3">
            <a:extLst>
              <a:ext uri="{FF2B5EF4-FFF2-40B4-BE49-F238E27FC236}">
                <a16:creationId xmlns:a16="http://schemas.microsoft.com/office/drawing/2014/main" id="{12784684-5E84-50C1-F1FA-2D59DCA07C71}"/>
              </a:ext>
            </a:extLst>
          </p:cNvPr>
          <p:cNvSpPr txBox="1"/>
          <p:nvPr/>
        </p:nvSpPr>
        <p:spPr>
          <a:xfrm>
            <a:off x="9093200" y="3200399"/>
            <a:ext cx="317500" cy="279400"/>
          </a:xfrm>
          <a:prstGeom prst="rect">
            <a:avLst/>
          </a:prstGeom>
          <a:noFill/>
        </p:spPr>
        <p:txBody>
          <a:bodyPr vert="horz" wrap="square" lIns="0" tIns="0" rIns="0" bIns="0" rtlCol="0">
            <a:noAutofit/>
          </a:bodyPr>
          <a:lstStyle/>
          <a:p>
            <a:pPr algn="ctr">
              <a:spcAft>
                <a:spcPts val="200"/>
              </a:spcAft>
            </a:pPr>
            <a:r>
              <a:rPr lang="en-ZA" sz="1600" b="1">
                <a:solidFill>
                  <a:schemeClr val="accent1"/>
                </a:solidFill>
                <a:latin typeface="Lato" panose="020F0502020204030203" pitchFamily="34" charset="0"/>
              </a:rPr>
              <a:t>=</a:t>
            </a:r>
          </a:p>
        </p:txBody>
      </p:sp>
      <p:sp>
        <p:nvSpPr>
          <p:cNvPr id="128" name="Balance 2021 supply_less_sales">
            <a:extLst>
              <a:ext uri="{FF2B5EF4-FFF2-40B4-BE49-F238E27FC236}">
                <a16:creationId xmlns:a16="http://schemas.microsoft.com/office/drawing/2014/main" id="{DA93EF27-8CF7-F89F-08AD-7A27B048A511}"/>
              </a:ext>
            </a:extLst>
          </p:cNvPr>
          <p:cNvSpPr/>
          <p:nvPr/>
        </p:nvSpPr>
        <p:spPr>
          <a:xfrm>
            <a:off x="9410700" y="2946400"/>
            <a:ext cx="1651000" cy="787400"/>
          </a:xfrm>
          <a:prstGeom prst="rect">
            <a:avLst/>
          </a:prstGeom>
          <a:solidFill>
            <a:srgbClr val="FFFFFF"/>
          </a:solidFill>
          <a:ln w="9525" cap="flat" cmpd="sng" algn="ctr">
            <a:solidFill>
              <a:schemeClr val="accent1"/>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76200" tIns="50800" rIns="76200" bIns="38100" rtlCol="0" anchor="t"/>
          <a:lstStyle/>
          <a:p>
            <a:pPr>
              <a:spcAft>
                <a:spcPts val="400"/>
              </a:spcAft>
            </a:pPr>
            <a:r>
              <a:rPr lang="en-ZA" sz="1500" b="1">
                <a:solidFill>
                  <a:schemeClr val="accent1"/>
                </a:solidFill>
                <a:latin typeface="Lato" panose="020F0502020204030203" pitchFamily="34" charset="0"/>
              </a:rPr>
              <a:t>+1.2B L</a:t>
            </a:r>
          </a:p>
          <a:p>
            <a:pPr>
              <a:spcAft>
                <a:spcPts val="200"/>
              </a:spcAft>
            </a:pPr>
            <a:r>
              <a:rPr lang="en-ZA" sz="950">
                <a:solidFill>
                  <a:schemeClr val="dk1"/>
                </a:solidFill>
                <a:latin typeface="Lato" panose="020F0502020204030203" pitchFamily="34" charset="0"/>
              </a:rPr>
              <a:t>Petrol 0.0 · diesel 1.2</a:t>
            </a:r>
          </a:p>
        </p:txBody>
      </p:sp>
      <p:sp>
        <p:nvSpPr>
          <p:cNvPr id="129" name="Balance 2021 supply_less_sales tag">
            <a:extLst>
              <a:ext uri="{FF2B5EF4-FFF2-40B4-BE49-F238E27FC236}">
                <a16:creationId xmlns:a16="http://schemas.microsoft.com/office/drawing/2014/main" id="{15D38A7A-0D57-4DA0-D77E-6C4E9D008E4C}"/>
              </a:ext>
            </a:extLst>
          </p:cNvPr>
          <p:cNvSpPr txBox="1"/>
          <p:nvPr/>
        </p:nvSpPr>
        <p:spPr>
          <a:xfrm>
            <a:off x="9486900" y="3543300"/>
            <a:ext cx="1498600" cy="152400"/>
          </a:xfrm>
          <a:prstGeom prst="rect">
            <a:avLst/>
          </a:prstGeom>
          <a:noFill/>
        </p:spPr>
        <p:txBody>
          <a:bodyPr vert="horz" wrap="square" lIns="0" tIns="0" rIns="0" bIns="0" rtlCol="0">
            <a:noAutofit/>
          </a:bodyPr>
          <a:lstStyle/>
          <a:p>
            <a:pPr>
              <a:spcAft>
                <a:spcPts val="200"/>
              </a:spcAft>
            </a:pPr>
            <a:r>
              <a:rPr lang="en-ZA" sz="900" b="1">
                <a:solidFill>
                  <a:schemeClr val="accent1"/>
                </a:solidFill>
                <a:latin typeface="Lato" panose="020F0502020204030203" pitchFamily="34" charset="0"/>
              </a:rPr>
              <a:t>Stocks + stat. difference</a:t>
            </a:r>
          </a:p>
        </p:txBody>
      </p:sp>
      <p:sp>
        <p:nvSpPr>
          <p:cNvPr id="130" name="Year 2023">
            <a:extLst>
              <a:ext uri="{FF2B5EF4-FFF2-40B4-BE49-F238E27FC236}">
                <a16:creationId xmlns:a16="http://schemas.microsoft.com/office/drawing/2014/main" id="{5DF2D6A7-8310-BC9A-532B-75F527A45EF5}"/>
              </a:ext>
            </a:extLst>
          </p:cNvPr>
          <p:cNvSpPr txBox="1"/>
          <p:nvPr/>
        </p:nvSpPr>
        <p:spPr>
          <a:xfrm>
            <a:off x="457200" y="3936999"/>
            <a:ext cx="990600" cy="558800"/>
          </a:xfrm>
          <a:prstGeom prst="rect">
            <a:avLst/>
          </a:prstGeom>
          <a:noFill/>
        </p:spPr>
        <p:txBody>
          <a:bodyPr vert="horz" wrap="square" lIns="0" tIns="0" rIns="0" bIns="0" rtlCol="0">
            <a:noAutofit/>
          </a:bodyPr>
          <a:lstStyle/>
          <a:p>
            <a:pPr>
              <a:spcAft>
                <a:spcPts val="200"/>
              </a:spcAft>
            </a:pPr>
            <a:r>
              <a:rPr lang="en-ZA" sz="1400" b="1">
                <a:solidFill>
                  <a:schemeClr val="accent1"/>
                </a:solidFill>
                <a:latin typeface="Lato" panose="020F0502020204030203" pitchFamily="34" charset="0"/>
              </a:rPr>
              <a:t>2023</a:t>
            </a:r>
          </a:p>
          <a:p>
            <a:pPr>
              <a:spcAft>
                <a:spcPts val="200"/>
              </a:spcAft>
            </a:pPr>
            <a:r>
              <a:rPr lang="en-ZA" sz="900">
                <a:solidFill>
                  <a:schemeClr val="dk1"/>
                </a:solidFill>
                <a:latin typeface="Lato" panose="020F0502020204030203" pitchFamily="34" charset="0"/>
              </a:rPr>
              <a:t>Customs and sales</a:t>
            </a:r>
          </a:p>
        </p:txBody>
      </p:sp>
      <p:sp>
        <p:nvSpPr>
          <p:cNvPr id="131" name="Balance 2023 production">
            <a:extLst>
              <a:ext uri="{FF2B5EF4-FFF2-40B4-BE49-F238E27FC236}">
                <a16:creationId xmlns:a16="http://schemas.microsoft.com/office/drawing/2014/main" id="{4A729DBB-4A2B-EAF0-B7A6-82C3E329EE26}"/>
              </a:ext>
            </a:extLst>
          </p:cNvPr>
          <p:cNvSpPr/>
          <p:nvPr/>
        </p:nvSpPr>
        <p:spPr>
          <a:xfrm>
            <a:off x="1536700" y="3860800"/>
            <a:ext cx="1651000" cy="787400"/>
          </a:xfrm>
          <a:prstGeom prst="rect">
            <a:avLst/>
          </a:prstGeom>
          <a:solidFill>
            <a:srgbClr val="FFFFFF"/>
          </a:solidFill>
          <a:ln w="9525" cap="flat" cmpd="sng" algn="ctr">
            <a:solidFill>
              <a:schemeClr val="accent1"/>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76200" tIns="50800" rIns="76200" bIns="38100" rtlCol="0" anchor="t"/>
          <a:lstStyle/>
          <a:p>
            <a:pPr>
              <a:spcAft>
                <a:spcPts val="400"/>
              </a:spcAft>
            </a:pPr>
            <a:r>
              <a:rPr lang="en-GB" sz="1500" b="1">
                <a:solidFill>
                  <a:srgbClr val="808080"/>
                </a:solidFill>
                <a:latin typeface="Lato" panose="020F0502020204030203" pitchFamily="34" charset="0"/>
              </a:rPr>
              <a:t>Not published</a:t>
            </a:r>
          </a:p>
          <a:p>
            <a:pPr>
              <a:spcAft>
                <a:spcPts val="200"/>
              </a:spcAft>
            </a:pPr>
            <a:r>
              <a:rPr lang="en-GB" sz="950">
                <a:solidFill>
                  <a:schemeClr val="dk1"/>
                </a:solidFill>
                <a:latin typeface="Lato" panose="020F0502020204030203" pitchFamily="34" charset="0"/>
              </a:rPr>
              <a:t>No balance after 2021</a:t>
            </a:r>
            <a:endParaRPr lang="en-ZA" sz="950">
              <a:solidFill>
                <a:schemeClr val="dk1"/>
              </a:solidFill>
              <a:latin typeface="Lato" panose="020F0502020204030203" pitchFamily="34" charset="0"/>
            </a:endParaRPr>
          </a:p>
        </p:txBody>
      </p:sp>
      <p:sp>
        <p:nvSpPr>
          <p:cNvPr id="132" name="Balance 2023 production tag">
            <a:extLst>
              <a:ext uri="{FF2B5EF4-FFF2-40B4-BE49-F238E27FC236}">
                <a16:creationId xmlns:a16="http://schemas.microsoft.com/office/drawing/2014/main" id="{7EF2D305-34BB-FDB9-9E18-C62280180167}"/>
              </a:ext>
            </a:extLst>
          </p:cNvPr>
          <p:cNvSpPr txBox="1"/>
          <p:nvPr/>
        </p:nvSpPr>
        <p:spPr>
          <a:xfrm>
            <a:off x="1612900" y="4457700"/>
            <a:ext cx="1498600" cy="152400"/>
          </a:xfrm>
          <a:prstGeom prst="rect">
            <a:avLst/>
          </a:prstGeom>
          <a:noFill/>
        </p:spPr>
        <p:txBody>
          <a:bodyPr vert="horz" wrap="square" lIns="0" tIns="0" rIns="0" bIns="0" rtlCol="0">
            <a:noAutofit/>
          </a:bodyPr>
          <a:lstStyle/>
          <a:p>
            <a:pPr>
              <a:spcAft>
                <a:spcPts val="200"/>
              </a:spcAft>
            </a:pPr>
            <a:r>
              <a:rPr lang="en-ZA" sz="900">
                <a:solidFill>
                  <a:srgbClr val="808080"/>
                </a:solidFill>
                <a:latin typeface="Lato" panose="020F0502020204030203" pitchFamily="34" charset="0"/>
              </a:rPr>
              <a:t>Pending · DR08 operators</a:t>
            </a:r>
          </a:p>
        </p:txBody>
      </p:sp>
      <p:sp>
        <p:nvSpPr>
          <p:cNvPr id="133" name="Operator 2023 0">
            <a:extLst>
              <a:ext uri="{FF2B5EF4-FFF2-40B4-BE49-F238E27FC236}">
                <a16:creationId xmlns:a16="http://schemas.microsoft.com/office/drawing/2014/main" id="{55BAD7BA-CE64-24BA-FD58-8A2D5DC74FC0}"/>
              </a:ext>
            </a:extLst>
          </p:cNvPr>
          <p:cNvSpPr txBox="1"/>
          <p:nvPr/>
        </p:nvSpPr>
        <p:spPr>
          <a:xfrm>
            <a:off x="3187700" y="4114799"/>
            <a:ext cx="317500" cy="279400"/>
          </a:xfrm>
          <a:prstGeom prst="rect">
            <a:avLst/>
          </a:prstGeom>
          <a:noFill/>
        </p:spPr>
        <p:txBody>
          <a:bodyPr vert="horz" wrap="square" lIns="0" tIns="0" rIns="0" bIns="0" rtlCol="0">
            <a:noAutofit/>
          </a:bodyPr>
          <a:lstStyle/>
          <a:p>
            <a:pPr algn="ctr">
              <a:spcAft>
                <a:spcPts val="200"/>
              </a:spcAft>
            </a:pPr>
            <a:r>
              <a:rPr lang="en-ZA" sz="1600" b="1">
                <a:solidFill>
                  <a:schemeClr val="accent1"/>
                </a:solidFill>
                <a:latin typeface="Lato" panose="020F0502020204030203" pitchFamily="34" charset="0"/>
              </a:rPr>
              <a:t>+</a:t>
            </a:r>
          </a:p>
        </p:txBody>
      </p:sp>
      <p:sp>
        <p:nvSpPr>
          <p:cNvPr id="134" name="Balance 2023 imports">
            <a:extLst>
              <a:ext uri="{FF2B5EF4-FFF2-40B4-BE49-F238E27FC236}">
                <a16:creationId xmlns:a16="http://schemas.microsoft.com/office/drawing/2014/main" id="{FDFB02D3-C7B5-9E12-A449-FA2785D12E04}"/>
              </a:ext>
            </a:extLst>
          </p:cNvPr>
          <p:cNvSpPr/>
          <p:nvPr/>
        </p:nvSpPr>
        <p:spPr>
          <a:xfrm>
            <a:off x="3505200" y="3860800"/>
            <a:ext cx="1651000" cy="787400"/>
          </a:xfrm>
          <a:prstGeom prst="rect">
            <a:avLst/>
          </a:prstGeom>
          <a:solidFill>
            <a:srgbClr val="FFFFFF"/>
          </a:solidFill>
          <a:ln w="9525" cap="flat" cmpd="sng" algn="ctr">
            <a:solidFill>
              <a:schemeClr val="accent1"/>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76200" tIns="50800" rIns="76200" bIns="38100" rtlCol="0" anchor="t"/>
          <a:lstStyle/>
          <a:p>
            <a:pPr>
              <a:spcAft>
                <a:spcPts val="400"/>
              </a:spcAft>
            </a:pPr>
            <a:r>
              <a:rPr lang="en-ZA" sz="1500" b="1">
                <a:solidFill>
                  <a:schemeClr val="accent1"/>
                </a:solidFill>
                <a:latin typeface="Lato" panose="020F0502020204030203" pitchFamily="34" charset="0"/>
              </a:rPr>
              <a:t>17.4B L</a:t>
            </a:r>
          </a:p>
          <a:p>
            <a:pPr>
              <a:spcAft>
                <a:spcPts val="200"/>
              </a:spcAft>
            </a:pPr>
            <a:r>
              <a:rPr lang="en-ZA" sz="950">
                <a:solidFill>
                  <a:schemeClr val="dk1"/>
                </a:solidFill>
                <a:latin typeface="Lato" panose="020F0502020204030203" pitchFamily="34" charset="0"/>
              </a:rPr>
              <a:t>Petrol 4.5 · diesel 12.9</a:t>
            </a:r>
          </a:p>
        </p:txBody>
      </p:sp>
      <p:sp>
        <p:nvSpPr>
          <p:cNvPr id="135" name="Balance 2023 imports tag">
            <a:extLst>
              <a:ext uri="{FF2B5EF4-FFF2-40B4-BE49-F238E27FC236}">
                <a16:creationId xmlns:a16="http://schemas.microsoft.com/office/drawing/2014/main" id="{F1BD150B-7EA9-CE48-997D-32CC69FF7F7B}"/>
              </a:ext>
            </a:extLst>
          </p:cNvPr>
          <p:cNvSpPr txBox="1"/>
          <p:nvPr/>
        </p:nvSpPr>
        <p:spPr>
          <a:xfrm>
            <a:off x="3581400" y="4457700"/>
            <a:ext cx="1498600" cy="152400"/>
          </a:xfrm>
          <a:prstGeom prst="rect">
            <a:avLst/>
          </a:prstGeom>
          <a:noFill/>
        </p:spPr>
        <p:txBody>
          <a:bodyPr vert="horz" wrap="square" lIns="0" tIns="0" rIns="0" bIns="0" rtlCol="0">
            <a:noAutofit/>
          </a:bodyPr>
          <a:lstStyle/>
          <a:p>
            <a:pPr>
              <a:spcAft>
                <a:spcPts val="200"/>
              </a:spcAft>
            </a:pPr>
            <a:r>
              <a:rPr lang="en-ZA" sz="900" b="1">
                <a:solidFill>
                  <a:schemeClr val="accent1"/>
                </a:solidFill>
                <a:latin typeface="Lato" panose="020F0502020204030203" pitchFamily="34" charset="0"/>
              </a:rPr>
              <a:t>customs · DR01</a:t>
            </a:r>
          </a:p>
        </p:txBody>
      </p:sp>
      <p:sp>
        <p:nvSpPr>
          <p:cNvPr id="136" name="Operator 2023 1">
            <a:extLst>
              <a:ext uri="{FF2B5EF4-FFF2-40B4-BE49-F238E27FC236}">
                <a16:creationId xmlns:a16="http://schemas.microsoft.com/office/drawing/2014/main" id="{56ED3A97-05C9-7910-4B4D-CE37ED420837}"/>
              </a:ext>
            </a:extLst>
          </p:cNvPr>
          <p:cNvSpPr txBox="1"/>
          <p:nvPr/>
        </p:nvSpPr>
        <p:spPr>
          <a:xfrm>
            <a:off x="5156200" y="4114799"/>
            <a:ext cx="317500" cy="279400"/>
          </a:xfrm>
          <a:prstGeom prst="rect">
            <a:avLst/>
          </a:prstGeom>
          <a:noFill/>
        </p:spPr>
        <p:txBody>
          <a:bodyPr vert="horz" wrap="square" lIns="0" tIns="0" rIns="0" bIns="0" rtlCol="0">
            <a:noAutofit/>
          </a:bodyPr>
          <a:lstStyle/>
          <a:p>
            <a:pPr algn="ctr">
              <a:spcAft>
                <a:spcPts val="200"/>
              </a:spcAft>
            </a:pPr>
            <a:r>
              <a:rPr lang="en-ZA" sz="1600" b="1">
                <a:solidFill>
                  <a:schemeClr val="accent1"/>
                </a:solidFill>
                <a:latin typeface="Lato" panose="020F0502020204030203" pitchFamily="34" charset="0"/>
              </a:rPr>
              <a:t>−</a:t>
            </a:r>
          </a:p>
        </p:txBody>
      </p:sp>
      <p:sp>
        <p:nvSpPr>
          <p:cNvPr id="137" name="Balance 2023 exports">
            <a:extLst>
              <a:ext uri="{FF2B5EF4-FFF2-40B4-BE49-F238E27FC236}">
                <a16:creationId xmlns:a16="http://schemas.microsoft.com/office/drawing/2014/main" id="{C2DC1A68-FE27-96DB-3BFF-7665EC238036}"/>
              </a:ext>
            </a:extLst>
          </p:cNvPr>
          <p:cNvSpPr/>
          <p:nvPr/>
        </p:nvSpPr>
        <p:spPr>
          <a:xfrm>
            <a:off x="5473700" y="3860800"/>
            <a:ext cx="1651000" cy="787400"/>
          </a:xfrm>
          <a:prstGeom prst="rect">
            <a:avLst/>
          </a:prstGeom>
          <a:solidFill>
            <a:srgbClr val="FFFFFF"/>
          </a:solidFill>
          <a:ln w="9525" cap="flat" cmpd="sng" algn="ctr">
            <a:solidFill>
              <a:schemeClr val="accent1"/>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76200" tIns="50800" rIns="76200" bIns="38100" rtlCol="0" anchor="t"/>
          <a:lstStyle/>
          <a:p>
            <a:pPr>
              <a:spcAft>
                <a:spcPts val="400"/>
              </a:spcAft>
            </a:pPr>
            <a:r>
              <a:rPr lang="en-ZA" sz="1500" b="1">
                <a:solidFill>
                  <a:schemeClr val="accent1"/>
                </a:solidFill>
                <a:latin typeface="Lato" panose="020F0502020204030203" pitchFamily="34" charset="0"/>
              </a:rPr>
              <a:t>1.9B L</a:t>
            </a:r>
          </a:p>
          <a:p>
            <a:pPr>
              <a:spcAft>
                <a:spcPts val="200"/>
              </a:spcAft>
            </a:pPr>
            <a:r>
              <a:rPr lang="en-ZA" sz="950">
                <a:solidFill>
                  <a:schemeClr val="dk1"/>
                </a:solidFill>
                <a:latin typeface="Lato" panose="020F0502020204030203" pitchFamily="34" charset="0"/>
              </a:rPr>
              <a:t>Petrol 1.0 · diesel 0.9</a:t>
            </a:r>
          </a:p>
        </p:txBody>
      </p:sp>
      <p:sp>
        <p:nvSpPr>
          <p:cNvPr id="138" name="Balance 2023 exports tag">
            <a:extLst>
              <a:ext uri="{FF2B5EF4-FFF2-40B4-BE49-F238E27FC236}">
                <a16:creationId xmlns:a16="http://schemas.microsoft.com/office/drawing/2014/main" id="{FAEF3376-88D7-0AD9-00EC-1FE2F1D1D4DF}"/>
              </a:ext>
            </a:extLst>
          </p:cNvPr>
          <p:cNvSpPr txBox="1"/>
          <p:nvPr/>
        </p:nvSpPr>
        <p:spPr>
          <a:xfrm>
            <a:off x="5549900" y="4457700"/>
            <a:ext cx="1498600" cy="152400"/>
          </a:xfrm>
          <a:prstGeom prst="rect">
            <a:avLst/>
          </a:prstGeom>
          <a:noFill/>
        </p:spPr>
        <p:txBody>
          <a:bodyPr vert="horz" wrap="square" lIns="0" tIns="0" rIns="0" bIns="0" rtlCol="0">
            <a:noAutofit/>
          </a:bodyPr>
          <a:lstStyle/>
          <a:p>
            <a:pPr>
              <a:spcAft>
                <a:spcPts val="200"/>
              </a:spcAft>
            </a:pPr>
            <a:r>
              <a:rPr lang="en-ZA" sz="900" b="1">
                <a:solidFill>
                  <a:schemeClr val="accent1"/>
                </a:solidFill>
                <a:latin typeface="Lato" panose="020F0502020204030203" pitchFamily="34" charset="0"/>
              </a:rPr>
              <a:t>customs · DR01</a:t>
            </a:r>
          </a:p>
        </p:txBody>
      </p:sp>
      <p:sp>
        <p:nvSpPr>
          <p:cNvPr id="139" name="Operator 2023 2">
            <a:extLst>
              <a:ext uri="{FF2B5EF4-FFF2-40B4-BE49-F238E27FC236}">
                <a16:creationId xmlns:a16="http://schemas.microsoft.com/office/drawing/2014/main" id="{AA592F79-D2DE-52E5-2D91-59DF10FCDC23}"/>
              </a:ext>
            </a:extLst>
          </p:cNvPr>
          <p:cNvSpPr txBox="1"/>
          <p:nvPr/>
        </p:nvSpPr>
        <p:spPr>
          <a:xfrm>
            <a:off x="7124700" y="4114799"/>
            <a:ext cx="317500" cy="279400"/>
          </a:xfrm>
          <a:prstGeom prst="rect">
            <a:avLst/>
          </a:prstGeom>
          <a:noFill/>
        </p:spPr>
        <p:txBody>
          <a:bodyPr vert="horz" wrap="square" lIns="0" tIns="0" rIns="0" bIns="0" rtlCol="0">
            <a:noAutofit/>
          </a:bodyPr>
          <a:lstStyle/>
          <a:p>
            <a:pPr algn="ctr">
              <a:spcAft>
                <a:spcPts val="200"/>
              </a:spcAft>
            </a:pPr>
            <a:r>
              <a:rPr lang="en-ZA" sz="1600" b="1">
                <a:solidFill>
                  <a:schemeClr val="accent1"/>
                </a:solidFill>
                <a:latin typeface="Lato" panose="020F0502020204030203" pitchFamily="34" charset="0"/>
              </a:rPr>
              <a:t>−</a:t>
            </a:r>
          </a:p>
        </p:txBody>
      </p:sp>
      <p:sp>
        <p:nvSpPr>
          <p:cNvPr id="140" name="Balance 2023 sales">
            <a:extLst>
              <a:ext uri="{FF2B5EF4-FFF2-40B4-BE49-F238E27FC236}">
                <a16:creationId xmlns:a16="http://schemas.microsoft.com/office/drawing/2014/main" id="{C0E6CA9B-E8BD-5F8A-3F5F-F15AE4D7DDD0}"/>
              </a:ext>
            </a:extLst>
          </p:cNvPr>
          <p:cNvSpPr/>
          <p:nvPr/>
        </p:nvSpPr>
        <p:spPr>
          <a:xfrm>
            <a:off x="7442200" y="3860800"/>
            <a:ext cx="1651000" cy="787400"/>
          </a:xfrm>
          <a:prstGeom prst="rect">
            <a:avLst/>
          </a:prstGeom>
          <a:solidFill>
            <a:srgbClr val="FFFFFF"/>
          </a:solidFill>
          <a:ln w="9525" cap="flat" cmpd="sng" algn="ctr">
            <a:solidFill>
              <a:schemeClr val="accent1"/>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76200" tIns="50800" rIns="76200" bIns="38100" rtlCol="0" anchor="t"/>
          <a:lstStyle/>
          <a:p>
            <a:pPr>
              <a:spcAft>
                <a:spcPts val="400"/>
              </a:spcAft>
            </a:pPr>
            <a:r>
              <a:rPr lang="en-ZA" sz="1500" b="1">
                <a:solidFill>
                  <a:schemeClr val="accent1"/>
                </a:solidFill>
                <a:latin typeface="Lato" panose="020F0502020204030203" pitchFamily="34" charset="0"/>
              </a:rPr>
              <a:t>21.9B L</a:t>
            </a:r>
          </a:p>
          <a:p>
            <a:pPr>
              <a:spcAft>
                <a:spcPts val="200"/>
              </a:spcAft>
            </a:pPr>
            <a:r>
              <a:rPr lang="en-ZA" sz="950">
                <a:solidFill>
                  <a:schemeClr val="dk1"/>
                </a:solidFill>
                <a:latin typeface="Lato" panose="020F0502020204030203" pitchFamily="34" charset="0"/>
              </a:rPr>
              <a:t>Petrol 9.0 · diesel 12.9</a:t>
            </a:r>
          </a:p>
        </p:txBody>
      </p:sp>
      <p:sp>
        <p:nvSpPr>
          <p:cNvPr id="141" name="Balance 2023 sales tag">
            <a:extLst>
              <a:ext uri="{FF2B5EF4-FFF2-40B4-BE49-F238E27FC236}">
                <a16:creationId xmlns:a16="http://schemas.microsoft.com/office/drawing/2014/main" id="{D68611AD-EC1E-BF8C-4AEE-E9B7F5AA6188}"/>
              </a:ext>
            </a:extLst>
          </p:cNvPr>
          <p:cNvSpPr txBox="1"/>
          <p:nvPr/>
        </p:nvSpPr>
        <p:spPr>
          <a:xfrm>
            <a:off x="7518400" y="4457700"/>
            <a:ext cx="1498600" cy="152400"/>
          </a:xfrm>
          <a:prstGeom prst="rect">
            <a:avLst/>
          </a:prstGeom>
          <a:noFill/>
        </p:spPr>
        <p:txBody>
          <a:bodyPr vert="horz" wrap="square" lIns="0" tIns="0" rIns="0" bIns="0" rtlCol="0">
            <a:noAutofit/>
          </a:bodyPr>
          <a:lstStyle/>
          <a:p>
            <a:pPr>
              <a:spcAft>
                <a:spcPts val="200"/>
              </a:spcAft>
            </a:pPr>
            <a:r>
              <a:rPr lang="en-ZA" sz="900" b="1">
                <a:solidFill>
                  <a:schemeClr val="accent1"/>
                </a:solidFill>
                <a:latin typeface="Lato" panose="020F0502020204030203" pitchFamily="34" charset="0"/>
              </a:rPr>
              <a:t>observed · DR01</a:t>
            </a:r>
          </a:p>
        </p:txBody>
      </p:sp>
      <p:sp>
        <p:nvSpPr>
          <p:cNvPr id="142" name="Operator 2023 3">
            <a:extLst>
              <a:ext uri="{FF2B5EF4-FFF2-40B4-BE49-F238E27FC236}">
                <a16:creationId xmlns:a16="http://schemas.microsoft.com/office/drawing/2014/main" id="{93E01C59-C0F0-BF33-04A1-BECBB768264C}"/>
              </a:ext>
            </a:extLst>
          </p:cNvPr>
          <p:cNvSpPr txBox="1"/>
          <p:nvPr/>
        </p:nvSpPr>
        <p:spPr>
          <a:xfrm>
            <a:off x="9093200" y="4114799"/>
            <a:ext cx="317500" cy="279400"/>
          </a:xfrm>
          <a:prstGeom prst="rect">
            <a:avLst/>
          </a:prstGeom>
          <a:noFill/>
        </p:spPr>
        <p:txBody>
          <a:bodyPr vert="horz" wrap="square" lIns="0" tIns="0" rIns="0" bIns="0" rtlCol="0">
            <a:noAutofit/>
          </a:bodyPr>
          <a:lstStyle/>
          <a:p>
            <a:pPr algn="ctr">
              <a:spcAft>
                <a:spcPts val="200"/>
              </a:spcAft>
            </a:pPr>
            <a:r>
              <a:rPr lang="en-ZA" sz="1600" b="1">
                <a:solidFill>
                  <a:schemeClr val="accent1"/>
                </a:solidFill>
                <a:latin typeface="Lato" panose="020F0502020204030203" pitchFamily="34" charset="0"/>
              </a:rPr>
              <a:t>=</a:t>
            </a:r>
          </a:p>
        </p:txBody>
      </p:sp>
      <p:sp>
        <p:nvSpPr>
          <p:cNvPr id="143" name="Balance 2023 supply_less_sales">
            <a:extLst>
              <a:ext uri="{FF2B5EF4-FFF2-40B4-BE49-F238E27FC236}">
                <a16:creationId xmlns:a16="http://schemas.microsoft.com/office/drawing/2014/main" id="{542ED807-341F-EC08-2163-F6BCCD370B40}"/>
              </a:ext>
            </a:extLst>
          </p:cNvPr>
          <p:cNvSpPr/>
          <p:nvPr/>
        </p:nvSpPr>
        <p:spPr>
          <a:xfrm>
            <a:off x="9410700" y="3860800"/>
            <a:ext cx="1651000" cy="787400"/>
          </a:xfrm>
          <a:prstGeom prst="rect">
            <a:avLst/>
          </a:prstGeom>
          <a:solidFill>
            <a:srgbClr val="FFFFFF"/>
          </a:solidFill>
          <a:ln w="9525" cap="flat" cmpd="sng" algn="ctr">
            <a:solidFill>
              <a:schemeClr val="accent1"/>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76200" tIns="50800" rIns="76200" bIns="38100" rtlCol="0" anchor="t"/>
          <a:lstStyle/>
          <a:p>
            <a:pPr>
              <a:spcAft>
                <a:spcPts val="400"/>
              </a:spcAft>
            </a:pPr>
            <a:r>
              <a:rPr lang="en-ZA" sz="1500" b="1">
                <a:solidFill>
                  <a:srgbClr val="808080"/>
                </a:solidFill>
                <a:latin typeface="Lato" panose="020F0502020204030203" pitchFamily="34" charset="0"/>
              </a:rPr>
              <a:t>Cannot close</a:t>
            </a:r>
          </a:p>
          <a:p>
            <a:pPr>
              <a:spcAft>
                <a:spcPts val="200"/>
              </a:spcAft>
            </a:pPr>
            <a:r>
              <a:rPr lang="en-ZA" sz="950">
                <a:solidFill>
                  <a:schemeClr val="dk1"/>
                </a:solidFill>
                <a:latin typeface="Lato" panose="020F0502020204030203" pitchFamily="34" charset="0"/>
              </a:rPr>
              <a:t>Needs production</a:t>
            </a:r>
          </a:p>
        </p:txBody>
      </p:sp>
      <p:sp>
        <p:nvSpPr>
          <p:cNvPr id="144" name="Balance 2023 supply_less_sales tag">
            <a:extLst>
              <a:ext uri="{FF2B5EF4-FFF2-40B4-BE49-F238E27FC236}">
                <a16:creationId xmlns:a16="http://schemas.microsoft.com/office/drawing/2014/main" id="{4143F106-43CB-707A-756F-1DF494BF9BA4}"/>
              </a:ext>
            </a:extLst>
          </p:cNvPr>
          <p:cNvSpPr txBox="1"/>
          <p:nvPr/>
        </p:nvSpPr>
        <p:spPr>
          <a:xfrm>
            <a:off x="9486900" y="4457700"/>
            <a:ext cx="1498600" cy="152400"/>
          </a:xfrm>
          <a:prstGeom prst="rect">
            <a:avLst/>
          </a:prstGeom>
          <a:noFill/>
        </p:spPr>
        <p:txBody>
          <a:bodyPr vert="horz" wrap="square" lIns="0" tIns="0" rIns="0" bIns="0" rtlCol="0">
            <a:noAutofit/>
          </a:bodyPr>
          <a:lstStyle/>
          <a:p>
            <a:pPr>
              <a:spcAft>
                <a:spcPts val="200"/>
              </a:spcAft>
            </a:pPr>
            <a:r>
              <a:rPr lang="en-ZA" sz="900">
                <a:solidFill>
                  <a:srgbClr val="808080"/>
                </a:solidFill>
                <a:latin typeface="Lato" panose="020F0502020204030203" pitchFamily="34" charset="0"/>
              </a:rPr>
              <a:t>Pending · production, stocks</a:t>
            </a:r>
          </a:p>
        </p:txBody>
      </p:sp>
      <p:sp>
        <p:nvSpPr>
          <p:cNvPr id="145" name="Finding 1">
            <a:extLst>
              <a:ext uri="{FF2B5EF4-FFF2-40B4-BE49-F238E27FC236}">
                <a16:creationId xmlns:a16="http://schemas.microsoft.com/office/drawing/2014/main" id="{1B4835C1-7392-3810-BB9A-31BBDDCE441B}"/>
              </a:ext>
            </a:extLst>
          </p:cNvPr>
          <p:cNvSpPr/>
          <p:nvPr/>
        </p:nvSpPr>
        <p:spPr>
          <a:xfrm>
            <a:off x="457200" y="5003800"/>
            <a:ext cx="3416300" cy="1066800"/>
          </a:xfrm>
          <a:prstGeom prst="rect">
            <a:avLst/>
          </a:prstGeom>
          <a:solidFill>
            <a:srgbClr val="FFFFFF"/>
          </a:solidFill>
          <a:ln w="9525" cap="flat" cmpd="sng" algn="ctr">
            <a:solidFill>
              <a:schemeClr val="accent1"/>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76200" tIns="50800" rIns="76200" bIns="38100" rtlCol="0" anchor="t"/>
          <a:lstStyle/>
          <a:p>
            <a:pPr>
              <a:spcAft>
                <a:spcPts val="400"/>
              </a:spcAft>
            </a:pPr>
            <a:r>
              <a:rPr lang="en-GB" sz="1050" b="1">
                <a:solidFill>
                  <a:schemeClr val="accent1"/>
                </a:solidFill>
                <a:latin typeface="Lato" panose="020F0502020204030203" pitchFamily="34" charset="0"/>
              </a:rPr>
              <a:t>Production fell as imports rose</a:t>
            </a:r>
          </a:p>
          <a:p>
            <a:pPr>
              <a:spcAft>
                <a:spcPts val="200"/>
              </a:spcAft>
            </a:pPr>
            <a:r>
              <a:rPr lang="en-GB" sz="1050">
                <a:solidFill>
                  <a:schemeClr val="dk1"/>
                </a:solidFill>
                <a:latin typeface="Lato" panose="020F0502020204030203" pitchFamily="34" charset="0"/>
              </a:rPr>
              <a:t>Production 19.5B L (2019) to 11.7B L (2021)</a:t>
            </a:r>
          </a:p>
          <a:p>
            <a:pPr>
              <a:spcAft>
                <a:spcPts val="200"/>
              </a:spcAft>
            </a:pPr>
            <a:r>
              <a:rPr lang="en-GB" sz="1050">
                <a:solidFill>
                  <a:schemeClr val="dk1"/>
                </a:solidFill>
                <a:latin typeface="Lato" panose="020F0502020204030203" pitchFamily="34" charset="0"/>
              </a:rPr>
              <a:t>Imports 7.1B L (2019) to 17.4B L (2023)</a:t>
            </a:r>
            <a:endParaRPr lang="en-ZA" sz="1050">
              <a:solidFill>
                <a:schemeClr val="dk1"/>
              </a:solidFill>
              <a:latin typeface="Lato" panose="020F0502020204030203" pitchFamily="34" charset="0"/>
            </a:endParaRPr>
          </a:p>
        </p:txBody>
      </p:sp>
      <p:sp>
        <p:nvSpPr>
          <p:cNvPr id="146" name="Finding 1 tag">
            <a:extLst>
              <a:ext uri="{FF2B5EF4-FFF2-40B4-BE49-F238E27FC236}">
                <a16:creationId xmlns:a16="http://schemas.microsoft.com/office/drawing/2014/main" id="{22E57DBC-0C88-D46A-CF17-4B15EA6D6C48}"/>
              </a:ext>
            </a:extLst>
          </p:cNvPr>
          <p:cNvSpPr txBox="1"/>
          <p:nvPr/>
        </p:nvSpPr>
        <p:spPr>
          <a:xfrm>
            <a:off x="533400" y="5880100"/>
            <a:ext cx="3263900" cy="152400"/>
          </a:xfrm>
          <a:prstGeom prst="rect">
            <a:avLst/>
          </a:prstGeom>
          <a:noFill/>
        </p:spPr>
        <p:txBody>
          <a:bodyPr vert="horz" wrap="square" lIns="0" tIns="0" rIns="0" bIns="0" rtlCol="0">
            <a:noAutofit/>
          </a:bodyPr>
          <a:lstStyle/>
          <a:p>
            <a:pPr>
              <a:spcAft>
                <a:spcPts val="200"/>
              </a:spcAft>
            </a:pPr>
            <a:r>
              <a:rPr lang="en-ZA" sz="900" b="1">
                <a:solidFill>
                  <a:schemeClr val="accent1"/>
                </a:solidFill>
                <a:latin typeface="Lato" panose="020F0502020204030203" pitchFamily="34" charset="0"/>
              </a:rPr>
              <a:t>DR01 · energy balance, customs</a:t>
            </a:r>
          </a:p>
        </p:txBody>
      </p:sp>
      <p:sp>
        <p:nvSpPr>
          <p:cNvPr id="147" name="Finding 2">
            <a:extLst>
              <a:ext uri="{FF2B5EF4-FFF2-40B4-BE49-F238E27FC236}">
                <a16:creationId xmlns:a16="http://schemas.microsoft.com/office/drawing/2014/main" id="{3C9FE91B-BFC3-FCE0-D09D-C5558CAAF5BA}"/>
              </a:ext>
            </a:extLst>
          </p:cNvPr>
          <p:cNvSpPr/>
          <p:nvPr/>
        </p:nvSpPr>
        <p:spPr>
          <a:xfrm>
            <a:off x="4076700" y="5003800"/>
            <a:ext cx="3416300" cy="1066800"/>
          </a:xfrm>
          <a:prstGeom prst="rect">
            <a:avLst/>
          </a:prstGeom>
          <a:solidFill>
            <a:srgbClr val="FFFFFF"/>
          </a:solidFill>
          <a:ln w="9525" cap="flat" cmpd="sng" algn="ctr">
            <a:solidFill>
              <a:schemeClr val="accent1"/>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76200" tIns="50800" rIns="76200" bIns="38100" rtlCol="0" anchor="t"/>
          <a:lstStyle/>
          <a:p>
            <a:pPr>
              <a:spcAft>
                <a:spcPts val="400"/>
              </a:spcAft>
            </a:pPr>
            <a:r>
              <a:rPr lang="en-GB" sz="1050" b="1">
                <a:solidFill>
                  <a:schemeClr val="accent1"/>
                </a:solidFill>
                <a:latin typeface="Lato" panose="020F0502020204030203" pitchFamily="34" charset="0"/>
              </a:rPr>
              <a:t>The balance closed to 2021</a:t>
            </a:r>
          </a:p>
          <a:p>
            <a:pPr>
              <a:spcAft>
                <a:spcPts val="200"/>
              </a:spcAft>
            </a:pPr>
            <a:r>
              <a:rPr lang="en-GB" sz="1050">
                <a:solidFill>
                  <a:schemeClr val="dk1"/>
                </a:solidFill>
                <a:latin typeface="Lato" panose="020F0502020204030203" pitchFamily="34" charset="0"/>
              </a:rPr>
              <a:t>Supply within 0.8B L of sales, 2014-2021</a:t>
            </a:r>
          </a:p>
          <a:p>
            <a:pPr>
              <a:spcAft>
                <a:spcPts val="200"/>
              </a:spcAft>
            </a:pPr>
            <a:r>
              <a:rPr lang="en-GB" sz="1050">
                <a:solidFill>
                  <a:schemeClr val="dk1"/>
                </a:solidFill>
                <a:latin typeface="Lato" panose="020F0502020204030203" pitchFamily="34" charset="0"/>
              </a:rPr>
              <a:t>Exception: diesel 2021, +1.2B L</a:t>
            </a:r>
            <a:endParaRPr lang="en-ZA" sz="1050">
              <a:solidFill>
                <a:schemeClr val="dk1"/>
              </a:solidFill>
              <a:latin typeface="Lato" panose="020F0502020204030203" pitchFamily="34" charset="0"/>
            </a:endParaRPr>
          </a:p>
        </p:txBody>
      </p:sp>
      <p:sp>
        <p:nvSpPr>
          <p:cNvPr id="148" name="Finding 2 tag">
            <a:extLst>
              <a:ext uri="{FF2B5EF4-FFF2-40B4-BE49-F238E27FC236}">
                <a16:creationId xmlns:a16="http://schemas.microsoft.com/office/drawing/2014/main" id="{A5C56B25-188D-2E4B-CFEC-8C37EEF8FC6A}"/>
              </a:ext>
            </a:extLst>
          </p:cNvPr>
          <p:cNvSpPr txBox="1"/>
          <p:nvPr/>
        </p:nvSpPr>
        <p:spPr>
          <a:xfrm>
            <a:off x="4152900" y="5880100"/>
            <a:ext cx="3263900" cy="152400"/>
          </a:xfrm>
          <a:prstGeom prst="rect">
            <a:avLst/>
          </a:prstGeom>
          <a:noFill/>
        </p:spPr>
        <p:txBody>
          <a:bodyPr vert="horz" wrap="square" lIns="0" tIns="0" rIns="0" bIns="0" rtlCol="0">
            <a:noAutofit/>
          </a:bodyPr>
          <a:lstStyle/>
          <a:p>
            <a:pPr>
              <a:spcAft>
                <a:spcPts val="200"/>
              </a:spcAft>
            </a:pPr>
            <a:r>
              <a:rPr lang="en-ZA" sz="900" b="1">
                <a:solidFill>
                  <a:schemeClr val="accent1"/>
                </a:solidFill>
                <a:latin typeface="Lato" panose="020F0502020204030203" pitchFamily="34" charset="0"/>
              </a:rPr>
              <a:t>DR01 · calculated</a:t>
            </a:r>
          </a:p>
        </p:txBody>
      </p:sp>
      <p:sp>
        <p:nvSpPr>
          <p:cNvPr id="149" name="Finding 3">
            <a:extLst>
              <a:ext uri="{FF2B5EF4-FFF2-40B4-BE49-F238E27FC236}">
                <a16:creationId xmlns:a16="http://schemas.microsoft.com/office/drawing/2014/main" id="{171C2DF1-0057-EE55-641D-F2F50F89AE62}"/>
              </a:ext>
            </a:extLst>
          </p:cNvPr>
          <p:cNvSpPr/>
          <p:nvPr/>
        </p:nvSpPr>
        <p:spPr>
          <a:xfrm>
            <a:off x="7696200" y="5003800"/>
            <a:ext cx="3416300" cy="1066800"/>
          </a:xfrm>
          <a:prstGeom prst="rect">
            <a:avLst/>
          </a:prstGeom>
          <a:solidFill>
            <a:srgbClr val="FFFFFF"/>
          </a:solidFill>
          <a:ln w="9525" cap="flat" cmpd="sng" algn="ctr">
            <a:solidFill>
              <a:schemeClr val="accent1"/>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76200" tIns="50800" rIns="76200" bIns="38100" rtlCol="0" anchor="t"/>
          <a:lstStyle/>
          <a:p>
            <a:pPr>
              <a:spcAft>
                <a:spcPts val="400"/>
              </a:spcAft>
            </a:pPr>
            <a:r>
              <a:rPr lang="en-GB" sz="1050" b="1">
                <a:solidFill>
                  <a:schemeClr val="accent1"/>
                </a:solidFill>
                <a:latin typeface="Lato" panose="020F0502020204030203" pitchFamily="34" charset="0"/>
              </a:rPr>
              <a:t>It cannot close after 2021</a:t>
            </a:r>
          </a:p>
          <a:p>
            <a:pPr>
              <a:spcAft>
                <a:spcPts val="200"/>
              </a:spcAft>
            </a:pPr>
            <a:r>
              <a:rPr lang="en-GB" sz="1050">
                <a:solidFill>
                  <a:schemeClr val="dk1"/>
                </a:solidFill>
                <a:latin typeface="Lato" panose="020F0502020204030203" pitchFamily="34" charset="0"/>
              </a:rPr>
              <a:t>No production published after 2021</a:t>
            </a:r>
          </a:p>
          <a:p>
            <a:pPr>
              <a:spcAft>
                <a:spcPts val="200"/>
              </a:spcAft>
            </a:pPr>
            <a:r>
              <a:rPr lang="en-GB" sz="1050">
                <a:solidFill>
                  <a:schemeClr val="dk1"/>
                </a:solidFill>
                <a:latin typeface="Lato" panose="020F0502020204030203" pitchFamily="34" charset="0"/>
              </a:rPr>
              <a:t>Stock change never published</a:t>
            </a:r>
            <a:endParaRPr lang="en-ZA" sz="1050">
              <a:solidFill>
                <a:schemeClr val="dk1"/>
              </a:solidFill>
              <a:latin typeface="Lato" panose="020F0502020204030203" pitchFamily="34" charset="0"/>
            </a:endParaRPr>
          </a:p>
        </p:txBody>
      </p:sp>
      <p:sp>
        <p:nvSpPr>
          <p:cNvPr id="150" name="Finding 3 tag">
            <a:extLst>
              <a:ext uri="{FF2B5EF4-FFF2-40B4-BE49-F238E27FC236}">
                <a16:creationId xmlns:a16="http://schemas.microsoft.com/office/drawing/2014/main" id="{817BF128-D08A-7E7F-C46D-9279BAA3CFEF}"/>
              </a:ext>
            </a:extLst>
          </p:cNvPr>
          <p:cNvSpPr txBox="1"/>
          <p:nvPr/>
        </p:nvSpPr>
        <p:spPr>
          <a:xfrm>
            <a:off x="7772400" y="5880100"/>
            <a:ext cx="3263900" cy="152400"/>
          </a:xfrm>
          <a:prstGeom prst="rect">
            <a:avLst/>
          </a:prstGeom>
          <a:noFill/>
        </p:spPr>
        <p:txBody>
          <a:bodyPr vert="horz" wrap="square" lIns="0" tIns="0" rIns="0" bIns="0" rtlCol="0">
            <a:noAutofit/>
          </a:bodyPr>
          <a:lstStyle/>
          <a:p>
            <a:pPr>
              <a:spcAft>
                <a:spcPts val="200"/>
              </a:spcAft>
            </a:pPr>
            <a:r>
              <a:rPr lang="en-GB" sz="900">
                <a:solidFill>
                  <a:srgbClr val="808080"/>
                </a:solidFill>
                <a:latin typeface="Lato" panose="020F0502020204030203" pitchFamily="34" charset="0"/>
              </a:rPr>
              <a:t>Pending · DR08 operators, DR01 stocks</a:t>
            </a:r>
            <a:endParaRPr lang="en-ZA" sz="900">
              <a:solidFill>
                <a:srgbClr val="808080"/>
              </a:solidFill>
              <a:latin typeface="Lato" panose="020F0502020204030203" pitchFamily="34" charset="0"/>
            </a:endParaRPr>
          </a:p>
        </p:txBody>
      </p:sp>
    </p:spTree>
    <p:extLst>
      <p:ext uri="{BB962C8B-B14F-4D97-AF65-F5344CB8AC3E}">
        <p14:creationId xmlns:p14="http://schemas.microsoft.com/office/powerpoint/2010/main" val="372181807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a:solidFill>
                  <a:schemeClr val="dk1"/>
                </a:solidFill>
                <a:latin typeface="Lato"/>
              </a:rPr>
              <a:t>Durban and Lesedi market sizing and investment issue tree</a:t>
            </a:r>
            <a:endParaRPr dirty="0">
              <a:solidFill>
                <a:schemeClr val="dk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2</a:t>
            </a:r>
            <a:endParaRPr sz="1100"/>
          </a:p>
        </p:txBody>
      </p:sp>
      <p:sp>
        <p:nvSpPr>
          <p:cNvPr id="8" name="Unified source footer"/>
          <p:cNvSpPr txBox="1"/>
          <p:nvPr/>
        </p:nvSpPr>
        <p:spPr>
          <a:xfrm>
            <a:off x="457200" y="6184900"/>
            <a:ext cx="10652760" cy="104837"/>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GB" sz="670"/>
              <a:t>Source: 8 Oct PS session; Manish DR01 (sales, SARS customs, energy balance to 2021) and DR04 (entry points); provincial sales 2022. Coastal = KZN, WC, EC. Production is 2021, the last published year. Destinations sum to consumption; routes overlap.</a:t>
            </a:r>
            <a:endParaRPr sz="670"/>
          </a:p>
        </p:txBody>
      </p:sp>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F6826E68-0B27-3E9A-731F-737F28F0FB19}"/>
              </a:ext>
            </a:extLst>
          </p:cNvPr>
          <p:cNvSpPr/>
          <p:nvPr/>
        </p:nvSpPr>
        <p:spPr>
          <a:xfrm>
            <a:off x="457200" y="88900"/>
            <a:ext cx="2575560" cy="279400"/>
          </a:xfrm>
          <a:prstGeom prst="rect">
            <a:avLst/>
          </a:prstGeom>
          <a:solidFill>
            <a:schemeClr val="lt1">
              <a:shade val="965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Executive summary</a:t>
            </a:r>
          </a:p>
        </p:txBody>
      </p:sp>
      <p:sp>
        <p:nvSpPr>
          <p:cNvPr id="10" name="SCR 2">
            <a:extLst>
              <a:ext uri="{FF2B5EF4-FFF2-40B4-BE49-F238E27FC236}">
                <a16:creationId xmlns:a16="http://schemas.microsoft.com/office/drawing/2014/main" id="{DB3FBD92-8DAF-542E-83C8-61B53DE1024F}"/>
              </a:ext>
            </a:extLst>
          </p:cNvPr>
          <p:cNvSpPr/>
          <p:nvPr/>
        </p:nvSpPr>
        <p:spPr>
          <a:xfrm>
            <a:off x="3149600" y="88900"/>
            <a:ext cx="2575560" cy="279400"/>
          </a:xfrm>
          <a:prstGeom prst="rect">
            <a:avLst/>
          </a:prstGeom>
          <a:solidFill>
            <a:schemeClr val="lt1">
              <a:shade val="965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Situation</a:t>
            </a:r>
          </a:p>
        </p:txBody>
      </p:sp>
      <p:sp>
        <p:nvSpPr>
          <p:cNvPr id="11" name="SCR 3">
            <a:extLst>
              <a:ext uri="{FF2B5EF4-FFF2-40B4-BE49-F238E27FC236}">
                <a16:creationId xmlns:a16="http://schemas.microsoft.com/office/drawing/2014/main" id="{8954CB5A-2161-59A0-D177-7E44BC8E444E}"/>
              </a:ext>
            </a:extLst>
          </p:cNvPr>
          <p:cNvSpPr/>
          <p:nvPr/>
        </p:nvSpPr>
        <p:spPr>
          <a:xfrm>
            <a:off x="5842000" y="88900"/>
            <a:ext cx="2575560" cy="279400"/>
          </a:xfrm>
          <a:prstGeom prst="rect">
            <a:avLst/>
          </a:prstGeom>
          <a:solidFill>
            <a:schemeClr val="lt1">
              <a:shade val="965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Complication</a:t>
            </a:r>
          </a:p>
        </p:txBody>
      </p:sp>
      <p:sp>
        <p:nvSpPr>
          <p:cNvPr id="12" name="SCR 4">
            <a:extLst>
              <a:ext uri="{FF2B5EF4-FFF2-40B4-BE49-F238E27FC236}">
                <a16:creationId xmlns:a16="http://schemas.microsoft.com/office/drawing/2014/main" id="{9E01BBF5-098D-3FC4-718C-6B01C403EC02}"/>
              </a:ext>
            </a:extLst>
          </p:cNvPr>
          <p:cNvSpPr/>
          <p:nvPr/>
        </p:nvSpPr>
        <p:spPr>
          <a:xfrm>
            <a:off x="8534400" y="88900"/>
            <a:ext cx="2575560" cy="279400"/>
          </a:xfrm>
          <a:prstGeom prst="rect">
            <a:avLst/>
          </a:prstGeom>
          <a:solidFill>
            <a:schemeClr val="accent1"/>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latin typeface="Lato" panose="020F0502020204030203" pitchFamily="34" charset="0"/>
              </a:rPr>
              <a:t>Resolution</a:t>
            </a:r>
          </a:p>
        </p:txBody>
      </p:sp>
      <p:sp>
        <p:nvSpPr>
          <p:cNvPr id="4" name="Demand panel">
            <a:extLst>
              <a:ext uri="{FF2B5EF4-FFF2-40B4-BE49-F238E27FC236}">
                <a16:creationId xmlns:a16="http://schemas.microsoft.com/office/drawing/2014/main" id="{558E9629-6146-3B2B-B63D-C892F213CA34}"/>
              </a:ext>
            </a:extLst>
          </p:cNvPr>
          <p:cNvSpPr/>
          <p:nvPr/>
        </p:nvSpPr>
        <p:spPr>
          <a:xfrm>
            <a:off x="355600" y="1549400"/>
            <a:ext cx="2108200" cy="4597400"/>
          </a:xfrm>
          <a:prstGeom prst="rect">
            <a:avLst/>
          </a:prstGeom>
          <a:solidFill>
            <a:srgbClr val="EEF1F6"/>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5" name="Supply panel">
            <a:extLst>
              <a:ext uri="{FF2B5EF4-FFF2-40B4-BE49-F238E27FC236}">
                <a16:creationId xmlns:a16="http://schemas.microsoft.com/office/drawing/2014/main" id="{50452DDA-0522-64CE-268A-F9E0B50B960D}"/>
              </a:ext>
            </a:extLst>
          </p:cNvPr>
          <p:cNvSpPr/>
          <p:nvPr/>
        </p:nvSpPr>
        <p:spPr>
          <a:xfrm>
            <a:off x="2565400" y="1549400"/>
            <a:ext cx="3403600" cy="4597400"/>
          </a:xfrm>
          <a:prstGeom prst="rect">
            <a:avLst/>
          </a:prstGeom>
          <a:solidFill>
            <a:srgbClr val="EEF1F6"/>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6" name="Opportunity panel">
            <a:extLst>
              <a:ext uri="{FF2B5EF4-FFF2-40B4-BE49-F238E27FC236}">
                <a16:creationId xmlns:a16="http://schemas.microsoft.com/office/drawing/2014/main" id="{A5B17B16-1A07-1F70-68D4-D4140C387EFA}"/>
              </a:ext>
            </a:extLst>
          </p:cNvPr>
          <p:cNvSpPr/>
          <p:nvPr/>
        </p:nvSpPr>
        <p:spPr>
          <a:xfrm>
            <a:off x="6070600" y="1549400"/>
            <a:ext cx="3060700" cy="4597400"/>
          </a:xfrm>
          <a:prstGeom prst="rect">
            <a:avLst/>
          </a:prstGeom>
          <a:solidFill>
            <a:srgbClr val="EEF1F6"/>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7" name="Investment panel">
            <a:extLst>
              <a:ext uri="{FF2B5EF4-FFF2-40B4-BE49-F238E27FC236}">
                <a16:creationId xmlns:a16="http://schemas.microsoft.com/office/drawing/2014/main" id="{C0AE3402-88F5-56F7-A597-6AF8F5FCF320}"/>
              </a:ext>
            </a:extLst>
          </p:cNvPr>
          <p:cNvSpPr/>
          <p:nvPr/>
        </p:nvSpPr>
        <p:spPr>
          <a:xfrm>
            <a:off x="9232900" y="1549400"/>
            <a:ext cx="1981200" cy="4597400"/>
          </a:xfrm>
          <a:prstGeom prst="rect">
            <a:avLst/>
          </a:prstGeom>
          <a:solidFill>
            <a:srgbClr val="EEF1F6"/>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13" name="Demand heading">
            <a:extLst>
              <a:ext uri="{FF2B5EF4-FFF2-40B4-BE49-F238E27FC236}">
                <a16:creationId xmlns:a16="http://schemas.microsoft.com/office/drawing/2014/main" id="{91FD6DEF-4747-F70D-EA60-A1FE7D25A82A}"/>
              </a:ext>
            </a:extLst>
          </p:cNvPr>
          <p:cNvSpPr txBox="1"/>
          <p:nvPr/>
        </p:nvSpPr>
        <p:spPr>
          <a:xfrm>
            <a:off x="457200" y="1638300"/>
            <a:ext cx="1905000" cy="241300"/>
          </a:xfrm>
          <a:prstGeom prst="rect">
            <a:avLst/>
          </a:prstGeom>
          <a:noFill/>
        </p:spPr>
        <p:txBody>
          <a:bodyPr vert="horz" wrap="square" lIns="0" tIns="0" rIns="0" bIns="0" rtlCol="0">
            <a:noAutofit/>
          </a:bodyPr>
          <a:lstStyle/>
          <a:p>
            <a:pPr>
              <a:spcAft>
                <a:spcPts val="200"/>
              </a:spcAft>
            </a:pPr>
            <a:r>
              <a:rPr lang="en-ZA" sz="1200" b="1">
                <a:solidFill>
                  <a:schemeClr val="accent1"/>
                </a:solidFill>
                <a:latin typeface="Lato" panose="020F0502020204030203" pitchFamily="34" charset="0"/>
              </a:rPr>
              <a:t>1  NATIONAL DEMAND</a:t>
            </a:r>
          </a:p>
        </p:txBody>
      </p:sp>
      <p:sp>
        <p:nvSpPr>
          <p:cNvPr id="14" name="System heading">
            <a:extLst>
              <a:ext uri="{FF2B5EF4-FFF2-40B4-BE49-F238E27FC236}">
                <a16:creationId xmlns:a16="http://schemas.microsoft.com/office/drawing/2014/main" id="{998BEBEF-15BA-2CB5-F342-0AA48AED122A}"/>
              </a:ext>
            </a:extLst>
          </p:cNvPr>
          <p:cNvSpPr txBox="1"/>
          <p:nvPr/>
        </p:nvSpPr>
        <p:spPr>
          <a:xfrm>
            <a:off x="2667000" y="1638300"/>
            <a:ext cx="3200400" cy="241300"/>
          </a:xfrm>
          <a:prstGeom prst="rect">
            <a:avLst/>
          </a:prstGeom>
          <a:noFill/>
        </p:spPr>
        <p:txBody>
          <a:bodyPr vert="horz" wrap="square" lIns="0" tIns="0" rIns="0" bIns="0" rtlCol="0">
            <a:noAutofit/>
          </a:bodyPr>
          <a:lstStyle/>
          <a:p>
            <a:pPr>
              <a:spcAft>
                <a:spcPts val="200"/>
              </a:spcAft>
            </a:pPr>
            <a:r>
              <a:rPr lang="en-ZA" sz="1200" b="1">
                <a:solidFill>
                  <a:schemeClr val="accent1"/>
                </a:solidFill>
                <a:latin typeface="Lato" panose="020F0502020204030203" pitchFamily="34" charset="0"/>
              </a:rPr>
              <a:t>2  SUPPLY AND DELIVERY</a:t>
            </a:r>
          </a:p>
        </p:txBody>
      </p:sp>
      <p:sp>
        <p:nvSpPr>
          <p:cNvPr id="15" name="Terminal heading">
            <a:extLst>
              <a:ext uri="{FF2B5EF4-FFF2-40B4-BE49-F238E27FC236}">
                <a16:creationId xmlns:a16="http://schemas.microsoft.com/office/drawing/2014/main" id="{45159F39-3334-116F-8D60-9C3892407769}"/>
              </a:ext>
            </a:extLst>
          </p:cNvPr>
          <p:cNvSpPr txBox="1"/>
          <p:nvPr/>
        </p:nvSpPr>
        <p:spPr>
          <a:xfrm>
            <a:off x="6172200" y="1638300"/>
            <a:ext cx="2857500" cy="241300"/>
          </a:xfrm>
          <a:prstGeom prst="rect">
            <a:avLst/>
          </a:prstGeom>
          <a:noFill/>
        </p:spPr>
        <p:txBody>
          <a:bodyPr vert="horz" wrap="square" lIns="0" tIns="0" rIns="0" bIns="0" rtlCol="0">
            <a:noAutofit/>
          </a:bodyPr>
          <a:lstStyle/>
          <a:p>
            <a:pPr>
              <a:spcAft>
                <a:spcPts val="200"/>
              </a:spcAft>
            </a:pPr>
            <a:r>
              <a:rPr lang="en-ZA" sz="1200" b="1">
                <a:solidFill>
                  <a:schemeClr val="accent1"/>
                </a:solidFill>
                <a:latin typeface="Lato" panose="020F0502020204030203" pitchFamily="34" charset="0"/>
              </a:rPr>
              <a:t>3  VOPAK OPPORTUNITY</a:t>
            </a:r>
          </a:p>
        </p:txBody>
      </p:sp>
      <p:sp>
        <p:nvSpPr>
          <p:cNvPr id="16" name="Investment heading">
            <a:extLst>
              <a:ext uri="{FF2B5EF4-FFF2-40B4-BE49-F238E27FC236}">
                <a16:creationId xmlns:a16="http://schemas.microsoft.com/office/drawing/2014/main" id="{FA38030B-B8A1-D21B-DA01-963A92F1105D}"/>
              </a:ext>
            </a:extLst>
          </p:cNvPr>
          <p:cNvSpPr txBox="1"/>
          <p:nvPr/>
        </p:nvSpPr>
        <p:spPr>
          <a:xfrm>
            <a:off x="9334500" y="1638300"/>
            <a:ext cx="1778000" cy="241300"/>
          </a:xfrm>
          <a:prstGeom prst="rect">
            <a:avLst/>
          </a:prstGeom>
          <a:noFill/>
        </p:spPr>
        <p:txBody>
          <a:bodyPr vert="horz" wrap="square" lIns="0" tIns="0" rIns="0" bIns="0" rtlCol="0">
            <a:noAutofit/>
          </a:bodyPr>
          <a:lstStyle/>
          <a:p>
            <a:pPr>
              <a:spcAft>
                <a:spcPts val="200"/>
              </a:spcAft>
            </a:pPr>
            <a:r>
              <a:rPr lang="en-ZA" sz="1200" b="1">
                <a:solidFill>
                  <a:schemeClr val="accent1"/>
                </a:solidFill>
                <a:latin typeface="Lato" panose="020F0502020204030203" pitchFamily="34" charset="0"/>
              </a:rPr>
              <a:t>4  INVESTMENT</a:t>
            </a:r>
          </a:p>
        </p:txBody>
      </p:sp>
      <p:cxnSp>
        <p:nvCxnSpPr>
          <p:cNvPr id="17" name="Column heading rule">
            <a:extLst>
              <a:ext uri="{FF2B5EF4-FFF2-40B4-BE49-F238E27FC236}">
                <a16:creationId xmlns:a16="http://schemas.microsoft.com/office/drawing/2014/main" id="{03671696-D587-F2F7-6248-A826050E22FF}"/>
              </a:ext>
            </a:extLst>
          </p:cNvPr>
          <p:cNvCxnSpPr/>
          <p:nvPr/>
        </p:nvCxnSpPr>
        <p:spPr>
          <a:xfrm>
            <a:off x="457200" y="1917700"/>
            <a:ext cx="1905000" cy="0"/>
          </a:xfrm>
          <a:prstGeom prst="straightConnector1">
            <a:avLst/>
          </a:prstGeom>
          <a:ln w="8255">
            <a:solidFill>
              <a:schemeClr val="dk1"/>
            </a:solidFill>
          </a:ln>
        </p:spPr>
        <p:style>
          <a:lnRef idx="1">
            <a:schemeClr val="accent1"/>
          </a:lnRef>
          <a:fillRef idx="0">
            <a:schemeClr val="accent1"/>
          </a:fillRef>
          <a:effectRef idx="0">
            <a:schemeClr val="accent1"/>
          </a:effectRef>
          <a:fontRef idx="minor">
            <a:schemeClr val="tx1"/>
          </a:fontRef>
        </p:style>
      </p:cxnSp>
      <p:cxnSp>
        <p:nvCxnSpPr>
          <p:cNvPr id="18" name="Column heading rule">
            <a:extLst>
              <a:ext uri="{FF2B5EF4-FFF2-40B4-BE49-F238E27FC236}">
                <a16:creationId xmlns:a16="http://schemas.microsoft.com/office/drawing/2014/main" id="{27119F8F-C4A4-2F8D-779D-A711011F127D}"/>
              </a:ext>
            </a:extLst>
          </p:cNvPr>
          <p:cNvCxnSpPr/>
          <p:nvPr/>
        </p:nvCxnSpPr>
        <p:spPr>
          <a:xfrm>
            <a:off x="2667000" y="1917700"/>
            <a:ext cx="3200400" cy="0"/>
          </a:xfrm>
          <a:prstGeom prst="straightConnector1">
            <a:avLst/>
          </a:prstGeom>
          <a:ln w="8255">
            <a:solidFill>
              <a:schemeClr val="dk1"/>
            </a:solidFill>
          </a:ln>
        </p:spPr>
        <p:style>
          <a:lnRef idx="1">
            <a:schemeClr val="accent1"/>
          </a:lnRef>
          <a:fillRef idx="0">
            <a:schemeClr val="accent1"/>
          </a:fillRef>
          <a:effectRef idx="0">
            <a:schemeClr val="accent1"/>
          </a:effectRef>
          <a:fontRef idx="minor">
            <a:schemeClr val="tx1"/>
          </a:fontRef>
        </p:style>
      </p:cxnSp>
      <p:cxnSp>
        <p:nvCxnSpPr>
          <p:cNvPr id="19" name="Column heading rule">
            <a:extLst>
              <a:ext uri="{FF2B5EF4-FFF2-40B4-BE49-F238E27FC236}">
                <a16:creationId xmlns:a16="http://schemas.microsoft.com/office/drawing/2014/main" id="{4484A14D-BFC9-9196-4235-91EBDA09F3E6}"/>
              </a:ext>
            </a:extLst>
          </p:cNvPr>
          <p:cNvCxnSpPr/>
          <p:nvPr/>
        </p:nvCxnSpPr>
        <p:spPr>
          <a:xfrm>
            <a:off x="6172200" y="1917700"/>
            <a:ext cx="2857500" cy="0"/>
          </a:xfrm>
          <a:prstGeom prst="straightConnector1">
            <a:avLst/>
          </a:prstGeom>
          <a:ln w="8255">
            <a:solidFill>
              <a:schemeClr val="dk1"/>
            </a:solidFill>
          </a:ln>
        </p:spPr>
        <p:style>
          <a:lnRef idx="1">
            <a:schemeClr val="accent1"/>
          </a:lnRef>
          <a:fillRef idx="0">
            <a:schemeClr val="accent1"/>
          </a:fillRef>
          <a:effectRef idx="0">
            <a:schemeClr val="accent1"/>
          </a:effectRef>
          <a:fontRef idx="minor">
            <a:schemeClr val="tx1"/>
          </a:fontRef>
        </p:style>
      </p:cxnSp>
      <p:cxnSp>
        <p:nvCxnSpPr>
          <p:cNvPr id="20" name="Column heading rule">
            <a:extLst>
              <a:ext uri="{FF2B5EF4-FFF2-40B4-BE49-F238E27FC236}">
                <a16:creationId xmlns:a16="http://schemas.microsoft.com/office/drawing/2014/main" id="{07F63277-EA28-E0F0-32AB-732861CCB2EA}"/>
              </a:ext>
            </a:extLst>
          </p:cNvPr>
          <p:cNvCxnSpPr/>
          <p:nvPr/>
        </p:nvCxnSpPr>
        <p:spPr>
          <a:xfrm>
            <a:off x="9334500" y="1917700"/>
            <a:ext cx="1778000" cy="0"/>
          </a:xfrm>
          <a:prstGeom prst="straightConnector1">
            <a:avLst/>
          </a:prstGeom>
          <a:ln w="8255">
            <a:solidFill>
              <a:schemeClr val="dk1"/>
            </a:solidFill>
          </a:ln>
        </p:spPr>
        <p:style>
          <a:lnRef idx="1">
            <a:schemeClr val="accent1"/>
          </a:lnRef>
          <a:fillRef idx="0">
            <a:schemeClr val="accent1"/>
          </a:fillRef>
          <a:effectRef idx="0">
            <a:schemeClr val="accent1"/>
          </a:effectRef>
          <a:fontRef idx="minor">
            <a:schemeClr val="tx1"/>
          </a:fontRef>
        </p:style>
      </p:cxnSp>
      <p:sp>
        <p:nvSpPr>
          <p:cNvPr id="21" name="National market">
            <a:extLst>
              <a:ext uri="{FF2B5EF4-FFF2-40B4-BE49-F238E27FC236}">
                <a16:creationId xmlns:a16="http://schemas.microsoft.com/office/drawing/2014/main" id="{B34FB8B8-E02B-762D-FBF6-6A9675814086}"/>
              </a:ext>
            </a:extLst>
          </p:cNvPr>
          <p:cNvSpPr/>
          <p:nvPr/>
        </p:nvSpPr>
        <p:spPr>
          <a:xfrm>
            <a:off x="457200" y="2006600"/>
            <a:ext cx="1905000" cy="889000"/>
          </a:xfrm>
          <a:prstGeom prst="rect">
            <a:avLst/>
          </a:prstGeom>
          <a:solidFill>
            <a:srgbClr val="FFFFFF"/>
          </a:solidFill>
          <a:ln w="9525" cap="flat" cmpd="sng" algn="ctr">
            <a:solidFill>
              <a:schemeClr val="accent1"/>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76200" tIns="50800" rIns="76200" bIns="38100" rtlCol="0" anchor="t"/>
          <a:lstStyle/>
          <a:p>
            <a:pPr>
              <a:spcAft>
                <a:spcPts val="400"/>
              </a:spcAft>
            </a:pPr>
            <a:r>
              <a:rPr lang="en-GB" sz="1050" b="1">
                <a:solidFill>
                  <a:schemeClr val="accent1"/>
                </a:solidFill>
                <a:latin typeface="Lato" panose="020F0502020204030203" pitchFamily="34" charset="0"/>
              </a:rPr>
              <a:t>National consumption</a:t>
            </a:r>
          </a:p>
          <a:p>
            <a:pPr>
              <a:spcAft>
                <a:spcPts val="200"/>
              </a:spcAft>
            </a:pPr>
            <a:r>
              <a:rPr lang="en-GB" sz="1050">
                <a:solidFill>
                  <a:schemeClr val="dk1"/>
                </a:solidFill>
                <a:latin typeface="Lato" panose="020F0502020204030203" pitchFamily="34" charset="0"/>
              </a:rPr>
              <a:t>Petrol and diesel sales</a:t>
            </a:r>
          </a:p>
          <a:p>
            <a:pPr>
              <a:spcAft>
                <a:spcPts val="200"/>
              </a:spcAft>
            </a:pPr>
            <a:r>
              <a:rPr lang="en-GB" sz="1050">
                <a:solidFill>
                  <a:schemeClr val="dk1"/>
                </a:solidFill>
                <a:latin typeface="Lato" panose="020F0502020204030203" pitchFamily="34" charset="0"/>
              </a:rPr>
              <a:t>PS discussed ~20B L</a:t>
            </a:r>
            <a:endParaRPr lang="en-ZA" sz="1050">
              <a:solidFill>
                <a:schemeClr val="dk1"/>
              </a:solidFill>
              <a:latin typeface="Lato" panose="020F0502020204030203" pitchFamily="34" charset="0"/>
            </a:endParaRPr>
          </a:p>
        </p:txBody>
      </p:sp>
      <p:sp>
        <p:nvSpPr>
          <p:cNvPr id="22" name="Product demand">
            <a:extLst>
              <a:ext uri="{FF2B5EF4-FFF2-40B4-BE49-F238E27FC236}">
                <a16:creationId xmlns:a16="http://schemas.microsoft.com/office/drawing/2014/main" id="{57EB79CC-C243-F817-4546-2656E85D2147}"/>
              </a:ext>
            </a:extLst>
          </p:cNvPr>
          <p:cNvSpPr/>
          <p:nvPr/>
        </p:nvSpPr>
        <p:spPr>
          <a:xfrm>
            <a:off x="457200" y="3073400"/>
            <a:ext cx="1905000" cy="889000"/>
          </a:xfrm>
          <a:prstGeom prst="rect">
            <a:avLst/>
          </a:prstGeom>
          <a:solidFill>
            <a:srgbClr val="FFFFFF"/>
          </a:solidFill>
          <a:ln w="9525" cap="flat" cmpd="sng" algn="ctr">
            <a:solidFill>
              <a:schemeClr val="accent1"/>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76200" tIns="50800" rIns="76200" bIns="38100" rtlCol="0" anchor="t"/>
          <a:lstStyle/>
          <a:p>
            <a:pPr>
              <a:spcAft>
                <a:spcPts val="400"/>
              </a:spcAft>
            </a:pPr>
            <a:r>
              <a:rPr lang="en-GB" sz="1050" b="1">
                <a:solidFill>
                  <a:schemeClr val="accent1"/>
                </a:solidFill>
                <a:latin typeface="Lato" panose="020F0502020204030203" pitchFamily="34" charset="0"/>
              </a:rPr>
              <a:t>Demand by product</a:t>
            </a:r>
          </a:p>
          <a:p>
            <a:pPr>
              <a:spcAft>
                <a:spcPts val="200"/>
              </a:spcAft>
            </a:pPr>
            <a:r>
              <a:rPr lang="en-GB" sz="1050">
                <a:solidFill>
                  <a:schemeClr val="dk1"/>
                </a:solidFill>
                <a:latin typeface="Lato" panose="020F0502020204030203" pitchFamily="34" charset="0"/>
              </a:rPr>
              <a:t>Petrol 9.0B L</a:t>
            </a:r>
          </a:p>
          <a:p>
            <a:pPr>
              <a:spcAft>
                <a:spcPts val="200"/>
              </a:spcAft>
            </a:pPr>
            <a:r>
              <a:rPr lang="en-GB" sz="1050">
                <a:solidFill>
                  <a:schemeClr val="dk1"/>
                </a:solidFill>
                <a:latin typeface="Lato" panose="020F0502020204030203" pitchFamily="34" charset="0"/>
              </a:rPr>
              <a:t>Diesel 12.9B L</a:t>
            </a:r>
            <a:endParaRPr lang="en-ZA" sz="1050">
              <a:solidFill>
                <a:schemeClr val="dk1"/>
              </a:solidFill>
              <a:latin typeface="Lato" panose="020F0502020204030203" pitchFamily="34" charset="0"/>
            </a:endParaRPr>
          </a:p>
        </p:txBody>
      </p:sp>
      <p:sp>
        <p:nvSpPr>
          <p:cNvPr id="23" name="Sector demand">
            <a:extLst>
              <a:ext uri="{FF2B5EF4-FFF2-40B4-BE49-F238E27FC236}">
                <a16:creationId xmlns:a16="http://schemas.microsoft.com/office/drawing/2014/main" id="{A6282B23-9677-0CF2-27B4-9F2D2F17C267}"/>
              </a:ext>
            </a:extLst>
          </p:cNvPr>
          <p:cNvSpPr/>
          <p:nvPr/>
        </p:nvSpPr>
        <p:spPr>
          <a:xfrm>
            <a:off x="457200" y="4140200"/>
            <a:ext cx="1905000" cy="889000"/>
          </a:xfrm>
          <a:prstGeom prst="rect">
            <a:avLst/>
          </a:prstGeom>
          <a:solidFill>
            <a:srgbClr val="FFFFFF"/>
          </a:solidFill>
          <a:ln w="9525" cap="flat" cmpd="sng" algn="ctr">
            <a:solidFill>
              <a:schemeClr val="accent1"/>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76200" tIns="50800" rIns="76200" bIns="38100" rtlCol="0" anchor="t"/>
          <a:lstStyle/>
          <a:p>
            <a:pPr>
              <a:spcAft>
                <a:spcPts val="400"/>
              </a:spcAft>
            </a:pPr>
            <a:r>
              <a:rPr lang="en-GB" sz="1050" b="1">
                <a:solidFill>
                  <a:schemeClr val="accent1"/>
                </a:solidFill>
                <a:latin typeface="Lato" panose="020F0502020204030203" pitchFamily="34" charset="0"/>
              </a:rPr>
              <a:t>Demand by use</a:t>
            </a:r>
          </a:p>
          <a:p>
            <a:pPr>
              <a:spcAft>
                <a:spcPts val="200"/>
              </a:spcAft>
            </a:pPr>
            <a:r>
              <a:rPr lang="en-GB" sz="1050">
                <a:solidFill>
                  <a:schemeClr val="dk1"/>
                </a:solidFill>
                <a:latin typeface="Lato" panose="020F0502020204030203" pitchFamily="34" charset="0"/>
              </a:rPr>
              <a:t>Road 15.1B, industry 1.6B</a:t>
            </a:r>
          </a:p>
          <a:p>
            <a:pPr>
              <a:spcAft>
                <a:spcPts val="200"/>
              </a:spcAft>
            </a:pPr>
            <a:r>
              <a:rPr lang="en-GB" sz="1050">
                <a:solidFill>
                  <a:schemeClr val="dk1"/>
                </a:solidFill>
                <a:latin typeface="Lato" panose="020F0502020204030203" pitchFamily="34" charset="0"/>
              </a:rPr>
              <a:t>Agri 1.2B, other 5.3B</a:t>
            </a:r>
            <a:endParaRPr lang="en-ZA" sz="1050">
              <a:solidFill>
                <a:schemeClr val="dk1"/>
              </a:solidFill>
              <a:latin typeface="Lato" panose="020F0502020204030203" pitchFamily="34" charset="0"/>
            </a:endParaRPr>
          </a:p>
        </p:txBody>
      </p:sp>
      <p:sp>
        <p:nvSpPr>
          <p:cNvPr id="24" name="Demand parameters">
            <a:extLst>
              <a:ext uri="{FF2B5EF4-FFF2-40B4-BE49-F238E27FC236}">
                <a16:creationId xmlns:a16="http://schemas.microsoft.com/office/drawing/2014/main" id="{71E3173B-CFE1-52E1-3592-F0677D2533E2}"/>
              </a:ext>
            </a:extLst>
          </p:cNvPr>
          <p:cNvSpPr/>
          <p:nvPr/>
        </p:nvSpPr>
        <p:spPr>
          <a:xfrm>
            <a:off x="457200" y="5207000"/>
            <a:ext cx="1905000" cy="889000"/>
          </a:xfrm>
          <a:prstGeom prst="rect">
            <a:avLst/>
          </a:prstGeom>
          <a:solidFill>
            <a:srgbClr val="FFFFFF"/>
          </a:solidFill>
          <a:ln w="9525" cap="flat" cmpd="sng" algn="ctr">
            <a:solidFill>
              <a:schemeClr val="accent1"/>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76200" tIns="50800" rIns="76200" bIns="38100" rtlCol="0" anchor="t"/>
          <a:lstStyle/>
          <a:p>
            <a:pPr>
              <a:spcAft>
                <a:spcPts val="400"/>
              </a:spcAft>
            </a:pPr>
            <a:r>
              <a:rPr lang="en-GB" sz="1050" b="1">
                <a:solidFill>
                  <a:schemeClr val="accent1"/>
                </a:solidFill>
                <a:latin typeface="Lato" panose="020F0502020204030203" pitchFamily="34" charset="0"/>
              </a:rPr>
              <a:t>Demand parameters</a:t>
            </a:r>
          </a:p>
          <a:p>
            <a:pPr>
              <a:spcAft>
                <a:spcPts val="200"/>
              </a:spcAft>
            </a:pPr>
            <a:r>
              <a:rPr lang="en-GB" sz="1050">
                <a:solidFill>
                  <a:schemeClr val="dk1"/>
                </a:solidFill>
                <a:latin typeface="Lato" panose="020F0502020204030203" pitchFamily="34" charset="0"/>
              </a:rPr>
              <a:t>GDP and sectors</a:t>
            </a:r>
          </a:p>
          <a:p>
            <a:pPr>
              <a:spcAft>
                <a:spcPts val="200"/>
              </a:spcAft>
            </a:pPr>
            <a:r>
              <a:rPr lang="en-GB" sz="1050">
                <a:solidFill>
                  <a:schemeClr val="dk1"/>
                </a:solidFill>
                <a:latin typeface="Lato" panose="020F0502020204030203" pitchFamily="34" charset="0"/>
              </a:rPr>
              <a:t>EVs, fleet, efficiency</a:t>
            </a:r>
          </a:p>
          <a:p>
            <a:pPr>
              <a:spcAft>
                <a:spcPts val="200"/>
              </a:spcAft>
            </a:pPr>
            <a:r>
              <a:rPr lang="en-GB" sz="1050">
                <a:solidFill>
                  <a:schemeClr val="dk1"/>
                </a:solidFill>
                <a:latin typeface="Lato" panose="020F0502020204030203" pitchFamily="34" charset="0"/>
              </a:rPr>
              <a:t>Freight, prices, power</a:t>
            </a:r>
            <a:endParaRPr lang="en-ZA" sz="1050">
              <a:solidFill>
                <a:schemeClr val="dk1"/>
              </a:solidFill>
              <a:latin typeface="Lato" panose="020F0502020204030203" pitchFamily="34" charset="0"/>
            </a:endParaRPr>
          </a:p>
        </p:txBody>
      </p:sp>
      <p:sp>
        <p:nvSpPr>
          <p:cNvPr id="25" name="Imports">
            <a:extLst>
              <a:ext uri="{FF2B5EF4-FFF2-40B4-BE49-F238E27FC236}">
                <a16:creationId xmlns:a16="http://schemas.microsoft.com/office/drawing/2014/main" id="{9A21B36D-42E5-D203-F3A1-7506D8C97207}"/>
              </a:ext>
            </a:extLst>
          </p:cNvPr>
          <p:cNvSpPr/>
          <p:nvPr/>
        </p:nvSpPr>
        <p:spPr>
          <a:xfrm>
            <a:off x="2667000" y="2006600"/>
            <a:ext cx="1524000" cy="889000"/>
          </a:xfrm>
          <a:prstGeom prst="rect">
            <a:avLst/>
          </a:prstGeom>
          <a:solidFill>
            <a:srgbClr val="FFFFFF"/>
          </a:solidFill>
          <a:ln w="9525" cap="flat" cmpd="sng" algn="ctr">
            <a:solidFill>
              <a:schemeClr val="accent1"/>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76200" tIns="50800" rIns="76200" bIns="38100" rtlCol="0" anchor="t"/>
          <a:lstStyle/>
          <a:p>
            <a:pPr>
              <a:spcAft>
                <a:spcPts val="400"/>
              </a:spcAft>
            </a:pPr>
            <a:r>
              <a:rPr lang="en-ZA" sz="1050" b="1">
                <a:solidFill>
                  <a:schemeClr val="accent1"/>
                </a:solidFill>
                <a:latin typeface="Lato" panose="020F0502020204030203" pitchFamily="34" charset="0"/>
              </a:rPr>
              <a:t>Gross imports</a:t>
            </a:r>
          </a:p>
          <a:p>
            <a:pPr>
              <a:spcAft>
                <a:spcPts val="200"/>
              </a:spcAft>
            </a:pPr>
            <a:r>
              <a:rPr lang="en-ZA" sz="1050">
                <a:solidFill>
                  <a:schemeClr val="dk1"/>
                </a:solidFill>
                <a:latin typeface="Lato" panose="020F0502020204030203" pitchFamily="34" charset="0"/>
              </a:rPr>
              <a:t>Petrol 4.5B L</a:t>
            </a:r>
          </a:p>
          <a:p>
            <a:pPr>
              <a:spcAft>
                <a:spcPts val="200"/>
              </a:spcAft>
            </a:pPr>
            <a:r>
              <a:rPr lang="en-ZA" sz="1050">
                <a:solidFill>
                  <a:schemeClr val="dk1"/>
                </a:solidFill>
                <a:latin typeface="Lato" panose="020F0502020204030203" pitchFamily="34" charset="0"/>
              </a:rPr>
              <a:t>Diesel 12.9B L</a:t>
            </a:r>
          </a:p>
        </p:txBody>
      </p:sp>
      <p:sp>
        <p:nvSpPr>
          <p:cNvPr id="26" name="Production">
            <a:extLst>
              <a:ext uri="{FF2B5EF4-FFF2-40B4-BE49-F238E27FC236}">
                <a16:creationId xmlns:a16="http://schemas.microsoft.com/office/drawing/2014/main" id="{5C6849AB-9AE3-0760-A433-1179BC55A1D3}"/>
              </a:ext>
            </a:extLst>
          </p:cNvPr>
          <p:cNvSpPr/>
          <p:nvPr/>
        </p:nvSpPr>
        <p:spPr>
          <a:xfrm>
            <a:off x="4343400" y="2006600"/>
            <a:ext cx="1524000" cy="889000"/>
          </a:xfrm>
          <a:prstGeom prst="rect">
            <a:avLst/>
          </a:prstGeom>
          <a:solidFill>
            <a:srgbClr val="FFFFFF"/>
          </a:solidFill>
          <a:ln w="9525" cap="flat" cmpd="sng" algn="ctr">
            <a:solidFill>
              <a:schemeClr val="accent1"/>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76200" tIns="50800" rIns="76200" bIns="38100" rtlCol="0" anchor="t"/>
          <a:lstStyle/>
          <a:p>
            <a:pPr>
              <a:spcAft>
                <a:spcPts val="400"/>
              </a:spcAft>
            </a:pPr>
            <a:r>
              <a:rPr lang="en-GB" sz="1050" b="1">
                <a:solidFill>
                  <a:schemeClr val="accent1"/>
                </a:solidFill>
                <a:latin typeface="Lato" panose="020F0502020204030203" pitchFamily="34" charset="0"/>
              </a:rPr>
              <a:t>Domestic production</a:t>
            </a:r>
          </a:p>
          <a:p>
            <a:pPr>
              <a:spcAft>
                <a:spcPts val="200"/>
              </a:spcAft>
            </a:pPr>
            <a:r>
              <a:rPr lang="en-GB" sz="1050">
                <a:solidFill>
                  <a:schemeClr val="dk1"/>
                </a:solidFill>
                <a:latin typeface="Lato" panose="020F0502020204030203" pitchFamily="34" charset="0"/>
              </a:rPr>
              <a:t>Refinery and synfuels</a:t>
            </a:r>
          </a:p>
          <a:p>
            <a:pPr>
              <a:spcAft>
                <a:spcPts val="200"/>
              </a:spcAft>
            </a:pPr>
            <a:r>
              <a:rPr lang="en-GB" sz="1050">
                <a:solidFill>
                  <a:schemeClr val="dk1"/>
                </a:solidFill>
                <a:latin typeface="Lato" panose="020F0502020204030203" pitchFamily="34" charset="0"/>
              </a:rPr>
              <a:t>No data after 2021</a:t>
            </a:r>
            <a:endParaRPr lang="en-ZA" sz="1050">
              <a:solidFill>
                <a:schemeClr val="dk1"/>
              </a:solidFill>
              <a:latin typeface="Lato" panose="020F0502020204030203" pitchFamily="34" charset="0"/>
            </a:endParaRPr>
          </a:p>
        </p:txBody>
      </p:sp>
      <p:sp>
        <p:nvSpPr>
          <p:cNvPr id="27" name="Ports">
            <a:extLst>
              <a:ext uri="{FF2B5EF4-FFF2-40B4-BE49-F238E27FC236}">
                <a16:creationId xmlns:a16="http://schemas.microsoft.com/office/drawing/2014/main" id="{E20B58AE-C8DB-E3B9-EE5D-8F24A6B47CD1}"/>
              </a:ext>
            </a:extLst>
          </p:cNvPr>
          <p:cNvSpPr/>
          <p:nvPr/>
        </p:nvSpPr>
        <p:spPr>
          <a:xfrm>
            <a:off x="2667000" y="3073400"/>
            <a:ext cx="1524000" cy="889000"/>
          </a:xfrm>
          <a:prstGeom prst="rect">
            <a:avLst/>
          </a:prstGeom>
          <a:solidFill>
            <a:srgbClr val="FFFFFF"/>
          </a:solidFill>
          <a:ln w="9525" cap="flat" cmpd="sng" algn="ctr">
            <a:solidFill>
              <a:schemeClr val="accent1"/>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76200" tIns="50800" rIns="76200" bIns="38100" rtlCol="0" anchor="t"/>
          <a:lstStyle/>
          <a:p>
            <a:pPr>
              <a:spcAft>
                <a:spcPts val="400"/>
              </a:spcAft>
            </a:pPr>
            <a:r>
              <a:rPr lang="en-GB" sz="1050" b="1">
                <a:solidFill>
                  <a:schemeClr val="accent1"/>
                </a:solidFill>
                <a:latin typeface="Lato" panose="020F0502020204030203" pitchFamily="34" charset="0"/>
              </a:rPr>
              <a:t>Ports</a:t>
            </a:r>
          </a:p>
          <a:p>
            <a:pPr>
              <a:spcAft>
                <a:spcPts val="200"/>
              </a:spcAft>
            </a:pPr>
            <a:r>
              <a:rPr lang="en-GB" sz="1050">
                <a:solidFill>
                  <a:schemeClr val="dk1"/>
                </a:solidFill>
                <a:latin typeface="Lato" panose="020F0502020204030203" pitchFamily="34" charset="0"/>
              </a:rPr>
              <a:t>Durban, Richards Bay</a:t>
            </a:r>
          </a:p>
          <a:p>
            <a:pPr>
              <a:spcAft>
                <a:spcPts val="200"/>
              </a:spcAft>
            </a:pPr>
            <a:r>
              <a:rPr lang="en-GB" sz="1050">
                <a:solidFill>
                  <a:schemeClr val="dk1"/>
                </a:solidFill>
                <a:latin typeface="Lato" panose="020F0502020204030203" pitchFamily="34" charset="0"/>
              </a:rPr>
              <a:t>Other gateways</a:t>
            </a:r>
            <a:endParaRPr lang="en-ZA" sz="1050">
              <a:solidFill>
                <a:schemeClr val="dk1"/>
              </a:solidFill>
              <a:latin typeface="Lato" panose="020F0502020204030203" pitchFamily="34" charset="0"/>
            </a:endParaRPr>
          </a:p>
        </p:txBody>
      </p:sp>
      <p:sp>
        <p:nvSpPr>
          <p:cNvPr id="28" name="Inland">
            <a:extLst>
              <a:ext uri="{FF2B5EF4-FFF2-40B4-BE49-F238E27FC236}">
                <a16:creationId xmlns:a16="http://schemas.microsoft.com/office/drawing/2014/main" id="{2320C580-5187-BCD8-7BE0-D1D5E1938EE9}"/>
              </a:ext>
            </a:extLst>
          </p:cNvPr>
          <p:cNvSpPr/>
          <p:nvPr/>
        </p:nvSpPr>
        <p:spPr>
          <a:xfrm>
            <a:off x="4343400" y="3073400"/>
            <a:ext cx="1524000" cy="889000"/>
          </a:xfrm>
          <a:prstGeom prst="rect">
            <a:avLst/>
          </a:prstGeom>
          <a:solidFill>
            <a:srgbClr val="FFFFFF"/>
          </a:solidFill>
          <a:ln w="9525" cap="flat" cmpd="sng" algn="ctr">
            <a:solidFill>
              <a:schemeClr val="accent1"/>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76200" tIns="50800" rIns="76200" bIns="38100" rtlCol="0" anchor="t"/>
          <a:lstStyle/>
          <a:p>
            <a:pPr>
              <a:spcAft>
                <a:spcPts val="400"/>
              </a:spcAft>
            </a:pPr>
            <a:r>
              <a:rPr lang="en-GB" sz="1050" b="1">
                <a:solidFill>
                  <a:schemeClr val="accent1"/>
                </a:solidFill>
                <a:latin typeface="Lato" panose="020F0502020204030203" pitchFamily="34" charset="0"/>
              </a:rPr>
              <a:t>Inland delivery</a:t>
            </a:r>
          </a:p>
          <a:p>
            <a:pPr>
              <a:spcAft>
                <a:spcPts val="200"/>
              </a:spcAft>
            </a:pPr>
            <a:r>
              <a:rPr lang="en-GB" sz="1050">
                <a:solidFill>
                  <a:schemeClr val="dk1"/>
                </a:solidFill>
                <a:latin typeface="Lato" panose="020F0502020204030203" pitchFamily="34" charset="0"/>
              </a:rPr>
              <a:t>NMPP trunk line</a:t>
            </a:r>
          </a:p>
          <a:p>
            <a:pPr>
              <a:spcAft>
                <a:spcPts val="200"/>
              </a:spcAft>
            </a:pPr>
            <a:r>
              <a:rPr lang="en-GB" sz="1050">
                <a:solidFill>
                  <a:schemeClr val="dk1"/>
                </a:solidFill>
                <a:latin typeface="Lato" panose="020F0502020204030203" pitchFamily="34" charset="0"/>
              </a:rPr>
              <a:t>Road and rail</a:t>
            </a:r>
            <a:endParaRPr lang="en-ZA" sz="1050">
              <a:solidFill>
                <a:schemeClr val="dk1"/>
              </a:solidFill>
              <a:latin typeface="Lato" panose="020F0502020204030203" pitchFamily="34" charset="0"/>
            </a:endParaRPr>
          </a:p>
        </p:txBody>
      </p:sp>
      <p:sp>
        <p:nvSpPr>
          <p:cNvPr id="29" name="Coastal demand">
            <a:extLst>
              <a:ext uri="{FF2B5EF4-FFF2-40B4-BE49-F238E27FC236}">
                <a16:creationId xmlns:a16="http://schemas.microsoft.com/office/drawing/2014/main" id="{E278732C-2759-FCE3-3AE8-501743685EAD}"/>
              </a:ext>
            </a:extLst>
          </p:cNvPr>
          <p:cNvSpPr/>
          <p:nvPr/>
        </p:nvSpPr>
        <p:spPr>
          <a:xfrm>
            <a:off x="2667000" y="4140200"/>
            <a:ext cx="1524000" cy="889000"/>
          </a:xfrm>
          <a:prstGeom prst="rect">
            <a:avLst/>
          </a:prstGeom>
          <a:solidFill>
            <a:srgbClr val="FFFFFF"/>
          </a:solidFill>
          <a:ln w="9525" cap="flat" cmpd="sng" algn="ctr">
            <a:solidFill>
              <a:schemeClr val="accent1"/>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76200" tIns="50800" rIns="76200" bIns="38100" rtlCol="0" anchor="t"/>
          <a:lstStyle/>
          <a:p>
            <a:pPr>
              <a:spcAft>
                <a:spcPts val="400"/>
              </a:spcAft>
            </a:pPr>
            <a:r>
              <a:rPr lang="fr-FR" sz="1050" b="1">
                <a:solidFill>
                  <a:schemeClr val="accent1"/>
                </a:solidFill>
                <a:latin typeface="Lato" panose="020F0502020204030203" pitchFamily="34" charset="0"/>
              </a:rPr>
              <a:t>Coastal demand</a:t>
            </a:r>
          </a:p>
          <a:p>
            <a:pPr>
              <a:spcAft>
                <a:spcPts val="200"/>
              </a:spcAft>
            </a:pPr>
            <a:r>
              <a:rPr lang="fr-FR" sz="1050">
                <a:solidFill>
                  <a:schemeClr val="dk1"/>
                </a:solidFill>
                <a:latin typeface="Lato" panose="020F0502020204030203" pitchFamily="34" charset="0"/>
              </a:rPr>
              <a:t>KZN, WC, EC</a:t>
            </a:r>
          </a:p>
          <a:p>
            <a:pPr>
              <a:spcAft>
                <a:spcPts val="200"/>
              </a:spcAft>
            </a:pPr>
            <a:r>
              <a:rPr lang="fr-FR" sz="1050">
                <a:solidFill>
                  <a:schemeClr val="dk1"/>
                </a:solidFill>
                <a:latin typeface="Lato" panose="020F0502020204030203" pitchFamily="34" charset="0"/>
              </a:rPr>
              <a:t>Port-adjacent markets</a:t>
            </a:r>
            <a:endParaRPr lang="en-ZA" sz="1050">
              <a:solidFill>
                <a:schemeClr val="dk1"/>
              </a:solidFill>
              <a:latin typeface="Lato" panose="020F0502020204030203" pitchFamily="34" charset="0"/>
            </a:endParaRPr>
          </a:p>
        </p:txBody>
      </p:sp>
      <p:sp>
        <p:nvSpPr>
          <p:cNvPr id="30" name="Inland demand">
            <a:extLst>
              <a:ext uri="{FF2B5EF4-FFF2-40B4-BE49-F238E27FC236}">
                <a16:creationId xmlns:a16="http://schemas.microsoft.com/office/drawing/2014/main" id="{CB0FB6E1-A494-848A-D061-F7C703F4417A}"/>
              </a:ext>
            </a:extLst>
          </p:cNvPr>
          <p:cNvSpPr/>
          <p:nvPr/>
        </p:nvSpPr>
        <p:spPr>
          <a:xfrm>
            <a:off x="4343400" y="4140200"/>
            <a:ext cx="1524000" cy="889000"/>
          </a:xfrm>
          <a:prstGeom prst="rect">
            <a:avLst/>
          </a:prstGeom>
          <a:solidFill>
            <a:srgbClr val="FFFFFF"/>
          </a:solidFill>
          <a:ln w="9525" cap="flat" cmpd="sng" algn="ctr">
            <a:solidFill>
              <a:schemeClr val="accent1"/>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76200" tIns="50800" rIns="76200" bIns="38100" rtlCol="0" anchor="t"/>
          <a:lstStyle/>
          <a:p>
            <a:pPr>
              <a:spcAft>
                <a:spcPts val="400"/>
              </a:spcAft>
            </a:pPr>
            <a:r>
              <a:rPr lang="en-GB" sz="1050" b="1">
                <a:solidFill>
                  <a:schemeClr val="accent1"/>
                </a:solidFill>
                <a:latin typeface="Lato" panose="020F0502020204030203" pitchFamily="34" charset="0"/>
              </a:rPr>
              <a:t>Inland demand</a:t>
            </a:r>
          </a:p>
          <a:p>
            <a:pPr>
              <a:spcAft>
                <a:spcPts val="200"/>
              </a:spcAft>
            </a:pPr>
            <a:r>
              <a:rPr lang="en-GB" sz="1050">
                <a:solidFill>
                  <a:schemeClr val="dk1"/>
                </a:solidFill>
                <a:latin typeface="Lato" panose="020F0502020204030203" pitchFamily="34" charset="0"/>
              </a:rPr>
              <a:t>Gauteng and interior</a:t>
            </a:r>
          </a:p>
          <a:p>
            <a:pPr>
              <a:spcAft>
                <a:spcPts val="200"/>
              </a:spcAft>
            </a:pPr>
            <a:r>
              <a:rPr lang="en-GB" sz="1050">
                <a:solidFill>
                  <a:schemeClr val="dk1"/>
                </a:solidFill>
                <a:latin typeface="Lato" panose="020F0502020204030203" pitchFamily="34" charset="0"/>
              </a:rPr>
              <a:t>Six inland provinces</a:t>
            </a:r>
            <a:endParaRPr lang="en-ZA" sz="1050">
              <a:solidFill>
                <a:schemeClr val="dk1"/>
              </a:solidFill>
              <a:latin typeface="Lato" panose="020F0502020204030203" pitchFamily="34" charset="0"/>
            </a:endParaRPr>
          </a:p>
        </p:txBody>
      </p:sp>
      <p:sp>
        <p:nvSpPr>
          <p:cNvPr id="31" name="Supply and route parameters">
            <a:extLst>
              <a:ext uri="{FF2B5EF4-FFF2-40B4-BE49-F238E27FC236}">
                <a16:creationId xmlns:a16="http://schemas.microsoft.com/office/drawing/2014/main" id="{7F641203-A65B-3FA9-B005-3E70250C74CF}"/>
              </a:ext>
            </a:extLst>
          </p:cNvPr>
          <p:cNvSpPr/>
          <p:nvPr/>
        </p:nvSpPr>
        <p:spPr>
          <a:xfrm>
            <a:off x="2667000" y="5207000"/>
            <a:ext cx="3200400" cy="889000"/>
          </a:xfrm>
          <a:prstGeom prst="rect">
            <a:avLst/>
          </a:prstGeom>
          <a:solidFill>
            <a:srgbClr val="FFFFFF"/>
          </a:solidFill>
          <a:ln w="9525" cap="flat" cmpd="sng" algn="ctr">
            <a:solidFill>
              <a:schemeClr val="accent1"/>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76200" tIns="50800" rIns="76200" bIns="38100" rtlCol="0" anchor="t"/>
          <a:lstStyle/>
          <a:p>
            <a:pPr>
              <a:spcAft>
                <a:spcPts val="400"/>
              </a:spcAft>
            </a:pPr>
            <a:r>
              <a:rPr lang="en-GB" sz="1050" b="1">
                <a:solidFill>
                  <a:schemeClr val="accent1"/>
                </a:solidFill>
                <a:latin typeface="Lato" panose="020F0502020204030203" pitchFamily="34" charset="0"/>
              </a:rPr>
              <a:t>Supply and route parameters</a:t>
            </a:r>
          </a:p>
          <a:p>
            <a:pPr>
              <a:spcAft>
                <a:spcPts val="200"/>
              </a:spcAft>
            </a:pPr>
            <a:r>
              <a:rPr lang="en-GB" sz="1050">
                <a:solidFill>
                  <a:schemeClr val="dk1"/>
                </a:solidFill>
                <a:latin typeface="Lato" panose="020F0502020204030203" pitchFamily="34" charset="0"/>
              </a:rPr>
              <a:t>Refinery closures, restarts, gas</a:t>
            </a:r>
          </a:p>
          <a:p>
            <a:pPr>
              <a:spcAft>
                <a:spcPts val="200"/>
              </a:spcAft>
            </a:pPr>
            <a:r>
              <a:rPr lang="en-GB" sz="1050">
                <a:solidFill>
                  <a:schemeClr val="dk1"/>
                </a:solidFill>
                <a:latin typeface="Lato" panose="020F0502020204030203" pitchFamily="34" charset="0"/>
              </a:rPr>
              <a:t>Delivered cost, routes, contracts</a:t>
            </a:r>
          </a:p>
          <a:p>
            <a:pPr>
              <a:spcAft>
                <a:spcPts val="200"/>
              </a:spcAft>
            </a:pPr>
            <a:r>
              <a:rPr lang="en-GB" sz="1050">
                <a:solidFill>
                  <a:schemeClr val="dk1"/>
                </a:solidFill>
                <a:latin typeface="Lato" panose="020F0502020204030203" pitchFamily="34" charset="0"/>
              </a:rPr>
              <a:t>Port, pipeline, rail capacity</a:t>
            </a:r>
            <a:endParaRPr lang="en-ZA" sz="1050">
              <a:solidFill>
                <a:schemeClr val="dk1"/>
              </a:solidFill>
              <a:latin typeface="Lato" panose="020F0502020204030203" pitchFamily="34" charset="0"/>
            </a:endParaRPr>
          </a:p>
        </p:txBody>
      </p:sp>
      <p:sp>
        <p:nvSpPr>
          <p:cNvPr id="32" name="Market sizing">
            <a:extLst>
              <a:ext uri="{FF2B5EF4-FFF2-40B4-BE49-F238E27FC236}">
                <a16:creationId xmlns:a16="http://schemas.microsoft.com/office/drawing/2014/main" id="{6287C0CE-D3C7-78AB-5760-9FF99AEB4696}"/>
              </a:ext>
            </a:extLst>
          </p:cNvPr>
          <p:cNvSpPr/>
          <p:nvPr/>
        </p:nvSpPr>
        <p:spPr>
          <a:xfrm>
            <a:off x="6172200" y="2006600"/>
            <a:ext cx="2857500" cy="889000"/>
          </a:xfrm>
          <a:prstGeom prst="rect">
            <a:avLst/>
          </a:prstGeom>
          <a:solidFill>
            <a:srgbClr val="FFFFFF"/>
          </a:solidFill>
          <a:ln w="9525" cap="flat" cmpd="sng" algn="ctr">
            <a:solidFill>
              <a:schemeClr val="accent1"/>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76200" tIns="50800" rIns="76200" bIns="38100" rtlCol="0" anchor="t"/>
          <a:lstStyle/>
          <a:p>
            <a:pPr>
              <a:spcAft>
                <a:spcPts val="400"/>
              </a:spcAft>
            </a:pPr>
            <a:r>
              <a:rPr lang="en-GB" sz="1050" b="1">
                <a:solidFill>
                  <a:schemeClr val="accent1"/>
                </a:solidFill>
                <a:latin typeface="Lato" panose="020F0502020204030203" pitchFamily="34" charset="0"/>
              </a:rPr>
              <a:t>Market sizing</a:t>
            </a:r>
          </a:p>
          <a:p>
            <a:pPr>
              <a:spcAft>
                <a:spcPts val="200"/>
              </a:spcAft>
            </a:pPr>
            <a:r>
              <a:rPr lang="en-GB" sz="1050">
                <a:solidFill>
                  <a:schemeClr val="dk1"/>
                </a:solidFill>
                <a:latin typeface="Lato" panose="020F0502020204030203" pitchFamily="34" charset="0"/>
              </a:rPr>
              <a:t>Coastal 4.3B L, inland-bound 8.9B L</a:t>
            </a:r>
          </a:p>
          <a:p>
            <a:pPr>
              <a:spcAft>
                <a:spcPts val="200"/>
              </a:spcAft>
            </a:pPr>
            <a:r>
              <a:rPr lang="en-GB" sz="1050">
                <a:solidFill>
                  <a:schemeClr val="dk1"/>
                </a:solidFill>
                <a:latin typeface="Lato" panose="020F0502020204030203" pitchFamily="34" charset="0"/>
              </a:rPr>
              <a:t>Shared flows counted once</a:t>
            </a:r>
            <a:endParaRPr lang="en-ZA" sz="1050">
              <a:solidFill>
                <a:schemeClr val="dk1"/>
              </a:solidFill>
              <a:latin typeface="Lato" panose="020F0502020204030203" pitchFamily="34" charset="0"/>
            </a:endParaRPr>
          </a:p>
        </p:txBody>
      </p:sp>
      <p:sp>
        <p:nvSpPr>
          <p:cNvPr id="33" name="Durban opportunity">
            <a:extLst>
              <a:ext uri="{FF2B5EF4-FFF2-40B4-BE49-F238E27FC236}">
                <a16:creationId xmlns:a16="http://schemas.microsoft.com/office/drawing/2014/main" id="{EC344BFB-FE89-D450-2665-DB6780F4106D}"/>
              </a:ext>
            </a:extLst>
          </p:cNvPr>
          <p:cNvSpPr/>
          <p:nvPr/>
        </p:nvSpPr>
        <p:spPr>
          <a:xfrm>
            <a:off x="6172200" y="3073400"/>
            <a:ext cx="1371600" cy="889000"/>
          </a:xfrm>
          <a:prstGeom prst="rect">
            <a:avLst/>
          </a:prstGeom>
          <a:solidFill>
            <a:srgbClr val="FFFFFF"/>
          </a:solidFill>
          <a:ln w="9525" cap="flat" cmpd="sng" algn="ctr">
            <a:solidFill>
              <a:schemeClr val="accent1"/>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76200" tIns="50800" rIns="76200" bIns="38100" rtlCol="0" anchor="t"/>
          <a:lstStyle/>
          <a:p>
            <a:pPr>
              <a:spcAft>
                <a:spcPts val="400"/>
              </a:spcAft>
            </a:pPr>
            <a:r>
              <a:rPr lang="en-GB" sz="1050" b="1">
                <a:solidFill>
                  <a:schemeClr val="accent1"/>
                </a:solidFill>
                <a:latin typeface="Lato" panose="020F0502020204030203" pitchFamily="34" charset="0"/>
              </a:rPr>
              <a:t>Durban market</a:t>
            </a:r>
          </a:p>
          <a:p>
            <a:pPr>
              <a:spcAft>
                <a:spcPts val="200"/>
              </a:spcAft>
            </a:pPr>
            <a:r>
              <a:rPr lang="en-GB" sz="1050">
                <a:solidFill>
                  <a:schemeClr val="dk1"/>
                </a:solidFill>
                <a:latin typeface="Lato" panose="020F0502020204030203" pitchFamily="34" charset="0"/>
              </a:rPr>
              <a:t>Coastal 4.3B L</a:t>
            </a:r>
          </a:p>
          <a:p>
            <a:pPr>
              <a:spcAft>
                <a:spcPts val="200"/>
              </a:spcAft>
            </a:pPr>
            <a:r>
              <a:rPr lang="en-GB" sz="1050">
                <a:solidFill>
                  <a:schemeClr val="dk1"/>
                </a:solidFill>
                <a:latin typeface="Lato" panose="020F0502020204030203" pitchFamily="34" charset="0"/>
              </a:rPr>
              <a:t>All landed 13.2B L</a:t>
            </a:r>
            <a:endParaRPr lang="en-ZA" sz="1050">
              <a:solidFill>
                <a:schemeClr val="dk1"/>
              </a:solidFill>
              <a:latin typeface="Lato" panose="020F0502020204030203" pitchFamily="34" charset="0"/>
            </a:endParaRPr>
          </a:p>
        </p:txBody>
      </p:sp>
      <p:sp>
        <p:nvSpPr>
          <p:cNvPr id="34" name="Lesedi opportunity">
            <a:extLst>
              <a:ext uri="{FF2B5EF4-FFF2-40B4-BE49-F238E27FC236}">
                <a16:creationId xmlns:a16="http://schemas.microsoft.com/office/drawing/2014/main" id="{A116609A-BAC3-97D4-4245-DBAB3C41DD10}"/>
              </a:ext>
            </a:extLst>
          </p:cNvPr>
          <p:cNvSpPr/>
          <p:nvPr/>
        </p:nvSpPr>
        <p:spPr>
          <a:xfrm>
            <a:off x="7658100" y="3073400"/>
            <a:ext cx="1371600" cy="889000"/>
          </a:xfrm>
          <a:prstGeom prst="rect">
            <a:avLst/>
          </a:prstGeom>
          <a:solidFill>
            <a:srgbClr val="FFFFFF"/>
          </a:solidFill>
          <a:ln w="9525" cap="flat" cmpd="sng" algn="ctr">
            <a:solidFill>
              <a:schemeClr val="accent1"/>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76200" tIns="50800" rIns="76200" bIns="38100" rtlCol="0" anchor="t"/>
          <a:lstStyle/>
          <a:p>
            <a:pPr>
              <a:spcAft>
                <a:spcPts val="400"/>
              </a:spcAft>
            </a:pPr>
            <a:r>
              <a:rPr lang="en-ZA" sz="1050" b="1">
                <a:solidFill>
                  <a:schemeClr val="accent1"/>
                </a:solidFill>
                <a:latin typeface="Lato" panose="020F0502020204030203" pitchFamily="34" charset="0"/>
              </a:rPr>
              <a:t>Lesedi market</a:t>
            </a:r>
          </a:p>
          <a:p>
            <a:pPr>
              <a:spcAft>
                <a:spcPts val="200"/>
              </a:spcAft>
            </a:pPr>
            <a:r>
              <a:rPr lang="en-ZA" sz="1050">
                <a:solidFill>
                  <a:schemeClr val="dk1"/>
                </a:solidFill>
                <a:latin typeface="Lato" panose="020F0502020204030203" pitchFamily="34" charset="0"/>
              </a:rPr>
              <a:t>Gauteng 6.8B L</a:t>
            </a:r>
          </a:p>
          <a:p>
            <a:pPr>
              <a:spcAft>
                <a:spcPts val="200"/>
              </a:spcAft>
            </a:pPr>
            <a:r>
              <a:rPr lang="en-ZA" sz="1050">
                <a:solidFill>
                  <a:schemeClr val="dk1"/>
                </a:solidFill>
                <a:latin typeface="Lato" panose="020F0502020204030203" pitchFamily="34" charset="0"/>
              </a:rPr>
              <a:t>Via Durban 8.9B L</a:t>
            </a:r>
          </a:p>
        </p:txBody>
      </p:sp>
      <p:sp>
        <p:nvSpPr>
          <p:cNvPr id="35" name="Share">
            <a:extLst>
              <a:ext uri="{FF2B5EF4-FFF2-40B4-BE49-F238E27FC236}">
                <a16:creationId xmlns:a16="http://schemas.microsoft.com/office/drawing/2014/main" id="{58E9A2F1-513B-40EF-E204-D91B24C162B3}"/>
              </a:ext>
            </a:extLst>
          </p:cNvPr>
          <p:cNvSpPr/>
          <p:nvPr/>
        </p:nvSpPr>
        <p:spPr>
          <a:xfrm>
            <a:off x="6172200" y="4140200"/>
            <a:ext cx="2857500" cy="889000"/>
          </a:xfrm>
          <a:prstGeom prst="rect">
            <a:avLst/>
          </a:prstGeom>
          <a:solidFill>
            <a:srgbClr val="FFFFFF"/>
          </a:solidFill>
          <a:ln w="9525" cap="flat" cmpd="sng" algn="ctr">
            <a:solidFill>
              <a:schemeClr val="accent1"/>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76200" tIns="50800" rIns="76200" bIns="38100" rtlCol="0" anchor="t"/>
          <a:lstStyle/>
          <a:p>
            <a:pPr>
              <a:spcAft>
                <a:spcPts val="400"/>
              </a:spcAft>
            </a:pPr>
            <a:r>
              <a:rPr lang="en-GB" sz="1050" b="1">
                <a:solidFill>
                  <a:schemeClr val="accent1"/>
                </a:solidFill>
                <a:latin typeface="Lato" panose="020F0502020204030203" pitchFamily="34" charset="0"/>
              </a:rPr>
              <a:t>Market share</a:t>
            </a:r>
          </a:p>
          <a:p>
            <a:pPr>
              <a:spcAft>
                <a:spcPts val="200"/>
              </a:spcAft>
            </a:pPr>
            <a:r>
              <a:rPr lang="en-GB" sz="1050">
                <a:solidFill>
                  <a:schemeClr val="dk1"/>
                </a:solidFill>
                <a:latin typeface="Lato" panose="020F0502020204030203" pitchFamily="34" charset="0"/>
              </a:rPr>
              <a:t>Tanks allow at 2 turns a month:</a:t>
            </a:r>
          </a:p>
          <a:p>
            <a:pPr>
              <a:spcAft>
                <a:spcPts val="200"/>
              </a:spcAft>
            </a:pPr>
            <a:r>
              <a:rPr lang="en-GB" sz="1050">
                <a:solidFill>
                  <a:schemeClr val="dk1"/>
                </a:solidFill>
                <a:latin typeface="Lato" panose="020F0502020204030203" pitchFamily="34" charset="0"/>
              </a:rPr>
              <a:t>Durban 3.5B L, Lesedi 3.0B L</a:t>
            </a:r>
            <a:endParaRPr lang="en-ZA" sz="1050">
              <a:solidFill>
                <a:schemeClr val="dk1"/>
              </a:solidFill>
              <a:latin typeface="Lato" panose="020F0502020204030203" pitchFamily="34" charset="0"/>
            </a:endParaRPr>
          </a:p>
        </p:txBody>
      </p:sp>
      <p:sp>
        <p:nvSpPr>
          <p:cNvPr id="36" name="Headroom">
            <a:extLst>
              <a:ext uri="{FF2B5EF4-FFF2-40B4-BE49-F238E27FC236}">
                <a16:creationId xmlns:a16="http://schemas.microsoft.com/office/drawing/2014/main" id="{7880716A-1A77-7007-EFED-074B6A67E731}"/>
              </a:ext>
            </a:extLst>
          </p:cNvPr>
          <p:cNvSpPr/>
          <p:nvPr/>
        </p:nvSpPr>
        <p:spPr>
          <a:xfrm>
            <a:off x="6172200" y="5207000"/>
            <a:ext cx="2857500" cy="889000"/>
          </a:xfrm>
          <a:prstGeom prst="rect">
            <a:avLst/>
          </a:prstGeom>
          <a:solidFill>
            <a:srgbClr val="FFFFFF"/>
          </a:solidFill>
          <a:ln w="9525" cap="flat" cmpd="sng" algn="ctr">
            <a:solidFill>
              <a:schemeClr val="accent1"/>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76200" tIns="50800" rIns="76200" bIns="38100" rtlCol="0" anchor="t"/>
          <a:lstStyle/>
          <a:p>
            <a:pPr>
              <a:spcAft>
                <a:spcPts val="400"/>
              </a:spcAft>
            </a:pPr>
            <a:r>
              <a:rPr lang="en-GB" sz="1050" b="1">
                <a:solidFill>
                  <a:schemeClr val="accent1"/>
                </a:solidFill>
                <a:latin typeface="Lato" panose="020F0502020204030203" pitchFamily="34" charset="0"/>
              </a:rPr>
              <a:t>Headroom</a:t>
            </a:r>
          </a:p>
          <a:p>
            <a:pPr>
              <a:spcAft>
                <a:spcPts val="200"/>
              </a:spcAft>
            </a:pPr>
            <a:r>
              <a:rPr lang="en-GB" sz="1050">
                <a:solidFill>
                  <a:schemeClr val="dk1"/>
                </a:solidFill>
                <a:latin typeface="Lato" panose="020F0502020204030203" pitchFamily="34" charset="0"/>
              </a:rPr>
              <a:t>Site market less current capture</a:t>
            </a:r>
          </a:p>
          <a:p>
            <a:pPr>
              <a:spcAft>
                <a:spcPts val="200"/>
              </a:spcAft>
            </a:pPr>
            <a:r>
              <a:rPr lang="en-GB" sz="1050">
                <a:solidFill>
                  <a:schemeClr val="dk1"/>
                </a:solidFill>
                <a:latin typeface="Lato" panose="020F0502020204030203" pitchFamily="34" charset="0"/>
              </a:rPr>
              <a:t>Shared Durban-Lesedi flows once</a:t>
            </a:r>
            <a:endParaRPr lang="en-ZA" sz="1050">
              <a:solidFill>
                <a:schemeClr val="dk1"/>
              </a:solidFill>
              <a:latin typeface="Lato" panose="020F0502020204030203" pitchFamily="34" charset="0"/>
            </a:endParaRPr>
          </a:p>
        </p:txBody>
      </p:sp>
      <p:sp>
        <p:nvSpPr>
          <p:cNvPr id="37" name="Additional capture">
            <a:extLst>
              <a:ext uri="{FF2B5EF4-FFF2-40B4-BE49-F238E27FC236}">
                <a16:creationId xmlns:a16="http://schemas.microsoft.com/office/drawing/2014/main" id="{32466EA9-5507-708B-8021-EB9A8B091BE2}"/>
              </a:ext>
            </a:extLst>
          </p:cNvPr>
          <p:cNvSpPr/>
          <p:nvPr/>
        </p:nvSpPr>
        <p:spPr>
          <a:xfrm>
            <a:off x="9334500" y="2006600"/>
            <a:ext cx="1778000" cy="889000"/>
          </a:xfrm>
          <a:prstGeom prst="rect">
            <a:avLst/>
          </a:prstGeom>
          <a:solidFill>
            <a:srgbClr val="FFFFFF"/>
          </a:solidFill>
          <a:ln w="9525" cap="flat" cmpd="sng" algn="ctr">
            <a:solidFill>
              <a:schemeClr val="accent1"/>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76200" tIns="50800" rIns="76200" bIns="38100" rtlCol="0" anchor="t"/>
          <a:lstStyle/>
          <a:p>
            <a:pPr>
              <a:spcAft>
                <a:spcPts val="400"/>
              </a:spcAft>
            </a:pPr>
            <a:r>
              <a:rPr lang="en-GB" sz="1050" b="1">
                <a:solidFill>
                  <a:schemeClr val="accent1"/>
                </a:solidFill>
                <a:latin typeface="Lato" panose="020F0502020204030203" pitchFamily="34" charset="0"/>
              </a:rPr>
              <a:t>Additional capture</a:t>
            </a:r>
          </a:p>
          <a:p>
            <a:pPr>
              <a:spcAft>
                <a:spcPts val="200"/>
              </a:spcAft>
            </a:pPr>
            <a:r>
              <a:rPr lang="en-GB" sz="1050">
                <a:solidFill>
                  <a:schemeClr val="dk1"/>
                </a:solidFill>
                <a:latin typeface="Lato" panose="020F0502020204030203" pitchFamily="34" charset="0"/>
              </a:rPr>
              <a:t>Customers, contracts</a:t>
            </a:r>
          </a:p>
          <a:p>
            <a:pPr>
              <a:spcAft>
                <a:spcPts val="200"/>
              </a:spcAft>
            </a:pPr>
            <a:r>
              <a:rPr lang="en-GB" sz="1050">
                <a:solidFill>
                  <a:schemeClr val="dk1"/>
                </a:solidFill>
                <a:latin typeface="Lato" panose="020F0502020204030203" pitchFamily="34" charset="0"/>
              </a:rPr>
              <a:t>Competition</a:t>
            </a:r>
            <a:endParaRPr lang="en-ZA" sz="1050">
              <a:solidFill>
                <a:schemeClr val="dk1"/>
              </a:solidFill>
              <a:latin typeface="Lato" panose="020F0502020204030203" pitchFamily="34" charset="0"/>
            </a:endParaRPr>
          </a:p>
        </p:txBody>
      </p:sp>
      <p:sp>
        <p:nvSpPr>
          <p:cNvPr id="38" name="Existing capacity">
            <a:extLst>
              <a:ext uri="{FF2B5EF4-FFF2-40B4-BE49-F238E27FC236}">
                <a16:creationId xmlns:a16="http://schemas.microsoft.com/office/drawing/2014/main" id="{C0D31863-81FB-CDD9-5406-38CF8835667D}"/>
              </a:ext>
            </a:extLst>
          </p:cNvPr>
          <p:cNvSpPr/>
          <p:nvPr/>
        </p:nvSpPr>
        <p:spPr>
          <a:xfrm>
            <a:off x="9334500" y="3073400"/>
            <a:ext cx="1778000" cy="889000"/>
          </a:xfrm>
          <a:prstGeom prst="rect">
            <a:avLst/>
          </a:prstGeom>
          <a:solidFill>
            <a:srgbClr val="FFFFFF"/>
          </a:solidFill>
          <a:ln w="9525" cap="flat" cmpd="sng" algn="ctr">
            <a:solidFill>
              <a:schemeClr val="accent1"/>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76200" tIns="50800" rIns="76200" bIns="38100" rtlCol="0" anchor="t"/>
          <a:lstStyle/>
          <a:p>
            <a:pPr>
              <a:spcAft>
                <a:spcPts val="400"/>
              </a:spcAft>
            </a:pPr>
            <a:r>
              <a:rPr lang="en-GB" sz="1050" b="1">
                <a:solidFill>
                  <a:schemeClr val="accent1"/>
                </a:solidFill>
                <a:latin typeface="Lato" panose="020F0502020204030203" pitchFamily="34" charset="0"/>
              </a:rPr>
              <a:t>Existing assets</a:t>
            </a:r>
          </a:p>
          <a:p>
            <a:pPr>
              <a:spcAft>
                <a:spcPts val="200"/>
              </a:spcAft>
            </a:pPr>
            <a:r>
              <a:rPr lang="en-GB" sz="1050">
                <a:solidFill>
                  <a:schemeClr val="dk1"/>
                </a:solidFill>
                <a:latin typeface="Lato" panose="020F0502020204030203" pitchFamily="34" charset="0"/>
              </a:rPr>
              <a:t>Tanks and turns</a:t>
            </a:r>
          </a:p>
          <a:p>
            <a:pPr>
              <a:spcAft>
                <a:spcPts val="200"/>
              </a:spcAft>
            </a:pPr>
            <a:r>
              <a:rPr lang="en-GB" sz="1050">
                <a:solidFill>
                  <a:schemeClr val="dk1"/>
                </a:solidFill>
                <a:latin typeface="Lato" panose="020F0502020204030203" pitchFamily="34" charset="0"/>
              </a:rPr>
              <a:t>Receipt and dispatch</a:t>
            </a:r>
            <a:endParaRPr lang="en-ZA" sz="1050">
              <a:solidFill>
                <a:schemeClr val="dk1"/>
              </a:solidFill>
              <a:latin typeface="Lato" panose="020F0502020204030203" pitchFamily="34" charset="0"/>
            </a:endParaRPr>
          </a:p>
        </p:txBody>
      </p:sp>
      <p:sp>
        <p:nvSpPr>
          <p:cNvPr id="39" name="Investment economics">
            <a:extLst>
              <a:ext uri="{FF2B5EF4-FFF2-40B4-BE49-F238E27FC236}">
                <a16:creationId xmlns:a16="http://schemas.microsoft.com/office/drawing/2014/main" id="{EEA19564-001F-F59A-C3FA-D46AE7721914}"/>
              </a:ext>
            </a:extLst>
          </p:cNvPr>
          <p:cNvSpPr/>
          <p:nvPr/>
        </p:nvSpPr>
        <p:spPr>
          <a:xfrm>
            <a:off x="9334500" y="4140200"/>
            <a:ext cx="1778000" cy="889000"/>
          </a:xfrm>
          <a:prstGeom prst="rect">
            <a:avLst/>
          </a:prstGeom>
          <a:solidFill>
            <a:srgbClr val="FFFFFF"/>
          </a:solidFill>
          <a:ln w="9525" cap="flat" cmpd="sng" algn="ctr">
            <a:solidFill>
              <a:schemeClr val="accent1"/>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76200" tIns="50800" rIns="76200" bIns="38100" rtlCol="0" anchor="t"/>
          <a:lstStyle/>
          <a:p>
            <a:pPr>
              <a:spcAft>
                <a:spcPts val="400"/>
              </a:spcAft>
            </a:pPr>
            <a:r>
              <a:rPr lang="en-GB" sz="1050" b="1">
                <a:solidFill>
                  <a:schemeClr val="accent1"/>
                </a:solidFill>
                <a:latin typeface="Lato" panose="020F0502020204030203" pitchFamily="34" charset="0"/>
              </a:rPr>
              <a:t>New investment</a:t>
            </a:r>
          </a:p>
          <a:p>
            <a:pPr>
              <a:spcAft>
                <a:spcPts val="200"/>
              </a:spcAft>
            </a:pPr>
            <a:r>
              <a:rPr lang="en-GB" sz="1050">
                <a:solidFill>
                  <a:schemeClr val="dk1"/>
                </a:solidFill>
                <a:latin typeface="Lato" panose="020F0502020204030203" pitchFamily="34" charset="0"/>
              </a:rPr>
              <a:t>Volume, capex, returns</a:t>
            </a:r>
          </a:p>
          <a:p>
            <a:pPr>
              <a:spcAft>
                <a:spcPts val="200"/>
              </a:spcAft>
            </a:pPr>
            <a:r>
              <a:rPr lang="en-GB" sz="1050">
                <a:solidFill>
                  <a:schemeClr val="dk1"/>
                </a:solidFill>
                <a:latin typeface="Lato" panose="020F0502020204030203" pitchFamily="34" charset="0"/>
              </a:rPr>
              <a:t>Alternatives, downside</a:t>
            </a:r>
            <a:endParaRPr lang="en-ZA" sz="1050">
              <a:solidFill>
                <a:schemeClr val="dk1"/>
              </a:solidFill>
              <a:latin typeface="Lato" panose="020F0502020204030203" pitchFamily="34" charset="0"/>
            </a:endParaRPr>
          </a:p>
        </p:txBody>
      </p:sp>
      <p:sp>
        <p:nvSpPr>
          <p:cNvPr id="40" name="Resolution">
            <a:extLst>
              <a:ext uri="{FF2B5EF4-FFF2-40B4-BE49-F238E27FC236}">
                <a16:creationId xmlns:a16="http://schemas.microsoft.com/office/drawing/2014/main" id="{2B6FD514-4DA9-3258-4178-E92247750DB0}"/>
              </a:ext>
            </a:extLst>
          </p:cNvPr>
          <p:cNvSpPr/>
          <p:nvPr/>
        </p:nvSpPr>
        <p:spPr>
          <a:xfrm>
            <a:off x="9334500" y="5207000"/>
            <a:ext cx="1778000" cy="889000"/>
          </a:xfrm>
          <a:prstGeom prst="rect">
            <a:avLst/>
          </a:prstGeom>
          <a:solidFill>
            <a:srgbClr val="FFFFFF"/>
          </a:solidFill>
          <a:ln w="9525" cap="flat" cmpd="sng" algn="ctr">
            <a:solidFill>
              <a:schemeClr val="accent1"/>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76200" tIns="50800" rIns="76200" bIns="38100" rtlCol="0" anchor="t"/>
          <a:lstStyle/>
          <a:p>
            <a:pPr>
              <a:spcAft>
                <a:spcPts val="400"/>
              </a:spcAft>
            </a:pPr>
            <a:r>
              <a:rPr lang="en-GB" sz="1050" b="1">
                <a:solidFill>
                  <a:schemeClr val="accent1"/>
                </a:solidFill>
                <a:latin typeface="Lato" panose="020F0502020204030203" pitchFamily="34" charset="0"/>
              </a:rPr>
              <a:t>Resolution</a:t>
            </a:r>
          </a:p>
          <a:p>
            <a:pPr>
              <a:spcAft>
                <a:spcPts val="200"/>
              </a:spcAft>
            </a:pPr>
            <a:r>
              <a:rPr lang="en-GB" sz="1050">
                <a:solidFill>
                  <a:schemeClr val="dk1"/>
                </a:solidFill>
                <a:latin typeface="Lato" panose="020F0502020204030203" pitchFamily="34" charset="0"/>
              </a:rPr>
              <a:t>Vopak share by site</a:t>
            </a:r>
          </a:p>
          <a:p>
            <a:pPr>
              <a:spcAft>
                <a:spcPts val="200"/>
              </a:spcAft>
            </a:pPr>
            <a:r>
              <a:rPr lang="en-GB" sz="1050">
                <a:solidFill>
                  <a:schemeClr val="dk1"/>
                </a:solidFill>
                <a:latin typeface="Lato" panose="020F0502020204030203" pitchFamily="34" charset="0"/>
              </a:rPr>
              <a:t>Scope for investment</a:t>
            </a:r>
            <a:endParaRPr lang="en-ZA" sz="1050">
              <a:solidFill>
                <a:schemeClr val="dk1"/>
              </a:solidFill>
              <a:latin typeface="Lato" panose="020F0502020204030203" pitchFamily="34" charset="0"/>
            </a:endParaRPr>
          </a:p>
        </p:txBody>
      </p:sp>
      <p:sp>
        <p:nvSpPr>
          <p:cNvPr id="41" name="National market tag">
            <a:extLst>
              <a:ext uri="{FF2B5EF4-FFF2-40B4-BE49-F238E27FC236}">
                <a16:creationId xmlns:a16="http://schemas.microsoft.com/office/drawing/2014/main" id="{E6B72591-6664-4D5B-9042-1F888614D973}"/>
              </a:ext>
            </a:extLst>
          </p:cNvPr>
          <p:cNvSpPr txBox="1"/>
          <p:nvPr/>
        </p:nvSpPr>
        <p:spPr>
          <a:xfrm>
            <a:off x="533400" y="2705100"/>
            <a:ext cx="1752600" cy="152400"/>
          </a:xfrm>
          <a:prstGeom prst="rect">
            <a:avLst/>
          </a:prstGeom>
          <a:noFill/>
        </p:spPr>
        <p:txBody>
          <a:bodyPr vert="horz" wrap="square" lIns="0" tIns="0" rIns="0" bIns="0" rtlCol="0">
            <a:noAutofit/>
          </a:bodyPr>
          <a:lstStyle/>
          <a:p>
            <a:pPr>
              <a:spcAft>
                <a:spcPts val="200"/>
              </a:spcAft>
            </a:pPr>
            <a:r>
              <a:rPr lang="en-ZA" sz="900" b="1">
                <a:solidFill>
                  <a:schemeClr val="accent1"/>
                </a:solidFill>
                <a:latin typeface="Lato" panose="020F0502020204030203" pitchFamily="34" charset="0"/>
              </a:rPr>
              <a:t>2023 · 21.9B L · observed</a:t>
            </a:r>
          </a:p>
        </p:txBody>
      </p:sp>
      <p:sp>
        <p:nvSpPr>
          <p:cNvPr id="42" name="Product demand tag">
            <a:extLst>
              <a:ext uri="{FF2B5EF4-FFF2-40B4-BE49-F238E27FC236}">
                <a16:creationId xmlns:a16="http://schemas.microsoft.com/office/drawing/2014/main" id="{83EB02F5-4D06-9794-E020-AA5C24E010BD}"/>
              </a:ext>
            </a:extLst>
          </p:cNvPr>
          <p:cNvSpPr txBox="1"/>
          <p:nvPr/>
        </p:nvSpPr>
        <p:spPr>
          <a:xfrm>
            <a:off x="533400" y="3771900"/>
            <a:ext cx="1752600" cy="152400"/>
          </a:xfrm>
          <a:prstGeom prst="rect">
            <a:avLst/>
          </a:prstGeom>
          <a:noFill/>
        </p:spPr>
        <p:txBody>
          <a:bodyPr vert="horz" wrap="square" lIns="0" tIns="0" rIns="0" bIns="0" rtlCol="0">
            <a:noAutofit/>
          </a:bodyPr>
          <a:lstStyle/>
          <a:p>
            <a:pPr>
              <a:spcAft>
                <a:spcPts val="200"/>
              </a:spcAft>
            </a:pPr>
            <a:r>
              <a:rPr lang="en-ZA" sz="900" b="1">
                <a:solidFill>
                  <a:schemeClr val="accent1"/>
                </a:solidFill>
                <a:latin typeface="Lato" panose="020F0502020204030203" pitchFamily="34" charset="0"/>
              </a:rPr>
              <a:t>2023 · observed</a:t>
            </a:r>
          </a:p>
        </p:txBody>
      </p:sp>
      <p:sp>
        <p:nvSpPr>
          <p:cNvPr id="43" name="Sector demand tag">
            <a:extLst>
              <a:ext uri="{FF2B5EF4-FFF2-40B4-BE49-F238E27FC236}">
                <a16:creationId xmlns:a16="http://schemas.microsoft.com/office/drawing/2014/main" id="{A47F012F-B463-4F7A-9501-52AC4D080F73}"/>
              </a:ext>
            </a:extLst>
          </p:cNvPr>
          <p:cNvSpPr txBox="1"/>
          <p:nvPr/>
        </p:nvSpPr>
        <p:spPr>
          <a:xfrm>
            <a:off x="533400" y="4838700"/>
            <a:ext cx="1752600" cy="152400"/>
          </a:xfrm>
          <a:prstGeom prst="rect">
            <a:avLst/>
          </a:prstGeom>
          <a:noFill/>
        </p:spPr>
        <p:txBody>
          <a:bodyPr vert="horz" wrap="square" lIns="0" tIns="0" rIns="0" bIns="0" rtlCol="0">
            <a:noAutofit/>
          </a:bodyPr>
          <a:lstStyle/>
          <a:p>
            <a:pPr>
              <a:spcAft>
                <a:spcPts val="200"/>
              </a:spcAft>
            </a:pPr>
            <a:r>
              <a:rPr lang="en-ZA" sz="900" b="1">
                <a:solidFill>
                  <a:schemeClr val="accent1"/>
                </a:solidFill>
                <a:latin typeface="Lato" panose="020F0502020204030203" pitchFamily="34" charset="0"/>
              </a:rPr>
              <a:t>2021 · 23.2B L · balance</a:t>
            </a:r>
          </a:p>
        </p:txBody>
      </p:sp>
      <p:sp>
        <p:nvSpPr>
          <p:cNvPr id="44" name="Imports tag">
            <a:extLst>
              <a:ext uri="{FF2B5EF4-FFF2-40B4-BE49-F238E27FC236}">
                <a16:creationId xmlns:a16="http://schemas.microsoft.com/office/drawing/2014/main" id="{A0C569B9-688E-8289-27DA-DFD35B23EC4C}"/>
              </a:ext>
            </a:extLst>
          </p:cNvPr>
          <p:cNvSpPr txBox="1"/>
          <p:nvPr/>
        </p:nvSpPr>
        <p:spPr>
          <a:xfrm>
            <a:off x="2743200" y="2705100"/>
            <a:ext cx="1371600" cy="152400"/>
          </a:xfrm>
          <a:prstGeom prst="rect">
            <a:avLst/>
          </a:prstGeom>
          <a:noFill/>
        </p:spPr>
        <p:txBody>
          <a:bodyPr vert="horz" wrap="square" lIns="0" tIns="0" rIns="0" bIns="0" rtlCol="0">
            <a:noAutofit/>
          </a:bodyPr>
          <a:lstStyle/>
          <a:p>
            <a:pPr>
              <a:spcAft>
                <a:spcPts val="200"/>
              </a:spcAft>
            </a:pPr>
            <a:r>
              <a:rPr lang="en-ZA" sz="900" b="1">
                <a:solidFill>
                  <a:schemeClr val="accent1"/>
                </a:solidFill>
                <a:latin typeface="Lato" panose="020F0502020204030203" pitchFamily="34" charset="0"/>
              </a:rPr>
              <a:t>2023 · 17.4B L · customs</a:t>
            </a:r>
          </a:p>
        </p:txBody>
      </p:sp>
      <p:sp>
        <p:nvSpPr>
          <p:cNvPr id="45" name="Production tag">
            <a:extLst>
              <a:ext uri="{FF2B5EF4-FFF2-40B4-BE49-F238E27FC236}">
                <a16:creationId xmlns:a16="http://schemas.microsoft.com/office/drawing/2014/main" id="{72F9C935-35AE-4308-D87B-F74F33B44298}"/>
              </a:ext>
            </a:extLst>
          </p:cNvPr>
          <p:cNvSpPr txBox="1"/>
          <p:nvPr/>
        </p:nvSpPr>
        <p:spPr>
          <a:xfrm>
            <a:off x="4419600" y="2705100"/>
            <a:ext cx="1371600" cy="152400"/>
          </a:xfrm>
          <a:prstGeom prst="rect">
            <a:avLst/>
          </a:prstGeom>
          <a:noFill/>
        </p:spPr>
        <p:txBody>
          <a:bodyPr vert="horz" wrap="square" lIns="0" tIns="0" rIns="0" bIns="0" rtlCol="0">
            <a:noAutofit/>
          </a:bodyPr>
          <a:lstStyle/>
          <a:p>
            <a:pPr>
              <a:spcAft>
                <a:spcPts val="200"/>
              </a:spcAft>
            </a:pPr>
            <a:r>
              <a:rPr lang="en-ZA" sz="900" b="1">
                <a:solidFill>
                  <a:schemeClr val="accent1"/>
                </a:solidFill>
                <a:latin typeface="Lato" panose="020F0502020204030203" pitchFamily="34" charset="0"/>
              </a:rPr>
              <a:t>2021 · 11.7B L · latest</a:t>
            </a:r>
          </a:p>
        </p:txBody>
      </p:sp>
      <p:sp>
        <p:nvSpPr>
          <p:cNvPr id="46" name="Ports tag">
            <a:extLst>
              <a:ext uri="{FF2B5EF4-FFF2-40B4-BE49-F238E27FC236}">
                <a16:creationId xmlns:a16="http://schemas.microsoft.com/office/drawing/2014/main" id="{2F062B98-66F6-6D4E-9142-3EC4AE7308F8}"/>
              </a:ext>
            </a:extLst>
          </p:cNvPr>
          <p:cNvSpPr txBox="1"/>
          <p:nvPr/>
        </p:nvSpPr>
        <p:spPr>
          <a:xfrm>
            <a:off x="2743200" y="3771900"/>
            <a:ext cx="1371600" cy="152400"/>
          </a:xfrm>
          <a:prstGeom prst="rect">
            <a:avLst/>
          </a:prstGeom>
          <a:noFill/>
        </p:spPr>
        <p:txBody>
          <a:bodyPr vert="horz" wrap="square" lIns="0" tIns="0" rIns="0" bIns="0" rtlCol="0">
            <a:noAutofit/>
          </a:bodyPr>
          <a:lstStyle/>
          <a:p>
            <a:pPr>
              <a:spcAft>
                <a:spcPts val="200"/>
              </a:spcAft>
            </a:pPr>
            <a:r>
              <a:rPr lang="en-ZA" sz="900" b="1">
                <a:solidFill>
                  <a:schemeClr val="accent1"/>
                </a:solidFill>
                <a:latin typeface="Lato" panose="020F0502020204030203" pitchFamily="34" charset="0"/>
              </a:rPr>
              <a:t>2025 · Durban 13.2B L</a:t>
            </a:r>
          </a:p>
        </p:txBody>
      </p:sp>
      <p:sp>
        <p:nvSpPr>
          <p:cNvPr id="49" name="Inland tag">
            <a:extLst>
              <a:ext uri="{FF2B5EF4-FFF2-40B4-BE49-F238E27FC236}">
                <a16:creationId xmlns:a16="http://schemas.microsoft.com/office/drawing/2014/main" id="{6352C946-D6DD-E9C4-33AF-1406B9943170}"/>
              </a:ext>
            </a:extLst>
          </p:cNvPr>
          <p:cNvSpPr txBox="1"/>
          <p:nvPr/>
        </p:nvSpPr>
        <p:spPr>
          <a:xfrm>
            <a:off x="4419600" y="3771900"/>
            <a:ext cx="1371600" cy="152400"/>
          </a:xfrm>
          <a:prstGeom prst="rect">
            <a:avLst/>
          </a:prstGeom>
          <a:noFill/>
        </p:spPr>
        <p:txBody>
          <a:bodyPr vert="horz" wrap="square" lIns="0" tIns="0" rIns="0" bIns="0" rtlCol="0">
            <a:noAutofit/>
          </a:bodyPr>
          <a:lstStyle/>
          <a:p>
            <a:pPr>
              <a:spcAft>
                <a:spcPts val="200"/>
              </a:spcAft>
            </a:pPr>
            <a:r>
              <a:rPr lang="en-ZA" sz="900" b="1">
                <a:solidFill>
                  <a:schemeClr val="accent1"/>
                </a:solidFill>
                <a:latin typeface="Lato" panose="020F0502020204030203" pitchFamily="34" charset="0"/>
              </a:rPr>
              <a:t>Capacity ~7.7B L/yr</a:t>
            </a:r>
          </a:p>
        </p:txBody>
      </p:sp>
      <p:sp>
        <p:nvSpPr>
          <p:cNvPr id="50" name="Coastal demand tag">
            <a:extLst>
              <a:ext uri="{FF2B5EF4-FFF2-40B4-BE49-F238E27FC236}">
                <a16:creationId xmlns:a16="http://schemas.microsoft.com/office/drawing/2014/main" id="{1E4AD543-D854-C0EF-74DD-B89C20C7D1A7}"/>
              </a:ext>
            </a:extLst>
          </p:cNvPr>
          <p:cNvSpPr txBox="1"/>
          <p:nvPr/>
        </p:nvSpPr>
        <p:spPr>
          <a:xfrm>
            <a:off x="2743200" y="4838700"/>
            <a:ext cx="1371600" cy="152400"/>
          </a:xfrm>
          <a:prstGeom prst="rect">
            <a:avLst/>
          </a:prstGeom>
          <a:noFill/>
        </p:spPr>
        <p:txBody>
          <a:bodyPr vert="horz" wrap="square" lIns="0" tIns="0" rIns="0" bIns="0" rtlCol="0">
            <a:noAutofit/>
          </a:bodyPr>
          <a:lstStyle/>
          <a:p>
            <a:pPr>
              <a:spcAft>
                <a:spcPts val="200"/>
              </a:spcAft>
            </a:pPr>
            <a:r>
              <a:rPr lang="en-ZA" sz="900" b="1">
                <a:solidFill>
                  <a:schemeClr val="accent1"/>
                </a:solidFill>
                <a:latin typeface="Lato" panose="020F0502020204030203" pitchFamily="34" charset="0"/>
              </a:rPr>
              <a:t>2022 · 10.0B L · proxy</a:t>
            </a:r>
          </a:p>
        </p:txBody>
      </p:sp>
      <p:sp>
        <p:nvSpPr>
          <p:cNvPr id="51" name="Inland demand tag">
            <a:extLst>
              <a:ext uri="{FF2B5EF4-FFF2-40B4-BE49-F238E27FC236}">
                <a16:creationId xmlns:a16="http://schemas.microsoft.com/office/drawing/2014/main" id="{201667C0-4BFC-C778-850A-6F4C4BC475B1}"/>
              </a:ext>
            </a:extLst>
          </p:cNvPr>
          <p:cNvSpPr txBox="1"/>
          <p:nvPr/>
        </p:nvSpPr>
        <p:spPr>
          <a:xfrm>
            <a:off x="4419600" y="4838700"/>
            <a:ext cx="1371600" cy="152400"/>
          </a:xfrm>
          <a:prstGeom prst="rect">
            <a:avLst/>
          </a:prstGeom>
          <a:noFill/>
        </p:spPr>
        <p:txBody>
          <a:bodyPr vert="horz" wrap="square" lIns="0" tIns="0" rIns="0" bIns="0" rtlCol="0">
            <a:noAutofit/>
          </a:bodyPr>
          <a:lstStyle/>
          <a:p>
            <a:pPr>
              <a:spcAft>
                <a:spcPts val="200"/>
              </a:spcAft>
            </a:pPr>
            <a:r>
              <a:rPr lang="en-ZA" sz="900" b="1">
                <a:solidFill>
                  <a:schemeClr val="accent1"/>
                </a:solidFill>
                <a:latin typeface="Lato" panose="020F0502020204030203" pitchFamily="34" charset="0"/>
              </a:rPr>
              <a:t>2022 · 12.0B L · proxy</a:t>
            </a:r>
          </a:p>
        </p:txBody>
      </p:sp>
      <p:sp>
        <p:nvSpPr>
          <p:cNvPr id="52" name="Market sizing tag">
            <a:extLst>
              <a:ext uri="{FF2B5EF4-FFF2-40B4-BE49-F238E27FC236}">
                <a16:creationId xmlns:a16="http://schemas.microsoft.com/office/drawing/2014/main" id="{CDEDDDC4-D7D2-309F-1060-DFD0E76B47D1}"/>
              </a:ext>
            </a:extLst>
          </p:cNvPr>
          <p:cNvSpPr txBox="1"/>
          <p:nvPr/>
        </p:nvSpPr>
        <p:spPr>
          <a:xfrm>
            <a:off x="6248400" y="2705100"/>
            <a:ext cx="2705100" cy="152400"/>
          </a:xfrm>
          <a:prstGeom prst="rect">
            <a:avLst/>
          </a:prstGeom>
          <a:noFill/>
        </p:spPr>
        <p:txBody>
          <a:bodyPr vert="horz" wrap="square" lIns="0" tIns="0" rIns="0" bIns="0" rtlCol="0">
            <a:noAutofit/>
          </a:bodyPr>
          <a:lstStyle/>
          <a:p>
            <a:pPr>
              <a:spcAft>
                <a:spcPts val="200"/>
              </a:spcAft>
            </a:pPr>
            <a:r>
              <a:rPr lang="en-ZA" sz="900" b="1">
                <a:solidFill>
                  <a:schemeClr val="accent1"/>
                </a:solidFill>
                <a:latin typeface="Lato" panose="020F0502020204030203" pitchFamily="34" charset="0"/>
              </a:rPr>
              <a:t>2025 · 13.2B L · estimate</a:t>
            </a:r>
          </a:p>
        </p:txBody>
      </p:sp>
      <p:sp>
        <p:nvSpPr>
          <p:cNvPr id="53" name="Durban opportunity tag">
            <a:extLst>
              <a:ext uri="{FF2B5EF4-FFF2-40B4-BE49-F238E27FC236}">
                <a16:creationId xmlns:a16="http://schemas.microsoft.com/office/drawing/2014/main" id="{380D3B40-4E3F-4115-6748-ECE9AC5F3CFD}"/>
              </a:ext>
            </a:extLst>
          </p:cNvPr>
          <p:cNvSpPr txBox="1"/>
          <p:nvPr/>
        </p:nvSpPr>
        <p:spPr>
          <a:xfrm>
            <a:off x="6248400" y="3771900"/>
            <a:ext cx="1219200" cy="152400"/>
          </a:xfrm>
          <a:prstGeom prst="rect">
            <a:avLst/>
          </a:prstGeom>
          <a:noFill/>
        </p:spPr>
        <p:txBody>
          <a:bodyPr vert="horz" wrap="square" lIns="0" tIns="0" rIns="0" bIns="0" rtlCol="0">
            <a:noAutofit/>
          </a:bodyPr>
          <a:lstStyle/>
          <a:p>
            <a:pPr>
              <a:spcAft>
                <a:spcPts val="200"/>
              </a:spcAft>
            </a:pPr>
            <a:r>
              <a:rPr lang="en-ZA" sz="900" b="1">
                <a:solidFill>
                  <a:schemeClr val="accent1"/>
                </a:solidFill>
                <a:latin typeface="Lato" panose="020F0502020204030203" pitchFamily="34" charset="0"/>
              </a:rPr>
              <a:t>4.3 to 13.2B L</a:t>
            </a:r>
          </a:p>
        </p:txBody>
      </p:sp>
      <p:sp>
        <p:nvSpPr>
          <p:cNvPr id="54" name="Lesedi opportunity tag">
            <a:extLst>
              <a:ext uri="{FF2B5EF4-FFF2-40B4-BE49-F238E27FC236}">
                <a16:creationId xmlns:a16="http://schemas.microsoft.com/office/drawing/2014/main" id="{23003658-8E0B-1B85-83A6-41BE9C0D0A9D}"/>
              </a:ext>
            </a:extLst>
          </p:cNvPr>
          <p:cNvSpPr txBox="1"/>
          <p:nvPr/>
        </p:nvSpPr>
        <p:spPr>
          <a:xfrm>
            <a:off x="7734300" y="3771900"/>
            <a:ext cx="1219200" cy="152400"/>
          </a:xfrm>
          <a:prstGeom prst="rect">
            <a:avLst/>
          </a:prstGeom>
          <a:noFill/>
        </p:spPr>
        <p:txBody>
          <a:bodyPr vert="horz" wrap="square" lIns="0" tIns="0" rIns="0" bIns="0" rtlCol="0">
            <a:noAutofit/>
          </a:bodyPr>
          <a:lstStyle/>
          <a:p>
            <a:pPr>
              <a:spcAft>
                <a:spcPts val="200"/>
              </a:spcAft>
            </a:pPr>
            <a:r>
              <a:rPr lang="en-ZA" sz="900" b="1">
                <a:solidFill>
                  <a:schemeClr val="accent1"/>
                </a:solidFill>
                <a:latin typeface="Lato" panose="020F0502020204030203" pitchFamily="34" charset="0"/>
              </a:rPr>
              <a:t>6.8 to 12.0B L</a:t>
            </a:r>
          </a:p>
        </p:txBody>
      </p:sp>
      <p:sp>
        <p:nvSpPr>
          <p:cNvPr id="55" name="Share tag">
            <a:extLst>
              <a:ext uri="{FF2B5EF4-FFF2-40B4-BE49-F238E27FC236}">
                <a16:creationId xmlns:a16="http://schemas.microsoft.com/office/drawing/2014/main" id="{338C2A54-8E76-65D0-8676-EFBD47A9EA04}"/>
              </a:ext>
            </a:extLst>
          </p:cNvPr>
          <p:cNvSpPr txBox="1"/>
          <p:nvPr/>
        </p:nvSpPr>
        <p:spPr>
          <a:xfrm>
            <a:off x="6248400" y="4838700"/>
            <a:ext cx="2705100" cy="152400"/>
          </a:xfrm>
          <a:prstGeom prst="rect">
            <a:avLst/>
          </a:prstGeom>
          <a:noFill/>
        </p:spPr>
        <p:txBody>
          <a:bodyPr vert="horz" wrap="square" lIns="0" tIns="0" rIns="0" bIns="0" rtlCol="0">
            <a:noAutofit/>
          </a:bodyPr>
          <a:lstStyle/>
          <a:p>
            <a:pPr>
              <a:spcAft>
                <a:spcPts val="200"/>
              </a:spcAft>
            </a:pPr>
            <a:r>
              <a:rPr lang="en-ZA" sz="900" b="1">
                <a:solidFill>
                  <a:schemeClr val="accent1"/>
                </a:solidFill>
                <a:latin typeface="Lato" panose="020F0502020204030203" pitchFamily="34" charset="0"/>
              </a:rPr>
              <a:t>Ceiling, not share · DR02/05</a:t>
            </a:r>
          </a:p>
        </p:txBody>
      </p:sp>
      <p:sp>
        <p:nvSpPr>
          <p:cNvPr id="56" name="Headroom tag">
            <a:extLst>
              <a:ext uri="{FF2B5EF4-FFF2-40B4-BE49-F238E27FC236}">
                <a16:creationId xmlns:a16="http://schemas.microsoft.com/office/drawing/2014/main" id="{03535807-49EA-267A-DB4C-36F835648DC9}"/>
              </a:ext>
            </a:extLst>
          </p:cNvPr>
          <p:cNvSpPr txBox="1"/>
          <p:nvPr/>
        </p:nvSpPr>
        <p:spPr>
          <a:xfrm>
            <a:off x="6248400" y="5905500"/>
            <a:ext cx="2705100" cy="152400"/>
          </a:xfrm>
          <a:prstGeom prst="rect">
            <a:avLst/>
          </a:prstGeom>
          <a:noFill/>
        </p:spPr>
        <p:txBody>
          <a:bodyPr vert="horz" wrap="square" lIns="0" tIns="0" rIns="0" bIns="0" rtlCol="0">
            <a:noAutofit/>
          </a:bodyPr>
          <a:lstStyle/>
          <a:p>
            <a:pPr>
              <a:spcAft>
                <a:spcPts val="200"/>
              </a:spcAft>
            </a:pPr>
            <a:r>
              <a:rPr lang="en-ZA" sz="900">
                <a:solidFill>
                  <a:srgbClr val="808080"/>
                </a:solidFill>
                <a:latin typeface="Lato" panose="020F0502020204030203" pitchFamily="34" charset="0"/>
              </a:rPr>
              <a:t>Pending · DR02/05</a:t>
            </a:r>
          </a:p>
        </p:txBody>
      </p:sp>
      <p:sp>
        <p:nvSpPr>
          <p:cNvPr id="57" name="Additional capture tag">
            <a:extLst>
              <a:ext uri="{FF2B5EF4-FFF2-40B4-BE49-F238E27FC236}">
                <a16:creationId xmlns:a16="http://schemas.microsoft.com/office/drawing/2014/main" id="{B3FDC5EE-C31E-078A-5DD8-EFF070389027}"/>
              </a:ext>
            </a:extLst>
          </p:cNvPr>
          <p:cNvSpPr txBox="1"/>
          <p:nvPr/>
        </p:nvSpPr>
        <p:spPr>
          <a:xfrm>
            <a:off x="9410700" y="2705100"/>
            <a:ext cx="1625600" cy="152400"/>
          </a:xfrm>
          <a:prstGeom prst="rect">
            <a:avLst/>
          </a:prstGeom>
          <a:noFill/>
        </p:spPr>
        <p:txBody>
          <a:bodyPr vert="horz" wrap="square" lIns="0" tIns="0" rIns="0" bIns="0" rtlCol="0">
            <a:noAutofit/>
          </a:bodyPr>
          <a:lstStyle/>
          <a:p>
            <a:pPr>
              <a:spcAft>
                <a:spcPts val="200"/>
              </a:spcAft>
            </a:pPr>
            <a:r>
              <a:rPr lang="en-ZA" sz="900">
                <a:solidFill>
                  <a:srgbClr val="808080"/>
                </a:solidFill>
                <a:latin typeface="Lato" panose="020F0502020204030203" pitchFamily="34" charset="0"/>
              </a:rPr>
              <a:t>Pending · DR02/05</a:t>
            </a:r>
          </a:p>
        </p:txBody>
      </p:sp>
      <p:sp>
        <p:nvSpPr>
          <p:cNvPr id="58" name="Existing capacity tag">
            <a:extLst>
              <a:ext uri="{FF2B5EF4-FFF2-40B4-BE49-F238E27FC236}">
                <a16:creationId xmlns:a16="http://schemas.microsoft.com/office/drawing/2014/main" id="{3660F943-A9D5-CFF8-9E3E-365F3CF4DAA6}"/>
              </a:ext>
            </a:extLst>
          </p:cNvPr>
          <p:cNvSpPr txBox="1"/>
          <p:nvPr/>
        </p:nvSpPr>
        <p:spPr>
          <a:xfrm>
            <a:off x="9410700" y="3771900"/>
            <a:ext cx="1625600" cy="152400"/>
          </a:xfrm>
          <a:prstGeom prst="rect">
            <a:avLst/>
          </a:prstGeom>
          <a:noFill/>
        </p:spPr>
        <p:txBody>
          <a:bodyPr vert="horz" wrap="square" lIns="0" tIns="0" rIns="0" bIns="0" rtlCol="0">
            <a:noAutofit/>
          </a:bodyPr>
          <a:lstStyle/>
          <a:p>
            <a:pPr>
              <a:spcAft>
                <a:spcPts val="200"/>
              </a:spcAft>
            </a:pPr>
            <a:r>
              <a:rPr lang="en-ZA" sz="900">
                <a:solidFill>
                  <a:srgbClr val="808080"/>
                </a:solidFill>
                <a:latin typeface="Lato" panose="020F0502020204030203" pitchFamily="34" charset="0"/>
              </a:rPr>
              <a:t>Pending · DR03</a:t>
            </a:r>
          </a:p>
        </p:txBody>
      </p:sp>
      <p:sp>
        <p:nvSpPr>
          <p:cNvPr id="59" name="Investment economics tag">
            <a:extLst>
              <a:ext uri="{FF2B5EF4-FFF2-40B4-BE49-F238E27FC236}">
                <a16:creationId xmlns:a16="http://schemas.microsoft.com/office/drawing/2014/main" id="{311B9A83-2580-2134-0E4C-F252A683E4BA}"/>
              </a:ext>
            </a:extLst>
          </p:cNvPr>
          <p:cNvSpPr txBox="1"/>
          <p:nvPr/>
        </p:nvSpPr>
        <p:spPr>
          <a:xfrm>
            <a:off x="9410700" y="4838700"/>
            <a:ext cx="1625600" cy="152400"/>
          </a:xfrm>
          <a:prstGeom prst="rect">
            <a:avLst/>
          </a:prstGeom>
          <a:noFill/>
        </p:spPr>
        <p:txBody>
          <a:bodyPr vert="horz" wrap="square" lIns="0" tIns="0" rIns="0" bIns="0" rtlCol="0">
            <a:noAutofit/>
          </a:bodyPr>
          <a:lstStyle/>
          <a:p>
            <a:pPr>
              <a:spcAft>
                <a:spcPts val="200"/>
              </a:spcAft>
            </a:pPr>
            <a:r>
              <a:rPr lang="en-ZA" sz="900">
                <a:solidFill>
                  <a:srgbClr val="808080"/>
                </a:solidFill>
                <a:latin typeface="Lato" panose="020F0502020204030203" pitchFamily="34" charset="0"/>
              </a:rPr>
              <a:t>Pending · DR06</a:t>
            </a:r>
          </a:p>
        </p:txBody>
      </p:sp>
      <p:sp>
        <p:nvSpPr>
          <p:cNvPr id="60" name="National market deep dive">
            <a:extLst>
              <a:ext uri="{FF2B5EF4-FFF2-40B4-BE49-F238E27FC236}">
                <a16:creationId xmlns:a16="http://schemas.microsoft.com/office/drawing/2014/main" id="{36F50E06-2772-91BE-9667-ACB2D89CE3C6}"/>
              </a:ext>
            </a:extLst>
          </p:cNvPr>
          <p:cNvSpPr/>
          <p:nvPr/>
        </p:nvSpPr>
        <p:spPr>
          <a:xfrm>
            <a:off x="2159000" y="1930400"/>
            <a:ext cx="330200" cy="152400"/>
          </a:xfrm>
          <a:prstGeom prst="roundRect">
            <a:avLst/>
          </a:prstGeom>
          <a:solidFill>
            <a:schemeClr val="accent1"/>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en-ZA" sz="800" b="1">
                <a:solidFill>
                  <a:srgbClr val="FFFFFF"/>
                </a:solidFill>
                <a:latin typeface="Lato" panose="020F0502020204030203" pitchFamily="34" charset="0"/>
              </a:rPr>
              <a:t>p.1</a:t>
            </a:r>
          </a:p>
        </p:txBody>
      </p:sp>
      <p:sp>
        <p:nvSpPr>
          <p:cNvPr id="61" name="Imports deep dive">
            <a:extLst>
              <a:ext uri="{FF2B5EF4-FFF2-40B4-BE49-F238E27FC236}">
                <a16:creationId xmlns:a16="http://schemas.microsoft.com/office/drawing/2014/main" id="{6C7148E8-7BFD-F820-B47B-DEBD98CA8C40}"/>
              </a:ext>
            </a:extLst>
          </p:cNvPr>
          <p:cNvSpPr/>
          <p:nvPr/>
        </p:nvSpPr>
        <p:spPr>
          <a:xfrm>
            <a:off x="3987800" y="1930400"/>
            <a:ext cx="330200" cy="152400"/>
          </a:xfrm>
          <a:prstGeom prst="roundRect">
            <a:avLst/>
          </a:prstGeom>
          <a:solidFill>
            <a:schemeClr val="accent1"/>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en-ZA" sz="800" b="1">
                <a:solidFill>
                  <a:srgbClr val="FFFFFF"/>
                </a:solidFill>
                <a:latin typeface="Lato" panose="020F0502020204030203" pitchFamily="34" charset="0"/>
              </a:rPr>
              <a:t>p.1</a:t>
            </a:r>
          </a:p>
        </p:txBody>
      </p:sp>
      <p:sp>
        <p:nvSpPr>
          <p:cNvPr id="62" name="Production deep dive">
            <a:extLst>
              <a:ext uri="{FF2B5EF4-FFF2-40B4-BE49-F238E27FC236}">
                <a16:creationId xmlns:a16="http://schemas.microsoft.com/office/drawing/2014/main" id="{2378A9E1-EFCE-0B30-C8A3-F40ADF67C148}"/>
              </a:ext>
            </a:extLst>
          </p:cNvPr>
          <p:cNvSpPr/>
          <p:nvPr/>
        </p:nvSpPr>
        <p:spPr>
          <a:xfrm>
            <a:off x="5664200" y="1930400"/>
            <a:ext cx="330200" cy="152400"/>
          </a:xfrm>
          <a:prstGeom prst="roundRect">
            <a:avLst/>
          </a:prstGeom>
          <a:solidFill>
            <a:schemeClr val="accent1"/>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en-ZA" sz="800" b="1">
                <a:solidFill>
                  <a:srgbClr val="FFFFFF"/>
                </a:solidFill>
                <a:latin typeface="Lato" panose="020F0502020204030203" pitchFamily="34" charset="0"/>
              </a:rPr>
              <a:t>p.1</a:t>
            </a:r>
          </a:p>
        </p:txBody>
      </p:sp>
      <p:sp>
        <p:nvSpPr>
          <p:cNvPr id="63" name="Product demand deep dive">
            <a:extLst>
              <a:ext uri="{FF2B5EF4-FFF2-40B4-BE49-F238E27FC236}">
                <a16:creationId xmlns:a16="http://schemas.microsoft.com/office/drawing/2014/main" id="{308A3120-BE0A-678D-3004-542607A82C25}"/>
              </a:ext>
            </a:extLst>
          </p:cNvPr>
          <p:cNvSpPr/>
          <p:nvPr/>
        </p:nvSpPr>
        <p:spPr>
          <a:xfrm>
            <a:off x="2159000" y="2997200"/>
            <a:ext cx="330200" cy="152400"/>
          </a:xfrm>
          <a:prstGeom prst="roundRect">
            <a:avLst/>
          </a:prstGeom>
          <a:solidFill>
            <a:schemeClr val="accent1"/>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en-ZA" sz="800" b="1">
                <a:solidFill>
                  <a:srgbClr val="FFFFFF"/>
                </a:solidFill>
                <a:latin typeface="Lato" panose="020F0502020204030203" pitchFamily="34" charset="0"/>
              </a:rPr>
              <a:t>p.3</a:t>
            </a:r>
          </a:p>
        </p:txBody>
      </p:sp>
      <p:sp>
        <p:nvSpPr>
          <p:cNvPr id="64" name="Sector demand deep dive">
            <a:extLst>
              <a:ext uri="{FF2B5EF4-FFF2-40B4-BE49-F238E27FC236}">
                <a16:creationId xmlns:a16="http://schemas.microsoft.com/office/drawing/2014/main" id="{6C8C9144-9A74-ED78-50B4-E0B5BB0A86DF}"/>
              </a:ext>
            </a:extLst>
          </p:cNvPr>
          <p:cNvSpPr/>
          <p:nvPr/>
        </p:nvSpPr>
        <p:spPr>
          <a:xfrm>
            <a:off x="2159000" y="4064000"/>
            <a:ext cx="330200" cy="152400"/>
          </a:xfrm>
          <a:prstGeom prst="roundRect">
            <a:avLst/>
          </a:prstGeom>
          <a:solidFill>
            <a:schemeClr val="accent1"/>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en-ZA" sz="800" b="1">
                <a:solidFill>
                  <a:srgbClr val="FFFFFF"/>
                </a:solidFill>
                <a:latin typeface="Lato" panose="020F0502020204030203" pitchFamily="34" charset="0"/>
              </a:rPr>
              <a:t>p.4</a:t>
            </a:r>
          </a:p>
        </p:txBody>
      </p:sp>
      <p:sp>
        <p:nvSpPr>
          <p:cNvPr id="65" name="Demand parameters deep dive">
            <a:extLst>
              <a:ext uri="{FF2B5EF4-FFF2-40B4-BE49-F238E27FC236}">
                <a16:creationId xmlns:a16="http://schemas.microsoft.com/office/drawing/2014/main" id="{15736ACD-D4E9-B8F5-6330-CE8CD84B7837}"/>
              </a:ext>
            </a:extLst>
          </p:cNvPr>
          <p:cNvSpPr/>
          <p:nvPr/>
        </p:nvSpPr>
        <p:spPr>
          <a:xfrm>
            <a:off x="2159000" y="5130800"/>
            <a:ext cx="330200" cy="152400"/>
          </a:xfrm>
          <a:prstGeom prst="roundRect">
            <a:avLst/>
          </a:prstGeom>
          <a:solidFill>
            <a:schemeClr val="accent1"/>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en-ZA" sz="800" b="1">
                <a:solidFill>
                  <a:srgbClr val="FFFFFF"/>
                </a:solidFill>
                <a:latin typeface="Lato" panose="020F0502020204030203" pitchFamily="34" charset="0"/>
              </a:rPr>
              <a:t>p.5</a:t>
            </a:r>
          </a:p>
        </p:txBody>
      </p:sp>
      <p:sp>
        <p:nvSpPr>
          <p:cNvPr id="66" name="Ports deep dive">
            <a:extLst>
              <a:ext uri="{FF2B5EF4-FFF2-40B4-BE49-F238E27FC236}">
                <a16:creationId xmlns:a16="http://schemas.microsoft.com/office/drawing/2014/main" id="{EFA87F9A-B015-4870-98A8-82543D9CA715}"/>
              </a:ext>
            </a:extLst>
          </p:cNvPr>
          <p:cNvSpPr/>
          <p:nvPr/>
        </p:nvSpPr>
        <p:spPr>
          <a:xfrm>
            <a:off x="3987800" y="2997200"/>
            <a:ext cx="330200" cy="152400"/>
          </a:xfrm>
          <a:prstGeom prst="roundRect">
            <a:avLst/>
          </a:prstGeom>
          <a:solidFill>
            <a:schemeClr val="accent1"/>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en-ZA" sz="800" b="1">
                <a:solidFill>
                  <a:srgbClr val="FFFFFF"/>
                </a:solidFill>
                <a:latin typeface="Lato" panose="020F0502020204030203" pitchFamily="34" charset="0"/>
              </a:rPr>
              <a:t>p.6</a:t>
            </a:r>
          </a:p>
        </p:txBody>
      </p:sp>
      <p:sp>
        <p:nvSpPr>
          <p:cNvPr id="67" name="Inland deep dive">
            <a:extLst>
              <a:ext uri="{FF2B5EF4-FFF2-40B4-BE49-F238E27FC236}">
                <a16:creationId xmlns:a16="http://schemas.microsoft.com/office/drawing/2014/main" id="{0F851427-89D0-99FD-EE5F-A38C62A84501}"/>
              </a:ext>
            </a:extLst>
          </p:cNvPr>
          <p:cNvSpPr/>
          <p:nvPr/>
        </p:nvSpPr>
        <p:spPr>
          <a:xfrm>
            <a:off x="5664200" y="2997200"/>
            <a:ext cx="330200" cy="152400"/>
          </a:xfrm>
          <a:prstGeom prst="roundRect">
            <a:avLst/>
          </a:prstGeom>
          <a:solidFill>
            <a:schemeClr val="accent1"/>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en-ZA" sz="800" b="1">
                <a:solidFill>
                  <a:srgbClr val="FFFFFF"/>
                </a:solidFill>
                <a:latin typeface="Lato" panose="020F0502020204030203" pitchFamily="34" charset="0"/>
              </a:rPr>
              <a:t>p.6</a:t>
            </a:r>
          </a:p>
        </p:txBody>
      </p:sp>
      <p:sp>
        <p:nvSpPr>
          <p:cNvPr id="68" name="Deep dive legend marker">
            <a:extLst>
              <a:ext uri="{FF2B5EF4-FFF2-40B4-BE49-F238E27FC236}">
                <a16:creationId xmlns:a16="http://schemas.microsoft.com/office/drawing/2014/main" id="{F8145EC7-BE5A-73E8-1FF5-E298C44921B6}"/>
              </a:ext>
            </a:extLst>
          </p:cNvPr>
          <p:cNvSpPr/>
          <p:nvPr/>
        </p:nvSpPr>
        <p:spPr>
          <a:xfrm>
            <a:off x="9486900" y="1219200"/>
            <a:ext cx="330200" cy="152400"/>
          </a:xfrm>
          <a:prstGeom prst="roundRect">
            <a:avLst/>
          </a:prstGeom>
          <a:solidFill>
            <a:schemeClr val="accent1"/>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en-ZA" sz="800" b="1">
                <a:solidFill>
                  <a:srgbClr val="FFFFFF"/>
                </a:solidFill>
                <a:latin typeface="Lato" panose="020F0502020204030203" pitchFamily="34" charset="0"/>
              </a:rPr>
              <a:t>p.#</a:t>
            </a:r>
          </a:p>
        </p:txBody>
      </p:sp>
      <p:sp>
        <p:nvSpPr>
          <p:cNvPr id="69" name="Deep dive legend">
            <a:extLst>
              <a:ext uri="{FF2B5EF4-FFF2-40B4-BE49-F238E27FC236}">
                <a16:creationId xmlns:a16="http://schemas.microsoft.com/office/drawing/2014/main" id="{574260A6-C9C7-5409-61DE-9030809D8C52}"/>
              </a:ext>
            </a:extLst>
          </p:cNvPr>
          <p:cNvSpPr txBox="1"/>
          <p:nvPr/>
        </p:nvSpPr>
        <p:spPr>
          <a:xfrm>
            <a:off x="9893300" y="1212850"/>
            <a:ext cx="1219200" cy="152400"/>
          </a:xfrm>
          <a:prstGeom prst="rect">
            <a:avLst/>
          </a:prstGeom>
          <a:noFill/>
        </p:spPr>
        <p:txBody>
          <a:bodyPr vert="horz" wrap="square" lIns="0" tIns="0" rIns="0" bIns="0" rtlCol="0">
            <a:noAutofit/>
          </a:bodyPr>
          <a:lstStyle/>
          <a:p>
            <a:pPr>
              <a:spcAft>
                <a:spcPts val="200"/>
              </a:spcAft>
            </a:pPr>
            <a:r>
              <a:rPr lang="en-GB" sz="900">
                <a:solidFill>
                  <a:schemeClr val="dk1"/>
                </a:solidFill>
                <a:latin typeface="Lato" panose="020F0502020204030203" pitchFamily="34" charset="0"/>
              </a:rPr>
              <a:t>Deep dive on that page</a:t>
            </a:r>
            <a:endParaRPr lang="en-ZA" sz="900">
              <a:solidFill>
                <a:schemeClr val="dk1"/>
              </a:solidFill>
              <a:latin typeface="Lato" panose="020F0502020204030203" pitchFamily="34" charset="0"/>
            </a:endParaRPr>
          </a:p>
        </p:txBody>
      </p:sp>
      <p:cxnSp>
        <p:nvCxnSpPr>
          <p:cNvPr id="70" name="Product sums to consumption">
            <a:extLst>
              <a:ext uri="{FF2B5EF4-FFF2-40B4-BE49-F238E27FC236}">
                <a16:creationId xmlns:a16="http://schemas.microsoft.com/office/drawing/2014/main" id="{A86376DB-9DCD-92C0-FD6C-33D4FE00190E}"/>
              </a:ext>
            </a:extLst>
          </p:cNvPr>
          <p:cNvCxnSpPr>
            <a:cxnSpLocks/>
            <a:stCxn id="22" idx="0"/>
            <a:endCxn id="21" idx="2"/>
          </p:cNvCxnSpPr>
          <p:nvPr/>
        </p:nvCxnSpPr>
        <p:spPr>
          <a:xfrm flipV="1">
            <a:off x="1409700" y="2895600"/>
            <a:ext cx="0" cy="177800"/>
          </a:xfrm>
          <a:prstGeom prst="straightConnector1">
            <a:avLst/>
          </a:prstGeom>
          <a:ln w="127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71" name="Uses determine product demand">
            <a:extLst>
              <a:ext uri="{FF2B5EF4-FFF2-40B4-BE49-F238E27FC236}">
                <a16:creationId xmlns:a16="http://schemas.microsoft.com/office/drawing/2014/main" id="{B181295E-78C2-2293-2087-B566BFCB543E}"/>
              </a:ext>
            </a:extLst>
          </p:cNvPr>
          <p:cNvCxnSpPr>
            <a:cxnSpLocks/>
            <a:stCxn id="23" idx="0"/>
            <a:endCxn id="22" idx="2"/>
          </p:cNvCxnSpPr>
          <p:nvPr/>
        </p:nvCxnSpPr>
        <p:spPr>
          <a:xfrm flipV="1">
            <a:off x="1409700" y="3962400"/>
            <a:ext cx="0" cy="177800"/>
          </a:xfrm>
          <a:prstGeom prst="straightConnector1">
            <a:avLst/>
          </a:prstGeom>
          <a:ln w="127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72" name="Demand parameter effect">
            <a:extLst>
              <a:ext uri="{FF2B5EF4-FFF2-40B4-BE49-F238E27FC236}">
                <a16:creationId xmlns:a16="http://schemas.microsoft.com/office/drawing/2014/main" id="{A77830AD-6723-1A9E-D94A-275C9A58CC0B}"/>
              </a:ext>
            </a:extLst>
          </p:cNvPr>
          <p:cNvCxnSpPr>
            <a:cxnSpLocks/>
            <a:stCxn id="24" idx="0"/>
            <a:endCxn id="23" idx="2"/>
          </p:cNvCxnSpPr>
          <p:nvPr/>
        </p:nvCxnSpPr>
        <p:spPr>
          <a:xfrm flipV="1">
            <a:off x="1409700" y="5029200"/>
            <a:ext cx="0" cy="177800"/>
          </a:xfrm>
          <a:prstGeom prst="straightConnector1">
            <a:avLst/>
          </a:prstGeom>
          <a:ln w="12700">
            <a:solidFill>
              <a:schemeClr val="accent1"/>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73" name="Demand sets import requirement">
            <a:extLst>
              <a:ext uri="{FF2B5EF4-FFF2-40B4-BE49-F238E27FC236}">
                <a16:creationId xmlns:a16="http://schemas.microsoft.com/office/drawing/2014/main" id="{80251954-1A1C-A725-DCCF-DBB50042FFBC}"/>
              </a:ext>
            </a:extLst>
          </p:cNvPr>
          <p:cNvCxnSpPr>
            <a:cxnSpLocks/>
            <a:stCxn id="21" idx="3"/>
            <a:endCxn id="25" idx="1"/>
          </p:cNvCxnSpPr>
          <p:nvPr/>
        </p:nvCxnSpPr>
        <p:spPr>
          <a:xfrm>
            <a:off x="2362200" y="2451100"/>
            <a:ext cx="304800" cy="0"/>
          </a:xfrm>
          <a:prstGeom prst="straightConnector1">
            <a:avLst/>
          </a:prstGeom>
          <a:ln w="127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74" name="Imports land at ports">
            <a:extLst>
              <a:ext uri="{FF2B5EF4-FFF2-40B4-BE49-F238E27FC236}">
                <a16:creationId xmlns:a16="http://schemas.microsoft.com/office/drawing/2014/main" id="{DAC7DF65-07FE-30A2-74E9-3E6FE5B76191}"/>
              </a:ext>
            </a:extLst>
          </p:cNvPr>
          <p:cNvCxnSpPr>
            <a:cxnSpLocks/>
            <a:stCxn id="25" idx="2"/>
            <a:endCxn id="27" idx="0"/>
          </p:cNvCxnSpPr>
          <p:nvPr/>
        </p:nvCxnSpPr>
        <p:spPr>
          <a:xfrm>
            <a:off x="3429000" y="2895600"/>
            <a:ext cx="0" cy="177800"/>
          </a:xfrm>
          <a:prstGeom prst="straightConnector1">
            <a:avLst/>
          </a:prstGeom>
          <a:ln w="127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75" name="Domestic output moves inland">
            <a:extLst>
              <a:ext uri="{FF2B5EF4-FFF2-40B4-BE49-F238E27FC236}">
                <a16:creationId xmlns:a16="http://schemas.microsoft.com/office/drawing/2014/main" id="{6BEAE326-985A-0C3B-3889-8D96C3CA9713}"/>
              </a:ext>
            </a:extLst>
          </p:cNvPr>
          <p:cNvCxnSpPr>
            <a:cxnSpLocks/>
            <a:stCxn id="26" idx="2"/>
            <a:endCxn id="28" idx="0"/>
          </p:cNvCxnSpPr>
          <p:nvPr/>
        </p:nvCxnSpPr>
        <p:spPr>
          <a:xfrm>
            <a:off x="5105400" y="2895600"/>
            <a:ext cx="0" cy="177800"/>
          </a:xfrm>
          <a:prstGeom prst="straightConnector1">
            <a:avLst/>
          </a:prstGeom>
          <a:ln w="127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76" name="Ports to inland delivery">
            <a:extLst>
              <a:ext uri="{FF2B5EF4-FFF2-40B4-BE49-F238E27FC236}">
                <a16:creationId xmlns:a16="http://schemas.microsoft.com/office/drawing/2014/main" id="{70D24730-78A5-C170-0D13-F4A8296C5D9F}"/>
              </a:ext>
            </a:extLst>
          </p:cNvPr>
          <p:cNvCxnSpPr>
            <a:cxnSpLocks/>
            <a:stCxn id="27" idx="3"/>
            <a:endCxn id="28" idx="1"/>
          </p:cNvCxnSpPr>
          <p:nvPr/>
        </p:nvCxnSpPr>
        <p:spPr>
          <a:xfrm>
            <a:off x="4191000" y="3517900"/>
            <a:ext cx="152400" cy="0"/>
          </a:xfrm>
          <a:prstGeom prst="straightConnector1">
            <a:avLst/>
          </a:prstGeom>
          <a:ln w="127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77" name="Ports serve coastal demand">
            <a:extLst>
              <a:ext uri="{FF2B5EF4-FFF2-40B4-BE49-F238E27FC236}">
                <a16:creationId xmlns:a16="http://schemas.microsoft.com/office/drawing/2014/main" id="{FBE72ABE-D154-CC66-E312-904075DF5A40}"/>
              </a:ext>
            </a:extLst>
          </p:cNvPr>
          <p:cNvCxnSpPr>
            <a:cxnSpLocks/>
            <a:stCxn id="27" idx="2"/>
            <a:endCxn id="29" idx="0"/>
          </p:cNvCxnSpPr>
          <p:nvPr/>
        </p:nvCxnSpPr>
        <p:spPr>
          <a:xfrm>
            <a:off x="3429000" y="3962400"/>
            <a:ext cx="0" cy="177800"/>
          </a:xfrm>
          <a:prstGeom prst="straightConnector1">
            <a:avLst/>
          </a:prstGeom>
          <a:ln w="127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78" name="Inland delivery serves inland demand">
            <a:extLst>
              <a:ext uri="{FF2B5EF4-FFF2-40B4-BE49-F238E27FC236}">
                <a16:creationId xmlns:a16="http://schemas.microsoft.com/office/drawing/2014/main" id="{9D3D99F2-13B9-1F40-1233-B7A007C3B19E}"/>
              </a:ext>
            </a:extLst>
          </p:cNvPr>
          <p:cNvCxnSpPr>
            <a:cxnSpLocks/>
            <a:stCxn id="28" idx="2"/>
            <a:endCxn id="30" idx="0"/>
          </p:cNvCxnSpPr>
          <p:nvPr/>
        </p:nvCxnSpPr>
        <p:spPr>
          <a:xfrm>
            <a:off x="5105400" y="3962400"/>
            <a:ext cx="0" cy="177800"/>
          </a:xfrm>
          <a:prstGeom prst="straightConnector1">
            <a:avLst/>
          </a:prstGeom>
          <a:ln w="127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79" name="Supply parameter effect on coastal">
            <a:extLst>
              <a:ext uri="{FF2B5EF4-FFF2-40B4-BE49-F238E27FC236}">
                <a16:creationId xmlns:a16="http://schemas.microsoft.com/office/drawing/2014/main" id="{E7FB05C9-BA44-B026-68A0-5835627E3EED}"/>
              </a:ext>
            </a:extLst>
          </p:cNvPr>
          <p:cNvCxnSpPr>
            <a:cxnSpLocks/>
            <a:endCxn id="29" idx="2"/>
          </p:cNvCxnSpPr>
          <p:nvPr/>
        </p:nvCxnSpPr>
        <p:spPr>
          <a:xfrm flipV="1">
            <a:off x="3429000" y="5029200"/>
            <a:ext cx="0" cy="177800"/>
          </a:xfrm>
          <a:prstGeom prst="straightConnector1">
            <a:avLst/>
          </a:prstGeom>
          <a:ln w="12700">
            <a:solidFill>
              <a:schemeClr val="accent1"/>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80" name="Supply parameter effect on inland">
            <a:extLst>
              <a:ext uri="{FF2B5EF4-FFF2-40B4-BE49-F238E27FC236}">
                <a16:creationId xmlns:a16="http://schemas.microsoft.com/office/drawing/2014/main" id="{206C8203-8D3D-2948-12CD-287C384CD68E}"/>
              </a:ext>
            </a:extLst>
          </p:cNvPr>
          <p:cNvCxnSpPr>
            <a:cxnSpLocks/>
            <a:endCxn id="30" idx="2"/>
          </p:cNvCxnSpPr>
          <p:nvPr/>
        </p:nvCxnSpPr>
        <p:spPr>
          <a:xfrm flipV="1">
            <a:off x="5105400" y="5029200"/>
            <a:ext cx="0" cy="177800"/>
          </a:xfrm>
          <a:prstGeom prst="straightConnector1">
            <a:avLst/>
          </a:prstGeom>
          <a:ln w="12700">
            <a:solidFill>
              <a:schemeClr val="accent1"/>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81" name="Routes into market sizing">
            <a:extLst>
              <a:ext uri="{FF2B5EF4-FFF2-40B4-BE49-F238E27FC236}">
                <a16:creationId xmlns:a16="http://schemas.microsoft.com/office/drawing/2014/main" id="{CF3F33F5-150B-423C-456B-EC2433B3158E}"/>
              </a:ext>
            </a:extLst>
          </p:cNvPr>
          <p:cNvCxnSpPr>
            <a:cxnSpLocks/>
            <a:stCxn id="28" idx="3"/>
            <a:endCxn id="32" idx="1"/>
          </p:cNvCxnSpPr>
          <p:nvPr/>
        </p:nvCxnSpPr>
        <p:spPr>
          <a:xfrm flipV="1">
            <a:off x="5867400" y="2451100"/>
            <a:ext cx="304800" cy="1066800"/>
          </a:xfrm>
          <a:prstGeom prst="bentConnector3">
            <a:avLst>
              <a:gd name="adj1" fmla="val 50000"/>
            </a:avLst>
          </a:prstGeom>
          <a:ln w="127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82" name="Destinations into market sizing">
            <a:extLst>
              <a:ext uri="{FF2B5EF4-FFF2-40B4-BE49-F238E27FC236}">
                <a16:creationId xmlns:a16="http://schemas.microsoft.com/office/drawing/2014/main" id="{7755A6A3-DB8C-EDFD-AAFD-2E237C5DC66B}"/>
              </a:ext>
            </a:extLst>
          </p:cNvPr>
          <p:cNvCxnSpPr>
            <a:cxnSpLocks/>
            <a:stCxn id="30" idx="3"/>
            <a:endCxn id="32" idx="1"/>
          </p:cNvCxnSpPr>
          <p:nvPr/>
        </p:nvCxnSpPr>
        <p:spPr>
          <a:xfrm flipV="1">
            <a:off x="5867400" y="2451100"/>
            <a:ext cx="304800" cy="2133600"/>
          </a:xfrm>
          <a:prstGeom prst="bentConnector3">
            <a:avLst>
              <a:gd name="adj1" fmla="val 50000"/>
            </a:avLst>
          </a:prstGeom>
          <a:ln w="127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83" name="Market sizing to Durban">
            <a:extLst>
              <a:ext uri="{FF2B5EF4-FFF2-40B4-BE49-F238E27FC236}">
                <a16:creationId xmlns:a16="http://schemas.microsoft.com/office/drawing/2014/main" id="{0813176A-7FED-E067-1787-FDE1CDDD9A3F}"/>
              </a:ext>
            </a:extLst>
          </p:cNvPr>
          <p:cNvCxnSpPr>
            <a:cxnSpLocks/>
            <a:endCxn id="33" idx="0"/>
          </p:cNvCxnSpPr>
          <p:nvPr/>
        </p:nvCxnSpPr>
        <p:spPr>
          <a:xfrm>
            <a:off x="6858000" y="2895600"/>
            <a:ext cx="0" cy="177800"/>
          </a:xfrm>
          <a:prstGeom prst="straightConnector1">
            <a:avLst/>
          </a:prstGeom>
          <a:ln w="127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84" name="Market sizing to Lesedi">
            <a:extLst>
              <a:ext uri="{FF2B5EF4-FFF2-40B4-BE49-F238E27FC236}">
                <a16:creationId xmlns:a16="http://schemas.microsoft.com/office/drawing/2014/main" id="{08113B86-1E32-A9F2-A21C-0A082EEF59D2}"/>
              </a:ext>
            </a:extLst>
          </p:cNvPr>
          <p:cNvCxnSpPr>
            <a:cxnSpLocks/>
            <a:endCxn id="34" idx="0"/>
          </p:cNvCxnSpPr>
          <p:nvPr/>
        </p:nvCxnSpPr>
        <p:spPr>
          <a:xfrm>
            <a:off x="8343900" y="2895600"/>
            <a:ext cx="0" cy="177800"/>
          </a:xfrm>
          <a:prstGeom prst="straightConnector1">
            <a:avLst/>
          </a:prstGeom>
          <a:ln w="127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85" name="Durban into share">
            <a:extLst>
              <a:ext uri="{FF2B5EF4-FFF2-40B4-BE49-F238E27FC236}">
                <a16:creationId xmlns:a16="http://schemas.microsoft.com/office/drawing/2014/main" id="{C316EED6-BD1F-3F61-9822-B2C8E055D171}"/>
              </a:ext>
            </a:extLst>
          </p:cNvPr>
          <p:cNvCxnSpPr/>
          <p:nvPr/>
        </p:nvCxnSpPr>
        <p:spPr>
          <a:xfrm>
            <a:off x="6858000" y="3962400"/>
            <a:ext cx="0" cy="177800"/>
          </a:xfrm>
          <a:prstGeom prst="straightConnector1">
            <a:avLst/>
          </a:prstGeom>
          <a:ln w="127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86" name="Lesedi into share">
            <a:extLst>
              <a:ext uri="{FF2B5EF4-FFF2-40B4-BE49-F238E27FC236}">
                <a16:creationId xmlns:a16="http://schemas.microsoft.com/office/drawing/2014/main" id="{9DDF14CC-2C7F-EB55-B998-A7730AFA1425}"/>
              </a:ext>
            </a:extLst>
          </p:cNvPr>
          <p:cNvCxnSpPr/>
          <p:nvPr/>
        </p:nvCxnSpPr>
        <p:spPr>
          <a:xfrm>
            <a:off x="8343900" y="3962400"/>
            <a:ext cx="0" cy="177800"/>
          </a:xfrm>
          <a:prstGeom prst="straightConnector1">
            <a:avLst/>
          </a:prstGeom>
          <a:ln w="127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87" name="Share to headroom">
            <a:extLst>
              <a:ext uri="{FF2B5EF4-FFF2-40B4-BE49-F238E27FC236}">
                <a16:creationId xmlns:a16="http://schemas.microsoft.com/office/drawing/2014/main" id="{F18948E2-6B6E-454E-9591-529436B682D6}"/>
              </a:ext>
            </a:extLst>
          </p:cNvPr>
          <p:cNvCxnSpPr>
            <a:cxnSpLocks/>
            <a:stCxn id="35" idx="2"/>
            <a:endCxn id="36" idx="0"/>
          </p:cNvCxnSpPr>
          <p:nvPr/>
        </p:nvCxnSpPr>
        <p:spPr>
          <a:xfrm>
            <a:off x="7600950" y="5029200"/>
            <a:ext cx="0" cy="177800"/>
          </a:xfrm>
          <a:prstGeom prst="straightConnector1">
            <a:avLst/>
          </a:prstGeom>
          <a:ln w="127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88" name="Headroom into investment">
            <a:extLst>
              <a:ext uri="{FF2B5EF4-FFF2-40B4-BE49-F238E27FC236}">
                <a16:creationId xmlns:a16="http://schemas.microsoft.com/office/drawing/2014/main" id="{FFF83330-A036-BE8B-99D1-C4E52E0AF295}"/>
              </a:ext>
            </a:extLst>
          </p:cNvPr>
          <p:cNvCxnSpPr>
            <a:cxnSpLocks/>
            <a:stCxn id="36" idx="3"/>
            <a:endCxn id="37" idx="1"/>
          </p:cNvCxnSpPr>
          <p:nvPr/>
        </p:nvCxnSpPr>
        <p:spPr>
          <a:xfrm flipV="1">
            <a:off x="9029700" y="2451100"/>
            <a:ext cx="304800" cy="3200400"/>
          </a:xfrm>
          <a:prstGeom prst="bentConnector3">
            <a:avLst>
              <a:gd name="adj1" fmla="val 50000"/>
            </a:avLst>
          </a:prstGeom>
          <a:ln w="127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89" name="Capture to capacity">
            <a:extLst>
              <a:ext uri="{FF2B5EF4-FFF2-40B4-BE49-F238E27FC236}">
                <a16:creationId xmlns:a16="http://schemas.microsoft.com/office/drawing/2014/main" id="{0128A51A-EC1A-D68F-9602-AB451F57BE32}"/>
              </a:ext>
            </a:extLst>
          </p:cNvPr>
          <p:cNvCxnSpPr>
            <a:cxnSpLocks/>
            <a:stCxn id="37" idx="2"/>
            <a:endCxn id="38" idx="0"/>
          </p:cNvCxnSpPr>
          <p:nvPr/>
        </p:nvCxnSpPr>
        <p:spPr>
          <a:xfrm>
            <a:off x="10223500" y="2895600"/>
            <a:ext cx="0" cy="177800"/>
          </a:xfrm>
          <a:prstGeom prst="straightConnector1">
            <a:avLst/>
          </a:prstGeom>
          <a:ln w="127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90" name="Capacity to returns">
            <a:extLst>
              <a:ext uri="{FF2B5EF4-FFF2-40B4-BE49-F238E27FC236}">
                <a16:creationId xmlns:a16="http://schemas.microsoft.com/office/drawing/2014/main" id="{BB40CF77-A9A2-5BA6-8115-585EAC1C75EE}"/>
              </a:ext>
            </a:extLst>
          </p:cNvPr>
          <p:cNvCxnSpPr>
            <a:cxnSpLocks/>
            <a:stCxn id="38" idx="2"/>
            <a:endCxn id="39" idx="0"/>
          </p:cNvCxnSpPr>
          <p:nvPr/>
        </p:nvCxnSpPr>
        <p:spPr>
          <a:xfrm>
            <a:off x="10223500" y="3962400"/>
            <a:ext cx="0" cy="177800"/>
          </a:xfrm>
          <a:prstGeom prst="straightConnector1">
            <a:avLst/>
          </a:prstGeom>
          <a:ln w="127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91" name="Returns to resolution">
            <a:extLst>
              <a:ext uri="{FF2B5EF4-FFF2-40B4-BE49-F238E27FC236}">
                <a16:creationId xmlns:a16="http://schemas.microsoft.com/office/drawing/2014/main" id="{6AE543F2-E4EF-7011-CD41-E78A0B7C1095}"/>
              </a:ext>
            </a:extLst>
          </p:cNvPr>
          <p:cNvCxnSpPr>
            <a:cxnSpLocks/>
            <a:stCxn id="39" idx="2"/>
            <a:endCxn id="40" idx="0"/>
          </p:cNvCxnSpPr>
          <p:nvPr/>
        </p:nvCxnSpPr>
        <p:spPr>
          <a:xfrm>
            <a:off x="10223500" y="5029200"/>
            <a:ext cx="0" cy="177800"/>
          </a:xfrm>
          <a:prstGeom prst="straightConnector1">
            <a:avLst/>
          </a:prstGeom>
          <a:ln w="127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3897090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a:solidFill>
                  <a:schemeClr val="dk1"/>
                </a:solidFill>
                <a:latin typeface="Lato"/>
              </a:rPr>
              <a:t>Demand by product and province: where the litres are sold</a:t>
            </a:r>
            <a:endParaRPr dirty="0">
              <a:solidFill>
                <a:schemeClr val="dk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3</a:t>
            </a:r>
            <a:endParaRPr sz="1100"/>
          </a:p>
        </p:txBody>
      </p:sp>
      <p:sp>
        <p:nvSpPr>
          <p:cNvPr id="8" name="Unified source footer"/>
          <p:cNvSpPr txBox="1"/>
          <p:nvPr/>
        </p:nvSpPr>
        <p:spPr>
          <a:xfrm>
            <a:off x="457200" y="6184900"/>
            <a:ext cx="10652760" cy="104837"/>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GB" sz="670"/>
              <a:t>Source: Manish DR01 provincial file: department sales by magisterial district summed to province, 2013-2022 observed; 2023 estimated from first-quarter shares. Coastal = KZN, WC, EC (presentation grouping, not registered). Petrol and diesel.</a:t>
            </a:r>
            <a:endParaRPr sz="670"/>
          </a:p>
        </p:txBody>
      </p:sp>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F6826E68-0B27-3E9A-731F-737F28F0FB19}"/>
              </a:ext>
            </a:extLst>
          </p:cNvPr>
          <p:cNvSpPr/>
          <p:nvPr/>
        </p:nvSpPr>
        <p:spPr>
          <a:xfrm>
            <a:off x="457200" y="88900"/>
            <a:ext cx="2575560" cy="279400"/>
          </a:xfrm>
          <a:prstGeom prst="rect">
            <a:avLst/>
          </a:prstGeom>
          <a:solidFill>
            <a:schemeClr val="lt1">
              <a:shade val="965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Executive summary</a:t>
            </a:r>
          </a:p>
        </p:txBody>
      </p:sp>
      <p:sp>
        <p:nvSpPr>
          <p:cNvPr id="10" name="SCR 2">
            <a:extLst>
              <a:ext uri="{FF2B5EF4-FFF2-40B4-BE49-F238E27FC236}">
                <a16:creationId xmlns:a16="http://schemas.microsoft.com/office/drawing/2014/main" id="{DB3FBD92-8DAF-542E-83C8-61B53DE1024F}"/>
              </a:ext>
            </a:extLst>
          </p:cNvPr>
          <p:cNvSpPr/>
          <p:nvPr/>
        </p:nvSpPr>
        <p:spPr>
          <a:xfrm>
            <a:off x="3149600" y="88900"/>
            <a:ext cx="2575560" cy="279400"/>
          </a:xfrm>
          <a:prstGeom prst="rect">
            <a:avLst/>
          </a:prstGeom>
          <a:solidFill>
            <a:schemeClr val="lt1">
              <a:shade val="965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Situation</a:t>
            </a:r>
          </a:p>
        </p:txBody>
      </p:sp>
      <p:sp>
        <p:nvSpPr>
          <p:cNvPr id="11" name="SCR 3">
            <a:extLst>
              <a:ext uri="{FF2B5EF4-FFF2-40B4-BE49-F238E27FC236}">
                <a16:creationId xmlns:a16="http://schemas.microsoft.com/office/drawing/2014/main" id="{8954CB5A-2161-59A0-D177-7E44BC8E444E}"/>
              </a:ext>
            </a:extLst>
          </p:cNvPr>
          <p:cNvSpPr/>
          <p:nvPr/>
        </p:nvSpPr>
        <p:spPr>
          <a:xfrm>
            <a:off x="5842000" y="88900"/>
            <a:ext cx="2575560" cy="279400"/>
          </a:xfrm>
          <a:prstGeom prst="rect">
            <a:avLst/>
          </a:prstGeom>
          <a:solidFill>
            <a:schemeClr val="lt1">
              <a:shade val="965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Complication</a:t>
            </a:r>
          </a:p>
        </p:txBody>
      </p:sp>
      <p:sp>
        <p:nvSpPr>
          <p:cNvPr id="12" name="SCR 4">
            <a:extLst>
              <a:ext uri="{FF2B5EF4-FFF2-40B4-BE49-F238E27FC236}">
                <a16:creationId xmlns:a16="http://schemas.microsoft.com/office/drawing/2014/main" id="{9E01BBF5-098D-3FC4-718C-6B01C403EC02}"/>
              </a:ext>
            </a:extLst>
          </p:cNvPr>
          <p:cNvSpPr/>
          <p:nvPr/>
        </p:nvSpPr>
        <p:spPr>
          <a:xfrm>
            <a:off x="8534400" y="88900"/>
            <a:ext cx="2575560" cy="279400"/>
          </a:xfrm>
          <a:prstGeom prst="rect">
            <a:avLst/>
          </a:prstGeom>
          <a:solidFill>
            <a:schemeClr val="accent1"/>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latin typeface="Lato" panose="020F0502020204030203" pitchFamily="34" charset="0"/>
              </a:rPr>
              <a:t>Resolution</a:t>
            </a:r>
          </a:p>
        </p:txBody>
      </p:sp>
      <p:sp>
        <p:nvSpPr>
          <p:cNvPr id="47" name="Coastal panel">
            <a:extLst>
              <a:ext uri="{FF2B5EF4-FFF2-40B4-BE49-F238E27FC236}">
                <a16:creationId xmlns:a16="http://schemas.microsoft.com/office/drawing/2014/main" id="{18F0FE1A-B380-A462-2120-43DB864E2CF9}"/>
              </a:ext>
            </a:extLst>
          </p:cNvPr>
          <p:cNvSpPr/>
          <p:nvPr/>
        </p:nvSpPr>
        <p:spPr>
          <a:xfrm>
            <a:off x="355600" y="1549400"/>
            <a:ext cx="2628900" cy="4597400"/>
          </a:xfrm>
          <a:prstGeom prst="rect">
            <a:avLst/>
          </a:prstGeom>
          <a:solidFill>
            <a:srgbClr val="EEF1F6"/>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92" name="Coastal panel heading">
            <a:extLst>
              <a:ext uri="{FF2B5EF4-FFF2-40B4-BE49-F238E27FC236}">
                <a16:creationId xmlns:a16="http://schemas.microsoft.com/office/drawing/2014/main" id="{9DD3F8C7-B9C4-604C-DEFF-8208F0AAC7B0}"/>
              </a:ext>
            </a:extLst>
          </p:cNvPr>
          <p:cNvSpPr txBox="1"/>
          <p:nvPr/>
        </p:nvSpPr>
        <p:spPr>
          <a:xfrm>
            <a:off x="457200" y="1638300"/>
            <a:ext cx="2425700" cy="241300"/>
          </a:xfrm>
          <a:prstGeom prst="rect">
            <a:avLst/>
          </a:prstGeom>
          <a:noFill/>
        </p:spPr>
        <p:txBody>
          <a:bodyPr vert="horz" wrap="square" lIns="0" tIns="0" rIns="0" bIns="0" rtlCol="0">
            <a:noAutofit/>
          </a:bodyPr>
          <a:lstStyle/>
          <a:p>
            <a:pPr>
              <a:spcAft>
                <a:spcPts val="200"/>
              </a:spcAft>
            </a:pPr>
            <a:r>
              <a:rPr lang="en-ZA" sz="1200" b="1">
                <a:solidFill>
                  <a:schemeClr val="accent1"/>
                </a:solidFill>
                <a:latin typeface="Lato" panose="020F0502020204030203" pitchFamily="34" charset="0"/>
              </a:rPr>
              <a:t>1  COASTAL · 10.0B L</a:t>
            </a:r>
          </a:p>
        </p:txBody>
      </p:sp>
      <p:cxnSp>
        <p:nvCxnSpPr>
          <p:cNvPr id="93" name="Column heading rule">
            <a:extLst>
              <a:ext uri="{FF2B5EF4-FFF2-40B4-BE49-F238E27FC236}">
                <a16:creationId xmlns:a16="http://schemas.microsoft.com/office/drawing/2014/main" id="{ACA1EFD6-9D30-382A-C152-7B5984262987}"/>
              </a:ext>
            </a:extLst>
          </p:cNvPr>
          <p:cNvCxnSpPr/>
          <p:nvPr/>
        </p:nvCxnSpPr>
        <p:spPr>
          <a:xfrm>
            <a:off x="457200" y="1917700"/>
            <a:ext cx="2425700" cy="0"/>
          </a:xfrm>
          <a:prstGeom prst="straightConnector1">
            <a:avLst/>
          </a:prstGeom>
          <a:ln w="8255">
            <a:solidFill>
              <a:schemeClr val="dk1"/>
            </a:solidFill>
          </a:ln>
        </p:spPr>
        <p:style>
          <a:lnRef idx="1">
            <a:schemeClr val="accent1"/>
          </a:lnRef>
          <a:fillRef idx="0">
            <a:schemeClr val="accent1"/>
          </a:fillRef>
          <a:effectRef idx="0">
            <a:schemeClr val="accent1"/>
          </a:effectRef>
          <a:fontRef idx="minor">
            <a:schemeClr val="tx1"/>
          </a:fontRef>
        </p:style>
      </p:cxnSp>
      <p:sp>
        <p:nvSpPr>
          <p:cNvPr id="94" name="Inland panel">
            <a:extLst>
              <a:ext uri="{FF2B5EF4-FFF2-40B4-BE49-F238E27FC236}">
                <a16:creationId xmlns:a16="http://schemas.microsoft.com/office/drawing/2014/main" id="{AF53FE53-A129-D829-3746-0D0C444348B6}"/>
              </a:ext>
            </a:extLst>
          </p:cNvPr>
          <p:cNvSpPr/>
          <p:nvPr/>
        </p:nvSpPr>
        <p:spPr>
          <a:xfrm>
            <a:off x="3098800" y="1549400"/>
            <a:ext cx="5372100" cy="4597400"/>
          </a:xfrm>
          <a:prstGeom prst="rect">
            <a:avLst/>
          </a:prstGeom>
          <a:solidFill>
            <a:srgbClr val="EEF1F6"/>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95" name="Inland panel heading">
            <a:extLst>
              <a:ext uri="{FF2B5EF4-FFF2-40B4-BE49-F238E27FC236}">
                <a16:creationId xmlns:a16="http://schemas.microsoft.com/office/drawing/2014/main" id="{BCE64341-53E7-FE48-2CB1-FBBE1CC8F929}"/>
              </a:ext>
            </a:extLst>
          </p:cNvPr>
          <p:cNvSpPr txBox="1"/>
          <p:nvPr/>
        </p:nvSpPr>
        <p:spPr>
          <a:xfrm>
            <a:off x="3200400" y="1638300"/>
            <a:ext cx="5168900" cy="241300"/>
          </a:xfrm>
          <a:prstGeom prst="rect">
            <a:avLst/>
          </a:prstGeom>
          <a:noFill/>
        </p:spPr>
        <p:txBody>
          <a:bodyPr vert="horz" wrap="square" lIns="0" tIns="0" rIns="0" bIns="0" rtlCol="0">
            <a:noAutofit/>
          </a:bodyPr>
          <a:lstStyle/>
          <a:p>
            <a:pPr>
              <a:spcAft>
                <a:spcPts val="200"/>
              </a:spcAft>
            </a:pPr>
            <a:r>
              <a:rPr lang="en-ZA" sz="1200" b="1">
                <a:solidFill>
                  <a:schemeClr val="accent1"/>
                </a:solidFill>
                <a:latin typeface="Lato" panose="020F0502020204030203" pitchFamily="34" charset="0"/>
              </a:rPr>
              <a:t>2  INLAND · 12.0B L</a:t>
            </a:r>
          </a:p>
        </p:txBody>
      </p:sp>
      <p:cxnSp>
        <p:nvCxnSpPr>
          <p:cNvPr id="96" name="Column heading rule">
            <a:extLst>
              <a:ext uri="{FF2B5EF4-FFF2-40B4-BE49-F238E27FC236}">
                <a16:creationId xmlns:a16="http://schemas.microsoft.com/office/drawing/2014/main" id="{18971A19-22CB-635E-FECB-2AA4DBA00111}"/>
              </a:ext>
            </a:extLst>
          </p:cNvPr>
          <p:cNvCxnSpPr/>
          <p:nvPr/>
        </p:nvCxnSpPr>
        <p:spPr>
          <a:xfrm>
            <a:off x="3200400" y="1917700"/>
            <a:ext cx="5168900" cy="0"/>
          </a:xfrm>
          <a:prstGeom prst="straightConnector1">
            <a:avLst/>
          </a:prstGeom>
          <a:ln w="8255">
            <a:solidFill>
              <a:schemeClr val="dk1"/>
            </a:solidFill>
          </a:ln>
        </p:spPr>
        <p:style>
          <a:lnRef idx="1">
            <a:schemeClr val="accent1"/>
          </a:lnRef>
          <a:fillRef idx="0">
            <a:schemeClr val="accent1"/>
          </a:fillRef>
          <a:effectRef idx="0">
            <a:schemeClr val="accent1"/>
          </a:effectRef>
          <a:fontRef idx="minor">
            <a:schemeClr val="tx1"/>
          </a:fontRef>
        </p:style>
      </p:cxnSp>
      <p:sp>
        <p:nvSpPr>
          <p:cNvPr id="97" name="Meaning panel">
            <a:extLst>
              <a:ext uri="{FF2B5EF4-FFF2-40B4-BE49-F238E27FC236}">
                <a16:creationId xmlns:a16="http://schemas.microsoft.com/office/drawing/2014/main" id="{67BE2CC0-C4B0-C1F3-9615-9BC407AFF87B}"/>
              </a:ext>
            </a:extLst>
          </p:cNvPr>
          <p:cNvSpPr/>
          <p:nvPr/>
        </p:nvSpPr>
        <p:spPr>
          <a:xfrm>
            <a:off x="8585200" y="1549400"/>
            <a:ext cx="2628900" cy="4597400"/>
          </a:xfrm>
          <a:prstGeom prst="rect">
            <a:avLst/>
          </a:prstGeom>
          <a:solidFill>
            <a:srgbClr val="EEF1F6"/>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98" name="Meaning panel heading">
            <a:extLst>
              <a:ext uri="{FF2B5EF4-FFF2-40B4-BE49-F238E27FC236}">
                <a16:creationId xmlns:a16="http://schemas.microsoft.com/office/drawing/2014/main" id="{594524EA-E54E-7CC0-111B-E23252251813}"/>
              </a:ext>
            </a:extLst>
          </p:cNvPr>
          <p:cNvSpPr txBox="1"/>
          <p:nvPr/>
        </p:nvSpPr>
        <p:spPr>
          <a:xfrm>
            <a:off x="8686800" y="1638300"/>
            <a:ext cx="2425700" cy="241300"/>
          </a:xfrm>
          <a:prstGeom prst="rect">
            <a:avLst/>
          </a:prstGeom>
          <a:noFill/>
        </p:spPr>
        <p:txBody>
          <a:bodyPr vert="horz" wrap="square" lIns="0" tIns="0" rIns="0" bIns="0" rtlCol="0">
            <a:noAutofit/>
          </a:bodyPr>
          <a:lstStyle/>
          <a:p>
            <a:pPr>
              <a:spcAft>
                <a:spcPts val="200"/>
              </a:spcAft>
            </a:pPr>
            <a:r>
              <a:rPr lang="en-ZA" sz="1200" b="1">
                <a:solidFill>
                  <a:schemeClr val="accent1"/>
                </a:solidFill>
                <a:latin typeface="Lato" panose="020F0502020204030203" pitchFamily="34" charset="0"/>
              </a:rPr>
              <a:t>3  WHAT IT MEANS</a:t>
            </a:r>
          </a:p>
        </p:txBody>
      </p:sp>
      <p:cxnSp>
        <p:nvCxnSpPr>
          <p:cNvPr id="99" name="Column heading rule">
            <a:extLst>
              <a:ext uri="{FF2B5EF4-FFF2-40B4-BE49-F238E27FC236}">
                <a16:creationId xmlns:a16="http://schemas.microsoft.com/office/drawing/2014/main" id="{CFDF86B3-043D-4A54-95FF-5CD5244D294E}"/>
              </a:ext>
            </a:extLst>
          </p:cNvPr>
          <p:cNvCxnSpPr/>
          <p:nvPr/>
        </p:nvCxnSpPr>
        <p:spPr>
          <a:xfrm>
            <a:off x="8686800" y="1917700"/>
            <a:ext cx="2425700" cy="0"/>
          </a:xfrm>
          <a:prstGeom prst="straightConnector1">
            <a:avLst/>
          </a:prstGeom>
          <a:ln w="8255">
            <a:solidFill>
              <a:schemeClr val="dk1"/>
            </a:solidFill>
          </a:ln>
        </p:spPr>
        <p:style>
          <a:lnRef idx="1">
            <a:schemeClr val="accent1"/>
          </a:lnRef>
          <a:fillRef idx="0">
            <a:schemeClr val="accent1"/>
          </a:fillRef>
          <a:effectRef idx="0">
            <a:schemeClr val="accent1"/>
          </a:effectRef>
          <a:fontRef idx="minor">
            <a:schemeClr val="tx1"/>
          </a:fontRef>
        </p:style>
      </p:cxnSp>
      <p:sp>
        <p:nvSpPr>
          <p:cNvPr id="100" name="Province KZN">
            <a:extLst>
              <a:ext uri="{FF2B5EF4-FFF2-40B4-BE49-F238E27FC236}">
                <a16:creationId xmlns:a16="http://schemas.microsoft.com/office/drawing/2014/main" id="{1A9A7690-9554-6466-92D4-2313BCFD618F}"/>
              </a:ext>
            </a:extLst>
          </p:cNvPr>
          <p:cNvSpPr/>
          <p:nvPr/>
        </p:nvSpPr>
        <p:spPr>
          <a:xfrm>
            <a:off x="457200" y="2032000"/>
            <a:ext cx="2425700" cy="1219200"/>
          </a:xfrm>
          <a:prstGeom prst="rect">
            <a:avLst/>
          </a:prstGeom>
          <a:solidFill>
            <a:srgbClr val="FFFFFF"/>
          </a:solidFill>
          <a:ln w="9525" cap="flat" cmpd="sng" algn="ctr">
            <a:solidFill>
              <a:schemeClr val="accent1"/>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76200" tIns="50800" rIns="76200" bIns="38100" rtlCol="0" anchor="t"/>
          <a:lstStyle/>
          <a:p>
            <a:pPr>
              <a:spcAft>
                <a:spcPts val="400"/>
              </a:spcAft>
            </a:pPr>
            <a:r>
              <a:rPr lang="en-ZA" sz="1050" b="1">
                <a:solidFill>
                  <a:schemeClr val="accent1"/>
                </a:solidFill>
                <a:latin typeface="Lato" panose="020F0502020204030203" pitchFamily="34" charset="0"/>
              </a:rPr>
              <a:t>KwaZulu-Natal · 20%</a:t>
            </a:r>
          </a:p>
          <a:p>
            <a:pPr>
              <a:spcAft>
                <a:spcPts val="200"/>
              </a:spcAft>
            </a:pPr>
            <a:r>
              <a:rPr lang="en-ZA" sz="1050">
                <a:solidFill>
                  <a:schemeClr val="dk1"/>
                </a:solidFill>
                <a:latin typeface="Lato" panose="020F0502020204030203" pitchFamily="34" charset="0"/>
              </a:rPr>
              <a:t>Petrol 1.5 · diesel 2.8B L</a:t>
            </a:r>
          </a:p>
          <a:p>
            <a:pPr>
              <a:spcAft>
                <a:spcPts val="200"/>
              </a:spcAft>
            </a:pPr>
            <a:r>
              <a:rPr lang="en-ZA" sz="1050">
                <a:solidFill>
                  <a:schemeClr val="dk1"/>
                </a:solidFill>
                <a:latin typeface="Lato" panose="020F0502020204030203" pitchFamily="34" charset="0"/>
              </a:rPr>
              <a:t>Since 2013: +5%</a:t>
            </a:r>
          </a:p>
        </p:txBody>
      </p:sp>
      <p:sp>
        <p:nvSpPr>
          <p:cNvPr id="101" name="Province KZN tag">
            <a:extLst>
              <a:ext uri="{FF2B5EF4-FFF2-40B4-BE49-F238E27FC236}">
                <a16:creationId xmlns:a16="http://schemas.microsoft.com/office/drawing/2014/main" id="{EC55ED73-6502-0936-AF5C-D04A3A84AA62}"/>
              </a:ext>
            </a:extLst>
          </p:cNvPr>
          <p:cNvSpPr txBox="1"/>
          <p:nvPr/>
        </p:nvSpPr>
        <p:spPr>
          <a:xfrm>
            <a:off x="533400" y="3060700"/>
            <a:ext cx="2273300" cy="152400"/>
          </a:xfrm>
          <a:prstGeom prst="rect">
            <a:avLst/>
          </a:prstGeom>
          <a:noFill/>
        </p:spPr>
        <p:txBody>
          <a:bodyPr vert="horz" wrap="square" lIns="0" tIns="0" rIns="0" bIns="0" rtlCol="0">
            <a:noAutofit/>
          </a:bodyPr>
          <a:lstStyle/>
          <a:p>
            <a:pPr>
              <a:spcAft>
                <a:spcPts val="200"/>
              </a:spcAft>
            </a:pPr>
            <a:r>
              <a:rPr lang="en-ZA" sz="900" b="1">
                <a:solidFill>
                  <a:schemeClr val="accent1"/>
                </a:solidFill>
                <a:latin typeface="Lato" panose="020F0502020204030203" pitchFamily="34" charset="0"/>
              </a:rPr>
              <a:t>2022 · 4.3B L · observed</a:t>
            </a:r>
          </a:p>
        </p:txBody>
      </p:sp>
      <p:sp>
        <p:nvSpPr>
          <p:cNvPr id="102" name="Province WC">
            <a:extLst>
              <a:ext uri="{FF2B5EF4-FFF2-40B4-BE49-F238E27FC236}">
                <a16:creationId xmlns:a16="http://schemas.microsoft.com/office/drawing/2014/main" id="{ABB8E74F-7678-6944-F29F-AEE2681ED554}"/>
              </a:ext>
            </a:extLst>
          </p:cNvPr>
          <p:cNvSpPr/>
          <p:nvPr/>
        </p:nvSpPr>
        <p:spPr>
          <a:xfrm>
            <a:off x="457200" y="3454400"/>
            <a:ext cx="2425700" cy="1219200"/>
          </a:xfrm>
          <a:prstGeom prst="rect">
            <a:avLst/>
          </a:prstGeom>
          <a:solidFill>
            <a:srgbClr val="FFFFFF"/>
          </a:solidFill>
          <a:ln w="9525" cap="flat" cmpd="sng" algn="ctr">
            <a:solidFill>
              <a:schemeClr val="accent1"/>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76200" tIns="50800" rIns="76200" bIns="38100" rtlCol="0" anchor="t"/>
          <a:lstStyle/>
          <a:p>
            <a:pPr>
              <a:spcAft>
                <a:spcPts val="400"/>
              </a:spcAft>
            </a:pPr>
            <a:r>
              <a:rPr lang="en-ZA" sz="1050" b="1">
                <a:solidFill>
                  <a:schemeClr val="accent1"/>
                </a:solidFill>
                <a:latin typeface="Lato" panose="020F0502020204030203" pitchFamily="34" charset="0"/>
              </a:rPr>
              <a:t>Western Cape · 18%</a:t>
            </a:r>
          </a:p>
          <a:p>
            <a:pPr>
              <a:spcAft>
                <a:spcPts val="200"/>
              </a:spcAft>
            </a:pPr>
            <a:r>
              <a:rPr lang="en-ZA" sz="1050">
                <a:solidFill>
                  <a:schemeClr val="dk1"/>
                </a:solidFill>
                <a:latin typeface="Lato" panose="020F0502020204030203" pitchFamily="34" charset="0"/>
              </a:rPr>
              <a:t>Petrol 1.4 · diesel 2.5B L</a:t>
            </a:r>
          </a:p>
          <a:p>
            <a:pPr>
              <a:spcAft>
                <a:spcPts val="200"/>
              </a:spcAft>
            </a:pPr>
            <a:r>
              <a:rPr lang="en-ZA" sz="1050">
                <a:solidFill>
                  <a:schemeClr val="dk1"/>
                </a:solidFill>
                <a:latin typeface="Lato" panose="020F0502020204030203" pitchFamily="34" charset="0"/>
              </a:rPr>
              <a:t>Since 2013: +6%</a:t>
            </a:r>
          </a:p>
        </p:txBody>
      </p:sp>
      <p:sp>
        <p:nvSpPr>
          <p:cNvPr id="103" name="Province WC tag">
            <a:extLst>
              <a:ext uri="{FF2B5EF4-FFF2-40B4-BE49-F238E27FC236}">
                <a16:creationId xmlns:a16="http://schemas.microsoft.com/office/drawing/2014/main" id="{734C0016-F56E-5A05-032D-04D229AABEC5}"/>
              </a:ext>
            </a:extLst>
          </p:cNvPr>
          <p:cNvSpPr txBox="1"/>
          <p:nvPr/>
        </p:nvSpPr>
        <p:spPr>
          <a:xfrm>
            <a:off x="533400" y="4483100"/>
            <a:ext cx="2273300" cy="152400"/>
          </a:xfrm>
          <a:prstGeom prst="rect">
            <a:avLst/>
          </a:prstGeom>
          <a:noFill/>
        </p:spPr>
        <p:txBody>
          <a:bodyPr vert="horz" wrap="square" lIns="0" tIns="0" rIns="0" bIns="0" rtlCol="0">
            <a:noAutofit/>
          </a:bodyPr>
          <a:lstStyle/>
          <a:p>
            <a:pPr>
              <a:spcAft>
                <a:spcPts val="200"/>
              </a:spcAft>
            </a:pPr>
            <a:r>
              <a:rPr lang="en-ZA" sz="900" b="1">
                <a:solidFill>
                  <a:schemeClr val="accent1"/>
                </a:solidFill>
                <a:latin typeface="Lato" panose="020F0502020204030203" pitchFamily="34" charset="0"/>
              </a:rPr>
              <a:t>2022 · 3.9B L · observed</a:t>
            </a:r>
          </a:p>
        </p:txBody>
      </p:sp>
      <p:sp>
        <p:nvSpPr>
          <p:cNvPr id="104" name="Province EC">
            <a:extLst>
              <a:ext uri="{FF2B5EF4-FFF2-40B4-BE49-F238E27FC236}">
                <a16:creationId xmlns:a16="http://schemas.microsoft.com/office/drawing/2014/main" id="{7835EECD-4646-8773-8058-C5AC099DF73E}"/>
              </a:ext>
            </a:extLst>
          </p:cNvPr>
          <p:cNvSpPr/>
          <p:nvPr/>
        </p:nvSpPr>
        <p:spPr>
          <a:xfrm>
            <a:off x="457200" y="4876800"/>
            <a:ext cx="2425700" cy="1219200"/>
          </a:xfrm>
          <a:prstGeom prst="rect">
            <a:avLst/>
          </a:prstGeom>
          <a:solidFill>
            <a:srgbClr val="FFFFFF"/>
          </a:solidFill>
          <a:ln w="9525" cap="flat" cmpd="sng" algn="ctr">
            <a:solidFill>
              <a:schemeClr val="accent1"/>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76200" tIns="50800" rIns="76200" bIns="38100" rtlCol="0" anchor="t"/>
          <a:lstStyle/>
          <a:p>
            <a:pPr>
              <a:spcAft>
                <a:spcPts val="400"/>
              </a:spcAft>
            </a:pPr>
            <a:r>
              <a:rPr lang="en-GB" sz="1050" b="1">
                <a:solidFill>
                  <a:schemeClr val="accent1"/>
                </a:solidFill>
                <a:latin typeface="Lato" panose="020F0502020204030203" pitchFamily="34" charset="0"/>
              </a:rPr>
              <a:t>Eastern Cape · 8%</a:t>
            </a:r>
          </a:p>
          <a:p>
            <a:pPr>
              <a:spcAft>
                <a:spcPts val="200"/>
              </a:spcAft>
            </a:pPr>
            <a:r>
              <a:rPr lang="en-GB" sz="1050">
                <a:solidFill>
                  <a:schemeClr val="dk1"/>
                </a:solidFill>
                <a:latin typeface="Lato" panose="020F0502020204030203" pitchFamily="34" charset="0"/>
              </a:rPr>
              <a:t>Petrol 0.7 · diesel 1.0B L</a:t>
            </a:r>
          </a:p>
          <a:p>
            <a:pPr>
              <a:spcAft>
                <a:spcPts val="200"/>
              </a:spcAft>
            </a:pPr>
            <a:r>
              <a:rPr lang="en-GB" sz="1050">
                <a:solidFill>
                  <a:schemeClr val="dk1"/>
                </a:solidFill>
                <a:latin typeface="Lato" panose="020F0502020204030203" pitchFamily="34" charset="0"/>
              </a:rPr>
              <a:t>Since 2013: +9%</a:t>
            </a:r>
            <a:endParaRPr lang="en-ZA" sz="1050">
              <a:solidFill>
                <a:schemeClr val="dk1"/>
              </a:solidFill>
              <a:latin typeface="Lato" panose="020F0502020204030203" pitchFamily="34" charset="0"/>
            </a:endParaRPr>
          </a:p>
        </p:txBody>
      </p:sp>
      <p:sp>
        <p:nvSpPr>
          <p:cNvPr id="105" name="Province EC tag">
            <a:extLst>
              <a:ext uri="{FF2B5EF4-FFF2-40B4-BE49-F238E27FC236}">
                <a16:creationId xmlns:a16="http://schemas.microsoft.com/office/drawing/2014/main" id="{8DE4AEEC-2AAA-EFB8-2FBA-55F71A155973}"/>
              </a:ext>
            </a:extLst>
          </p:cNvPr>
          <p:cNvSpPr txBox="1"/>
          <p:nvPr/>
        </p:nvSpPr>
        <p:spPr>
          <a:xfrm>
            <a:off x="533400" y="5905500"/>
            <a:ext cx="2273300" cy="152400"/>
          </a:xfrm>
          <a:prstGeom prst="rect">
            <a:avLst/>
          </a:prstGeom>
          <a:noFill/>
        </p:spPr>
        <p:txBody>
          <a:bodyPr vert="horz" wrap="square" lIns="0" tIns="0" rIns="0" bIns="0" rtlCol="0">
            <a:noAutofit/>
          </a:bodyPr>
          <a:lstStyle/>
          <a:p>
            <a:pPr>
              <a:spcAft>
                <a:spcPts val="200"/>
              </a:spcAft>
            </a:pPr>
            <a:r>
              <a:rPr lang="en-ZA" sz="900" b="1">
                <a:solidFill>
                  <a:schemeClr val="accent1"/>
                </a:solidFill>
                <a:latin typeface="Lato" panose="020F0502020204030203" pitchFamily="34" charset="0"/>
              </a:rPr>
              <a:t>2022 · 1.7B L · observed</a:t>
            </a:r>
          </a:p>
        </p:txBody>
      </p:sp>
      <p:sp>
        <p:nvSpPr>
          <p:cNvPr id="106" name="Province GP">
            <a:extLst>
              <a:ext uri="{FF2B5EF4-FFF2-40B4-BE49-F238E27FC236}">
                <a16:creationId xmlns:a16="http://schemas.microsoft.com/office/drawing/2014/main" id="{E5148D3B-19CD-F97F-0889-E5C589F16FB0}"/>
              </a:ext>
            </a:extLst>
          </p:cNvPr>
          <p:cNvSpPr/>
          <p:nvPr/>
        </p:nvSpPr>
        <p:spPr>
          <a:xfrm>
            <a:off x="3200400" y="2032000"/>
            <a:ext cx="2432050" cy="1219200"/>
          </a:xfrm>
          <a:prstGeom prst="rect">
            <a:avLst/>
          </a:prstGeom>
          <a:solidFill>
            <a:srgbClr val="FFFFFF"/>
          </a:solidFill>
          <a:ln w="9525" cap="flat" cmpd="sng" algn="ctr">
            <a:solidFill>
              <a:schemeClr val="accent1"/>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76200" tIns="50800" rIns="76200" bIns="38100" rtlCol="0" anchor="t"/>
          <a:lstStyle/>
          <a:p>
            <a:pPr>
              <a:spcAft>
                <a:spcPts val="400"/>
              </a:spcAft>
            </a:pPr>
            <a:r>
              <a:rPr lang="de-DE" sz="1050" b="1">
                <a:solidFill>
                  <a:schemeClr val="accent1"/>
                </a:solidFill>
                <a:latin typeface="Lato" panose="020F0502020204030203" pitchFamily="34" charset="0"/>
              </a:rPr>
              <a:t>Gauteng · 31%</a:t>
            </a:r>
          </a:p>
          <a:p>
            <a:pPr>
              <a:spcAft>
                <a:spcPts val="200"/>
              </a:spcAft>
            </a:pPr>
            <a:r>
              <a:rPr lang="de-DE" sz="1050">
                <a:solidFill>
                  <a:schemeClr val="dk1"/>
                </a:solidFill>
                <a:latin typeface="Lato" panose="020F0502020204030203" pitchFamily="34" charset="0"/>
              </a:rPr>
              <a:t>Petrol 3.5 · diesel 3.3B L</a:t>
            </a:r>
          </a:p>
          <a:p>
            <a:pPr>
              <a:spcAft>
                <a:spcPts val="200"/>
              </a:spcAft>
            </a:pPr>
            <a:r>
              <a:rPr lang="de-DE" sz="1050">
                <a:solidFill>
                  <a:schemeClr val="dk1"/>
                </a:solidFill>
                <a:latin typeface="Lato" panose="020F0502020204030203" pitchFamily="34" charset="0"/>
              </a:rPr>
              <a:t>Since 2013: -2%</a:t>
            </a:r>
            <a:endParaRPr lang="en-ZA" sz="1050">
              <a:solidFill>
                <a:schemeClr val="dk1"/>
              </a:solidFill>
              <a:latin typeface="Lato" panose="020F0502020204030203" pitchFamily="34" charset="0"/>
            </a:endParaRPr>
          </a:p>
        </p:txBody>
      </p:sp>
      <p:sp>
        <p:nvSpPr>
          <p:cNvPr id="107" name="Province GP tag">
            <a:extLst>
              <a:ext uri="{FF2B5EF4-FFF2-40B4-BE49-F238E27FC236}">
                <a16:creationId xmlns:a16="http://schemas.microsoft.com/office/drawing/2014/main" id="{B33AD2BF-6D69-8CA9-FDA6-216E603AC57A}"/>
              </a:ext>
            </a:extLst>
          </p:cNvPr>
          <p:cNvSpPr txBox="1"/>
          <p:nvPr/>
        </p:nvSpPr>
        <p:spPr>
          <a:xfrm>
            <a:off x="3276600" y="3060700"/>
            <a:ext cx="2279650" cy="152400"/>
          </a:xfrm>
          <a:prstGeom prst="rect">
            <a:avLst/>
          </a:prstGeom>
          <a:noFill/>
        </p:spPr>
        <p:txBody>
          <a:bodyPr vert="horz" wrap="square" lIns="0" tIns="0" rIns="0" bIns="0" rtlCol="0">
            <a:noAutofit/>
          </a:bodyPr>
          <a:lstStyle/>
          <a:p>
            <a:pPr>
              <a:spcAft>
                <a:spcPts val="200"/>
              </a:spcAft>
            </a:pPr>
            <a:r>
              <a:rPr lang="en-ZA" sz="900" b="1">
                <a:solidFill>
                  <a:schemeClr val="accent1"/>
                </a:solidFill>
                <a:latin typeface="Lato" panose="020F0502020204030203" pitchFamily="34" charset="0"/>
              </a:rPr>
              <a:t>2022 · 6.8B L · observed</a:t>
            </a:r>
          </a:p>
        </p:txBody>
      </p:sp>
      <p:sp>
        <p:nvSpPr>
          <p:cNvPr id="108" name="Province MP">
            <a:extLst>
              <a:ext uri="{FF2B5EF4-FFF2-40B4-BE49-F238E27FC236}">
                <a16:creationId xmlns:a16="http://schemas.microsoft.com/office/drawing/2014/main" id="{69E79019-18F7-3D0E-C76B-582E51B3A285}"/>
              </a:ext>
            </a:extLst>
          </p:cNvPr>
          <p:cNvSpPr/>
          <p:nvPr/>
        </p:nvSpPr>
        <p:spPr>
          <a:xfrm>
            <a:off x="5937250" y="2032000"/>
            <a:ext cx="2432050" cy="1219200"/>
          </a:xfrm>
          <a:prstGeom prst="rect">
            <a:avLst/>
          </a:prstGeom>
          <a:solidFill>
            <a:srgbClr val="FFFFFF"/>
          </a:solidFill>
          <a:ln w="9525" cap="flat" cmpd="sng" algn="ctr">
            <a:solidFill>
              <a:schemeClr val="accent1"/>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76200" tIns="50800" rIns="76200" bIns="38100" rtlCol="0" anchor="t"/>
          <a:lstStyle/>
          <a:p>
            <a:pPr>
              <a:spcAft>
                <a:spcPts val="400"/>
              </a:spcAft>
            </a:pPr>
            <a:r>
              <a:rPr lang="en-ZA" sz="1050" b="1">
                <a:solidFill>
                  <a:schemeClr val="accent1"/>
                </a:solidFill>
                <a:latin typeface="Lato" panose="020F0502020204030203" pitchFamily="34" charset="0"/>
              </a:rPr>
              <a:t>Mpumalanga · 8%</a:t>
            </a:r>
          </a:p>
          <a:p>
            <a:pPr>
              <a:spcAft>
                <a:spcPts val="200"/>
              </a:spcAft>
            </a:pPr>
            <a:r>
              <a:rPr lang="en-ZA" sz="1050">
                <a:solidFill>
                  <a:schemeClr val="dk1"/>
                </a:solidFill>
                <a:latin typeface="Lato" panose="020F0502020204030203" pitchFamily="34" charset="0"/>
              </a:rPr>
              <a:t>Petrol 0.6 · diesel 1.1B L</a:t>
            </a:r>
          </a:p>
          <a:p>
            <a:pPr>
              <a:spcAft>
                <a:spcPts val="200"/>
              </a:spcAft>
            </a:pPr>
            <a:r>
              <a:rPr lang="en-ZA" sz="1050">
                <a:solidFill>
                  <a:schemeClr val="dk1"/>
                </a:solidFill>
                <a:latin typeface="Lato" panose="020F0502020204030203" pitchFamily="34" charset="0"/>
              </a:rPr>
              <a:t>Since 2013: -24%</a:t>
            </a:r>
          </a:p>
        </p:txBody>
      </p:sp>
      <p:sp>
        <p:nvSpPr>
          <p:cNvPr id="109" name="Province MP tag">
            <a:extLst>
              <a:ext uri="{FF2B5EF4-FFF2-40B4-BE49-F238E27FC236}">
                <a16:creationId xmlns:a16="http://schemas.microsoft.com/office/drawing/2014/main" id="{28FE4255-944F-6468-34F2-3DFB071FF384}"/>
              </a:ext>
            </a:extLst>
          </p:cNvPr>
          <p:cNvSpPr txBox="1"/>
          <p:nvPr/>
        </p:nvSpPr>
        <p:spPr>
          <a:xfrm>
            <a:off x="6013450" y="3060700"/>
            <a:ext cx="2279650" cy="152400"/>
          </a:xfrm>
          <a:prstGeom prst="rect">
            <a:avLst/>
          </a:prstGeom>
          <a:noFill/>
        </p:spPr>
        <p:txBody>
          <a:bodyPr vert="horz" wrap="square" lIns="0" tIns="0" rIns="0" bIns="0" rtlCol="0">
            <a:noAutofit/>
          </a:bodyPr>
          <a:lstStyle/>
          <a:p>
            <a:pPr>
              <a:spcAft>
                <a:spcPts val="200"/>
              </a:spcAft>
            </a:pPr>
            <a:r>
              <a:rPr lang="en-ZA" sz="900" b="1">
                <a:solidFill>
                  <a:schemeClr val="accent1"/>
                </a:solidFill>
                <a:latin typeface="Lato" panose="020F0502020204030203" pitchFamily="34" charset="0"/>
              </a:rPr>
              <a:t>2022 · 1.8B L · observed</a:t>
            </a:r>
          </a:p>
        </p:txBody>
      </p:sp>
      <p:sp>
        <p:nvSpPr>
          <p:cNvPr id="110" name="Province FS">
            <a:extLst>
              <a:ext uri="{FF2B5EF4-FFF2-40B4-BE49-F238E27FC236}">
                <a16:creationId xmlns:a16="http://schemas.microsoft.com/office/drawing/2014/main" id="{65E0290F-E7A4-50C9-078A-126C80E1D13C}"/>
              </a:ext>
            </a:extLst>
          </p:cNvPr>
          <p:cNvSpPr/>
          <p:nvPr/>
        </p:nvSpPr>
        <p:spPr>
          <a:xfrm>
            <a:off x="3200400" y="3454400"/>
            <a:ext cx="2432050" cy="1219200"/>
          </a:xfrm>
          <a:prstGeom prst="rect">
            <a:avLst/>
          </a:prstGeom>
          <a:solidFill>
            <a:srgbClr val="FFFFFF"/>
          </a:solidFill>
          <a:ln w="9525" cap="flat" cmpd="sng" algn="ctr">
            <a:solidFill>
              <a:schemeClr val="accent1"/>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76200" tIns="50800" rIns="76200" bIns="38100" rtlCol="0" anchor="t"/>
          <a:lstStyle/>
          <a:p>
            <a:pPr>
              <a:spcAft>
                <a:spcPts val="400"/>
              </a:spcAft>
            </a:pPr>
            <a:r>
              <a:rPr lang="en-GB" sz="1050" b="1">
                <a:solidFill>
                  <a:schemeClr val="accent1"/>
                </a:solidFill>
                <a:latin typeface="Lato" panose="020F0502020204030203" pitchFamily="34" charset="0"/>
              </a:rPr>
              <a:t>Free State · 6%</a:t>
            </a:r>
          </a:p>
          <a:p>
            <a:pPr>
              <a:spcAft>
                <a:spcPts val="200"/>
              </a:spcAft>
            </a:pPr>
            <a:r>
              <a:rPr lang="en-GB" sz="1050">
                <a:solidFill>
                  <a:schemeClr val="dk1"/>
                </a:solidFill>
                <a:latin typeface="Lato" panose="020F0502020204030203" pitchFamily="34" charset="0"/>
              </a:rPr>
              <a:t>Petrol 0.6 · diesel 0.8B L</a:t>
            </a:r>
          </a:p>
          <a:p>
            <a:pPr>
              <a:spcAft>
                <a:spcPts val="200"/>
              </a:spcAft>
            </a:pPr>
            <a:r>
              <a:rPr lang="en-GB" sz="1050">
                <a:solidFill>
                  <a:schemeClr val="dk1"/>
                </a:solidFill>
                <a:latin typeface="Lato" panose="020F0502020204030203" pitchFamily="34" charset="0"/>
              </a:rPr>
              <a:t>Since 2013: -39%</a:t>
            </a:r>
            <a:endParaRPr lang="en-ZA" sz="1050">
              <a:solidFill>
                <a:schemeClr val="dk1"/>
              </a:solidFill>
              <a:latin typeface="Lato" panose="020F0502020204030203" pitchFamily="34" charset="0"/>
            </a:endParaRPr>
          </a:p>
        </p:txBody>
      </p:sp>
      <p:sp>
        <p:nvSpPr>
          <p:cNvPr id="111" name="Province FS tag">
            <a:extLst>
              <a:ext uri="{FF2B5EF4-FFF2-40B4-BE49-F238E27FC236}">
                <a16:creationId xmlns:a16="http://schemas.microsoft.com/office/drawing/2014/main" id="{A66DA3A6-8357-849F-F85F-E4B745BC4326}"/>
              </a:ext>
            </a:extLst>
          </p:cNvPr>
          <p:cNvSpPr txBox="1"/>
          <p:nvPr/>
        </p:nvSpPr>
        <p:spPr>
          <a:xfrm>
            <a:off x="3276600" y="4483100"/>
            <a:ext cx="2279650" cy="152400"/>
          </a:xfrm>
          <a:prstGeom prst="rect">
            <a:avLst/>
          </a:prstGeom>
          <a:noFill/>
        </p:spPr>
        <p:txBody>
          <a:bodyPr vert="horz" wrap="square" lIns="0" tIns="0" rIns="0" bIns="0" rtlCol="0">
            <a:noAutofit/>
          </a:bodyPr>
          <a:lstStyle/>
          <a:p>
            <a:pPr>
              <a:spcAft>
                <a:spcPts val="200"/>
              </a:spcAft>
            </a:pPr>
            <a:r>
              <a:rPr lang="en-ZA" sz="900" b="1">
                <a:solidFill>
                  <a:schemeClr val="accent1"/>
                </a:solidFill>
                <a:latin typeface="Lato" panose="020F0502020204030203" pitchFamily="34" charset="0"/>
              </a:rPr>
              <a:t>2022 · 1.4B L · observed</a:t>
            </a:r>
          </a:p>
        </p:txBody>
      </p:sp>
      <p:sp>
        <p:nvSpPr>
          <p:cNvPr id="112" name="Province NW">
            <a:extLst>
              <a:ext uri="{FF2B5EF4-FFF2-40B4-BE49-F238E27FC236}">
                <a16:creationId xmlns:a16="http://schemas.microsoft.com/office/drawing/2014/main" id="{CCA35770-D91A-E9EF-B6BE-222BDD07B985}"/>
              </a:ext>
            </a:extLst>
          </p:cNvPr>
          <p:cNvSpPr/>
          <p:nvPr/>
        </p:nvSpPr>
        <p:spPr>
          <a:xfrm>
            <a:off x="5937250" y="3454400"/>
            <a:ext cx="2432050" cy="1219200"/>
          </a:xfrm>
          <a:prstGeom prst="rect">
            <a:avLst/>
          </a:prstGeom>
          <a:solidFill>
            <a:srgbClr val="FFFFFF"/>
          </a:solidFill>
          <a:ln w="9525" cap="flat" cmpd="sng" algn="ctr">
            <a:solidFill>
              <a:schemeClr val="accent1"/>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76200" tIns="50800" rIns="76200" bIns="38100" rtlCol="0" anchor="t"/>
          <a:lstStyle/>
          <a:p>
            <a:pPr>
              <a:spcAft>
                <a:spcPts val="400"/>
              </a:spcAft>
            </a:pPr>
            <a:r>
              <a:rPr lang="en-GB" sz="1050" b="1">
                <a:solidFill>
                  <a:schemeClr val="accent1"/>
                </a:solidFill>
                <a:latin typeface="Lato" panose="020F0502020204030203" pitchFamily="34" charset="0"/>
              </a:rPr>
              <a:t>North West · 5%</a:t>
            </a:r>
          </a:p>
          <a:p>
            <a:pPr>
              <a:spcAft>
                <a:spcPts val="200"/>
              </a:spcAft>
            </a:pPr>
            <a:r>
              <a:rPr lang="en-GB" sz="1050">
                <a:solidFill>
                  <a:schemeClr val="dk1"/>
                </a:solidFill>
                <a:latin typeface="Lato" panose="020F0502020204030203" pitchFamily="34" charset="0"/>
              </a:rPr>
              <a:t>Petrol 0.4 · diesel 0.6B L</a:t>
            </a:r>
          </a:p>
          <a:p>
            <a:pPr>
              <a:spcAft>
                <a:spcPts val="200"/>
              </a:spcAft>
            </a:pPr>
            <a:r>
              <a:rPr lang="en-GB" sz="1050">
                <a:solidFill>
                  <a:schemeClr val="dk1"/>
                </a:solidFill>
                <a:latin typeface="Lato" panose="020F0502020204030203" pitchFamily="34" charset="0"/>
              </a:rPr>
              <a:t>Since 2013: -16%</a:t>
            </a:r>
            <a:endParaRPr lang="en-ZA" sz="1050">
              <a:solidFill>
                <a:schemeClr val="dk1"/>
              </a:solidFill>
              <a:latin typeface="Lato" panose="020F0502020204030203" pitchFamily="34" charset="0"/>
            </a:endParaRPr>
          </a:p>
        </p:txBody>
      </p:sp>
      <p:sp>
        <p:nvSpPr>
          <p:cNvPr id="113" name="Province NW tag">
            <a:extLst>
              <a:ext uri="{FF2B5EF4-FFF2-40B4-BE49-F238E27FC236}">
                <a16:creationId xmlns:a16="http://schemas.microsoft.com/office/drawing/2014/main" id="{F1FB9C11-625B-599C-63E8-0AE98F3C3270}"/>
              </a:ext>
            </a:extLst>
          </p:cNvPr>
          <p:cNvSpPr txBox="1"/>
          <p:nvPr/>
        </p:nvSpPr>
        <p:spPr>
          <a:xfrm>
            <a:off x="6013450" y="4483100"/>
            <a:ext cx="2279650" cy="152400"/>
          </a:xfrm>
          <a:prstGeom prst="rect">
            <a:avLst/>
          </a:prstGeom>
          <a:noFill/>
        </p:spPr>
        <p:txBody>
          <a:bodyPr vert="horz" wrap="square" lIns="0" tIns="0" rIns="0" bIns="0" rtlCol="0">
            <a:noAutofit/>
          </a:bodyPr>
          <a:lstStyle/>
          <a:p>
            <a:pPr>
              <a:spcAft>
                <a:spcPts val="200"/>
              </a:spcAft>
            </a:pPr>
            <a:r>
              <a:rPr lang="en-ZA" sz="900" b="1">
                <a:solidFill>
                  <a:schemeClr val="accent1"/>
                </a:solidFill>
                <a:latin typeface="Lato" panose="020F0502020204030203" pitchFamily="34" charset="0"/>
              </a:rPr>
              <a:t>2022 · 1.1B L · observed</a:t>
            </a:r>
          </a:p>
        </p:txBody>
      </p:sp>
      <p:sp>
        <p:nvSpPr>
          <p:cNvPr id="114" name="Province LP">
            <a:extLst>
              <a:ext uri="{FF2B5EF4-FFF2-40B4-BE49-F238E27FC236}">
                <a16:creationId xmlns:a16="http://schemas.microsoft.com/office/drawing/2014/main" id="{B40578D1-1C24-E5EB-EBE6-3DB3F4602EC8}"/>
              </a:ext>
            </a:extLst>
          </p:cNvPr>
          <p:cNvSpPr/>
          <p:nvPr/>
        </p:nvSpPr>
        <p:spPr>
          <a:xfrm>
            <a:off x="3200400" y="4876800"/>
            <a:ext cx="2432050" cy="1219200"/>
          </a:xfrm>
          <a:prstGeom prst="rect">
            <a:avLst/>
          </a:prstGeom>
          <a:solidFill>
            <a:srgbClr val="FFFFFF"/>
          </a:solidFill>
          <a:ln w="9525" cap="flat" cmpd="sng" algn="ctr">
            <a:solidFill>
              <a:schemeClr val="accent1"/>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76200" tIns="50800" rIns="76200" bIns="38100" rtlCol="0" anchor="t"/>
          <a:lstStyle/>
          <a:p>
            <a:pPr>
              <a:spcAft>
                <a:spcPts val="400"/>
              </a:spcAft>
            </a:pPr>
            <a:r>
              <a:rPr lang="en-ZA" sz="1050" b="1">
                <a:solidFill>
                  <a:schemeClr val="accent1"/>
                </a:solidFill>
                <a:latin typeface="Lato" panose="020F0502020204030203" pitchFamily="34" charset="0"/>
              </a:rPr>
              <a:t>Limpopo · 2%</a:t>
            </a:r>
          </a:p>
          <a:p>
            <a:pPr>
              <a:spcAft>
                <a:spcPts val="200"/>
              </a:spcAft>
            </a:pPr>
            <a:r>
              <a:rPr lang="en-ZA" sz="1050">
                <a:solidFill>
                  <a:schemeClr val="dk1"/>
                </a:solidFill>
                <a:latin typeface="Lato" panose="020F0502020204030203" pitchFamily="34" charset="0"/>
              </a:rPr>
              <a:t>Petrol 0.3 · diesel 0.2B L</a:t>
            </a:r>
          </a:p>
          <a:p>
            <a:pPr>
              <a:spcAft>
                <a:spcPts val="200"/>
              </a:spcAft>
            </a:pPr>
            <a:r>
              <a:rPr lang="en-ZA" sz="1050">
                <a:solidFill>
                  <a:schemeClr val="dk1"/>
                </a:solidFill>
                <a:latin typeface="Lato" panose="020F0502020204030203" pitchFamily="34" charset="0"/>
              </a:rPr>
              <a:t>Since 2013: -40%</a:t>
            </a:r>
          </a:p>
        </p:txBody>
      </p:sp>
      <p:sp>
        <p:nvSpPr>
          <p:cNvPr id="115" name="Province LP tag">
            <a:extLst>
              <a:ext uri="{FF2B5EF4-FFF2-40B4-BE49-F238E27FC236}">
                <a16:creationId xmlns:a16="http://schemas.microsoft.com/office/drawing/2014/main" id="{9255FAEF-ADAD-839D-2A0B-0D9B4ABEFBD0}"/>
              </a:ext>
            </a:extLst>
          </p:cNvPr>
          <p:cNvSpPr txBox="1"/>
          <p:nvPr/>
        </p:nvSpPr>
        <p:spPr>
          <a:xfrm>
            <a:off x="3276600" y="5905500"/>
            <a:ext cx="2279650" cy="152400"/>
          </a:xfrm>
          <a:prstGeom prst="rect">
            <a:avLst/>
          </a:prstGeom>
          <a:noFill/>
        </p:spPr>
        <p:txBody>
          <a:bodyPr vert="horz" wrap="square" lIns="0" tIns="0" rIns="0" bIns="0" rtlCol="0">
            <a:noAutofit/>
          </a:bodyPr>
          <a:lstStyle/>
          <a:p>
            <a:pPr>
              <a:spcAft>
                <a:spcPts val="200"/>
              </a:spcAft>
            </a:pPr>
            <a:r>
              <a:rPr lang="en-ZA" sz="900" b="1">
                <a:solidFill>
                  <a:schemeClr val="accent1"/>
                </a:solidFill>
                <a:latin typeface="Lato" panose="020F0502020204030203" pitchFamily="34" charset="0"/>
              </a:rPr>
              <a:t>2022 · 0.5B L · observed</a:t>
            </a:r>
          </a:p>
        </p:txBody>
      </p:sp>
      <p:sp>
        <p:nvSpPr>
          <p:cNvPr id="116" name="Province NC">
            <a:extLst>
              <a:ext uri="{FF2B5EF4-FFF2-40B4-BE49-F238E27FC236}">
                <a16:creationId xmlns:a16="http://schemas.microsoft.com/office/drawing/2014/main" id="{7BA2E4DF-FA5D-49DB-4B5E-EDC128CFAA7F}"/>
              </a:ext>
            </a:extLst>
          </p:cNvPr>
          <p:cNvSpPr/>
          <p:nvPr/>
        </p:nvSpPr>
        <p:spPr>
          <a:xfrm>
            <a:off x="5937250" y="4876800"/>
            <a:ext cx="2432050" cy="1219200"/>
          </a:xfrm>
          <a:prstGeom prst="rect">
            <a:avLst/>
          </a:prstGeom>
          <a:solidFill>
            <a:srgbClr val="FFFFFF"/>
          </a:solidFill>
          <a:ln w="9525" cap="flat" cmpd="sng" algn="ctr">
            <a:solidFill>
              <a:schemeClr val="accent1"/>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76200" tIns="50800" rIns="76200" bIns="38100" rtlCol="0" anchor="t"/>
          <a:lstStyle/>
          <a:p>
            <a:pPr>
              <a:spcAft>
                <a:spcPts val="400"/>
              </a:spcAft>
            </a:pPr>
            <a:r>
              <a:rPr lang="en-GB" sz="1050" b="1">
                <a:solidFill>
                  <a:schemeClr val="accent1"/>
                </a:solidFill>
                <a:latin typeface="Lato" panose="020F0502020204030203" pitchFamily="34" charset="0"/>
              </a:rPr>
              <a:t>Northern Cape · 2%</a:t>
            </a:r>
          </a:p>
          <a:p>
            <a:pPr>
              <a:spcAft>
                <a:spcPts val="200"/>
              </a:spcAft>
            </a:pPr>
            <a:r>
              <a:rPr lang="en-GB" sz="1050">
                <a:solidFill>
                  <a:schemeClr val="dk1"/>
                </a:solidFill>
                <a:latin typeface="Lato" panose="020F0502020204030203" pitchFamily="34" charset="0"/>
              </a:rPr>
              <a:t>Petrol 0.1 · diesel 0.4B L</a:t>
            </a:r>
          </a:p>
          <a:p>
            <a:pPr>
              <a:spcAft>
                <a:spcPts val="200"/>
              </a:spcAft>
            </a:pPr>
            <a:r>
              <a:rPr lang="en-GB" sz="1050">
                <a:solidFill>
                  <a:schemeClr val="dk1"/>
                </a:solidFill>
                <a:latin typeface="Lato" panose="020F0502020204030203" pitchFamily="34" charset="0"/>
              </a:rPr>
              <a:t>Since 2013: -23%</a:t>
            </a:r>
            <a:endParaRPr lang="en-ZA" sz="1050">
              <a:solidFill>
                <a:schemeClr val="dk1"/>
              </a:solidFill>
              <a:latin typeface="Lato" panose="020F0502020204030203" pitchFamily="34" charset="0"/>
            </a:endParaRPr>
          </a:p>
        </p:txBody>
      </p:sp>
      <p:sp>
        <p:nvSpPr>
          <p:cNvPr id="117" name="Province NC tag">
            <a:extLst>
              <a:ext uri="{FF2B5EF4-FFF2-40B4-BE49-F238E27FC236}">
                <a16:creationId xmlns:a16="http://schemas.microsoft.com/office/drawing/2014/main" id="{BD03A80F-DBE1-B0FF-DB06-9043ED3D1A38}"/>
              </a:ext>
            </a:extLst>
          </p:cNvPr>
          <p:cNvSpPr txBox="1"/>
          <p:nvPr/>
        </p:nvSpPr>
        <p:spPr>
          <a:xfrm>
            <a:off x="6013450" y="5905500"/>
            <a:ext cx="2279650" cy="152400"/>
          </a:xfrm>
          <a:prstGeom prst="rect">
            <a:avLst/>
          </a:prstGeom>
          <a:noFill/>
        </p:spPr>
        <p:txBody>
          <a:bodyPr vert="horz" wrap="square" lIns="0" tIns="0" rIns="0" bIns="0" rtlCol="0">
            <a:noAutofit/>
          </a:bodyPr>
          <a:lstStyle/>
          <a:p>
            <a:pPr>
              <a:spcAft>
                <a:spcPts val="200"/>
              </a:spcAft>
            </a:pPr>
            <a:r>
              <a:rPr lang="en-ZA" sz="900" b="1">
                <a:solidFill>
                  <a:schemeClr val="accent1"/>
                </a:solidFill>
                <a:latin typeface="Lato" panose="020F0502020204030203" pitchFamily="34" charset="0"/>
              </a:rPr>
              <a:t>2022 · 0.5B L · observed</a:t>
            </a:r>
          </a:p>
        </p:txBody>
      </p:sp>
      <p:sp>
        <p:nvSpPr>
          <p:cNvPr id="118" name="Province finding 1">
            <a:extLst>
              <a:ext uri="{FF2B5EF4-FFF2-40B4-BE49-F238E27FC236}">
                <a16:creationId xmlns:a16="http://schemas.microsoft.com/office/drawing/2014/main" id="{D82D2AD9-08B4-7F1F-2A62-369A08F2A0B3}"/>
              </a:ext>
            </a:extLst>
          </p:cNvPr>
          <p:cNvSpPr/>
          <p:nvPr/>
        </p:nvSpPr>
        <p:spPr>
          <a:xfrm>
            <a:off x="8686800" y="2032000"/>
            <a:ext cx="2425700" cy="1219200"/>
          </a:xfrm>
          <a:prstGeom prst="rect">
            <a:avLst/>
          </a:prstGeom>
          <a:solidFill>
            <a:srgbClr val="FFFFFF"/>
          </a:solidFill>
          <a:ln w="9525" cap="flat" cmpd="sng" algn="ctr">
            <a:solidFill>
              <a:schemeClr val="accent1"/>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76200" tIns="50800" rIns="76200" bIns="38100" rtlCol="0" anchor="t"/>
          <a:lstStyle/>
          <a:p>
            <a:pPr>
              <a:spcAft>
                <a:spcPts val="400"/>
              </a:spcAft>
            </a:pPr>
            <a:r>
              <a:rPr lang="en-GB" sz="1050" b="1">
                <a:solidFill>
                  <a:schemeClr val="accent1"/>
                </a:solidFill>
                <a:latin typeface="Lato" panose="020F0502020204030203" pitchFamily="34" charset="0"/>
              </a:rPr>
              <a:t>Gauteng anchors inland</a:t>
            </a:r>
          </a:p>
          <a:p>
            <a:pPr>
              <a:spcAft>
                <a:spcPts val="200"/>
              </a:spcAft>
            </a:pPr>
            <a:r>
              <a:rPr lang="en-GB" sz="1050">
                <a:solidFill>
                  <a:schemeClr val="dk1"/>
                </a:solidFill>
                <a:latin typeface="Lato" panose="020F0502020204030203" pitchFamily="34" charset="0"/>
              </a:rPr>
              <a:t>6.8B L, 31% of the national total</a:t>
            </a:r>
          </a:p>
          <a:p>
            <a:pPr>
              <a:spcAft>
                <a:spcPts val="200"/>
              </a:spcAft>
            </a:pPr>
            <a:r>
              <a:rPr lang="en-GB" sz="1050">
                <a:solidFill>
                  <a:schemeClr val="dk1"/>
                </a:solidFill>
                <a:latin typeface="Lato" panose="020F0502020204030203" pitchFamily="34" charset="0"/>
              </a:rPr>
              <a:t>Lesedi's catchment</a:t>
            </a:r>
            <a:endParaRPr lang="en-ZA" sz="1050">
              <a:solidFill>
                <a:schemeClr val="dk1"/>
              </a:solidFill>
              <a:latin typeface="Lato" panose="020F0502020204030203" pitchFamily="34" charset="0"/>
            </a:endParaRPr>
          </a:p>
        </p:txBody>
      </p:sp>
      <p:sp>
        <p:nvSpPr>
          <p:cNvPr id="119" name="Province finding 1 tag">
            <a:extLst>
              <a:ext uri="{FF2B5EF4-FFF2-40B4-BE49-F238E27FC236}">
                <a16:creationId xmlns:a16="http://schemas.microsoft.com/office/drawing/2014/main" id="{2746EFF1-84B8-7758-7471-91E9BF970E04}"/>
              </a:ext>
            </a:extLst>
          </p:cNvPr>
          <p:cNvSpPr txBox="1"/>
          <p:nvPr/>
        </p:nvSpPr>
        <p:spPr>
          <a:xfrm>
            <a:off x="8763000" y="3060700"/>
            <a:ext cx="2273300" cy="152400"/>
          </a:xfrm>
          <a:prstGeom prst="rect">
            <a:avLst/>
          </a:prstGeom>
          <a:noFill/>
        </p:spPr>
        <p:txBody>
          <a:bodyPr vert="horz" wrap="square" lIns="0" tIns="0" rIns="0" bIns="0" rtlCol="0">
            <a:noAutofit/>
          </a:bodyPr>
          <a:lstStyle/>
          <a:p>
            <a:pPr>
              <a:spcAft>
                <a:spcPts val="200"/>
              </a:spcAft>
            </a:pPr>
            <a:r>
              <a:rPr lang="en-ZA" sz="900" b="1">
                <a:solidFill>
                  <a:schemeClr val="accent1"/>
                </a:solidFill>
                <a:latin typeface="Lato" panose="020F0502020204030203" pitchFamily="34" charset="0"/>
              </a:rPr>
              <a:t>2022 · observed · DR01</a:t>
            </a:r>
          </a:p>
        </p:txBody>
      </p:sp>
      <p:sp>
        <p:nvSpPr>
          <p:cNvPr id="120" name="Province finding 2">
            <a:extLst>
              <a:ext uri="{FF2B5EF4-FFF2-40B4-BE49-F238E27FC236}">
                <a16:creationId xmlns:a16="http://schemas.microsoft.com/office/drawing/2014/main" id="{2BAE1156-4253-31B0-E4C5-5B62172A5D08}"/>
              </a:ext>
            </a:extLst>
          </p:cNvPr>
          <p:cNvSpPr/>
          <p:nvPr/>
        </p:nvSpPr>
        <p:spPr>
          <a:xfrm>
            <a:off x="8686800" y="3454400"/>
            <a:ext cx="2425700" cy="1219200"/>
          </a:xfrm>
          <a:prstGeom prst="rect">
            <a:avLst/>
          </a:prstGeom>
          <a:solidFill>
            <a:srgbClr val="FFFFFF"/>
          </a:solidFill>
          <a:ln w="9525" cap="flat" cmpd="sng" algn="ctr">
            <a:solidFill>
              <a:schemeClr val="accent1"/>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76200" tIns="50800" rIns="76200" bIns="38100" rtlCol="0" anchor="t"/>
          <a:lstStyle/>
          <a:p>
            <a:pPr>
              <a:spcAft>
                <a:spcPts val="400"/>
              </a:spcAft>
            </a:pPr>
            <a:r>
              <a:rPr lang="en-GB" sz="1050" b="1">
                <a:solidFill>
                  <a:schemeClr val="accent1"/>
                </a:solidFill>
                <a:latin typeface="Lato" panose="020F0502020204030203" pitchFamily="34" charset="0"/>
              </a:rPr>
              <a:t>Diesel grew on the coast</a:t>
            </a:r>
          </a:p>
          <a:p>
            <a:pPr>
              <a:spcAft>
                <a:spcPts val="200"/>
              </a:spcAft>
            </a:pPr>
            <a:r>
              <a:rPr lang="en-GB" sz="1050">
                <a:solidFill>
                  <a:schemeClr val="dk1"/>
                </a:solidFill>
                <a:latin typeface="Lato" panose="020F0502020204030203" pitchFamily="34" charset="0"/>
              </a:rPr>
              <a:t>KZN 2.3 to 2.8, WC 2.0 to 2.5B L</a:t>
            </a:r>
          </a:p>
          <a:p>
            <a:pPr>
              <a:spcAft>
                <a:spcPts val="200"/>
              </a:spcAft>
            </a:pPr>
            <a:r>
              <a:rPr lang="en-GB" sz="1050">
                <a:solidFill>
                  <a:schemeClr val="dk1"/>
                </a:solidFill>
                <a:latin typeface="Lato" panose="020F0502020204030203" pitchFamily="34" charset="0"/>
              </a:rPr>
              <a:t>Petrol fell in every province</a:t>
            </a:r>
            <a:endParaRPr lang="en-ZA" sz="1050">
              <a:solidFill>
                <a:schemeClr val="dk1"/>
              </a:solidFill>
              <a:latin typeface="Lato" panose="020F0502020204030203" pitchFamily="34" charset="0"/>
            </a:endParaRPr>
          </a:p>
        </p:txBody>
      </p:sp>
      <p:sp>
        <p:nvSpPr>
          <p:cNvPr id="121" name="Province finding 2 tag">
            <a:extLst>
              <a:ext uri="{FF2B5EF4-FFF2-40B4-BE49-F238E27FC236}">
                <a16:creationId xmlns:a16="http://schemas.microsoft.com/office/drawing/2014/main" id="{927EAFBF-B80F-E8FB-11BB-789FA1148BB2}"/>
              </a:ext>
            </a:extLst>
          </p:cNvPr>
          <p:cNvSpPr txBox="1"/>
          <p:nvPr/>
        </p:nvSpPr>
        <p:spPr>
          <a:xfrm>
            <a:off x="8763000" y="4483100"/>
            <a:ext cx="2273300" cy="152400"/>
          </a:xfrm>
          <a:prstGeom prst="rect">
            <a:avLst/>
          </a:prstGeom>
          <a:noFill/>
        </p:spPr>
        <p:txBody>
          <a:bodyPr vert="horz" wrap="square" lIns="0" tIns="0" rIns="0" bIns="0" rtlCol="0">
            <a:noAutofit/>
          </a:bodyPr>
          <a:lstStyle/>
          <a:p>
            <a:pPr>
              <a:spcAft>
                <a:spcPts val="200"/>
              </a:spcAft>
            </a:pPr>
            <a:r>
              <a:rPr lang="en-ZA" sz="900" b="1">
                <a:solidFill>
                  <a:schemeClr val="accent1"/>
                </a:solidFill>
                <a:latin typeface="Lato" panose="020F0502020204030203" pitchFamily="34" charset="0"/>
              </a:rPr>
              <a:t>2013-2022 · observed</a:t>
            </a:r>
          </a:p>
        </p:txBody>
      </p:sp>
      <p:sp>
        <p:nvSpPr>
          <p:cNvPr id="122" name="Province finding 3">
            <a:extLst>
              <a:ext uri="{FF2B5EF4-FFF2-40B4-BE49-F238E27FC236}">
                <a16:creationId xmlns:a16="http://schemas.microsoft.com/office/drawing/2014/main" id="{61725360-6D9F-B68F-0266-516D25D5E20D}"/>
              </a:ext>
            </a:extLst>
          </p:cNvPr>
          <p:cNvSpPr/>
          <p:nvPr/>
        </p:nvSpPr>
        <p:spPr>
          <a:xfrm>
            <a:off x="8686800" y="4876800"/>
            <a:ext cx="2425700" cy="1219200"/>
          </a:xfrm>
          <a:prstGeom prst="rect">
            <a:avLst/>
          </a:prstGeom>
          <a:solidFill>
            <a:srgbClr val="FFFFFF"/>
          </a:solidFill>
          <a:ln w="9525" cap="flat" cmpd="sng" algn="ctr">
            <a:solidFill>
              <a:schemeClr val="accent1"/>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76200" tIns="50800" rIns="76200" bIns="38100" rtlCol="0" anchor="t"/>
          <a:lstStyle/>
          <a:p>
            <a:pPr>
              <a:spcAft>
                <a:spcPts val="400"/>
              </a:spcAft>
            </a:pPr>
            <a:r>
              <a:rPr lang="en-GB" sz="1050" b="1">
                <a:solidFill>
                  <a:schemeClr val="accent1"/>
                </a:solidFill>
                <a:latin typeface="Lato" panose="020F0502020204030203" pitchFamily="34" charset="0"/>
              </a:rPr>
              <a:t>2023 is estimated</a:t>
            </a:r>
          </a:p>
          <a:p>
            <a:pPr>
              <a:spcAft>
                <a:spcPts val="200"/>
              </a:spcAft>
            </a:pPr>
            <a:r>
              <a:rPr lang="en-GB" sz="1050">
                <a:solidFill>
                  <a:schemeClr val="dk1"/>
                </a:solidFill>
                <a:latin typeface="Lato" panose="020F0502020204030203" pitchFamily="34" charset="0"/>
              </a:rPr>
              <a:t>First-quarter shares of the total</a:t>
            </a:r>
          </a:p>
          <a:p>
            <a:pPr>
              <a:spcAft>
                <a:spcPts val="200"/>
              </a:spcAft>
            </a:pPr>
            <a:r>
              <a:rPr lang="en-GB" sz="1050">
                <a:solidFill>
                  <a:schemeClr val="dk1"/>
                </a:solidFill>
                <a:latin typeface="Lato" panose="020F0502020204030203" pitchFamily="34" charset="0"/>
              </a:rPr>
              <a:t>Error 2.5 pts petrol, 5.3 diesel</a:t>
            </a:r>
            <a:endParaRPr lang="en-ZA" sz="1050">
              <a:solidFill>
                <a:schemeClr val="dk1"/>
              </a:solidFill>
              <a:latin typeface="Lato" panose="020F0502020204030203" pitchFamily="34" charset="0"/>
            </a:endParaRPr>
          </a:p>
        </p:txBody>
      </p:sp>
      <p:sp>
        <p:nvSpPr>
          <p:cNvPr id="123" name="Province finding 3 tag">
            <a:extLst>
              <a:ext uri="{FF2B5EF4-FFF2-40B4-BE49-F238E27FC236}">
                <a16:creationId xmlns:a16="http://schemas.microsoft.com/office/drawing/2014/main" id="{191EEE9C-0DBE-1947-22AF-2E9E6262FFA0}"/>
              </a:ext>
            </a:extLst>
          </p:cNvPr>
          <p:cNvSpPr txBox="1"/>
          <p:nvPr/>
        </p:nvSpPr>
        <p:spPr>
          <a:xfrm>
            <a:off x="8763000" y="5905500"/>
            <a:ext cx="2273300" cy="152400"/>
          </a:xfrm>
          <a:prstGeom prst="rect">
            <a:avLst/>
          </a:prstGeom>
          <a:noFill/>
        </p:spPr>
        <p:txBody>
          <a:bodyPr vert="horz" wrap="square" lIns="0" tIns="0" rIns="0" bIns="0" rtlCol="0">
            <a:noAutofit/>
          </a:bodyPr>
          <a:lstStyle/>
          <a:p>
            <a:pPr>
              <a:spcAft>
                <a:spcPts val="200"/>
              </a:spcAft>
            </a:pPr>
            <a:r>
              <a:rPr lang="en-ZA" sz="900" b="1">
                <a:solidFill>
                  <a:schemeClr val="accent1"/>
                </a:solidFill>
                <a:latin typeface="Lato" panose="020F0502020204030203" pitchFamily="34" charset="0"/>
              </a:rPr>
              <a:t>Back-test · DR01</a:t>
            </a:r>
          </a:p>
        </p:txBody>
      </p:sp>
    </p:spTree>
    <p:extLst>
      <p:ext uri="{BB962C8B-B14F-4D97-AF65-F5344CB8AC3E}">
        <p14:creationId xmlns:p14="http://schemas.microsoft.com/office/powerpoint/2010/main" val="347658781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a:solidFill>
                  <a:schemeClr val="dk1"/>
                </a:solidFill>
                <a:latin typeface="Lato"/>
              </a:rPr>
              <a:t>Demand by use: three sources to calibrate</a:t>
            </a:r>
            <a:endParaRPr dirty="0">
              <a:solidFill>
                <a:schemeClr val="dk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4</a:t>
            </a:r>
            <a:endParaRPr sz="1100"/>
          </a:p>
        </p:txBody>
      </p:sp>
      <p:sp>
        <p:nvSpPr>
          <p:cNvPr id="8" name="Unified source footer"/>
          <p:cNvSpPr txBox="1"/>
          <p:nvPr/>
        </p:nvSpPr>
        <p:spPr>
          <a:xfrm>
            <a:off x="457200" y="6184900"/>
            <a:ext cx="10652760" cy="104837"/>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GB" sz="670"/>
              <a:t>Source: department energy balance 2021 (petrol and diesel final consumption); Manish sector baselines (model, high demand, 2024; road petrol and diesel, other sectors diesel); DR07 (Eskom reported litres; independents estimated at 0.31 L/kWh). Not reconciled: overlap log item 6.</a:t>
            </a:r>
            <a:endParaRPr sz="670"/>
          </a:p>
        </p:txBody>
      </p:sp>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F6826E68-0B27-3E9A-731F-737F28F0FB19}"/>
              </a:ext>
            </a:extLst>
          </p:cNvPr>
          <p:cNvSpPr/>
          <p:nvPr/>
        </p:nvSpPr>
        <p:spPr>
          <a:xfrm>
            <a:off x="457200" y="88900"/>
            <a:ext cx="2575560" cy="279400"/>
          </a:xfrm>
          <a:prstGeom prst="rect">
            <a:avLst/>
          </a:prstGeom>
          <a:solidFill>
            <a:schemeClr val="lt1">
              <a:shade val="965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Executive summary</a:t>
            </a:r>
          </a:p>
        </p:txBody>
      </p:sp>
      <p:sp>
        <p:nvSpPr>
          <p:cNvPr id="10" name="SCR 2">
            <a:extLst>
              <a:ext uri="{FF2B5EF4-FFF2-40B4-BE49-F238E27FC236}">
                <a16:creationId xmlns:a16="http://schemas.microsoft.com/office/drawing/2014/main" id="{DB3FBD92-8DAF-542E-83C8-61B53DE1024F}"/>
              </a:ext>
            </a:extLst>
          </p:cNvPr>
          <p:cNvSpPr/>
          <p:nvPr/>
        </p:nvSpPr>
        <p:spPr>
          <a:xfrm>
            <a:off x="3149600" y="88900"/>
            <a:ext cx="2575560" cy="279400"/>
          </a:xfrm>
          <a:prstGeom prst="rect">
            <a:avLst/>
          </a:prstGeom>
          <a:solidFill>
            <a:schemeClr val="lt1">
              <a:shade val="965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Situation</a:t>
            </a:r>
          </a:p>
        </p:txBody>
      </p:sp>
      <p:sp>
        <p:nvSpPr>
          <p:cNvPr id="11" name="SCR 3">
            <a:extLst>
              <a:ext uri="{FF2B5EF4-FFF2-40B4-BE49-F238E27FC236}">
                <a16:creationId xmlns:a16="http://schemas.microsoft.com/office/drawing/2014/main" id="{8954CB5A-2161-59A0-D177-7E44BC8E444E}"/>
              </a:ext>
            </a:extLst>
          </p:cNvPr>
          <p:cNvSpPr/>
          <p:nvPr/>
        </p:nvSpPr>
        <p:spPr>
          <a:xfrm>
            <a:off x="5842000" y="88900"/>
            <a:ext cx="2575560" cy="279400"/>
          </a:xfrm>
          <a:prstGeom prst="rect">
            <a:avLst/>
          </a:prstGeom>
          <a:solidFill>
            <a:schemeClr val="lt1">
              <a:shade val="965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Complication</a:t>
            </a:r>
          </a:p>
        </p:txBody>
      </p:sp>
      <p:sp>
        <p:nvSpPr>
          <p:cNvPr id="12" name="SCR 4">
            <a:extLst>
              <a:ext uri="{FF2B5EF4-FFF2-40B4-BE49-F238E27FC236}">
                <a16:creationId xmlns:a16="http://schemas.microsoft.com/office/drawing/2014/main" id="{9E01BBF5-098D-3FC4-718C-6B01C403EC02}"/>
              </a:ext>
            </a:extLst>
          </p:cNvPr>
          <p:cNvSpPr/>
          <p:nvPr/>
        </p:nvSpPr>
        <p:spPr>
          <a:xfrm>
            <a:off x="8534400" y="88900"/>
            <a:ext cx="2575560" cy="279400"/>
          </a:xfrm>
          <a:prstGeom prst="rect">
            <a:avLst/>
          </a:prstGeom>
          <a:solidFill>
            <a:schemeClr val="accent1"/>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latin typeface="Lato" panose="020F0502020204030203" pitchFamily="34" charset="0"/>
              </a:rPr>
              <a:t>Resolution</a:t>
            </a:r>
          </a:p>
        </p:txBody>
      </p:sp>
      <p:sp>
        <p:nvSpPr>
          <p:cNvPr id="47" name="Sources panel">
            <a:extLst>
              <a:ext uri="{FF2B5EF4-FFF2-40B4-BE49-F238E27FC236}">
                <a16:creationId xmlns:a16="http://schemas.microsoft.com/office/drawing/2014/main" id="{378FD17F-F01C-C185-3A8E-3E908EDDE102}"/>
              </a:ext>
            </a:extLst>
          </p:cNvPr>
          <p:cNvSpPr/>
          <p:nvPr/>
        </p:nvSpPr>
        <p:spPr>
          <a:xfrm>
            <a:off x="355600" y="1447800"/>
            <a:ext cx="10858500" cy="3327400"/>
          </a:xfrm>
          <a:prstGeom prst="rect">
            <a:avLst/>
          </a:prstGeom>
          <a:solidFill>
            <a:srgbClr val="EEF1F6"/>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92" name="Calibration panel">
            <a:extLst>
              <a:ext uri="{FF2B5EF4-FFF2-40B4-BE49-F238E27FC236}">
                <a16:creationId xmlns:a16="http://schemas.microsoft.com/office/drawing/2014/main" id="{68A3FCD4-1EEA-B7DE-3664-D82BF055D069}"/>
              </a:ext>
            </a:extLst>
          </p:cNvPr>
          <p:cNvSpPr/>
          <p:nvPr/>
        </p:nvSpPr>
        <p:spPr>
          <a:xfrm>
            <a:off x="355600" y="4876800"/>
            <a:ext cx="10858500" cy="1320800"/>
          </a:xfrm>
          <a:prstGeom prst="rect">
            <a:avLst/>
          </a:prstGeom>
          <a:solidFill>
            <a:srgbClr val="EEF1F6"/>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93" name="Source heading">
            <a:extLst>
              <a:ext uri="{FF2B5EF4-FFF2-40B4-BE49-F238E27FC236}">
                <a16:creationId xmlns:a16="http://schemas.microsoft.com/office/drawing/2014/main" id="{8B7A5CD8-6017-3AF3-FF1E-A057184FA49B}"/>
              </a:ext>
            </a:extLst>
          </p:cNvPr>
          <p:cNvSpPr txBox="1"/>
          <p:nvPr/>
        </p:nvSpPr>
        <p:spPr>
          <a:xfrm>
            <a:off x="457200" y="1638300"/>
            <a:ext cx="889000" cy="241300"/>
          </a:xfrm>
          <a:prstGeom prst="rect">
            <a:avLst/>
          </a:prstGeom>
          <a:noFill/>
        </p:spPr>
        <p:txBody>
          <a:bodyPr vert="horz" wrap="square" lIns="0" tIns="0" rIns="0" bIns="0" rtlCol="0">
            <a:noAutofit/>
          </a:bodyPr>
          <a:lstStyle/>
          <a:p>
            <a:pPr>
              <a:spcAft>
                <a:spcPts val="200"/>
              </a:spcAft>
            </a:pPr>
            <a:r>
              <a:rPr lang="en-ZA" sz="1200" b="1">
                <a:solidFill>
                  <a:schemeClr val="accent1"/>
                </a:solidFill>
                <a:latin typeface="Lato" panose="020F0502020204030203" pitchFamily="34" charset="0"/>
              </a:rPr>
              <a:t>Source</a:t>
            </a:r>
          </a:p>
        </p:txBody>
      </p:sp>
      <p:sp>
        <p:nvSpPr>
          <p:cNvPr id="94" name="Sector heading 0">
            <a:extLst>
              <a:ext uri="{FF2B5EF4-FFF2-40B4-BE49-F238E27FC236}">
                <a16:creationId xmlns:a16="http://schemas.microsoft.com/office/drawing/2014/main" id="{5B0A829F-089D-D8C6-DF36-19F2D09EF6BC}"/>
              </a:ext>
            </a:extLst>
          </p:cNvPr>
          <p:cNvSpPr txBox="1"/>
          <p:nvPr/>
        </p:nvSpPr>
        <p:spPr>
          <a:xfrm>
            <a:off x="1536700" y="1638300"/>
            <a:ext cx="1651000" cy="241300"/>
          </a:xfrm>
          <a:prstGeom prst="rect">
            <a:avLst/>
          </a:prstGeom>
          <a:noFill/>
        </p:spPr>
        <p:txBody>
          <a:bodyPr vert="horz" wrap="square" lIns="0" tIns="0" rIns="0" bIns="0" rtlCol="0">
            <a:noAutofit/>
          </a:bodyPr>
          <a:lstStyle/>
          <a:p>
            <a:pPr>
              <a:spcAft>
                <a:spcPts val="200"/>
              </a:spcAft>
            </a:pPr>
            <a:r>
              <a:rPr lang="en-ZA" sz="1100" b="1">
                <a:solidFill>
                  <a:schemeClr val="accent1"/>
                </a:solidFill>
                <a:latin typeface="Lato" panose="020F0502020204030203" pitchFamily="34" charset="0"/>
              </a:rPr>
              <a:t>Road transport</a:t>
            </a:r>
          </a:p>
        </p:txBody>
      </p:sp>
      <p:sp>
        <p:nvSpPr>
          <p:cNvPr id="95" name="Sector heading 1">
            <a:extLst>
              <a:ext uri="{FF2B5EF4-FFF2-40B4-BE49-F238E27FC236}">
                <a16:creationId xmlns:a16="http://schemas.microsoft.com/office/drawing/2014/main" id="{020130D1-FC02-A415-7435-6584971F3E24}"/>
              </a:ext>
            </a:extLst>
          </p:cNvPr>
          <p:cNvSpPr txBox="1"/>
          <p:nvPr/>
        </p:nvSpPr>
        <p:spPr>
          <a:xfrm>
            <a:off x="3505200" y="1638300"/>
            <a:ext cx="1651000" cy="241300"/>
          </a:xfrm>
          <a:prstGeom prst="rect">
            <a:avLst/>
          </a:prstGeom>
          <a:noFill/>
        </p:spPr>
        <p:txBody>
          <a:bodyPr vert="horz" wrap="square" lIns="0" tIns="0" rIns="0" bIns="0" rtlCol="0">
            <a:noAutofit/>
          </a:bodyPr>
          <a:lstStyle/>
          <a:p>
            <a:pPr>
              <a:spcAft>
                <a:spcPts val="200"/>
              </a:spcAft>
            </a:pPr>
            <a:r>
              <a:rPr lang="en-ZA" sz="1100" b="1">
                <a:solidFill>
                  <a:schemeClr val="accent1"/>
                </a:solidFill>
                <a:latin typeface="Lato" panose="020F0502020204030203" pitchFamily="34" charset="0"/>
              </a:rPr>
              <a:t>Mining and industry</a:t>
            </a:r>
          </a:p>
        </p:txBody>
      </p:sp>
      <p:sp>
        <p:nvSpPr>
          <p:cNvPr id="96" name="Sector heading 2">
            <a:extLst>
              <a:ext uri="{FF2B5EF4-FFF2-40B4-BE49-F238E27FC236}">
                <a16:creationId xmlns:a16="http://schemas.microsoft.com/office/drawing/2014/main" id="{8EC0617F-6A89-4EB8-FC9A-8EE4FA7C9B72}"/>
              </a:ext>
            </a:extLst>
          </p:cNvPr>
          <p:cNvSpPr txBox="1"/>
          <p:nvPr/>
        </p:nvSpPr>
        <p:spPr>
          <a:xfrm>
            <a:off x="5473700" y="1638300"/>
            <a:ext cx="1651000" cy="241300"/>
          </a:xfrm>
          <a:prstGeom prst="rect">
            <a:avLst/>
          </a:prstGeom>
          <a:noFill/>
        </p:spPr>
        <p:txBody>
          <a:bodyPr vert="horz" wrap="square" lIns="0" tIns="0" rIns="0" bIns="0" rtlCol="0">
            <a:noAutofit/>
          </a:bodyPr>
          <a:lstStyle/>
          <a:p>
            <a:pPr>
              <a:spcAft>
                <a:spcPts val="200"/>
              </a:spcAft>
            </a:pPr>
            <a:r>
              <a:rPr lang="en-ZA" sz="1100" b="1">
                <a:solidFill>
                  <a:schemeClr val="accent1"/>
                </a:solidFill>
                <a:latin typeface="Lato" panose="020F0502020204030203" pitchFamily="34" charset="0"/>
              </a:rPr>
              <a:t>Agriculture</a:t>
            </a:r>
          </a:p>
        </p:txBody>
      </p:sp>
      <p:sp>
        <p:nvSpPr>
          <p:cNvPr id="97" name="Sector heading 3">
            <a:extLst>
              <a:ext uri="{FF2B5EF4-FFF2-40B4-BE49-F238E27FC236}">
                <a16:creationId xmlns:a16="http://schemas.microsoft.com/office/drawing/2014/main" id="{75B65DF5-65F5-791D-2CE0-4B94A37D2556}"/>
              </a:ext>
            </a:extLst>
          </p:cNvPr>
          <p:cNvSpPr txBox="1"/>
          <p:nvPr/>
        </p:nvSpPr>
        <p:spPr>
          <a:xfrm>
            <a:off x="7442200" y="1638300"/>
            <a:ext cx="1651000" cy="241300"/>
          </a:xfrm>
          <a:prstGeom prst="rect">
            <a:avLst/>
          </a:prstGeom>
          <a:noFill/>
        </p:spPr>
        <p:txBody>
          <a:bodyPr vert="horz" wrap="square" lIns="0" tIns="0" rIns="0" bIns="0" rtlCol="0">
            <a:noAutofit/>
          </a:bodyPr>
          <a:lstStyle/>
          <a:p>
            <a:pPr>
              <a:spcAft>
                <a:spcPts val="200"/>
              </a:spcAft>
            </a:pPr>
            <a:r>
              <a:rPr lang="en-ZA" sz="1100" b="1">
                <a:solidFill>
                  <a:schemeClr val="accent1"/>
                </a:solidFill>
                <a:latin typeface="Lato" panose="020F0502020204030203" pitchFamily="34" charset="0"/>
              </a:rPr>
              <a:t>Power generation</a:t>
            </a:r>
          </a:p>
        </p:txBody>
      </p:sp>
      <p:sp>
        <p:nvSpPr>
          <p:cNvPr id="98" name="Sector heading 4">
            <a:extLst>
              <a:ext uri="{FF2B5EF4-FFF2-40B4-BE49-F238E27FC236}">
                <a16:creationId xmlns:a16="http://schemas.microsoft.com/office/drawing/2014/main" id="{0E4E8AE4-92AE-8F01-C634-28141BABDD62}"/>
              </a:ext>
            </a:extLst>
          </p:cNvPr>
          <p:cNvSpPr txBox="1"/>
          <p:nvPr/>
        </p:nvSpPr>
        <p:spPr>
          <a:xfrm>
            <a:off x="9410700" y="1638300"/>
            <a:ext cx="1651000" cy="241300"/>
          </a:xfrm>
          <a:prstGeom prst="rect">
            <a:avLst/>
          </a:prstGeom>
          <a:noFill/>
        </p:spPr>
        <p:txBody>
          <a:bodyPr vert="horz" wrap="square" lIns="0" tIns="0" rIns="0" bIns="0" rtlCol="0">
            <a:noAutofit/>
          </a:bodyPr>
          <a:lstStyle/>
          <a:p>
            <a:pPr>
              <a:spcAft>
                <a:spcPts val="200"/>
              </a:spcAft>
            </a:pPr>
            <a:r>
              <a:rPr lang="en-ZA" sz="1100" b="1">
                <a:solidFill>
                  <a:schemeClr val="accent1"/>
                </a:solidFill>
                <a:latin typeface="Lato" panose="020F0502020204030203" pitchFamily="34" charset="0"/>
              </a:rPr>
              <a:t>Other and marine</a:t>
            </a:r>
          </a:p>
        </p:txBody>
      </p:sp>
      <p:cxnSp>
        <p:nvCxnSpPr>
          <p:cNvPr id="99" name="Sector heading rule">
            <a:extLst>
              <a:ext uri="{FF2B5EF4-FFF2-40B4-BE49-F238E27FC236}">
                <a16:creationId xmlns:a16="http://schemas.microsoft.com/office/drawing/2014/main" id="{BF5A3C82-34DF-BD94-47C3-F7437AA3A0A2}"/>
              </a:ext>
            </a:extLst>
          </p:cNvPr>
          <p:cNvCxnSpPr/>
          <p:nvPr/>
        </p:nvCxnSpPr>
        <p:spPr>
          <a:xfrm>
            <a:off x="457200" y="1917700"/>
            <a:ext cx="10604500" cy="0"/>
          </a:xfrm>
          <a:prstGeom prst="straightConnector1">
            <a:avLst/>
          </a:prstGeom>
          <a:ln w="8255">
            <a:solidFill>
              <a:schemeClr val="dk1"/>
            </a:solidFill>
          </a:ln>
        </p:spPr>
        <p:style>
          <a:lnRef idx="1">
            <a:schemeClr val="accent1"/>
          </a:lnRef>
          <a:fillRef idx="0">
            <a:schemeClr val="accent1"/>
          </a:fillRef>
          <a:effectRef idx="0">
            <a:schemeClr val="accent1"/>
          </a:effectRef>
          <a:fontRef idx="minor">
            <a:schemeClr val="tx1"/>
          </a:fontRef>
        </p:style>
      </p:cxnSp>
      <p:sp>
        <p:nvSpPr>
          <p:cNvPr id="100" name="Source balance">
            <a:extLst>
              <a:ext uri="{FF2B5EF4-FFF2-40B4-BE49-F238E27FC236}">
                <a16:creationId xmlns:a16="http://schemas.microsoft.com/office/drawing/2014/main" id="{603A1E88-0184-2200-02AD-ECD603662D1B}"/>
              </a:ext>
            </a:extLst>
          </p:cNvPr>
          <p:cNvSpPr txBox="1"/>
          <p:nvPr/>
        </p:nvSpPr>
        <p:spPr>
          <a:xfrm>
            <a:off x="457200" y="2108199"/>
            <a:ext cx="990600" cy="558800"/>
          </a:xfrm>
          <a:prstGeom prst="rect">
            <a:avLst/>
          </a:prstGeom>
          <a:noFill/>
        </p:spPr>
        <p:txBody>
          <a:bodyPr vert="horz" wrap="square" lIns="0" tIns="0" rIns="0" bIns="0" rtlCol="0">
            <a:noAutofit/>
          </a:bodyPr>
          <a:lstStyle/>
          <a:p>
            <a:pPr>
              <a:spcAft>
                <a:spcPts val="200"/>
              </a:spcAft>
            </a:pPr>
            <a:r>
              <a:rPr lang="en-GB" sz="1200" b="1">
                <a:solidFill>
                  <a:schemeClr val="accent1"/>
                </a:solidFill>
                <a:latin typeface="Lato" panose="020F0502020204030203" pitchFamily="34" charset="0"/>
              </a:rPr>
              <a:t>Energy balance</a:t>
            </a:r>
          </a:p>
          <a:p>
            <a:pPr>
              <a:spcAft>
                <a:spcPts val="200"/>
              </a:spcAft>
            </a:pPr>
            <a:r>
              <a:rPr lang="en-GB" sz="900">
                <a:solidFill>
                  <a:schemeClr val="dk1"/>
                </a:solidFill>
                <a:latin typeface="Lato" panose="020F0502020204030203" pitchFamily="34" charset="0"/>
              </a:rPr>
              <a:t>2021, final use</a:t>
            </a:r>
            <a:endParaRPr lang="en-ZA" sz="900">
              <a:solidFill>
                <a:schemeClr val="dk1"/>
              </a:solidFill>
              <a:latin typeface="Lato" panose="020F0502020204030203" pitchFamily="34" charset="0"/>
            </a:endParaRPr>
          </a:p>
        </p:txBody>
      </p:sp>
      <p:sp>
        <p:nvSpPr>
          <p:cNvPr id="101" name="Use balance road">
            <a:extLst>
              <a:ext uri="{FF2B5EF4-FFF2-40B4-BE49-F238E27FC236}">
                <a16:creationId xmlns:a16="http://schemas.microsoft.com/office/drawing/2014/main" id="{744810D2-ED59-DA7B-7683-2303D03AB66A}"/>
              </a:ext>
            </a:extLst>
          </p:cNvPr>
          <p:cNvSpPr/>
          <p:nvPr/>
        </p:nvSpPr>
        <p:spPr>
          <a:xfrm>
            <a:off x="1536700" y="2032000"/>
            <a:ext cx="1651000" cy="787400"/>
          </a:xfrm>
          <a:prstGeom prst="rect">
            <a:avLst/>
          </a:prstGeom>
          <a:solidFill>
            <a:srgbClr val="FFFFFF"/>
          </a:solidFill>
          <a:ln w="9525" cap="flat" cmpd="sng" algn="ctr">
            <a:solidFill>
              <a:schemeClr val="accent1"/>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76200" tIns="50800" rIns="76200" bIns="38100" rtlCol="0" anchor="t"/>
          <a:lstStyle/>
          <a:p>
            <a:pPr>
              <a:spcAft>
                <a:spcPts val="400"/>
              </a:spcAft>
            </a:pPr>
            <a:r>
              <a:rPr lang="en-ZA" sz="1500" b="1">
                <a:solidFill>
                  <a:schemeClr val="accent1"/>
                </a:solidFill>
                <a:latin typeface="Lato" panose="020F0502020204030203" pitchFamily="34" charset="0"/>
              </a:rPr>
              <a:t>15.1B L</a:t>
            </a:r>
          </a:p>
          <a:p>
            <a:pPr>
              <a:spcAft>
                <a:spcPts val="200"/>
              </a:spcAft>
            </a:pPr>
            <a:r>
              <a:rPr lang="en-ZA" sz="1050">
                <a:solidFill>
                  <a:schemeClr val="dk1"/>
                </a:solidFill>
                <a:latin typeface="Lato" panose="020F0502020204030203" pitchFamily="34" charset="0"/>
              </a:rPr>
              <a:t>Petrol and diesel</a:t>
            </a:r>
          </a:p>
        </p:txBody>
      </p:sp>
      <p:sp>
        <p:nvSpPr>
          <p:cNvPr id="102" name="Use balance road tag">
            <a:extLst>
              <a:ext uri="{FF2B5EF4-FFF2-40B4-BE49-F238E27FC236}">
                <a16:creationId xmlns:a16="http://schemas.microsoft.com/office/drawing/2014/main" id="{2B75AB1B-96BC-BA6F-B305-01D85E1EDB1B}"/>
              </a:ext>
            </a:extLst>
          </p:cNvPr>
          <p:cNvSpPr txBox="1"/>
          <p:nvPr/>
        </p:nvSpPr>
        <p:spPr>
          <a:xfrm>
            <a:off x="1612900" y="2628900"/>
            <a:ext cx="1498600" cy="152400"/>
          </a:xfrm>
          <a:prstGeom prst="rect">
            <a:avLst/>
          </a:prstGeom>
          <a:noFill/>
        </p:spPr>
        <p:txBody>
          <a:bodyPr vert="horz" wrap="square" lIns="0" tIns="0" rIns="0" bIns="0" rtlCol="0">
            <a:noAutofit/>
          </a:bodyPr>
          <a:lstStyle/>
          <a:p>
            <a:pPr>
              <a:spcAft>
                <a:spcPts val="200"/>
              </a:spcAft>
            </a:pPr>
            <a:r>
              <a:rPr lang="en-ZA" sz="900" b="1">
                <a:solidFill>
                  <a:schemeClr val="accent1"/>
                </a:solidFill>
                <a:latin typeface="Lato" panose="020F0502020204030203" pitchFamily="34" charset="0"/>
              </a:rPr>
              <a:t>2021 · energy balance</a:t>
            </a:r>
          </a:p>
        </p:txBody>
      </p:sp>
      <p:sp>
        <p:nvSpPr>
          <p:cNvPr id="103" name="Use balance industry">
            <a:extLst>
              <a:ext uri="{FF2B5EF4-FFF2-40B4-BE49-F238E27FC236}">
                <a16:creationId xmlns:a16="http://schemas.microsoft.com/office/drawing/2014/main" id="{7D459624-0ED6-37EA-D29E-77A30C1903A0}"/>
              </a:ext>
            </a:extLst>
          </p:cNvPr>
          <p:cNvSpPr/>
          <p:nvPr/>
        </p:nvSpPr>
        <p:spPr>
          <a:xfrm>
            <a:off x="3505200" y="2032000"/>
            <a:ext cx="1651000" cy="787400"/>
          </a:xfrm>
          <a:prstGeom prst="rect">
            <a:avLst/>
          </a:prstGeom>
          <a:solidFill>
            <a:srgbClr val="FFFFFF"/>
          </a:solidFill>
          <a:ln w="9525" cap="flat" cmpd="sng" algn="ctr">
            <a:solidFill>
              <a:schemeClr val="accent1"/>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76200" tIns="50800" rIns="76200" bIns="38100" rtlCol="0" anchor="t"/>
          <a:lstStyle/>
          <a:p>
            <a:pPr>
              <a:spcAft>
                <a:spcPts val="400"/>
              </a:spcAft>
            </a:pPr>
            <a:r>
              <a:rPr lang="en-GB" sz="1500" b="1">
                <a:solidFill>
                  <a:schemeClr val="accent1"/>
                </a:solidFill>
                <a:latin typeface="Lato" panose="020F0502020204030203" pitchFamily="34" charset="0"/>
              </a:rPr>
              <a:t>1.6B L</a:t>
            </a:r>
          </a:p>
          <a:p>
            <a:pPr>
              <a:spcAft>
                <a:spcPts val="200"/>
              </a:spcAft>
            </a:pPr>
            <a:r>
              <a:rPr lang="en-GB" sz="1050">
                <a:solidFill>
                  <a:schemeClr val="dk1"/>
                </a:solidFill>
                <a:latin typeface="Lato" panose="020F0502020204030203" pitchFamily="34" charset="0"/>
              </a:rPr>
              <a:t>Incl. mining 1.3</a:t>
            </a:r>
            <a:endParaRPr lang="en-ZA" sz="1050">
              <a:solidFill>
                <a:schemeClr val="dk1"/>
              </a:solidFill>
              <a:latin typeface="Lato" panose="020F0502020204030203" pitchFamily="34" charset="0"/>
            </a:endParaRPr>
          </a:p>
        </p:txBody>
      </p:sp>
      <p:sp>
        <p:nvSpPr>
          <p:cNvPr id="104" name="Use balance industry tag">
            <a:extLst>
              <a:ext uri="{FF2B5EF4-FFF2-40B4-BE49-F238E27FC236}">
                <a16:creationId xmlns:a16="http://schemas.microsoft.com/office/drawing/2014/main" id="{3F79E597-1C3B-CBFD-1AFD-93B0AAEC8EAF}"/>
              </a:ext>
            </a:extLst>
          </p:cNvPr>
          <p:cNvSpPr txBox="1"/>
          <p:nvPr/>
        </p:nvSpPr>
        <p:spPr>
          <a:xfrm>
            <a:off x="3581400" y="2628900"/>
            <a:ext cx="1498600" cy="152400"/>
          </a:xfrm>
          <a:prstGeom prst="rect">
            <a:avLst/>
          </a:prstGeom>
          <a:noFill/>
        </p:spPr>
        <p:txBody>
          <a:bodyPr vert="horz" wrap="square" lIns="0" tIns="0" rIns="0" bIns="0" rtlCol="0">
            <a:noAutofit/>
          </a:bodyPr>
          <a:lstStyle/>
          <a:p>
            <a:pPr>
              <a:spcAft>
                <a:spcPts val="200"/>
              </a:spcAft>
            </a:pPr>
            <a:r>
              <a:rPr lang="en-ZA" sz="900" b="1">
                <a:solidFill>
                  <a:schemeClr val="accent1"/>
                </a:solidFill>
                <a:latin typeface="Lato" panose="020F0502020204030203" pitchFamily="34" charset="0"/>
              </a:rPr>
              <a:t>2021 · energy balance</a:t>
            </a:r>
          </a:p>
        </p:txBody>
      </p:sp>
      <p:sp>
        <p:nvSpPr>
          <p:cNvPr id="105" name="Use balance agriculture">
            <a:extLst>
              <a:ext uri="{FF2B5EF4-FFF2-40B4-BE49-F238E27FC236}">
                <a16:creationId xmlns:a16="http://schemas.microsoft.com/office/drawing/2014/main" id="{DC5A80F8-633E-BE0F-F820-A077B72C0751}"/>
              </a:ext>
            </a:extLst>
          </p:cNvPr>
          <p:cNvSpPr/>
          <p:nvPr/>
        </p:nvSpPr>
        <p:spPr>
          <a:xfrm>
            <a:off x="5473700" y="2032000"/>
            <a:ext cx="1651000" cy="787400"/>
          </a:xfrm>
          <a:prstGeom prst="rect">
            <a:avLst/>
          </a:prstGeom>
          <a:solidFill>
            <a:srgbClr val="FFFFFF"/>
          </a:solidFill>
          <a:ln w="9525" cap="flat" cmpd="sng" algn="ctr">
            <a:solidFill>
              <a:schemeClr val="accent1"/>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76200" tIns="50800" rIns="76200" bIns="38100" rtlCol="0" anchor="t"/>
          <a:lstStyle/>
          <a:p>
            <a:pPr>
              <a:spcAft>
                <a:spcPts val="400"/>
              </a:spcAft>
            </a:pPr>
            <a:r>
              <a:rPr lang="en-ZA" sz="1500" b="1">
                <a:solidFill>
                  <a:schemeClr val="accent1"/>
                </a:solidFill>
                <a:latin typeface="Lato" panose="020F0502020204030203" pitchFamily="34" charset="0"/>
              </a:rPr>
              <a:t>1.2B L</a:t>
            </a:r>
          </a:p>
          <a:p>
            <a:pPr>
              <a:spcAft>
                <a:spcPts val="200"/>
              </a:spcAft>
            </a:pPr>
            <a:r>
              <a:rPr lang="en-ZA" sz="1050">
                <a:solidFill>
                  <a:schemeClr val="dk1"/>
                </a:solidFill>
                <a:latin typeface="Lato" panose="020F0502020204030203" pitchFamily="34" charset="0"/>
              </a:rPr>
              <a:t>Petrol and diesel</a:t>
            </a:r>
          </a:p>
        </p:txBody>
      </p:sp>
      <p:sp>
        <p:nvSpPr>
          <p:cNvPr id="106" name="Use balance agriculture tag">
            <a:extLst>
              <a:ext uri="{FF2B5EF4-FFF2-40B4-BE49-F238E27FC236}">
                <a16:creationId xmlns:a16="http://schemas.microsoft.com/office/drawing/2014/main" id="{EE6AD2B0-5790-2249-7953-C3B9A4E9C57B}"/>
              </a:ext>
            </a:extLst>
          </p:cNvPr>
          <p:cNvSpPr txBox="1"/>
          <p:nvPr/>
        </p:nvSpPr>
        <p:spPr>
          <a:xfrm>
            <a:off x="5549900" y="2628900"/>
            <a:ext cx="1498600" cy="152400"/>
          </a:xfrm>
          <a:prstGeom prst="rect">
            <a:avLst/>
          </a:prstGeom>
          <a:noFill/>
        </p:spPr>
        <p:txBody>
          <a:bodyPr vert="horz" wrap="square" lIns="0" tIns="0" rIns="0" bIns="0" rtlCol="0">
            <a:noAutofit/>
          </a:bodyPr>
          <a:lstStyle/>
          <a:p>
            <a:pPr>
              <a:spcAft>
                <a:spcPts val="200"/>
              </a:spcAft>
            </a:pPr>
            <a:r>
              <a:rPr lang="en-ZA" sz="900" b="1">
                <a:solidFill>
                  <a:schemeClr val="accent1"/>
                </a:solidFill>
                <a:latin typeface="Lato" panose="020F0502020204030203" pitchFamily="34" charset="0"/>
              </a:rPr>
              <a:t>2021 · energy balance</a:t>
            </a:r>
          </a:p>
        </p:txBody>
      </p:sp>
      <p:sp>
        <p:nvSpPr>
          <p:cNvPr id="107" name="Use balance power">
            <a:extLst>
              <a:ext uri="{FF2B5EF4-FFF2-40B4-BE49-F238E27FC236}">
                <a16:creationId xmlns:a16="http://schemas.microsoft.com/office/drawing/2014/main" id="{CA59DCB4-2538-C76D-781D-0B12386B3759}"/>
              </a:ext>
            </a:extLst>
          </p:cNvPr>
          <p:cNvSpPr/>
          <p:nvPr/>
        </p:nvSpPr>
        <p:spPr>
          <a:xfrm>
            <a:off x="7442200" y="2032000"/>
            <a:ext cx="1651000" cy="787400"/>
          </a:xfrm>
          <a:prstGeom prst="rect">
            <a:avLst/>
          </a:prstGeom>
          <a:solidFill>
            <a:srgbClr val="FFFFFF"/>
          </a:solidFill>
          <a:ln w="9525" cap="flat" cmpd="sng" algn="ctr">
            <a:solidFill>
              <a:schemeClr val="accent1"/>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76200" tIns="50800" rIns="76200" bIns="38100" rtlCol="0" anchor="t"/>
          <a:lstStyle/>
          <a:p>
            <a:pPr>
              <a:spcAft>
                <a:spcPts val="400"/>
              </a:spcAft>
            </a:pPr>
            <a:r>
              <a:rPr lang="en-GB" sz="1100" b="1">
                <a:solidFill>
                  <a:srgbClr val="808080"/>
                </a:solidFill>
                <a:latin typeface="Lato" panose="020F0502020204030203" pitchFamily="34" charset="0"/>
              </a:rPr>
              <a:t>Not in final use</a:t>
            </a:r>
          </a:p>
          <a:p>
            <a:pPr>
              <a:spcAft>
                <a:spcPts val="200"/>
              </a:spcAft>
            </a:pPr>
            <a:r>
              <a:rPr lang="en-GB" sz="1050">
                <a:solidFill>
                  <a:schemeClr val="dk1"/>
                </a:solidFill>
                <a:latin typeface="Lato" panose="020F0502020204030203" pitchFamily="34" charset="0"/>
              </a:rPr>
              <a:t>Transformation input</a:t>
            </a:r>
            <a:endParaRPr lang="en-ZA" sz="1050">
              <a:solidFill>
                <a:schemeClr val="dk1"/>
              </a:solidFill>
              <a:latin typeface="Lato" panose="020F0502020204030203" pitchFamily="34" charset="0"/>
            </a:endParaRPr>
          </a:p>
        </p:txBody>
      </p:sp>
      <p:sp>
        <p:nvSpPr>
          <p:cNvPr id="108" name="Use balance power tag">
            <a:extLst>
              <a:ext uri="{FF2B5EF4-FFF2-40B4-BE49-F238E27FC236}">
                <a16:creationId xmlns:a16="http://schemas.microsoft.com/office/drawing/2014/main" id="{A0644309-066F-E347-21AF-8BA970612A84}"/>
              </a:ext>
            </a:extLst>
          </p:cNvPr>
          <p:cNvSpPr txBox="1"/>
          <p:nvPr/>
        </p:nvSpPr>
        <p:spPr>
          <a:xfrm>
            <a:off x="7518400" y="2628900"/>
            <a:ext cx="1498600" cy="152400"/>
          </a:xfrm>
          <a:prstGeom prst="rect">
            <a:avLst/>
          </a:prstGeom>
          <a:noFill/>
        </p:spPr>
        <p:txBody>
          <a:bodyPr vert="horz" wrap="square" lIns="0" tIns="0" rIns="0" bIns="0" rtlCol="0">
            <a:noAutofit/>
          </a:bodyPr>
          <a:lstStyle/>
          <a:p>
            <a:pPr>
              <a:spcAft>
                <a:spcPts val="200"/>
              </a:spcAft>
            </a:pPr>
            <a:r>
              <a:rPr lang="en-ZA" sz="900">
                <a:solidFill>
                  <a:srgbClr val="808080"/>
                </a:solidFill>
                <a:latin typeface="Lato" panose="020F0502020204030203" pitchFamily="34" charset="0"/>
              </a:rPr>
              <a:t>Pending · none published</a:t>
            </a:r>
          </a:p>
        </p:txBody>
      </p:sp>
      <p:sp>
        <p:nvSpPr>
          <p:cNvPr id="109" name="Use balance other">
            <a:extLst>
              <a:ext uri="{FF2B5EF4-FFF2-40B4-BE49-F238E27FC236}">
                <a16:creationId xmlns:a16="http://schemas.microsoft.com/office/drawing/2014/main" id="{85422A57-E6FD-8AAC-0A96-EE8748128F6C}"/>
              </a:ext>
            </a:extLst>
          </p:cNvPr>
          <p:cNvSpPr/>
          <p:nvPr/>
        </p:nvSpPr>
        <p:spPr>
          <a:xfrm>
            <a:off x="9410700" y="2032000"/>
            <a:ext cx="1651000" cy="787400"/>
          </a:xfrm>
          <a:prstGeom prst="rect">
            <a:avLst/>
          </a:prstGeom>
          <a:solidFill>
            <a:srgbClr val="FFFFFF"/>
          </a:solidFill>
          <a:ln w="9525" cap="flat" cmpd="sng" algn="ctr">
            <a:solidFill>
              <a:schemeClr val="accent1"/>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76200" tIns="50800" rIns="76200" bIns="38100" rtlCol="0" anchor="t"/>
          <a:lstStyle/>
          <a:p>
            <a:pPr>
              <a:spcAft>
                <a:spcPts val="400"/>
              </a:spcAft>
            </a:pPr>
            <a:r>
              <a:rPr lang="en-ZA" sz="1500" b="1">
                <a:solidFill>
                  <a:schemeClr val="accent1"/>
                </a:solidFill>
                <a:latin typeface="Lato" panose="020F0502020204030203" pitchFamily="34" charset="0"/>
              </a:rPr>
              <a:t>5.3B L</a:t>
            </a:r>
          </a:p>
          <a:p>
            <a:pPr>
              <a:spcAft>
                <a:spcPts val="200"/>
              </a:spcAft>
            </a:pPr>
            <a:r>
              <a:rPr lang="en-ZA" sz="1050">
                <a:solidFill>
                  <a:schemeClr val="dk1"/>
                </a:solidFill>
                <a:latin typeface="Lato" panose="020F0502020204030203" pitchFamily="34" charset="0"/>
              </a:rPr>
              <a:t>Petrol and diesel</a:t>
            </a:r>
          </a:p>
        </p:txBody>
      </p:sp>
      <p:sp>
        <p:nvSpPr>
          <p:cNvPr id="110" name="Use balance other tag">
            <a:extLst>
              <a:ext uri="{FF2B5EF4-FFF2-40B4-BE49-F238E27FC236}">
                <a16:creationId xmlns:a16="http://schemas.microsoft.com/office/drawing/2014/main" id="{0F1E4E01-F644-5B52-665A-A73153356B6C}"/>
              </a:ext>
            </a:extLst>
          </p:cNvPr>
          <p:cNvSpPr txBox="1"/>
          <p:nvPr/>
        </p:nvSpPr>
        <p:spPr>
          <a:xfrm>
            <a:off x="9486900" y="2628900"/>
            <a:ext cx="1498600" cy="152400"/>
          </a:xfrm>
          <a:prstGeom prst="rect">
            <a:avLst/>
          </a:prstGeom>
          <a:noFill/>
        </p:spPr>
        <p:txBody>
          <a:bodyPr vert="horz" wrap="square" lIns="0" tIns="0" rIns="0" bIns="0" rtlCol="0">
            <a:noAutofit/>
          </a:bodyPr>
          <a:lstStyle/>
          <a:p>
            <a:pPr>
              <a:spcAft>
                <a:spcPts val="200"/>
              </a:spcAft>
            </a:pPr>
            <a:r>
              <a:rPr lang="en-ZA" sz="900" b="1">
                <a:solidFill>
                  <a:schemeClr val="accent1"/>
                </a:solidFill>
                <a:latin typeface="Lato" panose="020F0502020204030203" pitchFamily="34" charset="0"/>
              </a:rPr>
              <a:t>2021 · energy balance</a:t>
            </a:r>
          </a:p>
        </p:txBody>
      </p:sp>
      <p:sp>
        <p:nvSpPr>
          <p:cNvPr id="111" name="Source model">
            <a:extLst>
              <a:ext uri="{FF2B5EF4-FFF2-40B4-BE49-F238E27FC236}">
                <a16:creationId xmlns:a16="http://schemas.microsoft.com/office/drawing/2014/main" id="{A564E64D-BBDA-50EF-E0E0-7055DBD60C0C}"/>
              </a:ext>
            </a:extLst>
          </p:cNvPr>
          <p:cNvSpPr txBox="1"/>
          <p:nvPr/>
        </p:nvSpPr>
        <p:spPr>
          <a:xfrm>
            <a:off x="457200" y="3022599"/>
            <a:ext cx="990600" cy="558800"/>
          </a:xfrm>
          <a:prstGeom prst="rect">
            <a:avLst/>
          </a:prstGeom>
          <a:noFill/>
        </p:spPr>
        <p:txBody>
          <a:bodyPr vert="horz" wrap="square" lIns="0" tIns="0" rIns="0" bIns="0" rtlCol="0">
            <a:noAutofit/>
          </a:bodyPr>
          <a:lstStyle/>
          <a:p>
            <a:pPr>
              <a:spcAft>
                <a:spcPts val="200"/>
              </a:spcAft>
            </a:pPr>
            <a:r>
              <a:rPr lang="en-GB" sz="1200" b="1">
                <a:solidFill>
                  <a:schemeClr val="accent1"/>
                </a:solidFill>
                <a:latin typeface="Lato" panose="020F0502020204030203" pitchFamily="34" charset="0"/>
              </a:rPr>
              <a:t>Model baseline</a:t>
            </a:r>
          </a:p>
          <a:p>
            <a:pPr>
              <a:spcAft>
                <a:spcPts val="200"/>
              </a:spcAft>
            </a:pPr>
            <a:r>
              <a:rPr lang="en-GB" sz="900">
                <a:solidFill>
                  <a:schemeClr val="dk1"/>
                </a:solidFill>
                <a:latin typeface="Lato" panose="020F0502020204030203" pitchFamily="34" charset="0"/>
              </a:rPr>
              <a:t>2024, high demand</a:t>
            </a:r>
            <a:endParaRPr lang="en-ZA" sz="900">
              <a:solidFill>
                <a:schemeClr val="dk1"/>
              </a:solidFill>
              <a:latin typeface="Lato" panose="020F0502020204030203" pitchFamily="34" charset="0"/>
            </a:endParaRPr>
          </a:p>
        </p:txBody>
      </p:sp>
      <p:sp>
        <p:nvSpPr>
          <p:cNvPr id="112" name="Use model road">
            <a:extLst>
              <a:ext uri="{FF2B5EF4-FFF2-40B4-BE49-F238E27FC236}">
                <a16:creationId xmlns:a16="http://schemas.microsoft.com/office/drawing/2014/main" id="{1C538D79-A093-E1CB-6BEF-2BA838CD9187}"/>
              </a:ext>
            </a:extLst>
          </p:cNvPr>
          <p:cNvSpPr/>
          <p:nvPr/>
        </p:nvSpPr>
        <p:spPr>
          <a:xfrm>
            <a:off x="1536700" y="2946400"/>
            <a:ext cx="1651000" cy="787400"/>
          </a:xfrm>
          <a:prstGeom prst="rect">
            <a:avLst/>
          </a:prstGeom>
          <a:solidFill>
            <a:srgbClr val="FFFFFF"/>
          </a:solidFill>
          <a:ln w="9525" cap="flat" cmpd="sng" algn="ctr">
            <a:solidFill>
              <a:schemeClr val="accent1"/>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76200" tIns="50800" rIns="76200" bIns="38100" rtlCol="0" anchor="t"/>
          <a:lstStyle/>
          <a:p>
            <a:pPr>
              <a:spcAft>
                <a:spcPts val="400"/>
              </a:spcAft>
            </a:pPr>
            <a:r>
              <a:rPr lang="en-ZA" sz="1500" b="1">
                <a:solidFill>
                  <a:schemeClr val="accent1"/>
                </a:solidFill>
                <a:latin typeface="Lato" panose="020F0502020204030203" pitchFamily="34" charset="0"/>
              </a:rPr>
              <a:t>16.4B L</a:t>
            </a:r>
          </a:p>
          <a:p>
            <a:pPr>
              <a:spcAft>
                <a:spcPts val="200"/>
              </a:spcAft>
            </a:pPr>
            <a:r>
              <a:rPr lang="en-ZA" sz="1050">
                <a:solidFill>
                  <a:schemeClr val="dk1"/>
                </a:solidFill>
                <a:latin typeface="Lato" panose="020F0502020204030203" pitchFamily="34" charset="0"/>
              </a:rPr>
              <a:t>Petrol and diesel</a:t>
            </a:r>
          </a:p>
        </p:txBody>
      </p:sp>
      <p:sp>
        <p:nvSpPr>
          <p:cNvPr id="113" name="Use model road tag">
            <a:extLst>
              <a:ext uri="{FF2B5EF4-FFF2-40B4-BE49-F238E27FC236}">
                <a16:creationId xmlns:a16="http://schemas.microsoft.com/office/drawing/2014/main" id="{193A4620-BD31-E33A-DF45-6A8768A58603}"/>
              </a:ext>
            </a:extLst>
          </p:cNvPr>
          <p:cNvSpPr txBox="1"/>
          <p:nvPr/>
        </p:nvSpPr>
        <p:spPr>
          <a:xfrm>
            <a:off x="1612900" y="3543300"/>
            <a:ext cx="1498600" cy="152400"/>
          </a:xfrm>
          <a:prstGeom prst="rect">
            <a:avLst/>
          </a:prstGeom>
          <a:noFill/>
        </p:spPr>
        <p:txBody>
          <a:bodyPr vert="horz" wrap="square" lIns="0" tIns="0" rIns="0" bIns="0" rtlCol="0">
            <a:noAutofit/>
          </a:bodyPr>
          <a:lstStyle/>
          <a:p>
            <a:pPr>
              <a:spcAft>
                <a:spcPts val="200"/>
              </a:spcAft>
            </a:pPr>
            <a:r>
              <a:rPr lang="en-ZA" sz="900" b="1">
                <a:solidFill>
                  <a:schemeClr val="accent1"/>
                </a:solidFill>
                <a:latin typeface="Lato" panose="020F0502020204030203" pitchFamily="34" charset="0"/>
              </a:rPr>
              <a:t>2024 · model, sourced</a:t>
            </a:r>
          </a:p>
        </p:txBody>
      </p:sp>
      <p:sp>
        <p:nvSpPr>
          <p:cNvPr id="114" name="Use model industry">
            <a:extLst>
              <a:ext uri="{FF2B5EF4-FFF2-40B4-BE49-F238E27FC236}">
                <a16:creationId xmlns:a16="http://schemas.microsoft.com/office/drawing/2014/main" id="{53BCEC62-0E42-76E7-C335-19070FE162D3}"/>
              </a:ext>
            </a:extLst>
          </p:cNvPr>
          <p:cNvSpPr/>
          <p:nvPr/>
        </p:nvSpPr>
        <p:spPr>
          <a:xfrm>
            <a:off x="3505200" y="2946400"/>
            <a:ext cx="1651000" cy="787400"/>
          </a:xfrm>
          <a:prstGeom prst="rect">
            <a:avLst/>
          </a:prstGeom>
          <a:solidFill>
            <a:srgbClr val="FFFFFF"/>
          </a:solidFill>
          <a:ln w="9525" cap="flat" cmpd="sng" algn="ctr">
            <a:solidFill>
              <a:schemeClr val="accent1"/>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76200" tIns="50800" rIns="76200" bIns="38100" rtlCol="0" anchor="t"/>
          <a:lstStyle/>
          <a:p>
            <a:pPr>
              <a:spcAft>
                <a:spcPts val="400"/>
              </a:spcAft>
            </a:pPr>
            <a:r>
              <a:rPr lang="en-ZA" sz="1500" b="1">
                <a:solidFill>
                  <a:schemeClr val="accent1"/>
                </a:solidFill>
                <a:latin typeface="Lato" panose="020F0502020204030203" pitchFamily="34" charset="0"/>
              </a:rPr>
              <a:t>1.5B L</a:t>
            </a:r>
          </a:p>
          <a:p>
            <a:pPr>
              <a:spcAft>
                <a:spcPts val="200"/>
              </a:spcAft>
            </a:pPr>
            <a:r>
              <a:rPr lang="en-ZA" sz="1050">
                <a:solidFill>
                  <a:schemeClr val="dk1"/>
                </a:solidFill>
                <a:latin typeface="Lato" panose="020F0502020204030203" pitchFamily="34" charset="0"/>
              </a:rPr>
              <a:t>Diesel</a:t>
            </a:r>
          </a:p>
        </p:txBody>
      </p:sp>
      <p:sp>
        <p:nvSpPr>
          <p:cNvPr id="115" name="Use model industry tag">
            <a:extLst>
              <a:ext uri="{FF2B5EF4-FFF2-40B4-BE49-F238E27FC236}">
                <a16:creationId xmlns:a16="http://schemas.microsoft.com/office/drawing/2014/main" id="{FF595208-11F4-A12A-0702-5A9DBDF15E42}"/>
              </a:ext>
            </a:extLst>
          </p:cNvPr>
          <p:cNvSpPr txBox="1"/>
          <p:nvPr/>
        </p:nvSpPr>
        <p:spPr>
          <a:xfrm>
            <a:off x="3581400" y="3543300"/>
            <a:ext cx="1498600" cy="152400"/>
          </a:xfrm>
          <a:prstGeom prst="rect">
            <a:avLst/>
          </a:prstGeom>
          <a:noFill/>
        </p:spPr>
        <p:txBody>
          <a:bodyPr vert="horz" wrap="square" lIns="0" tIns="0" rIns="0" bIns="0" rtlCol="0">
            <a:noAutofit/>
          </a:bodyPr>
          <a:lstStyle/>
          <a:p>
            <a:pPr>
              <a:spcAft>
                <a:spcPts val="200"/>
              </a:spcAft>
            </a:pPr>
            <a:r>
              <a:rPr lang="en-ZA" sz="900" b="1">
                <a:solidFill>
                  <a:schemeClr val="accent1"/>
                </a:solidFill>
                <a:latin typeface="Lato" panose="020F0502020204030203" pitchFamily="34" charset="0"/>
              </a:rPr>
              <a:t>2024 · model, sourced</a:t>
            </a:r>
          </a:p>
        </p:txBody>
      </p:sp>
      <p:sp>
        <p:nvSpPr>
          <p:cNvPr id="116" name="Use model agriculture">
            <a:extLst>
              <a:ext uri="{FF2B5EF4-FFF2-40B4-BE49-F238E27FC236}">
                <a16:creationId xmlns:a16="http://schemas.microsoft.com/office/drawing/2014/main" id="{0BDDF6B4-1BC7-FF1A-FE8E-46A7DC16A411}"/>
              </a:ext>
            </a:extLst>
          </p:cNvPr>
          <p:cNvSpPr/>
          <p:nvPr/>
        </p:nvSpPr>
        <p:spPr>
          <a:xfrm>
            <a:off x="5473700" y="2946400"/>
            <a:ext cx="1651000" cy="787400"/>
          </a:xfrm>
          <a:prstGeom prst="rect">
            <a:avLst/>
          </a:prstGeom>
          <a:solidFill>
            <a:srgbClr val="FFFFFF"/>
          </a:solidFill>
          <a:ln w="9525" cap="flat" cmpd="sng" algn="ctr">
            <a:solidFill>
              <a:schemeClr val="accent1"/>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76200" tIns="50800" rIns="76200" bIns="38100" rtlCol="0" anchor="t"/>
          <a:lstStyle/>
          <a:p>
            <a:pPr>
              <a:spcAft>
                <a:spcPts val="400"/>
              </a:spcAft>
            </a:pPr>
            <a:r>
              <a:rPr lang="en-ZA" sz="1500" b="1">
                <a:solidFill>
                  <a:schemeClr val="accent1"/>
                </a:solidFill>
                <a:latin typeface="Lato" panose="020F0502020204030203" pitchFamily="34" charset="0"/>
              </a:rPr>
              <a:t>1.1B L</a:t>
            </a:r>
          </a:p>
          <a:p>
            <a:pPr>
              <a:spcAft>
                <a:spcPts val="200"/>
              </a:spcAft>
            </a:pPr>
            <a:r>
              <a:rPr lang="en-ZA" sz="1050">
                <a:solidFill>
                  <a:schemeClr val="dk1"/>
                </a:solidFill>
                <a:latin typeface="Lato" panose="020F0502020204030203" pitchFamily="34" charset="0"/>
              </a:rPr>
              <a:t>Diesel</a:t>
            </a:r>
          </a:p>
        </p:txBody>
      </p:sp>
      <p:sp>
        <p:nvSpPr>
          <p:cNvPr id="117" name="Use model agriculture tag">
            <a:extLst>
              <a:ext uri="{FF2B5EF4-FFF2-40B4-BE49-F238E27FC236}">
                <a16:creationId xmlns:a16="http://schemas.microsoft.com/office/drawing/2014/main" id="{3A371944-579C-3B8A-0B79-F8937B429A77}"/>
              </a:ext>
            </a:extLst>
          </p:cNvPr>
          <p:cNvSpPr txBox="1"/>
          <p:nvPr/>
        </p:nvSpPr>
        <p:spPr>
          <a:xfrm>
            <a:off x="5549900" y="3543300"/>
            <a:ext cx="1498600" cy="152400"/>
          </a:xfrm>
          <a:prstGeom prst="rect">
            <a:avLst/>
          </a:prstGeom>
          <a:noFill/>
        </p:spPr>
        <p:txBody>
          <a:bodyPr vert="horz" wrap="square" lIns="0" tIns="0" rIns="0" bIns="0" rtlCol="0">
            <a:noAutofit/>
          </a:bodyPr>
          <a:lstStyle/>
          <a:p>
            <a:pPr>
              <a:spcAft>
                <a:spcPts val="200"/>
              </a:spcAft>
            </a:pPr>
            <a:r>
              <a:rPr lang="en-ZA" sz="900" b="1">
                <a:solidFill>
                  <a:schemeClr val="accent1"/>
                </a:solidFill>
                <a:latin typeface="Lato" panose="020F0502020204030203" pitchFamily="34" charset="0"/>
              </a:rPr>
              <a:t>2024 · model, sourced</a:t>
            </a:r>
          </a:p>
        </p:txBody>
      </p:sp>
      <p:sp>
        <p:nvSpPr>
          <p:cNvPr id="118" name="Use model power">
            <a:extLst>
              <a:ext uri="{FF2B5EF4-FFF2-40B4-BE49-F238E27FC236}">
                <a16:creationId xmlns:a16="http://schemas.microsoft.com/office/drawing/2014/main" id="{3014326A-345A-08A3-B15D-06BFB65A9AC4}"/>
              </a:ext>
            </a:extLst>
          </p:cNvPr>
          <p:cNvSpPr/>
          <p:nvPr/>
        </p:nvSpPr>
        <p:spPr>
          <a:xfrm>
            <a:off x="7442200" y="2946400"/>
            <a:ext cx="1651000" cy="787400"/>
          </a:xfrm>
          <a:prstGeom prst="rect">
            <a:avLst/>
          </a:prstGeom>
          <a:solidFill>
            <a:srgbClr val="FFFFFF"/>
          </a:solidFill>
          <a:ln w="9525" cap="flat" cmpd="sng" algn="ctr">
            <a:solidFill>
              <a:schemeClr val="accent1"/>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76200" tIns="50800" rIns="76200" bIns="38100" rtlCol="0" anchor="t"/>
          <a:lstStyle/>
          <a:p>
            <a:pPr>
              <a:spcAft>
                <a:spcPts val="400"/>
              </a:spcAft>
            </a:pPr>
            <a:r>
              <a:rPr lang="en-ZA" sz="1500" b="1">
                <a:solidFill>
                  <a:schemeClr val="accent1"/>
                </a:solidFill>
                <a:latin typeface="Lato" panose="020F0502020204030203" pitchFamily="34" charset="0"/>
              </a:rPr>
              <a:t>3.6B L</a:t>
            </a:r>
          </a:p>
          <a:p>
            <a:pPr>
              <a:spcAft>
                <a:spcPts val="200"/>
              </a:spcAft>
            </a:pPr>
            <a:r>
              <a:rPr lang="en-ZA" sz="1050">
                <a:solidFill>
                  <a:schemeClr val="dk1"/>
                </a:solidFill>
                <a:latin typeface="Lato" panose="020F0502020204030203" pitchFamily="34" charset="0"/>
              </a:rPr>
              <a:t>Diesel</a:t>
            </a:r>
          </a:p>
        </p:txBody>
      </p:sp>
      <p:sp>
        <p:nvSpPr>
          <p:cNvPr id="119" name="Use model power tag">
            <a:extLst>
              <a:ext uri="{FF2B5EF4-FFF2-40B4-BE49-F238E27FC236}">
                <a16:creationId xmlns:a16="http://schemas.microsoft.com/office/drawing/2014/main" id="{FED37BFF-E6FB-8D41-8792-CA0F8E947ED4}"/>
              </a:ext>
            </a:extLst>
          </p:cNvPr>
          <p:cNvSpPr txBox="1"/>
          <p:nvPr/>
        </p:nvSpPr>
        <p:spPr>
          <a:xfrm>
            <a:off x="7518400" y="3543300"/>
            <a:ext cx="1498600" cy="152400"/>
          </a:xfrm>
          <a:prstGeom prst="rect">
            <a:avLst/>
          </a:prstGeom>
          <a:noFill/>
        </p:spPr>
        <p:txBody>
          <a:bodyPr vert="horz" wrap="square" lIns="0" tIns="0" rIns="0" bIns="0" rtlCol="0">
            <a:noAutofit/>
          </a:bodyPr>
          <a:lstStyle/>
          <a:p>
            <a:pPr>
              <a:spcAft>
                <a:spcPts val="200"/>
              </a:spcAft>
            </a:pPr>
            <a:r>
              <a:rPr lang="en-ZA" sz="900" b="1">
                <a:solidFill>
                  <a:schemeClr val="accent1"/>
                </a:solidFill>
                <a:latin typeface="Lato" panose="020F0502020204030203" pitchFamily="34" charset="0"/>
              </a:rPr>
              <a:t>2024 · model, sourced</a:t>
            </a:r>
          </a:p>
        </p:txBody>
      </p:sp>
      <p:sp>
        <p:nvSpPr>
          <p:cNvPr id="120" name="Use model other">
            <a:extLst>
              <a:ext uri="{FF2B5EF4-FFF2-40B4-BE49-F238E27FC236}">
                <a16:creationId xmlns:a16="http://schemas.microsoft.com/office/drawing/2014/main" id="{70179AD9-5005-C7F1-743E-CDD80ABEBADA}"/>
              </a:ext>
            </a:extLst>
          </p:cNvPr>
          <p:cNvSpPr/>
          <p:nvPr/>
        </p:nvSpPr>
        <p:spPr>
          <a:xfrm>
            <a:off x="9410700" y="2946400"/>
            <a:ext cx="1651000" cy="787400"/>
          </a:xfrm>
          <a:prstGeom prst="rect">
            <a:avLst/>
          </a:prstGeom>
          <a:solidFill>
            <a:srgbClr val="FFFFFF"/>
          </a:solidFill>
          <a:ln w="9525" cap="flat" cmpd="sng" algn="ctr">
            <a:solidFill>
              <a:schemeClr val="accent1"/>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76200" tIns="50800" rIns="76200" bIns="38100" rtlCol="0" anchor="t"/>
          <a:lstStyle/>
          <a:p>
            <a:pPr>
              <a:spcAft>
                <a:spcPts val="400"/>
              </a:spcAft>
            </a:pPr>
            <a:r>
              <a:rPr lang="en-GB" sz="1500" b="1">
                <a:solidFill>
                  <a:schemeClr val="accent1"/>
                </a:solidFill>
                <a:latin typeface="Lato" panose="020F0502020204030203" pitchFamily="34" charset="0"/>
              </a:rPr>
              <a:t>0.8B L</a:t>
            </a:r>
          </a:p>
          <a:p>
            <a:pPr>
              <a:spcAft>
                <a:spcPts val="200"/>
              </a:spcAft>
            </a:pPr>
            <a:r>
              <a:rPr lang="en-GB" sz="1050">
                <a:solidFill>
                  <a:schemeClr val="dk1"/>
                </a:solidFill>
                <a:latin typeface="Lato" panose="020F0502020204030203" pitchFamily="34" charset="0"/>
              </a:rPr>
              <a:t>Marine diesel only</a:t>
            </a:r>
            <a:endParaRPr lang="en-ZA" sz="1050">
              <a:solidFill>
                <a:schemeClr val="dk1"/>
              </a:solidFill>
              <a:latin typeface="Lato" panose="020F0502020204030203" pitchFamily="34" charset="0"/>
            </a:endParaRPr>
          </a:p>
        </p:txBody>
      </p:sp>
      <p:sp>
        <p:nvSpPr>
          <p:cNvPr id="121" name="Use model other tag">
            <a:extLst>
              <a:ext uri="{FF2B5EF4-FFF2-40B4-BE49-F238E27FC236}">
                <a16:creationId xmlns:a16="http://schemas.microsoft.com/office/drawing/2014/main" id="{6A504E5C-3285-D27C-72F4-CA8FC66A05EE}"/>
              </a:ext>
            </a:extLst>
          </p:cNvPr>
          <p:cNvSpPr txBox="1"/>
          <p:nvPr/>
        </p:nvSpPr>
        <p:spPr>
          <a:xfrm>
            <a:off x="9486900" y="3543300"/>
            <a:ext cx="1498600" cy="152400"/>
          </a:xfrm>
          <a:prstGeom prst="rect">
            <a:avLst/>
          </a:prstGeom>
          <a:noFill/>
        </p:spPr>
        <p:txBody>
          <a:bodyPr vert="horz" wrap="square" lIns="0" tIns="0" rIns="0" bIns="0" rtlCol="0">
            <a:noAutofit/>
          </a:bodyPr>
          <a:lstStyle/>
          <a:p>
            <a:pPr>
              <a:spcAft>
                <a:spcPts val="200"/>
              </a:spcAft>
            </a:pPr>
            <a:r>
              <a:rPr lang="en-ZA" sz="900" b="1">
                <a:solidFill>
                  <a:schemeClr val="accent1"/>
                </a:solidFill>
                <a:latin typeface="Lato" panose="020F0502020204030203" pitchFamily="34" charset="0"/>
              </a:rPr>
              <a:t>2024 · model, sourced</a:t>
            </a:r>
          </a:p>
        </p:txBody>
      </p:sp>
      <p:sp>
        <p:nvSpPr>
          <p:cNvPr id="122" name="Source reported">
            <a:extLst>
              <a:ext uri="{FF2B5EF4-FFF2-40B4-BE49-F238E27FC236}">
                <a16:creationId xmlns:a16="http://schemas.microsoft.com/office/drawing/2014/main" id="{BF1EC090-2EF3-5625-A900-16649855EB4A}"/>
              </a:ext>
            </a:extLst>
          </p:cNvPr>
          <p:cNvSpPr txBox="1"/>
          <p:nvPr/>
        </p:nvSpPr>
        <p:spPr>
          <a:xfrm>
            <a:off x="457200" y="3936999"/>
            <a:ext cx="990600" cy="558800"/>
          </a:xfrm>
          <a:prstGeom prst="rect">
            <a:avLst/>
          </a:prstGeom>
          <a:noFill/>
        </p:spPr>
        <p:txBody>
          <a:bodyPr vert="horz" wrap="square" lIns="0" tIns="0" rIns="0" bIns="0" rtlCol="0">
            <a:noAutofit/>
          </a:bodyPr>
          <a:lstStyle/>
          <a:p>
            <a:pPr>
              <a:spcAft>
                <a:spcPts val="200"/>
              </a:spcAft>
            </a:pPr>
            <a:r>
              <a:rPr lang="en-ZA" sz="1200" b="1">
                <a:solidFill>
                  <a:schemeClr val="accent1"/>
                </a:solidFill>
                <a:latin typeface="Lato" panose="020F0502020204030203" pitchFamily="34" charset="0"/>
              </a:rPr>
              <a:t>Reported</a:t>
            </a:r>
          </a:p>
          <a:p>
            <a:pPr>
              <a:spcAft>
                <a:spcPts val="200"/>
              </a:spcAft>
            </a:pPr>
            <a:r>
              <a:rPr lang="en-ZA" sz="900">
                <a:solidFill>
                  <a:schemeClr val="dk1"/>
                </a:solidFill>
                <a:latin typeface="Lato" panose="020F0502020204030203" pitchFamily="34" charset="0"/>
              </a:rPr>
              <a:t>separately</a:t>
            </a:r>
          </a:p>
        </p:txBody>
      </p:sp>
      <p:sp>
        <p:nvSpPr>
          <p:cNvPr id="123" name="Use reported road">
            <a:extLst>
              <a:ext uri="{FF2B5EF4-FFF2-40B4-BE49-F238E27FC236}">
                <a16:creationId xmlns:a16="http://schemas.microsoft.com/office/drawing/2014/main" id="{E658641B-FE27-D85C-4A4D-BE40FE8F331C}"/>
              </a:ext>
            </a:extLst>
          </p:cNvPr>
          <p:cNvSpPr/>
          <p:nvPr/>
        </p:nvSpPr>
        <p:spPr>
          <a:xfrm>
            <a:off x="1536700" y="3860800"/>
            <a:ext cx="1651000" cy="787400"/>
          </a:xfrm>
          <a:prstGeom prst="rect">
            <a:avLst/>
          </a:prstGeom>
          <a:solidFill>
            <a:srgbClr val="FFFFFF"/>
          </a:solidFill>
          <a:ln w="9525" cap="flat" cmpd="sng" algn="ctr">
            <a:solidFill>
              <a:schemeClr val="accent1"/>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76200" tIns="50800" rIns="76200" bIns="38100" rtlCol="0" anchor="t"/>
          <a:lstStyle/>
          <a:p>
            <a:pPr>
              <a:spcAft>
                <a:spcPts val="400"/>
              </a:spcAft>
            </a:pPr>
            <a:r>
              <a:rPr lang="en-GB" sz="1100" b="1">
                <a:solidFill>
                  <a:srgbClr val="808080"/>
                </a:solidFill>
                <a:latin typeface="Lato" panose="020F0502020204030203" pitchFamily="34" charset="0"/>
              </a:rPr>
              <a:t>No separate series</a:t>
            </a:r>
          </a:p>
          <a:p>
            <a:pPr>
              <a:spcAft>
                <a:spcPts val="200"/>
              </a:spcAft>
            </a:pPr>
            <a:r>
              <a:rPr lang="en-GB" sz="1050">
                <a:solidFill>
                  <a:schemeClr val="dk1"/>
                </a:solidFill>
                <a:latin typeface="Lato" panose="020F0502020204030203" pitchFamily="34" charset="0"/>
              </a:rPr>
              <a:t>Inside sales totals</a:t>
            </a:r>
            <a:endParaRPr lang="en-ZA" sz="1050">
              <a:solidFill>
                <a:schemeClr val="dk1"/>
              </a:solidFill>
              <a:latin typeface="Lato" panose="020F0502020204030203" pitchFamily="34" charset="0"/>
            </a:endParaRPr>
          </a:p>
        </p:txBody>
      </p:sp>
      <p:sp>
        <p:nvSpPr>
          <p:cNvPr id="124" name="Use reported road tag">
            <a:extLst>
              <a:ext uri="{FF2B5EF4-FFF2-40B4-BE49-F238E27FC236}">
                <a16:creationId xmlns:a16="http://schemas.microsoft.com/office/drawing/2014/main" id="{F29B2FCC-1030-91AC-1283-E00A37C31216}"/>
              </a:ext>
            </a:extLst>
          </p:cNvPr>
          <p:cNvSpPr txBox="1"/>
          <p:nvPr/>
        </p:nvSpPr>
        <p:spPr>
          <a:xfrm>
            <a:off x="1612900" y="4457700"/>
            <a:ext cx="1498600" cy="152400"/>
          </a:xfrm>
          <a:prstGeom prst="rect">
            <a:avLst/>
          </a:prstGeom>
          <a:noFill/>
        </p:spPr>
        <p:txBody>
          <a:bodyPr vert="horz" wrap="square" lIns="0" tIns="0" rIns="0" bIns="0" rtlCol="0">
            <a:noAutofit/>
          </a:bodyPr>
          <a:lstStyle/>
          <a:p>
            <a:pPr>
              <a:spcAft>
                <a:spcPts val="200"/>
              </a:spcAft>
            </a:pPr>
            <a:r>
              <a:rPr lang="en-ZA" sz="900">
                <a:solidFill>
                  <a:srgbClr val="808080"/>
                </a:solidFill>
                <a:latin typeface="Lato" panose="020F0502020204030203" pitchFamily="34" charset="0"/>
              </a:rPr>
              <a:t>Pending · none published</a:t>
            </a:r>
          </a:p>
        </p:txBody>
      </p:sp>
      <p:sp>
        <p:nvSpPr>
          <p:cNvPr id="125" name="Use reported industry">
            <a:extLst>
              <a:ext uri="{FF2B5EF4-FFF2-40B4-BE49-F238E27FC236}">
                <a16:creationId xmlns:a16="http://schemas.microsoft.com/office/drawing/2014/main" id="{51714BFE-AEF9-34AA-D93A-B8485E0FE45B}"/>
              </a:ext>
            </a:extLst>
          </p:cNvPr>
          <p:cNvSpPr/>
          <p:nvPr/>
        </p:nvSpPr>
        <p:spPr>
          <a:xfrm>
            <a:off x="3505200" y="3860800"/>
            <a:ext cx="1651000" cy="787400"/>
          </a:xfrm>
          <a:prstGeom prst="rect">
            <a:avLst/>
          </a:prstGeom>
          <a:solidFill>
            <a:srgbClr val="FFFFFF"/>
          </a:solidFill>
          <a:ln w="9525" cap="flat" cmpd="sng" algn="ctr">
            <a:solidFill>
              <a:schemeClr val="accent1"/>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76200" tIns="50800" rIns="76200" bIns="38100" rtlCol="0" anchor="t"/>
          <a:lstStyle/>
          <a:p>
            <a:pPr>
              <a:spcAft>
                <a:spcPts val="400"/>
              </a:spcAft>
            </a:pPr>
            <a:r>
              <a:rPr lang="en-GB" sz="1100" b="1">
                <a:solidFill>
                  <a:srgbClr val="808080"/>
                </a:solidFill>
                <a:latin typeface="Lato" panose="020F0502020204030203" pitchFamily="34" charset="0"/>
              </a:rPr>
              <a:t>No separate series</a:t>
            </a:r>
          </a:p>
          <a:p>
            <a:pPr>
              <a:spcAft>
                <a:spcPts val="200"/>
              </a:spcAft>
            </a:pPr>
            <a:r>
              <a:rPr lang="en-GB" sz="1050">
                <a:solidFill>
                  <a:schemeClr val="dk1"/>
                </a:solidFill>
                <a:latin typeface="Lato" panose="020F0502020204030203" pitchFamily="34" charset="0"/>
              </a:rPr>
              <a:t>Inside sales totals</a:t>
            </a:r>
            <a:endParaRPr lang="en-ZA" sz="1050">
              <a:solidFill>
                <a:schemeClr val="dk1"/>
              </a:solidFill>
              <a:latin typeface="Lato" panose="020F0502020204030203" pitchFamily="34" charset="0"/>
            </a:endParaRPr>
          </a:p>
        </p:txBody>
      </p:sp>
      <p:sp>
        <p:nvSpPr>
          <p:cNvPr id="126" name="Use reported industry tag">
            <a:extLst>
              <a:ext uri="{FF2B5EF4-FFF2-40B4-BE49-F238E27FC236}">
                <a16:creationId xmlns:a16="http://schemas.microsoft.com/office/drawing/2014/main" id="{0D7856B2-F377-9B67-07BB-B4373F171389}"/>
              </a:ext>
            </a:extLst>
          </p:cNvPr>
          <p:cNvSpPr txBox="1"/>
          <p:nvPr/>
        </p:nvSpPr>
        <p:spPr>
          <a:xfrm>
            <a:off x="3581400" y="4457700"/>
            <a:ext cx="1498600" cy="152400"/>
          </a:xfrm>
          <a:prstGeom prst="rect">
            <a:avLst/>
          </a:prstGeom>
          <a:noFill/>
        </p:spPr>
        <p:txBody>
          <a:bodyPr vert="horz" wrap="square" lIns="0" tIns="0" rIns="0" bIns="0" rtlCol="0">
            <a:noAutofit/>
          </a:bodyPr>
          <a:lstStyle/>
          <a:p>
            <a:pPr>
              <a:spcAft>
                <a:spcPts val="200"/>
              </a:spcAft>
            </a:pPr>
            <a:r>
              <a:rPr lang="en-ZA" sz="900">
                <a:solidFill>
                  <a:srgbClr val="808080"/>
                </a:solidFill>
                <a:latin typeface="Lato" panose="020F0502020204030203" pitchFamily="34" charset="0"/>
              </a:rPr>
              <a:t>Pending · none published</a:t>
            </a:r>
          </a:p>
        </p:txBody>
      </p:sp>
      <p:sp>
        <p:nvSpPr>
          <p:cNvPr id="127" name="Use reported agriculture">
            <a:extLst>
              <a:ext uri="{FF2B5EF4-FFF2-40B4-BE49-F238E27FC236}">
                <a16:creationId xmlns:a16="http://schemas.microsoft.com/office/drawing/2014/main" id="{429617DC-FC89-9102-803A-E852B794D9D6}"/>
              </a:ext>
            </a:extLst>
          </p:cNvPr>
          <p:cNvSpPr/>
          <p:nvPr/>
        </p:nvSpPr>
        <p:spPr>
          <a:xfrm>
            <a:off x="5473700" y="3860800"/>
            <a:ext cx="1651000" cy="787400"/>
          </a:xfrm>
          <a:prstGeom prst="rect">
            <a:avLst/>
          </a:prstGeom>
          <a:solidFill>
            <a:srgbClr val="FFFFFF"/>
          </a:solidFill>
          <a:ln w="9525" cap="flat" cmpd="sng" algn="ctr">
            <a:solidFill>
              <a:schemeClr val="accent1"/>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76200" tIns="50800" rIns="76200" bIns="38100" rtlCol="0" anchor="t"/>
          <a:lstStyle/>
          <a:p>
            <a:pPr>
              <a:spcAft>
                <a:spcPts val="400"/>
              </a:spcAft>
            </a:pPr>
            <a:r>
              <a:rPr lang="en-GB" sz="1100" b="1">
                <a:solidFill>
                  <a:srgbClr val="808080"/>
                </a:solidFill>
                <a:latin typeface="Lato" panose="020F0502020204030203" pitchFamily="34" charset="0"/>
              </a:rPr>
              <a:t>No separate series</a:t>
            </a:r>
          </a:p>
          <a:p>
            <a:pPr>
              <a:spcAft>
                <a:spcPts val="200"/>
              </a:spcAft>
            </a:pPr>
            <a:r>
              <a:rPr lang="en-GB" sz="1050">
                <a:solidFill>
                  <a:schemeClr val="dk1"/>
                </a:solidFill>
                <a:latin typeface="Lato" panose="020F0502020204030203" pitchFamily="34" charset="0"/>
              </a:rPr>
              <a:t>Inside sales totals</a:t>
            </a:r>
            <a:endParaRPr lang="en-ZA" sz="1050">
              <a:solidFill>
                <a:schemeClr val="dk1"/>
              </a:solidFill>
              <a:latin typeface="Lato" panose="020F0502020204030203" pitchFamily="34" charset="0"/>
            </a:endParaRPr>
          </a:p>
        </p:txBody>
      </p:sp>
      <p:sp>
        <p:nvSpPr>
          <p:cNvPr id="128" name="Use reported agriculture tag">
            <a:extLst>
              <a:ext uri="{FF2B5EF4-FFF2-40B4-BE49-F238E27FC236}">
                <a16:creationId xmlns:a16="http://schemas.microsoft.com/office/drawing/2014/main" id="{9E1C1EA4-38C1-82D1-AA8E-8DFB293F6826}"/>
              </a:ext>
            </a:extLst>
          </p:cNvPr>
          <p:cNvSpPr txBox="1"/>
          <p:nvPr/>
        </p:nvSpPr>
        <p:spPr>
          <a:xfrm>
            <a:off x="5549900" y="4457700"/>
            <a:ext cx="1498600" cy="152400"/>
          </a:xfrm>
          <a:prstGeom prst="rect">
            <a:avLst/>
          </a:prstGeom>
          <a:noFill/>
        </p:spPr>
        <p:txBody>
          <a:bodyPr vert="horz" wrap="square" lIns="0" tIns="0" rIns="0" bIns="0" rtlCol="0">
            <a:noAutofit/>
          </a:bodyPr>
          <a:lstStyle/>
          <a:p>
            <a:pPr>
              <a:spcAft>
                <a:spcPts val="200"/>
              </a:spcAft>
            </a:pPr>
            <a:r>
              <a:rPr lang="en-ZA" sz="900">
                <a:solidFill>
                  <a:srgbClr val="808080"/>
                </a:solidFill>
                <a:latin typeface="Lato" panose="020F0502020204030203" pitchFamily="34" charset="0"/>
              </a:rPr>
              <a:t>Pending · none published</a:t>
            </a:r>
          </a:p>
        </p:txBody>
      </p:sp>
      <p:sp>
        <p:nvSpPr>
          <p:cNvPr id="129" name="Use reported power">
            <a:extLst>
              <a:ext uri="{FF2B5EF4-FFF2-40B4-BE49-F238E27FC236}">
                <a16:creationId xmlns:a16="http://schemas.microsoft.com/office/drawing/2014/main" id="{DDA6F878-98B1-E104-F8E9-CE0F46BBDD7F}"/>
              </a:ext>
            </a:extLst>
          </p:cNvPr>
          <p:cNvSpPr/>
          <p:nvPr/>
        </p:nvSpPr>
        <p:spPr>
          <a:xfrm>
            <a:off x="7442200" y="3860800"/>
            <a:ext cx="1651000" cy="787400"/>
          </a:xfrm>
          <a:prstGeom prst="rect">
            <a:avLst/>
          </a:prstGeom>
          <a:solidFill>
            <a:srgbClr val="FFFFFF"/>
          </a:solidFill>
          <a:ln w="9525" cap="flat" cmpd="sng" algn="ctr">
            <a:solidFill>
              <a:schemeClr val="accent1"/>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76200" tIns="50800" rIns="76200" bIns="38100" rtlCol="0" anchor="t"/>
          <a:lstStyle/>
          <a:p>
            <a:pPr>
              <a:spcAft>
                <a:spcPts val="400"/>
              </a:spcAft>
            </a:pPr>
            <a:r>
              <a:rPr lang="en-ZA" sz="1500" b="1">
                <a:solidFill>
                  <a:schemeClr val="accent1"/>
                </a:solidFill>
                <a:latin typeface="Lato" panose="020F0502020204030203" pitchFamily="34" charset="0"/>
              </a:rPr>
              <a:t>1.6B L</a:t>
            </a:r>
          </a:p>
          <a:p>
            <a:pPr>
              <a:spcAft>
                <a:spcPts val="200"/>
              </a:spcAft>
            </a:pPr>
            <a:r>
              <a:rPr lang="en-ZA" sz="1050">
                <a:solidFill>
                  <a:schemeClr val="dk1"/>
                </a:solidFill>
                <a:latin typeface="Lato" panose="020F0502020204030203" pitchFamily="34" charset="0"/>
              </a:rPr>
              <a:t>FY23 1.3 · FY25 0.9</a:t>
            </a:r>
          </a:p>
        </p:txBody>
      </p:sp>
      <p:sp>
        <p:nvSpPr>
          <p:cNvPr id="130" name="Use reported power tag">
            <a:extLst>
              <a:ext uri="{FF2B5EF4-FFF2-40B4-BE49-F238E27FC236}">
                <a16:creationId xmlns:a16="http://schemas.microsoft.com/office/drawing/2014/main" id="{FDCE4A36-4C52-802D-A5D7-AE2F52408E41}"/>
              </a:ext>
            </a:extLst>
          </p:cNvPr>
          <p:cNvSpPr txBox="1"/>
          <p:nvPr/>
        </p:nvSpPr>
        <p:spPr>
          <a:xfrm>
            <a:off x="7518400" y="4457700"/>
            <a:ext cx="1498600" cy="152400"/>
          </a:xfrm>
          <a:prstGeom prst="rect">
            <a:avLst/>
          </a:prstGeom>
          <a:noFill/>
        </p:spPr>
        <p:txBody>
          <a:bodyPr vert="horz" wrap="square" lIns="0" tIns="0" rIns="0" bIns="0" rtlCol="0">
            <a:noAutofit/>
          </a:bodyPr>
          <a:lstStyle/>
          <a:p>
            <a:pPr>
              <a:spcAft>
                <a:spcPts val="200"/>
              </a:spcAft>
            </a:pPr>
            <a:r>
              <a:rPr lang="en-ZA" sz="900" b="1">
                <a:solidFill>
                  <a:schemeClr val="accent1"/>
                </a:solidFill>
                <a:latin typeface="Lato" panose="020F0502020204030203" pitchFamily="34" charset="0"/>
              </a:rPr>
              <a:t>FY24 peak · DR07</a:t>
            </a:r>
          </a:p>
        </p:txBody>
      </p:sp>
      <p:sp>
        <p:nvSpPr>
          <p:cNvPr id="131" name="Use reported other">
            <a:extLst>
              <a:ext uri="{FF2B5EF4-FFF2-40B4-BE49-F238E27FC236}">
                <a16:creationId xmlns:a16="http://schemas.microsoft.com/office/drawing/2014/main" id="{A7B0F708-8226-6821-4B2D-A167A1AFB82E}"/>
              </a:ext>
            </a:extLst>
          </p:cNvPr>
          <p:cNvSpPr/>
          <p:nvPr/>
        </p:nvSpPr>
        <p:spPr>
          <a:xfrm>
            <a:off x="9410700" y="3860800"/>
            <a:ext cx="1651000" cy="787400"/>
          </a:xfrm>
          <a:prstGeom prst="rect">
            <a:avLst/>
          </a:prstGeom>
          <a:solidFill>
            <a:srgbClr val="FFFFFF"/>
          </a:solidFill>
          <a:ln w="9525" cap="flat" cmpd="sng" algn="ctr">
            <a:solidFill>
              <a:schemeClr val="accent1"/>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76200" tIns="50800" rIns="76200" bIns="38100" rtlCol="0" anchor="t"/>
          <a:lstStyle/>
          <a:p>
            <a:pPr>
              <a:spcAft>
                <a:spcPts val="400"/>
              </a:spcAft>
            </a:pPr>
            <a:r>
              <a:rPr lang="en-GB" sz="1100" b="1">
                <a:solidFill>
                  <a:srgbClr val="808080"/>
                </a:solidFill>
                <a:latin typeface="Lato" panose="020F0502020204030203" pitchFamily="34" charset="0"/>
              </a:rPr>
              <a:t>No separate series</a:t>
            </a:r>
          </a:p>
          <a:p>
            <a:pPr>
              <a:spcAft>
                <a:spcPts val="200"/>
              </a:spcAft>
            </a:pPr>
            <a:r>
              <a:rPr lang="en-GB" sz="1050">
                <a:solidFill>
                  <a:schemeClr val="dk1"/>
                </a:solidFill>
                <a:latin typeface="Lato" panose="020F0502020204030203" pitchFamily="34" charset="0"/>
              </a:rPr>
              <a:t>Inside sales totals</a:t>
            </a:r>
            <a:endParaRPr lang="en-ZA" sz="1050">
              <a:solidFill>
                <a:schemeClr val="dk1"/>
              </a:solidFill>
              <a:latin typeface="Lato" panose="020F0502020204030203" pitchFamily="34" charset="0"/>
            </a:endParaRPr>
          </a:p>
        </p:txBody>
      </p:sp>
      <p:sp>
        <p:nvSpPr>
          <p:cNvPr id="132" name="Use reported other tag">
            <a:extLst>
              <a:ext uri="{FF2B5EF4-FFF2-40B4-BE49-F238E27FC236}">
                <a16:creationId xmlns:a16="http://schemas.microsoft.com/office/drawing/2014/main" id="{CD5F759D-B850-59F0-7627-56CF2A8632E2}"/>
              </a:ext>
            </a:extLst>
          </p:cNvPr>
          <p:cNvSpPr txBox="1"/>
          <p:nvPr/>
        </p:nvSpPr>
        <p:spPr>
          <a:xfrm>
            <a:off x="9486900" y="4457700"/>
            <a:ext cx="1498600" cy="152400"/>
          </a:xfrm>
          <a:prstGeom prst="rect">
            <a:avLst/>
          </a:prstGeom>
          <a:noFill/>
        </p:spPr>
        <p:txBody>
          <a:bodyPr vert="horz" wrap="square" lIns="0" tIns="0" rIns="0" bIns="0" rtlCol="0">
            <a:noAutofit/>
          </a:bodyPr>
          <a:lstStyle/>
          <a:p>
            <a:pPr>
              <a:spcAft>
                <a:spcPts val="200"/>
              </a:spcAft>
            </a:pPr>
            <a:r>
              <a:rPr lang="en-ZA" sz="900">
                <a:solidFill>
                  <a:srgbClr val="808080"/>
                </a:solidFill>
                <a:latin typeface="Lato" panose="020F0502020204030203" pitchFamily="34" charset="0"/>
              </a:rPr>
              <a:t>Pending · none published</a:t>
            </a:r>
          </a:p>
        </p:txBody>
      </p:sp>
      <p:sp>
        <p:nvSpPr>
          <p:cNvPr id="133" name="Use finding 1">
            <a:extLst>
              <a:ext uri="{FF2B5EF4-FFF2-40B4-BE49-F238E27FC236}">
                <a16:creationId xmlns:a16="http://schemas.microsoft.com/office/drawing/2014/main" id="{01E37CE0-DD0D-5E72-92AC-05FCF793F4F3}"/>
              </a:ext>
            </a:extLst>
          </p:cNvPr>
          <p:cNvSpPr/>
          <p:nvPr/>
        </p:nvSpPr>
        <p:spPr>
          <a:xfrm>
            <a:off x="457200" y="5003800"/>
            <a:ext cx="3416300" cy="1066800"/>
          </a:xfrm>
          <a:prstGeom prst="rect">
            <a:avLst/>
          </a:prstGeom>
          <a:solidFill>
            <a:srgbClr val="FFFFFF"/>
          </a:solidFill>
          <a:ln w="9525" cap="flat" cmpd="sng" algn="ctr">
            <a:solidFill>
              <a:schemeClr val="accent1"/>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76200" tIns="50800" rIns="76200" bIns="38100" rtlCol="0" anchor="t"/>
          <a:lstStyle/>
          <a:p>
            <a:pPr>
              <a:spcAft>
                <a:spcPts val="400"/>
              </a:spcAft>
            </a:pPr>
            <a:r>
              <a:rPr lang="en-GB" sz="1050" b="1">
                <a:solidFill>
                  <a:schemeClr val="accent1"/>
                </a:solidFill>
                <a:latin typeface="Lato" panose="020F0502020204030203" pitchFamily="34" charset="0"/>
              </a:rPr>
              <a:t>Totals agree, the mix does not</a:t>
            </a:r>
          </a:p>
          <a:p>
            <a:pPr>
              <a:spcAft>
                <a:spcPts val="200"/>
              </a:spcAft>
            </a:pPr>
            <a:r>
              <a:rPr lang="en-GB" sz="1050">
                <a:solidFill>
                  <a:schemeClr val="dk1"/>
                </a:solidFill>
                <a:latin typeface="Lato" panose="020F0502020204030203" pitchFamily="34" charset="0"/>
              </a:rPr>
              <a:t>Balance 23.2B L (2021), model 23.4B L (2024)</a:t>
            </a:r>
          </a:p>
          <a:p>
            <a:pPr>
              <a:spcAft>
                <a:spcPts val="200"/>
              </a:spcAft>
            </a:pPr>
            <a:r>
              <a:rPr lang="en-GB" sz="1050">
                <a:solidFill>
                  <a:schemeClr val="dk1"/>
                </a:solidFill>
                <a:latin typeface="Lato" panose="020F0502020204030203" pitchFamily="34" charset="0"/>
              </a:rPr>
              <a:t>split across sectors differently</a:t>
            </a:r>
            <a:endParaRPr lang="en-ZA" sz="1050">
              <a:solidFill>
                <a:schemeClr val="dk1"/>
              </a:solidFill>
              <a:latin typeface="Lato" panose="020F0502020204030203" pitchFamily="34" charset="0"/>
            </a:endParaRPr>
          </a:p>
        </p:txBody>
      </p:sp>
      <p:sp>
        <p:nvSpPr>
          <p:cNvPr id="134" name="Use finding 1 tag">
            <a:extLst>
              <a:ext uri="{FF2B5EF4-FFF2-40B4-BE49-F238E27FC236}">
                <a16:creationId xmlns:a16="http://schemas.microsoft.com/office/drawing/2014/main" id="{547738DD-D160-FFCF-1C57-363663D6A72E}"/>
              </a:ext>
            </a:extLst>
          </p:cNvPr>
          <p:cNvSpPr txBox="1"/>
          <p:nvPr/>
        </p:nvSpPr>
        <p:spPr>
          <a:xfrm>
            <a:off x="533400" y="5880100"/>
            <a:ext cx="3263900" cy="152400"/>
          </a:xfrm>
          <a:prstGeom prst="rect">
            <a:avLst/>
          </a:prstGeom>
          <a:noFill/>
        </p:spPr>
        <p:txBody>
          <a:bodyPr vert="horz" wrap="square" lIns="0" tIns="0" rIns="0" bIns="0" rtlCol="0">
            <a:noAutofit/>
          </a:bodyPr>
          <a:lstStyle/>
          <a:p>
            <a:pPr>
              <a:spcAft>
                <a:spcPts val="200"/>
              </a:spcAft>
            </a:pPr>
            <a:r>
              <a:rPr lang="en-ZA" sz="900" b="1">
                <a:solidFill>
                  <a:schemeClr val="accent1"/>
                </a:solidFill>
                <a:latin typeface="Lato" panose="020F0502020204030203" pitchFamily="34" charset="0"/>
              </a:rPr>
              <a:t>To calibrate</a:t>
            </a:r>
          </a:p>
        </p:txBody>
      </p:sp>
      <p:sp>
        <p:nvSpPr>
          <p:cNvPr id="135" name="Use finding 2">
            <a:extLst>
              <a:ext uri="{FF2B5EF4-FFF2-40B4-BE49-F238E27FC236}">
                <a16:creationId xmlns:a16="http://schemas.microsoft.com/office/drawing/2014/main" id="{5866AD6E-139B-E51A-09F9-1C698B165704}"/>
              </a:ext>
            </a:extLst>
          </p:cNvPr>
          <p:cNvSpPr/>
          <p:nvPr/>
        </p:nvSpPr>
        <p:spPr>
          <a:xfrm>
            <a:off x="4076700" y="5003800"/>
            <a:ext cx="3416300" cy="1066800"/>
          </a:xfrm>
          <a:prstGeom prst="rect">
            <a:avLst/>
          </a:prstGeom>
          <a:solidFill>
            <a:srgbClr val="FFFFFF"/>
          </a:solidFill>
          <a:ln w="9525" cap="flat" cmpd="sng" algn="ctr">
            <a:solidFill>
              <a:schemeClr val="accent1"/>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76200" tIns="50800" rIns="76200" bIns="38100" rtlCol="0" anchor="t"/>
          <a:lstStyle/>
          <a:p>
            <a:pPr>
              <a:spcAft>
                <a:spcPts val="400"/>
              </a:spcAft>
            </a:pPr>
            <a:r>
              <a:rPr lang="en-GB" sz="1050" b="1">
                <a:solidFill>
                  <a:schemeClr val="accent1"/>
                </a:solidFill>
                <a:latin typeface="Lato" panose="020F0502020204030203" pitchFamily="34" charset="0"/>
              </a:rPr>
              <a:t>Power is the largest gap</a:t>
            </a:r>
          </a:p>
          <a:p>
            <a:pPr>
              <a:spcAft>
                <a:spcPts val="200"/>
              </a:spcAft>
            </a:pPr>
            <a:r>
              <a:rPr lang="en-GB" sz="1050">
                <a:solidFill>
                  <a:schemeClr val="dk1"/>
                </a:solidFill>
                <a:latin typeface="Lato" panose="020F0502020204030203" pitchFamily="34" charset="0"/>
              </a:rPr>
              <a:t>Model 3.6B L against 0.9-1.6B L reported</a:t>
            </a:r>
          </a:p>
          <a:p>
            <a:pPr>
              <a:spcAft>
                <a:spcPts val="200"/>
              </a:spcAft>
            </a:pPr>
            <a:r>
              <a:rPr lang="en-GB" sz="1050">
                <a:solidFill>
                  <a:schemeClr val="dk1"/>
                </a:solidFill>
                <a:latin typeface="Lato" panose="020F0502020204030203" pitchFamily="34" charset="0"/>
              </a:rPr>
              <a:t>Eskom plus independents, FY23-FY25</a:t>
            </a:r>
            <a:endParaRPr lang="en-ZA" sz="1050">
              <a:solidFill>
                <a:schemeClr val="dk1"/>
              </a:solidFill>
              <a:latin typeface="Lato" panose="020F0502020204030203" pitchFamily="34" charset="0"/>
            </a:endParaRPr>
          </a:p>
        </p:txBody>
      </p:sp>
      <p:sp>
        <p:nvSpPr>
          <p:cNvPr id="136" name="Use finding 2 tag">
            <a:extLst>
              <a:ext uri="{FF2B5EF4-FFF2-40B4-BE49-F238E27FC236}">
                <a16:creationId xmlns:a16="http://schemas.microsoft.com/office/drawing/2014/main" id="{CB5C9D04-1099-FC26-2867-EBD5B1715A10}"/>
              </a:ext>
            </a:extLst>
          </p:cNvPr>
          <p:cNvSpPr txBox="1"/>
          <p:nvPr/>
        </p:nvSpPr>
        <p:spPr>
          <a:xfrm>
            <a:off x="4152900" y="5880100"/>
            <a:ext cx="3263900" cy="152400"/>
          </a:xfrm>
          <a:prstGeom prst="rect">
            <a:avLst/>
          </a:prstGeom>
          <a:noFill/>
        </p:spPr>
        <p:txBody>
          <a:bodyPr vert="horz" wrap="square" lIns="0" tIns="0" rIns="0" bIns="0" rtlCol="0">
            <a:noAutofit/>
          </a:bodyPr>
          <a:lstStyle/>
          <a:p>
            <a:pPr>
              <a:spcAft>
                <a:spcPts val="200"/>
              </a:spcAft>
            </a:pPr>
            <a:r>
              <a:rPr lang="en-ZA" sz="900" b="1">
                <a:solidFill>
                  <a:schemeClr val="accent1"/>
                </a:solidFill>
                <a:latin typeface="Lato" panose="020F0502020204030203" pitchFamily="34" charset="0"/>
              </a:rPr>
              <a:t>DR07 · to calibrate</a:t>
            </a:r>
          </a:p>
        </p:txBody>
      </p:sp>
      <p:sp>
        <p:nvSpPr>
          <p:cNvPr id="137" name="Use finding 3">
            <a:extLst>
              <a:ext uri="{FF2B5EF4-FFF2-40B4-BE49-F238E27FC236}">
                <a16:creationId xmlns:a16="http://schemas.microsoft.com/office/drawing/2014/main" id="{F562AD4E-C12A-D213-DF62-4CCB250CA499}"/>
              </a:ext>
            </a:extLst>
          </p:cNvPr>
          <p:cNvSpPr/>
          <p:nvPr/>
        </p:nvSpPr>
        <p:spPr>
          <a:xfrm>
            <a:off x="7696200" y="5003800"/>
            <a:ext cx="3416300" cy="1066800"/>
          </a:xfrm>
          <a:prstGeom prst="rect">
            <a:avLst/>
          </a:prstGeom>
          <a:solidFill>
            <a:srgbClr val="FFFFFF"/>
          </a:solidFill>
          <a:ln w="9525" cap="flat" cmpd="sng" algn="ctr">
            <a:solidFill>
              <a:schemeClr val="accent1"/>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76200" tIns="50800" rIns="76200" bIns="38100" rtlCol="0" anchor="t"/>
          <a:lstStyle/>
          <a:p>
            <a:pPr>
              <a:spcAft>
                <a:spcPts val="400"/>
              </a:spcAft>
            </a:pPr>
            <a:r>
              <a:rPr lang="en-GB" sz="1050" b="1">
                <a:solidFill>
                  <a:schemeClr val="accent1"/>
                </a:solidFill>
                <a:latin typeface="Lato" panose="020F0502020204030203" pitchFamily="34" charset="0"/>
              </a:rPr>
              <a:t>"Other" is large in the balance</a:t>
            </a:r>
          </a:p>
          <a:p>
            <a:pPr>
              <a:spcAft>
                <a:spcPts val="200"/>
              </a:spcAft>
            </a:pPr>
            <a:r>
              <a:rPr lang="en-GB" sz="1050">
                <a:solidFill>
                  <a:schemeClr val="dk1"/>
                </a:solidFill>
                <a:latin typeface="Lato" panose="020F0502020204030203" pitchFamily="34" charset="0"/>
              </a:rPr>
              <a:t>5.3B L, mostly commercial and public</a:t>
            </a:r>
          </a:p>
          <a:p>
            <a:pPr>
              <a:spcAft>
                <a:spcPts val="200"/>
              </a:spcAft>
            </a:pPr>
            <a:r>
              <a:rPr lang="en-GB" sz="1050">
                <a:solidFill>
                  <a:schemeClr val="dk1"/>
                </a:solidFill>
                <a:latin typeface="Lato" panose="020F0502020204030203" pitchFamily="34" charset="0"/>
              </a:rPr>
              <a:t>The model has no matching segment</a:t>
            </a:r>
            <a:endParaRPr lang="en-ZA" sz="1050">
              <a:solidFill>
                <a:schemeClr val="dk1"/>
              </a:solidFill>
              <a:latin typeface="Lato" panose="020F0502020204030203" pitchFamily="34" charset="0"/>
            </a:endParaRPr>
          </a:p>
        </p:txBody>
      </p:sp>
      <p:sp>
        <p:nvSpPr>
          <p:cNvPr id="138" name="Use finding 3 tag">
            <a:extLst>
              <a:ext uri="{FF2B5EF4-FFF2-40B4-BE49-F238E27FC236}">
                <a16:creationId xmlns:a16="http://schemas.microsoft.com/office/drawing/2014/main" id="{83D6E81A-951B-8A28-8FBE-0C1FE7B7CFE4}"/>
              </a:ext>
            </a:extLst>
          </p:cNvPr>
          <p:cNvSpPr txBox="1"/>
          <p:nvPr/>
        </p:nvSpPr>
        <p:spPr>
          <a:xfrm>
            <a:off x="7772400" y="5880100"/>
            <a:ext cx="3263900" cy="152400"/>
          </a:xfrm>
          <a:prstGeom prst="rect">
            <a:avLst/>
          </a:prstGeom>
          <a:noFill/>
        </p:spPr>
        <p:txBody>
          <a:bodyPr vert="horz" wrap="square" lIns="0" tIns="0" rIns="0" bIns="0" rtlCol="0">
            <a:noAutofit/>
          </a:bodyPr>
          <a:lstStyle/>
          <a:p>
            <a:pPr>
              <a:spcAft>
                <a:spcPts val="200"/>
              </a:spcAft>
            </a:pPr>
            <a:r>
              <a:rPr lang="en-ZA" sz="900" b="1">
                <a:solidFill>
                  <a:schemeClr val="accent1"/>
                </a:solidFill>
                <a:latin typeface="Lato" panose="020F0502020204030203" pitchFamily="34" charset="0"/>
              </a:rPr>
              <a:t>To calibrate</a:t>
            </a:r>
          </a:p>
        </p:txBody>
      </p:sp>
    </p:spTree>
    <p:extLst>
      <p:ext uri="{BB962C8B-B14F-4D97-AF65-F5344CB8AC3E}">
        <p14:creationId xmlns:p14="http://schemas.microsoft.com/office/powerpoint/2010/main" val="299296286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a:solidFill>
                  <a:schemeClr val="dk1"/>
                </a:solidFill>
                <a:latin typeface="Lato"/>
              </a:rPr>
              <a:t>Demand parameters: the levers and their 2035 cases</a:t>
            </a:r>
            <a:endParaRPr dirty="0">
              <a:solidFill>
                <a:schemeClr val="dk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5</a:t>
            </a:r>
            <a:endParaRPr sz="1100"/>
          </a:p>
        </p:txBody>
      </p:sp>
      <p:sp>
        <p:nvSpPr>
          <p:cNvPr id="8" name="Unified source footer"/>
          <p:cNvSpPr txBox="1"/>
          <p:nvPr/>
        </p:nvSpPr>
        <p:spPr>
          <a:xfrm>
            <a:off x="457200" y="6184900"/>
            <a:ext cx="10652760" cy="104837"/>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GB" sz="670"/>
              <a:t>Source: Manish lever response (7 Oct): 2035 low / medium / high, an analyst proposal, not accepted; baselines from Stats SA, naamsa, Eskom and SARS. Levers overlap (road activity and rail; EVs and efficiency); the double-count check is open (DR07).</a:t>
            </a:r>
            <a:endParaRPr sz="670"/>
          </a:p>
        </p:txBody>
      </p:sp>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F6826E68-0B27-3E9A-731F-737F28F0FB19}"/>
              </a:ext>
            </a:extLst>
          </p:cNvPr>
          <p:cNvSpPr/>
          <p:nvPr/>
        </p:nvSpPr>
        <p:spPr>
          <a:xfrm>
            <a:off x="457200" y="88900"/>
            <a:ext cx="2575560" cy="279400"/>
          </a:xfrm>
          <a:prstGeom prst="rect">
            <a:avLst/>
          </a:prstGeom>
          <a:solidFill>
            <a:schemeClr val="lt1">
              <a:shade val="965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Executive summary</a:t>
            </a:r>
          </a:p>
        </p:txBody>
      </p:sp>
      <p:sp>
        <p:nvSpPr>
          <p:cNvPr id="10" name="SCR 2">
            <a:extLst>
              <a:ext uri="{FF2B5EF4-FFF2-40B4-BE49-F238E27FC236}">
                <a16:creationId xmlns:a16="http://schemas.microsoft.com/office/drawing/2014/main" id="{DB3FBD92-8DAF-542E-83C8-61B53DE1024F}"/>
              </a:ext>
            </a:extLst>
          </p:cNvPr>
          <p:cNvSpPr/>
          <p:nvPr/>
        </p:nvSpPr>
        <p:spPr>
          <a:xfrm>
            <a:off x="3149600" y="88900"/>
            <a:ext cx="2575560" cy="279400"/>
          </a:xfrm>
          <a:prstGeom prst="rect">
            <a:avLst/>
          </a:prstGeom>
          <a:solidFill>
            <a:schemeClr val="lt1">
              <a:shade val="965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Situation</a:t>
            </a:r>
          </a:p>
        </p:txBody>
      </p:sp>
      <p:sp>
        <p:nvSpPr>
          <p:cNvPr id="11" name="SCR 3">
            <a:extLst>
              <a:ext uri="{FF2B5EF4-FFF2-40B4-BE49-F238E27FC236}">
                <a16:creationId xmlns:a16="http://schemas.microsoft.com/office/drawing/2014/main" id="{8954CB5A-2161-59A0-D177-7E44BC8E444E}"/>
              </a:ext>
            </a:extLst>
          </p:cNvPr>
          <p:cNvSpPr/>
          <p:nvPr/>
        </p:nvSpPr>
        <p:spPr>
          <a:xfrm>
            <a:off x="5842000" y="88900"/>
            <a:ext cx="2575560" cy="279400"/>
          </a:xfrm>
          <a:prstGeom prst="rect">
            <a:avLst/>
          </a:prstGeom>
          <a:solidFill>
            <a:schemeClr val="lt1">
              <a:shade val="965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Complication</a:t>
            </a:r>
          </a:p>
        </p:txBody>
      </p:sp>
      <p:sp>
        <p:nvSpPr>
          <p:cNvPr id="12" name="SCR 4">
            <a:extLst>
              <a:ext uri="{FF2B5EF4-FFF2-40B4-BE49-F238E27FC236}">
                <a16:creationId xmlns:a16="http://schemas.microsoft.com/office/drawing/2014/main" id="{9E01BBF5-098D-3FC4-718C-6B01C403EC02}"/>
              </a:ext>
            </a:extLst>
          </p:cNvPr>
          <p:cNvSpPr/>
          <p:nvPr/>
        </p:nvSpPr>
        <p:spPr>
          <a:xfrm>
            <a:off x="8534400" y="88900"/>
            <a:ext cx="2575560" cy="279400"/>
          </a:xfrm>
          <a:prstGeom prst="rect">
            <a:avLst/>
          </a:prstGeom>
          <a:solidFill>
            <a:schemeClr val="accent1"/>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latin typeface="Lato" panose="020F0502020204030203" pitchFamily="34" charset="0"/>
              </a:rPr>
              <a:t>Resolution</a:t>
            </a:r>
          </a:p>
        </p:txBody>
      </p:sp>
      <p:sp>
        <p:nvSpPr>
          <p:cNvPr id="47" name="Lever panel 0">
            <a:extLst>
              <a:ext uri="{FF2B5EF4-FFF2-40B4-BE49-F238E27FC236}">
                <a16:creationId xmlns:a16="http://schemas.microsoft.com/office/drawing/2014/main" id="{E8BBE9DF-3E68-F0BB-8035-3D2E1BD6FEC6}"/>
              </a:ext>
            </a:extLst>
          </p:cNvPr>
          <p:cNvSpPr/>
          <p:nvPr/>
        </p:nvSpPr>
        <p:spPr>
          <a:xfrm>
            <a:off x="355600" y="1549400"/>
            <a:ext cx="2628900" cy="4597400"/>
          </a:xfrm>
          <a:prstGeom prst="rect">
            <a:avLst/>
          </a:prstGeom>
          <a:solidFill>
            <a:srgbClr val="EEF1F6"/>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92" name="Lever panel 0 heading">
            <a:extLst>
              <a:ext uri="{FF2B5EF4-FFF2-40B4-BE49-F238E27FC236}">
                <a16:creationId xmlns:a16="http://schemas.microsoft.com/office/drawing/2014/main" id="{96968189-9206-1602-3906-3EC8B6B736CA}"/>
              </a:ext>
            </a:extLst>
          </p:cNvPr>
          <p:cNvSpPr txBox="1"/>
          <p:nvPr/>
        </p:nvSpPr>
        <p:spPr>
          <a:xfrm>
            <a:off x="457200" y="1638300"/>
            <a:ext cx="2425700" cy="241300"/>
          </a:xfrm>
          <a:prstGeom prst="rect">
            <a:avLst/>
          </a:prstGeom>
          <a:noFill/>
        </p:spPr>
        <p:txBody>
          <a:bodyPr vert="horz" wrap="square" lIns="0" tIns="0" rIns="0" bIns="0" rtlCol="0">
            <a:noAutofit/>
          </a:bodyPr>
          <a:lstStyle/>
          <a:p>
            <a:pPr>
              <a:spcAft>
                <a:spcPts val="200"/>
              </a:spcAft>
            </a:pPr>
            <a:r>
              <a:rPr lang="en-ZA" sz="1200" b="1">
                <a:solidFill>
                  <a:schemeClr val="accent1"/>
                </a:solidFill>
                <a:latin typeface="Lato" panose="020F0502020204030203" pitchFamily="34" charset="0"/>
              </a:rPr>
              <a:t>1  ECONOMIC ACTIVITY</a:t>
            </a:r>
          </a:p>
        </p:txBody>
      </p:sp>
      <p:cxnSp>
        <p:nvCxnSpPr>
          <p:cNvPr id="93" name="Column heading rule">
            <a:extLst>
              <a:ext uri="{FF2B5EF4-FFF2-40B4-BE49-F238E27FC236}">
                <a16:creationId xmlns:a16="http://schemas.microsoft.com/office/drawing/2014/main" id="{B2DDF43C-B14B-B240-CFD7-A4C8B7B3D71E}"/>
              </a:ext>
            </a:extLst>
          </p:cNvPr>
          <p:cNvCxnSpPr/>
          <p:nvPr/>
        </p:nvCxnSpPr>
        <p:spPr>
          <a:xfrm>
            <a:off x="457200" y="1917700"/>
            <a:ext cx="2425700" cy="0"/>
          </a:xfrm>
          <a:prstGeom prst="straightConnector1">
            <a:avLst/>
          </a:prstGeom>
          <a:ln w="8255">
            <a:solidFill>
              <a:schemeClr val="dk1"/>
            </a:solidFill>
          </a:ln>
        </p:spPr>
        <p:style>
          <a:lnRef idx="1">
            <a:schemeClr val="accent1"/>
          </a:lnRef>
          <a:fillRef idx="0">
            <a:schemeClr val="accent1"/>
          </a:fillRef>
          <a:effectRef idx="0">
            <a:schemeClr val="accent1"/>
          </a:effectRef>
          <a:fontRef idx="minor">
            <a:schemeClr val="tx1"/>
          </a:fontRef>
        </p:style>
      </p:cxnSp>
      <p:sp>
        <p:nvSpPr>
          <p:cNvPr id="94" name="Lever 0 0">
            <a:extLst>
              <a:ext uri="{FF2B5EF4-FFF2-40B4-BE49-F238E27FC236}">
                <a16:creationId xmlns:a16="http://schemas.microsoft.com/office/drawing/2014/main" id="{3E0F5CCD-5D16-A04E-FCBB-C49363B051B8}"/>
              </a:ext>
            </a:extLst>
          </p:cNvPr>
          <p:cNvSpPr/>
          <p:nvPr/>
        </p:nvSpPr>
        <p:spPr>
          <a:xfrm>
            <a:off x="457200" y="2032000"/>
            <a:ext cx="2425700" cy="1219200"/>
          </a:xfrm>
          <a:prstGeom prst="rect">
            <a:avLst/>
          </a:prstGeom>
          <a:solidFill>
            <a:srgbClr val="FFFFFF"/>
          </a:solidFill>
          <a:ln w="9525" cap="flat" cmpd="sng" algn="ctr">
            <a:solidFill>
              <a:schemeClr val="accent1"/>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76200" tIns="50800" rIns="76200" bIns="38100" rtlCol="0" anchor="t"/>
          <a:lstStyle/>
          <a:p>
            <a:pPr>
              <a:spcAft>
                <a:spcPts val="400"/>
              </a:spcAft>
            </a:pPr>
            <a:r>
              <a:rPr lang="en-GB" sz="1050" b="1">
                <a:solidFill>
                  <a:schemeClr val="accent1"/>
                </a:solidFill>
                <a:latin typeface="Lato" panose="020F0502020204030203" pitchFamily="34" charset="0"/>
              </a:rPr>
              <a:t>GDP growth</a:t>
            </a:r>
          </a:p>
          <a:p>
            <a:pPr>
              <a:spcAft>
                <a:spcPts val="200"/>
              </a:spcAft>
            </a:pPr>
            <a:r>
              <a:rPr lang="en-GB" sz="1050">
                <a:solidFill>
                  <a:schemeClr val="dk1"/>
                </a:solidFill>
                <a:latin typeface="Lato" panose="020F0502020204030203" pitchFamily="34" charset="0"/>
              </a:rPr>
              <a:t>Baseline: 0.5% a year</a:t>
            </a:r>
          </a:p>
          <a:p>
            <a:pPr>
              <a:spcAft>
                <a:spcPts val="200"/>
              </a:spcAft>
            </a:pPr>
            <a:r>
              <a:rPr lang="en-GB" sz="1050">
                <a:solidFill>
                  <a:schemeClr val="dk1"/>
                </a:solidFill>
                <a:latin typeface="Lato" panose="020F0502020204030203" pitchFamily="34" charset="0"/>
              </a:rPr>
              <a:t>2035: 0.7 / 1.6 / 2</a:t>
            </a:r>
            <a:endParaRPr lang="en-ZA" sz="1050">
              <a:solidFill>
                <a:schemeClr val="dk1"/>
              </a:solidFill>
              <a:latin typeface="Lato" panose="020F0502020204030203" pitchFamily="34" charset="0"/>
            </a:endParaRPr>
          </a:p>
        </p:txBody>
      </p:sp>
      <p:sp>
        <p:nvSpPr>
          <p:cNvPr id="95" name="Lever 0 0 tag">
            <a:extLst>
              <a:ext uri="{FF2B5EF4-FFF2-40B4-BE49-F238E27FC236}">
                <a16:creationId xmlns:a16="http://schemas.microsoft.com/office/drawing/2014/main" id="{1101F964-2861-DA26-535D-D489C6148DF3}"/>
              </a:ext>
            </a:extLst>
          </p:cNvPr>
          <p:cNvSpPr txBox="1"/>
          <p:nvPr/>
        </p:nvSpPr>
        <p:spPr>
          <a:xfrm>
            <a:off x="533400" y="3060700"/>
            <a:ext cx="2273300" cy="152400"/>
          </a:xfrm>
          <a:prstGeom prst="rect">
            <a:avLst/>
          </a:prstGeom>
          <a:noFill/>
        </p:spPr>
        <p:txBody>
          <a:bodyPr vert="horz" wrap="square" lIns="0" tIns="0" rIns="0" bIns="0" rtlCol="0">
            <a:noAutofit/>
          </a:bodyPr>
          <a:lstStyle/>
          <a:p>
            <a:pPr>
              <a:spcAft>
                <a:spcPts val="200"/>
              </a:spcAft>
            </a:pPr>
            <a:r>
              <a:rPr lang="en-GB" sz="900" b="1">
                <a:solidFill>
                  <a:schemeClr val="accent1"/>
                </a:solidFill>
                <a:latin typeface="Lato" panose="020F0502020204030203" pitchFamily="34" charset="0"/>
              </a:rPr>
              <a:t>Manish revised 3 of 3 · not accepted</a:t>
            </a:r>
            <a:endParaRPr lang="en-ZA" sz="900" b="1">
              <a:solidFill>
                <a:schemeClr val="accent1"/>
              </a:solidFill>
              <a:latin typeface="Lato" panose="020F0502020204030203" pitchFamily="34" charset="0"/>
            </a:endParaRPr>
          </a:p>
        </p:txBody>
      </p:sp>
      <p:sp>
        <p:nvSpPr>
          <p:cNvPr id="96" name="Lever 0 1">
            <a:extLst>
              <a:ext uri="{FF2B5EF4-FFF2-40B4-BE49-F238E27FC236}">
                <a16:creationId xmlns:a16="http://schemas.microsoft.com/office/drawing/2014/main" id="{BE868B14-4B91-7D97-7616-BC899F7C1052}"/>
              </a:ext>
            </a:extLst>
          </p:cNvPr>
          <p:cNvSpPr/>
          <p:nvPr/>
        </p:nvSpPr>
        <p:spPr>
          <a:xfrm>
            <a:off x="457200" y="3454400"/>
            <a:ext cx="2425700" cy="1219200"/>
          </a:xfrm>
          <a:prstGeom prst="rect">
            <a:avLst/>
          </a:prstGeom>
          <a:solidFill>
            <a:srgbClr val="FFFFFF"/>
          </a:solidFill>
          <a:ln w="9525" cap="flat" cmpd="sng" algn="ctr">
            <a:solidFill>
              <a:schemeClr val="accent1"/>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76200" tIns="50800" rIns="76200" bIns="38100" rtlCol="0" anchor="t"/>
          <a:lstStyle/>
          <a:p>
            <a:pPr>
              <a:spcAft>
                <a:spcPts val="400"/>
              </a:spcAft>
            </a:pPr>
            <a:r>
              <a:rPr lang="en-GB" sz="1050" b="1">
                <a:solidFill>
                  <a:schemeClr val="accent1"/>
                </a:solidFill>
                <a:latin typeface="Lato" panose="020F0502020204030203" pitchFamily="34" charset="0"/>
              </a:rPr>
              <a:t>Road freight activity</a:t>
            </a:r>
          </a:p>
          <a:p>
            <a:pPr>
              <a:spcAft>
                <a:spcPts val="200"/>
              </a:spcAft>
            </a:pPr>
            <a:r>
              <a:rPr lang="en-GB" sz="1050">
                <a:solidFill>
                  <a:schemeClr val="dk1"/>
                </a:solidFill>
                <a:latin typeface="Lato" panose="020F0502020204030203" pitchFamily="34" charset="0"/>
              </a:rPr>
              <a:t>Baseline: 100 (2024 = 100)</a:t>
            </a:r>
          </a:p>
          <a:p>
            <a:pPr>
              <a:spcAft>
                <a:spcPts val="200"/>
              </a:spcAft>
            </a:pPr>
            <a:r>
              <a:rPr lang="en-GB" sz="1050">
                <a:solidFill>
                  <a:schemeClr val="dk1"/>
                </a:solidFill>
                <a:latin typeface="Lato" panose="020F0502020204030203" pitchFamily="34" charset="0"/>
              </a:rPr>
              <a:t>2035: 95 / 135 / 150</a:t>
            </a:r>
            <a:endParaRPr lang="en-ZA" sz="1050">
              <a:solidFill>
                <a:schemeClr val="dk1"/>
              </a:solidFill>
              <a:latin typeface="Lato" panose="020F0502020204030203" pitchFamily="34" charset="0"/>
            </a:endParaRPr>
          </a:p>
        </p:txBody>
      </p:sp>
      <p:sp>
        <p:nvSpPr>
          <p:cNvPr id="97" name="Lever 0 1 tag">
            <a:extLst>
              <a:ext uri="{FF2B5EF4-FFF2-40B4-BE49-F238E27FC236}">
                <a16:creationId xmlns:a16="http://schemas.microsoft.com/office/drawing/2014/main" id="{28572F9F-57E3-F410-AC59-103BBC06EE68}"/>
              </a:ext>
            </a:extLst>
          </p:cNvPr>
          <p:cNvSpPr txBox="1"/>
          <p:nvPr/>
        </p:nvSpPr>
        <p:spPr>
          <a:xfrm>
            <a:off x="533400" y="4483100"/>
            <a:ext cx="2273300" cy="152400"/>
          </a:xfrm>
          <a:prstGeom prst="rect">
            <a:avLst/>
          </a:prstGeom>
          <a:noFill/>
        </p:spPr>
        <p:txBody>
          <a:bodyPr vert="horz" wrap="square" lIns="0" tIns="0" rIns="0" bIns="0" rtlCol="0">
            <a:noAutofit/>
          </a:bodyPr>
          <a:lstStyle/>
          <a:p>
            <a:pPr>
              <a:spcAft>
                <a:spcPts val="200"/>
              </a:spcAft>
            </a:pPr>
            <a:r>
              <a:rPr lang="en-GB" sz="900" b="1">
                <a:solidFill>
                  <a:schemeClr val="accent1"/>
                </a:solidFill>
                <a:latin typeface="Lato" panose="020F0502020204030203" pitchFamily="34" charset="0"/>
              </a:rPr>
              <a:t>Manish revised 1 of 3 · not accepted</a:t>
            </a:r>
            <a:endParaRPr lang="en-ZA" sz="900" b="1">
              <a:solidFill>
                <a:schemeClr val="accent1"/>
              </a:solidFill>
              <a:latin typeface="Lato" panose="020F0502020204030203" pitchFamily="34" charset="0"/>
            </a:endParaRPr>
          </a:p>
        </p:txBody>
      </p:sp>
      <p:sp>
        <p:nvSpPr>
          <p:cNvPr id="98" name="Lever 0 2">
            <a:extLst>
              <a:ext uri="{FF2B5EF4-FFF2-40B4-BE49-F238E27FC236}">
                <a16:creationId xmlns:a16="http://schemas.microsoft.com/office/drawing/2014/main" id="{3823AAD4-E1AE-6C3D-1E4C-658FA4098E11}"/>
              </a:ext>
            </a:extLst>
          </p:cNvPr>
          <p:cNvSpPr/>
          <p:nvPr/>
        </p:nvSpPr>
        <p:spPr>
          <a:xfrm>
            <a:off x="457200" y="4876800"/>
            <a:ext cx="2425700" cy="1219200"/>
          </a:xfrm>
          <a:prstGeom prst="rect">
            <a:avLst/>
          </a:prstGeom>
          <a:solidFill>
            <a:srgbClr val="FFFFFF"/>
          </a:solidFill>
          <a:ln w="9525" cap="flat" cmpd="sng" algn="ctr">
            <a:solidFill>
              <a:schemeClr val="accent1"/>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76200" tIns="50800" rIns="76200" bIns="38100" rtlCol="0" anchor="t"/>
          <a:lstStyle/>
          <a:p>
            <a:pPr>
              <a:spcAft>
                <a:spcPts val="400"/>
              </a:spcAft>
            </a:pPr>
            <a:r>
              <a:rPr lang="en-ZA" sz="1050" b="1">
                <a:solidFill>
                  <a:schemeClr val="accent1"/>
                </a:solidFill>
                <a:latin typeface="Lato" panose="020F0502020204030203" pitchFamily="34" charset="0"/>
              </a:rPr>
              <a:t>Real fuel price</a:t>
            </a:r>
          </a:p>
          <a:p>
            <a:pPr>
              <a:spcAft>
                <a:spcPts val="200"/>
              </a:spcAft>
            </a:pPr>
            <a:r>
              <a:rPr lang="en-ZA" sz="1050">
                <a:solidFill>
                  <a:schemeClr val="dk1"/>
                </a:solidFill>
                <a:latin typeface="Lato" panose="020F0502020204030203" pitchFamily="34" charset="0"/>
              </a:rPr>
              <a:t>Baseline: 100 (2024 = 100)</a:t>
            </a:r>
          </a:p>
          <a:p>
            <a:pPr>
              <a:spcAft>
                <a:spcPts val="200"/>
              </a:spcAft>
            </a:pPr>
            <a:r>
              <a:rPr lang="en-ZA" sz="1050">
                <a:solidFill>
                  <a:schemeClr val="dk1"/>
                </a:solidFill>
                <a:latin typeface="Lato" panose="020F0502020204030203" pitchFamily="34" charset="0"/>
              </a:rPr>
              <a:t>Petrol 2035: 80 / 100 / 120</a:t>
            </a:r>
          </a:p>
          <a:p>
            <a:pPr>
              <a:spcAft>
                <a:spcPts val="200"/>
              </a:spcAft>
            </a:pPr>
            <a:r>
              <a:rPr lang="en-ZA" sz="1050">
                <a:solidFill>
                  <a:schemeClr val="dk1"/>
                </a:solidFill>
                <a:latin typeface="Lato" panose="020F0502020204030203" pitchFamily="34" charset="0"/>
              </a:rPr>
              <a:t>Diesel 2035: 80 / 100 / 140</a:t>
            </a:r>
          </a:p>
        </p:txBody>
      </p:sp>
      <p:sp>
        <p:nvSpPr>
          <p:cNvPr id="99" name="Lever 0 2 tag">
            <a:extLst>
              <a:ext uri="{FF2B5EF4-FFF2-40B4-BE49-F238E27FC236}">
                <a16:creationId xmlns:a16="http://schemas.microsoft.com/office/drawing/2014/main" id="{547F9817-D37C-7713-FDC3-5DABCDACE4FA}"/>
              </a:ext>
            </a:extLst>
          </p:cNvPr>
          <p:cNvSpPr txBox="1"/>
          <p:nvPr/>
        </p:nvSpPr>
        <p:spPr>
          <a:xfrm>
            <a:off x="533400" y="5905500"/>
            <a:ext cx="2273300" cy="152400"/>
          </a:xfrm>
          <a:prstGeom prst="rect">
            <a:avLst/>
          </a:prstGeom>
          <a:noFill/>
        </p:spPr>
        <p:txBody>
          <a:bodyPr vert="horz" wrap="square" lIns="0" tIns="0" rIns="0" bIns="0" rtlCol="0">
            <a:noAutofit/>
          </a:bodyPr>
          <a:lstStyle/>
          <a:p>
            <a:pPr>
              <a:spcAft>
                <a:spcPts val="200"/>
              </a:spcAft>
            </a:pPr>
            <a:r>
              <a:rPr lang="en-GB" sz="900" b="1">
                <a:solidFill>
                  <a:schemeClr val="accent1"/>
                </a:solidFill>
                <a:latin typeface="Lato" panose="020F0502020204030203" pitchFamily="34" charset="0"/>
              </a:rPr>
              <a:t>Added by Manish · not accepted</a:t>
            </a:r>
            <a:endParaRPr lang="en-ZA" sz="900" b="1">
              <a:solidFill>
                <a:schemeClr val="accent1"/>
              </a:solidFill>
              <a:latin typeface="Lato" panose="020F0502020204030203" pitchFamily="34" charset="0"/>
            </a:endParaRPr>
          </a:p>
        </p:txBody>
      </p:sp>
      <p:sp>
        <p:nvSpPr>
          <p:cNvPr id="100" name="Lever panel 1">
            <a:extLst>
              <a:ext uri="{FF2B5EF4-FFF2-40B4-BE49-F238E27FC236}">
                <a16:creationId xmlns:a16="http://schemas.microsoft.com/office/drawing/2014/main" id="{E21A4BA3-2F70-E468-7CF5-5C0ED881029F}"/>
              </a:ext>
            </a:extLst>
          </p:cNvPr>
          <p:cNvSpPr/>
          <p:nvPr/>
        </p:nvSpPr>
        <p:spPr>
          <a:xfrm>
            <a:off x="3098800" y="1549400"/>
            <a:ext cx="2628900" cy="4597400"/>
          </a:xfrm>
          <a:prstGeom prst="rect">
            <a:avLst/>
          </a:prstGeom>
          <a:solidFill>
            <a:srgbClr val="EEF1F6"/>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101" name="Lever panel 1 heading">
            <a:extLst>
              <a:ext uri="{FF2B5EF4-FFF2-40B4-BE49-F238E27FC236}">
                <a16:creationId xmlns:a16="http://schemas.microsoft.com/office/drawing/2014/main" id="{B3D0A36F-BEE5-42B3-A8AB-BBB44B94B448}"/>
              </a:ext>
            </a:extLst>
          </p:cNvPr>
          <p:cNvSpPr txBox="1"/>
          <p:nvPr/>
        </p:nvSpPr>
        <p:spPr>
          <a:xfrm>
            <a:off x="3200400" y="1638300"/>
            <a:ext cx="2425700" cy="241300"/>
          </a:xfrm>
          <a:prstGeom prst="rect">
            <a:avLst/>
          </a:prstGeom>
          <a:noFill/>
        </p:spPr>
        <p:txBody>
          <a:bodyPr vert="horz" wrap="square" lIns="0" tIns="0" rIns="0" bIns="0" rtlCol="0">
            <a:noAutofit/>
          </a:bodyPr>
          <a:lstStyle/>
          <a:p>
            <a:pPr>
              <a:spcAft>
                <a:spcPts val="200"/>
              </a:spcAft>
            </a:pPr>
            <a:r>
              <a:rPr lang="en-ZA" sz="1200" b="1">
                <a:solidFill>
                  <a:schemeClr val="accent1"/>
                </a:solidFill>
                <a:latin typeface="Lato" panose="020F0502020204030203" pitchFamily="34" charset="0"/>
              </a:rPr>
              <a:t>2  VEHICLE FLEET</a:t>
            </a:r>
          </a:p>
        </p:txBody>
      </p:sp>
      <p:cxnSp>
        <p:nvCxnSpPr>
          <p:cNvPr id="102" name="Column heading rule">
            <a:extLst>
              <a:ext uri="{FF2B5EF4-FFF2-40B4-BE49-F238E27FC236}">
                <a16:creationId xmlns:a16="http://schemas.microsoft.com/office/drawing/2014/main" id="{512B9A7D-D4D0-0951-6753-F58B7289FA05}"/>
              </a:ext>
            </a:extLst>
          </p:cNvPr>
          <p:cNvCxnSpPr/>
          <p:nvPr/>
        </p:nvCxnSpPr>
        <p:spPr>
          <a:xfrm>
            <a:off x="3200400" y="1917700"/>
            <a:ext cx="2425700" cy="0"/>
          </a:xfrm>
          <a:prstGeom prst="straightConnector1">
            <a:avLst/>
          </a:prstGeom>
          <a:ln w="8255">
            <a:solidFill>
              <a:schemeClr val="dk1"/>
            </a:solidFill>
          </a:ln>
        </p:spPr>
        <p:style>
          <a:lnRef idx="1">
            <a:schemeClr val="accent1"/>
          </a:lnRef>
          <a:fillRef idx="0">
            <a:schemeClr val="accent1"/>
          </a:fillRef>
          <a:effectRef idx="0">
            <a:schemeClr val="accent1"/>
          </a:effectRef>
          <a:fontRef idx="minor">
            <a:schemeClr val="tx1"/>
          </a:fontRef>
        </p:style>
      </p:cxnSp>
      <p:sp>
        <p:nvSpPr>
          <p:cNvPr id="103" name="Lever 1 0">
            <a:extLst>
              <a:ext uri="{FF2B5EF4-FFF2-40B4-BE49-F238E27FC236}">
                <a16:creationId xmlns:a16="http://schemas.microsoft.com/office/drawing/2014/main" id="{39B1C587-1934-E75B-6F80-E97E1654BD0E}"/>
              </a:ext>
            </a:extLst>
          </p:cNvPr>
          <p:cNvSpPr/>
          <p:nvPr/>
        </p:nvSpPr>
        <p:spPr>
          <a:xfrm>
            <a:off x="3200400" y="2032000"/>
            <a:ext cx="2425700" cy="1219200"/>
          </a:xfrm>
          <a:prstGeom prst="rect">
            <a:avLst/>
          </a:prstGeom>
          <a:solidFill>
            <a:srgbClr val="FFFFFF"/>
          </a:solidFill>
          <a:ln w="9525" cap="flat" cmpd="sng" algn="ctr">
            <a:solidFill>
              <a:schemeClr val="accent1"/>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76200" tIns="50800" rIns="76200" bIns="38100" rtlCol="0" anchor="t"/>
          <a:lstStyle/>
          <a:p>
            <a:pPr>
              <a:spcAft>
                <a:spcPts val="400"/>
              </a:spcAft>
            </a:pPr>
            <a:r>
              <a:rPr lang="en-GB" sz="1050" b="1">
                <a:solidFill>
                  <a:schemeClr val="accent1"/>
                </a:solidFill>
                <a:latin typeface="Lato" panose="020F0502020204030203" pitchFamily="34" charset="0"/>
              </a:rPr>
              <a:t>Battery EV share of new sales</a:t>
            </a:r>
          </a:p>
          <a:p>
            <a:pPr>
              <a:spcAft>
                <a:spcPts val="200"/>
              </a:spcAft>
            </a:pPr>
            <a:r>
              <a:rPr lang="en-GB" sz="1050">
                <a:solidFill>
                  <a:schemeClr val="dk1"/>
                </a:solidFill>
                <a:latin typeface="Lato" panose="020F0502020204030203" pitchFamily="34" charset="0"/>
              </a:rPr>
              <a:t>Baseline: 0.2%</a:t>
            </a:r>
          </a:p>
          <a:p>
            <a:pPr>
              <a:spcAft>
                <a:spcPts val="200"/>
              </a:spcAft>
            </a:pPr>
            <a:r>
              <a:rPr lang="en-GB" sz="1050">
                <a:solidFill>
                  <a:schemeClr val="dk1"/>
                </a:solidFill>
                <a:latin typeface="Lato" panose="020F0502020204030203" pitchFamily="34" charset="0"/>
              </a:rPr>
              <a:t>2035: 2 / 15 / 40</a:t>
            </a:r>
            <a:endParaRPr lang="en-ZA" sz="1050">
              <a:solidFill>
                <a:schemeClr val="dk1"/>
              </a:solidFill>
              <a:latin typeface="Lato" panose="020F0502020204030203" pitchFamily="34" charset="0"/>
            </a:endParaRPr>
          </a:p>
        </p:txBody>
      </p:sp>
      <p:sp>
        <p:nvSpPr>
          <p:cNvPr id="104" name="Lever 1 0 tag">
            <a:extLst>
              <a:ext uri="{FF2B5EF4-FFF2-40B4-BE49-F238E27FC236}">
                <a16:creationId xmlns:a16="http://schemas.microsoft.com/office/drawing/2014/main" id="{0207A553-0E2F-DA9C-FD48-3E2665EF1B84}"/>
              </a:ext>
            </a:extLst>
          </p:cNvPr>
          <p:cNvSpPr txBox="1"/>
          <p:nvPr/>
        </p:nvSpPr>
        <p:spPr>
          <a:xfrm>
            <a:off x="3276600" y="3060700"/>
            <a:ext cx="2273300" cy="152400"/>
          </a:xfrm>
          <a:prstGeom prst="rect">
            <a:avLst/>
          </a:prstGeom>
          <a:noFill/>
        </p:spPr>
        <p:txBody>
          <a:bodyPr vert="horz" wrap="square" lIns="0" tIns="0" rIns="0" bIns="0" rtlCol="0">
            <a:noAutofit/>
          </a:bodyPr>
          <a:lstStyle/>
          <a:p>
            <a:pPr>
              <a:spcAft>
                <a:spcPts val="200"/>
              </a:spcAft>
            </a:pPr>
            <a:r>
              <a:rPr lang="en-GB" sz="900" b="1">
                <a:solidFill>
                  <a:schemeClr val="accent1"/>
                </a:solidFill>
                <a:latin typeface="Lato" panose="020F0502020204030203" pitchFamily="34" charset="0"/>
              </a:rPr>
              <a:t>Manish revised 3 of 3 · not accepted</a:t>
            </a:r>
            <a:endParaRPr lang="en-ZA" sz="900" b="1">
              <a:solidFill>
                <a:schemeClr val="accent1"/>
              </a:solidFill>
              <a:latin typeface="Lato" panose="020F0502020204030203" pitchFamily="34" charset="0"/>
            </a:endParaRPr>
          </a:p>
        </p:txBody>
      </p:sp>
      <p:sp>
        <p:nvSpPr>
          <p:cNvPr id="105" name="Lever 1 1">
            <a:extLst>
              <a:ext uri="{FF2B5EF4-FFF2-40B4-BE49-F238E27FC236}">
                <a16:creationId xmlns:a16="http://schemas.microsoft.com/office/drawing/2014/main" id="{F59F6C7B-AEFE-5997-7005-0FF84DCFAB83}"/>
              </a:ext>
            </a:extLst>
          </p:cNvPr>
          <p:cNvSpPr/>
          <p:nvPr/>
        </p:nvSpPr>
        <p:spPr>
          <a:xfrm>
            <a:off x="3200400" y="3454400"/>
            <a:ext cx="2425700" cy="1219200"/>
          </a:xfrm>
          <a:prstGeom prst="rect">
            <a:avLst/>
          </a:prstGeom>
          <a:solidFill>
            <a:srgbClr val="FFFFFF"/>
          </a:solidFill>
          <a:ln w="9525" cap="flat" cmpd="sng" algn="ctr">
            <a:solidFill>
              <a:schemeClr val="accent1"/>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76200" tIns="50800" rIns="76200" bIns="38100" rtlCol="0" anchor="t"/>
          <a:lstStyle/>
          <a:p>
            <a:pPr>
              <a:spcAft>
                <a:spcPts val="400"/>
              </a:spcAft>
            </a:pPr>
            <a:r>
              <a:rPr lang="en-GB" sz="1050" b="1">
                <a:solidFill>
                  <a:schemeClr val="accent1"/>
                </a:solidFill>
                <a:latin typeface="Lato" panose="020F0502020204030203" pitchFamily="34" charset="0"/>
              </a:rPr>
              <a:t>New-vehicle efficiency</a:t>
            </a:r>
          </a:p>
          <a:p>
            <a:pPr>
              <a:spcAft>
                <a:spcPts val="200"/>
              </a:spcAft>
            </a:pPr>
            <a:r>
              <a:rPr lang="en-GB" sz="1050">
                <a:solidFill>
                  <a:schemeClr val="dk1"/>
                </a:solidFill>
                <a:latin typeface="Lato" panose="020F0502020204030203" pitchFamily="34" charset="0"/>
              </a:rPr>
              <a:t>2035 cases, % a year:</a:t>
            </a:r>
          </a:p>
          <a:p>
            <a:pPr>
              <a:spcAft>
                <a:spcPts val="200"/>
              </a:spcAft>
            </a:pPr>
            <a:r>
              <a:rPr lang="en-GB" sz="1050">
                <a:solidFill>
                  <a:schemeClr val="dk1"/>
                </a:solidFill>
                <a:latin typeface="Lato" panose="020F0502020204030203" pitchFamily="34" charset="0"/>
              </a:rPr>
              <a:t>Petrol 1 / 1.25 / 1.5</a:t>
            </a:r>
          </a:p>
          <a:p>
            <a:pPr>
              <a:spcAft>
                <a:spcPts val="200"/>
              </a:spcAft>
            </a:pPr>
            <a:r>
              <a:rPr lang="en-GB" sz="1050">
                <a:solidFill>
                  <a:schemeClr val="dk1"/>
                </a:solidFill>
                <a:latin typeface="Lato" panose="020F0502020204030203" pitchFamily="34" charset="0"/>
              </a:rPr>
              <a:t>Diesel 0.5 / 0.75 / 1</a:t>
            </a:r>
            <a:endParaRPr lang="en-ZA" sz="1050">
              <a:solidFill>
                <a:schemeClr val="dk1"/>
              </a:solidFill>
              <a:latin typeface="Lato" panose="020F0502020204030203" pitchFamily="34" charset="0"/>
            </a:endParaRPr>
          </a:p>
        </p:txBody>
      </p:sp>
      <p:sp>
        <p:nvSpPr>
          <p:cNvPr id="106" name="Lever 1 1 tag">
            <a:extLst>
              <a:ext uri="{FF2B5EF4-FFF2-40B4-BE49-F238E27FC236}">
                <a16:creationId xmlns:a16="http://schemas.microsoft.com/office/drawing/2014/main" id="{B2880393-4A67-342E-FBBC-195BC0422E11}"/>
              </a:ext>
            </a:extLst>
          </p:cNvPr>
          <p:cNvSpPr txBox="1"/>
          <p:nvPr/>
        </p:nvSpPr>
        <p:spPr>
          <a:xfrm>
            <a:off x="3276600" y="4483100"/>
            <a:ext cx="2273300" cy="152400"/>
          </a:xfrm>
          <a:prstGeom prst="rect">
            <a:avLst/>
          </a:prstGeom>
          <a:noFill/>
        </p:spPr>
        <p:txBody>
          <a:bodyPr vert="horz" wrap="square" lIns="0" tIns="0" rIns="0" bIns="0" rtlCol="0">
            <a:noAutofit/>
          </a:bodyPr>
          <a:lstStyle/>
          <a:p>
            <a:pPr>
              <a:spcAft>
                <a:spcPts val="200"/>
              </a:spcAft>
            </a:pPr>
            <a:r>
              <a:rPr lang="en-GB" sz="900" b="1">
                <a:solidFill>
                  <a:schemeClr val="accent1"/>
                </a:solidFill>
                <a:latin typeface="Lato" panose="020F0502020204030203" pitchFamily="34" charset="0"/>
              </a:rPr>
              <a:t>Nigel proposal kept · not accepted</a:t>
            </a:r>
            <a:endParaRPr lang="en-ZA" sz="900" b="1">
              <a:solidFill>
                <a:schemeClr val="accent1"/>
              </a:solidFill>
              <a:latin typeface="Lato" panose="020F0502020204030203" pitchFamily="34" charset="0"/>
            </a:endParaRPr>
          </a:p>
        </p:txBody>
      </p:sp>
      <p:sp>
        <p:nvSpPr>
          <p:cNvPr id="107" name="Lever 1 2">
            <a:extLst>
              <a:ext uri="{FF2B5EF4-FFF2-40B4-BE49-F238E27FC236}">
                <a16:creationId xmlns:a16="http://schemas.microsoft.com/office/drawing/2014/main" id="{C19E439B-9F49-0FF9-15DE-5663AD09E6D3}"/>
              </a:ext>
            </a:extLst>
          </p:cNvPr>
          <p:cNvSpPr/>
          <p:nvPr/>
        </p:nvSpPr>
        <p:spPr>
          <a:xfrm>
            <a:off x="3200400" y="4876800"/>
            <a:ext cx="2425700" cy="1219200"/>
          </a:xfrm>
          <a:prstGeom prst="rect">
            <a:avLst/>
          </a:prstGeom>
          <a:solidFill>
            <a:srgbClr val="FFFFFF"/>
          </a:solidFill>
          <a:ln w="9525" cap="flat" cmpd="sng" algn="ctr">
            <a:solidFill>
              <a:schemeClr val="accent1"/>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76200" tIns="50800" rIns="76200" bIns="38100" rtlCol="0" anchor="t"/>
          <a:lstStyle/>
          <a:p>
            <a:pPr>
              <a:spcAft>
                <a:spcPts val="400"/>
              </a:spcAft>
            </a:pPr>
            <a:r>
              <a:rPr lang="en-GB" sz="1050" b="1">
                <a:solidFill>
                  <a:schemeClr val="accent1"/>
                </a:solidFill>
                <a:latin typeface="Lato" panose="020F0502020204030203" pitchFamily="34" charset="0"/>
              </a:rPr>
              <a:t>Hybrid share of new sales</a:t>
            </a:r>
          </a:p>
          <a:p>
            <a:pPr>
              <a:spcAft>
                <a:spcPts val="200"/>
              </a:spcAft>
            </a:pPr>
            <a:r>
              <a:rPr lang="en-GB" sz="1050">
                <a:solidFill>
                  <a:schemeClr val="dk1"/>
                </a:solidFill>
                <a:latin typeface="Lato" panose="020F0502020204030203" pitchFamily="34" charset="0"/>
              </a:rPr>
              <a:t>Baseline: 2.1%</a:t>
            </a:r>
          </a:p>
          <a:p>
            <a:pPr>
              <a:spcAft>
                <a:spcPts val="200"/>
              </a:spcAft>
            </a:pPr>
            <a:r>
              <a:rPr lang="en-GB" sz="1050">
                <a:solidFill>
                  <a:schemeClr val="dk1"/>
                </a:solidFill>
                <a:latin typeface="Lato" panose="020F0502020204030203" pitchFamily="34" charset="0"/>
              </a:rPr>
              <a:t>2035: 2.1 / 6.7 / 11.3</a:t>
            </a:r>
            <a:endParaRPr lang="en-ZA" sz="1050">
              <a:solidFill>
                <a:schemeClr val="dk1"/>
              </a:solidFill>
              <a:latin typeface="Lato" panose="020F0502020204030203" pitchFamily="34" charset="0"/>
            </a:endParaRPr>
          </a:p>
        </p:txBody>
      </p:sp>
      <p:sp>
        <p:nvSpPr>
          <p:cNvPr id="108" name="Lever 1 2 tag">
            <a:extLst>
              <a:ext uri="{FF2B5EF4-FFF2-40B4-BE49-F238E27FC236}">
                <a16:creationId xmlns:a16="http://schemas.microsoft.com/office/drawing/2014/main" id="{C03C0407-9BA6-EFD9-3D8B-C72CEB5AD859}"/>
              </a:ext>
            </a:extLst>
          </p:cNvPr>
          <p:cNvSpPr txBox="1"/>
          <p:nvPr/>
        </p:nvSpPr>
        <p:spPr>
          <a:xfrm>
            <a:off x="3276600" y="5905500"/>
            <a:ext cx="2273300" cy="152400"/>
          </a:xfrm>
          <a:prstGeom prst="rect">
            <a:avLst/>
          </a:prstGeom>
          <a:noFill/>
        </p:spPr>
        <p:txBody>
          <a:bodyPr vert="horz" wrap="square" lIns="0" tIns="0" rIns="0" bIns="0" rtlCol="0">
            <a:noAutofit/>
          </a:bodyPr>
          <a:lstStyle/>
          <a:p>
            <a:pPr>
              <a:spcAft>
                <a:spcPts val="200"/>
              </a:spcAft>
            </a:pPr>
            <a:r>
              <a:rPr lang="en-GB" sz="900" b="1">
                <a:solidFill>
                  <a:schemeClr val="accent1"/>
                </a:solidFill>
                <a:latin typeface="Lato" panose="020F0502020204030203" pitchFamily="34" charset="0"/>
              </a:rPr>
              <a:t>Added by Manish · not accepted</a:t>
            </a:r>
            <a:endParaRPr lang="en-ZA" sz="900" b="1">
              <a:solidFill>
                <a:schemeClr val="accent1"/>
              </a:solidFill>
              <a:latin typeface="Lato" panose="020F0502020204030203" pitchFamily="34" charset="0"/>
            </a:endParaRPr>
          </a:p>
        </p:txBody>
      </p:sp>
      <p:sp>
        <p:nvSpPr>
          <p:cNvPr id="109" name="Lever panel 2">
            <a:extLst>
              <a:ext uri="{FF2B5EF4-FFF2-40B4-BE49-F238E27FC236}">
                <a16:creationId xmlns:a16="http://schemas.microsoft.com/office/drawing/2014/main" id="{24A96668-8444-AD90-C352-0C54A1F71D48}"/>
              </a:ext>
            </a:extLst>
          </p:cNvPr>
          <p:cNvSpPr/>
          <p:nvPr/>
        </p:nvSpPr>
        <p:spPr>
          <a:xfrm>
            <a:off x="5842000" y="1549400"/>
            <a:ext cx="2628900" cy="4597400"/>
          </a:xfrm>
          <a:prstGeom prst="rect">
            <a:avLst/>
          </a:prstGeom>
          <a:solidFill>
            <a:srgbClr val="EEF1F6"/>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110" name="Lever panel 2 heading">
            <a:extLst>
              <a:ext uri="{FF2B5EF4-FFF2-40B4-BE49-F238E27FC236}">
                <a16:creationId xmlns:a16="http://schemas.microsoft.com/office/drawing/2014/main" id="{F19D1A34-4601-5D4D-DE36-ADA567F8EF01}"/>
              </a:ext>
            </a:extLst>
          </p:cNvPr>
          <p:cNvSpPr txBox="1"/>
          <p:nvPr/>
        </p:nvSpPr>
        <p:spPr>
          <a:xfrm>
            <a:off x="5943600" y="1638300"/>
            <a:ext cx="2425700" cy="241300"/>
          </a:xfrm>
          <a:prstGeom prst="rect">
            <a:avLst/>
          </a:prstGeom>
          <a:noFill/>
        </p:spPr>
        <p:txBody>
          <a:bodyPr vert="horz" wrap="square" lIns="0" tIns="0" rIns="0" bIns="0" rtlCol="0">
            <a:noAutofit/>
          </a:bodyPr>
          <a:lstStyle/>
          <a:p>
            <a:pPr>
              <a:spcAft>
                <a:spcPts val="200"/>
              </a:spcAft>
            </a:pPr>
            <a:r>
              <a:rPr lang="en-ZA" sz="1200" b="1">
                <a:solidFill>
                  <a:schemeClr val="accent1"/>
                </a:solidFill>
                <a:latin typeface="Lato" panose="020F0502020204030203" pitchFamily="34" charset="0"/>
              </a:rPr>
              <a:t>3  FREIGHT AND RAIL</a:t>
            </a:r>
          </a:p>
        </p:txBody>
      </p:sp>
      <p:cxnSp>
        <p:nvCxnSpPr>
          <p:cNvPr id="111" name="Column heading rule">
            <a:extLst>
              <a:ext uri="{FF2B5EF4-FFF2-40B4-BE49-F238E27FC236}">
                <a16:creationId xmlns:a16="http://schemas.microsoft.com/office/drawing/2014/main" id="{BC08D714-80E0-2BF1-10B9-DFE9319A3018}"/>
              </a:ext>
            </a:extLst>
          </p:cNvPr>
          <p:cNvCxnSpPr/>
          <p:nvPr/>
        </p:nvCxnSpPr>
        <p:spPr>
          <a:xfrm>
            <a:off x="5943600" y="1917700"/>
            <a:ext cx="2425700" cy="0"/>
          </a:xfrm>
          <a:prstGeom prst="straightConnector1">
            <a:avLst/>
          </a:prstGeom>
          <a:ln w="8255">
            <a:solidFill>
              <a:schemeClr val="dk1"/>
            </a:solidFill>
          </a:ln>
        </p:spPr>
        <p:style>
          <a:lnRef idx="1">
            <a:schemeClr val="accent1"/>
          </a:lnRef>
          <a:fillRef idx="0">
            <a:schemeClr val="accent1"/>
          </a:fillRef>
          <a:effectRef idx="0">
            <a:schemeClr val="accent1"/>
          </a:effectRef>
          <a:fontRef idx="minor">
            <a:schemeClr val="tx1"/>
          </a:fontRef>
        </p:style>
      </p:cxnSp>
      <p:sp>
        <p:nvSpPr>
          <p:cNvPr id="112" name="Lever 2 0">
            <a:extLst>
              <a:ext uri="{FF2B5EF4-FFF2-40B4-BE49-F238E27FC236}">
                <a16:creationId xmlns:a16="http://schemas.microsoft.com/office/drawing/2014/main" id="{8E3C5B97-A05D-C82E-5E66-347AEC3C42A7}"/>
              </a:ext>
            </a:extLst>
          </p:cNvPr>
          <p:cNvSpPr/>
          <p:nvPr/>
        </p:nvSpPr>
        <p:spPr>
          <a:xfrm>
            <a:off x="5943600" y="2032000"/>
            <a:ext cx="2425700" cy="1219200"/>
          </a:xfrm>
          <a:prstGeom prst="rect">
            <a:avLst/>
          </a:prstGeom>
          <a:solidFill>
            <a:srgbClr val="FFFFFF"/>
          </a:solidFill>
          <a:ln w="9525" cap="flat" cmpd="sng" algn="ctr">
            <a:solidFill>
              <a:schemeClr val="accent1"/>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76200" tIns="50800" rIns="76200" bIns="38100" rtlCol="0" anchor="t"/>
          <a:lstStyle/>
          <a:p>
            <a:pPr>
              <a:spcAft>
                <a:spcPts val="400"/>
              </a:spcAft>
            </a:pPr>
            <a:r>
              <a:rPr lang="en-GB" sz="1050" b="1">
                <a:solidFill>
                  <a:schemeClr val="accent1"/>
                </a:solidFill>
                <a:latin typeface="Lato" panose="020F0502020204030203" pitchFamily="34" charset="0"/>
              </a:rPr>
              <a:t>Road freight moved to rail</a:t>
            </a:r>
          </a:p>
          <a:p>
            <a:pPr>
              <a:spcAft>
                <a:spcPts val="200"/>
              </a:spcAft>
            </a:pPr>
            <a:r>
              <a:rPr lang="en-GB" sz="1050">
                <a:solidFill>
                  <a:schemeClr val="dk1"/>
                </a:solidFill>
                <a:latin typeface="Lato" panose="020F0502020204030203" pitchFamily="34" charset="0"/>
              </a:rPr>
              <a:t>Baseline: 0%</a:t>
            </a:r>
          </a:p>
          <a:p>
            <a:pPr>
              <a:spcAft>
                <a:spcPts val="200"/>
              </a:spcAft>
            </a:pPr>
            <a:r>
              <a:rPr lang="en-GB" sz="1050">
                <a:solidFill>
                  <a:schemeClr val="dk1"/>
                </a:solidFill>
                <a:latin typeface="Lato" panose="020F0502020204030203" pitchFamily="34" charset="0"/>
              </a:rPr>
              <a:t>2035: 0 / 7 / 13</a:t>
            </a:r>
            <a:endParaRPr lang="en-ZA" sz="1050">
              <a:solidFill>
                <a:schemeClr val="dk1"/>
              </a:solidFill>
              <a:latin typeface="Lato" panose="020F0502020204030203" pitchFamily="34" charset="0"/>
            </a:endParaRPr>
          </a:p>
        </p:txBody>
      </p:sp>
      <p:sp>
        <p:nvSpPr>
          <p:cNvPr id="113" name="Lever 2 0 tag">
            <a:extLst>
              <a:ext uri="{FF2B5EF4-FFF2-40B4-BE49-F238E27FC236}">
                <a16:creationId xmlns:a16="http://schemas.microsoft.com/office/drawing/2014/main" id="{F78F2262-3E32-CB0B-0843-906D608B03CB}"/>
              </a:ext>
            </a:extLst>
          </p:cNvPr>
          <p:cNvSpPr txBox="1"/>
          <p:nvPr/>
        </p:nvSpPr>
        <p:spPr>
          <a:xfrm>
            <a:off x="6019800" y="3060700"/>
            <a:ext cx="2273300" cy="152400"/>
          </a:xfrm>
          <a:prstGeom prst="rect">
            <a:avLst/>
          </a:prstGeom>
          <a:noFill/>
        </p:spPr>
        <p:txBody>
          <a:bodyPr vert="horz" wrap="square" lIns="0" tIns="0" rIns="0" bIns="0" rtlCol="0">
            <a:noAutofit/>
          </a:bodyPr>
          <a:lstStyle/>
          <a:p>
            <a:pPr>
              <a:spcAft>
                <a:spcPts val="200"/>
              </a:spcAft>
            </a:pPr>
            <a:r>
              <a:rPr lang="en-GB" sz="900" b="1">
                <a:solidFill>
                  <a:schemeClr val="accent1"/>
                </a:solidFill>
                <a:latin typeface="Lato" panose="020F0502020204030203" pitchFamily="34" charset="0"/>
              </a:rPr>
              <a:t>Manish revised 2 of 3 · not accepted</a:t>
            </a:r>
            <a:endParaRPr lang="en-ZA" sz="900" b="1">
              <a:solidFill>
                <a:schemeClr val="accent1"/>
              </a:solidFill>
              <a:latin typeface="Lato" panose="020F0502020204030203" pitchFamily="34" charset="0"/>
            </a:endParaRPr>
          </a:p>
        </p:txBody>
      </p:sp>
      <p:sp>
        <p:nvSpPr>
          <p:cNvPr id="114" name="Lever 2 1">
            <a:extLst>
              <a:ext uri="{FF2B5EF4-FFF2-40B4-BE49-F238E27FC236}">
                <a16:creationId xmlns:a16="http://schemas.microsoft.com/office/drawing/2014/main" id="{3C22EBDC-36D3-9310-D274-98A9134EA53A}"/>
              </a:ext>
            </a:extLst>
          </p:cNvPr>
          <p:cNvSpPr/>
          <p:nvPr/>
        </p:nvSpPr>
        <p:spPr>
          <a:xfrm>
            <a:off x="5943600" y="3454400"/>
            <a:ext cx="2425700" cy="1219200"/>
          </a:xfrm>
          <a:prstGeom prst="rect">
            <a:avLst/>
          </a:prstGeom>
          <a:solidFill>
            <a:srgbClr val="FFFFFF"/>
          </a:solidFill>
          <a:ln w="9525" cap="flat" cmpd="sng" algn="ctr">
            <a:solidFill>
              <a:schemeClr val="accent1"/>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76200" tIns="50800" rIns="76200" bIns="38100" rtlCol="0" anchor="t"/>
          <a:lstStyle/>
          <a:p>
            <a:pPr>
              <a:spcAft>
                <a:spcPts val="400"/>
              </a:spcAft>
            </a:pPr>
            <a:r>
              <a:rPr lang="en-GB" sz="1050" b="1">
                <a:solidFill>
                  <a:schemeClr val="accent1"/>
                </a:solidFill>
                <a:latin typeface="Lato" panose="020F0502020204030203" pitchFamily="34" charset="0"/>
              </a:rPr>
              <a:t>Electric share of new trucks</a:t>
            </a:r>
          </a:p>
          <a:p>
            <a:pPr>
              <a:spcAft>
                <a:spcPts val="200"/>
              </a:spcAft>
            </a:pPr>
            <a:r>
              <a:rPr lang="en-GB" sz="1050">
                <a:solidFill>
                  <a:schemeClr val="dk1"/>
                </a:solidFill>
                <a:latin typeface="Lato" panose="020F0502020204030203" pitchFamily="34" charset="0"/>
              </a:rPr>
              <a:t>Baseline: not reported</a:t>
            </a:r>
          </a:p>
          <a:p>
            <a:pPr>
              <a:spcAft>
                <a:spcPts val="200"/>
              </a:spcAft>
            </a:pPr>
            <a:r>
              <a:rPr lang="en-GB" sz="1050">
                <a:solidFill>
                  <a:schemeClr val="dk1"/>
                </a:solidFill>
                <a:latin typeface="Lato" panose="020F0502020204030203" pitchFamily="34" charset="0"/>
              </a:rPr>
              <a:t>2035: 0 / 3 / 9</a:t>
            </a:r>
            <a:endParaRPr lang="en-ZA" sz="1050">
              <a:solidFill>
                <a:schemeClr val="dk1"/>
              </a:solidFill>
              <a:latin typeface="Lato" panose="020F0502020204030203" pitchFamily="34" charset="0"/>
            </a:endParaRPr>
          </a:p>
        </p:txBody>
      </p:sp>
      <p:sp>
        <p:nvSpPr>
          <p:cNvPr id="115" name="Lever 2 1 tag">
            <a:extLst>
              <a:ext uri="{FF2B5EF4-FFF2-40B4-BE49-F238E27FC236}">
                <a16:creationId xmlns:a16="http://schemas.microsoft.com/office/drawing/2014/main" id="{D2EB5573-55CE-F0EE-7DD5-208412966A4E}"/>
              </a:ext>
            </a:extLst>
          </p:cNvPr>
          <p:cNvSpPr txBox="1"/>
          <p:nvPr/>
        </p:nvSpPr>
        <p:spPr>
          <a:xfrm>
            <a:off x="6019800" y="4483100"/>
            <a:ext cx="2273300" cy="152400"/>
          </a:xfrm>
          <a:prstGeom prst="rect">
            <a:avLst/>
          </a:prstGeom>
          <a:noFill/>
        </p:spPr>
        <p:txBody>
          <a:bodyPr vert="horz" wrap="square" lIns="0" tIns="0" rIns="0" bIns="0" rtlCol="0">
            <a:noAutofit/>
          </a:bodyPr>
          <a:lstStyle/>
          <a:p>
            <a:pPr>
              <a:spcAft>
                <a:spcPts val="200"/>
              </a:spcAft>
            </a:pPr>
            <a:r>
              <a:rPr lang="en-GB" sz="900" b="1">
                <a:solidFill>
                  <a:schemeClr val="accent1"/>
                </a:solidFill>
                <a:latin typeface="Lato" panose="020F0502020204030203" pitchFamily="34" charset="0"/>
              </a:rPr>
              <a:t>Added by Manish · not accepted</a:t>
            </a:r>
            <a:endParaRPr lang="en-ZA" sz="900" b="1">
              <a:solidFill>
                <a:schemeClr val="accent1"/>
              </a:solidFill>
              <a:latin typeface="Lato" panose="020F0502020204030203" pitchFamily="34" charset="0"/>
            </a:endParaRPr>
          </a:p>
        </p:txBody>
      </p:sp>
      <p:sp>
        <p:nvSpPr>
          <p:cNvPr id="116" name="Lever 2 2">
            <a:extLst>
              <a:ext uri="{FF2B5EF4-FFF2-40B4-BE49-F238E27FC236}">
                <a16:creationId xmlns:a16="http://schemas.microsoft.com/office/drawing/2014/main" id="{22D11BF0-F10E-B7E8-6F87-1A3C281D7056}"/>
              </a:ext>
            </a:extLst>
          </p:cNvPr>
          <p:cNvSpPr/>
          <p:nvPr/>
        </p:nvSpPr>
        <p:spPr>
          <a:xfrm>
            <a:off x="5943600" y="4876800"/>
            <a:ext cx="2425700" cy="1219200"/>
          </a:xfrm>
          <a:prstGeom prst="rect">
            <a:avLst/>
          </a:prstGeom>
          <a:solidFill>
            <a:srgbClr val="FFFFFF"/>
          </a:solidFill>
          <a:ln w="9525" cap="flat" cmpd="sng" algn="ctr">
            <a:solidFill>
              <a:schemeClr val="accent1"/>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76200" tIns="50800" rIns="76200" bIns="38100" rtlCol="0" anchor="t"/>
          <a:lstStyle/>
          <a:p>
            <a:pPr>
              <a:spcAft>
                <a:spcPts val="400"/>
              </a:spcAft>
            </a:pPr>
            <a:r>
              <a:rPr lang="en-GB" sz="1050" b="1">
                <a:solidFill>
                  <a:schemeClr val="accent1"/>
                </a:solidFill>
                <a:latin typeface="Lato" panose="020F0502020204030203" pitchFamily="34" charset="0"/>
              </a:rPr>
              <a:t>Rail passenger journeys</a:t>
            </a:r>
          </a:p>
          <a:p>
            <a:pPr>
              <a:spcAft>
                <a:spcPts val="200"/>
              </a:spcAft>
            </a:pPr>
            <a:r>
              <a:rPr lang="en-GB" sz="1050">
                <a:solidFill>
                  <a:schemeClr val="dk1"/>
                </a:solidFill>
                <a:latin typeface="Lato" panose="020F0502020204030203" pitchFamily="34" charset="0"/>
              </a:rPr>
              <a:t>Baseline: 74m a year</a:t>
            </a:r>
          </a:p>
          <a:p>
            <a:pPr>
              <a:spcAft>
                <a:spcPts val="200"/>
              </a:spcAft>
            </a:pPr>
            <a:r>
              <a:rPr lang="en-GB" sz="1050">
                <a:solidFill>
                  <a:schemeClr val="dk1"/>
                </a:solidFill>
                <a:latin typeface="Lato" panose="020F0502020204030203" pitchFamily="34" charset="0"/>
              </a:rPr>
              <a:t>2035: 100 / 250 / 320</a:t>
            </a:r>
            <a:endParaRPr lang="en-ZA" sz="1050">
              <a:solidFill>
                <a:schemeClr val="dk1"/>
              </a:solidFill>
              <a:latin typeface="Lato" panose="020F0502020204030203" pitchFamily="34" charset="0"/>
            </a:endParaRPr>
          </a:p>
        </p:txBody>
      </p:sp>
      <p:sp>
        <p:nvSpPr>
          <p:cNvPr id="117" name="Lever 2 2 tag">
            <a:extLst>
              <a:ext uri="{FF2B5EF4-FFF2-40B4-BE49-F238E27FC236}">
                <a16:creationId xmlns:a16="http://schemas.microsoft.com/office/drawing/2014/main" id="{27488D1E-D98F-D452-2279-2EA4D43F149B}"/>
              </a:ext>
            </a:extLst>
          </p:cNvPr>
          <p:cNvSpPr txBox="1"/>
          <p:nvPr/>
        </p:nvSpPr>
        <p:spPr>
          <a:xfrm>
            <a:off x="6019800" y="5905500"/>
            <a:ext cx="2273300" cy="152400"/>
          </a:xfrm>
          <a:prstGeom prst="rect">
            <a:avLst/>
          </a:prstGeom>
          <a:noFill/>
        </p:spPr>
        <p:txBody>
          <a:bodyPr vert="horz" wrap="square" lIns="0" tIns="0" rIns="0" bIns="0" rtlCol="0">
            <a:noAutofit/>
          </a:bodyPr>
          <a:lstStyle/>
          <a:p>
            <a:pPr>
              <a:spcAft>
                <a:spcPts val="200"/>
              </a:spcAft>
            </a:pPr>
            <a:r>
              <a:rPr lang="en-GB" sz="900" b="1">
                <a:solidFill>
                  <a:schemeClr val="accent1"/>
                </a:solidFill>
                <a:latin typeface="Lato" panose="020F0502020204030203" pitchFamily="34" charset="0"/>
              </a:rPr>
              <a:t>Added by Manish · not accepted</a:t>
            </a:r>
            <a:endParaRPr lang="en-ZA" sz="900" b="1">
              <a:solidFill>
                <a:schemeClr val="accent1"/>
              </a:solidFill>
              <a:latin typeface="Lato" panose="020F0502020204030203" pitchFamily="34" charset="0"/>
            </a:endParaRPr>
          </a:p>
        </p:txBody>
      </p:sp>
      <p:sp>
        <p:nvSpPr>
          <p:cNvPr id="118" name="Lever panel 3">
            <a:extLst>
              <a:ext uri="{FF2B5EF4-FFF2-40B4-BE49-F238E27FC236}">
                <a16:creationId xmlns:a16="http://schemas.microsoft.com/office/drawing/2014/main" id="{0E60E0F5-0B88-F8DC-BCE6-96FAD596AD64}"/>
              </a:ext>
            </a:extLst>
          </p:cNvPr>
          <p:cNvSpPr/>
          <p:nvPr/>
        </p:nvSpPr>
        <p:spPr>
          <a:xfrm>
            <a:off x="8585200" y="1549400"/>
            <a:ext cx="2628900" cy="4597400"/>
          </a:xfrm>
          <a:prstGeom prst="rect">
            <a:avLst/>
          </a:prstGeom>
          <a:solidFill>
            <a:srgbClr val="EEF1F6"/>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119" name="Lever panel 3 heading">
            <a:extLst>
              <a:ext uri="{FF2B5EF4-FFF2-40B4-BE49-F238E27FC236}">
                <a16:creationId xmlns:a16="http://schemas.microsoft.com/office/drawing/2014/main" id="{AA73FBF8-3D74-5A3D-744F-B335F4D64CD6}"/>
              </a:ext>
            </a:extLst>
          </p:cNvPr>
          <p:cNvSpPr txBox="1"/>
          <p:nvPr/>
        </p:nvSpPr>
        <p:spPr>
          <a:xfrm>
            <a:off x="8686800" y="1638300"/>
            <a:ext cx="2425700" cy="241300"/>
          </a:xfrm>
          <a:prstGeom prst="rect">
            <a:avLst/>
          </a:prstGeom>
          <a:noFill/>
        </p:spPr>
        <p:txBody>
          <a:bodyPr vert="horz" wrap="square" lIns="0" tIns="0" rIns="0" bIns="0" rtlCol="0">
            <a:noAutofit/>
          </a:bodyPr>
          <a:lstStyle/>
          <a:p>
            <a:pPr>
              <a:spcAft>
                <a:spcPts val="200"/>
              </a:spcAft>
            </a:pPr>
            <a:r>
              <a:rPr lang="en-ZA" sz="1200" b="1">
                <a:solidFill>
                  <a:schemeClr val="accent1"/>
                </a:solidFill>
                <a:latin typeface="Lato" panose="020F0502020204030203" pitchFamily="34" charset="0"/>
              </a:rPr>
              <a:t>4  POWER</a:t>
            </a:r>
          </a:p>
        </p:txBody>
      </p:sp>
      <p:cxnSp>
        <p:nvCxnSpPr>
          <p:cNvPr id="120" name="Column heading rule">
            <a:extLst>
              <a:ext uri="{FF2B5EF4-FFF2-40B4-BE49-F238E27FC236}">
                <a16:creationId xmlns:a16="http://schemas.microsoft.com/office/drawing/2014/main" id="{0F4FA91F-D3C1-5DC8-C631-1C7BED46470D}"/>
              </a:ext>
            </a:extLst>
          </p:cNvPr>
          <p:cNvCxnSpPr/>
          <p:nvPr/>
        </p:nvCxnSpPr>
        <p:spPr>
          <a:xfrm>
            <a:off x="8686800" y="1917700"/>
            <a:ext cx="2425700" cy="0"/>
          </a:xfrm>
          <a:prstGeom prst="straightConnector1">
            <a:avLst/>
          </a:prstGeom>
          <a:ln w="8255">
            <a:solidFill>
              <a:schemeClr val="dk1"/>
            </a:solidFill>
          </a:ln>
        </p:spPr>
        <p:style>
          <a:lnRef idx="1">
            <a:schemeClr val="accent1"/>
          </a:lnRef>
          <a:fillRef idx="0">
            <a:schemeClr val="accent1"/>
          </a:fillRef>
          <a:effectRef idx="0">
            <a:schemeClr val="accent1"/>
          </a:effectRef>
          <a:fontRef idx="minor">
            <a:schemeClr val="tx1"/>
          </a:fontRef>
        </p:style>
      </p:cxnSp>
      <p:sp>
        <p:nvSpPr>
          <p:cNvPr id="121" name="Lever 3 0">
            <a:extLst>
              <a:ext uri="{FF2B5EF4-FFF2-40B4-BE49-F238E27FC236}">
                <a16:creationId xmlns:a16="http://schemas.microsoft.com/office/drawing/2014/main" id="{5A80AE03-D2CA-C7EE-98E1-E940D6A8F87F}"/>
              </a:ext>
            </a:extLst>
          </p:cNvPr>
          <p:cNvSpPr/>
          <p:nvPr/>
        </p:nvSpPr>
        <p:spPr>
          <a:xfrm>
            <a:off x="8686800" y="2032000"/>
            <a:ext cx="2425700" cy="1219200"/>
          </a:xfrm>
          <a:prstGeom prst="rect">
            <a:avLst/>
          </a:prstGeom>
          <a:solidFill>
            <a:srgbClr val="FFFFFF"/>
          </a:solidFill>
          <a:ln w="9525" cap="flat" cmpd="sng" algn="ctr">
            <a:solidFill>
              <a:schemeClr val="accent1"/>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76200" tIns="50800" rIns="76200" bIns="38100" rtlCol="0" anchor="t"/>
          <a:lstStyle/>
          <a:p>
            <a:pPr>
              <a:spcAft>
                <a:spcPts val="400"/>
              </a:spcAft>
            </a:pPr>
            <a:r>
              <a:rPr lang="en-ZA" sz="1050" b="1">
                <a:solidFill>
                  <a:schemeClr val="accent1"/>
                </a:solidFill>
                <a:latin typeface="Lato" panose="020F0502020204030203" pitchFamily="34" charset="0"/>
              </a:rPr>
              <a:t>Diesel turbine output</a:t>
            </a:r>
          </a:p>
          <a:p>
            <a:pPr>
              <a:spcAft>
                <a:spcPts val="200"/>
              </a:spcAft>
            </a:pPr>
            <a:r>
              <a:rPr lang="en-ZA" sz="1050">
                <a:solidFill>
                  <a:schemeClr val="dk1"/>
                </a:solidFill>
                <a:latin typeface="Lato" panose="020F0502020204030203" pitchFamily="34" charset="0"/>
              </a:rPr>
              <a:t>Baseline: 100 (FY24 = 100)</a:t>
            </a:r>
          </a:p>
          <a:p>
            <a:pPr>
              <a:spcAft>
                <a:spcPts val="200"/>
              </a:spcAft>
            </a:pPr>
            <a:r>
              <a:rPr lang="en-ZA" sz="1050">
                <a:solidFill>
                  <a:schemeClr val="dk1"/>
                </a:solidFill>
                <a:latin typeface="Lato" panose="020F0502020204030203" pitchFamily="34" charset="0"/>
              </a:rPr>
              <a:t>2035: 5 / 15 / 50</a:t>
            </a:r>
          </a:p>
        </p:txBody>
      </p:sp>
      <p:sp>
        <p:nvSpPr>
          <p:cNvPr id="122" name="Lever 3 0 tag">
            <a:extLst>
              <a:ext uri="{FF2B5EF4-FFF2-40B4-BE49-F238E27FC236}">
                <a16:creationId xmlns:a16="http://schemas.microsoft.com/office/drawing/2014/main" id="{67FB99CD-3E1B-2C93-779C-16DED53BEBDB}"/>
              </a:ext>
            </a:extLst>
          </p:cNvPr>
          <p:cNvSpPr txBox="1"/>
          <p:nvPr/>
        </p:nvSpPr>
        <p:spPr>
          <a:xfrm>
            <a:off x="8763000" y="3060700"/>
            <a:ext cx="2273300" cy="152400"/>
          </a:xfrm>
          <a:prstGeom prst="rect">
            <a:avLst/>
          </a:prstGeom>
          <a:noFill/>
        </p:spPr>
        <p:txBody>
          <a:bodyPr vert="horz" wrap="square" lIns="0" tIns="0" rIns="0" bIns="0" rtlCol="0">
            <a:noAutofit/>
          </a:bodyPr>
          <a:lstStyle/>
          <a:p>
            <a:pPr>
              <a:spcAft>
                <a:spcPts val="200"/>
              </a:spcAft>
            </a:pPr>
            <a:r>
              <a:rPr lang="en-GB" sz="900" b="1">
                <a:solidFill>
                  <a:schemeClr val="accent1"/>
                </a:solidFill>
                <a:latin typeface="Lato" panose="020F0502020204030203" pitchFamily="34" charset="0"/>
              </a:rPr>
              <a:t>Nigel proposal kept · not accepted</a:t>
            </a:r>
            <a:endParaRPr lang="en-ZA" sz="900" b="1">
              <a:solidFill>
                <a:schemeClr val="accent1"/>
              </a:solidFill>
              <a:latin typeface="Lato" panose="020F0502020204030203" pitchFamily="34" charset="0"/>
            </a:endParaRPr>
          </a:p>
        </p:txBody>
      </p:sp>
      <p:sp>
        <p:nvSpPr>
          <p:cNvPr id="123" name="Lever 3 1">
            <a:extLst>
              <a:ext uri="{FF2B5EF4-FFF2-40B4-BE49-F238E27FC236}">
                <a16:creationId xmlns:a16="http://schemas.microsoft.com/office/drawing/2014/main" id="{7FE41BFA-69B8-E4C1-28FE-77DD857D6095}"/>
              </a:ext>
            </a:extLst>
          </p:cNvPr>
          <p:cNvSpPr/>
          <p:nvPr/>
        </p:nvSpPr>
        <p:spPr>
          <a:xfrm>
            <a:off x="8686800" y="3454400"/>
            <a:ext cx="2425700" cy="1219200"/>
          </a:xfrm>
          <a:prstGeom prst="rect">
            <a:avLst/>
          </a:prstGeom>
          <a:solidFill>
            <a:srgbClr val="FFFFFF"/>
          </a:solidFill>
          <a:ln w="9525" cap="flat" cmpd="sng" algn="ctr">
            <a:solidFill>
              <a:schemeClr val="accent1"/>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76200" tIns="50800" rIns="76200" bIns="38100" rtlCol="0" anchor="t"/>
          <a:lstStyle/>
          <a:p>
            <a:pPr>
              <a:spcAft>
                <a:spcPts val="400"/>
              </a:spcAft>
            </a:pPr>
            <a:r>
              <a:rPr lang="en-GB" sz="1050" b="1">
                <a:solidFill>
                  <a:schemeClr val="accent1"/>
                </a:solidFill>
                <a:latin typeface="Lato" panose="020F0502020204030203" pitchFamily="34" charset="0"/>
              </a:rPr>
              <a:t>Private backup generation</a:t>
            </a:r>
          </a:p>
          <a:p>
            <a:pPr>
              <a:spcAft>
                <a:spcPts val="200"/>
              </a:spcAft>
            </a:pPr>
            <a:r>
              <a:rPr lang="en-GB" sz="1050">
                <a:solidFill>
                  <a:schemeClr val="dk1"/>
                </a:solidFill>
                <a:latin typeface="Lato" panose="020F0502020204030203" pitchFamily="34" charset="0"/>
              </a:rPr>
              <a:t>Baseline: not measured</a:t>
            </a:r>
          </a:p>
          <a:p>
            <a:pPr>
              <a:spcAft>
                <a:spcPts val="200"/>
              </a:spcAft>
            </a:pPr>
            <a:r>
              <a:rPr lang="en-GB" sz="1050">
                <a:solidFill>
                  <a:schemeClr val="dk1"/>
                </a:solidFill>
                <a:latin typeface="Lato" panose="020F0502020204030203" pitchFamily="34" charset="0"/>
              </a:rPr>
              <a:t>2035: 0 / 0 / 0.5</a:t>
            </a:r>
            <a:endParaRPr lang="en-ZA" sz="1050">
              <a:solidFill>
                <a:schemeClr val="dk1"/>
              </a:solidFill>
              <a:latin typeface="Lato" panose="020F0502020204030203" pitchFamily="34" charset="0"/>
            </a:endParaRPr>
          </a:p>
        </p:txBody>
      </p:sp>
      <p:sp>
        <p:nvSpPr>
          <p:cNvPr id="124" name="Lever 3 1 tag">
            <a:extLst>
              <a:ext uri="{FF2B5EF4-FFF2-40B4-BE49-F238E27FC236}">
                <a16:creationId xmlns:a16="http://schemas.microsoft.com/office/drawing/2014/main" id="{56A5BFB8-50A1-2CC4-8BD2-59442B10D036}"/>
              </a:ext>
            </a:extLst>
          </p:cNvPr>
          <p:cNvSpPr txBox="1"/>
          <p:nvPr/>
        </p:nvSpPr>
        <p:spPr>
          <a:xfrm>
            <a:off x="8763000" y="4483100"/>
            <a:ext cx="2273300" cy="152400"/>
          </a:xfrm>
          <a:prstGeom prst="rect">
            <a:avLst/>
          </a:prstGeom>
          <a:noFill/>
        </p:spPr>
        <p:txBody>
          <a:bodyPr vert="horz" wrap="square" lIns="0" tIns="0" rIns="0" bIns="0" rtlCol="0">
            <a:noAutofit/>
          </a:bodyPr>
          <a:lstStyle/>
          <a:p>
            <a:pPr>
              <a:spcAft>
                <a:spcPts val="200"/>
              </a:spcAft>
            </a:pPr>
            <a:r>
              <a:rPr lang="en-GB" sz="900" b="1">
                <a:solidFill>
                  <a:schemeClr val="accent1"/>
                </a:solidFill>
                <a:latin typeface="Lato" panose="020F0502020204030203" pitchFamily="34" charset="0"/>
              </a:rPr>
              <a:t>Added by Manish · not accepted</a:t>
            </a:r>
            <a:endParaRPr lang="en-ZA" sz="900" b="1">
              <a:solidFill>
                <a:schemeClr val="accent1"/>
              </a:solidFill>
              <a:latin typeface="Lato" panose="020F0502020204030203" pitchFamily="34" charset="0"/>
            </a:endParaRPr>
          </a:p>
        </p:txBody>
      </p:sp>
      <p:sp>
        <p:nvSpPr>
          <p:cNvPr id="125" name="Lever 3 reported">
            <a:extLst>
              <a:ext uri="{FF2B5EF4-FFF2-40B4-BE49-F238E27FC236}">
                <a16:creationId xmlns:a16="http://schemas.microsoft.com/office/drawing/2014/main" id="{53EB325C-36B3-458D-9D6C-D2FD82505227}"/>
              </a:ext>
            </a:extLst>
          </p:cNvPr>
          <p:cNvSpPr/>
          <p:nvPr/>
        </p:nvSpPr>
        <p:spPr>
          <a:xfrm>
            <a:off x="8686800" y="4876800"/>
            <a:ext cx="2425700" cy="1219200"/>
          </a:xfrm>
          <a:prstGeom prst="rect">
            <a:avLst/>
          </a:prstGeom>
          <a:solidFill>
            <a:srgbClr val="FFFFFF"/>
          </a:solidFill>
          <a:ln w="9525" cap="flat" cmpd="sng" algn="ctr">
            <a:solidFill>
              <a:schemeClr val="accent1"/>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76200" tIns="50800" rIns="76200" bIns="38100" rtlCol="0" anchor="t"/>
          <a:lstStyle/>
          <a:p>
            <a:pPr>
              <a:spcAft>
                <a:spcPts val="400"/>
              </a:spcAft>
            </a:pPr>
            <a:r>
              <a:rPr lang="en-GB" sz="1050" b="1">
                <a:solidFill>
                  <a:schemeClr val="accent1"/>
                </a:solidFill>
                <a:latin typeface="Lato" panose="020F0502020204030203" pitchFamily="34" charset="0"/>
              </a:rPr>
              <a:t>Reported power diesel</a:t>
            </a:r>
          </a:p>
          <a:p>
            <a:pPr>
              <a:spcAft>
                <a:spcPts val="200"/>
              </a:spcAft>
            </a:pPr>
            <a:r>
              <a:rPr lang="en-GB" sz="1050">
                <a:solidFill>
                  <a:schemeClr val="dk1"/>
                </a:solidFill>
                <a:latin typeface="Lato" panose="020F0502020204030203" pitchFamily="34" charset="0"/>
              </a:rPr>
              <a:t>FY24 1.6B L, FY25 0.9B L</a:t>
            </a:r>
          </a:p>
          <a:p>
            <a:pPr>
              <a:spcAft>
                <a:spcPts val="200"/>
              </a:spcAft>
            </a:pPr>
            <a:r>
              <a:rPr lang="en-GB" sz="1050">
                <a:solidFill>
                  <a:schemeClr val="dk1"/>
                </a:solidFill>
                <a:latin typeface="Lato" panose="020F0502020204030203" pitchFamily="34" charset="0"/>
              </a:rPr>
              <a:t>Falling as load-shedding ended</a:t>
            </a:r>
            <a:endParaRPr lang="en-ZA" sz="1050">
              <a:solidFill>
                <a:schemeClr val="dk1"/>
              </a:solidFill>
              <a:latin typeface="Lato" panose="020F0502020204030203" pitchFamily="34" charset="0"/>
            </a:endParaRPr>
          </a:p>
        </p:txBody>
      </p:sp>
      <p:sp>
        <p:nvSpPr>
          <p:cNvPr id="126" name="Lever 3 reported tag">
            <a:extLst>
              <a:ext uri="{FF2B5EF4-FFF2-40B4-BE49-F238E27FC236}">
                <a16:creationId xmlns:a16="http://schemas.microsoft.com/office/drawing/2014/main" id="{63342B72-8212-1ECE-28B3-A84A64F2E52F}"/>
              </a:ext>
            </a:extLst>
          </p:cNvPr>
          <p:cNvSpPr txBox="1"/>
          <p:nvPr/>
        </p:nvSpPr>
        <p:spPr>
          <a:xfrm>
            <a:off x="8763000" y="5905500"/>
            <a:ext cx="2273300" cy="152400"/>
          </a:xfrm>
          <a:prstGeom prst="rect">
            <a:avLst/>
          </a:prstGeom>
          <a:noFill/>
        </p:spPr>
        <p:txBody>
          <a:bodyPr vert="horz" wrap="square" lIns="0" tIns="0" rIns="0" bIns="0" rtlCol="0">
            <a:noAutofit/>
          </a:bodyPr>
          <a:lstStyle/>
          <a:p>
            <a:pPr>
              <a:spcAft>
                <a:spcPts val="200"/>
              </a:spcAft>
            </a:pPr>
            <a:r>
              <a:rPr lang="en-ZA" sz="900" b="1">
                <a:solidFill>
                  <a:schemeClr val="accent1"/>
                </a:solidFill>
                <a:latin typeface="Lato" panose="020F0502020204030203" pitchFamily="34" charset="0"/>
              </a:rPr>
              <a:t>Observed and estimated · DR07</a:t>
            </a:r>
          </a:p>
        </p:txBody>
      </p:sp>
    </p:spTree>
    <p:extLst>
      <p:ext uri="{BB962C8B-B14F-4D97-AF65-F5344CB8AC3E}">
        <p14:creationId xmlns:p14="http://schemas.microsoft.com/office/powerpoint/2010/main" val="156074712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a:solidFill>
                  <a:schemeClr val="dk1"/>
                </a:solidFill>
                <a:latin typeface="Lato"/>
              </a:rPr>
              <a:t>Port and logistics system: how fuel reaches coastal and inland demand</a:t>
            </a:r>
            <a:endParaRPr dirty="0">
              <a:solidFill>
                <a:schemeClr val="dk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6</a:t>
            </a:r>
            <a:endParaRPr sz="1100"/>
          </a:p>
        </p:txBody>
      </p:sp>
      <p:sp>
        <p:nvSpPr>
          <p:cNvPr id="8" name="Unified source footer"/>
          <p:cNvSpPr txBox="1"/>
          <p:nvPr/>
        </p:nvSpPr>
        <p:spPr>
          <a:xfrm>
            <a:off x="457200" y="6184900"/>
            <a:ext cx="10652760" cy="104837"/>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GB" sz="670"/>
              <a:t>Source: Manish DR04, DR08 (8 Oct): SARS customs by office, Transnet Pipelines 2020, NERSA, department zone differentials, CEF. Pack research: Transnet Pipelines 2024, Transnet IR 2025, NERSA jet fuel paper (Jun 2026). Overlaps: overlap log, 8 Oct.</a:t>
            </a:r>
            <a:endParaRPr sz="670"/>
          </a:p>
        </p:txBody>
      </p:sp>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F6826E68-0B27-3E9A-731F-737F28F0FB19}"/>
              </a:ext>
            </a:extLst>
          </p:cNvPr>
          <p:cNvSpPr/>
          <p:nvPr/>
        </p:nvSpPr>
        <p:spPr>
          <a:xfrm>
            <a:off x="457200" y="88900"/>
            <a:ext cx="2575560" cy="279400"/>
          </a:xfrm>
          <a:prstGeom prst="rect">
            <a:avLst/>
          </a:prstGeom>
          <a:solidFill>
            <a:schemeClr val="lt1">
              <a:shade val="965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Executive summary</a:t>
            </a:r>
          </a:p>
        </p:txBody>
      </p:sp>
      <p:sp>
        <p:nvSpPr>
          <p:cNvPr id="10" name="SCR 2">
            <a:extLst>
              <a:ext uri="{FF2B5EF4-FFF2-40B4-BE49-F238E27FC236}">
                <a16:creationId xmlns:a16="http://schemas.microsoft.com/office/drawing/2014/main" id="{DB3FBD92-8DAF-542E-83C8-61B53DE1024F}"/>
              </a:ext>
            </a:extLst>
          </p:cNvPr>
          <p:cNvSpPr/>
          <p:nvPr/>
        </p:nvSpPr>
        <p:spPr>
          <a:xfrm>
            <a:off x="3149600" y="88900"/>
            <a:ext cx="2575560" cy="279400"/>
          </a:xfrm>
          <a:prstGeom prst="rect">
            <a:avLst/>
          </a:prstGeom>
          <a:solidFill>
            <a:schemeClr val="lt1">
              <a:shade val="965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Situation</a:t>
            </a:r>
          </a:p>
        </p:txBody>
      </p:sp>
      <p:sp>
        <p:nvSpPr>
          <p:cNvPr id="11" name="SCR 3">
            <a:extLst>
              <a:ext uri="{FF2B5EF4-FFF2-40B4-BE49-F238E27FC236}">
                <a16:creationId xmlns:a16="http://schemas.microsoft.com/office/drawing/2014/main" id="{8954CB5A-2161-59A0-D177-7E44BC8E444E}"/>
              </a:ext>
            </a:extLst>
          </p:cNvPr>
          <p:cNvSpPr/>
          <p:nvPr/>
        </p:nvSpPr>
        <p:spPr>
          <a:xfrm>
            <a:off x="5842000" y="88900"/>
            <a:ext cx="2575560" cy="279400"/>
          </a:xfrm>
          <a:prstGeom prst="rect">
            <a:avLst/>
          </a:prstGeom>
          <a:solidFill>
            <a:schemeClr val="lt1">
              <a:shade val="965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Complication</a:t>
            </a:r>
          </a:p>
        </p:txBody>
      </p:sp>
      <p:sp>
        <p:nvSpPr>
          <p:cNvPr id="12" name="SCR 4">
            <a:extLst>
              <a:ext uri="{FF2B5EF4-FFF2-40B4-BE49-F238E27FC236}">
                <a16:creationId xmlns:a16="http://schemas.microsoft.com/office/drawing/2014/main" id="{9E01BBF5-098D-3FC4-718C-6B01C403EC02}"/>
              </a:ext>
            </a:extLst>
          </p:cNvPr>
          <p:cNvSpPr/>
          <p:nvPr/>
        </p:nvSpPr>
        <p:spPr>
          <a:xfrm>
            <a:off x="8534400" y="88900"/>
            <a:ext cx="2575560" cy="279400"/>
          </a:xfrm>
          <a:prstGeom prst="rect">
            <a:avLst/>
          </a:prstGeom>
          <a:solidFill>
            <a:schemeClr val="accent1"/>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latin typeface="Lato" panose="020F0502020204030203" pitchFamily="34" charset="0"/>
              </a:rPr>
              <a:t>Resolution</a:t>
            </a:r>
          </a:p>
        </p:txBody>
      </p:sp>
      <p:sp>
        <p:nvSpPr>
          <p:cNvPr id="47" name="Mode panel 1">
            <a:extLst>
              <a:ext uri="{FF2B5EF4-FFF2-40B4-BE49-F238E27FC236}">
                <a16:creationId xmlns:a16="http://schemas.microsoft.com/office/drawing/2014/main" id="{BC8F754E-2F33-AD12-B698-06583834B111}"/>
              </a:ext>
            </a:extLst>
          </p:cNvPr>
          <p:cNvSpPr/>
          <p:nvPr/>
        </p:nvSpPr>
        <p:spPr>
          <a:xfrm>
            <a:off x="355600" y="1549400"/>
            <a:ext cx="2628900" cy="4597400"/>
          </a:xfrm>
          <a:prstGeom prst="rect">
            <a:avLst/>
          </a:prstGeom>
          <a:solidFill>
            <a:srgbClr val="EEF1F6"/>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92" name="Mode heading 1">
            <a:extLst>
              <a:ext uri="{FF2B5EF4-FFF2-40B4-BE49-F238E27FC236}">
                <a16:creationId xmlns:a16="http://schemas.microsoft.com/office/drawing/2014/main" id="{EA4FBB4D-94AB-5D3F-EDDE-B23D01DCF188}"/>
              </a:ext>
            </a:extLst>
          </p:cNvPr>
          <p:cNvSpPr txBox="1"/>
          <p:nvPr/>
        </p:nvSpPr>
        <p:spPr>
          <a:xfrm>
            <a:off x="457200" y="1638300"/>
            <a:ext cx="2425700" cy="241300"/>
          </a:xfrm>
          <a:prstGeom prst="rect">
            <a:avLst/>
          </a:prstGeom>
          <a:noFill/>
        </p:spPr>
        <p:txBody>
          <a:bodyPr vert="horz" wrap="square" lIns="0" tIns="0" rIns="0" bIns="0" rtlCol="0">
            <a:noAutofit/>
          </a:bodyPr>
          <a:lstStyle/>
          <a:p>
            <a:pPr>
              <a:spcAft>
                <a:spcPts val="200"/>
              </a:spcAft>
            </a:pPr>
            <a:r>
              <a:rPr lang="en-GB" sz="1200" b="1">
                <a:solidFill>
                  <a:schemeClr val="accent1"/>
                </a:solidFill>
                <a:latin typeface="Lato" panose="020F0502020204030203" pitchFamily="34" charset="0"/>
              </a:rPr>
              <a:t>1  PORTS AND LIQUID BULK</a:t>
            </a:r>
            <a:endParaRPr lang="en-ZA" sz="1200" b="1">
              <a:solidFill>
                <a:schemeClr val="accent1"/>
              </a:solidFill>
              <a:latin typeface="Lato" panose="020F0502020204030203" pitchFamily="34" charset="0"/>
            </a:endParaRPr>
          </a:p>
        </p:txBody>
      </p:sp>
      <p:cxnSp>
        <p:nvCxnSpPr>
          <p:cNvPr id="93" name="Column heading rule">
            <a:extLst>
              <a:ext uri="{FF2B5EF4-FFF2-40B4-BE49-F238E27FC236}">
                <a16:creationId xmlns:a16="http://schemas.microsoft.com/office/drawing/2014/main" id="{BEAB02D7-63DA-2A4F-8C51-0BFE5112B66C}"/>
              </a:ext>
            </a:extLst>
          </p:cNvPr>
          <p:cNvCxnSpPr/>
          <p:nvPr/>
        </p:nvCxnSpPr>
        <p:spPr>
          <a:xfrm>
            <a:off x="457200" y="1917700"/>
            <a:ext cx="2425700" cy="0"/>
          </a:xfrm>
          <a:prstGeom prst="straightConnector1">
            <a:avLst/>
          </a:prstGeom>
          <a:ln w="8255">
            <a:solidFill>
              <a:schemeClr val="dk1"/>
            </a:solidFill>
          </a:ln>
        </p:spPr>
        <p:style>
          <a:lnRef idx="1">
            <a:schemeClr val="accent1"/>
          </a:lnRef>
          <a:fillRef idx="0">
            <a:schemeClr val="accent1"/>
          </a:fillRef>
          <a:effectRef idx="0">
            <a:schemeClr val="accent1"/>
          </a:effectRef>
          <a:fontRef idx="minor">
            <a:schemeClr val="tx1"/>
          </a:fontRef>
        </p:style>
      </p:cxnSp>
      <p:sp>
        <p:nvSpPr>
          <p:cNvPr id="94" name="Mode 1 row 1">
            <a:extLst>
              <a:ext uri="{FF2B5EF4-FFF2-40B4-BE49-F238E27FC236}">
                <a16:creationId xmlns:a16="http://schemas.microsoft.com/office/drawing/2014/main" id="{20720C73-118C-32F2-70A2-17DFC1691CF7}"/>
              </a:ext>
            </a:extLst>
          </p:cNvPr>
          <p:cNvSpPr/>
          <p:nvPr/>
        </p:nvSpPr>
        <p:spPr>
          <a:xfrm>
            <a:off x="457200" y="2006600"/>
            <a:ext cx="2425700" cy="889000"/>
          </a:xfrm>
          <a:prstGeom prst="rect">
            <a:avLst/>
          </a:prstGeom>
          <a:solidFill>
            <a:srgbClr val="FFFFFF"/>
          </a:solidFill>
          <a:ln w="9525" cap="flat" cmpd="sng" algn="ctr">
            <a:solidFill>
              <a:schemeClr val="accent1"/>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76200" tIns="50800" rIns="76200" bIns="38100" rtlCol="0" anchor="t"/>
          <a:lstStyle/>
          <a:p>
            <a:pPr>
              <a:spcAft>
                <a:spcPts val="400"/>
              </a:spcAft>
            </a:pPr>
            <a:r>
              <a:rPr lang="en-GB" sz="1050" b="1">
                <a:solidFill>
                  <a:schemeClr val="accent1"/>
                </a:solidFill>
                <a:latin typeface="Lato" panose="020F0502020204030203" pitchFamily="34" charset="0"/>
              </a:rPr>
              <a:t>Port network</a:t>
            </a:r>
          </a:p>
          <a:p>
            <a:pPr>
              <a:spcAft>
                <a:spcPts val="200"/>
              </a:spcAft>
            </a:pPr>
            <a:r>
              <a:rPr lang="en-GB" sz="1050">
                <a:solidFill>
                  <a:schemeClr val="dk1"/>
                </a:solidFill>
                <a:latin typeface="Lato" panose="020F0502020204030203" pitchFamily="34" charset="0"/>
              </a:rPr>
              <a:t>Durban 8 liquid-bulk berths</a:t>
            </a:r>
          </a:p>
          <a:p>
            <a:pPr>
              <a:spcAft>
                <a:spcPts val="200"/>
              </a:spcAft>
            </a:pPr>
            <a:r>
              <a:rPr lang="en-GB" sz="1050">
                <a:solidFill>
                  <a:schemeClr val="dk1"/>
                </a:solidFill>
                <a:latin typeface="Lato" panose="020F0502020204030203" pitchFamily="34" charset="0"/>
              </a:rPr>
              <a:t>Richards Bay 2; Island View hub</a:t>
            </a:r>
            <a:endParaRPr lang="en-ZA" sz="1050">
              <a:solidFill>
                <a:schemeClr val="dk1"/>
              </a:solidFill>
              <a:latin typeface="Lato" panose="020F0502020204030203" pitchFamily="34" charset="0"/>
            </a:endParaRPr>
          </a:p>
        </p:txBody>
      </p:sp>
      <p:sp>
        <p:nvSpPr>
          <p:cNvPr id="95" name="Mode 1 row 1 tag">
            <a:extLst>
              <a:ext uri="{FF2B5EF4-FFF2-40B4-BE49-F238E27FC236}">
                <a16:creationId xmlns:a16="http://schemas.microsoft.com/office/drawing/2014/main" id="{F65AC613-C4CD-FCEF-7D24-D12455B45788}"/>
              </a:ext>
            </a:extLst>
          </p:cNvPr>
          <p:cNvSpPr txBox="1"/>
          <p:nvPr/>
        </p:nvSpPr>
        <p:spPr>
          <a:xfrm>
            <a:off x="533400" y="2705100"/>
            <a:ext cx="2273300" cy="152400"/>
          </a:xfrm>
          <a:prstGeom prst="rect">
            <a:avLst/>
          </a:prstGeom>
          <a:noFill/>
        </p:spPr>
        <p:txBody>
          <a:bodyPr vert="horz" wrap="square" lIns="0" tIns="0" rIns="0" bIns="0" rtlCol="0">
            <a:noAutofit/>
          </a:bodyPr>
          <a:lstStyle/>
          <a:p>
            <a:pPr>
              <a:spcAft>
                <a:spcPts val="200"/>
              </a:spcAft>
            </a:pPr>
            <a:r>
              <a:rPr lang="en-ZA" sz="900" b="1">
                <a:solidFill>
                  <a:schemeClr val="accent1"/>
                </a:solidFill>
                <a:latin typeface="Lato" panose="020F0502020204030203" pitchFamily="34" charset="0"/>
              </a:rPr>
              <a:t>DR04 · TNPA Our Ports</a:t>
            </a:r>
          </a:p>
        </p:txBody>
      </p:sp>
      <p:sp>
        <p:nvSpPr>
          <p:cNvPr id="96" name="Mode 1 row 2">
            <a:extLst>
              <a:ext uri="{FF2B5EF4-FFF2-40B4-BE49-F238E27FC236}">
                <a16:creationId xmlns:a16="http://schemas.microsoft.com/office/drawing/2014/main" id="{80FC8D4E-1242-98CD-0C22-FC0BC55FDD1C}"/>
              </a:ext>
            </a:extLst>
          </p:cNvPr>
          <p:cNvSpPr/>
          <p:nvPr/>
        </p:nvSpPr>
        <p:spPr>
          <a:xfrm>
            <a:off x="457200" y="3073400"/>
            <a:ext cx="2425700" cy="889000"/>
          </a:xfrm>
          <a:prstGeom prst="rect">
            <a:avLst/>
          </a:prstGeom>
          <a:solidFill>
            <a:srgbClr val="FFFFFF"/>
          </a:solidFill>
          <a:ln w="9525" cap="flat" cmpd="sng" algn="ctr">
            <a:solidFill>
              <a:schemeClr val="accent1"/>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76200" tIns="50800" rIns="76200" bIns="38100" rtlCol="0" anchor="t"/>
          <a:lstStyle/>
          <a:p>
            <a:pPr>
              <a:spcAft>
                <a:spcPts val="400"/>
              </a:spcAft>
            </a:pPr>
            <a:r>
              <a:rPr lang="en-GB" sz="1050" b="1">
                <a:solidFill>
                  <a:schemeClr val="accent1"/>
                </a:solidFill>
                <a:latin typeface="Lato" panose="020F0502020204030203" pitchFamily="34" charset="0"/>
              </a:rPr>
              <a:t>Fuel imports by port, 2025</a:t>
            </a:r>
          </a:p>
          <a:p>
            <a:pPr>
              <a:spcAft>
                <a:spcPts val="200"/>
              </a:spcAft>
            </a:pPr>
            <a:r>
              <a:rPr lang="en-GB" sz="1050">
                <a:solidFill>
                  <a:schemeClr val="dk1"/>
                </a:solidFill>
                <a:latin typeface="Lato" panose="020F0502020204030203" pitchFamily="34" charset="0"/>
              </a:rPr>
              <a:t>Durban 13.2 of 16.7B L (79%)</a:t>
            </a:r>
          </a:p>
          <a:p>
            <a:pPr>
              <a:spcAft>
                <a:spcPts val="200"/>
              </a:spcAft>
            </a:pPr>
            <a:r>
              <a:rPr lang="en-GB" sz="1050">
                <a:solidFill>
                  <a:schemeClr val="dk1"/>
                </a:solidFill>
                <a:latin typeface="Lato" panose="020F0502020204030203" pitchFamily="34" charset="0"/>
              </a:rPr>
              <a:t>Cape Town 1.5, Richards Bay 0.7</a:t>
            </a:r>
            <a:endParaRPr lang="en-ZA" sz="1050">
              <a:solidFill>
                <a:schemeClr val="dk1"/>
              </a:solidFill>
              <a:latin typeface="Lato" panose="020F0502020204030203" pitchFamily="34" charset="0"/>
            </a:endParaRPr>
          </a:p>
        </p:txBody>
      </p:sp>
      <p:sp>
        <p:nvSpPr>
          <p:cNvPr id="97" name="Mode 1 row 2 tag">
            <a:extLst>
              <a:ext uri="{FF2B5EF4-FFF2-40B4-BE49-F238E27FC236}">
                <a16:creationId xmlns:a16="http://schemas.microsoft.com/office/drawing/2014/main" id="{937B2204-CDF6-1EEE-2E08-5A1E28A1E46D}"/>
              </a:ext>
            </a:extLst>
          </p:cNvPr>
          <p:cNvSpPr txBox="1"/>
          <p:nvPr/>
        </p:nvSpPr>
        <p:spPr>
          <a:xfrm>
            <a:off x="533400" y="3771900"/>
            <a:ext cx="2273300" cy="152400"/>
          </a:xfrm>
          <a:prstGeom prst="rect">
            <a:avLst/>
          </a:prstGeom>
          <a:noFill/>
        </p:spPr>
        <p:txBody>
          <a:bodyPr vert="horz" wrap="square" lIns="0" tIns="0" rIns="0" bIns="0" rtlCol="0">
            <a:noAutofit/>
          </a:bodyPr>
          <a:lstStyle/>
          <a:p>
            <a:pPr>
              <a:spcAft>
                <a:spcPts val="200"/>
              </a:spcAft>
            </a:pPr>
            <a:r>
              <a:rPr lang="en-ZA" sz="900" b="1">
                <a:solidFill>
                  <a:schemeClr val="accent1"/>
                </a:solidFill>
                <a:latin typeface="Lato" panose="020F0502020204030203" pitchFamily="34" charset="0"/>
              </a:rPr>
              <a:t>2025 · petrol, diesel · customs · DR04</a:t>
            </a:r>
          </a:p>
        </p:txBody>
      </p:sp>
      <p:sp>
        <p:nvSpPr>
          <p:cNvPr id="98" name="Mode 1 row 3">
            <a:extLst>
              <a:ext uri="{FF2B5EF4-FFF2-40B4-BE49-F238E27FC236}">
                <a16:creationId xmlns:a16="http://schemas.microsoft.com/office/drawing/2014/main" id="{95EBF8E9-3DE0-5EB3-19AE-266E7949E454}"/>
              </a:ext>
            </a:extLst>
          </p:cNvPr>
          <p:cNvSpPr/>
          <p:nvPr/>
        </p:nvSpPr>
        <p:spPr>
          <a:xfrm>
            <a:off x="457200" y="4140200"/>
            <a:ext cx="2425700" cy="889000"/>
          </a:xfrm>
          <a:prstGeom prst="rect">
            <a:avLst/>
          </a:prstGeom>
          <a:solidFill>
            <a:srgbClr val="FFFFFF"/>
          </a:solidFill>
          <a:ln w="9525" cap="flat" cmpd="sng" algn="ctr">
            <a:solidFill>
              <a:schemeClr val="accent1"/>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76200" tIns="50800" rIns="76200" bIns="38100" rtlCol="0" anchor="t"/>
          <a:lstStyle/>
          <a:p>
            <a:pPr>
              <a:spcAft>
                <a:spcPts val="400"/>
              </a:spcAft>
            </a:pPr>
            <a:r>
              <a:rPr lang="en-GB" sz="1050" b="1">
                <a:solidFill>
                  <a:schemeClr val="accent1"/>
                </a:solidFill>
                <a:latin typeface="Lato" panose="020F0502020204030203" pitchFamily="34" charset="0"/>
              </a:rPr>
              <a:t>All liquids landed, 2025</a:t>
            </a:r>
          </a:p>
          <a:p>
            <a:pPr>
              <a:spcAft>
                <a:spcPts val="200"/>
              </a:spcAft>
            </a:pPr>
            <a:r>
              <a:rPr lang="en-GB" sz="1050">
                <a:solidFill>
                  <a:schemeClr val="dk1"/>
                </a:solidFill>
                <a:latin typeface="Lato" panose="020F0502020204030203" pitchFamily="34" charset="0"/>
              </a:rPr>
              <a:t>Durban 20.7 of 31.3M t (66%)</a:t>
            </a:r>
          </a:p>
          <a:p>
            <a:pPr>
              <a:spcAft>
                <a:spcPts val="200"/>
              </a:spcAft>
            </a:pPr>
            <a:r>
              <a:rPr lang="en-GB" sz="1050">
                <a:solidFill>
                  <a:schemeClr val="dk1"/>
                </a:solidFill>
                <a:latin typeface="Lato" panose="020F0502020204030203" pitchFamily="34" charset="0"/>
              </a:rPr>
              <a:t>Crude, fuels, gas and chemicals</a:t>
            </a:r>
            <a:endParaRPr lang="en-ZA" sz="1050">
              <a:solidFill>
                <a:schemeClr val="dk1"/>
              </a:solidFill>
              <a:latin typeface="Lato" panose="020F0502020204030203" pitchFamily="34" charset="0"/>
            </a:endParaRPr>
          </a:p>
        </p:txBody>
      </p:sp>
      <p:sp>
        <p:nvSpPr>
          <p:cNvPr id="99" name="Mode 1 row 3 tag">
            <a:extLst>
              <a:ext uri="{FF2B5EF4-FFF2-40B4-BE49-F238E27FC236}">
                <a16:creationId xmlns:a16="http://schemas.microsoft.com/office/drawing/2014/main" id="{E79A95E8-6D62-C5DF-5005-75C2E2AF5732}"/>
              </a:ext>
            </a:extLst>
          </p:cNvPr>
          <p:cNvSpPr txBox="1"/>
          <p:nvPr/>
        </p:nvSpPr>
        <p:spPr>
          <a:xfrm>
            <a:off x="533400" y="4838700"/>
            <a:ext cx="2273300" cy="152400"/>
          </a:xfrm>
          <a:prstGeom prst="rect">
            <a:avLst/>
          </a:prstGeom>
          <a:noFill/>
        </p:spPr>
        <p:txBody>
          <a:bodyPr vert="horz" wrap="square" lIns="0" tIns="0" rIns="0" bIns="0" rtlCol="0">
            <a:noAutofit/>
          </a:bodyPr>
          <a:lstStyle/>
          <a:p>
            <a:pPr>
              <a:spcAft>
                <a:spcPts val="200"/>
              </a:spcAft>
            </a:pPr>
            <a:r>
              <a:rPr lang="en-GB" sz="900" b="1">
                <a:solidFill>
                  <a:schemeClr val="accent1"/>
                </a:solidFill>
                <a:latin typeface="Lato" panose="020F0502020204030203" pitchFamily="34" charset="0"/>
              </a:rPr>
              <a:t>2025 · TNPA tonnes, all products · DR04</a:t>
            </a:r>
            <a:endParaRPr lang="en-ZA" sz="900" b="1">
              <a:solidFill>
                <a:schemeClr val="accent1"/>
              </a:solidFill>
              <a:latin typeface="Lato" panose="020F0502020204030203" pitchFamily="34" charset="0"/>
            </a:endParaRPr>
          </a:p>
        </p:txBody>
      </p:sp>
      <p:sp>
        <p:nvSpPr>
          <p:cNvPr id="100" name="Mode 1 row 4">
            <a:extLst>
              <a:ext uri="{FF2B5EF4-FFF2-40B4-BE49-F238E27FC236}">
                <a16:creationId xmlns:a16="http://schemas.microsoft.com/office/drawing/2014/main" id="{B84C1DB2-4A7C-EB05-72BC-6635588427E1}"/>
              </a:ext>
            </a:extLst>
          </p:cNvPr>
          <p:cNvSpPr/>
          <p:nvPr/>
        </p:nvSpPr>
        <p:spPr>
          <a:xfrm>
            <a:off x="457200" y="5207000"/>
            <a:ext cx="2425700" cy="889000"/>
          </a:xfrm>
          <a:prstGeom prst="rect">
            <a:avLst/>
          </a:prstGeom>
          <a:solidFill>
            <a:srgbClr val="FFFFFF"/>
          </a:solidFill>
          <a:ln w="9525" cap="flat" cmpd="sng" algn="ctr">
            <a:solidFill>
              <a:schemeClr val="accent1"/>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76200" tIns="50800" rIns="76200" bIns="38100" rtlCol="0" anchor="t"/>
          <a:lstStyle/>
          <a:p>
            <a:pPr>
              <a:spcAft>
                <a:spcPts val="400"/>
              </a:spcAft>
            </a:pPr>
            <a:r>
              <a:rPr lang="en-GB" sz="1050" b="1">
                <a:solidFill>
                  <a:schemeClr val="accent1"/>
                </a:solidFill>
                <a:latin typeface="Lato" panose="020F0502020204030203" pitchFamily="34" charset="0"/>
              </a:rPr>
              <a:t>Durban role</a:t>
            </a:r>
          </a:p>
          <a:p>
            <a:pPr>
              <a:spcAft>
                <a:spcPts val="200"/>
              </a:spcAft>
            </a:pPr>
            <a:r>
              <a:rPr lang="en-GB" sz="1050">
                <a:solidFill>
                  <a:schemeClr val="dk1"/>
                </a:solidFill>
                <a:latin typeface="Lato" panose="020F0502020204030203" pitchFamily="34" charset="0"/>
              </a:rPr>
              <a:t>Ship receipt; dispatch mainly road</a:t>
            </a:r>
          </a:p>
          <a:p>
            <a:pPr>
              <a:spcAft>
                <a:spcPts val="200"/>
              </a:spcAft>
            </a:pPr>
            <a:r>
              <a:rPr lang="en-GB" sz="1050">
                <a:solidFill>
                  <a:schemeClr val="dk1"/>
                </a:solidFill>
                <a:latin typeface="Lato" panose="020F0502020204030203" pitchFamily="34" charset="0"/>
              </a:rPr>
              <a:t>Trunk-line injection to confirm</a:t>
            </a:r>
            <a:endParaRPr lang="en-ZA" sz="1050">
              <a:solidFill>
                <a:schemeClr val="dk1"/>
              </a:solidFill>
              <a:latin typeface="Lato" panose="020F0502020204030203" pitchFamily="34" charset="0"/>
            </a:endParaRPr>
          </a:p>
        </p:txBody>
      </p:sp>
      <p:sp>
        <p:nvSpPr>
          <p:cNvPr id="101" name="Mode 1 row 4 tag">
            <a:extLst>
              <a:ext uri="{FF2B5EF4-FFF2-40B4-BE49-F238E27FC236}">
                <a16:creationId xmlns:a16="http://schemas.microsoft.com/office/drawing/2014/main" id="{DC9F664B-A118-06BA-6049-8710DC4407D5}"/>
              </a:ext>
            </a:extLst>
          </p:cNvPr>
          <p:cNvSpPr txBox="1"/>
          <p:nvPr/>
        </p:nvSpPr>
        <p:spPr>
          <a:xfrm>
            <a:off x="533400" y="5905500"/>
            <a:ext cx="2273300" cy="152400"/>
          </a:xfrm>
          <a:prstGeom prst="rect">
            <a:avLst/>
          </a:prstGeom>
          <a:noFill/>
        </p:spPr>
        <p:txBody>
          <a:bodyPr vert="horz" wrap="square" lIns="0" tIns="0" rIns="0" bIns="0" rtlCol="0">
            <a:noAutofit/>
          </a:bodyPr>
          <a:lstStyle/>
          <a:p>
            <a:pPr>
              <a:spcAft>
                <a:spcPts val="200"/>
              </a:spcAft>
            </a:pPr>
            <a:r>
              <a:rPr lang="en-ZA" sz="900" b="1">
                <a:solidFill>
                  <a:schemeClr val="accent1"/>
                </a:solidFill>
                <a:latin typeface="Lato" panose="020F0502020204030203" pitchFamily="34" charset="0"/>
              </a:rPr>
              <a:t>DR04 · Vopak NERSA filing</a:t>
            </a:r>
          </a:p>
        </p:txBody>
      </p:sp>
      <p:sp>
        <p:nvSpPr>
          <p:cNvPr id="102" name="Mode panel 2">
            <a:extLst>
              <a:ext uri="{FF2B5EF4-FFF2-40B4-BE49-F238E27FC236}">
                <a16:creationId xmlns:a16="http://schemas.microsoft.com/office/drawing/2014/main" id="{CCFD0323-3BD0-C9AA-FC74-0C927B70EA86}"/>
              </a:ext>
            </a:extLst>
          </p:cNvPr>
          <p:cNvSpPr/>
          <p:nvPr/>
        </p:nvSpPr>
        <p:spPr>
          <a:xfrm>
            <a:off x="3098800" y="1549400"/>
            <a:ext cx="2628900" cy="4597400"/>
          </a:xfrm>
          <a:prstGeom prst="rect">
            <a:avLst/>
          </a:prstGeom>
          <a:solidFill>
            <a:srgbClr val="EEF1F6"/>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103" name="Mode heading 2">
            <a:extLst>
              <a:ext uri="{FF2B5EF4-FFF2-40B4-BE49-F238E27FC236}">
                <a16:creationId xmlns:a16="http://schemas.microsoft.com/office/drawing/2014/main" id="{9B104B2E-5214-7EB4-4509-2811E02FA82C}"/>
              </a:ext>
            </a:extLst>
          </p:cNvPr>
          <p:cNvSpPr txBox="1"/>
          <p:nvPr/>
        </p:nvSpPr>
        <p:spPr>
          <a:xfrm>
            <a:off x="3200400" y="1638300"/>
            <a:ext cx="2425700" cy="241300"/>
          </a:xfrm>
          <a:prstGeom prst="rect">
            <a:avLst/>
          </a:prstGeom>
          <a:noFill/>
        </p:spPr>
        <p:txBody>
          <a:bodyPr vert="horz" wrap="square" lIns="0" tIns="0" rIns="0" bIns="0" rtlCol="0">
            <a:noAutofit/>
          </a:bodyPr>
          <a:lstStyle/>
          <a:p>
            <a:pPr>
              <a:spcAft>
                <a:spcPts val="200"/>
              </a:spcAft>
            </a:pPr>
            <a:r>
              <a:rPr lang="en-ZA" sz="1200" b="1">
                <a:solidFill>
                  <a:schemeClr val="accent1"/>
                </a:solidFill>
                <a:latin typeface="Lato" panose="020F0502020204030203" pitchFamily="34" charset="0"/>
              </a:rPr>
              <a:t>2  PIPELINES</a:t>
            </a:r>
          </a:p>
        </p:txBody>
      </p:sp>
      <p:cxnSp>
        <p:nvCxnSpPr>
          <p:cNvPr id="104" name="Column heading rule">
            <a:extLst>
              <a:ext uri="{FF2B5EF4-FFF2-40B4-BE49-F238E27FC236}">
                <a16:creationId xmlns:a16="http://schemas.microsoft.com/office/drawing/2014/main" id="{70351AB0-110F-B6A5-B623-9D93E0C0B305}"/>
              </a:ext>
            </a:extLst>
          </p:cNvPr>
          <p:cNvCxnSpPr/>
          <p:nvPr/>
        </p:nvCxnSpPr>
        <p:spPr>
          <a:xfrm>
            <a:off x="3200400" y="1917700"/>
            <a:ext cx="2425700" cy="0"/>
          </a:xfrm>
          <a:prstGeom prst="straightConnector1">
            <a:avLst/>
          </a:prstGeom>
          <a:ln w="8255">
            <a:solidFill>
              <a:schemeClr val="dk1"/>
            </a:solidFill>
          </a:ln>
        </p:spPr>
        <p:style>
          <a:lnRef idx="1">
            <a:schemeClr val="accent1"/>
          </a:lnRef>
          <a:fillRef idx="0">
            <a:schemeClr val="accent1"/>
          </a:fillRef>
          <a:effectRef idx="0">
            <a:schemeClr val="accent1"/>
          </a:effectRef>
          <a:fontRef idx="minor">
            <a:schemeClr val="tx1"/>
          </a:fontRef>
        </p:style>
      </p:cxnSp>
      <p:sp>
        <p:nvSpPr>
          <p:cNvPr id="105" name="Mode 2 row 1">
            <a:extLst>
              <a:ext uri="{FF2B5EF4-FFF2-40B4-BE49-F238E27FC236}">
                <a16:creationId xmlns:a16="http://schemas.microsoft.com/office/drawing/2014/main" id="{89D842E4-879F-F102-0CB3-2B0AF672F771}"/>
              </a:ext>
            </a:extLst>
          </p:cNvPr>
          <p:cNvSpPr/>
          <p:nvPr/>
        </p:nvSpPr>
        <p:spPr>
          <a:xfrm>
            <a:off x="3200400" y="2006600"/>
            <a:ext cx="2425700" cy="889000"/>
          </a:xfrm>
          <a:prstGeom prst="rect">
            <a:avLst/>
          </a:prstGeom>
          <a:solidFill>
            <a:srgbClr val="FFFFFF"/>
          </a:solidFill>
          <a:ln w="9525" cap="flat" cmpd="sng" algn="ctr">
            <a:solidFill>
              <a:schemeClr val="accent1"/>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76200" tIns="50800" rIns="76200" bIns="38100" rtlCol="0" anchor="t"/>
          <a:lstStyle/>
          <a:p>
            <a:pPr>
              <a:spcAft>
                <a:spcPts val="400"/>
              </a:spcAft>
            </a:pPr>
            <a:r>
              <a:rPr lang="en-GB" sz="1050" b="1">
                <a:solidFill>
                  <a:schemeClr val="accent1"/>
                </a:solidFill>
                <a:latin typeface="Lato" panose="020F0502020204030203" pitchFamily="34" charset="0"/>
              </a:rPr>
              <a:t>Pipeline network</a:t>
            </a:r>
          </a:p>
          <a:p>
            <a:pPr>
              <a:spcAft>
                <a:spcPts val="200"/>
              </a:spcAft>
            </a:pPr>
            <a:r>
              <a:rPr lang="en-GB" sz="1050">
                <a:solidFill>
                  <a:schemeClr val="dk1"/>
                </a:solidFill>
                <a:latin typeface="Lato" panose="020F0502020204030203" pitchFamily="34" charset="0"/>
              </a:rPr>
              <a:t>NMPP Durban to Jameson Park</a:t>
            </a:r>
          </a:p>
          <a:p>
            <a:pPr>
              <a:spcAft>
                <a:spcPts val="200"/>
              </a:spcAft>
            </a:pPr>
            <a:r>
              <a:rPr lang="en-GB" sz="1050">
                <a:solidFill>
                  <a:schemeClr val="dk1"/>
                </a:solidFill>
                <a:latin typeface="Lato" panose="020F0502020204030203" pitchFamily="34" charset="0"/>
              </a:rPr>
              <a:t>(TM2, 180M L); old DJP retiring</a:t>
            </a:r>
            <a:endParaRPr lang="en-ZA" sz="1050">
              <a:solidFill>
                <a:schemeClr val="dk1"/>
              </a:solidFill>
              <a:latin typeface="Lato" panose="020F0502020204030203" pitchFamily="34" charset="0"/>
            </a:endParaRPr>
          </a:p>
        </p:txBody>
      </p:sp>
      <p:sp>
        <p:nvSpPr>
          <p:cNvPr id="106" name="Mode 2 row 1 tag">
            <a:extLst>
              <a:ext uri="{FF2B5EF4-FFF2-40B4-BE49-F238E27FC236}">
                <a16:creationId xmlns:a16="http://schemas.microsoft.com/office/drawing/2014/main" id="{F63B8820-6382-FA56-A789-E280E1301D49}"/>
              </a:ext>
            </a:extLst>
          </p:cNvPr>
          <p:cNvSpPr txBox="1"/>
          <p:nvPr/>
        </p:nvSpPr>
        <p:spPr>
          <a:xfrm>
            <a:off x="3276600" y="2705100"/>
            <a:ext cx="2273300" cy="152400"/>
          </a:xfrm>
          <a:prstGeom prst="rect">
            <a:avLst/>
          </a:prstGeom>
          <a:noFill/>
        </p:spPr>
        <p:txBody>
          <a:bodyPr vert="horz" wrap="square" lIns="0" tIns="0" rIns="0" bIns="0" rtlCol="0">
            <a:noAutofit/>
          </a:bodyPr>
          <a:lstStyle/>
          <a:p>
            <a:pPr>
              <a:spcAft>
                <a:spcPts val="200"/>
              </a:spcAft>
            </a:pPr>
            <a:r>
              <a:rPr lang="en-ZA" sz="900" b="1">
                <a:solidFill>
                  <a:schemeClr val="accent1"/>
                </a:solidFill>
                <a:latin typeface="Lato" panose="020F0502020204030203" pitchFamily="34" charset="0"/>
              </a:rPr>
              <a:t>DR04 · Transnet Pipelines 2020</a:t>
            </a:r>
          </a:p>
        </p:txBody>
      </p:sp>
      <p:sp>
        <p:nvSpPr>
          <p:cNvPr id="107" name="Mode 2 row 2">
            <a:extLst>
              <a:ext uri="{FF2B5EF4-FFF2-40B4-BE49-F238E27FC236}">
                <a16:creationId xmlns:a16="http://schemas.microsoft.com/office/drawing/2014/main" id="{CF56FD27-EF1D-1413-64B8-79BD3B52BAB2}"/>
              </a:ext>
            </a:extLst>
          </p:cNvPr>
          <p:cNvSpPr/>
          <p:nvPr/>
        </p:nvSpPr>
        <p:spPr>
          <a:xfrm>
            <a:off x="3200400" y="3073400"/>
            <a:ext cx="2425700" cy="889000"/>
          </a:xfrm>
          <a:prstGeom prst="rect">
            <a:avLst/>
          </a:prstGeom>
          <a:solidFill>
            <a:srgbClr val="FFFFFF"/>
          </a:solidFill>
          <a:ln w="9525" cap="flat" cmpd="sng" algn="ctr">
            <a:solidFill>
              <a:schemeClr val="accent1"/>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76200" tIns="50800" rIns="76200" bIns="38100" rtlCol="0" anchor="t"/>
          <a:lstStyle/>
          <a:p>
            <a:pPr>
              <a:spcAft>
                <a:spcPts val="400"/>
              </a:spcAft>
            </a:pPr>
            <a:r>
              <a:rPr lang="en-GB" sz="1050" b="1">
                <a:solidFill>
                  <a:schemeClr val="accent1"/>
                </a:solidFill>
                <a:latin typeface="Lato" panose="020F0502020204030203" pitchFamily="34" charset="0"/>
              </a:rPr>
              <a:t>Pipeline throughput</a:t>
            </a:r>
          </a:p>
          <a:p>
            <a:pPr>
              <a:spcAft>
                <a:spcPts val="200"/>
              </a:spcAft>
            </a:pPr>
            <a:r>
              <a:rPr lang="en-GB" sz="1050">
                <a:solidFill>
                  <a:schemeClr val="dk1"/>
                </a:solidFill>
                <a:latin typeface="Lato" panose="020F0502020204030203" pitchFamily="34" charset="0"/>
              </a:rPr>
              <a:t>All products FY24 15.2B L</a:t>
            </a:r>
          </a:p>
          <a:p>
            <a:pPr>
              <a:spcAft>
                <a:spcPts val="200"/>
              </a:spcAft>
            </a:pPr>
            <a:r>
              <a:rPr lang="en-GB" sz="1050">
                <a:solidFill>
                  <a:schemeClr val="dk1"/>
                </a:solidFill>
                <a:latin typeface="Lato" panose="020F0502020204030203" pitchFamily="34" charset="0"/>
              </a:rPr>
              <a:t>incl. crude and jet; FY25 13.4B L</a:t>
            </a:r>
            <a:endParaRPr lang="en-ZA" sz="1050">
              <a:solidFill>
                <a:schemeClr val="dk1"/>
              </a:solidFill>
              <a:latin typeface="Lato" panose="020F0502020204030203" pitchFamily="34" charset="0"/>
            </a:endParaRPr>
          </a:p>
        </p:txBody>
      </p:sp>
      <p:sp>
        <p:nvSpPr>
          <p:cNvPr id="108" name="Mode 2 row 2 tag">
            <a:extLst>
              <a:ext uri="{FF2B5EF4-FFF2-40B4-BE49-F238E27FC236}">
                <a16:creationId xmlns:a16="http://schemas.microsoft.com/office/drawing/2014/main" id="{56273BAD-53FF-44B4-691B-EBAF141967D0}"/>
              </a:ext>
            </a:extLst>
          </p:cNvPr>
          <p:cNvSpPr txBox="1"/>
          <p:nvPr/>
        </p:nvSpPr>
        <p:spPr>
          <a:xfrm>
            <a:off x="3276600" y="3771900"/>
            <a:ext cx="2273300" cy="152400"/>
          </a:xfrm>
          <a:prstGeom prst="rect">
            <a:avLst/>
          </a:prstGeom>
          <a:noFill/>
        </p:spPr>
        <p:txBody>
          <a:bodyPr vert="horz" wrap="square" lIns="0" tIns="0" rIns="0" bIns="0" rtlCol="0">
            <a:noAutofit/>
          </a:bodyPr>
          <a:lstStyle/>
          <a:p>
            <a:pPr>
              <a:spcAft>
                <a:spcPts val="200"/>
              </a:spcAft>
            </a:pPr>
            <a:r>
              <a:rPr lang="en-GB" sz="900" b="1">
                <a:solidFill>
                  <a:schemeClr val="accent1"/>
                </a:solidFill>
                <a:latin typeface="Lato" panose="020F0502020204030203" pitchFamily="34" charset="0"/>
              </a:rPr>
              <a:t>Pack research · TPL 2024, IR 2025</a:t>
            </a:r>
            <a:endParaRPr lang="en-ZA" sz="900" b="1">
              <a:solidFill>
                <a:schemeClr val="accent1"/>
              </a:solidFill>
              <a:latin typeface="Lato" panose="020F0502020204030203" pitchFamily="34" charset="0"/>
            </a:endParaRPr>
          </a:p>
        </p:txBody>
      </p:sp>
      <p:sp>
        <p:nvSpPr>
          <p:cNvPr id="109" name="Mode 2 row 3">
            <a:extLst>
              <a:ext uri="{FF2B5EF4-FFF2-40B4-BE49-F238E27FC236}">
                <a16:creationId xmlns:a16="http://schemas.microsoft.com/office/drawing/2014/main" id="{601740AC-DE17-D8FB-7185-1E4A507848B4}"/>
              </a:ext>
            </a:extLst>
          </p:cNvPr>
          <p:cNvSpPr/>
          <p:nvPr/>
        </p:nvSpPr>
        <p:spPr>
          <a:xfrm>
            <a:off x="3200400" y="4140200"/>
            <a:ext cx="2425700" cy="889000"/>
          </a:xfrm>
          <a:prstGeom prst="rect">
            <a:avLst/>
          </a:prstGeom>
          <a:solidFill>
            <a:srgbClr val="FFFFFF"/>
          </a:solidFill>
          <a:ln w="9525" cap="flat" cmpd="sng" algn="ctr">
            <a:solidFill>
              <a:schemeClr val="accent1"/>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76200" tIns="50800" rIns="76200" bIns="38100" rtlCol="0" anchor="t"/>
          <a:lstStyle/>
          <a:p>
            <a:pPr>
              <a:spcAft>
                <a:spcPts val="400"/>
              </a:spcAft>
            </a:pPr>
            <a:r>
              <a:rPr lang="en-GB" sz="1050" b="1">
                <a:solidFill>
                  <a:schemeClr val="accent1"/>
                </a:solidFill>
                <a:latin typeface="Lato" panose="020F0502020204030203" pitchFamily="34" charset="0"/>
              </a:rPr>
              <a:t>Capacity and use</a:t>
            </a:r>
          </a:p>
          <a:p>
            <a:pPr>
              <a:spcAft>
                <a:spcPts val="200"/>
              </a:spcAft>
            </a:pPr>
            <a:r>
              <a:rPr lang="en-GB" sz="1050">
                <a:solidFill>
                  <a:schemeClr val="dk1"/>
                </a:solidFill>
                <a:latin typeface="Lato" panose="020F0502020204030203" pitchFamily="34" charset="0"/>
              </a:rPr>
              <a:t>148M L/week = ~7.7B L/yr</a:t>
            </a:r>
          </a:p>
          <a:p>
            <a:pPr>
              <a:spcAft>
                <a:spcPts val="200"/>
              </a:spcAft>
            </a:pPr>
            <a:r>
              <a:rPr lang="en-GB" sz="1050">
                <a:solidFill>
                  <a:schemeClr val="dk1"/>
                </a:solidFill>
                <a:latin typeface="Lato" panose="020F0502020204030203" pitchFamily="34" charset="0"/>
              </a:rPr>
              <a:t>vs 13.2B L landed at Durban</a:t>
            </a:r>
            <a:endParaRPr lang="en-ZA" sz="1050">
              <a:solidFill>
                <a:schemeClr val="dk1"/>
              </a:solidFill>
              <a:latin typeface="Lato" panose="020F0502020204030203" pitchFamily="34" charset="0"/>
            </a:endParaRPr>
          </a:p>
        </p:txBody>
      </p:sp>
      <p:sp>
        <p:nvSpPr>
          <p:cNvPr id="110" name="Mode 2 row 3 tag">
            <a:extLst>
              <a:ext uri="{FF2B5EF4-FFF2-40B4-BE49-F238E27FC236}">
                <a16:creationId xmlns:a16="http://schemas.microsoft.com/office/drawing/2014/main" id="{DAA01A08-4152-01ED-5695-0B950FA0CA8F}"/>
              </a:ext>
            </a:extLst>
          </p:cNvPr>
          <p:cNvSpPr txBox="1"/>
          <p:nvPr/>
        </p:nvSpPr>
        <p:spPr>
          <a:xfrm>
            <a:off x="3276600" y="4838700"/>
            <a:ext cx="2273300" cy="152400"/>
          </a:xfrm>
          <a:prstGeom prst="rect">
            <a:avLst/>
          </a:prstGeom>
          <a:noFill/>
        </p:spPr>
        <p:txBody>
          <a:bodyPr vert="horz" wrap="square" lIns="0" tIns="0" rIns="0" bIns="0" rtlCol="0">
            <a:noAutofit/>
          </a:bodyPr>
          <a:lstStyle/>
          <a:p>
            <a:pPr>
              <a:spcAft>
                <a:spcPts val="200"/>
              </a:spcAft>
            </a:pPr>
            <a:r>
              <a:rPr lang="en-GB" sz="900" b="1">
                <a:solidFill>
                  <a:schemeClr val="accent1"/>
                </a:solidFill>
                <a:latin typeface="Lato" panose="020F0502020204030203" pitchFamily="34" charset="0"/>
              </a:rPr>
              <a:t>DR04 · 2020 capacity, lead to check</a:t>
            </a:r>
            <a:endParaRPr lang="en-ZA" sz="900" b="1">
              <a:solidFill>
                <a:schemeClr val="accent1"/>
              </a:solidFill>
              <a:latin typeface="Lato" panose="020F0502020204030203" pitchFamily="34" charset="0"/>
            </a:endParaRPr>
          </a:p>
        </p:txBody>
      </p:sp>
      <p:sp>
        <p:nvSpPr>
          <p:cNvPr id="111" name="Mode 2 row 4">
            <a:extLst>
              <a:ext uri="{FF2B5EF4-FFF2-40B4-BE49-F238E27FC236}">
                <a16:creationId xmlns:a16="http://schemas.microsoft.com/office/drawing/2014/main" id="{6840194C-941F-5AF1-E761-4468B46954AB}"/>
              </a:ext>
            </a:extLst>
          </p:cNvPr>
          <p:cNvSpPr/>
          <p:nvPr/>
        </p:nvSpPr>
        <p:spPr>
          <a:xfrm>
            <a:off x="3200400" y="5207000"/>
            <a:ext cx="2425700" cy="889000"/>
          </a:xfrm>
          <a:prstGeom prst="rect">
            <a:avLst/>
          </a:prstGeom>
          <a:solidFill>
            <a:srgbClr val="FFFFFF"/>
          </a:solidFill>
          <a:ln w="9525" cap="flat" cmpd="sng" algn="ctr">
            <a:solidFill>
              <a:schemeClr val="accent1"/>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76200" tIns="50800" rIns="76200" bIns="38100" rtlCol="0" anchor="t"/>
          <a:lstStyle/>
          <a:p>
            <a:pPr>
              <a:spcAft>
                <a:spcPts val="400"/>
              </a:spcAft>
            </a:pPr>
            <a:r>
              <a:rPr lang="en-GB" sz="1050" b="1">
                <a:solidFill>
                  <a:schemeClr val="accent1"/>
                </a:solidFill>
                <a:latin typeface="Lato" panose="020F0502020204030203" pitchFamily="34" charset="0"/>
              </a:rPr>
              <a:t>Lesedi role</a:t>
            </a:r>
          </a:p>
          <a:p>
            <a:pPr>
              <a:spcAft>
                <a:spcPts val="200"/>
              </a:spcAft>
            </a:pPr>
            <a:r>
              <a:rPr lang="en-GB" sz="1050">
                <a:solidFill>
                  <a:schemeClr val="dk1"/>
                </a:solidFill>
                <a:latin typeface="Lato" panose="020F0502020204030203" pitchFamily="34" charset="0"/>
              </a:rPr>
              <a:t>4 pipeline intakes, 8 road bays</a:t>
            </a:r>
          </a:p>
          <a:p>
            <a:pPr>
              <a:spcAft>
                <a:spcPts val="200"/>
              </a:spcAft>
            </a:pPr>
            <a:r>
              <a:rPr lang="en-GB" sz="1050">
                <a:solidFill>
                  <a:schemeClr val="dk1"/>
                </a:solidFill>
                <a:latin typeface="Lato" panose="020F0502020204030203" pitchFamily="34" charset="0"/>
              </a:rPr>
              <a:t>Customers ship via the trunk line</a:t>
            </a:r>
            <a:endParaRPr lang="en-ZA" sz="1050">
              <a:solidFill>
                <a:schemeClr val="dk1"/>
              </a:solidFill>
              <a:latin typeface="Lato" panose="020F0502020204030203" pitchFamily="34" charset="0"/>
            </a:endParaRPr>
          </a:p>
        </p:txBody>
      </p:sp>
      <p:sp>
        <p:nvSpPr>
          <p:cNvPr id="112" name="Mode 2 row 4 tag">
            <a:extLst>
              <a:ext uri="{FF2B5EF4-FFF2-40B4-BE49-F238E27FC236}">
                <a16:creationId xmlns:a16="http://schemas.microsoft.com/office/drawing/2014/main" id="{11F654D8-8A92-244E-44A5-BBC400360358}"/>
              </a:ext>
            </a:extLst>
          </p:cNvPr>
          <p:cNvSpPr txBox="1"/>
          <p:nvPr/>
        </p:nvSpPr>
        <p:spPr>
          <a:xfrm>
            <a:off x="3276600" y="5905500"/>
            <a:ext cx="2273300" cy="152400"/>
          </a:xfrm>
          <a:prstGeom prst="rect">
            <a:avLst/>
          </a:prstGeom>
          <a:noFill/>
        </p:spPr>
        <p:txBody>
          <a:bodyPr vert="horz" wrap="square" lIns="0" tIns="0" rIns="0" bIns="0" rtlCol="0">
            <a:noAutofit/>
          </a:bodyPr>
          <a:lstStyle/>
          <a:p>
            <a:pPr>
              <a:spcAft>
                <a:spcPts val="200"/>
              </a:spcAft>
            </a:pPr>
            <a:r>
              <a:rPr lang="en-ZA" sz="900" b="1">
                <a:solidFill>
                  <a:schemeClr val="accent1"/>
                </a:solidFill>
                <a:latin typeface="Lato" panose="020F0502020204030203" pitchFamily="34" charset="0"/>
              </a:rPr>
              <a:t>DR04 · NERSA, Feb 2026</a:t>
            </a:r>
          </a:p>
        </p:txBody>
      </p:sp>
      <p:sp>
        <p:nvSpPr>
          <p:cNvPr id="113" name="Mode panel 3">
            <a:extLst>
              <a:ext uri="{FF2B5EF4-FFF2-40B4-BE49-F238E27FC236}">
                <a16:creationId xmlns:a16="http://schemas.microsoft.com/office/drawing/2014/main" id="{3BB5F875-7DFE-EFFE-7404-A2B3A8DAE10E}"/>
              </a:ext>
            </a:extLst>
          </p:cNvPr>
          <p:cNvSpPr/>
          <p:nvPr/>
        </p:nvSpPr>
        <p:spPr>
          <a:xfrm>
            <a:off x="5842000" y="1549400"/>
            <a:ext cx="2628900" cy="4597400"/>
          </a:xfrm>
          <a:prstGeom prst="rect">
            <a:avLst/>
          </a:prstGeom>
          <a:solidFill>
            <a:srgbClr val="EEF1F6"/>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114" name="Mode heading 3">
            <a:extLst>
              <a:ext uri="{FF2B5EF4-FFF2-40B4-BE49-F238E27FC236}">
                <a16:creationId xmlns:a16="http://schemas.microsoft.com/office/drawing/2014/main" id="{3DA3EE62-1988-7F09-DFC8-845F175F1EE8}"/>
              </a:ext>
            </a:extLst>
          </p:cNvPr>
          <p:cNvSpPr txBox="1"/>
          <p:nvPr/>
        </p:nvSpPr>
        <p:spPr>
          <a:xfrm>
            <a:off x="5943600" y="1638300"/>
            <a:ext cx="2425700" cy="241300"/>
          </a:xfrm>
          <a:prstGeom prst="rect">
            <a:avLst/>
          </a:prstGeom>
          <a:noFill/>
        </p:spPr>
        <p:txBody>
          <a:bodyPr vert="horz" wrap="square" lIns="0" tIns="0" rIns="0" bIns="0" rtlCol="0">
            <a:noAutofit/>
          </a:bodyPr>
          <a:lstStyle/>
          <a:p>
            <a:pPr>
              <a:spcAft>
                <a:spcPts val="200"/>
              </a:spcAft>
            </a:pPr>
            <a:r>
              <a:rPr lang="en-ZA" sz="1200" b="1">
                <a:solidFill>
                  <a:schemeClr val="accent1"/>
                </a:solidFill>
                <a:latin typeface="Lato" panose="020F0502020204030203" pitchFamily="34" charset="0"/>
              </a:rPr>
              <a:t>3  RAIL</a:t>
            </a:r>
          </a:p>
        </p:txBody>
      </p:sp>
      <p:cxnSp>
        <p:nvCxnSpPr>
          <p:cNvPr id="115" name="Column heading rule">
            <a:extLst>
              <a:ext uri="{FF2B5EF4-FFF2-40B4-BE49-F238E27FC236}">
                <a16:creationId xmlns:a16="http://schemas.microsoft.com/office/drawing/2014/main" id="{63343FB2-4FF5-C0C5-208B-2430BEFC3C88}"/>
              </a:ext>
            </a:extLst>
          </p:cNvPr>
          <p:cNvCxnSpPr/>
          <p:nvPr/>
        </p:nvCxnSpPr>
        <p:spPr>
          <a:xfrm>
            <a:off x="5943600" y="1917700"/>
            <a:ext cx="2425700" cy="0"/>
          </a:xfrm>
          <a:prstGeom prst="straightConnector1">
            <a:avLst/>
          </a:prstGeom>
          <a:ln w="8255">
            <a:solidFill>
              <a:schemeClr val="dk1"/>
            </a:solidFill>
          </a:ln>
        </p:spPr>
        <p:style>
          <a:lnRef idx="1">
            <a:schemeClr val="accent1"/>
          </a:lnRef>
          <a:fillRef idx="0">
            <a:schemeClr val="accent1"/>
          </a:fillRef>
          <a:effectRef idx="0">
            <a:schemeClr val="accent1"/>
          </a:effectRef>
          <a:fontRef idx="minor">
            <a:schemeClr val="tx1"/>
          </a:fontRef>
        </p:style>
      </p:cxnSp>
      <p:sp>
        <p:nvSpPr>
          <p:cNvPr id="116" name="Mode 3 row 1">
            <a:extLst>
              <a:ext uri="{FF2B5EF4-FFF2-40B4-BE49-F238E27FC236}">
                <a16:creationId xmlns:a16="http://schemas.microsoft.com/office/drawing/2014/main" id="{62F854C5-B7E2-35AC-292F-336D4C722C4F}"/>
              </a:ext>
            </a:extLst>
          </p:cNvPr>
          <p:cNvSpPr/>
          <p:nvPr/>
        </p:nvSpPr>
        <p:spPr>
          <a:xfrm>
            <a:off x="5943600" y="2006600"/>
            <a:ext cx="2425700" cy="889000"/>
          </a:xfrm>
          <a:prstGeom prst="rect">
            <a:avLst/>
          </a:prstGeom>
          <a:solidFill>
            <a:srgbClr val="FFFFFF"/>
          </a:solidFill>
          <a:ln w="9525" cap="flat" cmpd="sng" algn="ctr">
            <a:solidFill>
              <a:schemeClr val="accent1"/>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76200" tIns="50800" rIns="76200" bIns="38100" rtlCol="0" anchor="t"/>
          <a:lstStyle/>
          <a:p>
            <a:pPr>
              <a:spcAft>
                <a:spcPts val="400"/>
              </a:spcAft>
            </a:pPr>
            <a:r>
              <a:rPr lang="en-GB" sz="1050" b="1">
                <a:solidFill>
                  <a:schemeClr val="accent1"/>
                </a:solidFill>
                <a:latin typeface="Lato" panose="020F0502020204030203" pitchFamily="34" charset="0"/>
              </a:rPr>
              <a:t>Rail network</a:t>
            </a:r>
          </a:p>
          <a:p>
            <a:pPr>
              <a:spcAft>
                <a:spcPts val="200"/>
              </a:spcAft>
            </a:pPr>
            <a:r>
              <a:rPr lang="en-GB" sz="1050">
                <a:solidFill>
                  <a:schemeClr val="dk1"/>
                </a:solidFill>
                <a:latin typeface="Lato" panose="020F0502020204030203" pitchFamily="34" charset="0"/>
              </a:rPr>
              <a:t>Island View rail gantries</a:t>
            </a:r>
          </a:p>
          <a:p>
            <a:pPr>
              <a:spcAft>
                <a:spcPts val="200"/>
              </a:spcAft>
            </a:pPr>
            <a:r>
              <a:rPr lang="en-GB" sz="1050">
                <a:solidFill>
                  <a:schemeClr val="dk1"/>
                </a:solidFill>
                <a:latin typeface="Lato" panose="020F0502020204030203" pitchFamily="34" charset="0"/>
              </a:rPr>
              <a:t>Durban and Matola to Gauteng</a:t>
            </a:r>
            <a:endParaRPr lang="en-ZA" sz="1050">
              <a:solidFill>
                <a:schemeClr val="dk1"/>
              </a:solidFill>
              <a:latin typeface="Lato" panose="020F0502020204030203" pitchFamily="34" charset="0"/>
            </a:endParaRPr>
          </a:p>
        </p:txBody>
      </p:sp>
      <p:sp>
        <p:nvSpPr>
          <p:cNvPr id="117" name="Mode 3 row 1 tag">
            <a:extLst>
              <a:ext uri="{FF2B5EF4-FFF2-40B4-BE49-F238E27FC236}">
                <a16:creationId xmlns:a16="http://schemas.microsoft.com/office/drawing/2014/main" id="{91E7FC29-7B1C-60CC-165F-4FA21E44B440}"/>
              </a:ext>
            </a:extLst>
          </p:cNvPr>
          <p:cNvSpPr txBox="1"/>
          <p:nvPr/>
        </p:nvSpPr>
        <p:spPr>
          <a:xfrm>
            <a:off x="6019800" y="2705100"/>
            <a:ext cx="2273300" cy="152400"/>
          </a:xfrm>
          <a:prstGeom prst="rect">
            <a:avLst/>
          </a:prstGeom>
          <a:noFill/>
        </p:spPr>
        <p:txBody>
          <a:bodyPr vert="horz" wrap="square" lIns="0" tIns="0" rIns="0" bIns="0" rtlCol="0">
            <a:noAutofit/>
          </a:bodyPr>
          <a:lstStyle/>
          <a:p>
            <a:pPr>
              <a:spcAft>
                <a:spcPts val="200"/>
              </a:spcAft>
            </a:pPr>
            <a:r>
              <a:rPr lang="en-ZA" sz="900" b="1">
                <a:solidFill>
                  <a:schemeClr val="accent1"/>
                </a:solidFill>
                <a:latin typeface="Lato" panose="020F0502020204030203" pitchFamily="34" charset="0"/>
              </a:rPr>
              <a:t>Pack research · NERSA 2026</a:t>
            </a:r>
          </a:p>
        </p:txBody>
      </p:sp>
      <p:sp>
        <p:nvSpPr>
          <p:cNvPr id="118" name="Mode 3 row 2">
            <a:extLst>
              <a:ext uri="{FF2B5EF4-FFF2-40B4-BE49-F238E27FC236}">
                <a16:creationId xmlns:a16="http://schemas.microsoft.com/office/drawing/2014/main" id="{2C002A5C-2097-EC31-330D-FB2709F99CDF}"/>
              </a:ext>
            </a:extLst>
          </p:cNvPr>
          <p:cNvSpPr/>
          <p:nvPr/>
        </p:nvSpPr>
        <p:spPr>
          <a:xfrm>
            <a:off x="5943600" y="3073400"/>
            <a:ext cx="2425700" cy="889000"/>
          </a:xfrm>
          <a:prstGeom prst="rect">
            <a:avLst/>
          </a:prstGeom>
          <a:solidFill>
            <a:srgbClr val="FFFFFF"/>
          </a:solidFill>
          <a:ln w="9525" cap="flat" cmpd="sng" algn="ctr">
            <a:solidFill>
              <a:schemeClr val="accent1"/>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76200" tIns="50800" rIns="76200" bIns="38100" rtlCol="0" anchor="t"/>
          <a:lstStyle/>
          <a:p>
            <a:pPr>
              <a:spcAft>
                <a:spcPts val="400"/>
              </a:spcAft>
            </a:pPr>
            <a:r>
              <a:rPr lang="en-GB" sz="1050" b="1">
                <a:solidFill>
                  <a:schemeClr val="accent1"/>
                </a:solidFill>
                <a:latin typeface="Lato" panose="020F0502020204030203" pitchFamily="34" charset="0"/>
              </a:rPr>
              <a:t>Rail throughput</a:t>
            </a:r>
          </a:p>
          <a:p>
            <a:pPr>
              <a:spcAft>
                <a:spcPts val="200"/>
              </a:spcAft>
            </a:pPr>
            <a:r>
              <a:rPr lang="en-GB" sz="1050">
                <a:solidFill>
                  <a:schemeClr val="dk1"/>
                </a:solidFill>
                <a:latin typeface="Lato" panose="020F0502020204030203" pitchFamily="34" charset="0"/>
              </a:rPr>
              <a:t>Durban-Gauteng fuel: not published</a:t>
            </a:r>
          </a:p>
          <a:p>
            <a:pPr>
              <a:spcAft>
                <a:spcPts val="200"/>
              </a:spcAft>
            </a:pPr>
            <a:r>
              <a:rPr lang="en-GB" sz="1050">
                <a:solidFill>
                  <a:schemeClr val="dk1"/>
                </a:solidFill>
                <a:latin typeface="Lato" panose="020F0502020204030203" pitchFamily="34" charset="0"/>
              </a:rPr>
              <a:t>Airport jet by rail: 37% to 5%</a:t>
            </a:r>
            <a:endParaRPr lang="en-ZA" sz="1050">
              <a:solidFill>
                <a:schemeClr val="dk1"/>
              </a:solidFill>
              <a:latin typeface="Lato" panose="020F0502020204030203" pitchFamily="34" charset="0"/>
            </a:endParaRPr>
          </a:p>
        </p:txBody>
      </p:sp>
      <p:sp>
        <p:nvSpPr>
          <p:cNvPr id="119" name="Mode 3 row 2 tag">
            <a:extLst>
              <a:ext uri="{FF2B5EF4-FFF2-40B4-BE49-F238E27FC236}">
                <a16:creationId xmlns:a16="http://schemas.microsoft.com/office/drawing/2014/main" id="{63A5CCF0-B73C-13AA-ECA0-E9D688ED2FFA}"/>
              </a:ext>
            </a:extLst>
          </p:cNvPr>
          <p:cNvSpPr txBox="1"/>
          <p:nvPr/>
        </p:nvSpPr>
        <p:spPr>
          <a:xfrm>
            <a:off x="6019800" y="3771900"/>
            <a:ext cx="2273300" cy="152400"/>
          </a:xfrm>
          <a:prstGeom prst="rect">
            <a:avLst/>
          </a:prstGeom>
          <a:noFill/>
        </p:spPr>
        <p:txBody>
          <a:bodyPr vert="horz" wrap="square" lIns="0" tIns="0" rIns="0" bIns="0" rtlCol="0">
            <a:noAutofit/>
          </a:bodyPr>
          <a:lstStyle/>
          <a:p>
            <a:pPr>
              <a:spcAft>
                <a:spcPts val="200"/>
              </a:spcAft>
            </a:pPr>
            <a:r>
              <a:rPr lang="en-ZA" sz="900">
                <a:solidFill>
                  <a:srgbClr val="808080"/>
                </a:solidFill>
                <a:latin typeface="Lato" panose="020F0502020204030203" pitchFamily="34" charset="0"/>
              </a:rPr>
              <a:t>Pending · Transnet; jet FY18-FY22</a:t>
            </a:r>
          </a:p>
        </p:txBody>
      </p:sp>
      <p:sp>
        <p:nvSpPr>
          <p:cNvPr id="120" name="Mode 3 row 3">
            <a:extLst>
              <a:ext uri="{FF2B5EF4-FFF2-40B4-BE49-F238E27FC236}">
                <a16:creationId xmlns:a16="http://schemas.microsoft.com/office/drawing/2014/main" id="{B5489857-990F-A837-8687-243CF06D2D55}"/>
              </a:ext>
            </a:extLst>
          </p:cNvPr>
          <p:cNvSpPr/>
          <p:nvPr/>
        </p:nvSpPr>
        <p:spPr>
          <a:xfrm>
            <a:off x="5943600" y="4140200"/>
            <a:ext cx="2425700" cy="889000"/>
          </a:xfrm>
          <a:prstGeom prst="rect">
            <a:avLst/>
          </a:prstGeom>
          <a:solidFill>
            <a:srgbClr val="FFFFFF"/>
          </a:solidFill>
          <a:ln w="9525" cap="flat" cmpd="sng" algn="ctr">
            <a:solidFill>
              <a:schemeClr val="accent1"/>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76200" tIns="50800" rIns="76200" bIns="38100" rtlCol="0" anchor="t"/>
          <a:lstStyle/>
          <a:p>
            <a:pPr>
              <a:spcAft>
                <a:spcPts val="400"/>
              </a:spcAft>
            </a:pPr>
            <a:r>
              <a:rPr lang="en-GB" sz="1050" b="1">
                <a:solidFill>
                  <a:schemeClr val="accent1"/>
                </a:solidFill>
                <a:latin typeface="Lato" panose="020F0502020204030203" pitchFamily="34" charset="0"/>
              </a:rPr>
              <a:t>Capacity and reliability</a:t>
            </a:r>
          </a:p>
          <a:p>
            <a:pPr>
              <a:spcAft>
                <a:spcPts val="200"/>
              </a:spcAft>
            </a:pPr>
            <a:r>
              <a:rPr lang="en-GB" sz="1050">
                <a:solidFill>
                  <a:schemeClr val="dk1"/>
                </a:solidFill>
                <a:latin typeface="Lato" panose="020F0502020204030203" pitchFamily="34" charset="0"/>
              </a:rPr>
              <a:t>Wagon turnaround 33 days</a:t>
            </a:r>
          </a:p>
          <a:p>
            <a:pPr>
              <a:spcAft>
                <a:spcPts val="200"/>
              </a:spcAft>
            </a:pPr>
            <a:r>
              <a:rPr lang="en-GB" sz="1050">
                <a:solidFill>
                  <a:schemeClr val="dk1"/>
                </a:solidFill>
                <a:latin typeface="Lato" panose="020F0502020204030203" pitchFamily="34" charset="0"/>
              </a:rPr>
              <a:t>against 14-day design</a:t>
            </a:r>
            <a:endParaRPr lang="en-ZA" sz="1050">
              <a:solidFill>
                <a:schemeClr val="dk1"/>
              </a:solidFill>
              <a:latin typeface="Lato" panose="020F0502020204030203" pitchFamily="34" charset="0"/>
            </a:endParaRPr>
          </a:p>
        </p:txBody>
      </p:sp>
      <p:sp>
        <p:nvSpPr>
          <p:cNvPr id="121" name="Mode 3 row 3 tag">
            <a:extLst>
              <a:ext uri="{FF2B5EF4-FFF2-40B4-BE49-F238E27FC236}">
                <a16:creationId xmlns:a16="http://schemas.microsoft.com/office/drawing/2014/main" id="{78DCACDA-F13C-A525-71CB-4911C6926096}"/>
              </a:ext>
            </a:extLst>
          </p:cNvPr>
          <p:cNvSpPr txBox="1"/>
          <p:nvPr/>
        </p:nvSpPr>
        <p:spPr>
          <a:xfrm>
            <a:off x="6019800" y="4838700"/>
            <a:ext cx="2273300" cy="152400"/>
          </a:xfrm>
          <a:prstGeom prst="rect">
            <a:avLst/>
          </a:prstGeom>
          <a:noFill/>
        </p:spPr>
        <p:txBody>
          <a:bodyPr vert="horz" wrap="square" lIns="0" tIns="0" rIns="0" bIns="0" rtlCol="0">
            <a:noAutofit/>
          </a:bodyPr>
          <a:lstStyle/>
          <a:p>
            <a:pPr>
              <a:spcAft>
                <a:spcPts val="200"/>
              </a:spcAft>
            </a:pPr>
            <a:r>
              <a:rPr lang="en-GB" sz="900" b="1">
                <a:solidFill>
                  <a:schemeClr val="accent1"/>
                </a:solidFill>
                <a:latin typeface="Lato" panose="020F0502020204030203" pitchFamily="34" charset="0"/>
              </a:rPr>
              <a:t>Pack research · industry, via NERSA</a:t>
            </a:r>
            <a:endParaRPr lang="en-ZA" sz="900" b="1">
              <a:solidFill>
                <a:schemeClr val="accent1"/>
              </a:solidFill>
              <a:latin typeface="Lato" panose="020F0502020204030203" pitchFamily="34" charset="0"/>
            </a:endParaRPr>
          </a:p>
        </p:txBody>
      </p:sp>
      <p:sp>
        <p:nvSpPr>
          <p:cNvPr id="122" name="Mode 3 row 4">
            <a:extLst>
              <a:ext uri="{FF2B5EF4-FFF2-40B4-BE49-F238E27FC236}">
                <a16:creationId xmlns:a16="http://schemas.microsoft.com/office/drawing/2014/main" id="{CF20CA5E-3A4F-E39D-3760-E8C0C6A39378}"/>
              </a:ext>
            </a:extLst>
          </p:cNvPr>
          <p:cNvSpPr/>
          <p:nvPr/>
        </p:nvSpPr>
        <p:spPr>
          <a:xfrm>
            <a:off x="5943600" y="5207000"/>
            <a:ext cx="2425700" cy="889000"/>
          </a:xfrm>
          <a:prstGeom prst="rect">
            <a:avLst/>
          </a:prstGeom>
          <a:solidFill>
            <a:srgbClr val="FFFFFF"/>
          </a:solidFill>
          <a:ln w="9525" cap="flat" cmpd="sng" algn="ctr">
            <a:solidFill>
              <a:schemeClr val="accent1"/>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76200" tIns="50800" rIns="76200" bIns="38100" rtlCol="0" anchor="t"/>
          <a:lstStyle/>
          <a:p>
            <a:pPr>
              <a:spcAft>
                <a:spcPts val="400"/>
              </a:spcAft>
            </a:pPr>
            <a:r>
              <a:rPr lang="en-GB" sz="1050" b="1">
                <a:solidFill>
                  <a:schemeClr val="accent1"/>
                </a:solidFill>
                <a:latin typeface="Lato" panose="020F0502020204030203" pitchFamily="34" charset="0"/>
              </a:rPr>
              <a:t>Relevance</a:t>
            </a:r>
          </a:p>
          <a:p>
            <a:pPr>
              <a:spcAft>
                <a:spcPts val="200"/>
              </a:spcAft>
            </a:pPr>
            <a:r>
              <a:rPr lang="en-GB" sz="1050">
                <a:solidFill>
                  <a:schemeClr val="dk1"/>
                </a:solidFill>
                <a:latin typeface="Lato" panose="020F0502020204030203" pitchFamily="34" charset="0"/>
              </a:rPr>
              <a:t>Airport jet shifted to pipeline,</a:t>
            </a:r>
          </a:p>
          <a:p>
            <a:pPr>
              <a:spcAft>
                <a:spcPts val="200"/>
              </a:spcAft>
            </a:pPr>
            <a:r>
              <a:rPr lang="en-GB" sz="1050">
                <a:solidFill>
                  <a:schemeClr val="dk1"/>
                </a:solidFill>
                <a:latin typeface="Lato" panose="020F0502020204030203" pitchFamily="34" charset="0"/>
              </a:rPr>
              <a:t>rail to pipeline 30:70 to ~10:90</a:t>
            </a:r>
            <a:endParaRPr lang="en-ZA" sz="1050">
              <a:solidFill>
                <a:schemeClr val="dk1"/>
              </a:solidFill>
              <a:latin typeface="Lato" panose="020F0502020204030203" pitchFamily="34" charset="0"/>
            </a:endParaRPr>
          </a:p>
        </p:txBody>
      </p:sp>
      <p:sp>
        <p:nvSpPr>
          <p:cNvPr id="123" name="Mode 3 row 4 tag">
            <a:extLst>
              <a:ext uri="{FF2B5EF4-FFF2-40B4-BE49-F238E27FC236}">
                <a16:creationId xmlns:a16="http://schemas.microsoft.com/office/drawing/2014/main" id="{B9906956-E585-96F9-0CED-D47D63420A25}"/>
              </a:ext>
            </a:extLst>
          </p:cNvPr>
          <p:cNvSpPr txBox="1"/>
          <p:nvPr/>
        </p:nvSpPr>
        <p:spPr>
          <a:xfrm>
            <a:off x="6019800" y="5905500"/>
            <a:ext cx="2273300" cy="152400"/>
          </a:xfrm>
          <a:prstGeom prst="rect">
            <a:avLst/>
          </a:prstGeom>
          <a:noFill/>
        </p:spPr>
        <p:txBody>
          <a:bodyPr vert="horz" wrap="square" lIns="0" tIns="0" rIns="0" bIns="0" rtlCol="0">
            <a:noAutofit/>
          </a:bodyPr>
          <a:lstStyle/>
          <a:p>
            <a:pPr>
              <a:spcAft>
                <a:spcPts val="200"/>
              </a:spcAft>
            </a:pPr>
            <a:r>
              <a:rPr lang="en-ZA" sz="900" b="1">
                <a:solidFill>
                  <a:schemeClr val="accent1"/>
                </a:solidFill>
                <a:latin typeface="Lato" panose="020F0502020204030203" pitchFamily="34" charset="0"/>
              </a:rPr>
              <a:t>Pack research · NERSA 2026</a:t>
            </a:r>
          </a:p>
        </p:txBody>
      </p:sp>
      <p:sp>
        <p:nvSpPr>
          <p:cNvPr id="124" name="Mode panel 4">
            <a:extLst>
              <a:ext uri="{FF2B5EF4-FFF2-40B4-BE49-F238E27FC236}">
                <a16:creationId xmlns:a16="http://schemas.microsoft.com/office/drawing/2014/main" id="{D85B568F-F845-4B23-E1AD-78C2E32015E5}"/>
              </a:ext>
            </a:extLst>
          </p:cNvPr>
          <p:cNvSpPr/>
          <p:nvPr/>
        </p:nvSpPr>
        <p:spPr>
          <a:xfrm>
            <a:off x="8585200" y="1549400"/>
            <a:ext cx="2628900" cy="4597400"/>
          </a:xfrm>
          <a:prstGeom prst="rect">
            <a:avLst/>
          </a:prstGeom>
          <a:solidFill>
            <a:srgbClr val="EEF1F6"/>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125" name="Mode heading 4">
            <a:extLst>
              <a:ext uri="{FF2B5EF4-FFF2-40B4-BE49-F238E27FC236}">
                <a16:creationId xmlns:a16="http://schemas.microsoft.com/office/drawing/2014/main" id="{F7501A4B-1B88-F374-252F-B0CFB6DB5633}"/>
              </a:ext>
            </a:extLst>
          </p:cNvPr>
          <p:cNvSpPr txBox="1"/>
          <p:nvPr/>
        </p:nvSpPr>
        <p:spPr>
          <a:xfrm>
            <a:off x="8686800" y="1638300"/>
            <a:ext cx="2425700" cy="241300"/>
          </a:xfrm>
          <a:prstGeom prst="rect">
            <a:avLst/>
          </a:prstGeom>
          <a:noFill/>
        </p:spPr>
        <p:txBody>
          <a:bodyPr vert="horz" wrap="square" lIns="0" tIns="0" rIns="0" bIns="0" rtlCol="0">
            <a:noAutofit/>
          </a:bodyPr>
          <a:lstStyle/>
          <a:p>
            <a:pPr>
              <a:spcAft>
                <a:spcPts val="200"/>
              </a:spcAft>
            </a:pPr>
            <a:r>
              <a:rPr lang="en-ZA" sz="1200" b="1">
                <a:solidFill>
                  <a:schemeClr val="accent1"/>
                </a:solidFill>
                <a:latin typeface="Lato" panose="020F0502020204030203" pitchFamily="34" charset="0"/>
              </a:rPr>
              <a:t>4  ROAD</a:t>
            </a:r>
          </a:p>
        </p:txBody>
      </p:sp>
      <p:cxnSp>
        <p:nvCxnSpPr>
          <p:cNvPr id="126" name="Column heading rule">
            <a:extLst>
              <a:ext uri="{FF2B5EF4-FFF2-40B4-BE49-F238E27FC236}">
                <a16:creationId xmlns:a16="http://schemas.microsoft.com/office/drawing/2014/main" id="{345A9E89-9C97-1541-891D-F7EDD0495C10}"/>
              </a:ext>
            </a:extLst>
          </p:cNvPr>
          <p:cNvCxnSpPr/>
          <p:nvPr/>
        </p:nvCxnSpPr>
        <p:spPr>
          <a:xfrm>
            <a:off x="8686800" y="1917700"/>
            <a:ext cx="2425700" cy="0"/>
          </a:xfrm>
          <a:prstGeom prst="straightConnector1">
            <a:avLst/>
          </a:prstGeom>
          <a:ln w="8255">
            <a:solidFill>
              <a:schemeClr val="dk1"/>
            </a:solidFill>
          </a:ln>
        </p:spPr>
        <p:style>
          <a:lnRef idx="1">
            <a:schemeClr val="accent1"/>
          </a:lnRef>
          <a:fillRef idx="0">
            <a:schemeClr val="accent1"/>
          </a:fillRef>
          <a:effectRef idx="0">
            <a:schemeClr val="accent1"/>
          </a:effectRef>
          <a:fontRef idx="minor">
            <a:schemeClr val="tx1"/>
          </a:fontRef>
        </p:style>
      </p:cxnSp>
      <p:sp>
        <p:nvSpPr>
          <p:cNvPr id="127" name="Mode 4 row 1">
            <a:extLst>
              <a:ext uri="{FF2B5EF4-FFF2-40B4-BE49-F238E27FC236}">
                <a16:creationId xmlns:a16="http://schemas.microsoft.com/office/drawing/2014/main" id="{7DDD4E11-FD8B-328C-2C68-DEDD57B1F02B}"/>
              </a:ext>
            </a:extLst>
          </p:cNvPr>
          <p:cNvSpPr/>
          <p:nvPr/>
        </p:nvSpPr>
        <p:spPr>
          <a:xfrm>
            <a:off x="8686800" y="2006600"/>
            <a:ext cx="2425700" cy="889000"/>
          </a:xfrm>
          <a:prstGeom prst="rect">
            <a:avLst/>
          </a:prstGeom>
          <a:solidFill>
            <a:srgbClr val="FFFFFF"/>
          </a:solidFill>
          <a:ln w="9525" cap="flat" cmpd="sng" algn="ctr">
            <a:solidFill>
              <a:schemeClr val="accent1"/>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76200" tIns="50800" rIns="76200" bIns="38100" rtlCol="0" anchor="t"/>
          <a:lstStyle/>
          <a:p>
            <a:pPr>
              <a:spcAft>
                <a:spcPts val="400"/>
              </a:spcAft>
            </a:pPr>
            <a:r>
              <a:rPr lang="en-GB" sz="1050" b="1">
                <a:solidFill>
                  <a:schemeClr val="accent1"/>
                </a:solidFill>
                <a:latin typeface="Lato" panose="020F0502020204030203" pitchFamily="34" charset="0"/>
              </a:rPr>
              <a:t>Road network</a:t>
            </a:r>
          </a:p>
          <a:p>
            <a:pPr>
              <a:spcAft>
                <a:spcPts val="200"/>
              </a:spcAft>
            </a:pPr>
            <a:r>
              <a:rPr lang="en-GB" sz="1050">
                <a:solidFill>
                  <a:schemeClr val="dk1"/>
                </a:solidFill>
                <a:latin typeface="Lato" panose="020F0502020204030203" pitchFamily="34" charset="0"/>
              </a:rPr>
              <a:t>Tankers, coast to inland</a:t>
            </a:r>
          </a:p>
          <a:p>
            <a:pPr>
              <a:spcAft>
                <a:spcPts val="200"/>
              </a:spcAft>
            </a:pPr>
            <a:r>
              <a:rPr lang="en-GB" sz="1050">
                <a:solidFill>
                  <a:schemeClr val="dk1"/>
                </a:solidFill>
                <a:latin typeface="Lato" panose="020F0502020204030203" pitchFamily="34" charset="0"/>
              </a:rPr>
              <a:t>Mozambique road imports 0.5%</a:t>
            </a:r>
            <a:endParaRPr lang="en-ZA" sz="1050">
              <a:solidFill>
                <a:schemeClr val="dk1"/>
              </a:solidFill>
              <a:latin typeface="Lato" panose="020F0502020204030203" pitchFamily="34" charset="0"/>
            </a:endParaRPr>
          </a:p>
        </p:txBody>
      </p:sp>
      <p:sp>
        <p:nvSpPr>
          <p:cNvPr id="128" name="Mode 4 row 1 tag">
            <a:extLst>
              <a:ext uri="{FF2B5EF4-FFF2-40B4-BE49-F238E27FC236}">
                <a16:creationId xmlns:a16="http://schemas.microsoft.com/office/drawing/2014/main" id="{B54A75B5-F12C-70FF-607A-54AF032B686D}"/>
              </a:ext>
            </a:extLst>
          </p:cNvPr>
          <p:cNvSpPr txBox="1"/>
          <p:nvPr/>
        </p:nvSpPr>
        <p:spPr>
          <a:xfrm>
            <a:off x="8763000" y="2705100"/>
            <a:ext cx="2273300" cy="152400"/>
          </a:xfrm>
          <a:prstGeom prst="rect">
            <a:avLst/>
          </a:prstGeom>
          <a:noFill/>
        </p:spPr>
        <p:txBody>
          <a:bodyPr vert="horz" wrap="square" lIns="0" tIns="0" rIns="0" bIns="0" rtlCol="0">
            <a:noAutofit/>
          </a:bodyPr>
          <a:lstStyle/>
          <a:p>
            <a:pPr>
              <a:spcAft>
                <a:spcPts val="200"/>
              </a:spcAft>
            </a:pPr>
            <a:r>
              <a:rPr lang="en-ZA" sz="900" b="1">
                <a:solidFill>
                  <a:schemeClr val="accent1"/>
                </a:solidFill>
                <a:latin typeface="Lato" panose="020F0502020204030203" pitchFamily="34" charset="0"/>
              </a:rPr>
              <a:t>2025 · customs · DR04</a:t>
            </a:r>
          </a:p>
        </p:txBody>
      </p:sp>
      <p:sp>
        <p:nvSpPr>
          <p:cNvPr id="129" name="Mode 4 row 2">
            <a:extLst>
              <a:ext uri="{FF2B5EF4-FFF2-40B4-BE49-F238E27FC236}">
                <a16:creationId xmlns:a16="http://schemas.microsoft.com/office/drawing/2014/main" id="{076EFB5D-7CC7-1559-23C8-FB16C49ED0E3}"/>
              </a:ext>
            </a:extLst>
          </p:cNvPr>
          <p:cNvSpPr/>
          <p:nvPr/>
        </p:nvSpPr>
        <p:spPr>
          <a:xfrm>
            <a:off x="8686800" y="3073400"/>
            <a:ext cx="2425700" cy="889000"/>
          </a:xfrm>
          <a:prstGeom prst="rect">
            <a:avLst/>
          </a:prstGeom>
          <a:solidFill>
            <a:srgbClr val="FFFFFF"/>
          </a:solidFill>
          <a:ln w="9525" cap="flat" cmpd="sng" algn="ctr">
            <a:solidFill>
              <a:schemeClr val="accent1"/>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76200" tIns="50800" rIns="76200" bIns="38100" rtlCol="0" anchor="t"/>
          <a:lstStyle/>
          <a:p>
            <a:pPr>
              <a:spcAft>
                <a:spcPts val="400"/>
              </a:spcAft>
            </a:pPr>
            <a:r>
              <a:rPr lang="en-GB" sz="1050" b="1">
                <a:solidFill>
                  <a:schemeClr val="accent1"/>
                </a:solidFill>
                <a:latin typeface="Lato" panose="020F0502020204030203" pitchFamily="34" charset="0"/>
              </a:rPr>
              <a:t>Road throughput</a:t>
            </a:r>
          </a:p>
          <a:p>
            <a:pPr>
              <a:spcAft>
                <a:spcPts val="200"/>
              </a:spcAft>
            </a:pPr>
            <a:r>
              <a:rPr lang="en-GB" sz="1050">
                <a:solidFill>
                  <a:schemeClr val="dk1"/>
                </a:solidFill>
                <a:latin typeface="Lato" panose="020F0502020204030203" pitchFamily="34" charset="0"/>
              </a:rPr>
              <a:t>Corridor volume not published</a:t>
            </a:r>
          </a:p>
          <a:p>
            <a:pPr>
              <a:spcAft>
                <a:spcPts val="200"/>
              </a:spcAft>
            </a:pPr>
            <a:r>
              <a:rPr lang="en-GB" sz="1050">
                <a:solidFill>
                  <a:schemeClr val="dk1"/>
                </a:solidFill>
                <a:latin typeface="Lato" panose="020F0502020204030203" pitchFamily="34" charset="0"/>
              </a:rPr>
              <a:t>Residual needs a common basis</a:t>
            </a:r>
            <a:endParaRPr lang="en-ZA" sz="1050">
              <a:solidFill>
                <a:schemeClr val="dk1"/>
              </a:solidFill>
              <a:latin typeface="Lato" panose="020F0502020204030203" pitchFamily="34" charset="0"/>
            </a:endParaRPr>
          </a:p>
        </p:txBody>
      </p:sp>
      <p:sp>
        <p:nvSpPr>
          <p:cNvPr id="130" name="Mode 4 row 2 tag">
            <a:extLst>
              <a:ext uri="{FF2B5EF4-FFF2-40B4-BE49-F238E27FC236}">
                <a16:creationId xmlns:a16="http://schemas.microsoft.com/office/drawing/2014/main" id="{0CD6076D-5349-031C-057B-CE64B6FAAAD7}"/>
              </a:ext>
            </a:extLst>
          </p:cNvPr>
          <p:cNvSpPr txBox="1"/>
          <p:nvPr/>
        </p:nvSpPr>
        <p:spPr>
          <a:xfrm>
            <a:off x="8763000" y="3771900"/>
            <a:ext cx="2273300" cy="152400"/>
          </a:xfrm>
          <a:prstGeom prst="rect">
            <a:avLst/>
          </a:prstGeom>
          <a:noFill/>
        </p:spPr>
        <p:txBody>
          <a:bodyPr vert="horz" wrap="square" lIns="0" tIns="0" rIns="0" bIns="0" rtlCol="0">
            <a:noAutofit/>
          </a:bodyPr>
          <a:lstStyle/>
          <a:p>
            <a:pPr>
              <a:spcAft>
                <a:spcPts val="200"/>
              </a:spcAft>
            </a:pPr>
            <a:r>
              <a:rPr lang="en-ZA" sz="900">
                <a:solidFill>
                  <a:srgbClr val="808080"/>
                </a:solidFill>
                <a:latin typeface="Lato" panose="020F0502020204030203" pitchFamily="34" charset="0"/>
              </a:rPr>
              <a:t>Pending · DR04 open</a:t>
            </a:r>
          </a:p>
        </p:txBody>
      </p:sp>
      <p:sp>
        <p:nvSpPr>
          <p:cNvPr id="131" name="Mode 4 row 3">
            <a:extLst>
              <a:ext uri="{FF2B5EF4-FFF2-40B4-BE49-F238E27FC236}">
                <a16:creationId xmlns:a16="http://schemas.microsoft.com/office/drawing/2014/main" id="{84E4DDBB-6924-7666-5B02-E1E2A70DB793}"/>
              </a:ext>
            </a:extLst>
          </p:cNvPr>
          <p:cNvSpPr/>
          <p:nvPr/>
        </p:nvSpPr>
        <p:spPr>
          <a:xfrm>
            <a:off x="8686800" y="4140200"/>
            <a:ext cx="2425700" cy="889000"/>
          </a:xfrm>
          <a:prstGeom prst="rect">
            <a:avLst/>
          </a:prstGeom>
          <a:solidFill>
            <a:srgbClr val="FFFFFF"/>
          </a:solidFill>
          <a:ln w="9525" cap="flat" cmpd="sng" algn="ctr">
            <a:solidFill>
              <a:schemeClr val="accent1"/>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76200" tIns="50800" rIns="76200" bIns="38100" rtlCol="0" anchor="t"/>
          <a:lstStyle/>
          <a:p>
            <a:pPr>
              <a:spcAft>
                <a:spcPts val="400"/>
              </a:spcAft>
            </a:pPr>
            <a:r>
              <a:rPr lang="en-GB" sz="1050" b="1">
                <a:solidFill>
                  <a:schemeClr val="accent1"/>
                </a:solidFill>
                <a:latin typeface="Lato" panose="020F0502020204030203" pitchFamily="34" charset="0"/>
              </a:rPr>
              <a:t>Cost and constraints</a:t>
            </a:r>
          </a:p>
          <a:p>
            <a:pPr>
              <a:spcAft>
                <a:spcPts val="200"/>
              </a:spcAft>
            </a:pPr>
            <a:r>
              <a:rPr lang="en-GB" sz="1050">
                <a:solidFill>
                  <a:schemeClr val="dk1"/>
                </a:solidFill>
                <a:latin typeface="Lato" panose="020F0502020204030203" pitchFamily="34" charset="0"/>
              </a:rPr>
              <a:t>Pipeline tariff 68 to 77 c/l</a:t>
            </a:r>
          </a:p>
          <a:p>
            <a:pPr>
              <a:spcAft>
                <a:spcPts val="200"/>
              </a:spcAft>
            </a:pPr>
            <a:r>
              <a:rPr lang="en-GB" sz="1050">
                <a:solidFill>
                  <a:schemeClr val="dk1"/>
                </a:solidFill>
                <a:latin typeface="Lato" panose="020F0502020204030203" pitchFamily="34" charset="0"/>
              </a:rPr>
              <a:t>Gauteng allowance 83 to 91 c/l</a:t>
            </a:r>
            <a:endParaRPr lang="en-ZA" sz="1050">
              <a:solidFill>
                <a:schemeClr val="dk1"/>
              </a:solidFill>
              <a:latin typeface="Lato" panose="020F0502020204030203" pitchFamily="34" charset="0"/>
            </a:endParaRPr>
          </a:p>
        </p:txBody>
      </p:sp>
      <p:sp>
        <p:nvSpPr>
          <p:cNvPr id="132" name="Mode 4 row 3 tag">
            <a:extLst>
              <a:ext uri="{FF2B5EF4-FFF2-40B4-BE49-F238E27FC236}">
                <a16:creationId xmlns:a16="http://schemas.microsoft.com/office/drawing/2014/main" id="{8BB052EC-4752-98AE-E8F0-AF035D74175B}"/>
              </a:ext>
            </a:extLst>
          </p:cNvPr>
          <p:cNvSpPr txBox="1"/>
          <p:nvPr/>
        </p:nvSpPr>
        <p:spPr>
          <a:xfrm>
            <a:off x="8763000" y="4838700"/>
            <a:ext cx="2273300" cy="152400"/>
          </a:xfrm>
          <a:prstGeom prst="rect">
            <a:avLst/>
          </a:prstGeom>
          <a:noFill/>
        </p:spPr>
        <p:txBody>
          <a:bodyPr vert="horz" wrap="square" lIns="0" tIns="0" rIns="0" bIns="0" rtlCol="0">
            <a:noAutofit/>
          </a:bodyPr>
          <a:lstStyle/>
          <a:p>
            <a:pPr>
              <a:spcAft>
                <a:spcPts val="200"/>
              </a:spcAft>
            </a:pPr>
            <a:r>
              <a:rPr lang="en-ZA" sz="900" b="1">
                <a:solidFill>
                  <a:schemeClr val="accent1"/>
                </a:solidFill>
                <a:latin typeface="Lato" panose="020F0502020204030203" pitchFamily="34" charset="0"/>
              </a:rPr>
              <a:t>2024-26 · NERSA, dept · DR04</a:t>
            </a:r>
          </a:p>
        </p:txBody>
      </p:sp>
      <p:sp>
        <p:nvSpPr>
          <p:cNvPr id="133" name="Mode 4 row 4">
            <a:extLst>
              <a:ext uri="{FF2B5EF4-FFF2-40B4-BE49-F238E27FC236}">
                <a16:creationId xmlns:a16="http://schemas.microsoft.com/office/drawing/2014/main" id="{E4650889-4102-22C0-1818-863EE2B9A891}"/>
              </a:ext>
            </a:extLst>
          </p:cNvPr>
          <p:cNvSpPr/>
          <p:nvPr/>
        </p:nvSpPr>
        <p:spPr>
          <a:xfrm>
            <a:off x="8686800" y="5207000"/>
            <a:ext cx="2425700" cy="889000"/>
          </a:xfrm>
          <a:prstGeom prst="rect">
            <a:avLst/>
          </a:prstGeom>
          <a:solidFill>
            <a:srgbClr val="FFFFFF"/>
          </a:solidFill>
          <a:ln w="9525" cap="flat" cmpd="sng" algn="ctr">
            <a:solidFill>
              <a:schemeClr val="accent1"/>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76200" tIns="50800" rIns="76200" bIns="38100" rtlCol="0" anchor="t"/>
          <a:lstStyle/>
          <a:p>
            <a:pPr>
              <a:spcAft>
                <a:spcPts val="400"/>
              </a:spcAft>
            </a:pPr>
            <a:r>
              <a:rPr lang="en-GB" sz="1050" b="1">
                <a:solidFill>
                  <a:schemeClr val="accent1"/>
                </a:solidFill>
                <a:latin typeface="Lato" panose="020F0502020204030203" pitchFamily="34" charset="0"/>
              </a:rPr>
              <a:t>Relevance</a:t>
            </a:r>
          </a:p>
          <a:p>
            <a:pPr>
              <a:spcAft>
                <a:spcPts val="200"/>
              </a:spcAft>
            </a:pPr>
            <a:r>
              <a:rPr lang="en-GB" sz="1050">
                <a:solidFill>
                  <a:schemeClr val="dk1"/>
                </a:solidFill>
                <a:latin typeface="Lato" panose="020F0502020204030203" pitchFamily="34" charset="0"/>
              </a:rPr>
              <a:t>Shippers moving to road</a:t>
            </a:r>
          </a:p>
          <a:p>
            <a:pPr>
              <a:spcAft>
                <a:spcPts val="200"/>
              </a:spcAft>
            </a:pPr>
            <a:r>
              <a:rPr lang="en-GB" sz="1050">
                <a:solidFill>
                  <a:schemeClr val="dk1"/>
                </a:solidFill>
                <a:latin typeface="Lato" panose="020F0502020204030203" pitchFamily="34" charset="0"/>
              </a:rPr>
              <a:t>Sapref: planned import terminal</a:t>
            </a:r>
            <a:endParaRPr lang="en-ZA" sz="1050">
              <a:solidFill>
                <a:schemeClr val="dk1"/>
              </a:solidFill>
              <a:latin typeface="Lato" panose="020F0502020204030203" pitchFamily="34" charset="0"/>
            </a:endParaRPr>
          </a:p>
        </p:txBody>
      </p:sp>
      <p:sp>
        <p:nvSpPr>
          <p:cNvPr id="134" name="Mode 4 row 4 tag">
            <a:extLst>
              <a:ext uri="{FF2B5EF4-FFF2-40B4-BE49-F238E27FC236}">
                <a16:creationId xmlns:a16="http://schemas.microsoft.com/office/drawing/2014/main" id="{62F75379-BB30-AD54-1F5C-34A233B3F917}"/>
              </a:ext>
            </a:extLst>
          </p:cNvPr>
          <p:cNvSpPr txBox="1"/>
          <p:nvPr/>
        </p:nvSpPr>
        <p:spPr>
          <a:xfrm>
            <a:off x="8763000" y="5905500"/>
            <a:ext cx="2273300" cy="152400"/>
          </a:xfrm>
          <a:prstGeom prst="rect">
            <a:avLst/>
          </a:prstGeom>
          <a:noFill/>
        </p:spPr>
        <p:txBody>
          <a:bodyPr vert="horz" wrap="square" lIns="0" tIns="0" rIns="0" bIns="0" rtlCol="0">
            <a:noAutofit/>
          </a:bodyPr>
          <a:lstStyle/>
          <a:p>
            <a:pPr>
              <a:spcAft>
                <a:spcPts val="200"/>
              </a:spcAft>
            </a:pPr>
            <a:r>
              <a:rPr lang="en-ZA" sz="900" b="1">
                <a:solidFill>
                  <a:schemeClr val="accent1"/>
                </a:solidFill>
                <a:latin typeface="Lato" panose="020F0502020204030203" pitchFamily="34" charset="0"/>
              </a:rPr>
              <a:t>DR04, DR08 · news, CEF</a:t>
            </a:r>
          </a:p>
        </p:txBody>
      </p:sp>
    </p:spTree>
    <p:extLst>
      <p:ext uri="{BB962C8B-B14F-4D97-AF65-F5344CB8AC3E}">
        <p14:creationId xmlns:p14="http://schemas.microsoft.com/office/powerpoint/2010/main" val="102129912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a:solidFill>
                  <a:schemeClr val="dk1"/>
                </a:solidFill>
                <a:latin typeface="Lato"/>
              </a:rPr>
              <a:t>Outstanding data for market share and investment testing</a:t>
            </a:r>
            <a:endParaRPr dirty="0">
              <a:solidFill>
                <a:schemeClr val="dk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7</a:t>
            </a:r>
            <a:endParaRPr sz="1100"/>
          </a:p>
        </p:txBody>
      </p:sp>
      <p:sp>
        <p:nvSpPr>
          <p:cNvPr id="8" name="Unified source footer"/>
          <p:cNvSpPr txBox="1"/>
          <p:nvPr/>
        </p:nvSpPr>
        <p:spPr>
          <a:xfrm>
            <a:off x="457200" y="6184900"/>
            <a:ext cx="10652760" cy="104837"/>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GB" sz="670"/>
              <a:t>Source: DR01-DR09 request register; Manish hand-back of 8 October (DR01, DR04, DR07, DR08; merged as PR #1). Register file not yet updated for receipt. Client requests DR02/05, DR03, DR06: prepared, not sent.</a:t>
            </a:r>
            <a:endParaRPr sz="670"/>
          </a:p>
        </p:txBody>
      </p:sp>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F6826E68-0B27-3E9A-731F-737F28F0FB19}"/>
              </a:ext>
            </a:extLst>
          </p:cNvPr>
          <p:cNvSpPr/>
          <p:nvPr/>
        </p:nvSpPr>
        <p:spPr>
          <a:xfrm>
            <a:off x="457200" y="88900"/>
            <a:ext cx="2575560" cy="279400"/>
          </a:xfrm>
          <a:prstGeom prst="rect">
            <a:avLst/>
          </a:prstGeom>
          <a:solidFill>
            <a:schemeClr val="lt1">
              <a:shade val="965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Executive summary</a:t>
            </a:r>
          </a:p>
        </p:txBody>
      </p:sp>
      <p:sp>
        <p:nvSpPr>
          <p:cNvPr id="10" name="SCR 2">
            <a:extLst>
              <a:ext uri="{FF2B5EF4-FFF2-40B4-BE49-F238E27FC236}">
                <a16:creationId xmlns:a16="http://schemas.microsoft.com/office/drawing/2014/main" id="{DB3FBD92-8DAF-542E-83C8-61B53DE1024F}"/>
              </a:ext>
            </a:extLst>
          </p:cNvPr>
          <p:cNvSpPr/>
          <p:nvPr/>
        </p:nvSpPr>
        <p:spPr>
          <a:xfrm>
            <a:off x="3149600" y="88900"/>
            <a:ext cx="2575560" cy="279400"/>
          </a:xfrm>
          <a:prstGeom prst="rect">
            <a:avLst/>
          </a:prstGeom>
          <a:solidFill>
            <a:schemeClr val="lt1">
              <a:shade val="965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Situation</a:t>
            </a:r>
          </a:p>
        </p:txBody>
      </p:sp>
      <p:sp>
        <p:nvSpPr>
          <p:cNvPr id="11" name="SCR 3">
            <a:extLst>
              <a:ext uri="{FF2B5EF4-FFF2-40B4-BE49-F238E27FC236}">
                <a16:creationId xmlns:a16="http://schemas.microsoft.com/office/drawing/2014/main" id="{8954CB5A-2161-59A0-D177-7E44BC8E444E}"/>
              </a:ext>
            </a:extLst>
          </p:cNvPr>
          <p:cNvSpPr/>
          <p:nvPr/>
        </p:nvSpPr>
        <p:spPr>
          <a:xfrm>
            <a:off x="5842000" y="88900"/>
            <a:ext cx="2575560" cy="279400"/>
          </a:xfrm>
          <a:prstGeom prst="rect">
            <a:avLst/>
          </a:prstGeom>
          <a:solidFill>
            <a:schemeClr val="lt1">
              <a:shade val="965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Complication</a:t>
            </a:r>
          </a:p>
        </p:txBody>
      </p:sp>
      <p:sp>
        <p:nvSpPr>
          <p:cNvPr id="12" name="SCR 4">
            <a:extLst>
              <a:ext uri="{FF2B5EF4-FFF2-40B4-BE49-F238E27FC236}">
                <a16:creationId xmlns:a16="http://schemas.microsoft.com/office/drawing/2014/main" id="{9E01BBF5-098D-3FC4-718C-6B01C403EC02}"/>
              </a:ext>
            </a:extLst>
          </p:cNvPr>
          <p:cNvSpPr/>
          <p:nvPr/>
        </p:nvSpPr>
        <p:spPr>
          <a:xfrm>
            <a:off x="8534400" y="88900"/>
            <a:ext cx="2575560" cy="279400"/>
          </a:xfrm>
          <a:prstGeom prst="rect">
            <a:avLst/>
          </a:prstGeom>
          <a:solidFill>
            <a:schemeClr val="accent1"/>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latin typeface="Lato" panose="020F0502020204030203" pitchFamily="34" charset="0"/>
              </a:rPr>
              <a:t>Resolution</a:t>
            </a:r>
          </a:p>
        </p:txBody>
      </p:sp>
      <p:sp>
        <p:nvSpPr>
          <p:cNvPr id="47" name="Request ownership">
            <a:extLst>
              <a:ext uri="{FF2B5EF4-FFF2-40B4-BE49-F238E27FC236}">
                <a16:creationId xmlns:a16="http://schemas.microsoft.com/office/drawing/2014/main" id="{D669592C-6ABF-FBB4-F019-6DCE836B6DFB}"/>
              </a:ext>
            </a:extLst>
          </p:cNvPr>
          <p:cNvSpPr txBox="1"/>
          <p:nvPr/>
        </p:nvSpPr>
        <p:spPr>
          <a:xfrm>
            <a:off x="457200" y="1638300"/>
            <a:ext cx="10655300" cy="215900"/>
          </a:xfrm>
          <a:prstGeom prst="rect">
            <a:avLst/>
          </a:prstGeom>
          <a:noFill/>
        </p:spPr>
        <p:txBody>
          <a:bodyPr vert="horz" wrap="square" lIns="0" tIns="0" rIns="0" bIns="0" rtlCol="0">
            <a:noAutofit/>
          </a:bodyPr>
          <a:lstStyle/>
          <a:p>
            <a:pPr>
              <a:spcAft>
                <a:spcPts val="200"/>
              </a:spcAft>
            </a:pPr>
            <a:r>
              <a:rPr lang="en-GB" sz="1100">
                <a:solidFill>
                  <a:schemeClr val="dk1"/>
                </a:solidFill>
                <a:latin typeface="Lato" panose="020F0502020204030203" pitchFamily="34" charset="0"/>
              </a:rPr>
              <a:t>Manish assembles public evidence and estimates. Nigel coordinates client requests. Nigel / Henry review scenario settings.</a:t>
            </a:r>
            <a:endParaRPr lang="en-ZA" sz="1100">
              <a:solidFill>
                <a:schemeClr val="dk1"/>
              </a:solidFill>
              <a:latin typeface="Lato" panose="020F0502020204030203" pitchFamily="34" charset="0"/>
            </a:endParaRPr>
          </a:p>
        </p:txBody>
      </p:sp>
      <p:graphicFrame>
        <p:nvGraphicFramePr>
          <p:cNvPr id="92" name="Outstanding requests native table">
            <a:extLst>
              <a:ext uri="{FF2B5EF4-FFF2-40B4-BE49-F238E27FC236}">
                <a16:creationId xmlns:a16="http://schemas.microsoft.com/office/drawing/2014/main" id="{E0D0FD4C-ED2F-993A-555D-202AA7EC36FC}"/>
              </a:ext>
            </a:extLst>
          </p:cNvPr>
          <p:cNvGraphicFramePr>
            <a:graphicFrameLocks noGrp="1"/>
          </p:cNvGraphicFramePr>
          <p:nvPr>
            <p:extLst>
              <p:ext uri="{D42A27DB-BD31-4B8C-83A1-F6EECF244321}">
                <p14:modId xmlns:p14="http://schemas.microsoft.com/office/powerpoint/2010/main" val="4195115842"/>
              </p:ext>
            </p:extLst>
          </p:nvPr>
        </p:nvGraphicFramePr>
        <p:xfrm>
          <a:off x="457199" y="1955800"/>
          <a:ext cx="10655300" cy="3860800"/>
        </p:xfrm>
        <a:graphic>
          <a:graphicData uri="http://schemas.openxmlformats.org/drawingml/2006/table">
            <a:tbl>
              <a:tblPr firstRow="1" bandRow="1">
                <a:tableStyleId>{5C22544A-7EE6-4342-B048-85BDC9FD1C3A}</a:tableStyleId>
              </a:tblPr>
              <a:tblGrid>
                <a:gridCol w="1841500">
                  <a:extLst>
                    <a:ext uri="{9D8B030D-6E8A-4147-A177-3AD203B41FA5}">
                      <a16:colId xmlns:a16="http://schemas.microsoft.com/office/drawing/2014/main" val="3317089378"/>
                    </a:ext>
                  </a:extLst>
                </a:gridCol>
                <a:gridCol w="5105400">
                  <a:extLst>
                    <a:ext uri="{9D8B030D-6E8A-4147-A177-3AD203B41FA5}">
                      <a16:colId xmlns:a16="http://schemas.microsoft.com/office/drawing/2014/main" val="2104025700"/>
                    </a:ext>
                  </a:extLst>
                </a:gridCol>
                <a:gridCol w="1308100">
                  <a:extLst>
                    <a:ext uri="{9D8B030D-6E8A-4147-A177-3AD203B41FA5}">
                      <a16:colId xmlns:a16="http://schemas.microsoft.com/office/drawing/2014/main" val="1237870923"/>
                    </a:ext>
                  </a:extLst>
                </a:gridCol>
                <a:gridCol w="2400300">
                  <a:extLst>
                    <a:ext uri="{9D8B030D-6E8A-4147-A177-3AD203B41FA5}">
                      <a16:colId xmlns:a16="http://schemas.microsoft.com/office/drawing/2014/main" val="3859835671"/>
                    </a:ext>
                  </a:extLst>
                </a:gridCol>
              </a:tblGrid>
              <a:tr h="304800">
                <a:tc>
                  <a:txBody>
                    <a:bodyPr/>
                    <a:lstStyle/>
                    <a:p>
                      <a:pPr>
                        <a:spcAft>
                          <a:spcPts val="0"/>
                        </a:spcAft>
                      </a:pPr>
                      <a:r>
                        <a:rPr lang="en-ZA" sz="1150" b="1">
                          <a:solidFill>
                            <a:schemeClr val="dk1"/>
                          </a:solidFill>
                          <a:latin typeface="Lato" panose="020F0502020204030203" pitchFamily="34" charset="0"/>
                        </a:rPr>
                        <a:t>Outstanding request</a:t>
                      </a:r>
                    </a:p>
                  </a:txBody>
                  <a:tcPr marL="38100" marR="114300" marT="50800" marB="38100">
                    <a:lnL w="12700" cmpd="sng">
                      <a:solidFill>
                        <a:schemeClr val="lt1"/>
                      </a:solidFill>
                    </a:lnL>
                    <a:lnR w="12700" cmpd="sng">
                      <a:solidFill>
                        <a:schemeClr val="lt1"/>
                      </a:solidFill>
                    </a:lnR>
                    <a:lnT w="12700" cmpd="sng">
                      <a:solidFill>
                        <a:schemeClr val="lt1"/>
                      </a:solidFill>
                    </a:lnT>
                    <a:lnB w="5080" cmpd="sng">
                      <a:solidFill>
                        <a:schemeClr val="dk1">
                          <a:tint val="35000"/>
                        </a:schemeClr>
                      </a:solidFill>
                    </a:lnB>
                    <a:noFill/>
                  </a:tcPr>
                </a:tc>
                <a:tc>
                  <a:txBody>
                    <a:bodyPr/>
                    <a:lstStyle/>
                    <a:p>
                      <a:pPr>
                        <a:spcAft>
                          <a:spcPts val="0"/>
                        </a:spcAft>
                      </a:pPr>
                      <a:r>
                        <a:rPr lang="en-GB" sz="1150" b="1">
                          <a:solidFill>
                            <a:schemeClr val="dk1"/>
                          </a:solidFill>
                          <a:latin typeface="Lato" panose="020F0502020204030203" pitchFamily="34" charset="0"/>
                        </a:rPr>
                        <a:t>Status and what remains open</a:t>
                      </a:r>
                      <a:endParaRPr lang="en-ZA" sz="1150" b="1">
                        <a:solidFill>
                          <a:schemeClr val="dk1"/>
                        </a:solidFill>
                        <a:latin typeface="Lato" panose="020F0502020204030203" pitchFamily="34" charset="0"/>
                      </a:endParaRPr>
                    </a:p>
                  </a:txBody>
                  <a:tcPr marL="38100" marR="114300" marT="50800" marB="38100">
                    <a:lnL w="12700" cmpd="sng">
                      <a:solidFill>
                        <a:schemeClr val="lt1"/>
                      </a:solidFill>
                    </a:lnL>
                    <a:lnR w="12700" cmpd="sng">
                      <a:solidFill>
                        <a:schemeClr val="lt1"/>
                      </a:solidFill>
                    </a:lnR>
                    <a:lnT w="12700" cmpd="sng">
                      <a:solidFill>
                        <a:schemeClr val="lt1"/>
                      </a:solidFill>
                    </a:lnT>
                    <a:lnB w="5080" cmpd="sng">
                      <a:solidFill>
                        <a:schemeClr val="dk1">
                          <a:tint val="35000"/>
                        </a:schemeClr>
                      </a:solidFill>
                    </a:lnB>
                    <a:noFill/>
                  </a:tcPr>
                </a:tc>
                <a:tc>
                  <a:txBody>
                    <a:bodyPr/>
                    <a:lstStyle/>
                    <a:p>
                      <a:pPr>
                        <a:spcAft>
                          <a:spcPts val="0"/>
                        </a:spcAft>
                      </a:pPr>
                      <a:r>
                        <a:rPr lang="en-ZA" sz="1150" b="1">
                          <a:solidFill>
                            <a:schemeClr val="dk1"/>
                          </a:solidFill>
                          <a:latin typeface="Lato" panose="020F0502020204030203" pitchFamily="34" charset="0"/>
                        </a:rPr>
                        <a:t>Coordinator</a:t>
                      </a:r>
                    </a:p>
                  </a:txBody>
                  <a:tcPr marL="38100" marR="114300" marT="50800" marB="38100">
                    <a:lnL w="12700" cmpd="sng">
                      <a:solidFill>
                        <a:schemeClr val="lt1"/>
                      </a:solidFill>
                    </a:lnL>
                    <a:lnR w="12700" cmpd="sng">
                      <a:solidFill>
                        <a:schemeClr val="lt1"/>
                      </a:solidFill>
                    </a:lnR>
                    <a:lnT w="12700" cmpd="sng">
                      <a:solidFill>
                        <a:schemeClr val="lt1"/>
                      </a:solidFill>
                    </a:lnT>
                    <a:lnB w="5080" cmpd="sng">
                      <a:solidFill>
                        <a:schemeClr val="dk1">
                          <a:tint val="35000"/>
                        </a:schemeClr>
                      </a:solidFill>
                    </a:lnB>
                    <a:noFill/>
                  </a:tcPr>
                </a:tc>
                <a:tc>
                  <a:txBody>
                    <a:bodyPr/>
                    <a:lstStyle/>
                    <a:p>
                      <a:pPr>
                        <a:spcAft>
                          <a:spcPts val="0"/>
                        </a:spcAft>
                      </a:pPr>
                      <a:r>
                        <a:rPr lang="en-ZA" sz="1150" b="1">
                          <a:solidFill>
                            <a:schemeClr val="dk1"/>
                          </a:solidFill>
                          <a:latin typeface="Lato" panose="020F0502020204030203" pitchFamily="34" charset="0"/>
                        </a:rPr>
                        <a:t>Decision supported</a:t>
                      </a:r>
                    </a:p>
                  </a:txBody>
                  <a:tcPr marL="38100" marR="114300" marT="50800" marB="38100">
                    <a:lnL w="12700" cmpd="sng">
                      <a:solidFill>
                        <a:schemeClr val="lt1"/>
                      </a:solidFill>
                    </a:lnL>
                    <a:lnR w="12700" cmpd="sng">
                      <a:solidFill>
                        <a:schemeClr val="lt1"/>
                      </a:solidFill>
                    </a:lnR>
                    <a:lnT w="12700" cmpd="sng">
                      <a:solidFill>
                        <a:schemeClr val="lt1"/>
                      </a:solidFill>
                    </a:lnT>
                    <a:lnB w="5080" cmpd="sng">
                      <a:solidFill>
                        <a:schemeClr val="dk1">
                          <a:tint val="35000"/>
                        </a:schemeClr>
                      </a:solidFill>
                    </a:lnB>
                    <a:noFill/>
                  </a:tcPr>
                </a:tc>
                <a:extLst>
                  <a:ext uri="{0D108BD9-81ED-4DB2-BD59-A6C34878D82A}">
                    <a16:rowId xmlns:a16="http://schemas.microsoft.com/office/drawing/2014/main" val="3921921038"/>
                  </a:ext>
                </a:extLst>
              </a:tr>
              <a:tr h="508000">
                <a:tc>
                  <a:txBody>
                    <a:bodyPr/>
                    <a:lstStyle/>
                    <a:p>
                      <a:pPr>
                        <a:spcAft>
                          <a:spcPts val="0"/>
                        </a:spcAft>
                      </a:pPr>
                      <a:r>
                        <a:rPr lang="en-ZA" sz="1100" b="1">
                          <a:solidFill>
                            <a:schemeClr val="accent1"/>
                          </a:solidFill>
                          <a:latin typeface="Lato" panose="020F0502020204030203" pitchFamily="34" charset="0"/>
                        </a:rPr>
                        <a:t>DR01  National balance</a:t>
                      </a:r>
                    </a:p>
                  </a:txBody>
                  <a:tcPr marL="38100" marR="114300" marT="50800" marB="38100">
                    <a:lnL w="12700" cmpd="sng">
                      <a:solidFill>
                        <a:schemeClr val="lt1"/>
                      </a:solidFill>
                    </a:lnL>
                    <a:lnR w="12700" cmpd="sng">
                      <a:solidFill>
                        <a:schemeClr val="lt1"/>
                      </a:solidFill>
                    </a:lnR>
                    <a:lnT w="5080" cmpd="sng">
                      <a:solidFill>
                        <a:schemeClr val="dk1">
                          <a:tint val="35000"/>
                        </a:schemeClr>
                      </a:solidFill>
                    </a:lnT>
                    <a:lnB w="5080" cmpd="sng">
                      <a:solidFill>
                        <a:schemeClr val="dk1">
                          <a:tint val="10000"/>
                        </a:schemeClr>
                      </a:solidFill>
                    </a:lnB>
                    <a:noFill/>
                  </a:tcPr>
                </a:tc>
                <a:tc>
                  <a:txBody>
                    <a:bodyPr/>
                    <a:lstStyle/>
                    <a:p>
                      <a:pPr>
                        <a:spcAft>
                          <a:spcPts val="0"/>
                        </a:spcAft>
                      </a:pPr>
                      <a:r>
                        <a:rPr lang="en-GB" sz="1100" b="0">
                          <a:solidFill>
                            <a:schemeClr val="dk1"/>
                          </a:solidFill>
                          <a:latin typeface="Lato" panose="020F0502020204030203" pitchFamily="34" charset="0"/>
                        </a:rPr>
                        <a:t>Received 8 Oct: balance reconciled 2014-2021 (customs, sales, energy balance). Open: stock change, production after 2021, 2024-25 sales.</a:t>
                      </a:r>
                      <a:endParaRPr lang="en-ZA" sz="1100" b="0">
                        <a:solidFill>
                          <a:schemeClr val="dk1"/>
                        </a:solidFill>
                        <a:latin typeface="Lato" panose="020F0502020204030203" pitchFamily="34" charset="0"/>
                      </a:endParaRPr>
                    </a:p>
                  </a:txBody>
                  <a:tcPr marL="38100" marR="114300" marT="50800" marB="38100">
                    <a:lnL w="12700" cmpd="sng">
                      <a:solidFill>
                        <a:schemeClr val="lt1"/>
                      </a:solidFill>
                    </a:lnL>
                    <a:lnR w="12700" cmpd="sng">
                      <a:solidFill>
                        <a:schemeClr val="lt1"/>
                      </a:solidFill>
                    </a:lnR>
                    <a:lnT w="5080" cmpd="sng">
                      <a:solidFill>
                        <a:schemeClr val="dk1">
                          <a:tint val="35000"/>
                        </a:schemeClr>
                      </a:solidFill>
                    </a:lnT>
                    <a:lnB w="5080" cmpd="sng">
                      <a:solidFill>
                        <a:schemeClr val="dk1">
                          <a:tint val="10000"/>
                        </a:schemeClr>
                      </a:solidFill>
                    </a:lnB>
                    <a:noFill/>
                  </a:tcPr>
                </a:tc>
                <a:tc>
                  <a:txBody>
                    <a:bodyPr/>
                    <a:lstStyle/>
                    <a:p>
                      <a:pPr>
                        <a:spcAft>
                          <a:spcPts val="0"/>
                        </a:spcAft>
                      </a:pPr>
                      <a:r>
                        <a:rPr lang="en-ZA" sz="1100" b="0">
                          <a:solidFill>
                            <a:schemeClr val="dk1"/>
                          </a:solidFill>
                          <a:latin typeface="Lato" panose="020F0502020204030203" pitchFamily="34" charset="0"/>
                        </a:rPr>
                        <a:t>Manish</a:t>
                      </a:r>
                    </a:p>
                    <a:p>
                      <a:pPr>
                        <a:spcAft>
                          <a:spcPts val="0"/>
                        </a:spcAft>
                      </a:pPr>
                      <a:r>
                        <a:rPr lang="en-ZA" sz="1100" b="0">
                          <a:solidFill>
                            <a:schemeClr val="dk1"/>
                          </a:solidFill>
                          <a:latin typeface="Lato" panose="020F0502020204030203" pitchFamily="34" charset="0"/>
                        </a:rPr>
                        <a:t>Nigel reviews</a:t>
                      </a:r>
                    </a:p>
                  </a:txBody>
                  <a:tcPr marL="38100" marR="114300" marT="50800" marB="38100">
                    <a:lnL w="12700" cmpd="sng">
                      <a:solidFill>
                        <a:schemeClr val="lt1"/>
                      </a:solidFill>
                    </a:lnL>
                    <a:lnR w="12700" cmpd="sng">
                      <a:solidFill>
                        <a:schemeClr val="lt1"/>
                      </a:solidFill>
                    </a:lnR>
                    <a:lnT w="5080" cmpd="sng">
                      <a:solidFill>
                        <a:schemeClr val="dk1">
                          <a:tint val="35000"/>
                        </a:schemeClr>
                      </a:solidFill>
                    </a:lnT>
                    <a:lnB w="5080" cmpd="sng">
                      <a:solidFill>
                        <a:schemeClr val="dk1">
                          <a:tint val="10000"/>
                        </a:schemeClr>
                      </a:solidFill>
                    </a:lnB>
                    <a:noFill/>
                  </a:tcPr>
                </a:tc>
                <a:tc>
                  <a:txBody>
                    <a:bodyPr/>
                    <a:lstStyle/>
                    <a:p>
                      <a:pPr>
                        <a:spcAft>
                          <a:spcPts val="0"/>
                        </a:spcAft>
                      </a:pPr>
                      <a:r>
                        <a:rPr lang="en-ZA" sz="1100" b="0">
                          <a:solidFill>
                            <a:schemeClr val="dk1"/>
                          </a:solidFill>
                          <a:latin typeface="Lato" panose="020F0502020204030203" pitchFamily="34" charset="0"/>
                        </a:rPr>
                        <a:t>Current market size</a:t>
                      </a:r>
                    </a:p>
                  </a:txBody>
                  <a:tcPr marL="38100" marR="114300" marT="50800" marB="38100">
                    <a:lnL w="12700" cmpd="sng">
                      <a:solidFill>
                        <a:schemeClr val="lt1"/>
                      </a:solidFill>
                    </a:lnL>
                    <a:lnR w="12700" cmpd="sng">
                      <a:solidFill>
                        <a:schemeClr val="lt1"/>
                      </a:solidFill>
                    </a:lnR>
                    <a:lnT w="5080" cmpd="sng">
                      <a:solidFill>
                        <a:schemeClr val="dk1">
                          <a:tint val="35000"/>
                        </a:schemeClr>
                      </a:solidFill>
                    </a:lnT>
                    <a:lnB w="5080" cmpd="sng">
                      <a:solidFill>
                        <a:schemeClr val="dk1">
                          <a:tint val="10000"/>
                        </a:schemeClr>
                      </a:solidFill>
                    </a:lnB>
                    <a:noFill/>
                  </a:tcPr>
                </a:tc>
                <a:extLst>
                  <a:ext uri="{0D108BD9-81ED-4DB2-BD59-A6C34878D82A}">
                    <a16:rowId xmlns:a16="http://schemas.microsoft.com/office/drawing/2014/main" val="97007343"/>
                  </a:ext>
                </a:extLst>
              </a:tr>
              <a:tr h="508000">
                <a:tc>
                  <a:txBody>
                    <a:bodyPr/>
                    <a:lstStyle/>
                    <a:p>
                      <a:pPr>
                        <a:spcAft>
                          <a:spcPts val="0"/>
                        </a:spcAft>
                      </a:pPr>
                      <a:r>
                        <a:rPr lang="en-ZA" sz="1100" b="1">
                          <a:solidFill>
                            <a:schemeClr val="accent1"/>
                          </a:solidFill>
                          <a:latin typeface="Lato" panose="020F0502020204030203" pitchFamily="34" charset="0"/>
                        </a:rPr>
                        <a:t>DR04  Routes and access</a:t>
                      </a:r>
                    </a:p>
                  </a:txBody>
                  <a:tcPr marL="38100" marR="114300" marT="50800" marB="38100">
                    <a:lnL w="12700" cmpd="sng">
                      <a:solidFill>
                        <a:schemeClr val="lt1"/>
                      </a:solidFill>
                    </a:lnL>
                    <a:lnR w="12700" cmpd="sng">
                      <a:solidFill>
                        <a:schemeClr val="lt1"/>
                      </a:solidFill>
                    </a:lnR>
                    <a:lnT w="5080" cmpd="sng">
                      <a:solidFill>
                        <a:schemeClr val="dk1">
                          <a:tint val="10000"/>
                        </a:schemeClr>
                      </a:solidFill>
                    </a:lnT>
                    <a:lnB w="5080" cmpd="sng">
                      <a:solidFill>
                        <a:schemeClr val="dk1">
                          <a:tint val="10000"/>
                        </a:schemeClr>
                      </a:solidFill>
                    </a:lnB>
                    <a:noFill/>
                  </a:tcPr>
                </a:tc>
                <a:tc>
                  <a:txBody>
                    <a:bodyPr/>
                    <a:lstStyle/>
                    <a:p>
                      <a:pPr>
                        <a:spcAft>
                          <a:spcPts val="0"/>
                        </a:spcAft>
                      </a:pPr>
                      <a:r>
                        <a:rPr lang="en-GB" sz="1100" b="0">
                          <a:solidFill>
                            <a:schemeClr val="dk1"/>
                          </a:solidFill>
                          <a:latin typeface="Lato" panose="020F0502020204030203" pitchFamily="34" charset="0"/>
                        </a:rPr>
                        <a:t>Received 8 Oct, partial: entry points, pipeline tariff, zone costs, site access. Open: road and rail rates, pipeline volumes by product.</a:t>
                      </a:r>
                      <a:endParaRPr lang="en-ZA" sz="1100" b="0">
                        <a:solidFill>
                          <a:schemeClr val="dk1"/>
                        </a:solidFill>
                        <a:latin typeface="Lato" panose="020F0502020204030203" pitchFamily="34" charset="0"/>
                      </a:endParaRPr>
                    </a:p>
                  </a:txBody>
                  <a:tcPr marL="38100" marR="114300" marT="50800" marB="38100">
                    <a:lnL w="12700" cmpd="sng">
                      <a:solidFill>
                        <a:schemeClr val="lt1"/>
                      </a:solidFill>
                    </a:lnL>
                    <a:lnR w="12700" cmpd="sng">
                      <a:solidFill>
                        <a:schemeClr val="lt1"/>
                      </a:solidFill>
                    </a:lnR>
                    <a:lnT w="5080" cmpd="sng">
                      <a:solidFill>
                        <a:schemeClr val="dk1">
                          <a:tint val="10000"/>
                        </a:schemeClr>
                      </a:solidFill>
                    </a:lnT>
                    <a:lnB w="5080" cmpd="sng">
                      <a:solidFill>
                        <a:schemeClr val="dk1">
                          <a:tint val="10000"/>
                        </a:schemeClr>
                      </a:solidFill>
                    </a:lnB>
                    <a:noFill/>
                  </a:tcPr>
                </a:tc>
                <a:tc>
                  <a:txBody>
                    <a:bodyPr/>
                    <a:lstStyle/>
                    <a:p>
                      <a:pPr>
                        <a:spcAft>
                          <a:spcPts val="0"/>
                        </a:spcAft>
                      </a:pPr>
                      <a:r>
                        <a:rPr lang="en-ZA" sz="1100" b="0">
                          <a:solidFill>
                            <a:schemeClr val="dk1"/>
                          </a:solidFill>
                          <a:latin typeface="Lato" panose="020F0502020204030203" pitchFamily="34" charset="0"/>
                        </a:rPr>
                        <a:t>Manish</a:t>
                      </a:r>
                    </a:p>
                    <a:p>
                      <a:pPr>
                        <a:spcAft>
                          <a:spcPts val="0"/>
                        </a:spcAft>
                      </a:pPr>
                      <a:r>
                        <a:rPr lang="en-ZA" sz="1100" b="0">
                          <a:solidFill>
                            <a:schemeClr val="dk1"/>
                          </a:solidFill>
                          <a:latin typeface="Lato" panose="020F0502020204030203" pitchFamily="34" charset="0"/>
                        </a:rPr>
                        <a:t>Nigel reviews</a:t>
                      </a:r>
                    </a:p>
                  </a:txBody>
                  <a:tcPr marL="38100" marR="114300" marT="50800" marB="38100">
                    <a:lnL w="12700" cmpd="sng">
                      <a:solidFill>
                        <a:schemeClr val="lt1"/>
                      </a:solidFill>
                    </a:lnL>
                    <a:lnR w="12700" cmpd="sng">
                      <a:solidFill>
                        <a:schemeClr val="lt1"/>
                      </a:solidFill>
                    </a:lnR>
                    <a:lnT w="5080" cmpd="sng">
                      <a:solidFill>
                        <a:schemeClr val="dk1">
                          <a:tint val="10000"/>
                        </a:schemeClr>
                      </a:solidFill>
                    </a:lnT>
                    <a:lnB w="5080" cmpd="sng">
                      <a:solidFill>
                        <a:schemeClr val="dk1">
                          <a:tint val="10000"/>
                        </a:schemeClr>
                      </a:solidFill>
                    </a:lnB>
                    <a:noFill/>
                  </a:tcPr>
                </a:tc>
                <a:tc>
                  <a:txBody>
                    <a:bodyPr/>
                    <a:lstStyle/>
                    <a:p>
                      <a:pPr>
                        <a:spcAft>
                          <a:spcPts val="0"/>
                        </a:spcAft>
                      </a:pPr>
                      <a:r>
                        <a:rPr lang="en-GB" sz="1100" b="0">
                          <a:solidFill>
                            <a:schemeClr val="dk1"/>
                          </a:solidFill>
                          <a:latin typeface="Lato" panose="020F0502020204030203" pitchFamily="34" charset="0"/>
                        </a:rPr>
                        <a:t>Accessible market at each terminal</a:t>
                      </a:r>
                      <a:endParaRPr lang="en-ZA" sz="1100" b="0">
                        <a:solidFill>
                          <a:schemeClr val="dk1"/>
                        </a:solidFill>
                        <a:latin typeface="Lato" panose="020F0502020204030203" pitchFamily="34" charset="0"/>
                      </a:endParaRPr>
                    </a:p>
                  </a:txBody>
                  <a:tcPr marL="38100" marR="114300" marT="50800" marB="38100">
                    <a:lnL w="12700" cmpd="sng">
                      <a:solidFill>
                        <a:schemeClr val="lt1"/>
                      </a:solidFill>
                    </a:lnL>
                    <a:lnR w="12700" cmpd="sng">
                      <a:solidFill>
                        <a:schemeClr val="lt1"/>
                      </a:solidFill>
                    </a:lnR>
                    <a:lnT w="5080" cmpd="sng">
                      <a:solidFill>
                        <a:schemeClr val="dk1">
                          <a:tint val="10000"/>
                        </a:schemeClr>
                      </a:solidFill>
                    </a:lnT>
                    <a:lnB w="5080" cmpd="sng">
                      <a:solidFill>
                        <a:schemeClr val="dk1">
                          <a:tint val="10000"/>
                        </a:schemeClr>
                      </a:solidFill>
                    </a:lnB>
                    <a:noFill/>
                  </a:tcPr>
                </a:tc>
                <a:extLst>
                  <a:ext uri="{0D108BD9-81ED-4DB2-BD59-A6C34878D82A}">
                    <a16:rowId xmlns:a16="http://schemas.microsoft.com/office/drawing/2014/main" val="584684653"/>
                  </a:ext>
                </a:extLst>
              </a:tr>
              <a:tr h="508000">
                <a:tc>
                  <a:txBody>
                    <a:bodyPr/>
                    <a:lstStyle/>
                    <a:p>
                      <a:pPr>
                        <a:spcAft>
                          <a:spcPts val="0"/>
                        </a:spcAft>
                      </a:pPr>
                      <a:r>
                        <a:rPr lang="en-ZA" sz="1100" b="1">
                          <a:solidFill>
                            <a:schemeClr val="accent1"/>
                          </a:solidFill>
                          <a:latin typeface="Lato" panose="020F0502020204030203" pitchFamily="34" charset="0"/>
                        </a:rPr>
                        <a:t>DR07  Demand evidence</a:t>
                      </a:r>
                    </a:p>
                  </a:txBody>
                  <a:tcPr marL="38100" marR="114300" marT="50800" marB="38100">
                    <a:lnL w="12700" cmpd="sng">
                      <a:solidFill>
                        <a:schemeClr val="lt1"/>
                      </a:solidFill>
                    </a:lnL>
                    <a:lnR w="12700" cmpd="sng">
                      <a:solidFill>
                        <a:schemeClr val="lt1"/>
                      </a:solidFill>
                    </a:lnR>
                    <a:lnT w="5080" cmpd="sng">
                      <a:solidFill>
                        <a:schemeClr val="dk1">
                          <a:tint val="10000"/>
                        </a:schemeClr>
                      </a:solidFill>
                    </a:lnT>
                    <a:lnB w="5080" cmpd="sng">
                      <a:solidFill>
                        <a:schemeClr val="dk1">
                          <a:tint val="10000"/>
                        </a:schemeClr>
                      </a:solidFill>
                    </a:lnB>
                    <a:noFill/>
                  </a:tcPr>
                </a:tc>
                <a:tc>
                  <a:txBody>
                    <a:bodyPr/>
                    <a:lstStyle/>
                    <a:p>
                      <a:pPr>
                        <a:spcAft>
                          <a:spcPts val="0"/>
                        </a:spcAft>
                      </a:pPr>
                      <a:r>
                        <a:rPr lang="en-GB" sz="1100" b="0">
                          <a:solidFill>
                            <a:schemeClr val="dk1"/>
                          </a:solidFill>
                          <a:latin typeface="Lato" panose="020F0502020204030203" pitchFamily="34" charset="0"/>
                        </a:rPr>
                        <a:t>Received 8 Oct: Eskom litres, plant dates, fleet by province, efficiency, rail. Open: double-count check; sector baseline differs (overlap log).</a:t>
                      </a:r>
                      <a:endParaRPr lang="en-ZA" sz="1100" b="0">
                        <a:solidFill>
                          <a:schemeClr val="dk1"/>
                        </a:solidFill>
                        <a:latin typeface="Lato" panose="020F0502020204030203" pitchFamily="34" charset="0"/>
                      </a:endParaRPr>
                    </a:p>
                  </a:txBody>
                  <a:tcPr marL="38100" marR="114300" marT="50800" marB="38100">
                    <a:lnL w="12700" cmpd="sng">
                      <a:solidFill>
                        <a:schemeClr val="lt1"/>
                      </a:solidFill>
                    </a:lnL>
                    <a:lnR w="12700" cmpd="sng">
                      <a:solidFill>
                        <a:schemeClr val="lt1"/>
                      </a:solidFill>
                    </a:lnR>
                    <a:lnT w="5080" cmpd="sng">
                      <a:solidFill>
                        <a:schemeClr val="dk1">
                          <a:tint val="10000"/>
                        </a:schemeClr>
                      </a:solidFill>
                    </a:lnT>
                    <a:lnB w="5080" cmpd="sng">
                      <a:solidFill>
                        <a:schemeClr val="dk1">
                          <a:tint val="10000"/>
                        </a:schemeClr>
                      </a:solidFill>
                    </a:lnB>
                    <a:noFill/>
                  </a:tcPr>
                </a:tc>
                <a:tc>
                  <a:txBody>
                    <a:bodyPr/>
                    <a:lstStyle/>
                    <a:p>
                      <a:pPr>
                        <a:spcAft>
                          <a:spcPts val="0"/>
                        </a:spcAft>
                      </a:pPr>
                      <a:r>
                        <a:rPr lang="en-ZA" sz="1100" b="0">
                          <a:solidFill>
                            <a:schemeClr val="dk1"/>
                          </a:solidFill>
                          <a:latin typeface="Lato" panose="020F0502020204030203" pitchFamily="34" charset="0"/>
                        </a:rPr>
                        <a:t>Manish</a:t>
                      </a:r>
                    </a:p>
                    <a:p>
                      <a:pPr>
                        <a:spcAft>
                          <a:spcPts val="0"/>
                        </a:spcAft>
                      </a:pPr>
                      <a:r>
                        <a:rPr lang="en-ZA" sz="1100" b="0">
                          <a:solidFill>
                            <a:schemeClr val="dk1"/>
                          </a:solidFill>
                          <a:latin typeface="Lato" panose="020F0502020204030203" pitchFamily="34" charset="0"/>
                        </a:rPr>
                        <a:t>Nigel reviews</a:t>
                      </a:r>
                    </a:p>
                  </a:txBody>
                  <a:tcPr marL="38100" marR="114300" marT="50800" marB="38100">
                    <a:lnL w="12700" cmpd="sng">
                      <a:solidFill>
                        <a:schemeClr val="lt1"/>
                      </a:solidFill>
                    </a:lnL>
                    <a:lnR w="12700" cmpd="sng">
                      <a:solidFill>
                        <a:schemeClr val="lt1"/>
                      </a:solidFill>
                    </a:lnR>
                    <a:lnT w="5080" cmpd="sng">
                      <a:solidFill>
                        <a:schemeClr val="dk1">
                          <a:tint val="10000"/>
                        </a:schemeClr>
                      </a:solidFill>
                    </a:lnT>
                    <a:lnB w="5080" cmpd="sng">
                      <a:solidFill>
                        <a:schemeClr val="dk1">
                          <a:tint val="10000"/>
                        </a:schemeClr>
                      </a:solidFill>
                    </a:lnB>
                    <a:noFill/>
                  </a:tcPr>
                </a:tc>
                <a:tc>
                  <a:txBody>
                    <a:bodyPr/>
                    <a:lstStyle/>
                    <a:p>
                      <a:pPr>
                        <a:spcAft>
                          <a:spcPts val="0"/>
                        </a:spcAft>
                      </a:pPr>
                      <a:r>
                        <a:rPr lang="en-GB" sz="1100" b="0">
                          <a:solidFill>
                            <a:schemeClr val="dk1"/>
                          </a:solidFill>
                          <a:latin typeface="Lato" panose="020F0502020204030203" pitchFamily="34" charset="0"/>
                        </a:rPr>
                        <a:t>Demand baseline and scenario calibration</a:t>
                      </a:r>
                      <a:endParaRPr lang="en-ZA" sz="1100" b="0">
                        <a:solidFill>
                          <a:schemeClr val="dk1"/>
                        </a:solidFill>
                        <a:latin typeface="Lato" panose="020F0502020204030203" pitchFamily="34" charset="0"/>
                      </a:endParaRPr>
                    </a:p>
                  </a:txBody>
                  <a:tcPr marL="38100" marR="114300" marT="50800" marB="38100">
                    <a:lnL w="12700" cmpd="sng">
                      <a:solidFill>
                        <a:schemeClr val="lt1"/>
                      </a:solidFill>
                    </a:lnL>
                    <a:lnR w="12700" cmpd="sng">
                      <a:solidFill>
                        <a:schemeClr val="lt1"/>
                      </a:solidFill>
                    </a:lnR>
                    <a:lnT w="5080" cmpd="sng">
                      <a:solidFill>
                        <a:schemeClr val="dk1">
                          <a:tint val="10000"/>
                        </a:schemeClr>
                      </a:solidFill>
                    </a:lnT>
                    <a:lnB w="5080" cmpd="sng">
                      <a:solidFill>
                        <a:schemeClr val="dk1">
                          <a:tint val="10000"/>
                        </a:schemeClr>
                      </a:solidFill>
                    </a:lnB>
                    <a:noFill/>
                  </a:tcPr>
                </a:tc>
                <a:extLst>
                  <a:ext uri="{0D108BD9-81ED-4DB2-BD59-A6C34878D82A}">
                    <a16:rowId xmlns:a16="http://schemas.microsoft.com/office/drawing/2014/main" val="893506863"/>
                  </a:ext>
                </a:extLst>
              </a:tr>
              <a:tr h="508000">
                <a:tc>
                  <a:txBody>
                    <a:bodyPr/>
                    <a:lstStyle/>
                    <a:p>
                      <a:pPr>
                        <a:spcAft>
                          <a:spcPts val="0"/>
                        </a:spcAft>
                      </a:pPr>
                      <a:r>
                        <a:rPr lang="en-ZA" sz="1100" b="1">
                          <a:solidFill>
                            <a:schemeClr val="accent1"/>
                          </a:solidFill>
                          <a:latin typeface="Lato" panose="020F0502020204030203" pitchFamily="34" charset="0"/>
                        </a:rPr>
                        <a:t>DR08  Refinery supply</a:t>
                      </a:r>
                    </a:p>
                  </a:txBody>
                  <a:tcPr marL="38100" marR="114300" marT="50800" marB="38100">
                    <a:lnL w="12700" cmpd="sng">
                      <a:solidFill>
                        <a:schemeClr val="lt1"/>
                      </a:solidFill>
                    </a:lnL>
                    <a:lnR w="12700" cmpd="sng">
                      <a:solidFill>
                        <a:schemeClr val="lt1"/>
                      </a:solidFill>
                    </a:lnR>
                    <a:lnT w="5080" cmpd="sng">
                      <a:solidFill>
                        <a:schemeClr val="dk1">
                          <a:tint val="10000"/>
                        </a:schemeClr>
                      </a:solidFill>
                    </a:lnT>
                    <a:lnB w="5080" cmpd="sng">
                      <a:solidFill>
                        <a:schemeClr val="dk1">
                          <a:tint val="10000"/>
                        </a:schemeClr>
                      </a:solidFill>
                    </a:lnB>
                    <a:noFill/>
                  </a:tcPr>
                </a:tc>
                <a:tc>
                  <a:txBody>
                    <a:bodyPr/>
                    <a:lstStyle/>
                    <a:p>
                      <a:pPr>
                        <a:spcAft>
                          <a:spcPts val="0"/>
                        </a:spcAft>
                      </a:pPr>
                      <a:r>
                        <a:rPr lang="en-GB" sz="1100" b="0">
                          <a:solidFill>
                            <a:schemeClr val="dk1"/>
                          </a:solidFill>
                          <a:latin typeface="Lato" panose="020F0502020204030203" pitchFamily="34" charset="0"/>
                        </a:rPr>
                        <a:t>Received 8 Oct, partial: six plants, capacity and status, Natref split. Open: Secunda and Astron output by product; output after 2021.</a:t>
                      </a:r>
                      <a:endParaRPr lang="en-ZA" sz="1100" b="0">
                        <a:solidFill>
                          <a:schemeClr val="dk1"/>
                        </a:solidFill>
                        <a:latin typeface="Lato" panose="020F0502020204030203" pitchFamily="34" charset="0"/>
                      </a:endParaRPr>
                    </a:p>
                  </a:txBody>
                  <a:tcPr marL="38100" marR="114300" marT="50800" marB="38100">
                    <a:lnL w="12700" cmpd="sng">
                      <a:solidFill>
                        <a:schemeClr val="lt1"/>
                      </a:solidFill>
                    </a:lnL>
                    <a:lnR w="12700" cmpd="sng">
                      <a:solidFill>
                        <a:schemeClr val="lt1"/>
                      </a:solidFill>
                    </a:lnR>
                    <a:lnT w="5080" cmpd="sng">
                      <a:solidFill>
                        <a:schemeClr val="dk1">
                          <a:tint val="10000"/>
                        </a:schemeClr>
                      </a:solidFill>
                    </a:lnT>
                    <a:lnB w="5080" cmpd="sng">
                      <a:solidFill>
                        <a:schemeClr val="dk1">
                          <a:tint val="10000"/>
                        </a:schemeClr>
                      </a:solidFill>
                    </a:lnB>
                    <a:noFill/>
                  </a:tcPr>
                </a:tc>
                <a:tc>
                  <a:txBody>
                    <a:bodyPr/>
                    <a:lstStyle/>
                    <a:p>
                      <a:pPr>
                        <a:spcAft>
                          <a:spcPts val="0"/>
                        </a:spcAft>
                      </a:pPr>
                      <a:r>
                        <a:rPr lang="en-ZA" sz="1100" b="0">
                          <a:solidFill>
                            <a:schemeClr val="dk1"/>
                          </a:solidFill>
                          <a:latin typeface="Lato" panose="020F0502020204030203" pitchFamily="34" charset="0"/>
                        </a:rPr>
                        <a:t>Manish</a:t>
                      </a:r>
                    </a:p>
                    <a:p>
                      <a:pPr>
                        <a:spcAft>
                          <a:spcPts val="0"/>
                        </a:spcAft>
                      </a:pPr>
                      <a:r>
                        <a:rPr lang="en-ZA" sz="1100" b="0">
                          <a:solidFill>
                            <a:schemeClr val="dk1"/>
                          </a:solidFill>
                          <a:latin typeface="Lato" panose="020F0502020204030203" pitchFamily="34" charset="0"/>
                        </a:rPr>
                        <a:t>Nigel reviews</a:t>
                      </a:r>
                    </a:p>
                  </a:txBody>
                  <a:tcPr marL="38100" marR="114300" marT="50800" marB="38100">
                    <a:lnL w="12700" cmpd="sng">
                      <a:solidFill>
                        <a:schemeClr val="lt1"/>
                      </a:solidFill>
                    </a:lnL>
                    <a:lnR w="12700" cmpd="sng">
                      <a:solidFill>
                        <a:schemeClr val="lt1"/>
                      </a:solidFill>
                    </a:lnR>
                    <a:lnT w="5080" cmpd="sng">
                      <a:solidFill>
                        <a:schemeClr val="dk1">
                          <a:tint val="10000"/>
                        </a:schemeClr>
                      </a:solidFill>
                    </a:lnT>
                    <a:lnB w="5080" cmpd="sng">
                      <a:solidFill>
                        <a:schemeClr val="dk1">
                          <a:tint val="10000"/>
                        </a:schemeClr>
                      </a:solidFill>
                    </a:lnB>
                    <a:noFill/>
                  </a:tcPr>
                </a:tc>
                <a:tc>
                  <a:txBody>
                    <a:bodyPr/>
                    <a:lstStyle/>
                    <a:p>
                      <a:pPr>
                        <a:spcAft>
                          <a:spcPts val="0"/>
                        </a:spcAft>
                      </a:pPr>
                      <a:r>
                        <a:rPr lang="en-GB" sz="1100" b="0">
                          <a:solidFill>
                            <a:schemeClr val="dk1"/>
                          </a:solidFill>
                          <a:latin typeface="Lato" panose="020F0502020204030203" pitchFamily="34" charset="0"/>
                        </a:rPr>
                        <a:t>Domestic output and import requirement</a:t>
                      </a:r>
                      <a:endParaRPr lang="en-ZA" sz="1100" b="0">
                        <a:solidFill>
                          <a:schemeClr val="dk1"/>
                        </a:solidFill>
                        <a:latin typeface="Lato" panose="020F0502020204030203" pitchFamily="34" charset="0"/>
                      </a:endParaRPr>
                    </a:p>
                  </a:txBody>
                  <a:tcPr marL="38100" marR="114300" marT="50800" marB="38100">
                    <a:lnL w="12700" cmpd="sng">
                      <a:solidFill>
                        <a:schemeClr val="lt1"/>
                      </a:solidFill>
                    </a:lnL>
                    <a:lnR w="12700" cmpd="sng">
                      <a:solidFill>
                        <a:schemeClr val="lt1"/>
                      </a:solidFill>
                    </a:lnR>
                    <a:lnT w="5080" cmpd="sng">
                      <a:solidFill>
                        <a:schemeClr val="dk1">
                          <a:tint val="10000"/>
                        </a:schemeClr>
                      </a:solidFill>
                    </a:lnT>
                    <a:lnB w="5080" cmpd="sng">
                      <a:solidFill>
                        <a:schemeClr val="dk1">
                          <a:tint val="10000"/>
                        </a:schemeClr>
                      </a:solidFill>
                    </a:lnB>
                    <a:noFill/>
                  </a:tcPr>
                </a:tc>
                <a:extLst>
                  <a:ext uri="{0D108BD9-81ED-4DB2-BD59-A6C34878D82A}">
                    <a16:rowId xmlns:a16="http://schemas.microsoft.com/office/drawing/2014/main" val="709265889"/>
                  </a:ext>
                </a:extLst>
              </a:tr>
              <a:tr h="508000">
                <a:tc>
                  <a:txBody>
                    <a:bodyPr/>
                    <a:lstStyle/>
                    <a:p>
                      <a:pPr>
                        <a:spcAft>
                          <a:spcPts val="0"/>
                        </a:spcAft>
                      </a:pPr>
                      <a:r>
                        <a:rPr lang="en-ZA" sz="1100" b="1">
                          <a:solidFill>
                            <a:schemeClr val="accent1"/>
                          </a:solidFill>
                          <a:latin typeface="Lato" panose="020F0502020204030203" pitchFamily="34" charset="0"/>
                        </a:rPr>
                        <a:t>DR02/05  Client capture</a:t>
                      </a:r>
                    </a:p>
                  </a:txBody>
                  <a:tcPr marL="38100" marR="114300" marT="50800" marB="38100">
                    <a:lnL w="12700" cmpd="sng">
                      <a:solidFill>
                        <a:schemeClr val="lt1"/>
                      </a:solidFill>
                    </a:lnL>
                    <a:lnR w="12700" cmpd="sng">
                      <a:solidFill>
                        <a:schemeClr val="lt1"/>
                      </a:solidFill>
                    </a:lnR>
                    <a:lnT w="5080" cmpd="sng">
                      <a:solidFill>
                        <a:schemeClr val="dk1">
                          <a:tint val="10000"/>
                        </a:schemeClr>
                      </a:solidFill>
                    </a:lnT>
                    <a:lnB w="5080" cmpd="sng">
                      <a:solidFill>
                        <a:schemeClr val="dk1">
                          <a:tint val="10000"/>
                        </a:schemeClr>
                      </a:solidFill>
                    </a:lnB>
                    <a:noFill/>
                  </a:tcPr>
                </a:tc>
                <a:tc>
                  <a:txBody>
                    <a:bodyPr/>
                    <a:lstStyle/>
                    <a:p>
                      <a:pPr>
                        <a:spcAft>
                          <a:spcPts val="0"/>
                        </a:spcAft>
                      </a:pPr>
                      <a:r>
                        <a:rPr lang="en-GB" sz="1100" b="0">
                          <a:solidFill>
                            <a:schemeClr val="dk1"/>
                          </a:solidFill>
                          <a:latin typeface="Lato" panose="020F0502020204030203" pitchFamily="34" charset="0"/>
                        </a:rPr>
                        <a:t>36 months of site/product receipts and dispatches, linked transfers, customer destinations and contract volumes.</a:t>
                      </a:r>
                      <a:endParaRPr lang="en-ZA" sz="1100" b="0">
                        <a:solidFill>
                          <a:schemeClr val="dk1"/>
                        </a:solidFill>
                        <a:latin typeface="Lato" panose="020F0502020204030203" pitchFamily="34" charset="0"/>
                      </a:endParaRPr>
                    </a:p>
                  </a:txBody>
                  <a:tcPr marL="38100" marR="114300" marT="50800" marB="38100">
                    <a:lnL w="12700" cmpd="sng">
                      <a:solidFill>
                        <a:schemeClr val="lt1"/>
                      </a:solidFill>
                    </a:lnL>
                    <a:lnR w="12700" cmpd="sng">
                      <a:solidFill>
                        <a:schemeClr val="lt1"/>
                      </a:solidFill>
                    </a:lnR>
                    <a:lnT w="5080" cmpd="sng">
                      <a:solidFill>
                        <a:schemeClr val="dk1">
                          <a:tint val="10000"/>
                        </a:schemeClr>
                      </a:solidFill>
                    </a:lnT>
                    <a:lnB w="5080" cmpd="sng">
                      <a:solidFill>
                        <a:schemeClr val="dk1">
                          <a:tint val="10000"/>
                        </a:schemeClr>
                      </a:solidFill>
                    </a:lnB>
                    <a:noFill/>
                  </a:tcPr>
                </a:tc>
                <a:tc>
                  <a:txBody>
                    <a:bodyPr/>
                    <a:lstStyle/>
                    <a:p>
                      <a:pPr>
                        <a:spcAft>
                          <a:spcPts val="0"/>
                        </a:spcAft>
                      </a:pPr>
                      <a:r>
                        <a:rPr lang="en-ZA" sz="1100" b="0">
                          <a:solidFill>
                            <a:schemeClr val="dk1"/>
                          </a:solidFill>
                          <a:latin typeface="Lato" panose="020F0502020204030203" pitchFamily="34" charset="0"/>
                        </a:rPr>
                        <a:t>Nigel</a:t>
                      </a:r>
                    </a:p>
                    <a:p>
                      <a:pPr>
                        <a:spcAft>
                          <a:spcPts val="0"/>
                        </a:spcAft>
                      </a:pPr>
                      <a:r>
                        <a:rPr lang="en-ZA" sz="1100" b="0">
                          <a:solidFill>
                            <a:schemeClr val="dk1"/>
                          </a:solidFill>
                          <a:latin typeface="Lato" panose="020F0502020204030203" pitchFamily="34" charset="0"/>
                        </a:rPr>
                        <a:t>coordinates</a:t>
                      </a:r>
                    </a:p>
                  </a:txBody>
                  <a:tcPr marL="38100" marR="114300" marT="50800" marB="38100">
                    <a:lnL w="12700" cmpd="sng">
                      <a:solidFill>
                        <a:schemeClr val="lt1"/>
                      </a:solidFill>
                    </a:lnL>
                    <a:lnR w="12700" cmpd="sng">
                      <a:solidFill>
                        <a:schemeClr val="lt1"/>
                      </a:solidFill>
                    </a:lnR>
                    <a:lnT w="5080" cmpd="sng">
                      <a:solidFill>
                        <a:schemeClr val="dk1">
                          <a:tint val="10000"/>
                        </a:schemeClr>
                      </a:solidFill>
                    </a:lnT>
                    <a:lnB w="5080" cmpd="sng">
                      <a:solidFill>
                        <a:schemeClr val="dk1">
                          <a:tint val="10000"/>
                        </a:schemeClr>
                      </a:solidFill>
                    </a:lnB>
                    <a:noFill/>
                  </a:tcPr>
                </a:tc>
                <a:tc>
                  <a:txBody>
                    <a:bodyPr/>
                    <a:lstStyle/>
                    <a:p>
                      <a:pPr>
                        <a:spcAft>
                          <a:spcPts val="0"/>
                        </a:spcAft>
                      </a:pPr>
                      <a:r>
                        <a:rPr lang="en-GB" sz="1100" b="0">
                          <a:solidFill>
                            <a:schemeClr val="dk1"/>
                          </a:solidFill>
                          <a:latin typeface="Lato" panose="020F0502020204030203" pitchFamily="34" charset="0"/>
                        </a:rPr>
                        <a:t>Current share and achievable capture</a:t>
                      </a:r>
                      <a:endParaRPr lang="en-ZA" sz="1100" b="0">
                        <a:solidFill>
                          <a:schemeClr val="dk1"/>
                        </a:solidFill>
                        <a:latin typeface="Lato" panose="020F0502020204030203" pitchFamily="34" charset="0"/>
                      </a:endParaRPr>
                    </a:p>
                  </a:txBody>
                  <a:tcPr marL="38100" marR="114300" marT="50800" marB="38100">
                    <a:lnL w="12700" cmpd="sng">
                      <a:solidFill>
                        <a:schemeClr val="lt1"/>
                      </a:solidFill>
                    </a:lnL>
                    <a:lnR w="12700" cmpd="sng">
                      <a:solidFill>
                        <a:schemeClr val="lt1"/>
                      </a:solidFill>
                    </a:lnR>
                    <a:lnT w="5080" cmpd="sng">
                      <a:solidFill>
                        <a:schemeClr val="dk1">
                          <a:tint val="10000"/>
                        </a:schemeClr>
                      </a:solidFill>
                    </a:lnT>
                    <a:lnB w="5080" cmpd="sng">
                      <a:solidFill>
                        <a:schemeClr val="dk1">
                          <a:tint val="10000"/>
                        </a:schemeClr>
                      </a:solidFill>
                    </a:lnB>
                    <a:noFill/>
                  </a:tcPr>
                </a:tc>
                <a:extLst>
                  <a:ext uri="{0D108BD9-81ED-4DB2-BD59-A6C34878D82A}">
                    <a16:rowId xmlns:a16="http://schemas.microsoft.com/office/drawing/2014/main" val="1146758215"/>
                  </a:ext>
                </a:extLst>
              </a:tr>
              <a:tr h="508000">
                <a:tc>
                  <a:txBody>
                    <a:bodyPr/>
                    <a:lstStyle/>
                    <a:p>
                      <a:pPr>
                        <a:spcAft>
                          <a:spcPts val="0"/>
                        </a:spcAft>
                      </a:pPr>
                      <a:r>
                        <a:rPr lang="en-ZA" sz="1100" b="1">
                          <a:solidFill>
                            <a:schemeClr val="accent1"/>
                          </a:solidFill>
                          <a:latin typeface="Lato" panose="020F0502020204030203" pitchFamily="34" charset="0"/>
                        </a:rPr>
                        <a:t>DR03  Client operations</a:t>
                      </a:r>
                    </a:p>
                  </a:txBody>
                  <a:tcPr marL="38100" marR="114300" marT="50800" marB="38100">
                    <a:lnL w="12700" cmpd="sng">
                      <a:solidFill>
                        <a:schemeClr val="lt1"/>
                      </a:solidFill>
                    </a:lnL>
                    <a:lnR w="12700" cmpd="sng">
                      <a:solidFill>
                        <a:schemeClr val="lt1"/>
                      </a:solidFill>
                    </a:lnR>
                    <a:lnT w="5080" cmpd="sng">
                      <a:solidFill>
                        <a:schemeClr val="dk1">
                          <a:tint val="10000"/>
                        </a:schemeClr>
                      </a:solidFill>
                    </a:lnT>
                    <a:lnB w="5080" cmpd="sng">
                      <a:solidFill>
                        <a:schemeClr val="dk1">
                          <a:tint val="10000"/>
                        </a:schemeClr>
                      </a:solidFill>
                    </a:lnB>
                    <a:noFill/>
                  </a:tcPr>
                </a:tc>
                <a:tc>
                  <a:txBody>
                    <a:bodyPr/>
                    <a:lstStyle/>
                    <a:p>
                      <a:pPr>
                        <a:spcAft>
                          <a:spcPts val="0"/>
                        </a:spcAft>
                      </a:pPr>
                      <a:r>
                        <a:rPr lang="en-GB" sz="1100" b="0">
                          <a:solidFill>
                            <a:schemeClr val="dk1"/>
                          </a:solidFill>
                          <a:latin typeface="Lato" panose="020F0502020204030203" pitchFamily="34" charset="0"/>
                        </a:rPr>
                        <a:t>Working and committed tanks, turns, occupancy, downtime and receipt/dispatch limits, by site and product.</a:t>
                      </a:r>
                      <a:endParaRPr lang="en-ZA" sz="1100" b="0">
                        <a:solidFill>
                          <a:schemeClr val="dk1"/>
                        </a:solidFill>
                        <a:latin typeface="Lato" panose="020F0502020204030203" pitchFamily="34" charset="0"/>
                      </a:endParaRPr>
                    </a:p>
                  </a:txBody>
                  <a:tcPr marL="38100" marR="114300" marT="50800" marB="38100">
                    <a:lnL w="12700" cmpd="sng">
                      <a:solidFill>
                        <a:schemeClr val="lt1"/>
                      </a:solidFill>
                    </a:lnL>
                    <a:lnR w="12700" cmpd="sng">
                      <a:solidFill>
                        <a:schemeClr val="lt1"/>
                      </a:solidFill>
                    </a:lnR>
                    <a:lnT w="5080" cmpd="sng">
                      <a:solidFill>
                        <a:schemeClr val="dk1">
                          <a:tint val="10000"/>
                        </a:schemeClr>
                      </a:solidFill>
                    </a:lnT>
                    <a:lnB w="5080" cmpd="sng">
                      <a:solidFill>
                        <a:schemeClr val="dk1">
                          <a:tint val="10000"/>
                        </a:schemeClr>
                      </a:solidFill>
                    </a:lnB>
                    <a:noFill/>
                  </a:tcPr>
                </a:tc>
                <a:tc>
                  <a:txBody>
                    <a:bodyPr/>
                    <a:lstStyle/>
                    <a:p>
                      <a:pPr>
                        <a:spcAft>
                          <a:spcPts val="0"/>
                        </a:spcAft>
                      </a:pPr>
                      <a:r>
                        <a:rPr lang="en-ZA" sz="1100" b="0">
                          <a:solidFill>
                            <a:schemeClr val="dk1"/>
                          </a:solidFill>
                          <a:latin typeface="Lato" panose="020F0502020204030203" pitchFamily="34" charset="0"/>
                        </a:rPr>
                        <a:t>Nigel</a:t>
                      </a:r>
                    </a:p>
                    <a:p>
                      <a:pPr>
                        <a:spcAft>
                          <a:spcPts val="0"/>
                        </a:spcAft>
                      </a:pPr>
                      <a:r>
                        <a:rPr lang="en-ZA" sz="1100" b="0">
                          <a:solidFill>
                            <a:schemeClr val="dk1"/>
                          </a:solidFill>
                          <a:latin typeface="Lato" panose="020F0502020204030203" pitchFamily="34" charset="0"/>
                        </a:rPr>
                        <a:t>coordinates</a:t>
                      </a:r>
                    </a:p>
                  </a:txBody>
                  <a:tcPr marL="38100" marR="114300" marT="50800" marB="38100">
                    <a:lnL w="12700" cmpd="sng">
                      <a:solidFill>
                        <a:schemeClr val="lt1"/>
                      </a:solidFill>
                    </a:lnL>
                    <a:lnR w="12700" cmpd="sng">
                      <a:solidFill>
                        <a:schemeClr val="lt1"/>
                      </a:solidFill>
                    </a:lnR>
                    <a:lnT w="5080" cmpd="sng">
                      <a:solidFill>
                        <a:schemeClr val="dk1">
                          <a:tint val="10000"/>
                        </a:schemeClr>
                      </a:solidFill>
                    </a:lnT>
                    <a:lnB w="5080" cmpd="sng">
                      <a:solidFill>
                        <a:schemeClr val="dk1">
                          <a:tint val="10000"/>
                        </a:schemeClr>
                      </a:solidFill>
                    </a:lnB>
                    <a:noFill/>
                  </a:tcPr>
                </a:tc>
                <a:tc>
                  <a:txBody>
                    <a:bodyPr/>
                    <a:lstStyle/>
                    <a:p>
                      <a:pPr>
                        <a:spcAft>
                          <a:spcPts val="0"/>
                        </a:spcAft>
                      </a:pPr>
                      <a:r>
                        <a:rPr lang="en-ZA" sz="1100" b="0">
                          <a:solidFill>
                            <a:schemeClr val="dk1"/>
                          </a:solidFill>
                          <a:latin typeface="Lato" panose="020F0502020204030203" pitchFamily="34" charset="0"/>
                        </a:rPr>
                        <a:t>Usable capacity and bottlenecks</a:t>
                      </a:r>
                    </a:p>
                  </a:txBody>
                  <a:tcPr marL="38100" marR="114300" marT="50800" marB="38100">
                    <a:lnL w="12700" cmpd="sng">
                      <a:solidFill>
                        <a:schemeClr val="lt1"/>
                      </a:solidFill>
                    </a:lnL>
                    <a:lnR w="12700" cmpd="sng">
                      <a:solidFill>
                        <a:schemeClr val="lt1"/>
                      </a:solidFill>
                    </a:lnR>
                    <a:lnT w="5080" cmpd="sng">
                      <a:solidFill>
                        <a:schemeClr val="dk1">
                          <a:tint val="10000"/>
                        </a:schemeClr>
                      </a:solidFill>
                    </a:lnT>
                    <a:lnB w="5080" cmpd="sng">
                      <a:solidFill>
                        <a:schemeClr val="dk1">
                          <a:tint val="10000"/>
                        </a:schemeClr>
                      </a:solidFill>
                    </a:lnB>
                    <a:noFill/>
                  </a:tcPr>
                </a:tc>
                <a:extLst>
                  <a:ext uri="{0D108BD9-81ED-4DB2-BD59-A6C34878D82A}">
                    <a16:rowId xmlns:a16="http://schemas.microsoft.com/office/drawing/2014/main" val="3338212314"/>
                  </a:ext>
                </a:extLst>
              </a:tr>
              <a:tr h="508000">
                <a:tc>
                  <a:txBody>
                    <a:bodyPr/>
                    <a:lstStyle/>
                    <a:p>
                      <a:pPr>
                        <a:spcAft>
                          <a:spcPts val="0"/>
                        </a:spcAft>
                      </a:pPr>
                      <a:r>
                        <a:rPr lang="en-ZA" sz="1100" b="1">
                          <a:solidFill>
                            <a:schemeClr val="accent1"/>
                          </a:solidFill>
                          <a:latin typeface="Lato" panose="020F0502020204030203" pitchFamily="34" charset="0"/>
                        </a:rPr>
                        <a:t>DR06  Investment inputs</a:t>
                      </a:r>
                    </a:p>
                  </a:txBody>
                  <a:tcPr marL="38100" marR="114300" marT="50800" marB="38100">
                    <a:lnL w="12700" cmpd="sng">
                      <a:solidFill>
                        <a:schemeClr val="lt1"/>
                      </a:solidFill>
                    </a:lnL>
                    <a:lnR w="12700" cmpd="sng">
                      <a:solidFill>
                        <a:schemeClr val="lt1"/>
                      </a:solidFill>
                    </a:lnR>
                    <a:lnT w="5080" cmpd="sng">
                      <a:solidFill>
                        <a:schemeClr val="dk1">
                          <a:tint val="10000"/>
                        </a:schemeClr>
                      </a:solidFill>
                    </a:lnT>
                    <a:lnB w="5080" cmpd="sng">
                      <a:solidFill>
                        <a:schemeClr val="dk1">
                          <a:tint val="10000"/>
                        </a:schemeClr>
                      </a:solidFill>
                    </a:lnB>
                    <a:noFill/>
                  </a:tcPr>
                </a:tc>
                <a:tc>
                  <a:txBody>
                    <a:bodyPr/>
                    <a:lstStyle/>
                    <a:p>
                      <a:pPr>
                        <a:spcAft>
                          <a:spcPts val="0"/>
                        </a:spcAft>
                      </a:pPr>
                      <a:r>
                        <a:rPr lang="en-GB" sz="1100" b="0">
                          <a:solidFill>
                            <a:schemeClr val="dk1"/>
                          </a:solidFill>
                          <a:latin typeface="Lato" panose="020F0502020204030203" pitchFamily="34" charset="0"/>
                        </a:rPr>
                        <a:t>Handling/storage terms, operating costs, project capex, timing, tax, working capital and hurdle rate.</a:t>
                      </a:r>
                      <a:endParaRPr lang="en-ZA" sz="1100" b="0">
                        <a:solidFill>
                          <a:schemeClr val="dk1"/>
                        </a:solidFill>
                        <a:latin typeface="Lato" panose="020F0502020204030203" pitchFamily="34" charset="0"/>
                      </a:endParaRPr>
                    </a:p>
                  </a:txBody>
                  <a:tcPr marL="38100" marR="114300" marT="50800" marB="38100">
                    <a:lnL w="12700" cmpd="sng">
                      <a:solidFill>
                        <a:schemeClr val="lt1"/>
                      </a:solidFill>
                    </a:lnL>
                    <a:lnR w="12700" cmpd="sng">
                      <a:solidFill>
                        <a:schemeClr val="lt1"/>
                      </a:solidFill>
                    </a:lnR>
                    <a:lnT w="5080" cmpd="sng">
                      <a:solidFill>
                        <a:schemeClr val="dk1">
                          <a:tint val="10000"/>
                        </a:schemeClr>
                      </a:solidFill>
                    </a:lnT>
                    <a:lnB w="5080" cmpd="sng">
                      <a:solidFill>
                        <a:schemeClr val="dk1">
                          <a:tint val="10000"/>
                        </a:schemeClr>
                      </a:solidFill>
                    </a:lnB>
                    <a:noFill/>
                  </a:tcPr>
                </a:tc>
                <a:tc>
                  <a:txBody>
                    <a:bodyPr/>
                    <a:lstStyle/>
                    <a:p>
                      <a:pPr>
                        <a:spcAft>
                          <a:spcPts val="0"/>
                        </a:spcAft>
                      </a:pPr>
                      <a:r>
                        <a:rPr lang="en-ZA" sz="1100" b="0">
                          <a:solidFill>
                            <a:schemeClr val="dk1"/>
                          </a:solidFill>
                          <a:latin typeface="Lato" panose="020F0502020204030203" pitchFamily="34" charset="0"/>
                        </a:rPr>
                        <a:t>Nigel</a:t>
                      </a:r>
                    </a:p>
                    <a:p>
                      <a:pPr>
                        <a:spcAft>
                          <a:spcPts val="0"/>
                        </a:spcAft>
                      </a:pPr>
                      <a:r>
                        <a:rPr lang="en-ZA" sz="1100" b="0">
                          <a:solidFill>
                            <a:schemeClr val="dk1"/>
                          </a:solidFill>
                          <a:latin typeface="Lato" panose="020F0502020204030203" pitchFamily="34" charset="0"/>
                        </a:rPr>
                        <a:t>coordinates</a:t>
                      </a:r>
                    </a:p>
                  </a:txBody>
                  <a:tcPr marL="38100" marR="114300" marT="50800" marB="38100">
                    <a:lnL w="12700" cmpd="sng">
                      <a:solidFill>
                        <a:schemeClr val="lt1"/>
                      </a:solidFill>
                    </a:lnL>
                    <a:lnR w="12700" cmpd="sng">
                      <a:solidFill>
                        <a:schemeClr val="lt1"/>
                      </a:solidFill>
                    </a:lnR>
                    <a:lnT w="5080" cmpd="sng">
                      <a:solidFill>
                        <a:schemeClr val="dk1">
                          <a:tint val="10000"/>
                        </a:schemeClr>
                      </a:solidFill>
                    </a:lnT>
                    <a:lnB w="5080" cmpd="sng">
                      <a:solidFill>
                        <a:schemeClr val="dk1">
                          <a:tint val="10000"/>
                        </a:schemeClr>
                      </a:solidFill>
                    </a:lnB>
                    <a:noFill/>
                  </a:tcPr>
                </a:tc>
                <a:tc>
                  <a:txBody>
                    <a:bodyPr/>
                    <a:lstStyle/>
                    <a:p>
                      <a:pPr>
                        <a:spcAft>
                          <a:spcPts val="0"/>
                        </a:spcAft>
                      </a:pPr>
                      <a:r>
                        <a:rPr lang="en-GB" sz="1100" b="0">
                          <a:solidFill>
                            <a:schemeClr val="dk1"/>
                          </a:solidFill>
                          <a:latin typeface="Lato" panose="020F0502020204030203" pitchFamily="34" charset="0"/>
                        </a:rPr>
                        <a:t>Incremental returns and project alternatives</a:t>
                      </a:r>
                      <a:endParaRPr lang="en-ZA" sz="1100" b="0">
                        <a:solidFill>
                          <a:schemeClr val="dk1"/>
                        </a:solidFill>
                        <a:latin typeface="Lato" panose="020F0502020204030203" pitchFamily="34" charset="0"/>
                      </a:endParaRPr>
                    </a:p>
                  </a:txBody>
                  <a:tcPr marL="38100" marR="114300" marT="50800" marB="38100">
                    <a:lnL w="12700" cmpd="sng">
                      <a:solidFill>
                        <a:schemeClr val="lt1"/>
                      </a:solidFill>
                    </a:lnL>
                    <a:lnR w="12700" cmpd="sng">
                      <a:solidFill>
                        <a:schemeClr val="lt1"/>
                      </a:solidFill>
                    </a:lnR>
                    <a:lnT w="5080" cmpd="sng">
                      <a:solidFill>
                        <a:schemeClr val="dk1">
                          <a:tint val="10000"/>
                        </a:schemeClr>
                      </a:solidFill>
                    </a:lnT>
                    <a:lnB w="5080" cmpd="sng">
                      <a:solidFill>
                        <a:schemeClr val="dk1">
                          <a:tint val="10000"/>
                        </a:schemeClr>
                      </a:solidFill>
                    </a:lnB>
                    <a:noFill/>
                  </a:tcPr>
                </a:tc>
                <a:extLst>
                  <a:ext uri="{0D108BD9-81ED-4DB2-BD59-A6C34878D82A}">
                    <a16:rowId xmlns:a16="http://schemas.microsoft.com/office/drawing/2014/main" val="1839628931"/>
                  </a:ext>
                </a:extLst>
              </a:tr>
            </a:tbl>
          </a:graphicData>
        </a:graphic>
      </p:graphicFrame>
      <p:sp>
        <p:nvSpPr>
          <p:cNvPr id="93" name="Separate EV request">
            <a:extLst>
              <a:ext uri="{FF2B5EF4-FFF2-40B4-BE49-F238E27FC236}">
                <a16:creationId xmlns:a16="http://schemas.microsoft.com/office/drawing/2014/main" id="{F28098A2-C6E4-85AB-1189-3FF10C4F1992}"/>
              </a:ext>
            </a:extLst>
          </p:cNvPr>
          <p:cNvSpPr txBox="1"/>
          <p:nvPr/>
        </p:nvSpPr>
        <p:spPr>
          <a:xfrm>
            <a:off x="457200" y="5930900"/>
            <a:ext cx="10655300" cy="190500"/>
          </a:xfrm>
          <a:prstGeom prst="rect">
            <a:avLst/>
          </a:prstGeom>
          <a:noFill/>
        </p:spPr>
        <p:txBody>
          <a:bodyPr vert="horz" wrap="square" lIns="0" tIns="0" rIns="0" bIns="0" rtlCol="0">
            <a:noAutofit/>
          </a:bodyPr>
          <a:lstStyle/>
          <a:p>
            <a:pPr>
              <a:spcAft>
                <a:spcPts val="200"/>
              </a:spcAft>
            </a:pPr>
            <a:r>
              <a:rPr lang="en-GB" sz="950">
                <a:solidFill>
                  <a:schemeClr val="dk1"/>
                </a:solidFill>
                <a:latin typeface="Lato" panose="020F0502020204030203" pitchFamily="34" charset="0"/>
              </a:rPr>
              <a:t>DR09 remains separate: EV adjacency needs customer demand, power access and standalone economics. Nigel coordinates.</a:t>
            </a:r>
            <a:endParaRPr lang="en-ZA" sz="950">
              <a:solidFill>
                <a:schemeClr val="dk1"/>
              </a:solidFill>
              <a:latin typeface="Lato" panose="020F0502020204030203" pitchFamily="34" charset="0"/>
            </a:endParaRPr>
          </a:p>
        </p:txBody>
      </p:sp>
    </p:spTree>
    <p:extLst>
      <p:ext uri="{BB962C8B-B14F-4D97-AF65-F5344CB8AC3E}">
        <p14:creationId xmlns:p14="http://schemas.microsoft.com/office/powerpoint/2010/main" val="109332594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a:solidFill>
                  <a:schemeClr val="dk1"/>
                </a:solidFill>
                <a:latin typeface="Lato"/>
              </a:rPr>
              <a:t>Decisions and next steps</a:t>
            </a:r>
            <a:endParaRPr dirty="0">
              <a:solidFill>
                <a:schemeClr val="dk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8</a:t>
            </a:r>
            <a:endParaRPr sz="1100"/>
          </a:p>
        </p:txBody>
      </p:sp>
      <p:sp>
        <p:nvSpPr>
          <p:cNvPr id="8" name="Unified source footer"/>
          <p:cNvSpPr txBox="1"/>
          <p:nvPr/>
        </p:nvSpPr>
        <p:spPr>
          <a:xfrm>
            <a:off x="457200" y="6184900"/>
            <a:ext cx="10652760" cy="104837"/>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GB" sz="670"/>
              <a:t>Owners as proposed in the request register and the 8 October hand-back; no dates are committed. Page references are to this pack; open items are listed in workstreams/WS0_governance/workplan/overlap_log_2026_10_08.md.</a:t>
            </a:r>
            <a:endParaRPr sz="670"/>
          </a:p>
        </p:txBody>
      </p:sp>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F6826E68-0B27-3E9A-731F-737F28F0FB19}"/>
              </a:ext>
            </a:extLst>
          </p:cNvPr>
          <p:cNvSpPr/>
          <p:nvPr/>
        </p:nvSpPr>
        <p:spPr>
          <a:xfrm>
            <a:off x="457200" y="88900"/>
            <a:ext cx="2575560" cy="279400"/>
          </a:xfrm>
          <a:prstGeom prst="rect">
            <a:avLst/>
          </a:prstGeom>
          <a:solidFill>
            <a:schemeClr val="lt1">
              <a:shade val="965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Executive summary</a:t>
            </a:r>
          </a:p>
        </p:txBody>
      </p:sp>
      <p:sp>
        <p:nvSpPr>
          <p:cNvPr id="10" name="SCR 2">
            <a:extLst>
              <a:ext uri="{FF2B5EF4-FFF2-40B4-BE49-F238E27FC236}">
                <a16:creationId xmlns:a16="http://schemas.microsoft.com/office/drawing/2014/main" id="{DB3FBD92-8DAF-542E-83C8-61B53DE1024F}"/>
              </a:ext>
            </a:extLst>
          </p:cNvPr>
          <p:cNvSpPr/>
          <p:nvPr/>
        </p:nvSpPr>
        <p:spPr>
          <a:xfrm>
            <a:off x="3149600" y="88900"/>
            <a:ext cx="2575560" cy="279400"/>
          </a:xfrm>
          <a:prstGeom prst="rect">
            <a:avLst/>
          </a:prstGeom>
          <a:solidFill>
            <a:schemeClr val="lt1">
              <a:shade val="965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Situation</a:t>
            </a:r>
          </a:p>
        </p:txBody>
      </p:sp>
      <p:sp>
        <p:nvSpPr>
          <p:cNvPr id="11" name="SCR 3">
            <a:extLst>
              <a:ext uri="{FF2B5EF4-FFF2-40B4-BE49-F238E27FC236}">
                <a16:creationId xmlns:a16="http://schemas.microsoft.com/office/drawing/2014/main" id="{8954CB5A-2161-59A0-D177-7E44BC8E444E}"/>
              </a:ext>
            </a:extLst>
          </p:cNvPr>
          <p:cNvSpPr/>
          <p:nvPr/>
        </p:nvSpPr>
        <p:spPr>
          <a:xfrm>
            <a:off x="5842000" y="88900"/>
            <a:ext cx="2575560" cy="279400"/>
          </a:xfrm>
          <a:prstGeom prst="rect">
            <a:avLst/>
          </a:prstGeom>
          <a:solidFill>
            <a:schemeClr val="lt1">
              <a:shade val="965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Complication</a:t>
            </a:r>
          </a:p>
        </p:txBody>
      </p:sp>
      <p:sp>
        <p:nvSpPr>
          <p:cNvPr id="12" name="SCR 4">
            <a:extLst>
              <a:ext uri="{FF2B5EF4-FFF2-40B4-BE49-F238E27FC236}">
                <a16:creationId xmlns:a16="http://schemas.microsoft.com/office/drawing/2014/main" id="{9E01BBF5-098D-3FC4-718C-6B01C403EC02}"/>
              </a:ext>
            </a:extLst>
          </p:cNvPr>
          <p:cNvSpPr/>
          <p:nvPr/>
        </p:nvSpPr>
        <p:spPr>
          <a:xfrm>
            <a:off x="8534400" y="88900"/>
            <a:ext cx="2575560" cy="279400"/>
          </a:xfrm>
          <a:prstGeom prst="rect">
            <a:avLst/>
          </a:prstGeom>
          <a:solidFill>
            <a:schemeClr val="accent1"/>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latin typeface="Lato" panose="020F0502020204030203" pitchFamily="34" charset="0"/>
              </a:rPr>
              <a:t>Resolution</a:t>
            </a:r>
          </a:p>
        </p:txBody>
      </p:sp>
      <p:sp>
        <p:nvSpPr>
          <p:cNvPr id="47" name="Closing panel 0">
            <a:extLst>
              <a:ext uri="{FF2B5EF4-FFF2-40B4-BE49-F238E27FC236}">
                <a16:creationId xmlns:a16="http://schemas.microsoft.com/office/drawing/2014/main" id="{509F442D-BC8A-6B47-2AA6-97CAD5E72426}"/>
              </a:ext>
            </a:extLst>
          </p:cNvPr>
          <p:cNvSpPr/>
          <p:nvPr/>
        </p:nvSpPr>
        <p:spPr>
          <a:xfrm>
            <a:off x="355600" y="1549400"/>
            <a:ext cx="3543300" cy="4597400"/>
          </a:xfrm>
          <a:prstGeom prst="rect">
            <a:avLst/>
          </a:prstGeom>
          <a:solidFill>
            <a:srgbClr val="EEF1F6"/>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92" name="Closing heading 0">
            <a:extLst>
              <a:ext uri="{FF2B5EF4-FFF2-40B4-BE49-F238E27FC236}">
                <a16:creationId xmlns:a16="http://schemas.microsoft.com/office/drawing/2014/main" id="{FCFA2C39-8137-EF6A-C7A8-8F424599F356}"/>
              </a:ext>
            </a:extLst>
          </p:cNvPr>
          <p:cNvSpPr txBox="1"/>
          <p:nvPr/>
        </p:nvSpPr>
        <p:spPr>
          <a:xfrm>
            <a:off x="457200" y="1638300"/>
            <a:ext cx="3340100" cy="241300"/>
          </a:xfrm>
          <a:prstGeom prst="rect">
            <a:avLst/>
          </a:prstGeom>
          <a:noFill/>
        </p:spPr>
        <p:txBody>
          <a:bodyPr vert="horz" wrap="square" lIns="0" tIns="0" rIns="0" bIns="0" rtlCol="0">
            <a:noAutofit/>
          </a:bodyPr>
          <a:lstStyle/>
          <a:p>
            <a:pPr>
              <a:spcAft>
                <a:spcPts val="200"/>
              </a:spcAft>
            </a:pPr>
            <a:r>
              <a:rPr lang="en-ZA" sz="1200" b="1">
                <a:solidFill>
                  <a:schemeClr val="accent1"/>
                </a:solidFill>
                <a:latin typeface="Lato" panose="020F0502020204030203" pitchFamily="34" charset="0"/>
              </a:rPr>
              <a:t>1  DECIDE</a:t>
            </a:r>
          </a:p>
        </p:txBody>
      </p:sp>
      <p:cxnSp>
        <p:nvCxnSpPr>
          <p:cNvPr id="93" name="Column heading rule">
            <a:extLst>
              <a:ext uri="{FF2B5EF4-FFF2-40B4-BE49-F238E27FC236}">
                <a16:creationId xmlns:a16="http://schemas.microsoft.com/office/drawing/2014/main" id="{FEBDD69D-6086-4C0D-5C01-3282D16405BC}"/>
              </a:ext>
            </a:extLst>
          </p:cNvPr>
          <p:cNvCxnSpPr/>
          <p:nvPr/>
        </p:nvCxnSpPr>
        <p:spPr>
          <a:xfrm>
            <a:off x="457200" y="1917700"/>
            <a:ext cx="3340100" cy="0"/>
          </a:xfrm>
          <a:prstGeom prst="straightConnector1">
            <a:avLst/>
          </a:prstGeom>
          <a:ln w="8255">
            <a:solidFill>
              <a:schemeClr val="dk1"/>
            </a:solidFill>
          </a:ln>
        </p:spPr>
        <p:style>
          <a:lnRef idx="1">
            <a:schemeClr val="accent1"/>
          </a:lnRef>
          <a:fillRef idx="0">
            <a:schemeClr val="accent1"/>
          </a:fillRef>
          <a:effectRef idx="0">
            <a:schemeClr val="accent1"/>
          </a:effectRef>
          <a:fontRef idx="minor">
            <a:schemeClr val="tx1"/>
          </a:fontRef>
        </p:style>
      </p:cxnSp>
      <p:sp>
        <p:nvSpPr>
          <p:cNvPr id="94" name="Closing 0 0">
            <a:extLst>
              <a:ext uri="{FF2B5EF4-FFF2-40B4-BE49-F238E27FC236}">
                <a16:creationId xmlns:a16="http://schemas.microsoft.com/office/drawing/2014/main" id="{A555BE75-AC26-4641-188A-5300398615D5}"/>
              </a:ext>
            </a:extLst>
          </p:cNvPr>
          <p:cNvSpPr/>
          <p:nvPr/>
        </p:nvSpPr>
        <p:spPr>
          <a:xfrm>
            <a:off x="457200" y="2032000"/>
            <a:ext cx="3340100" cy="1219200"/>
          </a:xfrm>
          <a:prstGeom prst="rect">
            <a:avLst/>
          </a:prstGeom>
          <a:solidFill>
            <a:srgbClr val="FFFFFF"/>
          </a:solidFill>
          <a:ln w="9525" cap="flat" cmpd="sng" algn="ctr">
            <a:solidFill>
              <a:schemeClr val="accent1"/>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76200" tIns="50800" rIns="76200" bIns="38100" rtlCol="0" anchor="t"/>
          <a:lstStyle/>
          <a:p>
            <a:pPr>
              <a:spcAft>
                <a:spcPts val="400"/>
              </a:spcAft>
            </a:pPr>
            <a:r>
              <a:rPr lang="en-GB" sz="1050" b="1">
                <a:solidFill>
                  <a:schemeClr val="accent1"/>
                </a:solidFill>
                <a:latin typeface="Lato" panose="020F0502020204030203" pitchFamily="34" charset="0"/>
              </a:rPr>
              <a:t>Demand by use baseline</a:t>
            </a:r>
          </a:p>
          <a:p>
            <a:pPr>
              <a:spcAft>
                <a:spcPts val="200"/>
              </a:spcAft>
            </a:pPr>
            <a:r>
              <a:rPr lang="en-GB" sz="1050">
                <a:solidFill>
                  <a:schemeClr val="dk1"/>
                </a:solidFill>
                <a:latin typeface="Lato" panose="020F0502020204030203" pitchFamily="34" charset="0"/>
              </a:rPr>
              <a:t>Choose or blend the three sources</a:t>
            </a:r>
          </a:p>
          <a:p>
            <a:pPr>
              <a:spcAft>
                <a:spcPts val="200"/>
              </a:spcAft>
            </a:pPr>
            <a:r>
              <a:rPr lang="en-GB" sz="1050">
                <a:solidFill>
                  <a:schemeClr val="dk1"/>
                </a:solidFill>
                <a:latin typeface="Lato" panose="020F0502020204030203" pitchFamily="34" charset="0"/>
              </a:rPr>
              <a:t>Start with the power gap</a:t>
            </a:r>
            <a:endParaRPr lang="en-ZA" sz="1050">
              <a:solidFill>
                <a:schemeClr val="dk1"/>
              </a:solidFill>
              <a:latin typeface="Lato" panose="020F0502020204030203" pitchFamily="34" charset="0"/>
            </a:endParaRPr>
          </a:p>
        </p:txBody>
      </p:sp>
      <p:sp>
        <p:nvSpPr>
          <p:cNvPr id="95" name="Closing 0 0 tag">
            <a:extLst>
              <a:ext uri="{FF2B5EF4-FFF2-40B4-BE49-F238E27FC236}">
                <a16:creationId xmlns:a16="http://schemas.microsoft.com/office/drawing/2014/main" id="{9FDDED3F-1A39-376B-893A-C9F3C4CB4D8F}"/>
              </a:ext>
            </a:extLst>
          </p:cNvPr>
          <p:cNvSpPr txBox="1"/>
          <p:nvPr/>
        </p:nvSpPr>
        <p:spPr>
          <a:xfrm>
            <a:off x="533400" y="3060700"/>
            <a:ext cx="3187700" cy="152400"/>
          </a:xfrm>
          <a:prstGeom prst="rect">
            <a:avLst/>
          </a:prstGeom>
          <a:noFill/>
        </p:spPr>
        <p:txBody>
          <a:bodyPr vert="horz" wrap="square" lIns="0" tIns="0" rIns="0" bIns="0" rtlCol="0">
            <a:noAutofit/>
          </a:bodyPr>
          <a:lstStyle/>
          <a:p>
            <a:pPr>
              <a:spcAft>
                <a:spcPts val="200"/>
              </a:spcAft>
            </a:pPr>
            <a:r>
              <a:rPr lang="en-ZA" sz="900" b="1">
                <a:solidFill>
                  <a:schemeClr val="accent1"/>
                </a:solidFill>
                <a:latin typeface="Lato" panose="020F0502020204030203" pitchFamily="34" charset="0"/>
              </a:rPr>
              <a:t>Nigel, Manish · p.4</a:t>
            </a:r>
          </a:p>
        </p:txBody>
      </p:sp>
      <p:sp>
        <p:nvSpPr>
          <p:cNvPr id="96" name="Closing 0 1">
            <a:extLst>
              <a:ext uri="{FF2B5EF4-FFF2-40B4-BE49-F238E27FC236}">
                <a16:creationId xmlns:a16="http://schemas.microsoft.com/office/drawing/2014/main" id="{6EEBB244-04BE-04FD-1BDC-FC0ADB65904C}"/>
              </a:ext>
            </a:extLst>
          </p:cNvPr>
          <p:cNvSpPr/>
          <p:nvPr/>
        </p:nvSpPr>
        <p:spPr>
          <a:xfrm>
            <a:off x="457200" y="3454400"/>
            <a:ext cx="3340100" cy="1219200"/>
          </a:xfrm>
          <a:prstGeom prst="rect">
            <a:avLst/>
          </a:prstGeom>
          <a:solidFill>
            <a:srgbClr val="FFFFFF"/>
          </a:solidFill>
          <a:ln w="9525" cap="flat" cmpd="sng" algn="ctr">
            <a:solidFill>
              <a:schemeClr val="accent1"/>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76200" tIns="50800" rIns="76200" bIns="38100" rtlCol="0" anchor="t"/>
          <a:lstStyle/>
          <a:p>
            <a:pPr>
              <a:spcAft>
                <a:spcPts val="400"/>
              </a:spcAft>
            </a:pPr>
            <a:r>
              <a:rPr lang="en-GB" sz="1050" b="1">
                <a:solidFill>
                  <a:schemeClr val="accent1"/>
                </a:solidFill>
                <a:latin typeface="Lato" panose="020F0502020204030203" pitchFamily="34" charset="0"/>
              </a:rPr>
              <a:t>Demand lever cases</a:t>
            </a:r>
          </a:p>
          <a:p>
            <a:pPr>
              <a:spcAft>
                <a:spcPts val="200"/>
              </a:spcAft>
            </a:pPr>
            <a:r>
              <a:rPr lang="en-GB" sz="1050">
                <a:solidFill>
                  <a:schemeClr val="dk1"/>
                </a:solidFill>
                <a:latin typeface="Lato" panose="020F0502020204030203" pitchFamily="34" charset="0"/>
              </a:rPr>
              <a:t>Accept or revise the 2035 cases</a:t>
            </a:r>
          </a:p>
          <a:p>
            <a:pPr>
              <a:spcAft>
                <a:spcPts val="200"/>
              </a:spcAft>
            </a:pPr>
            <a:r>
              <a:rPr lang="en-GB" sz="1050">
                <a:solidFill>
                  <a:schemeClr val="dk1"/>
                </a:solidFill>
                <a:latin typeface="Lato" panose="020F0502020204030203" pitchFamily="34" charset="0"/>
              </a:rPr>
              <a:t>Run the double-count check</a:t>
            </a:r>
            <a:endParaRPr lang="en-ZA" sz="1050">
              <a:solidFill>
                <a:schemeClr val="dk1"/>
              </a:solidFill>
              <a:latin typeface="Lato" panose="020F0502020204030203" pitchFamily="34" charset="0"/>
            </a:endParaRPr>
          </a:p>
        </p:txBody>
      </p:sp>
      <p:sp>
        <p:nvSpPr>
          <p:cNvPr id="97" name="Closing 0 1 tag">
            <a:extLst>
              <a:ext uri="{FF2B5EF4-FFF2-40B4-BE49-F238E27FC236}">
                <a16:creationId xmlns:a16="http://schemas.microsoft.com/office/drawing/2014/main" id="{F775702F-4191-978F-F95E-D0EFEC9D8ADF}"/>
              </a:ext>
            </a:extLst>
          </p:cNvPr>
          <p:cNvSpPr txBox="1"/>
          <p:nvPr/>
        </p:nvSpPr>
        <p:spPr>
          <a:xfrm>
            <a:off x="533400" y="4483100"/>
            <a:ext cx="3187700" cy="152400"/>
          </a:xfrm>
          <a:prstGeom prst="rect">
            <a:avLst/>
          </a:prstGeom>
          <a:noFill/>
        </p:spPr>
        <p:txBody>
          <a:bodyPr vert="horz" wrap="square" lIns="0" tIns="0" rIns="0" bIns="0" rtlCol="0">
            <a:noAutofit/>
          </a:bodyPr>
          <a:lstStyle/>
          <a:p>
            <a:pPr>
              <a:spcAft>
                <a:spcPts val="200"/>
              </a:spcAft>
            </a:pPr>
            <a:r>
              <a:rPr lang="en-ZA" sz="900" b="1">
                <a:solidFill>
                  <a:schemeClr val="accent1"/>
                </a:solidFill>
                <a:latin typeface="Lato" panose="020F0502020204030203" pitchFamily="34" charset="0"/>
              </a:rPr>
              <a:t>Nigel, Henry · p.5</a:t>
            </a:r>
          </a:p>
        </p:txBody>
      </p:sp>
      <p:sp>
        <p:nvSpPr>
          <p:cNvPr id="98" name="Closing 0 2">
            <a:extLst>
              <a:ext uri="{FF2B5EF4-FFF2-40B4-BE49-F238E27FC236}">
                <a16:creationId xmlns:a16="http://schemas.microsoft.com/office/drawing/2014/main" id="{D0C246CA-ADA9-C428-34C1-94A4350A88BE}"/>
              </a:ext>
            </a:extLst>
          </p:cNvPr>
          <p:cNvSpPr/>
          <p:nvPr/>
        </p:nvSpPr>
        <p:spPr>
          <a:xfrm>
            <a:off x="457200" y="4876800"/>
            <a:ext cx="3340100" cy="1219200"/>
          </a:xfrm>
          <a:prstGeom prst="rect">
            <a:avLst/>
          </a:prstGeom>
          <a:solidFill>
            <a:srgbClr val="FFFFFF"/>
          </a:solidFill>
          <a:ln w="9525" cap="flat" cmpd="sng" algn="ctr">
            <a:solidFill>
              <a:schemeClr val="accent1"/>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76200" tIns="50800" rIns="76200" bIns="38100" rtlCol="0" anchor="t"/>
          <a:lstStyle/>
          <a:p>
            <a:pPr>
              <a:spcAft>
                <a:spcPts val="400"/>
              </a:spcAft>
            </a:pPr>
            <a:r>
              <a:rPr lang="en-GB" sz="1050" b="1">
                <a:solidFill>
                  <a:schemeClr val="accent1"/>
                </a:solidFill>
                <a:latin typeface="Lato" panose="020F0502020204030203" pitchFamily="34" charset="0"/>
              </a:rPr>
              <a:t>Coastal and inland split</a:t>
            </a:r>
          </a:p>
          <a:p>
            <a:pPr>
              <a:spcAft>
                <a:spcPts val="200"/>
              </a:spcAft>
            </a:pPr>
            <a:r>
              <a:rPr lang="en-GB" sz="1050">
                <a:solidFill>
                  <a:schemeClr val="dk1"/>
                </a:solidFill>
                <a:latin typeface="Lato" panose="020F0502020204030203" pitchFamily="34" charset="0"/>
              </a:rPr>
              <a:t>Adopt KZN, WC, EC as coastal</a:t>
            </a:r>
          </a:p>
          <a:p>
            <a:pPr>
              <a:spcAft>
                <a:spcPts val="200"/>
              </a:spcAft>
            </a:pPr>
            <a:r>
              <a:rPr lang="en-GB" sz="1050">
                <a:solidFill>
                  <a:schemeClr val="dk1"/>
                </a:solidFill>
                <a:latin typeface="Lato" panose="020F0502020204030203" pitchFamily="34" charset="0"/>
              </a:rPr>
              <a:t>Add a register row</a:t>
            </a:r>
            <a:endParaRPr lang="en-ZA" sz="1050">
              <a:solidFill>
                <a:schemeClr val="dk1"/>
              </a:solidFill>
              <a:latin typeface="Lato" panose="020F0502020204030203" pitchFamily="34" charset="0"/>
            </a:endParaRPr>
          </a:p>
        </p:txBody>
      </p:sp>
      <p:sp>
        <p:nvSpPr>
          <p:cNvPr id="99" name="Closing 0 2 tag">
            <a:extLst>
              <a:ext uri="{FF2B5EF4-FFF2-40B4-BE49-F238E27FC236}">
                <a16:creationId xmlns:a16="http://schemas.microsoft.com/office/drawing/2014/main" id="{6782C035-2B4A-18E2-E78D-BD26153A1F53}"/>
              </a:ext>
            </a:extLst>
          </p:cNvPr>
          <p:cNvSpPr txBox="1"/>
          <p:nvPr/>
        </p:nvSpPr>
        <p:spPr>
          <a:xfrm>
            <a:off x="533400" y="5905500"/>
            <a:ext cx="3187700" cy="152400"/>
          </a:xfrm>
          <a:prstGeom prst="rect">
            <a:avLst/>
          </a:prstGeom>
          <a:noFill/>
        </p:spPr>
        <p:txBody>
          <a:bodyPr vert="horz" wrap="square" lIns="0" tIns="0" rIns="0" bIns="0" rtlCol="0">
            <a:noAutofit/>
          </a:bodyPr>
          <a:lstStyle/>
          <a:p>
            <a:pPr>
              <a:spcAft>
                <a:spcPts val="200"/>
              </a:spcAft>
            </a:pPr>
            <a:r>
              <a:rPr lang="en-ZA" sz="900" b="1">
                <a:solidFill>
                  <a:schemeClr val="accent1"/>
                </a:solidFill>
                <a:latin typeface="Lato" panose="020F0502020204030203" pitchFamily="34" charset="0"/>
              </a:rPr>
              <a:t>Nigel · p.3</a:t>
            </a:r>
          </a:p>
        </p:txBody>
      </p:sp>
      <p:sp>
        <p:nvSpPr>
          <p:cNvPr id="100" name="Closing panel 1">
            <a:extLst>
              <a:ext uri="{FF2B5EF4-FFF2-40B4-BE49-F238E27FC236}">
                <a16:creationId xmlns:a16="http://schemas.microsoft.com/office/drawing/2014/main" id="{2D9E3E67-C522-8DCA-2C70-43C773A69CCC}"/>
              </a:ext>
            </a:extLst>
          </p:cNvPr>
          <p:cNvSpPr/>
          <p:nvPr/>
        </p:nvSpPr>
        <p:spPr>
          <a:xfrm>
            <a:off x="4013200" y="1549400"/>
            <a:ext cx="3543300" cy="4597400"/>
          </a:xfrm>
          <a:prstGeom prst="rect">
            <a:avLst/>
          </a:prstGeom>
          <a:solidFill>
            <a:srgbClr val="EEF1F6"/>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101" name="Closing heading 1">
            <a:extLst>
              <a:ext uri="{FF2B5EF4-FFF2-40B4-BE49-F238E27FC236}">
                <a16:creationId xmlns:a16="http://schemas.microsoft.com/office/drawing/2014/main" id="{525043E3-A23E-9556-7BB2-109928AADC87}"/>
              </a:ext>
            </a:extLst>
          </p:cNvPr>
          <p:cNvSpPr txBox="1"/>
          <p:nvPr/>
        </p:nvSpPr>
        <p:spPr>
          <a:xfrm>
            <a:off x="4114800" y="1638300"/>
            <a:ext cx="3340100" cy="241300"/>
          </a:xfrm>
          <a:prstGeom prst="rect">
            <a:avLst/>
          </a:prstGeom>
          <a:noFill/>
        </p:spPr>
        <p:txBody>
          <a:bodyPr vert="horz" wrap="square" lIns="0" tIns="0" rIns="0" bIns="0" rtlCol="0">
            <a:noAutofit/>
          </a:bodyPr>
          <a:lstStyle/>
          <a:p>
            <a:pPr>
              <a:spcAft>
                <a:spcPts val="200"/>
              </a:spcAft>
            </a:pPr>
            <a:r>
              <a:rPr lang="en-ZA" sz="1200" b="1">
                <a:solidFill>
                  <a:schemeClr val="accent1"/>
                </a:solidFill>
                <a:latin typeface="Lato" panose="020F0502020204030203" pitchFamily="34" charset="0"/>
              </a:rPr>
              <a:t>2  REQUEST</a:t>
            </a:r>
          </a:p>
        </p:txBody>
      </p:sp>
      <p:cxnSp>
        <p:nvCxnSpPr>
          <p:cNvPr id="102" name="Column heading rule">
            <a:extLst>
              <a:ext uri="{FF2B5EF4-FFF2-40B4-BE49-F238E27FC236}">
                <a16:creationId xmlns:a16="http://schemas.microsoft.com/office/drawing/2014/main" id="{C6512F93-7A19-8778-8D25-71FB6F7170BE}"/>
              </a:ext>
            </a:extLst>
          </p:cNvPr>
          <p:cNvCxnSpPr/>
          <p:nvPr/>
        </p:nvCxnSpPr>
        <p:spPr>
          <a:xfrm>
            <a:off x="4114800" y="1917700"/>
            <a:ext cx="3340100" cy="0"/>
          </a:xfrm>
          <a:prstGeom prst="straightConnector1">
            <a:avLst/>
          </a:prstGeom>
          <a:ln w="8255">
            <a:solidFill>
              <a:schemeClr val="dk1"/>
            </a:solidFill>
          </a:ln>
        </p:spPr>
        <p:style>
          <a:lnRef idx="1">
            <a:schemeClr val="accent1"/>
          </a:lnRef>
          <a:fillRef idx="0">
            <a:schemeClr val="accent1"/>
          </a:fillRef>
          <a:effectRef idx="0">
            <a:schemeClr val="accent1"/>
          </a:effectRef>
          <a:fontRef idx="minor">
            <a:schemeClr val="tx1"/>
          </a:fontRef>
        </p:style>
      </p:cxnSp>
      <p:sp>
        <p:nvSpPr>
          <p:cNvPr id="103" name="Closing 1 0">
            <a:extLst>
              <a:ext uri="{FF2B5EF4-FFF2-40B4-BE49-F238E27FC236}">
                <a16:creationId xmlns:a16="http://schemas.microsoft.com/office/drawing/2014/main" id="{9273FA45-6609-4E66-7F7B-A3DA1E3857D3}"/>
              </a:ext>
            </a:extLst>
          </p:cNvPr>
          <p:cNvSpPr/>
          <p:nvPr/>
        </p:nvSpPr>
        <p:spPr>
          <a:xfrm>
            <a:off x="4114800" y="2032000"/>
            <a:ext cx="3340100" cy="1219200"/>
          </a:xfrm>
          <a:prstGeom prst="rect">
            <a:avLst/>
          </a:prstGeom>
          <a:solidFill>
            <a:srgbClr val="FFFFFF"/>
          </a:solidFill>
          <a:ln w="9525" cap="flat" cmpd="sng" algn="ctr">
            <a:solidFill>
              <a:schemeClr val="accent1"/>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76200" tIns="50800" rIns="76200" bIns="38100" rtlCol="0" anchor="t"/>
          <a:lstStyle/>
          <a:p>
            <a:pPr>
              <a:spcAft>
                <a:spcPts val="400"/>
              </a:spcAft>
            </a:pPr>
            <a:r>
              <a:rPr lang="en-GB" sz="1050" b="1">
                <a:solidFill>
                  <a:schemeClr val="accent1"/>
                </a:solidFill>
                <a:latin typeface="Lato" panose="020F0502020204030203" pitchFamily="34" charset="0"/>
              </a:rPr>
              <a:t>Client data</a:t>
            </a:r>
          </a:p>
          <a:p>
            <a:pPr>
              <a:spcAft>
                <a:spcPts val="200"/>
              </a:spcAft>
            </a:pPr>
            <a:r>
              <a:rPr lang="en-GB" sz="1050">
                <a:solidFill>
                  <a:schemeClr val="dk1"/>
                </a:solidFill>
                <a:latin typeface="Lato" panose="020F0502020204030203" pitchFamily="34" charset="0"/>
              </a:rPr>
              <a:t>Send DR02/05, DR03, DR06</a:t>
            </a:r>
          </a:p>
          <a:p>
            <a:pPr>
              <a:spcAft>
                <a:spcPts val="200"/>
              </a:spcAft>
            </a:pPr>
            <a:r>
              <a:rPr lang="en-GB" sz="1050">
                <a:solidFill>
                  <a:schemeClr val="dk1"/>
                </a:solidFill>
                <a:latin typeface="Lato" panose="020F0502020204030203" pitchFamily="34" charset="0"/>
              </a:rPr>
              <a:t>Site throughput, tanks, economics</a:t>
            </a:r>
            <a:endParaRPr lang="en-ZA" sz="1050">
              <a:solidFill>
                <a:schemeClr val="dk1"/>
              </a:solidFill>
              <a:latin typeface="Lato" panose="020F0502020204030203" pitchFamily="34" charset="0"/>
            </a:endParaRPr>
          </a:p>
        </p:txBody>
      </p:sp>
      <p:sp>
        <p:nvSpPr>
          <p:cNvPr id="104" name="Closing 1 0 tag">
            <a:extLst>
              <a:ext uri="{FF2B5EF4-FFF2-40B4-BE49-F238E27FC236}">
                <a16:creationId xmlns:a16="http://schemas.microsoft.com/office/drawing/2014/main" id="{12724DE7-588D-7DFC-8362-A65416AEAF5A}"/>
              </a:ext>
            </a:extLst>
          </p:cNvPr>
          <p:cNvSpPr txBox="1"/>
          <p:nvPr/>
        </p:nvSpPr>
        <p:spPr>
          <a:xfrm>
            <a:off x="4191000" y="3060700"/>
            <a:ext cx="3187700" cy="152400"/>
          </a:xfrm>
          <a:prstGeom prst="rect">
            <a:avLst/>
          </a:prstGeom>
          <a:noFill/>
        </p:spPr>
        <p:txBody>
          <a:bodyPr vert="horz" wrap="square" lIns="0" tIns="0" rIns="0" bIns="0" rtlCol="0">
            <a:noAutofit/>
          </a:bodyPr>
          <a:lstStyle/>
          <a:p>
            <a:pPr>
              <a:spcAft>
                <a:spcPts val="200"/>
              </a:spcAft>
            </a:pPr>
            <a:r>
              <a:rPr lang="en-ZA" sz="900" b="1">
                <a:solidFill>
                  <a:schemeClr val="accent1"/>
                </a:solidFill>
                <a:latin typeface="Lato" panose="020F0502020204030203" pitchFamily="34" charset="0"/>
              </a:rPr>
              <a:t>Nigel · p.7</a:t>
            </a:r>
          </a:p>
        </p:txBody>
      </p:sp>
      <p:sp>
        <p:nvSpPr>
          <p:cNvPr id="105" name="Closing 1 1">
            <a:extLst>
              <a:ext uri="{FF2B5EF4-FFF2-40B4-BE49-F238E27FC236}">
                <a16:creationId xmlns:a16="http://schemas.microsoft.com/office/drawing/2014/main" id="{B70D68C9-30E8-50F0-3F1E-ADC6AD8B0DCD}"/>
              </a:ext>
            </a:extLst>
          </p:cNvPr>
          <p:cNvSpPr/>
          <p:nvPr/>
        </p:nvSpPr>
        <p:spPr>
          <a:xfrm>
            <a:off x="4114800" y="3454400"/>
            <a:ext cx="3340100" cy="1219200"/>
          </a:xfrm>
          <a:prstGeom prst="rect">
            <a:avLst/>
          </a:prstGeom>
          <a:solidFill>
            <a:srgbClr val="FFFFFF"/>
          </a:solidFill>
          <a:ln w="9525" cap="flat" cmpd="sng" algn="ctr">
            <a:solidFill>
              <a:schemeClr val="accent1"/>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76200" tIns="50800" rIns="76200" bIns="38100" rtlCol="0" anchor="t"/>
          <a:lstStyle/>
          <a:p>
            <a:pPr>
              <a:spcAft>
                <a:spcPts val="400"/>
              </a:spcAft>
            </a:pPr>
            <a:r>
              <a:rPr lang="en-GB" sz="1050" b="1">
                <a:solidFill>
                  <a:schemeClr val="accent1"/>
                </a:solidFill>
                <a:latin typeface="Lato" panose="020F0502020204030203" pitchFamily="34" charset="0"/>
              </a:rPr>
              <a:t>Operator data</a:t>
            </a:r>
          </a:p>
          <a:p>
            <a:pPr>
              <a:spcAft>
                <a:spcPts val="200"/>
              </a:spcAft>
            </a:pPr>
            <a:r>
              <a:rPr lang="en-GB" sz="1050">
                <a:solidFill>
                  <a:schemeClr val="dk1"/>
                </a:solidFill>
                <a:latin typeface="Lato" panose="020F0502020204030203" pitchFamily="34" charset="0"/>
              </a:rPr>
              <a:t>Secunda, Astron output by product</a:t>
            </a:r>
          </a:p>
          <a:p>
            <a:pPr>
              <a:spcAft>
                <a:spcPts val="200"/>
              </a:spcAft>
            </a:pPr>
            <a:r>
              <a:rPr lang="en-GB" sz="1050">
                <a:solidFill>
                  <a:schemeClr val="dk1"/>
                </a:solidFill>
                <a:latin typeface="Lato" panose="020F0502020204030203" pitchFamily="34" charset="0"/>
              </a:rPr>
              <a:t>Stock change by product</a:t>
            </a:r>
            <a:endParaRPr lang="en-ZA" sz="1050">
              <a:solidFill>
                <a:schemeClr val="dk1"/>
              </a:solidFill>
              <a:latin typeface="Lato" panose="020F0502020204030203" pitchFamily="34" charset="0"/>
            </a:endParaRPr>
          </a:p>
        </p:txBody>
      </p:sp>
      <p:sp>
        <p:nvSpPr>
          <p:cNvPr id="106" name="Closing 1 1 tag">
            <a:extLst>
              <a:ext uri="{FF2B5EF4-FFF2-40B4-BE49-F238E27FC236}">
                <a16:creationId xmlns:a16="http://schemas.microsoft.com/office/drawing/2014/main" id="{9041A9C7-DFA5-6829-F1A3-345A345BAD83}"/>
              </a:ext>
            </a:extLst>
          </p:cNvPr>
          <p:cNvSpPr txBox="1"/>
          <p:nvPr/>
        </p:nvSpPr>
        <p:spPr>
          <a:xfrm>
            <a:off x="4191000" y="4483100"/>
            <a:ext cx="3187700" cy="152400"/>
          </a:xfrm>
          <a:prstGeom prst="rect">
            <a:avLst/>
          </a:prstGeom>
          <a:noFill/>
        </p:spPr>
        <p:txBody>
          <a:bodyPr vert="horz" wrap="square" lIns="0" tIns="0" rIns="0" bIns="0" rtlCol="0">
            <a:noAutofit/>
          </a:bodyPr>
          <a:lstStyle/>
          <a:p>
            <a:pPr>
              <a:spcAft>
                <a:spcPts val="200"/>
              </a:spcAft>
            </a:pPr>
            <a:r>
              <a:rPr lang="en-ZA" sz="900" b="1">
                <a:solidFill>
                  <a:schemeClr val="accent1"/>
                </a:solidFill>
                <a:latin typeface="Lato" panose="020F0502020204030203" pitchFamily="34" charset="0"/>
              </a:rPr>
              <a:t>Nigel · DR08, DR01</a:t>
            </a:r>
          </a:p>
        </p:txBody>
      </p:sp>
      <p:sp>
        <p:nvSpPr>
          <p:cNvPr id="107" name="Closing 1 2">
            <a:extLst>
              <a:ext uri="{FF2B5EF4-FFF2-40B4-BE49-F238E27FC236}">
                <a16:creationId xmlns:a16="http://schemas.microsoft.com/office/drawing/2014/main" id="{30B9E709-DA1B-78F2-AD10-25FDC848BFAB}"/>
              </a:ext>
            </a:extLst>
          </p:cNvPr>
          <p:cNvSpPr/>
          <p:nvPr/>
        </p:nvSpPr>
        <p:spPr>
          <a:xfrm>
            <a:off x="4114800" y="4876800"/>
            <a:ext cx="3340100" cy="1219200"/>
          </a:xfrm>
          <a:prstGeom prst="rect">
            <a:avLst/>
          </a:prstGeom>
          <a:solidFill>
            <a:srgbClr val="FFFFFF"/>
          </a:solidFill>
          <a:ln w="9525" cap="flat" cmpd="sng" algn="ctr">
            <a:solidFill>
              <a:schemeClr val="accent1"/>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76200" tIns="50800" rIns="76200" bIns="38100" rtlCol="0" anchor="t"/>
          <a:lstStyle/>
          <a:p>
            <a:pPr>
              <a:spcAft>
                <a:spcPts val="400"/>
              </a:spcAft>
            </a:pPr>
            <a:r>
              <a:rPr lang="en-GB" sz="1050" b="1">
                <a:solidFill>
                  <a:schemeClr val="accent1"/>
                </a:solidFill>
                <a:latin typeface="Lato" panose="020F0502020204030203" pitchFamily="34" charset="0"/>
              </a:rPr>
              <a:t>Logistics confirmations</a:t>
            </a:r>
          </a:p>
          <a:p>
            <a:pPr>
              <a:spcAft>
                <a:spcPts val="200"/>
              </a:spcAft>
            </a:pPr>
            <a:r>
              <a:rPr lang="en-GB" sz="1050">
                <a:solidFill>
                  <a:schemeClr val="dk1"/>
                </a:solidFill>
                <a:latin typeface="Lato" panose="020F0502020204030203" pitchFamily="34" charset="0"/>
              </a:rPr>
              <a:t>Trunk-line capacity today</a:t>
            </a:r>
          </a:p>
          <a:p>
            <a:pPr>
              <a:spcAft>
                <a:spcPts val="200"/>
              </a:spcAft>
            </a:pPr>
            <a:r>
              <a:rPr lang="en-GB" sz="1050">
                <a:solidFill>
                  <a:schemeClr val="dk1"/>
                </a:solidFill>
                <a:latin typeface="Lato" panose="020F0502020204030203" pitchFamily="34" charset="0"/>
              </a:rPr>
              <a:t>Durban injection into the NMPP</a:t>
            </a:r>
            <a:endParaRPr lang="en-ZA" sz="1050">
              <a:solidFill>
                <a:schemeClr val="dk1"/>
              </a:solidFill>
              <a:latin typeface="Lato" panose="020F0502020204030203" pitchFamily="34" charset="0"/>
            </a:endParaRPr>
          </a:p>
        </p:txBody>
      </p:sp>
      <p:sp>
        <p:nvSpPr>
          <p:cNvPr id="108" name="Closing 1 2 tag">
            <a:extLst>
              <a:ext uri="{FF2B5EF4-FFF2-40B4-BE49-F238E27FC236}">
                <a16:creationId xmlns:a16="http://schemas.microsoft.com/office/drawing/2014/main" id="{DB419B93-16C9-CE03-CB55-3FDB2417602D}"/>
              </a:ext>
            </a:extLst>
          </p:cNvPr>
          <p:cNvSpPr txBox="1"/>
          <p:nvPr/>
        </p:nvSpPr>
        <p:spPr>
          <a:xfrm>
            <a:off x="4191000" y="5905500"/>
            <a:ext cx="3187700" cy="152400"/>
          </a:xfrm>
          <a:prstGeom prst="rect">
            <a:avLst/>
          </a:prstGeom>
          <a:noFill/>
        </p:spPr>
        <p:txBody>
          <a:bodyPr vert="horz" wrap="square" lIns="0" tIns="0" rIns="0" bIns="0" rtlCol="0">
            <a:noAutofit/>
          </a:bodyPr>
          <a:lstStyle/>
          <a:p>
            <a:pPr>
              <a:spcAft>
                <a:spcPts val="200"/>
              </a:spcAft>
            </a:pPr>
            <a:r>
              <a:rPr lang="en-ZA" sz="900" b="1">
                <a:solidFill>
                  <a:schemeClr val="accent1"/>
                </a:solidFill>
                <a:latin typeface="Lato" panose="020F0502020204030203" pitchFamily="34" charset="0"/>
              </a:rPr>
              <a:t>Nigel · DR04, p.6</a:t>
            </a:r>
          </a:p>
        </p:txBody>
      </p:sp>
      <p:sp>
        <p:nvSpPr>
          <p:cNvPr id="109" name="Closing panel 2">
            <a:extLst>
              <a:ext uri="{FF2B5EF4-FFF2-40B4-BE49-F238E27FC236}">
                <a16:creationId xmlns:a16="http://schemas.microsoft.com/office/drawing/2014/main" id="{6BEB4C38-7FBC-21AE-C3F1-D97A9FE7D25D}"/>
              </a:ext>
            </a:extLst>
          </p:cNvPr>
          <p:cNvSpPr/>
          <p:nvPr/>
        </p:nvSpPr>
        <p:spPr>
          <a:xfrm>
            <a:off x="7670800" y="1549400"/>
            <a:ext cx="3543300" cy="4597400"/>
          </a:xfrm>
          <a:prstGeom prst="rect">
            <a:avLst/>
          </a:prstGeom>
          <a:solidFill>
            <a:srgbClr val="EEF1F6"/>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110" name="Closing heading 2">
            <a:extLst>
              <a:ext uri="{FF2B5EF4-FFF2-40B4-BE49-F238E27FC236}">
                <a16:creationId xmlns:a16="http://schemas.microsoft.com/office/drawing/2014/main" id="{D0B9E8E9-9F05-0A42-B875-AC1ED0221842}"/>
              </a:ext>
            </a:extLst>
          </p:cNvPr>
          <p:cNvSpPr txBox="1"/>
          <p:nvPr/>
        </p:nvSpPr>
        <p:spPr>
          <a:xfrm>
            <a:off x="7772400" y="1638300"/>
            <a:ext cx="3340100" cy="241300"/>
          </a:xfrm>
          <a:prstGeom prst="rect">
            <a:avLst/>
          </a:prstGeom>
          <a:noFill/>
        </p:spPr>
        <p:txBody>
          <a:bodyPr vert="horz" wrap="square" lIns="0" tIns="0" rIns="0" bIns="0" rtlCol="0">
            <a:noAutofit/>
          </a:bodyPr>
          <a:lstStyle/>
          <a:p>
            <a:pPr>
              <a:spcAft>
                <a:spcPts val="200"/>
              </a:spcAft>
            </a:pPr>
            <a:r>
              <a:rPr lang="en-ZA" sz="1200" b="1">
                <a:solidFill>
                  <a:schemeClr val="accent1"/>
                </a:solidFill>
                <a:latin typeface="Lato" panose="020F0502020204030203" pitchFamily="34" charset="0"/>
              </a:rPr>
              <a:t>3  BUILD NEXT</a:t>
            </a:r>
          </a:p>
        </p:txBody>
      </p:sp>
      <p:cxnSp>
        <p:nvCxnSpPr>
          <p:cNvPr id="111" name="Column heading rule">
            <a:extLst>
              <a:ext uri="{FF2B5EF4-FFF2-40B4-BE49-F238E27FC236}">
                <a16:creationId xmlns:a16="http://schemas.microsoft.com/office/drawing/2014/main" id="{642C2E85-3266-C402-2AD4-91B463E77516}"/>
              </a:ext>
            </a:extLst>
          </p:cNvPr>
          <p:cNvCxnSpPr/>
          <p:nvPr/>
        </p:nvCxnSpPr>
        <p:spPr>
          <a:xfrm>
            <a:off x="7772400" y="1917700"/>
            <a:ext cx="3340100" cy="0"/>
          </a:xfrm>
          <a:prstGeom prst="straightConnector1">
            <a:avLst/>
          </a:prstGeom>
          <a:ln w="8255">
            <a:solidFill>
              <a:schemeClr val="dk1"/>
            </a:solidFill>
          </a:ln>
        </p:spPr>
        <p:style>
          <a:lnRef idx="1">
            <a:schemeClr val="accent1"/>
          </a:lnRef>
          <a:fillRef idx="0">
            <a:schemeClr val="accent1"/>
          </a:fillRef>
          <a:effectRef idx="0">
            <a:schemeClr val="accent1"/>
          </a:effectRef>
          <a:fontRef idx="minor">
            <a:schemeClr val="tx1"/>
          </a:fontRef>
        </p:style>
      </p:cxnSp>
      <p:sp>
        <p:nvSpPr>
          <p:cNvPr id="112" name="Closing 2 0">
            <a:extLst>
              <a:ext uri="{FF2B5EF4-FFF2-40B4-BE49-F238E27FC236}">
                <a16:creationId xmlns:a16="http://schemas.microsoft.com/office/drawing/2014/main" id="{779C3319-DBA8-AC9E-A98C-0A7EEEA0441E}"/>
              </a:ext>
            </a:extLst>
          </p:cNvPr>
          <p:cNvSpPr/>
          <p:nvPr/>
        </p:nvSpPr>
        <p:spPr>
          <a:xfrm>
            <a:off x="7772400" y="2032000"/>
            <a:ext cx="3340100" cy="1219200"/>
          </a:xfrm>
          <a:prstGeom prst="rect">
            <a:avLst/>
          </a:prstGeom>
          <a:solidFill>
            <a:srgbClr val="FFFFFF"/>
          </a:solidFill>
          <a:ln w="9525" cap="flat" cmpd="sng" algn="ctr">
            <a:solidFill>
              <a:schemeClr val="accent1"/>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76200" tIns="50800" rIns="76200" bIns="38100" rtlCol="0" anchor="t"/>
          <a:lstStyle/>
          <a:p>
            <a:pPr>
              <a:spcAft>
                <a:spcPts val="400"/>
              </a:spcAft>
            </a:pPr>
            <a:r>
              <a:rPr lang="en-GB" sz="1050" b="1">
                <a:solidFill>
                  <a:schemeClr val="accent1"/>
                </a:solidFill>
                <a:latin typeface="Lato" panose="020F0502020204030203" pitchFamily="34" charset="0"/>
              </a:rPr>
              <a:t>Market sizing method</a:t>
            </a:r>
          </a:p>
          <a:p>
            <a:pPr>
              <a:spcAft>
                <a:spcPts val="200"/>
              </a:spcAft>
            </a:pPr>
            <a:r>
              <a:rPr lang="en-GB" sz="1050">
                <a:solidFill>
                  <a:schemeClr val="dk1"/>
                </a:solidFill>
                <a:latin typeface="Lato" panose="020F0502020204030203" pitchFamily="34" charset="0"/>
              </a:rPr>
              <a:t>Accessible demand by site</a:t>
            </a:r>
          </a:p>
          <a:p>
            <a:pPr>
              <a:spcAft>
                <a:spcPts val="200"/>
              </a:spcAft>
            </a:pPr>
            <a:r>
              <a:rPr lang="en-GB" sz="1050">
                <a:solidFill>
                  <a:schemeClr val="dk1"/>
                </a:solidFill>
                <a:latin typeface="Lato" panose="020F0502020204030203" pitchFamily="34" charset="0"/>
              </a:rPr>
              <a:t>Shared Durban-Lesedi flows once</a:t>
            </a:r>
            <a:endParaRPr lang="en-ZA" sz="1050">
              <a:solidFill>
                <a:schemeClr val="dk1"/>
              </a:solidFill>
              <a:latin typeface="Lato" panose="020F0502020204030203" pitchFamily="34" charset="0"/>
            </a:endParaRPr>
          </a:p>
        </p:txBody>
      </p:sp>
      <p:sp>
        <p:nvSpPr>
          <p:cNvPr id="113" name="Closing 2 0 tag">
            <a:extLst>
              <a:ext uri="{FF2B5EF4-FFF2-40B4-BE49-F238E27FC236}">
                <a16:creationId xmlns:a16="http://schemas.microsoft.com/office/drawing/2014/main" id="{C04DB8FB-663C-E770-B01D-8581FC74F459}"/>
              </a:ext>
            </a:extLst>
          </p:cNvPr>
          <p:cNvSpPr txBox="1"/>
          <p:nvPr/>
        </p:nvSpPr>
        <p:spPr>
          <a:xfrm>
            <a:off x="7848600" y="3060700"/>
            <a:ext cx="3187700" cy="152400"/>
          </a:xfrm>
          <a:prstGeom prst="rect">
            <a:avLst/>
          </a:prstGeom>
          <a:noFill/>
        </p:spPr>
        <p:txBody>
          <a:bodyPr vert="horz" wrap="square" lIns="0" tIns="0" rIns="0" bIns="0" rtlCol="0">
            <a:noAutofit/>
          </a:bodyPr>
          <a:lstStyle/>
          <a:p>
            <a:pPr>
              <a:spcAft>
                <a:spcPts val="200"/>
              </a:spcAft>
            </a:pPr>
            <a:r>
              <a:rPr lang="en-ZA" sz="900" b="1">
                <a:solidFill>
                  <a:schemeClr val="accent1"/>
                </a:solidFill>
                <a:latin typeface="Lato" panose="020F0502020204030203" pitchFamily="34" charset="0"/>
              </a:rPr>
              <a:t>Manish · p.2</a:t>
            </a:r>
          </a:p>
        </p:txBody>
      </p:sp>
      <p:sp>
        <p:nvSpPr>
          <p:cNvPr id="114" name="Closing 2 1">
            <a:extLst>
              <a:ext uri="{FF2B5EF4-FFF2-40B4-BE49-F238E27FC236}">
                <a16:creationId xmlns:a16="http://schemas.microsoft.com/office/drawing/2014/main" id="{3F1D8B42-1CFE-3A9C-64E6-84455530D1BA}"/>
              </a:ext>
            </a:extLst>
          </p:cNvPr>
          <p:cNvSpPr/>
          <p:nvPr/>
        </p:nvSpPr>
        <p:spPr>
          <a:xfrm>
            <a:off x="7772400" y="3454400"/>
            <a:ext cx="3340100" cy="1219200"/>
          </a:xfrm>
          <a:prstGeom prst="rect">
            <a:avLst/>
          </a:prstGeom>
          <a:solidFill>
            <a:srgbClr val="FFFFFF"/>
          </a:solidFill>
          <a:ln w="9525" cap="flat" cmpd="sng" algn="ctr">
            <a:solidFill>
              <a:schemeClr val="accent1"/>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76200" tIns="50800" rIns="76200" bIns="38100" rtlCol="0" anchor="t"/>
          <a:lstStyle/>
          <a:p>
            <a:pPr>
              <a:spcAft>
                <a:spcPts val="400"/>
              </a:spcAft>
            </a:pPr>
            <a:r>
              <a:rPr lang="en-GB" sz="1050" b="1">
                <a:solidFill>
                  <a:schemeClr val="accent1"/>
                </a:solidFill>
                <a:latin typeface="Lato" panose="020F0502020204030203" pitchFamily="34" charset="0"/>
              </a:rPr>
              <a:t>Figure check</a:t>
            </a:r>
          </a:p>
          <a:p>
            <a:pPr>
              <a:spcAft>
                <a:spcPts val="200"/>
              </a:spcAft>
            </a:pPr>
            <a:r>
              <a:rPr lang="en-GB" sz="1050">
                <a:solidFill>
                  <a:schemeClr val="dk1"/>
                </a:solidFill>
                <a:latin typeface="Lato" panose="020F0502020204030203" pitchFamily="34" charset="0"/>
              </a:rPr>
              <a:t>Extend the pack figure check</a:t>
            </a:r>
          </a:p>
          <a:p>
            <a:pPr>
              <a:spcAft>
                <a:spcPts val="200"/>
              </a:spcAft>
            </a:pPr>
            <a:r>
              <a:rPr lang="en-GB" sz="1050">
                <a:solidFill>
                  <a:schemeClr val="dk1"/>
                </a:solidFill>
                <a:latin typeface="Lato" panose="020F0502020204030203" pitchFamily="34" charset="0"/>
              </a:rPr>
              <a:t>to this pack's volume files</a:t>
            </a:r>
            <a:endParaRPr lang="en-ZA" sz="1050">
              <a:solidFill>
                <a:schemeClr val="dk1"/>
              </a:solidFill>
              <a:latin typeface="Lato" panose="020F0502020204030203" pitchFamily="34" charset="0"/>
            </a:endParaRPr>
          </a:p>
        </p:txBody>
      </p:sp>
      <p:sp>
        <p:nvSpPr>
          <p:cNvPr id="115" name="Closing 2 1 tag">
            <a:extLst>
              <a:ext uri="{FF2B5EF4-FFF2-40B4-BE49-F238E27FC236}">
                <a16:creationId xmlns:a16="http://schemas.microsoft.com/office/drawing/2014/main" id="{F28873AA-B37F-E2F7-8068-5629A3F801D4}"/>
              </a:ext>
            </a:extLst>
          </p:cNvPr>
          <p:cNvSpPr txBox="1"/>
          <p:nvPr/>
        </p:nvSpPr>
        <p:spPr>
          <a:xfrm>
            <a:off x="7848600" y="4483100"/>
            <a:ext cx="3187700" cy="152400"/>
          </a:xfrm>
          <a:prstGeom prst="rect">
            <a:avLst/>
          </a:prstGeom>
          <a:noFill/>
        </p:spPr>
        <p:txBody>
          <a:bodyPr vert="horz" wrap="square" lIns="0" tIns="0" rIns="0" bIns="0" rtlCol="0">
            <a:noAutofit/>
          </a:bodyPr>
          <a:lstStyle/>
          <a:p>
            <a:pPr>
              <a:spcAft>
                <a:spcPts val="200"/>
              </a:spcAft>
            </a:pPr>
            <a:r>
              <a:rPr lang="en-ZA" sz="900" b="1">
                <a:solidFill>
                  <a:schemeClr val="accent1"/>
                </a:solidFill>
                <a:latin typeface="Lato" panose="020F0502020204030203" pitchFamily="34" charset="0"/>
              </a:rPr>
              <a:t>Manish · overlap log</a:t>
            </a:r>
          </a:p>
        </p:txBody>
      </p:sp>
      <p:sp>
        <p:nvSpPr>
          <p:cNvPr id="116" name="Closing 2 2">
            <a:extLst>
              <a:ext uri="{FF2B5EF4-FFF2-40B4-BE49-F238E27FC236}">
                <a16:creationId xmlns:a16="http://schemas.microsoft.com/office/drawing/2014/main" id="{90F81103-75BE-E4F4-2983-83B65A398392}"/>
              </a:ext>
            </a:extLst>
          </p:cNvPr>
          <p:cNvSpPr/>
          <p:nvPr/>
        </p:nvSpPr>
        <p:spPr>
          <a:xfrm>
            <a:off x="7772400" y="4876800"/>
            <a:ext cx="3340100" cy="1219200"/>
          </a:xfrm>
          <a:prstGeom prst="rect">
            <a:avLst/>
          </a:prstGeom>
          <a:solidFill>
            <a:srgbClr val="FFFFFF"/>
          </a:solidFill>
          <a:ln w="9525" cap="flat" cmpd="sng" algn="ctr">
            <a:solidFill>
              <a:schemeClr val="accent1"/>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76200" tIns="50800" rIns="76200" bIns="38100" rtlCol="0" anchor="t"/>
          <a:lstStyle/>
          <a:p>
            <a:pPr>
              <a:spcAft>
                <a:spcPts val="400"/>
              </a:spcAft>
            </a:pPr>
            <a:r>
              <a:rPr lang="en-GB" sz="1050" b="1">
                <a:solidFill>
                  <a:schemeClr val="accent1"/>
                </a:solidFill>
                <a:latin typeface="Lato" panose="020F0502020204030203" pitchFamily="34" charset="0"/>
              </a:rPr>
              <a:t>Request register</a:t>
            </a:r>
          </a:p>
          <a:p>
            <a:pPr>
              <a:spcAft>
                <a:spcPts val="200"/>
              </a:spcAft>
            </a:pPr>
            <a:r>
              <a:rPr lang="en-GB" sz="1050">
                <a:solidFill>
                  <a:schemeClr val="dk1"/>
                </a:solidFill>
                <a:latin typeface="Lato" panose="020F0502020204030203" pitchFamily="34" charset="0"/>
              </a:rPr>
              <a:t>Record DR01, DR04, DR07, DR08</a:t>
            </a:r>
          </a:p>
          <a:p>
            <a:pPr>
              <a:spcAft>
                <a:spcPts val="200"/>
              </a:spcAft>
            </a:pPr>
            <a:r>
              <a:rPr lang="en-GB" sz="1050">
                <a:solidFill>
                  <a:schemeClr val="dk1"/>
                </a:solidFill>
                <a:latin typeface="Lato" panose="020F0502020204030203" pitchFamily="34" charset="0"/>
              </a:rPr>
              <a:t>as received on 8 October</a:t>
            </a:r>
            <a:endParaRPr lang="en-ZA" sz="1050">
              <a:solidFill>
                <a:schemeClr val="dk1"/>
              </a:solidFill>
              <a:latin typeface="Lato" panose="020F0502020204030203" pitchFamily="34" charset="0"/>
            </a:endParaRPr>
          </a:p>
        </p:txBody>
      </p:sp>
      <p:sp>
        <p:nvSpPr>
          <p:cNvPr id="117" name="Closing 2 2 tag">
            <a:extLst>
              <a:ext uri="{FF2B5EF4-FFF2-40B4-BE49-F238E27FC236}">
                <a16:creationId xmlns:a16="http://schemas.microsoft.com/office/drawing/2014/main" id="{BA387091-D3DE-56AF-366F-566F3F3D5D49}"/>
              </a:ext>
            </a:extLst>
          </p:cNvPr>
          <p:cNvSpPr txBox="1"/>
          <p:nvPr/>
        </p:nvSpPr>
        <p:spPr>
          <a:xfrm>
            <a:off x="7848600" y="5905500"/>
            <a:ext cx="3187700" cy="152400"/>
          </a:xfrm>
          <a:prstGeom prst="rect">
            <a:avLst/>
          </a:prstGeom>
          <a:noFill/>
        </p:spPr>
        <p:txBody>
          <a:bodyPr vert="horz" wrap="square" lIns="0" tIns="0" rIns="0" bIns="0" rtlCol="0">
            <a:noAutofit/>
          </a:bodyPr>
          <a:lstStyle/>
          <a:p>
            <a:pPr>
              <a:spcAft>
                <a:spcPts val="200"/>
              </a:spcAft>
            </a:pPr>
            <a:r>
              <a:rPr lang="en-ZA" sz="900" b="1">
                <a:solidFill>
                  <a:schemeClr val="accent1"/>
                </a:solidFill>
                <a:latin typeface="Lato" panose="020F0502020204030203" pitchFamily="34" charset="0"/>
              </a:rPr>
              <a:t>Register owner</a:t>
            </a:r>
          </a:p>
        </p:txBody>
      </p:sp>
    </p:spTree>
    <p:extLst>
      <p:ext uri="{BB962C8B-B14F-4D97-AF65-F5344CB8AC3E}">
        <p14:creationId xmlns:p14="http://schemas.microsoft.com/office/powerpoint/2010/main" val="322863739"/>
      </p:ext>
    </p:extLst>
  </p:cSld>
  <p:clrMapOvr>
    <a:masterClrMapping/>
  </p:clrMapOvr>
</p:sld>
</file>

<file path=ppt/theme/theme1.xml><?xml version="1.0" encoding="utf-8"?>
<a:theme xmlns:a="http://schemas.openxmlformats.org/drawingml/2006/main" name="Vopak Theme">
  <a:themeElements>
    <a:clrScheme name="Vopak">
      <a:dk1>
        <a:srgbClr val="000000"/>
      </a:dk1>
      <a:lt1>
        <a:srgbClr val="FFFFFF"/>
      </a:lt1>
      <a:dk2>
        <a:srgbClr val="11151A"/>
      </a:dk2>
      <a:lt2>
        <a:srgbClr val="E7E6E6"/>
      </a:lt2>
      <a:accent1>
        <a:srgbClr val="0A2373"/>
      </a:accent1>
      <a:accent2>
        <a:srgbClr val="546CA2"/>
      </a:accent2>
      <a:accent3>
        <a:srgbClr val="BDBEC1"/>
      </a:accent3>
      <a:accent4>
        <a:srgbClr val="404040"/>
      </a:accent4>
      <a:accent5>
        <a:srgbClr val="767676"/>
      </a:accent5>
      <a:accent6>
        <a:srgbClr val="D9D9D9"/>
      </a:accent6>
      <a:hlink>
        <a:srgbClr val="0A2373"/>
      </a:hlink>
      <a:folHlink>
        <a:srgbClr val="546CA2"/>
      </a:folHlink>
    </a:clrScheme>
    <a:fontScheme name="AIA_2017">
      <a:majorFont>
        <a:latin typeface="Lato"/>
        <a:ea typeface=""/>
        <a:cs typeface=""/>
      </a:majorFont>
      <a:minorFont>
        <a:latin typeface="Lato"/>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Vopak Theme" id="{EB158558-B090-4A15-9406-52ADAF46E73D}" vid="{169915E9-BA5A-4298-BC78-09D68188174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0A2373"/>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525" row="4">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3729E3C0-DBBA-4E87-A833-D4D671FDC2D1}">
  <we:reference id="WA200010725" version="1.0.0.1" store="Omex" storeType="OMEX"/>
  <we:alternateReferences>
    <we:reference id="WA200010725" version="1.0.0.1" store="WA200010725" storeType="OMEX"/>
  </we:alternateReferences>
  <we:properties>
    <we:property name="claude.fileId" value="&quot;440e1679-9fef-4664-be92-b7e3c5432c29&quot;"/>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BB14DAA3CC024F49A081857B4C9CD92A" ma:contentTypeVersion="20" ma:contentTypeDescription="Create a new document." ma:contentTypeScope="" ma:versionID="cdb2463664abbc9cc5ebc4769b50ad18">
  <xsd:schema xmlns:xsd="http://www.w3.org/2001/XMLSchema" xmlns:xs="http://www.w3.org/2001/XMLSchema" xmlns:p="http://schemas.microsoft.com/office/2006/metadata/properties" xmlns:ns2="265cb39c-7109-435c-af5d-13dc21a2db6b" xmlns:ns3="62b85a0e-09bb-4b0f-bd28-e34020cdc070" targetNamespace="http://schemas.microsoft.com/office/2006/metadata/properties" ma:root="true" ma:fieldsID="ee545d7bb76dd121542a05c73fb4a941" ns2:_="" ns3:_="">
    <xsd:import namespace="265cb39c-7109-435c-af5d-13dc21a2db6b"/>
    <xsd:import namespace="62b85a0e-09bb-4b0f-bd28-e34020cdc070"/>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DateTaken" minOccurs="0"/>
                <xsd:element ref="ns2:MediaServiceAutoTags" minOccurs="0"/>
                <xsd:element ref="ns2:MediaServiceGenerationTime" minOccurs="0"/>
                <xsd:element ref="ns2:MediaServiceEventHashCode" minOccurs="0"/>
                <xsd:element ref="ns2:MediaServiceOCR" minOccurs="0"/>
                <xsd:element ref="ns3:SharedWithUsers" minOccurs="0"/>
                <xsd:element ref="ns3:SharedWithDetails" minOccurs="0"/>
                <xsd:element ref="ns2:MediaServiceLocation" minOccurs="0"/>
                <xsd:element ref="ns2:MediaLengthInSeconds" minOccurs="0"/>
                <xsd:element ref="ns2:lcf76f155ced4ddcb4097134ff3c332f" minOccurs="0"/>
                <xsd:element ref="ns3:TaxCatchAll" minOccurs="0"/>
                <xsd:element ref="ns2:MediaServiceObjectDetectorVersions" minOccurs="0"/>
                <xsd:element ref="ns2:MediaServiceSearchProperties" minOccurs="0"/>
                <xsd:element ref="ns2:Archive"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65cb39c-7109-435c-af5d-13dc21a2db6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Tags" ma:index="13" nillable="true" ma:displayName="Tags" ma:internalName="MediaServiceAutoTags" ma:readOnly="true">
      <xsd:simpleType>
        <xsd:restriction base="dms:Text"/>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Location" ma:index="19" nillable="true" ma:displayName="Location" ma:internalName="MediaServiceLocation" ma:readOnly="true">
      <xsd:simpleType>
        <xsd:restriction base="dms:Text"/>
      </xsd:simpleType>
    </xsd:element>
    <xsd:element name="MediaLengthInSeconds" ma:index="20" nillable="true" ma:displayName="Length (seconds)" ma:internalName="MediaLengthInSeconds" ma:readOnly="true">
      <xsd:simpleType>
        <xsd:restriction base="dms:Unknown"/>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df3d1728-64fa-4f01-bb7d-5585de3a980b"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4"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Archive" ma:index="26" nillable="true" ma:displayName="Archive" ma:default="0" ma:description="Folder to be backed up, archived and removed from SharePoint" ma:format="Dropdown" ma:internalName="Archive">
      <xsd:simpleType>
        <xsd:restriction base="dms:Boolean"/>
      </xsd:simpleType>
    </xsd:element>
    <xsd:element name="MediaServiceBillingMetadata" ma:index="27"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62b85a0e-09bb-4b0f-bd28-e34020cdc070" elementFormDefault="qualified">
    <xsd:import namespace="http://schemas.microsoft.com/office/2006/documentManagement/types"/>
    <xsd:import namespace="http://schemas.microsoft.com/office/infopath/2007/PartnerControls"/>
    <xsd:element name="SharedWithUsers" ma:index="17"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Shared With Details" ma:internalName="SharedWithDetails" ma:readOnly="true">
      <xsd:simpleType>
        <xsd:restriction base="dms:Note">
          <xsd:maxLength value="255"/>
        </xsd:restriction>
      </xsd:simpleType>
    </xsd:element>
    <xsd:element name="TaxCatchAll" ma:index="23" nillable="true" ma:displayName="Taxonomy Catch All Column" ma:hidden="true" ma:list="{744b13c9-2708-4b8b-a658-00962d7928c2}" ma:internalName="TaxCatchAll" ma:showField="CatchAllData" ma:web="62b85a0e-09bb-4b0f-bd28-e34020cdc070">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265cb39c-7109-435c-af5d-13dc21a2db6b">
      <Terms xmlns="http://schemas.microsoft.com/office/infopath/2007/PartnerControls"/>
    </lcf76f155ced4ddcb4097134ff3c332f>
    <TaxCatchAll xmlns="62b85a0e-09bb-4b0f-bd28-e34020cdc070" xsi:nil="true"/>
    <SharedWithUsers xmlns="62b85a0e-09bb-4b0f-bd28-e34020cdc070">
      <UserInfo>
        <DisplayName>Joseph Kihara</DisplayName>
        <AccountId>3747</AccountId>
        <AccountType/>
      </UserInfo>
    </SharedWithUsers>
    <Archive xmlns="265cb39c-7109-435c-af5d-13dc21a2db6b">false</Archive>
  </documentManagement>
</p:properties>
</file>

<file path=customXml/itemProps1.xml><?xml version="1.0" encoding="utf-8"?>
<ds:datastoreItem xmlns:ds="http://schemas.openxmlformats.org/officeDocument/2006/customXml" ds:itemID="{1E0AC09D-7AB9-4C7E-89AA-55CFDED1BCB9}">
  <ds:schemaRefs>
    <ds:schemaRef ds:uri="http://schemas.microsoft.com/sharepoint/v3/contenttype/forms"/>
  </ds:schemaRefs>
</ds:datastoreItem>
</file>

<file path=customXml/itemProps2.xml><?xml version="1.0" encoding="utf-8"?>
<ds:datastoreItem xmlns:ds="http://schemas.openxmlformats.org/officeDocument/2006/customXml" ds:itemID="{1B9F3023-3460-4C94-AC6C-4F171062BD4F}">
  <ds:schemaRefs>
    <ds:schemaRef ds:uri="265cb39c-7109-435c-af5d-13dc21a2db6b"/>
    <ds:schemaRef ds:uri="62b85a0e-09bb-4b0f-bd28-e34020cdc070"/>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89FA9FA0-2CB2-436E-A336-3A77ADFE4CF1}">
  <ds:schemaRefs>
    <ds:schemaRef ds:uri="http://purl.org/dc/terms/"/>
    <ds:schemaRef ds:uri="http://schemas.microsoft.com/office/infopath/2007/PartnerControls"/>
    <ds:schemaRef ds:uri="http://purl.org/dc/dcmitype/"/>
    <ds:schemaRef ds:uri="http://schemas.openxmlformats.org/package/2006/metadata/core-properties"/>
    <ds:schemaRef ds:uri="http://schemas.microsoft.com/office/2006/metadata/properties"/>
    <ds:schemaRef ds:uri="http://schemas.microsoft.com/office/2006/documentManagement/types"/>
    <ds:schemaRef ds:uri="265cb39c-7109-435c-af5d-13dc21a2db6b"/>
    <ds:schemaRef ds:uri="http://purl.org/dc/elements/1.1/"/>
    <ds:schemaRef ds:uri="62b85a0e-09bb-4b0f-bd28-e34020cdc070"/>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emplate>Vopak Theme</Template>
  <TotalTime>0</TotalTime>
  <Words>6171</Words>
  <Application>Microsoft Office PowerPoint</Application>
  <PresentationFormat>Custom</PresentationFormat>
  <Paragraphs>724</Paragraphs>
  <Slides>9</Slides>
  <Notes>9</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vt:i4>
      </vt:variant>
    </vt:vector>
  </HeadingPairs>
  <TitlesOfParts>
    <vt:vector size="13" baseType="lpstr">
      <vt:lpstr>Calibri</vt:lpstr>
      <vt:lpstr>Arial</vt:lpstr>
      <vt:lpstr>Lato</vt:lpstr>
      <vt:lpstr>Vopak Theme</vt:lpstr>
      <vt:lpstr>PowerPoint Presentation</vt:lpstr>
      <vt:lpstr>National petrol and diesel balance: what makes up the ~20B litres</vt:lpstr>
      <vt:lpstr>Durban and Lesedi market sizing and investment issue tree</vt:lpstr>
      <vt:lpstr>Demand by product and province: where the litres are sold</vt:lpstr>
      <vt:lpstr>Demand by use: three sources to calibrate</vt:lpstr>
      <vt:lpstr>Demand parameters: the levers and their 2035 cases</vt:lpstr>
      <vt:lpstr>Port and logistics system: how fuel reaches coastal and inland demand</vt:lpstr>
      <vt:lpstr>Outstanding data for market share and investment testing</vt:lpstr>
      <vt:lpstr>Decisions and next steps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South Africa liquid fuels: Week 1 analytical maps</dc:title>
  <dc:subject>Illustrative demand geography and conditional Vopak market access</dc:subject>
  <dc:creator>Africa International Advisors</dc:creator>
  <cp:lastModifiedBy>Manish Ramjeawon</cp:lastModifiedBy>
  <cp:revision>30</cp:revision>
  <dcterms:created xsi:type="dcterms:W3CDTF">2017-11-16T09:19:07Z</dcterms:created>
  <dcterms:modified xsi:type="dcterms:W3CDTF">2026-10-09T16:37:33Z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0x010100BB14DAA3CC024F49A081857B4C9CD92A</vt:lpwstr>
  </property>
  <property fmtid="{D5CDD505-2E9C-101B-9397-08002B2CF9AE}" pid="3" name="MediaServiceImageTags">
    <vt:lpwstr/>
  </property>
</Properties>
</file>