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6"/>
  </p:notesMasterIdLst>
  <p:sldIdLst>
    <p:sldId id="289" r:id="rId5"/>
  </p:sldIdLst>
  <p:sldSz cx="11588750" cy="6858000"/>
  <p:notesSz cx="6858000" cy="9144000"/>
  <p:embeddedFontLst>
    <p:embeddedFont>
      <p:font typeface="Lato" panose="020F0502020204030203" pitchFamily="34" charset="0"/>
      <p:regular r:id="rId7"/>
      <p:bold r:id="rId8"/>
      <p:italic r:id="rId9"/>
      <p:boldItalic r:id="rId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 workstreams/WS0_governance/meetings/2026-10-08_ps_session_manish_ramjeawon.docx and Nigel's supplied market sizing.jpg storyboard.
This is the issue-tree framework requested after the PS session. The roughly 20 billion litres is the discussion's provisional annual petrol-plus-diesel consumption total. It is not gross imports, addressable terminal volume or verified throughput. No market shares have been calculated.
Reconcile product/year consumption against actual domestic production, gross imports, exports and stock changes. Keep statistical differences explicit. Capacity is not production.
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
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
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
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
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
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8 October PS session and marked storyboard. ~20B is provisional. Reconcile production + imports - exports - stock build with consumption. Solid: flow; dashed: parameter effect.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heading">
            <a:extLst>
              <a:ext uri="{FF2B5EF4-FFF2-40B4-BE49-F238E27FC236}">
                <a16:creationId xmlns:a16="http://schemas.microsoft.com/office/drawing/2014/main" id="{F61D41AA-305D-B200-4789-A3FB1D022D65}"/>
              </a:ext>
            </a:extLst>
          </p:cNvPr>
          <p:cNvSpPr txBox="1"/>
          <p:nvPr/>
        </p:nvSpPr>
        <p:spPr>
          <a:xfrm>
            <a:off x="457200" y="1638300"/>
            <a:ext cx="22098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5" name="System heading">
            <a:extLst>
              <a:ext uri="{FF2B5EF4-FFF2-40B4-BE49-F238E27FC236}">
                <a16:creationId xmlns:a16="http://schemas.microsoft.com/office/drawing/2014/main" id="{C8531D68-9771-54AF-0956-A3A6E44A1868}"/>
              </a:ext>
            </a:extLst>
          </p:cNvPr>
          <p:cNvSpPr txBox="1"/>
          <p:nvPr/>
        </p:nvSpPr>
        <p:spPr>
          <a:xfrm>
            <a:off x="3111500" y="1638300"/>
            <a:ext cx="4089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6" name="Terminal heading">
            <a:extLst>
              <a:ext uri="{FF2B5EF4-FFF2-40B4-BE49-F238E27FC236}">
                <a16:creationId xmlns:a16="http://schemas.microsoft.com/office/drawing/2014/main" id="{9E799C17-9D56-4D8A-7C07-754A288F2495}"/>
              </a:ext>
            </a:extLst>
          </p:cNvPr>
          <p:cNvSpPr txBox="1"/>
          <p:nvPr/>
        </p:nvSpPr>
        <p:spPr>
          <a:xfrm>
            <a:off x="7899400" y="1638300"/>
            <a:ext cx="3213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cxnSp>
        <p:nvCxnSpPr>
          <p:cNvPr id="7" name="Column heading rule">
            <a:extLst>
              <a:ext uri="{FF2B5EF4-FFF2-40B4-BE49-F238E27FC236}">
                <a16:creationId xmlns:a16="http://schemas.microsoft.com/office/drawing/2014/main" id="{A083CAD0-6538-3FA5-AADC-E1FFAC6CE25D}"/>
              </a:ext>
            </a:extLst>
          </p:cNvPr>
          <p:cNvCxnSpPr/>
          <p:nvPr/>
        </p:nvCxnSpPr>
        <p:spPr>
          <a:xfrm>
            <a:off x="457200" y="1917700"/>
            <a:ext cx="2209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3" name="Column heading rule">
            <a:extLst>
              <a:ext uri="{FF2B5EF4-FFF2-40B4-BE49-F238E27FC236}">
                <a16:creationId xmlns:a16="http://schemas.microsoft.com/office/drawing/2014/main" id="{02B491D7-18B4-1DF9-8C38-D7533E331418}"/>
              </a:ext>
            </a:extLst>
          </p:cNvPr>
          <p:cNvCxnSpPr/>
          <p:nvPr/>
        </p:nvCxnSpPr>
        <p:spPr>
          <a:xfrm>
            <a:off x="3111500" y="1917700"/>
            <a:ext cx="4114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4" name="Column heading rule">
            <a:extLst>
              <a:ext uri="{FF2B5EF4-FFF2-40B4-BE49-F238E27FC236}">
                <a16:creationId xmlns:a16="http://schemas.microsoft.com/office/drawing/2014/main" id="{6735758A-313D-5824-B4C0-23864F839C56}"/>
              </a:ext>
            </a:extLst>
          </p:cNvPr>
          <p:cNvCxnSpPr/>
          <p:nvPr/>
        </p:nvCxnSpPr>
        <p:spPr>
          <a:xfrm>
            <a:off x="7899400" y="1917700"/>
            <a:ext cx="3213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5" name="National market">
            <a:extLst>
              <a:ext uri="{FF2B5EF4-FFF2-40B4-BE49-F238E27FC236}">
                <a16:creationId xmlns:a16="http://schemas.microsoft.com/office/drawing/2014/main" id="{385FE92C-EF6E-4B66-48C2-B468C29CEA1C}"/>
              </a:ext>
            </a:extLst>
          </p:cNvPr>
          <p:cNvSpPr txBox="1"/>
          <p:nvPr/>
        </p:nvSpPr>
        <p:spPr>
          <a:xfrm>
            <a:off x="457200" y="2108199"/>
            <a:ext cx="2209800" cy="10287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National consumption</a:t>
            </a:r>
          </a:p>
          <a:p>
            <a:pPr>
              <a:spcAft>
                <a:spcPts val="200"/>
              </a:spcAft>
            </a:pPr>
            <a:r>
              <a:rPr lang="en-GB" sz="1200">
                <a:solidFill>
                  <a:schemeClr val="dk1"/>
                </a:solidFill>
                <a:latin typeface="Lato" panose="020F0502020204030203" pitchFamily="34" charset="0"/>
              </a:rPr>
              <a:t>~20B litres/year discussed</a:t>
            </a:r>
          </a:p>
          <a:p>
            <a:pPr>
              <a:spcAft>
                <a:spcPts val="200"/>
              </a:spcAft>
            </a:pPr>
            <a:r>
              <a:rPr lang="en-GB" sz="1200">
                <a:solidFill>
                  <a:schemeClr val="dk1"/>
                </a:solidFill>
                <a:latin typeface="Lato" panose="020F0502020204030203" pitchFamily="34" charset="0"/>
              </a:rPr>
              <a:t>Petrol and diesel by destination</a:t>
            </a:r>
          </a:p>
          <a:p>
            <a:pPr>
              <a:spcAft>
                <a:spcPts val="200"/>
              </a:spcAft>
            </a:pPr>
            <a:r>
              <a:rPr lang="en-GB" sz="1200">
                <a:solidFill>
                  <a:schemeClr val="dk1"/>
                </a:solidFill>
                <a:latin typeface="Lato" panose="020F0502020204030203" pitchFamily="34" charset="0"/>
              </a:rPr>
              <a:t>PS starting point, to reconcile</a:t>
            </a:r>
            <a:endParaRPr lang="en-ZA" sz="1200">
              <a:solidFill>
                <a:schemeClr val="dk1"/>
              </a:solidFill>
              <a:latin typeface="Lato" panose="020F0502020204030203" pitchFamily="34" charset="0"/>
            </a:endParaRPr>
          </a:p>
        </p:txBody>
      </p:sp>
      <p:sp>
        <p:nvSpPr>
          <p:cNvPr id="16" name="Sector demand">
            <a:extLst>
              <a:ext uri="{FF2B5EF4-FFF2-40B4-BE49-F238E27FC236}">
                <a16:creationId xmlns:a16="http://schemas.microsoft.com/office/drawing/2014/main" id="{4B2301E6-BB53-D079-4B2E-0F848549767B}"/>
              </a:ext>
            </a:extLst>
          </p:cNvPr>
          <p:cNvSpPr txBox="1"/>
          <p:nvPr/>
        </p:nvSpPr>
        <p:spPr>
          <a:xfrm>
            <a:off x="457200" y="3251199"/>
            <a:ext cx="2209800" cy="8128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Demand by use</a:t>
            </a:r>
          </a:p>
          <a:p>
            <a:pPr>
              <a:spcAft>
                <a:spcPts val="200"/>
              </a:spcAft>
            </a:pPr>
            <a:r>
              <a:rPr lang="en-GB" sz="1150">
                <a:solidFill>
                  <a:schemeClr val="dk1"/>
                </a:solidFill>
                <a:latin typeface="Lato" panose="020F0502020204030203" pitchFamily="34" charset="0"/>
              </a:rPr>
              <a:t>Road, mining, industry, agriculture</a:t>
            </a:r>
          </a:p>
          <a:p>
            <a:pPr>
              <a:spcAft>
                <a:spcPts val="200"/>
              </a:spcAft>
            </a:pPr>
            <a:r>
              <a:rPr lang="en-GB" sz="1150">
                <a:solidFill>
                  <a:schemeClr val="dk1"/>
                </a:solidFill>
                <a:latin typeface="Lato" panose="020F0502020204030203" pitchFamily="34" charset="0"/>
              </a:rPr>
              <a:t>Power and other uses</a:t>
            </a:r>
            <a:endParaRPr lang="en-ZA" sz="1150">
              <a:solidFill>
                <a:schemeClr val="dk1"/>
              </a:solidFill>
              <a:latin typeface="Lato" panose="020F0502020204030203" pitchFamily="34" charset="0"/>
            </a:endParaRPr>
          </a:p>
        </p:txBody>
      </p:sp>
      <p:cxnSp>
        <p:nvCxnSpPr>
          <p:cNvPr id="17" name="Uses determine demand">
            <a:extLst>
              <a:ext uri="{FF2B5EF4-FFF2-40B4-BE49-F238E27FC236}">
                <a16:creationId xmlns:a16="http://schemas.microsoft.com/office/drawing/2014/main" id="{95E3F035-3288-A6E5-EF93-84A29806192D}"/>
              </a:ext>
            </a:extLst>
          </p:cNvPr>
          <p:cNvCxnSpPr/>
          <p:nvPr/>
        </p:nvCxnSpPr>
        <p:spPr>
          <a:xfrm flipV="1">
            <a:off x="1524000" y="3162300"/>
            <a:ext cx="0" cy="88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8" name="Demand parameters">
            <a:extLst>
              <a:ext uri="{FF2B5EF4-FFF2-40B4-BE49-F238E27FC236}">
                <a16:creationId xmlns:a16="http://schemas.microsoft.com/office/drawing/2014/main" id="{A9DC4FB7-4AD9-71FC-81A1-220F2E268269}"/>
              </a:ext>
            </a:extLst>
          </p:cNvPr>
          <p:cNvSpPr txBox="1"/>
          <p:nvPr/>
        </p:nvSpPr>
        <p:spPr>
          <a:xfrm>
            <a:off x="457200" y="4203699"/>
            <a:ext cx="2209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Demand parameters</a:t>
            </a:r>
          </a:p>
          <a:p>
            <a:pPr>
              <a:spcAft>
                <a:spcPts val="200"/>
              </a:spcAft>
            </a:pPr>
            <a:r>
              <a:rPr lang="en-GB" sz="1100">
                <a:solidFill>
                  <a:schemeClr val="dk1"/>
                </a:solidFill>
                <a:latin typeface="Lato" panose="020F0502020204030203" pitchFamily="34" charset="0"/>
              </a:rPr>
              <a:t>GDP and sector activity</a:t>
            </a:r>
          </a:p>
          <a:p>
            <a:pPr>
              <a:spcAft>
                <a:spcPts val="200"/>
              </a:spcAft>
            </a:pPr>
            <a:r>
              <a:rPr lang="en-GB" sz="1100">
                <a:solidFill>
                  <a:schemeClr val="dk1"/>
                </a:solidFill>
                <a:latin typeface="Lato" panose="020F0502020204030203" pitchFamily="34" charset="0"/>
              </a:rPr>
              <a:t>EVs, fleet turnover, ICE efficiency</a:t>
            </a:r>
          </a:p>
          <a:p>
            <a:pPr>
              <a:spcAft>
                <a:spcPts val="200"/>
              </a:spcAft>
            </a:pPr>
            <a:r>
              <a:rPr lang="en-GB" sz="1100">
                <a:solidFill>
                  <a:schemeClr val="dk1"/>
                </a:solidFill>
                <a:latin typeface="Lato" panose="020F0502020204030203" pitchFamily="34" charset="0"/>
              </a:rPr>
              <a:t>Freight shift, prices, power dispatch</a:t>
            </a:r>
            <a:endParaRPr lang="en-ZA" sz="1100">
              <a:solidFill>
                <a:schemeClr val="dk1"/>
              </a:solidFill>
              <a:latin typeface="Lato" panose="020F0502020204030203" pitchFamily="34" charset="0"/>
            </a:endParaRPr>
          </a:p>
        </p:txBody>
      </p:sp>
      <p:cxnSp>
        <p:nvCxnSpPr>
          <p:cNvPr id="19" name="Demand parameter effect">
            <a:extLst>
              <a:ext uri="{FF2B5EF4-FFF2-40B4-BE49-F238E27FC236}">
                <a16:creationId xmlns:a16="http://schemas.microsoft.com/office/drawing/2014/main" id="{60267354-8ABD-98BA-A18E-98B98FF23B34}"/>
              </a:ext>
            </a:extLst>
          </p:cNvPr>
          <p:cNvCxnSpPr/>
          <p:nvPr/>
        </p:nvCxnSpPr>
        <p:spPr>
          <a:xfrm flipV="1">
            <a:off x="1524000" y="4064000"/>
            <a:ext cx="0" cy="1397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 name="Imports">
            <a:extLst>
              <a:ext uri="{FF2B5EF4-FFF2-40B4-BE49-F238E27FC236}">
                <a16:creationId xmlns:a16="http://schemas.microsoft.com/office/drawing/2014/main" id="{A6BA9441-9074-4D3C-EAAD-62B4BBE45422}"/>
              </a:ext>
            </a:extLst>
          </p:cNvPr>
          <p:cNvSpPr txBox="1"/>
          <p:nvPr/>
        </p:nvSpPr>
        <p:spPr>
          <a:xfrm>
            <a:off x="3111500" y="2108199"/>
            <a:ext cx="18542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Gross imports</a:t>
            </a:r>
          </a:p>
          <a:p>
            <a:pPr>
              <a:spcAft>
                <a:spcPts val="200"/>
              </a:spcAft>
            </a:pPr>
            <a:r>
              <a:rPr lang="en-GB" sz="1200">
                <a:solidFill>
                  <a:schemeClr val="dk1"/>
                </a:solidFill>
                <a:latin typeface="Lato" panose="020F0502020204030203" pitchFamily="34" charset="0"/>
              </a:rPr>
              <a:t>By product and entry point</a:t>
            </a:r>
          </a:p>
          <a:p>
            <a:pPr>
              <a:spcAft>
                <a:spcPts val="200"/>
              </a:spcAft>
            </a:pPr>
            <a:r>
              <a:rPr lang="en-GB" sz="1200">
                <a:solidFill>
                  <a:schemeClr val="dk1"/>
                </a:solidFill>
                <a:latin typeface="Lato" panose="020F0502020204030203" pitchFamily="34" charset="0"/>
              </a:rPr>
              <a:t>Exports shown separately</a:t>
            </a:r>
            <a:endParaRPr lang="en-ZA" sz="1200">
              <a:solidFill>
                <a:schemeClr val="dk1"/>
              </a:solidFill>
              <a:latin typeface="Lato" panose="020F0502020204030203" pitchFamily="34" charset="0"/>
            </a:endParaRPr>
          </a:p>
        </p:txBody>
      </p:sp>
      <p:sp>
        <p:nvSpPr>
          <p:cNvPr id="21" name="Production">
            <a:extLst>
              <a:ext uri="{FF2B5EF4-FFF2-40B4-BE49-F238E27FC236}">
                <a16:creationId xmlns:a16="http://schemas.microsoft.com/office/drawing/2014/main" id="{2DEB3EC6-96CD-CD30-57C6-24EF2FF7F69B}"/>
              </a:ext>
            </a:extLst>
          </p:cNvPr>
          <p:cNvSpPr txBox="1"/>
          <p:nvPr/>
        </p:nvSpPr>
        <p:spPr>
          <a:xfrm>
            <a:off x="5257800" y="2108199"/>
            <a:ext cx="19685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Domestic production</a:t>
            </a:r>
          </a:p>
          <a:p>
            <a:pPr>
              <a:spcAft>
                <a:spcPts val="200"/>
              </a:spcAft>
            </a:pPr>
            <a:r>
              <a:rPr lang="en-GB" sz="1200">
                <a:solidFill>
                  <a:schemeClr val="dk1"/>
                </a:solidFill>
                <a:latin typeface="Lato" panose="020F0502020204030203" pitchFamily="34" charset="0"/>
              </a:rPr>
              <a:t>Refinery location, output, yields</a:t>
            </a:r>
          </a:p>
          <a:p>
            <a:pPr>
              <a:spcAft>
                <a:spcPts val="200"/>
              </a:spcAft>
            </a:pPr>
            <a:r>
              <a:rPr lang="en-GB" sz="1200">
                <a:solidFill>
                  <a:schemeClr val="dk1"/>
                </a:solidFill>
                <a:latin typeface="Lato" panose="020F0502020204030203" pitchFamily="34" charset="0"/>
              </a:rPr>
              <a:t>Own storage and distribution</a:t>
            </a:r>
            <a:endParaRPr lang="en-ZA" sz="1200">
              <a:solidFill>
                <a:schemeClr val="dk1"/>
              </a:solidFill>
              <a:latin typeface="Lato" panose="020F0502020204030203" pitchFamily="34" charset="0"/>
            </a:endParaRPr>
          </a:p>
        </p:txBody>
      </p:sp>
      <p:sp>
        <p:nvSpPr>
          <p:cNvPr id="22" name="Routes">
            <a:extLst>
              <a:ext uri="{FF2B5EF4-FFF2-40B4-BE49-F238E27FC236}">
                <a16:creationId xmlns:a16="http://schemas.microsoft.com/office/drawing/2014/main" id="{41366E9C-4BC4-D0B3-54FA-D61A7306F12A}"/>
              </a:ext>
            </a:extLst>
          </p:cNvPr>
          <p:cNvSpPr txBox="1"/>
          <p:nvPr/>
        </p:nvSpPr>
        <p:spPr>
          <a:xfrm>
            <a:off x="3111500" y="3238499"/>
            <a:ext cx="4114800" cy="8763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Ports and inland delivery network</a:t>
            </a:r>
          </a:p>
          <a:p>
            <a:pPr>
              <a:spcAft>
                <a:spcPts val="200"/>
              </a:spcAft>
            </a:pPr>
            <a:r>
              <a:rPr lang="en-GB" sz="1150">
                <a:solidFill>
                  <a:schemeClr val="dk1"/>
                </a:solidFill>
                <a:latin typeface="Lato" panose="020F0502020204030203" pitchFamily="34" charset="0"/>
              </a:rPr>
              <a:t>Durban, Richards Bay, other gateways</a:t>
            </a:r>
          </a:p>
          <a:p>
            <a:pPr>
              <a:spcAft>
                <a:spcPts val="200"/>
              </a:spcAft>
            </a:pPr>
            <a:r>
              <a:rPr lang="en-GB" sz="1150">
                <a:solidFill>
                  <a:schemeClr val="dk1"/>
                </a:solidFill>
                <a:latin typeface="Lato" panose="020F0502020204030203" pitchFamily="34" charset="0"/>
              </a:rPr>
              <a:t>Pipeline, road and rail to customer catchments</a:t>
            </a:r>
          </a:p>
          <a:p>
            <a:pPr>
              <a:spcAft>
                <a:spcPts val="200"/>
              </a:spcAft>
            </a:pPr>
            <a:r>
              <a:rPr lang="en-GB" sz="1150">
                <a:solidFill>
                  <a:schemeClr val="dk1"/>
                </a:solidFill>
                <a:latin typeface="Lato" panose="020F0502020204030203" pitchFamily="34" charset="0"/>
              </a:rPr>
              <a:t>NMPP / TM2 / DJP links to verify</a:t>
            </a:r>
            <a:endParaRPr lang="en-ZA" sz="1150">
              <a:solidFill>
                <a:schemeClr val="dk1"/>
              </a:solidFill>
              <a:latin typeface="Lato" panose="020F0502020204030203" pitchFamily="34" charset="0"/>
            </a:endParaRPr>
          </a:p>
        </p:txBody>
      </p:sp>
      <p:cxnSp>
        <p:nvCxnSpPr>
          <p:cNvPr id="23" name="Import route">
            <a:extLst>
              <a:ext uri="{FF2B5EF4-FFF2-40B4-BE49-F238E27FC236}">
                <a16:creationId xmlns:a16="http://schemas.microsoft.com/office/drawing/2014/main" id="{095BC594-5EF4-6BD8-4422-A491AD5A59F4}"/>
              </a:ext>
            </a:extLst>
          </p:cNvPr>
          <p:cNvCxnSpPr/>
          <p:nvPr/>
        </p:nvCxnSpPr>
        <p:spPr>
          <a:xfrm>
            <a:off x="40005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Domestic route">
            <a:extLst>
              <a:ext uri="{FF2B5EF4-FFF2-40B4-BE49-F238E27FC236}">
                <a16:creationId xmlns:a16="http://schemas.microsoft.com/office/drawing/2014/main" id="{A312180F-D6A1-9363-857B-0662A604572E}"/>
              </a:ext>
            </a:extLst>
          </p:cNvPr>
          <p:cNvCxnSpPr/>
          <p:nvPr/>
        </p:nvCxnSpPr>
        <p:spPr>
          <a:xfrm>
            <a:off x="62103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5" name="Demand determines destinations 1">
            <a:extLst>
              <a:ext uri="{FF2B5EF4-FFF2-40B4-BE49-F238E27FC236}">
                <a16:creationId xmlns:a16="http://schemas.microsoft.com/office/drawing/2014/main" id="{A31EFEA1-4078-4615-4F8A-96E42DC216B7}"/>
              </a:ext>
            </a:extLst>
          </p:cNvPr>
          <p:cNvCxnSpPr/>
          <p:nvPr/>
        </p:nvCxnSpPr>
        <p:spPr>
          <a:xfrm>
            <a:off x="2667000" y="2590800"/>
            <a:ext cx="1778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Demand determines destinations 2">
            <a:extLst>
              <a:ext uri="{FF2B5EF4-FFF2-40B4-BE49-F238E27FC236}">
                <a16:creationId xmlns:a16="http://schemas.microsoft.com/office/drawing/2014/main" id="{6D24FAF6-16FC-AD24-9F0C-E68E5A0085FB}"/>
              </a:ext>
            </a:extLst>
          </p:cNvPr>
          <p:cNvCxnSpPr/>
          <p:nvPr/>
        </p:nvCxnSpPr>
        <p:spPr>
          <a:xfrm>
            <a:off x="2844800" y="2590800"/>
            <a:ext cx="0" cy="9652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Demand determines destinations 3">
            <a:extLst>
              <a:ext uri="{FF2B5EF4-FFF2-40B4-BE49-F238E27FC236}">
                <a16:creationId xmlns:a16="http://schemas.microsoft.com/office/drawing/2014/main" id="{6850EB34-139A-9835-03FA-82E20F9F412F}"/>
              </a:ext>
            </a:extLst>
          </p:cNvPr>
          <p:cNvCxnSpPr/>
          <p:nvPr/>
        </p:nvCxnSpPr>
        <p:spPr>
          <a:xfrm>
            <a:off x="2844800" y="3556000"/>
            <a:ext cx="2159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Supply and route parameters">
            <a:extLst>
              <a:ext uri="{FF2B5EF4-FFF2-40B4-BE49-F238E27FC236}">
                <a16:creationId xmlns:a16="http://schemas.microsoft.com/office/drawing/2014/main" id="{B86C55E7-D035-3366-1A61-D506AAA39A93}"/>
              </a:ext>
            </a:extLst>
          </p:cNvPr>
          <p:cNvSpPr txBox="1"/>
          <p:nvPr/>
        </p:nvSpPr>
        <p:spPr>
          <a:xfrm>
            <a:off x="3111500" y="4203699"/>
            <a:ext cx="4114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Supply and route parameters</a:t>
            </a:r>
          </a:p>
          <a:p>
            <a:pPr>
              <a:spcAft>
                <a:spcPts val="200"/>
              </a:spcAft>
            </a:pPr>
            <a:r>
              <a:rPr lang="en-GB" sz="1100">
                <a:solidFill>
                  <a:schemeClr val="dk1"/>
                </a:solidFill>
                <a:latin typeface="Lato" panose="020F0502020204030203" pitchFamily="34" charset="0"/>
              </a:rPr>
              <a:t>Refinery closures / restarts and gas availability</a:t>
            </a:r>
          </a:p>
          <a:p>
            <a:pPr>
              <a:spcAft>
                <a:spcPts val="200"/>
              </a:spcAft>
            </a:pPr>
            <a:r>
              <a:rPr lang="en-GB" sz="1100">
                <a:solidFill>
                  <a:schemeClr val="dk1"/>
                </a:solidFill>
                <a:latin typeface="Lato" panose="020F0502020204030203" pitchFamily="34" charset="0"/>
              </a:rPr>
              <a:t>Delivered cost, competing routes, access and contracts</a:t>
            </a:r>
          </a:p>
          <a:p>
            <a:pPr>
              <a:spcAft>
                <a:spcPts val="200"/>
              </a:spcAft>
            </a:pPr>
            <a:r>
              <a:rPr lang="en-GB" sz="1100">
                <a:solidFill>
                  <a:schemeClr val="dk1"/>
                </a:solidFill>
                <a:latin typeface="Lato" panose="020F0502020204030203" pitchFamily="34" charset="0"/>
              </a:rPr>
              <a:t>Port, pipeline and rail capacity and reliability</a:t>
            </a:r>
            <a:endParaRPr lang="en-ZA" sz="1100">
              <a:solidFill>
                <a:schemeClr val="dk1"/>
              </a:solidFill>
              <a:latin typeface="Lato" panose="020F0502020204030203" pitchFamily="34" charset="0"/>
            </a:endParaRPr>
          </a:p>
        </p:txBody>
      </p:sp>
      <p:cxnSp>
        <p:nvCxnSpPr>
          <p:cNvPr id="29" name="Supply parameter effect">
            <a:extLst>
              <a:ext uri="{FF2B5EF4-FFF2-40B4-BE49-F238E27FC236}">
                <a16:creationId xmlns:a16="http://schemas.microsoft.com/office/drawing/2014/main" id="{E57C6FA8-A9A3-31B9-349D-52C058E706BD}"/>
              </a:ext>
            </a:extLst>
          </p:cNvPr>
          <p:cNvCxnSpPr/>
          <p:nvPr/>
        </p:nvCxnSpPr>
        <p:spPr>
          <a:xfrm flipV="1">
            <a:off x="6210300" y="4102100"/>
            <a:ext cx="0" cy="1016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Durban opportunity">
            <a:extLst>
              <a:ext uri="{FF2B5EF4-FFF2-40B4-BE49-F238E27FC236}">
                <a16:creationId xmlns:a16="http://schemas.microsoft.com/office/drawing/2014/main" id="{7A83B6CE-FAAC-2FA1-F126-1D2D6F44CC0B}"/>
              </a:ext>
            </a:extLst>
          </p:cNvPr>
          <p:cNvSpPr txBox="1"/>
          <p:nvPr/>
        </p:nvSpPr>
        <p:spPr>
          <a:xfrm>
            <a:off x="7899400" y="2108199"/>
            <a:ext cx="3213100" cy="7493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Durban accessible market</a:t>
            </a:r>
          </a:p>
          <a:p>
            <a:pPr>
              <a:spcAft>
                <a:spcPts val="200"/>
              </a:spcAft>
            </a:pPr>
            <a:r>
              <a:rPr lang="en-GB" sz="1200">
                <a:solidFill>
                  <a:schemeClr val="dk1"/>
                </a:solidFill>
                <a:latin typeface="Lato" panose="020F0502020204030203" pitchFamily="34" charset="0"/>
              </a:rPr>
              <a:t>Feasible annual product volumes through</a:t>
            </a:r>
          </a:p>
          <a:p>
            <a:pPr>
              <a:spcAft>
                <a:spcPts val="200"/>
              </a:spcAft>
            </a:pPr>
            <a:r>
              <a:rPr lang="en-GB" sz="1200">
                <a:solidFill>
                  <a:schemeClr val="dk1"/>
                </a:solidFill>
                <a:latin typeface="Lato" panose="020F0502020204030203" pitchFamily="34" charset="0"/>
              </a:rPr>
              <a:t>Vopak Durban to reachable customers</a:t>
            </a:r>
            <a:endParaRPr lang="en-ZA" sz="1200">
              <a:solidFill>
                <a:schemeClr val="dk1"/>
              </a:solidFill>
              <a:latin typeface="Lato" panose="020F0502020204030203" pitchFamily="34" charset="0"/>
            </a:endParaRPr>
          </a:p>
        </p:txBody>
      </p:sp>
      <p:sp>
        <p:nvSpPr>
          <p:cNvPr id="31" name="Lesedi opportunity">
            <a:extLst>
              <a:ext uri="{FF2B5EF4-FFF2-40B4-BE49-F238E27FC236}">
                <a16:creationId xmlns:a16="http://schemas.microsoft.com/office/drawing/2014/main" id="{FE156CA7-2DD3-742A-94C5-1449B36106A5}"/>
              </a:ext>
            </a:extLst>
          </p:cNvPr>
          <p:cNvSpPr txBox="1"/>
          <p:nvPr/>
        </p:nvSpPr>
        <p:spPr>
          <a:xfrm>
            <a:off x="7899400" y="3047999"/>
            <a:ext cx="3213100" cy="8128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Lesedi accessible market</a:t>
            </a:r>
          </a:p>
          <a:p>
            <a:pPr>
              <a:spcAft>
                <a:spcPts val="200"/>
              </a:spcAft>
            </a:pPr>
            <a:r>
              <a:rPr lang="en-GB" sz="1200">
                <a:solidFill>
                  <a:schemeClr val="dk1"/>
                </a:solidFill>
                <a:latin typeface="Lato" panose="020F0502020204030203" pitchFamily="34" charset="0"/>
              </a:rPr>
              <a:t>Inland demand Lesedi can feasibly serve</a:t>
            </a:r>
          </a:p>
          <a:p>
            <a:pPr>
              <a:spcAft>
                <a:spcPts val="200"/>
              </a:spcAft>
            </a:pPr>
            <a:r>
              <a:rPr lang="en-GB" sz="1200">
                <a:solidFill>
                  <a:schemeClr val="dk1"/>
                </a:solidFill>
                <a:latin typeface="Lato" panose="020F0502020204030203" pitchFamily="34" charset="0"/>
              </a:rPr>
              <a:t>Catchment and receipt / dispatch connections</a:t>
            </a:r>
            <a:endParaRPr lang="en-ZA" sz="1200">
              <a:solidFill>
                <a:schemeClr val="dk1"/>
              </a:solidFill>
              <a:latin typeface="Lato" panose="020F0502020204030203" pitchFamily="34" charset="0"/>
            </a:endParaRPr>
          </a:p>
        </p:txBody>
      </p:sp>
      <p:cxnSp>
        <p:nvCxnSpPr>
          <p:cNvPr id="32" name="Access screen trunk">
            <a:extLst>
              <a:ext uri="{FF2B5EF4-FFF2-40B4-BE49-F238E27FC236}">
                <a16:creationId xmlns:a16="http://schemas.microsoft.com/office/drawing/2014/main" id="{1C4C3E66-4614-F96B-F638-7199933BA3D0}"/>
              </a:ext>
            </a:extLst>
          </p:cNvPr>
          <p:cNvCxnSpPr/>
          <p:nvPr/>
        </p:nvCxnSpPr>
        <p:spPr>
          <a:xfrm>
            <a:off x="7226300" y="3556000"/>
            <a:ext cx="2667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Access screen fork">
            <a:extLst>
              <a:ext uri="{FF2B5EF4-FFF2-40B4-BE49-F238E27FC236}">
                <a16:creationId xmlns:a16="http://schemas.microsoft.com/office/drawing/2014/main" id="{8420525A-0B26-6404-36E6-6F0643C48D75}"/>
              </a:ext>
            </a:extLst>
          </p:cNvPr>
          <p:cNvCxnSpPr/>
          <p:nvPr/>
        </p:nvCxnSpPr>
        <p:spPr>
          <a:xfrm>
            <a:off x="7493000" y="2489200"/>
            <a:ext cx="0" cy="1066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Access to Durban">
            <a:extLst>
              <a:ext uri="{FF2B5EF4-FFF2-40B4-BE49-F238E27FC236}">
                <a16:creationId xmlns:a16="http://schemas.microsoft.com/office/drawing/2014/main" id="{120C319F-AFCF-DE43-63D3-90A3197AB474}"/>
              </a:ext>
            </a:extLst>
          </p:cNvPr>
          <p:cNvCxnSpPr/>
          <p:nvPr/>
        </p:nvCxnSpPr>
        <p:spPr>
          <a:xfrm>
            <a:off x="7493000" y="24892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5" name="Access to Lesedi">
            <a:extLst>
              <a:ext uri="{FF2B5EF4-FFF2-40B4-BE49-F238E27FC236}">
                <a16:creationId xmlns:a16="http://schemas.microsoft.com/office/drawing/2014/main" id="{8A2DF789-ED3A-F450-040C-68B2FAEEE611}"/>
              </a:ext>
            </a:extLst>
          </p:cNvPr>
          <p:cNvCxnSpPr/>
          <p:nvPr/>
        </p:nvCxnSpPr>
        <p:spPr>
          <a:xfrm>
            <a:off x="7493000" y="34290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6" name="Share and headroom">
            <a:extLst>
              <a:ext uri="{FF2B5EF4-FFF2-40B4-BE49-F238E27FC236}">
                <a16:creationId xmlns:a16="http://schemas.microsoft.com/office/drawing/2014/main" id="{88A82B83-7E13-CFEF-6BFE-F1867ACAF1A6}"/>
              </a:ext>
            </a:extLst>
          </p:cNvPr>
          <p:cNvSpPr txBox="1"/>
          <p:nvPr/>
        </p:nvSpPr>
        <p:spPr>
          <a:xfrm>
            <a:off x="7899400" y="4165599"/>
            <a:ext cx="3213100" cy="9144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Capture, market share and headroom</a:t>
            </a:r>
          </a:p>
          <a:p>
            <a:pPr>
              <a:spcAft>
                <a:spcPts val="200"/>
              </a:spcAft>
            </a:pPr>
            <a:r>
              <a:rPr lang="en-GB" sz="1100">
                <a:solidFill>
                  <a:schemeClr val="dk1"/>
                </a:solidFill>
                <a:latin typeface="Lato" panose="020F0502020204030203" pitchFamily="34" charset="0"/>
              </a:rPr>
              <a:t>Client throughput / accessible market = share</a:t>
            </a:r>
          </a:p>
          <a:p>
            <a:pPr>
              <a:spcAft>
                <a:spcPts val="200"/>
              </a:spcAft>
            </a:pPr>
            <a:r>
              <a:rPr lang="en-GB" sz="1100">
                <a:solidFill>
                  <a:schemeClr val="dk1"/>
                </a:solidFill>
                <a:latin typeface="Lato" panose="020F0502020204030203" pitchFamily="34" charset="0"/>
              </a:rPr>
              <a:t>Accessible market less current capture = headroom</a:t>
            </a:r>
          </a:p>
          <a:p>
            <a:pPr>
              <a:spcAft>
                <a:spcPts val="200"/>
              </a:spcAft>
            </a:pPr>
            <a:r>
              <a:rPr lang="en-GB" sz="1100">
                <a:solidFill>
                  <a:schemeClr val="dk1"/>
                </a:solidFill>
                <a:latin typeface="Lato" panose="020F0502020204030203" pitchFamily="34" charset="0"/>
              </a:rPr>
              <a:t>Track shared Durban-Lesedi flows once</a:t>
            </a:r>
            <a:endParaRPr lang="en-ZA" sz="1100">
              <a:solidFill>
                <a:schemeClr val="dk1"/>
              </a:solidFill>
              <a:latin typeface="Lato" panose="020F0502020204030203" pitchFamily="34" charset="0"/>
            </a:endParaRPr>
          </a:p>
        </p:txBody>
      </p:sp>
      <p:cxnSp>
        <p:nvCxnSpPr>
          <p:cNvPr id="37" name="Durban into share 1">
            <a:extLst>
              <a:ext uri="{FF2B5EF4-FFF2-40B4-BE49-F238E27FC236}">
                <a16:creationId xmlns:a16="http://schemas.microsoft.com/office/drawing/2014/main" id="{86C5874A-5551-F740-DA43-AF3B6861C356}"/>
              </a:ext>
            </a:extLst>
          </p:cNvPr>
          <p:cNvCxnSpPr/>
          <p:nvPr/>
        </p:nvCxnSpPr>
        <p:spPr>
          <a:xfrm>
            <a:off x="11074400" y="2857500"/>
            <a:ext cx="2032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Durban into share 2">
            <a:extLst>
              <a:ext uri="{FF2B5EF4-FFF2-40B4-BE49-F238E27FC236}">
                <a16:creationId xmlns:a16="http://schemas.microsoft.com/office/drawing/2014/main" id="{AF0D2ADE-1DAC-92E7-E982-CC44EA04CB1C}"/>
              </a:ext>
            </a:extLst>
          </p:cNvPr>
          <p:cNvCxnSpPr/>
          <p:nvPr/>
        </p:nvCxnSpPr>
        <p:spPr>
          <a:xfrm>
            <a:off x="11277600" y="2857500"/>
            <a:ext cx="0" cy="1574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Durban into share 3">
            <a:extLst>
              <a:ext uri="{FF2B5EF4-FFF2-40B4-BE49-F238E27FC236}">
                <a16:creationId xmlns:a16="http://schemas.microsoft.com/office/drawing/2014/main" id="{AF2C923E-AE85-F07E-D2D0-A83BFBC4749B}"/>
              </a:ext>
            </a:extLst>
          </p:cNvPr>
          <p:cNvCxnSpPr/>
          <p:nvPr/>
        </p:nvCxnSpPr>
        <p:spPr>
          <a:xfrm flipH="1">
            <a:off x="11163300" y="4432300"/>
            <a:ext cx="1143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Lesedi into share">
            <a:extLst>
              <a:ext uri="{FF2B5EF4-FFF2-40B4-BE49-F238E27FC236}">
                <a16:creationId xmlns:a16="http://schemas.microsoft.com/office/drawing/2014/main" id="{BAFE241C-37CB-6BA7-DB4B-EB5B93392E9C}"/>
              </a:ext>
            </a:extLst>
          </p:cNvPr>
          <p:cNvCxnSpPr/>
          <p:nvPr/>
        </p:nvCxnSpPr>
        <p:spPr>
          <a:xfrm>
            <a:off x="9486900" y="38608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1" name="Capture into investment 1">
            <a:extLst>
              <a:ext uri="{FF2B5EF4-FFF2-40B4-BE49-F238E27FC236}">
                <a16:creationId xmlns:a16="http://schemas.microsoft.com/office/drawing/2014/main" id="{8521BB5D-360D-0067-8278-8573624627F6}"/>
              </a:ext>
            </a:extLst>
          </p:cNvPr>
          <p:cNvCxnSpPr/>
          <p:nvPr/>
        </p:nvCxnSpPr>
        <p:spPr>
          <a:xfrm>
            <a:off x="9486900" y="5080000"/>
            <a:ext cx="0" cy="1016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Capture into investment 2">
            <a:extLst>
              <a:ext uri="{FF2B5EF4-FFF2-40B4-BE49-F238E27FC236}">
                <a16:creationId xmlns:a16="http://schemas.microsoft.com/office/drawing/2014/main" id="{2EA91DA4-3A0E-173C-16B9-195A83D040D0}"/>
              </a:ext>
            </a:extLst>
          </p:cNvPr>
          <p:cNvCxnSpPr/>
          <p:nvPr/>
        </p:nvCxnSpPr>
        <p:spPr>
          <a:xfrm flipH="1">
            <a:off x="1524000" y="5181600"/>
            <a:ext cx="79629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apture into investment 3">
            <a:extLst>
              <a:ext uri="{FF2B5EF4-FFF2-40B4-BE49-F238E27FC236}">
                <a16:creationId xmlns:a16="http://schemas.microsoft.com/office/drawing/2014/main" id="{E7A0E517-2985-BAB3-C8A8-42A63D5FD141}"/>
              </a:ext>
            </a:extLst>
          </p:cNvPr>
          <p:cNvCxnSpPr/>
          <p:nvPr/>
        </p:nvCxnSpPr>
        <p:spPr>
          <a:xfrm>
            <a:off x="1524000" y="5181600"/>
            <a:ext cx="0" cy="1524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4" name="Additional capture">
            <a:extLst>
              <a:ext uri="{FF2B5EF4-FFF2-40B4-BE49-F238E27FC236}">
                <a16:creationId xmlns:a16="http://schemas.microsoft.com/office/drawing/2014/main" id="{A15CAF3C-DF66-6B66-8815-8387CC0DD230}"/>
              </a:ext>
            </a:extLst>
          </p:cNvPr>
          <p:cNvSpPr txBox="1"/>
          <p:nvPr/>
        </p:nvSpPr>
        <p:spPr>
          <a:xfrm>
            <a:off x="457200" y="5422899"/>
            <a:ext cx="23495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Achievable additional capture</a:t>
            </a:r>
          </a:p>
          <a:p>
            <a:pPr>
              <a:spcAft>
                <a:spcPts val="200"/>
              </a:spcAft>
            </a:pPr>
            <a:r>
              <a:rPr lang="en-GB" sz="1050">
                <a:solidFill>
                  <a:schemeClr val="dk1"/>
                </a:solidFill>
                <a:latin typeface="Lato" panose="020F0502020204030203" pitchFamily="34" charset="0"/>
              </a:rPr>
              <a:t>Customers, contracts, competition</a:t>
            </a:r>
          </a:p>
          <a:p>
            <a:pPr>
              <a:spcAft>
                <a:spcPts val="200"/>
              </a:spcAft>
            </a:pPr>
            <a:r>
              <a:rPr lang="en-GB" sz="1050">
                <a:solidFill>
                  <a:schemeClr val="dk1"/>
                </a:solidFill>
                <a:latin typeface="Lato" panose="020F0502020204030203" pitchFamily="34" charset="0"/>
              </a:rPr>
              <a:t>Test capture within the opportunity</a:t>
            </a:r>
            <a:endParaRPr lang="en-ZA" sz="1050">
              <a:solidFill>
                <a:schemeClr val="dk1"/>
              </a:solidFill>
              <a:latin typeface="Lato" panose="020F0502020204030203" pitchFamily="34" charset="0"/>
            </a:endParaRPr>
          </a:p>
        </p:txBody>
      </p:sp>
      <p:sp>
        <p:nvSpPr>
          <p:cNvPr id="45" name="Existing capacity">
            <a:extLst>
              <a:ext uri="{FF2B5EF4-FFF2-40B4-BE49-F238E27FC236}">
                <a16:creationId xmlns:a16="http://schemas.microsoft.com/office/drawing/2014/main" id="{61632E20-4463-8291-5721-28604CA5CF93}"/>
              </a:ext>
            </a:extLst>
          </p:cNvPr>
          <p:cNvSpPr txBox="1"/>
          <p:nvPr/>
        </p:nvSpPr>
        <p:spPr>
          <a:xfrm>
            <a:off x="3340100" y="5422899"/>
            <a:ext cx="25781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Existing assets and improvements</a:t>
            </a:r>
          </a:p>
          <a:p>
            <a:pPr>
              <a:spcAft>
                <a:spcPts val="200"/>
              </a:spcAft>
            </a:pPr>
            <a:r>
              <a:rPr lang="en-GB" sz="1050">
                <a:solidFill>
                  <a:schemeClr val="dk1"/>
                </a:solidFill>
                <a:latin typeface="Lato" panose="020F0502020204030203" pitchFamily="34" charset="0"/>
              </a:rPr>
              <a:t>Working tanks, turns and constraints</a:t>
            </a:r>
          </a:p>
          <a:p>
            <a:pPr>
              <a:spcAft>
                <a:spcPts val="200"/>
              </a:spcAft>
            </a:pPr>
            <a:r>
              <a:rPr lang="en-GB" sz="1050">
                <a:solidFill>
                  <a:schemeClr val="dk1"/>
                </a:solidFill>
                <a:latin typeface="Lato" panose="020F0502020204030203" pitchFamily="34" charset="0"/>
              </a:rPr>
              <a:t>Test receipt, storage and dispatch</a:t>
            </a:r>
            <a:endParaRPr lang="en-ZA" sz="1050">
              <a:solidFill>
                <a:schemeClr val="dk1"/>
              </a:solidFill>
              <a:latin typeface="Lato" panose="020F0502020204030203" pitchFamily="34" charset="0"/>
            </a:endParaRPr>
          </a:p>
        </p:txBody>
      </p:sp>
      <p:sp>
        <p:nvSpPr>
          <p:cNvPr id="46" name="Investment economics">
            <a:extLst>
              <a:ext uri="{FF2B5EF4-FFF2-40B4-BE49-F238E27FC236}">
                <a16:creationId xmlns:a16="http://schemas.microsoft.com/office/drawing/2014/main" id="{9F9BF5B1-477D-3626-122A-438E112C17D8}"/>
              </a:ext>
            </a:extLst>
          </p:cNvPr>
          <p:cNvSpPr txBox="1"/>
          <p:nvPr/>
        </p:nvSpPr>
        <p:spPr>
          <a:xfrm>
            <a:off x="6451600" y="5422899"/>
            <a:ext cx="25146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New investment and returns</a:t>
            </a:r>
          </a:p>
          <a:p>
            <a:pPr>
              <a:spcAft>
                <a:spcPts val="200"/>
              </a:spcAft>
            </a:pPr>
            <a:r>
              <a:rPr lang="en-GB" sz="1050">
                <a:solidFill>
                  <a:schemeClr val="dk1"/>
                </a:solidFill>
                <a:latin typeface="Lato" panose="020F0502020204030203" pitchFamily="34" charset="0"/>
              </a:rPr>
              <a:t>Incremental volume, cost and capex</a:t>
            </a:r>
          </a:p>
          <a:p>
            <a:pPr>
              <a:spcAft>
                <a:spcPts val="200"/>
              </a:spcAft>
            </a:pPr>
            <a:r>
              <a:rPr lang="en-GB" sz="1050">
                <a:solidFill>
                  <a:schemeClr val="dk1"/>
                </a:solidFill>
                <a:latin typeface="Lato" panose="020F0502020204030203" pitchFamily="34" charset="0"/>
              </a:rPr>
              <a:t>Compare alternatives and downside</a:t>
            </a:r>
            <a:endParaRPr lang="en-ZA" sz="1050">
              <a:solidFill>
                <a:schemeClr val="dk1"/>
              </a:solidFill>
              <a:latin typeface="Lato" panose="020F0502020204030203" pitchFamily="34" charset="0"/>
            </a:endParaRPr>
          </a:p>
        </p:txBody>
      </p:sp>
      <p:sp>
        <p:nvSpPr>
          <p:cNvPr id="49" name="Resolution">
            <a:extLst>
              <a:ext uri="{FF2B5EF4-FFF2-40B4-BE49-F238E27FC236}">
                <a16:creationId xmlns:a16="http://schemas.microsoft.com/office/drawing/2014/main" id="{800C8311-2A9C-81F8-F7B4-3D80ACCEC6CA}"/>
              </a:ext>
            </a:extLst>
          </p:cNvPr>
          <p:cNvSpPr txBox="1"/>
          <p:nvPr/>
        </p:nvSpPr>
        <p:spPr>
          <a:xfrm>
            <a:off x="9512300" y="5422899"/>
            <a:ext cx="16002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at each site</a:t>
            </a:r>
          </a:p>
          <a:p>
            <a:pPr>
              <a:spcAft>
                <a:spcPts val="200"/>
              </a:spcAft>
            </a:pPr>
            <a:r>
              <a:rPr lang="en-GB" sz="1050">
                <a:solidFill>
                  <a:schemeClr val="dk1"/>
                </a:solidFill>
                <a:latin typeface="Lato" panose="020F0502020204030203" pitchFamily="34" charset="0"/>
              </a:rPr>
              <a:t>Scope for new investment</a:t>
            </a:r>
            <a:endParaRPr lang="en-ZA" sz="1050">
              <a:solidFill>
                <a:schemeClr val="dk1"/>
              </a:solidFill>
              <a:latin typeface="Lato" panose="020F0502020204030203" pitchFamily="34" charset="0"/>
            </a:endParaRPr>
          </a:p>
        </p:txBody>
      </p:sp>
      <p:cxnSp>
        <p:nvCxnSpPr>
          <p:cNvPr id="50" name="Capture to capacity">
            <a:extLst>
              <a:ext uri="{FF2B5EF4-FFF2-40B4-BE49-F238E27FC236}">
                <a16:creationId xmlns:a16="http://schemas.microsoft.com/office/drawing/2014/main" id="{74792832-A4DA-80C0-F9D9-3E82054E452D}"/>
              </a:ext>
            </a:extLst>
          </p:cNvPr>
          <p:cNvCxnSpPr/>
          <p:nvPr/>
        </p:nvCxnSpPr>
        <p:spPr>
          <a:xfrm>
            <a:off x="28448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1" name="Capacity to returns">
            <a:extLst>
              <a:ext uri="{FF2B5EF4-FFF2-40B4-BE49-F238E27FC236}">
                <a16:creationId xmlns:a16="http://schemas.microsoft.com/office/drawing/2014/main" id="{3F8B549C-7C8F-2EB8-97DE-EE5F7D919B7C}"/>
              </a:ext>
            </a:extLst>
          </p:cNvPr>
          <p:cNvCxnSpPr/>
          <p:nvPr/>
        </p:nvCxnSpPr>
        <p:spPr>
          <a:xfrm>
            <a:off x="59563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2" name="Returns to resolution">
            <a:extLst>
              <a:ext uri="{FF2B5EF4-FFF2-40B4-BE49-F238E27FC236}">
                <a16:creationId xmlns:a16="http://schemas.microsoft.com/office/drawing/2014/main" id="{35EAE45E-9673-614E-B221-7F2D090FC5AA}"/>
              </a:ext>
            </a:extLst>
          </p:cNvPr>
          <p:cNvCxnSpPr/>
          <p:nvPr/>
        </p:nvCxnSpPr>
        <p:spPr>
          <a:xfrm>
            <a:off x="8991600" y="5664200"/>
            <a:ext cx="4191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970907"/>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706</Words>
  <Application>Microsoft Office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Lato</vt:lpstr>
      <vt:lpstr>Arial</vt:lpstr>
      <vt:lpstr>Vopak Theme</vt:lpstr>
      <vt:lpstr>Durban and Lesedi market sizing and investment issue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30</cp:revision>
  <dcterms:created xsi:type="dcterms:W3CDTF">2017-11-16T09:19:07Z</dcterms:created>
  <dcterms:modified xsi:type="dcterms:W3CDTF">2026-10-08T12:58:24Z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