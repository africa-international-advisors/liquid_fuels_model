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94" r:id="rId4"/>
  </p:sldMasterIdLst>
  <p:notesMasterIdLst>
    <p:notesMasterId r:id="rId48"/>
  </p:notesMasterIdLst>
  <p:sldIdLst>
    <p:sldId id="256" r:id="rId5"/>
    <p:sldId id="277" r:id="rId6"/>
    <p:sldId id="278" r:id="rId7"/>
    <p:sldId id="279" r:id="rId8"/>
    <p:sldId id="280" r:id="rId9"/>
    <p:sldId id="281" r:id="rId10"/>
    <p:sldId id="282" r:id="rId11"/>
    <p:sldId id="316" r:id="rId12"/>
    <p:sldId id="283" r:id="rId13"/>
    <p:sldId id="284" r:id="rId14"/>
    <p:sldId id="315" r:id="rId15"/>
    <p:sldId id="286" r:id="rId16"/>
    <p:sldId id="287" r:id="rId17"/>
    <p:sldId id="288" r:id="rId18"/>
    <p:sldId id="289" r:id="rId19"/>
    <p:sldId id="317" r:id="rId20"/>
    <p:sldId id="290" r:id="rId21"/>
    <p:sldId id="306" r:id="rId22"/>
    <p:sldId id="305" r:id="rId23"/>
    <p:sldId id="291" r:id="rId24"/>
    <p:sldId id="292" r:id="rId25"/>
    <p:sldId id="293" r:id="rId26"/>
    <p:sldId id="294" r:id="rId27"/>
    <p:sldId id="295" r:id="rId28"/>
    <p:sldId id="296" r:id="rId29"/>
    <p:sldId id="318" r:id="rId30"/>
    <p:sldId id="297" r:id="rId31"/>
    <p:sldId id="298" r:id="rId32"/>
    <p:sldId id="299" r:id="rId33"/>
    <p:sldId id="300" r:id="rId34"/>
    <p:sldId id="301" r:id="rId35"/>
    <p:sldId id="302" r:id="rId36"/>
    <p:sldId id="319" r:id="rId37"/>
    <p:sldId id="303" r:id="rId38"/>
    <p:sldId id="304" r:id="rId39"/>
    <p:sldId id="307" r:id="rId40"/>
    <p:sldId id="308" r:id="rId41"/>
    <p:sldId id="309" r:id="rId42"/>
    <p:sldId id="310" r:id="rId43"/>
    <p:sldId id="311" r:id="rId44"/>
    <p:sldId id="312" r:id="rId45"/>
    <p:sldId id="313" r:id="rId46"/>
    <p:sldId id="314" r:id="rId47"/>
  </p:sldIdLst>
  <p:sldSz cx="11588750" cy="6858000"/>
  <p:notesSz cx="6858000" cy="9144000"/>
  <p:embeddedFontLst>
    <p:embeddedFont>
      <p:font typeface="Lato" panose="020F0502020204030203" pitchFamily="34" charset="0"/>
      <p:regular r:id="rId49"/>
      <p:bold r:id="rId50"/>
      <p:italic r:id="rId51"/>
      <p:boldItalic r:id="rId5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9" d="100"/>
          <a:sy n="99" d="100"/>
        </p:scale>
        <p:origin x="110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font" Target="fonts/font2.fntdata"/><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commentAuthors" Target="commentAuthors.xml"/><Relationship Id="rId58" Type="http://schemas.microsoft.com/office/2015/10/relationships/revisionInfo" Target="revisionInfo.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font" Target="fonts/font3.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8/10/relationships/authors" Target="author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1.fntdata"/><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08/10/2026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Department sales 2013-2023; 2023 total 21.94bn L. FIASA 2024 total 20.76bn L is unverified; no 2025 sales. SARS imports 2020-2025. Eskom FY2025 own diesel + kerosene. M/M remains an uncalibrated reference.</a:t>
            </a:r>
          </a:p>
          <a:p>
            <a:endParaRPr lang="en-GB"/>
          </a:p>
          <a:p>
            <a:r>
              <a:rPr lang="en-GB"/>
              <a:t>Workbook source commit: 8a3c884b0d26a3c5819a9a0b702024ab60485d1e
Add latest comparable national scale and sales-source qualification.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Working recommendation supported by an authored Lesedi illustration, not a calibrated forecast. Reported capacity is used; capture, working capacity, tariffs, capex and discount rate are assumptions. No customer volume is represented as secured.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ILLUSTRATIVE ONLY. 100% project basis, constant ZAR; capex at t0; operating ramp 50%/75%/100%; no tax, working capital, construction delay, inflation or residual value. Turnover and occupancy are distinct. Full assumptions, benchmarks, options and downside tests: pp39–42.</a:t>
            </a:r>
          </a:p>
          <a:p>
            <a:endParaRPr lang="en-GB"/>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ILLUSTRATIVE snapshot, not forecast or probabilities. Domestic supply here means assumed deliveries into Gauteng, not national refinery capacity. Shares, rates and costs held fixed across worlds. Rail/EV opportunities remain separate cases, not valued here. Each cell is relative to existing assets; unserved volumes can remain. Inputs: p41; downside: p42.</a:t>
            </a:r>
          </a:p>
          <a:p>
            <a:endParaRPr lang="en-GB"/>
          </a:p>
          <a:p>
            <a:r>
              <a:rPr lang="en-GB"/>
              <a:t>Original import-direction framework: [["LOW demand\nD1–D5", "L / H\nLOWEST IMPORT PRESSURE\nDomestic routing and customer capture still determine terminal turns.", "L / M\nLower imports than baseline.\nTest utilisation and customer capture.", "L / L\nDemand and supply both fall.\nNet import effect depends on their relative change."], ["MEDIUM demand\nD1–D5", "M / H\nLower imports than baseline.\nSupply recovery reduces import needs.", "M / M\nBASELINE\nReference sourcing, captured throughput, required turns and headroom.", "M / L\nHigher imports than baseline.\nSupply losses increase import needs."], ["HIGH demand\nD1–D5", "H / H\nDemand and supply both rise.\nNet import effect depends on their relative change.", "H / M\nHigher imports than baseline.\nDemand growth increases import needs.", "H / L\nHIGHEST IMPORT PRESSURE\nTest the captured flow against working capacity and achievable turns."]]
The nine numerical cells use an authored regional supply-delivery bridge, not calibrated national refinery output. Original qualitative rail/EV investment priorities remain in v23 and p15.</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Department sales 2013-2023: petrol CAGR -2.08%, diesel +0.82%. FIASA 2024 is excluded from the trend. Workbook History Q71/R71. RAF levy evidence uses fiscal years and still needs reconciliation.</a:t>
            </a:r>
          </a:p>
          <a:p>
            <a:endParaRPr lang="en-GB"/>
          </a:p>
          <a:p>
            <a:r>
              <a:rPr lang="en-GB"/>
              <a:t>Workbook source commit: 8a3c884b0d26a3c5819a9a0b702024ab60485d1e
Keep comparable 2013-2023 chart; add latest-year coverage and reconciliation caution.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Eskom Integrated Report 2025 pp100,141: own-fleet diesel + kerosene; *cost includes storage/demurrage. Stats SA P7162 Dec 2025 p7: both years from the revised vintage. Stats SA P0441 Q2 2026 annual real GVA: agriculture includes forestry/fishing. FY and calendar-year periods shown separately. Bars start at zero; scales are common within each panel, not across different units. Light blue = 2024; navy = 2025. Workbook Sector history: post-2021 litres estimated. Freight proxy = survey fuel spending / wholesale price; partial coverage.</a:t>
            </a:r>
          </a:p>
          <a:p>
            <a:endParaRPr lang="en-GB"/>
          </a:p>
          <a:p>
            <a:r>
              <a:rPr lang="en-GB"/>
              <a:t>Workbook source commit: 8a3c884b0d26a3c5819a9a0b702024ab60485d1e
Add sector fuel scale and the freight-operator proxy without changing measured support bars.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Workbook Sector history M6/O6/R9, M16/O16/R19, M22/O22/R25. Department energy balance to 2021; later fuel estimated with activity and average intensity. Sector attribution and road overlap require review.</a:t>
            </a:r>
          </a:p>
          <a:p>
            <a:endParaRPr lang="en-GB"/>
          </a:p>
          <a:p>
            <a:r>
              <a:rPr lang="en-GB"/>
              <a:t>Three sector rows with comparable, zero-based horizontal bars. 2019/2021 observations; 2024 activity-based estimates. Values unchanged from v26.</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SARS litre-reported petrol/diesel codes, complete calendar years. 2020–2025 changes are historical comparisons, not plant-level causal attribution. Export histories retained in the source report; unit/blend exclusions remain.</a:t>
            </a:r>
          </a:p>
          <a:p>
            <a:endParaRPr lang="en-GB"/>
          </a:p>
          <a:p>
            <a:r>
              <a:rPr lang="en-GB"/>
              <a:t>Workbook source commit: 8a3c884b0d26a3c5819a9a0b702024ab60485d1e
Show gross versus net imports and preserve sales/production boundaries.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 OpenStreetMap contributors (ODbL; osm.org/copyright) / Geofabrik; Natural Earth; geoBoundaries. Shared LAEA projection. Paths test road connectivity, not tanker access. Secunda uses a city reference; Natref a mapped site. Terminal access, turn restrictions and operating rail/pipeline services remain unvalidated. Emerging alternatives are in scope; relative competitiveness is not yet quantified.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Sources: Vopak terminal directory; Annual Report 2025 confirms Lesedi expansion commissioned in 2025. Published capacity is not working capacity or throughput. Operating data request: p18. Illustrative turnover sensitivity moved to p43; it is not observed utilisation.</a:t>
            </a:r>
          </a:p>
          <a:p>
            <a:endParaRPr lang="en-GB"/>
          </a:p>
          <a:p>
            <a:r>
              <a:rPr lang="en-GB"/>
              <a:t>Page 10 establishes the situation following corridor geography. Commercial and operational evidence remains open; do not infer spare capacity from gross tankage.
Workbook source commit: 8a3c884b0d26a3c5819a9a0b702024ab60485d1e
Clarify that the commissioned Lesedi expansion is included in the existing footprint.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Stats SA freight; naamsa all-market sales 2019-2025, Workbook Vehicle history S31:S36. BEV/PHEV/HEV sales are distinct from fleet shares. Efficiency paths remain model assumptions, with OEM history and annual calibration open.</a:t>
            </a:r>
          </a:p>
          <a:p>
            <a:endParaRPr lang="en-GB"/>
          </a:p>
          <a:p>
            <a:r>
              <a:rPr lang="en-GB"/>
              <a:t>Workbook source commit: 8a3c884b0d26a3c5819a9a0b702024ab60485d1e
Separate observed drivetrain sales from assumed efficiency and adoption paths.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Eskom FY ending March: reported own diesel + kerosene; Eskom/IPP GWh include kerosene output. Workbook Power fleet separates the four diesel stations. Gas switch, coal-site repowering and L/M/H settings await Nigel/Henry review.</a:t>
            </a:r>
          </a:p>
          <a:p>
            <a:endParaRPr lang="en-GB"/>
          </a:p>
          <a:p>
            <a:r>
              <a:rPr lang="en-GB"/>
              <a:t>Workbook source commit: 8a3c884b0d26a3c5819a9a0b702024ab60485d1e
Distinguish own reported burn from combined generation-derived estimates and proposed cases.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FIASA 2025 p49; registered review_capacity_scenarios.yaml and review_supply_worlds.yaml. Illustrative 2036 sensitivities, not calibrated production forecasts. Other plants held at 2025 reported values; Secunda gas/MRG and PetroSA restart effects remain unquantified. Low is not a Natref closure prediction.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Compare common product, destination, price date and tax basis. Emerging gateways must be considered; no relative cost ranking is asserted without quotes and verified access. Landlocked SADC opportunities require separate market/access evidence.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8 October PS framework; workbook History Q71/R71. 2023 Department sales 21.94bn L; 2024 FIASA 20.76bn L, unverified. Estimate accessible markets, then verify actual capture. Shared flows and client operating/economic inputs remain open.</a:t>
            </a:r>
          </a:p>
          <a:p>
            <a:endParaRPr lang="en-GB"/>
          </a:p>
          <a:p>
            <a:r>
              <a:rPr lang="en-GB"/>
              <a:t>Workbook source commit: 8a3c884b0d26a3c5819a9a0b702024ab60485d1e
Integrate the approved issue tree into Resolution with updated baseline evidence.</a:t>
            </a:r>
            <a:endParaRP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3823234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Investment menu, not approved projects. Network rail recovery is an external fuel-demand driver; Vopak rail loading/access is a distinct investment option. EV uptake reduces some fuel demand; it does not itself prove an EV investment case. Project costs, contracts and returns remain open. Three fuel-logistics packages are priced illustratively on p39; these do not constitute engineered rail or EV project estimates.</a:t>
            </a:r>
          </a:p>
          <a:p>
            <a:endParaRPr lang="en-GB"/>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DR01-DR09 register and 8 October PS handback. Prepared, not sent; receipt not recorded. DR09 EV adjacency remains separate. Public estimates can proceed while client data is pending.</a:t>
            </a:r>
          </a:p>
          <a:p>
            <a:endParaRPr lang="en-GB"/>
          </a:p>
          <a:p>
            <a:r>
              <a:rPr lang="en-GB"/>
              <a:t>Workbook source commit: 8a3c884b0d26a3c5819a9a0b702024ab60485d1e
Replace the request summary with all active baseline, route, demand, supply and client gaps.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The main story runs from the opening thesis to the investment tests. The added lever register and power/supply calibration pages record what remains to be populated.</a:t>
            </a:r>
          </a:p>
          <a:p>
            <a:endParaRPr lang="en-GB"/>
          </a:p>
          <a:p>
            <a:r>
              <a:rPr lang="en-GB"/>
              <a:t>Workbook source commit: 8a3c884b0d26a3c5819a9a0b702024ab60485d1e
Refresh evidence navigation to include the added workbook exhibits.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Staged GDP and department fuel sales, indices 2013=100. Sector attribution remains open; COVID distorts short-period comparisons.</a:t>
            </a:r>
          </a:p>
          <a:p>
            <a:endParaRPr lang="en-GB"/>
          </a:p>
          <a:p>
            <a:r>
              <a:rPr lang="en-GB"/>
              <a:t>Workbook source commit: 8a3c884b0d26a3c5819a9a0b702024ab60485d1e
Link aggregate GDP chart to the sector intensity exhibit rather than assume uniform fuel elasticity.</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World Bank WDI, FDI net inflows and gross fixed capital formation as % of GDP, 2010–2025. Confidence series remains an evidence gap.</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Workbook Sector history R7/R9/R17/R19/S23/S25 and History R117/R124/R125. Sector litres after 2021 are estimates; jet 2024 uses unverified FIASA. Index base 2019=100; GVA in 2015 prices.</a:t>
            </a:r>
          </a:p>
          <a:p>
            <a:endParaRPr lang="en-GB"/>
          </a:p>
          <a:p>
            <a:r>
              <a:rPr lang="en-GB"/>
              <a:t>Workbook source commit: 8a3c884b0d26a3c5819a9a0b702024ab60485d1e
Quantify sector and jet context from the workbook while preserving sector definitions.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Department fuel-price history, nominal R/litre. No quantified geopolitical premium or calibrated EV adoption response is asserted.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Workbook Vehicle history S6:S8/S24/S26. Apparent retirements are not verified scrappage. Stone et al. study uses a 2014 base; no recent OEM efficiency history or fuel-by-class stock is established.</a:t>
            </a:r>
          </a:p>
          <a:p>
            <a:endParaRPr lang="en-GB"/>
          </a:p>
          <a:p>
            <a:r>
              <a:rPr lang="en-GB"/>
              <a:t>Workbook source commit: 8a3c884b0d26a3c5819a9a0b702024ab60485d1e
Add observed apparent replacement and distinguish cohort assumptions from efficiency history.</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Workbook Vehicle history S6:S8/S18:S20/S24/S26/S31:S36/Q52. NaTIS and naamsa classes are not identical. Apparent retirement is not verified scrappage; petrol diagnostic compares different scopes.</a:t>
            </a:r>
          </a:p>
          <a:p>
            <a:endParaRPr lang="en-GB"/>
          </a:p>
          <a:p>
            <a:r>
              <a:rPr lang="en-GB"/>
              <a:t>Workbook source commit: 8a3c884b0d26a3c5819a9a0b702024ab60485d1e
New requested fleet and model-calibration evidence, with scope limits retained.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Eskom Integrated Report 2025, FY March, own diesel + kerosene. Workbook combined generation includes IPPs and kerosene stations; multiplying it by 0.31 L/kWh is an estimate, not reported diesel burn. Private backup remains unmeasured.</a:t>
            </a:r>
          </a:p>
          <a:p>
            <a:endParaRPr lang="en-GB"/>
          </a:p>
          <a:p>
            <a:r>
              <a:rPr lang="en-GB"/>
              <a:t>Workbook source commit: 8a3c884b0d26a3c5819a9a0b702024ab60485d1e
Retain comparable own-fleet reported fuel; qualify scope relative to the new fleet page.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Stats SA payload and transport-industry fuel purchases. Workbook Diesel by use Q28: spending / average diesel price, hire-and-reward firms only; may include petrol/lubricants. Road residual includes unseparated uses; tonne-km and rail traction remain open.</a:t>
            </a:r>
          </a:p>
          <a:p>
            <a:endParaRPr lang="en-GB"/>
          </a:p>
          <a:p>
            <a:r>
              <a:rPr lang="en-GB"/>
              <a:t>Workbook source commit: 8a3c884b0d26a3c5819a9a0b702024ab60485d1e
Add the spending-based operator fuel proxy; preserve the tonne-kilometre evidence gap.</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User-supplied AIA Transnet Funding Brief, Sep 2026, pp1–2; cites FY2026 AFS and Network Statement v4 Annexure 17. Primary figures not independently reconciled.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Department provincial sales through 2022; workbook History Q84/Q104 and R84/R104 estimate later volumes. 2024 also uses unverified FIASA national sales. The chart retains observed 2013-2022 sales history, not current market share.</a:t>
            </a:r>
          </a:p>
          <a:p>
            <a:endParaRPr lang="en-GB"/>
          </a:p>
          <a:p>
            <a:r>
              <a:rPr lang="en-GB"/>
              <a:t>Workbook source commit: 8a3c884b0d26a3c5819a9a0b702024ab60485d1e
Add estimated provincial updates without converting sales or capacity into current share.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Workbook HML response has 29 levers. Examples: BEV adoption, rail diversion, mileage, prices, hybrids, truck/LCV electrification and neighbouring exports. All replacement ranges remain proposals; no forecast inputs are adopted in this pack.</a:t>
            </a:r>
          </a:p>
          <a:p>
            <a:endParaRPr lang="en-GB"/>
          </a:p>
          <a:p>
            <a:r>
              <a:rPr lang="en-GB"/>
              <a:t>Workbook source commit: 8a3c884b0d26a3c5819a9a0b702024ab60485d1e
Expose the expanded lever register without adopting analyst proposals.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Workbook Power fleet F11:S15 and N63:N65; proposed scenarios, not forecasts. Generation includes kerosene. IPP renewal, gas availability and coal-site repowering are not established. Historical burn must match scope and period.</a:t>
            </a:r>
          </a:p>
          <a:p>
            <a:endParaRPr lang="en-GB"/>
          </a:p>
          <a:p>
            <a:r>
              <a:rPr lang="en-GB"/>
              <a:t>Workbook source commit: 8a3c884b0d26a3c5819a9a0b702024ab60485d1e
Replace generic fleet-data gap wording with the assembled fleet and remaining dispatch dependencies.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Workbook Power fleet F11:F15, N63:N65 and S63:S65. Proposed cases, Nigel/Henry review D22. 0.31 L/kWh, backup fraction, load factors, gas supply and coal-site repowering need review. Kerosene stations and private backup are separate.</a:t>
            </a:r>
          </a:p>
          <a:p>
            <a:endParaRPr lang="en-GB"/>
          </a:p>
          <a:p>
            <a:r>
              <a:rPr lang="en-GB"/>
              <a:t>Workbook source commit: 8a3c884b0d26a3c5819a9a0b702024ab60485d1e
New fleet inventory and analyst power scenarios, expressly unapproved.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Existing capacity illustrations retained. Workbook History R53/S53: Sasol all-refined-products output, June FY. Department product production stops at 2021; stocks, plant yields and restart calibration remain open.</a:t>
            </a:r>
          </a:p>
          <a:p>
            <a:endParaRPr lang="en-GB"/>
          </a:p>
          <a:p>
            <a:r>
              <a:rPr lang="en-GB"/>
              <a:t>Workbook source commit: 8a3c884b0d26a3c5819a9a0b702024ab60485d1e
Add operator output context and reinforce product-output versus nameplate distinction.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Existing capacity-scale ratios retained, not throughput shares. Workbook provincial estimates: 2023 estimated shares; 2024 estimated shares plus unverified national sales. Client throughput and commercial access remain open.</a:t>
            </a:r>
          </a:p>
          <a:p>
            <a:endParaRPr lang="en-GB"/>
          </a:p>
          <a:p>
            <a:r>
              <a:rPr lang="en-GB"/>
              <a:t>Workbook source commit: 8a3c884b0d26a3c5819a9a0b702024ab60485d1e
Explain the accessible-market method alongside existing footprint proxies.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Workbook History Q59/Q64/R59/R64/S36:S40/R70. RAF-derived 24.42bn L is combined fuel, fiscal/accrual basis, not an adopted calendar sales total. Product output after 2021 and stocks remain missing; 2025 trade is not 2025 consumption.</a:t>
            </a:r>
          </a:p>
          <a:p>
            <a:endParaRPr lang="en-GB"/>
          </a:p>
          <a:p>
            <a:r>
              <a:rPr lang="en-GB"/>
              <a:t>Workbook source commit: 8a3c884b0d26a3c5819a9a0b702024ab60485d1e
Extend national evidence, add RAF reconciliation flag and retain production/stock gap.</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Screening functions tested with synthetic cases; commercial outputs remain unpopulated. Not integrated into the forecast engine or independently reviewed. Owners, request IDs and expiry triggers: workstreams/WS0_governance/workplan/sa_investment_bridge_2026_10_08.csv.</a:t>
            </a:r>
          </a:p>
          <a:p>
            <a:endParaRPr lang="en-GB"/>
          </a:p>
          <a:p>
            <a:r>
              <a:rPr lang="en-GB"/>
              <a:t>Workbook source commit: 8a3c884b0d26a3c5819a9a0b702024ab60485d1e
Refresh implementation status for the analyst workbook, without asserting forecast integration.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Lever IDs are mapped in the appendix. All nine market worlds use explicit routing, capture and operational assumptions. Tank occupancy, turnover and throughput utilisation are separate measures. Competitiveness varies by destination; neither alternative gateway is yet established as competitive into Gauteng.</a:t>
            </a:r>
          </a:p>
          <a:p>
            <a:endParaRPr lang="en-GB"/>
          </a:p>
          <a:p>
            <a:r>
              <a:rPr lang="en-GB"/>
              <a:t>Workbook source commit: 8a3c884b0d26a3c5819a9a0b702024ab60485d1e
Align original synthesis with the updated consumption scale.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ILLUSTRATIVE ONLY. Combined package = R100m access/dispatch improvement + R500m for a further 40,000 gross m³ beyond the reported 140,000 m³. Alternatives are authored packages, not engineered designs. Full incremental pre-tax cash flows in delivered CSV; 100% site basis. NPV uses 10% and 20 operating years; commercial and delivery risks uncalibrated.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Vopak Annual Report 2025 pp36/39, 63, 213 and 324; FY2025 Analyst Presentation p24; official terminal directory checked 8 Oct 2026. All other business units includes multiple countries; do not allocate its profit to South Africa. URLs, downloaded originals and hashes retained.</a:t>
            </a:r>
          </a:p>
          <a:p>
            <a:endParaRPr lang="en-GB"/>
          </a:p>
          <a:p>
            <a:r>
              <a:rPr lang="en-GB"/>
              <a:t>Workbook source commit: 8a3c884b0d26a3c5819a9a0b702024ab60485d1e
Prevent double-counting the commissioned Lesedi expansion in the asset evidence.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Every illustrative value is registered in assumptions/2026/vopak_investment_illustration.yaml. Not a forecast, commercial offer or approval. Proposed validation: Nigel coordinates Vopak commercial/operations; Manish reconciles; independent review outstanding.</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ILLUSTRATIVE high-demand/low-domestic-delivery case. NPVs are incremental versus existing assets at 10%, pre-tax. Each shock applied separately: capex +25%; no chargeable excess services; Vopak gateway capture 80%→60%; captured Lesedi flow −10%. No probabilities. Full numeric outputs and cash flows retained.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Registered REG-TERMINAL-HANDLING-TURNS: 1/2/3 turns per month, authored operational sensitivity, not the demand–supply worlds or measured limits. Gross Durban mixed-product tankage; no assumed eligible fraction. Do not sum inter-terminal transfers as unique demand. Separate p4/p5 illustration assumes 90% working capacity and 1.25/1.50 turns; neither is inferred from group occupancy.</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a:endParaRPr/>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endParaRPr/>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9906000" y="6515100"/>
            <a:ext cx="952500" cy="212558"/>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tIns="0" bIns="0" anchor="ctr">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endParaR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2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28.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notesSlide" Target="../notesSlides/notesSlide38.xml"/><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3.png"/><Relationship Id="rId4" Type="http://schemas.openxmlformats.org/officeDocument/2006/relationships/image" Target="../media/image16.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58875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p>
        </p:txBody>
      </p:sp>
      <p:pic>
        <p:nvPicPr>
          <p:cNvPr id="3" name="Picture 2" descr="image.jpg"/>
          <p:cNvPicPr>
            <a:picLocks noChangeAspect="1"/>
          </p:cNvPicPr>
          <p:nvPr/>
        </p:nvPicPr>
        <p:blipFill>
          <a:blip r:embed="rId3"/>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4"/>
          <a:srcRect/>
          <a:stretch>
            <a:fillRect/>
          </a:stretch>
        </p:blipFill>
        <p:spPr>
          <a:xfrm>
            <a:off x="502920" y="457200"/>
            <a:ext cx="1965960" cy="438614"/>
          </a:xfrm>
          <a:prstGeom prst="rect">
            <a:avLst/>
          </a:prstGeom>
        </p:spPr>
      </p:pic>
      <p:sp>
        <p:nvSpPr>
          <p:cNvPr id="5" name="TextBox 4"/>
          <p:cNvSpPr txBox="1"/>
          <p:nvPr/>
        </p:nvSpPr>
        <p:spPr>
          <a:xfrm>
            <a:off x="594360" y="2468880"/>
            <a:ext cx="4709160" cy="1636345"/>
          </a:xfrm>
          <a:prstGeom prst="rect">
            <a:avLst/>
          </a:prstGeom>
          <a:noFill/>
        </p:spPr>
        <p:txBody>
          <a:bodyPr wrap="square" lIns="18288" tIns="0" rIns="18288" bIns="0">
            <a:spAutoFit/>
          </a:bodyPr>
          <a:lstStyle/>
          <a:p>
            <a:pPr>
              <a:spcAft>
                <a:spcPts val="800"/>
              </a:spcAft>
              <a:defRPr sz="3100" b="0">
                <a:solidFill>
                  <a:srgbClr val="FFFFFF"/>
                </a:solidFill>
                <a:latin typeface="Lato"/>
              </a:defRPr>
            </a:pPr>
            <a:r>
              <a:rPr lang="en-GB">
                <a:solidFill>
                  <a:srgbClr val="FFFFFF"/>
                </a:solidFill>
              </a:rPr>
              <a:t>South Africa
liquid fuels
market story</a:t>
            </a:r>
            <a:endParaRPr>
              <a:solidFill>
                <a:srgbClr val="FFFFFF"/>
              </a:solidFill>
            </a:endParaRP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523220"/>
          </a:xfrm>
          <a:prstGeom prst="rect">
            <a:avLst/>
          </a:prstGeom>
          <a:noFill/>
        </p:spPr>
        <p:txBody>
          <a:bodyPr wrap="square" lIns="18288" tIns="0" rIns="18288" bIns="0">
            <a:spAutoFit/>
          </a:bodyPr>
          <a:lstStyle/>
          <a:p>
            <a:pPr>
              <a:spcAft>
                <a:spcPts val="800"/>
              </a:spcAft>
              <a:defRPr sz="2100" b="0">
                <a:solidFill>
                  <a:srgbClr val="FFFFFF"/>
                </a:solidFill>
                <a:latin typeface="Lato"/>
              </a:defRPr>
            </a:pPr>
            <a:r>
              <a:rPr lang="en-GB" sz="1700">
                <a:solidFill>
                  <a:srgbClr val="FFFFFF"/>
                </a:solidFill>
              </a:rPr>
              <a:t>Inland supply, corridor capture and tank turnover</a:t>
            </a:r>
            <a:endParaRPr sz="1700">
              <a:solidFill>
                <a:srgbClr val="FFFFFF"/>
              </a:solidFill>
            </a:endParaRPr>
          </a:p>
        </p:txBody>
      </p:sp>
      <p:sp>
        <p:nvSpPr>
          <p:cNvPr id="8" name="TextBox 7"/>
          <p:cNvSpPr txBox="1"/>
          <p:nvPr/>
        </p:nvSpPr>
        <p:spPr>
          <a:xfrm>
            <a:off x="594360" y="52395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it-IT">
                <a:solidFill>
                  <a:srgbClr val="FFFFFF"/>
                </a:solidFill>
              </a:rPr>
              <a:t>Durban–Lesedi corridor into Gauteng</a:t>
            </a:r>
            <a:endParaRPr>
              <a:solidFill>
                <a:srgbClr val="FFFFFF"/>
              </a:solidFill>
            </a:endParaRPr>
          </a:p>
        </p:txBody>
      </p:sp>
      <p:sp>
        <p:nvSpPr>
          <p:cNvPr id="9" name="TextBox 8"/>
          <p:cNvSpPr txBox="1"/>
          <p:nvPr/>
        </p:nvSpPr>
        <p:spPr>
          <a:xfrm>
            <a:off x="594360" y="56967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en-ZW">
                <a:solidFill>
                  <a:srgbClr val="FFFFFF"/>
                </a:solidFill>
              </a:rPr>
              <a:t>8 October 2026</a:t>
            </a:r>
            <a:endParaRPr>
              <a:solidFill>
                <a:srgbClr val="FFFFFF"/>
              </a:solidFill>
            </a:endParaRPr>
          </a:p>
        </p:txBody>
      </p:sp>
      <p:sp>
        <p:nvSpPr>
          <p:cNvPr id="10" name="TextBox 9"/>
          <p:cNvSpPr txBox="1"/>
          <p:nvPr/>
        </p:nvSpPr>
        <p:spPr>
          <a:xfrm>
            <a:off x="594360" y="6053328"/>
            <a:ext cx="4572000" cy="369332"/>
          </a:xfrm>
          <a:prstGeom prst="rect">
            <a:avLst/>
          </a:prstGeom>
          <a:noFill/>
        </p:spPr>
        <p:txBody>
          <a:bodyPr wrap="square" lIns="18288" tIns="0" rIns="18288" bIns="0">
            <a:spAutoFit/>
          </a:bodyPr>
          <a:lstStyle/>
          <a:p>
            <a:pPr>
              <a:spcAft>
                <a:spcPts val="800"/>
              </a:spcAft>
              <a:defRPr sz="1200" b="0">
                <a:solidFill>
                  <a:srgbClr val="FFFFFF"/>
                </a:solidFill>
                <a:latin typeface="Lato"/>
              </a:defRPr>
            </a:pPr>
            <a:r>
              <a:rPr lang="en-GB" sz="1200">
                <a:solidFill>
                  <a:srgbClr val="FFFFFF"/>
                </a:solidFill>
              </a:rPr>
              <a:t>Reported Vopak context and illustrative investment economics; all commercial assumptions require validation</a:t>
            </a:r>
            <a:endParaRPr sz="1200">
              <a:solidFill>
                <a:srgbClr val="FFFFFF"/>
              </a:solidFill>
            </a:endParaRPr>
          </a:p>
        </p:txBody>
      </p:sp>
      <p:sp>
        <p:nvSpPr>
          <p:cNvPr id="11" name="Photo source credit"/>
          <p:cNvSpPr txBox="1"/>
          <p:nvPr/>
        </p:nvSpPr>
        <p:spPr>
          <a:xfrm>
            <a:off x="594360" y="6400800"/>
            <a:ext cx="4754880" cy="164592"/>
          </a:xfrm>
          <a:prstGeom prst="rect">
            <a:avLst/>
          </a:prstGeom>
          <a:noFill/>
        </p:spPr>
        <p:txBody>
          <a:bodyPr wrap="square" lIns="18288" tIns="0" rIns="18288"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594360" y="6729984"/>
            <a:ext cx="2011680" cy="118872"/>
          </a:xfrm>
          <a:prstGeom prst="rect">
            <a:avLst/>
          </a:prstGeom>
          <a:noFill/>
        </p:spPr>
        <p:txBody>
          <a:bodyPr wrap="none" lIns="0" tIns="0" r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a:solidFill>
                  <a:schemeClr val="dk1"/>
                </a:solidFill>
                <a:latin typeface="Lato"/>
              </a:rPr>
              <a:t>Slow demand growth and greater import reliance set the baseline; road-to-rail shifts, EV adoption, power recovery and refinery changes could reshape the outlook</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Department sales 2013-2023; 2023 total 21.94bn L. FIASA 2024 total 20.76bn L is unverified; no 2025 sales. SARS imports 2020-2025. Eskom FY2025 own diesel + kerosene. M/M remains an uncalibrated reference.</a:t>
            </a:r>
            <a:endParaRPr sz="650"/>
          </a:p>
        </p:txBody>
      </p:sp>
      <p:graphicFrame>
        <p:nvGraphicFramePr>
          <p:cNvPr id="47" name="Table 46"/>
          <p:cNvGraphicFramePr>
            <a:graphicFrameLocks noGrp="1"/>
          </p:cNvGraphicFramePr>
          <p:nvPr>
            <p:extLst>
              <p:ext uri="{D42A27DB-BD31-4B8C-83A1-F6EECF244321}">
                <p14:modId xmlns:p14="http://schemas.microsoft.com/office/powerpoint/2010/main" val="3610487507"/>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Baseline / reference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the evidence establishes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changes the outlook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Fuel demand
and power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a:solidFill>
                            <a:srgbClr val="000000"/>
                          </a:solidFill>
                          <a:latin typeface="Lato"/>
                        </a:defRPr>
                      </a:pPr>
                      <a:r>
                        <a:rPr lang="en-GB" sz="1300" b="0" u="none">
                          <a:solidFill>
                            <a:schemeClr val="dk1"/>
                          </a:solidFill>
                          <a:latin typeface="Lato" panose="020F0502020204030203" pitchFamily="34" charset="0"/>
                        </a:rPr>
                        <a:t>2023 Department sales: 21.94bn L.
Petrol CAGR -2.08%; diesel +0.82%.
Own Eskom fuel fell 40% in FY2025.</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Sector activity, fleet replacement and
power dispatch change fuel use.
2024 sales remain unverified.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Domestic supply
and imports</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2020–2025 imports rose by 5.43bn
litres of diesel and 2.73bn of petrol.
The sourcing mix has shifted.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SAPREF and PetroSA restart paths,
Secunda gas/MRG and Natref output
can change domestic supply.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GB" sz="1300" b="1" u="none">
                          <a:solidFill>
                            <a:schemeClr val="dk1"/>
                          </a:solidFill>
                          <a:latin typeface="Lato" panose="020F0502020204030203" pitchFamily="34" charset="0"/>
                        </a:rPr>
                        <a:t>Corridor position
and tank turnover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Durban and Lesedi provide coastal
and inland assets serving Gauteng.
Working capacity and turns are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Route costs, access and customer
capture determine flow; achievable
turnover determines handling headroom.</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Medium / Medium
reference world</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M/M anchors the nine-world matrix.
Historical evidence is assembled;
numerical calibration remains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Vary demand and supply around M/M,
then test capture, turnover and returns
to identify investment triggers.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2CF3951A-A899-DC35-9D57-2959614A3D2D}"/>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2D93A382-E852-639E-5959-D2DC1811AD93}"/>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F003A279-89E8-A115-95AC-AF99BD7AD9FA}"/>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29A5ABB3-597B-135A-9D2F-C83453C0BD9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Picture 13">
            <a:extLst>
              <a:ext uri="{FF2B5EF4-FFF2-40B4-BE49-F238E27FC236}">
                <a16:creationId xmlns:a16="http://schemas.microsoft.com/office/drawing/2014/main" id="{5FFB5050-04D7-BD8E-C2D8-A90ADECEBA2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6" name="Picture 15">
            <a:extLst>
              <a:ext uri="{FF2B5EF4-FFF2-40B4-BE49-F238E27FC236}">
                <a16:creationId xmlns:a16="http://schemas.microsoft.com/office/drawing/2014/main" id="{9D41E588-78D3-6A70-C1DF-050D4913622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8" name="Picture 17">
            <a:extLst>
              <a:ext uri="{FF2B5EF4-FFF2-40B4-BE49-F238E27FC236}">
                <a16:creationId xmlns:a16="http://schemas.microsoft.com/office/drawing/2014/main" id="{87A494AB-264B-D351-11CB-EEDB0FF06A5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0" name="Picture 19">
            <a:extLst>
              <a:ext uri="{FF2B5EF4-FFF2-40B4-BE49-F238E27FC236}">
                <a16:creationId xmlns:a16="http://schemas.microsoft.com/office/drawing/2014/main" id="{8D76DDB2-A3B1-4F8A-F740-7E189C3A9764}"/>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Prioritise capture and turnover through existing assets; expand where profitable demand exceeds achievable capacity</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Working recommendation supported by an authored Lesedi illustration, not a calibrated forecast. Reported capacity is used; capture, working capacity, tariffs, capex and discount rate are assumptions. No customer volume is represented as secured.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421956224"/>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Working recommendation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logic</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Condition for commitment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 inland
supply</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Win accessible customer flows from imported and domestic sources.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Prove delivered competitiveness and sufficient customer volume.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Use existing
assets first</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The worked illustration favours existing assets in six worlds; access/dispatch improvement in two.</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Confirm working capacity and the actual operating constraint.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GB" sz="1300" b="1" u="none">
                          <a:solidFill>
                            <a:schemeClr val="dk1"/>
                          </a:solidFill>
                          <a:latin typeface="Lato" panose="020F0502020204030203" pitchFamily="34" charset="0"/>
                        </a:rPr>
                        <a:t>Stage corridor
and capacity spend</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Only high demand / low domestic supply favours extra tanks, with a narrow advantage over improvement alone.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Fund the least-cost viable option that removes the proven constraint.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Keep strategic
options open</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all nine worlds and emerging gateways; screen EV adjacencies separately.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Validate capture, chargeable revenues and capex first; the illustrated choice reverses under downside tests.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967BCA86-4787-793C-9BAF-B52395C15ED1}"/>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820E6367-02AA-EFC7-E696-5F9FB9FC8B50}"/>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69AF3DC7-6FA2-8B1B-84EA-43740FECF2F0}"/>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E00D3C3D-620E-1E52-A22A-1A32C71711EB}"/>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Picture 13">
            <a:extLst>
              <a:ext uri="{FF2B5EF4-FFF2-40B4-BE49-F238E27FC236}">
                <a16:creationId xmlns:a16="http://schemas.microsoft.com/office/drawing/2014/main" id="{1C172743-177D-8767-A8C1-E4BB3F204A0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6" name="Picture 15">
            <a:extLst>
              <a:ext uri="{FF2B5EF4-FFF2-40B4-BE49-F238E27FC236}">
                <a16:creationId xmlns:a16="http://schemas.microsoft.com/office/drawing/2014/main" id="{FC9B0254-39CF-D311-B0E6-038C27C8F11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8" name="Picture 17">
            <a:extLst>
              <a:ext uri="{FF2B5EF4-FFF2-40B4-BE49-F238E27FC236}">
                <a16:creationId xmlns:a16="http://schemas.microsoft.com/office/drawing/2014/main" id="{FDF7C176-58AE-4B5C-3E0C-185309C9BF55}"/>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0" name="Picture 19">
            <a:extLst>
              <a:ext uri="{FF2B5EF4-FFF2-40B4-BE49-F238E27FC236}">
                <a16:creationId xmlns:a16="http://schemas.microsoft.com/office/drawing/2014/main" id="{E1ED0EF3-5B29-0FD7-897C-B8F24DE8DF74}"/>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pic>
        <p:nvPicPr>
          <p:cNvPr id="6" name="Argument icon ship">
            <a:extLst>
              <a:ext uri="{FF2B5EF4-FFF2-40B4-BE49-F238E27FC236}">
                <a16:creationId xmlns:a16="http://schemas.microsoft.com/office/drawing/2014/main" id="{87CF06A2-2E84-63BB-D567-6F100D78AFA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7" name="Argument icon route">
            <a:extLst>
              <a:ext uri="{FF2B5EF4-FFF2-40B4-BE49-F238E27FC236}">
                <a16:creationId xmlns:a16="http://schemas.microsoft.com/office/drawing/2014/main" id="{31C14134-62AB-3256-04ED-33DD86B76AA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22" name="Argument icon turns">
            <a:extLst>
              <a:ext uri="{FF2B5EF4-FFF2-40B4-BE49-F238E27FC236}">
                <a16:creationId xmlns:a16="http://schemas.microsoft.com/office/drawing/2014/main" id="{0B4613C7-3859-DFE1-7E02-3CD3F6931F5F}"/>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4" name="Argument icon matrix">
            <a:extLst>
              <a:ext uri="{FF2B5EF4-FFF2-40B4-BE49-F238E27FC236}">
                <a16:creationId xmlns:a16="http://schemas.microsoft.com/office/drawing/2014/main" id="{BEC0AFB8-04AE-6680-611F-6A42BC571C4D}"/>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extLst>
      <p:ext uri="{BB962C8B-B14F-4D97-AF65-F5344CB8AC3E}">
        <p14:creationId xmlns:p14="http://schemas.microsoft.com/office/powerpoint/2010/main" val="1030359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The illustrated expansion case passes narrowly—and depends on capture, revenue and capex</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4</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ILLUSTRATIVE ONLY. 100% project basis, constant ZAR; capex at t0; operating ramp 50%/75%/100%; no tax, working capital, construction delay, inflation or residual value. Turnover and occupancy are distinct. Full assumptions, benchmarks, options and downside tests: pp39–42.</a:t>
            </a:r>
            <a:endParaRPr sz="650"/>
          </a:p>
        </p:txBody>
      </p:sp>
      <p:graphicFrame>
        <p:nvGraphicFramePr>
          <p:cNvPr id="47" name="Table 46"/>
          <p:cNvGraphicFramePr>
            <a:graphicFrameLocks noGrp="1"/>
          </p:cNvGraphicFramePr>
          <p:nvPr>
            <p:extLst>
              <p:ext uri="{D42A27DB-BD31-4B8C-83A1-F6EECF244321}">
                <p14:modId xmlns:p14="http://schemas.microsoft.com/office/powerpoint/2010/main" val="3819692809"/>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1778000">
                  <a:extLst>
                    <a:ext uri="{9D8B030D-6E8A-4147-A177-3AD203B41FA5}">
                      <a16:colId xmlns:a16="http://schemas.microsoft.com/office/drawing/2014/main" val="20000"/>
                    </a:ext>
                  </a:extLst>
                </a:gridCol>
                <a:gridCol w="2730500">
                  <a:extLst>
                    <a:ext uri="{9D8B030D-6E8A-4147-A177-3AD203B41FA5}">
                      <a16:colId xmlns:a16="http://schemas.microsoft.com/office/drawing/2014/main" val="20001"/>
                    </a:ext>
                  </a:extLst>
                </a:gridCol>
                <a:gridCol w="3175000">
                  <a:extLst>
                    <a:ext uri="{9D8B030D-6E8A-4147-A177-3AD203B41FA5}">
                      <a16:colId xmlns:a16="http://schemas.microsoft.com/office/drawing/2014/main" val="20002"/>
                    </a:ext>
                  </a:extLst>
                </a:gridCol>
                <a:gridCol w="2969260">
                  <a:extLst>
                    <a:ext uri="{9D8B030D-6E8A-4147-A177-3AD203B41FA5}">
                      <a16:colId xmlns:a16="http://schemas.microsoft.com/office/drawing/2014/main" val="2758844180"/>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Decision test</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Numeric condition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ILLUSTRATIVE high / low case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Still needs verification</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Customer
volume</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Tanks must outperform improving existing capacity.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Assumed capture 2.813bn L/year; tanks win above 2.806bn L/year.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No secured volumes inferred. Validate customer capture and contract duration.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Route
economics</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Delivered-cost headroom ≥ R0/m³.</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R750 allowable less R650 assumed logistics = R100/m³ headroom.</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Both prices are authored. Compare actual Durban, Maputo, Walvis Bay and domestic quotes.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Capacity
constraint</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Captured flow exceeds achievable handling.</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Existing 1.890bn L/year; improvement 2.268bn; tanks 2.916bn.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90% working capacity and 1.25 / 1.50 monthly turns are assumptions, not reported operations.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Incremental
return</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Positive NPV and better value than the alternative.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Improvement NPV R+27m; combined R+35m. Extra advantage only R8m.</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10% discount rate, 20 years, pre-tax. Actual tariffs, cost, tax and project schedule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4" name="SCR 1">
            <a:extLst>
              <a:ext uri="{FF2B5EF4-FFF2-40B4-BE49-F238E27FC236}">
                <a16:creationId xmlns:a16="http://schemas.microsoft.com/office/drawing/2014/main" id="{60C484AC-0D2C-DDE7-9E69-054236FBB383}"/>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6" name="SCR 2">
            <a:extLst>
              <a:ext uri="{FF2B5EF4-FFF2-40B4-BE49-F238E27FC236}">
                <a16:creationId xmlns:a16="http://schemas.microsoft.com/office/drawing/2014/main" id="{AF19F4CF-14AC-E8DE-AB63-98A0906FCBB4}"/>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3" name="SCR 3">
            <a:extLst>
              <a:ext uri="{FF2B5EF4-FFF2-40B4-BE49-F238E27FC236}">
                <a16:creationId xmlns:a16="http://schemas.microsoft.com/office/drawing/2014/main" id="{0AA5688E-E74B-FF16-A43B-BC23F0AD33A8}"/>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5" name="SCR 4">
            <a:extLst>
              <a:ext uri="{FF2B5EF4-FFF2-40B4-BE49-F238E27FC236}">
                <a16:creationId xmlns:a16="http://schemas.microsoft.com/office/drawing/2014/main" id="{5423936A-FE34-4C3C-8775-921DAFFD540E}"/>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7" name="Argument icon transport">
            <a:extLst>
              <a:ext uri="{FF2B5EF4-FFF2-40B4-BE49-F238E27FC236}">
                <a16:creationId xmlns:a16="http://schemas.microsoft.com/office/drawing/2014/main" id="{CDF4F119-FDEF-22AD-8F9E-D71A3A35321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1" name="Argument icon corridor">
            <a:extLst>
              <a:ext uri="{FF2B5EF4-FFF2-40B4-BE49-F238E27FC236}">
                <a16:creationId xmlns:a16="http://schemas.microsoft.com/office/drawing/2014/main" id="{9526BB2F-3AE4-807C-64BA-51DF63105B76}"/>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6" name="Argument icon supply">
            <a:extLst>
              <a:ext uri="{FF2B5EF4-FFF2-40B4-BE49-F238E27FC236}">
                <a16:creationId xmlns:a16="http://schemas.microsoft.com/office/drawing/2014/main" id="{9AC7A88F-EE1F-650F-0D5E-A43283F04865}"/>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18" name="Argument icon investment">
            <a:extLst>
              <a:ext uri="{FF2B5EF4-FFF2-40B4-BE49-F238E27FC236}">
                <a16:creationId xmlns:a16="http://schemas.microsoft.com/office/drawing/2014/main" id="{3B44A565-A667-39BE-D367-DFE7B8DC4B8D}"/>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extLst>
      <p:ext uri="{BB962C8B-B14F-4D97-AF65-F5344CB8AC3E}">
        <p14:creationId xmlns:p14="http://schemas.microsoft.com/office/powerpoint/2010/main" val="24550409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Only one illustrative world favours tanks; six favour existing assets and two favour improvement</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5</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ILLUSTRATIVE snapshot, not forecast or probabilities. Domestic supply here means assumed deliveries into Gauteng, not national refinery capacity. Shares, rates and costs held fixed across worlds. Rail/EV opportunities remain separate cases, not valued here. Each cell is relative to existing assets; unserved volumes can remain. Inputs: p41; downside: p42.</a:t>
            </a:r>
            <a:endParaRPr sz="650"/>
          </a:p>
        </p:txBody>
      </p:sp>
      <p:graphicFrame>
        <p:nvGraphicFramePr>
          <p:cNvPr id="47" name="Table 46"/>
          <p:cNvGraphicFramePr>
            <a:graphicFrameLocks noGrp="1"/>
          </p:cNvGraphicFramePr>
          <p:nvPr>
            <p:extLst>
              <p:ext uri="{D42A27DB-BD31-4B8C-83A1-F6EECF244321}">
                <p14:modId xmlns:p14="http://schemas.microsoft.com/office/powerpoint/2010/main" val="3542659755"/>
              </p:ext>
            </p:extLst>
          </p:nvPr>
        </p:nvGraphicFramePr>
        <p:xfrm>
          <a:off x="457200" y="1651000"/>
          <a:ext cx="10652760" cy="4089400"/>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3035300">
                  <a:extLst>
                    <a:ext uri="{9D8B030D-6E8A-4147-A177-3AD203B41FA5}">
                      <a16:colId xmlns:a16="http://schemas.microsoft.com/office/drawing/2014/main" val="20001"/>
                    </a:ext>
                  </a:extLst>
                </a:gridCol>
                <a:gridCol w="3035300">
                  <a:extLst>
                    <a:ext uri="{9D8B030D-6E8A-4147-A177-3AD203B41FA5}">
                      <a16:colId xmlns:a16="http://schemas.microsoft.com/office/drawing/2014/main" val="20002"/>
                    </a:ext>
                  </a:extLst>
                </a:gridCol>
                <a:gridCol w="3058160">
                  <a:extLst>
                    <a:ext uri="{9D8B030D-6E8A-4147-A177-3AD203B41FA5}">
                      <a16:colId xmlns:a16="http://schemas.microsoft.com/office/drawing/2014/main" val="2177725183"/>
                    </a:ext>
                  </a:extLst>
                </a:gridCol>
              </a:tblGrid>
              <a:tr h="5080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Gauteng demand /
domestic supply</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200" b="1" u="none">
                          <a:solidFill>
                            <a:schemeClr val="dk1"/>
                          </a:solidFill>
                          <a:latin typeface="Lato" panose="020F0502020204030203" pitchFamily="34" charset="0"/>
                        </a:rPr>
                        <a:t>HIGH deliveries
4.8bn L/year</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MEDIUM deliveries
3.6bn L/year</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200" b="1" u="none">
                          <a:solidFill>
                            <a:schemeClr val="dk1"/>
                          </a:solidFill>
                          <a:latin typeface="Lato" panose="020F0502020204030203" pitchFamily="34" charset="0"/>
                        </a:rPr>
                        <a:t>LOW deliveries
2.4bn L/year</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193800">
                <a:tc>
                  <a:txBody>
                    <a:bodyPr/>
                    <a:lstStyle/>
                    <a:p>
                      <a:pPr>
                        <a:spcAft>
                          <a:spcPts val="0"/>
                        </a:spcAft>
                        <a:defRPr sz="1000" b="0">
                          <a:solidFill>
                            <a:srgbClr val="000000"/>
                          </a:solidFill>
                          <a:latin typeface="Lato"/>
                        </a:defRPr>
                      </a:pPr>
                      <a:r>
                        <a:rPr lang="en-GB" sz="1200" b="1" u="none">
                          <a:solidFill>
                            <a:schemeClr val="dk1"/>
                          </a:solidFill>
                          <a:latin typeface="Lato" panose="020F0502020204030203" pitchFamily="34" charset="0"/>
                        </a:rPr>
                        <a:t>LOW demand
6.0bn L/year</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1" u="none">
                          <a:solidFill>
                            <a:schemeClr val="accent1"/>
                          </a:solidFill>
                          <a:latin typeface="Lato" panose="020F0502020204030203" pitchFamily="34" charset="0"/>
                        </a:rPr>
                        <a:t>L / H
USE EXISTING ASSETS
Capture 0.99bn L/year
Incremental NPV R+0m</a:t>
                      </a:r>
                      <a:endParaRPr sz="1200" b="1" u="none">
                        <a:solidFill>
                          <a:schemeClr val="accen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chemeClr val="accent1">
                        <a:tint val="15000"/>
                      </a:schemeClr>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L / M
USE EXISTING ASSETS
Capture 1.50bn L/year
Incremental NPV R+0m</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L / L
USE EXISTING ASSETS
Capture 2.01bn L/year
Incremental NPV R+0m</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93800">
                <a:tc>
                  <a:txBody>
                    <a:bodyPr/>
                    <a:lstStyle/>
                    <a:p>
                      <a:pPr>
                        <a:spcAft>
                          <a:spcPts val="0"/>
                        </a:spcAft>
                        <a:defRPr sz="1000" b="0">
                          <a:solidFill>
                            <a:srgbClr val="000000"/>
                          </a:solidFill>
                          <a:latin typeface="Lato"/>
                        </a:defRPr>
                      </a:pPr>
                      <a:r>
                        <a:rPr lang="en-GB" sz="1200" b="1" u="none">
                          <a:solidFill>
                            <a:schemeClr val="dk1"/>
                          </a:solidFill>
                          <a:latin typeface="Lato" panose="020F0502020204030203" pitchFamily="34" charset="0"/>
                        </a:rPr>
                        <a:t>MEDIUM demand
6.8bn L/year</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M / H
USE EXISTING ASSETS
Capture 1.39bn L/year
Incremental NPV R+0m</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1" u="none">
                          <a:solidFill>
                            <a:schemeClr val="lt1"/>
                          </a:solidFill>
                          <a:latin typeface="Lato" panose="020F0502020204030203" pitchFamily="34" charset="0"/>
                        </a:rPr>
                        <a:t>M / M | BASELINE
USE EXISTING ASSETS
Capture 1.90bn L/year
Incremental NPV R+0m</a:t>
                      </a:r>
                      <a:endParaRPr sz="1200" b="1" u="none">
                        <a:solidFill>
                          <a:schemeClr val="l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chemeClr val="accent1"/>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M / L
IMPROVE ACCESS / DISPATCH
Capture 2.41bn L/year
Incremental NPV R+27m</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193800">
                <a:tc>
                  <a:txBody>
                    <a:bodyPr/>
                    <a:lstStyle/>
                    <a:p>
                      <a:pPr>
                        <a:spcAft>
                          <a:spcPts val="0"/>
                        </a:spcAft>
                        <a:defRPr sz="1000" b="0">
                          <a:solidFill>
                            <a:srgbClr val="000000"/>
                          </a:solidFill>
                          <a:latin typeface="Lato"/>
                        </a:defRPr>
                      </a:pPr>
                      <a:r>
                        <a:rPr lang="en-GB" sz="1200" b="1" u="none">
                          <a:solidFill>
                            <a:schemeClr val="dk1"/>
                          </a:solidFill>
                          <a:latin typeface="Lato" panose="020F0502020204030203" pitchFamily="34" charset="0"/>
                        </a:rPr>
                        <a:t>HIGH demand
7.6bn L/year</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 / H
USE EXISTING ASSETS
Capture 1.80bn L/year
Incremental NPV R+0m</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 / M
IMPROVE ACCESS / DISPATCH
Capture 2.30bn L/year
Incremental NPV R+27m</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1" u="none">
                          <a:solidFill>
                            <a:schemeClr val="accent1"/>
                          </a:solidFill>
                          <a:latin typeface="Lato" panose="020F0502020204030203" pitchFamily="34" charset="0"/>
                        </a:rPr>
                        <a:t>H / L
TEST IMPROVEMENT + TANKS
Capture 2.81bn L/year
Incremental NPV R+35m</a:t>
                      </a:r>
                      <a:endParaRPr sz="1200" b="1" u="none">
                        <a:solidFill>
                          <a:schemeClr val="accen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chemeClr val="accent1">
                        <a:tint val="15000"/>
                      </a:schemeClr>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13" name="Cell outputs">
            <a:extLst>
              <a:ext uri="{FF2B5EF4-FFF2-40B4-BE49-F238E27FC236}">
                <a16:creationId xmlns:a16="http://schemas.microsoft.com/office/drawing/2014/main" id="{80C551B0-D528-A7CB-091A-0E0CED318C82}"/>
              </a:ext>
            </a:extLst>
          </p:cNvPr>
          <p:cNvSpPr txBox="1"/>
          <p:nvPr/>
        </p:nvSpPr>
        <p:spPr>
          <a:xfrm>
            <a:off x="533400" y="5816600"/>
            <a:ext cx="10477500" cy="169277"/>
          </a:xfrm>
          <a:prstGeom prst="rect">
            <a:avLst/>
          </a:prstGeom>
          <a:noFill/>
        </p:spPr>
        <p:txBody>
          <a:bodyPr vert="horz" lIns="0" tIns="0" rIns="0" bIns="0" rtlCol="0">
            <a:spAutoFit/>
          </a:bodyPr>
          <a:lstStyle/>
          <a:p>
            <a:r>
              <a:rPr lang="en-GB" sz="1100">
                <a:solidFill>
                  <a:schemeClr val="dk1"/>
                </a:solidFill>
                <a:latin typeface="Lato" panose="020F0502020204030203" pitchFamily="34" charset="0"/>
              </a:rPr>
              <a:t>Highest incremental NPV among three illustrative packages; R0 means retain existing assets, not zero terminal value.</a:t>
            </a:r>
            <a:endParaRPr lang="en-ZA" sz="1100">
              <a:solidFill>
                <a:schemeClr val="dk1"/>
              </a:solidFill>
              <a:latin typeface="Lato" panose="020F0502020204030203" pitchFamily="34" charset="0"/>
            </a:endParaRPr>
          </a:p>
        </p:txBody>
      </p:sp>
      <p:sp>
        <p:nvSpPr>
          <p:cNvPr id="4" name="SCR 1">
            <a:extLst>
              <a:ext uri="{FF2B5EF4-FFF2-40B4-BE49-F238E27FC236}">
                <a16:creationId xmlns:a16="http://schemas.microsoft.com/office/drawing/2014/main" id="{0C68F690-E368-ECBA-10F3-479C773D0792}"/>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5" name="SCR 2">
            <a:extLst>
              <a:ext uri="{FF2B5EF4-FFF2-40B4-BE49-F238E27FC236}">
                <a16:creationId xmlns:a16="http://schemas.microsoft.com/office/drawing/2014/main" id="{EC07A52D-4501-3CA9-C10F-94FA47840AE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6" name="SCR 3">
            <a:extLst>
              <a:ext uri="{FF2B5EF4-FFF2-40B4-BE49-F238E27FC236}">
                <a16:creationId xmlns:a16="http://schemas.microsoft.com/office/drawing/2014/main" id="{82B0CF40-803C-79C5-086A-07D11B28AC5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7" name="SCR 4">
            <a:extLst>
              <a:ext uri="{FF2B5EF4-FFF2-40B4-BE49-F238E27FC236}">
                <a16:creationId xmlns:a16="http://schemas.microsoft.com/office/drawing/2014/main" id="{2929D8D1-57E6-AAE1-EE03-E5C7B7E0CA4A}"/>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1610620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Petrol demand has declined while diesel has grown slowly, limiting the case for demand-led expansion outlook</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6</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Department sales 2013-2023: petrol CAGR -2.08%, diesel +0.82%. FIASA 2024 is excluded from the trend. Workbook History Q71/R71. RAF levy evidence uses fiscal years and still needs reconciliation.</a:t>
            </a:r>
            <a:endParaRPr sz="6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AC5F3F9-4F59-13ED-19D4-0013D4873153}"/>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16F29AD-D7FE-6F92-5257-CF455AA08A0F}"/>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408A53D6-704E-7FB6-6013-379E29EB6DAF}"/>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193202C4-E619-6D6C-D555-717EA9A26526}"/>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82C4BDB8-6541-63B8-D72B-1E0C6E25D71E}"/>
              </a:ext>
            </a:extLst>
          </p:cNvPr>
          <p:cNvSpPr txBox="1"/>
          <p:nvPr/>
        </p:nvSpPr>
        <p:spPr>
          <a:xfrm>
            <a:off x="533400" y="5600699"/>
            <a:ext cx="10477500" cy="482600"/>
          </a:xfrm>
          <a:prstGeom prst="rect">
            <a:avLst/>
          </a:prstGeom>
          <a:noFill/>
        </p:spPr>
        <p:txBody>
          <a:bodyPr vert="horz" lIns="0" tIns="0" rIns="0" bIns="0" rtlCol="0">
            <a:noAutofit/>
          </a:bodyPr>
          <a:lstStyle/>
          <a:p>
            <a:r>
              <a:rPr lang="en-GB" sz="1050">
                <a:solidFill>
                  <a:schemeClr val="dk1"/>
                </a:solidFill>
                <a:latin typeface="Lato" panose="020F0502020204030203" pitchFamily="34" charset="0"/>
              </a:rPr>
              <a:t>2023 Department sales total 21.94bn L. The 2024 FIASA comparison is 20.76bn L, unverified; no 2025 sales figure is available.</a:t>
            </a:r>
            <a:endParaRPr lang="en-ZA" sz="105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4601A9B8-4DBF-6D30-35BF-BC15F541E7B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A32BFB1A-7005-8829-3986-E9C6574D4BF6}"/>
              </a:ext>
            </a:extLst>
          </p:cNvPr>
          <p:cNvSpPr txBox="1"/>
          <p:nvPr/>
        </p:nvSpPr>
        <p:spPr>
          <a:xfrm>
            <a:off x="457200" y="1625600"/>
            <a:ext cx="690071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Demand trend</a:t>
            </a:r>
          </a:p>
        </p:txBody>
      </p:sp>
      <p:sp>
        <p:nvSpPr>
          <p:cNvPr id="16" name="Aligned panel subtitle">
            <a:extLst>
              <a:ext uri="{FF2B5EF4-FFF2-40B4-BE49-F238E27FC236}">
                <a16:creationId xmlns:a16="http://schemas.microsoft.com/office/drawing/2014/main" id="{B34C4DB0-C252-C5B2-9A2B-64E4954C1BC2}"/>
              </a:ext>
            </a:extLst>
          </p:cNvPr>
          <p:cNvSpPr txBox="1"/>
          <p:nvPr/>
        </p:nvSpPr>
        <p:spPr>
          <a:xfrm>
            <a:off x="7637318" y="1625600"/>
            <a:ext cx="3472642"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Change over 2013–2023</a:t>
            </a:r>
          </a:p>
        </p:txBody>
      </p:sp>
      <p:cxnSp>
        <p:nvCxnSpPr>
          <p:cNvPr id="13" name="Content margin panel rule">
            <a:extLst>
              <a:ext uri="{FF2B5EF4-FFF2-40B4-BE49-F238E27FC236}">
                <a16:creationId xmlns:a16="http://schemas.microsoft.com/office/drawing/2014/main" id="{9E9502C7-E41F-03FD-386F-5745A114DBD6}"/>
              </a:ext>
            </a:extLst>
          </p:cNvPr>
          <p:cNvCxnSpPr/>
          <p:nvPr/>
        </p:nvCxnSpPr>
        <p:spPr>
          <a:xfrm>
            <a:off x="7637318" y="1907308"/>
            <a:ext cx="3472642"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DF2015EC-FF0B-3877-CB46-57E6534A8CA0}"/>
              </a:ext>
            </a:extLst>
          </p:cNvPr>
          <p:cNvCxnSpPr/>
          <p:nvPr/>
        </p:nvCxnSpPr>
        <p:spPr>
          <a:xfrm>
            <a:off x="457200" y="1907308"/>
            <a:ext cx="692611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9127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Power shortages and road freight have supported diesel consumption, but that support can change with increased support for rail reform and improved Eskom</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7</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ZW" sz="650"/>
              <a:t>Eskom Integrated Report 2025 pp100,141: own-fleet diesel + kerosene; *cost includes storage/demurrage. Stats SA P7162 Dec 2025 p7: both years from the revised vintage. Stats SA P0441 Q2 2026 annual real GVA: agriculture includes forestry/fishing. FY and calendar-year periods shown separately. Bars start at zero; scales are common within each panel, not across different units. Light blue = 2024; navy = 2025. Workbook Sector history: post-2021 litres estimated. Freight proxy = survey fuel spending / wholesale price; partial coverage.</a:t>
            </a:r>
            <a:endParaRPr sz="650"/>
          </a:p>
        </p:txBody>
      </p:sp>
      <p:graphicFrame>
        <p:nvGraphicFramePr>
          <p:cNvPr id="47" name="Table 46"/>
          <p:cNvGraphicFramePr>
            <a:graphicFrameLocks noGrp="1"/>
          </p:cNvGraphicFramePr>
          <p:nvPr>
            <p:extLst>
              <p:ext uri="{D42A27DB-BD31-4B8C-83A1-F6EECF244321}">
                <p14:modId xmlns:p14="http://schemas.microsoft.com/office/powerpoint/2010/main" val="2291882793"/>
              </p:ext>
            </p:extLst>
          </p:nvPr>
        </p:nvGraphicFramePr>
        <p:xfrm>
          <a:off x="457200" y="1651000"/>
          <a:ext cx="10652760" cy="4444999"/>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635500">
                  <a:extLst>
                    <a:ext uri="{9D8B030D-6E8A-4147-A177-3AD203B41FA5}">
                      <a16:colId xmlns:a16="http://schemas.microsoft.com/office/drawing/2014/main" val="20001"/>
                    </a:ext>
                  </a:extLst>
                </a:gridCol>
                <a:gridCol w="39217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Demand support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2024 vs 2025</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Implication for demand</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Power
generation</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a:solidFill>
                            <a:srgbClr val="000000"/>
                          </a:solidFill>
                          <a:latin typeface="Lato"/>
                        </a:defRPr>
                      </a:pP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450m fewer litres in one year. Sustained recovery reduces diesel demand; retirements and replacement timing could reverse it.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Road
freight</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Road carries 85.3% of tonnes.
Workbook truck-fuel proxy: 3.15bn L
in 2023, partial operator coverage.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Sector
activity</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Activity differs by sector.
2024 indicative diesel: mining 1.40,
industry residual 0.17, farms 0.96bn 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83CF9B2C-740D-465A-2E04-EF1E6C04AB3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D74F809-1D99-8AD3-6C6D-E9292C8CF143}"/>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A4627725-22FB-78CC-5D0D-7DCC9CBDF7C5}"/>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878996B7-8B88-DFD0-723B-13DD7E2F159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5" name="Argument icon power">
            <a:extLst>
              <a:ext uri="{FF2B5EF4-FFF2-40B4-BE49-F238E27FC236}">
                <a16:creationId xmlns:a16="http://schemas.microsoft.com/office/drawing/2014/main" id="{5307DC4D-9C2E-17D3-AF75-9BD47A72B28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7" name="Argument icon transport">
            <a:extLst>
              <a:ext uri="{FF2B5EF4-FFF2-40B4-BE49-F238E27FC236}">
                <a16:creationId xmlns:a16="http://schemas.microsoft.com/office/drawing/2014/main" id="{6B99810F-6354-E5DD-6F08-D1853559C0E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484033"/>
            <a:ext cx="317500" cy="317500"/>
          </a:xfrm>
          <a:prstGeom prst="rect">
            <a:avLst/>
          </a:prstGeom>
        </p:spPr>
      </p:pic>
      <p:pic>
        <p:nvPicPr>
          <p:cNvPr id="14" name="Argument icon sector">
            <a:extLst>
              <a:ext uri="{FF2B5EF4-FFF2-40B4-BE49-F238E27FC236}">
                <a16:creationId xmlns:a16="http://schemas.microsoft.com/office/drawing/2014/main" id="{10A63FD9-531D-1196-4A39-9AB4B21B9F63}"/>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847166"/>
            <a:ext cx="317500" cy="317500"/>
          </a:xfrm>
          <a:prstGeom prst="rect">
            <a:avLst/>
          </a:prstGeom>
        </p:spPr>
      </p:pic>
      <p:sp>
        <p:nvSpPr>
          <p:cNvPr id="4" name="Comparison unit">
            <a:extLst>
              <a:ext uri="{FF2B5EF4-FFF2-40B4-BE49-F238E27FC236}">
                <a16:creationId xmlns:a16="http://schemas.microsoft.com/office/drawing/2014/main" id="{6848D3B9-9DAE-E5DE-C318-9C697203955D}"/>
              </a:ext>
            </a:extLst>
          </p:cNvPr>
          <p:cNvSpPr txBox="1"/>
          <p:nvPr/>
        </p:nvSpPr>
        <p:spPr>
          <a:xfrm>
            <a:off x="2590800" y="2082800"/>
            <a:ext cx="4508500" cy="153888"/>
          </a:xfrm>
          <a:prstGeom prst="rect">
            <a:avLst/>
          </a:prstGeom>
          <a:noFill/>
        </p:spPr>
        <p:txBody>
          <a:bodyPr vert="horz" lIns="0" tIns="0" rIns="0" bIns="0" rtlCol="0">
            <a:spAutoFit/>
          </a:bodyPr>
          <a:lstStyle/>
          <a:p>
            <a:r>
              <a:rPr lang="en-GB" sz="1000">
                <a:solidFill>
                  <a:schemeClr val="dk1"/>
                </a:solidFill>
                <a:latin typeface="Lato" panose="020F0502020204030203" pitchFamily="34" charset="0"/>
              </a:rPr>
              <a:t>Own OCGT fuel · million litres · financial years</a:t>
            </a:r>
            <a:endParaRPr lang="en-ZA" sz="1000">
              <a:solidFill>
                <a:schemeClr val="dk1"/>
              </a:solidFill>
              <a:latin typeface="Lato" panose="020F0502020204030203" pitchFamily="34" charset="0"/>
            </a:endParaRPr>
          </a:p>
        </p:txBody>
      </p:sp>
      <p:pic>
        <p:nvPicPr>
          <p:cNvPr id="13" name="Demand comparison power">
            <a:extLst>
              <a:ext uri="{FF2B5EF4-FFF2-40B4-BE49-F238E27FC236}">
                <a16:creationId xmlns:a16="http://schemas.microsoft.com/office/drawing/2014/main" id="{E56657B0-75AD-D8BA-43B4-FF354B0972EF}"/>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2590800" y="2159000"/>
            <a:ext cx="4508500" cy="1217295"/>
          </a:xfrm>
          <a:prstGeom prst="rect">
            <a:avLst/>
          </a:prstGeom>
        </p:spPr>
      </p:pic>
      <p:sp>
        <p:nvSpPr>
          <p:cNvPr id="15" name="Comparison unit">
            <a:extLst>
              <a:ext uri="{FF2B5EF4-FFF2-40B4-BE49-F238E27FC236}">
                <a16:creationId xmlns:a16="http://schemas.microsoft.com/office/drawing/2014/main" id="{B8C7AEBC-8080-1E55-90D9-764484D5A075}"/>
              </a:ext>
            </a:extLst>
          </p:cNvPr>
          <p:cNvSpPr txBox="1"/>
          <p:nvPr/>
        </p:nvSpPr>
        <p:spPr>
          <a:xfrm>
            <a:off x="2590800" y="3445933"/>
            <a:ext cx="4508500" cy="153888"/>
          </a:xfrm>
          <a:prstGeom prst="rect">
            <a:avLst/>
          </a:prstGeom>
          <a:noFill/>
        </p:spPr>
        <p:txBody>
          <a:bodyPr vert="horz" lIns="0" tIns="0" rIns="0" bIns="0" rtlCol="0">
            <a:spAutoFit/>
          </a:bodyPr>
          <a:lstStyle/>
          <a:p>
            <a:r>
              <a:rPr lang="en-GB" sz="1000">
                <a:solidFill>
                  <a:schemeClr val="dk1"/>
                </a:solidFill>
                <a:latin typeface="Lato" panose="020F0502020204030203" pitchFamily="34" charset="0"/>
              </a:rPr>
              <a:t>Reported payload · million tonnes · calendar years</a:t>
            </a:r>
            <a:endParaRPr lang="en-ZA" sz="1000">
              <a:solidFill>
                <a:schemeClr val="dk1"/>
              </a:solidFill>
              <a:latin typeface="Lato" panose="020F0502020204030203" pitchFamily="34" charset="0"/>
            </a:endParaRPr>
          </a:p>
        </p:txBody>
      </p:sp>
      <p:pic>
        <p:nvPicPr>
          <p:cNvPr id="17" name="Demand comparison freight">
            <a:extLst>
              <a:ext uri="{FF2B5EF4-FFF2-40B4-BE49-F238E27FC236}">
                <a16:creationId xmlns:a16="http://schemas.microsoft.com/office/drawing/2014/main" id="{4BF771DF-FDAB-7E86-21BE-D1D878BDB46A}"/>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2590800" y="3522133"/>
            <a:ext cx="4508500" cy="1217295"/>
          </a:xfrm>
          <a:prstGeom prst="rect">
            <a:avLst/>
          </a:prstGeom>
        </p:spPr>
      </p:pic>
      <p:sp>
        <p:nvSpPr>
          <p:cNvPr id="18" name="Comparison unit">
            <a:extLst>
              <a:ext uri="{FF2B5EF4-FFF2-40B4-BE49-F238E27FC236}">
                <a16:creationId xmlns:a16="http://schemas.microsoft.com/office/drawing/2014/main" id="{050F5819-3F46-6939-E5CF-0124C47BDEA2}"/>
              </a:ext>
            </a:extLst>
          </p:cNvPr>
          <p:cNvSpPr txBox="1"/>
          <p:nvPr/>
        </p:nvSpPr>
        <p:spPr>
          <a:xfrm>
            <a:off x="2590800" y="4809066"/>
            <a:ext cx="4508500" cy="153888"/>
          </a:xfrm>
          <a:prstGeom prst="rect">
            <a:avLst/>
          </a:prstGeom>
          <a:noFill/>
        </p:spPr>
        <p:txBody>
          <a:bodyPr vert="horz" lIns="0" tIns="0" rIns="0" bIns="0" rtlCol="0">
            <a:spAutoFit/>
          </a:bodyPr>
          <a:lstStyle/>
          <a:p>
            <a:r>
              <a:rPr lang="en-GB" sz="1000">
                <a:solidFill>
                  <a:schemeClr val="dk1"/>
                </a:solidFill>
                <a:latin typeface="Lato" panose="020F0502020204030203" pitchFamily="34" charset="0"/>
              </a:rPr>
              <a:t>Real GVA · Rbn, 2015 prices · calendar years</a:t>
            </a:r>
            <a:endParaRPr lang="en-ZA" sz="1000">
              <a:solidFill>
                <a:schemeClr val="dk1"/>
              </a:solidFill>
              <a:latin typeface="Lato" panose="020F0502020204030203" pitchFamily="34" charset="0"/>
            </a:endParaRPr>
          </a:p>
        </p:txBody>
      </p:sp>
      <p:pic>
        <p:nvPicPr>
          <p:cNvPr id="20" name="Demand comparison sector">
            <a:extLst>
              <a:ext uri="{FF2B5EF4-FFF2-40B4-BE49-F238E27FC236}">
                <a16:creationId xmlns:a16="http://schemas.microsoft.com/office/drawing/2014/main" id="{91EF5371-357A-A86B-5CAE-156578AADBA6}"/>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2590800" y="4885266"/>
            <a:ext cx="4508500" cy="1217295"/>
          </a:xfrm>
          <a:prstGeom prst="rect">
            <a:avLst/>
          </a:prstGeom>
        </p:spPr>
      </p:pic>
      <p:pic>
        <p:nvPicPr>
          <p:cNvPr id="16" name="Picture 15">
            <a:extLst>
              <a:ext uri="{FF2B5EF4-FFF2-40B4-BE49-F238E27FC236}">
                <a16:creationId xmlns:a16="http://schemas.microsoft.com/office/drawing/2014/main" id="{B1A4CA6E-D36D-4514-AC46-C94C7A8EB8F7}"/>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4889500" y="1739900"/>
            <a:ext cx="1397000" cy="180213"/>
          </a:xfrm>
          <a:prstGeom prst="rect">
            <a:avLst/>
          </a:prstGeom>
        </p:spPr>
      </p:pic>
    </p:spTree>
    <p:extLst>
      <p:ext uri="{BB962C8B-B14F-4D97-AF65-F5344CB8AC3E}">
        <p14:creationId xmlns:p14="http://schemas.microsoft.com/office/powerpoint/2010/main" val="1183918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solidFill>
                  <a:schemeClr val="dk1"/>
                </a:solidFill>
                <a:latin typeface="Lato"/>
              </a:rPr>
              <a:t>Mining, manufacturing and agriculture link diesel demand to sector activity</a:t>
            </a:r>
            <a:endParaRPr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8</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Workbook Sector history M6/O6/R9, M16/O16/R19, M22/O22/R25. Department energy balance to 2021; later fuel estimated with activity and average intensity. Sector attribution and road overlap require review.</a:t>
            </a:r>
            <a:endParaRPr sz="6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6" name="Sector heading">
            <a:extLst>
              <a:ext uri="{FF2B5EF4-FFF2-40B4-BE49-F238E27FC236}">
                <a16:creationId xmlns:a16="http://schemas.microsoft.com/office/drawing/2014/main" id="{65A169A8-D9BF-7E72-B48E-771CD77BA7BB}"/>
              </a:ext>
            </a:extLst>
          </p:cNvPr>
          <p:cNvSpPr txBox="1"/>
          <p:nvPr/>
        </p:nvSpPr>
        <p:spPr>
          <a:xfrm>
            <a:off x="457200" y="1600200"/>
            <a:ext cx="1968500" cy="228600"/>
          </a:xfrm>
          <a:prstGeom prst="rect">
            <a:avLst/>
          </a:prstGeom>
          <a:noFill/>
        </p:spPr>
        <p:txBody>
          <a:bodyPr vert="horz" lIns="0" tIns="0" rIns="0" bIns="0" rtlCol="0">
            <a:noAutofit/>
          </a:bodyPr>
          <a:lstStyle/>
          <a:p>
            <a:r>
              <a:rPr lang="en-ZA" sz="1200" b="1">
                <a:solidFill>
                  <a:schemeClr val="dk1"/>
                </a:solidFill>
                <a:latin typeface="Lato" panose="020F0502020204030203" pitchFamily="34" charset="0"/>
              </a:rPr>
              <a:t>Sector</a:t>
            </a:r>
          </a:p>
        </p:txBody>
      </p:sp>
      <p:sp>
        <p:nvSpPr>
          <p:cNvPr id="7" name="Chart heading">
            <a:extLst>
              <a:ext uri="{FF2B5EF4-FFF2-40B4-BE49-F238E27FC236}">
                <a16:creationId xmlns:a16="http://schemas.microsoft.com/office/drawing/2014/main" id="{DBA7DC2C-F2EF-95EA-707F-2D271224C408}"/>
              </a:ext>
            </a:extLst>
          </p:cNvPr>
          <p:cNvSpPr txBox="1"/>
          <p:nvPr/>
        </p:nvSpPr>
        <p:spPr>
          <a:xfrm>
            <a:off x="2552700" y="1600200"/>
            <a:ext cx="4432300" cy="228600"/>
          </a:xfrm>
          <a:prstGeom prst="rect">
            <a:avLst/>
          </a:prstGeom>
          <a:noFill/>
        </p:spPr>
        <p:txBody>
          <a:bodyPr vert="horz" lIns="0" tIns="0" rIns="0" bIns="0" rtlCol="0">
            <a:noAutofit/>
          </a:bodyPr>
          <a:lstStyle/>
          <a:p>
            <a:r>
              <a:rPr lang="en-GB" sz="1200" b="1">
                <a:solidFill>
                  <a:schemeClr val="dk1"/>
                </a:solidFill>
                <a:latin typeface="Lato" panose="020F0502020204030203" pitchFamily="34" charset="0"/>
              </a:rPr>
              <a:t>Diesel use, billion litres / year</a:t>
            </a:r>
            <a:endParaRPr lang="en-ZA" sz="1200" b="1">
              <a:solidFill>
                <a:schemeClr val="dk1"/>
              </a:solidFill>
              <a:latin typeface="Lato" panose="020F0502020204030203" pitchFamily="34" charset="0"/>
            </a:endParaRPr>
          </a:p>
        </p:txBody>
      </p:sp>
      <p:sp>
        <p:nvSpPr>
          <p:cNvPr id="13" name="Activity heading">
            <a:extLst>
              <a:ext uri="{FF2B5EF4-FFF2-40B4-BE49-F238E27FC236}">
                <a16:creationId xmlns:a16="http://schemas.microsoft.com/office/drawing/2014/main" id="{73F4E311-4081-9D8E-F2A8-1E30E7DE3FE6}"/>
              </a:ext>
            </a:extLst>
          </p:cNvPr>
          <p:cNvSpPr txBox="1"/>
          <p:nvPr/>
        </p:nvSpPr>
        <p:spPr>
          <a:xfrm>
            <a:off x="7480300" y="1600200"/>
            <a:ext cx="3632200" cy="228600"/>
          </a:xfrm>
          <a:prstGeom prst="rect">
            <a:avLst/>
          </a:prstGeom>
          <a:noFill/>
        </p:spPr>
        <p:txBody>
          <a:bodyPr vert="horz" lIns="0" tIns="0" rIns="0" bIns="0" rtlCol="0">
            <a:noAutofit/>
          </a:bodyPr>
          <a:lstStyle/>
          <a:p>
            <a:r>
              <a:rPr lang="en-ZA" sz="1200" b="1">
                <a:solidFill>
                  <a:schemeClr val="dk1"/>
                </a:solidFill>
                <a:latin typeface="Lato" panose="020F0502020204030203" pitchFamily="34" charset="0"/>
              </a:rPr>
              <a:t>Activity and interpretation</a:t>
            </a:r>
          </a:p>
        </p:txBody>
      </p:sp>
      <p:cxnSp>
        <p:nvCxnSpPr>
          <p:cNvPr id="14" name="Sector heading rule">
            <a:extLst>
              <a:ext uri="{FF2B5EF4-FFF2-40B4-BE49-F238E27FC236}">
                <a16:creationId xmlns:a16="http://schemas.microsoft.com/office/drawing/2014/main" id="{9E9570DB-76B8-B9CF-0CB3-EAAE06F8CEDD}"/>
              </a:ext>
            </a:extLst>
          </p:cNvPr>
          <p:cNvCxnSpPr/>
          <p:nvPr/>
        </p:nvCxnSpPr>
        <p:spPr>
          <a:xfrm>
            <a:off x="457200" y="1905000"/>
            <a:ext cx="10652760" cy="0"/>
          </a:xfrm>
          <a:prstGeom prst="straightConnector1">
            <a:avLst/>
          </a:prstGeom>
          <a:ln w="5080">
            <a:solidFill>
              <a:schemeClr val="dk1">
                <a:tint val="15000"/>
              </a:schemeClr>
            </a:solidFill>
          </a:ln>
        </p:spPr>
        <p:style>
          <a:lnRef idx="1">
            <a:schemeClr val="accent1"/>
          </a:lnRef>
          <a:fillRef idx="0">
            <a:schemeClr val="accent1"/>
          </a:fillRef>
          <a:effectRef idx="0">
            <a:schemeClr val="accent1"/>
          </a:effectRef>
          <a:fontRef idx="minor">
            <a:schemeClr val="tx1"/>
          </a:fontRef>
        </p:style>
      </p:cxnSp>
      <p:sp>
        <p:nvSpPr>
          <p:cNvPr id="15" name="Sector label 0">
            <a:extLst>
              <a:ext uri="{FF2B5EF4-FFF2-40B4-BE49-F238E27FC236}">
                <a16:creationId xmlns:a16="http://schemas.microsoft.com/office/drawing/2014/main" id="{E6CDC96F-13DA-9293-6FD3-08DE11006E7F}"/>
              </a:ext>
            </a:extLst>
          </p:cNvPr>
          <p:cNvSpPr txBox="1"/>
          <p:nvPr/>
        </p:nvSpPr>
        <p:spPr>
          <a:xfrm>
            <a:off x="457200" y="2158999"/>
            <a:ext cx="1968500" cy="711200"/>
          </a:xfrm>
          <a:prstGeom prst="rect">
            <a:avLst/>
          </a:prstGeom>
          <a:noFill/>
        </p:spPr>
        <p:txBody>
          <a:bodyPr vert="horz" lIns="0" tIns="0" rIns="0" bIns="0" rtlCol="0">
            <a:noAutofit/>
          </a:bodyPr>
          <a:lstStyle/>
          <a:p>
            <a:r>
              <a:rPr lang="en-ZA" sz="1300" b="1">
                <a:solidFill>
                  <a:schemeClr val="accent1"/>
                </a:solidFill>
                <a:latin typeface="Lato" panose="020F0502020204030203" pitchFamily="34" charset="0"/>
              </a:rPr>
              <a:t>Mining</a:t>
            </a:r>
          </a:p>
        </p:txBody>
      </p:sp>
      <p:sp>
        <p:nvSpPr>
          <p:cNvPr id="16" name="Sector interpretation 0">
            <a:extLst>
              <a:ext uri="{FF2B5EF4-FFF2-40B4-BE49-F238E27FC236}">
                <a16:creationId xmlns:a16="http://schemas.microsoft.com/office/drawing/2014/main" id="{0E18B143-84EF-D0CF-5516-1798DD1E7F3E}"/>
              </a:ext>
            </a:extLst>
          </p:cNvPr>
          <p:cNvSpPr txBox="1"/>
          <p:nvPr/>
        </p:nvSpPr>
        <p:spPr>
          <a:xfrm>
            <a:off x="7480300" y="2171699"/>
            <a:ext cx="3632200" cy="825500"/>
          </a:xfrm>
          <a:prstGeom prst="rect">
            <a:avLst/>
          </a:prstGeom>
          <a:noFill/>
        </p:spPr>
        <p:txBody>
          <a:bodyPr vert="horz" lIns="0" tIns="0" rIns="0" bIns="0" rtlCol="0">
            <a:noAutofit/>
          </a:bodyPr>
          <a:lstStyle/>
          <a:p>
            <a:r>
              <a:rPr lang="en-GB" sz="1250">
                <a:solidFill>
                  <a:schemeClr val="dk1"/>
                </a:solidFill>
                <a:latin typeface="Lato" panose="020F0502020204030203" pitchFamily="34" charset="0"/>
              </a:rPr>
              <a:t>2024 production index 93.5 (2019=100). Fuel intensity varies materially; mine and on-road use overlap.</a:t>
            </a:r>
            <a:endParaRPr lang="en-ZA" sz="1250">
              <a:solidFill>
                <a:schemeClr val="dk1"/>
              </a:solidFill>
              <a:latin typeface="Lato" panose="020F0502020204030203" pitchFamily="34" charset="0"/>
            </a:endParaRPr>
          </a:p>
        </p:txBody>
      </p:sp>
      <p:cxnSp>
        <p:nvCxnSpPr>
          <p:cNvPr id="17" name="Zero axis 0">
            <a:extLst>
              <a:ext uri="{FF2B5EF4-FFF2-40B4-BE49-F238E27FC236}">
                <a16:creationId xmlns:a16="http://schemas.microsoft.com/office/drawing/2014/main" id="{A8BDD012-4FE0-9882-4A6D-C435756F24F9}"/>
              </a:ext>
            </a:extLst>
          </p:cNvPr>
          <p:cNvCxnSpPr/>
          <p:nvPr/>
        </p:nvCxnSpPr>
        <p:spPr>
          <a:xfrm>
            <a:off x="3263900" y="2133600"/>
            <a:ext cx="0" cy="876300"/>
          </a:xfrm>
          <a:prstGeom prst="straightConnector1">
            <a:avLst/>
          </a:prstGeom>
          <a:ln w="5080">
            <a:solidFill>
              <a:schemeClr val="dk1">
                <a:tint val="15000"/>
              </a:schemeClr>
            </a:solidFill>
          </a:ln>
        </p:spPr>
        <p:style>
          <a:lnRef idx="1">
            <a:schemeClr val="accent1"/>
          </a:lnRef>
          <a:fillRef idx="0">
            <a:schemeClr val="accent1"/>
          </a:fillRef>
          <a:effectRef idx="0">
            <a:schemeClr val="accent1"/>
          </a:effectRef>
          <a:fontRef idx="minor">
            <a:schemeClr val="tx1"/>
          </a:fontRef>
        </p:style>
      </p:cxnSp>
      <p:sp>
        <p:nvSpPr>
          <p:cNvPr id="18" name="Year 0 0">
            <a:extLst>
              <a:ext uri="{FF2B5EF4-FFF2-40B4-BE49-F238E27FC236}">
                <a16:creationId xmlns:a16="http://schemas.microsoft.com/office/drawing/2014/main" id="{BCFCEDD5-B360-0731-6047-74636FEA33D4}"/>
              </a:ext>
            </a:extLst>
          </p:cNvPr>
          <p:cNvSpPr txBox="1"/>
          <p:nvPr/>
        </p:nvSpPr>
        <p:spPr>
          <a:xfrm>
            <a:off x="2552700" y="2146300"/>
            <a:ext cx="660400" cy="190500"/>
          </a:xfrm>
          <a:prstGeom prst="rect">
            <a:avLst/>
          </a:prstGeom>
          <a:noFill/>
        </p:spPr>
        <p:txBody>
          <a:bodyPr vert="horz" lIns="0" tIns="0" rIns="0" bIns="0" rtlCol="0">
            <a:noAutofit/>
          </a:bodyPr>
          <a:lstStyle/>
          <a:p>
            <a:r>
              <a:rPr lang="en-ZA" sz="1000">
                <a:solidFill>
                  <a:schemeClr val="dk1"/>
                </a:solidFill>
                <a:latin typeface="Lato" panose="020F0502020204030203" pitchFamily="34" charset="0"/>
              </a:rPr>
              <a:t>2019</a:t>
            </a:r>
          </a:p>
        </p:txBody>
      </p:sp>
      <p:sp>
        <p:nvSpPr>
          <p:cNvPr id="19" name="Sector bar 0 0">
            <a:extLst>
              <a:ext uri="{FF2B5EF4-FFF2-40B4-BE49-F238E27FC236}">
                <a16:creationId xmlns:a16="http://schemas.microsoft.com/office/drawing/2014/main" id="{F6B91932-F480-7CD7-3C01-05C3B5BF243E}"/>
              </a:ext>
            </a:extLst>
          </p:cNvPr>
          <p:cNvSpPr/>
          <p:nvPr/>
        </p:nvSpPr>
        <p:spPr>
          <a:xfrm>
            <a:off x="3263900" y="2159000"/>
            <a:ext cx="2905633" cy="152400"/>
          </a:xfrm>
          <a:prstGeom prst="rect">
            <a:avLst/>
          </a:prstGeom>
          <a:solidFill>
            <a:schemeClr val="accent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0" name="Value 0 0">
            <a:extLst>
              <a:ext uri="{FF2B5EF4-FFF2-40B4-BE49-F238E27FC236}">
                <a16:creationId xmlns:a16="http://schemas.microsoft.com/office/drawing/2014/main" id="{0F4B7BD1-8E3D-B7D8-352E-867A026E823A}"/>
              </a:ext>
            </a:extLst>
          </p:cNvPr>
          <p:cNvSpPr txBox="1"/>
          <p:nvPr/>
        </p:nvSpPr>
        <p:spPr>
          <a:xfrm>
            <a:off x="6245733" y="2146300"/>
            <a:ext cx="546100" cy="190500"/>
          </a:xfrm>
          <a:prstGeom prst="rect">
            <a:avLst/>
          </a:prstGeom>
          <a:noFill/>
        </p:spPr>
        <p:txBody>
          <a:bodyPr vert="horz" lIns="0" tIns="0" rIns="0" bIns="0" rtlCol="0">
            <a:noAutofit/>
          </a:bodyPr>
          <a:lstStyle/>
          <a:p>
            <a:r>
              <a:rPr lang="en-ZA" sz="1000" b="1">
                <a:solidFill>
                  <a:schemeClr val="accent1"/>
                </a:solidFill>
                <a:latin typeface="Lato" panose="020F0502020204030203" pitchFamily="34" charset="0"/>
              </a:rPr>
              <a:t>1.67</a:t>
            </a:r>
          </a:p>
        </p:txBody>
      </p:sp>
      <p:sp>
        <p:nvSpPr>
          <p:cNvPr id="21" name="Year 0 1">
            <a:extLst>
              <a:ext uri="{FF2B5EF4-FFF2-40B4-BE49-F238E27FC236}">
                <a16:creationId xmlns:a16="http://schemas.microsoft.com/office/drawing/2014/main" id="{14C66B96-9647-0C1B-9CDF-F43C5BFEB805}"/>
              </a:ext>
            </a:extLst>
          </p:cNvPr>
          <p:cNvSpPr txBox="1"/>
          <p:nvPr/>
        </p:nvSpPr>
        <p:spPr>
          <a:xfrm>
            <a:off x="2552700" y="2451100"/>
            <a:ext cx="660400" cy="190500"/>
          </a:xfrm>
          <a:prstGeom prst="rect">
            <a:avLst/>
          </a:prstGeom>
          <a:noFill/>
        </p:spPr>
        <p:txBody>
          <a:bodyPr vert="horz" lIns="0" tIns="0" rIns="0" bIns="0" rtlCol="0">
            <a:noAutofit/>
          </a:bodyPr>
          <a:lstStyle/>
          <a:p>
            <a:r>
              <a:rPr lang="en-ZA" sz="1000">
                <a:solidFill>
                  <a:schemeClr val="dk1"/>
                </a:solidFill>
                <a:latin typeface="Lato" panose="020F0502020204030203" pitchFamily="34" charset="0"/>
              </a:rPr>
              <a:t>2021</a:t>
            </a:r>
          </a:p>
        </p:txBody>
      </p:sp>
      <p:sp>
        <p:nvSpPr>
          <p:cNvPr id="22" name="Sector bar 0 1">
            <a:extLst>
              <a:ext uri="{FF2B5EF4-FFF2-40B4-BE49-F238E27FC236}">
                <a16:creationId xmlns:a16="http://schemas.microsoft.com/office/drawing/2014/main" id="{94723423-E844-4220-848F-C8B42910C0D5}"/>
              </a:ext>
            </a:extLst>
          </p:cNvPr>
          <p:cNvSpPr/>
          <p:nvPr/>
        </p:nvSpPr>
        <p:spPr>
          <a:xfrm>
            <a:off x="3263900" y="2463800"/>
            <a:ext cx="2244471" cy="152400"/>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3" name="Value 0 1">
            <a:extLst>
              <a:ext uri="{FF2B5EF4-FFF2-40B4-BE49-F238E27FC236}">
                <a16:creationId xmlns:a16="http://schemas.microsoft.com/office/drawing/2014/main" id="{6E983A38-9C73-873C-063F-C72993543FD6}"/>
              </a:ext>
            </a:extLst>
          </p:cNvPr>
          <p:cNvSpPr txBox="1"/>
          <p:nvPr/>
        </p:nvSpPr>
        <p:spPr>
          <a:xfrm>
            <a:off x="5584571" y="2451100"/>
            <a:ext cx="546100" cy="190500"/>
          </a:xfrm>
          <a:prstGeom prst="rect">
            <a:avLst/>
          </a:prstGeom>
          <a:noFill/>
        </p:spPr>
        <p:txBody>
          <a:bodyPr vert="horz" lIns="0" tIns="0" rIns="0" bIns="0" rtlCol="0">
            <a:noAutofit/>
          </a:bodyPr>
          <a:lstStyle/>
          <a:p>
            <a:r>
              <a:rPr lang="en-ZA" sz="1000" b="1">
                <a:solidFill>
                  <a:schemeClr val="accent1"/>
                </a:solidFill>
                <a:latin typeface="Lato" panose="020F0502020204030203" pitchFamily="34" charset="0"/>
              </a:rPr>
              <a:t>1.29</a:t>
            </a:r>
          </a:p>
        </p:txBody>
      </p:sp>
      <p:sp>
        <p:nvSpPr>
          <p:cNvPr id="24" name="Year 0 2">
            <a:extLst>
              <a:ext uri="{FF2B5EF4-FFF2-40B4-BE49-F238E27FC236}">
                <a16:creationId xmlns:a16="http://schemas.microsoft.com/office/drawing/2014/main" id="{38003D4B-57B3-CE60-122C-9120C89C55C9}"/>
              </a:ext>
            </a:extLst>
          </p:cNvPr>
          <p:cNvSpPr txBox="1"/>
          <p:nvPr/>
        </p:nvSpPr>
        <p:spPr>
          <a:xfrm>
            <a:off x="2552700" y="2755900"/>
            <a:ext cx="660400" cy="190500"/>
          </a:xfrm>
          <a:prstGeom prst="rect">
            <a:avLst/>
          </a:prstGeom>
          <a:noFill/>
        </p:spPr>
        <p:txBody>
          <a:bodyPr vert="horz" lIns="0" tIns="0" rIns="0" bIns="0" rtlCol="0">
            <a:noAutofit/>
          </a:bodyPr>
          <a:lstStyle/>
          <a:p>
            <a:r>
              <a:rPr lang="en-ZA" sz="1000">
                <a:solidFill>
                  <a:schemeClr val="dk1"/>
                </a:solidFill>
                <a:latin typeface="Lato" panose="020F0502020204030203" pitchFamily="34" charset="0"/>
              </a:rPr>
              <a:t>2024 est.</a:t>
            </a:r>
          </a:p>
        </p:txBody>
      </p:sp>
      <p:sp>
        <p:nvSpPr>
          <p:cNvPr id="25" name="Sector bar 0 2">
            <a:extLst>
              <a:ext uri="{FF2B5EF4-FFF2-40B4-BE49-F238E27FC236}">
                <a16:creationId xmlns:a16="http://schemas.microsoft.com/office/drawing/2014/main" id="{A388A7E3-B0B3-2918-1E99-E7410D28228A}"/>
              </a:ext>
            </a:extLst>
          </p:cNvPr>
          <p:cNvSpPr/>
          <p:nvPr/>
        </p:nvSpPr>
        <p:spPr>
          <a:xfrm>
            <a:off x="3263900" y="2768600"/>
            <a:ext cx="2435860" cy="152400"/>
          </a:xfrm>
          <a:prstGeom prst="rect">
            <a:avLst/>
          </a:prstGeom>
          <a:solidFill>
            <a:schemeClr val="lt1"/>
          </a:solidFill>
          <a:ln w="11430" cap="flat" cmpd="sng" algn="ctr">
            <a:solidFill>
              <a:schemeClr val="accent1"/>
            </a:solidFill>
            <a:prstDash val="dash"/>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6" name="Value 0 2">
            <a:extLst>
              <a:ext uri="{FF2B5EF4-FFF2-40B4-BE49-F238E27FC236}">
                <a16:creationId xmlns:a16="http://schemas.microsoft.com/office/drawing/2014/main" id="{A13295E8-E5CE-36FE-C86A-8F808A9BA76F}"/>
              </a:ext>
            </a:extLst>
          </p:cNvPr>
          <p:cNvSpPr txBox="1"/>
          <p:nvPr/>
        </p:nvSpPr>
        <p:spPr>
          <a:xfrm>
            <a:off x="5775960" y="2755900"/>
            <a:ext cx="546100" cy="190500"/>
          </a:xfrm>
          <a:prstGeom prst="rect">
            <a:avLst/>
          </a:prstGeom>
          <a:noFill/>
        </p:spPr>
        <p:txBody>
          <a:bodyPr vert="horz" lIns="0" tIns="0" rIns="0" bIns="0" rtlCol="0">
            <a:noAutofit/>
          </a:bodyPr>
          <a:lstStyle/>
          <a:p>
            <a:r>
              <a:rPr lang="en-ZA" sz="1000" b="1">
                <a:solidFill>
                  <a:schemeClr val="accent1"/>
                </a:solidFill>
                <a:latin typeface="Lato" panose="020F0502020204030203" pitchFamily="34" charset="0"/>
              </a:rPr>
              <a:t>1.40</a:t>
            </a:r>
          </a:p>
        </p:txBody>
      </p:sp>
      <p:cxnSp>
        <p:nvCxnSpPr>
          <p:cNvPr id="27" name="Sector row rule 0">
            <a:extLst>
              <a:ext uri="{FF2B5EF4-FFF2-40B4-BE49-F238E27FC236}">
                <a16:creationId xmlns:a16="http://schemas.microsoft.com/office/drawing/2014/main" id="{2EA606B0-A8A3-55B6-EBB6-6A26AA490AB8}"/>
              </a:ext>
            </a:extLst>
          </p:cNvPr>
          <p:cNvCxnSpPr/>
          <p:nvPr/>
        </p:nvCxnSpPr>
        <p:spPr>
          <a:xfrm>
            <a:off x="457200" y="3175000"/>
            <a:ext cx="10652760" cy="0"/>
          </a:xfrm>
          <a:prstGeom prst="straightConnector1">
            <a:avLst/>
          </a:prstGeom>
          <a:ln w="5080">
            <a:solidFill>
              <a:schemeClr val="dk1">
                <a:tint val="15000"/>
              </a:schemeClr>
            </a:solidFill>
          </a:ln>
        </p:spPr>
        <p:style>
          <a:lnRef idx="1">
            <a:schemeClr val="accent1"/>
          </a:lnRef>
          <a:fillRef idx="0">
            <a:schemeClr val="accent1"/>
          </a:fillRef>
          <a:effectRef idx="0">
            <a:schemeClr val="accent1"/>
          </a:effectRef>
          <a:fontRef idx="minor">
            <a:schemeClr val="tx1"/>
          </a:fontRef>
        </p:style>
      </p:cxnSp>
      <p:sp>
        <p:nvSpPr>
          <p:cNvPr id="28" name="Sector label 1">
            <a:extLst>
              <a:ext uri="{FF2B5EF4-FFF2-40B4-BE49-F238E27FC236}">
                <a16:creationId xmlns:a16="http://schemas.microsoft.com/office/drawing/2014/main" id="{BBDB7AF9-6122-31BD-BE04-9ACF0FFD77A1}"/>
              </a:ext>
            </a:extLst>
          </p:cNvPr>
          <p:cNvSpPr txBox="1"/>
          <p:nvPr/>
        </p:nvSpPr>
        <p:spPr>
          <a:xfrm>
            <a:off x="457200" y="3416300"/>
            <a:ext cx="1968500" cy="711200"/>
          </a:xfrm>
          <a:prstGeom prst="rect">
            <a:avLst/>
          </a:prstGeom>
          <a:noFill/>
        </p:spPr>
        <p:txBody>
          <a:bodyPr vert="horz" lIns="0" tIns="0" rIns="0" bIns="0" rtlCol="0">
            <a:noAutofit/>
          </a:bodyPr>
          <a:lstStyle/>
          <a:p>
            <a:r>
              <a:rPr lang="en-ZA" sz="1300" b="1">
                <a:solidFill>
                  <a:schemeClr val="accent1"/>
                </a:solidFill>
                <a:latin typeface="Lato" panose="020F0502020204030203" pitchFamily="34" charset="0"/>
              </a:rPr>
              <a:t>Manufacturing / non-specified industry</a:t>
            </a:r>
          </a:p>
        </p:txBody>
      </p:sp>
      <p:sp>
        <p:nvSpPr>
          <p:cNvPr id="29" name="Sector interpretation 1">
            <a:extLst>
              <a:ext uri="{FF2B5EF4-FFF2-40B4-BE49-F238E27FC236}">
                <a16:creationId xmlns:a16="http://schemas.microsoft.com/office/drawing/2014/main" id="{BFC2BDC1-F459-EAAA-BB5E-806FD2D52D46}"/>
              </a:ext>
            </a:extLst>
          </p:cNvPr>
          <p:cNvSpPr txBox="1"/>
          <p:nvPr/>
        </p:nvSpPr>
        <p:spPr>
          <a:xfrm>
            <a:off x="7480300" y="3428999"/>
            <a:ext cx="3632200" cy="825500"/>
          </a:xfrm>
          <a:prstGeom prst="rect">
            <a:avLst/>
          </a:prstGeom>
          <a:noFill/>
        </p:spPr>
        <p:txBody>
          <a:bodyPr vert="horz" lIns="0" tIns="0" rIns="0" bIns="0" rtlCol="0">
            <a:noAutofit/>
          </a:bodyPr>
          <a:lstStyle/>
          <a:p>
            <a:r>
              <a:rPr lang="en-GB" sz="1250">
                <a:solidFill>
                  <a:schemeClr val="dk1"/>
                </a:solidFill>
                <a:latin typeface="Lato" panose="020F0502020204030203" pitchFamily="34" charset="0"/>
              </a:rPr>
              <a:t>2024 output index 93.3. Fuel is industry less mining/construction, not all industrial use.</a:t>
            </a:r>
            <a:endParaRPr lang="en-ZA" sz="1250">
              <a:solidFill>
                <a:schemeClr val="dk1"/>
              </a:solidFill>
              <a:latin typeface="Lato" panose="020F0502020204030203" pitchFamily="34" charset="0"/>
            </a:endParaRPr>
          </a:p>
        </p:txBody>
      </p:sp>
      <p:cxnSp>
        <p:nvCxnSpPr>
          <p:cNvPr id="30" name="Zero axis 1">
            <a:extLst>
              <a:ext uri="{FF2B5EF4-FFF2-40B4-BE49-F238E27FC236}">
                <a16:creationId xmlns:a16="http://schemas.microsoft.com/office/drawing/2014/main" id="{40D77BA0-5AE4-18A0-72C7-8846CF70AEA8}"/>
              </a:ext>
            </a:extLst>
          </p:cNvPr>
          <p:cNvCxnSpPr/>
          <p:nvPr/>
        </p:nvCxnSpPr>
        <p:spPr>
          <a:xfrm>
            <a:off x="3263900" y="3390900"/>
            <a:ext cx="0" cy="876300"/>
          </a:xfrm>
          <a:prstGeom prst="straightConnector1">
            <a:avLst/>
          </a:prstGeom>
          <a:ln w="5080">
            <a:solidFill>
              <a:schemeClr val="dk1">
                <a:tint val="15000"/>
              </a:schemeClr>
            </a:solidFill>
          </a:ln>
        </p:spPr>
        <p:style>
          <a:lnRef idx="1">
            <a:schemeClr val="accent1"/>
          </a:lnRef>
          <a:fillRef idx="0">
            <a:schemeClr val="accent1"/>
          </a:fillRef>
          <a:effectRef idx="0">
            <a:schemeClr val="accent1"/>
          </a:effectRef>
          <a:fontRef idx="minor">
            <a:schemeClr val="tx1"/>
          </a:fontRef>
        </p:style>
      </p:cxnSp>
      <p:sp>
        <p:nvSpPr>
          <p:cNvPr id="31" name="Year 1 0">
            <a:extLst>
              <a:ext uri="{FF2B5EF4-FFF2-40B4-BE49-F238E27FC236}">
                <a16:creationId xmlns:a16="http://schemas.microsoft.com/office/drawing/2014/main" id="{16B0186D-8604-9086-8124-5B59F61AB1A9}"/>
              </a:ext>
            </a:extLst>
          </p:cNvPr>
          <p:cNvSpPr txBox="1"/>
          <p:nvPr/>
        </p:nvSpPr>
        <p:spPr>
          <a:xfrm>
            <a:off x="2552700" y="3403600"/>
            <a:ext cx="660400" cy="190500"/>
          </a:xfrm>
          <a:prstGeom prst="rect">
            <a:avLst/>
          </a:prstGeom>
          <a:noFill/>
        </p:spPr>
        <p:txBody>
          <a:bodyPr vert="horz" lIns="0" tIns="0" rIns="0" bIns="0" rtlCol="0">
            <a:noAutofit/>
          </a:bodyPr>
          <a:lstStyle/>
          <a:p>
            <a:r>
              <a:rPr lang="en-ZA" sz="1000">
                <a:solidFill>
                  <a:schemeClr val="dk1"/>
                </a:solidFill>
                <a:latin typeface="Lato" panose="020F0502020204030203" pitchFamily="34" charset="0"/>
              </a:rPr>
              <a:t>2019</a:t>
            </a:r>
          </a:p>
        </p:txBody>
      </p:sp>
      <p:sp>
        <p:nvSpPr>
          <p:cNvPr id="32" name="Sector bar 1 0">
            <a:extLst>
              <a:ext uri="{FF2B5EF4-FFF2-40B4-BE49-F238E27FC236}">
                <a16:creationId xmlns:a16="http://schemas.microsoft.com/office/drawing/2014/main" id="{2DA6DBBB-2E07-06BE-2A17-FB5203EBAC94}"/>
              </a:ext>
            </a:extLst>
          </p:cNvPr>
          <p:cNvSpPr/>
          <p:nvPr/>
        </p:nvSpPr>
        <p:spPr>
          <a:xfrm>
            <a:off x="3263900" y="3416300"/>
            <a:ext cx="400177" cy="152400"/>
          </a:xfrm>
          <a:prstGeom prst="rect">
            <a:avLst/>
          </a:prstGeom>
          <a:solidFill>
            <a:schemeClr val="accent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3" name="Value 1 0">
            <a:extLst>
              <a:ext uri="{FF2B5EF4-FFF2-40B4-BE49-F238E27FC236}">
                <a16:creationId xmlns:a16="http://schemas.microsoft.com/office/drawing/2014/main" id="{17BCCB4B-9BA0-D28F-AF5E-09327B282841}"/>
              </a:ext>
            </a:extLst>
          </p:cNvPr>
          <p:cNvSpPr txBox="1"/>
          <p:nvPr/>
        </p:nvSpPr>
        <p:spPr>
          <a:xfrm>
            <a:off x="3740277" y="3403600"/>
            <a:ext cx="546100" cy="190500"/>
          </a:xfrm>
          <a:prstGeom prst="rect">
            <a:avLst/>
          </a:prstGeom>
          <a:noFill/>
        </p:spPr>
        <p:txBody>
          <a:bodyPr vert="horz" lIns="0" tIns="0" rIns="0" bIns="0" rtlCol="0">
            <a:noAutofit/>
          </a:bodyPr>
          <a:lstStyle/>
          <a:p>
            <a:r>
              <a:rPr lang="en-ZA" sz="1000" b="1">
                <a:solidFill>
                  <a:schemeClr val="accent1"/>
                </a:solidFill>
                <a:latin typeface="Lato" panose="020F0502020204030203" pitchFamily="34" charset="0"/>
              </a:rPr>
              <a:t>0.23</a:t>
            </a:r>
          </a:p>
        </p:txBody>
      </p:sp>
      <p:sp>
        <p:nvSpPr>
          <p:cNvPr id="34" name="Year 1 1">
            <a:extLst>
              <a:ext uri="{FF2B5EF4-FFF2-40B4-BE49-F238E27FC236}">
                <a16:creationId xmlns:a16="http://schemas.microsoft.com/office/drawing/2014/main" id="{136F52DC-B196-9F98-C031-615B735A15BB}"/>
              </a:ext>
            </a:extLst>
          </p:cNvPr>
          <p:cNvSpPr txBox="1"/>
          <p:nvPr/>
        </p:nvSpPr>
        <p:spPr>
          <a:xfrm>
            <a:off x="2552700" y="3708400"/>
            <a:ext cx="660400" cy="190500"/>
          </a:xfrm>
          <a:prstGeom prst="rect">
            <a:avLst/>
          </a:prstGeom>
          <a:noFill/>
        </p:spPr>
        <p:txBody>
          <a:bodyPr vert="horz" lIns="0" tIns="0" rIns="0" bIns="0" rtlCol="0">
            <a:noAutofit/>
          </a:bodyPr>
          <a:lstStyle/>
          <a:p>
            <a:r>
              <a:rPr lang="en-ZA" sz="1000">
                <a:solidFill>
                  <a:schemeClr val="dk1"/>
                </a:solidFill>
                <a:latin typeface="Lato" panose="020F0502020204030203" pitchFamily="34" charset="0"/>
              </a:rPr>
              <a:t>2021</a:t>
            </a:r>
          </a:p>
        </p:txBody>
      </p:sp>
      <p:sp>
        <p:nvSpPr>
          <p:cNvPr id="35" name="Sector bar 1 1">
            <a:extLst>
              <a:ext uri="{FF2B5EF4-FFF2-40B4-BE49-F238E27FC236}">
                <a16:creationId xmlns:a16="http://schemas.microsoft.com/office/drawing/2014/main" id="{4965B220-CF36-3D8E-8803-FFFF46126B6C}"/>
              </a:ext>
            </a:extLst>
          </p:cNvPr>
          <p:cNvSpPr/>
          <p:nvPr/>
        </p:nvSpPr>
        <p:spPr>
          <a:xfrm>
            <a:off x="3263900" y="3721100"/>
            <a:ext cx="278384" cy="152400"/>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6" name="Value 1 1">
            <a:extLst>
              <a:ext uri="{FF2B5EF4-FFF2-40B4-BE49-F238E27FC236}">
                <a16:creationId xmlns:a16="http://schemas.microsoft.com/office/drawing/2014/main" id="{C2AD154B-6A28-84F2-FD3A-53898FEA8469}"/>
              </a:ext>
            </a:extLst>
          </p:cNvPr>
          <p:cNvSpPr txBox="1"/>
          <p:nvPr/>
        </p:nvSpPr>
        <p:spPr>
          <a:xfrm>
            <a:off x="3618484" y="3708400"/>
            <a:ext cx="546100" cy="190500"/>
          </a:xfrm>
          <a:prstGeom prst="rect">
            <a:avLst/>
          </a:prstGeom>
          <a:noFill/>
        </p:spPr>
        <p:txBody>
          <a:bodyPr vert="horz" lIns="0" tIns="0" rIns="0" bIns="0" rtlCol="0">
            <a:noAutofit/>
          </a:bodyPr>
          <a:lstStyle/>
          <a:p>
            <a:r>
              <a:rPr lang="en-ZA" sz="1000" b="1">
                <a:solidFill>
                  <a:schemeClr val="accent1"/>
                </a:solidFill>
                <a:latin typeface="Lato" panose="020F0502020204030203" pitchFamily="34" charset="0"/>
              </a:rPr>
              <a:t>0.16</a:t>
            </a:r>
          </a:p>
        </p:txBody>
      </p:sp>
      <p:sp>
        <p:nvSpPr>
          <p:cNvPr id="37" name="Year 1 2">
            <a:extLst>
              <a:ext uri="{FF2B5EF4-FFF2-40B4-BE49-F238E27FC236}">
                <a16:creationId xmlns:a16="http://schemas.microsoft.com/office/drawing/2014/main" id="{ADCEAD1A-F95E-16BE-B8E7-E7150E877487}"/>
              </a:ext>
            </a:extLst>
          </p:cNvPr>
          <p:cNvSpPr txBox="1"/>
          <p:nvPr/>
        </p:nvSpPr>
        <p:spPr>
          <a:xfrm>
            <a:off x="2552700" y="4013200"/>
            <a:ext cx="660400" cy="190500"/>
          </a:xfrm>
          <a:prstGeom prst="rect">
            <a:avLst/>
          </a:prstGeom>
          <a:noFill/>
        </p:spPr>
        <p:txBody>
          <a:bodyPr vert="horz" lIns="0" tIns="0" rIns="0" bIns="0" rtlCol="0">
            <a:noAutofit/>
          </a:bodyPr>
          <a:lstStyle/>
          <a:p>
            <a:r>
              <a:rPr lang="en-ZA" sz="1000">
                <a:solidFill>
                  <a:schemeClr val="dk1"/>
                </a:solidFill>
                <a:latin typeface="Lato" panose="020F0502020204030203" pitchFamily="34" charset="0"/>
              </a:rPr>
              <a:t>2024 est.</a:t>
            </a:r>
          </a:p>
        </p:txBody>
      </p:sp>
      <p:sp>
        <p:nvSpPr>
          <p:cNvPr id="38" name="Sector bar 1 2">
            <a:extLst>
              <a:ext uri="{FF2B5EF4-FFF2-40B4-BE49-F238E27FC236}">
                <a16:creationId xmlns:a16="http://schemas.microsoft.com/office/drawing/2014/main" id="{7F8F2217-2E77-347C-505D-DBF279785080}"/>
              </a:ext>
            </a:extLst>
          </p:cNvPr>
          <p:cNvSpPr/>
          <p:nvPr/>
        </p:nvSpPr>
        <p:spPr>
          <a:xfrm>
            <a:off x="3263900" y="4025900"/>
            <a:ext cx="295783" cy="152400"/>
          </a:xfrm>
          <a:prstGeom prst="rect">
            <a:avLst/>
          </a:prstGeom>
          <a:solidFill>
            <a:schemeClr val="lt1"/>
          </a:solidFill>
          <a:ln w="11430" cap="flat" cmpd="sng" algn="ctr">
            <a:solidFill>
              <a:schemeClr val="accent1"/>
            </a:solidFill>
            <a:prstDash val="dash"/>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9" name="Value 1 2">
            <a:extLst>
              <a:ext uri="{FF2B5EF4-FFF2-40B4-BE49-F238E27FC236}">
                <a16:creationId xmlns:a16="http://schemas.microsoft.com/office/drawing/2014/main" id="{814FCAB5-F5DB-7991-9CED-5828A76BF304}"/>
              </a:ext>
            </a:extLst>
          </p:cNvPr>
          <p:cNvSpPr txBox="1"/>
          <p:nvPr/>
        </p:nvSpPr>
        <p:spPr>
          <a:xfrm>
            <a:off x="3635883" y="4013200"/>
            <a:ext cx="546100" cy="190500"/>
          </a:xfrm>
          <a:prstGeom prst="rect">
            <a:avLst/>
          </a:prstGeom>
          <a:noFill/>
        </p:spPr>
        <p:txBody>
          <a:bodyPr vert="horz" lIns="0" tIns="0" rIns="0" bIns="0" rtlCol="0">
            <a:noAutofit/>
          </a:bodyPr>
          <a:lstStyle/>
          <a:p>
            <a:r>
              <a:rPr lang="en-ZA" sz="1000" b="1">
                <a:solidFill>
                  <a:schemeClr val="accent1"/>
                </a:solidFill>
                <a:latin typeface="Lato" panose="020F0502020204030203" pitchFamily="34" charset="0"/>
              </a:rPr>
              <a:t>0.17</a:t>
            </a:r>
          </a:p>
        </p:txBody>
      </p:sp>
      <p:cxnSp>
        <p:nvCxnSpPr>
          <p:cNvPr id="40" name="Sector row rule 1">
            <a:extLst>
              <a:ext uri="{FF2B5EF4-FFF2-40B4-BE49-F238E27FC236}">
                <a16:creationId xmlns:a16="http://schemas.microsoft.com/office/drawing/2014/main" id="{A985D52B-0F47-6370-1CE5-2192490A65B4}"/>
              </a:ext>
            </a:extLst>
          </p:cNvPr>
          <p:cNvCxnSpPr/>
          <p:nvPr/>
        </p:nvCxnSpPr>
        <p:spPr>
          <a:xfrm>
            <a:off x="457200" y="4432300"/>
            <a:ext cx="10652760" cy="0"/>
          </a:xfrm>
          <a:prstGeom prst="straightConnector1">
            <a:avLst/>
          </a:prstGeom>
          <a:ln w="5080">
            <a:solidFill>
              <a:schemeClr val="dk1">
                <a:tint val="15000"/>
              </a:schemeClr>
            </a:solidFill>
          </a:ln>
        </p:spPr>
        <p:style>
          <a:lnRef idx="1">
            <a:schemeClr val="accent1"/>
          </a:lnRef>
          <a:fillRef idx="0">
            <a:schemeClr val="accent1"/>
          </a:fillRef>
          <a:effectRef idx="0">
            <a:schemeClr val="accent1"/>
          </a:effectRef>
          <a:fontRef idx="minor">
            <a:schemeClr val="tx1"/>
          </a:fontRef>
        </p:style>
      </p:cxnSp>
      <p:sp>
        <p:nvSpPr>
          <p:cNvPr id="41" name="Sector label 2">
            <a:extLst>
              <a:ext uri="{FF2B5EF4-FFF2-40B4-BE49-F238E27FC236}">
                <a16:creationId xmlns:a16="http://schemas.microsoft.com/office/drawing/2014/main" id="{432BC058-6345-93A7-631D-3D57222DD209}"/>
              </a:ext>
            </a:extLst>
          </p:cNvPr>
          <p:cNvSpPr txBox="1"/>
          <p:nvPr/>
        </p:nvSpPr>
        <p:spPr>
          <a:xfrm>
            <a:off x="457200" y="4673599"/>
            <a:ext cx="1968500" cy="711200"/>
          </a:xfrm>
          <a:prstGeom prst="rect">
            <a:avLst/>
          </a:prstGeom>
          <a:noFill/>
        </p:spPr>
        <p:txBody>
          <a:bodyPr vert="horz" lIns="0" tIns="0" rIns="0" bIns="0" rtlCol="0">
            <a:noAutofit/>
          </a:bodyPr>
          <a:lstStyle/>
          <a:p>
            <a:r>
              <a:rPr lang="en-ZA" sz="1300" b="1">
                <a:solidFill>
                  <a:schemeClr val="accent1"/>
                </a:solidFill>
                <a:latin typeface="Lato" panose="020F0502020204030203" pitchFamily="34" charset="0"/>
              </a:rPr>
              <a:t>Agriculture / forestry</a:t>
            </a:r>
          </a:p>
        </p:txBody>
      </p:sp>
      <p:sp>
        <p:nvSpPr>
          <p:cNvPr id="42" name="Sector interpretation 2">
            <a:extLst>
              <a:ext uri="{FF2B5EF4-FFF2-40B4-BE49-F238E27FC236}">
                <a16:creationId xmlns:a16="http://schemas.microsoft.com/office/drawing/2014/main" id="{D9A929E7-20BF-D9F1-A9E4-59AD7B63F9DD}"/>
              </a:ext>
            </a:extLst>
          </p:cNvPr>
          <p:cNvSpPr txBox="1"/>
          <p:nvPr/>
        </p:nvSpPr>
        <p:spPr>
          <a:xfrm>
            <a:off x="7480300" y="4686299"/>
            <a:ext cx="3632200" cy="825500"/>
          </a:xfrm>
          <a:prstGeom prst="rect">
            <a:avLst/>
          </a:prstGeom>
          <a:noFill/>
        </p:spPr>
        <p:txBody>
          <a:bodyPr vert="horz" lIns="0" tIns="0" rIns="0" bIns="0" rtlCol="0">
            <a:noAutofit/>
          </a:bodyPr>
          <a:lstStyle/>
          <a:p>
            <a:r>
              <a:rPr lang="en-GB" sz="1250">
                <a:solidFill>
                  <a:schemeClr val="dk1"/>
                </a:solidFill>
                <a:latin typeface="Lato" panose="020F0502020204030203" pitchFamily="34" charset="0"/>
              </a:rPr>
              <a:t>2024 GVA R114.8bn, 2015 prices. Weather, crop cycles, irrigation and transport affect exposure.</a:t>
            </a:r>
            <a:endParaRPr lang="en-ZA" sz="1250">
              <a:solidFill>
                <a:schemeClr val="dk1"/>
              </a:solidFill>
              <a:latin typeface="Lato" panose="020F0502020204030203" pitchFamily="34" charset="0"/>
            </a:endParaRPr>
          </a:p>
        </p:txBody>
      </p:sp>
      <p:cxnSp>
        <p:nvCxnSpPr>
          <p:cNvPr id="43" name="Zero axis 2">
            <a:extLst>
              <a:ext uri="{FF2B5EF4-FFF2-40B4-BE49-F238E27FC236}">
                <a16:creationId xmlns:a16="http://schemas.microsoft.com/office/drawing/2014/main" id="{23FFB05A-AE85-1E51-CD53-819096525DA5}"/>
              </a:ext>
            </a:extLst>
          </p:cNvPr>
          <p:cNvCxnSpPr/>
          <p:nvPr/>
        </p:nvCxnSpPr>
        <p:spPr>
          <a:xfrm>
            <a:off x="3263900" y="4648200"/>
            <a:ext cx="0" cy="876300"/>
          </a:xfrm>
          <a:prstGeom prst="straightConnector1">
            <a:avLst/>
          </a:prstGeom>
          <a:ln w="5080">
            <a:solidFill>
              <a:schemeClr val="dk1">
                <a:tint val="15000"/>
              </a:schemeClr>
            </a:solidFill>
          </a:ln>
        </p:spPr>
        <p:style>
          <a:lnRef idx="1">
            <a:schemeClr val="accent1"/>
          </a:lnRef>
          <a:fillRef idx="0">
            <a:schemeClr val="accent1"/>
          </a:fillRef>
          <a:effectRef idx="0">
            <a:schemeClr val="accent1"/>
          </a:effectRef>
          <a:fontRef idx="minor">
            <a:schemeClr val="tx1"/>
          </a:fontRef>
        </p:style>
      </p:cxnSp>
      <p:sp>
        <p:nvSpPr>
          <p:cNvPr id="44" name="Year 2 0">
            <a:extLst>
              <a:ext uri="{FF2B5EF4-FFF2-40B4-BE49-F238E27FC236}">
                <a16:creationId xmlns:a16="http://schemas.microsoft.com/office/drawing/2014/main" id="{9A46EBB9-80A4-EB24-BF84-58836D7A29C2}"/>
              </a:ext>
            </a:extLst>
          </p:cNvPr>
          <p:cNvSpPr txBox="1"/>
          <p:nvPr/>
        </p:nvSpPr>
        <p:spPr>
          <a:xfrm>
            <a:off x="2552700" y="4660900"/>
            <a:ext cx="660400" cy="190500"/>
          </a:xfrm>
          <a:prstGeom prst="rect">
            <a:avLst/>
          </a:prstGeom>
          <a:noFill/>
        </p:spPr>
        <p:txBody>
          <a:bodyPr vert="horz" lIns="0" tIns="0" rIns="0" bIns="0" rtlCol="0">
            <a:noAutofit/>
          </a:bodyPr>
          <a:lstStyle/>
          <a:p>
            <a:r>
              <a:rPr lang="en-ZA" sz="1000">
                <a:solidFill>
                  <a:schemeClr val="dk1"/>
                </a:solidFill>
                <a:latin typeface="Lato" panose="020F0502020204030203" pitchFamily="34" charset="0"/>
              </a:rPr>
              <a:t>2019</a:t>
            </a:r>
          </a:p>
        </p:txBody>
      </p:sp>
      <p:sp>
        <p:nvSpPr>
          <p:cNvPr id="45" name="Sector bar 2 0">
            <a:extLst>
              <a:ext uri="{FF2B5EF4-FFF2-40B4-BE49-F238E27FC236}">
                <a16:creationId xmlns:a16="http://schemas.microsoft.com/office/drawing/2014/main" id="{A778E9EF-151C-CB12-5F7F-F2E63EF28409}"/>
              </a:ext>
            </a:extLst>
          </p:cNvPr>
          <p:cNvSpPr/>
          <p:nvPr/>
        </p:nvSpPr>
        <p:spPr>
          <a:xfrm>
            <a:off x="3263900" y="4673600"/>
            <a:ext cx="1600708" cy="152400"/>
          </a:xfrm>
          <a:prstGeom prst="rect">
            <a:avLst/>
          </a:prstGeom>
          <a:solidFill>
            <a:schemeClr val="accent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6" name="Value 2 0">
            <a:extLst>
              <a:ext uri="{FF2B5EF4-FFF2-40B4-BE49-F238E27FC236}">
                <a16:creationId xmlns:a16="http://schemas.microsoft.com/office/drawing/2014/main" id="{C19BD180-4226-7FCB-5122-31F30A9F3DA0}"/>
              </a:ext>
            </a:extLst>
          </p:cNvPr>
          <p:cNvSpPr txBox="1"/>
          <p:nvPr/>
        </p:nvSpPr>
        <p:spPr>
          <a:xfrm>
            <a:off x="4940808" y="4660900"/>
            <a:ext cx="546100" cy="190500"/>
          </a:xfrm>
          <a:prstGeom prst="rect">
            <a:avLst/>
          </a:prstGeom>
          <a:noFill/>
        </p:spPr>
        <p:txBody>
          <a:bodyPr vert="horz" lIns="0" tIns="0" rIns="0" bIns="0" rtlCol="0">
            <a:noAutofit/>
          </a:bodyPr>
          <a:lstStyle/>
          <a:p>
            <a:r>
              <a:rPr lang="en-ZA" sz="1000" b="1">
                <a:solidFill>
                  <a:schemeClr val="accent1"/>
                </a:solidFill>
                <a:latin typeface="Lato" panose="020F0502020204030203" pitchFamily="34" charset="0"/>
              </a:rPr>
              <a:t>0.92</a:t>
            </a:r>
          </a:p>
        </p:txBody>
      </p:sp>
      <p:sp>
        <p:nvSpPr>
          <p:cNvPr id="47" name="Year 2 1">
            <a:extLst>
              <a:ext uri="{FF2B5EF4-FFF2-40B4-BE49-F238E27FC236}">
                <a16:creationId xmlns:a16="http://schemas.microsoft.com/office/drawing/2014/main" id="{203F43BB-C4C4-EF5B-62D7-C983F44D5D80}"/>
              </a:ext>
            </a:extLst>
          </p:cNvPr>
          <p:cNvSpPr txBox="1"/>
          <p:nvPr/>
        </p:nvSpPr>
        <p:spPr>
          <a:xfrm>
            <a:off x="2552700" y="4965700"/>
            <a:ext cx="660400" cy="190500"/>
          </a:xfrm>
          <a:prstGeom prst="rect">
            <a:avLst/>
          </a:prstGeom>
          <a:noFill/>
        </p:spPr>
        <p:txBody>
          <a:bodyPr vert="horz" lIns="0" tIns="0" rIns="0" bIns="0" rtlCol="0">
            <a:noAutofit/>
          </a:bodyPr>
          <a:lstStyle/>
          <a:p>
            <a:r>
              <a:rPr lang="en-ZA" sz="1000">
                <a:solidFill>
                  <a:schemeClr val="dk1"/>
                </a:solidFill>
                <a:latin typeface="Lato" panose="020F0502020204030203" pitchFamily="34" charset="0"/>
              </a:rPr>
              <a:t>2021</a:t>
            </a:r>
          </a:p>
        </p:txBody>
      </p:sp>
      <p:sp>
        <p:nvSpPr>
          <p:cNvPr id="49" name="Sector bar 2 1">
            <a:extLst>
              <a:ext uri="{FF2B5EF4-FFF2-40B4-BE49-F238E27FC236}">
                <a16:creationId xmlns:a16="http://schemas.microsoft.com/office/drawing/2014/main" id="{9A65D64C-A255-0484-9B4C-DB1D888CA75A}"/>
              </a:ext>
            </a:extLst>
          </p:cNvPr>
          <p:cNvSpPr/>
          <p:nvPr/>
        </p:nvSpPr>
        <p:spPr>
          <a:xfrm>
            <a:off x="3263900" y="4978400"/>
            <a:ext cx="1844294" cy="152400"/>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50" name="Value 2 1">
            <a:extLst>
              <a:ext uri="{FF2B5EF4-FFF2-40B4-BE49-F238E27FC236}">
                <a16:creationId xmlns:a16="http://schemas.microsoft.com/office/drawing/2014/main" id="{2639BBAA-BF87-EB2E-3B26-AD87F77D4799}"/>
              </a:ext>
            </a:extLst>
          </p:cNvPr>
          <p:cNvSpPr txBox="1"/>
          <p:nvPr/>
        </p:nvSpPr>
        <p:spPr>
          <a:xfrm>
            <a:off x="5184394" y="4965700"/>
            <a:ext cx="546100" cy="190500"/>
          </a:xfrm>
          <a:prstGeom prst="rect">
            <a:avLst/>
          </a:prstGeom>
          <a:noFill/>
        </p:spPr>
        <p:txBody>
          <a:bodyPr vert="horz" lIns="0" tIns="0" rIns="0" bIns="0" rtlCol="0">
            <a:noAutofit/>
          </a:bodyPr>
          <a:lstStyle/>
          <a:p>
            <a:r>
              <a:rPr lang="en-ZA" sz="1000" b="1">
                <a:solidFill>
                  <a:schemeClr val="accent1"/>
                </a:solidFill>
                <a:latin typeface="Lato" panose="020F0502020204030203" pitchFamily="34" charset="0"/>
              </a:rPr>
              <a:t>1.06</a:t>
            </a:r>
          </a:p>
        </p:txBody>
      </p:sp>
      <p:sp>
        <p:nvSpPr>
          <p:cNvPr id="51" name="Year 2 2">
            <a:extLst>
              <a:ext uri="{FF2B5EF4-FFF2-40B4-BE49-F238E27FC236}">
                <a16:creationId xmlns:a16="http://schemas.microsoft.com/office/drawing/2014/main" id="{64995438-4D77-DCFE-8013-D3F2C856DF1C}"/>
              </a:ext>
            </a:extLst>
          </p:cNvPr>
          <p:cNvSpPr txBox="1"/>
          <p:nvPr/>
        </p:nvSpPr>
        <p:spPr>
          <a:xfrm>
            <a:off x="2552700" y="5270500"/>
            <a:ext cx="660400" cy="190500"/>
          </a:xfrm>
          <a:prstGeom prst="rect">
            <a:avLst/>
          </a:prstGeom>
          <a:noFill/>
        </p:spPr>
        <p:txBody>
          <a:bodyPr vert="horz" lIns="0" tIns="0" rIns="0" bIns="0" rtlCol="0">
            <a:noAutofit/>
          </a:bodyPr>
          <a:lstStyle/>
          <a:p>
            <a:r>
              <a:rPr lang="en-ZA" sz="1000">
                <a:solidFill>
                  <a:schemeClr val="dk1"/>
                </a:solidFill>
                <a:latin typeface="Lato" panose="020F0502020204030203" pitchFamily="34" charset="0"/>
              </a:rPr>
              <a:t>2024 est.</a:t>
            </a:r>
          </a:p>
        </p:txBody>
      </p:sp>
      <p:sp>
        <p:nvSpPr>
          <p:cNvPr id="52" name="Sector bar 2 2">
            <a:extLst>
              <a:ext uri="{FF2B5EF4-FFF2-40B4-BE49-F238E27FC236}">
                <a16:creationId xmlns:a16="http://schemas.microsoft.com/office/drawing/2014/main" id="{15ABB96F-19D1-4B54-F98E-900FC6B40019}"/>
              </a:ext>
            </a:extLst>
          </p:cNvPr>
          <p:cNvSpPr/>
          <p:nvPr/>
        </p:nvSpPr>
        <p:spPr>
          <a:xfrm>
            <a:off x="3263900" y="5283200"/>
            <a:ext cx="1670304" cy="152400"/>
          </a:xfrm>
          <a:prstGeom prst="rect">
            <a:avLst/>
          </a:prstGeom>
          <a:solidFill>
            <a:schemeClr val="lt1"/>
          </a:solidFill>
          <a:ln w="11430" cap="flat" cmpd="sng" algn="ctr">
            <a:solidFill>
              <a:schemeClr val="accent1"/>
            </a:solidFill>
            <a:prstDash val="dash"/>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53" name="Value 2 2">
            <a:extLst>
              <a:ext uri="{FF2B5EF4-FFF2-40B4-BE49-F238E27FC236}">
                <a16:creationId xmlns:a16="http://schemas.microsoft.com/office/drawing/2014/main" id="{85D836A3-6D30-F8E0-F284-6B823EE75E71}"/>
              </a:ext>
            </a:extLst>
          </p:cNvPr>
          <p:cNvSpPr txBox="1"/>
          <p:nvPr/>
        </p:nvSpPr>
        <p:spPr>
          <a:xfrm>
            <a:off x="5010404" y="5270500"/>
            <a:ext cx="546100" cy="190500"/>
          </a:xfrm>
          <a:prstGeom prst="rect">
            <a:avLst/>
          </a:prstGeom>
          <a:noFill/>
        </p:spPr>
        <p:txBody>
          <a:bodyPr vert="horz" lIns="0" tIns="0" rIns="0" bIns="0" rtlCol="0">
            <a:noAutofit/>
          </a:bodyPr>
          <a:lstStyle/>
          <a:p>
            <a:r>
              <a:rPr lang="en-ZA" sz="1000" b="1">
                <a:solidFill>
                  <a:schemeClr val="accent1"/>
                </a:solidFill>
                <a:latin typeface="Lato" panose="020F0502020204030203" pitchFamily="34" charset="0"/>
              </a:rPr>
              <a:t>0.96</a:t>
            </a:r>
          </a:p>
        </p:txBody>
      </p:sp>
      <p:cxnSp>
        <p:nvCxnSpPr>
          <p:cNvPr id="54" name="Sector row rule 2">
            <a:extLst>
              <a:ext uri="{FF2B5EF4-FFF2-40B4-BE49-F238E27FC236}">
                <a16:creationId xmlns:a16="http://schemas.microsoft.com/office/drawing/2014/main" id="{1AFB81BB-8E12-39EB-F3E9-3D9F0A26F210}"/>
              </a:ext>
            </a:extLst>
          </p:cNvPr>
          <p:cNvCxnSpPr/>
          <p:nvPr/>
        </p:nvCxnSpPr>
        <p:spPr>
          <a:xfrm>
            <a:off x="457200" y="5689600"/>
            <a:ext cx="10652760" cy="0"/>
          </a:xfrm>
          <a:prstGeom prst="straightConnector1">
            <a:avLst/>
          </a:prstGeom>
          <a:ln w="5080">
            <a:solidFill>
              <a:schemeClr val="dk1">
                <a:tint val="15000"/>
              </a:schemeClr>
            </a:solidFill>
          </a:ln>
        </p:spPr>
        <p:style>
          <a:lnRef idx="1">
            <a:schemeClr val="accent1"/>
          </a:lnRef>
          <a:fillRef idx="0">
            <a:schemeClr val="accent1"/>
          </a:fillRef>
          <a:effectRef idx="0">
            <a:schemeClr val="accent1"/>
          </a:effectRef>
          <a:fontRef idx="minor">
            <a:schemeClr val="tx1"/>
          </a:fontRef>
        </p:style>
      </p:cxnSp>
      <p:sp>
        <p:nvSpPr>
          <p:cNvPr id="55" name="Chart scale note">
            <a:extLst>
              <a:ext uri="{FF2B5EF4-FFF2-40B4-BE49-F238E27FC236}">
                <a16:creationId xmlns:a16="http://schemas.microsoft.com/office/drawing/2014/main" id="{108C89DE-252D-F272-16FF-23DAE5529CC0}"/>
              </a:ext>
            </a:extLst>
          </p:cNvPr>
          <p:cNvSpPr txBox="1"/>
          <p:nvPr/>
        </p:nvSpPr>
        <p:spPr>
          <a:xfrm>
            <a:off x="2552700" y="5740399"/>
            <a:ext cx="8382000" cy="203200"/>
          </a:xfrm>
          <a:prstGeom prst="rect">
            <a:avLst/>
          </a:prstGeom>
          <a:noFill/>
        </p:spPr>
        <p:txBody>
          <a:bodyPr vert="horz" lIns="0" tIns="0" rIns="0" bIns="0" rtlCol="0">
            <a:noAutofit/>
          </a:bodyPr>
          <a:lstStyle/>
          <a:p>
            <a:r>
              <a:rPr lang="en-GB" sz="900">
                <a:solidFill>
                  <a:schemeClr val="dk1"/>
                </a:solidFill>
                <a:latin typeface="Lato" panose="020F0502020204030203" pitchFamily="34" charset="0"/>
              </a:rPr>
              <a:t>Bars start at zero; all sectors use the same 0-2bn litre scale. Outlined bars are estimates.</a:t>
            </a:r>
            <a:endParaRPr lang="en-ZA" sz="900">
              <a:solidFill>
                <a:schemeClr val="dk1"/>
              </a:solidFill>
              <a:latin typeface="Lato" panose="020F0502020204030203" pitchFamily="34" charset="0"/>
            </a:endParaRPr>
          </a:p>
        </p:txBody>
      </p:sp>
      <p:sp>
        <p:nvSpPr>
          <p:cNvPr id="56" name="Interpretation">
            <a:extLst>
              <a:ext uri="{FF2B5EF4-FFF2-40B4-BE49-F238E27FC236}">
                <a16:creationId xmlns:a16="http://schemas.microsoft.com/office/drawing/2014/main" id="{13AC0CB5-A862-29E0-D32E-F0683B42E7CF}"/>
              </a:ext>
            </a:extLst>
          </p:cNvPr>
          <p:cNvSpPr txBox="1"/>
          <p:nvPr/>
        </p:nvSpPr>
        <p:spPr>
          <a:xfrm>
            <a:off x="457200" y="5969000"/>
            <a:ext cx="10655300" cy="190500"/>
          </a:xfrm>
          <a:prstGeom prst="rect">
            <a:avLst/>
          </a:prstGeom>
          <a:noFill/>
        </p:spPr>
        <p:txBody>
          <a:bodyPr vert="horz" lIns="0" tIns="0" rIns="0" bIns="0" rtlCol="0">
            <a:noAutofit/>
          </a:bodyPr>
          <a:lstStyle/>
          <a:p>
            <a:r>
              <a:rPr lang="en-GB" sz="950">
                <a:solidFill>
                  <a:schemeClr val="dk1"/>
                </a:solidFill>
                <a:latin typeface="Lato" panose="020F0502020204030203" pitchFamily="34" charset="0"/>
              </a:rPr>
              <a:t>2024 estimates apply 2018-2021 average fuel intensity to sector activity; attribution and road-use overlap require review.</a:t>
            </a:r>
            <a:endParaRPr lang="en-ZA" sz="950">
              <a:solidFill>
                <a:schemeClr val="dk1"/>
              </a:solidFill>
              <a:latin typeface="Lato" panose="020F0502020204030203" pitchFamily="34" charset="0"/>
            </a:endParaRPr>
          </a:p>
        </p:txBody>
      </p:sp>
    </p:spTree>
    <p:extLst>
      <p:ext uri="{BB962C8B-B14F-4D97-AF65-F5344CB8AC3E}">
        <p14:creationId xmlns:p14="http://schemas.microsoft.com/office/powerpoint/2010/main" val="2634408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The shut down of domestic refining capacity has lowered domestic production and has increased imports shifting how inland demand is supplied</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9</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SARS litre-reported petrol/diesel codes, complete calendar years. 2020–2025 changes are historical comparisons, not plant-level causal attribution. Export histories retained in the source report; unit/blend exclusions remain.</a:t>
            </a:r>
            <a:endParaRPr sz="6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8C93CB81-07B7-7E70-D004-32567DD5FEDA}"/>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6E1A541-338A-EB56-1595-3D44EA292466}"/>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7FEED33D-4506-B40B-29F1-4255470AA99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C412178A-32D9-EFE7-A6BA-4576A3E07765}"/>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1F651618-E88B-F09E-4383-953C0C2A27BA}"/>
              </a:ext>
            </a:extLst>
          </p:cNvPr>
          <p:cNvSpPr txBox="1"/>
          <p:nvPr/>
        </p:nvSpPr>
        <p:spPr>
          <a:xfrm>
            <a:off x="533400" y="5600699"/>
            <a:ext cx="10477500" cy="482600"/>
          </a:xfrm>
          <a:prstGeom prst="rect">
            <a:avLst/>
          </a:prstGeom>
          <a:noFill/>
        </p:spPr>
        <p:txBody>
          <a:bodyPr vert="horz" lIns="0" tIns="0" rIns="0" bIns="0" rtlCol="0">
            <a:noAutofit/>
          </a:bodyPr>
          <a:lstStyle/>
          <a:p>
            <a:r>
              <a:rPr lang="en-GB" sz="1050">
                <a:solidFill>
                  <a:schemeClr val="dk1"/>
                </a:solidFill>
                <a:latin typeface="Lato" panose="020F0502020204030203" pitchFamily="34" charset="0"/>
              </a:rPr>
              <a:t>2025 gross imports: diesel 12.25bn L and petrol 4.45bn L. Combined net imports: 15.15bn L; port allocation and Vopak capture remain open.</a:t>
            </a:r>
            <a:endParaRPr lang="en-ZA" sz="105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FECCD2A9-E1AC-0767-B262-3724453555B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932354EC-65B1-0EF2-A176-8E881B4387C0}"/>
              </a:ext>
            </a:extLst>
          </p:cNvPr>
          <p:cNvSpPr txBox="1"/>
          <p:nvPr/>
        </p:nvSpPr>
        <p:spPr>
          <a:xfrm>
            <a:off x="457200" y="1625600"/>
            <a:ext cx="690071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Import trend</a:t>
            </a:r>
          </a:p>
        </p:txBody>
      </p:sp>
      <p:sp>
        <p:nvSpPr>
          <p:cNvPr id="16" name="Aligned panel subtitle">
            <a:extLst>
              <a:ext uri="{FF2B5EF4-FFF2-40B4-BE49-F238E27FC236}">
                <a16:creationId xmlns:a16="http://schemas.microsoft.com/office/drawing/2014/main" id="{A6FB8A44-2E10-A3A7-1081-800C64B998A5}"/>
              </a:ext>
            </a:extLst>
          </p:cNvPr>
          <p:cNvSpPr txBox="1"/>
          <p:nvPr/>
        </p:nvSpPr>
        <p:spPr>
          <a:xfrm>
            <a:off x="7637318" y="1625600"/>
            <a:ext cx="3472642"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Change since 2020</a:t>
            </a:r>
          </a:p>
        </p:txBody>
      </p:sp>
      <p:cxnSp>
        <p:nvCxnSpPr>
          <p:cNvPr id="13" name="Content margin panel rule">
            <a:extLst>
              <a:ext uri="{FF2B5EF4-FFF2-40B4-BE49-F238E27FC236}">
                <a16:creationId xmlns:a16="http://schemas.microsoft.com/office/drawing/2014/main" id="{A22152ED-23B4-0FD3-2F66-B6877716014E}"/>
              </a:ext>
            </a:extLst>
          </p:cNvPr>
          <p:cNvCxnSpPr/>
          <p:nvPr/>
        </p:nvCxnSpPr>
        <p:spPr>
          <a:xfrm>
            <a:off x="7637318" y="1907308"/>
            <a:ext cx="3472642"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73D51DF1-6238-21A8-43E4-84DCDF95BDD5}"/>
              </a:ext>
            </a:extLst>
          </p:cNvPr>
          <p:cNvCxnSpPr/>
          <p:nvPr/>
        </p:nvCxnSpPr>
        <p:spPr>
          <a:xfrm>
            <a:off x="457200" y="1907308"/>
            <a:ext cx="692611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92277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Emerging Maputo and Walvis Bay routes must be tested alongside Durban and domestic supply</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10</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 OpenStreetMap contributors (ODbL; osm.org/copyright) / Geofabrik; Natural Earth; geoBoundaries. Shared LAEA projection. Paths test road connectivity, not tanker access. Secunda uses a city reference; Natref a mapped site. Terminal access, turn restrictions and operating rail/pipeline services remain unvalidated. Emerging alternatives are in scope; relative competitiveness is not yet quantified.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9BE0BDC-1283-E261-F55A-1C6A60822E28}"/>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BBA0217-A689-9C15-E686-7EA4A2C9E77F}"/>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219F7F0B-97E6-1C22-9CD8-56F25F0F6A83}"/>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70880E68-04F4-B011-F986-4C6BC5F62AC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1516117D-4450-D13E-2623-2F637C71BC0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Maputo and Walvis Bay are emerging alternatives to include by destination. Compare delivered cost, capacity and reliable access before estimating how much inland demand Vopak can capture.</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930EE57E-7562-B5A2-24AC-E21250AE5AF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D1C964E9-5708-A42E-3984-1415C36B1638}"/>
              </a:ext>
            </a:extLst>
          </p:cNvPr>
          <p:cNvSpPr txBox="1"/>
          <p:nvPr/>
        </p:nvSpPr>
        <p:spPr>
          <a:xfrm>
            <a:off x="457200" y="1625600"/>
            <a:ext cx="6554354"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Competing supply corridors</a:t>
            </a:r>
          </a:p>
        </p:txBody>
      </p:sp>
      <p:sp>
        <p:nvSpPr>
          <p:cNvPr id="16" name="Aligned panel subtitle">
            <a:extLst>
              <a:ext uri="{FF2B5EF4-FFF2-40B4-BE49-F238E27FC236}">
                <a16:creationId xmlns:a16="http://schemas.microsoft.com/office/drawing/2014/main" id="{404BB07F-45B9-2C46-75B8-8E01DEEB4FC0}"/>
              </a:ext>
            </a:extLst>
          </p:cNvPr>
          <p:cNvSpPr txBox="1"/>
          <p:nvPr/>
        </p:nvSpPr>
        <p:spPr>
          <a:xfrm>
            <a:off x="7290954" y="1625600"/>
            <a:ext cx="3819005"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Same product, same destination</a:t>
            </a:r>
          </a:p>
        </p:txBody>
      </p:sp>
      <p:cxnSp>
        <p:nvCxnSpPr>
          <p:cNvPr id="13" name="Content margin panel rule">
            <a:extLst>
              <a:ext uri="{FF2B5EF4-FFF2-40B4-BE49-F238E27FC236}">
                <a16:creationId xmlns:a16="http://schemas.microsoft.com/office/drawing/2014/main" id="{D40C228C-E1F3-FAF9-F974-012CA2C8EDA3}"/>
              </a:ext>
            </a:extLst>
          </p:cNvPr>
          <p:cNvCxnSpPr/>
          <p:nvPr/>
        </p:nvCxnSpPr>
        <p:spPr>
          <a:xfrm>
            <a:off x="7290954" y="1907308"/>
            <a:ext cx="3819006"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ED2A77DA-C089-7025-B9EA-04CDDC2FBD82}"/>
              </a:ext>
            </a:extLst>
          </p:cNvPr>
          <p:cNvCxnSpPr/>
          <p:nvPr/>
        </p:nvCxnSpPr>
        <p:spPr>
          <a:xfrm>
            <a:off x="457200" y="1907308"/>
            <a:ext cx="6579754"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34137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a:solidFill>
                  <a:schemeClr val="dk1"/>
                </a:solidFill>
                <a:latin typeface="Lato"/>
              </a:rPr>
              <a:t>Durban and Lesedi connect coastal supply to Gauteng; operating data must establish room for growth</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11</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Sources: Vopak terminal directory; Annual Report 2025 confirms Lesedi expansion commissioned in 2025. Published capacity is not working capacity or throughput. Operating data request: p18. Illustrative turnover sensitivity moved to p43; it is not observed utilisation.</a:t>
            </a:r>
            <a:endParaRPr sz="650"/>
          </a:p>
        </p:txBody>
      </p:sp>
      <p:graphicFrame>
        <p:nvGraphicFramePr>
          <p:cNvPr id="47" name="Table 46"/>
          <p:cNvGraphicFramePr>
            <a:graphicFrameLocks noGrp="1"/>
          </p:cNvGraphicFramePr>
          <p:nvPr>
            <p:extLst>
              <p:ext uri="{D42A27DB-BD31-4B8C-83A1-F6EECF244321}">
                <p14:modId xmlns:p14="http://schemas.microsoft.com/office/powerpoint/2010/main" val="3051956920"/>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Asset / measure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Established position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must be established</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Durban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a:solidFill>
                            <a:srgbClr val="000000"/>
                          </a:solidFill>
                          <a:latin typeface="Lato"/>
                        </a:defRPr>
                      </a:pPr>
                      <a:r>
                        <a:rPr lang="en-GB" sz="1300" b="0" u="none">
                          <a:solidFill>
                            <a:schemeClr val="dk1"/>
                          </a:solidFill>
                          <a:latin typeface="Lato" panose="020F0502020204030203" pitchFamily="34" charset="0"/>
                        </a:rPr>
                        <a:t>360,246 m³ published gross capacity.
Coastal receipt and onward distribution; mixed products.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Isolate petrol/diesel working tankage and actual throughput by product.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Lesedi</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140,000 m3 clean-product capacity.
Includes the 40,000 m3 expansion
commissioned in October 2025.</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Confirm usable working capacity, annual deliveries and monthly tank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Operating constraints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Storage capacity establishes the asset footprint.
It does not establish annual handling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Measure receipt, pipeline and dispatch limits, seasonal peaks and stock requirements.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Implication for growth</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Actual throughput and achievable turns are not yet established in this review.</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No spare capacity is claimed. Test captured demand against verified handling limits before selecting investment.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13028960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Accelerated rail recovery, EV adoption and ICE technology efficiency could reduce transport fuel demand in the medium to long term</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12</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Stats SA freight; naamsa all-market sales 2019-2025, Workbook Vehicle history S31:S36. BEV/PHEV/HEV sales are distinct from fleet shares. Efficiency paths remain model assumptions, with OEM history and annual calibration open.</a:t>
            </a:r>
            <a:endParaRPr sz="6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A9FE9DB-A7B9-8D69-C615-C56477C90215}"/>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38103FD-60F0-1D52-83B7-120DD9B43DC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D50E0E10-BE04-5DDC-0186-93D6ED9D6991}"/>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C1089FD-0B69-C240-3B7E-FD08C0DF9C83}"/>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Evidence chart">
            <a:extLst>
              <a:ext uri="{FF2B5EF4-FFF2-40B4-BE49-F238E27FC236}">
                <a16:creationId xmlns:a16="http://schemas.microsoft.com/office/drawing/2014/main" id="{C0A75D0E-0958-3DE4-F3C9-30CE642F526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1E4A0915-F513-C2B4-1FEC-0FAB08989DA6}"/>
              </a:ext>
            </a:extLst>
          </p:cNvPr>
          <p:cNvSpPr txBox="1"/>
          <p:nvPr/>
        </p:nvSpPr>
        <p:spPr>
          <a:xfrm>
            <a:off x="533400" y="5600699"/>
            <a:ext cx="10477500" cy="482600"/>
          </a:xfrm>
          <a:prstGeom prst="rect">
            <a:avLst/>
          </a:prstGeom>
          <a:noFill/>
        </p:spPr>
        <p:txBody>
          <a:bodyPr vert="horz" lIns="0" tIns="0" rIns="0" bIns="0" rtlCol="0">
            <a:noAutofit/>
          </a:bodyPr>
          <a:lstStyle/>
          <a:p>
            <a:r>
              <a:rPr lang="en-GB" sz="1050">
                <a:solidFill>
                  <a:schemeClr val="dk1"/>
                </a:solidFill>
                <a:latin typeface="Lato" panose="020F0502020204030203" pitchFamily="34" charset="0"/>
              </a:rPr>
              <a:t>2025 sales: 1,088 BEVs (0.18% of all new sales), 2,810 plug-in hybrids and 12,818 conventional hybrids. Each has a different fuel effect.</a:t>
            </a:r>
            <a:endParaRPr lang="en-ZA" sz="1050">
              <a:solidFill>
                <a:schemeClr val="dk1"/>
              </a:solidFill>
              <a:latin typeface="Lato" panose="020F0502020204030203" pitchFamily="34" charset="0"/>
            </a:endParaRPr>
          </a:p>
        </p:txBody>
      </p:sp>
    </p:spTree>
    <p:extLst>
      <p:ext uri="{BB962C8B-B14F-4D97-AF65-F5344CB8AC3E}">
        <p14:creationId xmlns:p14="http://schemas.microsoft.com/office/powerpoint/2010/main" val="3372240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Power generation recovery could lower diesel use further, while outages and replacement delays could sustain domestic demand</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13</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Eskom FY ending March: reported own diesel + kerosene; Eskom/IPP GWh include kerosene output. Workbook Power fleet separates the four diesel stations. Gas switch, coal-site repowering and L/M/H settings await Nigel/Henry review.</a:t>
            </a:r>
            <a:endParaRPr sz="6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8104FD1-D03E-613C-EADF-9CBAD2040D4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E81801EC-F6BA-CCE9-DE2E-8EE41751C19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0DB85F31-F707-8CF4-8C81-115F7726D01E}"/>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1DBC1C8-7174-E49A-3855-5054BA72C2C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F675C8EF-7362-9FCC-FB56-1545DD74A102}"/>
              </a:ext>
            </a:extLst>
          </p:cNvPr>
          <p:cNvSpPr txBox="1"/>
          <p:nvPr/>
        </p:nvSpPr>
        <p:spPr>
          <a:xfrm>
            <a:off x="533400" y="5600699"/>
            <a:ext cx="10477500" cy="482600"/>
          </a:xfrm>
          <a:prstGeom prst="rect">
            <a:avLst/>
          </a:prstGeom>
          <a:noFill/>
        </p:spPr>
        <p:txBody>
          <a:bodyPr vert="horz" lIns="0" tIns="0" rIns="0" bIns="0" rtlCol="0">
            <a:noAutofit/>
          </a:bodyPr>
          <a:lstStyle/>
          <a:p>
            <a:r>
              <a:rPr lang="en-GB" sz="1050">
                <a:solidFill>
                  <a:schemeClr val="dk1"/>
                </a:solidFill>
                <a:latin typeface="Lato" panose="020F0502020204030203" pitchFamily="34" charset="0"/>
              </a:rPr>
              <a:t>Own Eskom fuel is reported separately. The workbook adds Eskom/IPP generation and four diesel stations; litres derived from output and future dispatch remain estimates.</a:t>
            </a:r>
            <a:endParaRPr lang="en-ZA" sz="105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B0D59058-546A-B7AD-DED9-4ED7DDA678C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6" name="Aligned panel subtitle">
            <a:extLst>
              <a:ext uri="{FF2B5EF4-FFF2-40B4-BE49-F238E27FC236}">
                <a16:creationId xmlns:a16="http://schemas.microsoft.com/office/drawing/2014/main" id="{9B1BAE31-E9DC-F48A-FBAB-11CD20EF25A5}"/>
              </a:ext>
            </a:extLst>
          </p:cNvPr>
          <p:cNvSpPr txBox="1"/>
          <p:nvPr/>
        </p:nvSpPr>
        <p:spPr>
          <a:xfrm>
            <a:off x="457200" y="1625600"/>
            <a:ext cx="347171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Diesel use</a:t>
            </a:r>
          </a:p>
        </p:txBody>
      </p:sp>
      <p:sp>
        <p:nvSpPr>
          <p:cNvPr id="17" name="Aligned panel subtitle">
            <a:extLst>
              <a:ext uri="{FF2B5EF4-FFF2-40B4-BE49-F238E27FC236}">
                <a16:creationId xmlns:a16="http://schemas.microsoft.com/office/drawing/2014/main" id="{422D356C-8F8B-BE3B-7BA1-F10680E53CDD}"/>
              </a:ext>
            </a:extLst>
          </p:cNvPr>
          <p:cNvSpPr txBox="1"/>
          <p:nvPr/>
        </p:nvSpPr>
        <p:spPr>
          <a:xfrm>
            <a:off x="4208318" y="1625600"/>
            <a:ext cx="3091873"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Fleet availability</a:t>
            </a:r>
          </a:p>
        </p:txBody>
      </p:sp>
      <p:sp>
        <p:nvSpPr>
          <p:cNvPr id="18" name="Aligned panel subtitle">
            <a:extLst>
              <a:ext uri="{FF2B5EF4-FFF2-40B4-BE49-F238E27FC236}">
                <a16:creationId xmlns:a16="http://schemas.microsoft.com/office/drawing/2014/main" id="{9696205B-021F-AFFC-619E-3E3C643F6B2D}"/>
              </a:ext>
            </a:extLst>
          </p:cNvPr>
          <p:cNvSpPr txBox="1"/>
          <p:nvPr/>
        </p:nvSpPr>
        <p:spPr>
          <a:xfrm>
            <a:off x="7579591" y="1625600"/>
            <a:ext cx="3530369"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Peaking generation</a:t>
            </a:r>
          </a:p>
        </p:txBody>
      </p:sp>
      <p:cxnSp>
        <p:nvCxnSpPr>
          <p:cNvPr id="13" name="Content margin panel rule">
            <a:extLst>
              <a:ext uri="{FF2B5EF4-FFF2-40B4-BE49-F238E27FC236}">
                <a16:creationId xmlns:a16="http://schemas.microsoft.com/office/drawing/2014/main" id="{3D706A4A-3A1F-2B37-0C69-8001EDBF6522}"/>
              </a:ext>
            </a:extLst>
          </p:cNvPr>
          <p:cNvCxnSpPr/>
          <p:nvPr/>
        </p:nvCxnSpPr>
        <p:spPr>
          <a:xfrm>
            <a:off x="4208318" y="1907308"/>
            <a:ext cx="3117273"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Content margin panel rule">
            <a:extLst>
              <a:ext uri="{FF2B5EF4-FFF2-40B4-BE49-F238E27FC236}">
                <a16:creationId xmlns:a16="http://schemas.microsoft.com/office/drawing/2014/main" id="{663EBD41-7D1E-7CF1-A91A-ECFF3FDB7809}"/>
              </a:ext>
            </a:extLst>
          </p:cNvPr>
          <p:cNvCxnSpPr/>
          <p:nvPr/>
        </p:nvCxnSpPr>
        <p:spPr>
          <a:xfrm>
            <a:off x="7579591" y="1907308"/>
            <a:ext cx="3530369"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DE27D913-8EBB-F21A-E627-98323AA65269}"/>
              </a:ext>
            </a:extLst>
          </p:cNvPr>
          <p:cNvCxnSpPr/>
          <p:nvPr/>
        </p:nvCxnSpPr>
        <p:spPr>
          <a:xfrm>
            <a:off x="457200" y="1907308"/>
            <a:ext cx="349711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32777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SAPREF could expand the supply footprint, while Natref unavailability would reduce it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14</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FIASA 2025 p49; registered review_capacity_scenarios.yaml and review_supply_worlds.yaml. Illustrative 2036 sensitivities, not calibrated production forecasts. Other plants held at 2025 reported values; Secunda gas/MRG and PetroSA restart effects remain unquantified. Low is not a Natref closure prediction.</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3A2CBD4-DADE-06FC-DAA1-79FEEC12F6BB}"/>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F4773F92-650A-67FF-991A-9CC907CF308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95466396-4F3E-F5C6-FE51-8442919301C0}"/>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3E40C6C5-566E-BD31-51EF-6813560C32CE}"/>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9CC2AEFF-6D66-1976-385C-0512507A5D4D}"/>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These capacity cases anchor the supply-axis discussion. Translate them into product output, then test imports, corridor capture and required tank turns in each of the nine worlds.</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73F8AF27-11F8-0FE2-F97D-E3ABDE330FD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063231E6-9BEF-65A8-610E-23EDEA876B26}"/>
              </a:ext>
            </a:extLst>
          </p:cNvPr>
          <p:cNvSpPr txBox="1"/>
          <p:nvPr/>
        </p:nvSpPr>
        <p:spPr>
          <a:xfrm>
            <a:off x="457200" y="1625600"/>
            <a:ext cx="3841173"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Reported history</a:t>
            </a:r>
          </a:p>
        </p:txBody>
      </p:sp>
      <p:sp>
        <p:nvSpPr>
          <p:cNvPr id="16" name="Aligned panel subtitle">
            <a:extLst>
              <a:ext uri="{FF2B5EF4-FFF2-40B4-BE49-F238E27FC236}">
                <a16:creationId xmlns:a16="http://schemas.microsoft.com/office/drawing/2014/main" id="{FAEA5F44-DACF-B58C-7B4A-AD9753A18B4D}"/>
              </a:ext>
            </a:extLst>
          </p:cNvPr>
          <p:cNvSpPr txBox="1"/>
          <p:nvPr/>
        </p:nvSpPr>
        <p:spPr>
          <a:xfrm>
            <a:off x="4577773" y="1625600"/>
            <a:ext cx="6532187"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Illustrative 2036 capacity cases</a:t>
            </a:r>
          </a:p>
        </p:txBody>
      </p:sp>
      <p:cxnSp>
        <p:nvCxnSpPr>
          <p:cNvPr id="13" name="Content margin panel rule">
            <a:extLst>
              <a:ext uri="{FF2B5EF4-FFF2-40B4-BE49-F238E27FC236}">
                <a16:creationId xmlns:a16="http://schemas.microsoft.com/office/drawing/2014/main" id="{FB43A5E6-7CB0-3D5A-B6FA-D4D3731C1005}"/>
              </a:ext>
            </a:extLst>
          </p:cNvPr>
          <p:cNvCxnSpPr/>
          <p:nvPr/>
        </p:nvCxnSpPr>
        <p:spPr>
          <a:xfrm>
            <a:off x="4577773" y="1907308"/>
            <a:ext cx="6532187"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CC44437E-9F8E-EBB4-0E45-906A78355EF0}"/>
              </a:ext>
            </a:extLst>
          </p:cNvPr>
          <p:cNvCxnSpPr/>
          <p:nvPr/>
        </p:nvCxnSpPr>
        <p:spPr>
          <a:xfrm>
            <a:off x="457200" y="1907308"/>
            <a:ext cx="3866573"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75545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a:solidFill>
                  <a:schemeClr val="dk1"/>
                </a:solidFill>
                <a:latin typeface="Lato"/>
              </a:rPr>
              <a:t>Emerging gateways could redirect inland growth; delivered cost and reliable access determine capture</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15</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Compare common product, destination, price date and tax basis. Emerging gateways must be considered; no relative cost ranking is asserted without quotes and verified access. Landlocked SADC opportunities require separate market/access evidence.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340449478"/>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Competing route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changes the choice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implication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Durban–Lesedi</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Pipeline, rail and road costs; reliable receipt and inland dispatch.</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access and handling improvements that protect competitive customer supply.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Maputo / Matola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Delivered cost, border time and capacity into each inland destination.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Include as an emerging alternative; test customer exposure and corridor responses.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Walvis Bay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Distance, transit, border costs and feasible destination coverage.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Consider emerging inland opportunities; compare reach customer by customer.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Domestic sources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Secunda / Natref availability, product output and distribution access.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inland handling and connections as well as import infrastructure.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7389709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solidFill>
                  <a:schemeClr val="dk1"/>
                </a:solidFill>
                <a:latin typeface="Lato"/>
              </a:rPr>
              <a:t>Durban and Lesedi market sizing and investment issue tree</a:t>
            </a:r>
            <a:endParaRPr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16</a:t>
            </a:r>
            <a:endParaRPr sz="1100"/>
          </a:p>
        </p:txBody>
      </p:sp>
      <p:sp>
        <p:nvSpPr>
          <p:cNvPr id="8" name="Unified source footer"/>
          <p:cNvSpPr txBox="1"/>
          <p:nvPr/>
        </p:nvSpPr>
        <p:spPr>
          <a:xfrm>
            <a:off x="457200" y="6172199"/>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8 October PS framework; workbook History Q71/R71. 2023 Department sales 21.94bn L; 2024 FIASA 20.76bn L, unverified. Estimate accessible markets, then verify actual capture. Shared flows and client operating/economic inputs remain open.</a:t>
            </a:r>
            <a:endParaRPr sz="6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latin typeface="Lato" panose="020F0502020204030203" pitchFamily="34" charset="0"/>
              </a:rPr>
              <a:t>Resolution</a:t>
            </a:r>
          </a:p>
        </p:txBody>
      </p:sp>
      <p:sp>
        <p:nvSpPr>
          <p:cNvPr id="4" name="Demand heading">
            <a:extLst>
              <a:ext uri="{FF2B5EF4-FFF2-40B4-BE49-F238E27FC236}">
                <a16:creationId xmlns:a16="http://schemas.microsoft.com/office/drawing/2014/main" id="{14CD1435-9493-0D95-498F-FDC83E6EE04F}"/>
              </a:ext>
            </a:extLst>
          </p:cNvPr>
          <p:cNvSpPr txBox="1"/>
          <p:nvPr/>
        </p:nvSpPr>
        <p:spPr>
          <a:xfrm>
            <a:off x="457200" y="1638300"/>
            <a:ext cx="22098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1  NATIONAL DEMAND</a:t>
            </a:r>
          </a:p>
        </p:txBody>
      </p:sp>
      <p:sp>
        <p:nvSpPr>
          <p:cNvPr id="5" name="System heading">
            <a:extLst>
              <a:ext uri="{FF2B5EF4-FFF2-40B4-BE49-F238E27FC236}">
                <a16:creationId xmlns:a16="http://schemas.microsoft.com/office/drawing/2014/main" id="{C0C17D29-17F6-811C-2016-AEB107CEAD1B}"/>
              </a:ext>
            </a:extLst>
          </p:cNvPr>
          <p:cNvSpPr txBox="1"/>
          <p:nvPr/>
        </p:nvSpPr>
        <p:spPr>
          <a:xfrm>
            <a:off x="3111500" y="1638300"/>
            <a:ext cx="40894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2  SUPPLY AND DELIVERY</a:t>
            </a:r>
          </a:p>
        </p:txBody>
      </p:sp>
      <p:sp>
        <p:nvSpPr>
          <p:cNvPr id="6" name="Terminal heading">
            <a:extLst>
              <a:ext uri="{FF2B5EF4-FFF2-40B4-BE49-F238E27FC236}">
                <a16:creationId xmlns:a16="http://schemas.microsoft.com/office/drawing/2014/main" id="{5CA9319A-5A43-DDF4-3153-ED80CD691028}"/>
              </a:ext>
            </a:extLst>
          </p:cNvPr>
          <p:cNvSpPr txBox="1"/>
          <p:nvPr/>
        </p:nvSpPr>
        <p:spPr>
          <a:xfrm>
            <a:off x="7899400" y="1638300"/>
            <a:ext cx="32131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3  VOPAK OPPORTUNITY</a:t>
            </a:r>
          </a:p>
        </p:txBody>
      </p:sp>
      <p:cxnSp>
        <p:nvCxnSpPr>
          <p:cNvPr id="7" name="Column heading rule">
            <a:extLst>
              <a:ext uri="{FF2B5EF4-FFF2-40B4-BE49-F238E27FC236}">
                <a16:creationId xmlns:a16="http://schemas.microsoft.com/office/drawing/2014/main" id="{9CD9C2EA-8B0C-6190-041D-53E7BCFC4E12}"/>
              </a:ext>
            </a:extLst>
          </p:cNvPr>
          <p:cNvCxnSpPr/>
          <p:nvPr/>
        </p:nvCxnSpPr>
        <p:spPr>
          <a:xfrm>
            <a:off x="457200" y="1917700"/>
            <a:ext cx="22098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cxnSp>
        <p:nvCxnSpPr>
          <p:cNvPr id="13" name="Column heading rule">
            <a:extLst>
              <a:ext uri="{FF2B5EF4-FFF2-40B4-BE49-F238E27FC236}">
                <a16:creationId xmlns:a16="http://schemas.microsoft.com/office/drawing/2014/main" id="{8EB4746A-C908-7903-267C-329D465C94D0}"/>
              </a:ext>
            </a:extLst>
          </p:cNvPr>
          <p:cNvCxnSpPr/>
          <p:nvPr/>
        </p:nvCxnSpPr>
        <p:spPr>
          <a:xfrm>
            <a:off x="3111500" y="1917700"/>
            <a:ext cx="41148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cxnSp>
        <p:nvCxnSpPr>
          <p:cNvPr id="14" name="Column heading rule">
            <a:extLst>
              <a:ext uri="{FF2B5EF4-FFF2-40B4-BE49-F238E27FC236}">
                <a16:creationId xmlns:a16="http://schemas.microsoft.com/office/drawing/2014/main" id="{AA858E4B-F07C-F90D-428F-E07E9E8C909B}"/>
              </a:ext>
            </a:extLst>
          </p:cNvPr>
          <p:cNvCxnSpPr/>
          <p:nvPr/>
        </p:nvCxnSpPr>
        <p:spPr>
          <a:xfrm>
            <a:off x="7899400" y="1917700"/>
            <a:ext cx="32131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15" name="National market">
            <a:extLst>
              <a:ext uri="{FF2B5EF4-FFF2-40B4-BE49-F238E27FC236}">
                <a16:creationId xmlns:a16="http://schemas.microsoft.com/office/drawing/2014/main" id="{C937B83A-DBC2-5EAB-CFE4-6A5A27B56F2A}"/>
              </a:ext>
            </a:extLst>
          </p:cNvPr>
          <p:cNvSpPr txBox="1"/>
          <p:nvPr/>
        </p:nvSpPr>
        <p:spPr>
          <a:xfrm>
            <a:off x="457200" y="2108199"/>
            <a:ext cx="2209800" cy="1028700"/>
          </a:xfrm>
          <a:prstGeom prst="rect">
            <a:avLst/>
          </a:prstGeom>
          <a:noFill/>
        </p:spPr>
        <p:txBody>
          <a:bodyPr vert="horz" wrap="square" lIns="0" tIns="0" rIns="0" bIns="0" rtlCol="0">
            <a:noAutofit/>
          </a:bodyPr>
          <a:lstStyle/>
          <a:p>
            <a:pPr>
              <a:spcAft>
                <a:spcPts val="500"/>
              </a:spcAft>
            </a:pPr>
            <a:r>
              <a:rPr lang="en-GB" sz="1150" b="1">
                <a:solidFill>
                  <a:schemeClr val="accent1"/>
                </a:solidFill>
                <a:latin typeface="Lato" panose="020F0502020204030203" pitchFamily="34" charset="0"/>
              </a:rPr>
              <a:t>National sales baseline</a:t>
            </a:r>
          </a:p>
          <a:p>
            <a:pPr>
              <a:spcAft>
                <a:spcPts val="500"/>
              </a:spcAft>
            </a:pPr>
            <a:r>
              <a:rPr lang="en-GB" sz="1150" b="1">
                <a:solidFill>
                  <a:schemeClr val="accent1"/>
                </a:solidFill>
                <a:latin typeface="Lato" panose="020F0502020204030203" pitchFamily="34" charset="0"/>
              </a:rPr>
              <a:t>2023: 21.94bn litres</a:t>
            </a:r>
          </a:p>
          <a:p>
            <a:pPr>
              <a:spcAft>
                <a:spcPts val="500"/>
              </a:spcAft>
            </a:pPr>
            <a:r>
              <a:rPr lang="en-GB" sz="1150" b="1">
                <a:solidFill>
                  <a:schemeClr val="accent1"/>
                </a:solidFill>
                <a:latin typeface="Lato" panose="020F0502020204030203" pitchFamily="34" charset="0"/>
              </a:rPr>
              <a:t>2024: 20.76bn, unverified</a:t>
            </a:r>
          </a:p>
          <a:p>
            <a:pPr>
              <a:spcAft>
                <a:spcPts val="500"/>
              </a:spcAft>
            </a:pPr>
            <a:r>
              <a:rPr lang="en-GB" sz="1150" b="1">
                <a:solidFill>
                  <a:schemeClr val="accent1"/>
                </a:solidFill>
                <a:latin typeface="Lato" panose="020F0502020204030203" pitchFamily="34" charset="0"/>
              </a:rPr>
              <a:t>2025 sales unavailable</a:t>
            </a:r>
            <a:endParaRPr lang="en-ZA" sz="1150">
              <a:solidFill>
                <a:schemeClr val="dk1"/>
              </a:solidFill>
              <a:latin typeface="Lato" panose="020F0502020204030203" pitchFamily="34" charset="0"/>
            </a:endParaRPr>
          </a:p>
        </p:txBody>
      </p:sp>
      <p:sp>
        <p:nvSpPr>
          <p:cNvPr id="16" name="Sector demand">
            <a:extLst>
              <a:ext uri="{FF2B5EF4-FFF2-40B4-BE49-F238E27FC236}">
                <a16:creationId xmlns:a16="http://schemas.microsoft.com/office/drawing/2014/main" id="{7E776481-8BEE-CC1B-C185-4BE139C5F27F}"/>
              </a:ext>
            </a:extLst>
          </p:cNvPr>
          <p:cNvSpPr txBox="1"/>
          <p:nvPr/>
        </p:nvSpPr>
        <p:spPr>
          <a:xfrm>
            <a:off x="457200" y="3251199"/>
            <a:ext cx="2209800" cy="812800"/>
          </a:xfrm>
          <a:prstGeom prst="rect">
            <a:avLst/>
          </a:prstGeom>
          <a:noFill/>
        </p:spPr>
        <p:txBody>
          <a:bodyPr vert="horz" wrap="square" lIns="0" tIns="0" rIns="0" bIns="0" rtlCol="0">
            <a:noAutofit/>
          </a:bodyPr>
          <a:lstStyle/>
          <a:p>
            <a:pPr>
              <a:spcAft>
                <a:spcPts val="500"/>
              </a:spcAft>
            </a:pPr>
            <a:r>
              <a:rPr lang="en-GB" sz="1150" b="1">
                <a:solidFill>
                  <a:schemeClr val="accent1"/>
                </a:solidFill>
                <a:latin typeface="Lato" panose="020F0502020204030203" pitchFamily="34" charset="0"/>
              </a:rPr>
              <a:t>Demand by use</a:t>
            </a:r>
          </a:p>
          <a:p>
            <a:pPr>
              <a:spcAft>
                <a:spcPts val="200"/>
              </a:spcAft>
            </a:pPr>
            <a:r>
              <a:rPr lang="en-GB" sz="1150">
                <a:solidFill>
                  <a:schemeClr val="dk1"/>
                </a:solidFill>
                <a:latin typeface="Lato" panose="020F0502020204030203" pitchFamily="34" charset="0"/>
              </a:rPr>
              <a:t>Road, mining, industry, agriculture</a:t>
            </a:r>
          </a:p>
          <a:p>
            <a:pPr>
              <a:spcAft>
                <a:spcPts val="200"/>
              </a:spcAft>
            </a:pPr>
            <a:r>
              <a:rPr lang="en-GB" sz="1150">
                <a:solidFill>
                  <a:schemeClr val="dk1"/>
                </a:solidFill>
                <a:latin typeface="Lato" panose="020F0502020204030203" pitchFamily="34" charset="0"/>
              </a:rPr>
              <a:t>Power and other uses</a:t>
            </a:r>
            <a:endParaRPr lang="en-ZA" sz="1150">
              <a:solidFill>
                <a:schemeClr val="dk1"/>
              </a:solidFill>
              <a:latin typeface="Lato" panose="020F0502020204030203" pitchFamily="34" charset="0"/>
            </a:endParaRPr>
          </a:p>
        </p:txBody>
      </p:sp>
      <p:cxnSp>
        <p:nvCxnSpPr>
          <p:cNvPr id="17" name="Uses determine demand">
            <a:extLst>
              <a:ext uri="{FF2B5EF4-FFF2-40B4-BE49-F238E27FC236}">
                <a16:creationId xmlns:a16="http://schemas.microsoft.com/office/drawing/2014/main" id="{5BF87840-7B72-822C-EDF1-6766803F1E6A}"/>
              </a:ext>
            </a:extLst>
          </p:cNvPr>
          <p:cNvCxnSpPr/>
          <p:nvPr/>
        </p:nvCxnSpPr>
        <p:spPr>
          <a:xfrm flipV="1">
            <a:off x="1524000" y="3162300"/>
            <a:ext cx="0" cy="8890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18" name="Demand parameters">
            <a:extLst>
              <a:ext uri="{FF2B5EF4-FFF2-40B4-BE49-F238E27FC236}">
                <a16:creationId xmlns:a16="http://schemas.microsoft.com/office/drawing/2014/main" id="{05889CF0-02DA-D49E-34DB-0FE1C05F9592}"/>
              </a:ext>
            </a:extLst>
          </p:cNvPr>
          <p:cNvSpPr txBox="1"/>
          <p:nvPr/>
        </p:nvSpPr>
        <p:spPr>
          <a:xfrm>
            <a:off x="457200" y="4203699"/>
            <a:ext cx="2209800" cy="863600"/>
          </a:xfrm>
          <a:prstGeom prst="rect">
            <a:avLst/>
          </a:prstGeom>
          <a:noFill/>
        </p:spPr>
        <p:txBody>
          <a:bodyPr vert="horz" wrap="square" lIns="0" tIns="0" rIns="0" bIns="0" rtlCol="0">
            <a:noAutofit/>
          </a:bodyPr>
          <a:lstStyle/>
          <a:p>
            <a:pPr>
              <a:spcAft>
                <a:spcPts val="500"/>
              </a:spcAft>
            </a:pPr>
            <a:r>
              <a:rPr lang="en-GB" sz="1100" b="1">
                <a:solidFill>
                  <a:schemeClr val="accent1"/>
                </a:solidFill>
                <a:latin typeface="Lato" panose="020F0502020204030203" pitchFamily="34" charset="0"/>
              </a:rPr>
              <a:t>Demand parameters</a:t>
            </a:r>
          </a:p>
          <a:p>
            <a:pPr>
              <a:spcAft>
                <a:spcPts val="200"/>
              </a:spcAft>
            </a:pPr>
            <a:r>
              <a:rPr lang="en-GB" sz="1100">
                <a:solidFill>
                  <a:schemeClr val="dk1"/>
                </a:solidFill>
                <a:latin typeface="Lato" panose="020F0502020204030203" pitchFamily="34" charset="0"/>
              </a:rPr>
              <a:t>GDP and sector activity</a:t>
            </a:r>
          </a:p>
          <a:p>
            <a:pPr>
              <a:spcAft>
                <a:spcPts val="200"/>
              </a:spcAft>
            </a:pPr>
            <a:r>
              <a:rPr lang="en-GB" sz="1100">
                <a:solidFill>
                  <a:schemeClr val="dk1"/>
                </a:solidFill>
                <a:latin typeface="Lato" panose="020F0502020204030203" pitchFamily="34" charset="0"/>
              </a:rPr>
              <a:t>EVs, fleet turnover, ICE efficiency</a:t>
            </a:r>
          </a:p>
          <a:p>
            <a:pPr>
              <a:spcAft>
                <a:spcPts val="200"/>
              </a:spcAft>
            </a:pPr>
            <a:r>
              <a:rPr lang="en-GB" sz="1100">
                <a:solidFill>
                  <a:schemeClr val="dk1"/>
                </a:solidFill>
                <a:latin typeface="Lato" panose="020F0502020204030203" pitchFamily="34" charset="0"/>
              </a:rPr>
              <a:t>Freight shift, prices, power dispatch</a:t>
            </a:r>
            <a:endParaRPr lang="en-ZA" sz="1100">
              <a:solidFill>
                <a:schemeClr val="dk1"/>
              </a:solidFill>
              <a:latin typeface="Lato" panose="020F0502020204030203" pitchFamily="34" charset="0"/>
            </a:endParaRPr>
          </a:p>
        </p:txBody>
      </p:sp>
      <p:cxnSp>
        <p:nvCxnSpPr>
          <p:cNvPr id="19" name="Demand parameter effect">
            <a:extLst>
              <a:ext uri="{FF2B5EF4-FFF2-40B4-BE49-F238E27FC236}">
                <a16:creationId xmlns:a16="http://schemas.microsoft.com/office/drawing/2014/main" id="{E99183C3-677B-3951-54F8-364FD7B4B043}"/>
              </a:ext>
            </a:extLst>
          </p:cNvPr>
          <p:cNvCxnSpPr/>
          <p:nvPr/>
        </p:nvCxnSpPr>
        <p:spPr>
          <a:xfrm flipV="1">
            <a:off x="1524000" y="4064000"/>
            <a:ext cx="0" cy="139700"/>
          </a:xfrm>
          <a:prstGeom prst="straightConnector1">
            <a:avLst/>
          </a:prstGeom>
          <a:ln w="12700">
            <a:solidFill>
              <a:schemeClr val="accent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20" name="Imports">
            <a:extLst>
              <a:ext uri="{FF2B5EF4-FFF2-40B4-BE49-F238E27FC236}">
                <a16:creationId xmlns:a16="http://schemas.microsoft.com/office/drawing/2014/main" id="{23F72AF9-31E3-D1F7-A839-88E56F43423D}"/>
              </a:ext>
            </a:extLst>
          </p:cNvPr>
          <p:cNvSpPr txBox="1"/>
          <p:nvPr/>
        </p:nvSpPr>
        <p:spPr>
          <a:xfrm>
            <a:off x="3111500" y="2108199"/>
            <a:ext cx="1854200" cy="850900"/>
          </a:xfrm>
          <a:prstGeom prst="rect">
            <a:avLst/>
          </a:prstGeom>
          <a:noFill/>
        </p:spPr>
        <p:txBody>
          <a:bodyPr vert="horz" wrap="square" lIns="0" tIns="0" rIns="0" bIns="0" rtlCol="0">
            <a:noAutofit/>
          </a:bodyPr>
          <a:lstStyle/>
          <a:p>
            <a:pPr>
              <a:spcAft>
                <a:spcPts val="500"/>
              </a:spcAft>
            </a:pPr>
            <a:r>
              <a:rPr lang="en-GB" sz="1200" b="1">
                <a:solidFill>
                  <a:schemeClr val="accent1"/>
                </a:solidFill>
                <a:latin typeface="Lato" panose="020F0502020204030203" pitchFamily="34" charset="0"/>
              </a:rPr>
              <a:t>Gross imports</a:t>
            </a:r>
          </a:p>
          <a:p>
            <a:pPr>
              <a:spcAft>
                <a:spcPts val="200"/>
              </a:spcAft>
            </a:pPr>
            <a:r>
              <a:rPr lang="en-GB" sz="1200">
                <a:solidFill>
                  <a:schemeClr val="dk1"/>
                </a:solidFill>
                <a:latin typeface="Lato" panose="020F0502020204030203" pitchFamily="34" charset="0"/>
              </a:rPr>
              <a:t>By product and entry point</a:t>
            </a:r>
          </a:p>
          <a:p>
            <a:pPr>
              <a:spcAft>
                <a:spcPts val="200"/>
              </a:spcAft>
            </a:pPr>
            <a:r>
              <a:rPr lang="en-GB" sz="1200">
                <a:solidFill>
                  <a:schemeClr val="dk1"/>
                </a:solidFill>
                <a:latin typeface="Lato" panose="020F0502020204030203" pitchFamily="34" charset="0"/>
              </a:rPr>
              <a:t>Exports shown separately</a:t>
            </a:r>
            <a:endParaRPr lang="en-ZA" sz="1200">
              <a:solidFill>
                <a:schemeClr val="dk1"/>
              </a:solidFill>
              <a:latin typeface="Lato" panose="020F0502020204030203" pitchFamily="34" charset="0"/>
            </a:endParaRPr>
          </a:p>
        </p:txBody>
      </p:sp>
      <p:sp>
        <p:nvSpPr>
          <p:cNvPr id="21" name="Production">
            <a:extLst>
              <a:ext uri="{FF2B5EF4-FFF2-40B4-BE49-F238E27FC236}">
                <a16:creationId xmlns:a16="http://schemas.microsoft.com/office/drawing/2014/main" id="{4EBBA8B2-2B37-C76A-4D00-E142B3C50D55}"/>
              </a:ext>
            </a:extLst>
          </p:cNvPr>
          <p:cNvSpPr txBox="1"/>
          <p:nvPr/>
        </p:nvSpPr>
        <p:spPr>
          <a:xfrm>
            <a:off x="5257800" y="2108199"/>
            <a:ext cx="1968500" cy="850900"/>
          </a:xfrm>
          <a:prstGeom prst="rect">
            <a:avLst/>
          </a:prstGeom>
          <a:noFill/>
        </p:spPr>
        <p:txBody>
          <a:bodyPr vert="horz" wrap="square" lIns="0" tIns="0" rIns="0" bIns="0" rtlCol="0">
            <a:noAutofit/>
          </a:bodyPr>
          <a:lstStyle/>
          <a:p>
            <a:pPr>
              <a:spcAft>
                <a:spcPts val="500"/>
              </a:spcAft>
            </a:pPr>
            <a:r>
              <a:rPr lang="en-GB" sz="1200" b="1">
                <a:solidFill>
                  <a:schemeClr val="accent1"/>
                </a:solidFill>
                <a:latin typeface="Lato" panose="020F0502020204030203" pitchFamily="34" charset="0"/>
              </a:rPr>
              <a:t>Domestic production</a:t>
            </a:r>
          </a:p>
          <a:p>
            <a:pPr>
              <a:spcAft>
                <a:spcPts val="200"/>
              </a:spcAft>
            </a:pPr>
            <a:r>
              <a:rPr lang="en-GB" sz="1200">
                <a:solidFill>
                  <a:schemeClr val="dk1"/>
                </a:solidFill>
                <a:latin typeface="Lato" panose="020F0502020204030203" pitchFamily="34" charset="0"/>
              </a:rPr>
              <a:t>Refinery location, output, yields</a:t>
            </a:r>
          </a:p>
          <a:p>
            <a:pPr>
              <a:spcAft>
                <a:spcPts val="200"/>
              </a:spcAft>
            </a:pPr>
            <a:r>
              <a:rPr lang="en-GB" sz="1200">
                <a:solidFill>
                  <a:schemeClr val="dk1"/>
                </a:solidFill>
                <a:latin typeface="Lato" panose="020F0502020204030203" pitchFamily="34" charset="0"/>
              </a:rPr>
              <a:t>Own storage and distribution</a:t>
            </a:r>
            <a:endParaRPr lang="en-ZA" sz="1200">
              <a:solidFill>
                <a:schemeClr val="dk1"/>
              </a:solidFill>
              <a:latin typeface="Lato" panose="020F0502020204030203" pitchFamily="34" charset="0"/>
            </a:endParaRPr>
          </a:p>
        </p:txBody>
      </p:sp>
      <p:sp>
        <p:nvSpPr>
          <p:cNvPr id="22" name="Routes">
            <a:extLst>
              <a:ext uri="{FF2B5EF4-FFF2-40B4-BE49-F238E27FC236}">
                <a16:creationId xmlns:a16="http://schemas.microsoft.com/office/drawing/2014/main" id="{8848F489-2B26-24D4-5939-007123C4EF82}"/>
              </a:ext>
            </a:extLst>
          </p:cNvPr>
          <p:cNvSpPr txBox="1"/>
          <p:nvPr/>
        </p:nvSpPr>
        <p:spPr>
          <a:xfrm>
            <a:off x="3111500" y="3238499"/>
            <a:ext cx="4114800" cy="876300"/>
          </a:xfrm>
          <a:prstGeom prst="rect">
            <a:avLst/>
          </a:prstGeom>
          <a:noFill/>
        </p:spPr>
        <p:txBody>
          <a:bodyPr vert="horz" wrap="square" lIns="0" tIns="0" rIns="0" bIns="0" rtlCol="0">
            <a:noAutofit/>
          </a:bodyPr>
          <a:lstStyle/>
          <a:p>
            <a:pPr>
              <a:spcAft>
                <a:spcPts val="500"/>
              </a:spcAft>
            </a:pPr>
            <a:r>
              <a:rPr lang="en-GB" sz="1150" b="1">
                <a:solidFill>
                  <a:schemeClr val="accent1"/>
                </a:solidFill>
                <a:latin typeface="Lato" panose="020F0502020204030203" pitchFamily="34" charset="0"/>
              </a:rPr>
              <a:t>Ports and inland delivery network</a:t>
            </a:r>
          </a:p>
          <a:p>
            <a:pPr>
              <a:spcAft>
                <a:spcPts val="200"/>
              </a:spcAft>
            </a:pPr>
            <a:r>
              <a:rPr lang="en-GB" sz="1150">
                <a:solidFill>
                  <a:schemeClr val="dk1"/>
                </a:solidFill>
                <a:latin typeface="Lato" panose="020F0502020204030203" pitchFamily="34" charset="0"/>
              </a:rPr>
              <a:t>Durban, Richards Bay, other gateways</a:t>
            </a:r>
          </a:p>
          <a:p>
            <a:pPr>
              <a:spcAft>
                <a:spcPts val="200"/>
              </a:spcAft>
            </a:pPr>
            <a:r>
              <a:rPr lang="en-GB" sz="1150">
                <a:solidFill>
                  <a:schemeClr val="dk1"/>
                </a:solidFill>
                <a:latin typeface="Lato" panose="020F0502020204030203" pitchFamily="34" charset="0"/>
              </a:rPr>
              <a:t>Pipeline, road and rail to customer catchments</a:t>
            </a:r>
          </a:p>
          <a:p>
            <a:pPr>
              <a:spcAft>
                <a:spcPts val="200"/>
              </a:spcAft>
            </a:pPr>
            <a:r>
              <a:rPr lang="en-GB" sz="1150">
                <a:solidFill>
                  <a:schemeClr val="dk1"/>
                </a:solidFill>
                <a:latin typeface="Lato" panose="020F0502020204030203" pitchFamily="34" charset="0"/>
              </a:rPr>
              <a:t>NMPP / TM2 / DJP links to verify</a:t>
            </a:r>
            <a:endParaRPr lang="en-ZA" sz="1150">
              <a:solidFill>
                <a:schemeClr val="dk1"/>
              </a:solidFill>
              <a:latin typeface="Lato" panose="020F0502020204030203" pitchFamily="34" charset="0"/>
            </a:endParaRPr>
          </a:p>
        </p:txBody>
      </p:sp>
      <p:cxnSp>
        <p:nvCxnSpPr>
          <p:cNvPr id="23" name="Import route">
            <a:extLst>
              <a:ext uri="{FF2B5EF4-FFF2-40B4-BE49-F238E27FC236}">
                <a16:creationId xmlns:a16="http://schemas.microsoft.com/office/drawing/2014/main" id="{941A3E88-6573-8982-109A-C2649445DCCD}"/>
              </a:ext>
            </a:extLst>
          </p:cNvPr>
          <p:cNvCxnSpPr/>
          <p:nvPr/>
        </p:nvCxnSpPr>
        <p:spPr>
          <a:xfrm>
            <a:off x="4000500" y="2959100"/>
            <a:ext cx="0" cy="21590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24" name="Domestic route">
            <a:extLst>
              <a:ext uri="{FF2B5EF4-FFF2-40B4-BE49-F238E27FC236}">
                <a16:creationId xmlns:a16="http://schemas.microsoft.com/office/drawing/2014/main" id="{D8992EC8-915F-4CE6-C191-5C21DAA62765}"/>
              </a:ext>
            </a:extLst>
          </p:cNvPr>
          <p:cNvCxnSpPr/>
          <p:nvPr/>
        </p:nvCxnSpPr>
        <p:spPr>
          <a:xfrm>
            <a:off x="6210300" y="2959100"/>
            <a:ext cx="0" cy="21590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25" name="Demand determines destinations 1">
            <a:extLst>
              <a:ext uri="{FF2B5EF4-FFF2-40B4-BE49-F238E27FC236}">
                <a16:creationId xmlns:a16="http://schemas.microsoft.com/office/drawing/2014/main" id="{070C45C0-6D45-336D-AEA8-B4839A45FEEF}"/>
              </a:ext>
            </a:extLst>
          </p:cNvPr>
          <p:cNvCxnSpPr/>
          <p:nvPr/>
        </p:nvCxnSpPr>
        <p:spPr>
          <a:xfrm>
            <a:off x="2667000" y="2590800"/>
            <a:ext cx="177800" cy="0"/>
          </a:xfrm>
          <a:prstGeom prst="straightConnector1">
            <a:avLst/>
          </a:prstGeom>
          <a:ln w="825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Demand determines destinations 2">
            <a:extLst>
              <a:ext uri="{FF2B5EF4-FFF2-40B4-BE49-F238E27FC236}">
                <a16:creationId xmlns:a16="http://schemas.microsoft.com/office/drawing/2014/main" id="{3FB298E3-647A-A899-1E55-7EABEBD6C990}"/>
              </a:ext>
            </a:extLst>
          </p:cNvPr>
          <p:cNvCxnSpPr/>
          <p:nvPr/>
        </p:nvCxnSpPr>
        <p:spPr>
          <a:xfrm>
            <a:off x="2844800" y="2590800"/>
            <a:ext cx="0" cy="965200"/>
          </a:xfrm>
          <a:prstGeom prst="straightConnector1">
            <a:avLst/>
          </a:prstGeom>
          <a:ln w="825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Demand determines destinations 3">
            <a:extLst>
              <a:ext uri="{FF2B5EF4-FFF2-40B4-BE49-F238E27FC236}">
                <a16:creationId xmlns:a16="http://schemas.microsoft.com/office/drawing/2014/main" id="{59A73EBE-9DED-4970-8C1E-28FFA1521F91}"/>
              </a:ext>
            </a:extLst>
          </p:cNvPr>
          <p:cNvCxnSpPr/>
          <p:nvPr/>
        </p:nvCxnSpPr>
        <p:spPr>
          <a:xfrm>
            <a:off x="2844800" y="3556000"/>
            <a:ext cx="215900" cy="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28" name="Supply and route parameters">
            <a:extLst>
              <a:ext uri="{FF2B5EF4-FFF2-40B4-BE49-F238E27FC236}">
                <a16:creationId xmlns:a16="http://schemas.microsoft.com/office/drawing/2014/main" id="{8EA8E5F2-832B-8638-B5D1-32001AF01788}"/>
              </a:ext>
            </a:extLst>
          </p:cNvPr>
          <p:cNvSpPr txBox="1"/>
          <p:nvPr/>
        </p:nvSpPr>
        <p:spPr>
          <a:xfrm>
            <a:off x="3111500" y="4203699"/>
            <a:ext cx="4114800" cy="863600"/>
          </a:xfrm>
          <a:prstGeom prst="rect">
            <a:avLst/>
          </a:prstGeom>
          <a:noFill/>
        </p:spPr>
        <p:txBody>
          <a:bodyPr vert="horz" wrap="square" lIns="0" tIns="0" rIns="0" bIns="0" rtlCol="0">
            <a:noAutofit/>
          </a:bodyPr>
          <a:lstStyle/>
          <a:p>
            <a:pPr>
              <a:spcAft>
                <a:spcPts val="500"/>
              </a:spcAft>
            </a:pPr>
            <a:r>
              <a:rPr lang="en-GB" sz="1100" b="1">
                <a:solidFill>
                  <a:schemeClr val="accent1"/>
                </a:solidFill>
                <a:latin typeface="Lato" panose="020F0502020204030203" pitchFamily="34" charset="0"/>
              </a:rPr>
              <a:t>Supply and route parameters</a:t>
            </a:r>
          </a:p>
          <a:p>
            <a:pPr>
              <a:spcAft>
                <a:spcPts val="200"/>
              </a:spcAft>
            </a:pPr>
            <a:r>
              <a:rPr lang="en-GB" sz="1100">
                <a:solidFill>
                  <a:schemeClr val="dk1"/>
                </a:solidFill>
                <a:latin typeface="Lato" panose="020F0502020204030203" pitchFamily="34" charset="0"/>
              </a:rPr>
              <a:t>Refinery closures / restarts and gas availability</a:t>
            </a:r>
          </a:p>
          <a:p>
            <a:pPr>
              <a:spcAft>
                <a:spcPts val="200"/>
              </a:spcAft>
            </a:pPr>
            <a:r>
              <a:rPr lang="en-GB" sz="1100">
                <a:solidFill>
                  <a:schemeClr val="dk1"/>
                </a:solidFill>
                <a:latin typeface="Lato" panose="020F0502020204030203" pitchFamily="34" charset="0"/>
              </a:rPr>
              <a:t>Delivered cost, competing routes, access and contracts</a:t>
            </a:r>
          </a:p>
          <a:p>
            <a:pPr>
              <a:spcAft>
                <a:spcPts val="200"/>
              </a:spcAft>
            </a:pPr>
            <a:r>
              <a:rPr lang="en-GB" sz="1100">
                <a:solidFill>
                  <a:schemeClr val="dk1"/>
                </a:solidFill>
                <a:latin typeface="Lato" panose="020F0502020204030203" pitchFamily="34" charset="0"/>
              </a:rPr>
              <a:t>Port, pipeline and rail capacity and reliability</a:t>
            </a:r>
            <a:endParaRPr lang="en-ZA" sz="1100">
              <a:solidFill>
                <a:schemeClr val="dk1"/>
              </a:solidFill>
              <a:latin typeface="Lato" panose="020F0502020204030203" pitchFamily="34" charset="0"/>
            </a:endParaRPr>
          </a:p>
        </p:txBody>
      </p:sp>
      <p:cxnSp>
        <p:nvCxnSpPr>
          <p:cNvPr id="29" name="Supply parameter effect">
            <a:extLst>
              <a:ext uri="{FF2B5EF4-FFF2-40B4-BE49-F238E27FC236}">
                <a16:creationId xmlns:a16="http://schemas.microsoft.com/office/drawing/2014/main" id="{2F2C4FE6-B6D4-94E5-E610-7318DEFBE0FC}"/>
              </a:ext>
            </a:extLst>
          </p:cNvPr>
          <p:cNvCxnSpPr/>
          <p:nvPr/>
        </p:nvCxnSpPr>
        <p:spPr>
          <a:xfrm flipV="1">
            <a:off x="6210300" y="4102100"/>
            <a:ext cx="0" cy="101600"/>
          </a:xfrm>
          <a:prstGeom prst="straightConnector1">
            <a:avLst/>
          </a:prstGeom>
          <a:ln w="12700">
            <a:solidFill>
              <a:schemeClr val="accent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30" name="Durban opportunity">
            <a:extLst>
              <a:ext uri="{FF2B5EF4-FFF2-40B4-BE49-F238E27FC236}">
                <a16:creationId xmlns:a16="http://schemas.microsoft.com/office/drawing/2014/main" id="{CF05637F-F5E3-0913-E697-D51422A5D04C}"/>
              </a:ext>
            </a:extLst>
          </p:cNvPr>
          <p:cNvSpPr txBox="1"/>
          <p:nvPr/>
        </p:nvSpPr>
        <p:spPr>
          <a:xfrm>
            <a:off x="7899400" y="2108199"/>
            <a:ext cx="3213100" cy="749300"/>
          </a:xfrm>
          <a:prstGeom prst="rect">
            <a:avLst/>
          </a:prstGeom>
          <a:noFill/>
        </p:spPr>
        <p:txBody>
          <a:bodyPr vert="horz" wrap="square" lIns="0" tIns="0" rIns="0" bIns="0" rtlCol="0">
            <a:noAutofit/>
          </a:bodyPr>
          <a:lstStyle/>
          <a:p>
            <a:pPr>
              <a:spcAft>
                <a:spcPts val="500"/>
              </a:spcAft>
            </a:pPr>
            <a:r>
              <a:rPr lang="en-GB" sz="1200" b="1">
                <a:solidFill>
                  <a:schemeClr val="accent1"/>
                </a:solidFill>
                <a:latin typeface="Lato" panose="020F0502020204030203" pitchFamily="34" charset="0"/>
              </a:rPr>
              <a:t>Durban accessible market</a:t>
            </a:r>
          </a:p>
          <a:p>
            <a:pPr>
              <a:spcAft>
                <a:spcPts val="200"/>
              </a:spcAft>
            </a:pPr>
            <a:r>
              <a:rPr lang="en-GB" sz="1200">
                <a:solidFill>
                  <a:schemeClr val="dk1"/>
                </a:solidFill>
                <a:latin typeface="Lato" panose="020F0502020204030203" pitchFamily="34" charset="0"/>
              </a:rPr>
              <a:t>Feasible annual product volumes through</a:t>
            </a:r>
          </a:p>
          <a:p>
            <a:pPr>
              <a:spcAft>
                <a:spcPts val="200"/>
              </a:spcAft>
            </a:pPr>
            <a:r>
              <a:rPr lang="en-GB" sz="1200">
                <a:solidFill>
                  <a:schemeClr val="dk1"/>
                </a:solidFill>
                <a:latin typeface="Lato" panose="020F0502020204030203" pitchFamily="34" charset="0"/>
              </a:rPr>
              <a:t>Vopak Durban to reachable customers</a:t>
            </a:r>
            <a:endParaRPr lang="en-ZA" sz="1200">
              <a:solidFill>
                <a:schemeClr val="dk1"/>
              </a:solidFill>
              <a:latin typeface="Lato" panose="020F0502020204030203" pitchFamily="34" charset="0"/>
            </a:endParaRPr>
          </a:p>
        </p:txBody>
      </p:sp>
      <p:sp>
        <p:nvSpPr>
          <p:cNvPr id="31" name="Lesedi opportunity">
            <a:extLst>
              <a:ext uri="{FF2B5EF4-FFF2-40B4-BE49-F238E27FC236}">
                <a16:creationId xmlns:a16="http://schemas.microsoft.com/office/drawing/2014/main" id="{B036927C-17A7-76AA-143E-BADF5A482926}"/>
              </a:ext>
            </a:extLst>
          </p:cNvPr>
          <p:cNvSpPr txBox="1"/>
          <p:nvPr/>
        </p:nvSpPr>
        <p:spPr>
          <a:xfrm>
            <a:off x="7899400" y="3047999"/>
            <a:ext cx="3213100" cy="812800"/>
          </a:xfrm>
          <a:prstGeom prst="rect">
            <a:avLst/>
          </a:prstGeom>
          <a:noFill/>
        </p:spPr>
        <p:txBody>
          <a:bodyPr vert="horz" wrap="square" lIns="0" tIns="0" rIns="0" bIns="0" rtlCol="0">
            <a:noAutofit/>
          </a:bodyPr>
          <a:lstStyle/>
          <a:p>
            <a:pPr>
              <a:spcAft>
                <a:spcPts val="500"/>
              </a:spcAft>
            </a:pPr>
            <a:r>
              <a:rPr lang="en-GB" sz="1200" b="1">
                <a:solidFill>
                  <a:schemeClr val="accent1"/>
                </a:solidFill>
                <a:latin typeface="Lato" panose="020F0502020204030203" pitchFamily="34" charset="0"/>
              </a:rPr>
              <a:t>Lesedi accessible market</a:t>
            </a:r>
          </a:p>
          <a:p>
            <a:pPr>
              <a:spcAft>
                <a:spcPts val="200"/>
              </a:spcAft>
            </a:pPr>
            <a:r>
              <a:rPr lang="en-GB" sz="1200">
                <a:solidFill>
                  <a:schemeClr val="dk1"/>
                </a:solidFill>
                <a:latin typeface="Lato" panose="020F0502020204030203" pitchFamily="34" charset="0"/>
              </a:rPr>
              <a:t>Inland demand Lesedi can feasibly serve</a:t>
            </a:r>
          </a:p>
          <a:p>
            <a:pPr>
              <a:spcAft>
                <a:spcPts val="200"/>
              </a:spcAft>
            </a:pPr>
            <a:r>
              <a:rPr lang="en-GB" sz="1200">
                <a:solidFill>
                  <a:schemeClr val="dk1"/>
                </a:solidFill>
                <a:latin typeface="Lato" panose="020F0502020204030203" pitchFamily="34" charset="0"/>
              </a:rPr>
              <a:t>Catchment and receipt / dispatch connections</a:t>
            </a:r>
            <a:endParaRPr lang="en-ZA" sz="1200">
              <a:solidFill>
                <a:schemeClr val="dk1"/>
              </a:solidFill>
              <a:latin typeface="Lato" panose="020F0502020204030203" pitchFamily="34" charset="0"/>
            </a:endParaRPr>
          </a:p>
        </p:txBody>
      </p:sp>
      <p:cxnSp>
        <p:nvCxnSpPr>
          <p:cNvPr id="32" name="Access screen trunk">
            <a:extLst>
              <a:ext uri="{FF2B5EF4-FFF2-40B4-BE49-F238E27FC236}">
                <a16:creationId xmlns:a16="http://schemas.microsoft.com/office/drawing/2014/main" id="{F9A85249-0816-30DC-EDAB-DE7185F2EDE9}"/>
              </a:ext>
            </a:extLst>
          </p:cNvPr>
          <p:cNvCxnSpPr/>
          <p:nvPr/>
        </p:nvCxnSpPr>
        <p:spPr>
          <a:xfrm>
            <a:off x="7226300" y="3556000"/>
            <a:ext cx="266700" cy="0"/>
          </a:xfrm>
          <a:prstGeom prst="straightConnector1">
            <a:avLst/>
          </a:prstGeom>
          <a:ln w="825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3" name="Access screen fork">
            <a:extLst>
              <a:ext uri="{FF2B5EF4-FFF2-40B4-BE49-F238E27FC236}">
                <a16:creationId xmlns:a16="http://schemas.microsoft.com/office/drawing/2014/main" id="{65DD1891-8EAF-16F7-CB81-D479FBC08C58}"/>
              </a:ext>
            </a:extLst>
          </p:cNvPr>
          <p:cNvCxnSpPr/>
          <p:nvPr/>
        </p:nvCxnSpPr>
        <p:spPr>
          <a:xfrm>
            <a:off x="7493000" y="2489200"/>
            <a:ext cx="0" cy="1066800"/>
          </a:xfrm>
          <a:prstGeom prst="straightConnector1">
            <a:avLst/>
          </a:prstGeom>
          <a:ln w="825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Access to Durban">
            <a:extLst>
              <a:ext uri="{FF2B5EF4-FFF2-40B4-BE49-F238E27FC236}">
                <a16:creationId xmlns:a16="http://schemas.microsoft.com/office/drawing/2014/main" id="{D0597B71-903A-40F2-B919-EFACDFC84EC7}"/>
              </a:ext>
            </a:extLst>
          </p:cNvPr>
          <p:cNvCxnSpPr/>
          <p:nvPr/>
        </p:nvCxnSpPr>
        <p:spPr>
          <a:xfrm>
            <a:off x="7493000" y="2489200"/>
            <a:ext cx="330200" cy="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35" name="Access to Lesedi">
            <a:extLst>
              <a:ext uri="{FF2B5EF4-FFF2-40B4-BE49-F238E27FC236}">
                <a16:creationId xmlns:a16="http://schemas.microsoft.com/office/drawing/2014/main" id="{6E4F6017-9E5F-2CAA-70BB-D25565F1CE53}"/>
              </a:ext>
            </a:extLst>
          </p:cNvPr>
          <p:cNvCxnSpPr/>
          <p:nvPr/>
        </p:nvCxnSpPr>
        <p:spPr>
          <a:xfrm>
            <a:off x="7493000" y="3429000"/>
            <a:ext cx="330200" cy="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36" name="Share and headroom">
            <a:extLst>
              <a:ext uri="{FF2B5EF4-FFF2-40B4-BE49-F238E27FC236}">
                <a16:creationId xmlns:a16="http://schemas.microsoft.com/office/drawing/2014/main" id="{635C5460-B18A-91DA-3C22-EBCCAF085E94}"/>
              </a:ext>
            </a:extLst>
          </p:cNvPr>
          <p:cNvSpPr txBox="1"/>
          <p:nvPr/>
        </p:nvSpPr>
        <p:spPr>
          <a:xfrm>
            <a:off x="7899400" y="4165599"/>
            <a:ext cx="3213100" cy="914400"/>
          </a:xfrm>
          <a:prstGeom prst="rect">
            <a:avLst/>
          </a:prstGeom>
          <a:noFill/>
        </p:spPr>
        <p:txBody>
          <a:bodyPr vert="horz" wrap="square" lIns="0" tIns="0" rIns="0" bIns="0" rtlCol="0">
            <a:noAutofit/>
          </a:bodyPr>
          <a:lstStyle/>
          <a:p>
            <a:pPr>
              <a:spcAft>
                <a:spcPts val="500"/>
              </a:spcAft>
            </a:pPr>
            <a:r>
              <a:rPr lang="en-GB" sz="1100" b="1">
                <a:solidFill>
                  <a:schemeClr val="accent1"/>
                </a:solidFill>
                <a:latin typeface="Lato" panose="020F0502020204030203" pitchFamily="34" charset="0"/>
              </a:rPr>
              <a:t>Capture, market share and headroom</a:t>
            </a:r>
          </a:p>
          <a:p>
            <a:pPr>
              <a:spcAft>
                <a:spcPts val="200"/>
              </a:spcAft>
            </a:pPr>
            <a:r>
              <a:rPr lang="en-GB" sz="1100">
                <a:solidFill>
                  <a:schemeClr val="dk1"/>
                </a:solidFill>
                <a:latin typeface="Lato" panose="020F0502020204030203" pitchFamily="34" charset="0"/>
              </a:rPr>
              <a:t>Client throughput / accessible market = share</a:t>
            </a:r>
          </a:p>
          <a:p>
            <a:pPr>
              <a:spcAft>
                <a:spcPts val="200"/>
              </a:spcAft>
            </a:pPr>
            <a:r>
              <a:rPr lang="en-GB" sz="1100">
                <a:solidFill>
                  <a:schemeClr val="dk1"/>
                </a:solidFill>
                <a:latin typeface="Lato" panose="020F0502020204030203" pitchFamily="34" charset="0"/>
              </a:rPr>
              <a:t>Accessible market less current capture = headroom</a:t>
            </a:r>
          </a:p>
          <a:p>
            <a:pPr>
              <a:spcAft>
                <a:spcPts val="200"/>
              </a:spcAft>
            </a:pPr>
            <a:r>
              <a:rPr lang="en-GB" sz="1100">
                <a:solidFill>
                  <a:schemeClr val="dk1"/>
                </a:solidFill>
                <a:latin typeface="Lato" panose="020F0502020204030203" pitchFamily="34" charset="0"/>
              </a:rPr>
              <a:t>Track shared Durban-Lesedi flows once</a:t>
            </a:r>
            <a:endParaRPr lang="en-ZA" sz="1100">
              <a:solidFill>
                <a:schemeClr val="dk1"/>
              </a:solidFill>
              <a:latin typeface="Lato" panose="020F0502020204030203" pitchFamily="34" charset="0"/>
            </a:endParaRPr>
          </a:p>
        </p:txBody>
      </p:sp>
      <p:cxnSp>
        <p:nvCxnSpPr>
          <p:cNvPr id="37" name="Durban into share 1">
            <a:extLst>
              <a:ext uri="{FF2B5EF4-FFF2-40B4-BE49-F238E27FC236}">
                <a16:creationId xmlns:a16="http://schemas.microsoft.com/office/drawing/2014/main" id="{F9C8739E-CCBA-E322-676F-CFEC168B7612}"/>
              </a:ext>
            </a:extLst>
          </p:cNvPr>
          <p:cNvCxnSpPr/>
          <p:nvPr/>
        </p:nvCxnSpPr>
        <p:spPr>
          <a:xfrm>
            <a:off x="11074400" y="2857500"/>
            <a:ext cx="203200" cy="0"/>
          </a:xfrm>
          <a:prstGeom prst="straightConnector1">
            <a:avLst/>
          </a:prstGeom>
          <a:ln w="825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8" name="Durban into share 2">
            <a:extLst>
              <a:ext uri="{FF2B5EF4-FFF2-40B4-BE49-F238E27FC236}">
                <a16:creationId xmlns:a16="http://schemas.microsoft.com/office/drawing/2014/main" id="{D93E9E65-5BC6-3832-E403-73067AA04918}"/>
              </a:ext>
            </a:extLst>
          </p:cNvPr>
          <p:cNvCxnSpPr/>
          <p:nvPr/>
        </p:nvCxnSpPr>
        <p:spPr>
          <a:xfrm>
            <a:off x="11277600" y="2857500"/>
            <a:ext cx="0" cy="1574800"/>
          </a:xfrm>
          <a:prstGeom prst="straightConnector1">
            <a:avLst/>
          </a:prstGeom>
          <a:ln w="825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9" name="Durban into share 3">
            <a:extLst>
              <a:ext uri="{FF2B5EF4-FFF2-40B4-BE49-F238E27FC236}">
                <a16:creationId xmlns:a16="http://schemas.microsoft.com/office/drawing/2014/main" id="{D3B9CB9E-7166-6F75-6E91-00684ED9BF63}"/>
              </a:ext>
            </a:extLst>
          </p:cNvPr>
          <p:cNvCxnSpPr/>
          <p:nvPr/>
        </p:nvCxnSpPr>
        <p:spPr>
          <a:xfrm flipH="1">
            <a:off x="11163300" y="4432300"/>
            <a:ext cx="114300" cy="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40" name="Lesedi into share">
            <a:extLst>
              <a:ext uri="{FF2B5EF4-FFF2-40B4-BE49-F238E27FC236}">
                <a16:creationId xmlns:a16="http://schemas.microsoft.com/office/drawing/2014/main" id="{6A1FB962-2069-DDD3-AA27-F0FDF0DD9A19}"/>
              </a:ext>
            </a:extLst>
          </p:cNvPr>
          <p:cNvCxnSpPr/>
          <p:nvPr/>
        </p:nvCxnSpPr>
        <p:spPr>
          <a:xfrm>
            <a:off x="9486900" y="3860800"/>
            <a:ext cx="0" cy="21590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41" name="Capture into investment 1">
            <a:extLst>
              <a:ext uri="{FF2B5EF4-FFF2-40B4-BE49-F238E27FC236}">
                <a16:creationId xmlns:a16="http://schemas.microsoft.com/office/drawing/2014/main" id="{5635F7CB-40F4-B57E-16EB-2958BF1861A0}"/>
              </a:ext>
            </a:extLst>
          </p:cNvPr>
          <p:cNvCxnSpPr/>
          <p:nvPr/>
        </p:nvCxnSpPr>
        <p:spPr>
          <a:xfrm>
            <a:off x="9486900" y="5080000"/>
            <a:ext cx="0" cy="101600"/>
          </a:xfrm>
          <a:prstGeom prst="straightConnector1">
            <a:avLst/>
          </a:prstGeom>
          <a:ln w="825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2" name="Capture into investment 2">
            <a:extLst>
              <a:ext uri="{FF2B5EF4-FFF2-40B4-BE49-F238E27FC236}">
                <a16:creationId xmlns:a16="http://schemas.microsoft.com/office/drawing/2014/main" id="{EA92D7F4-947C-B3D8-B059-FB8855F1BCB5}"/>
              </a:ext>
            </a:extLst>
          </p:cNvPr>
          <p:cNvCxnSpPr/>
          <p:nvPr/>
        </p:nvCxnSpPr>
        <p:spPr>
          <a:xfrm flipH="1">
            <a:off x="1524000" y="5181600"/>
            <a:ext cx="7962900" cy="0"/>
          </a:xfrm>
          <a:prstGeom prst="straightConnector1">
            <a:avLst/>
          </a:prstGeom>
          <a:ln w="825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3" name="Capture into investment 3">
            <a:extLst>
              <a:ext uri="{FF2B5EF4-FFF2-40B4-BE49-F238E27FC236}">
                <a16:creationId xmlns:a16="http://schemas.microsoft.com/office/drawing/2014/main" id="{D9181569-E667-1A8F-CE83-4F35C9BCE845}"/>
              </a:ext>
            </a:extLst>
          </p:cNvPr>
          <p:cNvCxnSpPr/>
          <p:nvPr/>
        </p:nvCxnSpPr>
        <p:spPr>
          <a:xfrm>
            <a:off x="1524000" y="5181600"/>
            <a:ext cx="0" cy="15240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44" name="Additional capture">
            <a:extLst>
              <a:ext uri="{FF2B5EF4-FFF2-40B4-BE49-F238E27FC236}">
                <a16:creationId xmlns:a16="http://schemas.microsoft.com/office/drawing/2014/main" id="{A47E906C-8F7F-EAA3-2F80-B829DEA82C6B}"/>
              </a:ext>
            </a:extLst>
          </p:cNvPr>
          <p:cNvSpPr txBox="1"/>
          <p:nvPr/>
        </p:nvSpPr>
        <p:spPr>
          <a:xfrm>
            <a:off x="457200" y="5422899"/>
            <a:ext cx="2349500" cy="571500"/>
          </a:xfrm>
          <a:prstGeom prst="rect">
            <a:avLst/>
          </a:prstGeom>
          <a:noFill/>
        </p:spPr>
        <p:txBody>
          <a:bodyPr vert="horz" wrap="square" lIns="0" tIns="0" rIns="0" bIns="0" rtlCol="0">
            <a:noAutofit/>
          </a:bodyPr>
          <a:lstStyle/>
          <a:p>
            <a:pPr>
              <a:spcAft>
                <a:spcPts val="500"/>
              </a:spcAft>
            </a:pPr>
            <a:r>
              <a:rPr lang="en-GB" sz="1050" b="1">
                <a:solidFill>
                  <a:schemeClr val="accent1"/>
                </a:solidFill>
                <a:latin typeface="Lato" panose="020F0502020204030203" pitchFamily="34" charset="0"/>
              </a:rPr>
              <a:t>Achievable additional capture</a:t>
            </a:r>
          </a:p>
          <a:p>
            <a:pPr>
              <a:spcAft>
                <a:spcPts val="200"/>
              </a:spcAft>
            </a:pPr>
            <a:r>
              <a:rPr lang="en-GB" sz="1050">
                <a:solidFill>
                  <a:schemeClr val="dk1"/>
                </a:solidFill>
                <a:latin typeface="Lato" panose="020F0502020204030203" pitchFamily="34" charset="0"/>
              </a:rPr>
              <a:t>Customers, contracts, competition</a:t>
            </a:r>
          </a:p>
          <a:p>
            <a:pPr>
              <a:spcAft>
                <a:spcPts val="200"/>
              </a:spcAft>
            </a:pPr>
            <a:r>
              <a:rPr lang="en-GB" sz="1050">
                <a:solidFill>
                  <a:schemeClr val="dk1"/>
                </a:solidFill>
                <a:latin typeface="Lato" panose="020F0502020204030203" pitchFamily="34" charset="0"/>
              </a:rPr>
              <a:t>Test capture within the opportunity</a:t>
            </a:r>
            <a:endParaRPr lang="en-ZA" sz="1050">
              <a:solidFill>
                <a:schemeClr val="dk1"/>
              </a:solidFill>
              <a:latin typeface="Lato" panose="020F0502020204030203" pitchFamily="34" charset="0"/>
            </a:endParaRPr>
          </a:p>
        </p:txBody>
      </p:sp>
      <p:sp>
        <p:nvSpPr>
          <p:cNvPr id="45" name="Existing capacity">
            <a:extLst>
              <a:ext uri="{FF2B5EF4-FFF2-40B4-BE49-F238E27FC236}">
                <a16:creationId xmlns:a16="http://schemas.microsoft.com/office/drawing/2014/main" id="{BAE5CA36-0E1A-4F01-DBF5-2E904D4B5702}"/>
              </a:ext>
            </a:extLst>
          </p:cNvPr>
          <p:cNvSpPr txBox="1"/>
          <p:nvPr/>
        </p:nvSpPr>
        <p:spPr>
          <a:xfrm>
            <a:off x="3340100" y="5422899"/>
            <a:ext cx="2578100" cy="571500"/>
          </a:xfrm>
          <a:prstGeom prst="rect">
            <a:avLst/>
          </a:prstGeom>
          <a:noFill/>
        </p:spPr>
        <p:txBody>
          <a:bodyPr vert="horz" wrap="square" lIns="0" tIns="0" rIns="0" bIns="0" rtlCol="0">
            <a:noAutofit/>
          </a:bodyPr>
          <a:lstStyle/>
          <a:p>
            <a:pPr>
              <a:spcAft>
                <a:spcPts val="500"/>
              </a:spcAft>
            </a:pPr>
            <a:r>
              <a:rPr lang="en-GB" sz="1050" b="1">
                <a:solidFill>
                  <a:schemeClr val="accent1"/>
                </a:solidFill>
                <a:latin typeface="Lato" panose="020F0502020204030203" pitchFamily="34" charset="0"/>
              </a:rPr>
              <a:t>Existing assets and improvements</a:t>
            </a:r>
          </a:p>
          <a:p>
            <a:pPr>
              <a:spcAft>
                <a:spcPts val="200"/>
              </a:spcAft>
            </a:pPr>
            <a:r>
              <a:rPr lang="en-GB" sz="1050">
                <a:solidFill>
                  <a:schemeClr val="dk1"/>
                </a:solidFill>
                <a:latin typeface="Lato" panose="020F0502020204030203" pitchFamily="34" charset="0"/>
              </a:rPr>
              <a:t>Working tanks, turns and constraints</a:t>
            </a:r>
          </a:p>
          <a:p>
            <a:pPr>
              <a:spcAft>
                <a:spcPts val="200"/>
              </a:spcAft>
            </a:pPr>
            <a:r>
              <a:rPr lang="en-GB" sz="1050">
                <a:solidFill>
                  <a:schemeClr val="dk1"/>
                </a:solidFill>
                <a:latin typeface="Lato" panose="020F0502020204030203" pitchFamily="34" charset="0"/>
              </a:rPr>
              <a:t>Test receipt, storage and dispatch</a:t>
            </a:r>
            <a:endParaRPr lang="en-ZA" sz="1050">
              <a:solidFill>
                <a:schemeClr val="dk1"/>
              </a:solidFill>
              <a:latin typeface="Lato" panose="020F0502020204030203" pitchFamily="34" charset="0"/>
            </a:endParaRPr>
          </a:p>
        </p:txBody>
      </p:sp>
      <p:sp>
        <p:nvSpPr>
          <p:cNvPr id="46" name="Investment economics">
            <a:extLst>
              <a:ext uri="{FF2B5EF4-FFF2-40B4-BE49-F238E27FC236}">
                <a16:creationId xmlns:a16="http://schemas.microsoft.com/office/drawing/2014/main" id="{B2606EE2-8E42-5172-39DE-5B783889B2F3}"/>
              </a:ext>
            </a:extLst>
          </p:cNvPr>
          <p:cNvSpPr txBox="1"/>
          <p:nvPr/>
        </p:nvSpPr>
        <p:spPr>
          <a:xfrm>
            <a:off x="6451600" y="5422899"/>
            <a:ext cx="2514600" cy="571500"/>
          </a:xfrm>
          <a:prstGeom prst="rect">
            <a:avLst/>
          </a:prstGeom>
          <a:noFill/>
        </p:spPr>
        <p:txBody>
          <a:bodyPr vert="horz" wrap="square" lIns="0" tIns="0" rIns="0" bIns="0" rtlCol="0">
            <a:noAutofit/>
          </a:bodyPr>
          <a:lstStyle/>
          <a:p>
            <a:pPr>
              <a:spcAft>
                <a:spcPts val="500"/>
              </a:spcAft>
            </a:pPr>
            <a:r>
              <a:rPr lang="en-GB" sz="1050" b="1">
                <a:solidFill>
                  <a:schemeClr val="accent1"/>
                </a:solidFill>
                <a:latin typeface="Lato" panose="020F0502020204030203" pitchFamily="34" charset="0"/>
              </a:rPr>
              <a:t>New investment and returns</a:t>
            </a:r>
          </a:p>
          <a:p>
            <a:pPr>
              <a:spcAft>
                <a:spcPts val="200"/>
              </a:spcAft>
            </a:pPr>
            <a:r>
              <a:rPr lang="en-GB" sz="1050">
                <a:solidFill>
                  <a:schemeClr val="dk1"/>
                </a:solidFill>
                <a:latin typeface="Lato" panose="020F0502020204030203" pitchFamily="34" charset="0"/>
              </a:rPr>
              <a:t>Incremental volume, cost and capex</a:t>
            </a:r>
          </a:p>
          <a:p>
            <a:pPr>
              <a:spcAft>
                <a:spcPts val="200"/>
              </a:spcAft>
            </a:pPr>
            <a:r>
              <a:rPr lang="en-GB" sz="1050">
                <a:solidFill>
                  <a:schemeClr val="dk1"/>
                </a:solidFill>
                <a:latin typeface="Lato" panose="020F0502020204030203" pitchFamily="34" charset="0"/>
              </a:rPr>
              <a:t>Compare alternatives and downside</a:t>
            </a:r>
            <a:endParaRPr lang="en-ZA" sz="1050">
              <a:solidFill>
                <a:schemeClr val="dk1"/>
              </a:solidFill>
              <a:latin typeface="Lato" panose="020F0502020204030203" pitchFamily="34" charset="0"/>
            </a:endParaRPr>
          </a:p>
        </p:txBody>
      </p:sp>
      <p:sp>
        <p:nvSpPr>
          <p:cNvPr id="49" name="Resolution">
            <a:extLst>
              <a:ext uri="{FF2B5EF4-FFF2-40B4-BE49-F238E27FC236}">
                <a16:creationId xmlns:a16="http://schemas.microsoft.com/office/drawing/2014/main" id="{36518D2A-834F-FA12-49E1-ECE1CE59DFA9}"/>
              </a:ext>
            </a:extLst>
          </p:cNvPr>
          <p:cNvSpPr txBox="1"/>
          <p:nvPr/>
        </p:nvSpPr>
        <p:spPr>
          <a:xfrm>
            <a:off x="9512300" y="5422899"/>
            <a:ext cx="1600200" cy="571500"/>
          </a:xfrm>
          <a:prstGeom prst="rect">
            <a:avLst/>
          </a:prstGeom>
          <a:noFill/>
        </p:spPr>
        <p:txBody>
          <a:bodyPr vert="horz" wrap="square" lIns="0" tIns="0" rIns="0" bIns="0" rtlCol="0">
            <a:noAutofit/>
          </a:bodyPr>
          <a:lstStyle/>
          <a:p>
            <a:pPr>
              <a:spcAft>
                <a:spcPts val="500"/>
              </a:spcAft>
            </a:pPr>
            <a:r>
              <a:rPr lang="en-GB" sz="1050" b="1">
                <a:solidFill>
                  <a:schemeClr val="accent1"/>
                </a:solidFill>
                <a:latin typeface="Lato" panose="020F0502020204030203" pitchFamily="34" charset="0"/>
              </a:rPr>
              <a:t>Resolution</a:t>
            </a:r>
          </a:p>
          <a:p>
            <a:pPr>
              <a:spcAft>
                <a:spcPts val="200"/>
              </a:spcAft>
            </a:pPr>
            <a:r>
              <a:rPr lang="en-GB" sz="1050">
                <a:solidFill>
                  <a:schemeClr val="dk1"/>
                </a:solidFill>
                <a:latin typeface="Lato" panose="020F0502020204030203" pitchFamily="34" charset="0"/>
              </a:rPr>
              <a:t>Vopak share at each site</a:t>
            </a:r>
          </a:p>
          <a:p>
            <a:pPr>
              <a:spcAft>
                <a:spcPts val="200"/>
              </a:spcAft>
            </a:pPr>
            <a:r>
              <a:rPr lang="en-GB" sz="1050">
                <a:solidFill>
                  <a:schemeClr val="dk1"/>
                </a:solidFill>
                <a:latin typeface="Lato" panose="020F0502020204030203" pitchFamily="34" charset="0"/>
              </a:rPr>
              <a:t>Scope for new investment</a:t>
            </a:r>
            <a:endParaRPr lang="en-ZA" sz="1050">
              <a:solidFill>
                <a:schemeClr val="dk1"/>
              </a:solidFill>
              <a:latin typeface="Lato" panose="020F0502020204030203" pitchFamily="34" charset="0"/>
            </a:endParaRPr>
          </a:p>
        </p:txBody>
      </p:sp>
      <p:cxnSp>
        <p:nvCxnSpPr>
          <p:cNvPr id="50" name="Capture to capacity">
            <a:extLst>
              <a:ext uri="{FF2B5EF4-FFF2-40B4-BE49-F238E27FC236}">
                <a16:creationId xmlns:a16="http://schemas.microsoft.com/office/drawing/2014/main" id="{1A0CED58-7766-9E27-01D7-7E6CB9E0A1DA}"/>
              </a:ext>
            </a:extLst>
          </p:cNvPr>
          <p:cNvCxnSpPr/>
          <p:nvPr/>
        </p:nvCxnSpPr>
        <p:spPr>
          <a:xfrm>
            <a:off x="2844800" y="5664200"/>
            <a:ext cx="393700" cy="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51" name="Capacity to returns">
            <a:extLst>
              <a:ext uri="{FF2B5EF4-FFF2-40B4-BE49-F238E27FC236}">
                <a16:creationId xmlns:a16="http://schemas.microsoft.com/office/drawing/2014/main" id="{E7EDE825-97C8-5ECE-B656-1128616197AF}"/>
              </a:ext>
            </a:extLst>
          </p:cNvPr>
          <p:cNvCxnSpPr/>
          <p:nvPr/>
        </p:nvCxnSpPr>
        <p:spPr>
          <a:xfrm>
            <a:off x="5956300" y="5664200"/>
            <a:ext cx="393700" cy="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52" name="Returns to resolution">
            <a:extLst>
              <a:ext uri="{FF2B5EF4-FFF2-40B4-BE49-F238E27FC236}">
                <a16:creationId xmlns:a16="http://schemas.microsoft.com/office/drawing/2014/main" id="{924FFDD7-6647-B317-2296-3F19E0FAF00C}"/>
              </a:ext>
            </a:extLst>
          </p:cNvPr>
          <p:cNvCxnSpPr/>
          <p:nvPr/>
        </p:nvCxnSpPr>
        <p:spPr>
          <a:xfrm>
            <a:off x="8991600" y="5664200"/>
            <a:ext cx="419100" cy="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92627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Choose the investment that removes the proven constraint—and earns a return</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17</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Investment menu, not approved projects. Network rail recovery is an external fuel-demand driver; Vopak rail loading/access is a distinct investment option. EV uptake reduces some fuel demand; it does not itself prove an EV investment case. Project costs, contracts and returns remain open. Three fuel-logistics packages are priced illustratively on p39; these do not constitute engineered rail or EV project estimates.</a:t>
            </a:r>
            <a:endParaRPr sz="650"/>
          </a:p>
        </p:txBody>
      </p:sp>
      <p:graphicFrame>
        <p:nvGraphicFramePr>
          <p:cNvPr id="47" name="Table 46"/>
          <p:cNvGraphicFramePr>
            <a:graphicFrameLocks noGrp="1"/>
          </p:cNvGraphicFramePr>
          <p:nvPr>
            <p:extLst>
              <p:ext uri="{D42A27DB-BD31-4B8C-83A1-F6EECF244321}">
                <p14:modId xmlns:p14="http://schemas.microsoft.com/office/powerpoint/2010/main" val="3121596722"/>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option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When it becomes relevant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Decision / commitment trigger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Existing assets /
debottlenecking</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Customer growth can be served through better tank turns, scheduling or receipt/dispatch.</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Use available working capacity; invest in the specific bottleneck where incremental value is positive.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Corridor / rail
access</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Competitive customer flows are constrained by transport capacity, cost or reliability.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Secure service and volume commitments. Compare access contracts, loading assets and partnership investment.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Additional
tank capacity</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Profitable captured flows exceed achievable handling and storage remains the binding constraint.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Size and stage tanks against contracted demand; pass the four tests and downside cases.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EV-related
adjacencies</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Identified charging / fleet-energy customers offer a viable opportunity as transport electrifies.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Screen partnerships or dedicated assets separately: demand, power access, strategic fit and return must be proven.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DA1376E-FCD2-DCED-F061-B9CFE8F82385}"/>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7BFD4F5A-91C7-92BA-98A8-8215D1569241}"/>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19EF2103-D9E3-FD8D-01B5-EED567E5342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146B9E65-3287-B65C-5CE7-33C886334ACF}"/>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Resolution</a:t>
            </a:r>
          </a:p>
        </p:txBody>
      </p:sp>
      <p:pic>
        <p:nvPicPr>
          <p:cNvPr id="6" name="Argument icon turnover">
            <a:extLst>
              <a:ext uri="{FF2B5EF4-FFF2-40B4-BE49-F238E27FC236}">
                <a16:creationId xmlns:a16="http://schemas.microsoft.com/office/drawing/2014/main" id="{BA6FB266-146A-4D87-EE83-A73075F1267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5" name="Argument icon transport">
            <a:extLst>
              <a:ext uri="{FF2B5EF4-FFF2-40B4-BE49-F238E27FC236}">
                <a16:creationId xmlns:a16="http://schemas.microsoft.com/office/drawing/2014/main" id="{123D469F-315C-7FB5-C3A5-660211B54C5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8" name="Argument icon headroom">
            <a:extLst>
              <a:ext uri="{FF2B5EF4-FFF2-40B4-BE49-F238E27FC236}">
                <a16:creationId xmlns:a16="http://schemas.microsoft.com/office/drawing/2014/main" id="{5F1A2A76-F7B3-3178-767E-DCFA92278030}"/>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0" name="Argument icon power">
            <a:extLst>
              <a:ext uri="{FF2B5EF4-FFF2-40B4-BE49-F238E27FC236}">
                <a16:creationId xmlns:a16="http://schemas.microsoft.com/office/drawing/2014/main" id="{8B95344E-2FD8-34AD-5418-6BD86B8DCB6D}"/>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extLst>
      <p:ext uri="{BB962C8B-B14F-4D97-AF65-F5344CB8AC3E}">
        <p14:creationId xmlns:p14="http://schemas.microsoft.com/office/powerpoint/2010/main" val="6313208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Resolve customer volume, working capacity and project economics first to determine the investment</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18</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DR01-DR09 register and 8 October PS handback. Prepared, not sent; receipt not recorded. DR09 EV adjacency remains separate. Public estimates can proceed while client data is pending.</a:t>
            </a:r>
            <a:endParaRPr sz="650"/>
          </a:p>
        </p:txBody>
      </p:sp>
      <p:graphicFrame>
        <p:nvGraphicFramePr>
          <p:cNvPr id="47" name="Table 46"/>
          <p:cNvGraphicFramePr>
            <a:graphicFrameLocks noGrp="1"/>
          </p:cNvGraphicFramePr>
          <p:nvPr>
            <p:extLst>
              <p:ext uri="{D42A27DB-BD31-4B8C-83A1-F6EECF244321}">
                <p14:modId xmlns:p14="http://schemas.microsoft.com/office/powerpoint/2010/main" val="3282441300"/>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Outstanding request / coordinator</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Required data / handback</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Decision supported</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664633">
                <a:tc>
                  <a:txBody>
                    <a:bodyPr/>
                    <a:lstStyle/>
                    <a:p>
                      <a:pPr>
                        <a:spcAft>
                          <a:spcPts val="0"/>
                        </a:spcAft>
                        <a:defRPr sz="1000" b="0">
                          <a:solidFill>
                            <a:srgbClr val="000000"/>
                          </a:solidFill>
                          <a:latin typeface="Lato"/>
                        </a:defRPr>
                      </a:pPr>
                      <a:r>
                        <a:rPr lang="en-GB" sz="1200" b="1" u="none">
                          <a:solidFill>
                            <a:schemeClr val="dk1"/>
                          </a:solidFill>
                          <a:latin typeface="Lato" panose="020F0502020204030203" pitchFamily="34" charset="0"/>
                        </a:rPr>
                        <a:t>DR01 | Manish; Nigel review</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a:solidFill>
                            <a:srgbClr val="000000"/>
                          </a:solidFill>
                          <a:latin typeface="Lato"/>
                        </a:defRPr>
                      </a:pPr>
                      <a:r>
                        <a:rPr lang="en-GB" sz="1200" b="0" u="none">
                          <a:solidFill>
                            <a:schemeClr val="dk1"/>
                          </a:solidFill>
                          <a:latin typeface="Lato" panose="020F0502020204030203" pitchFamily="34" charset="0"/>
                        </a:rPr>
                        <a:t>Product/year sales, gross imports, exports, actual production and stocks. Resolve 2024 source; 2025 sales are absent.</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Reconciled current market scale.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664633">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DR04 | Manish; Nigel review</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Port/pipeline capacity, route access and destination-matched delivered economics.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Accessible Durban and Lesedi markets.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664633">
                <a:tc>
                  <a:txBody>
                    <a:bodyPr/>
                    <a:lstStyle/>
                    <a:p>
                      <a:pPr>
                        <a:spcAft>
                          <a:spcPts val="0"/>
                        </a:spcAft>
                        <a:defRPr sz="1000" b="0">
                          <a:solidFill>
                            <a:srgbClr val="000000"/>
                          </a:solidFill>
                          <a:latin typeface="Lato"/>
                        </a:defRPr>
                      </a:pPr>
                      <a:r>
                        <a:rPr lang="en-GB" sz="1200" b="1" u="none">
                          <a:solidFill>
                            <a:schemeClr val="dk1"/>
                          </a:solidFill>
                          <a:latin typeface="Lato" panose="020F0502020204030203" pitchFamily="34" charset="0"/>
                        </a:rPr>
                        <a:t>DR07/08 | Manish; Nigel/Henry review</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Reported Eskom litres, fleet/efficiency, IPP timing and all refineries including PetroSA/Mossgas.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Demand and domestic-output paths.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664633">
                <a:tc>
                  <a:txBody>
                    <a:bodyPr/>
                    <a:lstStyle/>
                    <a:p>
                      <a:pPr>
                        <a:spcAft>
                          <a:spcPts val="0"/>
                        </a:spcAft>
                        <a:defRPr sz="1000" b="0">
                          <a:solidFill>
                            <a:srgbClr val="000000"/>
                          </a:solidFill>
                          <a:latin typeface="Lato"/>
                        </a:defRPr>
                      </a:pPr>
                      <a:r>
                        <a:rPr lang="en-GB" sz="1200" b="1" u="none">
                          <a:solidFill>
                            <a:schemeClr val="dk1"/>
                          </a:solidFill>
                          <a:latin typeface="Lato" panose="020F0502020204030203" pitchFamily="34" charset="0"/>
                        </a:rPr>
                        <a:t>DR02/05 | Nigel coordinates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36 months of site/product movements, shared transfers, destinations, customer commitments and contracts.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Actual market share and achievable capture.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64633">
                <a:tc>
                  <a:txBody>
                    <a:bodyPr/>
                    <a:lstStyle/>
                    <a:p>
                      <a:pPr>
                        <a:spcAft>
                          <a:spcPts val="0"/>
                        </a:spcAft>
                        <a:defRPr sz="1000" b="0">
                          <a:solidFill>
                            <a:srgbClr val="000000"/>
                          </a:solidFill>
                          <a:latin typeface="Lato"/>
                        </a:defRPr>
                      </a:pPr>
                      <a:r>
                        <a:rPr lang="en-GB" sz="1200" b="1" u="none">
                          <a:solidFill>
                            <a:schemeClr val="dk1"/>
                          </a:solidFill>
                          <a:latin typeface="Lato" panose="020F0502020204030203" pitchFamily="34" charset="0"/>
                        </a:rPr>
                        <a:t>DR03 | Nigel coordinates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Working/committed tankage, turns, occupancy, downtime and receipt/dispatch limits.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Operating headroom and bottlenecks.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3322749394"/>
                  </a:ext>
                </a:extLst>
              </a:tr>
              <a:tr h="664633">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DR06 | Nigel coordinates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Storage/handling terms, costs, capex, timing, tax, working capital and hurdle rate.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Incremental returns and investment scope.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698630151"/>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DA1376E-FCD2-DCED-F061-B9CFE8F82385}"/>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7BFD4F5A-91C7-92BA-98A8-8215D1569241}"/>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19EF2103-D9E3-FD8D-01B5-EED567E5342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146B9E65-3287-B65C-5CE7-33C886334ACF}"/>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latin typeface="Lato" panose="020F0502020204030203" pitchFamily="34" charset="0"/>
              </a:rPr>
              <a:t>Resolution</a:t>
            </a:r>
          </a:p>
        </p:txBody>
      </p:sp>
    </p:spTree>
    <p:extLst>
      <p:ext uri="{BB962C8B-B14F-4D97-AF65-F5344CB8AC3E}">
        <p14:creationId xmlns:p14="http://schemas.microsoft.com/office/powerpoint/2010/main" val="33317818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58875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p>
        </p:txBody>
      </p:sp>
      <p:pic>
        <p:nvPicPr>
          <p:cNvPr id="3" name="Picture 2" descr="image.jpg"/>
          <p:cNvPicPr>
            <a:picLocks noChangeAspect="1"/>
          </p:cNvPicPr>
          <p:nvPr/>
        </p:nvPicPr>
        <p:blipFill>
          <a:blip r:embed="rId3"/>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4"/>
          <a:srcRect/>
          <a:stretch>
            <a:fillRect/>
          </a:stretch>
        </p:blipFill>
        <p:spPr>
          <a:xfrm>
            <a:off x="502920" y="457200"/>
            <a:ext cx="1965960" cy="438614"/>
          </a:xfrm>
          <a:prstGeom prst="rect">
            <a:avLst/>
          </a:prstGeom>
        </p:spPr>
      </p:pic>
      <p:sp>
        <p:nvSpPr>
          <p:cNvPr id="5" name="TextBox 4"/>
          <p:cNvSpPr txBox="1"/>
          <p:nvPr/>
        </p:nvSpPr>
        <p:spPr>
          <a:xfrm>
            <a:off x="594360" y="2468880"/>
            <a:ext cx="4709160" cy="477054"/>
          </a:xfrm>
          <a:prstGeom prst="rect">
            <a:avLst/>
          </a:prstGeom>
          <a:noFill/>
        </p:spPr>
        <p:txBody>
          <a:bodyPr wrap="square" lIns="18288" tIns="0" rIns="18288" bIns="0">
            <a:spAutoFit/>
          </a:bodyPr>
          <a:lstStyle/>
          <a:p>
            <a:pPr>
              <a:spcAft>
                <a:spcPts val="800"/>
              </a:spcAft>
              <a:defRPr sz="3100" b="0">
                <a:solidFill>
                  <a:srgbClr val="FFFFFF"/>
                </a:solidFill>
                <a:latin typeface="Lato"/>
              </a:defRPr>
            </a:pPr>
            <a:r>
              <a:rPr lang="en-GB">
                <a:solidFill>
                  <a:srgbClr val="FFFFFF"/>
                </a:solidFill>
              </a:rPr>
              <a:t>Appendix</a:t>
            </a:r>
            <a:endParaRPr>
              <a:solidFill>
                <a:srgbClr val="FFFFFF"/>
              </a:solidFill>
            </a:endParaRP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261610"/>
          </a:xfrm>
          <a:prstGeom prst="rect">
            <a:avLst/>
          </a:prstGeom>
          <a:noFill/>
        </p:spPr>
        <p:txBody>
          <a:bodyPr wrap="square" lIns="18288" tIns="0" rIns="18288" bIns="0">
            <a:spAutoFit/>
          </a:bodyPr>
          <a:lstStyle/>
          <a:p>
            <a:pPr>
              <a:spcAft>
                <a:spcPts val="800"/>
              </a:spcAft>
              <a:defRPr sz="2100" b="0">
                <a:solidFill>
                  <a:srgbClr val="FFFFFF"/>
                </a:solidFill>
                <a:latin typeface="Lato"/>
              </a:defRPr>
            </a:pPr>
            <a:r>
              <a:rPr lang="en-GB" sz="1700">
                <a:solidFill>
                  <a:srgbClr val="FFFFFF"/>
                </a:solidFill>
              </a:rPr>
              <a:t>Supporting evidence and calibration</a:t>
            </a:r>
            <a:endParaRPr sz="1700">
              <a:solidFill>
                <a:srgbClr val="FFFFFF"/>
              </a:solidFill>
            </a:endParaRPr>
          </a:p>
        </p:txBody>
      </p:sp>
      <p:sp>
        <p:nvSpPr>
          <p:cNvPr id="8" name="TextBox 7"/>
          <p:cNvSpPr txBox="1"/>
          <p:nvPr/>
        </p:nvSpPr>
        <p:spPr>
          <a:xfrm>
            <a:off x="594360" y="52395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it-IT">
                <a:solidFill>
                  <a:srgbClr val="FFFFFF"/>
                </a:solidFill>
              </a:rPr>
              <a:t>Durban–Lesedi corridor into Gauteng</a:t>
            </a:r>
            <a:endParaRPr>
              <a:solidFill>
                <a:srgbClr val="FFFFFF"/>
              </a:solidFill>
            </a:endParaRPr>
          </a:p>
        </p:txBody>
      </p:sp>
      <p:sp>
        <p:nvSpPr>
          <p:cNvPr id="9" name="TextBox 8"/>
          <p:cNvSpPr txBox="1"/>
          <p:nvPr/>
        </p:nvSpPr>
        <p:spPr>
          <a:xfrm>
            <a:off x="594360" y="56967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en-ZW">
                <a:solidFill>
                  <a:srgbClr val="FFFFFF"/>
                </a:solidFill>
              </a:rPr>
              <a:t>8 October 2026</a:t>
            </a:r>
            <a:endParaRPr>
              <a:solidFill>
                <a:srgbClr val="FFFFFF"/>
              </a:solidFill>
            </a:endParaRPr>
          </a:p>
        </p:txBody>
      </p:sp>
      <p:sp>
        <p:nvSpPr>
          <p:cNvPr id="10" name="TextBox 9"/>
          <p:cNvSpPr txBox="1"/>
          <p:nvPr/>
        </p:nvSpPr>
        <p:spPr>
          <a:xfrm>
            <a:off x="594360" y="6053328"/>
            <a:ext cx="4572000" cy="369332"/>
          </a:xfrm>
          <a:prstGeom prst="rect">
            <a:avLst/>
          </a:prstGeom>
          <a:noFill/>
        </p:spPr>
        <p:txBody>
          <a:bodyPr wrap="square" lIns="18288" tIns="0" rIns="18288" bIns="0">
            <a:spAutoFit/>
          </a:bodyPr>
          <a:lstStyle/>
          <a:p>
            <a:pPr>
              <a:spcAft>
                <a:spcPts val="800"/>
              </a:spcAft>
              <a:defRPr sz="1200" b="0">
                <a:solidFill>
                  <a:srgbClr val="FFFFFF"/>
                </a:solidFill>
                <a:latin typeface="Lato"/>
              </a:defRPr>
            </a:pPr>
            <a:r>
              <a:rPr lang="en-GB" sz="1200">
                <a:solidFill>
                  <a:srgbClr val="FFFFFF"/>
                </a:solidFill>
              </a:rPr>
              <a:t>Detailed evidence, assumptions and remaining calibration requirements</a:t>
            </a:r>
            <a:endParaRPr sz="1200">
              <a:solidFill>
                <a:srgbClr val="FFFFFF"/>
              </a:solidFill>
            </a:endParaRPr>
          </a:p>
        </p:txBody>
      </p:sp>
      <p:sp>
        <p:nvSpPr>
          <p:cNvPr id="11" name="Photo source credit"/>
          <p:cNvSpPr txBox="1"/>
          <p:nvPr/>
        </p:nvSpPr>
        <p:spPr>
          <a:xfrm>
            <a:off x="594360" y="6400800"/>
            <a:ext cx="4754880" cy="164592"/>
          </a:xfrm>
          <a:prstGeom prst="rect">
            <a:avLst/>
          </a:prstGeom>
          <a:noFill/>
        </p:spPr>
        <p:txBody>
          <a:bodyPr wrap="square" lIns="18288" tIns="0" rIns="18288"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594360" y="6729984"/>
            <a:ext cx="2011680" cy="118872"/>
          </a:xfrm>
          <a:prstGeom prst="rect">
            <a:avLst/>
          </a:prstGeom>
          <a:noFill/>
        </p:spPr>
        <p:txBody>
          <a:bodyPr wrap="none" lIns="0" tIns="0" rIns="0" bIns="0">
            <a:spAutoFit/>
          </a:bodyPr>
          <a:lstStyle/>
          <a:p>
            <a:pPr>
              <a:spcBef>
                <a:spcPts val="0"/>
              </a:spcBef>
              <a:spcAft>
                <a:spcPts val="0"/>
              </a:spcAft>
              <a:defRPr sz="750">
                <a:solidFill>
                  <a:srgbClr val="BDBEC1"/>
                </a:solidFill>
                <a:latin typeface="Lato"/>
              </a:defRPr>
            </a:pPr>
            <a:r>
              <a:t>Strictly Confidential</a:t>
            </a:r>
          </a:p>
        </p:txBody>
      </p:sp>
      <p:sp>
        <p:nvSpPr>
          <p:cNvPr id="13" name="Appendix page number">
            <a:extLst>
              <a:ext uri="{FF2B5EF4-FFF2-40B4-BE49-F238E27FC236}">
                <a16:creationId xmlns:a16="http://schemas.microsoft.com/office/drawing/2014/main" id="{0522BF82-0323-6187-CAC1-CB8F852202A2}"/>
              </a:ext>
            </a:extLst>
          </p:cNvPr>
          <p:cNvSpPr txBox="1"/>
          <p:nvPr/>
        </p:nvSpPr>
        <p:spPr>
          <a:xfrm>
            <a:off x="10972800" y="6515100"/>
            <a:ext cx="355600" cy="261610"/>
          </a:xfrm>
          <a:prstGeom prst="rect">
            <a:avLst/>
          </a:prstGeom>
          <a:noFill/>
        </p:spPr>
        <p:txBody>
          <a:bodyPr vert="horz" rtlCol="0">
            <a:spAutoFit/>
          </a:bodyPr>
          <a:lstStyle/>
          <a:p>
            <a:r>
              <a:rPr lang="en-ZA" sz="1100">
                <a:latin typeface="Lato" panose="020F0502020204030203" pitchFamily="34" charset="0"/>
              </a:rPr>
              <a:t>19</a:t>
            </a:r>
          </a:p>
        </p:txBody>
      </p:sp>
    </p:spTree>
    <p:extLst>
      <p:ext uri="{BB962C8B-B14F-4D97-AF65-F5344CB8AC3E}">
        <p14:creationId xmlns:p14="http://schemas.microsoft.com/office/powerpoint/2010/main" val="12129900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The supporting evidence calibrates demand, supply and the terminal investment tests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20</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The main story runs from the opening thesis to the investment tests. The added lever register and power/supply calibration pages record what remains to be populated.</a:t>
            </a:r>
            <a:endParaRPr sz="650"/>
          </a:p>
        </p:txBody>
      </p:sp>
      <p:graphicFrame>
        <p:nvGraphicFramePr>
          <p:cNvPr id="47" name="Table 46"/>
          <p:cNvGraphicFramePr>
            <a:graphicFrameLocks noGrp="1"/>
          </p:cNvGraphicFramePr>
          <p:nvPr>
            <p:extLst>
              <p:ext uri="{D42A27DB-BD31-4B8C-83A1-F6EECF244321}">
                <p14:modId xmlns:p14="http://schemas.microsoft.com/office/powerpoint/2010/main" val="3256265132"/>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 group</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Detail retained</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Connection to the story</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Demand</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a:solidFill>
                            <a:srgbClr val="000000"/>
                          </a:solidFill>
                          <a:latin typeface="Lato"/>
                        </a:defRPr>
                      </a:pPr>
                      <a:r>
                        <a:rPr lang="en-GB" sz="1300" b="0" u="none">
                          <a:solidFill>
                            <a:schemeClr val="dk1"/>
                          </a:solidFill>
                          <a:latin typeface="Lato" panose="020F0502020204030203" pitchFamily="34" charset="0"/>
                        </a:rPr>
                        <a:t>Workbook sector history, vehicle stock/sales, diesel-use estimates, freight and power fleet.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Observed history and labelled estimates inform D1-D5; annual L/M/H paths still require agreement.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Supply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Plant output, gas availability and restart timing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S1–S4 create the three domestic-supply paths.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 and operations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Routes, customer share, working tankage and turnover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T1–T5 translate each world into terminal flows and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Returns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Rates, costs, capex and funding; separate EV adjacency economics.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F1 translates each investment option into cash flow and returns.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E13EAF1-FC5F-41FB-E93B-57A2DCD84E77}"/>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88A9838A-D738-73AB-9AE8-857836BA0A6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B767E082-E6F9-7C23-8801-D08A12B7232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217FEB5C-B9C9-53B2-9C7A-EBB9627DF92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8554851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Fuel demand has diverged from GDP, so sector activity and fuel intensity need separate treatment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21</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Staged GDP and department fuel sales, indices 2013=100. Sector attribution remains open; COVID distorts short-period comparisons.</a:t>
            </a:r>
            <a:endParaRPr sz="6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CE59F08-688D-53B8-0BB2-10390494FFA0}"/>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4DBE05E5-74B7-21B3-F7F8-AFF0B7D37FA4}"/>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9694899F-BE8C-94B4-521C-E74C27A91FE8}"/>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07E618B-E5BB-2639-7CFB-D4A90851A5E0}"/>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F925FF99-2397-882F-E7CA-C5B5EE292A6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CBB5D0FF-C724-A09C-3DDB-AA52E776886C}"/>
              </a:ext>
            </a:extLst>
          </p:cNvPr>
          <p:cNvSpPr txBox="1"/>
          <p:nvPr/>
        </p:nvSpPr>
        <p:spPr>
          <a:xfrm>
            <a:off x="533400" y="5600699"/>
            <a:ext cx="10477500" cy="482600"/>
          </a:xfrm>
          <a:prstGeom prst="rect">
            <a:avLst/>
          </a:prstGeom>
          <a:noFill/>
        </p:spPr>
        <p:txBody>
          <a:bodyPr vert="horz" lIns="0" tIns="0" rIns="0" bIns="0" rtlCol="0">
            <a:noAutofit/>
          </a:bodyPr>
          <a:lstStyle/>
          <a:p>
            <a:r>
              <a:rPr lang="en-GB" sz="1050">
                <a:solidFill>
                  <a:schemeClr val="dk1"/>
                </a:solidFill>
                <a:latin typeface="Lato" panose="020F0502020204030203" pitchFamily="34" charset="0"/>
              </a:rPr>
              <a:t>The workbook separates mining/manufacturing indices and agricultural GVA from fuel intensity. Post-2021 sector litres are estimates; GDP alone cannot explain fuel demand.</a:t>
            </a:r>
            <a:endParaRPr lang="en-ZA" sz="1050">
              <a:solidFill>
                <a:schemeClr val="dk1"/>
              </a:solidFill>
              <a:latin typeface="Lato" panose="020F0502020204030203" pitchFamily="34" charset="0"/>
            </a:endParaRPr>
          </a:p>
        </p:txBody>
      </p:sp>
    </p:spTree>
    <p:extLst>
      <p:ext uri="{BB962C8B-B14F-4D97-AF65-F5344CB8AC3E}">
        <p14:creationId xmlns:p14="http://schemas.microsoft.com/office/powerpoint/2010/main" val="13703187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Fixed investment has weakened while FDI fluctuates, limiting a simple growth-led fuel argument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22</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World Bank WDI, FDI net inflows and gross fixed capital formation as % of GDP, 2010–2025. Confidence series remains an evidence gap.</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ED5F67D8-2381-9F85-2B50-C1B65A1FC521}"/>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63771E43-775A-1251-8B2B-6160BEEA177D}"/>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94F82267-D969-3DB1-7EEC-7CD34265A96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4AC079CE-1C94-6427-5D63-FC870D2F4A7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90EF7D7D-B490-0A71-E1FA-98BE844E7B6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2D238C5F-E9FA-F924-D01B-7726C7D59700}"/>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Fixed investment helps frame productive capacity. FDI can include large transactions; neither series is a direct investor-confidence measure or an additional fuel-demand multiplier.</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27509102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Mining, agriculture and aviation expose fuel demand to different activity drivers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23</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Workbook Sector history R7/R9/R17/R19/S23/S25 and History R117/R124/R125. Sector litres after 2021 are estimates; jet 2024 uses unverified FIASA. Index base 2019=100; GVA in 2015 prices.</a:t>
            </a:r>
            <a:endParaRPr sz="650"/>
          </a:p>
        </p:txBody>
      </p:sp>
      <p:graphicFrame>
        <p:nvGraphicFramePr>
          <p:cNvPr id="47" name="Table 46"/>
          <p:cNvGraphicFramePr>
            <a:graphicFrameLocks noGrp="1"/>
          </p:cNvGraphicFramePr>
          <p:nvPr>
            <p:extLst>
              <p:ext uri="{D42A27DB-BD31-4B8C-83A1-F6EECF244321}">
                <p14:modId xmlns:p14="http://schemas.microsoft.com/office/powerpoint/2010/main" val="4221901808"/>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Mining</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a:solidFill>
                            <a:srgbClr val="000000"/>
                          </a:solidFill>
                          <a:latin typeface="Lato"/>
                        </a:defRPr>
                      </a:pPr>
                      <a:r>
                        <a:rPr lang="fr-FR" sz="1300" b="0" u="none">
                          <a:solidFill>
                            <a:schemeClr val="dk1"/>
                          </a:solidFill>
                          <a:latin typeface="Lato" panose="020F0502020204030203" pitchFamily="34" charset="0"/>
                        </a:rPr>
                        <a:t>2024 production index 93.5; indicative diesel 1.40bn 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Use activity and intensity separately; balance intensity varies materially.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Manufacturing</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2024 output index 93.3; indicative industry residual 0.17bn 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Industry less mining/construction. This is not a complete industrial diesel census.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Agriculture</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2025 real GVA R134.8bn (2015 prices); indicative diesel 1.13bn 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Fuel estimate holds 2018-2021 intensity; crop and irrigation exposure remain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Aviation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2024 jet sales 1.96bn L; 456,214 ACSA movements; 4,285 L/movement.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FIASA sales unverified; movements omit non-ACSA airports. Fuel mix and routes are not separated.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CEAB406C-8A26-9685-C8EF-41479C4B736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7F79B7CC-7B34-A87C-3A8A-AB08219123E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7B560B87-272F-A5DF-713D-F8CB88A64FC5}"/>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CEAAEF26-61C9-96DA-98B5-4F89644773D6}"/>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6007898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Higher fuel prices strengthen EV running-cost incentives, but ownership economics determine uptake</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24</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fuel-price history, nominal R/litre. No quantified geopolitical premium or calibrated EV adoption response is asserted.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369661E-E492-EE8D-1250-5FA89D7D790A}"/>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6B16049C-D303-BE92-5B4B-6B5BDF377BAA}"/>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A098090B-3095-34C7-4918-9BFA7099627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ACF2BFA-537D-ED35-0600-F4E0E1467B5C}"/>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A11340BA-0B77-7823-291E-7599E636CAB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7A02EA4D-EBA7-B1FD-2E26-F896DA08FFD5}"/>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Shipping disruption, crude prices and FX can move fuel costs temporarily. EV adoption depends on sustained total ownership cost, purchase affordability, charging access and fleet replacement.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8083228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New-vehicle efficiency gains affect fuel demand gradually as older vehicles leave the fleet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25</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Workbook Vehicle history S6:S8/S24/S26. Apparent retirements are not verified scrappage. Stone et al. study uses a 2014 base; no recent OEM efficiency history or fuel-by-class stock is established.</a:t>
            </a:r>
            <a:endParaRPr sz="650"/>
          </a:p>
        </p:txBody>
      </p:sp>
      <p:graphicFrame>
        <p:nvGraphicFramePr>
          <p:cNvPr id="47" name="Table 46"/>
          <p:cNvGraphicFramePr>
            <a:graphicFrameLocks noGrp="1"/>
          </p:cNvGraphicFramePr>
          <p:nvPr>
            <p:extLst>
              <p:ext uri="{D42A27DB-BD31-4B8C-83A1-F6EECF244321}">
                <p14:modId xmlns:p14="http://schemas.microsoft.com/office/powerpoint/2010/main" val="2732380689"/>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Fleet growth</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a:solidFill>
                            <a:srgbClr val="000000"/>
                          </a:solidFill>
                          <a:latin typeface="Lato"/>
                        </a:defRPr>
                      </a:pPr>
                      <a:r>
                        <a:rPr lang="en-GB" sz="1300" b="0" u="none">
                          <a:solidFill>
                            <a:schemeClr val="dk1"/>
                          </a:solidFill>
                          <a:latin typeface="Lato" panose="020F0502020204030203" pitchFamily="34" charset="0"/>
                        </a:rPr>
                        <a:t>2025 cars 8.18m; LCVs 2.78m; trucks 0.405m.</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Registered stock shows scale; fuel within class and opening cohort age remain unknown.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Replacement</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2025 apparent retirement: cars 2.36%, LCVs 3.42%. Model settings: 4% and 5%.</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Stock plus sales less next stock is a diagnostic, including deregistration, exports and classification effects.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Efficiency / EVs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Study mileage/fuel-use benchmarks and separate BEV, PHEV and hybrid sales are available.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Recent OEM efficiency history remains open. Apply gains to new cohorts and count EV transitions once.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555294B-868D-E689-1EA3-D920195AD42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A6604E9E-363C-866A-E1DA-2C633C00143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0EEFA624-C3D6-6E6C-5435-4DE101B1CF53}"/>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73CC640F-82D3-258E-C08E-8E6BF8A76CD1}"/>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1896856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solidFill>
                  <a:schemeClr val="dk1"/>
                </a:solidFill>
                <a:latin typeface="Lato"/>
              </a:rPr>
              <a:t>Vehicle stock and sales expose fuel-demand calibration gaps</a:t>
            </a:r>
            <a:endParaRPr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26</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Workbook Vehicle history S6:S8/S18:S20/S24/S26/S31:S36/Q52. NaTIS and naamsa classes are not identical. Apparent retirement is not verified scrappage; petrol diagnostic compares different scopes.</a:t>
            </a:r>
            <a:endParaRPr sz="6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graphicFrame>
        <p:nvGraphicFramePr>
          <p:cNvPr id="4" name="Native evidence table">
            <a:extLst>
              <a:ext uri="{FF2B5EF4-FFF2-40B4-BE49-F238E27FC236}">
                <a16:creationId xmlns:a16="http://schemas.microsoft.com/office/drawing/2014/main" id="{ACC99456-07A8-9C23-7397-426F095DE1FB}"/>
              </a:ext>
            </a:extLst>
          </p:cNvPr>
          <p:cNvGraphicFramePr>
            <a:graphicFrameLocks noGrp="1"/>
          </p:cNvGraphicFramePr>
          <p:nvPr>
            <p:extLst>
              <p:ext uri="{D42A27DB-BD31-4B8C-83A1-F6EECF244321}">
                <p14:modId xmlns:p14="http://schemas.microsoft.com/office/powerpoint/2010/main" val="3183255910"/>
              </p:ext>
            </p:extLst>
          </p:nvPr>
        </p:nvGraphicFramePr>
        <p:xfrm>
          <a:off x="457199" y="1651000"/>
          <a:ext cx="10652760" cy="4165600"/>
        </p:xfrm>
        <a:graphic>
          <a:graphicData uri="http://schemas.openxmlformats.org/drawingml/2006/table">
            <a:tbl>
              <a:tblPr firstRow="1" bandRow="1">
                <a:tableStyleId>{5C22544A-7EE6-4342-B048-85BDC9FD1C3A}</a:tableStyleId>
              </a:tblPr>
              <a:tblGrid>
                <a:gridCol w="1841500">
                  <a:extLst>
                    <a:ext uri="{9D8B030D-6E8A-4147-A177-3AD203B41FA5}">
                      <a16:colId xmlns:a16="http://schemas.microsoft.com/office/drawing/2014/main" val="3485978477"/>
                    </a:ext>
                  </a:extLst>
                </a:gridCol>
                <a:gridCol w="2984500">
                  <a:extLst>
                    <a:ext uri="{9D8B030D-6E8A-4147-A177-3AD203B41FA5}">
                      <a16:colId xmlns:a16="http://schemas.microsoft.com/office/drawing/2014/main" val="558823937"/>
                    </a:ext>
                  </a:extLst>
                </a:gridCol>
                <a:gridCol w="1778000">
                  <a:extLst>
                    <a:ext uri="{9D8B030D-6E8A-4147-A177-3AD203B41FA5}">
                      <a16:colId xmlns:a16="http://schemas.microsoft.com/office/drawing/2014/main" val="3940173512"/>
                    </a:ext>
                  </a:extLst>
                </a:gridCol>
                <a:gridCol w="4048760">
                  <a:extLst>
                    <a:ext uri="{9D8B030D-6E8A-4147-A177-3AD203B41FA5}">
                      <a16:colId xmlns:a16="http://schemas.microsoft.com/office/drawing/2014/main" val="2616802346"/>
                    </a:ext>
                  </a:extLst>
                </a:gridCol>
              </a:tblGrid>
              <a:tr h="355600">
                <a:tc>
                  <a:txBody>
                    <a:bodyPr/>
                    <a:lstStyle/>
                    <a:p>
                      <a:pPr>
                        <a:spcAft>
                          <a:spcPts val="0"/>
                        </a:spcAft>
                      </a:pPr>
                      <a:r>
                        <a:rPr lang="en-ZA" sz="1200" b="1">
                          <a:solidFill>
                            <a:schemeClr val="dk1"/>
                          </a:solidFill>
                          <a:latin typeface="Lato" panose="020F0502020204030203" pitchFamily="34" charset="0"/>
                        </a:rPr>
                        <a:t>Calibration item</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pPr>
                      <a:r>
                        <a:rPr lang="en-ZA" sz="1200" b="1">
                          <a:solidFill>
                            <a:schemeClr val="dk1"/>
                          </a:solidFill>
                          <a:latin typeface="Lato" panose="020F0502020204030203" pitchFamily="34" charset="0"/>
                        </a:rPr>
                        <a:t>Observed evidence</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pPr>
                      <a:r>
                        <a:rPr lang="en-ZA" sz="1200" b="1">
                          <a:solidFill>
                            <a:schemeClr val="dk1"/>
                          </a:solidFill>
                          <a:latin typeface="Lato" panose="020F0502020204030203" pitchFamily="34" charset="0"/>
                        </a:rPr>
                        <a:t>Model / calibration reference</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pPr>
                      <a:r>
                        <a:rPr lang="en-ZA" sz="1200" b="1">
                          <a:solidFill>
                            <a:schemeClr val="dk1"/>
                          </a:solidFill>
                          <a:latin typeface="Lato" panose="020F0502020204030203" pitchFamily="34" charset="0"/>
                        </a:rPr>
                        <a:t>Implication / limitation</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extLst>
                  <a:ext uri="{0D108BD9-81ED-4DB2-BD59-A6C34878D82A}">
                    <a16:rowId xmlns:a16="http://schemas.microsoft.com/office/drawing/2014/main" val="573864855"/>
                  </a:ext>
                </a:extLst>
              </a:tr>
              <a:tr h="762000">
                <a:tc>
                  <a:txBody>
                    <a:bodyPr/>
                    <a:lstStyle/>
                    <a:p>
                      <a:pPr>
                        <a:spcAft>
                          <a:spcPts val="0"/>
                        </a:spcAft>
                      </a:pPr>
                      <a:r>
                        <a:rPr lang="en-ZA" sz="1200" b="1">
                          <a:solidFill>
                            <a:schemeClr val="accent1"/>
                          </a:solidFill>
                          <a:latin typeface="Lato" panose="020F0502020204030203" pitchFamily="34" charset="0"/>
                        </a:rPr>
                        <a:t>2025 registered fleet</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pPr>
                      <a:r>
                        <a:rPr lang="en-GB" sz="1200" b="0">
                          <a:solidFill>
                            <a:schemeClr val="dk1"/>
                          </a:solidFill>
                          <a:latin typeface="Lato" panose="020F0502020204030203" pitchFamily="34" charset="0"/>
                        </a:rPr>
                        <a:t>Cars 8.18m; LCVs 2.78m; trucks 0.405m.</a:t>
                      </a:r>
                      <a:endParaRPr lang="en-ZA" sz="12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pPr>
                      <a:r>
                        <a:rPr lang="en-ZA" sz="1200" b="0">
                          <a:solidFill>
                            <a:schemeClr val="dk1"/>
                          </a:solidFill>
                          <a:latin typeface="Lato" panose="020F0502020204030203" pitchFamily="34" charset="0"/>
                        </a:rPr>
                        <a:t>Opening cohorts need review.</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pPr>
                      <a:r>
                        <a:rPr lang="en-GB" sz="1200" b="0">
                          <a:solidFill>
                            <a:schemeClr val="dk1"/>
                          </a:solidFill>
                          <a:latin typeface="Lato" panose="020F0502020204030203" pitchFamily="34" charset="0"/>
                        </a:rPr>
                        <a:t>Age and fuel within class are missing; all-class fuel counts are available only for December 2023.</a:t>
                      </a:r>
                      <a:endParaRPr lang="en-ZA" sz="12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extLst>
                  <a:ext uri="{0D108BD9-81ED-4DB2-BD59-A6C34878D82A}">
                    <a16:rowId xmlns:a16="http://schemas.microsoft.com/office/drawing/2014/main" val="923578628"/>
                  </a:ext>
                </a:extLst>
              </a:tr>
              <a:tr h="762000">
                <a:tc>
                  <a:txBody>
                    <a:bodyPr/>
                    <a:lstStyle/>
                    <a:p>
                      <a:pPr>
                        <a:spcAft>
                          <a:spcPts val="0"/>
                        </a:spcAft>
                      </a:pPr>
                      <a:r>
                        <a:rPr lang="en-ZA" sz="1200" b="1">
                          <a:solidFill>
                            <a:schemeClr val="accent1"/>
                          </a:solidFill>
                          <a:latin typeface="Lato" panose="020F0502020204030203" pitchFamily="34" charset="0"/>
                        </a:rPr>
                        <a:t>New-sales mix, 2025</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200" b="0">
                          <a:solidFill>
                            <a:schemeClr val="dk1"/>
                          </a:solidFill>
                          <a:latin typeface="Lato" panose="020F0502020204030203" pitchFamily="34" charset="0"/>
                        </a:rPr>
                        <a:t>Cars 70.7%; LCVs 24.1%; medium/heavy 5.2%.</a:t>
                      </a:r>
                      <a:endParaRPr lang="en-ZA" sz="12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200" b="0">
                          <a:solidFill>
                            <a:schemeClr val="dk1"/>
                          </a:solidFill>
                          <a:latin typeface="Lato" panose="020F0502020204030203" pitchFamily="34" charset="0"/>
                        </a:rPr>
                        <a:t>78% / 18% / 4%.</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200" b="0">
                          <a:solidFill>
                            <a:schemeClr val="dk1"/>
                          </a:solidFill>
                          <a:latin typeface="Lato" panose="020F0502020204030203" pitchFamily="34" charset="0"/>
                        </a:rPr>
                        <a:t>Observed class mix differs. Agree segmentation before adopting a replacement.</a:t>
                      </a:r>
                      <a:endParaRPr lang="en-ZA" sz="12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2309142302"/>
                  </a:ext>
                </a:extLst>
              </a:tr>
              <a:tr h="762000">
                <a:tc>
                  <a:txBody>
                    <a:bodyPr/>
                    <a:lstStyle/>
                    <a:p>
                      <a:pPr>
                        <a:spcAft>
                          <a:spcPts val="0"/>
                        </a:spcAft>
                      </a:pPr>
                      <a:r>
                        <a:rPr lang="en-ZA" sz="1200" b="1">
                          <a:solidFill>
                            <a:schemeClr val="accent1"/>
                          </a:solidFill>
                          <a:latin typeface="Lato" panose="020F0502020204030203" pitchFamily="34" charset="0"/>
                        </a:rPr>
                        <a:t>Apparent retirement, 2025</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200" b="0">
                          <a:solidFill>
                            <a:schemeClr val="dk1"/>
                          </a:solidFill>
                          <a:latin typeface="Lato" panose="020F0502020204030203" pitchFamily="34" charset="0"/>
                        </a:rPr>
                        <a:t>Cars 2.36%; LCVs 3.42%.</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200" b="0">
                          <a:solidFill>
                            <a:schemeClr val="dk1"/>
                          </a:solidFill>
                          <a:latin typeface="Lato" panose="020F0502020204030203" pitchFamily="34" charset="0"/>
                        </a:rPr>
                        <a:t>4% cars; 5% LCVs.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200" b="0">
                          <a:solidFill>
                            <a:schemeClr val="dk1"/>
                          </a:solidFill>
                          <a:latin typeface="Lato" panose="020F0502020204030203" pitchFamily="34" charset="0"/>
                        </a:rPr>
                        <a:t>Derived from stock and new sales; includes classification changes, exports and deregistrations.</a:t>
                      </a:r>
                      <a:endParaRPr lang="en-ZA" sz="12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4194439475"/>
                  </a:ext>
                </a:extLst>
              </a:tr>
              <a:tr h="762000">
                <a:tc>
                  <a:txBody>
                    <a:bodyPr/>
                    <a:lstStyle/>
                    <a:p>
                      <a:pPr>
                        <a:spcAft>
                          <a:spcPts val="0"/>
                        </a:spcAft>
                      </a:pPr>
                      <a:r>
                        <a:rPr lang="en-ZA" sz="1200" b="1">
                          <a:solidFill>
                            <a:schemeClr val="accent1"/>
                          </a:solidFill>
                          <a:latin typeface="Lato" panose="020F0502020204030203" pitchFamily="34" charset="0"/>
                        </a:rPr>
                        <a:t>New drivetrains, 2025</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fr-FR" sz="1200" b="0">
                          <a:solidFill>
                            <a:schemeClr val="dk1"/>
                          </a:solidFill>
                          <a:latin typeface="Lato" panose="020F0502020204030203" pitchFamily="34" charset="0"/>
                        </a:rPr>
                        <a:t>BEV 1,088; PHEV 2,810; conventional hybrid 12,818.</a:t>
                      </a:r>
                      <a:endParaRPr lang="en-ZA" sz="12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200" b="0">
                          <a:solidFill>
                            <a:schemeClr val="dk1"/>
                          </a:solidFill>
                          <a:latin typeface="Lato" panose="020F0502020204030203" pitchFamily="34" charset="0"/>
                        </a:rPr>
                        <a:t>BEV observed share 0.18%.</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200" b="0">
                          <a:solidFill>
                            <a:schemeClr val="dk1"/>
                          </a:solidFill>
                          <a:latin typeface="Lato" panose="020F0502020204030203" pitchFamily="34" charset="0"/>
                        </a:rPr>
                        <a:t>All new-sales denominator. Fleet share, charging behaviour and hybrid fuel savings differ.</a:t>
                      </a:r>
                      <a:endParaRPr lang="en-ZA" sz="12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2839864615"/>
                  </a:ext>
                </a:extLst>
              </a:tr>
              <a:tr h="762000">
                <a:tc>
                  <a:txBody>
                    <a:bodyPr/>
                    <a:lstStyle/>
                    <a:p>
                      <a:pPr>
                        <a:spcAft>
                          <a:spcPts val="0"/>
                        </a:spcAft>
                      </a:pPr>
                      <a:r>
                        <a:rPr lang="en-ZA" sz="1200" b="1">
                          <a:solidFill>
                            <a:schemeClr val="accent1"/>
                          </a:solidFill>
                          <a:latin typeface="Lato" panose="020F0502020204030203" pitchFamily="34" charset="0"/>
                        </a:rPr>
                        <a:t>Petrol-use diagnostic, 2023</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200" b="0">
                          <a:solidFill>
                            <a:schemeClr val="dk1"/>
                          </a:solidFill>
                          <a:latin typeface="Lato" panose="020F0502020204030203" pitchFamily="34" charset="0"/>
                        </a:rPr>
                        <a:t>1,056 L per registered petrol vehicle.</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200" b="0">
                          <a:solidFill>
                            <a:schemeClr val="dk1"/>
                          </a:solidFill>
                          <a:latin typeface="Lato" panose="020F0502020204030203" pitchFamily="34" charset="0"/>
                        </a:rPr>
                        <a:t>Passenger setting implies 1,615 L/year.</a:t>
                      </a:r>
                      <a:endParaRPr lang="en-ZA" sz="12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200" b="0">
                          <a:solidFill>
                            <a:schemeClr val="dk1"/>
                          </a:solidFill>
                          <a:latin typeface="Lato" panose="020F0502020204030203" pitchFamily="34" charset="0"/>
                        </a:rPr>
                        <a:t>Aggregate versus passenger scope differs. Investigate mileage and fuel-use calibration, not a direct replacement.</a:t>
                      </a:r>
                      <a:endParaRPr lang="en-ZA" sz="12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779951999"/>
                  </a:ext>
                </a:extLst>
              </a:tr>
            </a:tbl>
          </a:graphicData>
        </a:graphic>
      </p:graphicFrame>
    </p:spTree>
    <p:extLst>
      <p:ext uri="{BB962C8B-B14F-4D97-AF65-F5344CB8AC3E}">
        <p14:creationId xmlns:p14="http://schemas.microsoft.com/office/powerpoint/2010/main" val="18854967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Eskom’s own OCGT fuel use fell 40% in FY2025 as availability improved</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27</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Eskom Integrated Report 2025, FY March, own diesel + kerosene. Workbook combined generation includes IPPs and kerosene stations; multiplying it by 0.31 L/kWh is an estimate, not reported diesel burn. Private backup remains unmeasured.</a:t>
            </a:r>
            <a:endParaRPr sz="6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BDEAED2-943E-E9D5-1E14-5C737852B75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885F6CB6-BEDF-49DB-347F-B4F159FB0EC0}"/>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D1AE1CC-A5ED-00B6-9D63-750099116E9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1E038EA-E9F7-AC88-3FCD-D886DE7672F1}"/>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6781C1E3-AD29-9268-B880-D94177443A4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AAC9EE7F-7B53-00E0-36C0-C40EF77100A3}"/>
              </a:ext>
            </a:extLst>
          </p:cNvPr>
          <p:cNvSpPr txBox="1"/>
          <p:nvPr/>
        </p:nvSpPr>
        <p:spPr>
          <a:xfrm>
            <a:off x="533400" y="5600699"/>
            <a:ext cx="10477500" cy="482600"/>
          </a:xfrm>
          <a:prstGeom prst="rect">
            <a:avLst/>
          </a:prstGeom>
          <a:noFill/>
        </p:spPr>
        <p:txBody>
          <a:bodyPr vert="horz" lIns="0" tIns="0" rIns="0" bIns="0" rtlCol="0">
            <a:noAutofit/>
          </a:bodyPr>
          <a:lstStyle/>
          <a:p>
            <a:r>
              <a:rPr lang="en-GB" sz="1050">
                <a:solidFill>
                  <a:schemeClr val="dk1"/>
                </a:solidFill>
                <a:latin typeface="Lato" panose="020F0502020204030203" pitchFamily="34" charset="0"/>
              </a:rPr>
              <a:t>Reported own-fleet fuel fell from 1,129.5 to 679.1m L as EAF improved. Eskom/IPP output and generation-derived litres are a broader, separate series.</a:t>
            </a:r>
            <a:endParaRPr lang="en-ZA" sz="1050">
              <a:solidFill>
                <a:schemeClr val="dk1"/>
              </a:solidFill>
              <a:latin typeface="Lato" panose="020F0502020204030203" pitchFamily="34" charset="0"/>
            </a:endParaRPr>
          </a:p>
        </p:txBody>
      </p:sp>
    </p:spTree>
    <p:extLst>
      <p:ext uri="{BB962C8B-B14F-4D97-AF65-F5344CB8AC3E}">
        <p14:creationId xmlns:p14="http://schemas.microsoft.com/office/powerpoint/2010/main" val="16002431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Road carries most reported freight tonnage, making transferable haul distance a key diesel lever</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28</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Stats SA payload and transport-industry fuel purchases. Workbook Diesel by use Q28: spending / average diesel price, hire-and-reward firms only; may include petrol/lubricants. Road residual includes unseparated uses; tonne-km and rail traction remain open.</a:t>
            </a:r>
            <a:endParaRPr sz="6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CCC4277F-C3D5-1A8B-18B5-9C1AE60F43EF}"/>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BFB52F8C-BCE4-7DB9-6069-A035DD33B0E8}"/>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DA40A8B0-7865-24F9-2729-2330B29F631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F8E5F641-5488-AFD7-2FD4-B8C8CC3EFAC5}"/>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8CB439C5-30B0-B657-110B-FB2DBF44291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0BD0A93A-8DFF-B036-9E2F-738F1CCBC16D}"/>
              </a:ext>
            </a:extLst>
          </p:cNvPr>
          <p:cNvSpPr txBox="1"/>
          <p:nvPr/>
        </p:nvSpPr>
        <p:spPr>
          <a:xfrm>
            <a:off x="533400" y="5600699"/>
            <a:ext cx="10477500" cy="482600"/>
          </a:xfrm>
          <a:prstGeom prst="rect">
            <a:avLst/>
          </a:prstGeom>
          <a:noFill/>
        </p:spPr>
        <p:txBody>
          <a:bodyPr vert="horz" lIns="0" tIns="0" rIns="0" bIns="0" rtlCol="0">
            <a:noAutofit/>
          </a:bodyPr>
          <a:lstStyle/>
          <a:p>
            <a:r>
              <a:rPr lang="en-GB" sz="1050">
                <a:solidFill>
                  <a:schemeClr val="dk1"/>
                </a:solidFill>
                <a:latin typeface="Lato" panose="020F0502020204030203" pitchFamily="34" charset="0"/>
              </a:rPr>
              <a:t>2023 freight-operator fuel purchases imply ~3.15bn L at list diesel prices. Partial coverage and the estimated vehicle split do not establish corridor tonne-km.</a:t>
            </a:r>
            <a:endParaRPr lang="en-ZA" sz="1050">
              <a:solidFill>
                <a:schemeClr val="dk1"/>
              </a:solidFill>
              <a:latin typeface="Lato" panose="020F0502020204030203" pitchFamily="34" charset="0"/>
            </a:endParaRPr>
          </a:p>
        </p:txBody>
      </p:sp>
    </p:spTree>
    <p:extLst>
      <p:ext uri="{BB962C8B-B14F-4D97-AF65-F5344CB8AC3E}">
        <p14:creationId xmlns:p14="http://schemas.microsoft.com/office/powerpoint/2010/main" val="2485143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Rail funding and reliable service determine how much road freight can return to rail</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29</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User-supplied AIA Transnet Funding Brief, Sep 2026, pp1–2; cites FY2026 AFS and Network Statement v4 Annexure 17. Primary figures not independently reconciled.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665033109"/>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Network ambition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The supplied brief reports a 250 Mt target dependent on a funding plan.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Do not treat every additional rail tonne as road displacement. Commodity, corridor and origin matter.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Funding constraint</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Brief: R46.34bn approved over five years, including R1.71bn expansion.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Maintenance and sustaining spend dominate. A published plan is insufficient evidence of delivered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Container corridor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Brief: R2.11bn in 2026/27–2028/29; private funding expected thereafter.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Prioritise Durban–Gauteng road/rail competition and reconcile the corridor to Network Statement v4.</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Two fuel effects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Rail can displace truck diesel while improved infrastructure also changes fuel-distribution economics.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Keep freight-demand effects separate from the route delivering fuel to Gauteng.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20AC212D-110C-D683-56B1-7C56442F25AF}"/>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B66C94D0-F8F6-527B-D5D7-FD8EC7A6F31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3371DB6A-AB6F-6B80-9401-228626E0021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26FEC4B4-F9A9-E4CF-4BC6-F7B2640E4B1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3130473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Gauteng demand establishes market scale, while Lesedi capture and turnover determine throughput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30</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Department provincial sales through 2022; workbook History Q84/Q104 and R84/R104 estimate later volumes. 2024 also uses unverified FIASA national sales. The chart retains observed 2013-2022 sales history, not current market share.</a:t>
            </a:r>
            <a:endParaRPr sz="6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72F49C4D-9748-5B80-6C60-8FB945CB4D0E}"/>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12394638-FEDF-B8FE-C747-72008332852A}"/>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15DAA536-BD18-5CF9-0EA7-D857B1E1285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8A92432F-7DC3-DE3E-D12D-8FB27ABEB3A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1B36A8A3-EBCE-E5FF-77B9-386FE049802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FB0F21B2-9907-8E03-22E4-3A4E235A20C6}"/>
              </a:ext>
            </a:extLst>
          </p:cNvPr>
          <p:cNvSpPr txBox="1"/>
          <p:nvPr/>
        </p:nvSpPr>
        <p:spPr>
          <a:xfrm>
            <a:off x="533400" y="5600699"/>
            <a:ext cx="10477500" cy="482600"/>
          </a:xfrm>
          <a:prstGeom prst="rect">
            <a:avLst/>
          </a:prstGeom>
          <a:noFill/>
        </p:spPr>
        <p:txBody>
          <a:bodyPr vert="horz" lIns="0" tIns="0" rIns="0" bIns="0" rtlCol="0">
            <a:noAutofit/>
          </a:bodyPr>
          <a:lstStyle/>
          <a:p>
            <a:r>
              <a:rPr lang="en-GB" sz="1050">
                <a:solidFill>
                  <a:schemeClr val="dk1"/>
                </a:solidFill>
                <a:latin typeface="Lato" panose="020F0502020204030203" pitchFamily="34" charset="0"/>
              </a:rPr>
              <a:t>Gauteng sales: 6.81bn L observed in 2022; 6.81bn estimated in 2023 and 6.52bn in 2024. Customer catchment and actual Lesedi capture remain unverified.</a:t>
            </a:r>
            <a:endParaRPr lang="en-ZA" sz="1050">
              <a:solidFill>
                <a:schemeClr val="dk1"/>
              </a:solidFill>
              <a:latin typeface="Lato" panose="020F0502020204030203" pitchFamily="34" charset="0"/>
            </a:endParaRPr>
          </a:p>
        </p:txBody>
      </p:sp>
    </p:spTree>
    <p:extLst>
      <p:ext uri="{BB962C8B-B14F-4D97-AF65-F5344CB8AC3E}">
        <p14:creationId xmlns:p14="http://schemas.microsoft.com/office/powerpoint/2010/main" val="36166463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Every market world passes through explicit demand, supply, capture and operating levers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31</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Workbook HML response has 29 levers. Examples: BEV adoption, rail diversion, mileage, prices, hybrids, truck/LCV electrification and neighbouring exports. All replacement ranges remain proposals; no forecast inputs are adopted in this pack.</a:t>
            </a:r>
            <a:endParaRPr sz="650"/>
          </a:p>
        </p:txBody>
      </p:sp>
      <p:graphicFrame>
        <p:nvGraphicFramePr>
          <p:cNvPr id="47" name="Table 46"/>
          <p:cNvGraphicFramePr>
            <a:graphicFrameLocks noGrp="1"/>
          </p:cNvGraphicFramePr>
          <p:nvPr>
            <p:extLst>
              <p:ext uri="{D42A27DB-BD31-4B8C-83A1-F6EECF244321}">
                <p14:modId xmlns:p14="http://schemas.microsoft.com/office/powerpoint/2010/main" val="803177729"/>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Lever IDs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Inputs to calibrate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Output / remaining 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D1–D5 demand</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a:solidFill>
                            <a:srgbClr val="000000"/>
                          </a:solidFill>
                          <a:latin typeface="Lato"/>
                        </a:defRPr>
                      </a:pPr>
                      <a:r>
                        <a:rPr lang="en-GB" sz="1300" b="0" u="none">
                          <a:solidFill>
                            <a:schemeClr val="dk1"/>
                          </a:solidFill>
                          <a:latin typeface="Lato" panose="020F0502020204030203" pitchFamily="34" charset="0"/>
                        </a:rPr>
                        <a:t>D1 sector growth; D2 rail; D3 EV adoption; D4 efficiency; D5 power.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29 proposed levers (20 original, nine added). 2030/2035 values need review; no agreed annual path yet.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S1–S4 supply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pt-BR" sz="1300" b="0" u="none">
                          <a:solidFill>
                            <a:schemeClr val="dk1"/>
                          </a:solidFill>
                          <a:latin typeface="Lato" panose="020F0502020204030203" pitchFamily="34" charset="0"/>
                        </a:rPr>
                        <a:t>S1 SAPREF; S2 Secunda gas/MRG; S3 Natref; S4 PetroSA.</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Output, yields and feedstock dependencies remain open. Reconcile proposed capacity, utilisation and gas assumptions.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T1–T2 capture</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T1 delivered route economics/access; T2 customer/product/destination capture.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Allocate domestic and imported fuel to unique terminal deliveries. Tariffs, rights and commercial allocation remain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T3–T5 operations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T3 eligible working tankage; T4 turnover; T5 receipt/dispatch, peaks and stock policy.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Compare required with achievable turns, occupancy and headroom. Existing 1/2/3-turn sensitivity is illustrative only.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F1 finance</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Storage/handling terms, costs, capex, tax, working capital and hurdle rate.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Translate constrained throughput into cash flow, NPV, IRR and investment triggers. Commercial inputs remain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5"/>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5944D4C0-D789-3EFD-3C14-55F8A8D4F2A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1CA254AD-65FE-82DB-9747-A6FE2164774C}"/>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68085162-A6DD-F2B1-1FC8-9975F6EB9F7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17794797-3418-10F5-B60B-7D18DD779BC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7926520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Generation timing must close the power balance before residual diesel can be forecast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32</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Workbook Power fleet F11:S15 and N63:N65; proposed scenarios, not forecasts. Generation includes kerosene. IPP renewal, gas availability and coal-site repowering are not established. Historical burn must match scope and period.</a:t>
            </a:r>
            <a:endParaRPr sz="650"/>
          </a:p>
        </p:txBody>
      </p:sp>
      <p:graphicFrame>
        <p:nvGraphicFramePr>
          <p:cNvPr id="47" name="Table 46"/>
          <p:cNvGraphicFramePr>
            <a:graphicFrameLocks noGrp="1"/>
          </p:cNvGraphicFramePr>
          <p:nvPr>
            <p:extLst>
              <p:ext uri="{D42A27DB-BD31-4B8C-83A1-F6EECF244321}">
                <p14:modId xmlns:p14="http://schemas.microsoft.com/office/powerpoint/2010/main" val="993560300"/>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Time series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Assumption / lever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Evidence status and next use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Recovery history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a:solidFill>
                            <a:srgbClr val="000000"/>
                          </a:solidFill>
                          <a:latin typeface="Lato"/>
                        </a:defRPr>
                      </a:pPr>
                      <a:r>
                        <a:rPr lang="en-GB" sz="1300" b="0" u="none">
                          <a:solidFill>
                            <a:schemeClr val="dk1"/>
                          </a:solidFill>
                          <a:latin typeface="Lato" panose="020F0502020204030203" pitchFamily="34" charset="0"/>
                        </a:rPr>
                        <a:t>Own Eskom fuel/EAF and Eskom/IPP GWh are assembled; generation-based litres are estimated.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Match financial and calendar periods. Obtain reported litres and private-backup evidence.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Fleet and retirements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Four diesel stations: 3,089 MW. Avon/Dedisa PPA endings and coal retirement dates are assembled.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Contract end is not confirmed shutdown. Siting, renewal and actual coal decisions remain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Replacement / gas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Ankerlig/Gourikwa gas switch and coal-site turbines are case dependencies, not committed outcomes.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Wind/solar/gas commissioning, fuel availability and dependable output constrain peaking dispatch.</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GB" sz="1300" b="1" u="none">
                          <a:solidFill>
                            <a:schemeClr val="dk1"/>
                          </a:solidFill>
                          <a:latin typeface="Lato" panose="020F0502020204030203" pitchFamily="34" charset="0"/>
                        </a:rPr>
                        <a:t>Proposed L/M/H cases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2030 power diesel: 86 / 637 / 4,224m L in the workbook scenarios.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Nigel/Henry review D22: conversion rate, backup share, load factors, repowering location and gas supply.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DFA39896-8D41-C1C6-E898-B283CD20B596}"/>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7635898F-DEBC-20DD-620A-F3901A3A6BA9}"/>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B4833148-1B9A-B124-6C68-77B30CAC8A1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0B7D399C-0301-71C2-0BBA-BB638B724AE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928222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solidFill>
                  <a:schemeClr val="dk1"/>
                </a:solidFill>
                <a:latin typeface="Lato"/>
              </a:rPr>
              <a:t>The diesel fleet and replacement timing define the power-demand cases</a:t>
            </a:r>
            <a:endParaRPr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33</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Workbook Power fleet F11:F15, N63:N65 and S63:S65. Proposed cases, Nigel/Henry review D22. 0.31 L/kWh, backup fraction, load factors, gas supply and coal-site repowering need review. Kerosene stations and private backup are separate.</a:t>
            </a:r>
            <a:endParaRPr sz="6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
        <p:nvSpPr>
          <p:cNvPr id="4" name="Fleet heading">
            <a:extLst>
              <a:ext uri="{FF2B5EF4-FFF2-40B4-BE49-F238E27FC236}">
                <a16:creationId xmlns:a16="http://schemas.microsoft.com/office/drawing/2014/main" id="{26C66294-3AFA-17AD-1DD9-AE345133A1E2}"/>
              </a:ext>
            </a:extLst>
          </p:cNvPr>
          <p:cNvSpPr txBox="1"/>
          <p:nvPr/>
        </p:nvSpPr>
        <p:spPr>
          <a:xfrm>
            <a:off x="457200" y="1600200"/>
            <a:ext cx="5511800" cy="228600"/>
          </a:xfrm>
          <a:prstGeom prst="rect">
            <a:avLst/>
          </a:prstGeom>
          <a:noFill/>
        </p:spPr>
        <p:txBody>
          <a:bodyPr vert="horz" lIns="0" tIns="0" rIns="0" bIns="0" rtlCol="0">
            <a:noAutofit/>
          </a:bodyPr>
          <a:lstStyle/>
          <a:p>
            <a:pPr>
              <a:spcAft>
                <a:spcPts val="200"/>
              </a:spcAft>
            </a:pPr>
            <a:r>
              <a:rPr lang="en-ZA" sz="1200" b="1">
                <a:solidFill>
                  <a:schemeClr val="accent1"/>
                </a:solidFill>
                <a:latin typeface="Lato" panose="020F0502020204030203" pitchFamily="34" charset="0"/>
              </a:rPr>
              <a:t>OPERATING DIESEL FLEET: 3,089 MW</a:t>
            </a:r>
          </a:p>
        </p:txBody>
      </p:sp>
      <p:graphicFrame>
        <p:nvGraphicFramePr>
          <p:cNvPr id="5" name="Operating fleet table">
            <a:extLst>
              <a:ext uri="{FF2B5EF4-FFF2-40B4-BE49-F238E27FC236}">
                <a16:creationId xmlns:a16="http://schemas.microsoft.com/office/drawing/2014/main" id="{63B91FD6-B117-06E7-DA4F-60DFE4B032D0}"/>
              </a:ext>
            </a:extLst>
          </p:cNvPr>
          <p:cNvGraphicFramePr>
            <a:graphicFrameLocks noGrp="1"/>
          </p:cNvGraphicFramePr>
          <p:nvPr>
            <p:extLst>
              <p:ext uri="{D42A27DB-BD31-4B8C-83A1-F6EECF244321}">
                <p14:modId xmlns:p14="http://schemas.microsoft.com/office/powerpoint/2010/main" val="3469766022"/>
              </p:ext>
            </p:extLst>
          </p:nvPr>
        </p:nvGraphicFramePr>
        <p:xfrm>
          <a:off x="457200" y="1879600"/>
          <a:ext cx="5461000" cy="173990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845088796"/>
                    </a:ext>
                  </a:extLst>
                </a:gridCol>
                <a:gridCol w="1206500">
                  <a:extLst>
                    <a:ext uri="{9D8B030D-6E8A-4147-A177-3AD203B41FA5}">
                      <a16:colId xmlns:a16="http://schemas.microsoft.com/office/drawing/2014/main" val="3501716829"/>
                    </a:ext>
                  </a:extLst>
                </a:gridCol>
                <a:gridCol w="1841500">
                  <a:extLst>
                    <a:ext uri="{9D8B030D-6E8A-4147-A177-3AD203B41FA5}">
                      <a16:colId xmlns:a16="http://schemas.microsoft.com/office/drawing/2014/main" val="2619142678"/>
                    </a:ext>
                  </a:extLst>
                </a:gridCol>
              </a:tblGrid>
              <a:tr h="317500">
                <a:tc>
                  <a:txBody>
                    <a:bodyPr/>
                    <a:lstStyle/>
                    <a:p>
                      <a:pPr>
                        <a:spcAft>
                          <a:spcPts val="0"/>
                        </a:spcAft>
                      </a:pPr>
                      <a:r>
                        <a:rPr lang="en-ZA" sz="1200" b="1">
                          <a:solidFill>
                            <a:schemeClr val="dk1"/>
                          </a:solidFill>
                          <a:latin typeface="Lato" panose="020F0502020204030203" pitchFamily="34" charset="0"/>
                        </a:rPr>
                        <a:t>Diesel station</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pPr>
                      <a:r>
                        <a:rPr lang="en-ZA" sz="1200" b="1">
                          <a:solidFill>
                            <a:schemeClr val="dk1"/>
                          </a:solidFill>
                          <a:latin typeface="Lato" panose="020F0502020204030203" pitchFamily="34" charset="0"/>
                        </a:rPr>
                        <a:t>MW</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pPr>
                      <a:r>
                        <a:rPr lang="en-ZA" sz="1200" b="1">
                          <a:solidFill>
                            <a:schemeClr val="dk1"/>
                          </a:solidFill>
                          <a:latin typeface="Lato" panose="020F0502020204030203" pitchFamily="34" charset="0"/>
                        </a:rPr>
                        <a:t>Owner</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extLst>
                  <a:ext uri="{0D108BD9-81ED-4DB2-BD59-A6C34878D82A}">
                    <a16:rowId xmlns:a16="http://schemas.microsoft.com/office/drawing/2014/main" val="1733906680"/>
                  </a:ext>
                </a:extLst>
              </a:tr>
              <a:tr h="355600">
                <a:tc>
                  <a:txBody>
                    <a:bodyPr/>
                    <a:lstStyle/>
                    <a:p>
                      <a:pPr>
                        <a:spcAft>
                          <a:spcPts val="0"/>
                        </a:spcAft>
                      </a:pPr>
                      <a:r>
                        <a:rPr lang="en-ZA" sz="1200" b="1">
                          <a:solidFill>
                            <a:schemeClr val="accent1"/>
                          </a:solidFill>
                          <a:latin typeface="Lato" panose="020F0502020204030203" pitchFamily="34" charset="0"/>
                        </a:rPr>
                        <a:t>Ankerlig</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pPr>
                      <a:r>
                        <a:rPr lang="en-ZA" sz="1200" b="0">
                          <a:solidFill>
                            <a:schemeClr val="dk1"/>
                          </a:solidFill>
                          <a:latin typeface="Lato" panose="020F0502020204030203" pitchFamily="34" charset="0"/>
                        </a:rPr>
                        <a:t>1,338</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pPr>
                      <a:r>
                        <a:rPr lang="en-ZA" sz="1200" b="0">
                          <a:solidFill>
                            <a:schemeClr val="dk1"/>
                          </a:solidFill>
                          <a:latin typeface="Lato" panose="020F0502020204030203" pitchFamily="34" charset="0"/>
                        </a:rPr>
                        <a:t>Eskom</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extLst>
                  <a:ext uri="{0D108BD9-81ED-4DB2-BD59-A6C34878D82A}">
                    <a16:rowId xmlns:a16="http://schemas.microsoft.com/office/drawing/2014/main" val="3752116119"/>
                  </a:ext>
                </a:extLst>
              </a:tr>
              <a:tr h="355600">
                <a:tc>
                  <a:txBody>
                    <a:bodyPr/>
                    <a:lstStyle/>
                    <a:p>
                      <a:pPr>
                        <a:spcAft>
                          <a:spcPts val="0"/>
                        </a:spcAft>
                      </a:pPr>
                      <a:r>
                        <a:rPr lang="en-ZA" sz="1200" b="1">
                          <a:solidFill>
                            <a:schemeClr val="accent1"/>
                          </a:solidFill>
                          <a:latin typeface="Lato" panose="020F0502020204030203" pitchFamily="34" charset="0"/>
                        </a:rPr>
                        <a:t>Gourikwa</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200" b="0">
                          <a:solidFill>
                            <a:schemeClr val="dk1"/>
                          </a:solidFill>
                          <a:latin typeface="Lato" panose="020F0502020204030203" pitchFamily="34" charset="0"/>
                        </a:rPr>
                        <a:t>746</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200" b="0">
                          <a:solidFill>
                            <a:schemeClr val="dk1"/>
                          </a:solidFill>
                          <a:latin typeface="Lato" panose="020F0502020204030203" pitchFamily="34" charset="0"/>
                        </a:rPr>
                        <a:t>Eskom</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510021424"/>
                  </a:ext>
                </a:extLst>
              </a:tr>
              <a:tr h="355600">
                <a:tc>
                  <a:txBody>
                    <a:bodyPr/>
                    <a:lstStyle/>
                    <a:p>
                      <a:pPr>
                        <a:spcAft>
                          <a:spcPts val="0"/>
                        </a:spcAft>
                      </a:pPr>
                      <a:r>
                        <a:rPr lang="en-ZA" sz="1200" b="1">
                          <a:solidFill>
                            <a:schemeClr val="accent1"/>
                          </a:solidFill>
                          <a:latin typeface="Lato" panose="020F0502020204030203" pitchFamily="34" charset="0"/>
                        </a:rPr>
                        <a:t>Avon</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200" b="0">
                          <a:solidFill>
                            <a:schemeClr val="dk1"/>
                          </a:solidFill>
                          <a:latin typeface="Lato" panose="020F0502020204030203" pitchFamily="34" charset="0"/>
                        </a:rPr>
                        <a:t>670</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200" b="0">
                          <a:solidFill>
                            <a:schemeClr val="dk1"/>
                          </a:solidFill>
                          <a:latin typeface="Lato" panose="020F0502020204030203" pitchFamily="34" charset="0"/>
                        </a:rPr>
                        <a:t>Independent</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1582012135"/>
                  </a:ext>
                </a:extLst>
              </a:tr>
              <a:tr h="355600">
                <a:tc>
                  <a:txBody>
                    <a:bodyPr/>
                    <a:lstStyle/>
                    <a:p>
                      <a:pPr>
                        <a:spcAft>
                          <a:spcPts val="0"/>
                        </a:spcAft>
                      </a:pPr>
                      <a:r>
                        <a:rPr lang="en-ZA" sz="1200" b="1">
                          <a:solidFill>
                            <a:schemeClr val="accent1"/>
                          </a:solidFill>
                          <a:latin typeface="Lato" panose="020F0502020204030203" pitchFamily="34" charset="0"/>
                        </a:rPr>
                        <a:t>Dedisa</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200" b="0">
                          <a:solidFill>
                            <a:schemeClr val="dk1"/>
                          </a:solidFill>
                          <a:latin typeface="Lato" panose="020F0502020204030203" pitchFamily="34" charset="0"/>
                        </a:rPr>
                        <a:t>335</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200" b="0">
                          <a:solidFill>
                            <a:schemeClr val="dk1"/>
                          </a:solidFill>
                          <a:latin typeface="Lato" panose="020F0502020204030203" pitchFamily="34" charset="0"/>
                        </a:rPr>
                        <a:t>Independent</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347107425"/>
                  </a:ext>
                </a:extLst>
              </a:tr>
            </a:tbl>
          </a:graphicData>
        </a:graphic>
      </p:graphicFrame>
      <p:sp>
        <p:nvSpPr>
          <p:cNvPr id="6" name="Timing heading">
            <a:extLst>
              <a:ext uri="{FF2B5EF4-FFF2-40B4-BE49-F238E27FC236}">
                <a16:creationId xmlns:a16="http://schemas.microsoft.com/office/drawing/2014/main" id="{692D2DDD-4539-574B-52E7-2287D43EF72D}"/>
              </a:ext>
            </a:extLst>
          </p:cNvPr>
          <p:cNvSpPr txBox="1"/>
          <p:nvPr/>
        </p:nvSpPr>
        <p:spPr>
          <a:xfrm>
            <a:off x="6311900" y="1600200"/>
            <a:ext cx="4800600" cy="228600"/>
          </a:xfrm>
          <a:prstGeom prst="rect">
            <a:avLst/>
          </a:prstGeom>
          <a:noFill/>
        </p:spPr>
        <p:txBody>
          <a:bodyPr vert="horz" lIns="0" tIns="0" rIns="0" bIns="0" rtlCol="0">
            <a:noAutofit/>
          </a:bodyPr>
          <a:lstStyle/>
          <a:p>
            <a:pPr>
              <a:spcAft>
                <a:spcPts val="200"/>
              </a:spcAft>
            </a:pPr>
            <a:r>
              <a:rPr lang="en-ZA" sz="1200" b="1">
                <a:solidFill>
                  <a:schemeClr val="accent1"/>
                </a:solidFill>
                <a:latin typeface="Lato" panose="020F0502020204030203" pitchFamily="34" charset="0"/>
              </a:rPr>
              <a:t>TIMING AND DEPENDENCIES</a:t>
            </a:r>
          </a:p>
        </p:txBody>
      </p:sp>
      <p:sp>
        <p:nvSpPr>
          <p:cNvPr id="7" name="Timing conditions">
            <a:extLst>
              <a:ext uri="{FF2B5EF4-FFF2-40B4-BE49-F238E27FC236}">
                <a16:creationId xmlns:a16="http://schemas.microsoft.com/office/drawing/2014/main" id="{8BA0247D-6497-AD08-227D-A2EDCBC502B4}"/>
              </a:ext>
            </a:extLst>
          </p:cNvPr>
          <p:cNvSpPr txBox="1"/>
          <p:nvPr/>
        </p:nvSpPr>
        <p:spPr>
          <a:xfrm>
            <a:off x="6311900" y="1955800"/>
            <a:ext cx="4800600" cy="1333500"/>
          </a:xfrm>
          <a:prstGeom prst="rect">
            <a:avLst/>
          </a:prstGeom>
          <a:noFill/>
        </p:spPr>
        <p:txBody>
          <a:bodyPr vert="horz" lIns="0" tIns="0" rIns="0" bIns="0" rtlCol="0">
            <a:noAutofit/>
          </a:bodyPr>
          <a:lstStyle/>
          <a:p>
            <a:pPr>
              <a:spcAft>
                <a:spcPts val="200"/>
              </a:spcAft>
            </a:pPr>
            <a:r>
              <a:rPr lang="en-GB" sz="1300">
                <a:solidFill>
                  <a:schemeClr val="dk1"/>
                </a:solidFill>
                <a:latin typeface="Lato" panose="020F0502020204030203" pitchFamily="34" charset="0"/>
              </a:rPr>
              <a:t>Avon / Dedisa PPAs end in 2031 / 2030.
Five coal sites have exemptions to March 2030; final outcomes remain open.
Gas-switch and turbine locations are assumptions, not committed projects.</a:t>
            </a:r>
            <a:endParaRPr lang="en-ZA" sz="1300">
              <a:solidFill>
                <a:schemeClr val="dk1"/>
              </a:solidFill>
              <a:latin typeface="Lato" panose="020F0502020204030203" pitchFamily="34" charset="0"/>
            </a:endParaRPr>
          </a:p>
        </p:txBody>
      </p:sp>
      <p:sp>
        <p:nvSpPr>
          <p:cNvPr id="13" name="Scenario heading">
            <a:extLst>
              <a:ext uri="{FF2B5EF4-FFF2-40B4-BE49-F238E27FC236}">
                <a16:creationId xmlns:a16="http://schemas.microsoft.com/office/drawing/2014/main" id="{BDD1F9F5-2913-0C39-4F9C-A881D8297609}"/>
              </a:ext>
            </a:extLst>
          </p:cNvPr>
          <p:cNvSpPr txBox="1"/>
          <p:nvPr/>
        </p:nvSpPr>
        <p:spPr>
          <a:xfrm>
            <a:off x="457200" y="3898900"/>
            <a:ext cx="10655300" cy="228600"/>
          </a:xfrm>
          <a:prstGeom prst="rect">
            <a:avLst/>
          </a:prstGeom>
          <a:noFill/>
        </p:spPr>
        <p:txBody>
          <a:bodyPr vert="horz" lIns="0" tIns="0" rIns="0" bIns="0" rtlCol="0">
            <a:noAutofit/>
          </a:bodyPr>
          <a:lstStyle/>
          <a:p>
            <a:pPr>
              <a:spcAft>
                <a:spcPts val="200"/>
              </a:spcAft>
            </a:pPr>
            <a:r>
              <a:rPr lang="en-GB" sz="1200" b="1">
                <a:solidFill>
                  <a:schemeClr val="accent1"/>
                </a:solidFill>
                <a:latin typeface="Lato" panose="020F0502020204030203" pitchFamily="34" charset="0"/>
              </a:rPr>
              <a:t>PROPOSED WORKBOOK CASES — NIGEL / HENRY REVIEW</a:t>
            </a:r>
            <a:endParaRPr lang="en-ZA" sz="1200" b="1">
              <a:solidFill>
                <a:schemeClr val="accent1"/>
              </a:solidFill>
              <a:latin typeface="Lato" panose="020F0502020204030203" pitchFamily="34" charset="0"/>
            </a:endParaRPr>
          </a:p>
        </p:txBody>
      </p:sp>
      <p:graphicFrame>
        <p:nvGraphicFramePr>
          <p:cNvPr id="14" name="Proposed cases table">
            <a:extLst>
              <a:ext uri="{FF2B5EF4-FFF2-40B4-BE49-F238E27FC236}">
                <a16:creationId xmlns:a16="http://schemas.microsoft.com/office/drawing/2014/main" id="{1AF7AAEB-13E8-6D7B-CF79-1E8710195DEB}"/>
              </a:ext>
            </a:extLst>
          </p:cNvPr>
          <p:cNvGraphicFramePr>
            <a:graphicFrameLocks noGrp="1"/>
          </p:cNvGraphicFramePr>
          <p:nvPr>
            <p:extLst>
              <p:ext uri="{D42A27DB-BD31-4B8C-83A1-F6EECF244321}">
                <p14:modId xmlns:p14="http://schemas.microsoft.com/office/powerpoint/2010/main" val="2994773653"/>
              </p:ext>
            </p:extLst>
          </p:nvPr>
        </p:nvGraphicFramePr>
        <p:xfrm>
          <a:off x="457199" y="4203700"/>
          <a:ext cx="10652760" cy="1714500"/>
        </p:xfrm>
        <a:graphic>
          <a:graphicData uri="http://schemas.openxmlformats.org/drawingml/2006/table">
            <a:tbl>
              <a:tblPr firstRow="1" bandRow="1">
                <a:tableStyleId>{5C22544A-7EE6-4342-B048-85BDC9FD1C3A}</a:tableStyleId>
              </a:tblPr>
              <a:tblGrid>
                <a:gridCol w="1968500">
                  <a:extLst>
                    <a:ext uri="{9D8B030D-6E8A-4147-A177-3AD203B41FA5}">
                      <a16:colId xmlns:a16="http://schemas.microsoft.com/office/drawing/2014/main" val="2116060486"/>
                    </a:ext>
                  </a:extLst>
                </a:gridCol>
                <a:gridCol w="1397000">
                  <a:extLst>
                    <a:ext uri="{9D8B030D-6E8A-4147-A177-3AD203B41FA5}">
                      <a16:colId xmlns:a16="http://schemas.microsoft.com/office/drawing/2014/main" val="1412976508"/>
                    </a:ext>
                  </a:extLst>
                </a:gridCol>
                <a:gridCol w="1397000">
                  <a:extLst>
                    <a:ext uri="{9D8B030D-6E8A-4147-A177-3AD203B41FA5}">
                      <a16:colId xmlns:a16="http://schemas.microsoft.com/office/drawing/2014/main" val="2472884808"/>
                    </a:ext>
                  </a:extLst>
                </a:gridCol>
                <a:gridCol w="5890260">
                  <a:extLst>
                    <a:ext uri="{9D8B030D-6E8A-4147-A177-3AD203B41FA5}">
                      <a16:colId xmlns:a16="http://schemas.microsoft.com/office/drawing/2014/main" val="1810442125"/>
                    </a:ext>
                  </a:extLst>
                </a:gridCol>
              </a:tblGrid>
              <a:tr h="317500">
                <a:tc>
                  <a:txBody>
                    <a:bodyPr/>
                    <a:lstStyle/>
                    <a:p>
                      <a:pPr>
                        <a:spcAft>
                          <a:spcPts val="0"/>
                        </a:spcAft>
                      </a:pPr>
                      <a:r>
                        <a:rPr lang="en-ZA" sz="1200" b="1">
                          <a:solidFill>
                            <a:schemeClr val="dk1"/>
                          </a:solidFill>
                          <a:latin typeface="Lato" panose="020F0502020204030203" pitchFamily="34" charset="0"/>
                        </a:rPr>
                        <a:t>Proposed case</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pPr>
                      <a:r>
                        <a:rPr lang="en-ZA" sz="1200" b="1">
                          <a:solidFill>
                            <a:schemeClr val="dk1"/>
                          </a:solidFill>
                          <a:latin typeface="Lato" panose="020F0502020204030203" pitchFamily="34" charset="0"/>
                        </a:rPr>
                        <a:t>2030 m L</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pPr>
                      <a:r>
                        <a:rPr lang="en-ZA" sz="1200" b="1">
                          <a:solidFill>
                            <a:schemeClr val="dk1"/>
                          </a:solidFill>
                          <a:latin typeface="Lato" panose="020F0502020204030203" pitchFamily="34" charset="0"/>
                        </a:rPr>
                        <a:t>2035 m L</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pPr>
                      <a:r>
                        <a:rPr lang="en-ZA" sz="1200" b="1">
                          <a:solidFill>
                            <a:schemeClr val="dk1"/>
                          </a:solidFill>
                          <a:latin typeface="Lato" panose="020F0502020204030203" pitchFamily="34" charset="0"/>
                        </a:rPr>
                        <a:t>Key dependency</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extLst>
                  <a:ext uri="{0D108BD9-81ED-4DB2-BD59-A6C34878D82A}">
                    <a16:rowId xmlns:a16="http://schemas.microsoft.com/office/drawing/2014/main" val="2149774383"/>
                  </a:ext>
                </a:extLst>
              </a:tr>
              <a:tr h="465667">
                <a:tc>
                  <a:txBody>
                    <a:bodyPr/>
                    <a:lstStyle/>
                    <a:p>
                      <a:pPr>
                        <a:spcAft>
                          <a:spcPts val="0"/>
                        </a:spcAft>
                      </a:pPr>
                      <a:r>
                        <a:rPr lang="en-ZA" sz="1200" b="1">
                          <a:solidFill>
                            <a:schemeClr val="accent1"/>
                          </a:solidFill>
                          <a:latin typeface="Lato" panose="020F0502020204030203" pitchFamily="34" charset="0"/>
                        </a:rPr>
                        <a:t>Low</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pPr>
                      <a:r>
                        <a:rPr lang="en-ZA" sz="1200" b="0">
                          <a:solidFill>
                            <a:schemeClr val="dk1"/>
                          </a:solidFill>
                          <a:latin typeface="Lato" panose="020F0502020204030203" pitchFamily="34" charset="0"/>
                        </a:rPr>
                        <a:t>86</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pPr>
                      <a:r>
                        <a:rPr lang="en-ZA" sz="1200" b="0">
                          <a:solidFill>
                            <a:schemeClr val="dk1"/>
                          </a:solidFill>
                          <a:latin typeface="Lato" panose="020F0502020204030203" pitchFamily="34" charset="0"/>
                        </a:rPr>
                        <a:t>20</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pPr>
                      <a:r>
                        <a:rPr lang="en-GB" sz="1200" b="0">
                          <a:solidFill>
                            <a:schemeClr val="dk1"/>
                          </a:solidFill>
                          <a:latin typeface="Lato" panose="020F0502020204030203" pitchFamily="34" charset="0"/>
                        </a:rPr>
                        <a:t>Gas switch; PPAs end; no coal-site turbines.</a:t>
                      </a:r>
                      <a:endParaRPr lang="en-ZA" sz="12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extLst>
                  <a:ext uri="{0D108BD9-81ED-4DB2-BD59-A6C34878D82A}">
                    <a16:rowId xmlns:a16="http://schemas.microsoft.com/office/drawing/2014/main" val="2676296356"/>
                  </a:ext>
                </a:extLst>
              </a:tr>
              <a:tr h="465667">
                <a:tc>
                  <a:txBody>
                    <a:bodyPr/>
                    <a:lstStyle/>
                    <a:p>
                      <a:pPr>
                        <a:spcAft>
                          <a:spcPts val="0"/>
                        </a:spcAft>
                      </a:pPr>
                      <a:r>
                        <a:rPr lang="en-ZA" sz="1200" b="1">
                          <a:solidFill>
                            <a:schemeClr val="accent1"/>
                          </a:solidFill>
                          <a:latin typeface="Lato" panose="020F0502020204030203" pitchFamily="34" charset="0"/>
                        </a:rPr>
                        <a:t>Medium</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200" b="0">
                          <a:solidFill>
                            <a:schemeClr val="dk1"/>
                          </a:solidFill>
                          <a:latin typeface="Lato" panose="020F0502020204030203" pitchFamily="34" charset="0"/>
                        </a:rPr>
                        <a:t>637</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200" b="0">
                          <a:solidFill>
                            <a:schemeClr val="dk1"/>
                          </a:solidFill>
                          <a:latin typeface="Lato" panose="020F0502020204030203" pitchFamily="34" charset="0"/>
                        </a:rPr>
                        <a:t>637</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200" b="0">
                          <a:solidFill>
                            <a:schemeClr val="dk1"/>
                          </a:solidFill>
                          <a:latin typeface="Lato" panose="020F0502020204030203" pitchFamily="34" charset="0"/>
                        </a:rPr>
                        <a:t>3 GW at coal sites; gas available; diesel backup.</a:t>
                      </a:r>
                      <a:endParaRPr lang="en-ZA" sz="12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3297839216"/>
                  </a:ext>
                </a:extLst>
              </a:tr>
              <a:tr h="465667">
                <a:tc>
                  <a:txBody>
                    <a:bodyPr/>
                    <a:lstStyle/>
                    <a:p>
                      <a:pPr>
                        <a:spcAft>
                          <a:spcPts val="0"/>
                        </a:spcAft>
                      </a:pPr>
                      <a:r>
                        <a:rPr lang="en-ZA" sz="1200" b="1">
                          <a:solidFill>
                            <a:schemeClr val="accent1"/>
                          </a:solidFill>
                          <a:latin typeface="Lato" panose="020F0502020204030203" pitchFamily="34" charset="0"/>
                        </a:rPr>
                        <a:t>High</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200" b="0">
                          <a:solidFill>
                            <a:schemeClr val="dk1"/>
                          </a:solidFill>
                          <a:latin typeface="Lato" panose="020F0502020204030203" pitchFamily="34" charset="0"/>
                        </a:rPr>
                        <a:t>4,224</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200" b="0">
                          <a:solidFill>
                            <a:schemeClr val="dk1"/>
                          </a:solidFill>
                          <a:latin typeface="Lato" panose="020F0502020204030203" pitchFamily="34" charset="0"/>
                        </a:rPr>
                        <a:t>4,224</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200" b="0">
                          <a:solidFill>
                            <a:schemeClr val="dk1"/>
                          </a:solidFill>
                          <a:latin typeface="Lato" panose="020F0502020204030203" pitchFamily="34" charset="0"/>
                        </a:rPr>
                        <a:t>6 GW at coal sites; no gas; diesel peakers.</a:t>
                      </a:r>
                      <a:endParaRPr lang="en-ZA" sz="12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2107878678"/>
                  </a:ext>
                </a:extLst>
              </a:tr>
            </a:tbl>
          </a:graphicData>
        </a:graphic>
      </p:graphicFrame>
      <p:sp>
        <p:nvSpPr>
          <p:cNvPr id="15" name="Case qualification">
            <a:extLst>
              <a:ext uri="{FF2B5EF4-FFF2-40B4-BE49-F238E27FC236}">
                <a16:creationId xmlns:a16="http://schemas.microsoft.com/office/drawing/2014/main" id="{BBB424CB-1400-A003-0615-24B690A56902}"/>
              </a:ext>
            </a:extLst>
          </p:cNvPr>
          <p:cNvSpPr txBox="1"/>
          <p:nvPr/>
        </p:nvSpPr>
        <p:spPr>
          <a:xfrm>
            <a:off x="495300" y="5994399"/>
            <a:ext cx="10541000" cy="152400"/>
          </a:xfrm>
          <a:prstGeom prst="rect">
            <a:avLst/>
          </a:prstGeom>
          <a:noFill/>
        </p:spPr>
        <p:txBody>
          <a:bodyPr vert="horz" lIns="0" tIns="0" rIns="0" bIns="0" rtlCol="0">
            <a:noAutofit/>
          </a:bodyPr>
          <a:lstStyle/>
          <a:p>
            <a:pPr>
              <a:spcAft>
                <a:spcPts val="200"/>
              </a:spcAft>
            </a:pPr>
            <a:r>
              <a:rPr lang="en-GB" sz="900">
                <a:solidFill>
                  <a:schemeClr val="dk1"/>
                </a:solidFill>
                <a:latin typeface="Lato" panose="020F0502020204030203" pitchFamily="34" charset="0"/>
              </a:rPr>
              <a:t>Gas supply, diesel intensity, backup use and coal-site repowering remain assumptions. No engine or approved scenario change is implied.</a:t>
            </a:r>
            <a:endParaRPr lang="en-ZA" sz="900">
              <a:solidFill>
                <a:schemeClr val="dk1"/>
              </a:solidFill>
              <a:latin typeface="Lato" panose="020F0502020204030203" pitchFamily="34" charset="0"/>
            </a:endParaRPr>
          </a:p>
        </p:txBody>
      </p:sp>
    </p:spTree>
    <p:extLst>
      <p:ext uri="{BB962C8B-B14F-4D97-AF65-F5344CB8AC3E}">
        <p14:creationId xmlns:p14="http://schemas.microsoft.com/office/powerpoint/2010/main" val="15868411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SAPREF and Natref define capacity sensitivities; plant output must complete the supply paths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34</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Existing capacity illustrations retained. Workbook History R53/S53: Sasol all-refined-products output, June FY. Department product production stops at 2021; stocks, plant yields and restart calibration remain open.</a:t>
            </a:r>
            <a:endParaRPr sz="650"/>
          </a:p>
        </p:txBody>
      </p:sp>
      <p:graphicFrame>
        <p:nvGraphicFramePr>
          <p:cNvPr id="47" name="Table 46"/>
          <p:cNvGraphicFramePr>
            <a:graphicFrameLocks noGrp="1"/>
          </p:cNvGraphicFramePr>
          <p:nvPr>
            <p:extLst>
              <p:ext uri="{D42A27DB-BD31-4B8C-83A1-F6EECF244321}">
                <p14:modId xmlns:p14="http://schemas.microsoft.com/office/powerpoint/2010/main" val="3739052020"/>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Plant lever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Required time-series inputs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Scenario treatment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S1 SAPREF</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a:solidFill>
                            <a:srgbClr val="000000"/>
                          </a:solidFill>
                          <a:latin typeface="Lato"/>
                        </a:defRPr>
                      </a:pPr>
                      <a:r>
                        <a:rPr lang="en-GB" sz="1300" b="0" u="none">
                          <a:solidFill>
                            <a:schemeClr val="dk1"/>
                          </a:solidFill>
                          <a:latin typeface="Lato" panose="020F0502020204030203" pitchFamily="34" charset="0"/>
                        </a:rPr>
                        <a:t>High capacity illustration adds 400 kbpd from assumed 2033 availability.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Preserve the hypothetical case; actual funding, schedule, ramp-up and product yields need evidence.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S3 Natref</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108 kbpd remains in Medium/High; excluded in the Low 2036 stress case.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Availability stress only. No closure decision or date is established.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S2 Secunda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Operator all-products output: 29.1m barrels in FY2024 and 27.6m in FY2025.</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June fiscal years; product mix differs. Gas/MRG affects liquid output; do not equate barrels with diesel litres.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S4 PetroSA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No restart addition in the existing capacity illustration; workbook identifies the source gap.</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Complete the Mossgas/PetroSA feedstock, funded scope, timing and yield evidence.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D2673ED8-656C-3C9E-9793-168AA4A31892}"/>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7DB413E-C059-D52C-A752-5243055EC462}"/>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199976F3-E58B-4FA9-D52A-836EA3DC92C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CF98BFE7-2E5D-741B-D8FA-6492D1DA8BB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5959752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Public capacity ratios establish scale but cannot substitute for realised terminal throughput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35</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Existing capacity-scale ratios retained, not throughput shares. Workbook provincial estimates: 2023 estimated shares; 2024 estimated shares plus unverified national sales. Client throughput and commercial access remain open.</a:t>
            </a:r>
            <a:endParaRPr sz="650"/>
          </a:p>
        </p:txBody>
      </p:sp>
      <p:graphicFrame>
        <p:nvGraphicFramePr>
          <p:cNvPr id="47" name="Table 46"/>
          <p:cNvGraphicFramePr>
            <a:graphicFrameLocks noGrp="1"/>
          </p:cNvGraphicFramePr>
          <p:nvPr>
            <p:extLst>
              <p:ext uri="{D42A27DB-BD31-4B8C-83A1-F6EECF244321}">
                <p14:modId xmlns:p14="http://schemas.microsoft.com/office/powerpoint/2010/main" val="3089600231"/>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Catchment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Initial inference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What the result can support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Durban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a:solidFill>
                            <a:srgbClr val="000000"/>
                          </a:solidFill>
                          <a:latin typeface="Lato"/>
                        </a:defRPr>
                      </a:pPr>
                      <a:r>
                        <a:rPr lang="en-GB" sz="1300" b="0" u="none">
                          <a:solidFill>
                            <a:schemeClr val="dk1"/>
                          </a:solidFill>
                          <a:latin typeface="Lato" panose="020F0502020204030203" pitchFamily="34" charset="0"/>
                        </a:rPr>
                        <a:t>45.1% of two operators' published gross Durban tankage.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Incomplete, mixed-product capacity denominator. Estimate feasible product/customer flows before calculating throughput share.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Gauteng / Lesedi</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2022 sales 6.81bn L; workbook estimates 6.81bn in 2023 and 6.52bn in 2024.</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Provincial sales are a demand proxy. Lesedi catchment, eligible products and actual deliveries remain unverified.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Investment implication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Accessible market less current capture gives headroom; achievable additional capture must be tested.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Track shared Durban-Lesedi flows once. Compare customer volumes with working capacity, turns and dispatch limits.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43AA7B3A-3772-E466-352F-697EF3D36F28}"/>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3AF8E1A9-B364-8115-C901-16E71935F38C}"/>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E8F6195D-18F0-5029-7E37-A7A530E8013C}"/>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90684F3-D240-DCBA-2A69-EB87E0C71FE4}"/>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1924159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a:solidFill>
                  <a:schemeClr val="dk1"/>
                </a:solidFill>
                <a:latin typeface="Lato"/>
              </a:rPr>
              <a:t>A matched demand snapshot is available, but the domestic supply balance still needs reconciliation</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36</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Workbook History Q59/Q64/R59/R64/S36:S40/R70. RAF-derived 24.42bn L is combined fuel, fiscal/accrual basis, not an adopted calendar sales total. Product output after 2021 and stocks remain missing; 2025 trade is not 2025 consumption.</a:t>
            </a:r>
            <a:endParaRPr sz="650"/>
          </a:p>
        </p:txBody>
      </p:sp>
      <p:graphicFrame>
        <p:nvGraphicFramePr>
          <p:cNvPr id="47" name="Table 46"/>
          <p:cNvGraphicFramePr>
            <a:graphicFrameLocks noGrp="1"/>
          </p:cNvGraphicFramePr>
          <p:nvPr>
            <p:extLst>
              <p:ext uri="{D42A27DB-BD31-4B8C-83A1-F6EECF244321}">
                <p14:modId xmlns:p14="http://schemas.microsoft.com/office/powerpoint/2010/main" val="1769058256"/>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794000">
                  <a:extLst>
                    <a:ext uri="{9D8B030D-6E8A-4147-A177-3AD203B41FA5}">
                      <a16:colId xmlns:a16="http://schemas.microsoft.com/office/drawing/2014/main" val="20000"/>
                    </a:ext>
                  </a:extLst>
                </a:gridCol>
                <a:gridCol w="3929380">
                  <a:extLst>
                    <a:ext uri="{9D8B030D-6E8A-4147-A177-3AD203B41FA5}">
                      <a16:colId xmlns:a16="http://schemas.microsoft.com/office/drawing/2014/main" val="20001"/>
                    </a:ext>
                  </a:extLst>
                </a:gridCol>
                <a:gridCol w="392938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Evidence / bn litres</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Petrol</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Diesel</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664633">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2023 Department sales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a:solidFill>
                            <a:srgbClr val="000000"/>
                          </a:solidFill>
                          <a:latin typeface="Lato"/>
                        </a:defRPr>
                      </a:pPr>
                      <a:r>
                        <a:rPr lang="en-GB" sz="1200" b="0" u="none">
                          <a:solidFill>
                            <a:schemeClr val="dk1"/>
                          </a:solidFill>
                          <a:latin typeface="Lato" panose="020F0502020204030203" pitchFamily="34" charset="0"/>
                        </a:rPr>
                        <a:t>9.04</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12.91</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664633">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2024 FIASA sales, unverified</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9.03</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11.73</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664633">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2025 SARS imports / exports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4.45 / 0.80</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12.25 / 0.75</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664633">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2025 sales / product output</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Sales absent; product production series ends 2021.</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Sales absent; product production series ends 2021.</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64633">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RAF levy cross-check</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Combined levied volume 24.42bn L, year to March 2025.</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Fiscal/accrual versus calendar sales. Reconcile coverage before interpreting the difference.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829265256"/>
                  </a:ext>
                </a:extLst>
              </a:tr>
              <a:tr h="664633">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Decision consequence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Sales less net imports remains a residual.</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Stocks and definitions remain unresolved.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438771679"/>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6999349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a:solidFill>
                  <a:schemeClr val="dk1"/>
                </a:solidFill>
                <a:latin typeface="Lato"/>
              </a:rPr>
              <a:t>The six-step bridge is implemented for screening; calibration now depends on the requested inputs</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37</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Screening functions tested with synthetic cases; commercial outputs remain unpopulated. Not integrated into the forecast engine or independently reviewed. Owners, request IDs and expiry triggers: workstreams/WS0_governance/workplan/sa_investment_bridge_2026_10_08.csv.</a:t>
            </a:r>
            <a:endParaRPr sz="650"/>
          </a:p>
        </p:txBody>
      </p:sp>
      <p:graphicFrame>
        <p:nvGraphicFramePr>
          <p:cNvPr id="47" name="Table 46"/>
          <p:cNvGraphicFramePr>
            <a:graphicFrameLocks noGrp="1"/>
          </p:cNvGraphicFramePr>
          <p:nvPr>
            <p:extLst>
              <p:ext uri="{D42A27DB-BD31-4B8C-83A1-F6EECF244321}">
                <p14:modId xmlns:p14="http://schemas.microsoft.com/office/powerpoint/2010/main" val="3043479576"/>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Work package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Implemented now</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200" b="1" u="none">
                          <a:solidFill>
                            <a:schemeClr val="dk1"/>
                          </a:solidFill>
                          <a:latin typeface="Lato" panose="020F0502020204030203" pitchFamily="34" charset="0"/>
                        </a:rPr>
                        <a:t>Input needed to complete the decision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1 | Baseline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a:solidFill>
                            <a:srgbClr val="000000"/>
                          </a:solidFill>
                          <a:latin typeface="Lato"/>
                        </a:defRPr>
                      </a:pPr>
                      <a:r>
                        <a:rPr lang="en-GB" sz="1200" b="0" u="none">
                          <a:solidFill>
                            <a:schemeClr val="dk1"/>
                          </a:solidFill>
                          <a:latin typeface="Lato" panose="020F0502020204030203" pitchFamily="34" charset="0"/>
                        </a:rPr>
                        <a:t>Workbook sales/trade, sector, vehicle and power history plus labelled estimates are assembled.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Agree baseline year/source; reconcile production, stocks, scopes and fiscal/calendar periods.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2 | Route competition</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Delivered cost and bearable-charge calculation; route readiness register.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Matched quotes, service capacity and access.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3 | Vopak capture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Capture calculation constrained by accessible market and route capacity.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Customer allocation and unique terminal deliveries.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4 | Existing assets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Required-turn and operating-bottleneck calculation; gross-turn screen.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Working capacity, achievable turns and peak limits.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5 | Investment options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ZW" sz="1200" b="0" u="none">
                          <a:solidFill>
                            <a:schemeClr val="dk1"/>
                          </a:solidFill>
                          <a:latin typeface="Lato" panose="020F0502020204030203" pitchFamily="34" charset="0"/>
                        </a:rPr>
                        <a:t>Pre-tax break-even volume calculation.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Commercial inputs and full incremental cash flows.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120717032"/>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6 | Nine worlds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Nine-cell output register and demand/supply balance calculation.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29 proposed levers and fleet cases inform review. Agree annual paths before rerunning routes, capture and returns.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2747984756"/>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9878614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Demand, supply and corridor access translate into captured throughput and required tank turns</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38</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Lever IDs are mapped in the appendix. All nine market worlds use explicit routing, capture and operational assumptions. Tank occupancy, turnover and throughput utilisation are separate measures. Competitiveness varies by destination; neither alternative gateway is yet established as competitive into Gauteng.</a:t>
            </a:r>
            <a:endParaRPr sz="650"/>
          </a:p>
        </p:txBody>
      </p:sp>
      <p:graphicFrame>
        <p:nvGraphicFramePr>
          <p:cNvPr id="47" name="Table 46"/>
          <p:cNvGraphicFramePr>
            <a:graphicFrameLocks noGrp="1"/>
          </p:cNvGraphicFramePr>
          <p:nvPr>
            <p:extLst>
              <p:ext uri="{D42A27DB-BD31-4B8C-83A1-F6EECF244321}">
                <p14:modId xmlns:p14="http://schemas.microsoft.com/office/powerpoint/2010/main" val="2019111532"/>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3035300">
                  <a:extLst>
                    <a:ext uri="{9D8B030D-6E8A-4147-A177-3AD203B41FA5}">
                      <a16:colId xmlns:a16="http://schemas.microsoft.com/office/drawing/2014/main" val="20001"/>
                    </a:ext>
                  </a:extLst>
                </a:gridCol>
                <a:gridCol w="3035300">
                  <a:extLst>
                    <a:ext uri="{9D8B030D-6E8A-4147-A177-3AD203B41FA5}">
                      <a16:colId xmlns:a16="http://schemas.microsoft.com/office/drawing/2014/main" val="20002"/>
                    </a:ext>
                  </a:extLst>
                </a:gridCol>
                <a:gridCol w="3058160">
                  <a:extLst>
                    <a:ext uri="{9D8B030D-6E8A-4147-A177-3AD203B41FA5}">
                      <a16:colId xmlns:a16="http://schemas.microsoft.com/office/drawing/2014/main" val="2758844180"/>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Argument</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Situation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Complication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Resolution / decision</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Transport
demand</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a:solidFill>
                            <a:srgbClr val="000000"/>
                          </a:solidFill>
                          <a:latin typeface="Lato"/>
                        </a:defRPr>
                      </a:pPr>
                      <a:r>
                        <a:rPr lang="en-GB" sz="1200" b="0" u="none">
                          <a:solidFill>
                            <a:schemeClr val="dk1"/>
                          </a:solidFill>
                          <a:latin typeface="Lato" panose="020F0502020204030203" pitchFamily="34" charset="0"/>
                        </a:rPr>
                        <a:t>2023 petrol/diesel sales total 21.94bn L; sector activity and fleet evidence explain different fuel exposures.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Sector growth, rail recovery, EVs and efficiency change fuel demand.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D1–D4 define activity, rail, EV and efficiency paths. Translate them into capturable product demand.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Power
demand</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Power shortages supported diesel use; Eskom consumption has recently fallen.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Recovery may persist or reverse through outages and replacement delays.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D5 adds fleet recovery, replacement timing and diesel dispatch to the same demand paths.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Domestic
supply</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Reduced local production has increased reliance on imports.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SAPREF, Natref and Secunda can change domestic fuel output materially.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S1–S4 define plant output and sourcing mix. Imports are one consequence of the domestic balance.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Corridor
competition</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Durban connects imported fuel to inland customers.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Alternative gateways, delivered costs, reliability and access alter flows.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T1–T2 compare delivered economics and capture for domestic and imported fuel serving common destinations.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Vopak
investment</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Durban and Lesedi provide connected assets whose throughput can rise through higher turnover.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Working tankage, receipt/dispatch, peaks and stock requirements constrain achievable turnover.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T3–T5 compare working capacity, required/achievable turns and dispatch limits. F1 tests incremental returns.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pic>
        <p:nvPicPr>
          <p:cNvPr id="5" name="Argument icon transport">
            <a:extLst>
              <a:ext uri="{FF2B5EF4-FFF2-40B4-BE49-F238E27FC236}">
                <a16:creationId xmlns:a16="http://schemas.microsoft.com/office/drawing/2014/main" id="{4F16A327-C80A-4F7D-9F32-9B0DED405C1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7" name="Argument icon power">
            <a:extLst>
              <a:ext uri="{FF2B5EF4-FFF2-40B4-BE49-F238E27FC236}">
                <a16:creationId xmlns:a16="http://schemas.microsoft.com/office/drawing/2014/main" id="{27F3DA2D-E378-7BC3-004E-4A784C6C104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2938780"/>
            <a:ext cx="317500" cy="317500"/>
          </a:xfrm>
          <a:prstGeom prst="rect">
            <a:avLst/>
          </a:prstGeom>
        </p:spPr>
      </p:pic>
      <p:pic>
        <p:nvPicPr>
          <p:cNvPr id="14" name="Argument icon supply">
            <a:extLst>
              <a:ext uri="{FF2B5EF4-FFF2-40B4-BE49-F238E27FC236}">
                <a16:creationId xmlns:a16="http://schemas.microsoft.com/office/drawing/2014/main" id="{1F8D31E3-6F2B-57A5-71F0-3ECD2A1DECF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3756660"/>
            <a:ext cx="317500" cy="317500"/>
          </a:xfrm>
          <a:prstGeom prst="rect">
            <a:avLst/>
          </a:prstGeom>
        </p:spPr>
      </p:pic>
      <p:pic>
        <p:nvPicPr>
          <p:cNvPr id="16" name="Argument icon corridor">
            <a:extLst>
              <a:ext uri="{FF2B5EF4-FFF2-40B4-BE49-F238E27FC236}">
                <a16:creationId xmlns:a16="http://schemas.microsoft.com/office/drawing/2014/main" id="{DE49D30A-FD3F-24C2-3BF1-D649A4F6C262}"/>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4574540"/>
            <a:ext cx="317500" cy="317500"/>
          </a:xfrm>
          <a:prstGeom prst="rect">
            <a:avLst/>
          </a:prstGeom>
        </p:spPr>
      </p:pic>
      <p:pic>
        <p:nvPicPr>
          <p:cNvPr id="18" name="Argument icon investment">
            <a:extLst>
              <a:ext uri="{FF2B5EF4-FFF2-40B4-BE49-F238E27FC236}">
                <a16:creationId xmlns:a16="http://schemas.microsoft.com/office/drawing/2014/main" id="{047FF7F7-DD96-6C05-6683-D3DAA13B48B0}"/>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508000" y="5392420"/>
            <a:ext cx="317500" cy="317500"/>
          </a:xfrm>
          <a:prstGeom prst="rect">
            <a:avLst/>
          </a:prstGeom>
        </p:spPr>
      </p:pic>
      <p:sp>
        <p:nvSpPr>
          <p:cNvPr id="4" name="SCR 1">
            <a:extLst>
              <a:ext uri="{FF2B5EF4-FFF2-40B4-BE49-F238E27FC236}">
                <a16:creationId xmlns:a16="http://schemas.microsoft.com/office/drawing/2014/main" id="{60C484AC-0D2C-DDE7-9E69-054236FBB383}"/>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6" name="SCR 2">
            <a:extLst>
              <a:ext uri="{FF2B5EF4-FFF2-40B4-BE49-F238E27FC236}">
                <a16:creationId xmlns:a16="http://schemas.microsoft.com/office/drawing/2014/main" id="{AF19F4CF-14AC-E8DE-AB63-98A0906FCBB4}"/>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3" name="SCR 3">
            <a:extLst>
              <a:ext uri="{FF2B5EF4-FFF2-40B4-BE49-F238E27FC236}">
                <a16:creationId xmlns:a16="http://schemas.microsoft.com/office/drawing/2014/main" id="{0AA5688E-E74B-FF16-A43B-BC23F0AD33A8}"/>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5" name="SCR 4">
            <a:extLst>
              <a:ext uri="{FF2B5EF4-FFF2-40B4-BE49-F238E27FC236}">
                <a16:creationId xmlns:a16="http://schemas.microsoft.com/office/drawing/2014/main" id="{5423936A-FE34-4C3C-8775-921DAFFD540E}"/>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41599509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a:solidFill>
                  <a:schemeClr val="dk1"/>
                </a:solidFill>
                <a:latin typeface="Lato"/>
              </a:rPr>
              <a:t>The illustration gives extra tanks only R8m more NPV than improvement alone</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39</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ILLUSTRATIVE ONLY. Combined package = R100m access/dispatch improvement + R500m for a further 40,000 gross m³ beyond the reported 140,000 m³. Alternatives are authored packages, not engineered designs. Full incremental pre-tax cash flows in delivered CSV; 100% site basis. NPV uses 10% and 20 operating years; commercial and delivery risks uncalibrated.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548034764"/>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222500">
                  <a:extLst>
                    <a:ext uri="{9D8B030D-6E8A-4147-A177-3AD203B41FA5}">
                      <a16:colId xmlns:a16="http://schemas.microsoft.com/office/drawing/2014/main" val="20000"/>
                    </a:ext>
                  </a:extLst>
                </a:gridCol>
                <a:gridCol w="4127500">
                  <a:extLst>
                    <a:ext uri="{9D8B030D-6E8A-4147-A177-3AD203B41FA5}">
                      <a16:colId xmlns:a16="http://schemas.microsoft.com/office/drawing/2014/main" val="20001"/>
                    </a:ext>
                  </a:extLst>
                </a:gridCol>
                <a:gridCol w="43027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High demand / low supply</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Capital and throughput</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Incremental value versus existing</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Existing</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R0m capex
1.890bn L/year served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NPV R+0.0m
Unserved 0.923bn L/year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Improve access / dispatch</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R100m capex
2.268bn L/year served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NPV R+27.0m
Unserved 0.545bn L/year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Improve + add tanks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R600m capex
2.813bn L/year served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NPV R+35.1m
Unserved 0.000bn L/year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Decision threshold</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Improvement beats existing above 2.211bn L/year.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Tanks beat improvement above 2.806bn L/year; assumed capture 2.813bn.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4372908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a:solidFill>
                  <a:schemeClr val="dk1"/>
                </a:solidFill>
                <a:latin typeface="Lato"/>
              </a:rPr>
              <a:t>Vopak reports anchor capacity and the revenue model; they do not disclose Lesedi project economics</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40</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Vopak Annual Report 2025 pp36/39, 63, 213 and 324; FY2025 Analyst Presentation p24; official terminal directory checked 8 Oct 2026. All other business units includes multiple countries; do not allocate its profit to South Africa. URLs, downloaded originals and hashes retained.</a:t>
            </a:r>
            <a:endParaRPr sz="650"/>
          </a:p>
        </p:txBody>
      </p:sp>
      <p:graphicFrame>
        <p:nvGraphicFramePr>
          <p:cNvPr id="47" name="Table 46"/>
          <p:cNvGraphicFramePr>
            <a:graphicFrameLocks noGrp="1"/>
          </p:cNvGraphicFramePr>
          <p:nvPr>
            <p:extLst>
              <p:ext uri="{D42A27DB-BD31-4B8C-83A1-F6EECF244321}">
                <p14:modId xmlns:p14="http://schemas.microsoft.com/office/powerpoint/2010/main" val="1972597129"/>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222500">
                  <a:extLst>
                    <a:ext uri="{9D8B030D-6E8A-4147-A177-3AD203B41FA5}">
                      <a16:colId xmlns:a16="http://schemas.microsoft.com/office/drawing/2014/main" val="20000"/>
                    </a:ext>
                  </a:extLst>
                </a:gridCol>
                <a:gridCol w="4127500">
                  <a:extLst>
                    <a:ext uri="{9D8B030D-6E8A-4147-A177-3AD203B41FA5}">
                      <a16:colId xmlns:a16="http://schemas.microsoft.com/office/drawing/2014/main" val="20001"/>
                    </a:ext>
                  </a:extLst>
                </a:gridCol>
                <a:gridCol w="43027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Evidence class</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What the sources establish</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How it is used</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REPORTED | Assets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a:solidFill>
                            <a:srgbClr val="000000"/>
                          </a:solidFill>
                          <a:latin typeface="Lato"/>
                        </a:defRPr>
                      </a:pPr>
                      <a:r>
                        <a:rPr lang="en-GB" sz="1200" b="0" u="none">
                          <a:solidFill>
                            <a:schemeClr val="dk1"/>
                          </a:solidFill>
                          <a:latin typeface="Lato" panose="020F0502020204030203" pitchFamily="34" charset="0"/>
                        </a:rPr>
                        <a:t>Lesedi: 140,000 m³; Durban: 360,246 m³. Vopak share: 70% at each site.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Full physical capacity for operations. The commissioned 40,000 m3 Lesedi expansion is included in 140,000 m3.</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REPORTED | Revenue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Storage services: EUR1,058.8m of EUR1,298.9m consolidated revenue in 2025.</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81.5% is storage revenue. Rental may include minimum throughput; extra turns are not automatically extra revenue.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INFERRED | Group ratio</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EUR93.9 revenue / gross m³/year: proportional revenue divided by year-end proportional capacity.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Mixed-portfolio scale indicator only. Not a Lesedi tariff, margin or estimate of site revenue.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REPORTED | Benchmarks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15.6% group operating cash return; 5–7x capex/EBITDA for gas/industrial and 4–8x for transition infrastructure.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Context, not South Africa fuel-project hurdle rates. Authored 10% discount rate is separate.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5371648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a:solidFill>
                  <a:schemeClr val="dk1"/>
                </a:solidFill>
                <a:latin typeface="Lato"/>
              </a:rPr>
              <a:t>The investment result rests on explicit assumptions that must be replaced or agreed</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41</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Every illustrative value is registered in assumptions/2026/vopak_investment_illustration.yaml. Not a forecast, commercial offer or approval. Proposed validation: Nigel coordinates Vopak commercial/operations; Manish reconciles; independent review outstanding.</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461949549"/>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222500">
                  <a:extLst>
                    <a:ext uri="{9D8B030D-6E8A-4147-A177-3AD203B41FA5}">
                      <a16:colId xmlns:a16="http://schemas.microsoft.com/office/drawing/2014/main" val="20000"/>
                    </a:ext>
                  </a:extLst>
                </a:gridCol>
                <a:gridCol w="4127500">
                  <a:extLst>
                    <a:ext uri="{9D8B030D-6E8A-4147-A177-3AD203B41FA5}">
                      <a16:colId xmlns:a16="http://schemas.microsoft.com/office/drawing/2014/main" val="20001"/>
                    </a:ext>
                  </a:extLst>
                </a:gridCol>
                <a:gridCol w="43027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ILLUSTRATIVE input</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Value used</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What must be validated</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Catchment balance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Demand 6.0 / 6.8 / 7.6bn L; domestic deliveries 2.4 / 3.6 / 4.8bn L.</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Steady-state stress points; M rounds 2022 Gauteng sales for scale. No national production forecast implied.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Capture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70% of imports via Durban; Vopak captures 80%; 90% goes to Lesedi; 8% domestic capture.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No observed shares. Capture is unique Lesedi flow; Durban transfers are not added to market demand.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Operations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90% working fraction; turns 1.25 existing / 1.50 improved; +40,000 gross m³ tanks.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126,000 working m³ initially; 162,000 with tanks. Assumed receipt/dispatch ceiling 3.5bn L/year.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Revenue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R1,500 / gross m³/year rent on added contracted tanks; R60 / extra m³ contribution.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Chargeable excess services only, excluding rent/minimum-throughput inclusions. Added rent follows incremental storage use.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Capital and costs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R100m improvement + R500m tanks; fixed opex R5m + R12m/year; maintenance 1% capex/year.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Author-selected cost sensitivities; no Vopak quotation or engineering estimate.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93350"/>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Cash flow</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20 years at 10%; 50% / 75% / 100% operating ramp; capex upfront.</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Pre-tax unlevered constant ZAR. Tax, working capital, construction timing and residual value excluded.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206911400"/>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0661056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Small changes in capture or economics overturn the illustrated tank-expansion choice</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42</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ILLUSTRATIVE high-demand/low-domestic-delivery case. NPVs are incremental versus existing assets at 10%, pre-tax. Each shock applied separately: capex +25%; no chargeable excess services; Vopak gateway capture 80%→60%; captured Lesedi flow −10%. No probabilities. Full numeric outputs and cash flows retained.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AC5F3F9-4F59-13ED-19D4-0013D4873153}"/>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316F29AD-D7FE-6F92-5257-CF455AA08A0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408A53D6-704E-7FB6-6013-379E29EB6DAF}"/>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193202C4-E619-6D6C-D555-717EA9A26526}"/>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
        <p:nvSpPr>
          <p:cNvPr id="15" name="Interpretation">
            <a:extLst>
              <a:ext uri="{FF2B5EF4-FFF2-40B4-BE49-F238E27FC236}">
                <a16:creationId xmlns:a16="http://schemas.microsoft.com/office/drawing/2014/main" id="{82C4BDB8-6541-63B8-D72B-1E0C6E25D71E}"/>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 illustration supports validating contracts and a low-capex improvement first. Extra tanks have only a narrow advantage and fail the tested downside cases.</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DC12D282-6F4E-3E1C-36CA-D5ECFAD38A1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Tree>
    <p:extLst>
      <p:ext uri="{BB962C8B-B14F-4D97-AF65-F5344CB8AC3E}">
        <p14:creationId xmlns:p14="http://schemas.microsoft.com/office/powerpoint/2010/main" val="27841100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Illustrative tank turns test handling potential; actual operating limits still need validation</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43</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Registered REG-TERMINAL-HANDLING-TURNS: 1/2/3 turns per month, authored operational sensitivity, not the demand–supply worlds or measured limits. Gross Durban mixed-product tankage; no assumed eligible fraction. Do not sum inter-terminal transfers as unique demand. Separate p4/p5 illustration assumes 90% working capacity and 1.25/1.50 turns; neither is inferred from group occupancy.</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2407EC9-1612-094C-1705-85382BC15FE1}"/>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3A778276-599C-2A6B-6C50-6DCD33805BF9}"/>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BB20E8F9-3771-6C49-6A40-18406754706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F5A0E947-B3B3-EB62-5A96-928310C79DFF}"/>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
        <p:nvSpPr>
          <p:cNvPr id="15" name="Interpretation">
            <a:extLst>
              <a:ext uri="{FF2B5EF4-FFF2-40B4-BE49-F238E27FC236}">
                <a16:creationId xmlns:a16="http://schemas.microsoft.com/office/drawing/2014/main" id="{F62B2F98-1CA8-D28C-45F0-12A02C57694F}"/>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Required working-capacity turns must be compared with achievable turns at each terminal. Gross handling equivalents do not establish spare capacity or actual market share.</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8E0EDE20-70B3-10E2-1723-322F15147C6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0C3AB7FF-975E-3531-56F7-FAFB27E2CDA6}"/>
              </a:ext>
            </a:extLst>
          </p:cNvPr>
          <p:cNvSpPr txBox="1"/>
          <p:nvPr/>
        </p:nvSpPr>
        <p:spPr>
          <a:xfrm>
            <a:off x="457200" y="1625600"/>
            <a:ext cx="5977082"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Gross handling sensitivity</a:t>
            </a:r>
          </a:p>
        </p:txBody>
      </p:sp>
      <p:sp>
        <p:nvSpPr>
          <p:cNvPr id="16" name="Aligned panel subtitle">
            <a:extLst>
              <a:ext uri="{FF2B5EF4-FFF2-40B4-BE49-F238E27FC236}">
                <a16:creationId xmlns:a16="http://schemas.microsoft.com/office/drawing/2014/main" id="{B8814EA5-61B8-A714-6C26-C7E3EE3A0648}"/>
              </a:ext>
            </a:extLst>
          </p:cNvPr>
          <p:cNvSpPr txBox="1"/>
          <p:nvPr/>
        </p:nvSpPr>
        <p:spPr>
          <a:xfrm>
            <a:off x="6713682" y="1625600"/>
            <a:ext cx="439627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Investment test</a:t>
            </a:r>
          </a:p>
        </p:txBody>
      </p:sp>
      <p:cxnSp>
        <p:nvCxnSpPr>
          <p:cNvPr id="13" name="Content margin panel rule">
            <a:extLst>
              <a:ext uri="{FF2B5EF4-FFF2-40B4-BE49-F238E27FC236}">
                <a16:creationId xmlns:a16="http://schemas.microsoft.com/office/drawing/2014/main" id="{2ED46011-FBAF-7AAB-EBD0-348E839EAD34}"/>
              </a:ext>
            </a:extLst>
          </p:cNvPr>
          <p:cNvCxnSpPr/>
          <p:nvPr/>
        </p:nvCxnSpPr>
        <p:spPr>
          <a:xfrm>
            <a:off x="6713682" y="1907308"/>
            <a:ext cx="439627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64C0BE0B-48E8-C824-B388-610E8586E426}"/>
              </a:ext>
            </a:extLst>
          </p:cNvPr>
          <p:cNvCxnSpPr/>
          <p:nvPr/>
        </p:nvCxnSpPr>
        <p:spPr>
          <a:xfrm>
            <a:off x="457200" y="1907308"/>
            <a:ext cx="6002482"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646006"/>
      </p:ext>
    </p:extLst>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0A2373"/>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customXml/itemProps3.xml><?xml version="1.0" encoding="utf-8"?>
<ds:datastoreItem xmlns:ds="http://schemas.openxmlformats.org/officeDocument/2006/customXml" ds:itemID="{1E0AC09D-7AB9-4C7E-89AA-55CFDED1BCB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Vopak Theme</Template>
  <TotalTime>15</TotalTime>
  <Words>11787</Words>
  <Application>Microsoft Office PowerPoint</Application>
  <PresentationFormat>Custom</PresentationFormat>
  <Paragraphs>1067</Paragraphs>
  <Slides>43</Slides>
  <Notes>43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Calibri</vt:lpstr>
      <vt:lpstr>Lato</vt:lpstr>
      <vt:lpstr>Arial</vt:lpstr>
      <vt:lpstr>Vopak Theme</vt:lpstr>
      <vt:lpstr>PowerPoint Presentation</vt:lpstr>
      <vt:lpstr>Slow demand growth and greater import reliance set the baseline; road-to-rail shifts, EV adoption, power recovery and refinery changes could reshape the outlook</vt:lpstr>
      <vt:lpstr>Prioritise capture and turnover through existing assets; expand where profitable demand exceeds achievable capacity</vt:lpstr>
      <vt:lpstr>The illustrated expansion case passes narrowly—and depends on capture, revenue and capex</vt:lpstr>
      <vt:lpstr>Only one illustrative world favours tanks; six favour existing assets and two favour improvement</vt:lpstr>
      <vt:lpstr>Petrol demand has declined while diesel has grown slowly, limiting the case for demand-led expansion outlook</vt:lpstr>
      <vt:lpstr>Power shortages and road freight have supported diesel consumption, but that support can change with increased support for rail reform and improved Eskom</vt:lpstr>
      <vt:lpstr>Mining, manufacturing and agriculture link diesel demand to sector activity</vt:lpstr>
      <vt:lpstr>The shut down of domestic refining capacity has lowered domestic production and has increased imports shifting how inland demand is supplied</vt:lpstr>
      <vt:lpstr>Emerging Maputo and Walvis Bay routes must be tested alongside Durban and domestic supply</vt:lpstr>
      <vt:lpstr>Durban and Lesedi connect coastal supply to Gauteng; operating data must establish room for growth</vt:lpstr>
      <vt:lpstr>Accelerated rail recovery, EV adoption and ICE technology efficiency could reduce transport fuel demand in the medium to long term</vt:lpstr>
      <vt:lpstr>Power generation recovery could lower diesel use further, while outages and replacement delays could sustain domestic demand</vt:lpstr>
      <vt:lpstr>SAPREF could expand the supply footprint, while Natref unavailability would reduce it</vt:lpstr>
      <vt:lpstr>Emerging gateways could redirect inland growth; delivered cost and reliable access determine capture</vt:lpstr>
      <vt:lpstr>Durban and Lesedi market sizing and investment issue tree</vt:lpstr>
      <vt:lpstr>Choose the investment that removes the proven constraint—and earns a return</vt:lpstr>
      <vt:lpstr>Resolve customer volume, working capacity and project economics first to determine the investment</vt:lpstr>
      <vt:lpstr>PowerPoint Presentation</vt:lpstr>
      <vt:lpstr>The supporting evidence calibrates demand, supply and the terminal investment tests</vt:lpstr>
      <vt:lpstr>Fuel demand has diverged from GDP, so sector activity and fuel intensity need separate treatment</vt:lpstr>
      <vt:lpstr>Fixed investment has weakened while FDI fluctuates, limiting a simple growth-led fuel argument</vt:lpstr>
      <vt:lpstr>Mining, agriculture and aviation expose fuel demand to different activity drivers</vt:lpstr>
      <vt:lpstr>Higher fuel prices strengthen EV running-cost incentives, but ownership economics determine uptake</vt:lpstr>
      <vt:lpstr>New-vehicle efficiency gains affect fuel demand gradually as older vehicles leave the fleet</vt:lpstr>
      <vt:lpstr>Vehicle stock and sales expose fuel-demand calibration gaps</vt:lpstr>
      <vt:lpstr>Eskom’s own OCGT fuel use fell 40% in FY2025 as availability improved</vt:lpstr>
      <vt:lpstr>Road carries most reported freight tonnage, making transferable haul distance a key diesel lever</vt:lpstr>
      <vt:lpstr>Rail funding and reliable service determine how much road freight can return to rail</vt:lpstr>
      <vt:lpstr>Gauteng demand establishes market scale, while Lesedi capture and turnover determine throughput</vt:lpstr>
      <vt:lpstr>Every market world passes through explicit demand, supply, capture and operating levers</vt:lpstr>
      <vt:lpstr>Generation timing must close the power balance before residual diesel can be forecast</vt:lpstr>
      <vt:lpstr>The diesel fleet and replacement timing define the power-demand cases</vt:lpstr>
      <vt:lpstr>SAPREF and Natref define capacity sensitivities; plant output must complete the supply paths</vt:lpstr>
      <vt:lpstr>Public capacity ratios establish scale but cannot substitute for realised terminal throughput</vt:lpstr>
      <vt:lpstr>A matched demand snapshot is available, but the domestic supply balance still needs reconciliation</vt:lpstr>
      <vt:lpstr>The six-step bridge is implemented for screening; calibration now depends on the requested inputs</vt:lpstr>
      <vt:lpstr>Demand, supply and corridor access translate into captured throughput and required tank turns</vt:lpstr>
      <vt:lpstr>The illustration gives extra tanks only R8m more NPV than improvement alone</vt:lpstr>
      <vt:lpstr>Vopak reports anchor capacity and the revenue model; they do not disclose Lesedi project economics</vt:lpstr>
      <vt:lpstr>The investment result rests on explicit assumptions that must be replaced or agreed</vt:lpstr>
      <vt:lpstr>Small changes in capture or economics overturn the illustrated tank-expansion choice</vt:lpstr>
      <vt:lpstr>Illustrative tank turns test handling potential; actual operating limits still need validation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subject>Illustrative demand geography and conditional Vopak market access</dc:subject>
  <dc:creator>Africa International Advisors</dc:creator>
  <cp:lastModifiedBy>Nigel Zhuwaki</cp:lastModifiedBy>
  <cp:revision>31</cp:revision>
  <dcterms:created xsi:type="dcterms:W3CDTF">2017-11-16T09:19:07Z</dcterms:created>
  <dcterms:modified xsi:type="dcterms:W3CDTF">2026-10-08T14:47:42Z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