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notesSlides/notesSlide13.xml" ContentType="application/vnd.openxmlformats-officedocument.presentationml.notesSlide+xml"/>
  <Override PartName="/ppt/charts/chart23.xml" ContentType="application/vnd.openxmlformats-officedocument.drawingml.chart+xml"/>
  <Override PartName="/ppt/charts/chart2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8"/>
  </p:notesMasterIdLst>
  <p:sldIdLst>
    <p:sldId id="444" r:id="rId5"/>
    <p:sldId id="445" r:id="rId6"/>
    <p:sldId id="446" r:id="rId7"/>
    <p:sldId id="447" r:id="rId8"/>
    <p:sldId id="448" r:id="rId9"/>
    <p:sldId id="449" r:id="rId10"/>
    <p:sldId id="450" r:id="rId11"/>
    <p:sldId id="451" r:id="rId12"/>
    <p:sldId id="452" r:id="rId13"/>
    <p:sldId id="453" r:id="rId14"/>
    <p:sldId id="454" r:id="rId15"/>
    <p:sldId id="455" r:id="rId16"/>
    <p:sldId id="456" r:id="rId17"/>
    <p:sldId id="457" r:id="rId18"/>
    <p:sldId id="458" r:id="rId19"/>
    <p:sldId id="459" r:id="rId20"/>
    <p:sldId id="460" r:id="rId21"/>
    <p:sldId id="461" r:id="rId22"/>
    <p:sldId id="465" r:id="rId23"/>
    <p:sldId id="463" r:id="rId24"/>
    <p:sldId id="464" r:id="rId25"/>
    <p:sldId id="462" r:id="rId26"/>
    <p:sldId id="466" r:id="rId27"/>
  </p:sldIdLst>
  <p:sldSz cx="11588750" cy="6858000"/>
  <p:notesSz cx="6858000" cy="9144000"/>
  <p:embeddedFontLst>
    <p:embeddedFont>
      <p:font typeface="Lato" panose="020F0502020204030203"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941DFA-BBD6-4151-84AE-CF30C61E49F7}" v="916" dt="2026-10-15T15:10:05.0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6" d="100"/>
          <a:sy n="96" d="100"/>
        </p:scale>
        <p:origin x="2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Production</c:v>
                </c:pt>
              </c:strCache>
            </c:strRef>
          </c:tx>
          <c:spPr>
            <a:solidFill>
              <a:srgbClr val="6782B4"/>
            </a:solidFill>
          </c:spPr>
          <c:invertIfNegative val="1"/>
          <c:dLbls>
            <c:dLbl>
              <c:idx val="1"/>
              <c:delete val="1"/>
              <c:extLst>
                <c:ext xmlns:c15="http://schemas.microsoft.com/office/drawing/2012/chart" uri="{CE6537A1-D6FC-4f65-9D91-7224C49458BB}"/>
                <c:ext xmlns:c16="http://schemas.microsoft.com/office/drawing/2014/chart" uri="{C3380CC4-5D6E-409C-BE32-E72D297353CC}">
                  <c16:uniqueId val="{00000000-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Sheet1!$B$2:$B$3</c:f>
              <c:numCache>
                <c:formatCode>0.0</c:formatCode>
                <c:ptCount val="2"/>
                <c:pt idx="0">
                  <c:v>10.225867130847353</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098-444E-B683-B147F17C1B41}"/>
            </c:ext>
          </c:extLst>
        </c:ser>
        <c:ser>
          <c:idx val="1"/>
          <c:order val="1"/>
          <c:tx>
            <c:strRef>
              <c:f>Sheet1!$C$1</c:f>
              <c:strCache>
                <c:ptCount val="1"/>
                <c:pt idx="0">
                  <c:v>Imports</c:v>
                </c:pt>
              </c:strCache>
            </c:strRef>
          </c:tx>
          <c:spPr>
            <a:solidFill>
              <a:srgbClr val="0A2373"/>
            </a:solidFill>
          </c:spPr>
          <c:invertIfNegative val="1"/>
          <c:dLbls>
            <c:dLbl>
              <c:idx val="1"/>
              <c:delete val="1"/>
              <c:extLst>
                <c:ext xmlns:c15="http://schemas.microsoft.com/office/drawing/2012/chart" uri="{CE6537A1-D6FC-4f65-9D91-7224C49458BB}"/>
                <c:ext xmlns:c16="http://schemas.microsoft.com/office/drawing/2014/chart" uri="{C3380CC4-5D6E-409C-BE32-E72D297353CC}">
                  <c16:uniqueId val="{00000001-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Sheet1!$C$2:$C$3</c:f>
              <c:numCache>
                <c:formatCode>0.0</c:formatCode>
                <c:ptCount val="2"/>
                <c:pt idx="0">
                  <c:v>16.702191440219998</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098-444E-B683-B147F17C1B41}"/>
            </c:ext>
          </c:extLst>
        </c:ser>
        <c:ser>
          <c:idx val="2"/>
          <c:order val="2"/>
          <c:tx>
            <c:strRef>
              <c:f>Sheet1!$D$1</c:f>
              <c:strCache>
                <c:ptCount val="1"/>
                <c:pt idx="0">
                  <c:v>Consumption</c:v>
                </c:pt>
              </c:strCache>
            </c:strRef>
          </c:tx>
          <c:spPr>
            <a:solidFill>
              <a:srgbClr val="3F5596"/>
            </a:solidFill>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2-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Sheet1!$D$2:$D$3</c:f>
              <c:numCache>
                <c:formatCode>0.0</c:formatCode>
                <c:ptCount val="2"/>
                <c:pt idx="0">
                  <c:v>0</c:v>
                </c:pt>
                <c:pt idx="1">
                  <c:v>25.379595894997355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098-444E-B683-B147F17C1B41}"/>
            </c:ext>
          </c:extLst>
        </c:ser>
        <c:ser>
          <c:idx val="3"/>
          <c:order val="3"/>
          <c:tx>
            <c:strRef>
              <c:f>Sheet1!$E$1</c:f>
              <c:strCache>
                <c:ptCount val="1"/>
                <c:pt idx="0">
                  <c:v>Exports</c:v>
                </c:pt>
              </c:strCache>
            </c:strRef>
          </c:tx>
          <c:spPr>
            <a:solidFill>
              <a:srgbClr val="929292"/>
            </a:solidFill>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3-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Sheet1!$E$2:$E$3</c:f>
              <c:numCache>
                <c:formatCode>0.0</c:formatCode>
                <c:ptCount val="2"/>
                <c:pt idx="0">
                  <c:v>0</c:v>
                </c:pt>
                <c:pt idx="1">
                  <c:v>1.5484626760700002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098-444E-B683-B147F17C1B41}"/>
            </c:ext>
          </c:extLst>
        </c:ser>
        <c:dLbls>
          <c:dLblPos val="ctr"/>
          <c:showLegendKey val="0"/>
          <c:showVal val="1"/>
          <c:showCatName val="0"/>
          <c:showSerName val="0"/>
          <c:showPercent val="0"/>
          <c:showBubbleSize val="0"/>
        </c:dLbls>
        <c:gapWidth val="13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050">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l"/>
        <c:numFmt formatCode="0.0" sourceLinked="1"/>
        <c:majorTickMark val="none"/>
        <c:minorTickMark val="none"/>
        <c:tickLblPos val="nextTo"/>
        <c:spPr>
          <a:ln w="9525">
            <a:solidFill>
              <a:srgbClr val="D4D4D4"/>
            </a:solidFill>
            <a:prstDash val="solid"/>
          </a:ln>
        </c:spPr>
        <c:txPr>
          <a:bodyPr anchorCtr="1"/>
          <a:lstStyle/>
          <a:p>
            <a:pPr>
              <a:defRPr sz="900">
                <a:solidFill>
                  <a:srgbClr val="666666"/>
                </a:solidFill>
              </a:defRPr>
            </a:pPr>
            <a:endParaRPr lang="en-US"/>
          </a:p>
        </c:txPr>
        <c:crossAx val="48650112"/>
        <c:crosses val="autoZero"/>
        <c:crossBetween val="between"/>
      </c:valAx>
    </c:plotArea>
    <c:legend>
      <c:legendPos val="b"/>
      <c:overlay val="0"/>
      <c:txPr>
        <a:bodyPr/>
        <a:lstStyle/>
        <a:p>
          <a:pPr>
            <a:defRPr sz="900"/>
          </a:pPr>
          <a:endParaRPr lang="en-US"/>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areaChart>
        <c:grouping val="stacked"/>
        <c:varyColors val="1"/>
        <c:ser>
          <c:idx val="0"/>
          <c:order val="0"/>
          <c:tx>
            <c:strRef>
              <c:f>Sheet1!$B$1</c:f>
              <c:strCache>
                <c:ptCount val="1"/>
                <c:pt idx="0">
                  <c:v>Petrol</c:v>
                </c:pt>
              </c:strCache>
            </c:strRef>
          </c:tx>
          <c:spPr>
            <a:solidFill>
              <a:srgbClr val="0A2373"/>
            </a:solidFill>
            <a:ln w="23813">
              <a:solidFill>
                <a:srgbClr val="0A2373"/>
              </a:solidFill>
            </a:ln>
          </c:spPr>
          <c:cat>
            <c:strRef>
              <c:f>Sheet1!$A$2:$A$14</c:f>
              <c:strCache>
                <c:ptCount val="13"/>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strCache>
            </c:strRef>
          </c:cat>
          <c:val>
            <c:numRef>
              <c:f>Sheet1!$B$2:$B$14</c:f>
              <c:numCache>
                <c:formatCode>0.00</c:formatCode>
                <c:ptCount val="13"/>
                <c:pt idx="0">
                  <c:v>11.439925235</c:v>
                </c:pt>
                <c:pt idx="1">
                  <c:v>10.890207679</c:v>
                </c:pt>
                <c:pt idx="2">
                  <c:v>11.475709420318001</c:v>
                </c:pt>
                <c:pt idx="3">
                  <c:v>11.462252466686001</c:v>
                </c:pt>
                <c:pt idx="4">
                  <c:v>11.174082980369999</c:v>
                </c:pt>
                <c:pt idx="5">
                  <c:v>11.141630546702</c:v>
                </c:pt>
                <c:pt idx="6">
                  <c:v>10.773208065062001</c:v>
                </c:pt>
                <c:pt idx="7">
                  <c:v>8.7614709614960002</c:v>
                </c:pt>
                <c:pt idx="8">
                  <c:v>9.3015842276830014</c:v>
                </c:pt>
                <c:pt idx="9">
                  <c:v>8.756573192341417</c:v>
                </c:pt>
                <c:pt idx="10">
                  <c:v>9.2049195487719793</c:v>
                </c:pt>
                <c:pt idx="11">
                  <c:v>9.1197435536507943</c:v>
                </c:pt>
                <c:pt idx="12">
                  <c:v>9.292761996897422</c:v>
                </c:pt>
              </c:numCache>
            </c:numRef>
          </c:val>
          <c:extLst>
            <c:ext xmlns:c16="http://schemas.microsoft.com/office/drawing/2014/chart" uri="{C3380CC4-5D6E-409C-BE32-E72D297353CC}">
              <c16:uniqueId val="{00000000-2499-4ABA-B741-0B7E1B91FC7B}"/>
            </c:ext>
          </c:extLst>
        </c:ser>
        <c:ser>
          <c:idx val="1"/>
          <c:order val="1"/>
          <c:tx>
            <c:strRef>
              <c:f>Sheet1!$C$1</c:f>
              <c:strCache>
                <c:ptCount val="1"/>
                <c:pt idx="0">
                  <c:v>Diesel</c:v>
                </c:pt>
              </c:strCache>
            </c:strRef>
          </c:tx>
          <c:spPr>
            <a:solidFill>
              <a:srgbClr val="6782B4"/>
            </a:solidFill>
            <a:ln w="23813">
              <a:solidFill>
                <a:srgbClr val="6782B4"/>
              </a:solidFill>
            </a:ln>
          </c:spPr>
          <c:cat>
            <c:strRef>
              <c:f>Sheet1!$A$2:$A$14</c:f>
              <c:strCache>
                <c:ptCount val="13"/>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strCache>
            </c:strRef>
          </c:cat>
          <c:val>
            <c:numRef>
              <c:f>Sheet1!$C$2:$C$14</c:f>
              <c:numCache>
                <c:formatCode>0.00</c:formatCode>
                <c:ptCount val="13"/>
                <c:pt idx="0">
                  <c:v>12.141281548</c:v>
                </c:pt>
                <c:pt idx="1">
                  <c:v>12.615023359</c:v>
                </c:pt>
                <c:pt idx="2">
                  <c:v>13.520139251950001</c:v>
                </c:pt>
                <c:pt idx="3">
                  <c:v>12.082374038422001</c:v>
                </c:pt>
                <c:pt idx="4">
                  <c:v>12.147245167188997</c:v>
                </c:pt>
                <c:pt idx="5">
                  <c:v>12.538744325998</c:v>
                </c:pt>
                <c:pt idx="6">
                  <c:v>12.908631232216999</c:v>
                </c:pt>
                <c:pt idx="7">
                  <c:v>11.689957759296</c:v>
                </c:pt>
                <c:pt idx="8">
                  <c:v>12.945782750434999</c:v>
                </c:pt>
                <c:pt idx="9">
                  <c:v>14.132784588041019</c:v>
                </c:pt>
                <c:pt idx="10">
                  <c:v>16.56363949530229</c:v>
                </c:pt>
                <c:pt idx="11">
                  <c:v>14.941823083410691</c:v>
                </c:pt>
                <c:pt idx="12">
                  <c:v>16.086833898099933</c:v>
                </c:pt>
              </c:numCache>
            </c:numRef>
          </c:val>
          <c:extLst>
            <c:ext xmlns:c16="http://schemas.microsoft.com/office/drawing/2014/chart" uri="{C3380CC4-5D6E-409C-BE32-E72D297353CC}">
              <c16:uniqueId val="{00000001-2499-4ABA-B741-0B7E1B91FC7B}"/>
            </c:ext>
          </c:extLst>
        </c:ser>
        <c:dLbls>
          <c:showLegendKey val="0"/>
          <c:showVal val="0"/>
          <c:showCatName val="0"/>
          <c:showSerName val="0"/>
          <c:showPercent val="0"/>
          <c:showBubbleSize val="0"/>
        </c:dLbls>
        <c:axId val="48650112"/>
        <c:axId val="48672768"/>
      </c:area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 sourceLinked="0"/>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legend>
      <c:legendPos val="b"/>
      <c:overlay val="0"/>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 road 8.59</c:v>
                </c:pt>
              </c:strCache>
            </c:strRef>
          </c:tx>
          <c:spPr>
            <a:solidFill>
              <a:srgbClr val="0A2373"/>
            </a:solidFill>
          </c:spPr>
          <c:invertIfNegative val="0"/>
          <c:cat>
            <c:strRef>
              <c:f>Sheet1!$A$2:$A$4</c:f>
              <c:strCache>
                <c:ptCount val="3"/>
                <c:pt idx="0">
                  <c:v>2023E</c:v>
                </c:pt>
                <c:pt idx="1">
                  <c:v>2024E</c:v>
                </c:pt>
                <c:pt idx="2">
                  <c:v>2025E</c:v>
                </c:pt>
              </c:strCache>
            </c:strRef>
          </c:cat>
          <c:val>
            <c:numRef>
              <c:f>Sheet1!$B$2:$B$4</c:f>
              <c:numCache>
                <c:formatCode>0.0</c:formatCode>
                <c:ptCount val="3"/>
                <c:pt idx="0">
                  <c:v>8.7658416100872412</c:v>
                </c:pt>
                <c:pt idx="1">
                  <c:v>8.6775257558656111</c:v>
                </c:pt>
                <c:pt idx="2">
                  <c:v>8.5900996838752661</c:v>
                </c:pt>
              </c:numCache>
            </c:numRef>
          </c:val>
          <c:extLst>
            <c:ext xmlns:c16="http://schemas.microsoft.com/office/drawing/2014/chart" uri="{C3380CC4-5D6E-409C-BE32-E72D297353CC}">
              <c16:uniqueId val="{00000000-5BB7-4AB8-893B-D630D4D8836C}"/>
            </c:ext>
          </c:extLst>
        </c:ser>
        <c:ser>
          <c:idx val="1"/>
          <c:order val="1"/>
          <c:tx>
            <c:strRef>
              <c:f>Sheet1!$C$1</c:f>
              <c:strCache>
                <c:ptCount val="1"/>
                <c:pt idx="0">
                  <c:v>Other petrol 0.27</c:v>
                </c:pt>
              </c:strCache>
            </c:strRef>
          </c:tx>
          <c:spPr>
            <a:solidFill>
              <a:srgbClr val="3F5596"/>
            </a:solidFill>
          </c:spPr>
          <c:invertIfNegative val="0"/>
          <c:cat>
            <c:strRef>
              <c:f>Sheet1!$A$2:$A$4</c:f>
              <c:strCache>
                <c:ptCount val="3"/>
                <c:pt idx="0">
                  <c:v>2023E</c:v>
                </c:pt>
                <c:pt idx="1">
                  <c:v>2024E</c:v>
                </c:pt>
                <c:pt idx="2">
                  <c:v>2025E</c:v>
                </c:pt>
              </c:strCache>
            </c:strRef>
          </c:cat>
          <c:val>
            <c:numRef>
              <c:f>Sheet1!$C$2:$C$4</c:f>
              <c:numCache>
                <c:formatCode>0.0</c:formatCode>
                <c:ptCount val="3"/>
                <c:pt idx="0">
                  <c:v>0.27110850340476028</c:v>
                </c:pt>
                <c:pt idx="1">
                  <c:v>0.26837708523295728</c:v>
                </c:pt>
                <c:pt idx="2">
                  <c:v>0.26567318609923529</c:v>
                </c:pt>
              </c:numCache>
            </c:numRef>
          </c:val>
          <c:extLst>
            <c:ext xmlns:c16="http://schemas.microsoft.com/office/drawing/2014/chart" uri="{C3380CC4-5D6E-409C-BE32-E72D297353CC}">
              <c16:uniqueId val="{00000001-5BB7-4AB8-893B-D630D4D8836C}"/>
            </c:ext>
          </c:extLst>
        </c:ser>
        <c:ser>
          <c:idx val="2"/>
          <c:order val="2"/>
          <c:tx>
            <c:strRef>
              <c:f>Sheet1!$D$1</c:f>
              <c:strCache>
                <c:ptCount val="1"/>
                <c:pt idx="0">
                  <c:v>Freight diesel 4.82</c:v>
                </c:pt>
              </c:strCache>
            </c:strRef>
          </c:tx>
          <c:spPr>
            <a:solidFill>
              <a:srgbClr val="6782B4"/>
            </a:solidFill>
          </c:spPr>
          <c:invertIfNegative val="0"/>
          <c:cat>
            <c:strRef>
              <c:f>Sheet1!$A$2:$A$4</c:f>
              <c:strCache>
                <c:ptCount val="3"/>
                <c:pt idx="0">
                  <c:v>2023E</c:v>
                </c:pt>
                <c:pt idx="1">
                  <c:v>2024E</c:v>
                </c:pt>
                <c:pt idx="2">
                  <c:v>2025E</c:v>
                </c:pt>
              </c:strCache>
            </c:strRef>
          </c:cat>
          <c:val>
            <c:numRef>
              <c:f>Sheet1!$D$2:$D$4</c:f>
              <c:numCache>
                <c:formatCode>0.0</c:formatCode>
                <c:ptCount val="3"/>
                <c:pt idx="0">
                  <c:v>4.841361915996</c:v>
                </c:pt>
                <c:pt idx="1">
                  <c:v>4.8653266574801801</c:v>
                </c:pt>
                <c:pt idx="2">
                  <c:v>4.8245471123879353</c:v>
                </c:pt>
              </c:numCache>
            </c:numRef>
          </c:val>
          <c:extLst>
            <c:ext xmlns:c16="http://schemas.microsoft.com/office/drawing/2014/chart" uri="{C3380CC4-5D6E-409C-BE32-E72D297353CC}">
              <c16:uniqueId val="{00000002-5BB7-4AB8-893B-D630D4D8836C}"/>
            </c:ext>
          </c:extLst>
        </c:ser>
        <c:ser>
          <c:idx val="3"/>
          <c:order val="3"/>
          <c:tx>
            <c:strRef>
              <c:f>Sheet1!$E$1</c:f>
              <c:strCache>
                <c:ptCount val="1"/>
                <c:pt idx="0">
                  <c:v>Other road diesel 1.61</c:v>
                </c:pt>
              </c:strCache>
            </c:strRef>
          </c:tx>
          <c:spPr>
            <a:solidFill>
              <a:srgbClr val="9DB0D3"/>
            </a:solidFill>
          </c:spPr>
          <c:invertIfNegative val="0"/>
          <c:cat>
            <c:strRef>
              <c:f>Sheet1!$A$2:$A$4</c:f>
              <c:strCache>
                <c:ptCount val="3"/>
                <c:pt idx="0">
                  <c:v>2023E</c:v>
                </c:pt>
                <c:pt idx="1">
                  <c:v>2024E</c:v>
                </c:pt>
                <c:pt idx="2">
                  <c:v>2025E</c:v>
                </c:pt>
              </c:strCache>
            </c:strRef>
          </c:cat>
          <c:val>
            <c:numRef>
              <c:f>Sheet1!$E$2:$E$4</c:f>
              <c:numCache>
                <c:formatCode>0.0</c:formatCode>
                <c:ptCount val="3"/>
                <c:pt idx="0">
                  <c:v>1.613787305332</c:v>
                </c:pt>
                <c:pt idx="1">
                  <c:v>1.6217755524933932</c:v>
                </c:pt>
                <c:pt idx="2">
                  <c:v>1.6081823707959784</c:v>
                </c:pt>
              </c:numCache>
            </c:numRef>
          </c:val>
          <c:extLst>
            <c:ext xmlns:c16="http://schemas.microsoft.com/office/drawing/2014/chart" uri="{C3380CC4-5D6E-409C-BE32-E72D297353CC}">
              <c16:uniqueId val="{00000003-5BB7-4AB8-893B-D630D4D8836C}"/>
            </c:ext>
          </c:extLst>
        </c:ser>
        <c:ser>
          <c:idx val="4"/>
          <c:order val="4"/>
          <c:tx>
            <c:strRef>
              <c:f>Sheet1!$F$1</c:f>
              <c:strCache>
                <c:ptCount val="1"/>
                <c:pt idx="0">
                  <c:v>Mining 1.41</c:v>
                </c:pt>
              </c:strCache>
            </c:strRef>
          </c:tx>
          <c:spPr>
            <a:solidFill>
              <a:srgbClr val="404040"/>
            </a:solidFill>
          </c:spPr>
          <c:invertIfNegative val="0"/>
          <c:cat>
            <c:strRef>
              <c:f>Sheet1!$A$2:$A$4</c:f>
              <c:strCache>
                <c:ptCount val="3"/>
                <c:pt idx="0">
                  <c:v>2023E</c:v>
                </c:pt>
                <c:pt idx="1">
                  <c:v>2024E</c:v>
                </c:pt>
                <c:pt idx="2">
                  <c:v>2025E</c:v>
                </c:pt>
              </c:strCache>
            </c:strRef>
          </c:cat>
          <c:val>
            <c:numRef>
              <c:f>Sheet1!$F$2:$F$4</c:f>
              <c:numCache>
                <c:formatCode>0.0</c:formatCode>
                <c:ptCount val="3"/>
                <c:pt idx="0">
                  <c:v>1.3959664570874284</c:v>
                </c:pt>
                <c:pt idx="1">
                  <c:v>1.4037204366913902</c:v>
                </c:pt>
                <c:pt idx="2">
                  <c:v>1.4063467846217641</c:v>
                </c:pt>
              </c:numCache>
            </c:numRef>
          </c:val>
          <c:extLst>
            <c:ext xmlns:c16="http://schemas.microsoft.com/office/drawing/2014/chart" uri="{C3380CC4-5D6E-409C-BE32-E72D297353CC}">
              <c16:uniqueId val="{00000004-5BB7-4AB8-893B-D630D4D8836C}"/>
            </c:ext>
          </c:extLst>
        </c:ser>
        <c:ser>
          <c:idx val="5"/>
          <c:order val="5"/>
          <c:tx>
            <c:strRef>
              <c:f>Sheet1!$G$1</c:f>
              <c:strCache>
                <c:ptCount val="1"/>
                <c:pt idx="0">
                  <c:v>Agriculture 1.13</c:v>
                </c:pt>
              </c:strCache>
            </c:strRef>
          </c:tx>
          <c:spPr>
            <a:solidFill>
              <a:srgbClr val="767676"/>
            </a:solidFill>
          </c:spPr>
          <c:invertIfNegative val="0"/>
          <c:cat>
            <c:strRef>
              <c:f>Sheet1!$A$2:$A$4</c:f>
              <c:strCache>
                <c:ptCount val="3"/>
                <c:pt idx="0">
                  <c:v>2023E</c:v>
                </c:pt>
                <c:pt idx="1">
                  <c:v>2024E</c:v>
                </c:pt>
                <c:pt idx="2">
                  <c:v>2025E</c:v>
                </c:pt>
              </c:strCache>
            </c:strRef>
          </c:cat>
          <c:val>
            <c:numRef>
              <c:f>Sheet1!$G$2:$G$4</c:f>
              <c:numCache>
                <c:formatCode>0.0</c:formatCode>
                <c:ptCount val="3"/>
                <c:pt idx="0">
                  <c:v>1.0552755203659356</c:v>
                </c:pt>
                <c:pt idx="1">
                  <c:v>0.9633403153504746</c:v>
                </c:pt>
                <c:pt idx="2">
                  <c:v>1.1312246982365153</c:v>
                </c:pt>
              </c:numCache>
            </c:numRef>
          </c:val>
          <c:extLst>
            <c:ext xmlns:c16="http://schemas.microsoft.com/office/drawing/2014/chart" uri="{C3380CC4-5D6E-409C-BE32-E72D297353CC}">
              <c16:uniqueId val="{00000005-5BB7-4AB8-893B-D630D4D8836C}"/>
            </c:ext>
          </c:extLst>
        </c:ser>
        <c:ser>
          <c:idx val="6"/>
          <c:order val="6"/>
          <c:tx>
            <c:strRef>
              <c:f>Sheet1!$H$1</c:f>
              <c:strCache>
                <c:ptCount val="1"/>
                <c:pt idx="0">
                  <c:v>Manufacturing 0.17</c:v>
                </c:pt>
              </c:strCache>
            </c:strRef>
          </c:tx>
          <c:spPr>
            <a:solidFill>
              <a:srgbClr val="929292"/>
            </a:solidFill>
          </c:spPr>
          <c:invertIfNegative val="0"/>
          <c:cat>
            <c:strRef>
              <c:f>Sheet1!$A$2:$A$4</c:f>
              <c:strCache>
                <c:ptCount val="3"/>
                <c:pt idx="0">
                  <c:v>2023E</c:v>
                </c:pt>
                <c:pt idx="1">
                  <c:v>2024E</c:v>
                </c:pt>
                <c:pt idx="2">
                  <c:v>2025E</c:v>
                </c:pt>
              </c:strCache>
            </c:strRef>
          </c:cat>
          <c:val>
            <c:numRef>
              <c:f>Sheet1!$H$2:$H$4</c:f>
              <c:numCache>
                <c:formatCode>0.0</c:formatCode>
                <c:ptCount val="3"/>
                <c:pt idx="0">
                  <c:v>0.16789786744139165</c:v>
                </c:pt>
                <c:pt idx="1">
                  <c:v>0.16721110753544252</c:v>
                </c:pt>
                <c:pt idx="2">
                  <c:v>0.16507618000173108</c:v>
                </c:pt>
              </c:numCache>
            </c:numRef>
          </c:val>
          <c:extLst>
            <c:ext xmlns:c16="http://schemas.microsoft.com/office/drawing/2014/chart" uri="{C3380CC4-5D6E-409C-BE32-E72D297353CC}">
              <c16:uniqueId val="{00000006-5BB7-4AB8-893B-D630D4D8836C}"/>
            </c:ext>
          </c:extLst>
        </c:ser>
        <c:ser>
          <c:idx val="7"/>
          <c:order val="7"/>
          <c:tx>
            <c:strRef>
              <c:f>Sheet1!$I$1</c:f>
              <c:strCache>
                <c:ptCount val="1"/>
                <c:pt idx="0">
                  <c:v>Power 0.88</c:v>
                </c:pt>
              </c:strCache>
            </c:strRef>
          </c:tx>
          <c:spPr>
            <a:solidFill>
              <a:srgbClr val="BDBEC1"/>
            </a:solidFill>
          </c:spPr>
          <c:invertIfNegative val="0"/>
          <c:cat>
            <c:strRef>
              <c:f>Sheet1!$A$2:$A$4</c:f>
              <c:strCache>
                <c:ptCount val="3"/>
                <c:pt idx="0">
                  <c:v>2023E</c:v>
                </c:pt>
                <c:pt idx="1">
                  <c:v>2024E</c:v>
                </c:pt>
                <c:pt idx="2">
                  <c:v>2025E</c:v>
                </c:pt>
              </c:strCache>
            </c:strRef>
          </c:cat>
          <c:val>
            <c:numRef>
              <c:f>Sheet1!$I$2:$I$4</c:f>
              <c:numCache>
                <c:formatCode>0.0</c:formatCode>
                <c:ptCount val="3"/>
                <c:pt idx="0">
                  <c:v>1.2778800000000003</c:v>
                </c:pt>
                <c:pt idx="1">
                  <c:v>1.5972900000000001</c:v>
                </c:pt>
                <c:pt idx="2">
                  <c:v>0.88431999999999999</c:v>
                </c:pt>
              </c:numCache>
            </c:numRef>
          </c:val>
          <c:extLst>
            <c:ext xmlns:c16="http://schemas.microsoft.com/office/drawing/2014/chart" uri="{C3380CC4-5D6E-409C-BE32-E72D297353CC}">
              <c16:uniqueId val="{00000007-5BB7-4AB8-893B-D630D4D8836C}"/>
            </c:ext>
          </c:extLst>
        </c:ser>
        <c:ser>
          <c:idx val="8"/>
          <c:order val="8"/>
          <c:tx>
            <c:strRef>
              <c:f>Sheet1!$J$1</c:f>
              <c:strCache>
                <c:ptCount val="1"/>
                <c:pt idx="0">
                  <c:v>Other diesel 2.11</c:v>
                </c:pt>
              </c:strCache>
            </c:strRef>
          </c:tx>
          <c:spPr>
            <a:solidFill>
              <a:srgbClr val="D9D9D9"/>
            </a:solidFill>
          </c:spPr>
          <c:invertIfNegative val="0"/>
          <c:cat>
            <c:strRef>
              <c:f>Sheet1!$A$2:$A$4</c:f>
              <c:strCache>
                <c:ptCount val="3"/>
                <c:pt idx="0">
                  <c:v>2023E</c:v>
                </c:pt>
                <c:pt idx="1">
                  <c:v>2024E</c:v>
                </c:pt>
                <c:pt idx="2">
                  <c:v>2025E</c:v>
                </c:pt>
              </c:strCache>
            </c:strRef>
          </c:cat>
          <c:val>
            <c:numRef>
              <c:f>Sheet1!$J$2:$J$4</c:f>
              <c:numCache>
                <c:formatCode>0.0</c:formatCode>
                <c:ptCount val="3"/>
                <c:pt idx="0">
                  <c:v>2.5553308995852442</c:v>
                </c:pt>
                <c:pt idx="1">
                  <c:v>2.5165420959151987</c:v>
                </c:pt>
                <c:pt idx="2">
                  <c:v>2.1119181810768164</c:v>
                </c:pt>
              </c:numCache>
            </c:numRef>
          </c:val>
          <c:extLst>
            <c:ext xmlns:c16="http://schemas.microsoft.com/office/drawing/2014/chart" uri="{C3380CC4-5D6E-409C-BE32-E72D297353CC}">
              <c16:uniqueId val="{00000008-5BB7-4AB8-893B-D630D4D8836C}"/>
            </c:ext>
          </c:extLst>
        </c:ser>
        <c:ser>
          <c:idx val="9"/>
          <c:order val="9"/>
          <c:tx>
            <c:strRef>
              <c:f>Sheet1!$K$1</c:f>
              <c:strCache>
                <c:ptCount val="1"/>
                <c:pt idx="0">
                  <c:v>Not allocated 4.39</c:v>
                </c:pt>
              </c:strCache>
            </c:strRef>
          </c:tx>
          <c:spPr>
            <a:solidFill>
              <a:srgbClr val="E3E7F1"/>
            </a:solidFill>
          </c:spPr>
          <c:invertIfNegative val="0"/>
          <c:cat>
            <c:strRef>
              <c:f>Sheet1!$A$2:$A$4</c:f>
              <c:strCache>
                <c:ptCount val="3"/>
                <c:pt idx="0">
                  <c:v>2023E</c:v>
                </c:pt>
                <c:pt idx="1">
                  <c:v>2024E</c:v>
                </c:pt>
                <c:pt idx="2">
                  <c:v>2025E</c:v>
                </c:pt>
              </c:strCache>
            </c:strRef>
          </c:cat>
          <c:val>
            <c:numRef>
              <c:f>Sheet1!$K$2:$K$4</c:f>
              <c:numCache>
                <c:formatCode>0.0</c:formatCode>
                <c:ptCount val="3"/>
                <c:pt idx="0">
                  <c:v>3.8241089647742683</c:v>
                </c:pt>
                <c:pt idx="1">
                  <c:v>1.9804576304968364</c:v>
                </c:pt>
                <c:pt idx="2">
                  <c:v>4.3922076979021121</c:v>
                </c:pt>
              </c:numCache>
            </c:numRef>
          </c:val>
          <c:extLst>
            <c:ext xmlns:c16="http://schemas.microsoft.com/office/drawing/2014/chart" uri="{C3380CC4-5D6E-409C-BE32-E72D297353CC}">
              <c16:uniqueId val="{00000008-5BB7-4AB8-893B-D630D4D8836C}"/>
            </c:ext>
          </c:extLst>
        </c:ser>
        <c:dLbls>
          <c:showLegendKey val="0"/>
          <c:showVal val="0"/>
          <c:showCatName val="0"/>
          <c:showSerName val="0"/>
          <c:showPercent val="0"/>
          <c:showBubbleSize val="0"/>
        </c:dLbls>
        <c:gapWidth val="55"/>
        <c:overlap val="100"/>
        <c:axId val="-2068027336"/>
        <c:axId val="-2113994440"/>
      </c:barChart>
      <c:lineChart>
        <c:grouping val="standard"/>
        <c:varyColors val="0"/>
        <c:ser>
          <c:idx val="10"/>
          <c:order val="10"/>
          <c:tx>
            <c:strRef>
              <c:f>Sheet1!$L$1</c:f>
              <c:strCache>
                <c:ptCount val="1"/>
                <c:pt idx="0">
                  <c:v>Total</c:v>
                </c:pt>
              </c:strCache>
            </c:strRef>
          </c:tx>
          <c:spPr>
            <a:ln>
              <a:noFill/>
            </a:ln>
          </c:spPr>
          <c:marker>
            <c:symbol val="none"/>
          </c:marker>
          <c:dLbls>
            <c:dLbl>
              <c:idx val="0"/>
              <c:tx>
                <c:rich>
                  <a:bodyPr vertOverflow="overflow" horzOverflow="overflow" wrap="none">
                    <a:spAutoFit/>
                  </a:bodyPr>
                  <a:lstStyle/>
                  <a:p>
                    <a:pPr>
                      <a:defRPr sz="800" b="1">
                        <a:solidFill>
                          <a:srgbClr val="0A2373"/>
                        </a:solidFill>
                      </a:defRPr>
                    </a:pPr>
                    <a:r>
                      <a:rPr lang="en-US"/>
                      <a:t>25.8</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01-1BCE-4C9A-A809-747982580175}"/>
                </c:ext>
              </c:extLst>
            </c:dLbl>
            <c:dLbl>
              <c:idx val="1"/>
              <c:tx>
                <c:rich>
                  <a:bodyPr vertOverflow="overflow" horzOverflow="overflow" wrap="none">
                    <a:spAutoFit/>
                  </a:bodyPr>
                  <a:lstStyle/>
                  <a:p>
                    <a:pPr>
                      <a:defRPr sz="800" b="1">
                        <a:solidFill>
                          <a:srgbClr val="0A2373"/>
                        </a:solidFill>
                      </a:defRPr>
                    </a:pPr>
                    <a:r>
                      <a:rPr lang="en-US"/>
                      <a:t>24.1</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02-1BCE-4C9A-A809-747982580175}"/>
                </c:ext>
              </c:extLst>
            </c:dLbl>
            <c:dLbl>
              <c:idx val="2"/>
              <c:tx>
                <c:rich>
                  <a:bodyPr vertOverflow="overflow" horzOverflow="overflow" wrap="none">
                    <a:spAutoFit/>
                  </a:bodyPr>
                  <a:lstStyle/>
                  <a:p>
                    <a:pPr>
                      <a:defRPr sz="800" b="1">
                        <a:solidFill>
                          <a:srgbClr val="0A2373"/>
                        </a:solidFill>
                      </a:defRPr>
                    </a:pPr>
                    <a:r>
                      <a:rPr lang="en-US"/>
                      <a:t>25.4</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03-1BCE-4C9A-A809-747982580175}"/>
                </c:ext>
              </c:extLst>
            </c:dLbl>
            <c:numFmt formatCode="0.0" sourceLinked="0"/>
            <c:spPr>
              <a:solidFill>
                <a:srgbClr val="FFFFFF"/>
              </a:solidFill>
              <a:ln w="9525">
                <a:solidFill>
                  <a:srgbClr val="0A2373"/>
                </a:solidFill>
              </a:ln>
            </c:spPr>
            <c:txPr>
              <a:bodyPr/>
              <a:lstStyle/>
              <a:p>
                <a:pPr>
                  <a:defRPr sz="800" b="1">
                    <a:solidFill>
                      <a:srgbClr val="0A2373"/>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ellipse">
                    <a:avLst/>
                  </a:prstGeom>
                </c15:spPr>
                <c15:showLeaderLines val="0"/>
              </c:ext>
            </c:extLst>
          </c:dLbls>
          <c:cat>
            <c:strRef>
              <c:f>Sheet1!$A$2:$A$4</c:f>
              <c:strCache>
                <c:ptCount val="3"/>
                <c:pt idx="0">
                  <c:v>2023E</c:v>
                </c:pt>
                <c:pt idx="1">
                  <c:v>2024E</c:v>
                </c:pt>
                <c:pt idx="2">
                  <c:v>2025E</c:v>
                </c:pt>
              </c:strCache>
            </c:strRef>
          </c:cat>
          <c:val>
            <c:numRef>
              <c:f>Sheet1!$L$2:$L$4</c:f>
              <c:numCache>
                <c:formatCode>0.0</c:formatCode>
                <c:ptCount val="3"/>
                <c:pt idx="0">
                  <c:v>25.768559044074269</c:v>
                </c:pt>
                <c:pt idx="1">
                  <c:v>24.061566637061485</c:v>
                </c:pt>
                <c:pt idx="2">
                  <c:v>25.379595894997355</c:v>
                </c:pt>
              </c:numCache>
            </c:numRef>
          </c:val>
          <c:smooth val="1"/>
          <c:extLst>
            <c:ext xmlns:c16="http://schemas.microsoft.com/office/drawing/2014/chart" uri="{C3380CC4-5D6E-409C-BE32-E72D297353CC}">
              <c16:uniqueId val="{00000000-1BCE-4C9A-A809-747982580175}"/>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30"/>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5"/>
      </c:valAx>
    </c:plotArea>
    <c:legend>
      <c:legendPos val="r"/>
      <c:legendEntry>
        <c:idx val="10"/>
        <c:delete val="1"/>
      </c:legendEntry>
      <c:overlay val="0"/>
      <c:txPr>
        <a:bodyPr/>
        <a:lstStyle/>
        <a:p>
          <a:pPr>
            <a:defRPr sz="900"/>
          </a:pPr>
          <a:endParaRPr lang="en-US"/>
        </a:p>
      </c:txPr>
    </c:legend>
    <c:plotVisOnly val="1"/>
    <c:dispBlanksAs val="gap"/>
    <c:showDLblsOverMax val="1"/>
  </c:chart>
  <c:txPr>
    <a:bodyPr/>
    <a:lstStyle/>
    <a:p>
      <a:pPr>
        <a:defRPr sz="1000">
          <a:latin typeface="La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strRef>
              <c:f>Sheet1!$B$1</c:f>
              <c:strCache>
                <c:ptCount val="1"/>
                <c:pt idx="0">
                  <c:v>Road freight</c:v>
                </c:pt>
              </c:strCache>
            </c:strRef>
          </c:tx>
          <c:spPr>
            <a:ln w="23813">
              <a:solidFill>
                <a:srgbClr val="3F5596"/>
              </a:solidFill>
            </a:ln>
          </c:spPr>
          <c:marker>
            <c:symbol val="none"/>
          </c:marker>
          <c:cat>
            <c:strRef>
              <c:f>Sheet1!$A$2:$A$4</c:f>
              <c:strCache>
                <c:ptCount val="3"/>
                <c:pt idx="0">
                  <c:v>2023E</c:v>
                </c:pt>
                <c:pt idx="1">
                  <c:v>2024E</c:v>
                </c:pt>
                <c:pt idx="2">
                  <c:v>2025E</c:v>
                </c:pt>
              </c:strCache>
            </c:strRef>
          </c:cat>
          <c:val>
            <c:numRef>
              <c:f>Sheet1!$B$2:$B$4</c:f>
              <c:numCache>
                <c:formatCode>0.00</c:formatCode>
                <c:ptCount val="3"/>
                <c:pt idx="0">
                  <c:v>5.6816248978564028</c:v>
                </c:pt>
                <c:pt idx="1">
                  <c:v>5.7482208070909317</c:v>
                </c:pt>
                <c:pt idx="2">
                  <c:v>5.8144372553939663</c:v>
                </c:pt>
              </c:numCache>
            </c:numRef>
          </c:val>
          <c:smooth val="0"/>
          <c:extLst>
            <c:ext xmlns:c16="http://schemas.microsoft.com/office/drawing/2014/chart" uri="{C3380CC4-5D6E-409C-BE32-E72D297353CC}">
              <c16:uniqueId val="{00000000-331E-4DA0-A4F4-2DC791D5E469}"/>
            </c:ext>
          </c:extLst>
        </c:ser>
        <c:ser>
          <c:idx val="1"/>
          <c:order val="1"/>
          <c:tx>
            <c:strRef>
              <c:f>Sheet1!$C$1</c:f>
              <c:strCache>
                <c:ptCount val="1"/>
                <c:pt idx="0">
                  <c:v>Power</c:v>
                </c:pt>
              </c:strCache>
            </c:strRef>
          </c:tx>
          <c:spPr>
            <a:ln w="23813">
              <a:solidFill>
                <a:srgbClr val="404040"/>
              </a:solidFill>
            </a:ln>
          </c:spPr>
          <c:marker>
            <c:symbol val="none"/>
          </c:marker>
          <c:cat>
            <c:strRef>
              <c:f>Sheet1!$A$2:$A$4</c:f>
              <c:strCache>
                <c:ptCount val="3"/>
                <c:pt idx="0">
                  <c:v>2023E</c:v>
                </c:pt>
                <c:pt idx="1">
                  <c:v>2024E</c:v>
                </c:pt>
                <c:pt idx="2">
                  <c:v>2025E</c:v>
                </c:pt>
              </c:strCache>
            </c:strRef>
          </c:cat>
          <c:val>
            <c:numRef>
              <c:f>Sheet1!$C$2:$C$4</c:f>
              <c:numCache>
                <c:formatCode>0.00</c:formatCode>
                <c:ptCount val="3"/>
                <c:pt idx="0">
                  <c:v>1.2778800000000003</c:v>
                </c:pt>
                <c:pt idx="1">
                  <c:v>1.5972900000000001</c:v>
                </c:pt>
                <c:pt idx="2">
                  <c:v>0.88431999999999999</c:v>
                </c:pt>
              </c:numCache>
            </c:numRef>
          </c:val>
          <c:smooth val="0"/>
          <c:extLst>
            <c:ext xmlns:c16="http://schemas.microsoft.com/office/drawing/2014/chart" uri="{C3380CC4-5D6E-409C-BE32-E72D297353CC}">
              <c16:uniqueId val="{00000001-331E-4DA0-A4F4-2DC791D5E469}"/>
            </c:ext>
          </c:extLst>
        </c:ser>
        <c:ser>
          <c:idx val="2"/>
          <c:order val="2"/>
          <c:tx>
            <c:strRef>
              <c:f>Sheet1!$D$1</c:f>
              <c:strCache>
                <c:ptCount val="1"/>
                <c:pt idx="0">
                  <c:v>Other diesel</c:v>
                </c:pt>
              </c:strCache>
            </c:strRef>
          </c:tx>
          <c:spPr>
            <a:ln w="23813">
              <a:solidFill>
                <a:srgbClr val="BDBEC1"/>
              </a:solidFill>
            </a:ln>
          </c:spPr>
          <c:marker>
            <c:symbol val="none"/>
          </c:marker>
          <c:cat>
            <c:strRef>
              <c:f>Sheet1!$A$2:$A$4</c:f>
              <c:strCache>
                <c:ptCount val="3"/>
                <c:pt idx="0">
                  <c:v>2023E</c:v>
                </c:pt>
                <c:pt idx="1">
                  <c:v>2024E</c:v>
                </c:pt>
                <c:pt idx="2">
                  <c:v>2025E</c:v>
                </c:pt>
              </c:strCache>
            </c:strRef>
          </c:cat>
          <c:val>
            <c:numRef>
              <c:f>Sheet1!$D$2:$D$4</c:f>
              <c:numCache>
                <c:formatCode>0.00</c:formatCode>
                <c:ptCount val="3"/>
                <c:pt idx="0">
                  <c:v>1.7150679177248414</c:v>
                </c:pt>
                <c:pt idx="1">
                  <c:v>1.6336479463044471</c:v>
                </c:pt>
                <c:pt idx="2">
                  <c:v>1.1220280380707854</c:v>
                </c:pt>
              </c:numCache>
            </c:numRef>
          </c:val>
          <c:smooth val="0"/>
          <c:extLst>
            <c:ext xmlns:c16="http://schemas.microsoft.com/office/drawing/2014/chart" uri="{C3380CC4-5D6E-409C-BE32-E72D297353CC}">
              <c16:uniqueId val="{00000002-331E-4DA0-A4F4-2DC791D5E469}"/>
            </c:ext>
          </c:extLst>
        </c:ser>
        <c:ser>
          <c:idx val="3"/>
          <c:order val="3"/>
          <c:tx>
            <c:strRef>
              <c:f>Sheet1!$E$1</c:f>
              <c:strCache>
                <c:ptCount val="1"/>
                <c:pt idx="0">
                  <c:v>Other road</c:v>
                </c:pt>
              </c:strCache>
            </c:strRef>
          </c:tx>
          <c:spPr>
            <a:ln w="23813">
              <a:solidFill>
                <a:srgbClr val="9DB0D3"/>
              </a:solidFill>
            </a:ln>
          </c:spPr>
          <c:marker>
            <c:symbol val="none"/>
          </c:marker>
          <c:cat>
            <c:strRef>
              <c:f>Sheet1!$A$2:$A$4</c:f>
              <c:strCache>
                <c:ptCount val="3"/>
                <c:pt idx="0">
                  <c:v>2023E</c:v>
                </c:pt>
                <c:pt idx="1">
                  <c:v>2024E</c:v>
                </c:pt>
                <c:pt idx="2">
                  <c:v>2025E</c:v>
                </c:pt>
              </c:strCache>
            </c:strRef>
          </c:cat>
          <c:val>
            <c:numRef>
              <c:f>Sheet1!$E$2:$E$4</c:f>
              <c:numCache>
                <c:formatCode>0.00</c:formatCode>
                <c:ptCount val="3"/>
                <c:pt idx="0">
                  <c:v>1.613787305332</c:v>
                </c:pt>
                <c:pt idx="1">
                  <c:v>1.6217755524933932</c:v>
                </c:pt>
                <c:pt idx="2">
                  <c:v>1.6081823707959784</c:v>
                </c:pt>
              </c:numCache>
            </c:numRef>
          </c:val>
          <c:smooth val="0"/>
          <c:extLst>
            <c:ext xmlns:c16="http://schemas.microsoft.com/office/drawing/2014/chart" uri="{C3380CC4-5D6E-409C-BE32-E72D297353CC}">
              <c16:uniqueId val="{00000003-331E-4DA0-A4F4-2DC791D5E469}"/>
            </c:ext>
          </c:extLst>
        </c:ser>
        <c:ser>
          <c:idx val="4"/>
          <c:order val="4"/>
          <c:tx>
            <c:strRef>
              <c:f>Sheet1!$F$1</c:f>
              <c:strCache>
                <c:ptCount val="1"/>
                <c:pt idx="0">
                  <c:v>Mining</c:v>
                </c:pt>
              </c:strCache>
            </c:strRef>
          </c:tx>
          <c:spPr>
            <a:ln w="23813">
              <a:solidFill>
                <a:srgbClr val="0A2373"/>
              </a:solidFill>
            </a:ln>
          </c:spPr>
          <c:marker>
            <c:symbol val="none"/>
          </c:marker>
          <c:cat>
            <c:strRef>
              <c:f>Sheet1!$A$2:$A$4</c:f>
              <c:strCache>
                <c:ptCount val="3"/>
                <c:pt idx="0">
                  <c:v>2023E</c:v>
                </c:pt>
                <c:pt idx="1">
                  <c:v>2024E</c:v>
                </c:pt>
                <c:pt idx="2">
                  <c:v>2025E</c:v>
                </c:pt>
              </c:strCache>
            </c:strRef>
          </c:cat>
          <c:val>
            <c:numRef>
              <c:f>Sheet1!$F$2:$F$4</c:f>
              <c:numCache>
                <c:formatCode>0.00</c:formatCode>
                <c:ptCount val="3"/>
                <c:pt idx="0">
                  <c:v>1.3959664570874284</c:v>
                </c:pt>
                <c:pt idx="1">
                  <c:v>1.4037204366913902</c:v>
                </c:pt>
                <c:pt idx="2">
                  <c:v>1.4063467846217641</c:v>
                </c:pt>
              </c:numCache>
            </c:numRef>
          </c:val>
          <c:smooth val="0"/>
          <c:extLst>
            <c:ext xmlns:c16="http://schemas.microsoft.com/office/drawing/2014/chart" uri="{C3380CC4-5D6E-409C-BE32-E72D297353CC}">
              <c16:uniqueId val="{00000004-331E-4DA0-A4F4-2DC791D5E469}"/>
            </c:ext>
          </c:extLst>
        </c:ser>
        <c:ser>
          <c:idx val="5"/>
          <c:order val="5"/>
          <c:tx>
            <c:strRef>
              <c:f>Sheet1!$G$1</c:f>
              <c:strCache>
                <c:ptCount val="1"/>
                <c:pt idx="0">
                  <c:v>Agriculture</c:v>
                </c:pt>
              </c:strCache>
            </c:strRef>
          </c:tx>
          <c:spPr>
            <a:ln w="23813">
              <a:solidFill>
                <a:srgbClr val="6782B4"/>
              </a:solidFill>
            </a:ln>
          </c:spPr>
          <c:marker>
            <c:symbol val="none"/>
          </c:marker>
          <c:cat>
            <c:strRef>
              <c:f>Sheet1!$A$2:$A$4</c:f>
              <c:strCache>
                <c:ptCount val="3"/>
                <c:pt idx="0">
                  <c:v>2023E</c:v>
                </c:pt>
                <c:pt idx="1">
                  <c:v>2024E</c:v>
                </c:pt>
                <c:pt idx="2">
                  <c:v>2025E</c:v>
                </c:pt>
              </c:strCache>
            </c:strRef>
          </c:cat>
          <c:val>
            <c:numRef>
              <c:f>Sheet1!$G$2:$G$4</c:f>
              <c:numCache>
                <c:formatCode>0.00</c:formatCode>
                <c:ptCount val="3"/>
                <c:pt idx="0">
                  <c:v>1.0552755203659356</c:v>
                </c:pt>
                <c:pt idx="1">
                  <c:v>0.9633403153504746</c:v>
                </c:pt>
                <c:pt idx="2">
                  <c:v>1.1312246982365153</c:v>
                </c:pt>
              </c:numCache>
            </c:numRef>
          </c:val>
          <c:smooth val="0"/>
          <c:extLst>
            <c:ext xmlns:c16="http://schemas.microsoft.com/office/drawing/2014/chart" uri="{C3380CC4-5D6E-409C-BE32-E72D297353CC}">
              <c16:uniqueId val="{00000005-331E-4DA0-A4F4-2DC791D5E469}"/>
            </c:ext>
          </c:extLst>
        </c:ser>
        <c:ser>
          <c:idx val="6"/>
          <c:order val="6"/>
          <c:tx>
            <c:strRef>
              <c:f>Sheet1!$H$1</c:f>
              <c:strCache>
                <c:ptCount val="1"/>
                <c:pt idx="0">
                  <c:v>Manufacturing</c:v>
                </c:pt>
              </c:strCache>
            </c:strRef>
          </c:tx>
          <c:spPr>
            <a:ln w="23813">
              <a:solidFill>
                <a:srgbClr val="868686"/>
              </a:solidFill>
            </a:ln>
          </c:spPr>
          <c:marker>
            <c:symbol val="none"/>
          </c:marker>
          <c:cat>
            <c:strRef>
              <c:f>Sheet1!$A$2:$A$4</c:f>
              <c:strCache>
                <c:ptCount val="3"/>
                <c:pt idx="0">
                  <c:v>2023E</c:v>
                </c:pt>
                <c:pt idx="1">
                  <c:v>2024E</c:v>
                </c:pt>
                <c:pt idx="2">
                  <c:v>2025E</c:v>
                </c:pt>
              </c:strCache>
            </c:strRef>
          </c:cat>
          <c:val>
            <c:numRef>
              <c:f>Sheet1!$H$2:$H$4</c:f>
              <c:numCache>
                <c:formatCode>0.00</c:formatCode>
                <c:ptCount val="3"/>
                <c:pt idx="0">
                  <c:v>0.16789786744139165</c:v>
                </c:pt>
                <c:pt idx="1">
                  <c:v>0.16721110753544252</c:v>
                </c:pt>
                <c:pt idx="2">
                  <c:v>0.16507618000173108</c:v>
                </c:pt>
              </c:numCache>
            </c:numRef>
          </c:val>
          <c:smooth val="0"/>
          <c:extLst>
            <c:ext xmlns:c16="http://schemas.microsoft.com/office/drawing/2014/chart" uri="{C3380CC4-5D6E-409C-BE32-E72D297353CC}">
              <c16:uniqueId val="{00000006-331E-4DA0-A4F4-2DC791D5E46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legend>
      <c:legendPos val="b"/>
      <c:overlay val="0"/>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Eskom diesel and kerosene</c:v>
                </c:pt>
              </c:strCache>
            </c:strRef>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FY2023</c:v>
                </c:pt>
                <c:pt idx="1">
                  <c:v>FY2024</c:v>
                </c:pt>
                <c:pt idx="2">
                  <c:v>FY2025</c:v>
                </c:pt>
                <c:pt idx="3">
                  <c:v>FY2026</c:v>
                </c:pt>
              </c:strCache>
            </c:strRef>
          </c:cat>
          <c:val>
            <c:numRef>
              <c:f>Sheet1!$B$2:$B$5</c:f>
              <c:numCache>
                <c:formatCode>0.00</c:formatCode>
                <c:ptCount val="4"/>
                <c:pt idx="0">
                  <c:v>0.9375</c:v>
                </c:pt>
                <c:pt idx="1">
                  <c:v>1.1294999999999999</c:v>
                </c:pt>
                <c:pt idx="2">
                  <c:v>0.67910000000000004</c:v>
                </c:pt>
                <c:pt idx="3">
                  <c:v>0.25659999999999999</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CE5C-482E-870C-C7109AA53DE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Road, million tonnes</c:v>
                </c:pt>
              </c:strCache>
            </c:strRef>
          </c:tx>
          <c:spPr>
            <a:solidFill>
              <a:srgbClr val="0A2373"/>
            </a:solidFill>
            <a:ln w="23813">
              <a:solidFill>
                <a:srgbClr val="0A2373"/>
              </a:solidFill>
            </a:ln>
          </c:spPr>
          <c:invertIfNegative val="1"/>
          <c:dPt>
            <c:idx val="3"/>
            <c:invertIfNegative val="1"/>
            <c:bubble3D val="0"/>
            <c:spPr>
              <a:pattFill prst="wdUpDiag">
                <a:fgClr>
                  <a:srgbClr val="0A2373"/>
                </a:fgClr>
                <a:bgClr>
                  <a:srgbClr val="FFFFFF"/>
                </a:bgClr>
              </a:pattFill>
              <a:ln w="12700">
                <a:solidFill>
                  <a:srgbClr val="0A2373"/>
                </a:solidFill>
                <a:prstDash val="dash"/>
              </a:ln>
            </c:spPr>
            <c:extLst>
              <c:ext xmlns:c16="http://schemas.microsoft.com/office/drawing/2014/chart" uri="{C3380CC4-5D6E-409C-BE32-E72D297353CC}">
                <c16:uniqueId val="{00000001-8B06-4C01-8086-C0CBF979E67B}"/>
              </c:ext>
            </c:extLst>
          </c:dPt>
          <c:dLbls>
            <c:spPr>
              <a:noFill/>
              <a:ln>
                <a:noFill/>
              </a:ln>
              <a:effectLst/>
            </c:spPr>
            <c:txPr>
              <a:bodyPr anchorCtr="1"/>
              <a:lstStyle/>
              <a:p>
                <a:pPr>
                  <a:defRPr sz="900">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2024</c:v>
                </c:pt>
                <c:pt idx="1">
                  <c:v>2025</c:v>
                </c:pt>
                <c:pt idx="2">
                  <c:v>2026*</c:v>
                </c:pt>
                <c:pt idx="3">
                  <c:v>2030</c:v>
                </c:pt>
              </c:strCache>
            </c:strRef>
          </c:cat>
          <c:val>
            <c:numRef>
              <c:f>Sheet1!$B$2:$B$5</c:f>
              <c:numCache>
                <c:formatCode>#,##0</c:formatCode>
                <c:ptCount val="4"/>
                <c:pt idx="0">
                  <c:v>979.798</c:v>
                </c:pt>
                <c:pt idx="1">
                  <c:v>976.46799999999996</c:v>
                </c:pt>
                <c:pt idx="2">
                  <c:v>973.76400000000001</c:v>
                </c:pt>
                <c:pt idx="3">
                  <c:v>1006.4506784158061</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4381-4800-BBB0-336A2215AD99}"/>
            </c:ext>
          </c:extLst>
        </c:ser>
        <c:ser>
          <c:idx val="1"/>
          <c:order val="1"/>
          <c:tx>
            <c:strRef>
              <c:f>Sheet1!$C$1</c:f>
              <c:strCache>
                <c:ptCount val="1"/>
                <c:pt idx="0">
                  <c:v>Rail, million tonnes</c:v>
                </c:pt>
              </c:strCache>
            </c:strRef>
          </c:tx>
          <c:spPr>
            <a:solidFill>
              <a:srgbClr val="6782B4"/>
            </a:solidFill>
            <a:ln w="23813">
              <a:solidFill>
                <a:srgbClr val="6782B4"/>
              </a:solidFill>
            </a:ln>
          </c:spPr>
          <c:invertIfNegative val="1"/>
          <c:dPt>
            <c:idx val="3"/>
            <c:invertIfNegative val="1"/>
            <c:bubble3D val="0"/>
            <c:spPr>
              <a:pattFill prst="wdUpDiag">
                <a:fgClr>
                  <a:srgbClr val="6782B4"/>
                </a:fgClr>
                <a:bgClr>
                  <a:srgbClr val="FFFFFF"/>
                </a:bgClr>
              </a:pattFill>
              <a:ln w="12700">
                <a:solidFill>
                  <a:srgbClr val="6782B4"/>
                </a:solidFill>
                <a:prstDash val="dash"/>
              </a:ln>
            </c:spPr>
            <c:extLst>
              <c:ext xmlns:c16="http://schemas.microsoft.com/office/drawing/2014/chart" uri="{C3380CC4-5D6E-409C-BE32-E72D297353CC}">
                <c16:uniqueId val="{00000002-F391-4C13-A651-B285AF319B6C}"/>
              </c:ext>
            </c:extLst>
          </c:dPt>
          <c:dLbls>
            <c:spPr>
              <a:noFill/>
              <a:ln>
                <a:noFill/>
              </a:ln>
              <a:effectLst/>
            </c:spPr>
            <c:txPr>
              <a:bodyPr anchorCtr="1"/>
              <a:lstStyle/>
              <a:p>
                <a:pPr>
                  <a:defRPr sz="900">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2024</c:v>
                </c:pt>
                <c:pt idx="1">
                  <c:v>2025</c:v>
                </c:pt>
                <c:pt idx="2">
                  <c:v>2026*</c:v>
                </c:pt>
                <c:pt idx="3">
                  <c:v>2030</c:v>
                </c:pt>
              </c:strCache>
            </c:strRef>
          </c:cat>
          <c:val>
            <c:numRef>
              <c:f>Sheet1!$C$2:$C$5</c:f>
              <c:numCache>
                <c:formatCode>#,##0</c:formatCode>
                <c:ptCount val="4"/>
                <c:pt idx="0">
                  <c:v>160.745</c:v>
                </c:pt>
                <c:pt idx="1">
                  <c:v>168.26300000000001</c:v>
                </c:pt>
                <c:pt idx="2">
                  <c:v>173.39142857142858</c:v>
                </c:pt>
                <c:pt idx="3">
                  <c:v>250</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6782B4"/>
                    </a:solidFill>
                  </a:ln>
                </c14:spPr>
              </c14:invertSolidFillFmt>
            </c:ext>
            <c:ext xmlns:c16="http://schemas.microsoft.com/office/drawing/2014/chart" uri="{C3380CC4-5D6E-409C-BE32-E72D297353CC}">
              <c16:uniqueId val="{00000001-4381-4800-BBB0-336A2215AD99}"/>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 sourceLinked="0"/>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legend>
      <c:legendPos val="b"/>
      <c:overlay val="0"/>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BEV</c:v>
                </c:pt>
              </c:strCache>
            </c:strRef>
          </c:tx>
          <c:spPr>
            <a:solidFill>
              <a:srgbClr val="929292"/>
            </a:solidFill>
          </c:spPr>
          <c:invertIfNegative val="0"/>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Sheet1!$B$2:$B$9</c:f>
              <c:numCache>
                <c:formatCode>#,##0</c:formatCode>
                <c:ptCount val="8"/>
                <c:pt idx="0">
                  <c:v>154</c:v>
                </c:pt>
                <c:pt idx="1">
                  <c:v>92</c:v>
                </c:pt>
                <c:pt idx="2">
                  <c:v>218</c:v>
                </c:pt>
                <c:pt idx="3">
                  <c:v>502</c:v>
                </c:pt>
                <c:pt idx="4">
                  <c:v>929</c:v>
                </c:pt>
                <c:pt idx="5">
                  <c:v>1257</c:v>
                </c:pt>
                <c:pt idx="6">
                  <c:v>1088</c:v>
                </c:pt>
                <c:pt idx="7">
                  <c:v>3794</c:v>
                </c:pt>
              </c:numCache>
            </c:numRef>
          </c:val>
          <c:extLst>
            <c:ext xmlns:c16="http://schemas.microsoft.com/office/drawing/2014/chart" uri="{C3380CC4-5D6E-409C-BE32-E72D297353CC}">
              <c16:uniqueId val="{00000000-785B-492A-B87F-602A98085CFA}"/>
            </c:ext>
          </c:extLst>
        </c:ser>
        <c:ser>
          <c:idx val="1"/>
          <c:order val="1"/>
          <c:tx>
            <c:strRef>
              <c:f>Sheet1!$C$1</c:f>
              <c:strCache>
                <c:ptCount val="1"/>
                <c:pt idx="0">
                  <c:v>Plug-in hybrid</c:v>
                </c:pt>
              </c:strCache>
            </c:strRef>
          </c:tx>
          <c:spPr>
            <a:solidFill>
              <a:srgbClr val="6782B4"/>
            </a:solidFill>
          </c:spPr>
          <c:invertIfNegative val="0"/>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Sheet1!$C$2:$C$9</c:f>
              <c:numCache>
                <c:formatCode>#,##0</c:formatCode>
                <c:ptCount val="8"/>
                <c:pt idx="0">
                  <c:v>72</c:v>
                </c:pt>
                <c:pt idx="1">
                  <c:v>77</c:v>
                </c:pt>
                <c:pt idx="2">
                  <c:v>51</c:v>
                </c:pt>
                <c:pt idx="3">
                  <c:v>122</c:v>
                </c:pt>
                <c:pt idx="4">
                  <c:v>368</c:v>
                </c:pt>
                <c:pt idx="5">
                  <c:v>738</c:v>
                </c:pt>
                <c:pt idx="6">
                  <c:v>2810</c:v>
                </c:pt>
                <c:pt idx="7">
                  <c:v>9246</c:v>
                </c:pt>
              </c:numCache>
            </c:numRef>
          </c:val>
          <c:extLst>
            <c:ext xmlns:c16="http://schemas.microsoft.com/office/drawing/2014/chart" uri="{C3380CC4-5D6E-409C-BE32-E72D297353CC}">
              <c16:uniqueId val="{00000001-785B-492A-B87F-602A98085CFA}"/>
            </c:ext>
          </c:extLst>
        </c:ser>
        <c:ser>
          <c:idx val="2"/>
          <c:order val="2"/>
          <c:tx>
            <c:strRef>
              <c:f>Sheet1!$D$1</c:f>
              <c:strCache>
                <c:ptCount val="1"/>
                <c:pt idx="0">
                  <c:v>Conventional hybrid</c:v>
                </c:pt>
              </c:strCache>
            </c:strRef>
          </c:tx>
          <c:spPr>
            <a:solidFill>
              <a:srgbClr val="0A2373"/>
            </a:solidFill>
          </c:spPr>
          <c:invertIfNegative val="0"/>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Sheet1!$D$2:$D$9</c:f>
              <c:numCache>
                <c:formatCode>#,##0</c:formatCode>
                <c:ptCount val="8"/>
                <c:pt idx="0">
                  <c:v>181</c:v>
                </c:pt>
                <c:pt idx="1">
                  <c:v>155</c:v>
                </c:pt>
                <c:pt idx="2">
                  <c:v>627</c:v>
                </c:pt>
                <c:pt idx="3">
                  <c:v>4070</c:v>
                </c:pt>
                <c:pt idx="4">
                  <c:v>6485</c:v>
                </c:pt>
                <c:pt idx="5">
                  <c:v>13616</c:v>
                </c:pt>
                <c:pt idx="6">
                  <c:v>12818</c:v>
                </c:pt>
                <c:pt idx="7">
                  <c:v>13352</c:v>
                </c:pt>
              </c:numCache>
            </c:numRef>
          </c:val>
          <c:extLst>
            <c:ext xmlns:c16="http://schemas.microsoft.com/office/drawing/2014/chart" uri="{C3380CC4-5D6E-409C-BE32-E72D297353CC}">
              <c16:uniqueId val="{00000002-785B-492A-B87F-602A98085CFA}"/>
            </c:ext>
          </c:extLst>
        </c:ser>
        <c:dLbls>
          <c:showLegendKey val="0"/>
          <c:showVal val="0"/>
          <c:showCatName val="0"/>
          <c:showSerName val="0"/>
          <c:showPercent val="0"/>
          <c:showBubbleSize val="0"/>
        </c:dLbls>
        <c:gapWidth val="70"/>
        <c:overlap val="-10"/>
        <c:axId val="-2068027336"/>
        <c:axId val="-2113994440"/>
      </c:barChart>
      <c:lineChart>
        <c:grouping val="standard"/>
        <c:varyColors val="0"/>
        <c:ser>
          <c:idx val="3"/>
          <c:order val="3"/>
          <c:tx>
            <c:strRef>
              <c:f>Sheet1!$E$1</c:f>
              <c:strCache>
                <c:ptCount val="1"/>
                <c:pt idx="0">
                  <c:v>Peak petrol, R/litre</c:v>
                </c:pt>
              </c:strCache>
            </c:strRef>
          </c:tx>
          <c:spPr>
            <a:ln w="23813" cap="rnd">
              <a:solidFill>
                <a:srgbClr val="404040"/>
              </a:solidFill>
              <a:round/>
            </a:ln>
          </c:spPr>
          <c:marker>
            <c:symbol val="circle"/>
            <c:size val="5"/>
            <c:spPr>
              <a:solidFill>
                <a:srgbClr val="404040"/>
              </a:solidFill>
              <a:ln w="9525">
                <a:solidFill>
                  <a:srgbClr val="404040"/>
                </a:solidFill>
              </a:ln>
            </c:spPr>
          </c:marker>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Sheet1!$E$2:$E$9</c:f>
              <c:numCache>
                <c:formatCode>0.00</c:formatCode>
                <c:ptCount val="8"/>
                <c:pt idx="0">
                  <c:v>16.760000000000002</c:v>
                </c:pt>
                <c:pt idx="1">
                  <c:v>16.16</c:v>
                </c:pt>
                <c:pt idx="2">
                  <c:v>20.29</c:v>
                </c:pt>
                <c:pt idx="3">
                  <c:v>26.74</c:v>
                </c:pt>
                <c:pt idx="4">
                  <c:v>25.68</c:v>
                </c:pt>
                <c:pt idx="5">
                  <c:v>25.49</c:v>
                </c:pt>
                <c:pt idx="6">
                  <c:v>22.41</c:v>
                </c:pt>
                <c:pt idx="7">
                  <c:v>30.25</c:v>
                </c:pt>
              </c:numCache>
            </c:numRef>
          </c:val>
          <c:smooth val="0"/>
          <c:extLst>
            <c:ext xmlns:c16="http://schemas.microsoft.com/office/drawing/2014/chart" uri="{C3380CC4-5D6E-409C-BE32-E72D297353CC}">
              <c16:uniqueId val="{00000000-25CB-4A6E-A511-F6D962698607}"/>
            </c:ext>
          </c:extLst>
        </c:ser>
        <c:dLbls>
          <c:showLegendKey val="0"/>
          <c:showVal val="0"/>
          <c:showCatName val="0"/>
          <c:showSerName val="0"/>
          <c:showPercent val="0"/>
          <c:showBubbleSize val="0"/>
        </c:dLbls>
        <c:marker val="1"/>
        <c:smooth val="0"/>
        <c:axId val="50650001"/>
        <c:axId val="50650002"/>
      </c:line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6000"/>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4000"/>
      </c:valAx>
      <c:catAx>
        <c:axId val="50650001"/>
        <c:scaling>
          <c:orientation val="minMax"/>
        </c:scaling>
        <c:delete val="1"/>
        <c:axPos val="b"/>
        <c:numFmt formatCode="General" sourceLinked="1"/>
        <c:majorTickMark val="none"/>
        <c:minorTickMark val="none"/>
        <c:tickLblPos val="nextTo"/>
        <c:crossAx val="50650002"/>
        <c:crosses val="autoZero"/>
        <c:auto val="1"/>
        <c:lblAlgn val="ctr"/>
        <c:lblOffset val="100"/>
        <c:noMultiLvlLbl val="0"/>
      </c:catAx>
      <c:valAx>
        <c:axId val="50650002"/>
        <c:scaling>
          <c:orientation val="minMax"/>
          <c:max val="32"/>
          <c:min val="0"/>
        </c:scaling>
        <c:delete val="0"/>
        <c:axPos val="r"/>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50650001"/>
        <c:crosses val="max"/>
        <c:crossBetween val="between"/>
        <c:majorUnit val="8"/>
      </c:valAx>
      <c:dTable>
        <c:showHorzBorder val="1"/>
        <c:showVertBorder val="0"/>
        <c:showOutline val="0"/>
        <c:showKeys val="1"/>
        <c:spPr>
          <a:noFill/>
          <a:ln w="9525">
            <a:solidFill>
              <a:srgbClr val="D4D4D4"/>
            </a:solidFill>
          </a:ln>
        </c:spPr>
        <c:txPr>
          <a:bodyPr/>
          <a:lstStyle/>
          <a:p>
            <a:pPr rtl="0">
              <a:defRPr sz="800">
                <a:solidFill>
                  <a:srgbClr val="666666"/>
                </a:solidFill>
              </a:defRPr>
            </a:pPr>
            <a:endParaRPr lang="en-US"/>
          </a:p>
        </c:txPr>
      </c:dTable>
    </c:plotArea>
    <c:plotVisOnly val="1"/>
    <c:dispBlanksAs val="gap"/>
    <c:showDLblsOverMax val="1"/>
  </c:chart>
  <c:txPr>
    <a:bodyPr/>
    <a:lstStyle/>
    <a:p>
      <a:pPr>
        <a:defRPr sz="1000">
          <a:latin typeface="La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Petrol</c:v>
                </c:pt>
              </c:strCache>
            </c:strRef>
          </c:tx>
          <c:spPr>
            <a:ln w="28575">
              <a:solidFill>
                <a:srgbClr val="0A2373"/>
              </a:solidFill>
            </a:ln>
          </c:spPr>
          <c:marker>
            <c:symbol val="none"/>
          </c:marker>
          <c:dLbls>
            <c:dLbl>
              <c:idx val="0"/>
              <c:tx>
                <c:rich>
                  <a:bodyPr/>
                  <a:lstStyle/>
                  <a:p>
                    <a:r>
                      <a:rPr lang="en-US" sz="900" b="1">
                        <a:solidFill>
                          <a:srgbClr val="0A2373"/>
                        </a:solidFill>
                      </a:rPr>
                      <a:t>13.6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855-43FE-A160-7175CDA4C965}"/>
                </c:ext>
              </c:extLst>
            </c:dLbl>
            <c:dLbl>
              <c:idx val="10"/>
              <c:tx>
                <c:rich>
                  <a:bodyPr/>
                  <a:lstStyle/>
                  <a:p>
                    <a:r>
                      <a:rPr lang="en-US" sz="900" b="1">
                        <a:solidFill>
                          <a:srgbClr val="0A2373"/>
                        </a:solidFill>
                      </a:rPr>
                      <a:t>11.5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855-43FE-A160-7175CDA4C965}"/>
                </c:ext>
              </c:extLst>
            </c:dLbl>
            <c:dLbl>
              <c:idx val="20"/>
              <c:tx>
                <c:rich>
                  <a:bodyPr/>
                  <a:lstStyle/>
                  <a:p>
                    <a:r>
                      <a:rPr lang="en-US" sz="900" b="1">
                        <a:solidFill>
                          <a:srgbClr val="0A2373"/>
                        </a:solidFill>
                      </a:rPr>
                      <a:t>11.2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855-43FE-A160-7175CDA4C9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Sheet1!$A$2:$A$22</c:f>
              <c:strCache>
                <c:ptCount val="21"/>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strCache>
            </c:strRef>
          </c:cat>
          <c:val>
            <c:numRef>
              <c:f>Sheet1!$B$2:$B$22</c:f>
              <c:numCache>
                <c:formatCode>0.0</c:formatCode>
                <c:ptCount val="21"/>
                <c:pt idx="0">
                  <c:v>13.605</c:v>
                </c:pt>
                <c:pt idx="1">
                  <c:v>13.467000000000001</c:v>
                </c:pt>
                <c:pt idx="2">
                  <c:v>13.532999999999999</c:v>
                </c:pt>
                <c:pt idx="3">
                  <c:v>13.224</c:v>
                </c:pt>
                <c:pt idx="4">
                  <c:v>12.919</c:v>
                </c:pt>
                <c:pt idx="5">
                  <c:v>12.632</c:v>
                </c:pt>
                <c:pt idx="6">
                  <c:v>12.351000000000001</c:v>
                </c:pt>
                <c:pt idx="7">
                  <c:v>11.952</c:v>
                </c:pt>
                <c:pt idx="8">
                  <c:v>11.9</c:v>
                </c:pt>
                <c:pt idx="9">
                  <c:v>11.689</c:v>
                </c:pt>
                <c:pt idx="10">
                  <c:v>11.548999999999999</c:v>
                </c:pt>
                <c:pt idx="11">
                  <c:v>11.486000000000001</c:v>
                </c:pt>
                <c:pt idx="12">
                  <c:v>11.375</c:v>
                </c:pt>
                <c:pt idx="13">
                  <c:v>11.334</c:v>
                </c:pt>
                <c:pt idx="14">
                  <c:v>11.423</c:v>
                </c:pt>
                <c:pt idx="15">
                  <c:v>11.468</c:v>
                </c:pt>
                <c:pt idx="16">
                  <c:v>11.401</c:v>
                </c:pt>
                <c:pt idx="17">
                  <c:v>11.459</c:v>
                </c:pt>
                <c:pt idx="18">
                  <c:v>11.378</c:v>
                </c:pt>
                <c:pt idx="19">
                  <c:v>11.234</c:v>
                </c:pt>
                <c:pt idx="20">
                  <c:v>11.199</c:v>
                </c:pt>
              </c:numCache>
            </c:numRef>
          </c:val>
          <c:smooth val="0"/>
          <c:extLst>
            <c:ext xmlns:c16="http://schemas.microsoft.com/office/drawing/2014/chart" uri="{C3380CC4-5D6E-409C-BE32-E72D297353CC}">
              <c16:uniqueId val="{00000003-B855-43FE-A160-7175CDA4C965}"/>
            </c:ext>
          </c:extLst>
        </c:ser>
        <c:ser>
          <c:idx val="1"/>
          <c:order val="1"/>
          <c:tx>
            <c:strRef>
              <c:f>Sheet1!$C$1</c:f>
              <c:strCache>
                <c:ptCount val="1"/>
                <c:pt idx="0">
                  <c:v>Diesel</c:v>
                </c:pt>
              </c:strCache>
            </c:strRef>
          </c:tx>
          <c:spPr>
            <a:ln w="28575">
              <a:solidFill>
                <a:srgbClr val="6782B4"/>
              </a:solidFill>
            </a:ln>
          </c:spPr>
          <c:marker>
            <c:symbol val="none"/>
          </c:marker>
          <c:dLbls>
            <c:dLbl>
              <c:idx val="0"/>
              <c:tx>
                <c:rich>
                  <a:bodyPr/>
                  <a:lstStyle/>
                  <a:p>
                    <a:r>
                      <a:rPr lang="en-US" sz="900" b="1">
                        <a:solidFill>
                          <a:srgbClr val="6782B4"/>
                        </a:solidFill>
                      </a:rPr>
                      <a:t>12.5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855-43FE-A160-7175CDA4C965}"/>
                </c:ext>
              </c:extLst>
            </c:dLbl>
            <c:dLbl>
              <c:idx val="10"/>
              <c:tx>
                <c:rich>
                  <a:bodyPr/>
                  <a:lstStyle/>
                  <a:p>
                    <a:r>
                      <a:rPr lang="en-US" sz="900" b="1">
                        <a:solidFill>
                          <a:srgbClr val="6782B4"/>
                        </a:solidFill>
                      </a:rPr>
                      <a:t>10.3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855-43FE-A160-7175CDA4C965}"/>
                </c:ext>
              </c:extLst>
            </c:dLbl>
            <c:dLbl>
              <c:idx val="20"/>
              <c:tx>
                <c:rich>
                  <a:bodyPr/>
                  <a:lstStyle/>
                  <a:p>
                    <a:r>
                      <a:rPr lang="en-US" sz="900" b="1">
                        <a:solidFill>
                          <a:srgbClr val="6782B4"/>
                        </a:solidFill>
                      </a:rPr>
                      <a:t>10.3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855-43FE-A160-7175CDA4C9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Sheet1!$A$2:$A$22</c:f>
              <c:strCache>
                <c:ptCount val="21"/>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strCache>
            </c:strRef>
          </c:cat>
          <c:val>
            <c:numRef>
              <c:f>Sheet1!$C$2:$C$22</c:f>
              <c:numCache>
                <c:formatCode>0.0</c:formatCode>
                <c:ptCount val="21"/>
                <c:pt idx="0">
                  <c:v>12.478</c:v>
                </c:pt>
                <c:pt idx="1">
                  <c:v>12.037000000000001</c:v>
                </c:pt>
                <c:pt idx="2">
                  <c:v>12.037000000000001</c:v>
                </c:pt>
                <c:pt idx="3">
                  <c:v>11.368</c:v>
                </c:pt>
                <c:pt idx="4">
                  <c:v>11.246</c:v>
                </c:pt>
                <c:pt idx="5">
                  <c:v>11.148</c:v>
                </c:pt>
                <c:pt idx="6">
                  <c:v>11.035</c:v>
                </c:pt>
                <c:pt idx="7">
                  <c:v>11.116</c:v>
                </c:pt>
                <c:pt idx="8">
                  <c:v>10.824</c:v>
                </c:pt>
                <c:pt idx="9">
                  <c:v>10.342000000000001</c:v>
                </c:pt>
                <c:pt idx="10">
                  <c:v>10.337</c:v>
                </c:pt>
                <c:pt idx="11">
                  <c:v>10.151999999999999</c:v>
                </c:pt>
                <c:pt idx="12">
                  <c:v>10.209</c:v>
                </c:pt>
                <c:pt idx="13">
                  <c:v>10.295</c:v>
                </c:pt>
                <c:pt idx="14">
                  <c:v>9.9640000000000004</c:v>
                </c:pt>
                <c:pt idx="15">
                  <c:v>10.039999999999999</c:v>
                </c:pt>
                <c:pt idx="16">
                  <c:v>10.189</c:v>
                </c:pt>
                <c:pt idx="17">
                  <c:v>10.122999999999999</c:v>
                </c:pt>
                <c:pt idx="18">
                  <c:v>10.401</c:v>
                </c:pt>
                <c:pt idx="19">
                  <c:v>10.323</c:v>
                </c:pt>
                <c:pt idx="20">
                  <c:v>10.342000000000001</c:v>
                </c:pt>
              </c:numCache>
            </c:numRef>
          </c:val>
          <c:smooth val="0"/>
          <c:extLst>
            <c:ext xmlns:c16="http://schemas.microsoft.com/office/drawing/2014/chart" uri="{C3380CC4-5D6E-409C-BE32-E72D297353CC}">
              <c16:uniqueId val="{00000007-B855-43FE-A160-7175CDA4C965}"/>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D4D4D4"/>
            </a:solidFill>
          </a:ln>
        </c:spPr>
        <c:txPr>
          <a:bodyPr/>
          <a:lstStyle/>
          <a:p>
            <a:pPr>
              <a:defRPr sz="850">
                <a:solidFill>
                  <a:srgbClr val="666666"/>
                </a:solidFill>
              </a:defRPr>
            </a:pPr>
            <a:endParaRPr lang="en-US"/>
          </a:p>
        </c:txPr>
        <c:crossAx val="2140495176"/>
        <c:crosses val="autoZero"/>
        <c:auto val="1"/>
        <c:lblAlgn val="ctr"/>
        <c:lblOffset val="100"/>
        <c:tickLblSkip val="2"/>
        <c:tickMarkSkip val="2"/>
        <c:noMultiLvlLbl val="0"/>
      </c:catAx>
      <c:valAx>
        <c:axId val="2140495176"/>
        <c:scaling>
          <c:orientation val="minMax"/>
          <c:max val="16"/>
          <c:min val="8"/>
        </c:scaling>
        <c:delete val="0"/>
        <c:axPos val="l"/>
        <c:numFmt formatCode="0" sourceLinked="0"/>
        <c:majorTickMark val="none"/>
        <c:minorTickMark val="none"/>
        <c:tickLblPos val="nextTo"/>
        <c:spPr>
          <a:ln>
            <a:solidFill>
              <a:srgbClr val="D4D4D4"/>
            </a:solidFill>
          </a:ln>
        </c:spPr>
        <c:txPr>
          <a:bodyPr/>
          <a:lstStyle/>
          <a:p>
            <a:pPr>
              <a:defRPr sz="850">
                <a:solidFill>
                  <a:srgbClr val="666666"/>
                </a:solidFill>
              </a:defRPr>
            </a:pPr>
            <a:endParaRPr lang="en-US"/>
          </a:p>
        </c:txPr>
        <c:crossAx val="2118791784"/>
        <c:crosses val="autoZero"/>
        <c:crossBetween val="between"/>
        <c:majorUnit val="2"/>
      </c:valAx>
    </c:plotArea>
    <c:legend>
      <c:legendPos val="b"/>
      <c:overlay val="0"/>
      <c:txPr>
        <a:bodyPr/>
        <a:lstStyle/>
        <a:p>
          <a:pPr>
            <a:defRPr sz="900"/>
          </a:pPr>
          <a:endParaRPr lang="en-US"/>
        </a:p>
      </c:txPr>
    </c:legend>
    <c:plotVisOnly val="1"/>
    <c:dispBlanksAs val="gap"/>
    <c:showDLblsOverMax val="0"/>
  </c:chart>
  <c:txPr>
    <a:bodyPr/>
    <a:lstStyle/>
    <a:p>
      <a:pPr>
        <a:defRPr sz="900">
          <a:latin typeface="La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Secunda</c:v>
                </c:pt>
              </c:strCache>
            </c:strRef>
          </c:tx>
          <c:spPr>
            <a:solidFill>
              <a:srgbClr val="0A2373"/>
            </a:solidFill>
          </c:spPr>
          <c:invertIfNegative val="0"/>
          <c:dPt>
            <c:idx val="4"/>
            <c:invertIfNegative val="1"/>
            <c:bubble3D val="0"/>
            <c:spPr>
              <a:pattFill prst="wdUpDiag">
                <a:fgClr>
                  <a:srgbClr val="0A2373"/>
                </a:fgClr>
                <a:bgClr>
                  <a:srgbClr val="FFFFFF"/>
                </a:bgClr>
              </a:pattFill>
              <a:ln>
                <a:solidFill>
                  <a:srgbClr val="0A2373"/>
                </a:solidFill>
              </a:ln>
            </c:spPr>
            <c:extLst>
              <c:ext xmlns:c16="http://schemas.microsoft.com/office/drawing/2014/chart" uri="{C3380CC4-5D6E-409C-BE32-E72D297353CC}">
                <c16:uniqueId val="{00000001-6DEE-4911-BBE2-F2FE7435CBB1}"/>
              </c:ext>
            </c:extLst>
          </c:dPt>
          <c:dLbls>
            <c:dLbl>
              <c:idx val="0"/>
              <c:tx>
                <c:rich>
                  <a:bodyPr/>
                  <a:lstStyle/>
                  <a:p>
                    <a:r>
                      <a:rPr lang="en-US"/>
                      <a:t>4.2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8C9-43D9-9489-79534C34C07D}"/>
                </c:ext>
              </c:extLst>
            </c:dLbl>
            <c:dLbl>
              <c:idx val="1"/>
              <c:tx>
                <c:rich>
                  <a:bodyPr/>
                  <a:lstStyle/>
                  <a:p>
                    <a:r>
                      <a:rPr lang="en-US"/>
                      <a:t>4.3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8C9-43D9-9489-79534C34C07D}"/>
                </c:ext>
              </c:extLst>
            </c:dLbl>
            <c:dLbl>
              <c:idx val="2"/>
              <c:tx>
                <c:rich>
                  <a:bodyPr/>
                  <a:lstStyle/>
                  <a:p>
                    <a:r>
                      <a:rPr lang="en-US"/>
                      <a:t>4.2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8C9-43D9-9489-79534C34C07D}"/>
                </c:ext>
              </c:extLst>
            </c:dLbl>
            <c:dLbl>
              <c:idx val="3"/>
              <c:tx>
                <c:rich>
                  <a:bodyPr/>
                  <a:lstStyle/>
                  <a:p>
                    <a:r>
                      <a:rPr lang="en-US"/>
                      <a:t>3.9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8C9-43D9-9489-79534C34C07D}"/>
                </c:ext>
              </c:extLst>
            </c:dLbl>
            <c:dLbl>
              <c:idx val="4"/>
              <c:tx>
                <c:rich>
                  <a:bodyPr/>
                  <a:lstStyle/>
                  <a:p>
                    <a:r>
                      <a:rPr lang="en-US" sz="1000" b="0">
                        <a:solidFill>
                          <a:srgbClr val="0A2373"/>
                        </a:solidFill>
                      </a:rPr>
                      <a:t>4.4</a:t>
                    </a:r>
                  </a:p>
                </c:rich>
              </c:tx>
              <c:spPr>
                <a:solidFill>
                  <a:srgbClr val="FFFFFF"/>
                </a:solidFill>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DEE-4911-BBE2-F2FE7435CBB1}"/>
                </c:ext>
              </c:extLst>
            </c:dLbl>
            <c:numFmt formatCode="0.0;;" sourceLinked="0"/>
            <c:spPr>
              <a:noFill/>
              <a:ln>
                <a:noFill/>
              </a:ln>
              <a:effectLst/>
            </c:spPr>
            <c:txPr>
              <a:bodyPr/>
              <a:lstStyle/>
              <a:p>
                <a:pPr>
                  <a:defRPr sz="9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2022E</c:v>
                </c:pt>
                <c:pt idx="1">
                  <c:v>2023E</c:v>
                </c:pt>
                <c:pt idx="2">
                  <c:v>2024E</c:v>
                </c:pt>
                <c:pt idx="3">
                  <c:v>2025E</c:v>
                </c:pt>
                <c:pt idx="4">
                  <c:v>2026*</c:v>
                </c:pt>
              </c:strCache>
            </c:strRef>
          </c:cat>
          <c:val>
            <c:numRef>
              <c:f>Sheet1!$B$2:$B$6</c:f>
              <c:numCache>
                <c:formatCode>0.0</c:formatCode>
                <c:ptCount val="5"/>
                <c:pt idx="0">
                  <c:v>4.1781861107078404</c:v>
                </c:pt>
                <c:pt idx="1">
                  <c:v>4.2783481065124809</c:v>
                </c:pt>
                <c:pt idx="2">
                  <c:v>4.163877254164321</c:v>
                </c:pt>
                <c:pt idx="3">
                  <c:v>3.949244406011521</c:v>
                </c:pt>
                <c:pt idx="4">
                  <c:v>4.43</c:v>
                </c:pt>
              </c:numCache>
            </c:numRef>
          </c:val>
          <c:extLst>
            <c:ext xmlns:c16="http://schemas.microsoft.com/office/drawing/2014/chart" uri="{C3380CC4-5D6E-409C-BE32-E72D297353CC}">
              <c16:uniqueId val="{00000000-5E42-42A0-B4ED-778D6C88A243}"/>
            </c:ext>
          </c:extLst>
        </c:ser>
        <c:ser>
          <c:idx val="1"/>
          <c:order val="1"/>
          <c:tx>
            <c:strRef>
              <c:f>Sheet1!$C$1</c:f>
              <c:strCache>
                <c:ptCount val="1"/>
                <c:pt idx="0">
                  <c:v>Natref</c:v>
                </c:pt>
              </c:strCache>
            </c:strRef>
          </c:tx>
          <c:spPr>
            <a:solidFill>
              <a:srgbClr val="6782B4"/>
            </a:solidFill>
          </c:spPr>
          <c:invertIfNegative val="0"/>
          <c:dPt>
            <c:idx val="4"/>
            <c:invertIfNegative val="1"/>
            <c:bubble3D val="0"/>
            <c:spPr>
              <a:pattFill prst="wdUpDiag">
                <a:fgClr>
                  <a:srgbClr val="6782B4"/>
                </a:fgClr>
                <a:bgClr>
                  <a:srgbClr val="FFFFFF"/>
                </a:bgClr>
              </a:pattFill>
              <a:ln>
                <a:solidFill>
                  <a:srgbClr val="6782B4"/>
                </a:solidFill>
              </a:ln>
            </c:spPr>
            <c:extLst>
              <c:ext xmlns:c16="http://schemas.microsoft.com/office/drawing/2014/chart" uri="{C3380CC4-5D6E-409C-BE32-E72D297353CC}">
                <c16:uniqueId val="{00000003-6DEE-4911-BBE2-F2FE7435CBB1}"/>
              </c:ext>
            </c:extLst>
          </c:dPt>
          <c:dLbls>
            <c:dLbl>
              <c:idx val="0"/>
              <c:tx>
                <c:rich>
                  <a:bodyPr/>
                  <a:lstStyle/>
                  <a:p>
                    <a:r>
                      <a:rPr lang="en-US"/>
                      <a:t>3.0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08C9-43D9-9489-79534C34C07D}"/>
                </c:ext>
              </c:extLst>
            </c:dLbl>
            <c:dLbl>
              <c:idx val="1"/>
              <c:tx>
                <c:rich>
                  <a:bodyPr/>
                  <a:lstStyle/>
                  <a:p>
                    <a:r>
                      <a:rPr lang="en-US"/>
                      <a:t>2.8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08C9-43D9-9489-79534C34C07D}"/>
                </c:ext>
              </c:extLst>
            </c:dLbl>
            <c:dLbl>
              <c:idx val="2"/>
              <c:tx>
                <c:rich>
                  <a:bodyPr/>
                  <a:lstStyle/>
                  <a:p>
                    <a:r>
                      <a:rPr lang="en-US"/>
                      <a:t>2.9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08C9-43D9-9489-79534C34C07D}"/>
                </c:ext>
              </c:extLst>
            </c:dLbl>
            <c:dLbl>
              <c:idx val="3"/>
              <c:tx>
                <c:rich>
                  <a:bodyPr/>
                  <a:lstStyle/>
                  <a:p>
                    <a:r>
                      <a:rPr lang="en-US"/>
                      <a:t>2.4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08C9-43D9-9489-79534C34C07D}"/>
                </c:ext>
              </c:extLst>
            </c:dLbl>
            <c:dLbl>
              <c:idx val="4"/>
              <c:tx>
                <c:rich>
                  <a:bodyPr/>
                  <a:lstStyle/>
                  <a:p>
                    <a:r>
                      <a:rPr lang="en-US" sz="1000" b="0">
                        <a:solidFill>
                          <a:srgbClr val="0A2373"/>
                        </a:solidFill>
                      </a:rPr>
                      <a:t>2.9</a:t>
                    </a:r>
                  </a:p>
                </c:rich>
              </c:tx>
              <c:spPr>
                <a:solidFill>
                  <a:srgbClr val="FFFFFF"/>
                </a:solidFill>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DEE-4911-BBE2-F2FE7435CBB1}"/>
                </c:ext>
              </c:extLst>
            </c:dLbl>
            <c:numFmt formatCode="0.0;;" sourceLinked="0"/>
            <c:spPr>
              <a:noFill/>
              <a:ln>
                <a:noFill/>
              </a:ln>
              <a:effectLst/>
            </c:spPr>
            <c:txPr>
              <a:bodyPr/>
              <a:lstStyle/>
              <a:p>
                <a:pPr>
                  <a:defRPr sz="9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2022E</c:v>
                </c:pt>
                <c:pt idx="1">
                  <c:v>2023E</c:v>
                </c:pt>
                <c:pt idx="2">
                  <c:v>2024E</c:v>
                </c:pt>
                <c:pt idx="3">
                  <c:v>2025E</c:v>
                </c:pt>
                <c:pt idx="4">
                  <c:v>2026*</c:v>
                </c:pt>
              </c:strCache>
            </c:strRef>
          </c:cat>
          <c:val>
            <c:numRef>
              <c:f>Sheet1!$C$2:$C$6</c:f>
              <c:numCache>
                <c:formatCode>0.0</c:formatCode>
                <c:ptCount val="5"/>
                <c:pt idx="0">
                  <c:v>3.0454660886545946</c:v>
                </c:pt>
                <c:pt idx="1">
                  <c:v>2.771535276447568</c:v>
                </c:pt>
                <c:pt idx="2">
                  <c:v>2.8682167395794602</c:v>
                </c:pt>
                <c:pt idx="3">
                  <c:v>2.3686958467313515</c:v>
                </c:pt>
                <c:pt idx="4">
                  <c:v>2.86</c:v>
                </c:pt>
              </c:numCache>
            </c:numRef>
          </c:val>
          <c:extLst>
            <c:ext xmlns:c16="http://schemas.microsoft.com/office/drawing/2014/chart" uri="{C3380CC4-5D6E-409C-BE32-E72D297353CC}">
              <c16:uniqueId val="{00000001-5E42-42A0-B4ED-778D6C88A243}"/>
            </c:ext>
          </c:extLst>
        </c:ser>
        <c:ser>
          <c:idx val="2"/>
          <c:order val="2"/>
          <c:tx>
            <c:strRef>
              <c:f>Sheet1!$D$1</c:f>
              <c:strCache>
                <c:ptCount val="1"/>
                <c:pt idx="0">
                  <c:v>Astron</c:v>
                </c:pt>
              </c:strCache>
            </c:strRef>
          </c:tx>
          <c:spPr>
            <a:solidFill>
              <a:srgbClr val="929292"/>
            </a:solidFill>
          </c:spPr>
          <c:invertIfNegative val="0"/>
          <c:dPt>
            <c:idx val="4"/>
            <c:invertIfNegative val="1"/>
            <c:bubble3D val="0"/>
            <c:spPr>
              <a:pattFill prst="wdUpDiag">
                <a:fgClr>
                  <a:srgbClr val="929292"/>
                </a:fgClr>
                <a:bgClr>
                  <a:srgbClr val="FFFFFF"/>
                </a:bgClr>
              </a:pattFill>
              <a:ln>
                <a:solidFill>
                  <a:srgbClr val="929292"/>
                </a:solidFill>
              </a:ln>
            </c:spPr>
            <c:extLst>
              <c:ext xmlns:c16="http://schemas.microsoft.com/office/drawing/2014/chart" uri="{C3380CC4-5D6E-409C-BE32-E72D297353CC}">
                <c16:uniqueId val="{00000005-6DEE-4911-BBE2-F2FE7435CBB1}"/>
              </c:ext>
            </c:extLst>
          </c:dPt>
          <c:dLbls>
            <c:dLbl>
              <c:idx val="1"/>
              <c:tx>
                <c:rich>
                  <a:bodyPr/>
                  <a:lstStyle/>
                  <a:p>
                    <a:r>
                      <a:rPr lang="en-US"/>
                      <a:t>3.2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08C9-43D9-9489-79534C34C07D}"/>
                </c:ext>
              </c:extLst>
            </c:dLbl>
            <c:dLbl>
              <c:idx val="2"/>
              <c:tx>
                <c:rich>
                  <a:bodyPr/>
                  <a:lstStyle/>
                  <a:p>
                    <a:r>
                      <a:rPr lang="en-US"/>
                      <a:t>4.0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08C9-43D9-9489-79534C34C07D}"/>
                </c:ext>
              </c:extLst>
            </c:dLbl>
            <c:dLbl>
              <c:idx val="3"/>
              <c:tx>
                <c:rich>
                  <a:bodyPr/>
                  <a:lstStyle/>
                  <a:p>
                    <a:r>
                      <a:rPr lang="en-US"/>
                      <a:t>3.9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08C9-43D9-9489-79534C34C07D}"/>
                </c:ext>
              </c:extLst>
            </c:dLbl>
            <c:dLbl>
              <c:idx val="4"/>
              <c:tx>
                <c:rich>
                  <a:bodyPr/>
                  <a:lstStyle/>
                  <a:p>
                    <a:r>
                      <a:rPr lang="en-US" sz="1000" b="0">
                        <a:solidFill>
                          <a:srgbClr val="0A2373"/>
                        </a:solidFill>
                      </a:rPr>
                      <a:t>3.9</a:t>
                    </a:r>
                  </a:p>
                </c:rich>
              </c:tx>
              <c:spPr>
                <a:solidFill>
                  <a:srgbClr val="FFFFFF"/>
                </a:solidFill>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DEE-4911-BBE2-F2FE7435CBB1}"/>
                </c:ext>
              </c:extLst>
            </c:dLbl>
            <c:numFmt formatCode="0.0;;" sourceLinked="0"/>
            <c:spPr>
              <a:noFill/>
              <a:ln>
                <a:noFill/>
              </a:ln>
              <a:effectLst/>
            </c:spPr>
            <c:txPr>
              <a:bodyPr/>
              <a:lstStyle/>
              <a:p>
                <a:pPr>
                  <a:defRPr sz="9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2022E</c:v>
                </c:pt>
                <c:pt idx="1">
                  <c:v>2023E</c:v>
                </c:pt>
                <c:pt idx="2">
                  <c:v>2024E</c:v>
                </c:pt>
                <c:pt idx="3">
                  <c:v>2025E</c:v>
                </c:pt>
                <c:pt idx="4">
                  <c:v>2026*</c:v>
                </c:pt>
              </c:strCache>
            </c:strRef>
          </c:cat>
          <c:val>
            <c:numRef>
              <c:f>Sheet1!$D$2:$D$6</c:f>
              <c:numCache>
                <c:formatCode>0.0</c:formatCode>
                <c:ptCount val="5"/>
                <c:pt idx="0">
                  <c:v>0</c:v>
                </c:pt>
                <c:pt idx="1">
                  <c:v>3.2493342670042211</c:v>
                </c:pt>
                <c:pt idx="2">
                  <c:v>3.9516507702277068</c:v>
                </c:pt>
                <c:pt idx="3">
                  <c:v>3.9079268781044805</c:v>
                </c:pt>
                <c:pt idx="4">
                  <c:v>3.91</c:v>
                </c:pt>
              </c:numCache>
            </c:numRef>
          </c:val>
          <c:extLst>
            <c:ext xmlns:c16="http://schemas.microsoft.com/office/drawing/2014/chart" uri="{C3380CC4-5D6E-409C-BE32-E72D297353CC}">
              <c16:uniqueId val="{00000002-5E42-42A0-B4ED-778D6C88A243}"/>
            </c:ext>
          </c:extLst>
        </c:ser>
        <c:dLbls>
          <c:showLegendKey val="0"/>
          <c:showVal val="1"/>
          <c:showCatName val="0"/>
          <c:showSerName val="0"/>
          <c:showPercent val="0"/>
          <c:showBubbleSize val="0"/>
        </c:dLbls>
        <c:gapWidth val="70"/>
        <c:overlap val="100"/>
        <c:axId val="-2068027336"/>
        <c:axId val="-2113994440"/>
      </c:barChart>
      <c:lineChart>
        <c:grouping val="standard"/>
        <c:varyColors val="0"/>
        <c:ser>
          <c:idx val="3"/>
          <c:order val="3"/>
          <c:tx>
            <c:strRef>
              <c:f>Sheet1!$E$1</c:f>
              <c:strCache>
                <c:ptCount val="1"/>
                <c:pt idx="0">
                  <c:v>Total</c:v>
                </c:pt>
              </c:strCache>
            </c:strRef>
          </c:tx>
          <c:spPr>
            <a:ln>
              <a:noFill/>
            </a:ln>
          </c:spPr>
          <c:marker>
            <c:symbol val="none"/>
          </c:marker>
          <c:dLbls>
            <c:dLbl>
              <c:idx val="0"/>
              <c:tx>
                <c:rich>
                  <a:bodyPr vertOverflow="overflow" horzOverflow="overflow" wrap="none">
                    <a:spAutoFit/>
                  </a:bodyPr>
                  <a:lstStyle/>
                  <a:p>
                    <a:pPr>
                      <a:defRPr sz="800" b="1">
                        <a:solidFill>
                          <a:srgbClr val="0A2373"/>
                        </a:solidFill>
                      </a:defRPr>
                    </a:pPr>
                    <a:r>
                      <a:rPr lang="en-US"/>
                      <a:t>7.2</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12-08C9-43D9-9489-79534C34C07D}"/>
                </c:ext>
              </c:extLst>
            </c:dLbl>
            <c:dLbl>
              <c:idx val="1"/>
              <c:tx>
                <c:rich>
                  <a:bodyPr vertOverflow="overflow" horzOverflow="overflow" wrap="none">
                    <a:spAutoFit/>
                  </a:bodyPr>
                  <a:lstStyle/>
                  <a:p>
                    <a:pPr>
                      <a:defRPr sz="800" b="1">
                        <a:solidFill>
                          <a:srgbClr val="0A2373"/>
                        </a:solidFill>
                      </a:defRPr>
                    </a:pPr>
                    <a:r>
                      <a:rPr lang="en-US"/>
                      <a:t>10.3</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13-08C9-43D9-9489-79534C34C07D}"/>
                </c:ext>
              </c:extLst>
            </c:dLbl>
            <c:dLbl>
              <c:idx val="2"/>
              <c:tx>
                <c:rich>
                  <a:bodyPr vertOverflow="overflow" horzOverflow="overflow" wrap="none">
                    <a:spAutoFit/>
                  </a:bodyPr>
                  <a:lstStyle/>
                  <a:p>
                    <a:pPr>
                      <a:defRPr sz="800" b="1">
                        <a:solidFill>
                          <a:srgbClr val="0A2373"/>
                        </a:solidFill>
                      </a:defRPr>
                    </a:pPr>
                    <a:r>
                      <a:rPr lang="en-US"/>
                      <a:t>11.0</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14-08C9-43D9-9489-79534C34C07D}"/>
                </c:ext>
              </c:extLst>
            </c:dLbl>
            <c:dLbl>
              <c:idx val="3"/>
              <c:tx>
                <c:rich>
                  <a:bodyPr vertOverflow="overflow" horzOverflow="overflow" wrap="none">
                    <a:spAutoFit/>
                  </a:bodyPr>
                  <a:lstStyle/>
                  <a:p>
                    <a:pPr>
                      <a:defRPr sz="800" b="1">
                        <a:solidFill>
                          <a:srgbClr val="0A2373"/>
                        </a:solidFill>
                      </a:defRPr>
                    </a:pPr>
                    <a:r>
                      <a:rPr lang="en-US"/>
                      <a:t>10.2</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15-08C9-43D9-9489-79534C34C07D}"/>
                </c:ext>
              </c:extLst>
            </c:dLbl>
            <c:dLbl>
              <c:idx val="4"/>
              <c:tx>
                <c:rich>
                  <a:bodyPr vertOverflow="overflow" horzOverflow="overflow" wrap="none">
                    <a:spAutoFit/>
                  </a:bodyPr>
                  <a:lstStyle/>
                  <a:p>
                    <a:pPr>
                      <a:defRPr sz="800" b="1">
                        <a:solidFill>
                          <a:srgbClr val="0A2373"/>
                        </a:solidFill>
                      </a:defRPr>
                    </a:pPr>
                    <a:r>
                      <a:rPr lang="en-US"/>
                      <a:t>11.2</a:t>
                    </a:r>
                  </a:p>
                </c:rich>
              </c:tx>
              <c:numFmt formatCode="0.0" sourceLinked="0"/>
              <c:spPr>
                <a:solidFill>
                  <a:srgbClr val="FFFFFF"/>
                </a:solidFill>
                <a:ln w="9525">
                  <a:solidFill>
                    <a:srgbClr val="0A2373"/>
                  </a:solidFill>
                </a:ln>
              </c:spPr>
              <c:dLblPos val="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ellipse">
                      <a:avLst/>
                    </a:prstGeom>
                  </c15:spPr>
                  <c15:showDataLabelsRange val="0"/>
                </c:ext>
                <c:ext xmlns:c16="http://schemas.microsoft.com/office/drawing/2014/chart" uri="{C3380CC4-5D6E-409C-BE32-E72D297353CC}">
                  <c16:uniqueId val="{00000016-08C9-43D9-9489-79534C34C07D}"/>
                </c:ext>
              </c:extLst>
            </c:dLbl>
            <c:numFmt formatCode="0.0" sourceLinked="0"/>
            <c:spPr>
              <a:solidFill>
                <a:srgbClr val="FFFFFF"/>
              </a:solidFill>
              <a:ln w="9525">
                <a:solidFill>
                  <a:srgbClr val="0A2373"/>
                </a:solidFill>
              </a:ln>
            </c:spPr>
            <c:txPr>
              <a:bodyPr/>
              <a:lstStyle/>
              <a:p>
                <a:pPr>
                  <a:defRPr sz="800" b="1">
                    <a:solidFill>
                      <a:srgbClr val="0A2373"/>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ellipse">
                    <a:avLst/>
                  </a:prstGeom>
                </c15:spPr>
                <c15:showLeaderLines val="0"/>
              </c:ext>
            </c:extLst>
          </c:dLbls>
          <c:cat>
            <c:strRef>
              <c:f>Sheet1!$A$2:$A$6</c:f>
              <c:strCache>
                <c:ptCount val="5"/>
                <c:pt idx="0">
                  <c:v>2022E</c:v>
                </c:pt>
                <c:pt idx="1">
                  <c:v>2023E</c:v>
                </c:pt>
                <c:pt idx="2">
                  <c:v>2024E</c:v>
                </c:pt>
                <c:pt idx="3">
                  <c:v>2025E</c:v>
                </c:pt>
                <c:pt idx="4">
                  <c:v>2026*</c:v>
                </c:pt>
              </c:strCache>
            </c:strRef>
          </c:cat>
          <c:val>
            <c:numRef>
              <c:f>Sheet1!$E$2:$E$6</c:f>
              <c:numCache>
                <c:formatCode>0.0</c:formatCode>
                <c:ptCount val="5"/>
                <c:pt idx="0">
                  <c:v>7.2236521993624354</c:v>
                </c:pt>
                <c:pt idx="1">
                  <c:v>10.29921764996427</c:v>
                </c:pt>
                <c:pt idx="2">
                  <c:v>10.983744763971488</c:v>
                </c:pt>
                <c:pt idx="3">
                  <c:v>10.225867130847353</c:v>
                </c:pt>
                <c:pt idx="4">
                  <c:v>11.2</c:v>
                </c:pt>
              </c:numCache>
            </c:numRef>
          </c:val>
          <c:smooth val="1"/>
          <c:extLst>
            <c:ext xmlns:c16="http://schemas.microsoft.com/office/drawing/2014/chart" uri="{C3380CC4-5D6E-409C-BE32-E72D297353CC}">
              <c16:uniqueId val="{00000006-08C9-43D9-9489-79534C34C07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2"/>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legendEntry>
        <c:idx val="3"/>
        <c:delete val="1"/>
      </c:legendEntry>
      <c:overlay val="0"/>
    </c:legend>
    <c:plotVisOnly val="1"/>
    <c:dispBlanksAs val="gap"/>
    <c:showDLblsOverMax val="1"/>
  </c:chart>
  <c:txPr>
    <a:bodyPr/>
    <a:lstStyle/>
    <a:p>
      <a:pPr>
        <a:defRPr sz="1000">
          <a:latin typeface="Lato"/>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2.436564685</c:v>
                </c:pt>
                <c:pt idx="1">
                  <c:v>3.8826693620000001</c:v>
                </c:pt>
                <c:pt idx="2">
                  <c:v>4.1655992309999998</c:v>
                </c:pt>
                <c:pt idx="3">
                  <c:v>3.8047252239999998</c:v>
                </c:pt>
                <c:pt idx="4">
                  <c:v>4.2289797389999997</c:v>
                </c:pt>
                <c:pt idx="5">
                  <c:v>3.8049074625000001</c:v>
                </c:pt>
              </c:numCache>
            </c:numRef>
          </c:val>
          <c:extLst>
            <c:ext xmlns:c16="http://schemas.microsoft.com/office/drawing/2014/chart" uri="{C3380CC4-5D6E-409C-BE32-E72D297353CC}">
              <c16:uniqueId val="{00000000-1970-4011-85C0-00B410C6BEAE}"/>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5.8348731799999998</c:v>
                </c:pt>
                <c:pt idx="1">
                  <c:v>7.8812480063399999</c:v>
                </c:pt>
                <c:pt idx="2">
                  <c:v>9.1250365104199993</c:v>
                </c:pt>
                <c:pt idx="3">
                  <c:v>8.0328899376400003</c:v>
                </c:pt>
                <c:pt idx="4">
                  <c:v>8.9315354406399994</c:v>
                </c:pt>
                <c:pt idx="5">
                  <c:v>8.1965573910000007</c:v>
                </c:pt>
              </c:numCache>
            </c:numRef>
          </c:val>
          <c:extLst>
            <c:ext xmlns:c16="http://schemas.microsoft.com/office/drawing/2014/chart" uri="{C3380CC4-5D6E-409C-BE32-E72D297353CC}">
              <c16:uniqueId val="{00000001-1970-4011-85C0-00B410C6BEAE}"/>
            </c:ext>
          </c:extLst>
        </c:ser>
        <c:ser>
          <c:idx val="2"/>
          <c:order val="2"/>
          <c:tx>
            <c:strRef>
              <c:f>Sheet1!$D$1</c:f>
              <c:strCache>
                <c:ptCount val="1"/>
                <c:pt idx="0">
                  <c:v>Total</c:v>
                </c:pt>
              </c:strCache>
            </c:strRef>
          </c:tx>
          <c:spPr>
            <a:noFill/>
            <a:ln>
              <a:noFill/>
            </a:ln>
          </c:spPr>
          <c:invertIfNegative val="1"/>
          <c:dLbls>
            <c:dLbl>
              <c:idx val="0"/>
              <c:tx>
                <c:rich>
                  <a:bodyPr/>
                  <a:lstStyle/>
                  <a:p>
                    <a:r>
                      <a:rPr lang="en-US" sz="700" b="1">
                        <a:solidFill>
                          <a:srgbClr val="0A2373"/>
                        </a:solidFill>
                      </a:rPr>
                      <a:t>8.3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970-4011-85C0-00B410C6BEAE}"/>
                </c:ext>
              </c:extLst>
            </c:dLbl>
            <c:dLbl>
              <c:idx val="1"/>
              <c:tx>
                <c:rich>
                  <a:bodyPr/>
                  <a:lstStyle/>
                  <a:p>
                    <a:r>
                      <a:rPr lang="en-US" sz="700" b="1">
                        <a:solidFill>
                          <a:srgbClr val="0A2373"/>
                        </a:solidFill>
                      </a:rPr>
                      <a:t>11.8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970-4011-85C0-00B410C6BEAE}"/>
                </c:ext>
              </c:extLst>
            </c:dLbl>
            <c:dLbl>
              <c:idx val="2"/>
              <c:tx>
                <c:rich>
                  <a:bodyPr/>
                  <a:lstStyle/>
                  <a:p>
                    <a:r>
                      <a:rPr lang="en-US" sz="700" b="1">
                        <a:solidFill>
                          <a:srgbClr val="0A2373"/>
                        </a:solidFill>
                      </a:rPr>
                      <a:t>13.3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970-4011-85C0-00B410C6BEAE}"/>
                </c:ext>
              </c:extLst>
            </c:dLbl>
            <c:dLbl>
              <c:idx val="3"/>
              <c:tx>
                <c:rich>
                  <a:bodyPr/>
                  <a:lstStyle/>
                  <a:p>
                    <a:r>
                      <a:rPr lang="en-US" sz="700" b="1">
                        <a:solidFill>
                          <a:srgbClr val="0A2373"/>
                        </a:solidFill>
                      </a:rPr>
                      <a:t>11.8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970-4011-85C0-00B410C6BEAE}"/>
                </c:ext>
              </c:extLst>
            </c:dLbl>
            <c:dLbl>
              <c:idx val="4"/>
              <c:tx>
                <c:rich>
                  <a:bodyPr/>
                  <a:lstStyle/>
                  <a:p>
                    <a:r>
                      <a:rPr lang="en-US" sz="700" b="1">
                        <a:solidFill>
                          <a:srgbClr val="0A2373"/>
                        </a:solidFill>
                      </a:rPr>
                      <a:t>13.2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970-4011-85C0-00B410C6BEAE}"/>
                </c:ext>
              </c:extLst>
            </c:dLbl>
            <c:dLbl>
              <c:idx val="5"/>
              <c:tx>
                <c:rich>
                  <a:bodyPr/>
                  <a:lstStyle/>
                  <a:p>
                    <a:r>
                      <a:rPr lang="en-US" sz="700" b="1">
                        <a:solidFill>
                          <a:srgbClr val="0A2373"/>
                        </a:solidFill>
                      </a:rPr>
                      <a:t>12.0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970-4011-85C0-00B410C6BEA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1970-4011-85C0-00B410C6BEAE}"/>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50">
                <a:solidFill>
                  <a:srgbClr val="666666"/>
                </a:solidFill>
              </a:defRPr>
            </a:pPr>
            <a:endParaRPr lang="en-US"/>
          </a:p>
        </c:txPr>
        <c:crossAx val="-2113994440"/>
        <c:crosses val="autoZero"/>
        <c:auto val="1"/>
        <c:lblAlgn val="ctr"/>
        <c:lblOffset val="100"/>
        <c:noMultiLvlLbl val="0"/>
      </c:catAx>
      <c:valAx>
        <c:axId val="-2113994440"/>
        <c:scaling>
          <c:orientation val="minMax"/>
          <c:max val="17.277826463846001"/>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0-24B2-4E33-99AB-1EB55B8F92A8}"/>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0.23403681500000001</c:v>
                </c:pt>
                <c:pt idx="1">
                  <c:v>0.33131978899999998</c:v>
                </c:pt>
                <c:pt idx="2">
                  <c:v>0.32076670200000001</c:v>
                </c:pt>
                <c:pt idx="3">
                  <c:v>0.39078247700000002</c:v>
                </c:pt>
                <c:pt idx="4">
                  <c:v>0.65791460000000002</c:v>
                </c:pt>
                <c:pt idx="5">
                  <c:v>0.80340755850000001</c:v>
                </c:pt>
              </c:numCache>
            </c:numRef>
          </c:val>
          <c:extLst>
            <c:ext xmlns:c16="http://schemas.microsoft.com/office/drawing/2014/chart" uri="{C3380CC4-5D6E-409C-BE32-E72D297353CC}">
              <c16:uniqueId val="{00000001-24B2-4E33-99AB-1EB55B8F92A8}"/>
            </c:ext>
          </c:extLst>
        </c:ser>
        <c:ser>
          <c:idx val="2"/>
          <c:order val="2"/>
          <c:tx>
            <c:strRef>
              <c:f>Sheet1!$D$1</c:f>
              <c:strCache>
                <c:ptCount val="1"/>
                <c:pt idx="0">
                  <c:v>Total</c:v>
                </c:pt>
              </c:strCache>
            </c:strRef>
          </c:tx>
          <c:spPr>
            <a:noFill/>
            <a:ln>
              <a:noFill/>
            </a:ln>
          </c:spPr>
          <c:invertIfNegative val="1"/>
          <c:dLbls>
            <c:dLbl>
              <c:idx val="0"/>
              <c:tx>
                <c:rich>
                  <a:bodyPr/>
                  <a:lstStyle/>
                  <a:p>
                    <a:r>
                      <a:rPr lang="en-US" sz="700" b="1">
                        <a:solidFill>
                          <a:srgbClr val="0A2373"/>
                        </a:solidFill>
                      </a:rPr>
                      <a:t>0.23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4B2-4E33-99AB-1EB55B8F92A8}"/>
                </c:ext>
              </c:extLst>
            </c:dLbl>
            <c:dLbl>
              <c:idx val="1"/>
              <c:tx>
                <c:rich>
                  <a:bodyPr/>
                  <a:lstStyle/>
                  <a:p>
                    <a:r>
                      <a:rPr lang="en-US" sz="700" b="1">
                        <a:solidFill>
                          <a:srgbClr val="0A2373"/>
                        </a:solidFill>
                      </a:rPr>
                      <a:t>0.33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4B2-4E33-99AB-1EB55B8F92A8}"/>
                </c:ext>
              </c:extLst>
            </c:dLbl>
            <c:dLbl>
              <c:idx val="2"/>
              <c:tx>
                <c:rich>
                  <a:bodyPr/>
                  <a:lstStyle/>
                  <a:p>
                    <a:r>
                      <a:rPr lang="en-US" sz="700" b="1">
                        <a:solidFill>
                          <a:srgbClr val="0A2373"/>
                        </a:solidFill>
                      </a:rPr>
                      <a:t>0.32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4B2-4E33-99AB-1EB55B8F92A8}"/>
                </c:ext>
              </c:extLst>
            </c:dLbl>
            <c:dLbl>
              <c:idx val="3"/>
              <c:tx>
                <c:rich>
                  <a:bodyPr/>
                  <a:lstStyle/>
                  <a:p>
                    <a:r>
                      <a:rPr lang="en-US" sz="700" b="1">
                        <a:solidFill>
                          <a:srgbClr val="0A2373"/>
                        </a:solidFill>
                      </a:rPr>
                      <a:t>0.39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4B2-4E33-99AB-1EB55B8F92A8}"/>
                </c:ext>
              </c:extLst>
            </c:dLbl>
            <c:dLbl>
              <c:idx val="4"/>
              <c:tx>
                <c:rich>
                  <a:bodyPr/>
                  <a:lstStyle/>
                  <a:p>
                    <a:r>
                      <a:rPr lang="en-US" sz="700" b="1">
                        <a:solidFill>
                          <a:srgbClr val="0A2373"/>
                        </a:solidFill>
                      </a:rPr>
                      <a:t>0.66</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4B2-4E33-99AB-1EB55B8F92A8}"/>
                </c:ext>
              </c:extLst>
            </c:dLbl>
            <c:dLbl>
              <c:idx val="5"/>
              <c:tx>
                <c:rich>
                  <a:bodyPr/>
                  <a:lstStyle/>
                  <a:p>
                    <a:r>
                      <a:rPr lang="en-US" sz="700" b="1">
                        <a:solidFill>
                          <a:srgbClr val="0A2373"/>
                        </a:solidFill>
                      </a:rPr>
                      <a:t>0.80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4B2-4E33-99AB-1EB55B8F92A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24B2-4E33-99AB-1EB55B8F92A8}"/>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50">
                <a:solidFill>
                  <a:srgbClr val="666666"/>
                </a:solidFill>
              </a:defRPr>
            </a:pPr>
            <a:endParaRPr lang="en-US"/>
          </a:p>
        </c:txPr>
        <c:crossAx val="-2113994440"/>
        <c:crosses val="autoZero"/>
        <c:auto val="1"/>
        <c:lblAlgn val="ctr"/>
        <c:lblOffset val="100"/>
        <c:noMultiLvlLbl val="0"/>
      </c:catAx>
      <c:valAx>
        <c:axId val="-2113994440"/>
        <c:scaling>
          <c:orientation val="minMax"/>
          <c:max val="1.04442982605"/>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3.9454366999999997E-2</c:v>
                </c:pt>
                <c:pt idx="1">
                  <c:v>2.8805740999999999E-2</c:v>
                </c:pt>
                <c:pt idx="2">
                  <c:v>1.2542200000000001E-4</c:v>
                </c:pt>
                <c:pt idx="3">
                  <c:v>1.0095670000000001E-3</c:v>
                </c:pt>
                <c:pt idx="4">
                  <c:v>4.4164850000000004E-3</c:v>
                </c:pt>
                <c:pt idx="5">
                  <c:v>7.2505664999999997E-3</c:v>
                </c:pt>
              </c:numCache>
            </c:numRef>
          </c:val>
          <c:extLst>
            <c:ext xmlns:c16="http://schemas.microsoft.com/office/drawing/2014/chart" uri="{C3380CC4-5D6E-409C-BE32-E72D297353CC}">
              <c16:uniqueId val="{00000000-5D93-4D8D-AEA4-F1B9BBAC61A3}"/>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0.20133574000000001</c:v>
                </c:pt>
                <c:pt idx="1">
                  <c:v>0.27415852431999999</c:v>
                </c:pt>
                <c:pt idx="2">
                  <c:v>0.25457083899999999</c:v>
                </c:pt>
                <c:pt idx="3">
                  <c:v>0.18582006085</c:v>
                </c:pt>
                <c:pt idx="4">
                  <c:v>8.2022506000000009E-2</c:v>
                </c:pt>
                <c:pt idx="5">
                  <c:v>0.10627057949999999</c:v>
                </c:pt>
              </c:numCache>
            </c:numRef>
          </c:val>
          <c:extLst>
            <c:ext xmlns:c16="http://schemas.microsoft.com/office/drawing/2014/chart" uri="{C3380CC4-5D6E-409C-BE32-E72D297353CC}">
              <c16:uniqueId val="{00000001-5D93-4D8D-AEA4-F1B9BBAC61A3}"/>
            </c:ext>
          </c:extLst>
        </c:ser>
        <c:ser>
          <c:idx val="2"/>
          <c:order val="2"/>
          <c:tx>
            <c:strRef>
              <c:f>Sheet1!$D$1</c:f>
              <c:strCache>
                <c:ptCount val="1"/>
                <c:pt idx="0">
                  <c:v>Total</c:v>
                </c:pt>
              </c:strCache>
            </c:strRef>
          </c:tx>
          <c:spPr>
            <a:noFill/>
            <a:ln>
              <a:noFill/>
            </a:ln>
          </c:spPr>
          <c:invertIfNegative val="1"/>
          <c:dLbls>
            <c:dLbl>
              <c:idx val="0"/>
              <c:tx>
                <c:rich>
                  <a:bodyPr/>
                  <a:lstStyle/>
                  <a:p>
                    <a:r>
                      <a:rPr lang="en-US" sz="700" b="1">
                        <a:solidFill>
                          <a:srgbClr val="0A2373"/>
                        </a:solidFill>
                      </a:rPr>
                      <a:t>0.24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D93-4D8D-AEA4-F1B9BBAC61A3}"/>
                </c:ext>
              </c:extLst>
            </c:dLbl>
            <c:dLbl>
              <c:idx val="1"/>
              <c:tx>
                <c:rich>
                  <a:bodyPr/>
                  <a:lstStyle/>
                  <a:p>
                    <a:r>
                      <a:rPr lang="en-US" sz="700" b="1">
                        <a:solidFill>
                          <a:srgbClr val="0A2373"/>
                        </a:solidFill>
                      </a:rPr>
                      <a:t>0.30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D93-4D8D-AEA4-F1B9BBAC61A3}"/>
                </c:ext>
              </c:extLst>
            </c:dLbl>
            <c:dLbl>
              <c:idx val="2"/>
              <c:tx>
                <c:rich>
                  <a:bodyPr/>
                  <a:lstStyle/>
                  <a:p>
                    <a:r>
                      <a:rPr lang="en-US" sz="700" b="1">
                        <a:solidFill>
                          <a:srgbClr val="0A2373"/>
                        </a:solidFill>
                      </a:rPr>
                      <a:t>0.25</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D93-4D8D-AEA4-F1B9BBAC61A3}"/>
                </c:ext>
              </c:extLst>
            </c:dLbl>
            <c:dLbl>
              <c:idx val="3"/>
              <c:tx>
                <c:rich>
                  <a:bodyPr/>
                  <a:lstStyle/>
                  <a:p>
                    <a:r>
                      <a:rPr lang="en-US" sz="700" b="1">
                        <a:solidFill>
                          <a:srgbClr val="0A2373"/>
                        </a:solidFill>
                      </a:rPr>
                      <a:t>0.19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D93-4D8D-AEA4-F1B9BBAC61A3}"/>
                </c:ext>
              </c:extLst>
            </c:dLbl>
            <c:dLbl>
              <c:idx val="4"/>
              <c:tx>
                <c:rich>
                  <a:bodyPr/>
                  <a:lstStyle/>
                  <a:p>
                    <a:r>
                      <a:rPr lang="en-US" sz="700" b="1">
                        <a:solidFill>
                          <a:srgbClr val="0A2373"/>
                        </a:solidFill>
                      </a:rPr>
                      <a:t>0.09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D93-4D8D-AEA4-F1B9BBAC61A3}"/>
                </c:ext>
              </c:extLst>
            </c:dLbl>
            <c:dLbl>
              <c:idx val="5"/>
              <c:tx>
                <c:rich>
                  <a:bodyPr/>
                  <a:lstStyle/>
                  <a:p>
                    <a:r>
                      <a:rPr lang="en-US" sz="700" b="1">
                        <a:solidFill>
                          <a:srgbClr val="0A2373"/>
                        </a:solidFill>
                      </a:rPr>
                      <a:t>0.11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D93-4D8D-AEA4-F1B9BBAC61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5D93-4D8D-AEA4-F1B9BBAC61A3}"/>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50">
                <a:solidFill>
                  <a:srgbClr val="666666"/>
                </a:solidFill>
              </a:defRPr>
            </a:pPr>
            <a:endParaRPr lang="en-US"/>
          </a:p>
        </c:txPr>
        <c:crossAx val="-2113994440"/>
        <c:crosses val="autoZero"/>
        <c:auto val="1"/>
        <c:lblAlgn val="ctr"/>
        <c:lblOffset val="100"/>
        <c:noMultiLvlLbl val="0"/>
      </c:catAx>
      <c:valAx>
        <c:axId val="-2113994440"/>
        <c:scaling>
          <c:orientation val="minMax"/>
          <c:max val="0.393853544916"/>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0.62103852287000005</c:v>
                </c:pt>
                <c:pt idx="1">
                  <c:v>0.56779023878000001</c:v>
                </c:pt>
                <c:pt idx="2">
                  <c:v>0.59843659401999993</c:v>
                </c:pt>
                <c:pt idx="3">
                  <c:v>0.50940610099999994</c:v>
                </c:pt>
                <c:pt idx="4">
                  <c:v>0.42406481499999998</c:v>
                </c:pt>
                <c:pt idx="5">
                  <c:v>0.35037628500000001</c:v>
                </c:pt>
              </c:numCache>
            </c:numRef>
          </c:val>
          <c:extLst>
            <c:ext xmlns:c16="http://schemas.microsoft.com/office/drawing/2014/chart" uri="{C3380CC4-5D6E-409C-BE32-E72D297353CC}">
              <c16:uniqueId val="{00000000-3A3E-4DAF-B9FC-536D66675724}"/>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0.48075666387999999</c:v>
                </c:pt>
                <c:pt idx="1">
                  <c:v>0.48588674162000001</c:v>
                </c:pt>
                <c:pt idx="2">
                  <c:v>0.44778899929999999</c:v>
                </c:pt>
                <c:pt idx="3">
                  <c:v>0.28068064399999998</c:v>
                </c:pt>
                <c:pt idx="4">
                  <c:v>0.25296072600000002</c:v>
                </c:pt>
                <c:pt idx="5">
                  <c:v>0.22929233400000001</c:v>
                </c:pt>
              </c:numCache>
            </c:numRef>
          </c:val>
          <c:extLst>
            <c:ext xmlns:c16="http://schemas.microsoft.com/office/drawing/2014/chart" uri="{C3380CC4-5D6E-409C-BE32-E72D297353CC}">
              <c16:uniqueId val="{00000001-3A3E-4DAF-B9FC-536D66675724}"/>
            </c:ext>
          </c:extLst>
        </c:ser>
        <c:ser>
          <c:idx val="2"/>
          <c:order val="2"/>
          <c:tx>
            <c:strRef>
              <c:f>Sheet1!$D$1</c:f>
              <c:strCache>
                <c:ptCount val="1"/>
                <c:pt idx="0">
                  <c:v>Total</c:v>
                </c:pt>
              </c:strCache>
            </c:strRef>
          </c:tx>
          <c:spPr>
            <a:noFill/>
            <a:ln>
              <a:noFill/>
            </a:ln>
          </c:spPr>
          <c:invertIfNegative val="1"/>
          <c:dLbls>
            <c:dLbl>
              <c:idx val="0"/>
              <c:tx>
                <c:rich>
                  <a:bodyPr/>
                  <a:lstStyle/>
                  <a:p>
                    <a:r>
                      <a:rPr lang="en-US" sz="700" b="1">
                        <a:solidFill>
                          <a:srgbClr val="0A2373"/>
                        </a:solidFill>
                      </a:rPr>
                      <a:t>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A3E-4DAF-B9FC-536D66675724}"/>
                </c:ext>
              </c:extLst>
            </c:dLbl>
            <c:dLbl>
              <c:idx val="1"/>
              <c:tx>
                <c:rich>
                  <a:bodyPr/>
                  <a:lstStyle/>
                  <a:p>
                    <a:r>
                      <a:rPr lang="en-US" sz="700" b="1">
                        <a:solidFill>
                          <a:srgbClr val="0A2373"/>
                        </a:solidFill>
                      </a:rPr>
                      <a:t>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A3E-4DAF-B9FC-536D66675724}"/>
                </c:ext>
              </c:extLst>
            </c:dLbl>
            <c:dLbl>
              <c:idx val="2"/>
              <c:tx>
                <c:rich>
                  <a:bodyPr/>
                  <a:lstStyle/>
                  <a:p>
                    <a:r>
                      <a:rPr lang="en-US" sz="700" b="1">
                        <a:solidFill>
                          <a:srgbClr val="0A2373"/>
                        </a:solidFill>
                      </a:rPr>
                      <a:t>1.0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A3E-4DAF-B9FC-536D66675724}"/>
                </c:ext>
              </c:extLst>
            </c:dLbl>
            <c:dLbl>
              <c:idx val="3"/>
              <c:tx>
                <c:rich>
                  <a:bodyPr/>
                  <a:lstStyle/>
                  <a:p>
                    <a:r>
                      <a:rPr lang="en-US" sz="700" b="1">
                        <a:solidFill>
                          <a:srgbClr val="0A2373"/>
                        </a:solidFill>
                      </a:rPr>
                      <a:t>0.79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A3E-4DAF-B9FC-536D66675724}"/>
                </c:ext>
              </c:extLst>
            </c:dLbl>
            <c:dLbl>
              <c:idx val="4"/>
              <c:tx>
                <c:rich>
                  <a:bodyPr/>
                  <a:lstStyle/>
                  <a:p>
                    <a:r>
                      <a:rPr lang="en-US" sz="700" b="1">
                        <a:solidFill>
                          <a:srgbClr val="0A2373"/>
                        </a:solidFill>
                      </a:rPr>
                      <a:t>0.68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A3E-4DAF-B9FC-536D66675724}"/>
                </c:ext>
              </c:extLst>
            </c:dLbl>
            <c:dLbl>
              <c:idx val="5"/>
              <c:tx>
                <c:rich>
                  <a:bodyPr/>
                  <a:lstStyle/>
                  <a:p>
                    <a:r>
                      <a:rPr lang="en-US" sz="700" b="1">
                        <a:solidFill>
                          <a:srgbClr val="0A2373"/>
                        </a:solidFill>
                      </a:rPr>
                      <a:t>0.58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A3E-4DAF-B9FC-536D6667572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3A3E-4DAF-B9FC-536D66675724}"/>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50">
                <a:solidFill>
                  <a:srgbClr val="666666"/>
                </a:solidFill>
              </a:defRPr>
            </a:pPr>
            <a:endParaRPr lang="en-US"/>
          </a:p>
        </c:txPr>
        <c:crossAx val="-2113994440"/>
        <c:crosses val="autoZero"/>
        <c:auto val="1"/>
        <c:lblAlgn val="ctr"/>
        <c:lblOffset val="100"/>
        <c:noMultiLvlLbl val="0"/>
      </c:catAx>
      <c:valAx>
        <c:axId val="-2113994440"/>
        <c:scaling>
          <c:orientation val="minMax"/>
          <c:max val="1.432333742775"/>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1.4319451160000001</c:v>
                </c:pt>
                <c:pt idx="1">
                  <c:v>1.500340893</c:v>
                </c:pt>
                <c:pt idx="2">
                  <c:v>0.23304925800000001</c:v>
                </c:pt>
                <c:pt idx="3">
                  <c:v>0.13109100000000001</c:v>
                </c:pt>
                <c:pt idx="4">
                  <c:v>0.185597544</c:v>
                </c:pt>
                <c:pt idx="5">
                  <c:v>0.50034697800000005</c:v>
                </c:pt>
              </c:numCache>
            </c:numRef>
          </c:val>
          <c:extLst>
            <c:ext xmlns:c16="http://schemas.microsoft.com/office/drawing/2014/chart" uri="{C3380CC4-5D6E-409C-BE32-E72D297353CC}">
              <c16:uniqueId val="{00000000-7C48-4E1D-8E6D-847B9C358184}"/>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2.3507153220000001</c:v>
                </c:pt>
                <c:pt idx="1">
                  <c:v>2.4850970270000001</c:v>
                </c:pt>
                <c:pt idx="2">
                  <c:v>1.3875841170000001</c:v>
                </c:pt>
                <c:pt idx="3">
                  <c:v>0.95747642899999996</c:v>
                </c:pt>
                <c:pt idx="4">
                  <c:v>1.3353921849999999</c:v>
                </c:pt>
                <c:pt idx="5">
                  <c:v>1.1798282204999999</c:v>
                </c:pt>
              </c:numCache>
            </c:numRef>
          </c:val>
          <c:extLst>
            <c:ext xmlns:c16="http://schemas.microsoft.com/office/drawing/2014/chart" uri="{C3380CC4-5D6E-409C-BE32-E72D297353CC}">
              <c16:uniqueId val="{00000001-7C48-4E1D-8E6D-847B9C358184}"/>
            </c:ext>
          </c:extLst>
        </c:ser>
        <c:ser>
          <c:idx val="2"/>
          <c:order val="2"/>
          <c:tx>
            <c:strRef>
              <c:f>Sheet1!$D$1</c:f>
              <c:strCache>
                <c:ptCount val="1"/>
                <c:pt idx="0">
                  <c:v>Total</c:v>
                </c:pt>
              </c:strCache>
            </c:strRef>
          </c:tx>
          <c:spPr>
            <a:noFill/>
            <a:ln>
              <a:noFill/>
            </a:ln>
          </c:spPr>
          <c:invertIfNegative val="1"/>
          <c:dLbls>
            <c:dLbl>
              <c:idx val="0"/>
              <c:tx>
                <c:rich>
                  <a:bodyPr/>
                  <a:lstStyle/>
                  <a:p>
                    <a:r>
                      <a:rPr lang="en-US" sz="700" b="1">
                        <a:solidFill>
                          <a:srgbClr val="0A2373"/>
                        </a:solidFill>
                      </a:rPr>
                      <a:t>3.8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C48-4E1D-8E6D-847B9C358184}"/>
                </c:ext>
              </c:extLst>
            </c:dLbl>
            <c:dLbl>
              <c:idx val="1"/>
              <c:tx>
                <c:rich>
                  <a:bodyPr/>
                  <a:lstStyle/>
                  <a:p>
                    <a:r>
                      <a:rPr lang="en-US" sz="700" b="1">
                        <a:solidFill>
                          <a:srgbClr val="0A2373"/>
                        </a:solidFill>
                      </a:rPr>
                      <a:t>4.0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C48-4E1D-8E6D-847B9C358184}"/>
                </c:ext>
              </c:extLst>
            </c:dLbl>
            <c:dLbl>
              <c:idx val="2"/>
              <c:tx>
                <c:rich>
                  <a:bodyPr/>
                  <a:lstStyle/>
                  <a:p>
                    <a:r>
                      <a:rPr lang="en-US" sz="700" b="1">
                        <a:solidFill>
                          <a:srgbClr val="0A2373"/>
                        </a:solidFill>
                      </a:rPr>
                      <a:t>1.6</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C48-4E1D-8E6D-847B9C358184}"/>
                </c:ext>
              </c:extLst>
            </c:dLbl>
            <c:dLbl>
              <c:idx val="3"/>
              <c:tx>
                <c:rich>
                  <a:bodyPr/>
                  <a:lstStyle/>
                  <a:p>
                    <a:r>
                      <a:rPr lang="en-US" sz="700" b="1">
                        <a:solidFill>
                          <a:srgbClr val="0A2373"/>
                        </a:solidFill>
                      </a:rPr>
                      <a:t>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C48-4E1D-8E6D-847B9C358184}"/>
                </c:ext>
              </c:extLst>
            </c:dLbl>
            <c:dLbl>
              <c:idx val="4"/>
              <c:tx>
                <c:rich>
                  <a:bodyPr/>
                  <a:lstStyle/>
                  <a:p>
                    <a:r>
                      <a:rPr lang="en-US" sz="700" b="1">
                        <a:solidFill>
                          <a:srgbClr val="0A2373"/>
                        </a:solidFill>
                      </a:rPr>
                      <a:t>1.5</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C48-4E1D-8E6D-847B9C358184}"/>
                </c:ext>
              </c:extLst>
            </c:dLbl>
            <c:dLbl>
              <c:idx val="5"/>
              <c:tx>
                <c:rich>
                  <a:bodyPr/>
                  <a:lstStyle/>
                  <a:p>
                    <a:r>
                      <a:rPr lang="en-US" sz="700" b="1">
                        <a:solidFill>
                          <a:srgbClr val="0A2373"/>
                        </a:solidFill>
                      </a:rPr>
                      <a:t>1.7</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C48-4E1D-8E6D-847B9C3581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7C48-4E1D-8E6D-847B9C358184}"/>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50">
                <a:solidFill>
                  <a:srgbClr val="666666"/>
                </a:solidFill>
              </a:defRPr>
            </a:pPr>
            <a:endParaRPr lang="en-US"/>
          </a:p>
        </c:txPr>
        <c:crossAx val="-2113994440"/>
        <c:crosses val="autoZero"/>
        <c:auto val="1"/>
        <c:lblAlgn val="ctr"/>
        <c:lblOffset val="100"/>
        <c:noMultiLvlLbl val="0"/>
      </c:catAx>
      <c:valAx>
        <c:axId val="-2113994440"/>
        <c:scaling>
          <c:orientation val="minMax"/>
          <c:max val="5.1810692959999995"/>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0.10053881521000001</c:v>
                </c:pt>
                <c:pt idx="1">
                  <c:v>4.3437557930000002E-2</c:v>
                </c:pt>
                <c:pt idx="2">
                  <c:v>8.399809338E-2</c:v>
                </c:pt>
                <c:pt idx="3">
                  <c:v>6.4028557899999991E-2</c:v>
                </c:pt>
                <c:pt idx="4">
                  <c:v>3.4475556150000003E-2</c:v>
                </c:pt>
                <c:pt idx="5">
                  <c:v>1.0151050889999999E-2</c:v>
                </c:pt>
              </c:numCache>
            </c:numRef>
          </c:val>
          <c:extLst>
            <c:ext xmlns:c16="http://schemas.microsoft.com/office/drawing/2014/chart" uri="{C3380CC4-5D6E-409C-BE32-E72D297353CC}">
              <c16:uniqueId val="{00000000-B08F-4D36-80C4-6131E58D99CA}"/>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1.1377156989999999</c:v>
                </c:pt>
                <c:pt idx="1">
                  <c:v>0.98170948324000007</c:v>
                </c:pt>
                <c:pt idx="2">
                  <c:v>1.7812067980000001</c:v>
                </c:pt>
                <c:pt idx="3">
                  <c:v>1.224850803</c:v>
                </c:pt>
                <c:pt idx="4">
                  <c:v>1.2384626239300001</c:v>
                </c:pt>
                <c:pt idx="5">
                  <c:v>0.87386333223000001</c:v>
                </c:pt>
              </c:numCache>
            </c:numRef>
          </c:val>
          <c:extLst>
            <c:ext xmlns:c16="http://schemas.microsoft.com/office/drawing/2014/chart" uri="{C3380CC4-5D6E-409C-BE32-E72D297353CC}">
              <c16:uniqueId val="{00000001-B08F-4D36-80C4-6131E58D99CA}"/>
            </c:ext>
          </c:extLst>
        </c:ser>
        <c:ser>
          <c:idx val="2"/>
          <c:order val="2"/>
          <c:tx>
            <c:strRef>
              <c:f>Sheet1!$D$1</c:f>
              <c:strCache>
                <c:ptCount val="1"/>
                <c:pt idx="0">
                  <c:v>Total</c:v>
                </c:pt>
              </c:strCache>
            </c:strRef>
          </c:tx>
          <c:spPr>
            <a:noFill/>
            <a:ln>
              <a:noFill/>
            </a:ln>
          </c:spPr>
          <c:invertIfNegative val="1"/>
          <c:dLbls>
            <c:dLbl>
              <c:idx val="0"/>
              <c:tx>
                <c:rich>
                  <a:bodyPr/>
                  <a:lstStyle/>
                  <a:p>
                    <a:r>
                      <a:rPr lang="en-US" sz="700" b="1">
                        <a:solidFill>
                          <a:srgbClr val="0A2373"/>
                        </a:solidFill>
                      </a:rPr>
                      <a:t>1.2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08F-4D36-80C4-6131E58D99CA}"/>
                </c:ext>
              </c:extLst>
            </c:dLbl>
            <c:dLbl>
              <c:idx val="1"/>
              <c:tx>
                <c:rich>
                  <a:bodyPr/>
                  <a:lstStyle/>
                  <a:p>
                    <a:r>
                      <a:rPr lang="en-US" sz="700" b="1">
                        <a:solidFill>
                          <a:srgbClr val="0A2373"/>
                        </a:solidFill>
                      </a:rPr>
                      <a:t>1.0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08F-4D36-80C4-6131E58D99CA}"/>
                </c:ext>
              </c:extLst>
            </c:dLbl>
            <c:dLbl>
              <c:idx val="2"/>
              <c:tx>
                <c:rich>
                  <a:bodyPr/>
                  <a:lstStyle/>
                  <a:p>
                    <a:r>
                      <a:rPr lang="en-US" sz="700" b="1">
                        <a:solidFill>
                          <a:srgbClr val="0A2373"/>
                        </a:solidFill>
                      </a:rPr>
                      <a:t>1.9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08F-4D36-80C4-6131E58D99CA}"/>
                </c:ext>
              </c:extLst>
            </c:dLbl>
            <c:dLbl>
              <c:idx val="3"/>
              <c:tx>
                <c:rich>
                  <a:bodyPr/>
                  <a:lstStyle/>
                  <a:p>
                    <a:r>
                      <a:rPr lang="en-US" sz="700" b="1">
                        <a:solidFill>
                          <a:srgbClr val="0A2373"/>
                        </a:solidFill>
                      </a:rPr>
                      <a:t>1.3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08F-4D36-80C4-6131E58D99CA}"/>
                </c:ext>
              </c:extLst>
            </c:dLbl>
            <c:dLbl>
              <c:idx val="4"/>
              <c:tx>
                <c:rich>
                  <a:bodyPr/>
                  <a:lstStyle/>
                  <a:p>
                    <a:r>
                      <a:rPr lang="en-US" sz="700" b="1">
                        <a:solidFill>
                          <a:srgbClr val="0A2373"/>
                        </a:solidFill>
                      </a:rPr>
                      <a:t>1.3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08F-4D36-80C4-6131E58D99CA}"/>
                </c:ext>
              </c:extLst>
            </c:dLbl>
            <c:dLbl>
              <c:idx val="5"/>
              <c:tx>
                <c:rich>
                  <a:bodyPr/>
                  <a:lstStyle/>
                  <a:p>
                    <a:r>
                      <a:rPr lang="en-US" sz="700" b="1">
                        <a:solidFill>
                          <a:srgbClr val="0A2373"/>
                        </a:solidFill>
                      </a:rPr>
                      <a:t>0.88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B08F-4D36-80C4-6131E58D99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B08F-4D36-80C4-6131E58D99CA}"/>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50">
                <a:solidFill>
                  <a:srgbClr val="666666"/>
                </a:solidFill>
              </a:defRPr>
            </a:pPr>
            <a:endParaRPr lang="en-US"/>
          </a:p>
        </c:txPr>
        <c:crossAx val="-2113994440"/>
        <c:crosses val="autoZero"/>
        <c:auto val="1"/>
        <c:lblAlgn val="ctr"/>
        <c:lblOffset val="100"/>
        <c:noMultiLvlLbl val="0"/>
      </c:catAx>
      <c:valAx>
        <c:axId val="-2113994440"/>
        <c:scaling>
          <c:orientation val="minMax"/>
          <c:max val="2.4247663587940003"/>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Gauteng 7.7</c:v>
                </c:pt>
                <c:pt idx="1">
                  <c:v>KwaZulu-Natal 5.0</c:v>
                </c:pt>
                <c:pt idx="2">
                  <c:v>Mpumalanga 2.1</c:v>
                </c:pt>
                <c:pt idx="3">
                  <c:v>Free State 1.5</c:v>
                </c:pt>
                <c:pt idx="4">
                  <c:v>North West 1.2</c:v>
                </c:pt>
                <c:pt idx="5">
                  <c:v>Limpopo 0.6</c:v>
                </c:pt>
              </c:strCache>
            </c:strRef>
          </c:cat>
          <c:val>
            <c:numRef>
              <c:f>Sheet1!$B$2:$B$7</c:f>
              <c:numCache>
                <c:formatCode>0.0</c:formatCode>
                <c:ptCount val="6"/>
                <c:pt idx="0">
                  <c:v>3.571911344800613</c:v>
                </c:pt>
                <c:pt idx="1">
                  <c:v>1.51654549487232</c:v>
                </c:pt>
                <c:pt idx="2">
                  <c:v>0.61945775826851512</c:v>
                </c:pt>
                <c:pt idx="3">
                  <c:v>0.57903040836155995</c:v>
                </c:pt>
                <c:pt idx="4">
                  <c:v>0.45342059722517492</c:v>
                </c:pt>
                <c:pt idx="5">
                  <c:v>0.27685846461137492</c:v>
                </c:pt>
              </c:numCache>
            </c:numRef>
          </c:val>
          <c:extLst>
            <c:ext xmlns:c16="http://schemas.microsoft.com/office/drawing/2014/chart" uri="{C3380CC4-5D6E-409C-BE32-E72D297353CC}">
              <c16:uniqueId val="{00000000-CD3C-405B-8380-07EFF01004AC}"/>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Gauteng 7.7</c:v>
                </c:pt>
                <c:pt idx="1">
                  <c:v>KwaZulu-Natal 5.0</c:v>
                </c:pt>
                <c:pt idx="2">
                  <c:v>Mpumalanga 2.1</c:v>
                </c:pt>
                <c:pt idx="3">
                  <c:v>Free State 1.5</c:v>
                </c:pt>
                <c:pt idx="4">
                  <c:v>North West 1.2</c:v>
                </c:pt>
                <c:pt idx="5">
                  <c:v>Limpopo 0.6</c:v>
                </c:pt>
              </c:strCache>
            </c:strRef>
          </c:cat>
          <c:val>
            <c:numRef>
              <c:f>Sheet1!$C$2:$C$7</c:f>
              <c:numCache>
                <c:formatCode>0.0</c:formatCode>
                <c:ptCount val="6"/>
                <c:pt idx="0">
                  <c:v>4.1477724354390064</c:v>
                </c:pt>
                <c:pt idx="1">
                  <c:v>3.5235989309250502</c:v>
                </c:pt>
                <c:pt idx="2">
                  <c:v>1.4482763886329639</c:v>
                </c:pt>
                <c:pt idx="3">
                  <c:v>0.96362532042964122</c:v>
                </c:pt>
                <c:pt idx="4">
                  <c:v>0.78415324647162288</c:v>
                </c:pt>
                <c:pt idx="5">
                  <c:v>0.28080391971961532</c:v>
                </c:pt>
              </c:numCache>
            </c:numRef>
          </c:val>
          <c:extLst>
            <c:ext xmlns:c16="http://schemas.microsoft.com/office/drawing/2014/chart" uri="{C3380CC4-5D6E-409C-BE32-E72D297353CC}">
              <c16:uniqueId val="{00000001-CD3C-405B-8380-07EFF01004AC}"/>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3994440"/>
        <c:crosses val="autoZero"/>
        <c:auto val="1"/>
        <c:lblAlgn val="ctr"/>
        <c:lblOffset val="100"/>
        <c:noMultiLvlLbl val="0"/>
      </c:catAx>
      <c:valAx>
        <c:axId val="-2113994440"/>
        <c:scaling>
          <c:orientation val="minMax"/>
          <c:max val="8"/>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txPr>
        <a:bodyPr/>
        <a:lstStyle/>
        <a:p>
          <a:pPr>
            <a:defRPr sz="800"/>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1  Economic activity</c:v>
                </c:pt>
              </c:strCache>
            </c:strRef>
          </c:tx>
          <c:spPr>
            <a:ln w="23813">
              <a:solidFill>
                <a:srgbClr val="0A2373"/>
              </a:solidFill>
            </a:ln>
          </c:spPr>
          <c:marker>
            <c:symbol val="none"/>
          </c:marker>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4.4501709961145135</c:v>
                </c:pt>
                <c:pt idx="1">
                  <c:v>4.5017016154848308</c:v>
                </c:pt>
                <c:pt idx="2">
                  <c:v>4.5717833790533957</c:v>
                </c:pt>
                <c:pt idx="3">
                  <c:v>4.5836670705621652</c:v>
                </c:pt>
                <c:pt idx="4">
                  <c:v>4.3009044207306824</c:v>
                </c:pt>
                <c:pt idx="5">
                  <c:v>4.509870255259866</c:v>
                </c:pt>
                <c:pt idx="6">
                  <c:v>4.6026895463647746</c:v>
                </c:pt>
                <c:pt idx="7">
                  <c:v>4.6397920363245602</c:v>
                </c:pt>
                <c:pt idx="8">
                  <c:v>4.6646076638986917</c:v>
                </c:pt>
                <c:pt idx="9">
                  <c:v>4.7166005974934793</c:v>
                </c:pt>
              </c:numCache>
            </c:numRef>
          </c:val>
          <c:smooth val="0"/>
          <c:extLst>
            <c:ext xmlns:c16="http://schemas.microsoft.com/office/drawing/2014/chart" uri="{C3380CC4-5D6E-409C-BE32-E72D297353CC}">
              <c16:uniqueId val="{00000000-CC91-44EE-B48B-086570EA52A0}"/>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800">
                <a:solidFill>
                  <a:srgbClr val="666666"/>
                </a:solidFill>
              </a:defRPr>
            </a:pPr>
            <a:endParaRPr lang="en-US"/>
          </a:p>
        </c:txPr>
        <c:crossAx val="2140495176"/>
        <c:crosses val="autoZero"/>
        <c:auto val="1"/>
        <c:lblAlgn val="ctr"/>
        <c:lblOffset val="100"/>
        <c:tickLblSkip val="2"/>
        <c:noMultiLvlLbl val="0"/>
      </c:catAx>
      <c:valAx>
        <c:axId val="2140495176"/>
        <c:scaling>
          <c:orientation val="minMax"/>
          <c:max val="5"/>
          <c:min val="0"/>
        </c:scaling>
        <c:delete val="0"/>
        <c:axPos val="l"/>
        <c:numFmt formatCode="0.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1"/>
      </c:valAx>
    </c:plotArea>
    <c:plotVisOnly val="1"/>
    <c:dispBlanksAs val="gap"/>
    <c:showDLblsOverMax val="0"/>
  </c:chart>
  <c:txPr>
    <a:bodyPr/>
    <a:lstStyle/>
    <a:p>
      <a:pPr>
        <a:defRPr sz="800">
          <a:latin typeface="Lato"/>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  Petrol price</c:v>
                </c:pt>
              </c:strCache>
            </c:strRef>
          </c:tx>
          <c:spPr>
            <a:ln w="23813">
              <a:solidFill>
                <a:srgbClr val="0A2373"/>
              </a:solidFill>
            </a:ln>
          </c:spPr>
          <c:marker>
            <c:symbol val="none"/>
          </c:marker>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12.58667</c:v>
                </c:pt>
                <c:pt idx="1">
                  <c:v>13.623330000000001</c:v>
                </c:pt>
                <c:pt idx="2">
                  <c:v>15.422499999999999</c:v>
                </c:pt>
                <c:pt idx="3">
                  <c:v>15.734999999999999</c:v>
                </c:pt>
                <c:pt idx="4">
                  <c:v>14.749169999999999</c:v>
                </c:pt>
                <c:pt idx="5">
                  <c:v>17.559999999999999</c:v>
                </c:pt>
                <c:pt idx="6">
                  <c:v>22.795830000000002</c:v>
                </c:pt>
                <c:pt idx="7">
                  <c:v>23.135830000000002</c:v>
                </c:pt>
                <c:pt idx="8">
                  <c:v>23.11833</c:v>
                </c:pt>
                <c:pt idx="9">
                  <c:v>21.656669999999998</c:v>
                </c:pt>
                <c:pt idx="10">
                  <c:v>24.805</c:v>
                </c:pt>
              </c:numCache>
            </c:numRef>
          </c:val>
          <c:smooth val="0"/>
          <c:extLst>
            <c:ext xmlns:c16="http://schemas.microsoft.com/office/drawing/2014/chart" uri="{C3380CC4-5D6E-409C-BE32-E72D297353CC}">
              <c16:uniqueId val="{00000000-D76B-4ED7-8670-C6ECBB054AFB}"/>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800">
                <a:solidFill>
                  <a:srgbClr val="666666"/>
                </a:solidFill>
              </a:defRPr>
            </a:pPr>
            <a:endParaRPr lang="en-US"/>
          </a:p>
        </c:txPr>
        <c:crossAx val="2140495176"/>
        <c:crosses val="autoZero"/>
        <c:auto val="1"/>
        <c:lblAlgn val="ctr"/>
        <c:lblOffset val="100"/>
        <c:tickLblSkip val="2"/>
        <c:noMultiLvlLbl val="0"/>
      </c:catAx>
      <c:valAx>
        <c:axId val="2140495176"/>
        <c:scaling>
          <c:orientation val="minMax"/>
          <c:max val="30"/>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10"/>
      </c:valAx>
    </c:plotArea>
    <c:plotVisOnly val="1"/>
    <c:dispBlanksAs val="gap"/>
    <c:showDLblsOverMax val="0"/>
  </c:chart>
  <c:txPr>
    <a:bodyPr/>
    <a:lstStyle/>
    <a:p>
      <a:pPr>
        <a:defRPr sz="800">
          <a:latin typeface="Lato"/>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3  Power recovery</c:v>
                </c:pt>
              </c:strCache>
            </c:strRef>
          </c:tx>
          <c:spPr>
            <a:solidFill>
              <a:srgbClr val="0A2373"/>
            </a:solidFill>
          </c:spPr>
          <c:invertIfNegative val="0"/>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1.2478</c:v>
                </c:pt>
                <c:pt idx="1">
                  <c:v>0.01</c:v>
                </c:pt>
                <c:pt idx="2">
                  <c:v>3.78E-2</c:v>
                </c:pt>
                <c:pt idx="3">
                  <c:v>0.38500000000000001</c:v>
                </c:pt>
                <c:pt idx="4">
                  <c:v>0.42619999999999997</c:v>
                </c:pt>
                <c:pt idx="5">
                  <c:v>0.4587</c:v>
                </c:pt>
                <c:pt idx="6">
                  <c:v>0.58040000000000003</c:v>
                </c:pt>
                <c:pt idx="7">
                  <c:v>0.9375</c:v>
                </c:pt>
                <c:pt idx="8">
                  <c:v>1.1294999999999999</c:v>
                </c:pt>
                <c:pt idx="9">
                  <c:v>0.67910000000000004</c:v>
                </c:pt>
                <c:pt idx="10">
                  <c:v>0.25659999999999999</c:v>
                </c:pt>
              </c:numCache>
            </c:numRef>
          </c:val>
          <c:extLst>
            <c:ext xmlns:c16="http://schemas.microsoft.com/office/drawing/2014/chart" uri="{C3380CC4-5D6E-409C-BE32-E72D297353CC}">
              <c16:uniqueId val="{00000000-CFD9-4CEF-8CEF-AB6885C37F0E}"/>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800">
                <a:solidFill>
                  <a:srgbClr val="666666"/>
                </a:solidFill>
              </a:defRPr>
            </a:pPr>
            <a:endParaRPr lang="en-US"/>
          </a:p>
        </c:txPr>
        <c:crossAx val="-2113994440"/>
        <c:crosses val="autoZero"/>
        <c:auto val="1"/>
        <c:lblAlgn val="ctr"/>
        <c:lblOffset val="100"/>
        <c:tickLblSkip val="2"/>
        <c:noMultiLvlLbl val="0"/>
      </c:catAx>
      <c:valAx>
        <c:axId val="-2113994440"/>
        <c:scaling>
          <c:orientation val="minMax"/>
          <c:max val="1.5"/>
          <c:min val="0"/>
        </c:scaling>
        <c:delete val="0"/>
        <c:axPos val="l"/>
        <c:numFmt formatCode="0.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068027336"/>
        <c:crosses val="autoZero"/>
        <c:crossBetween val="between"/>
        <c:majorUnit val="0.5"/>
      </c:valAx>
    </c:plotArea>
    <c:plotVisOnly val="1"/>
    <c:dispBlanksAs val="gap"/>
    <c:showDLblsOverMax val="1"/>
  </c:chart>
  <c:txPr>
    <a:bodyPr/>
    <a:lstStyle/>
    <a:p>
      <a:pPr>
        <a:defRPr sz="800">
          <a:latin typeface="Lato"/>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4  Road to rail</c:v>
                </c:pt>
              </c:strCache>
            </c:strRef>
          </c:tx>
          <c:spPr>
            <a:ln w="23813">
              <a:solidFill>
                <a:srgbClr val="0A2373"/>
              </a:solidFill>
            </a:ln>
          </c:spPr>
          <c:marker>
            <c:symbol val="none"/>
          </c:marker>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215.012</c:v>
                </c:pt>
                <c:pt idx="1">
                  <c:v>225.22800000000001</c:v>
                </c:pt>
                <c:pt idx="2">
                  <c:v>216.542</c:v>
                </c:pt>
                <c:pt idx="3">
                  <c:v>214.03</c:v>
                </c:pt>
                <c:pt idx="4">
                  <c:v>190.267</c:v>
                </c:pt>
                <c:pt idx="5">
                  <c:v>177.155</c:v>
                </c:pt>
                <c:pt idx="6">
                  <c:v>155.91300000000001</c:v>
                </c:pt>
                <c:pt idx="7">
                  <c:v>160.1</c:v>
                </c:pt>
                <c:pt idx="8">
                  <c:v>160.745</c:v>
                </c:pt>
                <c:pt idx="9">
                  <c:v>168.25900000000001</c:v>
                </c:pt>
                <c:pt idx="10">
                  <c:v>173.39142857142858</c:v>
                </c:pt>
              </c:numCache>
            </c:numRef>
          </c:val>
          <c:smooth val="0"/>
          <c:extLst>
            <c:ext xmlns:c16="http://schemas.microsoft.com/office/drawing/2014/chart" uri="{C3380CC4-5D6E-409C-BE32-E72D297353CC}">
              <c16:uniqueId val="{00000000-3F4B-4FEC-B877-C533225F322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800">
                <a:solidFill>
                  <a:srgbClr val="666666"/>
                </a:solidFill>
              </a:defRPr>
            </a:pPr>
            <a:endParaRPr lang="en-US"/>
          </a:p>
        </c:txPr>
        <c:crossAx val="2140495176"/>
        <c:crosses val="autoZero"/>
        <c:auto val="1"/>
        <c:lblAlgn val="ctr"/>
        <c:lblOffset val="100"/>
        <c:tickLblSkip val="2"/>
        <c:noMultiLvlLbl val="0"/>
      </c:catAx>
      <c:valAx>
        <c:axId val="2140495176"/>
        <c:scaling>
          <c:orientation val="minMax"/>
          <c:max val="250"/>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50"/>
      </c:valAx>
    </c:plotArea>
    <c:plotVisOnly val="1"/>
    <c:dispBlanksAs val="gap"/>
    <c:showDLblsOverMax val="0"/>
  </c:chart>
  <c:txPr>
    <a:bodyPr/>
    <a:lstStyle/>
    <a:p>
      <a:pPr>
        <a:defRPr sz="800">
          <a:latin typeface="Lato"/>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5  Electrified vehicles</c:v>
                </c:pt>
              </c:strCache>
            </c:strRef>
          </c:tx>
          <c:spPr>
            <a:solidFill>
              <a:srgbClr val="0A2373"/>
            </a:solidFill>
          </c:spPr>
          <c:invertIfNegative val="0"/>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3">
                  <c:v>407</c:v>
                </c:pt>
                <c:pt idx="4">
                  <c:v>324</c:v>
                </c:pt>
                <c:pt idx="5">
                  <c:v>896</c:v>
                </c:pt>
                <c:pt idx="6">
                  <c:v>4694</c:v>
                </c:pt>
                <c:pt idx="7">
                  <c:v>7782</c:v>
                </c:pt>
                <c:pt idx="8">
                  <c:v>15611</c:v>
                </c:pt>
                <c:pt idx="9">
                  <c:v>16716</c:v>
                </c:pt>
                <c:pt idx="10">
                  <c:v>26392</c:v>
                </c:pt>
              </c:numCache>
            </c:numRef>
          </c:val>
          <c:extLst>
            <c:ext xmlns:c16="http://schemas.microsoft.com/office/drawing/2014/chart" uri="{C3380CC4-5D6E-409C-BE32-E72D297353CC}">
              <c16:uniqueId val="{00000000-9334-4314-9E94-1839D9A25A33}"/>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800">
                <a:solidFill>
                  <a:srgbClr val="666666"/>
                </a:solidFill>
              </a:defRPr>
            </a:pPr>
            <a:endParaRPr lang="en-US"/>
          </a:p>
        </c:txPr>
        <c:crossAx val="-2113994440"/>
        <c:crosses val="autoZero"/>
        <c:auto val="1"/>
        <c:lblAlgn val="ctr"/>
        <c:lblOffset val="100"/>
        <c:tickLblSkip val="2"/>
        <c:noMultiLvlLbl val="0"/>
      </c:catAx>
      <c:valAx>
        <c:axId val="-2113994440"/>
        <c:scaling>
          <c:orientation val="minMax"/>
          <c:max val="30000"/>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068027336"/>
        <c:crosses val="autoZero"/>
        <c:crossBetween val="between"/>
        <c:majorUnit val="10000"/>
      </c:valAx>
    </c:plotArea>
    <c:plotVisOnly val="1"/>
    <c:dispBlanksAs val="gap"/>
    <c:showDLblsOverMax val="1"/>
  </c:chart>
  <c:txPr>
    <a:bodyPr/>
    <a:lstStyle/>
    <a:p>
      <a:pPr>
        <a:defRPr sz="800">
          <a:latin typeface="Lato"/>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Petrol</c:v>
                </c:pt>
              </c:strCache>
            </c:strRef>
          </c:tx>
          <c:spPr>
            <a:ln w="25400">
              <a:solidFill>
                <a:srgbClr val="0A2373"/>
              </a:solidFill>
            </a:ln>
          </c:spPr>
          <c:marker>
            <c:symbol val="none"/>
          </c:marker>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11.548999999999999</c:v>
                </c:pt>
                <c:pt idx="1">
                  <c:v>11.486000000000001</c:v>
                </c:pt>
                <c:pt idx="2">
                  <c:v>11.375</c:v>
                </c:pt>
                <c:pt idx="3">
                  <c:v>11.334</c:v>
                </c:pt>
                <c:pt idx="4">
                  <c:v>11.423</c:v>
                </c:pt>
                <c:pt idx="5">
                  <c:v>11.468</c:v>
                </c:pt>
                <c:pt idx="6">
                  <c:v>11.401</c:v>
                </c:pt>
                <c:pt idx="7">
                  <c:v>11.459</c:v>
                </c:pt>
                <c:pt idx="8">
                  <c:v>11.378</c:v>
                </c:pt>
                <c:pt idx="9">
                  <c:v>11.234</c:v>
                </c:pt>
                <c:pt idx="10">
                  <c:v>11.199</c:v>
                </c:pt>
              </c:numCache>
            </c:numRef>
          </c:val>
          <c:smooth val="0"/>
          <c:extLst>
            <c:ext xmlns:c16="http://schemas.microsoft.com/office/drawing/2014/chart" uri="{C3380CC4-5D6E-409C-BE32-E72D297353CC}">
              <c16:uniqueId val="{00000000-E5DB-49CC-A5BA-1CE7F2613F63}"/>
            </c:ext>
          </c:extLst>
        </c:ser>
        <c:ser>
          <c:idx val="1"/>
          <c:order val="1"/>
          <c:tx>
            <c:strRef>
              <c:f>Sheet1!$C$1</c:f>
              <c:strCache>
                <c:ptCount val="1"/>
                <c:pt idx="0">
                  <c:v>Diesel</c:v>
                </c:pt>
              </c:strCache>
            </c:strRef>
          </c:tx>
          <c:spPr>
            <a:ln w="25400">
              <a:solidFill>
                <a:srgbClr val="6782B4"/>
              </a:solidFill>
            </a:ln>
          </c:spPr>
          <c:marker>
            <c:symbol val="none"/>
          </c:marker>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Sheet1!$C$2:$C$12</c:f>
              <c:numCache>
                <c:formatCode>General</c:formatCode>
                <c:ptCount val="11"/>
                <c:pt idx="0">
                  <c:v>10.337</c:v>
                </c:pt>
                <c:pt idx="1">
                  <c:v>10.151999999999999</c:v>
                </c:pt>
                <c:pt idx="2">
                  <c:v>10.209</c:v>
                </c:pt>
                <c:pt idx="3">
                  <c:v>10.295</c:v>
                </c:pt>
                <c:pt idx="4">
                  <c:v>9.9640000000000004</c:v>
                </c:pt>
                <c:pt idx="5">
                  <c:v>10.039999999999999</c:v>
                </c:pt>
                <c:pt idx="6">
                  <c:v>10.189</c:v>
                </c:pt>
                <c:pt idx="7">
                  <c:v>10.122999999999999</c:v>
                </c:pt>
                <c:pt idx="8">
                  <c:v>10.401</c:v>
                </c:pt>
                <c:pt idx="9">
                  <c:v>10.323</c:v>
                </c:pt>
                <c:pt idx="10">
                  <c:v>10.342000000000001</c:v>
                </c:pt>
              </c:numCache>
            </c:numRef>
          </c:val>
          <c:smooth val="0"/>
          <c:extLst>
            <c:ext xmlns:c16="http://schemas.microsoft.com/office/drawing/2014/chart" uri="{C3380CC4-5D6E-409C-BE32-E72D297353CC}">
              <c16:uniqueId val="{00000000-E5DB-49CC-A5BA-1CE7F2613F63}"/>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800">
                <a:solidFill>
                  <a:srgbClr val="666666"/>
                </a:solidFill>
              </a:defRPr>
            </a:pPr>
            <a:endParaRPr lang="en-US"/>
          </a:p>
        </c:txPr>
        <c:crossAx val="2140495176"/>
        <c:crosses val="autoZero"/>
        <c:auto val="1"/>
        <c:lblAlgn val="ctr"/>
        <c:lblOffset val="100"/>
        <c:tickLblSkip val="2"/>
        <c:noMultiLvlLbl val="0"/>
      </c:catAx>
      <c:valAx>
        <c:axId val="2140495176"/>
        <c:scaling>
          <c:orientation val="minMax"/>
          <c:max val="16"/>
          <c:min val="8"/>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2"/>
      </c:valAx>
    </c:plotArea>
    <c:plotVisOnly val="1"/>
    <c:dispBlanksAs val="zero"/>
    <c:showDLblsOverMax val="0"/>
  </c:chart>
  <c:txPr>
    <a:bodyPr/>
    <a:lstStyle/>
    <a:p>
      <a:pPr>
        <a:defRPr sz="800">
          <a:latin typeface="Lato"/>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History</c:v>
                </c:pt>
              </c:strCache>
            </c:strRef>
          </c:tx>
          <c:spPr>
            <a:ln w="23813">
              <a:solidFill>
                <a:srgbClr val="11151A"/>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Sheet1!$B$2:$B$19</c:f>
              <c:numCache>
                <c:formatCode>0.0</c:formatCode>
                <c:ptCount val="18"/>
                <c:pt idx="0">
                  <c:v>8.6386069850450315</c:v>
                </c:pt>
                <c:pt idx="1">
                  <c:v>8.2234999085988729</c:v>
                </c:pt>
                <c:pt idx="2">
                  <c:v>8.6656286225900452</c:v>
                </c:pt>
                <c:pt idx="3">
                  <c:v>8.655466901140402</c:v>
                </c:pt>
                <c:pt idx="4">
                  <c:v>8.437862075389436</c:v>
                </c:pt>
                <c:pt idx="5">
                  <c:v>8.4133563365487323</c:v>
                </c:pt>
                <c:pt idx="6">
                  <c:v>8.1351502331027312</c:v>
                </c:pt>
                <c:pt idx="7">
                  <c:v>6.6160313719260557</c:v>
                </c:pt>
                <c:pt idx="8">
                  <c:v>7.0238859809512624</c:v>
                </c:pt>
                <c:pt idx="9">
                  <c:v>6.6123329296757101</c:v>
                </c:pt>
                <c:pt idx="10">
                  <c:v>6.9508917827118282</c:v>
                </c:pt>
                <c:pt idx="11">
                  <c:v>6.8865730104036951</c:v>
                </c:pt>
                <c:pt idx="12">
                  <c:v>7.0172240681395577</c:v>
                </c:pt>
              </c:numCache>
            </c:numRef>
          </c:val>
          <c:smooth val="0"/>
          <c:extLst>
            <c:ext xmlns:c16="http://schemas.microsoft.com/office/drawing/2014/chart" uri="{C3380CC4-5D6E-409C-BE32-E72D297353CC}">
              <c16:uniqueId val="{00000000-208D-4410-90D7-F73D88D19382}"/>
            </c:ext>
          </c:extLst>
        </c:ser>
        <c:ser>
          <c:idx val="1"/>
          <c:order val="1"/>
          <c:tx>
            <c:strRef>
              <c:f>Sheet1!$C$1</c:f>
              <c:strCache>
                <c:ptCount val="1"/>
                <c:pt idx="0">
                  <c:v>Low</c:v>
                </c:pt>
              </c:strCache>
            </c:strRef>
          </c:tx>
          <c:spPr>
            <a:ln w="23813">
              <a:solidFill>
                <a:srgbClr val="0A2373"/>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Sheet1!$C$2:$C$19</c:f>
              <c:numCache>
                <c:formatCode>General</c:formatCode>
                <c:ptCount val="18"/>
                <c:pt idx="12" formatCode="0.0">
                  <c:v>7.0172240681395577</c:v>
                </c:pt>
                <c:pt idx="13" formatCode="0.0">
                  <c:v>6.8042787763608468</c:v>
                </c:pt>
                <c:pt idx="14" formatCode="0.0">
                  <c:v>6.7143986284408639</c:v>
                </c:pt>
                <c:pt idx="15" formatCode="0.0">
                  <c:v>6.6943165286384048</c:v>
                </c:pt>
                <c:pt idx="16" formatCode="0.0">
                  <c:v>6.6603072991495758</c:v>
                </c:pt>
                <c:pt idx="17" formatCode="0.0">
                  <c:v>6.6115549242717346</c:v>
                </c:pt>
              </c:numCache>
            </c:numRef>
          </c:val>
          <c:smooth val="0"/>
          <c:extLst>
            <c:ext xmlns:c16="http://schemas.microsoft.com/office/drawing/2014/chart" uri="{C3380CC4-5D6E-409C-BE32-E72D297353CC}">
              <c16:uniqueId val="{00000001-208D-4410-90D7-F73D88D19382}"/>
            </c:ext>
          </c:extLst>
        </c:ser>
        <c:ser>
          <c:idx val="2"/>
          <c:order val="2"/>
          <c:tx>
            <c:strRef>
              <c:f>Sheet1!$D$1</c:f>
              <c:strCache>
                <c:ptCount val="1"/>
                <c:pt idx="0">
                  <c:v>Base</c:v>
                </c:pt>
              </c:strCache>
            </c:strRef>
          </c:tx>
          <c:spPr>
            <a:ln w="23813">
              <a:solidFill>
                <a:srgbClr val="6782B4"/>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Sheet1!$D$2:$D$19</c:f>
              <c:numCache>
                <c:formatCode>General</c:formatCode>
                <c:ptCount val="18"/>
                <c:pt idx="12" formatCode="0.0">
                  <c:v>7.0172240681395577</c:v>
                </c:pt>
                <c:pt idx="13" formatCode="0.0">
                  <c:v>6.8385523904216985</c:v>
                </c:pt>
                <c:pt idx="14" formatCode="0.0">
                  <c:v>6.8350680889361142</c:v>
                </c:pt>
                <c:pt idx="15" formatCode="0.0">
                  <c:v>6.9419515747683951</c:v>
                </c:pt>
                <c:pt idx="16" formatCode="0.0">
                  <c:v>7.0002792464274517</c:v>
                </c:pt>
                <c:pt idx="17" formatCode="0.0">
                  <c:v>7.0243401472318308</c:v>
                </c:pt>
              </c:numCache>
            </c:numRef>
          </c:val>
          <c:smooth val="0"/>
          <c:extLst>
            <c:ext xmlns:c16="http://schemas.microsoft.com/office/drawing/2014/chart" uri="{C3380CC4-5D6E-409C-BE32-E72D297353CC}">
              <c16:uniqueId val="{00000002-208D-4410-90D7-F73D88D19382}"/>
            </c:ext>
          </c:extLst>
        </c:ser>
        <c:ser>
          <c:idx val="3"/>
          <c:order val="3"/>
          <c:tx>
            <c:strRef>
              <c:f>Sheet1!$E$1</c:f>
              <c:strCache>
                <c:ptCount val="1"/>
                <c:pt idx="0">
                  <c:v>High</c:v>
                </c:pt>
              </c:strCache>
            </c:strRef>
          </c:tx>
          <c:spPr>
            <a:ln w="23813">
              <a:solidFill>
                <a:srgbClr val="929292"/>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Sheet1!$E$2:$E$19</c:f>
              <c:numCache>
                <c:formatCode>General</c:formatCode>
                <c:ptCount val="18"/>
                <c:pt idx="12" formatCode="0.0">
                  <c:v>7.0172240681395577</c:v>
                </c:pt>
                <c:pt idx="13" formatCode="0.0">
                  <c:v>6.8729049025073712</c:v>
                </c:pt>
                <c:pt idx="14" formatCode="0.0">
                  <c:v>6.9554734071054165</c:v>
                </c:pt>
                <c:pt idx="15" formatCode="0.0">
                  <c:v>7.1975632823426876</c:v>
                </c:pt>
                <c:pt idx="16" formatCode="0.0">
                  <c:v>7.3574785010095836</c:v>
                </c:pt>
                <c:pt idx="17" formatCode="0.0">
                  <c:v>7.4640680312689307</c:v>
                </c:pt>
              </c:numCache>
            </c:numRef>
          </c:val>
          <c:smooth val="0"/>
          <c:extLst>
            <c:ext xmlns:c16="http://schemas.microsoft.com/office/drawing/2014/chart" uri="{C3380CC4-5D6E-409C-BE32-E72D297353CC}">
              <c16:uniqueId val="{00000003-208D-4410-90D7-F73D88D1938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2"/>
      </c:valAx>
    </c:plotArea>
    <c:legend>
      <c:legendPos val="b"/>
      <c:overlay val="0"/>
      <c:txPr>
        <a:bodyPr/>
        <a:lstStyle/>
        <a:p>
          <a:pPr>
            <a:defRPr sz="800"/>
          </a:pPr>
          <a:endParaRPr lang="en-US"/>
        </a:p>
      </c:txPr>
    </c:legend>
    <c:plotVisOnly val="1"/>
    <c:dispBlanksAs val="gap"/>
    <c:showDLblsOverMax val="0"/>
  </c:chart>
  <c:txPr>
    <a:bodyPr/>
    <a:lstStyle/>
    <a:p>
      <a:pPr>
        <a:defRPr sz="900">
          <a:latin typeface="Lato"/>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History</c:v>
                </c:pt>
              </c:strCache>
            </c:strRef>
          </c:tx>
          <c:spPr>
            <a:ln w="23813">
              <a:solidFill>
                <a:srgbClr val="11151A"/>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Sheet1!$B$2:$B$19</c:f>
              <c:numCache>
                <c:formatCode>0.0</c:formatCode>
                <c:ptCount val="18"/>
                <c:pt idx="0">
                  <c:v>8.4139491327375513</c:v>
                </c:pt>
                <c:pt idx="1">
                  <c:v>8.7422538083227721</c:v>
                </c:pt>
                <c:pt idx="2">
                  <c:v>9.369502180119909</c:v>
                </c:pt>
                <c:pt idx="3">
                  <c:v>8.3731260295778043</c:v>
                </c:pt>
                <c:pt idx="4">
                  <c:v>8.4180819409839351</c:v>
                </c:pt>
                <c:pt idx="5">
                  <c:v>8.6893921807395653</c:v>
                </c:pt>
                <c:pt idx="6">
                  <c:v>8.9457250564321633</c:v>
                </c:pt>
                <c:pt idx="7">
                  <c:v>8.1011802223439542</c:v>
                </c:pt>
                <c:pt idx="8">
                  <c:v>8.9714711840756429</c:v>
                </c:pt>
                <c:pt idx="9">
                  <c:v>9.7940674678862472</c:v>
                </c:pt>
                <c:pt idx="10">
                  <c:v>11.478658131392519</c:v>
                </c:pt>
                <c:pt idx="11">
                  <c:v>10.354733878557555</c:v>
                </c:pt>
                <c:pt idx="12">
                  <c:v>11.148230241617899</c:v>
                </c:pt>
              </c:numCache>
            </c:numRef>
          </c:val>
          <c:smooth val="0"/>
          <c:extLst>
            <c:ext xmlns:c16="http://schemas.microsoft.com/office/drawing/2014/chart" uri="{C3380CC4-5D6E-409C-BE32-E72D297353CC}">
              <c16:uniqueId val="{00000000-A0B8-4EA7-893B-DC0965401B76}"/>
            </c:ext>
          </c:extLst>
        </c:ser>
        <c:ser>
          <c:idx val="1"/>
          <c:order val="1"/>
          <c:tx>
            <c:strRef>
              <c:f>Sheet1!$C$1</c:f>
              <c:strCache>
                <c:ptCount val="1"/>
                <c:pt idx="0">
                  <c:v>Low</c:v>
                </c:pt>
              </c:strCache>
            </c:strRef>
          </c:tx>
          <c:spPr>
            <a:ln w="23813">
              <a:solidFill>
                <a:srgbClr val="0A2373"/>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Sheet1!$C$2:$C$19</c:f>
              <c:numCache>
                <c:formatCode>General</c:formatCode>
                <c:ptCount val="18"/>
                <c:pt idx="12" formatCode="0.0">
                  <c:v>11.148230241617899</c:v>
                </c:pt>
                <c:pt idx="13" formatCode="0.0">
                  <c:v>11.133480059023498</c:v>
                </c:pt>
                <c:pt idx="14" formatCode="0.0">
                  <c:v>11.118432488484792</c:v>
                </c:pt>
                <c:pt idx="15" formatCode="0.0">
                  <c:v>11.102766425965552</c:v>
                </c:pt>
                <c:pt idx="16" formatCode="0.0">
                  <c:v>11.085983071767693</c:v>
                </c:pt>
                <c:pt idx="17" formatCode="0.0">
                  <c:v>11.06733659552156</c:v>
                </c:pt>
              </c:numCache>
            </c:numRef>
          </c:val>
          <c:smooth val="0"/>
          <c:extLst>
            <c:ext xmlns:c16="http://schemas.microsoft.com/office/drawing/2014/chart" uri="{C3380CC4-5D6E-409C-BE32-E72D297353CC}">
              <c16:uniqueId val="{00000001-A0B8-4EA7-893B-DC0965401B76}"/>
            </c:ext>
          </c:extLst>
        </c:ser>
        <c:ser>
          <c:idx val="2"/>
          <c:order val="2"/>
          <c:tx>
            <c:strRef>
              <c:f>Sheet1!$D$1</c:f>
              <c:strCache>
                <c:ptCount val="1"/>
                <c:pt idx="0">
                  <c:v>Base</c:v>
                </c:pt>
              </c:strCache>
            </c:strRef>
          </c:tx>
          <c:spPr>
            <a:ln w="23813">
              <a:solidFill>
                <a:srgbClr val="6782B4"/>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Sheet1!$D$2:$D$19</c:f>
              <c:numCache>
                <c:formatCode>General</c:formatCode>
                <c:ptCount val="18"/>
                <c:pt idx="12" formatCode="0.0">
                  <c:v>11.148230241617899</c:v>
                </c:pt>
                <c:pt idx="13" formatCode="0.0">
                  <c:v>11.270297786745465</c:v>
                </c:pt>
                <c:pt idx="14" formatCode="0.0">
                  <c:v>11.393754256338493</c:v>
                </c:pt>
                <c:pt idx="15" formatCode="0.0">
                  <c:v>11.518382067184421</c:v>
                </c:pt>
                <c:pt idx="16" formatCode="0.0">
                  <c:v>11.643835364067595</c:v>
                </c:pt>
                <c:pt idx="17" formatCode="0.0">
                  <c:v>11.769588015187995</c:v>
                </c:pt>
              </c:numCache>
            </c:numRef>
          </c:val>
          <c:smooth val="0"/>
          <c:extLst>
            <c:ext xmlns:c16="http://schemas.microsoft.com/office/drawing/2014/chart" uri="{C3380CC4-5D6E-409C-BE32-E72D297353CC}">
              <c16:uniqueId val="{00000002-A0B8-4EA7-893B-DC0965401B76}"/>
            </c:ext>
          </c:extLst>
        </c:ser>
        <c:ser>
          <c:idx val="3"/>
          <c:order val="3"/>
          <c:tx>
            <c:strRef>
              <c:f>Sheet1!$E$1</c:f>
              <c:strCache>
                <c:ptCount val="1"/>
                <c:pt idx="0">
                  <c:v>High</c:v>
                </c:pt>
              </c:strCache>
            </c:strRef>
          </c:tx>
          <c:spPr>
            <a:ln w="23813">
              <a:solidFill>
                <a:srgbClr val="929292"/>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Sheet1!$E$2:$E$19</c:f>
              <c:numCache>
                <c:formatCode>General</c:formatCode>
                <c:ptCount val="18"/>
                <c:pt idx="12" formatCode="0.0">
                  <c:v>11.148230241617899</c:v>
                </c:pt>
                <c:pt idx="13" formatCode="0.0">
                  <c:v>11.556112914002401</c:v>
                </c:pt>
                <c:pt idx="14" formatCode="0.0">
                  <c:v>11.971041679207776</c:v>
                </c:pt>
                <c:pt idx="15" formatCode="0.0">
                  <c:v>12.393073940656587</c:v>
                </c:pt>
                <c:pt idx="16" formatCode="0.0">
                  <c:v>12.822222970885193</c:v>
                </c:pt>
                <c:pt idx="17" formatCode="0.0">
                  <c:v>13.258446290240329</c:v>
                </c:pt>
              </c:numCache>
            </c:numRef>
          </c:val>
          <c:smooth val="0"/>
          <c:extLst>
            <c:ext xmlns:c16="http://schemas.microsoft.com/office/drawing/2014/chart" uri="{C3380CC4-5D6E-409C-BE32-E72D297353CC}">
              <c16:uniqueId val="{00000003-A0B8-4EA7-893B-DC0965401B7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2"/>
      </c:valAx>
    </c:plotArea>
    <c:legend>
      <c:legendPos val="b"/>
      <c:overlay val="0"/>
      <c:txPr>
        <a:bodyPr/>
        <a:lstStyle/>
        <a:p>
          <a:pPr>
            <a:defRPr sz="800"/>
          </a:pPr>
          <a:endParaRPr lang="en-US"/>
        </a:p>
      </c:txPr>
    </c:legend>
    <c:plotVisOnly val="1"/>
    <c:dispBlanksAs val="gap"/>
    <c:showDLblsOverMax val="0"/>
  </c:chart>
  <c:txPr>
    <a:bodyPr/>
    <a:lstStyle/>
    <a:p>
      <a:pPr>
        <a:defRPr sz="900">
          <a:latin typeface="Lato"/>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
          <c:y val="0.04"/>
          <c:w val="0.66"/>
          <c:h val="0.84"/>
        </c:manualLayout>
      </c:layout>
      <c:lineChart>
        <c:grouping val="standard"/>
        <c:varyColors val="0"/>
        <c:ser>
          <c:idx val="0"/>
          <c:order val="0"/>
          <c:tx>
            <c:strRef>
              <c:f>Sheet1!$B$1</c:f>
              <c:strCache>
                <c:ptCount val="1"/>
                <c:pt idx="0">
                  <c:v>China</c:v>
                </c:pt>
              </c:strCache>
            </c:strRef>
          </c:tx>
          <c:spPr>
            <a:ln w="19050">
              <a:solidFill>
                <a:srgbClr val="3C3C3C"/>
              </a:solidFill>
              <a:prstDash val="solid"/>
            </a:ln>
          </c:spPr>
          <c:marker>
            <c:symbol val="none"/>
          </c:marker>
          <c:dLbls>
            <c:dLbl>
              <c:idx val="12"/>
              <c:tx>
                <c:rich>
                  <a:bodyPr/>
                  <a:lstStyle/>
                  <a:p>
                    <a:r>
                      <a:rPr lang="en-US" sz="900">
                        <a:solidFill>
                          <a:srgbClr val="3C3C3C"/>
                        </a:solidFill>
                      </a:rPr>
                      <a:t>China 53%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C72-46ED-9279-70725AD639B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strCache>
            </c:strRef>
          </c:cat>
          <c:val>
            <c:numRef>
              <c:f>Sheet1!$B$2:$B$14</c:f>
              <c:numCache>
                <c:formatCode>0</c:formatCode>
                <c:ptCount val="13"/>
                <c:pt idx="0">
                  <c:v>9.6000000000000002E-2</c:v>
                </c:pt>
                <c:pt idx="1">
                  <c:v>0.41</c:v>
                </c:pt>
                <c:pt idx="2">
                  <c:v>1.1000000000000001</c:v>
                </c:pt>
                <c:pt idx="3">
                  <c:v>1.5</c:v>
                </c:pt>
                <c:pt idx="4">
                  <c:v>2.4</c:v>
                </c:pt>
                <c:pt idx="5">
                  <c:v>4.7</c:v>
                </c:pt>
                <c:pt idx="6">
                  <c:v>5</c:v>
                </c:pt>
                <c:pt idx="7">
                  <c:v>5.7</c:v>
                </c:pt>
                <c:pt idx="8">
                  <c:v>16</c:v>
                </c:pt>
                <c:pt idx="9">
                  <c:v>29</c:v>
                </c:pt>
                <c:pt idx="10">
                  <c:v>38</c:v>
                </c:pt>
                <c:pt idx="11">
                  <c:v>48</c:v>
                </c:pt>
                <c:pt idx="12">
                  <c:v>53</c:v>
                </c:pt>
              </c:numCache>
            </c:numRef>
          </c:val>
          <c:smooth val="0"/>
          <c:extLst>
            <c:ext xmlns:c16="http://schemas.microsoft.com/office/drawing/2014/chart" uri="{C3380CC4-5D6E-409C-BE32-E72D297353CC}">
              <c16:uniqueId val="{00000000-208D-4410-90D7-F73D88D19382}"/>
            </c:ext>
          </c:extLst>
        </c:ser>
        <c:ser>
          <c:idx val="1"/>
          <c:order val="1"/>
          <c:tx>
            <c:strRef>
              <c:f>Sheet1!$C$1</c:f>
              <c:strCache>
                <c:ptCount val="1"/>
                <c:pt idx="0">
                  <c:v>Germany</c:v>
                </c:pt>
              </c:strCache>
            </c:strRef>
          </c:tx>
          <c:spPr>
            <a:ln w="19050">
              <a:solidFill>
                <a:srgbClr val="7F7F7F"/>
              </a:solidFill>
              <a:prstDash val="solid"/>
            </a:ln>
          </c:spPr>
          <c:marker>
            <c:symbol val="none"/>
          </c:marker>
          <c:dLbls>
            <c:dLbl>
              <c:idx val="12"/>
              <c:tx>
                <c:rich>
                  <a:bodyPr/>
                  <a:lstStyle/>
                  <a:p>
                    <a:r>
                      <a:rPr lang="en-US" sz="900">
                        <a:solidFill>
                          <a:srgbClr val="7F7F7F"/>
                        </a:solidFill>
                      </a:rPr>
                      <a:t>Germany 30%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C72-46ED-9279-70725AD639B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strCache>
            </c:strRef>
          </c:cat>
          <c:val>
            <c:numRef>
              <c:f>Sheet1!$C$2:$C$14</c:f>
              <c:numCache>
                <c:formatCode>0</c:formatCode>
                <c:ptCount val="13"/>
                <c:pt idx="0">
                  <c:v>0.23</c:v>
                </c:pt>
                <c:pt idx="1">
                  <c:v>0.45</c:v>
                </c:pt>
                <c:pt idx="2">
                  <c:v>0.73</c:v>
                </c:pt>
                <c:pt idx="3">
                  <c:v>0.74</c:v>
                </c:pt>
                <c:pt idx="4">
                  <c:v>1.6</c:v>
                </c:pt>
                <c:pt idx="5">
                  <c:v>2</c:v>
                </c:pt>
                <c:pt idx="6">
                  <c:v>3</c:v>
                </c:pt>
                <c:pt idx="7">
                  <c:v>14</c:v>
                </c:pt>
                <c:pt idx="8">
                  <c:v>26</c:v>
                </c:pt>
                <c:pt idx="9">
                  <c:v>31</c:v>
                </c:pt>
                <c:pt idx="10">
                  <c:v>24</c:v>
                </c:pt>
                <c:pt idx="11">
                  <c:v>20</c:v>
                </c:pt>
                <c:pt idx="12">
                  <c:v>30</c:v>
                </c:pt>
              </c:numCache>
            </c:numRef>
          </c:val>
          <c:smooth val="0"/>
          <c:extLst>
            <c:ext xmlns:c16="http://schemas.microsoft.com/office/drawing/2014/chart" uri="{C3380CC4-5D6E-409C-BE32-E72D297353CC}">
              <c16:uniqueId val="{00000001-208D-4410-90D7-F73D88D19382}"/>
            </c:ext>
          </c:extLst>
        </c:ser>
        <c:ser>
          <c:idx val="2"/>
          <c:order val="2"/>
          <c:tx>
            <c:strRef>
              <c:f>Sheet1!$D$1</c:f>
              <c:strCache>
                <c:ptCount val="1"/>
                <c:pt idx="0">
                  <c:v>World</c:v>
                </c:pt>
              </c:strCache>
            </c:strRef>
          </c:tx>
          <c:spPr>
            <a:ln w="19050">
              <a:solidFill>
                <a:srgbClr val="BFBFBF"/>
              </a:solidFill>
              <a:prstDash val="solid"/>
            </a:ln>
          </c:spPr>
          <c:marker>
            <c:symbol val="none"/>
          </c:marker>
          <c:dLbls>
            <c:dLbl>
              <c:idx val="12"/>
              <c:tx>
                <c:rich>
                  <a:bodyPr/>
                  <a:lstStyle/>
                  <a:p>
                    <a:r>
                      <a:rPr lang="en-US" sz="900">
                        <a:solidFill>
                          <a:srgbClr val="3C3C3C"/>
                        </a:solidFill>
                      </a:rPr>
                      <a:t>World 25%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C72-46ED-9279-70725AD639B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strCache>
            </c:strRef>
          </c:cat>
          <c:val>
            <c:numRef>
              <c:f>Sheet1!$D$2:$D$14</c:f>
              <c:numCache>
                <c:formatCode>0</c:formatCode>
                <c:ptCount val="13"/>
                <c:pt idx="0">
                  <c:v>0.28999999999999998</c:v>
                </c:pt>
                <c:pt idx="1">
                  <c:v>0.44</c:v>
                </c:pt>
                <c:pt idx="2">
                  <c:v>0.68</c:v>
                </c:pt>
                <c:pt idx="3">
                  <c:v>0.95</c:v>
                </c:pt>
                <c:pt idx="4">
                  <c:v>1.4</c:v>
                </c:pt>
                <c:pt idx="5">
                  <c:v>2.4</c:v>
                </c:pt>
                <c:pt idx="6">
                  <c:v>2.7</c:v>
                </c:pt>
                <c:pt idx="7">
                  <c:v>4.4000000000000004</c:v>
                </c:pt>
                <c:pt idx="8">
                  <c:v>9.3000000000000007</c:v>
                </c:pt>
                <c:pt idx="9">
                  <c:v>15</c:v>
                </c:pt>
                <c:pt idx="10">
                  <c:v>18</c:v>
                </c:pt>
                <c:pt idx="11">
                  <c:v>21</c:v>
                </c:pt>
                <c:pt idx="12">
                  <c:v>25</c:v>
                </c:pt>
              </c:numCache>
            </c:numRef>
          </c:val>
          <c:smooth val="0"/>
          <c:extLst>
            <c:ext xmlns:c16="http://schemas.microsoft.com/office/drawing/2014/chart" uri="{C3380CC4-5D6E-409C-BE32-E72D297353CC}">
              <c16:uniqueId val="{00000002-208D-4410-90D7-F73D88D19382}"/>
            </c:ext>
          </c:extLst>
        </c:ser>
        <c:ser>
          <c:idx val="3"/>
          <c:order val="3"/>
          <c:tx>
            <c:strRef>
              <c:f>Sheet1!$E$1</c:f>
              <c:strCache>
                <c:ptCount val="1"/>
                <c:pt idx="0">
                  <c:v>Brazil</c:v>
                </c:pt>
              </c:strCache>
            </c:strRef>
          </c:tx>
          <c:spPr>
            <a:ln w="19050">
              <a:solidFill>
                <a:srgbClr val="A6A6A6"/>
              </a:solidFill>
              <a:prstDash val="solid"/>
            </a:ln>
          </c:spPr>
          <c:marker>
            <c:symbol val="none"/>
          </c:marker>
          <c:dLbls>
            <c:dLbl>
              <c:idx val="12"/>
              <c:tx>
                <c:rich>
                  <a:bodyPr/>
                  <a:lstStyle/>
                  <a:p>
                    <a:r>
                      <a:rPr lang="en-US" sz="900">
                        <a:solidFill>
                          <a:srgbClr val="A6A6A6"/>
                        </a:solidFill>
                      </a:rPr>
                      <a:t>Brazil 9%</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C72-46ED-9279-70725AD639B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strCache>
            </c:strRef>
          </c:cat>
          <c:val>
            <c:numRef>
              <c:f>Sheet1!$E$2:$E$14</c:f>
              <c:numCache>
                <c:formatCode>General</c:formatCode>
                <c:ptCount val="13"/>
                <c:pt idx="6" formatCode="0">
                  <c:v>8.4000000000000005E-2</c:v>
                </c:pt>
                <c:pt idx="7" formatCode="0">
                  <c:v>0.16</c:v>
                </c:pt>
                <c:pt idx="8" formatCode="0">
                  <c:v>0.92</c:v>
                </c:pt>
                <c:pt idx="9" formatCode="0">
                  <c:v>1.2</c:v>
                </c:pt>
                <c:pt idx="10" formatCode="0">
                  <c:v>3</c:v>
                </c:pt>
                <c:pt idx="11" formatCode="0">
                  <c:v>6.4</c:v>
                </c:pt>
                <c:pt idx="12" formatCode="0">
                  <c:v>9</c:v>
                </c:pt>
              </c:numCache>
            </c:numRef>
          </c:val>
          <c:smooth val="0"/>
          <c:extLst>
            <c:ext xmlns:c16="http://schemas.microsoft.com/office/drawing/2014/chart" uri="{C3380CC4-5D6E-409C-BE32-E72D297353CC}">
              <c16:uniqueId val="{00000003-208D-4410-90D7-F73D88D19382}"/>
            </c:ext>
          </c:extLst>
        </c:ser>
        <c:ser>
          <c:idx val="4"/>
          <c:order val="4"/>
          <c:tx>
            <c:strRef>
              <c:f>Sheet1!$F$1</c:f>
              <c:strCache>
                <c:ptCount val="1"/>
                <c:pt idx="0">
                  <c:v>South Africa</c:v>
                </c:pt>
              </c:strCache>
            </c:strRef>
          </c:tx>
          <c:spPr>
            <a:ln w="25400">
              <a:solidFill>
                <a:srgbClr val="0A2373"/>
              </a:solidFill>
              <a:prstDash val="solid"/>
            </a:ln>
          </c:spPr>
          <c:marker>
            <c:symbol val="none"/>
          </c:marker>
          <c:dLbls>
            <c:dLbl>
              <c:idx val="12"/>
              <c:tx>
                <c:rich>
                  <a:bodyPr/>
                  <a:lstStyle/>
                  <a:p>
                    <a:r>
                      <a:rPr lang="en-US" sz="900">
                        <a:solidFill>
                          <a:srgbClr val="0A2373"/>
                        </a:solidFill>
                      </a:rPr>
                      <a:t>SA 0.9%</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C72-46ED-9279-70725AD639B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strCache>
            </c:strRef>
          </c:cat>
          <c:val>
            <c:numRef>
              <c:f>Sheet1!$F$2:$F$14</c:f>
              <c:numCache>
                <c:formatCode>General</c:formatCode>
                <c:ptCount val="13"/>
                <c:pt idx="6" formatCode="0">
                  <c:v>6.4000000000000001E-2</c:v>
                </c:pt>
                <c:pt idx="7" formatCode="0">
                  <c:v>9.8000000000000004E-2</c:v>
                </c:pt>
                <c:pt idx="8" formatCode="0">
                  <c:v>8.7999999999999995E-2</c:v>
                </c:pt>
                <c:pt idx="9" formatCode="0">
                  <c:v>0.17</c:v>
                </c:pt>
                <c:pt idx="10" formatCode="0">
                  <c:v>0.3</c:v>
                </c:pt>
                <c:pt idx="11" formatCode="0">
                  <c:v>0.54</c:v>
                </c:pt>
                <c:pt idx="12" formatCode="0">
                  <c:v>0.88</c:v>
                </c:pt>
              </c:numCache>
            </c:numRef>
          </c:val>
          <c:smooth val="0"/>
          <c:extLst>
            <c:ext xmlns:c16="http://schemas.microsoft.com/office/drawing/2014/chart" uri="{C3380CC4-5D6E-409C-BE32-E72D297353CC}">
              <c16:uniqueId val="{00000003-208D-4410-90D7-F73D88D1938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900">
                <a:solidFill>
                  <a:srgbClr val="666666"/>
                </a:solidFill>
              </a:defRPr>
            </a:pPr>
            <a:endParaRPr lang="en-US"/>
          </a:p>
        </c:txPr>
        <c:crossAx val="2140495176"/>
        <c:crosses val="autoZero"/>
        <c:auto val="1"/>
        <c:lblAlgn val="ctr"/>
        <c:lblOffset val="100"/>
        <c:tickLblSkip val="2"/>
        <c:noMultiLvlLbl val="0"/>
      </c:catAx>
      <c:valAx>
        <c:axId val="2140495176"/>
        <c:scaling>
          <c:orientation val="minMax"/>
          <c:max val="60"/>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8791784"/>
        <c:crosses val="autoZero"/>
        <c:crossBetween val="between"/>
        <c:majorUnit val="10"/>
      </c:valAx>
    </c:plotArea>
    <c:plotVisOnly val="1"/>
    <c:dispBlanksAs val="gap"/>
    <c:showDLblsOverMax val="0"/>
  </c:chart>
  <c:txPr>
    <a:bodyPr/>
    <a:lstStyle/>
    <a:p>
      <a:pPr>
        <a:defRPr sz="900">
          <a:latin typeface="Lato"/>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
          <c:y val="0.04"/>
          <c:w val="0.66"/>
          <c:h val="0.84"/>
        </c:manualLayout>
      </c:layout>
      <c:lineChart>
        <c:grouping val="standard"/>
        <c:varyColors val="0"/>
        <c:ser>
          <c:idx val="0"/>
          <c:order val="0"/>
          <c:tx>
            <c:strRef>
              <c:f>Sheet1!$B$1</c:f>
              <c:strCache>
                <c:ptCount val="1"/>
                <c:pt idx="0">
                  <c:v>Actual</c:v>
                </c:pt>
              </c:strCache>
            </c:strRef>
          </c:tx>
          <c:spPr>
            <a:ln w="25400">
              <a:solidFill>
                <a:srgbClr val="0A2373"/>
              </a:solidFill>
              <a:prstDash val="solid"/>
            </a:ln>
          </c:spPr>
          <c:marker>
            <c:symbol val="none"/>
          </c:marker>
          <c:dLbls>
            <c:dLbl>
              <c:idx val="4"/>
              <c:tx>
                <c:rich>
                  <a:bodyPr/>
                  <a:lstStyle/>
                  <a:p>
                    <a:r>
                      <a:rPr lang="en-US" sz="900">
                        <a:solidFill>
                          <a:srgbClr val="0A2373"/>
                        </a:solidFill>
                      </a:rPr>
                      <a:t>0.9% in 2025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FA3-42B2-B9AC-999D4A531BB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2020</c:v>
                </c:pt>
                <c:pt idx="1">
                  <c:v>2021</c:v>
                </c:pt>
                <c:pt idx="2">
                  <c:v>2022</c:v>
                </c:pt>
                <c:pt idx="3">
                  <c:v>2023</c:v>
                </c:pt>
                <c:pt idx="4">
                  <c:v>2024</c:v>
                </c:pt>
                <c:pt idx="5">
                  <c:v>2025</c:v>
                </c:pt>
                <c:pt idx="6">
                  <c:v>2026</c:v>
                </c:pt>
                <c:pt idx="7">
                  <c:v>2027</c:v>
                </c:pt>
                <c:pt idx="8">
                  <c:v>2028</c:v>
                </c:pt>
                <c:pt idx="9">
                  <c:v>2029</c:v>
                </c:pt>
                <c:pt idx="10">
                  <c:v>2030</c:v>
                </c:pt>
              </c:strCache>
            </c:strRef>
          </c:cat>
          <c:val>
            <c:numRef>
              <c:f>Sheet1!$B$2:$B$12</c:f>
              <c:numCache>
                <c:formatCode>0.0</c:formatCode>
                <c:ptCount val="11"/>
                <c:pt idx="0">
                  <c:v>9.8000000000000004E-2</c:v>
                </c:pt>
                <c:pt idx="1">
                  <c:v>8.7999999999999995E-2</c:v>
                </c:pt>
                <c:pt idx="2">
                  <c:v>0.17</c:v>
                </c:pt>
                <c:pt idx="3">
                  <c:v>0.3</c:v>
                </c:pt>
                <c:pt idx="4">
                  <c:v>0.54</c:v>
                </c:pt>
                <c:pt idx="5">
                  <c:v>0.88</c:v>
                </c:pt>
              </c:numCache>
            </c:numRef>
          </c:val>
          <c:smooth val="0"/>
          <c:extLst>
            <c:ext xmlns:c16="http://schemas.microsoft.com/office/drawing/2014/chart" uri="{C3380CC4-5D6E-409C-BE32-E72D297353CC}">
              <c16:uniqueId val="{00000000-A0B8-4EA7-893B-DC0965401B76}"/>
            </c:ext>
          </c:extLst>
        </c:ser>
        <c:ser>
          <c:idx val="1"/>
          <c:order val="1"/>
          <c:tx>
            <c:strRef>
              <c:f>Sheet1!$C$1</c:f>
              <c:strCache>
                <c:ptCount val="1"/>
                <c:pt idx="0">
                  <c:v>Fast</c:v>
                </c:pt>
              </c:strCache>
            </c:strRef>
          </c:tx>
          <c:spPr>
            <a:ln w="19050">
              <a:solidFill>
                <a:srgbClr val="9DB0DA"/>
              </a:solidFill>
              <a:prstDash val="dash"/>
            </a:ln>
          </c:spPr>
          <c:marker>
            <c:symbol val="none"/>
          </c:marker>
          <c:dLbls>
            <c:dLbl>
              <c:idx val="10"/>
              <c:tx>
                <c:rich>
                  <a:bodyPr/>
                  <a:lstStyle/>
                  <a:p>
                    <a:r>
                      <a:rPr lang="en-US" sz="900">
                        <a:solidFill>
                          <a:srgbClr val="9DB0DA"/>
                        </a:solidFill>
                      </a:rPr>
                      <a:t>Fast 9.9%</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FA3-42B2-B9AC-999D4A531BB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2020</c:v>
                </c:pt>
                <c:pt idx="1">
                  <c:v>2021</c:v>
                </c:pt>
                <c:pt idx="2">
                  <c:v>2022</c:v>
                </c:pt>
                <c:pt idx="3">
                  <c:v>2023</c:v>
                </c:pt>
                <c:pt idx="4">
                  <c:v>2024</c:v>
                </c:pt>
                <c:pt idx="5">
                  <c:v>2025</c:v>
                </c:pt>
                <c:pt idx="6">
                  <c:v>2026</c:v>
                </c:pt>
                <c:pt idx="7">
                  <c:v>2027</c:v>
                </c:pt>
                <c:pt idx="8">
                  <c:v>2028</c:v>
                </c:pt>
                <c:pt idx="9">
                  <c:v>2029</c:v>
                </c:pt>
                <c:pt idx="10">
                  <c:v>2030</c:v>
                </c:pt>
              </c:strCache>
            </c:strRef>
          </c:cat>
          <c:val>
            <c:numRef>
              <c:f>Sheet1!$C$2:$C$12</c:f>
              <c:numCache>
                <c:formatCode>General</c:formatCode>
                <c:ptCount val="11"/>
                <c:pt idx="5" formatCode="0.0">
                  <c:v>0.88000000000000678</c:v>
                </c:pt>
                <c:pt idx="6" formatCode="0.0">
                  <c:v>1.4438291802972574</c:v>
                </c:pt>
                <c:pt idx="7" formatCode="0.0">
                  <c:v>2.3615645032505497</c:v>
                </c:pt>
                <c:pt idx="8" formatCode="0.0">
                  <c:v>3.8432333317345795</c:v>
                </c:pt>
                <c:pt idx="9" formatCode="0.0">
                  <c:v>6.2042002154429854</c:v>
                </c:pt>
                <c:pt idx="10" formatCode="0.0">
                  <c:v>9.8887888200469245</c:v>
                </c:pt>
              </c:numCache>
            </c:numRef>
          </c:val>
          <c:smooth val="0"/>
          <c:extLst>
            <c:ext xmlns:c16="http://schemas.microsoft.com/office/drawing/2014/chart" uri="{C3380CC4-5D6E-409C-BE32-E72D297353CC}">
              <c16:uniqueId val="{00000001-A0B8-4EA7-893B-DC0965401B76}"/>
            </c:ext>
          </c:extLst>
        </c:ser>
        <c:ser>
          <c:idx val="2"/>
          <c:order val="2"/>
          <c:tx>
            <c:strRef>
              <c:f>Sheet1!$D$1</c:f>
              <c:strCache>
                <c:ptCount val="1"/>
                <c:pt idx="0">
                  <c:v>Base</c:v>
                </c:pt>
              </c:strCache>
            </c:strRef>
          </c:tx>
          <c:spPr>
            <a:ln w="25400">
              <a:solidFill>
                <a:srgbClr val="4F6FB5"/>
              </a:solidFill>
              <a:prstDash val="dash"/>
            </a:ln>
          </c:spPr>
          <c:marker>
            <c:symbol val="none"/>
          </c:marker>
          <c:dLbls>
            <c:dLbl>
              <c:idx val="10"/>
              <c:tx>
                <c:rich>
                  <a:bodyPr/>
                  <a:lstStyle/>
                  <a:p>
                    <a:r>
                      <a:rPr lang="en-US" sz="900">
                        <a:solidFill>
                          <a:srgbClr val="4F6FB5"/>
                        </a:solidFill>
                      </a:rPr>
                      <a:t>Base 7.1%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FA3-42B2-B9AC-999D4A531BB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2020</c:v>
                </c:pt>
                <c:pt idx="1">
                  <c:v>2021</c:v>
                </c:pt>
                <c:pt idx="2">
                  <c:v>2022</c:v>
                </c:pt>
                <c:pt idx="3">
                  <c:v>2023</c:v>
                </c:pt>
                <c:pt idx="4">
                  <c:v>2024</c:v>
                </c:pt>
                <c:pt idx="5">
                  <c:v>2025</c:v>
                </c:pt>
                <c:pt idx="6">
                  <c:v>2026</c:v>
                </c:pt>
                <c:pt idx="7">
                  <c:v>2027</c:v>
                </c:pt>
                <c:pt idx="8">
                  <c:v>2028</c:v>
                </c:pt>
                <c:pt idx="9">
                  <c:v>2029</c:v>
                </c:pt>
                <c:pt idx="10">
                  <c:v>2030</c:v>
                </c:pt>
              </c:strCache>
            </c:strRef>
          </c:cat>
          <c:val>
            <c:numRef>
              <c:f>Sheet1!$D$2:$D$12</c:f>
              <c:numCache>
                <c:formatCode>General</c:formatCode>
                <c:ptCount val="11"/>
                <c:pt idx="5" formatCode="0.0">
                  <c:v>0.88000000000000256</c:v>
                </c:pt>
                <c:pt idx="6" formatCode="0.0">
                  <c:v>1.3305504415722436</c:v>
                </c:pt>
                <c:pt idx="7" formatCode="0.0">
                  <c:v>2.0198403734251809</c:v>
                </c:pt>
                <c:pt idx="8" formatCode="0.0">
                  <c:v>3.0730147917961261</c:v>
                </c:pt>
                <c:pt idx="9" formatCode="0.0">
                  <c:v>4.6723225904401975</c:v>
                </c:pt>
                <c:pt idx="10" formatCode="0.0">
                  <c:v>7.0681543409790528</c:v>
                </c:pt>
              </c:numCache>
            </c:numRef>
          </c:val>
          <c:smooth val="0"/>
          <c:extLst>
            <c:ext xmlns:c16="http://schemas.microsoft.com/office/drawing/2014/chart" uri="{C3380CC4-5D6E-409C-BE32-E72D297353CC}">
              <c16:uniqueId val="{00000002-A0B8-4EA7-893B-DC0965401B76}"/>
            </c:ext>
          </c:extLst>
        </c:ser>
        <c:ser>
          <c:idx val="3"/>
          <c:order val="3"/>
          <c:tx>
            <c:strRef>
              <c:f>Sheet1!$E$1</c:f>
              <c:strCache>
                <c:ptCount val="1"/>
                <c:pt idx="0">
                  <c:v>Slow</c:v>
                </c:pt>
              </c:strCache>
            </c:strRef>
          </c:tx>
          <c:spPr>
            <a:ln w="19050">
              <a:solidFill>
                <a:srgbClr val="0A2373"/>
              </a:solidFill>
              <a:prstDash val="dash"/>
            </a:ln>
          </c:spPr>
          <c:marker>
            <c:symbol val="none"/>
          </c:marker>
          <c:dLbls>
            <c:dLbl>
              <c:idx val="10"/>
              <c:tx>
                <c:rich>
                  <a:bodyPr/>
                  <a:lstStyle/>
                  <a:p>
                    <a:r>
                      <a:rPr lang="en-US" sz="900">
                        <a:solidFill>
                          <a:srgbClr val="0A2373"/>
                        </a:solidFill>
                      </a:rPr>
                      <a:t>Slow 4.2%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FA3-42B2-B9AC-999D4A531BB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2020</c:v>
                </c:pt>
                <c:pt idx="1">
                  <c:v>2021</c:v>
                </c:pt>
                <c:pt idx="2">
                  <c:v>2022</c:v>
                </c:pt>
                <c:pt idx="3">
                  <c:v>2023</c:v>
                </c:pt>
                <c:pt idx="4">
                  <c:v>2024</c:v>
                </c:pt>
                <c:pt idx="5">
                  <c:v>2025</c:v>
                </c:pt>
                <c:pt idx="6">
                  <c:v>2026</c:v>
                </c:pt>
                <c:pt idx="7">
                  <c:v>2027</c:v>
                </c:pt>
                <c:pt idx="8">
                  <c:v>2028</c:v>
                </c:pt>
                <c:pt idx="9">
                  <c:v>2029</c:v>
                </c:pt>
                <c:pt idx="10">
                  <c:v>2030</c:v>
                </c:pt>
              </c:strCache>
            </c:strRef>
          </c:cat>
          <c:val>
            <c:numRef>
              <c:f>Sheet1!$E$2:$E$12</c:f>
              <c:numCache>
                <c:formatCode>General</c:formatCode>
                <c:ptCount val="11"/>
                <c:pt idx="5" formatCode="0.0">
                  <c:v>0.87999999999999834</c:v>
                </c:pt>
                <c:pt idx="6" formatCode="0.0">
                  <c:v>1.2172717028472297</c:v>
                </c:pt>
                <c:pt idx="7" formatCode="0.0">
                  <c:v>1.6781162435998123</c:v>
                </c:pt>
                <c:pt idx="8" formatCode="0.0">
                  <c:v>2.3027962518576723</c:v>
                </c:pt>
                <c:pt idx="9" formatCode="0.0">
                  <c:v>3.1404449654374096</c:v>
                </c:pt>
                <c:pt idx="10" formatCode="0.0">
                  <c:v>4.247519861911182</c:v>
                </c:pt>
              </c:numCache>
            </c:numRef>
          </c:val>
          <c:smooth val="0"/>
          <c:extLst>
            <c:ext xmlns:c16="http://schemas.microsoft.com/office/drawing/2014/chart" uri="{C3380CC4-5D6E-409C-BE32-E72D297353CC}">
              <c16:uniqueId val="{00000003-A0B8-4EA7-893B-DC0965401B7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rot="0" vert="horz"/>
          <a:lstStyle/>
          <a:p>
            <a:pPr>
              <a:defRPr sz="900">
                <a:solidFill>
                  <a:srgbClr val="666666"/>
                </a:solidFill>
              </a:defRPr>
            </a:pPr>
            <a:endParaRPr lang="en-US"/>
          </a:p>
        </c:txPr>
        <c:crossAx val="2140495176"/>
        <c:crosses val="autoZero"/>
        <c:auto val="1"/>
        <c:lblAlgn val="ctr"/>
        <c:lblOffset val="100"/>
        <c:tickLblSkip val="2"/>
        <c:noMultiLvlLbl val="0"/>
      </c:catAx>
      <c:valAx>
        <c:axId val="2140495176"/>
        <c:scaling>
          <c:orientation val="minMax"/>
          <c:max val="12"/>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8791784"/>
        <c:crosses val="autoZero"/>
        <c:crossBetween val="between"/>
        <c:majorUnit val="2"/>
      </c:valAx>
    </c:plotArea>
    <c:plotVisOnly val="1"/>
    <c:dispBlanksAs val="gap"/>
    <c:showDLblsOverMax val="0"/>
  </c:chart>
  <c:txPr>
    <a:bodyPr/>
    <a:lstStyle/>
    <a:p>
      <a:pPr>
        <a:defRPr sz="900">
          <a:latin typeface="Lato"/>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November 2025 report</c:v>
                </c:pt>
              </c:strCache>
            </c:strRef>
          </c:tx>
          <c:spPr>
            <a:solidFill>
              <a:srgbClr val="929292"/>
            </a:solidFill>
          </c:spPr>
          <c:invertIfNegative val="0"/>
          <c:dLbls>
            <c:dLbl>
              <c:idx val="0"/>
              <c:tx>
                <c:rich>
                  <a:bodyPr/>
                  <a:lstStyle/>
                  <a:p>
                    <a:r>
                      <a:rPr lang="en-US"/>
                      <a:t>7.0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C06-4837-A636-94EDC17AC9A0}"/>
                </c:ext>
              </c:extLst>
            </c:dLbl>
            <c:dLbl>
              <c:idx val="1"/>
              <c:tx>
                <c:rich>
                  <a:bodyPr/>
                  <a:lstStyle/>
                  <a:p>
                    <a:r>
                      <a:rPr lang="en-US"/>
                      <a:t>7.4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C06-4837-A636-94EDC17AC9A0}"/>
                </c:ext>
              </c:extLst>
            </c:dLbl>
            <c:dLbl>
              <c:idx val="2"/>
              <c:tx>
                <c:rich>
                  <a:bodyPr/>
                  <a:lstStyle/>
                  <a:p>
                    <a:r>
                      <a:rPr lang="en-US"/>
                      <a:t>7.8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C06-4837-A636-94EDC17AC9A0}"/>
                </c:ext>
              </c:extLst>
            </c:dLbl>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Sheet1!$B$2:$B$4</c:f>
              <c:numCache>
                <c:formatCode>0.0</c:formatCode>
                <c:ptCount val="3"/>
                <c:pt idx="0">
                  <c:v>7.0006215300000001</c:v>
                </c:pt>
                <c:pt idx="1">
                  <c:v>7.4027971380000004</c:v>
                </c:pt>
                <c:pt idx="2">
                  <c:v>7.8049727449999997</c:v>
                </c:pt>
              </c:numCache>
            </c:numRef>
          </c:val>
          <c:extLst>
            <c:ext xmlns:c16="http://schemas.microsoft.com/office/drawing/2014/chart" uri="{C3380CC4-5D6E-409C-BE32-E72D297353CC}">
              <c16:uniqueId val="{00000000-E09C-47B7-9C62-74809365C0F7}"/>
            </c:ext>
          </c:extLst>
        </c:ser>
        <c:ser>
          <c:idx val="1"/>
          <c:order val="1"/>
          <c:tx>
            <c:strRef>
              <c:f>Sheet1!$C$1</c:f>
              <c:strCache>
                <c:ptCount val="1"/>
                <c:pt idx="0">
                  <c:v>This year (October 2026)</c:v>
                </c:pt>
              </c:strCache>
            </c:strRef>
          </c:tx>
          <c:spPr>
            <a:solidFill>
              <a:srgbClr val="0A2373"/>
            </a:solidFill>
          </c:spPr>
          <c:invertIfNegative val="0"/>
          <c:dLbls>
            <c:dLbl>
              <c:idx val="0"/>
              <c:tx>
                <c:rich>
                  <a:bodyPr/>
                  <a:lstStyle/>
                  <a:p>
                    <a:r>
                      <a:rPr lang="en-US"/>
                      <a:t>6.6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C06-4837-A636-94EDC17AC9A0}"/>
                </c:ext>
              </c:extLst>
            </c:dLbl>
            <c:dLbl>
              <c:idx val="1"/>
              <c:tx>
                <c:rich>
                  <a:bodyPr/>
                  <a:lstStyle/>
                  <a:p>
                    <a:r>
                      <a:rPr lang="en-US"/>
                      <a:t>7.0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C06-4837-A636-94EDC17AC9A0}"/>
                </c:ext>
              </c:extLst>
            </c:dLbl>
            <c:dLbl>
              <c:idx val="2"/>
              <c:tx>
                <c:rich>
                  <a:bodyPr/>
                  <a:lstStyle/>
                  <a:p>
                    <a:r>
                      <a:rPr lang="en-US"/>
                      <a:t>7.5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C06-4837-A636-94EDC17AC9A0}"/>
                </c:ext>
              </c:extLst>
            </c:dLbl>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Sheet1!$C$2:$C$4</c:f>
              <c:numCache>
                <c:formatCode>0.0</c:formatCode>
                <c:ptCount val="3"/>
                <c:pt idx="0">
                  <c:v>6.6115549242717346</c:v>
                </c:pt>
                <c:pt idx="1">
                  <c:v>7.0243401472318308</c:v>
                </c:pt>
                <c:pt idx="2">
                  <c:v>7.4640680312689307</c:v>
                </c:pt>
              </c:numCache>
            </c:numRef>
          </c:val>
          <c:extLst>
            <c:ext xmlns:c16="http://schemas.microsoft.com/office/drawing/2014/chart" uri="{C3380CC4-5D6E-409C-BE32-E72D297353CC}">
              <c16:uniqueId val="{00000001-E09C-47B7-9C62-74809365C0F7}"/>
            </c:ext>
          </c:extLst>
        </c:ser>
        <c:dLbls>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txPr>
        <a:bodyPr/>
        <a:lstStyle/>
        <a:p>
          <a:pPr>
            <a:defRPr sz="800"/>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November 2025 report</c:v>
                </c:pt>
              </c:strCache>
            </c:strRef>
          </c:tx>
          <c:spPr>
            <a:solidFill>
              <a:srgbClr val="929292"/>
            </a:solidFill>
          </c:spPr>
          <c:invertIfNegative val="0"/>
          <c:dLbls>
            <c:dLbl>
              <c:idx val="0"/>
              <c:tx>
                <c:rich>
                  <a:bodyPr/>
                  <a:lstStyle/>
                  <a:p>
                    <a:r>
                      <a:rPr lang="en-US"/>
                      <a:t>7.6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260-4276-A2C8-A8FE32A0F5B1}"/>
                </c:ext>
              </c:extLst>
            </c:dLbl>
            <c:dLbl>
              <c:idx val="1"/>
              <c:tx>
                <c:rich>
                  <a:bodyPr/>
                  <a:lstStyle/>
                  <a:p>
                    <a:r>
                      <a:rPr lang="en-US"/>
                      <a:t>8.5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260-4276-A2C8-A8FE32A0F5B1}"/>
                </c:ext>
              </c:extLst>
            </c:dLbl>
            <c:dLbl>
              <c:idx val="2"/>
              <c:tx>
                <c:rich>
                  <a:bodyPr/>
                  <a:lstStyle/>
                  <a:p>
                    <a:r>
                      <a:rPr lang="en-US"/>
                      <a:t>9.5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260-4276-A2C8-A8FE32A0F5B1}"/>
                </c:ext>
              </c:extLst>
            </c:dLbl>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Sheet1!$B$2:$B$4</c:f>
              <c:numCache>
                <c:formatCode>0.0</c:formatCode>
                <c:ptCount val="3"/>
                <c:pt idx="0">
                  <c:v>7.5572208208727041</c:v>
                </c:pt>
                <c:pt idx="1">
                  <c:v>8.5305197577151066</c:v>
                </c:pt>
                <c:pt idx="2">
                  <c:v>9.5038186945575092</c:v>
                </c:pt>
              </c:numCache>
            </c:numRef>
          </c:val>
          <c:extLst>
            <c:ext xmlns:c16="http://schemas.microsoft.com/office/drawing/2014/chart" uri="{C3380CC4-5D6E-409C-BE32-E72D297353CC}">
              <c16:uniqueId val="{00000000-A128-486B-9391-1E54046B46A5}"/>
            </c:ext>
          </c:extLst>
        </c:ser>
        <c:ser>
          <c:idx val="1"/>
          <c:order val="1"/>
          <c:tx>
            <c:strRef>
              <c:f>Sheet1!$C$1</c:f>
              <c:strCache>
                <c:ptCount val="1"/>
                <c:pt idx="0">
                  <c:v>This year (October 2026)</c:v>
                </c:pt>
              </c:strCache>
            </c:strRef>
          </c:tx>
          <c:spPr>
            <a:solidFill>
              <a:srgbClr val="0A2373"/>
            </a:solidFill>
          </c:spPr>
          <c:invertIfNegative val="0"/>
          <c:dLbls>
            <c:dLbl>
              <c:idx val="0"/>
              <c:tx>
                <c:rich>
                  <a:bodyPr/>
                  <a:lstStyle/>
                  <a:p>
                    <a:r>
                      <a:rPr lang="en-US"/>
                      <a:t>11.1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260-4276-A2C8-A8FE32A0F5B1}"/>
                </c:ext>
              </c:extLst>
            </c:dLbl>
            <c:dLbl>
              <c:idx val="1"/>
              <c:tx>
                <c:rich>
                  <a:bodyPr/>
                  <a:lstStyle/>
                  <a:p>
                    <a:r>
                      <a:rPr lang="en-US"/>
                      <a:t>11.8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260-4276-A2C8-A8FE32A0F5B1}"/>
                </c:ext>
              </c:extLst>
            </c:dLbl>
            <c:dLbl>
              <c:idx val="2"/>
              <c:tx>
                <c:rich>
                  <a:bodyPr/>
                  <a:lstStyle/>
                  <a:p>
                    <a:r>
                      <a:rPr lang="en-US"/>
                      <a:t>13.3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260-4276-A2C8-A8FE32A0F5B1}"/>
                </c:ext>
              </c:extLst>
            </c:dLbl>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Sheet1!$C$2:$C$4</c:f>
              <c:numCache>
                <c:formatCode>0.0</c:formatCode>
                <c:ptCount val="3"/>
                <c:pt idx="0">
                  <c:v>11.06733659552156</c:v>
                </c:pt>
                <c:pt idx="1">
                  <c:v>11.769588015187995</c:v>
                </c:pt>
                <c:pt idx="2">
                  <c:v>13.258446290240329</c:v>
                </c:pt>
              </c:numCache>
            </c:numRef>
          </c:val>
          <c:extLst>
            <c:ext xmlns:c16="http://schemas.microsoft.com/office/drawing/2014/chart" uri="{C3380CC4-5D6E-409C-BE32-E72D297353CC}">
              <c16:uniqueId val="{00000001-A128-486B-9391-1E54046B46A5}"/>
            </c:ext>
          </c:extLst>
        </c:ser>
        <c:dLbls>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txPr>
        <a:bodyPr/>
        <a:lstStyle/>
        <a:p>
          <a:pPr>
            <a:defRPr sz="800"/>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South Africa fuel market outlook. Sources and assumptions are stated on the analytical pages. Cover photograph: Royal Vopak, Terminal Durban.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47264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national sales; SARS 2025 trade; analytical workbook v02. 2025 demand is estimated; 5.8bn L production is a planning assumption. Gross import need includes exports and assumes no stock change.</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06885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sector activity and freight; Eskom Integrated Report 2025 p141; Sasol and Glencore production disclosures; Galp and Petromoc infrastructure disclosures. Detailed evidence: South Africa story v37 pp7–11.</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922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annual sales, 2013–2023. Estimated 2024–2025: analytical workbook v02. The Department series is used consistently. Segment split: analytical workbook v02, Segments. Displayed figures rounded; other diesel remains unallocated.</a:t>
            </a:r>
          </a:p>
          <a:p>
            <a:r>
              <a:t>Demand is estimated at 20.99bn litres in 2025; road uses account for most allocated demand.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86014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mining/manufacturing indices and agriculture real GVA; mean 2018–2021 fuel intensity. Sector diesel values after 2021 are estimates.</a:t>
            </a:r>
          </a:p>
          <a:p>
            <a:r>
              <a:t>Sector activity produces different demand paths; applying one GDP growth rate would hide these differences.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17683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Eskom Integrated Report 2025, p141. Fiscal years end in March. Reported series includes diesel and kerosene; private backup consumption is outside this series. Analytical workbook v02, Segments: IPP conversion and private-backup assumptions.</a:t>
            </a:r>
          </a:p>
          <a:p>
            <a:r>
              <a:t>Improved electricity supply reduces peaking and backup fuel use; the private-backup contribution remains estimated.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3173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P7162 December 2025 p7; all reported freight. Analytical workbook v02, Evidence.</a:t>
            </a:r>
          </a:p>
          <a:p>
            <a:r>
              <a:t>Road remains the dominant freight mode; sustained rail recovery could change the diesel required to move goods.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38167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naamsa all-market sales 2025; master workbook Vehicle history S31:S36; evidence retained in market story v27 p11. Analytical workbook v02: efficiency is a planning assumption; avoid double-counting hybrid savings.</a:t>
            </a:r>
          </a:p>
          <a:p>
            <a:r>
              <a:t>The model’s fuel-efficiency path is a planning assumption; new-vehicle sales alone do not quantify national fuel savings.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86622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Analytical workbook v02: Driver bridge (Base), Assumptions (Base: efficiency). Effects are modelled, not observed savings. Efficiency applies to road fuel after activity growth; rail is applied afterwards. Do not add a separate EV saving to the same efficiency allowance.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36979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Department energy balances 2014–2021; consolidated review workbook, DR01 national balance rows 8/17. Sasol FY2025/FY2026; Glencore 2024/2025. 2025: 5.8bn L planning assumption. Historical production ends in 2021; no interpolated observations.</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79266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Framework: analytical workbook v02 and market-sizing workbook. Gateway shares and customer access require validation. Walvis Bay is a route to assess; no diversion volume is assigned. Stock build increases import need; stock draw reduces it.</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5392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endParaRPr lang="en-ZA"/>
          </a:p>
        </p:txBody>
      </p:sp>
    </p:spTree>
    <p:extLst>
      <p:ext uri="{BB962C8B-B14F-4D97-AF65-F5344CB8AC3E}">
        <p14:creationId xmlns:p14="http://schemas.microsoft.com/office/powerpoint/2010/main" val="1658215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Restored from South Africa story v37; analytical workbook v02, Scenarios and Driver bridge. Gross imports = demand − domestic supply + fixed 2025 exports; zero stock change. 2025 production: 5.8bn L assumption. Restart volumes and timing are scenario assumptions.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0017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base scenario; market-sizing workbook and working-capacity assessment. Capture is illustrative; Lesedi is included within Durban flow. Contracted share, product balance and usable capacity remain to be established.</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77819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discussion. Cover photograph: Royal Vopak, Terminal Durban.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16310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Restored from South Africa story v37; analytical workbook v02, Scenarios and Driver bridge. Gross imports = demand − domestic supply + fixed 2025 exports; zero stock change. 2025 production: 5.8bn L assumption. Restart volumes and timing are scenario assumptions.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28858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Market-sizing issue tree reused from market-sizing v2000, slide 3. National demand/product estimates and production assumption aligned to analytical workbook v02. Provincial catchments retain 2022 source periods. Capture remains illustrative; Walvis Bay diversion unquantified.</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858176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pic>
        <p:nvPicPr>
          <p:cNvPr id="12" name="Picture 3"/>
          <p:cNvPicPr>
            <a:picLocks noChangeAspect="1"/>
          </p:cNvPicPr>
          <p:nvPr/>
        </p:nvPicPr>
        <p:blipFill rotWithShape="1">
          <a:blip r:embed="rId2"/>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 y="5137149"/>
            <a:ext cx="4933950" cy="1571625"/>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a:spLocks noGrp="1"/>
          </p:cNvSpPr>
          <p:nvPr/>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0" name="Cover title panel">
            <a:extLst>
              <a:ext uri="{FF2B5EF4-FFF2-40B4-BE49-F238E27FC236}">
                <a16:creationId xmlns:a16="http://schemas.microsoft.com/office/drawing/2014/main" id="{B6CC79FF-F297-46B4-B0E4-850EE5B89B78}"/>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10" name="Cover title panel">
            <a:extLst>
              <a:ext uri="{FF2B5EF4-FFF2-40B4-BE49-F238E27FC236}">
                <a16:creationId xmlns:a16="http://schemas.microsoft.com/office/drawing/2014/main" id="{571FD3DD-6D32-43BA-B044-BAFA89A96F83}"/>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opak Exhibit + Commentary v1" preserve="1" userDrawn="1">
  <p:cSld name="Vopak Exhibit + Commentary v1">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860AC-EA18-440E-B23B-E92B7C49F015}"/>
              </a:ext>
            </a:extLst>
          </p:cNvPr>
          <p:cNvSpPr>
            <a:spLocks noGrp="1"/>
          </p:cNvSpPr>
          <p:nvPr>
            <p:ph type="title"/>
          </p:nvPr>
        </p:nvSpPr>
        <p:spPr>
          <a:xfrm>
            <a:off x="177801" y="368299"/>
            <a:ext cx="11233148" cy="690101"/>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8C59D33E-9E34-4BB4-9EFE-331A0FF3C833}"/>
              </a:ext>
            </a:extLst>
          </p:cNvPr>
          <p:cNvSpPr>
            <a:spLocks noGrp="1"/>
          </p:cNvSpPr>
          <p:nvPr>
            <p:ph type="body" idx="1"/>
          </p:nvPr>
        </p:nvSpPr>
        <p:spPr>
          <a:xfrm>
            <a:off x="177801" y="1233488"/>
            <a:ext cx="11233149" cy="5256212"/>
          </a:xfrm>
          <a:prstGeom prst="rect">
            <a:avLst/>
          </a:prstGeom>
        </p:spPr>
        <p:txBody>
          <a:bodyPr vert="horz" lIns="91440" tIns="45720" rIns="91440" bIns="45720">
            <a:normAutofit/>
          </a:bodyPr>
          <a:lstStyle/>
          <a:p>
            <a:pPr lvl="0">
              <a:buNone/>
            </a:pPr>
            <a:endParaRPr/>
          </a:p>
        </p:txBody>
      </p:sp>
      <p:sp>
        <p:nvSpPr>
          <p:cNvPr id="6" name="Slide Number Placeholder 5">
            <a:extLst>
              <a:ext uri="{FF2B5EF4-FFF2-40B4-BE49-F238E27FC236}">
                <a16:creationId xmlns:a16="http://schemas.microsoft.com/office/drawing/2014/main" id="{A722AEE9-FEF7-46B6-98E2-A569C4A8AD3C}"/>
              </a:ext>
            </a:extLst>
          </p:cNvPr>
          <p:cNvSpPr>
            <a:spLocks noGrp="1"/>
          </p:cNvSpPr>
          <p:nvPr>
            <p:ph type="sldNum" idx="4"/>
          </p:nvPr>
        </p:nvSpPr>
        <p:spPr>
          <a:xfrm>
            <a:off x="10605599" y="6489700"/>
            <a:ext cx="805350" cy="287338"/>
          </a:xfrm>
          <a:prstGeom prst="rect">
            <a:avLst/>
          </a:prstGeom>
        </p:spPr>
        <p:txBody>
          <a:bodyPr vert="horz" lIns="91440" tIns="45720" rIns="91440" bIns="45720" anchor="ctr"/>
          <a:lstStyle>
            <a:lvl1pPr algn="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pic>
        <p:nvPicPr>
          <p:cNvPr id="15" name="Picture 2"/>
          <p:cNvPicPr>
            <a:picLocks noChangeAspect="1"/>
          </p:cNvPicPr>
          <p:nvPr/>
        </p:nvPicPr>
        <p:blipFill>
          <a:blip r:embed="rId9"/>
          <a:srcRect/>
          <a:stretch>
            <a:fillRect/>
          </a:stretch>
        </p:blipFill>
        <p:spPr>
          <a:xfrm>
            <a:off x="9906000" y="6515100"/>
            <a:ext cx="952500" cy="212558"/>
          </a:xfrm>
          <a:prstGeom prst="rect">
            <a:avLst/>
          </a:prstGeom>
        </p:spPr>
      </p:pic>
      <p:sp>
        <p:nvSpPr>
          <p:cNvPr id="9" name="Text Placeholder 6">
            <a:extLst>
              <a:ext uri="{FF2B5EF4-FFF2-40B4-BE49-F238E27FC236}">
                <a16:creationId xmlns:a16="http://schemas.microsoft.com/office/drawing/2014/main" id="{5CB3F387-66D0-18CC-51EE-24B908A792B7}"/>
              </a:ext>
            </a:extLst>
          </p:cNvPr>
          <p:cNvSpPr>
            <a:spLocks noGrp="1"/>
          </p:cNvSpPr>
          <p:nvPr/>
        </p:nvSpPr>
        <p:spPr>
          <a:xfrm>
            <a:off x="457200" y="6528816"/>
            <a:ext cx="8595360" cy="228600"/>
          </a:xfrm>
          <a:prstGeom prst="rect">
            <a:avLst/>
          </a:prstGeom>
        </p:spPr>
        <p:txBody>
          <a:bodyPr tIns="0" bIns="0" anchor="ctr">
            <a:normAutofit/>
          </a:bodyPr>
          <a:lstStyle>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a:pPr>
              <a:buNone/>
              <a:defRPr sz="800">
                <a:solidFill>
                  <a:srgbClr val="404040"/>
                </a:solidFill>
                <a:latin typeface="Lato"/>
                <a:ea typeface="Lato"/>
                <a:cs typeface="Lato"/>
              </a:defRPr>
            </a:pPr>
            <a:endParaRPr/>
          </a:p>
        </p:txBody>
      </p:sp>
      <p:sp>
        <p:nvSpPr>
          <p:cNvPr id="10" name="Fine footer rule">
            <a:extLst>
              <a:ext uri="{FF2B5EF4-FFF2-40B4-BE49-F238E27FC236}">
                <a16:creationId xmlns:a16="http://schemas.microsoft.com/office/drawing/2014/main" id="{B4062CE9-9215-4788-A6E3-2613DEB91A9E}"/>
              </a:ext>
            </a:extLst>
          </p:cNvPr>
          <p:cNvSpPr>
            <a:spLocks noGrp="1"/>
          </p:cNvSpPr>
          <p:nvPr/>
        </p:nv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869137">
        <a:lnSpc>
          <a:spcPct val="90000"/>
        </a:lnSpc>
        <a:spcBef>
          <a:spcPct val="0"/>
        </a:spcBef>
        <a:buNone/>
        <a:defRPr sz="2200" b="1" kern="1200">
          <a:solidFill>
            <a:schemeClr val="tx1"/>
          </a:solidFill>
          <a:latin typeface="+mj-lt"/>
          <a:ea typeface="+mj-lt"/>
          <a:cs typeface="+mj-lt"/>
        </a:defRPr>
      </a:lvl1pPr>
    </p:titleStyle>
    <p:bodyStyle>
      <a:lvl1pPr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marL="0" algn="l" defTabSz="869137">
        <a:buNone/>
        <a:defRPr sz="1711" kern="1200">
          <a:solidFill>
            <a:schemeClr val="tx1"/>
          </a:solidFill>
          <a:latin typeface="+mn-lt"/>
          <a:ea typeface="+mn-lt"/>
          <a:cs typeface="+mn-lt"/>
        </a:defRPr>
      </a:lvl1pPr>
      <a:lvl2pPr marL="434569" algn="l" defTabSz="869137">
        <a:buNone/>
        <a:defRPr sz="1711" kern="1200">
          <a:solidFill>
            <a:schemeClr val="tx1"/>
          </a:solidFill>
          <a:latin typeface="+mn-lt"/>
          <a:ea typeface="+mn-lt"/>
          <a:cs typeface="+mn-lt"/>
        </a:defRPr>
      </a:lvl2pPr>
      <a:lvl3pPr marL="869137" algn="l" defTabSz="869137">
        <a:buNone/>
        <a:defRPr sz="1711" kern="1200">
          <a:solidFill>
            <a:schemeClr val="tx1"/>
          </a:solidFill>
          <a:latin typeface="+mn-lt"/>
          <a:ea typeface="+mn-lt"/>
          <a:cs typeface="+mn-lt"/>
        </a:defRPr>
      </a:lvl3pPr>
      <a:lvl4pPr marL="1303706" algn="l" defTabSz="869137">
        <a:buNone/>
        <a:defRPr sz="1711" kern="1200">
          <a:solidFill>
            <a:schemeClr val="tx1"/>
          </a:solidFill>
          <a:latin typeface="+mn-lt"/>
          <a:ea typeface="+mn-lt"/>
          <a:cs typeface="+mn-lt"/>
        </a:defRPr>
      </a:lvl4pPr>
      <a:lvl5pPr marL="1738274" algn="l" defTabSz="869137">
        <a:buNone/>
        <a:defRPr sz="1711" kern="1200">
          <a:solidFill>
            <a:schemeClr val="tx1"/>
          </a:solidFill>
          <a:latin typeface="+mn-lt"/>
          <a:ea typeface="+mn-lt"/>
          <a:cs typeface="+mn-lt"/>
        </a:defRPr>
      </a:lvl5pPr>
      <a:lvl6pPr marL="2172843" algn="l" defTabSz="869137">
        <a:buNone/>
        <a:defRPr sz="1711" kern="1200">
          <a:solidFill>
            <a:schemeClr val="tx1"/>
          </a:solidFill>
          <a:latin typeface="+mn-lt"/>
          <a:ea typeface="+mn-lt"/>
          <a:cs typeface="+mn-lt"/>
        </a:defRPr>
      </a:lvl6pPr>
      <a:lvl7pPr marL="2607412" algn="l" defTabSz="869137">
        <a:buNone/>
        <a:defRPr sz="1711" kern="1200">
          <a:solidFill>
            <a:schemeClr val="tx1"/>
          </a:solidFill>
          <a:latin typeface="+mn-lt"/>
          <a:ea typeface="+mn-lt"/>
          <a:cs typeface="+mn-lt"/>
        </a:defRPr>
      </a:lvl7pPr>
      <a:lvl8pPr marL="3041980" algn="l" defTabSz="869137">
        <a:buNone/>
        <a:defRPr sz="1711" kern="1200">
          <a:solidFill>
            <a:schemeClr val="tx1"/>
          </a:solidFill>
          <a:latin typeface="+mn-lt"/>
          <a:ea typeface="+mn-lt"/>
          <a:cs typeface="+mn-lt"/>
        </a:defRPr>
      </a:lvl8pPr>
      <a:lvl9pPr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hart" Target="../charts/chart11.xml"/><Relationship Id="rId7" Type="http://schemas.openxmlformats.org/officeDocument/2006/relationships/chart" Target="../charts/chart15.xml"/><Relationship Id="rId2" Type="http://schemas.openxmlformats.org/officeDocument/2006/relationships/chart" Target="../charts/chart10.xml"/><Relationship Id="rId1" Type="http://schemas.openxmlformats.org/officeDocument/2006/relationships/slideLayout" Target="../slideLayouts/slideLayout7.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chart" Target="../charts/chart22.xml"/><Relationship Id="rId3" Type="http://schemas.openxmlformats.org/officeDocument/2006/relationships/chart" Target="../charts/chart17.xml"/><Relationship Id="rId7" Type="http://schemas.openxmlformats.org/officeDocument/2006/relationships/chart" Target="../charts/chart21.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chart" Target="../charts/chart20.xml"/><Relationship Id="rId5" Type="http://schemas.openxmlformats.org/officeDocument/2006/relationships/chart" Target="../charts/chart19.xml"/><Relationship Id="rId4" Type="http://schemas.openxmlformats.org/officeDocument/2006/relationships/chart" Target="../charts/chart18.xml"/></Relationships>
</file>

<file path=ppt/slides/_rels/slide15.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chart" Target="../charts/char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South Africa</a:t>
            </a:r>
          </a:p>
          <a:p>
            <a:pPr>
              <a:spcAft>
                <a:spcPts val="800"/>
              </a:spcAft>
              <a:buNone/>
              <a:defRPr sz="3100" b="0">
                <a:solidFill>
                  <a:srgbClr val="FFFFFF"/>
                </a:solidFill>
                <a:latin typeface="Lato"/>
                <a:ea typeface="Lato"/>
                <a:cs typeface="Lato"/>
              </a:defRPr>
            </a:pPr>
            <a:r>
              <a:rPr>
                <a:solidFill>
                  <a:srgbClr val="FFFFFF"/>
                </a:solidFill>
              </a:rPr>
              <a:t>liquid fuels</a:t>
            </a:r>
          </a:p>
          <a:p>
            <a:pPr>
              <a:spcAft>
                <a:spcPts val="800"/>
              </a:spcAft>
              <a:buNone/>
              <a:defRPr sz="3100" b="0">
                <a:solidFill>
                  <a:srgbClr val="FFFFFF"/>
                </a:solidFill>
                <a:latin typeface="Lato"/>
                <a:ea typeface="Lato"/>
                <a:cs typeface="Lato"/>
              </a:defRPr>
            </a:pPr>
            <a:r>
              <a:rPr>
                <a:solidFill>
                  <a:srgbClr val="FFFFFF"/>
                </a:solidFill>
              </a:rPr>
              <a:t>market outlook</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Demand, supply and routes — implications for Vopak</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Durban and Lesedi | Market-sizing framework</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lang="en-ZA">
                <a:solidFill>
                  <a:srgbClr val="FFFFFF"/>
                </a:solidFill>
              </a:rPr>
              <a:t>14 October 2026</a:t>
            </a:r>
            <a:endParaRPr>
              <a:solidFill>
                <a:srgbClr val="FFFFFF"/>
              </a:solidFill>
            </a:endParaRP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r>
              <a:rPr sz="1200">
                <a:solidFill>
                  <a:srgbClr val="FFFFFF"/>
                </a:solidFill>
              </a:rPr>
              <a:t>Planning estimates and illustrative capture. Customer access and usable capacity remain to be established.</a:t>
            </a: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464561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p:txBody>
          <a:bodyPr/>
          <a:lstStyle/>
          <a:p>
            <a:pPr>
              <a:buNone/>
              <a:defRPr sz="1000">
                <a:latin typeface="Lato"/>
                <a:ea typeface="Lato"/>
                <a:cs typeface="Lato"/>
              </a:defRPr>
            </a:pPr>
            <a:r>
              <a:rPr lang="en-ZA" sz="1100"/>
              <a:t>2</a:t>
            </a:r>
            <a:endParaRPr sz="1100"/>
          </a:p>
        </p:txBody>
      </p:sp>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South Africa used 25.4bn litres of petrol and diesel in 2025; imports supplied two-thirds</a:t>
            </a:r>
            <a:endParaRPr>
              <a:solidFill>
                <a:schemeClr val="dk1"/>
              </a:solidFill>
              <a:latin typeface="Lato"/>
              <a:ea typeface="Lato"/>
              <a:cs typeface="Lato"/>
            </a:endParaRPr>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GB" sz="600">
                <a:solidFill>
                  <a:srgbClr val="111111"/>
                </a:solidFill>
                <a:latin typeface="Lato"/>
                <a:ea typeface="Lato"/>
                <a:cs typeface="Lato"/>
              </a:rPr>
              <a:t>Production: Sasol and Glencore reports, analytical workbook v02 shares (p10). Imports and exports: SARS customs, calendar 2025, litres. Consumption = production + imports − exports; stock change assumed nil. Levy: Road Accident Fund annual report 2024/25, gross levies at 218c a litre.</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66" name="Section navigation 1"/>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1  Overview</a:t>
            </a:r>
          </a:p>
        </p:txBody>
      </p:sp>
      <p:sp>
        <p:nvSpPr>
          <p:cNvPr id="6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6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69"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22" name="Evidence unit">
            <a:extLst>
              <a:ext uri="{FF2B5EF4-FFF2-40B4-BE49-F238E27FC236}">
                <a16:creationId xmlns:a16="http://schemas.microsoft.com/office/drawing/2014/main" id="{FC1A39E3-57CF-EED8-721E-D863AA948703}"/>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ZA" sz="975" b="0">
                <a:solidFill>
                  <a:srgbClr val="626262"/>
                </a:solidFill>
                <a:latin typeface="Lato"/>
                <a:ea typeface="Lato"/>
                <a:cs typeface="Lato"/>
              </a:rPr>
              <a:t>Billion litres | calendar 2025E</a:t>
            </a:r>
            <a:endParaRPr sz="975" b="0">
              <a:solidFill>
                <a:srgbClr val="626262"/>
              </a:solidFill>
              <a:latin typeface="Lato"/>
              <a:ea typeface="Lato"/>
              <a:cs typeface="Lato"/>
            </a:endParaRPr>
          </a:p>
        </p:txBody>
      </p:sp>
      <p:sp>
        <p:nvSpPr>
          <p:cNvPr id="23" name="Evidence insights">
            <a:extLst>
              <a:ext uri="{FF2B5EF4-FFF2-40B4-BE49-F238E27FC236}">
                <a16:creationId xmlns:a16="http://schemas.microsoft.com/office/drawing/2014/main" id="{D9783925-0AC7-F42D-CE65-EFD015F64305}"/>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00" b="0">
                <a:solidFill>
                  <a:srgbClr val="11151A"/>
                </a:solidFill>
                <a:latin typeface="Lato"/>
                <a:ea typeface="Lato"/>
                <a:cs typeface="Lato"/>
              </a:rPr>
              <a:t>Supply: 10.2bn L estimated production + 16.7bn L recorded imports.
Uses: 1.5bn L recorded exports, leaving 25.4bn L consumed: petrol 9.3, diesel 16.1.
Consumption is production plus imports less exports. It is 4.4bn L above the earlier estimate from Department sales (21.0), almost all in diesel.
Cross-check: the road-fuel levy was charged on 24.4bn L in the year to March 2025.</a:t>
            </a:r>
            <a:endParaRPr sz="1300" b="0">
              <a:solidFill>
                <a:srgbClr val="11151A"/>
              </a:solidFill>
              <a:latin typeface="Lato"/>
              <a:ea typeface="Lato"/>
              <a:cs typeface="Lato"/>
            </a:endParaRPr>
          </a:p>
        </p:txBody>
      </p:sp>
      <p:sp>
        <p:nvSpPr>
          <p:cNvPr id="24" name="Evidence takeaway">
            <a:extLst>
              <a:ext uri="{FF2B5EF4-FFF2-40B4-BE49-F238E27FC236}">
                <a16:creationId xmlns:a16="http://schemas.microsoft.com/office/drawing/2014/main" id="{F99B9D74-922F-317F-263E-F2536C0C76F0}"/>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ZA" sz="1275" b="0">
                <a:solidFill>
                  <a:srgbClr val="0A2373"/>
                </a:solidFill>
                <a:latin typeface="Lato"/>
                <a:ea typeface="Lato"/>
                <a:cs typeface="Lato"/>
              </a:rPr>
              <a:t>Imports meet about 66% of national petrol and diesel consumption.</a:t>
            </a:r>
            <a:endParaRPr sz="1275" b="0">
              <a:solidFill>
                <a:srgbClr val="0A2373"/>
              </a:solidFill>
              <a:latin typeface="Lato"/>
              <a:ea typeface="Lato"/>
              <a:cs typeface="Lato"/>
            </a:endParaRPr>
          </a:p>
        </p:txBody>
      </p:sp>
      <p:sp>
        <p:nvSpPr>
          <p:cNvPr id="25" name="Vopak exhibit left heading">
            <a:extLst>
              <a:ext uri="{FF2B5EF4-FFF2-40B4-BE49-F238E27FC236}">
                <a16:creationId xmlns:a16="http://schemas.microsoft.com/office/drawing/2014/main" id="{2078293A-06CD-E24D-A1D4-5D5A4F014FCC}"/>
              </a:ext>
            </a:extLst>
          </p:cNvPr>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2025E petrol and diesel balance</a:t>
            </a:r>
            <a:endParaRPr sz="1400" b="1">
              <a:latin typeface="Lato"/>
            </a:endParaRPr>
          </a:p>
        </p:txBody>
      </p:sp>
      <p:sp>
        <p:nvSpPr>
          <p:cNvPr id="26" name="Vopak exhibit right heading">
            <a:extLst>
              <a:ext uri="{FF2B5EF4-FFF2-40B4-BE49-F238E27FC236}">
                <a16:creationId xmlns:a16="http://schemas.microsoft.com/office/drawing/2014/main" id="{CCB0A90D-3C75-BE7C-37E3-52E5C4A2A0C4}"/>
              </a:ext>
            </a:extLst>
          </p:cNvPr>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sz="1300"/>
              <a:t>Recorded trade, estimated production</a:t>
            </a:r>
            <a:endParaRPr sz="1300"/>
          </a:p>
        </p:txBody>
      </p:sp>
      <p:cxnSp>
        <p:nvCxnSpPr>
          <p:cNvPr id="27" name="Vopak exhibit left rule">
            <a:extLst>
              <a:ext uri="{FF2B5EF4-FFF2-40B4-BE49-F238E27FC236}">
                <a16:creationId xmlns:a16="http://schemas.microsoft.com/office/drawing/2014/main" id="{DE1D99BE-4A5C-E2CA-913D-2AD83CBD541D}"/>
              </a:ext>
            </a:extLst>
          </p:cNvP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Vopak exhibit right rule">
            <a:extLst>
              <a:ext uri="{FF2B5EF4-FFF2-40B4-BE49-F238E27FC236}">
                <a16:creationId xmlns:a16="http://schemas.microsoft.com/office/drawing/2014/main" id="{AA069320-2CAE-3674-A292-C8B016B8C9BA}"/>
              </a:ext>
            </a:extLst>
          </p:cNvPr>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Vopak exhibit divider">
            <a:extLst>
              <a:ext uri="{FF2B5EF4-FFF2-40B4-BE49-F238E27FC236}">
                <a16:creationId xmlns:a16="http://schemas.microsoft.com/office/drawing/2014/main" id="{B9A6B1EA-F8D5-F43D-C0BA-9F85D8834AE4}"/>
              </a:ext>
            </a:extLst>
          </p:cNvP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Vopak exhibit marker 0">
            <a:extLst>
              <a:ext uri="{FF2B5EF4-FFF2-40B4-BE49-F238E27FC236}">
                <a16:creationId xmlns:a16="http://schemas.microsoft.com/office/drawing/2014/main" id="{4ABD902C-A424-48F5-F570-578E003BC3A5}"/>
              </a:ext>
            </a:extLst>
          </p:cNvPr>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Vopak exhibit marker 1">
            <a:extLst>
              <a:ext uri="{FF2B5EF4-FFF2-40B4-BE49-F238E27FC236}">
                <a16:creationId xmlns:a16="http://schemas.microsoft.com/office/drawing/2014/main" id="{26EB6FF8-ED69-15AB-0475-32C273DBB8E2}"/>
              </a:ext>
            </a:extLst>
          </p:cNvPr>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Vopak exhibit marker 2">
            <a:extLst>
              <a:ext uri="{FF2B5EF4-FFF2-40B4-BE49-F238E27FC236}">
                <a16:creationId xmlns:a16="http://schemas.microsoft.com/office/drawing/2014/main" id="{18D752D8-7BF5-1DE5-7FE8-3D2C169CD54D}"/>
              </a:ext>
            </a:extLst>
          </p:cNvPr>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33" name="Chart">
            <a:extLst>
              <a:ext uri="{FF2B5EF4-FFF2-40B4-BE49-F238E27FC236}">
                <a16:creationId xmlns:a16="http://schemas.microsoft.com/office/drawing/2014/main" id="{39FFC294-1E86-1485-C073-327B6D2264B6}"/>
              </a:ext>
            </a:extLst>
          </p:cNvPr>
          <p:cNvGraphicFramePr/>
          <p:nvPr/>
        </p:nvGraphicFramePr>
        <p:xfrm>
          <a:off x="457200" y="2333625"/>
          <a:ext cx="6446520"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1523ACA2-B56E-B289-C992-5DE13F94F9B0}"/>
              </a:ext>
            </a:extLst>
          </p:cNvPr>
          <p:cNvSpPr/>
          <p:nvPr/>
        </p:nvSpPr>
        <p:spPr>
          <a:xfrm>
            <a:off x="8494776" y="608076"/>
            <a:ext cx="2316607" cy="82296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solidFill>
                  <a:sysClr val="windowText" lastClr="000000"/>
                </a:solidFill>
              </a:rPr>
              <a:t>Check forecast from last year for 2025</a:t>
            </a:r>
          </a:p>
        </p:txBody>
      </p:sp>
    </p:spTree>
    <p:extLst>
      <p:ext uri="{BB962C8B-B14F-4D97-AF65-F5344CB8AC3E}">
        <p14:creationId xmlns:p14="http://schemas.microsoft.com/office/powerpoint/2010/main" val="1672215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The market of interest brings in about 12bn litres a year, mostly through Durban, rising to about 12.5bn by 2030</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3</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Sasol; Glencore; SARS customs; Department of Mineral and Petroleum Resources; Eskom; Transnet; Stats SA; IMF; National Treasury; naamsa; eNaTIS; IEA. Outlook figures are cases, not forecasts; capture is illustrative.</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extLst>
              <p:ext uri="{D42A27DB-BD31-4B8C-83A1-F6EECF244321}">
                <p14:modId xmlns:p14="http://schemas.microsoft.com/office/powerpoint/2010/main" val="908295751"/>
              </p:ext>
            </p:extLst>
          </p:nvPr>
        </p:nvGraphicFramePr>
        <p:xfrm>
          <a:off x="457200" y="1905000"/>
          <a:ext cx="10648950" cy="3804920"/>
        </p:xfrm>
        <a:graphic>
          <a:graphicData uri="http://schemas.openxmlformats.org/drawingml/2006/table">
            <a:tbl>
              <a:tblPr/>
              <a:tblGrid>
                <a:gridCol w="1651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3663950">
                  <a:extLst>
                    <a:ext uri="{9D8B030D-6E8A-4147-A177-3AD203B41FA5}">
                      <a16:colId xmlns:a16="http://schemas.microsoft.com/office/drawing/2014/main" val="20002"/>
                    </a:ext>
                  </a:extLst>
                </a:gridCol>
              </a:tblGrid>
              <a:tr h="330200">
                <a:tc>
                  <a:txBody>
                    <a:bodyPr/>
                    <a:lstStyle/>
                    <a:p>
                      <a:r>
                        <a:rPr lang="en-ZA" sz="1300" b="1" u="none">
                          <a:solidFill>
                            <a:srgbClr val="11151A"/>
                          </a:solidFill>
                          <a:latin typeface="Lato" panose="020F0502020204030203" pitchFamily="34" charset="0"/>
                          <a:ea typeface="Lato"/>
                          <a:cs typeface="Lato"/>
                        </a:rPr>
                        <a:t>Topic</a:t>
                      </a:r>
                      <a:endParaRPr sz="1300" b="1" u="none" dirty="0">
                        <a:solidFill>
                          <a:srgbClr val="11151A"/>
                        </a:solidFill>
                        <a:latin typeface="Lato" panose="020F0502020204030203" pitchFamily="34" charset="0"/>
                        <a:ea typeface="Lato"/>
                        <a:cs typeface="Lato"/>
                      </a:endParaRPr>
                    </a:p>
                  </a:txBody>
                  <a:tcPr>
                    <a:lnL w="12700">
                      <a:noFill/>
                    </a:lnL>
                    <a:lnR w="12700">
                      <a:noFill/>
                    </a:lnR>
                    <a:lnT w="12700">
                      <a:noFill/>
                    </a:lnT>
                    <a:lnB w="12700">
                      <a:solidFill>
                        <a:srgbClr val="666666"/>
                      </a:solidFill>
                    </a:lnB>
                    <a:solidFill>
                      <a:srgbClr val="FFFFFF"/>
                    </a:solidFill>
                  </a:tcPr>
                </a:tc>
                <a:tc>
                  <a:txBody>
                    <a:bodyPr/>
                    <a:lstStyle/>
                    <a:p>
                      <a:r>
                        <a:rPr lang="en-ZA" sz="1300" b="1" u="none">
                          <a:solidFill>
                            <a:srgbClr val="11151A"/>
                          </a:solidFill>
                          <a:latin typeface="Lato" panose="020F0502020204030203" pitchFamily="34" charset="0"/>
                          <a:ea typeface="Lato"/>
                          <a:cs typeface="Lato"/>
                        </a:rPr>
                        <a:t>What the evidence shows</a:t>
                      </a:r>
                      <a:endParaRPr sz="1300" b="1" u="none">
                        <a:solidFill>
                          <a:srgbClr val="11151A"/>
                        </a:solidFill>
                        <a:latin typeface="Lato" panose="020F0502020204030203" pitchFamily="34" charset="0"/>
                        <a:ea typeface="Lato"/>
                        <a:cs typeface="Lato"/>
                      </a:endParaRPr>
                    </a:p>
                  </a:txBody>
                  <a:tcPr>
                    <a:lnL w="12700">
                      <a:noFill/>
                    </a:lnL>
                    <a:lnR w="12700">
                      <a:noFill/>
                    </a:lnR>
                    <a:lnT w="12700">
                      <a:noFill/>
                    </a:lnT>
                    <a:lnB w="12700">
                      <a:solidFill>
                        <a:srgbClr val="666666"/>
                      </a:solidFill>
                    </a:lnB>
                    <a:solidFill>
                      <a:srgbClr val="FFFFFF"/>
                    </a:solidFill>
                  </a:tcPr>
                </a:tc>
                <a:tc>
                  <a:txBody>
                    <a:bodyPr/>
                    <a:lstStyle/>
                    <a:p>
                      <a:r>
                        <a:rPr lang="en-GB" sz="1300" b="1" u="none">
                          <a:solidFill>
                            <a:srgbClr val="11151A"/>
                          </a:solidFill>
                          <a:latin typeface="Lato" panose="020F0502020204030203" pitchFamily="34" charset="0"/>
                          <a:ea typeface="Lato"/>
                          <a:cs typeface="Lato"/>
                        </a:rPr>
                        <a:t>What it means for Durban and Lesedi</a:t>
                      </a:r>
                      <a:endParaRPr sz="1300" b="1" u="none">
                        <a:solidFill>
                          <a:srgbClr val="11151A"/>
                        </a:solidFill>
                        <a:latin typeface="Lato" panose="020F0502020204030203" pitchFamily="34" charset="0"/>
                        <a:ea typeface="Lato"/>
                        <a:cs typeface="Lato"/>
                      </a:endParaRPr>
                    </a:p>
                  </a:txBody>
                  <a:tcPr>
                    <a:lnL w="12700">
                      <a:noFill/>
                    </a:lnL>
                    <a:lnR w="12700">
                      <a:noFill/>
                    </a:lnR>
                    <a:lnT w="12700">
                      <a:noFill/>
                    </a:lnT>
                    <a:lnB w="12700">
                      <a:solidFill>
                        <a:srgbClr val="666666"/>
                      </a:solidFill>
                    </a:lnB>
                    <a:solidFill>
                      <a:srgbClr val="FFFFFF"/>
                    </a:solidFill>
                  </a:tcPr>
                </a:tc>
                <a:extLst>
                  <a:ext uri="{0D108BD9-81ED-4DB2-BD59-A6C34878D82A}">
                    <a16:rowId xmlns:a16="http://schemas.microsoft.com/office/drawing/2014/main" val="10000"/>
                  </a:ext>
                </a:extLst>
              </a:tr>
              <a:tr h="381000">
                <a:tc>
                  <a:txBody>
                    <a:bodyPr/>
                    <a:lstStyle/>
                    <a:p>
                      <a:r>
                        <a:rPr lang="en-ZA" sz="1150" b="1" u="none">
                          <a:solidFill>
                            <a:srgbClr val="0A2373"/>
                          </a:solidFill>
                          <a:latin typeface="Lato" panose="020F0502020204030203" pitchFamily="34" charset="0"/>
                          <a:ea typeface="Lato"/>
                          <a:cs typeface="Lato"/>
                        </a:rPr>
                        <a:t>Market size</a:t>
                      </a:r>
                      <a:endParaRPr sz="1150" b="1" u="none">
                        <a:solidFill>
                          <a:srgbClr val="0A2373"/>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r>
                        <a:rPr lang="en-GB" sz="1150" b="0" u="none">
                          <a:solidFill>
                            <a:srgbClr val="11151A"/>
                          </a:solidFill>
                          <a:latin typeface="Lato" panose="020F0502020204030203" pitchFamily="34" charset="0"/>
                          <a:ea typeface="Lato"/>
                          <a:cs typeface="Lato"/>
                        </a:rPr>
                        <a:t>South Africa used 25.4bn litres of petrol and diesel in 2025: 10.2bn made locally, 16.7bn imported, 1.5bn exported.</a:t>
                      </a:r>
                      <a:endParaRPr sz="1150" b="0" u="none" dirty="0">
                        <a:solidFill>
                          <a:srgbClr val="11151A"/>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r>
                        <a:rPr lang="en-GB" sz="1150" b="0" u="none">
                          <a:solidFill>
                            <a:srgbClr val="11151A"/>
                          </a:solidFill>
                          <a:latin typeface="Lato" panose="020F0502020204030203" pitchFamily="34" charset="0"/>
                          <a:ea typeface="Lato"/>
                          <a:cs typeface="Lato"/>
                        </a:rPr>
                        <a:t>Imports meet about two-thirds of national demand.</a:t>
                      </a:r>
                      <a:endParaRPr sz="1150" b="0" u="none">
                        <a:solidFill>
                          <a:srgbClr val="11151A"/>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extLst>
                  <a:ext uri="{0D108BD9-81ED-4DB2-BD59-A6C34878D82A}">
                    <a16:rowId xmlns:a16="http://schemas.microsoft.com/office/drawing/2014/main" val="1054382165"/>
                  </a:ext>
                </a:extLst>
              </a:tr>
              <a:tr h="381000">
                <a:tc>
                  <a:txBody>
                    <a:bodyPr/>
                    <a:lstStyle/>
                    <a:p>
                      <a:r>
                        <a:rPr lang="en-ZA" sz="1150" b="1" u="none">
                          <a:solidFill>
                            <a:srgbClr val="0A2373"/>
                          </a:solidFill>
                          <a:latin typeface="Lato" panose="020F0502020204030203" pitchFamily="34" charset="0"/>
                          <a:ea typeface="Lato"/>
                          <a:cs typeface="Lato"/>
                        </a:rPr>
                        <a:t>Market of interest</a:t>
                      </a:r>
                      <a:endParaRPr sz="1150" b="1" u="none">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The six provinces used 18.2bn litres; Secunda and Natref make 6.3bn inside the area.</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About 11.8bn litres a year must be brought in.</a:t>
                      </a:r>
                      <a:endParaRPr sz="1150" b="0" u="none">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1"/>
                  </a:ext>
                </a:extLst>
              </a:tr>
              <a:tr h="381000">
                <a:tc>
                  <a:txBody>
                    <a:bodyPr/>
                    <a:lstStyle/>
                    <a:p>
                      <a:r>
                        <a:rPr lang="en-ZA" sz="1150" b="1" u="none">
                          <a:solidFill>
                            <a:srgbClr val="0A2373"/>
                          </a:solidFill>
                          <a:latin typeface="Lato" panose="020F0502020204030203" pitchFamily="34" charset="0"/>
                        </a:rPr>
                        <a:t>Economy and prices</a:t>
                      </a:r>
                      <a:endParaRPr sz="1150" b="1" u="none">
                        <a:solidFill>
                          <a:srgbClr val="0A2373"/>
                        </a:solidFill>
                        <a:latin typeface="Lato" panose="020F0502020204030203" pitchFamily="34" charset="0"/>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GDP growth of 1–3% a year lifts diesel; the 2026 petrol price rise cuts petrol.</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Diesel grows; petrol stays flat or falls slightly.</a:t>
                      </a:r>
                      <a:endParaRPr sz="1150" b="0" u="none">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2"/>
                  </a:ext>
                </a:extLst>
              </a:tr>
              <a:tr h="381000">
                <a:tc>
                  <a:txBody>
                    <a:bodyPr/>
                    <a:lstStyle/>
                    <a:p>
                      <a:r>
                        <a:rPr lang="en-ZA" sz="1150" b="1" u="none">
                          <a:solidFill>
                            <a:srgbClr val="0A2373"/>
                          </a:solidFill>
                          <a:latin typeface="Lato" panose="020F0502020204030203" pitchFamily="34" charset="0"/>
                        </a:rPr>
                        <a:t>Power</a:t>
                      </a:r>
                      <a:endParaRPr sz="1150" b="1" u="none">
                        <a:solidFill>
                          <a:srgbClr val="0A2373"/>
                        </a:solidFill>
                        <a:latin typeface="Lato" panose="020F0502020204030203" pitchFamily="34" charset="0"/>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Eskom’s diesel use fell from 1.13 to 0.26bn litres between FY2024 and FY2026; peakers rarely run.</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Little peaker diesel unless load shedding returns.</a:t>
                      </a:r>
                      <a:endParaRPr sz="1150" b="0" u="none">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3"/>
                  </a:ext>
                </a:extLst>
              </a:tr>
              <a:tr h="381000">
                <a:tc>
                  <a:txBody>
                    <a:bodyPr/>
                    <a:lstStyle/>
                    <a:p>
                      <a:r>
                        <a:rPr lang="en-ZA" sz="1150" b="1" u="none">
                          <a:solidFill>
                            <a:srgbClr val="0A2373"/>
                          </a:solidFill>
                          <a:latin typeface="Lato" panose="020F0502020204030203" pitchFamily="34" charset="0"/>
                        </a:rPr>
                        <a:t>Rail</a:t>
                      </a:r>
                      <a:endParaRPr sz="1150" b="1" u="none">
                        <a:solidFill>
                          <a:srgbClr val="0A2373"/>
                        </a:solidFill>
                        <a:latin typeface="Lato" panose="020F0502020204030203" pitchFamily="34" charset="0"/>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Rail volumes are recovering; reaching Transnet’s 250m tonnes by 2030 saves about 0.4bn litres of road diesel.</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Road freight still grows; rail only slows diesel growth.</a:t>
                      </a:r>
                      <a:endParaRPr sz="1150" b="0" u="none">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4"/>
                  </a:ext>
                </a:extLst>
              </a:tr>
              <a:tr h="381000">
                <a:tc>
                  <a:txBody>
                    <a:bodyPr/>
                    <a:lstStyle/>
                    <a:p>
                      <a:r>
                        <a:rPr lang="en-ZA" sz="1150" b="1" u="none">
                          <a:solidFill>
                            <a:srgbClr val="0A2373"/>
                          </a:solidFill>
                          <a:latin typeface="Lato" panose="020F0502020204030203" pitchFamily="34" charset="0"/>
                          <a:ea typeface="Lato"/>
                          <a:cs typeface="Lato"/>
                        </a:rPr>
                        <a:t>Vehicles</a:t>
                      </a:r>
                      <a:endParaRPr sz="1150" b="1" u="none">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The fleet uses 0.4–0.8% less fuel per km each year; electric vehicles remain a small share of new sales.</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A gradual drag on road fuel demand.</a:t>
                      </a:r>
                      <a:endParaRPr sz="1150" b="0" u="none">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5"/>
                  </a:ext>
                </a:extLst>
              </a:tr>
              <a:tr h="381000">
                <a:tc>
                  <a:txBody>
                    <a:bodyPr/>
                    <a:lstStyle/>
                    <a:p>
                      <a:r>
                        <a:rPr lang="en-ZA" sz="1150" b="1" u="none">
                          <a:solidFill>
                            <a:srgbClr val="0A2373"/>
                          </a:solidFill>
                          <a:latin typeface="Lato" panose="020F0502020204030203" pitchFamily="34" charset="0"/>
                          <a:ea typeface="Lato"/>
                          <a:cs typeface="Lato"/>
                        </a:rPr>
                        <a:t>Import routes</a:t>
                      </a:r>
                      <a:endParaRPr sz="1150" b="1" u="none">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Durban lands 79% of imports; fuel from Maputo is small and falling; none is recorded entering from Walvis Bay.</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Durban stays the main gateway; exports to Botswana are falling.</a:t>
                      </a:r>
                      <a:endParaRPr sz="1150" b="0" u="none">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6"/>
                  </a:ext>
                </a:extLst>
              </a:tr>
              <a:tr h="381000">
                <a:tc>
                  <a:txBody>
                    <a:bodyPr/>
                    <a:lstStyle/>
                    <a:p>
                      <a:r>
                        <a:rPr lang="en-ZA" sz="1150" b="1" u="none">
                          <a:solidFill>
                            <a:srgbClr val="0A2373"/>
                          </a:solidFill>
                          <a:latin typeface="Lato" panose="020F0502020204030203" pitchFamily="34" charset="0"/>
                          <a:ea typeface="Lato"/>
                          <a:cs typeface="Lato"/>
                        </a:rPr>
                        <a:t>Outlook to 2030</a:t>
                      </a:r>
                      <a:endParaRPr sz="1150" b="1" u="none">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a:solidFill>
                            <a:srgbClr val="11151A"/>
                          </a:solidFill>
                          <a:latin typeface="Lato" panose="020F0502020204030203" pitchFamily="34" charset="0"/>
                          <a:ea typeface="Lato"/>
                          <a:cs typeface="Lato"/>
                        </a:rPr>
                        <a:t>The market of interest uses 17.7–20.7bn litres (base 18.8); 11.4–14.4bn must be brought in (base 12.5).</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150" b="0" u="none" dirty="0">
                          <a:solidFill>
                            <a:srgbClr val="11151A"/>
                          </a:solidFill>
                          <a:latin typeface="Lato" panose="020F0502020204030203" pitchFamily="34" charset="0"/>
                          <a:ea typeface="Lato"/>
                          <a:cs typeface="Lato"/>
                        </a:rPr>
                        <a:t>A 20% </a:t>
                      </a:r>
                      <a:r>
                        <a:rPr lang="en-GB" sz="1150" b="0" u="none">
                          <a:solidFill>
                            <a:srgbClr val="11151A"/>
                          </a:solidFill>
                          <a:latin typeface="Lato" panose="020F0502020204030203" pitchFamily="34" charset="0"/>
                          <a:ea typeface="Lato"/>
                          <a:cs typeface="Lato"/>
                        </a:rPr>
                        <a:t>share would be about 2.4bn litres; </a:t>
                      </a:r>
                      <a:r>
                        <a:rPr lang="en-GB" sz="1150" b="0" u="none" dirty="0">
                          <a:solidFill>
                            <a:srgbClr val="11151A"/>
                          </a:solidFill>
                          <a:latin typeface="Lato" panose="020F0502020204030203" pitchFamily="34" charset="0"/>
                          <a:ea typeface="Lato"/>
                          <a:cs typeface="Lato"/>
                        </a:rPr>
                        <a:t>Vopak’s growth depends on winning customers.</a:t>
                      </a:r>
                      <a:endParaRPr sz="1150" b="0" u="none" dirty="0">
                        <a:solidFill>
                          <a:srgbClr val="11151A"/>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7"/>
                  </a:ext>
                </a:extLst>
              </a:tr>
            </a:tbl>
          </a:graphicData>
        </a:graphic>
      </p:graphicFrame>
      <p:sp>
        <p:nvSpPr>
          <p:cNvPr id="56" name="Section navigation 1"/>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Tree>
    <p:extLst>
      <p:ext uri="{BB962C8B-B14F-4D97-AF65-F5344CB8AC3E}">
        <p14:creationId xmlns:p14="http://schemas.microsoft.com/office/powerpoint/2010/main" val="1193851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Outside 2020, demand has stayed at 23–26bn litres a year since 2013; road transport uses most of it</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4</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Department annual sales, 2013–2021 (2022–2023 sales were 21.9 and 21.9bn L). 2022–2025: production (p10) + SARS imports − SARS exports, stock change nil. Demand by use: analytical workbook v02, Segments, which sums to its sales-based totals; the difference is shown as not allocated.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CE11BB42-2F58-4DB0-B03D-997F7CBFE311}"/>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 | to 2021 Department sales; 2022E–2025E production + imports − exports</a:t>
            </a:r>
          </a:p>
        </p:txBody>
      </p:sp>
      <p:sp>
        <p:nvSpPr>
          <p:cNvPr id="81" name="Evidence unit">
            <a:extLst>
              <a:ext uri="{FF2B5EF4-FFF2-40B4-BE49-F238E27FC236}">
                <a16:creationId xmlns:a16="http://schemas.microsoft.com/office/drawing/2014/main" id="{CE11BB42-2F58-4DB0-B03D-997F7CBFE311}"/>
              </a:ext>
            </a:extLst>
          </p:cNvPr>
          <p:cNvSpPr>
            <a:spLocks noGrp="1"/>
          </p:cNvSpPr>
          <p:nvPr/>
        </p:nvSpPr>
        <p:spPr>
          <a:xfrm>
            <a:off x="7424927" y="2020824"/>
            <a:ext cx="3685032" cy="237744"/>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 | legend shows 2025E values</a:t>
            </a:r>
          </a:p>
        </p:txBody>
      </p:sp>
      <p:graphicFrame>
        <p:nvGraphicFramePr>
          <p:cNvPr id="67" name="Chart"/>
          <p:cNvGraphicFramePr/>
          <p:nvPr/>
        </p:nvGraphicFramePr>
        <p:xfrm>
          <a:off x="457200" y="2333625"/>
          <a:ext cx="644652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7" name="Evidence takeaway">
            <a:extLst>
              <a:ext uri="{FF2B5EF4-FFF2-40B4-BE49-F238E27FC236}">
                <a16:creationId xmlns:a16="http://schemas.microsoft.com/office/drawing/2014/main" id="{8988A7A0-2695-41BD-B859-B66256617D61}"/>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Demand was about 25.4bn litres in 2025: petrol 9.3, diesel 16.1. Road uses account for most of the allocated demand.</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Petrol and diesel demand, 2013–2025E</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Demand by use, 2023E–2025E</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0" name="Chart"/>
          <p:cNvGraphicFramePr>
            <a:graphicFrameLocks noGrp="1"/>
          </p:cNvGraphicFramePr>
          <p:nvPr/>
        </p:nvGraphicFramePr>
        <p:xfrm>
          <a:off x="7333488" y="2286000"/>
          <a:ext cx="3867912" cy="381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61453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Agricultural fuel demand rebounds and </a:t>
            </a:r>
            <a:r>
              <a:rPr lang="en-GB" sz="2100" b="1">
                <a:solidFill>
                  <a:srgbClr val="000000"/>
                </a:solidFill>
                <a:latin typeface="Lato"/>
                <a:ea typeface="Lato"/>
                <a:cs typeface="Lato"/>
              </a:rPr>
              <a:t>power fuel use falls by about a third</a:t>
            </a:r>
            <a:r>
              <a:rPr sz="2100" b="1">
                <a:solidFill>
                  <a:srgbClr val="000000"/>
                </a:solidFill>
                <a:latin typeface="Lato"/>
                <a:ea typeface="Lato"/>
                <a:cs typeface="Lato"/>
              </a:rPr>
              <a:t>, while mining and manufacturing remain broadly flat</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5</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Stats SA mining/manufacturing indices and agriculture real GVA; mean 2018–2021 fuel intensity. Sector diesel values after 2021 are estimates. Road freight: 2010 diesel heavy trucks × km × litres per 100 km (Stone et al. 2018), scaled by eNaTIS trucks (December), 0.4% a year less fuel per km. Other road diesel: 25% of road diesel. Other diesel: the balance. </a:t>
            </a:r>
            <a:r>
              <a:rPr lang="en-GB" sz="600">
                <a:solidFill>
                  <a:srgbClr val="111111"/>
                </a:solidFill>
                <a:latin typeface="Lato"/>
                <a:ea typeface="Lato"/>
                <a:cs typeface="Lato"/>
              </a:rPr>
              <a:t>Power: Eskom fiscal-year fuel use and independent-producer turbines; any private backup sits in other diesel.</a:t>
            </a:r>
            <a:r>
              <a:rPr sz="600">
                <a:solidFill>
                  <a:srgbClr val="111111"/>
                </a:solidFill>
                <a:latin typeface="Lato"/>
                <a:ea typeface="Lato"/>
                <a:cs typeface="Lato"/>
              </a:rPr>
              <a:t> The seven uses add to estimated diesel demand. Analytical workbook v02, Segments.</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B2F54BB6-3DF1-494B-A1D0-ED247468EB78}"/>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graphicFrame>
        <p:nvGraphicFramePr>
          <p:cNvPr id="67" name="Chart"/>
          <p:cNvGraphicFramePr/>
          <p:nvPr/>
        </p:nvGraphicFramePr>
        <p:xfrm>
          <a:off x="457200" y="2333625"/>
          <a:ext cx="644652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73EB2C9D-54D5-4881-B5D3-76093EDE63DB}"/>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Road freight: 5.68 → 5.81bn L, built from the truck fleet
</a:t>
            </a:r>
            <a:r>
              <a:rPr lang="en-ZA" sz="1350" b="0">
                <a:solidFill>
                  <a:srgbClr val="11151A"/>
                </a:solidFill>
                <a:latin typeface="Lato"/>
                <a:ea typeface="Lato"/>
                <a:cs typeface="Lato"/>
              </a:rPr>
              <a:t>Power: 1.28 → 0.88bn L</a:t>
            </a:r>
            <a:r>
              <a:rPr sz="1350" b="0">
                <a:solidFill>
                  <a:srgbClr val="11151A"/>
                </a:solidFill>
                <a:latin typeface="Lato"/>
                <a:ea typeface="Lato"/>
                <a:cs typeface="Lato"/>
              </a:rPr>
              <a:t>
Agriculture: 1.06 → 1.13bn L
Mining: 1.40 → 1.41bn L; manufacturing about 0.17bn L
All uses are estimates. Other diesel is what is left; manufacturing is an industry residual, not a complete census.</a:t>
            </a:r>
          </a:p>
        </p:txBody>
      </p:sp>
      <p:sp>
        <p:nvSpPr>
          <p:cNvPr id="57" name="Evidence takeaway">
            <a:extLst>
              <a:ext uri="{FF2B5EF4-FFF2-40B4-BE49-F238E27FC236}">
                <a16:creationId xmlns:a16="http://schemas.microsoft.com/office/drawing/2014/main" id="{F3035DD3-9A13-4DB4-82F9-7FE50E5794A6}"/>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Sector activity produces different demand paths; applying one GDP growth rate would hide these differences.</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Estimated sector diesel demand</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Estimated diesel use</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683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Eskom burnt 77% less diesel in FY2026 than two years earlier as load shedding ended</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6</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Eskom Integrated Report 2025, p141. FY2026: Minister of Electricity and Energy, July 2026, as reported by MyBroadband, 25 August 2026; not in Eskom’s 2026 report. April–October 2026: Eskom statement, 9 October 2026. Fiscal years end in March. Reported series includes diesel and kerosene; private backup consumption is outside this series. </a:t>
            </a:r>
            <a:r>
              <a:rPr lang="en-GB" sz="600">
                <a:solidFill>
                  <a:srgbClr val="111111"/>
                </a:solidFill>
                <a:latin typeface="Lato"/>
                <a:ea typeface="Lato"/>
                <a:cs typeface="Lato"/>
              </a:rPr>
              <a:t>Analytical workbook v02, Segments: IPP conversion.</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1D76C1D3-E0D1-4DF8-8BFF-19EE5B120BFC}"/>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graphicFrame>
        <p:nvGraphicFramePr>
          <p:cNvPr id="67" name="Chart"/>
          <p:cNvGraphicFramePr/>
          <p:nvPr>
            <p:extLst>
              <p:ext uri="{D42A27DB-BD31-4B8C-83A1-F6EECF244321}">
                <p14:modId xmlns:p14="http://schemas.microsoft.com/office/powerpoint/2010/main" val="3038926397"/>
              </p:ext>
            </p:extLst>
          </p:nvPr>
        </p:nvGraphicFramePr>
        <p:xfrm>
          <a:off x="457200" y="2333625"/>
          <a:ext cx="6446520" cy="3889375"/>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4CD8A506-5D30-43C8-9E33-1BCF7AE33E90}"/>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Eskom used 1.13bn L in FY2024, 0.68bn L in FY2025 (−40%) and 0.26bn L in FY2026 (−62%), diesel and kerosene.</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1 April to 8 October 2026: turbine output 152 GWh, about 85% below a year earlier; diesel spend R1.16bn against R5.98bn.</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2025 power-station estimate: 0.88bn L (Eskom and independent-producer turbines).</a:t>
            </a:r>
            <a:endParaRPr sz="1350" b="0">
              <a:solidFill>
                <a:srgbClr val="11151A"/>
              </a:solidFill>
              <a:latin typeface="Lato"/>
              <a:ea typeface="Lato"/>
              <a:cs typeface="Lato"/>
            </a:endParaRP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IPP conversion and fiscal-year proxies are estimates; private use is not measured by Eskom.</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Eskom diesel and kerosene use</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Power fuel use</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779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Moving freight to rail saves about 0.4bn litres of diesel by 2030, but road freight still grows</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7</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Stats SA P7162 (Dec 2025 p7; Jul 2026), all freight; * 2026 = Jan–Jul × 12/7. 2030: freight grows with real GDP (Treasury, 2026 Budget Review, Table 2.2: 1.6–2.0% a year; 2.0% held for 2029–30); rail = Transnet target (chief executive, Apr and Sep 2026); road = balance. Road: 5.81bn L freight diesel, 2025 (truck fleet, p5) ÷ road tonnes. Tonnes, not tonne-km.</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46D7730D-DAEB-4247-BEB8-65B71E753D87}"/>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Million tonnes | * 2026 annualised from January–July | hatched 2030: rail = Transnet target, road = balance if freight grows with GDP</a:t>
            </a:r>
          </a:p>
        </p:txBody>
      </p:sp>
      <p:graphicFrame>
        <p:nvGraphicFramePr>
          <p:cNvPr id="67" name="Chart"/>
          <p:cNvGraphicFramePr/>
          <p:nvPr>
            <p:extLst>
              <p:ext uri="{D42A27DB-BD31-4B8C-83A1-F6EECF244321}">
                <p14:modId xmlns:p14="http://schemas.microsoft.com/office/powerpoint/2010/main" val="1522256774"/>
              </p:ext>
            </p:extLst>
          </p:nvPr>
        </p:nvGraphicFramePr>
        <p:xfrm>
          <a:off x="457200" y="2565400"/>
          <a:ext cx="64465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A99F6146-19FF-452C-8900-2955E23FAB66}"/>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Rail: 168.3m tonnes in 2025, 173.4m in 2026* (January–July +5.3%). Reaching 250m by 2030 needs 8.2% a year.</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If total freight grows with GDP, it reaches 1,256m tonnes in 2030. With rail at 250m, road is 1,006m: 3% above 2025.</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Against 2025 mode shares, 65m tonnes move to rail. Road freight uses about 6.0 litres of diesel a tonne, so road saves 0.39bn L.</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Reported road and rail freight</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2030 freight and diesel</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7617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Electrified vehicle sales grew forty-fold since 2019, mostly hybrids, but save little fuel until the fleet turns over</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8</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dirty="0" err="1">
                <a:solidFill>
                  <a:srgbClr val="111111"/>
                </a:solidFill>
                <a:latin typeface="Lato"/>
                <a:ea typeface="Lato"/>
                <a:cs typeface="Lato"/>
              </a:rPr>
              <a:t>naamsa</a:t>
            </a:r>
            <a:r>
              <a:rPr sz="600" dirty="0">
                <a:solidFill>
                  <a:srgbClr val="111111"/>
                </a:solidFill>
                <a:latin typeface="Lato"/>
                <a:ea typeface="Lato"/>
                <a:cs typeface="Lato"/>
              </a:rPr>
              <a:t> new energy vehicle sales, 2019–2025 (Quarterly Review of Business Conditions: Q3 2024 for 2019; Q2 2026 for 2020–2025); master workbook Vehicle history</a:t>
            </a:r>
            <a:r>
              <a:rPr sz="600">
                <a:solidFill>
                  <a:srgbClr val="111111"/>
                </a:solidFill>
                <a:latin typeface="Lato"/>
                <a:ea typeface="Lato"/>
                <a:cs typeface="Lato"/>
              </a:rPr>
              <a:t>. 2026</a:t>
            </a:r>
            <a:r>
              <a:rPr sz="600" dirty="0">
                <a:solidFill>
                  <a:srgbClr val="111111"/>
                </a:solidFill>
                <a:latin typeface="Lato"/>
                <a:ea typeface="Lato"/>
                <a:cs typeface="Lato"/>
              </a:rPr>
              <a:t>: </a:t>
            </a:r>
            <a:r>
              <a:rPr sz="600" dirty="0" err="1">
                <a:solidFill>
                  <a:srgbClr val="111111"/>
                </a:solidFill>
                <a:latin typeface="Lato"/>
                <a:ea typeface="Lato"/>
                <a:cs typeface="Lato"/>
              </a:rPr>
              <a:t>naamsa</a:t>
            </a:r>
            <a:r>
              <a:rPr sz="600" dirty="0">
                <a:solidFill>
                  <a:srgbClr val="111111"/>
                </a:solidFill>
                <a:latin typeface="Lato"/>
                <a:ea typeface="Lato"/>
                <a:cs typeface="Lato"/>
              </a:rPr>
              <a:t> Q1 and Q2 2026 reviews; </a:t>
            </a:r>
            <a:r>
              <a:rPr sz="600" dirty="0" err="1">
                <a:solidFill>
                  <a:srgbClr val="111111"/>
                </a:solidFill>
                <a:latin typeface="Lato"/>
                <a:ea typeface="Lato"/>
                <a:cs typeface="Lato"/>
              </a:rPr>
              <a:t>naamsa</a:t>
            </a:r>
            <a:r>
              <a:rPr sz="600" dirty="0">
                <a:solidFill>
                  <a:srgbClr val="111111"/>
                </a:solidFill>
                <a:latin typeface="Lato"/>
                <a:ea typeface="Lato"/>
                <a:cs typeface="Lato"/>
              </a:rPr>
              <a:t> notes new brands began reporting in 2026. Petrol: Department price history, 95 octane inland retail; highest monthly price in each year, 2026 to October.</a:t>
            </a:r>
            <a:endParaRPr sz="600" dirty="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dirty="0">
                <a:solidFill>
                  <a:srgbClr val="626262"/>
                </a:solidFill>
                <a:latin typeface="Lato"/>
                <a:ea typeface="Lato"/>
                <a:cs typeface="Lato"/>
              </a:rPr>
              <a:t>Vehicles sold | line: highest petrol price in the year, R/</a:t>
            </a:r>
            <a:r>
              <a:rPr sz="975" b="0" dirty="0" err="1">
                <a:solidFill>
                  <a:srgbClr val="626262"/>
                </a:solidFill>
                <a:latin typeface="Lato"/>
                <a:ea typeface="Lato"/>
                <a:cs typeface="Lato"/>
              </a:rPr>
              <a:t>litre</a:t>
            </a:r>
            <a:r>
              <a:rPr sz="975" b="0" dirty="0">
                <a:solidFill>
                  <a:srgbClr val="626262"/>
                </a:solidFill>
                <a:latin typeface="Lato"/>
                <a:ea typeface="Lato"/>
                <a:cs typeface="Lato"/>
              </a:rPr>
              <a:t> (right axis) | 2026 sales: </a:t>
            </a:r>
            <a:r>
              <a:rPr lang="en-ZA" sz="975" dirty="0">
                <a:solidFill>
                  <a:srgbClr val="626262"/>
                </a:solidFill>
                <a:latin typeface="Lato"/>
                <a:ea typeface="Lato"/>
                <a:cs typeface="Lato"/>
              </a:rPr>
              <a:t>annualised (January–June )</a:t>
            </a:r>
            <a:endParaRPr sz="975" b="0" dirty="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Electrified sales rose from 407 in 2019 to 16,716 in 2025. First half of 2026: 13,196, against 7,162 a year earlier (26,392 annualised).</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The highest petrol price in each year rose from R16.76 a litre in 2019 to R26.74 in 2022, eased to R22.41 in 2025 and reached R30.25 in October 2026.</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New sales are not fleet penetration. Efficiency and mileage must be modelled separately.</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Electrified vehicle sales and the petrol price, 2019–2026</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Different fuel-use effects</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0" name="Chart"/>
          <p:cNvGraphicFramePr>
            <a:graphicFrameLocks noGrp="1"/>
          </p:cNvGraphicFramePr>
          <p:nvPr>
            <p:extLst>
              <p:ext uri="{D42A27DB-BD31-4B8C-83A1-F6EECF244321}">
                <p14:modId xmlns:p14="http://schemas.microsoft.com/office/powerpoint/2010/main" val="2712641400"/>
              </p:ext>
            </p:extLst>
          </p:nvPr>
        </p:nvGraphicFramePr>
        <p:xfrm>
          <a:off x="457200" y="2286000"/>
          <a:ext cx="6446520" cy="3937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52389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The vehicle fleet uses 0.4–0.8% less fuel per km each year, about half the gain in new vehicles</a:t>
            </a:r>
            <a:endParaRPr dirty="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9</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GB" sz="600">
                <a:solidFill>
                  <a:srgbClr val="111111"/>
                </a:solidFill>
                <a:latin typeface="Lato"/>
                <a:ea typeface="Lato"/>
                <a:cs typeface="Lato"/>
              </a:rPr>
              <a:t>Chart: US EPA and Department of Energy, fueleconomy.gov vehicle file (downloaded 14 October 2026); combined label MPG converted per vehicle at 235.215 ÷ MPG; conventional petrol (no hybrids, flex-fuel, plug-ins) and diesel; each year’s change measured within vehicle classes present in both years, chained back from the 2026 average; not sales-weighted; diesel rests on 1–9 classes a year. Text: IEA/GFEI WP15 (2017); IEA (Dec 2021); eNaTIS 2022–25; Lightstone; Stone et al. (2018).</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Litres per 100 km of new vehicles, at the 2026 vehicle mix | US model years | same vehicle classes year to year</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a:solidFill>
                  <a:srgbClr val="11151A"/>
                </a:solidFill>
                <a:latin typeface="Lato"/>
                <a:ea typeface="Lato"/>
                <a:cs typeface="Lato"/>
              </a:rPr>
              <a:t>New vehicles use about 1% less fuel each year: since 2006, petrol from 13.6 to 11.2 litres per 100 km and diesel from 12.5 to 10.3 (US, chart). In South Africa, new light vehicles went from 8.8 to 7.4 litres, 2005–2019.</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Fleet: new cars and LCVs are 4.4% of the fleet each year and 2.5% are scrapped (2023–25). Average age is 10.5 years.</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So the whole fleet improves about half as fast as new vehicles. Petrol: 0.5–0.8% a year, depending on whether new-vehicle gains continued after 2019.</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Diesel: 0.4–0.7% a year. Bakkies, SUVs and cars use 36% of road diesel (0.4–0.6%); trucks, buses and taxis 64% (0.4–0.75%). New diesels use 8.5% less than the fleet average.</a:t>
            </a:r>
            <a:endParaRPr sz="1350" b="0">
              <a:solidFill>
                <a:srgbClr val="11151A"/>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GB" sz="1400" b="1">
                <a:latin typeface="Lato"/>
              </a:rPr>
              <a:t>New vehicles use 17% less fuel than in 2006: about 1% a year (L/100 km)</a:t>
            </a:r>
            <a:endParaRPr sz="1400" b="1">
              <a:latin typeface="Lato"/>
            </a:endParaRP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From new vehicles to the whole fleet</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0" name="Chart"/>
          <p:cNvGraphicFramePr>
            <a:graphicFrameLocks noGrp="1"/>
          </p:cNvGraphicFramePr>
          <p:nvPr>
            <p:extLst>
              <p:ext uri="{D42A27DB-BD31-4B8C-83A1-F6EECF244321}">
                <p14:modId xmlns:p14="http://schemas.microsoft.com/office/powerpoint/2010/main" val="4167027448"/>
              </p:ext>
            </p:extLst>
          </p:nvPr>
        </p:nvGraphicFramePr>
        <p:xfrm>
          <a:off x="457200" y="2331720"/>
          <a:ext cx="6446520" cy="38912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20972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Local refineries made 10.2bn litres of petrol and diesel in 2025, half the 2014 level; 2026 is on track for about 11bn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10</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dirty="0">
                <a:solidFill>
                  <a:srgbClr val="111111"/>
                </a:solidFill>
                <a:latin typeface="Lato"/>
                <a:ea typeface="Lato"/>
                <a:cs typeface="Lato"/>
              </a:rPr>
              <a:t>Sasol business performance metrics, FY2022–FY2026, p4 (Secunda total refined product; Natref production; quarterly volumes); Glencore annual reports 2023 p104, 2024 p85, 2025 p69 (Astron). 2022E–2025E: Sasol years to June. 2026* annualised: January–June actual, July–December at the first-half rate less Sasol’s FY27 Secunda shutdown (Financial Mail, 7 Oct 2026) and an assumed six weeks at half output at Natref (Rigzone, 1 Sep 2026). Petrol and diesel shares: analytical workbook v02.</a:t>
            </a:r>
            <a:endParaRPr sz="600" dirty="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 name="Production units">
            <a:extLst>
              <a:ext uri="{FF2B5EF4-FFF2-40B4-BE49-F238E27FC236}">
                <a16:creationId xmlns:a16="http://schemas.microsoft.com/office/drawing/2014/main" id="{598D68E6-506B-83CF-E42D-20F1DB24959C}"/>
              </a:ext>
            </a:extLst>
          </p:cNvPr>
          <p:cNvSpPr txBox="1"/>
          <p:nvPr/>
        </p:nvSpPr>
        <p:spPr>
          <a:xfrm>
            <a:off x="457200" y="2019300"/>
            <a:ext cx="6446520" cy="238125"/>
          </a:xfrm>
          <a:prstGeom prst="rect">
            <a:avLst/>
          </a:prstGeom>
          <a:noFill/>
        </p:spPr>
        <p:txBody>
          <a:bodyPr vert="horz" lIns="0" tIns="0" rIns="0" bIns="0" rtlCol="0">
            <a:spAutoFit/>
          </a:bodyPr>
          <a:lstStyle/>
          <a:p>
            <a:r>
              <a:rPr lang="en-GB" sz="975">
                <a:solidFill>
                  <a:srgbClr val="11151A"/>
                </a:solidFill>
                <a:latin typeface="Lato" panose="020F0502020204030203" pitchFamily="34" charset="0"/>
              </a:rPr>
              <a:t>Billion litres, petrol and diesel | circles: totals | hatched 2026* = annualised</a:t>
            </a:r>
            <a:endParaRPr lang="en-ZA" sz="975">
              <a:solidFill>
                <a:srgbClr val="11151A"/>
              </a:solidFill>
              <a:latin typeface="Lato" panose="020F0502020204030203" pitchFamily="34" charset="0"/>
            </a:endParaRPr>
          </a:p>
        </p:txBody>
      </p:sp>
      <p:sp>
        <p:nvSpPr>
          <p:cNvPr id="10" name="Production commentary">
            <a:extLst>
              <a:ext uri="{FF2B5EF4-FFF2-40B4-BE49-F238E27FC236}">
                <a16:creationId xmlns:a16="http://schemas.microsoft.com/office/drawing/2014/main" id="{DE27518A-7FCE-6AAE-5765-F02BEA973D8D}"/>
              </a:ext>
            </a:extLst>
          </p:cNvPr>
          <p:cNvSpPr txBox="1"/>
          <p:nvPr/>
        </p:nvSpPr>
        <p:spPr>
          <a:xfrm>
            <a:off x="7424928" y="2235200"/>
            <a:ext cx="3685032" cy="1869743"/>
          </a:xfrm>
          <a:prstGeom prst="rect">
            <a:avLst/>
          </a:prstGeom>
          <a:noFill/>
        </p:spPr>
        <p:txBody>
          <a:bodyPr vert="horz" lIns="0" tIns="0" rIns="0" bIns="0" rtlCol="0">
            <a:spAutoFit/>
          </a:bodyPr>
          <a:lstStyle/>
          <a:p>
            <a:r>
              <a:rPr lang="en-GB" sz="1350">
                <a:solidFill>
                  <a:srgbClr val="11151A"/>
                </a:solidFill>
                <a:latin typeface="Lato" panose="020F0502020204030203" pitchFamily="34" charset="0"/>
              </a:rPr>
              <a:t>Estimated from Sasol’s and Glencore’s reports; no national figure has been published since 2021.</a:t>
            </a:r>
            <a:endParaRPr lang="en-ZA" sz="1350">
              <a:solidFill>
                <a:srgbClr val="11151A"/>
              </a:solidFill>
              <a:latin typeface="Lato" panose="020F0502020204030203" pitchFamily="34" charset="0"/>
            </a:endParaRPr>
          </a:p>
          <a:p>
            <a:endParaRPr lang="en-ZA" sz="1350">
              <a:solidFill>
                <a:srgbClr val="11151A"/>
              </a:solidFill>
              <a:latin typeface="Lato" panose="020F0502020204030203" pitchFamily="34" charset="0"/>
            </a:endParaRPr>
          </a:p>
          <a:p>
            <a:r>
              <a:rPr lang="en-GB" sz="1350">
                <a:solidFill>
                  <a:srgbClr val="11151A"/>
                </a:solidFill>
                <a:latin typeface="Lato" panose="020F0502020204030203" pitchFamily="34" charset="0"/>
              </a:rPr>
              <a:t>Calendar 2025 check: Secunda 4.2, Natref 2.1, Astron 3.9bn L = 10.2bn L, the same total as Sasol’s year to June.</a:t>
            </a:r>
            <a:endParaRPr lang="en-ZA" sz="1350">
              <a:solidFill>
                <a:srgbClr val="11151A"/>
              </a:solidFill>
              <a:latin typeface="Lato" panose="020F0502020204030203" pitchFamily="34" charset="0"/>
            </a:endParaRPr>
          </a:p>
          <a:p>
            <a:endParaRPr lang="en-ZA" sz="1350">
              <a:solidFill>
                <a:srgbClr val="11151A"/>
              </a:solidFill>
              <a:latin typeface="Lato" panose="020F0502020204030203" pitchFamily="34" charset="0"/>
            </a:endParaRPr>
          </a:p>
          <a:p>
            <a:r>
              <a:rPr lang="en-GB" sz="1350">
                <a:solidFill>
                  <a:srgbClr val="11151A"/>
                </a:solidFill>
                <a:latin typeface="Lato" panose="020F0502020204030203" pitchFamily="34" charset="0"/>
              </a:rPr>
              <a:t>2026, annualised: 11.2bn L. Higher because Secunda had no phase shutdown and better gasifier and coal performance (+11% in the year to June 2026), and Natref fixed crude supply and ran part of Prax’s share in business rescue (+76%). Less the mid-August Natref outage; Astron at its 2025 level.</a:t>
            </a:r>
            <a:endParaRPr lang="en-ZA" sz="1350">
              <a:solidFill>
                <a:srgbClr val="11151A"/>
              </a:solidFill>
              <a:latin typeface="Lato" panose="020F0502020204030203" pitchFamily="34" charset="0"/>
            </a:endParaRPr>
          </a:p>
        </p:txBody>
      </p:sp>
      <p:sp>
        <p:nvSpPr>
          <p:cNvPr id="11" name="Production events">
            <a:extLst>
              <a:ext uri="{FF2B5EF4-FFF2-40B4-BE49-F238E27FC236}">
                <a16:creationId xmlns:a16="http://schemas.microsoft.com/office/drawing/2014/main" id="{FD879A5F-C40E-C552-1498-C800F603FC6B}"/>
              </a:ext>
            </a:extLst>
          </p:cNvPr>
          <p:cNvSpPr txBox="1"/>
          <p:nvPr/>
        </p:nvSpPr>
        <p:spPr>
          <a:xfrm>
            <a:off x="457200" y="5303520"/>
            <a:ext cx="6446520" cy="1005840"/>
          </a:xfrm>
          <a:prstGeom prst="rect">
            <a:avLst/>
          </a:prstGeom>
          <a:noFill/>
        </p:spPr>
        <p:txBody>
          <a:bodyPr vert="horz" lIns="0" tIns="0" rIns="0" bIns="0" rtlCol="0">
            <a:spAutoFit/>
          </a:bodyPr>
          <a:lstStyle/>
          <a:p>
            <a:r>
              <a:rPr lang="en-GB" sz="1200">
                <a:solidFill>
                  <a:srgbClr val="11151A"/>
                </a:solidFill>
                <a:latin typeface="Lato" panose="020F0502020204030203" pitchFamily="34" charset="0"/>
              </a:rPr>
              <a:t>How the estimates were calculated: Sasol’s reported fuels output for Secunda (chemicals already excluded) and Natref (scaled up from its 63.64% share), and Glencore’s reported output for Astron, converted to litres; then the share that is petrol and diesel: Secunda 90%, Natref 64%, Astron 80%. Astron was offline in 2022.</a:t>
            </a:r>
            <a:endParaRPr lang="en-ZA" sz="1200">
              <a:solidFill>
                <a:srgbClr val="11151A"/>
              </a:solidFill>
              <a:latin typeface="Lato" panose="020F0502020204030203" pitchFamily="34" charset="0"/>
            </a:endParaRPr>
          </a:p>
        </p:txBody>
      </p:sp>
      <p:sp>
        <p:nvSpPr>
          <p:cNvPr id="9003"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9004"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9005"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9006"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9007"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Estimated petrol and diesel production by refinery, 2022E–2026*</a:t>
            </a:r>
          </a:p>
        </p:txBody>
      </p:sp>
      <p:sp>
        <p:nvSpPr>
          <p:cNvPr id="9008"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2025E production</a:t>
            </a:r>
          </a:p>
        </p:txBody>
      </p:sp>
      <p:cxnSp>
        <p:nvCxnSpPr>
          <p:cNvPr id="9009"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010"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011"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12"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13"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014"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9015" name="Chart"/>
          <p:cNvGraphicFramePr>
            <a:graphicFrameLocks noGrp="1"/>
          </p:cNvGraphicFramePr>
          <p:nvPr/>
        </p:nvGraphicFramePr>
        <p:xfrm>
          <a:off x="457200" y="2333625"/>
          <a:ext cx="6446520" cy="2857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86440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Durban lands 79% of South Africa's imports and almost all the fuel for the market of interest; other routes add little</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11</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SARS customs, petrol and diesel, litres: imports by district office (offices add to the national total; Komatipoort is the Lebombo border post on the road from Maputo); exports by partner country. 2026 = January–August × 12/8. Records show where fuel is cleared, not where it is used. Map: geoBoundaries and Natural Earth; pipeline route approximate.</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9003"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9004"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9005"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9006"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9007" name="Legend key"/>
          <p:cNvSpPr/>
          <p:nvPr/>
        </p:nvSpPr>
        <p:spPr>
          <a:xfrm>
            <a:off x="457200" y="153619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8" name="Legend label"/>
          <p:cNvSpPr txBox="1"/>
          <p:nvPr/>
        </p:nvSpPr>
        <p:spPr>
          <a:xfrm>
            <a:off x="612648" y="1490472"/>
            <a:ext cx="548640" cy="201168"/>
          </a:xfrm>
          <a:prstGeom prst="rect">
            <a:avLst/>
          </a:prstGeom>
          <a:noFill/>
        </p:spPr>
        <p:txBody>
          <a:bodyPr wrap="square" lIns="0" tIns="0" rIns="0" bIns="0" anchor="t">
            <a:spAutoFit/>
          </a:bodyPr>
          <a:lstStyle/>
          <a:p>
            <a:pPr algn="l"/>
            <a:r>
              <a:rPr sz="750" b="0">
                <a:solidFill>
                  <a:srgbClr val="11151A"/>
                </a:solidFill>
                <a:latin typeface="Lato"/>
              </a:rPr>
              <a:t>Petrol</a:t>
            </a:r>
          </a:p>
        </p:txBody>
      </p:sp>
      <p:sp>
        <p:nvSpPr>
          <p:cNvPr id="9009" name="Legend key"/>
          <p:cNvSpPr/>
          <p:nvPr/>
        </p:nvSpPr>
        <p:spPr>
          <a:xfrm>
            <a:off x="1188720" y="1536192"/>
            <a:ext cx="109728" cy="109728"/>
          </a:xfrm>
          <a:prstGeom prst="rect">
            <a:avLst/>
          </a:prstGeom>
          <a:solidFill>
            <a:srgbClr val="67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0" name="Legend label"/>
          <p:cNvSpPr txBox="1"/>
          <p:nvPr/>
        </p:nvSpPr>
        <p:spPr>
          <a:xfrm>
            <a:off x="1344168" y="1490472"/>
            <a:ext cx="548640" cy="201168"/>
          </a:xfrm>
          <a:prstGeom prst="rect">
            <a:avLst/>
          </a:prstGeom>
          <a:noFill/>
        </p:spPr>
        <p:txBody>
          <a:bodyPr wrap="square" lIns="0" tIns="0" rIns="0" bIns="0" anchor="t">
            <a:spAutoFit/>
          </a:bodyPr>
          <a:lstStyle/>
          <a:p>
            <a:pPr algn="l"/>
            <a:r>
              <a:rPr sz="750" b="0">
                <a:solidFill>
                  <a:srgbClr val="11151A"/>
                </a:solidFill>
                <a:latin typeface="Lato"/>
              </a:rPr>
              <a:t>Diesel</a:t>
            </a:r>
          </a:p>
        </p:txBody>
      </p:sp>
      <p:sp>
        <p:nvSpPr>
          <p:cNvPr id="9011" name="Evidence unit"/>
          <p:cNvSpPr txBox="1"/>
          <p:nvPr/>
        </p:nvSpPr>
        <p:spPr>
          <a:xfrm>
            <a:off x="2057400" y="1490472"/>
            <a:ext cx="3063239" cy="201168"/>
          </a:xfrm>
          <a:prstGeom prst="rect">
            <a:avLst/>
          </a:prstGeom>
          <a:noFill/>
        </p:spPr>
        <p:txBody>
          <a:bodyPr wrap="square" lIns="0" tIns="0" rIns="0" bIns="0" anchor="t">
            <a:spAutoFit/>
          </a:bodyPr>
          <a:lstStyle/>
          <a:p>
            <a:pPr algn="l"/>
            <a:r>
              <a:rPr sz="750" b="0">
                <a:solidFill>
                  <a:srgbClr val="666666"/>
                </a:solidFill>
                <a:latin typeface="Lato"/>
              </a:rPr>
              <a:t>Billion litres | 26* = 2026 annualised (Jan–Aug) | own scale per chart</a:t>
            </a:r>
          </a:p>
        </p:txBody>
      </p:sp>
      <p:sp>
        <p:nvSpPr>
          <p:cNvPr id="9012" name="Badge A"/>
          <p:cNvSpPr/>
          <p:nvPr/>
        </p:nvSpPr>
        <p:spPr>
          <a:xfrm>
            <a:off x="475488" y="1819656"/>
            <a:ext cx="237744" cy="237744"/>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A</a:t>
            </a:r>
          </a:p>
        </p:txBody>
      </p:sp>
      <p:sp>
        <p:nvSpPr>
          <p:cNvPr id="9013" name="Card heading"/>
          <p:cNvSpPr txBox="1"/>
          <p:nvPr/>
        </p:nvSpPr>
        <p:spPr>
          <a:xfrm>
            <a:off x="786384" y="1810512"/>
            <a:ext cx="1897379" cy="384048"/>
          </a:xfrm>
          <a:prstGeom prst="rect">
            <a:avLst/>
          </a:prstGeom>
          <a:noFill/>
        </p:spPr>
        <p:txBody>
          <a:bodyPr wrap="square" lIns="0" tIns="0" rIns="0" bIns="0" anchor="t">
            <a:spAutoFit/>
          </a:bodyPr>
          <a:lstStyle/>
          <a:p>
            <a:pPr algn="l"/>
            <a:r>
              <a:rPr sz="900" b="1">
                <a:solidFill>
                  <a:srgbClr val="0A2373"/>
                </a:solidFill>
                <a:latin typeface="Lato"/>
              </a:rPr>
              <a:t>Durban</a:t>
            </a:r>
          </a:p>
          <a:p>
            <a:pPr algn="l"/>
            <a:r>
              <a:rPr sz="700" b="0">
                <a:solidFill>
                  <a:srgbClr val="666666"/>
                </a:solidFill>
                <a:latin typeface="Lato"/>
              </a:rPr>
              <a:t>Imports | 13.2bn L in 2025, 79% of South Africa</a:t>
            </a:r>
          </a:p>
        </p:txBody>
      </p:sp>
      <p:graphicFrame>
        <p:nvGraphicFramePr>
          <p:cNvPr id="9014" name="Chart A"/>
          <p:cNvGraphicFramePr>
            <a:graphicFrameLocks noGrp="1"/>
          </p:cNvGraphicFramePr>
          <p:nvPr/>
        </p:nvGraphicFramePr>
        <p:xfrm>
          <a:off x="457200" y="2194560"/>
          <a:ext cx="2263139" cy="1014984"/>
        </p:xfrm>
        <a:graphic>
          <a:graphicData uri="http://schemas.openxmlformats.org/drawingml/2006/chart">
            <c:chart xmlns:c="http://schemas.openxmlformats.org/drawingml/2006/chart" xmlns:r="http://schemas.openxmlformats.org/officeDocument/2006/relationships" r:id="rId2"/>
          </a:graphicData>
        </a:graphic>
      </p:graphicFrame>
      <p:sp>
        <p:nvSpPr>
          <p:cNvPr id="9015" name="Badge B"/>
          <p:cNvSpPr/>
          <p:nvPr/>
        </p:nvSpPr>
        <p:spPr>
          <a:xfrm>
            <a:off x="2921508" y="1819656"/>
            <a:ext cx="237744" cy="237744"/>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B</a:t>
            </a:r>
          </a:p>
        </p:txBody>
      </p:sp>
      <p:sp>
        <p:nvSpPr>
          <p:cNvPr id="9016" name="Card heading"/>
          <p:cNvSpPr txBox="1"/>
          <p:nvPr/>
        </p:nvSpPr>
        <p:spPr>
          <a:xfrm>
            <a:off x="3232403" y="1810512"/>
            <a:ext cx="1897379" cy="384048"/>
          </a:xfrm>
          <a:prstGeom prst="rect">
            <a:avLst/>
          </a:prstGeom>
          <a:noFill/>
        </p:spPr>
        <p:txBody>
          <a:bodyPr wrap="square" lIns="0" tIns="0" rIns="0" bIns="0" anchor="t">
            <a:spAutoFit/>
          </a:bodyPr>
          <a:lstStyle/>
          <a:p>
            <a:pPr algn="l"/>
            <a:r>
              <a:rPr sz="900" b="1">
                <a:solidFill>
                  <a:srgbClr val="0A2373"/>
                </a:solidFill>
                <a:latin typeface="Lato"/>
              </a:rPr>
              <a:t>Richards Bay</a:t>
            </a:r>
          </a:p>
          <a:p>
            <a:pPr algn="l"/>
            <a:r>
              <a:rPr sz="700" b="0">
                <a:solidFill>
                  <a:srgbClr val="666666"/>
                </a:solidFill>
                <a:latin typeface="Lato"/>
              </a:rPr>
              <a:t>Imports | 0.7bn L in 2025</a:t>
            </a:r>
          </a:p>
        </p:txBody>
      </p:sp>
      <p:graphicFrame>
        <p:nvGraphicFramePr>
          <p:cNvPr id="9017" name="Chart B"/>
          <p:cNvGraphicFramePr>
            <a:graphicFrameLocks noGrp="1"/>
          </p:cNvGraphicFramePr>
          <p:nvPr/>
        </p:nvGraphicFramePr>
        <p:xfrm>
          <a:off x="2903220" y="2194560"/>
          <a:ext cx="2263139" cy="1014984"/>
        </p:xfrm>
        <a:graphic>
          <a:graphicData uri="http://schemas.openxmlformats.org/drawingml/2006/chart">
            <c:chart xmlns:c="http://schemas.openxmlformats.org/drawingml/2006/chart" xmlns:r="http://schemas.openxmlformats.org/officeDocument/2006/relationships" r:id="rId3"/>
          </a:graphicData>
        </a:graphic>
      </p:graphicFrame>
      <p:sp>
        <p:nvSpPr>
          <p:cNvPr id="9018" name="Badge C"/>
          <p:cNvSpPr/>
          <p:nvPr/>
        </p:nvSpPr>
        <p:spPr>
          <a:xfrm>
            <a:off x="475488" y="3328416"/>
            <a:ext cx="237744" cy="237744"/>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C</a:t>
            </a:r>
          </a:p>
        </p:txBody>
      </p:sp>
      <p:sp>
        <p:nvSpPr>
          <p:cNvPr id="9019" name="Card heading"/>
          <p:cNvSpPr txBox="1"/>
          <p:nvPr/>
        </p:nvSpPr>
        <p:spPr>
          <a:xfrm>
            <a:off x="786384" y="3319272"/>
            <a:ext cx="1897379" cy="384048"/>
          </a:xfrm>
          <a:prstGeom prst="rect">
            <a:avLst/>
          </a:prstGeom>
          <a:noFill/>
        </p:spPr>
        <p:txBody>
          <a:bodyPr wrap="square" lIns="0" tIns="0" rIns="0" bIns="0" anchor="t">
            <a:spAutoFit/>
          </a:bodyPr>
          <a:lstStyle/>
          <a:p>
            <a:pPr algn="l"/>
            <a:r>
              <a:rPr sz="900" b="1">
                <a:solidFill>
                  <a:srgbClr val="0A2373"/>
                </a:solidFill>
                <a:latin typeface="Lato"/>
              </a:rPr>
              <a:t>Imports from Maputo</a:t>
            </a:r>
          </a:p>
          <a:p>
            <a:pPr algn="l"/>
            <a:r>
              <a:rPr sz="700" b="0">
                <a:solidFill>
                  <a:srgbClr val="666666"/>
                </a:solidFill>
                <a:latin typeface="Lato"/>
              </a:rPr>
              <a:t>By road, cleared at Komatipoort | 0.09bn L in 2025</a:t>
            </a:r>
          </a:p>
        </p:txBody>
      </p:sp>
      <p:graphicFrame>
        <p:nvGraphicFramePr>
          <p:cNvPr id="9020" name="Chart C"/>
          <p:cNvGraphicFramePr>
            <a:graphicFrameLocks noGrp="1"/>
          </p:cNvGraphicFramePr>
          <p:nvPr/>
        </p:nvGraphicFramePr>
        <p:xfrm>
          <a:off x="457200" y="3703320"/>
          <a:ext cx="2263139" cy="1014984"/>
        </p:xfrm>
        <a:graphic>
          <a:graphicData uri="http://schemas.openxmlformats.org/drawingml/2006/chart">
            <c:chart xmlns:c="http://schemas.openxmlformats.org/drawingml/2006/chart" xmlns:r="http://schemas.openxmlformats.org/officeDocument/2006/relationships" r:id="rId4"/>
          </a:graphicData>
        </a:graphic>
      </p:graphicFrame>
      <p:sp>
        <p:nvSpPr>
          <p:cNvPr id="9021" name="Badge D"/>
          <p:cNvSpPr/>
          <p:nvPr/>
        </p:nvSpPr>
        <p:spPr>
          <a:xfrm>
            <a:off x="2921508" y="3328416"/>
            <a:ext cx="237744" cy="237744"/>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D</a:t>
            </a:r>
          </a:p>
        </p:txBody>
      </p:sp>
      <p:sp>
        <p:nvSpPr>
          <p:cNvPr id="9022" name="Card heading"/>
          <p:cNvSpPr txBox="1"/>
          <p:nvPr/>
        </p:nvSpPr>
        <p:spPr>
          <a:xfrm>
            <a:off x="3232403" y="3319272"/>
            <a:ext cx="1897379" cy="353943"/>
          </a:xfrm>
          <a:prstGeom prst="rect">
            <a:avLst/>
          </a:prstGeom>
          <a:noFill/>
        </p:spPr>
        <p:txBody>
          <a:bodyPr wrap="square" lIns="0" tIns="0" rIns="0" bIns="0" anchor="t">
            <a:spAutoFit/>
          </a:bodyPr>
          <a:lstStyle/>
          <a:p>
            <a:pPr algn="l"/>
            <a:r>
              <a:rPr sz="900" b="1">
                <a:solidFill>
                  <a:srgbClr val="0A2373"/>
                </a:solidFill>
                <a:latin typeface="Lato"/>
              </a:rPr>
              <a:t>Exports to Botswana</a:t>
            </a:r>
          </a:p>
          <a:p>
            <a:pPr algn="l"/>
            <a:r>
              <a:rPr lang="sv-SE" sz="700" b="0">
                <a:solidFill>
                  <a:srgbClr val="666666"/>
                </a:solidFill>
                <a:latin typeface="Lato"/>
              </a:rPr>
              <a:t>1.05bn L (2022) → 0.68 (2025) | imports via Botswana ≈ 0</a:t>
            </a:r>
            <a:endParaRPr sz="700" b="0">
              <a:solidFill>
                <a:srgbClr val="666666"/>
              </a:solidFill>
              <a:latin typeface="Lato"/>
            </a:endParaRPr>
          </a:p>
        </p:txBody>
      </p:sp>
      <p:graphicFrame>
        <p:nvGraphicFramePr>
          <p:cNvPr id="9023" name="Chart D"/>
          <p:cNvGraphicFramePr>
            <a:graphicFrameLocks noGrp="1"/>
          </p:cNvGraphicFramePr>
          <p:nvPr/>
        </p:nvGraphicFramePr>
        <p:xfrm>
          <a:off x="2903220" y="3703320"/>
          <a:ext cx="2263139" cy="1014984"/>
        </p:xfrm>
        <a:graphic>
          <a:graphicData uri="http://schemas.openxmlformats.org/drawingml/2006/chart">
            <c:chart xmlns:c="http://schemas.openxmlformats.org/drawingml/2006/chart" xmlns:r="http://schemas.openxmlformats.org/officeDocument/2006/relationships" r:id="rId5"/>
          </a:graphicData>
        </a:graphic>
      </p:graphicFrame>
      <p:sp>
        <p:nvSpPr>
          <p:cNvPr id="9024" name="Badge E"/>
          <p:cNvSpPr/>
          <p:nvPr/>
        </p:nvSpPr>
        <p:spPr>
          <a:xfrm>
            <a:off x="475488" y="4837176"/>
            <a:ext cx="237744" cy="237744"/>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E</a:t>
            </a:r>
          </a:p>
        </p:txBody>
      </p:sp>
      <p:sp>
        <p:nvSpPr>
          <p:cNvPr id="9025" name="Card heading"/>
          <p:cNvSpPr txBox="1"/>
          <p:nvPr/>
        </p:nvSpPr>
        <p:spPr>
          <a:xfrm>
            <a:off x="786384" y="4828032"/>
            <a:ext cx="1897379" cy="384048"/>
          </a:xfrm>
          <a:prstGeom prst="rect">
            <a:avLst/>
          </a:prstGeom>
          <a:noFill/>
        </p:spPr>
        <p:txBody>
          <a:bodyPr wrap="square" lIns="0" tIns="0" rIns="0" bIns="0" anchor="t">
            <a:spAutoFit/>
          </a:bodyPr>
          <a:lstStyle/>
          <a:p>
            <a:pPr algn="l"/>
            <a:r>
              <a:rPr sz="900" b="1">
                <a:solidFill>
                  <a:srgbClr val="0A2373"/>
                </a:solidFill>
                <a:latin typeface="Lato"/>
              </a:rPr>
              <a:t>Cape Town</a:t>
            </a:r>
          </a:p>
          <a:p>
            <a:pPr algn="l"/>
            <a:r>
              <a:rPr sz="700" b="0">
                <a:solidFill>
                  <a:srgbClr val="666666"/>
                </a:solidFill>
                <a:latin typeface="Lato"/>
              </a:rPr>
              <a:t>Imports | 1.5bn L in 2025</a:t>
            </a:r>
          </a:p>
        </p:txBody>
      </p:sp>
      <p:graphicFrame>
        <p:nvGraphicFramePr>
          <p:cNvPr id="9026" name="Chart E"/>
          <p:cNvGraphicFramePr>
            <a:graphicFrameLocks noGrp="1"/>
          </p:cNvGraphicFramePr>
          <p:nvPr/>
        </p:nvGraphicFramePr>
        <p:xfrm>
          <a:off x="457200" y="5212080"/>
          <a:ext cx="2263139" cy="1014984"/>
        </p:xfrm>
        <a:graphic>
          <a:graphicData uri="http://schemas.openxmlformats.org/drawingml/2006/chart">
            <c:chart xmlns:c="http://schemas.openxmlformats.org/drawingml/2006/chart" xmlns:r="http://schemas.openxmlformats.org/officeDocument/2006/relationships" r:id="rId6"/>
          </a:graphicData>
        </a:graphic>
      </p:graphicFrame>
      <p:sp>
        <p:nvSpPr>
          <p:cNvPr id="9027" name="Badge F"/>
          <p:cNvSpPr/>
          <p:nvPr/>
        </p:nvSpPr>
        <p:spPr>
          <a:xfrm>
            <a:off x="2921508" y="4837176"/>
            <a:ext cx="237744" cy="237744"/>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F</a:t>
            </a:r>
          </a:p>
        </p:txBody>
      </p:sp>
      <p:sp>
        <p:nvSpPr>
          <p:cNvPr id="9028" name="Card heading"/>
          <p:cNvSpPr txBox="1"/>
          <p:nvPr/>
        </p:nvSpPr>
        <p:spPr>
          <a:xfrm>
            <a:off x="3232403" y="4828032"/>
            <a:ext cx="1897379" cy="384048"/>
          </a:xfrm>
          <a:prstGeom prst="rect">
            <a:avLst/>
          </a:prstGeom>
          <a:noFill/>
        </p:spPr>
        <p:txBody>
          <a:bodyPr wrap="square" lIns="0" tIns="0" rIns="0" bIns="0" anchor="t">
            <a:spAutoFit/>
          </a:bodyPr>
          <a:lstStyle/>
          <a:p>
            <a:pPr algn="l"/>
            <a:r>
              <a:rPr sz="900" b="1">
                <a:solidFill>
                  <a:srgbClr val="0A2373"/>
                </a:solidFill>
                <a:latin typeface="Lato"/>
              </a:rPr>
              <a:t>Mossel Bay, Gqeberha, East London</a:t>
            </a:r>
          </a:p>
          <a:p>
            <a:pPr algn="l"/>
            <a:r>
              <a:rPr sz="700" b="0">
                <a:solidFill>
                  <a:srgbClr val="666666"/>
                </a:solidFill>
                <a:latin typeface="Lato"/>
              </a:rPr>
              <a:t>Imports | 1.3bn L in 2025</a:t>
            </a:r>
          </a:p>
        </p:txBody>
      </p:sp>
      <p:graphicFrame>
        <p:nvGraphicFramePr>
          <p:cNvPr id="9029" name="Chart F"/>
          <p:cNvGraphicFramePr>
            <a:graphicFrameLocks noGrp="1"/>
          </p:cNvGraphicFramePr>
          <p:nvPr/>
        </p:nvGraphicFramePr>
        <p:xfrm>
          <a:off x="2903220" y="5212080"/>
          <a:ext cx="2263139" cy="1014984"/>
        </p:xfrm>
        <a:graphic>
          <a:graphicData uri="http://schemas.openxmlformats.org/drawingml/2006/chart">
            <c:chart xmlns:c="http://schemas.openxmlformats.org/drawingml/2006/chart" xmlns:r="http://schemas.openxmlformats.org/officeDocument/2006/relationships" r:id="rId7"/>
          </a:graphicData>
        </a:graphic>
      </p:graphicFrame>
      <p:cxnSp>
        <p:nvCxnSpPr>
          <p:cNvPr id="9030" name="Divider"/>
          <p:cNvCxnSpPr/>
          <p:nvPr/>
        </p:nvCxnSpPr>
        <p:spPr>
          <a:xfrm>
            <a:off x="5212080" y="1481328"/>
            <a:ext cx="0" cy="4782312"/>
          </a:xfrm>
          <a:prstGeom prst="line">
            <a:avLst/>
          </a:prstGeom>
          <a:ln w="9525">
            <a:solidFill>
              <a:srgbClr val="D4D4D4"/>
            </a:solidFill>
          </a:ln>
        </p:spPr>
        <p:style>
          <a:lnRef idx="2">
            <a:schemeClr val="accent1"/>
          </a:lnRef>
          <a:fillRef idx="0">
            <a:schemeClr val="accent1"/>
          </a:fillRef>
          <a:effectRef idx="1">
            <a:schemeClr val="accent1"/>
          </a:effectRef>
          <a:fontRef idx="minor">
            <a:schemeClr val="tx1"/>
          </a:fontRef>
        </p:style>
      </p:cxnSp>
      <p:pic>
        <p:nvPicPr>
          <p:cNvPr id="9031" name="Base map" descr="map_clean.png"/>
          <p:cNvPicPr>
            <a:picLocks noChangeAspect="1"/>
          </p:cNvPicPr>
          <p:nvPr/>
        </p:nvPicPr>
        <p:blipFill>
          <a:blip r:embed="rId8"/>
          <a:stretch>
            <a:fillRect/>
          </a:stretch>
        </p:blipFill>
        <p:spPr>
          <a:xfrm>
            <a:off x="5737860" y="1481328"/>
            <a:ext cx="4983480" cy="3750068"/>
          </a:xfrm>
          <a:prstGeom prst="rect">
            <a:avLst/>
          </a:prstGeom>
        </p:spPr>
      </p:pic>
      <p:sp>
        <p:nvSpPr>
          <p:cNvPr id="9032" name="Map label Namibia"/>
          <p:cNvSpPr txBox="1"/>
          <p:nvPr/>
        </p:nvSpPr>
        <p:spPr>
          <a:xfrm>
            <a:off x="5993844" y="1960065"/>
            <a:ext cx="1097280" cy="182880"/>
          </a:xfrm>
          <a:prstGeom prst="rect">
            <a:avLst/>
          </a:prstGeom>
          <a:noFill/>
        </p:spPr>
        <p:txBody>
          <a:bodyPr wrap="square" lIns="0" tIns="0" rIns="0" bIns="0" anchor="t">
            <a:spAutoFit/>
          </a:bodyPr>
          <a:lstStyle/>
          <a:p>
            <a:pPr algn="ctr"/>
            <a:r>
              <a:rPr sz="900" b="0">
                <a:solidFill>
                  <a:srgbClr val="666666"/>
                </a:solidFill>
                <a:latin typeface="Lato"/>
              </a:rPr>
              <a:t>Namibia</a:t>
            </a:r>
          </a:p>
        </p:txBody>
      </p:sp>
      <p:sp>
        <p:nvSpPr>
          <p:cNvPr id="9033" name="Map label Botswana"/>
          <p:cNvSpPr txBox="1"/>
          <p:nvPr/>
        </p:nvSpPr>
        <p:spPr>
          <a:xfrm>
            <a:off x="7629048" y="1723841"/>
            <a:ext cx="1097280" cy="182880"/>
          </a:xfrm>
          <a:prstGeom prst="rect">
            <a:avLst/>
          </a:prstGeom>
          <a:noFill/>
        </p:spPr>
        <p:txBody>
          <a:bodyPr wrap="square" lIns="0" tIns="0" rIns="0" bIns="0" anchor="t">
            <a:spAutoFit/>
          </a:bodyPr>
          <a:lstStyle/>
          <a:p>
            <a:pPr algn="ctr"/>
            <a:r>
              <a:rPr sz="900" b="0">
                <a:solidFill>
                  <a:srgbClr val="666666"/>
                </a:solidFill>
                <a:latin typeface="Lato"/>
              </a:rPr>
              <a:t>Botswana</a:t>
            </a:r>
          </a:p>
        </p:txBody>
      </p:sp>
      <p:sp>
        <p:nvSpPr>
          <p:cNvPr id="9034" name="Map label Zimbabwe"/>
          <p:cNvSpPr txBox="1"/>
          <p:nvPr/>
        </p:nvSpPr>
        <p:spPr>
          <a:xfrm>
            <a:off x="9342120" y="1493327"/>
            <a:ext cx="1097280" cy="182880"/>
          </a:xfrm>
          <a:prstGeom prst="rect">
            <a:avLst/>
          </a:prstGeom>
          <a:noFill/>
        </p:spPr>
        <p:txBody>
          <a:bodyPr wrap="square" lIns="0" tIns="0" rIns="0" bIns="0" anchor="t">
            <a:spAutoFit/>
          </a:bodyPr>
          <a:lstStyle/>
          <a:p>
            <a:pPr algn="ctr"/>
            <a:r>
              <a:rPr sz="900" b="0">
                <a:solidFill>
                  <a:srgbClr val="666666"/>
                </a:solidFill>
                <a:latin typeface="Lato"/>
              </a:rPr>
              <a:t>Zimbabwe</a:t>
            </a:r>
          </a:p>
        </p:txBody>
      </p:sp>
      <p:sp>
        <p:nvSpPr>
          <p:cNvPr id="9035" name="Map label Mozambique"/>
          <p:cNvSpPr txBox="1"/>
          <p:nvPr/>
        </p:nvSpPr>
        <p:spPr>
          <a:xfrm>
            <a:off x="10068877" y="1901009"/>
            <a:ext cx="1097280" cy="182880"/>
          </a:xfrm>
          <a:prstGeom prst="rect">
            <a:avLst/>
          </a:prstGeom>
          <a:noFill/>
        </p:spPr>
        <p:txBody>
          <a:bodyPr wrap="square" lIns="0" tIns="0" rIns="0" bIns="0" anchor="t">
            <a:spAutoFit/>
          </a:bodyPr>
          <a:lstStyle/>
          <a:p>
            <a:pPr algn="ctr"/>
            <a:r>
              <a:rPr sz="900" b="0">
                <a:solidFill>
                  <a:srgbClr val="666666"/>
                </a:solidFill>
                <a:latin typeface="Lato"/>
              </a:rPr>
              <a:t>Mozambique</a:t>
            </a:r>
          </a:p>
        </p:txBody>
      </p:sp>
      <p:sp>
        <p:nvSpPr>
          <p:cNvPr id="9036" name="Map label Lesotho"/>
          <p:cNvSpPr txBox="1"/>
          <p:nvPr/>
        </p:nvSpPr>
        <p:spPr>
          <a:xfrm>
            <a:off x="8835985" y="3554583"/>
            <a:ext cx="1097280" cy="182880"/>
          </a:xfrm>
          <a:prstGeom prst="rect">
            <a:avLst/>
          </a:prstGeom>
          <a:noFill/>
        </p:spPr>
        <p:txBody>
          <a:bodyPr wrap="square" lIns="0" tIns="0" rIns="0" bIns="0" anchor="t">
            <a:spAutoFit/>
          </a:bodyPr>
          <a:lstStyle/>
          <a:p>
            <a:pPr algn="ctr"/>
            <a:r>
              <a:rPr sz="900" b="0">
                <a:solidFill>
                  <a:srgbClr val="666666"/>
                </a:solidFill>
                <a:latin typeface="Lato"/>
              </a:rPr>
              <a:t>Lesotho</a:t>
            </a:r>
          </a:p>
        </p:txBody>
      </p:sp>
      <p:sp>
        <p:nvSpPr>
          <p:cNvPr id="9037" name="Map label Johannesburg"/>
          <p:cNvSpPr txBox="1"/>
          <p:nvPr/>
        </p:nvSpPr>
        <p:spPr>
          <a:xfrm>
            <a:off x="8171426" y="2532339"/>
            <a:ext cx="1097280" cy="182880"/>
          </a:xfrm>
          <a:prstGeom prst="rect">
            <a:avLst/>
          </a:prstGeom>
          <a:noFill/>
        </p:spPr>
        <p:txBody>
          <a:bodyPr wrap="square" lIns="0" tIns="0" rIns="0" bIns="0" anchor="t">
            <a:spAutoFit/>
          </a:bodyPr>
          <a:lstStyle/>
          <a:p>
            <a:pPr algn="r"/>
            <a:r>
              <a:rPr sz="800" b="0">
                <a:solidFill>
                  <a:srgbClr val="11151A"/>
                </a:solidFill>
                <a:latin typeface="Lato"/>
              </a:rPr>
              <a:t>Johannesburg</a:t>
            </a:r>
          </a:p>
        </p:txBody>
      </p:sp>
      <p:sp>
        <p:nvSpPr>
          <p:cNvPr id="9038" name="Map label Lesedi"/>
          <p:cNvSpPr txBox="1"/>
          <p:nvPr/>
        </p:nvSpPr>
        <p:spPr>
          <a:xfrm>
            <a:off x="8236315" y="2720365"/>
            <a:ext cx="1097280" cy="182880"/>
          </a:xfrm>
          <a:prstGeom prst="rect">
            <a:avLst/>
          </a:prstGeom>
          <a:noFill/>
        </p:spPr>
        <p:txBody>
          <a:bodyPr wrap="square" lIns="0" tIns="0" rIns="0" bIns="0" anchor="t">
            <a:spAutoFit/>
          </a:bodyPr>
          <a:lstStyle/>
          <a:p>
            <a:pPr algn="r"/>
            <a:r>
              <a:rPr sz="800" b="0">
                <a:solidFill>
                  <a:srgbClr val="11151A"/>
                </a:solidFill>
                <a:latin typeface="Lato"/>
              </a:rPr>
              <a:t>Lesedi</a:t>
            </a:r>
          </a:p>
        </p:txBody>
      </p:sp>
      <p:sp>
        <p:nvSpPr>
          <p:cNvPr id="9039" name="Map label Durban"/>
          <p:cNvSpPr txBox="1"/>
          <p:nvPr/>
        </p:nvSpPr>
        <p:spPr>
          <a:xfrm>
            <a:off x="10179343" y="3680029"/>
            <a:ext cx="1097280" cy="182880"/>
          </a:xfrm>
          <a:prstGeom prst="rect">
            <a:avLst/>
          </a:prstGeom>
          <a:noFill/>
        </p:spPr>
        <p:txBody>
          <a:bodyPr wrap="square" lIns="0" tIns="0" rIns="0" bIns="0" anchor="t">
            <a:spAutoFit/>
          </a:bodyPr>
          <a:lstStyle/>
          <a:p>
            <a:pPr algn="l"/>
            <a:r>
              <a:rPr sz="800" b="0">
                <a:solidFill>
                  <a:srgbClr val="11151A"/>
                </a:solidFill>
                <a:latin typeface="Lato"/>
              </a:rPr>
              <a:t>Durban</a:t>
            </a:r>
          </a:p>
        </p:txBody>
      </p:sp>
      <p:sp>
        <p:nvSpPr>
          <p:cNvPr id="9040" name="Map label Richards Bay"/>
          <p:cNvSpPr txBox="1"/>
          <p:nvPr/>
        </p:nvSpPr>
        <p:spPr>
          <a:xfrm>
            <a:off x="10441495" y="3312452"/>
            <a:ext cx="1097280" cy="182880"/>
          </a:xfrm>
          <a:prstGeom prst="rect">
            <a:avLst/>
          </a:prstGeom>
          <a:noFill/>
        </p:spPr>
        <p:txBody>
          <a:bodyPr wrap="square" lIns="0" tIns="0" rIns="0" bIns="0" anchor="t">
            <a:spAutoFit/>
          </a:bodyPr>
          <a:lstStyle/>
          <a:p>
            <a:pPr algn="l"/>
            <a:r>
              <a:rPr sz="800" b="0">
                <a:solidFill>
                  <a:srgbClr val="11151A"/>
                </a:solidFill>
                <a:latin typeface="Lato"/>
              </a:rPr>
              <a:t>Richards Bay</a:t>
            </a:r>
          </a:p>
        </p:txBody>
      </p:sp>
      <p:sp>
        <p:nvSpPr>
          <p:cNvPr id="9041" name="Map label Maputo"/>
          <p:cNvSpPr txBox="1"/>
          <p:nvPr/>
        </p:nvSpPr>
        <p:spPr>
          <a:xfrm>
            <a:off x="10579060" y="2482713"/>
            <a:ext cx="1097280" cy="182880"/>
          </a:xfrm>
          <a:prstGeom prst="rect">
            <a:avLst/>
          </a:prstGeom>
          <a:noFill/>
        </p:spPr>
        <p:txBody>
          <a:bodyPr wrap="square" lIns="0" tIns="0" rIns="0" bIns="0" anchor="t">
            <a:spAutoFit/>
          </a:bodyPr>
          <a:lstStyle/>
          <a:p>
            <a:pPr algn="l"/>
            <a:r>
              <a:rPr sz="800" b="0">
                <a:solidFill>
                  <a:srgbClr val="11151A"/>
                </a:solidFill>
                <a:latin typeface="Lato"/>
              </a:rPr>
              <a:t>Maputo</a:t>
            </a:r>
          </a:p>
        </p:txBody>
      </p:sp>
      <p:sp>
        <p:nvSpPr>
          <p:cNvPr id="9042" name="Map label Komatipoort"/>
          <p:cNvSpPr txBox="1"/>
          <p:nvPr/>
        </p:nvSpPr>
        <p:spPr>
          <a:xfrm>
            <a:off x="9183695" y="2326214"/>
            <a:ext cx="1097280" cy="182880"/>
          </a:xfrm>
          <a:prstGeom prst="rect">
            <a:avLst/>
          </a:prstGeom>
          <a:noFill/>
        </p:spPr>
        <p:txBody>
          <a:bodyPr wrap="square" lIns="0" tIns="0" rIns="0" bIns="0" anchor="t">
            <a:spAutoFit/>
          </a:bodyPr>
          <a:lstStyle/>
          <a:p>
            <a:pPr algn="r"/>
            <a:r>
              <a:rPr sz="800" b="0">
                <a:solidFill>
                  <a:srgbClr val="11151A"/>
                </a:solidFill>
                <a:latin typeface="Lato"/>
              </a:rPr>
              <a:t>Komatipoort</a:t>
            </a:r>
          </a:p>
        </p:txBody>
      </p:sp>
      <p:sp>
        <p:nvSpPr>
          <p:cNvPr id="9043" name="Map label Skilpadsnek"/>
          <p:cNvSpPr txBox="1"/>
          <p:nvPr/>
        </p:nvSpPr>
        <p:spPr>
          <a:xfrm>
            <a:off x="7647122" y="2290780"/>
            <a:ext cx="1097280" cy="182880"/>
          </a:xfrm>
          <a:prstGeom prst="rect">
            <a:avLst/>
          </a:prstGeom>
          <a:noFill/>
        </p:spPr>
        <p:txBody>
          <a:bodyPr wrap="square" lIns="0" tIns="0" rIns="0" bIns="0" anchor="t">
            <a:spAutoFit/>
          </a:bodyPr>
          <a:lstStyle/>
          <a:p>
            <a:pPr algn="r"/>
            <a:r>
              <a:rPr sz="800" b="0">
                <a:solidFill>
                  <a:srgbClr val="11151A"/>
                </a:solidFill>
                <a:latin typeface="Lato"/>
              </a:rPr>
              <a:t>Skilpadsnek</a:t>
            </a:r>
          </a:p>
        </p:txBody>
      </p:sp>
      <p:sp>
        <p:nvSpPr>
          <p:cNvPr id="9044" name="Map label Cape Town"/>
          <p:cNvSpPr txBox="1"/>
          <p:nvPr/>
        </p:nvSpPr>
        <p:spPr>
          <a:xfrm>
            <a:off x="5671899" y="4830197"/>
            <a:ext cx="1097280" cy="182880"/>
          </a:xfrm>
          <a:prstGeom prst="rect">
            <a:avLst/>
          </a:prstGeom>
          <a:noFill/>
        </p:spPr>
        <p:txBody>
          <a:bodyPr wrap="square" lIns="0" tIns="0" rIns="0" bIns="0" anchor="t">
            <a:spAutoFit/>
          </a:bodyPr>
          <a:lstStyle/>
          <a:p>
            <a:pPr algn="r"/>
            <a:r>
              <a:rPr sz="800" b="0">
                <a:solidFill>
                  <a:srgbClr val="11151A"/>
                </a:solidFill>
                <a:latin typeface="Lato"/>
              </a:rPr>
              <a:t>Cape Town</a:t>
            </a:r>
          </a:p>
        </p:txBody>
      </p:sp>
      <p:sp>
        <p:nvSpPr>
          <p:cNvPr id="9045" name="Map label Mossel Bay"/>
          <p:cNvSpPr txBox="1"/>
          <p:nvPr/>
        </p:nvSpPr>
        <p:spPr>
          <a:xfrm>
            <a:off x="7250096" y="5034986"/>
            <a:ext cx="1097280" cy="182880"/>
          </a:xfrm>
          <a:prstGeom prst="rect">
            <a:avLst/>
          </a:prstGeom>
          <a:noFill/>
        </p:spPr>
        <p:txBody>
          <a:bodyPr wrap="square" lIns="0" tIns="0" rIns="0" bIns="0" anchor="t">
            <a:spAutoFit/>
          </a:bodyPr>
          <a:lstStyle/>
          <a:p>
            <a:pPr algn="ctr"/>
            <a:r>
              <a:rPr sz="800" b="0">
                <a:solidFill>
                  <a:srgbClr val="11151A"/>
                </a:solidFill>
                <a:latin typeface="Lato"/>
              </a:rPr>
              <a:t>Mossel Bay</a:t>
            </a:r>
          </a:p>
        </p:txBody>
      </p:sp>
      <p:sp>
        <p:nvSpPr>
          <p:cNvPr id="9046" name="Map label Gqeberha"/>
          <p:cNvSpPr txBox="1"/>
          <p:nvPr/>
        </p:nvSpPr>
        <p:spPr>
          <a:xfrm>
            <a:off x="8148161" y="4970024"/>
            <a:ext cx="1097280" cy="182880"/>
          </a:xfrm>
          <a:prstGeom prst="rect">
            <a:avLst/>
          </a:prstGeom>
          <a:noFill/>
        </p:spPr>
        <p:txBody>
          <a:bodyPr wrap="square" lIns="0" tIns="0" rIns="0" bIns="0" anchor="t">
            <a:spAutoFit/>
          </a:bodyPr>
          <a:lstStyle/>
          <a:p>
            <a:pPr algn="ctr"/>
            <a:r>
              <a:rPr sz="800" b="0">
                <a:solidFill>
                  <a:srgbClr val="11151A"/>
                </a:solidFill>
                <a:latin typeface="Lato"/>
              </a:rPr>
              <a:t>Gqeberha</a:t>
            </a:r>
          </a:p>
        </p:txBody>
      </p:sp>
      <p:sp>
        <p:nvSpPr>
          <p:cNvPr id="9047" name="Map label East London"/>
          <p:cNvSpPr txBox="1"/>
          <p:nvPr/>
        </p:nvSpPr>
        <p:spPr>
          <a:xfrm>
            <a:off x="9369528" y="4601020"/>
            <a:ext cx="1097280" cy="182880"/>
          </a:xfrm>
          <a:prstGeom prst="rect">
            <a:avLst/>
          </a:prstGeom>
          <a:noFill/>
        </p:spPr>
        <p:txBody>
          <a:bodyPr wrap="square" lIns="0" tIns="0" rIns="0" bIns="0" anchor="t">
            <a:spAutoFit/>
          </a:bodyPr>
          <a:lstStyle/>
          <a:p>
            <a:pPr algn="l"/>
            <a:r>
              <a:rPr sz="800" b="0">
                <a:solidFill>
                  <a:srgbClr val="11151A"/>
                </a:solidFill>
                <a:latin typeface="Lato"/>
              </a:rPr>
              <a:t>East London</a:t>
            </a:r>
          </a:p>
        </p:txBody>
      </p:sp>
      <p:sp>
        <p:nvSpPr>
          <p:cNvPr id="9048" name="Map label Walvis Bay"/>
          <p:cNvSpPr txBox="1"/>
          <p:nvPr/>
        </p:nvSpPr>
        <p:spPr>
          <a:xfrm>
            <a:off x="5891474" y="1593917"/>
            <a:ext cx="1097280" cy="182880"/>
          </a:xfrm>
          <a:prstGeom prst="rect">
            <a:avLst/>
          </a:prstGeom>
          <a:noFill/>
        </p:spPr>
        <p:txBody>
          <a:bodyPr wrap="square" lIns="0" tIns="0" rIns="0" bIns="0" anchor="t">
            <a:spAutoFit/>
          </a:bodyPr>
          <a:lstStyle/>
          <a:p>
            <a:pPr algn="l"/>
            <a:r>
              <a:rPr sz="800" b="0">
                <a:solidFill>
                  <a:srgbClr val="11151A"/>
                </a:solidFill>
                <a:latin typeface="Lato"/>
              </a:rPr>
              <a:t>Walvis Bay</a:t>
            </a:r>
          </a:p>
        </p:txBody>
      </p:sp>
      <p:sp>
        <p:nvSpPr>
          <p:cNvPr id="9049" name="Map label pipeline"/>
          <p:cNvSpPr txBox="1"/>
          <p:nvPr/>
        </p:nvSpPr>
        <p:spPr>
          <a:xfrm>
            <a:off x="9690211" y="3140989"/>
            <a:ext cx="914400" cy="182880"/>
          </a:xfrm>
          <a:prstGeom prst="rect">
            <a:avLst/>
          </a:prstGeom>
          <a:noFill/>
        </p:spPr>
        <p:txBody>
          <a:bodyPr wrap="square" lIns="0" tIns="0" rIns="0" bIns="0" anchor="t">
            <a:spAutoFit/>
          </a:bodyPr>
          <a:lstStyle/>
          <a:p>
            <a:pPr algn="l"/>
            <a:r>
              <a:rPr sz="750" b="0">
                <a:solidFill>
                  <a:srgbClr val="5596DC"/>
                </a:solidFill>
                <a:latin typeface="Lato"/>
              </a:rPr>
              <a:t>NMPP pipeline</a:t>
            </a:r>
          </a:p>
        </p:txBody>
      </p:sp>
      <p:sp>
        <p:nvSpPr>
          <p:cNvPr id="9050" name="Map label MOI"/>
          <p:cNvSpPr txBox="1"/>
          <p:nvPr/>
        </p:nvSpPr>
        <p:spPr>
          <a:xfrm>
            <a:off x="7237214" y="3352251"/>
            <a:ext cx="1905000" cy="330200"/>
          </a:xfrm>
          <a:prstGeom prst="rect">
            <a:avLst/>
          </a:prstGeom>
          <a:noFill/>
        </p:spPr>
        <p:txBody>
          <a:bodyPr wrap="square" lIns="0" tIns="0" rIns="0" bIns="0" anchor="t">
            <a:spAutoFit/>
          </a:bodyPr>
          <a:lstStyle/>
          <a:p>
            <a:pPr algn="l"/>
            <a:r>
              <a:rPr lang="en-GB" sz="750" b="1">
                <a:solidFill>
                  <a:srgbClr val="0A2373"/>
                </a:solidFill>
                <a:latin typeface="Lato"/>
              </a:rPr>
              <a:t>Market of interest (shaded)</a:t>
            </a:r>
            <a:br>
              <a:rPr lang="en-GB" sz="750" b="1">
                <a:solidFill>
                  <a:srgbClr val="0A2373"/>
                </a:solidFill>
                <a:latin typeface="Lato"/>
              </a:rPr>
            </a:br>
            <a:r>
              <a:rPr lang="en-GB" sz="750" b="1">
                <a:solidFill>
                  <a:srgbClr val="0A2373"/>
                </a:solidFill>
                <a:latin typeface="Lato"/>
              </a:rPr>
              <a:t>excl. southern Free State</a:t>
            </a:r>
            <a:endParaRPr sz="750" b="1">
              <a:solidFill>
                <a:srgbClr val="0A2373"/>
              </a:solidFill>
              <a:latin typeface="Lato"/>
            </a:endParaRPr>
          </a:p>
        </p:txBody>
      </p:sp>
      <p:sp>
        <p:nvSpPr>
          <p:cNvPr id="9051" name="Badge A"/>
          <p:cNvSpPr/>
          <p:nvPr/>
        </p:nvSpPr>
        <p:spPr>
          <a:xfrm>
            <a:off x="9777007" y="3716605"/>
            <a:ext cx="219456" cy="219456"/>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A</a:t>
            </a:r>
          </a:p>
        </p:txBody>
      </p:sp>
      <p:sp>
        <p:nvSpPr>
          <p:cNvPr id="9052" name="Badge B"/>
          <p:cNvSpPr/>
          <p:nvPr/>
        </p:nvSpPr>
        <p:spPr>
          <a:xfrm>
            <a:off x="10039159" y="3248444"/>
            <a:ext cx="219456" cy="219456"/>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B</a:t>
            </a:r>
          </a:p>
        </p:txBody>
      </p:sp>
      <p:sp>
        <p:nvSpPr>
          <p:cNvPr id="9053" name="Badge C"/>
          <p:cNvSpPr/>
          <p:nvPr/>
        </p:nvSpPr>
        <p:spPr>
          <a:xfrm>
            <a:off x="10280975" y="2051894"/>
            <a:ext cx="219456" cy="219456"/>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C</a:t>
            </a:r>
          </a:p>
        </p:txBody>
      </p:sp>
      <p:sp>
        <p:nvSpPr>
          <p:cNvPr id="9054" name="Badge D"/>
          <p:cNvSpPr/>
          <p:nvPr/>
        </p:nvSpPr>
        <p:spPr>
          <a:xfrm>
            <a:off x="8744402" y="2016460"/>
            <a:ext cx="219456" cy="219456"/>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D</a:t>
            </a:r>
          </a:p>
        </p:txBody>
      </p:sp>
      <p:sp>
        <p:nvSpPr>
          <p:cNvPr id="9055" name="Badge E"/>
          <p:cNvSpPr/>
          <p:nvPr/>
        </p:nvSpPr>
        <p:spPr>
          <a:xfrm>
            <a:off x="6723459" y="5031365"/>
            <a:ext cx="219456" cy="219456"/>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E</a:t>
            </a:r>
          </a:p>
        </p:txBody>
      </p:sp>
      <p:sp>
        <p:nvSpPr>
          <p:cNvPr id="9056" name="Badge F"/>
          <p:cNvSpPr/>
          <p:nvPr/>
        </p:nvSpPr>
        <p:spPr>
          <a:xfrm>
            <a:off x="8587073" y="4585976"/>
            <a:ext cx="219456" cy="219456"/>
          </a:xfrm>
          <a:prstGeom prst="ellipse">
            <a:avLst/>
          </a:prstGeom>
          <a:solidFill>
            <a:srgbClr val="0A237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Lato"/>
              </a:rPr>
              <a:t>F</a:t>
            </a:r>
          </a:p>
        </p:txBody>
      </p:sp>
      <p:sp>
        <p:nvSpPr>
          <p:cNvPr id="9057" name="Findings"/>
          <p:cNvSpPr txBox="1"/>
          <p:nvPr/>
        </p:nvSpPr>
        <p:spPr>
          <a:xfrm>
            <a:off x="5303520" y="5322836"/>
            <a:ext cx="5852160" cy="830997"/>
          </a:xfrm>
          <a:prstGeom prst="rect">
            <a:avLst/>
          </a:prstGeom>
          <a:noFill/>
        </p:spPr>
        <p:txBody>
          <a:bodyPr wrap="square" lIns="0" tIns="0" rIns="0" bIns="0" anchor="t">
            <a:spAutoFit/>
          </a:bodyPr>
          <a:lstStyle/>
          <a:p>
            <a:pPr algn="l"/>
            <a:r>
              <a:rPr sz="900" b="1">
                <a:solidFill>
                  <a:srgbClr val="0A2373"/>
                </a:solidFill>
                <a:latin typeface="Lato"/>
              </a:rPr>
              <a:t>Market of interest: </a:t>
            </a:r>
            <a:r>
              <a:rPr sz="900" b="0">
                <a:solidFill>
                  <a:srgbClr val="11151A"/>
                </a:solidFill>
                <a:latin typeface="Lato"/>
              </a:rPr>
              <a:t>18.2bn L used in 2025, 11.8bn L brought in.</a:t>
            </a:r>
          </a:p>
          <a:p>
            <a:pPr algn="l"/>
            <a:r>
              <a:rPr sz="900" b="1">
                <a:solidFill>
                  <a:srgbClr val="0A2373"/>
                </a:solidFill>
                <a:latin typeface="Lato"/>
              </a:rPr>
              <a:t>A Durban </a:t>
            </a:r>
            <a:r>
              <a:rPr sz="900" b="0">
                <a:solidFill>
                  <a:srgbClr val="11151A"/>
                </a:solidFill>
                <a:latin typeface="Lato"/>
              </a:rPr>
              <a:t>lands 79% of imports; the NMPP pipeline carries it inland to Lesedi.</a:t>
            </a:r>
          </a:p>
          <a:p>
            <a:pPr algn="l"/>
            <a:r>
              <a:rPr sz="900" b="1">
                <a:solidFill>
                  <a:srgbClr val="0A2373"/>
                </a:solidFill>
                <a:latin typeface="Lato"/>
              </a:rPr>
              <a:t>C Maputo: </a:t>
            </a:r>
            <a:r>
              <a:rPr sz="900" b="0">
                <a:solidFill>
                  <a:srgbClr val="11151A"/>
                </a:solidFill>
                <a:latin typeface="Lato"/>
              </a:rPr>
              <a:t>imports by road fell from 0.30bn L in 2022 to 0.09 in 2025.</a:t>
            </a:r>
          </a:p>
          <a:p>
            <a:pPr algn="l"/>
            <a:r>
              <a:rPr sz="900" b="1">
                <a:solidFill>
                  <a:srgbClr val="0A2373"/>
                </a:solidFill>
                <a:latin typeface="Lato"/>
              </a:rPr>
              <a:t>D Walvis Bay: </a:t>
            </a:r>
            <a:r>
              <a:rPr lang="en-GB" sz="900" b="0">
                <a:solidFill>
                  <a:srgbClr val="11151A"/>
                </a:solidFill>
                <a:latin typeface="Lato"/>
              </a:rPr>
              <a:t>imports through the Botswana border posts are almost nil: no petrol, under 0.1m L of diesel a year; only paraffin, peaking at 14m L in 2022 and nil in 2025. Nothing via Namibia either; Botswana buys less from South Africa</a:t>
            </a:r>
            <a:r>
              <a:rPr sz="900" b="0">
                <a:solidFill>
                  <a:srgbClr val="11151A"/>
                </a:solidFill>
                <a:latin typeface="Lato"/>
              </a:rPr>
              <a:t> (1.05 → 0.68bn L).</a:t>
            </a:r>
          </a:p>
        </p:txBody>
      </p:sp>
    </p:spTree>
    <p:extLst>
      <p:ext uri="{BB962C8B-B14F-4D97-AF65-F5344CB8AC3E}">
        <p14:creationId xmlns:p14="http://schemas.microsoft.com/office/powerpoint/2010/main" val="2408492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The market of interest used 18.2bn litres in 2025; Secunda and Natref met a third, so 11.8bn litres had to be brought in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12</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Department fuel sales by magisterial district, four quarters of 2022 (latest full year), grown to 2025 at national growth by product (2025 demand = production + imports − exports, p4). Market of interest as in the AIA board report of November 2025: Gauteng, Limpopo, North West, Free State, </a:t>
            </a:r>
            <a:r>
              <a:rPr lang="en-GB" sz="600">
                <a:solidFill>
                  <a:srgbClr val="111111"/>
                </a:solidFill>
                <a:latin typeface="Lato"/>
                <a:ea typeface="Lato"/>
                <a:cs typeface="Lato"/>
              </a:rPr>
              <a:t>Mpumalanga, KwaZulu-Natal, excluding 12 small southern Free State districts served from the coast (Bloemfontein kept).</a:t>
            </a:r>
            <a:r>
              <a:rPr lang="en-ZA" sz="600">
                <a:solidFill>
                  <a:srgbClr val="111111"/>
                </a:solidFill>
                <a:latin typeface="Lato"/>
                <a:ea typeface="Lato"/>
                <a:cs typeface="Lato"/>
              </a:rPr>
              <a:t> Production: p10. Assumes Secunda and Natref output stays in the area. Sales are recorded where fuel is sold.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Billion litres, 2025E | 2022 district shares applied to 2025 national demand | totals beside each name</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By province | all 178 magisterial districts: pp20–21</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a:solidFill>
                  <a:srgbClr val="11151A"/>
                </a:solidFill>
                <a:latin typeface="Lato"/>
                <a:ea typeface="Lato"/>
                <a:cs typeface="Lato"/>
              </a:rPr>
              <a:t>Market of interest, 2025: 18.2bn L (72% of national 25.4): petrol 7.0, diesel 11.1. Gauteng and KwaZulu-Natal are 70%.
Made inside the area: Secunda and Natref, 6.3bn L (petrol 3.7, diesel 2.6; p10).
To be brought in: about 11.8bn L, petrol 3.3 and diesel 8.5, through Durban or other routes (p11).
Method: each district's 2022 share of national sales, by product, applied to 2025 national demand (p4). On 2022 sales alone the area was 15.7bn L.</a:t>
            </a:r>
            <a:endParaRPr sz="1350" b="0">
              <a:solidFill>
                <a:srgbClr val="11151A"/>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solidFill>
                  <a:srgbClr val="0A2373"/>
                </a:solidFill>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b="1">
                <a:solidFill>
                  <a:srgbClr val="FFFFFF"/>
                </a:solidFill>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Petrol and diesel demand in the market of interest, 2025E</a:t>
            </a:r>
            <a:endParaRPr sz="1400" b="1">
              <a:latin typeface="Lato"/>
            </a:endParaRP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From demand to import requirement</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4" name="Chart"/>
          <p:cNvGraphicFramePr>
            <a:graphicFrameLocks noGrp="1"/>
          </p:cNvGraphicFramePr>
          <p:nvPr>
            <p:extLst>
              <p:ext uri="{D42A27DB-BD31-4B8C-83A1-F6EECF244321}">
                <p14:modId xmlns:p14="http://schemas.microsoft.com/office/powerpoint/2010/main" val="3216595750"/>
              </p:ext>
            </p:extLst>
          </p:nvPr>
        </p:nvGraphicFramePr>
        <p:xfrm>
          <a:off x="457200" y="2542032"/>
          <a:ext cx="6446519" cy="36809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08156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Of a 25.4bn-litre national market, about 11.8bn litres is open to Vopak; a 20% share would be 2.4bn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13</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Demand: production + imports − exports (p4); SARS customs imports, 2025; SARS customs, Durban office, 2025; Department district sales 2022 grown to 2025 (p12); market-sizing workbook. Bars are drawn to scale. Step 3 assumes Secunda and Natref output stays in the market of interest; Matola also supplies inland. Step 5: 146,000 m³ working fuel tanks (estimate) at Vopak’s stated target of 2–3 turns a month. Capture is an illustrative 20%, not a contracted share. Walvis Bay is a route to assess; no diversion volume is assigned.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M takeaway">
            <a:extLst>
              <a:ext uri="{FF2B5EF4-FFF2-40B4-BE49-F238E27FC236}">
                <a16:creationId xmlns:a16="http://schemas.microsoft.com/office/drawing/2014/main" id="{494014AF-E149-4482-8FCD-16CEC0025A82}"/>
              </a:ext>
            </a:extLst>
          </p:cNvPr>
          <p:cNvSpPr>
            <a:spLocks noGrp="1"/>
          </p:cNvSpPr>
          <p:nvPr/>
        </p:nvSpPr>
        <p:spPr>
          <a:xfrm>
            <a:off x="457200" y="5756656"/>
            <a:ext cx="10648950" cy="304800"/>
          </a:xfrm>
          <a:prstGeom prst="rect">
            <a:avLst/>
          </a:prstGeom>
          <a:noFill/>
          <a:ln w="0">
            <a:noFill/>
          </a:ln>
        </p:spPr>
        <p:txBody>
          <a:bodyPr>
            <a:noAutofit/>
          </a:bodyPr>
          <a:lstStyle/>
          <a:p>
            <a:pPr>
              <a:defRPr sz="1500" b="1">
                <a:solidFill>
                  <a:srgbClr val="0A2373"/>
                </a:solidFill>
                <a:latin typeface="Lato"/>
                <a:ea typeface="Lato"/>
                <a:cs typeface="Lato"/>
              </a:defRPr>
            </a:pPr>
            <a:r>
              <a:rPr sz="1500" b="1">
                <a:solidFill>
                  <a:srgbClr val="0A2373"/>
                </a:solidFill>
                <a:latin typeface="Lato"/>
                <a:ea typeface="Lato"/>
                <a:cs typeface="Lato"/>
              </a:rPr>
              <a:t>Step 5: Vopak’s Durban tanks handle about 3.5bn litres a year at two turns a month; volumes above that need new tanks.</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TextBox 59"/>
          <p:cNvSpPr txBox="1"/>
          <p:nvPr/>
        </p:nvSpPr>
        <p:spPr>
          <a:xfrm>
            <a:off x="530352" y="1682496"/>
            <a:ext cx="2377440" cy="329184"/>
          </a:xfrm>
          <a:prstGeom prst="rect">
            <a:avLst/>
          </a:prstGeom>
          <a:noFill/>
        </p:spPr>
        <p:txBody>
          <a:bodyPr wrap="square" lIns="0" tIns="0" rIns="0" bIns="0" anchor="ctr">
            <a:spAutoFit/>
          </a:bodyPr>
          <a:lstStyle/>
          <a:p>
            <a:pPr algn="l"/>
            <a:r>
              <a:rPr sz="1350" b="1">
                <a:solidFill>
                  <a:srgbClr val="11151A"/>
                </a:solidFill>
                <a:latin typeface="Lato"/>
              </a:rPr>
              <a:t>Sizing step</a:t>
            </a:r>
          </a:p>
        </p:txBody>
      </p:sp>
      <p:sp>
        <p:nvSpPr>
          <p:cNvPr id="61" name="TextBox 60"/>
          <p:cNvSpPr txBox="1"/>
          <p:nvPr/>
        </p:nvSpPr>
        <p:spPr>
          <a:xfrm>
            <a:off x="3154680" y="1682496"/>
            <a:ext cx="2286000" cy="329184"/>
          </a:xfrm>
          <a:prstGeom prst="rect">
            <a:avLst/>
          </a:prstGeom>
          <a:noFill/>
        </p:spPr>
        <p:txBody>
          <a:bodyPr wrap="square" lIns="0" tIns="0" rIns="0" bIns="0" anchor="ctr">
            <a:spAutoFit/>
          </a:bodyPr>
          <a:lstStyle/>
          <a:p>
            <a:pPr algn="l"/>
            <a:r>
              <a:rPr sz="1350" b="1">
                <a:solidFill>
                  <a:srgbClr val="11151A"/>
                </a:solidFill>
                <a:latin typeface="Lato"/>
              </a:rPr>
              <a:t>Billion litres a year, 2025E</a:t>
            </a:r>
          </a:p>
        </p:txBody>
      </p:sp>
      <p:sp>
        <p:nvSpPr>
          <p:cNvPr id="62" name="TextBox 61"/>
          <p:cNvSpPr txBox="1"/>
          <p:nvPr/>
        </p:nvSpPr>
        <p:spPr>
          <a:xfrm>
            <a:off x="7818120" y="1682496"/>
            <a:ext cx="3291840" cy="329184"/>
          </a:xfrm>
          <a:prstGeom prst="rect">
            <a:avLst/>
          </a:prstGeom>
          <a:noFill/>
        </p:spPr>
        <p:txBody>
          <a:bodyPr wrap="square" lIns="0" tIns="0" rIns="0" bIns="0" anchor="ctr">
            <a:spAutoFit/>
          </a:bodyPr>
          <a:lstStyle/>
          <a:p>
            <a:pPr algn="l"/>
            <a:r>
              <a:rPr sz="1350" b="1">
                <a:solidFill>
                  <a:srgbClr val="11151A"/>
                </a:solidFill>
                <a:latin typeface="Lato"/>
              </a:rPr>
              <a:t>Basis</a:t>
            </a:r>
          </a:p>
        </p:txBody>
      </p:sp>
      <p:sp>
        <p:nvSpPr>
          <p:cNvPr id="106" name="Funnel key"/>
          <p:cNvSpPr/>
          <p:nvPr/>
        </p:nvSpPr>
        <p:spPr>
          <a:xfrm>
            <a:off x="5623560" y="1787652"/>
            <a:ext cx="118872" cy="118872"/>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07" name="Funnel key label"/>
          <p:cNvSpPr txBox="1"/>
          <p:nvPr/>
        </p:nvSpPr>
        <p:spPr>
          <a:xfrm>
            <a:off x="5788152" y="1682496"/>
            <a:ext cx="548640" cy="329184"/>
          </a:xfrm>
          <a:prstGeom prst="rect">
            <a:avLst/>
          </a:prstGeom>
          <a:noFill/>
        </p:spPr>
        <p:txBody>
          <a:bodyPr wrap="square" lIns="0" tIns="0" rIns="0" bIns="0" anchor="ctr">
            <a:spAutoFit/>
          </a:bodyPr>
          <a:lstStyle/>
          <a:p>
            <a:r>
              <a:rPr sz="1150" b="0">
                <a:solidFill>
                  <a:srgbClr val="11151A"/>
                </a:solidFill>
                <a:latin typeface="Lato"/>
              </a:rPr>
              <a:t>Petrol</a:t>
            </a:r>
          </a:p>
        </p:txBody>
      </p:sp>
      <p:sp>
        <p:nvSpPr>
          <p:cNvPr id="108" name="Funnel key"/>
          <p:cNvSpPr/>
          <p:nvPr/>
        </p:nvSpPr>
        <p:spPr>
          <a:xfrm>
            <a:off x="6400800" y="1787652"/>
            <a:ext cx="118872" cy="118872"/>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09" name="Funnel key label"/>
          <p:cNvSpPr txBox="1"/>
          <p:nvPr/>
        </p:nvSpPr>
        <p:spPr>
          <a:xfrm>
            <a:off x="6565392" y="1682496"/>
            <a:ext cx="548640" cy="329184"/>
          </a:xfrm>
          <a:prstGeom prst="rect">
            <a:avLst/>
          </a:prstGeom>
          <a:noFill/>
        </p:spPr>
        <p:txBody>
          <a:bodyPr wrap="square" lIns="0" tIns="0" rIns="0" bIns="0" anchor="ctr">
            <a:spAutoFit/>
          </a:bodyPr>
          <a:lstStyle/>
          <a:p>
            <a:r>
              <a:rPr sz="1150" b="0">
                <a:solidFill>
                  <a:srgbClr val="11151A"/>
                </a:solidFill>
                <a:latin typeface="Lato"/>
              </a:rPr>
              <a:t>Diesel</a:t>
            </a:r>
          </a:p>
        </p:txBody>
      </p:sp>
      <p:cxnSp>
        <p:nvCxnSpPr>
          <p:cNvPr id="63" name="Funnel rule"/>
          <p:cNvCxnSpPr/>
          <p:nvPr/>
        </p:nvCxnSpPr>
        <p:spPr>
          <a:xfrm>
            <a:off x="457200" y="2048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65" name="Funnel step"/>
          <p:cNvSpPr txBox="1"/>
          <p:nvPr/>
        </p:nvSpPr>
        <p:spPr>
          <a:xfrm>
            <a:off x="530352" y="2238756"/>
            <a:ext cx="2651760" cy="508000"/>
          </a:xfrm>
          <a:prstGeom prst="rect">
            <a:avLst/>
          </a:prstGeom>
          <a:noFill/>
        </p:spPr>
        <p:txBody>
          <a:bodyPr wrap="square" lIns="0" tIns="0" rIns="0" bIns="0" anchor="ctr">
            <a:spAutoFit/>
          </a:bodyPr>
          <a:lstStyle/>
          <a:p>
            <a:pPr algn="l"/>
            <a:r>
              <a:rPr sz="1350" b="1">
                <a:solidFill>
                  <a:srgbClr val="11151A"/>
                </a:solidFill>
                <a:latin typeface="Lato"/>
              </a:rPr>
              <a:t>1  National demand</a:t>
            </a:r>
          </a:p>
        </p:txBody>
      </p:sp>
      <p:cxnSp>
        <p:nvCxnSpPr>
          <p:cNvPr id="7" name="Funnel rule"/>
          <p:cNvCxnSpPr/>
          <p:nvPr/>
        </p:nvCxnSpPr>
        <p:spPr>
          <a:xfrm>
            <a:off x="457200" y="2937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110" name="Funnel bar"/>
          <p:cNvSpPr/>
          <p:nvPr/>
        </p:nvSpPr>
        <p:spPr>
          <a:xfrm>
            <a:off x="3154679" y="2238756"/>
            <a:ext cx="1397050"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9.3</a:t>
            </a:r>
          </a:p>
        </p:txBody>
      </p:sp>
      <p:sp>
        <p:nvSpPr>
          <p:cNvPr id="111" name="Funnel bar"/>
          <p:cNvSpPr/>
          <p:nvPr/>
        </p:nvSpPr>
        <p:spPr>
          <a:xfrm>
            <a:off x="4570017" y="2238756"/>
            <a:ext cx="2425139"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16.1</a:t>
            </a:r>
          </a:p>
        </p:txBody>
      </p:sp>
      <p:sp>
        <p:nvSpPr>
          <p:cNvPr id="112" name="Funnel total"/>
          <p:cNvSpPr txBox="1"/>
          <p:nvPr/>
        </p:nvSpPr>
        <p:spPr>
          <a:xfrm>
            <a:off x="7096757" y="2238756"/>
            <a:ext cx="2194560" cy="508000"/>
          </a:xfrm>
          <a:prstGeom prst="rect">
            <a:avLst/>
          </a:prstGeom>
          <a:noFill/>
        </p:spPr>
        <p:txBody>
          <a:bodyPr wrap="square" lIns="0" tIns="0" rIns="0" bIns="0" anchor="ctr">
            <a:spAutoFit/>
          </a:bodyPr>
          <a:lstStyle/>
          <a:p>
            <a:r>
              <a:rPr sz="1400" b="1">
                <a:solidFill>
                  <a:srgbClr val="0A2373"/>
                </a:solidFill>
                <a:latin typeface="Lato"/>
              </a:rPr>
              <a:t>= 25.4</a:t>
            </a:r>
          </a:p>
        </p:txBody>
      </p:sp>
      <p:sp>
        <p:nvSpPr>
          <p:cNvPr id="113" name="Funnel basis"/>
          <p:cNvSpPr txBox="1"/>
          <p:nvPr/>
        </p:nvSpPr>
        <p:spPr>
          <a:xfrm>
            <a:off x="7818120" y="2073656"/>
            <a:ext cx="2880360" cy="838200"/>
          </a:xfrm>
          <a:prstGeom prst="rect">
            <a:avLst/>
          </a:prstGeom>
          <a:noFill/>
        </p:spPr>
        <p:txBody>
          <a:bodyPr wrap="square" lIns="0" tIns="0" rIns="0" bIns="0" anchor="ctr">
            <a:spAutoFit/>
          </a:bodyPr>
          <a:lstStyle/>
          <a:p>
            <a:r>
              <a:rPr sz="1100" b="0">
                <a:solidFill>
                  <a:srgbClr val="11151A"/>
                </a:solidFill>
                <a:latin typeface="Lato"/>
              </a:rPr>
              <a:t>Petrol 9.3 and diesel 16.1: production plus imports less exports (p4).</a:t>
            </a:r>
          </a:p>
        </p:txBody>
      </p:sp>
      <p:sp>
        <p:nvSpPr>
          <p:cNvPr id="9" name="Funnel step"/>
          <p:cNvSpPr txBox="1"/>
          <p:nvPr/>
        </p:nvSpPr>
        <p:spPr>
          <a:xfrm>
            <a:off x="530352" y="3277881"/>
            <a:ext cx="2651760" cy="207749"/>
          </a:xfrm>
          <a:prstGeom prst="rect">
            <a:avLst/>
          </a:prstGeom>
          <a:noFill/>
        </p:spPr>
        <p:txBody>
          <a:bodyPr wrap="square" lIns="0" tIns="0" rIns="0" bIns="0" anchor="ctr">
            <a:spAutoFit/>
          </a:bodyPr>
          <a:lstStyle/>
          <a:p>
            <a:pPr algn="l"/>
            <a:r>
              <a:rPr sz="1350" b="1" dirty="0">
                <a:solidFill>
                  <a:srgbClr val="11151A"/>
                </a:solidFill>
                <a:latin typeface="Lato"/>
              </a:rPr>
              <a:t>2  Market of interest</a:t>
            </a:r>
          </a:p>
        </p:txBody>
      </p:sp>
      <p:cxnSp>
        <p:nvCxnSpPr>
          <p:cNvPr id="10" name="Funnel rule"/>
          <p:cNvCxnSpPr/>
          <p:nvPr/>
        </p:nvCxnSpPr>
        <p:spPr>
          <a:xfrm>
            <a:off x="457200" y="3826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4" name="Funnel link"/>
          <p:cNvSpPr/>
          <p:nvPr/>
        </p:nvSpPr>
        <p:spPr>
          <a:xfrm>
            <a:off x="3154679" y="2746756"/>
            <a:ext cx="3840478" cy="381000"/>
          </a:xfrm>
          <a:custGeom>
            <a:avLst/>
            <a:gdLst/>
            <a:ahLst/>
            <a:cxnLst/>
            <a:rect l="l" t="t" r="r" b="b"/>
            <a:pathLst>
              <a:path w="3840478" h="381000">
                <a:moveTo>
                  <a:pt x="0" y="0"/>
                </a:moveTo>
                <a:lnTo>
                  <a:pt x="3840478" y="0"/>
                </a:lnTo>
                <a:lnTo>
                  <a:pt x="3297731" y="381000"/>
                </a:lnTo>
                <a:lnTo>
                  <a:pt x="542746" y="381000"/>
                </a:lnTo>
                <a:close/>
              </a:path>
            </a:pathLst>
          </a:custGeom>
          <a:solidFill>
            <a:srgbClr val="E3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Funnel bar"/>
          <p:cNvSpPr/>
          <p:nvPr/>
        </p:nvSpPr>
        <p:spPr>
          <a:xfrm>
            <a:off x="3697425" y="3127756"/>
            <a:ext cx="1055032"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7.0</a:t>
            </a:r>
          </a:p>
        </p:txBody>
      </p:sp>
      <p:sp>
        <p:nvSpPr>
          <p:cNvPr id="115" name="Funnel bar"/>
          <p:cNvSpPr/>
          <p:nvPr/>
        </p:nvSpPr>
        <p:spPr>
          <a:xfrm>
            <a:off x="4770745" y="3127756"/>
            <a:ext cx="1681665"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ZA" sz="1400" b="1">
                <a:solidFill>
                  <a:srgbClr val="FFFFFF"/>
                </a:solidFill>
                <a:latin typeface="Lato"/>
              </a:rPr>
              <a:t>11.1</a:t>
            </a:r>
            <a:endParaRPr sz="1400" b="1">
              <a:solidFill>
                <a:srgbClr val="FFFFFF"/>
              </a:solidFill>
              <a:latin typeface="Lato"/>
            </a:endParaRPr>
          </a:p>
        </p:txBody>
      </p:sp>
      <p:sp>
        <p:nvSpPr>
          <p:cNvPr id="116" name="Funnel total"/>
          <p:cNvSpPr txBox="1"/>
          <p:nvPr/>
        </p:nvSpPr>
        <p:spPr>
          <a:xfrm>
            <a:off x="6554010" y="3127756"/>
            <a:ext cx="2194560" cy="508000"/>
          </a:xfrm>
          <a:prstGeom prst="rect">
            <a:avLst/>
          </a:prstGeom>
          <a:noFill/>
        </p:spPr>
        <p:txBody>
          <a:bodyPr wrap="square" lIns="0" tIns="0" rIns="0" bIns="0" anchor="ctr">
            <a:spAutoFit/>
          </a:bodyPr>
          <a:lstStyle/>
          <a:p>
            <a:r>
              <a:rPr sz="1400" b="1">
                <a:solidFill>
                  <a:srgbClr val="0A2373"/>
                </a:solidFill>
                <a:latin typeface="Lato"/>
              </a:rPr>
              <a:t>= 18.2</a:t>
            </a:r>
          </a:p>
        </p:txBody>
      </p:sp>
      <p:sp>
        <p:nvSpPr>
          <p:cNvPr id="117" name="Funnel basis"/>
          <p:cNvSpPr txBox="1"/>
          <p:nvPr/>
        </p:nvSpPr>
        <p:spPr>
          <a:xfrm>
            <a:off x="7818120" y="2962656"/>
            <a:ext cx="2880360" cy="838200"/>
          </a:xfrm>
          <a:prstGeom prst="rect">
            <a:avLst/>
          </a:prstGeom>
          <a:noFill/>
        </p:spPr>
        <p:txBody>
          <a:bodyPr wrap="square" lIns="0" tIns="0" rIns="0" bIns="0" anchor="ctr">
            <a:spAutoFit/>
          </a:bodyPr>
          <a:lstStyle/>
          <a:p>
            <a:r>
              <a:rPr sz="1100" b="0">
                <a:solidFill>
                  <a:srgbClr val="11151A"/>
                </a:solidFill>
                <a:latin typeface="Lato"/>
              </a:rPr>
              <a:t>Gauteng, KwaZulu-Natal, Mpumalanga, Free State, North West and Limpopo: 72% of national demand (p12).</a:t>
            </a:r>
          </a:p>
        </p:txBody>
      </p:sp>
      <p:sp>
        <p:nvSpPr>
          <p:cNvPr id="11" name="Funnel step"/>
          <p:cNvSpPr txBox="1"/>
          <p:nvPr/>
        </p:nvSpPr>
        <p:spPr>
          <a:xfrm>
            <a:off x="530352" y="4016756"/>
            <a:ext cx="2651760" cy="508000"/>
          </a:xfrm>
          <a:prstGeom prst="rect">
            <a:avLst/>
          </a:prstGeom>
          <a:noFill/>
        </p:spPr>
        <p:txBody>
          <a:bodyPr wrap="square" lIns="0" tIns="0" rIns="0" bIns="0" anchor="ctr">
            <a:spAutoFit/>
          </a:bodyPr>
          <a:lstStyle/>
          <a:p>
            <a:pPr algn="l"/>
            <a:r>
              <a:rPr sz="1350" b="1">
                <a:solidFill>
                  <a:srgbClr val="11151A"/>
                </a:solidFill>
                <a:latin typeface="Lato"/>
              </a:rPr>
              <a:t>3  Addressable market</a:t>
            </a:r>
          </a:p>
        </p:txBody>
      </p:sp>
      <p:cxnSp>
        <p:nvCxnSpPr>
          <p:cNvPr id="12" name="Funnel rule"/>
          <p:cNvCxnSpPr/>
          <p:nvPr/>
        </p:nvCxnSpPr>
        <p:spPr>
          <a:xfrm>
            <a:off x="457200" y="4715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5" name="Funnel link"/>
          <p:cNvSpPr/>
          <p:nvPr/>
        </p:nvSpPr>
        <p:spPr>
          <a:xfrm>
            <a:off x="3697425" y="3635756"/>
            <a:ext cx="2754985" cy="381000"/>
          </a:xfrm>
          <a:custGeom>
            <a:avLst/>
            <a:gdLst/>
            <a:ahLst/>
            <a:cxnLst/>
            <a:rect l="l" t="t" r="r" b="b"/>
            <a:pathLst>
              <a:path w="2754985" h="381000">
                <a:moveTo>
                  <a:pt x="0" y="0"/>
                </a:moveTo>
                <a:lnTo>
                  <a:pt x="2754985" y="0"/>
                </a:lnTo>
                <a:lnTo>
                  <a:pt x="2276965" y="381000"/>
                </a:lnTo>
                <a:lnTo>
                  <a:pt x="478020" y="381000"/>
                </a:lnTo>
                <a:close/>
              </a:path>
            </a:pathLst>
          </a:custGeom>
          <a:solidFill>
            <a:srgbClr val="E3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Funnel bar"/>
          <p:cNvSpPr/>
          <p:nvPr/>
        </p:nvSpPr>
        <p:spPr>
          <a:xfrm>
            <a:off x="4175445" y="4016756"/>
            <a:ext cx="497096"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3.3</a:t>
            </a:r>
          </a:p>
        </p:txBody>
      </p:sp>
      <p:sp>
        <p:nvSpPr>
          <p:cNvPr id="119" name="Funnel bar"/>
          <p:cNvSpPr/>
          <p:nvPr/>
        </p:nvSpPr>
        <p:spPr>
          <a:xfrm>
            <a:off x="4690829" y="4016756"/>
            <a:ext cx="1283561"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8.5</a:t>
            </a:r>
          </a:p>
        </p:txBody>
      </p:sp>
      <p:sp>
        <p:nvSpPr>
          <p:cNvPr id="120" name="Funnel total"/>
          <p:cNvSpPr txBox="1"/>
          <p:nvPr/>
        </p:nvSpPr>
        <p:spPr>
          <a:xfrm>
            <a:off x="6075990" y="4163034"/>
            <a:ext cx="2194560" cy="215444"/>
          </a:xfrm>
          <a:prstGeom prst="rect">
            <a:avLst/>
          </a:prstGeom>
          <a:noFill/>
        </p:spPr>
        <p:txBody>
          <a:bodyPr wrap="square" lIns="0" tIns="0" rIns="0" bIns="0" anchor="ctr">
            <a:spAutoFit/>
          </a:bodyPr>
          <a:lstStyle/>
          <a:p>
            <a:r>
              <a:rPr lang="en-ZA" sz="1400" b="1">
                <a:solidFill>
                  <a:srgbClr val="0A2373"/>
                </a:solidFill>
                <a:latin typeface="Lato"/>
              </a:rPr>
              <a:t>= 11.8</a:t>
            </a:r>
            <a:endParaRPr sz="1400" b="1">
              <a:solidFill>
                <a:srgbClr val="0A2373"/>
              </a:solidFill>
              <a:latin typeface="Lato"/>
            </a:endParaRPr>
          </a:p>
        </p:txBody>
      </p:sp>
      <p:sp>
        <p:nvSpPr>
          <p:cNvPr id="121" name="Funnel basis"/>
          <p:cNvSpPr txBox="1"/>
          <p:nvPr/>
        </p:nvSpPr>
        <p:spPr>
          <a:xfrm>
            <a:off x="7818120" y="3851656"/>
            <a:ext cx="2880360" cy="838200"/>
          </a:xfrm>
          <a:prstGeom prst="rect">
            <a:avLst/>
          </a:prstGeom>
          <a:noFill/>
        </p:spPr>
        <p:txBody>
          <a:bodyPr wrap="square" lIns="0" tIns="0" rIns="0" bIns="0" anchor="ctr">
            <a:spAutoFit/>
          </a:bodyPr>
          <a:lstStyle/>
          <a:p>
            <a:r>
              <a:rPr sz="1100" b="0">
                <a:solidFill>
                  <a:srgbClr val="11151A"/>
                </a:solidFill>
                <a:latin typeface="Lato"/>
              </a:rPr>
              <a:t>Market of interest less Secunda and Natref (p12): KwaZulu-Natal 5.0, inland 6.8. National imports 16.7 (66% of demand); Durban lands 13.2 (79%).</a:t>
            </a:r>
          </a:p>
        </p:txBody>
      </p:sp>
      <p:sp>
        <p:nvSpPr>
          <p:cNvPr id="13" name="Funnel step"/>
          <p:cNvSpPr txBox="1"/>
          <p:nvPr/>
        </p:nvSpPr>
        <p:spPr>
          <a:xfrm>
            <a:off x="530352" y="4905756"/>
            <a:ext cx="2651760" cy="508000"/>
          </a:xfrm>
          <a:prstGeom prst="rect">
            <a:avLst/>
          </a:prstGeom>
          <a:noFill/>
        </p:spPr>
        <p:txBody>
          <a:bodyPr wrap="square" lIns="0" tIns="0" rIns="0" bIns="0" anchor="ctr">
            <a:spAutoFit/>
          </a:bodyPr>
          <a:lstStyle/>
          <a:p>
            <a:pPr algn="l"/>
            <a:r>
              <a:rPr sz="1350" b="1">
                <a:solidFill>
                  <a:srgbClr val="11151A"/>
                </a:solidFill>
                <a:latin typeface="Lato"/>
              </a:rPr>
              <a:t>4  Achievable capture</a:t>
            </a:r>
          </a:p>
        </p:txBody>
      </p:sp>
      <p:cxnSp>
        <p:nvCxnSpPr>
          <p:cNvPr id="14" name="Funnel rule"/>
          <p:cNvCxnSpPr/>
          <p:nvPr/>
        </p:nvCxnSpPr>
        <p:spPr>
          <a:xfrm>
            <a:off x="457200" y="5604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6" name="Funnel link"/>
          <p:cNvSpPr/>
          <p:nvPr/>
        </p:nvSpPr>
        <p:spPr>
          <a:xfrm>
            <a:off x="4175445" y="4524756"/>
            <a:ext cx="1798945" cy="381000"/>
          </a:xfrm>
          <a:custGeom>
            <a:avLst/>
            <a:gdLst/>
            <a:ahLst/>
            <a:cxnLst/>
            <a:rect l="l" t="t" r="r" b="b"/>
            <a:pathLst>
              <a:path w="1798945" h="381000">
                <a:moveTo>
                  <a:pt x="0" y="0"/>
                </a:moveTo>
                <a:lnTo>
                  <a:pt x="1798945" y="0"/>
                </a:lnTo>
                <a:lnTo>
                  <a:pt x="1079367" y="381000"/>
                </a:lnTo>
                <a:lnTo>
                  <a:pt x="719578" y="381000"/>
                </a:lnTo>
                <a:close/>
              </a:path>
            </a:pathLst>
          </a:custGeom>
          <a:solidFill>
            <a:srgbClr val="E3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Funnel bar"/>
          <p:cNvSpPr/>
          <p:nvPr/>
        </p:nvSpPr>
        <p:spPr>
          <a:xfrm>
            <a:off x="4895023" y="4905756"/>
            <a:ext cx="92104"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23" name="Funnel bar"/>
          <p:cNvSpPr/>
          <p:nvPr/>
        </p:nvSpPr>
        <p:spPr>
          <a:xfrm>
            <a:off x="5005415" y="4905756"/>
            <a:ext cx="249397"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24" name="Funnel total"/>
          <p:cNvSpPr txBox="1"/>
          <p:nvPr/>
        </p:nvSpPr>
        <p:spPr>
          <a:xfrm>
            <a:off x="5356412" y="4905756"/>
            <a:ext cx="2194560" cy="508000"/>
          </a:xfrm>
          <a:prstGeom prst="rect">
            <a:avLst/>
          </a:prstGeom>
          <a:noFill/>
        </p:spPr>
        <p:txBody>
          <a:bodyPr wrap="square" lIns="0" tIns="0" rIns="0" bIns="0" anchor="ctr">
            <a:spAutoFit/>
          </a:bodyPr>
          <a:lstStyle/>
          <a:p>
            <a:r>
              <a:rPr sz="1150" b="1">
                <a:solidFill>
                  <a:srgbClr val="0A2373"/>
                </a:solidFill>
                <a:latin typeface="Lato"/>
              </a:rPr>
              <a:t>= 2.4  (petrol 0.7, diesel 1.7)</a:t>
            </a:r>
          </a:p>
        </p:txBody>
      </p:sp>
      <p:sp>
        <p:nvSpPr>
          <p:cNvPr id="125" name="Funnel basis"/>
          <p:cNvSpPr txBox="1"/>
          <p:nvPr/>
        </p:nvSpPr>
        <p:spPr>
          <a:xfrm>
            <a:off x="7818120" y="4740656"/>
            <a:ext cx="2880360" cy="838200"/>
          </a:xfrm>
          <a:prstGeom prst="rect">
            <a:avLst/>
          </a:prstGeom>
          <a:noFill/>
        </p:spPr>
        <p:txBody>
          <a:bodyPr wrap="square" lIns="0" tIns="0" rIns="0" bIns="0" anchor="ctr">
            <a:spAutoFit/>
          </a:bodyPr>
          <a:lstStyle/>
          <a:p>
            <a:r>
              <a:rPr sz="1100" b="0" dirty="0">
                <a:solidFill>
                  <a:srgbClr val="11151A"/>
                </a:solidFill>
                <a:latin typeface="Lato"/>
              </a:rPr>
              <a:t>Illustrative 20% of step 3: 1.0 at Durban, 1.4 through Lesedi. Vopak’s actual share is not published.</a:t>
            </a:r>
          </a:p>
        </p:txBody>
      </p:sp>
    </p:spTree>
    <p:extLst>
      <p:ext uri="{BB962C8B-B14F-4D97-AF65-F5344CB8AC3E}">
        <p14:creationId xmlns:p14="http://schemas.microsoft.com/office/powerpoint/2010/main" val="603272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economy pushes fuel demand up; power recovery, rail, efficiency and electrified vehicles pull it down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14</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Stats SA (GDP; land transport survey P7162, July 2026 release); Department price history; Eskom Integrated Report 2025 and, for FY2026, the Minister of Electricity and Energy as reported by MyBroadband, 25 August 2026; naamsa quarterly reviews. Efficiency: US EPA and Department of Energy, fueleconomy.gov, like for like at the 2026 vehicle mix, as on p9. All charts 2016–2026. Detail: pp5–9.</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M takeaway">
            <a:extLst>
              <a:ext uri="{FF2B5EF4-FFF2-40B4-BE49-F238E27FC236}">
                <a16:creationId xmlns:a16="http://schemas.microsoft.com/office/drawing/2014/main" id="{494014AF-E149-4482-8FCD-16CEC0025A82}"/>
              </a:ext>
            </a:extLst>
          </p:cNvPr>
          <p:cNvSpPr>
            <a:spLocks noGrp="1"/>
          </p:cNvSpPr>
          <p:nvPr/>
        </p:nvSpPr>
        <p:spPr>
          <a:xfrm>
            <a:off x="457200" y="5870448"/>
            <a:ext cx="10648950" cy="304800"/>
          </a:xfrm>
          <a:prstGeom prst="rect">
            <a:avLst/>
          </a:prstGeom>
          <a:noFill/>
          <a:ln w="0">
            <a:noFill/>
          </a:ln>
        </p:spPr>
        <p:txBody>
          <a:bodyPr>
            <a:noAutofit/>
          </a:bodyPr>
          <a:lstStyle/>
          <a:p>
            <a:pPr>
              <a:defRPr sz="1500" b="1">
                <a:solidFill>
                  <a:srgbClr val="0A2373"/>
                </a:solidFill>
                <a:latin typeface="Lato"/>
                <a:ea typeface="Lato"/>
                <a:cs typeface="Lato"/>
              </a:defRPr>
            </a:pPr>
            <a:r>
              <a:rPr sz="1500" b="1">
                <a:solidFill>
                  <a:srgbClr val="0A2373"/>
                </a:solidFill>
                <a:latin typeface="Lato"/>
                <a:ea typeface="Lato"/>
                <a:cs typeface="Lato"/>
              </a:rPr>
              <a:t>The economy lifts diesel demand; power recovery, rail, electrified vehicles and efficiency pull demand down.</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TextBox 59"/>
          <p:cNvSpPr txBox="1"/>
          <p:nvPr/>
        </p:nvSpPr>
        <p:spPr>
          <a:xfrm>
            <a:off x="457200" y="1645920"/>
            <a:ext cx="3429000" cy="237744"/>
          </a:xfrm>
          <a:prstGeom prst="rect">
            <a:avLst/>
          </a:prstGeom>
          <a:noFill/>
        </p:spPr>
        <p:txBody>
          <a:bodyPr wrap="square" lIns="0" tIns="0" rIns="0" bIns="0" anchor="ctr">
            <a:spAutoFit/>
          </a:bodyPr>
          <a:lstStyle/>
          <a:p>
            <a:r>
              <a:rPr sz="1200" b="1">
                <a:solidFill>
                  <a:srgbClr val="11151A"/>
                </a:solidFill>
                <a:latin typeface="Lato"/>
              </a:rPr>
              <a:t>1  Economic activity</a:t>
            </a:r>
          </a:p>
        </p:txBody>
      </p:sp>
      <p:sp>
        <p:nvSpPr>
          <p:cNvPr id="61" name="TextBox 60"/>
          <p:cNvSpPr txBox="1"/>
          <p:nvPr/>
        </p:nvSpPr>
        <p:spPr>
          <a:xfrm>
            <a:off x="457200" y="1874519"/>
            <a:ext cx="3429000" cy="182880"/>
          </a:xfrm>
          <a:prstGeom prst="rect">
            <a:avLst/>
          </a:prstGeom>
          <a:noFill/>
        </p:spPr>
        <p:txBody>
          <a:bodyPr wrap="square" lIns="0" tIns="0" rIns="0" bIns="0" anchor="ctr">
            <a:spAutoFit/>
          </a:bodyPr>
          <a:lstStyle/>
          <a:p>
            <a:r>
              <a:rPr sz="900" b="0">
                <a:solidFill>
                  <a:srgbClr val="666666"/>
                </a:solidFill>
                <a:latin typeface="Lato"/>
              </a:rPr>
              <a:t>GDP, R trillion at constant 2015 prices</a:t>
            </a:r>
          </a:p>
        </p:txBody>
      </p:sp>
      <p:graphicFrame>
        <p:nvGraphicFramePr>
          <p:cNvPr id="62" name="Chart"/>
          <p:cNvGraphicFramePr>
            <a:graphicFrameLocks noGrp="1"/>
          </p:cNvGraphicFramePr>
          <p:nvPr/>
        </p:nvGraphicFramePr>
        <p:xfrm>
          <a:off x="384048" y="2048256"/>
          <a:ext cx="3502152" cy="1572768"/>
        </p:xfrm>
        <a:graphic>
          <a:graphicData uri="http://schemas.openxmlformats.org/drawingml/2006/chart">
            <c:chart xmlns:c="http://schemas.openxmlformats.org/drawingml/2006/chart" xmlns:r="http://schemas.openxmlformats.org/officeDocument/2006/relationships" r:id="rId3"/>
          </a:graphicData>
        </a:graphic>
      </p:graphicFrame>
      <p:sp>
        <p:nvSpPr>
          <p:cNvPr id="63" name="TextBox 62"/>
          <p:cNvSpPr txBox="1"/>
          <p:nvPr/>
        </p:nvSpPr>
        <p:spPr>
          <a:xfrm>
            <a:off x="4069080" y="1645920"/>
            <a:ext cx="3429000" cy="237744"/>
          </a:xfrm>
          <a:prstGeom prst="rect">
            <a:avLst/>
          </a:prstGeom>
          <a:noFill/>
        </p:spPr>
        <p:txBody>
          <a:bodyPr wrap="square" lIns="0" tIns="0" rIns="0" bIns="0" anchor="ctr">
            <a:spAutoFit/>
          </a:bodyPr>
          <a:lstStyle/>
          <a:p>
            <a:r>
              <a:rPr sz="1200" b="1">
                <a:solidFill>
                  <a:srgbClr val="11151A"/>
                </a:solidFill>
                <a:latin typeface="Lato"/>
              </a:rPr>
              <a:t>2  Petrol price</a:t>
            </a:r>
          </a:p>
        </p:txBody>
      </p:sp>
      <p:sp>
        <p:nvSpPr>
          <p:cNvPr id="64" name="TextBox 63"/>
          <p:cNvSpPr txBox="1"/>
          <p:nvPr/>
        </p:nvSpPr>
        <p:spPr>
          <a:xfrm>
            <a:off x="4069080" y="1874519"/>
            <a:ext cx="3429000" cy="182880"/>
          </a:xfrm>
          <a:prstGeom prst="rect">
            <a:avLst/>
          </a:prstGeom>
          <a:noFill/>
        </p:spPr>
        <p:txBody>
          <a:bodyPr wrap="square" lIns="0" tIns="0" rIns="0" bIns="0" anchor="ctr">
            <a:spAutoFit/>
          </a:bodyPr>
          <a:lstStyle/>
          <a:p>
            <a:r>
              <a:rPr sz="900" b="0">
                <a:solidFill>
                  <a:srgbClr val="666666"/>
                </a:solidFill>
                <a:latin typeface="Lato"/>
              </a:rPr>
              <a:t>Rand a litre, annual average | 2026* = January–October</a:t>
            </a:r>
          </a:p>
        </p:txBody>
      </p:sp>
      <p:graphicFrame>
        <p:nvGraphicFramePr>
          <p:cNvPr id="65" name="Chart"/>
          <p:cNvGraphicFramePr>
            <a:graphicFrameLocks noGrp="1"/>
          </p:cNvGraphicFramePr>
          <p:nvPr/>
        </p:nvGraphicFramePr>
        <p:xfrm>
          <a:off x="3995928" y="2048256"/>
          <a:ext cx="3502152" cy="1572768"/>
        </p:xfrm>
        <a:graphic>
          <a:graphicData uri="http://schemas.openxmlformats.org/drawingml/2006/chart">
            <c:chart xmlns:c="http://schemas.openxmlformats.org/drawingml/2006/chart" xmlns:r="http://schemas.openxmlformats.org/officeDocument/2006/relationships" r:id="rId4"/>
          </a:graphicData>
        </a:graphic>
      </p:graphicFrame>
      <p:sp>
        <p:nvSpPr>
          <p:cNvPr id="66" name="TextBox 65"/>
          <p:cNvSpPr txBox="1"/>
          <p:nvPr/>
        </p:nvSpPr>
        <p:spPr>
          <a:xfrm>
            <a:off x="7680960" y="1645920"/>
            <a:ext cx="3429000" cy="237744"/>
          </a:xfrm>
          <a:prstGeom prst="rect">
            <a:avLst/>
          </a:prstGeom>
          <a:noFill/>
        </p:spPr>
        <p:txBody>
          <a:bodyPr wrap="square" lIns="0" tIns="0" rIns="0" bIns="0" anchor="ctr">
            <a:spAutoFit/>
          </a:bodyPr>
          <a:lstStyle/>
          <a:p>
            <a:r>
              <a:rPr sz="1200" b="1">
                <a:solidFill>
                  <a:srgbClr val="11151A"/>
                </a:solidFill>
                <a:latin typeface="Lato"/>
              </a:rPr>
              <a:t>3  Power recovery</a:t>
            </a:r>
          </a:p>
        </p:txBody>
      </p:sp>
      <p:sp>
        <p:nvSpPr>
          <p:cNvPr id="67" name="TextBox 66"/>
          <p:cNvSpPr txBox="1"/>
          <p:nvPr/>
        </p:nvSpPr>
        <p:spPr>
          <a:xfrm>
            <a:off x="7680960" y="1874519"/>
            <a:ext cx="3429000" cy="182880"/>
          </a:xfrm>
          <a:prstGeom prst="rect">
            <a:avLst/>
          </a:prstGeom>
          <a:noFill/>
        </p:spPr>
        <p:txBody>
          <a:bodyPr wrap="square" lIns="0" tIns="0" rIns="0" bIns="0" anchor="ctr">
            <a:spAutoFit/>
          </a:bodyPr>
          <a:lstStyle/>
          <a:p>
            <a:r>
              <a:rPr sz="900" b="0">
                <a:solidFill>
                  <a:srgbClr val="666666"/>
                </a:solidFill>
                <a:latin typeface="Lato"/>
              </a:rPr>
              <a:t>Eskom diesel and kerosene, billion litres, years to March</a:t>
            </a:r>
          </a:p>
        </p:txBody>
      </p:sp>
      <p:graphicFrame>
        <p:nvGraphicFramePr>
          <p:cNvPr id="68" name="Chart"/>
          <p:cNvGraphicFramePr>
            <a:graphicFrameLocks noGrp="1"/>
          </p:cNvGraphicFramePr>
          <p:nvPr/>
        </p:nvGraphicFramePr>
        <p:xfrm>
          <a:off x="7607808" y="2048256"/>
          <a:ext cx="3502152" cy="1572768"/>
        </p:xfrm>
        <a:graphic>
          <a:graphicData uri="http://schemas.openxmlformats.org/drawingml/2006/chart">
            <c:chart xmlns:c="http://schemas.openxmlformats.org/drawingml/2006/chart" xmlns:r="http://schemas.openxmlformats.org/officeDocument/2006/relationships" r:id="rId5"/>
          </a:graphicData>
        </a:graphic>
      </p:graphicFrame>
      <p:sp>
        <p:nvSpPr>
          <p:cNvPr id="69" name="TextBox 68"/>
          <p:cNvSpPr txBox="1"/>
          <p:nvPr/>
        </p:nvSpPr>
        <p:spPr>
          <a:xfrm>
            <a:off x="457200" y="3730752"/>
            <a:ext cx="3429000" cy="237744"/>
          </a:xfrm>
          <a:prstGeom prst="rect">
            <a:avLst/>
          </a:prstGeom>
          <a:noFill/>
        </p:spPr>
        <p:txBody>
          <a:bodyPr wrap="square" lIns="0" tIns="0" rIns="0" bIns="0" anchor="ctr">
            <a:spAutoFit/>
          </a:bodyPr>
          <a:lstStyle/>
          <a:p>
            <a:r>
              <a:rPr sz="1200" b="1">
                <a:solidFill>
                  <a:srgbClr val="11151A"/>
                </a:solidFill>
                <a:latin typeface="Lato"/>
              </a:rPr>
              <a:t>4  Road to rail</a:t>
            </a:r>
          </a:p>
        </p:txBody>
      </p:sp>
      <p:sp>
        <p:nvSpPr>
          <p:cNvPr id="70" name="TextBox 69"/>
          <p:cNvSpPr txBox="1"/>
          <p:nvPr/>
        </p:nvSpPr>
        <p:spPr>
          <a:xfrm>
            <a:off x="457200" y="3959352"/>
            <a:ext cx="3429000" cy="182880"/>
          </a:xfrm>
          <a:prstGeom prst="rect">
            <a:avLst/>
          </a:prstGeom>
          <a:noFill/>
        </p:spPr>
        <p:txBody>
          <a:bodyPr wrap="square" lIns="0" tIns="0" rIns="0" bIns="0" anchor="ctr">
            <a:spAutoFit/>
          </a:bodyPr>
          <a:lstStyle/>
          <a:p>
            <a:r>
              <a:rPr sz="900" b="0">
                <a:solidFill>
                  <a:srgbClr val="666666"/>
                </a:solidFill>
                <a:latin typeface="Lato"/>
              </a:rPr>
              <a:t>Rail freight, million tonnes | 2026* annualised from January–July</a:t>
            </a:r>
          </a:p>
        </p:txBody>
      </p:sp>
      <p:graphicFrame>
        <p:nvGraphicFramePr>
          <p:cNvPr id="71" name="Chart"/>
          <p:cNvGraphicFramePr>
            <a:graphicFrameLocks noGrp="1"/>
          </p:cNvGraphicFramePr>
          <p:nvPr/>
        </p:nvGraphicFramePr>
        <p:xfrm>
          <a:off x="384048" y="4133088"/>
          <a:ext cx="3502152" cy="1572768"/>
        </p:xfrm>
        <a:graphic>
          <a:graphicData uri="http://schemas.openxmlformats.org/drawingml/2006/chart">
            <c:chart xmlns:c="http://schemas.openxmlformats.org/drawingml/2006/chart" xmlns:r="http://schemas.openxmlformats.org/officeDocument/2006/relationships" r:id="rId6"/>
          </a:graphicData>
        </a:graphic>
      </p:graphicFrame>
      <p:sp>
        <p:nvSpPr>
          <p:cNvPr id="72" name="TextBox 71"/>
          <p:cNvSpPr txBox="1"/>
          <p:nvPr/>
        </p:nvSpPr>
        <p:spPr>
          <a:xfrm>
            <a:off x="4069080" y="3730752"/>
            <a:ext cx="3429000" cy="237744"/>
          </a:xfrm>
          <a:prstGeom prst="rect">
            <a:avLst/>
          </a:prstGeom>
          <a:noFill/>
        </p:spPr>
        <p:txBody>
          <a:bodyPr wrap="square" lIns="0" tIns="0" rIns="0" bIns="0" anchor="ctr">
            <a:spAutoFit/>
          </a:bodyPr>
          <a:lstStyle/>
          <a:p>
            <a:r>
              <a:rPr sz="1200" b="1">
                <a:solidFill>
                  <a:srgbClr val="11151A"/>
                </a:solidFill>
                <a:latin typeface="Lato"/>
              </a:rPr>
              <a:t>5  Electrified vehicles</a:t>
            </a:r>
          </a:p>
        </p:txBody>
      </p:sp>
      <p:sp>
        <p:nvSpPr>
          <p:cNvPr id="73" name="TextBox 72"/>
          <p:cNvSpPr txBox="1"/>
          <p:nvPr/>
        </p:nvSpPr>
        <p:spPr>
          <a:xfrm>
            <a:off x="4069080" y="3959352"/>
            <a:ext cx="3429000" cy="182880"/>
          </a:xfrm>
          <a:prstGeom prst="rect">
            <a:avLst/>
          </a:prstGeom>
          <a:noFill/>
        </p:spPr>
        <p:txBody>
          <a:bodyPr wrap="square" lIns="0" tIns="0" rIns="0" bIns="0" anchor="ctr">
            <a:spAutoFit/>
          </a:bodyPr>
          <a:lstStyle/>
          <a:p>
            <a:r>
              <a:rPr sz="900" b="0">
                <a:solidFill>
                  <a:srgbClr val="666666"/>
                </a:solidFill>
                <a:latin typeface="Lato"/>
              </a:rPr>
              <a:t>New sales, all electrified types | 2026* = January–June × 2</a:t>
            </a:r>
          </a:p>
        </p:txBody>
      </p:sp>
      <p:graphicFrame>
        <p:nvGraphicFramePr>
          <p:cNvPr id="74" name="Chart"/>
          <p:cNvGraphicFramePr>
            <a:graphicFrameLocks noGrp="1"/>
          </p:cNvGraphicFramePr>
          <p:nvPr/>
        </p:nvGraphicFramePr>
        <p:xfrm>
          <a:off x="3995928" y="4133088"/>
          <a:ext cx="3502152" cy="1572768"/>
        </p:xfrm>
        <a:graphic>
          <a:graphicData uri="http://schemas.openxmlformats.org/drawingml/2006/chart">
            <c:chart xmlns:c="http://schemas.openxmlformats.org/drawingml/2006/chart" xmlns:r="http://schemas.openxmlformats.org/officeDocument/2006/relationships" r:id="rId7"/>
          </a:graphicData>
        </a:graphic>
      </p:graphicFrame>
      <p:sp>
        <p:nvSpPr>
          <p:cNvPr id="75" name="TextBox 74"/>
          <p:cNvSpPr txBox="1"/>
          <p:nvPr/>
        </p:nvSpPr>
        <p:spPr>
          <a:xfrm>
            <a:off x="7680960" y="3730752"/>
            <a:ext cx="3429000" cy="237744"/>
          </a:xfrm>
          <a:prstGeom prst="rect">
            <a:avLst/>
          </a:prstGeom>
          <a:noFill/>
        </p:spPr>
        <p:txBody>
          <a:bodyPr wrap="square" lIns="0" tIns="0" rIns="0" bIns="0" anchor="ctr">
            <a:spAutoFit/>
          </a:bodyPr>
          <a:lstStyle/>
          <a:p>
            <a:r>
              <a:rPr sz="1200" b="1" dirty="0">
                <a:solidFill>
                  <a:srgbClr val="11151A"/>
                </a:solidFill>
                <a:latin typeface="Lato"/>
              </a:rPr>
              <a:t>6  Vehicle efficiency</a:t>
            </a:r>
          </a:p>
        </p:txBody>
      </p:sp>
      <p:sp>
        <p:nvSpPr>
          <p:cNvPr id="76" name="TextBox 75"/>
          <p:cNvSpPr txBox="1"/>
          <p:nvPr/>
        </p:nvSpPr>
        <p:spPr>
          <a:xfrm>
            <a:off x="7680960" y="3959352"/>
            <a:ext cx="3429000" cy="182880"/>
          </a:xfrm>
          <a:prstGeom prst="rect">
            <a:avLst/>
          </a:prstGeom>
          <a:noFill/>
        </p:spPr>
        <p:txBody>
          <a:bodyPr wrap="square" lIns="0" tIns="0" rIns="0" bIns="0" anchor="ctr">
            <a:spAutoFit/>
          </a:bodyPr>
          <a:lstStyle/>
          <a:p>
            <a:r>
              <a:rPr sz="900" b="0">
                <a:solidFill>
                  <a:srgbClr val="666666"/>
                </a:solidFill>
                <a:latin typeface="Lato"/>
              </a:rPr>
              <a:t>L/100 km, new vehicles (US, like for like): petrol (dark), diesel (light)</a:t>
            </a:r>
          </a:p>
        </p:txBody>
      </p:sp>
      <p:graphicFrame>
        <p:nvGraphicFramePr>
          <p:cNvPr id="77" name="Chart"/>
          <p:cNvGraphicFramePr>
            <a:graphicFrameLocks noGrp="1"/>
          </p:cNvGraphicFramePr>
          <p:nvPr/>
        </p:nvGraphicFramePr>
        <p:xfrm>
          <a:off x="7607808" y="4133088"/>
          <a:ext cx="3502152" cy="1572768"/>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936860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Demand in the market of interest grows to about 18.8bn litres by 2030 in the base case (17.7–20.7bn)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15</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dirty="0">
                <a:solidFill>
                  <a:srgbClr val="111111"/>
                </a:solidFill>
                <a:latin typeface="Lato"/>
                <a:ea typeface="Lato"/>
                <a:cs typeface="Lato"/>
              </a:rPr>
              <a:t>History: Department sales to 2021; 2022E–2025E production + imports − exports (p4); market of interest at its 2022 district share by product (p12). Cases: 2025E uses from the analytical workbook v02 (Segments), with road freight from the truck fleet (p5), scaled to the market of interest; drivers and sources on p18. Secunda and Natref held at 2025E output.</a:t>
            </a:r>
            <a:endParaRPr sz="600" dirty="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Billion litres, market of interest | history to 2025E at 2022 district shares, then cases to 2030</a:t>
            </a:r>
            <a:endParaRPr sz="975" b="0">
              <a:solidFill>
                <a:srgbClr val="626262"/>
              </a:solidFill>
              <a:latin typeface="Lato"/>
              <a:ea typeface="Lato"/>
              <a:cs typeface="Lato"/>
            </a:endParaRPr>
          </a:p>
        </p:txBody>
      </p:sp>
      <p:sp>
        <p:nvSpPr>
          <p:cNvPr id="83" name="Evidence unit">
            <a:extLst>
              <a:ext uri="{FF2B5EF4-FFF2-40B4-BE49-F238E27FC236}">
                <a16:creationId xmlns:a16="http://schemas.microsoft.com/office/drawing/2014/main" id="{2D7877C5-B65D-4837-9FE4-2B32D94EE59D}"/>
              </a:ext>
            </a:extLst>
          </p:cNvPr>
          <p:cNvSpPr>
            <a:spLocks noGrp="1"/>
          </p:cNvSpPr>
          <p:nvPr/>
        </p:nvSpPr>
        <p:spPr>
          <a:xfrm>
            <a:off x="3749039"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Diesel</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Petrol</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a:solidFill>
                  <a:srgbClr val="11151A"/>
                </a:solidFill>
                <a:latin typeface="Lato"/>
                <a:ea typeface="Lato"/>
                <a:cs typeface="Lato"/>
              </a:rPr>
              <a:t>Petrol, 2030: low 6.6bn L; base 7.0; high 7.5. In 2025E it is 7.0.</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Diesel, 2030: low 11.1bn L; base 11.8; high 13.3. In 2025E it is 11.1.</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To be brought in, 2030: low 11.4bn L; base 12.5; high 14.4, after Secunda and Natref (6.3bn L).</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Petrol falls in 2026 as prices rise; the cases differ in GDP growth, petrol price, efficiency, rail, electric vehicles, peakers and, in the high case, generators if load shedding returns (p18).</a:t>
            </a:r>
            <a:endParaRPr sz="1350" b="0">
              <a:solidFill>
                <a:srgbClr val="11151A"/>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Demand grows slowly in the base case; diesel sets the range, from 11.1 to 13.3bn litres in 2030.</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solidFill>
                  <a:srgbClr val="0A2373"/>
                </a:solidFill>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b="1">
                <a:solidFill>
                  <a:srgbClr val="FFFFFF"/>
                </a:solidFill>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Market of interest: petrol and diesel demand, history and cases to 2030</a:t>
            </a:r>
            <a:endParaRPr sz="1400" b="1">
              <a:latin typeface="Lato"/>
            </a:endParaRP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2030 demand by case</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5" name="Chart"/>
          <p:cNvGraphicFramePr>
            <a:graphicFrameLocks noGrp="1"/>
          </p:cNvGraphicFramePr>
          <p:nvPr/>
        </p:nvGraphicFramePr>
        <p:xfrm>
          <a:off x="457200" y="2542032"/>
          <a:ext cx="315468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6" name="Chart"/>
          <p:cNvGraphicFramePr>
            <a:graphicFrameLocks noGrp="1"/>
          </p:cNvGraphicFramePr>
          <p:nvPr/>
        </p:nvGraphicFramePr>
        <p:xfrm>
          <a:off x="3749039" y="2542032"/>
          <a:ext cx="315468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2CAA778C-952B-5C3C-E0C3-EF121BAC3911}"/>
              </a:ext>
            </a:extLst>
          </p:cNvPr>
          <p:cNvSpPr/>
          <p:nvPr/>
        </p:nvSpPr>
        <p:spPr>
          <a:xfrm>
            <a:off x="9147175" y="367665"/>
            <a:ext cx="2339975" cy="8604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400" dirty="0">
                <a:solidFill>
                  <a:schemeClr val="tx1"/>
                </a:solidFill>
              </a:rPr>
              <a:t>Add maps like last year</a:t>
            </a:r>
          </a:p>
        </p:txBody>
      </p:sp>
    </p:spTree>
    <p:extLst>
      <p:ext uri="{BB962C8B-B14F-4D97-AF65-F5344CB8AC3E}">
        <p14:creationId xmlns:p14="http://schemas.microsoft.com/office/powerpoint/2010/main" val="86877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market of interest will need about 12.5bn litres brought in by 2030; Vopak's growth depends on winning that flow</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16</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GB" sz="600">
                <a:solidFill>
                  <a:srgbClr val="111111"/>
                </a:solidFill>
                <a:latin typeface="Lato"/>
                <a:ea typeface="Lato"/>
                <a:cs typeface="Lato"/>
              </a:rPr>
              <a:t>Base case, pp15 and 18;</a:t>
            </a:r>
            <a:r>
              <a:rPr sz="600">
                <a:solidFill>
                  <a:srgbClr val="111111"/>
                </a:solidFill>
                <a:latin typeface="Lato"/>
                <a:ea typeface="Lato"/>
                <a:cs typeface="Lato"/>
              </a:rPr>
              <a:t> market-sizing workbook and working-capacity assessment. </a:t>
            </a:r>
            <a:r>
              <a:rPr lang="en-ZA" sz="600">
                <a:solidFill>
                  <a:srgbClr val="111111"/>
                </a:solidFill>
                <a:latin typeface="Lato"/>
                <a:ea typeface="Lato"/>
                <a:cs typeface="Lato"/>
              </a:rPr>
              <a:t>Capture is illustrative. Contracted</a:t>
            </a:r>
            <a:r>
              <a:rPr sz="600">
                <a:solidFill>
                  <a:srgbClr val="111111"/>
                </a:solidFill>
                <a:latin typeface="Lato"/>
                <a:ea typeface="Lato"/>
                <a:cs typeface="Lato"/>
              </a:rPr>
              <a:t> share, product balance and usable capacity remain to be established. </a:t>
            </a:r>
            <a:r>
              <a:rPr lang="en-GB" sz="600">
                <a:solidFill>
                  <a:srgbClr val="111111"/>
                </a:solidFill>
                <a:latin typeface="Lato"/>
                <a:ea typeface="Lato"/>
                <a:cs typeface="Lato"/>
              </a:rPr>
              <a:t>Capture base: market-of-interest import requirement 2025, KwaZulu-Natal 5.0bn L and inland provinces 6.8bn L (p12).</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9" name="R import number">
            <a:extLst>
              <a:ext uri="{FF2B5EF4-FFF2-40B4-BE49-F238E27FC236}">
                <a16:creationId xmlns:a16="http://schemas.microsoft.com/office/drawing/2014/main" id="{260BAFE8-15A8-41E9-B151-B19C2116E893}"/>
              </a:ext>
            </a:extLst>
          </p:cNvPr>
          <p:cNvSpPr>
            <a:spLocks noGrp="1"/>
          </p:cNvSpPr>
          <p:nvPr/>
        </p:nvSpPr>
        <p:spPr>
          <a:xfrm>
            <a:off x="457200" y="1752600"/>
            <a:ext cx="3190875" cy="571500"/>
          </a:xfrm>
          <a:prstGeom prst="rect">
            <a:avLst/>
          </a:prstGeom>
          <a:noFill/>
          <a:ln w="0">
            <a:noFill/>
          </a:ln>
        </p:spPr>
        <p:txBody>
          <a:bodyPr>
            <a:noAutofit/>
          </a:bodyPr>
          <a:lstStyle/>
          <a:p>
            <a:pPr>
              <a:defRPr sz="3150" b="1">
                <a:solidFill>
                  <a:srgbClr val="0A2373"/>
                </a:solidFill>
                <a:latin typeface="Lato"/>
                <a:ea typeface="Lato"/>
                <a:cs typeface="Lato"/>
              </a:defRPr>
            </a:pPr>
            <a:r>
              <a:rPr lang="en-ZA" sz="3150" b="1">
                <a:solidFill>
                  <a:srgbClr val="0A2373"/>
                </a:solidFill>
                <a:latin typeface="Lato"/>
                <a:ea typeface="Lato"/>
                <a:cs typeface="Lato"/>
              </a:rPr>
              <a:t>12.5bn L</a:t>
            </a:r>
            <a:endParaRPr sz="3150" b="1">
              <a:solidFill>
                <a:srgbClr val="0A2373"/>
              </a:solidFill>
              <a:latin typeface="Lato"/>
              <a:ea typeface="Lato"/>
              <a:cs typeface="Lato"/>
            </a:endParaRPr>
          </a:p>
        </p:txBody>
      </p:sp>
      <p:sp>
        <p:nvSpPr>
          <p:cNvPr id="50" name="R import label">
            <a:extLst>
              <a:ext uri="{FF2B5EF4-FFF2-40B4-BE49-F238E27FC236}">
                <a16:creationId xmlns:a16="http://schemas.microsoft.com/office/drawing/2014/main" id="{C9FFBA8D-480C-4A1F-A8C7-B8EB1088BA82}"/>
              </a:ext>
            </a:extLst>
          </p:cNvPr>
          <p:cNvSpPr>
            <a:spLocks noGrp="1"/>
          </p:cNvSpPr>
          <p:nvPr/>
        </p:nvSpPr>
        <p:spPr>
          <a:xfrm>
            <a:off x="457200" y="2390775"/>
            <a:ext cx="3190875" cy="361950"/>
          </a:xfrm>
          <a:prstGeom prst="rect">
            <a:avLst/>
          </a:prstGeom>
          <a:noFill/>
          <a:ln w="0">
            <a:noFill/>
          </a:ln>
        </p:spPr>
        <p:txBody>
          <a:bodyPr>
            <a:noAutofit/>
          </a:bodyPr>
          <a:lstStyle/>
          <a:p>
            <a:pPr>
              <a:defRPr sz="1650" b="1">
                <a:solidFill>
                  <a:srgbClr val="0A2373"/>
                </a:solidFill>
                <a:latin typeface="Lato"/>
                <a:ea typeface="Lato"/>
                <a:cs typeface="Lato"/>
              </a:defRPr>
            </a:pPr>
            <a:r>
              <a:rPr lang="en-GB" sz="1650" b="1">
                <a:solidFill>
                  <a:srgbClr val="0A2373"/>
                </a:solidFill>
                <a:latin typeface="Lato"/>
                <a:ea typeface="Lato"/>
                <a:cs typeface="Lato"/>
              </a:rPr>
              <a:t>2030 import requirement, market of interest</a:t>
            </a:r>
            <a:endParaRPr sz="1650" b="1">
              <a:solidFill>
                <a:srgbClr val="0A2373"/>
              </a:solidFill>
              <a:latin typeface="Lato"/>
              <a:ea typeface="Lato"/>
              <a:cs typeface="Lato"/>
            </a:endParaRPr>
          </a:p>
        </p:txBody>
      </p:sp>
      <p:sp>
        <p:nvSpPr>
          <p:cNvPr id="51" name="R import explanation">
            <a:extLst>
              <a:ext uri="{FF2B5EF4-FFF2-40B4-BE49-F238E27FC236}">
                <a16:creationId xmlns:a16="http://schemas.microsoft.com/office/drawing/2014/main" id="{23C30C66-5E1C-44A5-B25D-90D8061177E8}"/>
              </a:ext>
            </a:extLst>
          </p:cNvPr>
          <p:cNvSpPr>
            <a:spLocks noGrp="1"/>
          </p:cNvSpPr>
          <p:nvPr/>
        </p:nvSpPr>
        <p:spPr>
          <a:xfrm>
            <a:off x="457200" y="2895600"/>
            <a:ext cx="3190875" cy="1524000"/>
          </a:xfrm>
          <a:prstGeom prst="rect">
            <a:avLst/>
          </a:prstGeom>
          <a:noFill/>
          <a:ln w="0">
            <a:noFill/>
          </a:ln>
        </p:spPr>
        <p:txBody>
          <a:bodyPr>
            <a:noAutofit/>
          </a:bodyPr>
          <a:lstStyle/>
          <a:p>
            <a:pPr>
              <a:defRPr sz="1500" b="0">
                <a:solidFill>
                  <a:srgbClr val="11151A"/>
                </a:solidFill>
                <a:latin typeface="Lato"/>
                <a:ea typeface="Lato"/>
                <a:cs typeface="Lato"/>
              </a:defRPr>
            </a:pPr>
            <a:r>
              <a:rPr lang="en-GB" sz="1500" b="0">
                <a:solidFill>
                  <a:srgbClr val="11151A"/>
                </a:solidFill>
                <a:latin typeface="Lato"/>
                <a:ea typeface="Lato"/>
                <a:cs typeface="Lato"/>
              </a:rPr>
              <a:t>Base case: demand of 18.8bn litres less Secunda and Natref output (6.3bn litres, held at 2025E). Growth broadly offsets efficiency, rail, power and electric-vehicle reductions (p15).</a:t>
            </a:r>
            <a:endParaRPr sz="1500" b="0">
              <a:solidFill>
                <a:srgbClr val="11151A"/>
              </a:solidFill>
              <a:latin typeface="Lato"/>
              <a:ea typeface="Lato"/>
              <a:cs typeface="Lato"/>
            </a:endParaRPr>
          </a:p>
        </p:txBody>
      </p:sp>
      <p:sp>
        <p:nvSpPr>
          <p:cNvPr id="52" name="R capture number">
            <a:extLst>
              <a:ext uri="{FF2B5EF4-FFF2-40B4-BE49-F238E27FC236}">
                <a16:creationId xmlns:a16="http://schemas.microsoft.com/office/drawing/2014/main" id="{73F80A3F-D9B3-4000-A4AB-8E2E01D3C4A7}"/>
              </a:ext>
            </a:extLst>
          </p:cNvPr>
          <p:cNvSpPr>
            <a:spLocks noGrp="1"/>
          </p:cNvSpPr>
          <p:nvPr/>
        </p:nvSpPr>
        <p:spPr>
          <a:xfrm>
            <a:off x="4191000" y="1752600"/>
            <a:ext cx="3238500" cy="571500"/>
          </a:xfrm>
          <a:prstGeom prst="rect">
            <a:avLst/>
          </a:prstGeom>
          <a:noFill/>
          <a:ln w="0">
            <a:noFill/>
          </a:ln>
        </p:spPr>
        <p:txBody>
          <a:bodyPr>
            <a:noAutofit/>
          </a:bodyPr>
          <a:lstStyle/>
          <a:p>
            <a:pPr>
              <a:defRPr sz="3150" b="1">
                <a:solidFill>
                  <a:srgbClr val="0A2373"/>
                </a:solidFill>
                <a:latin typeface="Lato"/>
                <a:ea typeface="Lato"/>
                <a:cs typeface="Lato"/>
              </a:defRPr>
            </a:pPr>
            <a:r>
              <a:rPr lang="en-ZA" sz="3150" b="1">
                <a:solidFill>
                  <a:srgbClr val="0A2373"/>
                </a:solidFill>
                <a:latin typeface="Lato"/>
                <a:ea typeface="Lato"/>
                <a:cs typeface="Lato"/>
              </a:rPr>
              <a:t>2.4bn L</a:t>
            </a:r>
          </a:p>
        </p:txBody>
      </p:sp>
      <p:sp>
        <p:nvSpPr>
          <p:cNvPr id="53" name="R capture label">
            <a:extLst>
              <a:ext uri="{FF2B5EF4-FFF2-40B4-BE49-F238E27FC236}">
                <a16:creationId xmlns:a16="http://schemas.microsoft.com/office/drawing/2014/main" id="{EE6602FD-9CFB-455B-B275-89691F622F23}"/>
              </a:ext>
            </a:extLst>
          </p:cNvPr>
          <p:cNvSpPr>
            <a:spLocks noGrp="1"/>
          </p:cNvSpPr>
          <p:nvPr/>
        </p:nvSpPr>
        <p:spPr>
          <a:xfrm>
            <a:off x="4191000" y="2390775"/>
            <a:ext cx="3238500" cy="5715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Illustrative capture, Durban and Lesedi</a:t>
            </a:r>
          </a:p>
        </p:txBody>
      </p:sp>
      <p:sp>
        <p:nvSpPr>
          <p:cNvPr id="54" name="R capture explanation">
            <a:extLst>
              <a:ext uri="{FF2B5EF4-FFF2-40B4-BE49-F238E27FC236}">
                <a16:creationId xmlns:a16="http://schemas.microsoft.com/office/drawing/2014/main" id="{554DE4F0-5279-41A6-99D7-8E85850A18E9}"/>
              </a:ext>
            </a:extLst>
          </p:cNvPr>
          <p:cNvSpPr>
            <a:spLocks noGrp="1"/>
          </p:cNvSpPr>
          <p:nvPr/>
        </p:nvSpPr>
        <p:spPr>
          <a:xfrm>
            <a:off x="4191000" y="3086100"/>
            <a:ext cx="3238500" cy="1819275"/>
          </a:xfrm>
          <a:prstGeom prst="rect">
            <a:avLst/>
          </a:prstGeom>
          <a:noFill/>
          <a:ln w="0">
            <a:noFill/>
          </a:ln>
        </p:spPr>
        <p:txBody>
          <a:bodyPr>
            <a:noAutofit/>
          </a:bodyPr>
          <a:lstStyle/>
          <a:p>
            <a:pPr>
              <a:defRPr sz="1500" b="0">
                <a:solidFill>
                  <a:srgbClr val="11151A"/>
                </a:solidFill>
                <a:latin typeface="Lato"/>
                <a:ea typeface="Lato"/>
                <a:cs typeface="Lato"/>
              </a:defRPr>
            </a:pPr>
            <a:r>
              <a:rPr lang="en-GB" sz="1500" b="0">
                <a:solidFill>
                  <a:srgbClr val="11151A"/>
                </a:solidFill>
                <a:latin typeface="Lato"/>
                <a:ea typeface="Lato"/>
                <a:cs typeface="Lato"/>
              </a:rPr>
              <a:t>Assumes 20% of the 11.8bn litres the market of interest had to bring in, in 2025 (p12–13): 1.0bn litres at Durban and 1.4bn litres through Lesedi.</a:t>
            </a:r>
            <a:endParaRPr sz="1500" b="0">
              <a:solidFill>
                <a:srgbClr val="11151A"/>
              </a:solidFill>
              <a:latin typeface="Lato"/>
              <a:ea typeface="Lato"/>
              <a:cs typeface="Lato"/>
            </a:endParaRPr>
          </a:p>
          <a:p>
            <a:endParaRPr sz="1500" b="0">
              <a:solidFill>
                <a:srgbClr val="11151A"/>
              </a:solidFill>
              <a:latin typeface="Lato"/>
              <a:ea typeface="Lato"/>
              <a:cs typeface="Lato"/>
            </a:endParaRPr>
          </a:p>
          <a:p>
            <a:pPr>
              <a:defRPr sz="1500" b="0">
                <a:solidFill>
                  <a:srgbClr val="11151A"/>
                </a:solidFill>
                <a:latin typeface="Lato"/>
                <a:ea typeface="Lato"/>
                <a:cs typeface="Lato"/>
              </a:defRPr>
            </a:pPr>
            <a:r>
              <a:rPr sz="1500" b="0">
                <a:solidFill>
                  <a:srgbClr val="11151A"/>
                </a:solidFill>
                <a:latin typeface="Lato"/>
                <a:ea typeface="Lato"/>
                <a:cs typeface="Lato"/>
              </a:rPr>
              <a:t>Illustrative share; no explicit deduction for Matola or Walvis Bay diversion.</a:t>
            </a:r>
          </a:p>
        </p:txBody>
      </p:sp>
      <p:sp>
        <p:nvSpPr>
          <p:cNvPr id="55" name="R investment header">
            <a:extLst>
              <a:ext uri="{FF2B5EF4-FFF2-40B4-BE49-F238E27FC236}">
                <a16:creationId xmlns:a16="http://schemas.microsoft.com/office/drawing/2014/main" id="{6A925A1A-A629-4397-BA11-F03C2572F53B}"/>
              </a:ext>
            </a:extLst>
          </p:cNvPr>
          <p:cNvSpPr>
            <a:spLocks noGrp="1"/>
          </p:cNvSpPr>
          <p:nvPr/>
        </p:nvSpPr>
        <p:spPr>
          <a:xfrm>
            <a:off x="7953375" y="1838325"/>
            <a:ext cx="3152775" cy="904875"/>
          </a:xfrm>
          <a:prstGeom prst="rect">
            <a:avLst/>
          </a:prstGeom>
          <a:noFill/>
          <a:ln w="0">
            <a:noFill/>
          </a:ln>
        </p:spPr>
        <p:txBody>
          <a:bodyPr>
            <a:noAutofit/>
          </a:bodyPr>
          <a:lstStyle/>
          <a:p>
            <a:pPr>
              <a:defRPr sz="1875" b="1">
                <a:solidFill>
                  <a:srgbClr val="0A2373"/>
                </a:solidFill>
                <a:latin typeface="Lato"/>
                <a:ea typeface="Lato"/>
                <a:cs typeface="Lato"/>
              </a:defRPr>
            </a:pPr>
            <a:r>
              <a:rPr sz="1875" b="1">
                <a:solidFill>
                  <a:srgbClr val="0A2373"/>
                </a:solidFill>
                <a:latin typeface="Lato"/>
                <a:ea typeface="Lato"/>
                <a:cs typeface="Lato"/>
              </a:rPr>
              <a:t>Expansion follows</a:t>
            </a:r>
          </a:p>
          <a:p>
            <a:pPr>
              <a:defRPr sz="1875" b="1">
                <a:solidFill>
                  <a:srgbClr val="0A2373"/>
                </a:solidFill>
                <a:latin typeface="Lato"/>
                <a:ea typeface="Lato"/>
                <a:cs typeface="Lato"/>
              </a:defRPr>
            </a:pPr>
            <a:r>
              <a:rPr sz="1875" b="1">
                <a:solidFill>
                  <a:srgbClr val="0A2373"/>
                </a:solidFill>
                <a:latin typeface="Lato"/>
                <a:ea typeface="Lato"/>
                <a:cs typeface="Lato"/>
              </a:rPr>
              <a:t>secured incremental flow</a:t>
            </a:r>
          </a:p>
        </p:txBody>
      </p:sp>
      <p:sp>
        <p:nvSpPr>
          <p:cNvPr id="56" name="R investment explanation">
            <a:extLst>
              <a:ext uri="{FF2B5EF4-FFF2-40B4-BE49-F238E27FC236}">
                <a16:creationId xmlns:a16="http://schemas.microsoft.com/office/drawing/2014/main" id="{8186998E-16B1-4433-9175-288EE1C95EF8}"/>
              </a:ext>
            </a:extLst>
          </p:cNvPr>
          <p:cNvSpPr>
            <a:spLocks noGrp="1"/>
          </p:cNvSpPr>
          <p:nvPr/>
        </p:nvSpPr>
        <p:spPr>
          <a:xfrm>
            <a:off x="7953375" y="2933700"/>
            <a:ext cx="3152775" cy="1990725"/>
          </a:xfrm>
          <a:prstGeom prst="rect">
            <a:avLst/>
          </a:prstGeom>
          <a:noFill/>
          <a:ln w="0">
            <a:noFill/>
          </a:ln>
        </p:spPr>
        <p:txBody>
          <a:bodyPr>
            <a:noAutofit/>
          </a:bodyPr>
          <a:lstStyle/>
          <a:p>
            <a:pPr>
              <a:defRPr sz="1500" b="0">
                <a:solidFill>
                  <a:srgbClr val="11151A"/>
                </a:solidFill>
                <a:latin typeface="Lato"/>
                <a:ea typeface="Lato"/>
                <a:cs typeface="Lato"/>
              </a:defRPr>
            </a:pPr>
            <a:r>
              <a:rPr sz="1500" b="0">
                <a:solidFill>
                  <a:srgbClr val="11151A"/>
                </a:solidFill>
                <a:latin typeface="Lato"/>
                <a:ea typeface="Lato"/>
                <a:cs typeface="Lato"/>
              </a:rPr>
              <a:t>The illustrative flow fits the preliminary working-tank calculation.</a:t>
            </a:r>
          </a:p>
          <a:p>
            <a:endParaRPr sz="1500" b="0">
              <a:solidFill>
                <a:srgbClr val="11151A"/>
              </a:solidFill>
              <a:latin typeface="Lato"/>
              <a:ea typeface="Lato"/>
              <a:cs typeface="Lato"/>
            </a:endParaRPr>
          </a:p>
          <a:p>
            <a:pPr>
              <a:defRPr sz="1500" b="0">
                <a:solidFill>
                  <a:srgbClr val="11151A"/>
                </a:solidFill>
                <a:latin typeface="Lato"/>
                <a:ea typeface="Lato"/>
                <a:cs typeface="Lato"/>
              </a:defRPr>
            </a:pPr>
            <a:r>
              <a:rPr sz="1500" b="0">
                <a:solidFill>
                  <a:srgbClr val="11151A"/>
                </a:solidFill>
                <a:latin typeface="Lato"/>
                <a:ea typeface="Lato"/>
                <a:cs typeface="Lato"/>
              </a:rPr>
              <a:t>Secure additional customer volumes, establish usable capacity, and identify the constraint that investment would solve.</a:t>
            </a:r>
          </a:p>
        </p:txBody>
      </p:sp>
      <p:sp>
        <p:nvSpPr>
          <p:cNvPr id="57" name="R bottom rule">
            <a:extLst>
              <a:ext uri="{FF2B5EF4-FFF2-40B4-BE49-F238E27FC236}">
                <a16:creationId xmlns:a16="http://schemas.microsoft.com/office/drawing/2014/main" id="{1DD97E1A-8A77-4409-8E52-CAB8F618A46A}"/>
              </a:ext>
            </a:extLst>
          </p:cNvPr>
          <p:cNvSpPr>
            <a:spLocks noGrp="1"/>
          </p:cNvSpPr>
          <p:nvPr/>
        </p:nvSpPr>
        <p:spPr>
          <a:xfrm>
            <a:off x="457200" y="5305425"/>
            <a:ext cx="10648950" cy="9525"/>
          </a:xfrm>
          <a:prstGeom prst="rect">
            <a:avLst/>
          </a:prstGeom>
          <a:solidFill>
            <a:srgbClr val="C5C5C5"/>
          </a:solidFill>
          <a:ln w="0">
            <a:noFill/>
          </a:ln>
        </p:spPr>
        <p:txBody>
          <a:bodyPr/>
          <a:lstStyle/>
          <a:p>
            <a:endParaRPr lang="en-ZA"/>
          </a:p>
        </p:txBody>
      </p:sp>
      <p:sp>
        <p:nvSpPr>
          <p:cNvPr id="58" name="R takeaway">
            <a:extLst>
              <a:ext uri="{FF2B5EF4-FFF2-40B4-BE49-F238E27FC236}">
                <a16:creationId xmlns:a16="http://schemas.microsoft.com/office/drawing/2014/main" id="{9484190C-CA09-41A4-9196-410D3AB213F5}"/>
              </a:ext>
            </a:extLst>
          </p:cNvPr>
          <p:cNvSpPr>
            <a:spLocks noGrp="1"/>
          </p:cNvSpPr>
          <p:nvPr/>
        </p:nvSpPr>
        <p:spPr>
          <a:xfrm>
            <a:off x="457200" y="5619750"/>
            <a:ext cx="10648950" cy="457200"/>
          </a:xfrm>
          <a:prstGeom prst="rect">
            <a:avLst/>
          </a:prstGeom>
          <a:noFill/>
          <a:ln w="0">
            <a:noFill/>
          </a:ln>
        </p:spPr>
        <p:txBody>
          <a:bodyPr>
            <a:noAutofit/>
          </a:bodyPr>
          <a:lstStyle/>
          <a:p>
            <a:pPr>
              <a:defRPr sz="1725" b="1">
                <a:solidFill>
                  <a:srgbClr val="0A2373"/>
                </a:solidFill>
                <a:latin typeface="Lato"/>
                <a:ea typeface="Lato"/>
                <a:cs typeface="Lato"/>
              </a:defRPr>
            </a:pPr>
            <a:r>
              <a:rPr lang="en-GB" sz="1725" b="1">
                <a:solidFill>
                  <a:srgbClr val="0A2373"/>
                </a:solidFill>
                <a:latin typeface="Lato"/>
                <a:ea typeface="Lato"/>
                <a:cs typeface="Lato"/>
              </a:rPr>
              <a:t>Invest where secured additional volumes create a demonstrated capacity shortfall.</a:t>
            </a:r>
          </a:p>
        </p:txBody>
      </p:sp>
      <p:sp>
        <p:nvSpPr>
          <p:cNvPr id="59"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0"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61"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62"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Tree>
    <p:extLst>
      <p:ext uri="{BB962C8B-B14F-4D97-AF65-F5344CB8AC3E}">
        <p14:creationId xmlns:p14="http://schemas.microsoft.com/office/powerpoint/2010/main" val="2485820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Thank you</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South Africa fuel market and Vopak opportunity</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Discussion</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lang="en-ZA">
                <a:solidFill>
                  <a:srgbClr val="FFFFFF"/>
                </a:solidFill>
              </a:rPr>
              <a:t>14 October 2026</a:t>
            </a:r>
            <a:endParaRPr>
              <a:solidFill>
                <a:srgbClr val="FFFFFF"/>
              </a:solidFill>
            </a:endParaRP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endParaRPr sz="1200">
              <a:solidFill>
                <a:srgbClr val="FFFFFF"/>
              </a:solidFill>
            </a:endParaRP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190130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Appendix: assumptions behind the Low, Base and High demand cases</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18</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700">
                <a:solidFill>
                  <a:srgbClr val="111111"/>
                </a:solidFill>
                <a:latin typeface="Lato"/>
                <a:ea typeface="Lato"/>
                <a:cs typeface="Lato"/>
              </a:rPr>
              <a:t>Full references: IMF World Economic Outlook, October 2026; National Treasury 2026 Budget Review, Table 2.2; Medium-Term Development Plan 2024–2029; Akinboade, Ziramba and Kumo (2008), Energy Economics; Brons et al. (2008), Energy Economics; draft National Rail Master Plan (April 2026); </a:t>
            </a:r>
            <a:r>
              <a:rPr lang="en-GB" sz="700">
                <a:solidFill>
                  <a:srgbClr val="111111"/>
                </a:solidFill>
                <a:latin typeface="Lato"/>
                <a:ea typeface="Lato"/>
                <a:cs typeface="Lato"/>
              </a:rPr>
              <a:t>Eskom Integrated Reports 2025 and 2026 (gas turbine fuel and output)</a:t>
            </a:r>
            <a:r>
              <a:rPr lang="en-ZA" sz="700">
                <a:solidFill>
                  <a:srgbClr val="111111"/>
                </a:solidFill>
                <a:latin typeface="Lato"/>
                <a:ea typeface="Lato"/>
                <a:cs typeface="Lato"/>
              </a:rPr>
              <a:t>; Eskom 0.31 L/kWh (FY2024–25).</a:t>
            </a:r>
            <a:endParaRPr sz="7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M takeaway">
            <a:extLst>
              <a:ext uri="{FF2B5EF4-FFF2-40B4-BE49-F238E27FC236}">
                <a16:creationId xmlns:a16="http://schemas.microsoft.com/office/drawing/2014/main" id="{494014AF-E149-4482-8FCD-16CEC0025A82}"/>
              </a:ext>
            </a:extLst>
          </p:cNvPr>
          <p:cNvSpPr>
            <a:spLocks noGrp="1"/>
          </p:cNvSpPr>
          <p:nvPr/>
        </p:nvSpPr>
        <p:spPr>
          <a:xfrm>
            <a:off x="457200" y="5669280"/>
            <a:ext cx="10648950" cy="304800"/>
          </a:xfrm>
          <a:prstGeom prst="rect">
            <a:avLst/>
          </a:prstGeom>
          <a:noFill/>
          <a:ln w="0">
            <a:noFill/>
          </a:ln>
        </p:spPr>
        <p:txBody>
          <a:bodyPr>
            <a:noAutofit/>
          </a:bodyPr>
          <a:lstStyle/>
          <a:p>
            <a:pPr>
              <a:defRPr sz="1500" b="1">
                <a:solidFill>
                  <a:srgbClr val="0A2373"/>
                </a:solidFill>
                <a:latin typeface="Lato"/>
                <a:ea typeface="Lato"/>
                <a:cs typeface="Lato"/>
              </a:defRPr>
            </a:pPr>
            <a:r>
              <a:rPr lang="en-GB" sz="1500" b="1">
                <a:solidFill>
                  <a:srgbClr val="0A2373"/>
                </a:solidFill>
                <a:latin typeface="Lato"/>
                <a:ea typeface="Lato"/>
                <a:cs typeface="Lato"/>
              </a:rPr>
              <a:t>Each case applies the same calculation to 2025E demand in the market of interest; only the rates differ. They are cases, not forecasts.</a:t>
            </a:r>
            <a:endParaRPr sz="1500" b="1">
              <a:solidFill>
                <a:srgbClr val="0A2373"/>
              </a:solidFill>
              <a:latin typeface="Lato"/>
              <a:ea typeface="Lato"/>
              <a:cs typeface="Lato"/>
            </a:endParaRP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graphicFrame>
        <p:nvGraphicFramePr>
          <p:cNvPr id="60" name="Assumptions table"/>
          <p:cNvGraphicFramePr>
            <a:graphicFrameLocks noGrp="1"/>
          </p:cNvGraphicFramePr>
          <p:nvPr>
            <p:extLst>
              <p:ext uri="{D42A27DB-BD31-4B8C-83A1-F6EECF244321}">
                <p14:modId xmlns:p14="http://schemas.microsoft.com/office/powerpoint/2010/main" val="397440969"/>
              </p:ext>
            </p:extLst>
          </p:nvPr>
        </p:nvGraphicFramePr>
        <p:xfrm>
          <a:off x="457200" y="1498600"/>
          <a:ext cx="10223500" cy="3972560"/>
        </p:xfrm>
        <a:graphic>
          <a:graphicData uri="http://schemas.openxmlformats.org/drawingml/2006/table">
            <a:tbl>
              <a:tblPr/>
              <a:tblGrid>
                <a:gridCol w="19050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3175000">
                  <a:extLst>
                    <a:ext uri="{9D8B030D-6E8A-4147-A177-3AD203B41FA5}">
                      <a16:colId xmlns:a16="http://schemas.microsoft.com/office/drawing/2014/main" val="20004"/>
                    </a:ext>
                  </a:extLst>
                </a:gridCol>
                <a:gridCol w="3162300">
                  <a:extLst>
                    <a:ext uri="{9D8B030D-6E8A-4147-A177-3AD203B41FA5}">
                      <a16:colId xmlns:a16="http://schemas.microsoft.com/office/drawing/2014/main" val="4256707724"/>
                    </a:ext>
                  </a:extLst>
                </a:gridCol>
              </a:tblGrid>
              <a:tr h="228600">
                <a:tc>
                  <a:txBody>
                    <a:bodyPr/>
                    <a:lstStyle/>
                    <a:p>
                      <a:r>
                        <a:rPr lang="en-ZA" sz="1100" b="1">
                          <a:solidFill>
                            <a:srgbClr val="11151A"/>
                          </a:solidFill>
                          <a:latin typeface="Lato" panose="020F0502020204030203" pitchFamily="34" charset="0"/>
                        </a:rPr>
                        <a:t>Assumption</a:t>
                      </a:r>
                      <a:endParaRPr sz="1100" b="1" dirty="0">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Low</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Base</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High</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What it applies to</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Source</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0000"/>
                  </a:ext>
                </a:extLst>
              </a:tr>
              <a:tr h="152400">
                <a:tc>
                  <a:txBody>
                    <a:bodyPr/>
                    <a:lstStyle/>
                    <a:p>
                      <a:r>
                        <a:rPr lang="en-ZA" sz="950" b="1">
                          <a:solidFill>
                            <a:srgbClr val="0A2373"/>
                          </a:solidFill>
                          <a:latin typeface="Lato" panose="020F0502020204030203" pitchFamily="34" charset="0"/>
                        </a:rPr>
                        <a:t>PETROL</a:t>
                      </a:r>
                      <a:endParaRPr sz="950" b="1" dirty="0">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8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8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extLst>
                  <a:ext uri="{0D108BD9-81ED-4DB2-BD59-A6C34878D82A}">
                    <a16:rowId xmlns:a16="http://schemas.microsoft.com/office/drawing/2014/main" val="10001"/>
                  </a:ext>
                </a:extLst>
              </a:tr>
              <a:tr h="152400">
                <a:tc>
                  <a:txBody>
                    <a:bodyPr/>
                    <a:lstStyle/>
                    <a:p>
                      <a:r>
                        <a:rPr lang="en-ZA" sz="950" b="0">
                          <a:solidFill>
                            <a:srgbClr val="11151A"/>
                          </a:solidFill>
                          <a:latin typeface="Lato" panose="020F0502020204030203" pitchFamily="34" charset="0"/>
                        </a:rPr>
                        <a:t>Starting point, 2025E</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7.0bn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7.0bn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7.0bn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Market of interest (p12)</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Sasol, Glencore, SARS; Department district sales (pp4, 12)</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2"/>
                  </a:ext>
                </a:extLst>
              </a:tr>
              <a:tr h="152400">
                <a:tc>
                  <a:txBody>
                    <a:bodyPr/>
                    <a:lstStyle/>
                    <a:p>
                      <a:r>
                        <a:rPr lang="en-GB" sz="950" b="0">
                          <a:solidFill>
                            <a:srgbClr val="11151A"/>
                          </a:solidFill>
                          <a:latin typeface="Lato" panose="020F0502020204030203" pitchFamily="34" charset="0"/>
                        </a:rPr>
                        <a:t>GDP growth a year, 2026–30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1.0%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2.0%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Petrol +0.36% per 1% of GDP</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IMF Oct 2026; Treasury 2026 Budget; MTDP 2024–29</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3"/>
                  </a:ext>
                </a:extLst>
              </a:tr>
              <a:tr h="152400">
                <a:tc>
                  <a:txBody>
                    <a:bodyPr/>
                    <a:lstStyle/>
                    <a:p>
                      <a:r>
                        <a:rPr lang="en-ZA" sz="950" b="0">
                          <a:solidFill>
                            <a:srgbClr val="11151A"/>
                          </a:solidFill>
                          <a:latin typeface="Lato" panose="020F0502020204030203" pitchFamily="34" charset="0"/>
                        </a:rPr>
                        <a:t>Brent crude, real $/bbl</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80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70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60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Long-run real range $60–80</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850" b="0">
                          <a:solidFill>
                            <a:srgbClr val="11151A"/>
                          </a:solidFill>
                          <a:latin typeface="Lato" panose="020F0502020204030203" pitchFamily="34" charset="0"/>
                        </a:rPr>
                        <a:t>AIA (oil price history)</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122156244"/>
                  </a:ext>
                </a:extLst>
              </a:tr>
              <a:tr h="152400">
                <a:tc>
                  <a:txBody>
                    <a:bodyPr/>
                    <a:lstStyle/>
                    <a:p>
                      <a:r>
                        <a:rPr lang="en-GB" sz="950" b="0">
                          <a:solidFill>
                            <a:srgbClr val="11151A"/>
                          </a:solidFill>
                          <a:latin typeface="Lato" panose="020F0502020204030203" pitchFamily="34" charset="0"/>
                        </a:rPr>
                        <a:t>Margin $/bbl; petrol share</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 50%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7.5; 60%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5; 70%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Petrol at a discount as EVs grow</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850" b="0">
                          <a:solidFill>
                            <a:srgbClr val="11151A"/>
                          </a:solidFill>
                          <a:latin typeface="Lato" panose="020F0502020204030203" pitchFamily="34" charset="0"/>
                        </a:rPr>
                        <a:t>AIA</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4248924126"/>
                  </a:ext>
                </a:extLst>
              </a:tr>
              <a:tr h="152400">
                <a:tc>
                  <a:txBody>
                    <a:bodyPr/>
                    <a:lstStyle/>
                    <a:p>
                      <a:r>
                        <a:rPr lang="en-GB" sz="950" b="0">
                          <a:solidFill>
                            <a:srgbClr val="11151A"/>
                          </a:solidFill>
                          <a:latin typeface="Lato" panose="020F0502020204030203" pitchFamily="34" charset="0"/>
                        </a:rPr>
                        <a:t>Rand per US dollar, real</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18.0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16.5</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15.0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Pump = (Brent + petrol crack) × rand ÷ 159 L + other items</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850" b="0">
                          <a:solidFill>
                            <a:srgbClr val="11151A"/>
                          </a:solidFill>
                          <a:latin typeface="Lato" panose="020F0502020204030203" pitchFamily="34" charset="0"/>
                        </a:rPr>
                        <a:t>AIA; 2025 average R17.88</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946601078"/>
                  </a:ext>
                </a:extLst>
              </a:tr>
              <a:tr h="152400">
                <a:tc>
                  <a:txBody>
                    <a:bodyPr/>
                    <a:lstStyle/>
                    <a:p>
                      <a:r>
                        <a:rPr lang="en-GB" sz="950" b="0">
                          <a:solidFill>
                            <a:srgbClr val="11151A"/>
                          </a:solidFill>
                          <a:latin typeface="Lato" panose="020F0502020204030203" pitchFamily="34" charset="0"/>
                        </a:rPr>
                        <a:t>Real pump price 2028–30 vs 2025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+6%</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−3%</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−11%</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2026 actual +15%; case level from 2028; effect −0.47, phased</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Department prices; Akinboade (2008); Brons (2008)</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4"/>
                  </a:ext>
                </a:extLst>
              </a:tr>
              <a:tr h="152400">
                <a:tc>
                  <a:txBody>
                    <a:bodyPr/>
                    <a:lstStyle/>
                    <a:p>
                      <a:r>
                        <a:rPr lang="en-GB" sz="950" b="0">
                          <a:solidFill>
                            <a:srgbClr val="11151A"/>
                          </a:solidFill>
                          <a:latin typeface="Lato" panose="020F0502020204030203" pitchFamily="34" charset="0"/>
                        </a:rPr>
                        <a:t>Efficiency gain a year</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0.8%</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0.65%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0.5%</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Road petrol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850" b="0">
                          <a:solidFill>
                            <a:srgbClr val="11151A"/>
                          </a:solidFill>
                          <a:latin typeface="Lato" panose="020F0502020204030203" pitchFamily="34" charset="0"/>
                        </a:rPr>
                        <a:t>IEA/GFEI; eNaTIS; Lightstone; Stone et al. (2018) (p9)</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5"/>
                  </a:ext>
                </a:extLst>
              </a:tr>
              <a:tr h="152400">
                <a:tc>
                  <a:txBody>
                    <a:bodyPr/>
                    <a:lstStyle/>
                    <a:p>
                      <a:r>
                        <a:rPr lang="en-GB" sz="950" b="0">
                          <a:solidFill>
                            <a:srgbClr val="11151A"/>
                          </a:solidFill>
                          <a:latin typeface="Lato" panose="020F0502020204030203" pitchFamily="34" charset="0"/>
                        </a:rPr>
                        <a:t>EV share of new sales, 2030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7.6%</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5.4%</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3.3%</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Displaces road petrol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S-curves from the 2025 actual, IEA (p19); eNaTIS fleet and sales</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6"/>
                  </a:ext>
                </a:extLst>
              </a:tr>
              <a:tr h="152400">
                <a:tc>
                  <a:txBody>
                    <a:bodyPr/>
                    <a:lstStyle/>
                    <a:p>
                      <a:r>
                        <a:rPr lang="en-ZA" sz="950" b="1">
                          <a:solidFill>
                            <a:srgbClr val="11151A"/>
                          </a:solidFill>
                          <a:latin typeface="Lato" panose="020F0502020204030203" pitchFamily="34" charset="0"/>
                        </a:rPr>
                        <a:t>Petrol demand in 2030</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6.6bn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7.0bn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7.5bn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Result of the rows above</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3857718325"/>
                  </a:ext>
                </a:extLst>
              </a:tr>
              <a:tr h="152400">
                <a:tc>
                  <a:txBody>
                    <a:bodyPr/>
                    <a:lstStyle/>
                    <a:p>
                      <a:r>
                        <a:rPr lang="en-ZA" sz="950" b="1">
                          <a:solidFill>
                            <a:srgbClr val="0A2373"/>
                          </a:solidFill>
                          <a:latin typeface="Lato" panose="020F0502020204030203" pitchFamily="34" charset="0"/>
                        </a:rPr>
                        <a:t>DIESEL</a:t>
                      </a:r>
                      <a:endParaRPr sz="950" b="1" dirty="0">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850" b="1" dirty="0">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850" b="1" dirty="0">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extLst>
                  <a:ext uri="{0D108BD9-81ED-4DB2-BD59-A6C34878D82A}">
                    <a16:rowId xmlns:a16="http://schemas.microsoft.com/office/drawing/2014/main" val="9377420"/>
                  </a:ext>
                </a:extLst>
              </a:tr>
              <a:tr h="152400">
                <a:tc>
                  <a:txBody>
                    <a:bodyPr/>
                    <a:lstStyle/>
                    <a:p>
                      <a:r>
                        <a:rPr lang="en-ZA" sz="950" b="0">
                          <a:solidFill>
                            <a:srgbClr val="11151A"/>
                          </a:solidFill>
                          <a:latin typeface="Lato" panose="020F0502020204030203" pitchFamily="34" charset="0"/>
                        </a:rPr>
                        <a:t>Starting point, 2025E</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11.1bn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11.1bn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11.1bn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Market of interest (p12); road freight from the truck fleet (p5)</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Sasol, Glencore, SARS; Department district sales (pp4, 12)</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7"/>
                  </a:ext>
                </a:extLst>
              </a:tr>
              <a:tr h="152400">
                <a:tc>
                  <a:txBody>
                    <a:bodyPr/>
                    <a:lstStyle/>
                    <a:p>
                      <a:r>
                        <a:rPr lang="en-GB" sz="950" b="0">
                          <a:solidFill>
                            <a:srgbClr val="11151A"/>
                          </a:solidFill>
                          <a:latin typeface="Lato" panose="020F0502020204030203" pitchFamily="34" charset="0"/>
                        </a:rPr>
                        <a:t>GDP growth a year, 2026–30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3.0%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All diesel use except power, in line with GDP</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IMF Oct 2026; Treasury 2026 Budget; MTDP 2024–29</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3305385145"/>
                  </a:ext>
                </a:extLst>
              </a:tr>
              <a:tr h="152400">
                <a:tc>
                  <a:txBody>
                    <a:bodyPr/>
                    <a:lstStyle/>
                    <a:p>
                      <a:r>
                        <a:rPr lang="en-GB" sz="950" b="0">
                          <a:solidFill>
                            <a:srgbClr val="11151A"/>
                          </a:solidFill>
                          <a:latin typeface="Lato" panose="020F0502020204030203" pitchFamily="34" charset="0"/>
                        </a:rPr>
                        <a:t>Efficiency gain a year</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0.7%</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0.55%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0.4%</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Road diesel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850" b="0">
                          <a:solidFill>
                            <a:srgbClr val="11151A"/>
                          </a:solidFill>
                          <a:latin typeface="Lato" panose="020F0502020204030203" pitchFamily="34" charset="0"/>
                        </a:rPr>
                        <a:t>IEA/GFEI; eNaTIS; Stone et al. (2018) (p9)</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490356371"/>
                  </a:ext>
                </a:extLst>
              </a:tr>
              <a:tr h="152400">
                <a:tc>
                  <a:txBody>
                    <a:bodyPr/>
                    <a:lstStyle/>
                    <a:p>
                      <a:r>
                        <a:rPr lang="en-GB" sz="950" b="0">
                          <a:solidFill>
                            <a:srgbClr val="11151A"/>
                          </a:solidFill>
                          <a:latin typeface="Lato" panose="020F0502020204030203" pitchFamily="34" charset="0"/>
                        </a:rPr>
                        <a:t>EV share of new sales, 2030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7.6%</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5.4%</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3.3%</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Bakkies, SUVs and cars</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S-curves from the 2025 actual, IEA (p19); eNaTIS fleet and sales</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2218827610"/>
                  </a:ext>
                </a:extLst>
              </a:tr>
              <a:tr h="152400">
                <a:tc>
                  <a:txBody>
                    <a:bodyPr/>
                    <a:lstStyle/>
                    <a:p>
                      <a:r>
                        <a:rPr lang="en-ZA" sz="950" b="0">
                          <a:solidFill>
                            <a:srgbClr val="11151A"/>
                          </a:solidFill>
                          <a:latin typeface="Lato" panose="020F0502020204030203" pitchFamily="34" charset="0"/>
                        </a:rPr>
                        <a:t>Rail freight in 2030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262m t</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250m t</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215m t</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Road freight diesel; 7.2 / 6.1 / 2.8% of road freight moved</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nb-NO" sz="850" b="0">
                          <a:solidFill>
                            <a:srgbClr val="11151A"/>
                          </a:solidFill>
                          <a:latin typeface="Lato" panose="020F0502020204030203" pitchFamily="34" charset="0"/>
                        </a:rPr>
                        <a:t>Rail master plan; Transnet target; Stats SA P7162</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188658457"/>
                  </a:ext>
                </a:extLst>
              </a:tr>
              <a:tr h="152400">
                <a:tc>
                  <a:txBody>
                    <a:bodyPr/>
                    <a:lstStyle/>
                    <a:p>
                      <a:r>
                        <a:rPr lang="en-GB" sz="950" b="0">
                          <a:solidFill>
                            <a:srgbClr val="11151A"/>
                          </a:solidFill>
                          <a:latin typeface="Lato" panose="020F0502020204030203" pitchFamily="34" charset="0"/>
                        </a:rPr>
                        <a:t>Peaker load factor, Eskom-owned</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1.4%</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5.0%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National only: Ankerlig, Gourikwa, Acacia, Port Rex</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Eskom turbines 2026 (low); Eskom planning maximum</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858116310"/>
                  </a:ext>
                </a:extLst>
              </a:tr>
              <a:tr h="152400">
                <a:tc>
                  <a:txBody>
                    <a:bodyPr/>
                    <a:lstStyle/>
                    <a:p>
                      <a:r>
                        <a:rPr lang="en-GB" sz="950" b="0">
                          <a:solidFill>
                            <a:srgbClr val="11151A"/>
                          </a:solidFill>
                          <a:latin typeface="Lato" panose="020F0502020204030203" pitchFamily="34" charset="0"/>
                        </a:rPr>
                        <a:t>Peaker load factor, private</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3.7%</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7.3%</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Avon (market of interest); national adds Dedisa</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Eskom-owned × 0.734 (FY2025, Eskom Integrated Report 2026)</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281264200"/>
                  </a:ext>
                </a:extLst>
              </a:tr>
              <a:tr h="152400">
                <a:tc>
                  <a:txBody>
                    <a:bodyPr/>
                    <a:lstStyle/>
                    <a:p>
                      <a:r>
                        <a:rPr lang="de-DE" sz="950" b="0">
                          <a:solidFill>
                            <a:srgbClr val="11151A"/>
                          </a:solidFill>
                          <a:latin typeface="Lato" panose="020F0502020204030203" pitchFamily="34" charset="0"/>
                        </a:rPr>
                        <a:t>Peaker diesel in 2030, national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0.12bn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0.43bn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0.86bn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All units; market of interest (Avon) 0.02 / 0.07 / 0.13bn 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Result of the two rows above</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2301408698"/>
                  </a:ext>
                </a:extLst>
              </a:tr>
              <a:tr h="152400">
                <a:tc>
                  <a:txBody>
                    <a:bodyPr/>
                    <a:lstStyle/>
                    <a:p>
                      <a:r>
                        <a:rPr lang="de-DE" sz="950" b="0">
                          <a:solidFill>
                            <a:srgbClr val="11151A"/>
                          </a:solidFill>
                          <a:latin typeface="Lato" panose="020F0502020204030203" pitchFamily="34" charset="0"/>
                        </a:rPr>
                        <a:t>Generator diesel in 2030, national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0.91bn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Load shedding returns, high only; market of interest 0.63bn 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2023–24 fall in diesel less fall in peaker diesel (pp4, 6)</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4111280877"/>
                  </a:ext>
                </a:extLst>
              </a:tr>
              <a:tr h="152400">
                <a:tc>
                  <a:txBody>
                    <a:bodyPr/>
                    <a:lstStyle/>
                    <a:p>
                      <a:r>
                        <a:rPr lang="en-ZA" sz="950" b="1">
                          <a:solidFill>
                            <a:srgbClr val="11151A"/>
                          </a:solidFill>
                          <a:latin typeface="Lato" panose="020F0502020204030203" pitchFamily="34" charset="0"/>
                        </a:rPr>
                        <a:t>Diesel demand in 2030</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11.1bn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11.8bn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13.3bn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Result of the rows above</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2624428711"/>
                  </a:ext>
                </a:extLst>
              </a:tr>
              <a:tr h="152400">
                <a:tc>
                  <a:txBody>
                    <a:bodyPr/>
                    <a:lstStyle/>
                    <a:p>
                      <a:r>
                        <a:rPr lang="en-ZA" sz="950" b="1">
                          <a:solidFill>
                            <a:srgbClr val="11151A"/>
                          </a:solidFill>
                          <a:latin typeface="Lato" panose="020F0502020204030203" pitchFamily="34" charset="0"/>
                        </a:rPr>
                        <a:t>Total demand in 2030</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1">
                          <a:solidFill>
                            <a:srgbClr val="11151A"/>
                          </a:solidFill>
                          <a:latin typeface="Lato" panose="020F0502020204030203" pitchFamily="34" charset="0"/>
                        </a:rPr>
                        <a:t>17.7bn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1">
                          <a:solidFill>
                            <a:srgbClr val="11151A"/>
                          </a:solidFill>
                          <a:latin typeface="Lato" panose="020F0502020204030203" pitchFamily="34" charset="0"/>
                        </a:rPr>
                        <a:t>18.8bn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1">
                          <a:solidFill>
                            <a:srgbClr val="11151A"/>
                          </a:solidFill>
                          <a:latin typeface="Lato" panose="020F0502020204030203" pitchFamily="34" charset="0"/>
                        </a:rPr>
                        <a:t>20.7bn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850" b="0">
                          <a:solidFill>
                            <a:srgbClr val="11151A"/>
                          </a:solidFill>
                          <a:latin typeface="Lato" panose="020F0502020204030203" pitchFamily="34" charset="0"/>
                        </a:rPr>
                        <a:t>Petrol plus diesel, market of interest</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extLst>
                  <a:ext uri="{0D108BD9-81ED-4DB2-BD59-A6C34878D82A}">
                    <a16:rowId xmlns:a16="http://schemas.microsoft.com/office/drawing/2014/main" val="1887753537"/>
                  </a:ext>
                </a:extLst>
              </a:tr>
            </a:tbl>
          </a:graphicData>
        </a:graphic>
      </p:graphicFrame>
    </p:spTree>
    <p:extLst>
      <p:ext uri="{BB962C8B-B14F-4D97-AF65-F5344CB8AC3E}">
        <p14:creationId xmlns:p14="http://schemas.microsoft.com/office/powerpoint/2010/main" val="3927787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Appendix: electric car sales in South Africa are where China and the world were in 2015; trucks lag cars everywhere except China</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19</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dirty="0">
                <a:solidFill>
                  <a:srgbClr val="111111"/>
                </a:solidFill>
                <a:latin typeface="Lato"/>
                <a:ea typeface="Lato"/>
                <a:cs typeface="Lato"/>
              </a:rPr>
              <a:t>IEA Global EV Outlook 2026 and Global EV Data Explorer (battery electric and plug-in hybrid cars), via Our World in Data, retrieved 15 October 2026; trucks: IEA Global EV Outlook 2026, Trends in other EV modes. Cases: S-curves of electric share of new cars and light commercials from the 2025 actual (p18), shown as a share of cars (cars 77% of new light vehicles in 2025, eNaTIS).</a:t>
            </a:r>
            <a:endParaRPr sz="600" dirty="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 of new cars that are electric | dashed lines: South Africa cases (right)</a:t>
            </a:r>
            <a:endParaRPr sz="975" b="0">
              <a:solidFill>
                <a:srgbClr val="626262"/>
              </a:solidFill>
              <a:latin typeface="Lato"/>
              <a:ea typeface="Lato"/>
              <a:cs typeface="Lato"/>
            </a:endParaRPr>
          </a:p>
        </p:txBody>
      </p:sp>
      <p:sp>
        <p:nvSpPr>
          <p:cNvPr id="83" name="Evidence unit">
            <a:extLst>
              <a:ext uri="{FF2B5EF4-FFF2-40B4-BE49-F238E27FC236}">
                <a16:creationId xmlns:a16="http://schemas.microsoft.com/office/drawing/2014/main" id="{2D7877C5-B65D-4837-9FE4-2B32D94EE59D}"/>
              </a:ext>
            </a:extLst>
          </p:cNvPr>
          <p:cNvSpPr>
            <a:spLocks noGrp="1"/>
          </p:cNvSpPr>
          <p:nvPr/>
        </p:nvSpPr>
        <p:spPr>
          <a:xfrm>
            <a:off x="3749039"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South Africa: actual and cases to 2030</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By country, 2013–2025</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dirty="0">
                <a:solidFill>
                  <a:srgbClr val="11151A"/>
                </a:solidFill>
                <a:latin typeface="Lato"/>
                <a:ea typeface="Lato"/>
                <a:cs typeface="Lato"/>
              </a:rPr>
              <a:t>In 2025, 0.9% of new cars sold in South Africa were electric, up from 0.3% in 2023. China and the world were at this level in 2015, Germany in 2015–16 and Brazil in 2021.</a:t>
            </a:r>
            <a:endParaRPr sz="1350" b="0" dirty="0">
              <a:solidFill>
                <a:srgbClr val="11151A"/>
              </a:solidFill>
              <a:latin typeface="Lato"/>
              <a:ea typeface="Lato"/>
              <a:cs typeface="Lato"/>
            </a:endParaRPr>
          </a:p>
          <a:p>
            <a:pPr>
              <a:defRPr sz="1350" b="0">
                <a:solidFill>
                  <a:srgbClr val="11151A"/>
                </a:solidFill>
                <a:latin typeface="Lato"/>
                <a:ea typeface="Lato"/>
                <a:cs typeface="Lato"/>
              </a:defRPr>
            </a:pPr>
            <a:endParaRPr sz="1350" b="0" dirty="0">
              <a:solidFill>
                <a:srgbClr val="11151A"/>
              </a:solidFill>
              <a:latin typeface="Lato"/>
              <a:ea typeface="Lato"/>
              <a:cs typeface="Lato"/>
            </a:endParaRPr>
          </a:p>
          <a:p>
            <a:pPr>
              <a:defRPr sz="1350" b="0">
                <a:solidFill>
                  <a:srgbClr val="11151A"/>
                </a:solidFill>
                <a:latin typeface="Lato"/>
                <a:ea typeface="Lato"/>
                <a:cs typeface="Lato"/>
              </a:defRPr>
            </a:pPr>
            <a:r>
              <a:rPr lang="en-GB" sz="1350" b="0" dirty="0">
                <a:solidFill>
                  <a:srgbClr val="11151A"/>
                </a:solidFill>
                <a:latin typeface="Lato"/>
                <a:ea typeface="Lato"/>
                <a:cs typeface="Lato"/>
              </a:rPr>
              <a:t>Growth </a:t>
            </a:r>
            <a:r>
              <a:rPr lang="en-GB" sz="1350" dirty="0">
                <a:solidFill>
                  <a:srgbClr val="11151A"/>
                </a:solidFill>
                <a:latin typeface="Lato"/>
                <a:ea typeface="Lato"/>
                <a:cs typeface="Lato"/>
              </a:rPr>
              <a:t>assumptions: </a:t>
            </a:r>
            <a:r>
              <a:rPr lang="en-GB" sz="1350" b="0" dirty="0">
                <a:solidFill>
                  <a:srgbClr val="11151A"/>
                </a:solidFill>
                <a:latin typeface="Lato"/>
                <a:ea typeface="Lato"/>
                <a:cs typeface="Lato"/>
              </a:rPr>
              <a:t>4.2%, 7.1% and 9.9% by 2030: each case starts at today's 0.9% and grows on an S-curve. Five years after reaching this level, the world was at 4%, China 6%, Brazil 9% (four years) and Germany </a:t>
            </a:r>
            <a:r>
              <a:rPr lang="en-GB" sz="1350" b="0">
                <a:solidFill>
                  <a:srgbClr val="11151A"/>
                </a:solidFill>
                <a:latin typeface="Lato"/>
                <a:ea typeface="Lato"/>
                <a:cs typeface="Lato"/>
              </a:rPr>
              <a:t>14%. The </a:t>
            </a:r>
            <a:r>
              <a:rPr lang="en-GB" sz="1350" b="0" dirty="0">
                <a:solidFill>
                  <a:srgbClr val="11151A"/>
                </a:solidFill>
                <a:latin typeface="Lato"/>
                <a:ea typeface="Lato"/>
                <a:cs typeface="Lato"/>
              </a:rPr>
              <a:t>slow case matches the world, the base sits between China and Brazil, and the fast between Brazil and Germany.</a:t>
            </a:r>
            <a:endParaRPr sz="1350" b="0" dirty="0">
              <a:solidFill>
                <a:srgbClr val="11151A"/>
              </a:solidFill>
              <a:latin typeface="Lato"/>
              <a:ea typeface="Lato"/>
              <a:cs typeface="Lato"/>
            </a:endParaRPr>
          </a:p>
          <a:p>
            <a:pPr>
              <a:defRPr sz="1350" b="0">
                <a:solidFill>
                  <a:srgbClr val="11151A"/>
                </a:solidFill>
                <a:latin typeface="Lato"/>
                <a:ea typeface="Lato"/>
                <a:cs typeface="Lato"/>
              </a:defRPr>
            </a:pPr>
            <a:endParaRPr sz="1350" b="0" dirty="0">
              <a:solidFill>
                <a:srgbClr val="11151A"/>
              </a:solidFill>
              <a:latin typeface="Lato"/>
              <a:ea typeface="Lato"/>
              <a:cs typeface="Lato"/>
            </a:endParaRPr>
          </a:p>
          <a:p>
            <a:pPr>
              <a:defRPr sz="1350" b="0">
                <a:solidFill>
                  <a:srgbClr val="11151A"/>
                </a:solidFill>
                <a:latin typeface="Lato"/>
                <a:ea typeface="Lato"/>
                <a:cs typeface="Lato"/>
              </a:defRPr>
            </a:pPr>
            <a:r>
              <a:rPr lang="en-GB" sz="1350" b="0" dirty="0">
                <a:solidFill>
                  <a:srgbClr val="11151A"/>
                </a:solidFill>
                <a:latin typeface="Lato"/>
                <a:ea typeface="Lato"/>
                <a:cs typeface="Lato"/>
              </a:rPr>
              <a:t>Trucks are slower: about 1.5% of heavy trucks sold in Europe in 2025 were electric, against 28% of cars; only China is close. The cases include no electric trucks to 2030.</a:t>
            </a:r>
            <a:endParaRPr sz="1350" b="0" dirty="0">
              <a:solidFill>
                <a:srgbClr val="11151A"/>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From under 1% today, the cases reach 4–10% of new cars by 2030, within the 4–14% that others reached five years after the same level.</a:t>
            </a:r>
            <a:endParaRPr sz="1275" b="0">
              <a:solidFill>
                <a:srgbClr val="0A2373"/>
              </a:solidFill>
              <a:latin typeface="Lato"/>
              <a:ea typeface="Lato"/>
              <a:cs typeface="Lato"/>
            </a:endParaRPr>
          </a:p>
        </p:txBody>
      </p:sp>
      <p:sp>
        <p:nvSpPr>
          <p:cNvPr id="4"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Electric share of new cars: South Africa against China, Germany, Brazil and the world</a:t>
            </a:r>
            <a:endParaRPr sz="1400" b="1">
              <a:latin typeface="Lato"/>
            </a:endParaRPr>
          </a:p>
        </p:txBody>
      </p:sp>
      <p:sp>
        <p:nvSpPr>
          <p:cNvPr id="73" name="Vopak exhibit right heading"/>
          <p:cNvSpPr txBox="1"/>
          <p:nvPr/>
        </p:nvSpPr>
        <p:spPr>
          <a:xfrm>
            <a:off x="7424927" y="1627632"/>
            <a:ext cx="3685032" cy="215444"/>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What the benchmarks show</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5" name="Chart"/>
          <p:cNvGraphicFramePr>
            <a:graphicFrameLocks noGrp="1"/>
          </p:cNvGraphicFramePr>
          <p:nvPr/>
        </p:nvGraphicFramePr>
        <p:xfrm>
          <a:off x="457200" y="2542032"/>
          <a:ext cx="315468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6" name="Chart"/>
          <p:cNvGraphicFramePr>
            <a:graphicFrameLocks noGrp="1"/>
          </p:cNvGraphicFramePr>
          <p:nvPr/>
        </p:nvGraphicFramePr>
        <p:xfrm>
          <a:off x="3749039" y="2542032"/>
          <a:ext cx="3154680" cy="27889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88183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Appendix: demand in every magisterial district of the market of interest (1 of 2)</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20</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700">
                <a:solidFill>
                  <a:srgbClr val="111111"/>
                </a:solidFill>
                <a:latin typeface="Lato"/>
                <a:ea typeface="Lato"/>
                <a:cs typeface="Lato"/>
              </a:rPr>
              <a:t>Department fuel sales by magisterial district, four quarters of 2022, grown to 2025 at national growth by product (2025 demand = production + imports − exports, p4); method as p12. Sales are recorded where fuel is sold, which may differ from where it is used.</a:t>
            </a:r>
            <a:endParaRPr sz="7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Evidence unit"/>
          <p:cNvSpPr txBox="1"/>
          <p:nvPr/>
        </p:nvSpPr>
        <p:spPr>
          <a:xfrm>
            <a:off x="457200" y="1591056"/>
            <a:ext cx="10652760" cy="201168"/>
          </a:xfrm>
          <a:prstGeom prst="rect">
            <a:avLst/>
          </a:prstGeom>
          <a:noFill/>
        </p:spPr>
        <p:txBody>
          <a:bodyPr wrap="none" lIns="0" tIns="0" bIns="0">
            <a:spAutoFit/>
          </a:bodyPr>
          <a:lstStyle/>
          <a:p>
            <a:r>
              <a:rPr sz="1000">
                <a:solidFill>
                  <a:srgbClr val="666666"/>
                </a:solidFill>
                <a:latin typeface="Lato"/>
              </a:rPr>
              <a:t>Million litres, 2025E | largest district first within each province | province totals match p12 | small southern Free State districts excluded</a:t>
            </a:r>
          </a:p>
        </p:txBody>
      </p:sp>
      <p:sp>
        <p:nvSpPr>
          <p:cNvPr id="61" name="Province heading"/>
          <p:cNvSpPr txBox="1"/>
          <p:nvPr/>
        </p:nvSpPr>
        <p:spPr>
          <a:xfrm>
            <a:off x="457200" y="1828800"/>
            <a:ext cx="2526030" cy="219456"/>
          </a:xfrm>
          <a:prstGeom prst="rect">
            <a:avLst/>
          </a:prstGeom>
          <a:noFill/>
        </p:spPr>
        <p:txBody>
          <a:bodyPr wrap="none" lIns="0" tIns="0" bIns="0">
            <a:spAutoFit/>
          </a:bodyPr>
          <a:lstStyle/>
          <a:p>
            <a:r>
              <a:rPr sz="1000" b="1">
                <a:solidFill>
                  <a:srgbClr val="0A2373"/>
                </a:solidFill>
                <a:latin typeface="Lato"/>
              </a:rPr>
              <a:t>Gauteng: 22 districts, 7.7bn L</a:t>
            </a:r>
          </a:p>
        </p:txBody>
      </p:sp>
      <p:graphicFrame>
        <p:nvGraphicFramePr>
          <p:cNvPr id="62" name="District table"/>
          <p:cNvGraphicFramePr>
            <a:graphicFrameLocks noGrp="1"/>
          </p:cNvGraphicFramePr>
          <p:nvPr/>
        </p:nvGraphicFramePr>
        <p:xfrm>
          <a:off x="457200" y="2075688"/>
          <a:ext cx="2526030" cy="3423504"/>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Johannesburg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1,726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2,854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Pretoria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678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786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1,464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Randburg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376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603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Kempton Park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451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Alberton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366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Germiston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Vereeniging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Krugersdorp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Roodepoort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Benoni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Boksburg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Vanderbijlpark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Randfontein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Brakpan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Wonderboom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Springs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Bronkhorstspruit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Soshanguve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Nigel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Westonaria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Oberholzer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Cullinan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1">
                          <a:solidFill>
                            <a:srgbClr val="11151A"/>
                          </a:solidFill>
                          <a:latin typeface="Lato"/>
                        </a:rPr>
                        <a:t>Gauteng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3,572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4,148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7,720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3"/>
                  </a:ext>
                </a:extLst>
              </a:tr>
            </a:tbl>
          </a:graphicData>
        </a:graphic>
      </p:graphicFrame>
      <p:sp>
        <p:nvSpPr>
          <p:cNvPr id="63" name="Province heading"/>
          <p:cNvSpPr txBox="1"/>
          <p:nvPr/>
        </p:nvSpPr>
        <p:spPr>
          <a:xfrm>
            <a:off x="3166110" y="1828800"/>
            <a:ext cx="2526030" cy="219456"/>
          </a:xfrm>
          <a:prstGeom prst="rect">
            <a:avLst/>
          </a:prstGeom>
          <a:noFill/>
        </p:spPr>
        <p:txBody>
          <a:bodyPr wrap="none" lIns="0" tIns="0" bIns="0">
            <a:spAutoFit/>
          </a:bodyPr>
          <a:lstStyle/>
          <a:p>
            <a:r>
              <a:rPr sz="1000" b="1">
                <a:solidFill>
                  <a:srgbClr val="0A2373"/>
                </a:solidFill>
                <a:latin typeface="Lato"/>
              </a:rPr>
              <a:t>KwaZulu-Natal: 45 districts, 5.0bn L (1 of 2)</a:t>
            </a:r>
          </a:p>
        </p:txBody>
      </p:sp>
      <p:graphicFrame>
        <p:nvGraphicFramePr>
          <p:cNvPr id="64" name="District table"/>
          <p:cNvGraphicFramePr>
            <a:graphicFrameLocks noGrp="1"/>
          </p:cNvGraphicFramePr>
          <p:nvPr/>
        </p:nvGraphicFramePr>
        <p:xfrm>
          <a:off x="3166110" y="2075688"/>
          <a:ext cx="2526030" cy="3423504"/>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Durban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701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2,204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2,905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Pinetown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380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Pietermaritzburg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Inanda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Lower Umfolozi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Newcastle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Lower Tugela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91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Port Shepstone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Chatsworth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Mount Currie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Kliprivier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Umzinto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Camperdown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Estcourt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Vryheid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Umlazi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Lions River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Eshowe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Hlabisa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Mtunzini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Umbumbulu</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Ubombo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Kranskop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bl>
          </a:graphicData>
        </a:graphic>
      </p:graphicFrame>
      <p:sp>
        <p:nvSpPr>
          <p:cNvPr id="65" name="Province heading"/>
          <p:cNvSpPr txBox="1"/>
          <p:nvPr/>
        </p:nvSpPr>
        <p:spPr>
          <a:xfrm>
            <a:off x="5875020" y="1828800"/>
            <a:ext cx="2526030" cy="219456"/>
          </a:xfrm>
          <a:prstGeom prst="rect">
            <a:avLst/>
          </a:prstGeom>
          <a:noFill/>
        </p:spPr>
        <p:txBody>
          <a:bodyPr wrap="none" lIns="0" tIns="0" bIns="0">
            <a:spAutoFit/>
          </a:bodyPr>
          <a:lstStyle/>
          <a:p>
            <a:r>
              <a:rPr sz="1000" b="1">
                <a:solidFill>
                  <a:srgbClr val="0A2373"/>
                </a:solidFill>
                <a:latin typeface="Lato"/>
              </a:rPr>
              <a:t>KwaZulu-Natal: 45 districts, 5.0bn L (2 of 2)</a:t>
            </a:r>
          </a:p>
        </p:txBody>
      </p:sp>
      <p:graphicFrame>
        <p:nvGraphicFramePr>
          <p:cNvPr id="66" name="District table"/>
          <p:cNvGraphicFramePr>
            <a:graphicFrameLocks noGrp="1"/>
          </p:cNvGraphicFramePr>
          <p:nvPr/>
        </p:nvGraphicFramePr>
        <p:xfrm>
          <a:off x="5875020" y="2075688"/>
          <a:ext cx="2526030" cy="3423504"/>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Dundee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Mahlabatini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Umvoti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Mooirivier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Ingwavuma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Alfred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Nongoma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Mtonjaneni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Ixopo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Nqutu</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Bergville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Paulpietersburg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Nkandla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Underberg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Glencoe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Dannhauser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Richmond (KZN)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Polela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New Hanover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Ndwedwe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Ngotshe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Impendle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1">
                          <a:solidFill>
                            <a:srgbClr val="11151A"/>
                          </a:solidFill>
                          <a:latin typeface="Lato"/>
                        </a:rPr>
                        <a:t>KwaZulu-Natal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1,517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3,524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5,040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3"/>
                  </a:ext>
                </a:extLst>
              </a:tr>
            </a:tbl>
          </a:graphicData>
        </a:graphic>
      </p:graphicFrame>
      <p:sp>
        <p:nvSpPr>
          <p:cNvPr id="67" name="Province heading"/>
          <p:cNvSpPr txBox="1"/>
          <p:nvPr/>
        </p:nvSpPr>
        <p:spPr>
          <a:xfrm>
            <a:off x="8583930" y="1828800"/>
            <a:ext cx="2526030" cy="219456"/>
          </a:xfrm>
          <a:prstGeom prst="rect">
            <a:avLst/>
          </a:prstGeom>
          <a:noFill/>
        </p:spPr>
        <p:txBody>
          <a:bodyPr wrap="none" lIns="0" tIns="0" bIns="0">
            <a:spAutoFit/>
          </a:bodyPr>
          <a:lstStyle/>
          <a:p>
            <a:r>
              <a:rPr sz="1000" b="1">
                <a:solidFill>
                  <a:srgbClr val="0A2373"/>
                </a:solidFill>
                <a:latin typeface="Lato"/>
              </a:rPr>
              <a:t>Mpumalanga: 28 districts, 2.1bn L</a:t>
            </a:r>
          </a:p>
        </p:txBody>
      </p:sp>
      <p:graphicFrame>
        <p:nvGraphicFramePr>
          <p:cNvPr id="68" name="District table"/>
          <p:cNvGraphicFramePr>
            <a:graphicFrameLocks noGrp="1"/>
          </p:cNvGraphicFramePr>
          <p:nvPr/>
        </p:nvGraphicFramePr>
        <p:xfrm>
          <a:off x="8583930" y="2075688"/>
          <a:ext cx="2526030" cy="4279380"/>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Middelburg (MP)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355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Highveld Ridge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Witbank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Nelspruit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134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Volksrust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Standerton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Delmas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Piet Retief</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White River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Lydenburg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Letaba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Ermelo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Belfast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Barberton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Bethal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Kriel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Groblersdal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Balfour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Kwamhlanga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Pilgrims Rest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Mdutjana (Siyabuswa)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Nsikazi (Kangwane)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Nkomazi (Kamhulshwa)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r h="142646">
                <a:tc>
                  <a:txBody>
                    <a:bodyPr/>
                    <a:lstStyle/>
                    <a:p>
                      <a:pPr algn="l"/>
                      <a:r>
                        <a:rPr sz="700" b="0">
                          <a:solidFill>
                            <a:srgbClr val="11151A"/>
                          </a:solidFill>
                          <a:latin typeface="Lato"/>
                        </a:rPr>
                        <a:t>Molopo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4"/>
                  </a:ext>
                </a:extLst>
              </a:tr>
              <a:tr h="142646">
                <a:tc>
                  <a:txBody>
                    <a:bodyPr/>
                    <a:lstStyle/>
                    <a:p>
                      <a:pPr algn="l"/>
                      <a:r>
                        <a:rPr sz="700" b="0">
                          <a:solidFill>
                            <a:srgbClr val="11151A"/>
                          </a:solidFill>
                          <a:latin typeface="Lato"/>
                        </a:rPr>
                        <a:t>Carolina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5"/>
                  </a:ext>
                </a:extLst>
              </a:tr>
              <a:tr h="142646">
                <a:tc>
                  <a:txBody>
                    <a:bodyPr/>
                    <a:lstStyle/>
                    <a:p>
                      <a:pPr algn="l"/>
                      <a:r>
                        <a:rPr sz="700" b="0">
                          <a:solidFill>
                            <a:srgbClr val="11151A"/>
                          </a:solidFill>
                          <a:latin typeface="Lato"/>
                        </a:rPr>
                        <a:t>Moutse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6"/>
                  </a:ext>
                </a:extLst>
              </a:tr>
              <a:tr h="142646">
                <a:tc>
                  <a:txBody>
                    <a:bodyPr/>
                    <a:lstStyle/>
                    <a:p>
                      <a:pPr algn="l"/>
                      <a:r>
                        <a:rPr sz="700" b="0">
                          <a:solidFill>
                            <a:srgbClr val="11151A"/>
                          </a:solidFill>
                          <a:latin typeface="Lato"/>
                        </a:rPr>
                        <a:t>Waterval-Boven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7"/>
                  </a:ext>
                </a:extLst>
              </a:tr>
              <a:tr h="142646">
                <a:tc>
                  <a:txBody>
                    <a:bodyPr/>
                    <a:lstStyle/>
                    <a:p>
                      <a:pPr algn="l"/>
                      <a:r>
                        <a:rPr sz="700" b="0">
                          <a:solidFill>
                            <a:srgbClr val="11151A"/>
                          </a:solidFill>
                          <a:latin typeface="Lato"/>
                        </a:rPr>
                        <a:t>Eerstehoek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8"/>
                  </a:ext>
                </a:extLst>
              </a:tr>
              <a:tr h="142646">
                <a:tc>
                  <a:txBody>
                    <a:bodyPr/>
                    <a:lstStyle/>
                    <a:p>
                      <a:pPr algn="l"/>
                      <a:r>
                        <a:rPr sz="700" b="1">
                          <a:solidFill>
                            <a:srgbClr val="11151A"/>
                          </a:solidFill>
                          <a:latin typeface="Lato"/>
                        </a:rPr>
                        <a:t>Mpumalanga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619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1,448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2,068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975492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Appendix: demand in every magisterial district of the market of interest (2 of 2)</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21</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700">
                <a:solidFill>
                  <a:srgbClr val="111111"/>
                </a:solidFill>
                <a:latin typeface="Lato"/>
                <a:ea typeface="Lato"/>
                <a:cs typeface="Lato"/>
              </a:rPr>
              <a:t>Department fuel sales by magisterial district, four quarters of 2022, grown to 2025 at national growth by product (2025 demand = production + imports − exports, p4); method as p12. Sales are recorded where fuel is sold, which may differ from where it is used.</a:t>
            </a:r>
            <a:endParaRPr sz="7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Evidence unit"/>
          <p:cNvSpPr txBox="1"/>
          <p:nvPr/>
        </p:nvSpPr>
        <p:spPr>
          <a:xfrm>
            <a:off x="457200" y="1591056"/>
            <a:ext cx="10652760" cy="201168"/>
          </a:xfrm>
          <a:prstGeom prst="rect">
            <a:avLst/>
          </a:prstGeom>
          <a:noFill/>
        </p:spPr>
        <p:txBody>
          <a:bodyPr wrap="none" lIns="0" tIns="0" bIns="0">
            <a:spAutoFit/>
          </a:bodyPr>
          <a:lstStyle/>
          <a:p>
            <a:r>
              <a:rPr sz="1000">
                <a:solidFill>
                  <a:srgbClr val="666666"/>
                </a:solidFill>
                <a:latin typeface="Lato"/>
              </a:rPr>
              <a:t>Million litres, 2025E | largest district first within each province | province totals match p12 | small southern Free State districts excluded</a:t>
            </a:r>
          </a:p>
        </p:txBody>
      </p:sp>
      <p:sp>
        <p:nvSpPr>
          <p:cNvPr id="61" name="Province heading"/>
          <p:cNvSpPr txBox="1"/>
          <p:nvPr/>
        </p:nvSpPr>
        <p:spPr>
          <a:xfrm>
            <a:off x="457200" y="1828800"/>
            <a:ext cx="2526030" cy="219456"/>
          </a:xfrm>
          <a:prstGeom prst="rect">
            <a:avLst/>
          </a:prstGeom>
          <a:noFill/>
        </p:spPr>
        <p:txBody>
          <a:bodyPr wrap="none" lIns="0" tIns="0" bIns="0">
            <a:spAutoFit/>
          </a:bodyPr>
          <a:lstStyle/>
          <a:p>
            <a:r>
              <a:rPr sz="1000" b="1">
                <a:solidFill>
                  <a:srgbClr val="0A2373"/>
                </a:solidFill>
                <a:latin typeface="Lato"/>
              </a:rPr>
              <a:t>Free State: 29 districts, 1.5bn L (1 of 2)</a:t>
            </a:r>
          </a:p>
        </p:txBody>
      </p:sp>
      <p:graphicFrame>
        <p:nvGraphicFramePr>
          <p:cNvPr id="62" name="District table"/>
          <p:cNvGraphicFramePr>
            <a:graphicFrameLocks noGrp="1"/>
          </p:cNvGraphicFramePr>
          <p:nvPr/>
        </p:nvGraphicFramePr>
        <p:xfrm>
          <a:off x="457200" y="2075688"/>
          <a:ext cx="2526030" cy="2282336"/>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Sasolburg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Bloemfontein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Kroonstad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Welkom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Harrismith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Bethlehem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Reitz</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Koppies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Witsieshoek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Bothaville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Virginia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Parys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Odendaalsrus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Viljoenskroon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Bultfontein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bl>
          </a:graphicData>
        </a:graphic>
      </p:graphicFrame>
      <p:sp>
        <p:nvSpPr>
          <p:cNvPr id="63" name="Province heading"/>
          <p:cNvSpPr txBox="1"/>
          <p:nvPr/>
        </p:nvSpPr>
        <p:spPr>
          <a:xfrm>
            <a:off x="3166110" y="1828800"/>
            <a:ext cx="2526030" cy="219456"/>
          </a:xfrm>
          <a:prstGeom prst="rect">
            <a:avLst/>
          </a:prstGeom>
          <a:noFill/>
        </p:spPr>
        <p:txBody>
          <a:bodyPr wrap="none" lIns="0" tIns="0" bIns="0">
            <a:spAutoFit/>
          </a:bodyPr>
          <a:lstStyle/>
          <a:p>
            <a:r>
              <a:rPr sz="1000" b="1">
                <a:solidFill>
                  <a:srgbClr val="0A2373"/>
                </a:solidFill>
                <a:latin typeface="Lato"/>
              </a:rPr>
              <a:t>Free State: 29 districts, 1.5bn L (2 of 2)</a:t>
            </a:r>
          </a:p>
        </p:txBody>
      </p:sp>
      <p:graphicFrame>
        <p:nvGraphicFramePr>
          <p:cNvPr id="64" name="District table"/>
          <p:cNvGraphicFramePr>
            <a:graphicFrameLocks noGrp="1"/>
          </p:cNvGraphicFramePr>
          <p:nvPr/>
        </p:nvGraphicFramePr>
        <p:xfrm>
          <a:off x="3166110" y="2075688"/>
          <a:ext cx="2526030" cy="2282336"/>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Ficksburg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Ventersburg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Heilbron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Senekal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Frankfort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Marquard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Clocolan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Wesselsbron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Theunissen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Vrede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Hoopstad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Lindley</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Winburg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Hennenman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1">
                          <a:solidFill>
                            <a:srgbClr val="11151A"/>
                          </a:solidFill>
                          <a:latin typeface="Lato"/>
                        </a:rPr>
                        <a:t>Free State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579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964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1,543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15"/>
                  </a:ext>
                </a:extLst>
              </a:tr>
            </a:tbl>
          </a:graphicData>
        </a:graphic>
      </p:graphicFrame>
      <p:sp>
        <p:nvSpPr>
          <p:cNvPr id="65" name="Province heading"/>
          <p:cNvSpPr txBox="1"/>
          <p:nvPr/>
        </p:nvSpPr>
        <p:spPr>
          <a:xfrm>
            <a:off x="5875020" y="1828800"/>
            <a:ext cx="2526030" cy="219456"/>
          </a:xfrm>
          <a:prstGeom prst="rect">
            <a:avLst/>
          </a:prstGeom>
          <a:noFill/>
        </p:spPr>
        <p:txBody>
          <a:bodyPr wrap="none" lIns="0" tIns="0" bIns="0">
            <a:spAutoFit/>
          </a:bodyPr>
          <a:lstStyle/>
          <a:p>
            <a:r>
              <a:rPr sz="1000" b="1">
                <a:solidFill>
                  <a:srgbClr val="0A2373"/>
                </a:solidFill>
                <a:latin typeface="Lato"/>
              </a:rPr>
              <a:t>North West: 26 districts, 1.2bn L</a:t>
            </a:r>
          </a:p>
        </p:txBody>
      </p:sp>
      <p:graphicFrame>
        <p:nvGraphicFramePr>
          <p:cNvPr id="66" name="District table"/>
          <p:cNvGraphicFramePr>
            <a:graphicFrameLocks noGrp="1"/>
          </p:cNvGraphicFramePr>
          <p:nvPr/>
        </p:nvGraphicFramePr>
        <p:xfrm>
          <a:off x="5875020" y="2075688"/>
          <a:ext cx="2526030" cy="3994088"/>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Klerksdorp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Rustenburg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Brits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Potchefstroom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Molopo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Lichtenburg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Vryburg (south)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Odi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Mankwe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Wolmaranstad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Marico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Schweizer-Reneke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Moretele 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Bloemhof</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Christiana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Swartruggens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Taung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Vryburg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Ventersdorp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Delareyville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Coligny</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Lehurutshe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Koster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r h="142646">
                <a:tc>
                  <a:txBody>
                    <a:bodyPr/>
                    <a:lstStyle/>
                    <a:p>
                      <a:pPr algn="l"/>
                      <a:r>
                        <a:rPr sz="700" b="0">
                          <a:solidFill>
                            <a:srgbClr val="11151A"/>
                          </a:solidFill>
                          <a:latin typeface="Lato"/>
                        </a:rPr>
                        <a:t>Ditsobotla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4"/>
                  </a:ext>
                </a:extLst>
              </a:tr>
              <a:tr h="142646">
                <a:tc>
                  <a:txBody>
                    <a:bodyPr/>
                    <a:lstStyle/>
                    <a:p>
                      <a:pPr algn="l"/>
                      <a:r>
                        <a:rPr sz="700" b="0">
                          <a:solidFill>
                            <a:srgbClr val="11151A"/>
                          </a:solidFill>
                          <a:latin typeface="Lato"/>
                        </a:rPr>
                        <a:t>Vryburg (north-east)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5"/>
                  </a:ext>
                </a:extLst>
              </a:tr>
              <a:tr h="142646">
                <a:tc>
                  <a:txBody>
                    <a:bodyPr/>
                    <a:lstStyle/>
                    <a:p>
                      <a:pPr algn="l"/>
                      <a:r>
                        <a:rPr sz="700" b="0">
                          <a:solidFill>
                            <a:srgbClr val="11151A"/>
                          </a:solidFill>
                          <a:latin typeface="Lato"/>
                        </a:rPr>
                        <a:t>Kudumane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6"/>
                  </a:ext>
                </a:extLst>
              </a:tr>
              <a:tr h="142646">
                <a:tc>
                  <a:txBody>
                    <a:bodyPr/>
                    <a:lstStyle/>
                    <a:p>
                      <a:pPr algn="l"/>
                      <a:r>
                        <a:rPr sz="700" b="1">
                          <a:solidFill>
                            <a:srgbClr val="11151A"/>
                          </a:solidFill>
                          <a:latin typeface="Lato"/>
                        </a:rPr>
                        <a:t>North West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453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784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1,238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7"/>
                  </a:ext>
                </a:extLst>
              </a:tr>
            </a:tbl>
          </a:graphicData>
        </a:graphic>
      </p:graphicFrame>
      <p:sp>
        <p:nvSpPr>
          <p:cNvPr id="67" name="Province heading"/>
          <p:cNvSpPr txBox="1"/>
          <p:nvPr/>
        </p:nvSpPr>
        <p:spPr>
          <a:xfrm>
            <a:off x="8583930" y="1828800"/>
            <a:ext cx="2526030" cy="219456"/>
          </a:xfrm>
          <a:prstGeom prst="rect">
            <a:avLst/>
          </a:prstGeom>
          <a:noFill/>
        </p:spPr>
        <p:txBody>
          <a:bodyPr wrap="none" lIns="0" tIns="0" bIns="0">
            <a:spAutoFit/>
          </a:bodyPr>
          <a:lstStyle/>
          <a:p>
            <a:r>
              <a:rPr sz="1000" b="1">
                <a:solidFill>
                  <a:srgbClr val="0A2373"/>
                </a:solidFill>
                <a:latin typeface="Lato"/>
              </a:rPr>
              <a:t>Limpopo: 28 districts, 0.6bn L</a:t>
            </a:r>
          </a:p>
        </p:txBody>
      </p:sp>
      <p:graphicFrame>
        <p:nvGraphicFramePr>
          <p:cNvPr id="68" name="District table"/>
          <p:cNvGraphicFramePr>
            <a:graphicFrameLocks noGrp="1"/>
          </p:cNvGraphicFramePr>
          <p:nvPr/>
        </p:nvGraphicFramePr>
        <p:xfrm>
          <a:off x="8583930" y="2075688"/>
          <a:ext cx="2526030" cy="4279380"/>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Polokwane (south)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181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Soutpansberg (central)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Polokwane (north)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Thohoyandou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Phalaborwa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Waterberg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Mokopane (south)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Giyani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Musina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Thabazimbi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Thabamoopo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Lephalale (Ellisras)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Bela-Bela (Warmbad)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Musina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Malamulele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Mokopane (north)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Mhala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Thohoyandou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Seshego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Thabazimbi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Soutpansberg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Namakgale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Lulekani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r h="142646">
                <a:tc>
                  <a:txBody>
                    <a:bodyPr/>
                    <a:lstStyle/>
                    <a:p>
                      <a:pPr algn="l"/>
                      <a:r>
                        <a:rPr sz="700" b="0">
                          <a:solidFill>
                            <a:srgbClr val="11151A"/>
                          </a:solidFill>
                          <a:latin typeface="Lato"/>
                        </a:rPr>
                        <a:t>Bochum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4"/>
                  </a:ext>
                </a:extLst>
              </a:tr>
              <a:tr h="142646">
                <a:tc>
                  <a:txBody>
                    <a:bodyPr/>
                    <a:lstStyle/>
                    <a:p>
                      <a:pPr algn="l"/>
                      <a:r>
                        <a:rPr sz="700" b="0">
                          <a:solidFill>
                            <a:srgbClr val="11151A"/>
                          </a:solidFill>
                          <a:latin typeface="Lato"/>
                        </a:rPr>
                        <a:t>Mapulaneng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5"/>
                  </a:ext>
                </a:extLst>
              </a:tr>
              <a:tr h="142646">
                <a:tc>
                  <a:txBody>
                    <a:bodyPr/>
                    <a:lstStyle/>
                    <a:p>
                      <a:pPr algn="l"/>
                      <a:r>
                        <a:rPr sz="700" b="0">
                          <a:solidFill>
                            <a:srgbClr val="11151A"/>
                          </a:solidFill>
                          <a:latin typeface="Lato"/>
                        </a:rPr>
                        <a:t>Ritavi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6"/>
                  </a:ext>
                </a:extLst>
              </a:tr>
              <a:tr h="142646">
                <a:tc>
                  <a:txBody>
                    <a:bodyPr/>
                    <a:lstStyle/>
                    <a:p>
                      <a:pPr algn="l"/>
                      <a:r>
                        <a:rPr sz="700" b="0">
                          <a:solidFill>
                            <a:srgbClr val="11151A"/>
                          </a:solidFill>
                          <a:latin typeface="Lato"/>
                        </a:rPr>
                        <a:t>Sekhukhuneland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7"/>
                  </a:ext>
                </a:extLst>
              </a:tr>
              <a:tr h="142646">
                <a:tc>
                  <a:txBody>
                    <a:bodyPr/>
                    <a:lstStyle/>
                    <a:p>
                      <a:pPr algn="l"/>
                      <a:r>
                        <a:rPr sz="700" b="0">
                          <a:solidFill>
                            <a:srgbClr val="11151A"/>
                          </a:solidFill>
                          <a:latin typeface="Lato"/>
                        </a:rPr>
                        <a:t>Mokerong 1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8"/>
                  </a:ext>
                </a:extLst>
              </a:tr>
              <a:tr h="142646">
                <a:tc>
                  <a:txBody>
                    <a:bodyPr/>
                    <a:lstStyle/>
                    <a:p>
                      <a:pPr algn="l"/>
                      <a:r>
                        <a:rPr sz="700" b="1">
                          <a:solidFill>
                            <a:srgbClr val="11151A"/>
                          </a:solidFill>
                          <a:latin typeface="Lato"/>
                        </a:rPr>
                        <a:t>Limpopo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277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281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558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3717019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Appendix: in the market of interest, this year’s 2030 base case is 2.9bn litres above the November 2025 mid case</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22</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November 2025: AIA Vopak board report, 25 November 2025, slides 10 (diesel) and 16 (petrol), </a:t>
            </a:r>
            <a:r>
              <a:rPr lang="en-GB" sz="600">
                <a:solidFill>
                  <a:srgbClr val="111111"/>
                </a:solidFill>
                <a:latin typeface="Lato"/>
                <a:ea typeface="Lato"/>
                <a:cs typeface="Lato"/>
              </a:rPr>
              <a:t>market-of-interest low, mid and high forecasts; method from its slides 5 (drivers), 7 (peakers) and 12 (price).</a:t>
            </a:r>
            <a:r>
              <a:rPr lang="en-ZA" sz="600">
                <a:solidFill>
                  <a:srgbClr val="111111"/>
                </a:solidFill>
                <a:latin typeface="Lato"/>
                <a:ea typeface="Lato"/>
                <a:cs typeface="Lato"/>
              </a:rPr>
              <a:t> This year: market-of-interest cases (pp15 and 18). Mid and base are compared as the central cases.</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Billion litres, market of interest, demand in 2030</a:t>
            </a:r>
            <a:endParaRPr sz="975" b="0">
              <a:solidFill>
                <a:srgbClr val="626262"/>
              </a:solidFill>
              <a:latin typeface="Lato"/>
              <a:ea typeface="Lato"/>
              <a:cs typeface="Lato"/>
            </a:endParaRPr>
          </a:p>
        </p:txBody>
      </p:sp>
      <p:sp>
        <p:nvSpPr>
          <p:cNvPr id="83" name="Evidence unit">
            <a:extLst>
              <a:ext uri="{FF2B5EF4-FFF2-40B4-BE49-F238E27FC236}">
                <a16:creationId xmlns:a16="http://schemas.microsoft.com/office/drawing/2014/main" id="{2D7877C5-B65D-4837-9FE4-2B32D94EE59D}"/>
              </a:ext>
            </a:extLst>
          </p:cNvPr>
          <p:cNvSpPr>
            <a:spLocks noGrp="1"/>
          </p:cNvSpPr>
          <p:nvPr/>
        </p:nvSpPr>
        <p:spPr>
          <a:xfrm>
            <a:off x="3749039"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Diesel</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Petrol</a:t>
            </a:r>
            <a:endParaRPr sz="975" b="0">
              <a:solidFill>
                <a:srgbClr val="626262"/>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The 2.9bn litre gap is mostly the higher diesel starting point (2.8bn L); petrol is 0.4bn L lower because of prices, efficiency and electric vehicles.</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solidFill>
                  <a:srgbClr val="0A2373"/>
                </a:solidFill>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b="1">
                <a:solidFill>
                  <a:srgbClr val="FFFFFF"/>
                </a:solidFill>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GB" sz="1400" b="1">
                <a:latin typeface="Lato"/>
              </a:rPr>
              <a:t>Market of interest, 2030: November 2025 against this year</a:t>
            </a:r>
            <a:endParaRPr sz="1400" b="1">
              <a:latin typeface="Lato"/>
            </a:endParaRPr>
          </a:p>
        </p:txBody>
      </p:sp>
      <p:sp>
        <p:nvSpPr>
          <p:cNvPr id="73" name="Vopak exhibit right heading"/>
          <p:cNvSpPr txBox="1"/>
          <p:nvPr/>
        </p:nvSpPr>
        <p:spPr>
          <a:xfrm>
            <a:off x="7424927" y="1627632"/>
            <a:ext cx="3685032" cy="215444"/>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What each forecast includes</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4" name="Chart"/>
          <p:cNvGraphicFramePr>
            <a:graphicFrameLocks noGrp="1"/>
          </p:cNvGraphicFramePr>
          <p:nvPr/>
        </p:nvGraphicFramePr>
        <p:xfrm>
          <a:off x="457200" y="2542032"/>
          <a:ext cx="3154680" cy="27889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5" name="Chart"/>
          <p:cNvGraphicFramePr>
            <a:graphicFrameLocks noGrp="1"/>
          </p:cNvGraphicFramePr>
          <p:nvPr/>
        </p:nvGraphicFramePr>
        <p:xfrm>
          <a:off x="3749039" y="2542032"/>
          <a:ext cx="315468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Method comparison">
            <a:extLst>
              <a:ext uri="{FF2B5EF4-FFF2-40B4-BE49-F238E27FC236}">
                <a16:creationId xmlns:a16="http://schemas.microsoft.com/office/drawing/2014/main" id="{564EFD79-4359-3337-578D-0E90F2A45518}"/>
              </a:ext>
            </a:extLst>
          </p:cNvPr>
          <p:cNvGraphicFramePr>
            <a:graphicFrameLocks noGrp="1"/>
          </p:cNvGraphicFramePr>
          <p:nvPr>
            <p:extLst>
              <p:ext uri="{D42A27DB-BD31-4B8C-83A1-F6EECF244321}">
                <p14:modId xmlns:p14="http://schemas.microsoft.com/office/powerpoint/2010/main" val="2760551688"/>
              </p:ext>
            </p:extLst>
          </p:nvPr>
        </p:nvGraphicFramePr>
        <p:xfrm>
          <a:off x="7424928" y="2238375"/>
          <a:ext cx="3685032" cy="2834005"/>
        </p:xfrm>
        <a:graphic>
          <a:graphicData uri="http://schemas.openxmlformats.org/drawingml/2006/table">
            <a:tbl>
              <a:tblPr firstRow="1" bandRow="1">
                <a:tableStyleId>{5C22544A-7EE6-4342-B048-85BDC9FD1C3A}</a:tableStyleId>
              </a:tblPr>
              <a:tblGrid>
                <a:gridCol w="958108">
                  <a:extLst>
                    <a:ext uri="{9D8B030D-6E8A-4147-A177-3AD203B41FA5}">
                      <a16:colId xmlns:a16="http://schemas.microsoft.com/office/drawing/2014/main" val="2840174439"/>
                    </a:ext>
                  </a:extLst>
                </a:gridCol>
                <a:gridCol w="1252911">
                  <a:extLst>
                    <a:ext uri="{9D8B030D-6E8A-4147-A177-3AD203B41FA5}">
                      <a16:colId xmlns:a16="http://schemas.microsoft.com/office/drawing/2014/main" val="2290636861"/>
                    </a:ext>
                  </a:extLst>
                </a:gridCol>
                <a:gridCol w="1474013">
                  <a:extLst>
                    <a:ext uri="{9D8B030D-6E8A-4147-A177-3AD203B41FA5}">
                      <a16:colId xmlns:a16="http://schemas.microsoft.com/office/drawing/2014/main" val="2540084763"/>
                    </a:ext>
                  </a:extLst>
                </a:gridCol>
              </a:tblGrid>
              <a:tr h="276225">
                <a:tc>
                  <a:txBody>
                    <a:bodyPr/>
                    <a:lstStyle/>
                    <a:p>
                      <a:endParaRPr lang="en-ZA" sz="850" b="1">
                        <a:solidFill>
                          <a:srgbClr val="0A2373"/>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12700" cmpd="sng">
                      <a:solidFill>
                        <a:schemeClr val="lt1"/>
                      </a:solidFill>
                    </a:lnT>
                    <a:lnB w="6350" cmpd="sng">
                      <a:solidFill>
                        <a:srgbClr val="D4D4D4"/>
                      </a:solidFill>
                    </a:lnB>
                    <a:noFill/>
                  </a:tcPr>
                </a:tc>
                <a:tc>
                  <a:txBody>
                    <a:bodyPr/>
                    <a:lstStyle/>
                    <a:p>
                      <a:r>
                        <a:rPr lang="en-ZA" sz="850" b="1">
                          <a:solidFill>
                            <a:srgbClr val="0A2373"/>
                          </a:solidFill>
                          <a:latin typeface="Lato" panose="020F0502020204030203" pitchFamily="34" charset="0"/>
                        </a:rPr>
                        <a:t>November 2025</a:t>
                      </a:r>
                    </a:p>
                  </a:txBody>
                  <a:tcPr marL="38100" marR="38100" marT="25400" marB="25400">
                    <a:lnL w="12700" cmpd="sng">
                      <a:solidFill>
                        <a:schemeClr val="lt1"/>
                      </a:solidFill>
                    </a:lnL>
                    <a:lnR w="12700" cmpd="sng">
                      <a:solidFill>
                        <a:schemeClr val="lt1"/>
                      </a:solidFill>
                    </a:lnR>
                    <a:lnT w="12700" cmpd="sng">
                      <a:solidFill>
                        <a:schemeClr val="lt1"/>
                      </a:solidFill>
                    </a:lnT>
                    <a:lnB w="6350" cmpd="sng">
                      <a:solidFill>
                        <a:srgbClr val="D4D4D4"/>
                      </a:solidFill>
                    </a:lnB>
                    <a:noFill/>
                  </a:tcPr>
                </a:tc>
                <a:tc>
                  <a:txBody>
                    <a:bodyPr/>
                    <a:lstStyle/>
                    <a:p>
                      <a:r>
                        <a:rPr lang="en-ZA" sz="850" b="1">
                          <a:solidFill>
                            <a:srgbClr val="0A2373"/>
                          </a:solidFill>
                          <a:latin typeface="Lato" panose="020F0502020204030203" pitchFamily="34" charset="0"/>
                        </a:rPr>
                        <a:t>This year</a:t>
                      </a:r>
                    </a:p>
                  </a:txBody>
                  <a:tcPr marL="38100" marR="38100" marT="25400" marB="25400">
                    <a:lnL w="12700" cmpd="sng">
                      <a:solidFill>
                        <a:schemeClr val="lt1"/>
                      </a:solidFill>
                    </a:lnL>
                    <a:lnR w="12700" cmpd="sng">
                      <a:solidFill>
                        <a:schemeClr val="lt1"/>
                      </a:solidFill>
                    </a:lnR>
                    <a:lnT w="12700" cmpd="sng">
                      <a:solidFill>
                        <a:schemeClr val="lt1"/>
                      </a:solidFill>
                    </a:lnT>
                    <a:lnB w="6350" cmpd="sng">
                      <a:solidFill>
                        <a:srgbClr val="D4D4D4"/>
                      </a:solidFill>
                    </a:lnB>
                    <a:noFill/>
                  </a:tcPr>
                </a:tc>
                <a:extLst>
                  <a:ext uri="{0D108BD9-81ED-4DB2-BD59-A6C34878D82A}">
                    <a16:rowId xmlns:a16="http://schemas.microsoft.com/office/drawing/2014/main" val="1423504081"/>
                  </a:ext>
                </a:extLst>
              </a:tr>
              <a:tr h="300002">
                <a:tc>
                  <a:txBody>
                    <a:bodyPr/>
                    <a:lstStyle/>
                    <a:p>
                      <a:r>
                        <a:rPr lang="en-ZA" sz="850" b="1">
                          <a:solidFill>
                            <a:srgbClr val="11151A"/>
                          </a:solidFill>
                          <a:latin typeface="Lato" panose="020F0502020204030203" pitchFamily="34" charset="0"/>
                        </a:rPr>
                        <a:t>Starting point, 2025</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Department sales; diesel 8.4bn L, petrol 7.0</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fr-FR" sz="850" b="0" dirty="0">
                          <a:solidFill>
                            <a:srgbClr val="11151A"/>
                          </a:solidFill>
                          <a:latin typeface="Lato" panose="020F0502020204030203" pitchFamily="34" charset="0"/>
                        </a:rPr>
                        <a:t>Production + imports − exports</a:t>
                      </a:r>
                      <a:r>
                        <a:rPr lang="fr-FR" sz="850" b="0">
                          <a:solidFill>
                            <a:srgbClr val="11151A"/>
                          </a:solidFill>
                          <a:latin typeface="Lato" panose="020F0502020204030203" pitchFamily="34" charset="0"/>
                        </a:rPr>
                        <a:t>; diesel 11.1bn L, </a:t>
                      </a:r>
                      <a:r>
                        <a:rPr lang="fr-FR" sz="850" b="0" dirty="0" err="1">
                          <a:solidFill>
                            <a:srgbClr val="11151A"/>
                          </a:solidFill>
                          <a:latin typeface="Lato" panose="020F0502020204030203" pitchFamily="34" charset="0"/>
                        </a:rPr>
                        <a:t>petrol</a:t>
                      </a:r>
                      <a:r>
                        <a:rPr lang="fr-FR" sz="850" b="0" dirty="0">
                          <a:solidFill>
                            <a:srgbClr val="11151A"/>
                          </a:solidFill>
                          <a:latin typeface="Lato" panose="020F0502020204030203" pitchFamily="34" charset="0"/>
                        </a:rPr>
                        <a:t> 7.0</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3857092562"/>
                  </a:ext>
                </a:extLst>
              </a:tr>
              <a:tr h="282222">
                <a:tc>
                  <a:txBody>
                    <a:bodyPr/>
                    <a:lstStyle/>
                    <a:p>
                      <a:r>
                        <a:rPr lang="en-ZA" sz="850" b="1">
                          <a:solidFill>
                            <a:srgbClr val="11151A"/>
                          </a:solidFill>
                          <a:latin typeface="Lato" panose="020F0502020204030203" pitchFamily="34" charset="0"/>
                        </a:rPr>
                        <a:t>GDP growth</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Treasury MTBPS, 1.0–1.6% a year</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IMF / Treasury / 3% target: 1.0 / 2.0 / 3.0% a year</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423049836"/>
                  </a:ext>
                </a:extLst>
              </a:tr>
              <a:tr h="282222">
                <a:tc>
                  <a:txBody>
                    <a:bodyPr/>
                    <a:lstStyle/>
                    <a:p>
                      <a:r>
                        <a:rPr lang="en-ZA" sz="850" b="1">
                          <a:solidFill>
                            <a:srgbClr val="11151A"/>
                          </a:solidFill>
                          <a:latin typeface="Lato" panose="020F0502020204030203" pitchFamily="34" charset="0"/>
                        </a:rPr>
                        <a:t>Petrol price</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Current prices, adjusted for inflation</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Built from Brent $60–80 and rand; response −0.47, phased in</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2678802633"/>
                  </a:ext>
                </a:extLst>
              </a:tr>
              <a:tr h="282222">
                <a:tc>
                  <a:txBody>
                    <a:bodyPr/>
                    <a:lstStyle/>
                    <a:p>
                      <a:r>
                        <a:rPr lang="en-ZA" sz="850" b="1">
                          <a:solidFill>
                            <a:srgbClr val="11151A"/>
                          </a:solidFill>
                          <a:latin typeface="Lato" panose="020F0502020204030203" pitchFamily="34" charset="0"/>
                        </a:rPr>
                        <a:t>Efficiency</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dirty="0">
                          <a:solidFill>
                            <a:srgbClr val="11151A"/>
                          </a:solidFill>
                          <a:latin typeface="Lato" panose="020F0502020204030203" pitchFamily="34" charset="0"/>
                        </a:rPr>
                        <a:t>0.5–1.0% a year</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a:solidFill>
                            <a:srgbClr val="11151A"/>
                          </a:solidFill>
                          <a:latin typeface="Lato" panose="020F0502020204030203" pitchFamily="34" charset="0"/>
                        </a:rPr>
                        <a:t>SA fleet: petrol 0.5–0.8%, diesel 0.4–0.7%</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875651872"/>
                  </a:ext>
                </a:extLst>
              </a:tr>
              <a:tr h="282222">
                <a:tc>
                  <a:txBody>
                    <a:bodyPr/>
                    <a:lstStyle/>
                    <a:p>
                      <a:r>
                        <a:rPr lang="en-ZA" sz="850" b="1">
                          <a:solidFill>
                            <a:srgbClr val="11151A"/>
                          </a:solidFill>
                          <a:latin typeface="Lato" panose="020F0502020204030203" pitchFamily="34" charset="0"/>
                        </a:rPr>
                        <a:t>Electric vehicles</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dirty="0">
                          <a:solidFill>
                            <a:srgbClr val="11151A"/>
                          </a:solidFill>
                          <a:latin typeface="Lato" panose="020F0502020204030203" pitchFamily="34" charset="0"/>
                        </a:rPr>
                        <a:t>Fixed penetration rates (UNDP)</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S-curve of new sales, run through the vehicle fleet</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1776949461"/>
                  </a:ext>
                </a:extLst>
              </a:tr>
              <a:tr h="282222">
                <a:tc>
                  <a:txBody>
                    <a:bodyPr/>
                    <a:lstStyle/>
                    <a:p>
                      <a:r>
                        <a:rPr lang="en-ZA" sz="850" b="1">
                          <a:solidFill>
                            <a:srgbClr val="11151A"/>
                          </a:solidFill>
                          <a:latin typeface="Lato" panose="020F0502020204030203" pitchFamily="34" charset="0"/>
                        </a:rPr>
                        <a:t>Rail</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2025 growth rates; no shift assumed</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Rail at 215–262m t by 2030</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3686653697"/>
                  </a:ext>
                </a:extLst>
              </a:tr>
              <a:tr h="282222">
                <a:tc>
                  <a:txBody>
                    <a:bodyPr/>
                    <a:lstStyle/>
                    <a:p>
                      <a:r>
                        <a:rPr lang="en-ZA" sz="850" b="1">
                          <a:solidFill>
                            <a:srgbClr val="11151A"/>
                          </a:solidFill>
                          <a:latin typeface="Lato" panose="020F0502020204030203" pitchFamily="34" charset="0"/>
                        </a:rPr>
                        <a:t>Power stations</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dirty="0">
                          <a:solidFill>
                            <a:srgbClr val="11151A"/>
                          </a:solidFill>
                          <a:latin typeface="Lato" panose="020F0502020204030203" pitchFamily="34" charset="0"/>
                        </a:rPr>
                        <a:t>Eskom improving; peakers subdued</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Avon at 1.0–7.3% load factor; generators only if load shedding returns (high)</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1584976029"/>
                  </a:ext>
                </a:extLst>
              </a:tr>
            </a:tbl>
          </a:graphicData>
        </a:graphic>
      </p:graphicFrame>
      <p:sp>
        <p:nvSpPr>
          <p:cNvPr id="6" name="Rectangle 5">
            <a:extLst>
              <a:ext uri="{FF2B5EF4-FFF2-40B4-BE49-F238E27FC236}">
                <a16:creationId xmlns:a16="http://schemas.microsoft.com/office/drawing/2014/main" id="{270FEC7F-0F3D-2954-498B-455BB8CB31A8}"/>
              </a:ext>
            </a:extLst>
          </p:cNvPr>
          <p:cNvSpPr/>
          <p:nvPr/>
        </p:nvSpPr>
        <p:spPr>
          <a:xfrm>
            <a:off x="9147175" y="367665"/>
            <a:ext cx="2339975" cy="8604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400" dirty="0">
                <a:solidFill>
                  <a:schemeClr val="tx1"/>
                </a:solidFill>
              </a:rPr>
              <a:t>Rerun using current GDP</a:t>
            </a:r>
          </a:p>
        </p:txBody>
      </p:sp>
    </p:spTree>
    <p:extLst>
      <p:ext uri="{BB962C8B-B14F-4D97-AF65-F5344CB8AC3E}">
        <p14:creationId xmlns:p14="http://schemas.microsoft.com/office/powerpoint/2010/main" val="2605547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29820-6AD7-45D4-9363-60B3BAF1A46E}"/>
              </a:ext>
            </a:extLst>
          </p:cNvPr>
          <p:cNvSpPr>
            <a:spLocks noGrp="1"/>
          </p:cNvSpPr>
          <p:nvPr>
            <p:ph type="title"/>
          </p:nvPr>
        </p:nvSpPr>
        <p:spPr/>
        <p:txBody>
          <a:bodyPr>
            <a:normAutofit/>
          </a:bodyPr>
          <a:lstStyle/>
          <a:p>
            <a:r>
              <a:rPr>
                <a:solidFill>
                  <a:schemeClr val="dk1"/>
                </a:solidFill>
                <a:latin typeface="Lato"/>
                <a:ea typeface="Lato"/>
                <a:cs typeface="Lato"/>
              </a:rPr>
              <a:t>Durban and Lesedi market sizing and investment issue tree</a:t>
            </a:r>
          </a:p>
        </p:txBody>
      </p:sp>
      <p:sp>
        <p:nvSpPr>
          <p:cNvPr id="3" name="Slide Number Placeholder">
            <a:extLst>
              <a:ext uri="{FF2B5EF4-FFF2-40B4-BE49-F238E27FC236}">
                <a16:creationId xmlns:a16="http://schemas.microsoft.com/office/drawing/2014/main" id="{6A4E33D8-8941-444F-A929-A253CD7660A3}"/>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23</a:t>
            </a:r>
            <a:endParaRPr sz="1100"/>
          </a:p>
        </p:txBody>
      </p:sp>
      <p:sp>
        <p:nvSpPr>
          <p:cNvPr id="8" name="Unified source footer">
            <a:extLst>
              <a:ext uri="{FF2B5EF4-FFF2-40B4-BE49-F238E27FC236}">
                <a16:creationId xmlns:a16="http://schemas.microsoft.com/office/drawing/2014/main" id="{4A247A30-8235-4513-B205-84A25D462858}"/>
              </a:ext>
            </a:extLst>
          </p:cNvPr>
          <p:cNvSpPr>
            <a:spLocks noGrp="1"/>
          </p:cNvSpPr>
          <p:nvPr/>
        </p:nvSpPr>
        <p:spPr>
          <a:xfrm>
            <a:off x="457200" y="6492240"/>
            <a:ext cx="9326880" cy="102977"/>
          </a:xfrm>
          <a:prstGeom prst="rect">
            <a:avLst/>
          </a:prstGeom>
          <a:noFill/>
        </p:spPr>
        <p:txBody>
          <a:bodyPr wrap="square" lIns="0" tIns="0" rIns="0" bIns="0">
            <a:spAutoFit/>
          </a:bodyPr>
          <a:lstStyle/>
          <a:p>
            <a:pPr>
              <a:lnSpc>
                <a:spcPts val="900"/>
              </a:lnSpc>
              <a:spcBef>
                <a:spcPts val="0"/>
              </a:spcBef>
              <a:spcAft>
                <a:spcPts val="0"/>
              </a:spcAft>
              <a:buNone/>
              <a:defRPr sz="600" b="0">
                <a:solidFill>
                  <a:srgbClr val="000000"/>
                </a:solidFill>
                <a:latin typeface="Lato"/>
                <a:ea typeface="Lato"/>
                <a:cs typeface="Lato"/>
              </a:defRPr>
            </a:pPr>
            <a:r>
              <a:rPr lang="en-GB" sz="600"/>
              <a:t>Analytical workbook v02; SARS 2025; district sales 2022 grown to 2025; Transnet Pipelines FY2025. Production is estimated from operators’ reports; capture is illustrative. Shared Durban–Lesedi fuel is counted once. Historical catchments retain their stated years.</a:t>
            </a:r>
            <a:endParaRPr sz="600"/>
          </a:p>
        </p:txBody>
      </p:sp>
      <p:sp>
        <p:nvSpPr>
          <p:cNvPr id="48" name="Strictly Confidential footer">
            <a:extLst>
              <a:ext uri="{FF2B5EF4-FFF2-40B4-BE49-F238E27FC236}">
                <a16:creationId xmlns:a16="http://schemas.microsoft.com/office/drawing/2014/main" id="{6C61FD50-75B5-4875-BAFA-6D41D2E7A1FD}"/>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 name="Demand panel">
            <a:extLst>
              <a:ext uri="{FF2B5EF4-FFF2-40B4-BE49-F238E27FC236}">
                <a16:creationId xmlns:a16="http://schemas.microsoft.com/office/drawing/2014/main" id="{13D7FB2A-425B-4C88-DAC4-6B5E0F4F15E9}"/>
              </a:ext>
            </a:extLst>
          </p:cNvPr>
          <p:cNvSpPr>
            <a:spLocks noGrp="1"/>
          </p:cNvSpPr>
          <p:nvPr/>
        </p:nvSpPr>
        <p:spPr>
          <a:xfrm>
            <a:off x="355600" y="1549400"/>
            <a:ext cx="21082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Supply panel">
            <a:extLst>
              <a:ext uri="{FF2B5EF4-FFF2-40B4-BE49-F238E27FC236}">
                <a16:creationId xmlns:a16="http://schemas.microsoft.com/office/drawing/2014/main" id="{EDF9E6D9-DC05-D64B-93EE-3112FC8385C1}"/>
              </a:ext>
            </a:extLst>
          </p:cNvPr>
          <p:cNvSpPr>
            <a:spLocks noGrp="1"/>
          </p:cNvSpPr>
          <p:nvPr/>
        </p:nvSpPr>
        <p:spPr>
          <a:xfrm>
            <a:off x="2565400" y="1549400"/>
            <a:ext cx="34036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Opportunity panel">
            <a:extLst>
              <a:ext uri="{FF2B5EF4-FFF2-40B4-BE49-F238E27FC236}">
                <a16:creationId xmlns:a16="http://schemas.microsoft.com/office/drawing/2014/main" id="{41E361D9-0C89-9050-52FE-9860D18566DF}"/>
              </a:ext>
            </a:extLst>
          </p:cNvPr>
          <p:cNvSpPr>
            <a:spLocks noGrp="1"/>
          </p:cNvSpPr>
          <p:nvPr/>
        </p:nvSpPr>
        <p:spPr>
          <a:xfrm>
            <a:off x="6070600" y="1549400"/>
            <a:ext cx="30607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Investment panel">
            <a:extLst>
              <a:ext uri="{FF2B5EF4-FFF2-40B4-BE49-F238E27FC236}">
                <a16:creationId xmlns:a16="http://schemas.microsoft.com/office/drawing/2014/main" id="{7EB7908E-9958-408F-3537-2A89642FDC6D}"/>
              </a:ext>
            </a:extLst>
          </p:cNvPr>
          <p:cNvSpPr>
            <a:spLocks noGrp="1"/>
          </p:cNvSpPr>
          <p:nvPr/>
        </p:nvSpPr>
        <p:spPr>
          <a:xfrm>
            <a:off x="9232900" y="1549400"/>
            <a:ext cx="19812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Demand heading">
            <a:extLst>
              <a:ext uri="{FF2B5EF4-FFF2-40B4-BE49-F238E27FC236}">
                <a16:creationId xmlns:a16="http://schemas.microsoft.com/office/drawing/2014/main" id="{5E10CFA9-C012-27D2-B26F-FF5D806DD0C9}"/>
              </a:ext>
            </a:extLst>
          </p:cNvPr>
          <p:cNvSpPr>
            <a:spLocks noGrp="1"/>
          </p:cNvSpPr>
          <p:nvPr/>
        </p:nvSpPr>
        <p:spPr>
          <a:xfrm>
            <a:off x="457200" y="1638300"/>
            <a:ext cx="19050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1  NATIONAL DEMAND</a:t>
            </a:r>
          </a:p>
        </p:txBody>
      </p:sp>
      <p:sp>
        <p:nvSpPr>
          <p:cNvPr id="14" name="System heading">
            <a:extLst>
              <a:ext uri="{FF2B5EF4-FFF2-40B4-BE49-F238E27FC236}">
                <a16:creationId xmlns:a16="http://schemas.microsoft.com/office/drawing/2014/main" id="{D1B803F8-148F-F52B-6733-F8C59DCFA18E}"/>
              </a:ext>
            </a:extLst>
          </p:cNvPr>
          <p:cNvSpPr>
            <a:spLocks noGrp="1"/>
          </p:cNvSpPr>
          <p:nvPr/>
        </p:nvSpPr>
        <p:spPr>
          <a:xfrm>
            <a:off x="2667000" y="1638300"/>
            <a:ext cx="32004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2  SUPPLY AND DELIVERY</a:t>
            </a:r>
          </a:p>
        </p:txBody>
      </p:sp>
      <p:sp>
        <p:nvSpPr>
          <p:cNvPr id="15" name="Terminal heading">
            <a:extLst>
              <a:ext uri="{FF2B5EF4-FFF2-40B4-BE49-F238E27FC236}">
                <a16:creationId xmlns:a16="http://schemas.microsoft.com/office/drawing/2014/main" id="{EA11C542-C5C8-C25B-C917-5395829365FA}"/>
              </a:ext>
            </a:extLst>
          </p:cNvPr>
          <p:cNvSpPr>
            <a:spLocks noGrp="1"/>
          </p:cNvSpPr>
          <p:nvPr/>
        </p:nvSpPr>
        <p:spPr>
          <a:xfrm>
            <a:off x="6172200" y="1638300"/>
            <a:ext cx="28575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3  VOPAK OPPORTUNITY</a:t>
            </a:r>
          </a:p>
        </p:txBody>
      </p:sp>
      <p:sp>
        <p:nvSpPr>
          <p:cNvPr id="16" name="Investment heading">
            <a:extLst>
              <a:ext uri="{FF2B5EF4-FFF2-40B4-BE49-F238E27FC236}">
                <a16:creationId xmlns:a16="http://schemas.microsoft.com/office/drawing/2014/main" id="{788AB381-C5D3-5D15-F133-8717DE0477FB}"/>
              </a:ext>
            </a:extLst>
          </p:cNvPr>
          <p:cNvSpPr>
            <a:spLocks noGrp="1"/>
          </p:cNvSpPr>
          <p:nvPr/>
        </p:nvSpPr>
        <p:spPr>
          <a:xfrm>
            <a:off x="9334500" y="1638300"/>
            <a:ext cx="17780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4  INVESTMENT</a:t>
            </a:r>
          </a:p>
        </p:txBody>
      </p:sp>
      <p:cxnSp>
        <p:nvCxnSpPr>
          <p:cNvPr id="108" name="Column heading rule"/>
          <p:cNvCxnSpPr/>
          <p:nvPr/>
        </p:nvCxnSpPr>
        <p:spPr>
          <a:xfrm>
            <a:off x="457200" y="1917700"/>
            <a:ext cx="1905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09" name="Column heading rule"/>
          <p:cNvCxnSpPr/>
          <p:nvPr/>
        </p:nvCxnSpPr>
        <p:spPr>
          <a:xfrm>
            <a:off x="2667000" y="1917700"/>
            <a:ext cx="32004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10" name="Column heading rule"/>
          <p:cNvCxnSpPr/>
          <p:nvPr/>
        </p:nvCxnSpPr>
        <p:spPr>
          <a:xfrm>
            <a:off x="6172200" y="1917700"/>
            <a:ext cx="2857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11" name="Column heading rule"/>
          <p:cNvCxnSpPr/>
          <p:nvPr/>
        </p:nvCxnSpPr>
        <p:spPr>
          <a:xfrm>
            <a:off x="9334500" y="1917700"/>
            <a:ext cx="1778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21" name="National market">
            <a:extLst>
              <a:ext uri="{FF2B5EF4-FFF2-40B4-BE49-F238E27FC236}">
                <a16:creationId xmlns:a16="http://schemas.microsoft.com/office/drawing/2014/main" id="{1F4039F1-5645-86DE-916D-FF2ABE7750B0}"/>
              </a:ext>
            </a:extLst>
          </p:cNvPr>
          <p:cNvSpPr>
            <a:spLocks noGrp="1"/>
          </p:cNvSpPr>
          <p:nvPr/>
        </p:nvSpPr>
        <p:spPr>
          <a:xfrm>
            <a:off x="457200" y="20066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fr-FR" sz="1050" b="1">
                <a:solidFill>
                  <a:schemeClr val="accent1"/>
                </a:solidFill>
                <a:latin typeface="Lato"/>
                <a:ea typeface="Lato"/>
                <a:cs typeface="Lato"/>
              </a:rPr>
              <a:t>National consumption
2025 estimate
25.4bn litres</a:t>
            </a:r>
            <a:endParaRPr sz="1050">
              <a:solidFill>
                <a:schemeClr val="dk1"/>
              </a:solidFill>
              <a:latin typeface="Lato"/>
              <a:ea typeface="Lato"/>
              <a:cs typeface="Lato"/>
            </a:endParaRPr>
          </a:p>
        </p:txBody>
      </p:sp>
      <p:sp>
        <p:nvSpPr>
          <p:cNvPr id="22" name="Product demand">
            <a:extLst>
              <a:ext uri="{FF2B5EF4-FFF2-40B4-BE49-F238E27FC236}">
                <a16:creationId xmlns:a16="http://schemas.microsoft.com/office/drawing/2014/main" id="{FC0C19CA-8D25-70AE-0BD5-852428AD766E}"/>
              </a:ext>
            </a:extLst>
          </p:cNvPr>
          <p:cNvSpPr>
            <a:spLocks noGrp="1"/>
          </p:cNvSpPr>
          <p:nvPr/>
        </p:nvSpPr>
        <p:spPr>
          <a:xfrm>
            <a:off x="457200" y="30734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Demand by product
Petrol 9.3bn L
Diesel 16.1bn L</a:t>
            </a:r>
            <a:endParaRPr sz="1050">
              <a:solidFill>
                <a:schemeClr val="dk1"/>
              </a:solidFill>
              <a:latin typeface="Lato"/>
              <a:ea typeface="Lato"/>
              <a:cs typeface="Lato"/>
            </a:endParaRPr>
          </a:p>
        </p:txBody>
      </p:sp>
      <p:sp>
        <p:nvSpPr>
          <p:cNvPr id="23" name="Sector demand">
            <a:extLst>
              <a:ext uri="{FF2B5EF4-FFF2-40B4-BE49-F238E27FC236}">
                <a16:creationId xmlns:a16="http://schemas.microsoft.com/office/drawing/2014/main" id="{0F861E75-7AA1-B3FD-4B6B-FE7B0ECE42C9}"/>
              </a:ext>
            </a:extLst>
          </p:cNvPr>
          <p:cNvSpPr>
            <a:spLocks noGrp="1"/>
          </p:cNvSpPr>
          <p:nvPr/>
        </p:nvSpPr>
        <p:spPr>
          <a:xfrm>
            <a:off x="457200" y="41402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Demand by use
Road, mining, agriculture
Manufacturing and power</a:t>
            </a:r>
            <a:endParaRPr sz="1050">
              <a:solidFill>
                <a:schemeClr val="dk1"/>
              </a:solidFill>
              <a:latin typeface="Lato"/>
              <a:ea typeface="Lato"/>
              <a:cs typeface="Lato"/>
            </a:endParaRPr>
          </a:p>
        </p:txBody>
      </p:sp>
      <p:sp>
        <p:nvSpPr>
          <p:cNvPr id="24" name="Demand parameters">
            <a:extLst>
              <a:ext uri="{FF2B5EF4-FFF2-40B4-BE49-F238E27FC236}">
                <a16:creationId xmlns:a16="http://schemas.microsoft.com/office/drawing/2014/main" id="{79B1AEA4-0900-4A1F-2A44-2F05809E06FC}"/>
              </a:ext>
            </a:extLst>
          </p:cNvPr>
          <p:cNvSpPr>
            <a:spLocks noGrp="1"/>
          </p:cNvSpPr>
          <p:nvPr/>
        </p:nvSpPr>
        <p:spPr>
          <a:xfrm>
            <a:off x="457200" y="52070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Demand parameters</a:t>
            </a:r>
          </a:p>
          <a:p>
            <a:pPr>
              <a:spcAft>
                <a:spcPts val="200"/>
              </a:spcAft>
              <a:buNone/>
            </a:pPr>
            <a:r>
              <a:rPr sz="1050">
                <a:solidFill>
                  <a:schemeClr val="dk1"/>
                </a:solidFill>
                <a:latin typeface="Lato"/>
                <a:ea typeface="Lato"/>
                <a:cs typeface="Lato"/>
              </a:rPr>
              <a:t>GDP and sectors</a:t>
            </a:r>
          </a:p>
          <a:p>
            <a:pPr>
              <a:spcAft>
                <a:spcPts val="200"/>
              </a:spcAft>
              <a:buNone/>
            </a:pPr>
            <a:r>
              <a:rPr sz="1050">
                <a:solidFill>
                  <a:schemeClr val="dk1"/>
                </a:solidFill>
                <a:latin typeface="Lato"/>
                <a:ea typeface="Lato"/>
                <a:cs typeface="Lato"/>
              </a:rPr>
              <a:t>EVs, fleet, efficiency</a:t>
            </a:r>
          </a:p>
          <a:p>
            <a:pPr>
              <a:spcAft>
                <a:spcPts val="200"/>
              </a:spcAft>
              <a:buNone/>
            </a:pPr>
            <a:r>
              <a:rPr sz="1050">
                <a:solidFill>
                  <a:schemeClr val="dk1"/>
                </a:solidFill>
                <a:latin typeface="Lato"/>
                <a:ea typeface="Lato"/>
                <a:cs typeface="Lato"/>
              </a:rPr>
              <a:t>Freight, prices, power</a:t>
            </a:r>
          </a:p>
        </p:txBody>
      </p:sp>
      <p:sp>
        <p:nvSpPr>
          <p:cNvPr id="25" name="Imports">
            <a:extLst>
              <a:ext uri="{FF2B5EF4-FFF2-40B4-BE49-F238E27FC236}">
                <a16:creationId xmlns:a16="http://schemas.microsoft.com/office/drawing/2014/main" id="{724C6B42-EF01-8CC4-3352-533547797903}"/>
              </a:ext>
            </a:extLst>
          </p:cNvPr>
          <p:cNvSpPr>
            <a:spLocks noGrp="1"/>
          </p:cNvSpPr>
          <p:nvPr/>
        </p:nvSpPr>
        <p:spPr>
          <a:xfrm>
            <a:off x="2667000" y="20066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Gross imports, 2025</a:t>
            </a:r>
          </a:p>
          <a:p>
            <a:pPr>
              <a:spcAft>
                <a:spcPts val="200"/>
              </a:spcAft>
              <a:buNone/>
            </a:pPr>
            <a:r>
              <a:rPr sz="1050">
                <a:solidFill>
                  <a:schemeClr val="dk1"/>
                </a:solidFill>
                <a:latin typeface="Lato"/>
                <a:ea typeface="Lato"/>
                <a:cs typeface="Lato"/>
              </a:rPr>
              <a:t>Petrol 4.45B L</a:t>
            </a:r>
          </a:p>
          <a:p>
            <a:pPr>
              <a:spcAft>
                <a:spcPts val="200"/>
              </a:spcAft>
              <a:buNone/>
            </a:pPr>
            <a:r>
              <a:rPr sz="1050">
                <a:solidFill>
                  <a:schemeClr val="dk1"/>
                </a:solidFill>
                <a:latin typeface="Lato"/>
                <a:ea typeface="Lato"/>
                <a:cs typeface="Lato"/>
              </a:rPr>
              <a:t>Diesel 12.25B L</a:t>
            </a:r>
          </a:p>
        </p:txBody>
      </p:sp>
      <p:sp>
        <p:nvSpPr>
          <p:cNvPr id="26" name="Production">
            <a:extLst>
              <a:ext uri="{FF2B5EF4-FFF2-40B4-BE49-F238E27FC236}">
                <a16:creationId xmlns:a16="http://schemas.microsoft.com/office/drawing/2014/main" id="{0F3927D4-99CC-B20A-F042-9B8286A9C86F}"/>
              </a:ext>
            </a:extLst>
          </p:cNvPr>
          <p:cNvSpPr>
            <a:spLocks noGrp="1"/>
          </p:cNvSpPr>
          <p:nvPr/>
        </p:nvSpPr>
        <p:spPr>
          <a:xfrm>
            <a:off x="4343400" y="20066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Domestic production
10.2bn L in 2025
Operators’ reports</a:t>
            </a:r>
            <a:endParaRPr sz="1050">
              <a:solidFill>
                <a:schemeClr val="dk1"/>
              </a:solidFill>
              <a:latin typeface="Lato"/>
              <a:ea typeface="Lato"/>
              <a:cs typeface="Lato"/>
            </a:endParaRPr>
          </a:p>
        </p:txBody>
      </p:sp>
      <p:sp>
        <p:nvSpPr>
          <p:cNvPr id="27" name="Ports">
            <a:extLst>
              <a:ext uri="{FF2B5EF4-FFF2-40B4-BE49-F238E27FC236}">
                <a16:creationId xmlns:a16="http://schemas.microsoft.com/office/drawing/2014/main" id="{2B5A0F96-8E3F-071A-F8DA-79BFBC4EB29F}"/>
              </a:ext>
            </a:extLst>
          </p:cNvPr>
          <p:cNvSpPr>
            <a:spLocks noGrp="1"/>
          </p:cNvSpPr>
          <p:nvPr/>
        </p:nvSpPr>
        <p:spPr>
          <a:xfrm>
            <a:off x="2667000" y="30734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Ports and alternatives
Durban, Matola
Assess Walvis Bay</a:t>
            </a:r>
            <a:endParaRPr sz="1050">
              <a:solidFill>
                <a:schemeClr val="dk1"/>
              </a:solidFill>
              <a:latin typeface="Lato"/>
              <a:ea typeface="Lato"/>
              <a:cs typeface="Lato"/>
            </a:endParaRPr>
          </a:p>
        </p:txBody>
      </p:sp>
      <p:sp>
        <p:nvSpPr>
          <p:cNvPr id="28" name="Inland">
            <a:extLst>
              <a:ext uri="{FF2B5EF4-FFF2-40B4-BE49-F238E27FC236}">
                <a16:creationId xmlns:a16="http://schemas.microsoft.com/office/drawing/2014/main" id="{6DE5F7CC-0E48-CEF6-8887-230FDB8586C9}"/>
              </a:ext>
            </a:extLst>
          </p:cNvPr>
          <p:cNvSpPr>
            <a:spLocks noGrp="1"/>
          </p:cNvSpPr>
          <p:nvPr/>
        </p:nvSpPr>
        <p:spPr>
          <a:xfrm>
            <a:off x="4343400" y="30734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Inland delivery</a:t>
            </a:r>
          </a:p>
          <a:p>
            <a:pPr>
              <a:spcAft>
                <a:spcPts val="200"/>
              </a:spcAft>
              <a:buNone/>
            </a:pPr>
            <a:r>
              <a:rPr sz="1050">
                <a:solidFill>
                  <a:schemeClr val="dk1"/>
                </a:solidFill>
                <a:latin typeface="Lato"/>
                <a:ea typeface="Lato"/>
                <a:cs typeface="Lato"/>
              </a:rPr>
              <a:t>NMPP trunk line</a:t>
            </a:r>
          </a:p>
          <a:p>
            <a:pPr>
              <a:spcAft>
                <a:spcPts val="200"/>
              </a:spcAft>
              <a:buNone/>
            </a:pPr>
            <a:r>
              <a:rPr sz="1050">
                <a:solidFill>
                  <a:schemeClr val="dk1"/>
                </a:solidFill>
                <a:latin typeface="Lato"/>
                <a:ea typeface="Lato"/>
                <a:cs typeface="Lato"/>
              </a:rPr>
              <a:t>Road and rail</a:t>
            </a:r>
          </a:p>
        </p:txBody>
      </p:sp>
      <p:sp>
        <p:nvSpPr>
          <p:cNvPr id="29" name="Coastal demand">
            <a:extLst>
              <a:ext uri="{FF2B5EF4-FFF2-40B4-BE49-F238E27FC236}">
                <a16:creationId xmlns:a16="http://schemas.microsoft.com/office/drawing/2014/main" id="{57507AA1-D9BB-C5C3-2D0D-F57B42E1B24B}"/>
              </a:ext>
            </a:extLst>
          </p:cNvPr>
          <p:cNvSpPr>
            <a:spLocks noGrp="1"/>
          </p:cNvSpPr>
          <p:nvPr/>
        </p:nvSpPr>
        <p:spPr>
          <a:xfrm>
            <a:off x="2667000" y="41402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Coastal demand</a:t>
            </a:r>
          </a:p>
          <a:p>
            <a:pPr>
              <a:spcAft>
                <a:spcPts val="200"/>
              </a:spcAft>
              <a:buNone/>
            </a:pPr>
            <a:r>
              <a:rPr sz="1050">
                <a:solidFill>
                  <a:schemeClr val="dk1"/>
                </a:solidFill>
                <a:latin typeface="Lato"/>
                <a:ea typeface="Lato"/>
                <a:cs typeface="Lato"/>
              </a:rPr>
              <a:t>KZN, WC, EC</a:t>
            </a:r>
          </a:p>
          <a:p>
            <a:pPr>
              <a:spcAft>
                <a:spcPts val="200"/>
              </a:spcAft>
              <a:buNone/>
            </a:pPr>
            <a:r>
              <a:rPr sz="1050">
                <a:solidFill>
                  <a:schemeClr val="dk1"/>
                </a:solidFill>
                <a:latin typeface="Lato"/>
                <a:ea typeface="Lato"/>
                <a:cs typeface="Lato"/>
              </a:rPr>
              <a:t>Port-adjacent markets</a:t>
            </a:r>
          </a:p>
        </p:txBody>
      </p:sp>
      <p:sp>
        <p:nvSpPr>
          <p:cNvPr id="30" name="Inland demand">
            <a:extLst>
              <a:ext uri="{FF2B5EF4-FFF2-40B4-BE49-F238E27FC236}">
                <a16:creationId xmlns:a16="http://schemas.microsoft.com/office/drawing/2014/main" id="{17D23A6F-391A-B4D0-0390-170FB56988A5}"/>
              </a:ext>
            </a:extLst>
          </p:cNvPr>
          <p:cNvSpPr>
            <a:spLocks noGrp="1"/>
          </p:cNvSpPr>
          <p:nvPr/>
        </p:nvSpPr>
        <p:spPr>
          <a:xfrm>
            <a:off x="4343400" y="41402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Inland demand</a:t>
            </a:r>
          </a:p>
          <a:p>
            <a:pPr>
              <a:spcAft>
                <a:spcPts val="200"/>
              </a:spcAft>
              <a:buNone/>
            </a:pPr>
            <a:r>
              <a:rPr sz="1050">
                <a:solidFill>
                  <a:schemeClr val="dk1"/>
                </a:solidFill>
                <a:latin typeface="Lato"/>
                <a:ea typeface="Lato"/>
                <a:cs typeface="Lato"/>
              </a:rPr>
              <a:t>Gauteng and interior</a:t>
            </a:r>
          </a:p>
          <a:p>
            <a:pPr>
              <a:spcAft>
                <a:spcPts val="200"/>
              </a:spcAft>
              <a:buNone/>
            </a:pPr>
            <a:r>
              <a:rPr sz="1050">
                <a:solidFill>
                  <a:schemeClr val="dk1"/>
                </a:solidFill>
                <a:latin typeface="Lato"/>
                <a:ea typeface="Lato"/>
                <a:cs typeface="Lato"/>
              </a:rPr>
              <a:t>Six inland provinces</a:t>
            </a:r>
          </a:p>
        </p:txBody>
      </p:sp>
      <p:sp>
        <p:nvSpPr>
          <p:cNvPr id="31" name="Supply and route parameters">
            <a:extLst>
              <a:ext uri="{FF2B5EF4-FFF2-40B4-BE49-F238E27FC236}">
                <a16:creationId xmlns:a16="http://schemas.microsoft.com/office/drawing/2014/main" id="{2AB4CDEB-D76D-6E84-27BA-C508DCB5FD97}"/>
              </a:ext>
            </a:extLst>
          </p:cNvPr>
          <p:cNvSpPr>
            <a:spLocks noGrp="1"/>
          </p:cNvSpPr>
          <p:nvPr/>
        </p:nvSpPr>
        <p:spPr>
          <a:xfrm>
            <a:off x="2667000" y="5207000"/>
            <a:ext cx="32004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Supply and route parameters</a:t>
            </a:r>
          </a:p>
          <a:p>
            <a:pPr>
              <a:spcAft>
                <a:spcPts val="200"/>
              </a:spcAft>
              <a:buNone/>
            </a:pPr>
            <a:r>
              <a:rPr sz="1050">
                <a:solidFill>
                  <a:schemeClr val="dk1"/>
                </a:solidFill>
                <a:latin typeface="Lato"/>
                <a:ea typeface="Lato"/>
                <a:cs typeface="Lato"/>
              </a:rPr>
              <a:t>Refinery closures, restarts, gas</a:t>
            </a:r>
          </a:p>
          <a:p>
            <a:pPr>
              <a:spcAft>
                <a:spcPts val="200"/>
              </a:spcAft>
              <a:buNone/>
            </a:pPr>
            <a:r>
              <a:rPr sz="1050">
                <a:solidFill>
                  <a:schemeClr val="dk1"/>
                </a:solidFill>
                <a:latin typeface="Lato"/>
                <a:ea typeface="Lato"/>
                <a:cs typeface="Lato"/>
              </a:rPr>
              <a:t>Delivered cost, routes, contracts</a:t>
            </a:r>
          </a:p>
          <a:p>
            <a:pPr>
              <a:spcAft>
                <a:spcPts val="200"/>
              </a:spcAft>
              <a:buNone/>
            </a:pPr>
            <a:r>
              <a:rPr sz="1050">
                <a:solidFill>
                  <a:schemeClr val="dk1"/>
                </a:solidFill>
                <a:latin typeface="Lato"/>
                <a:ea typeface="Lato"/>
                <a:cs typeface="Lato"/>
              </a:rPr>
              <a:t>Port, pipeline, rail capacity</a:t>
            </a:r>
          </a:p>
        </p:txBody>
      </p:sp>
      <p:sp>
        <p:nvSpPr>
          <p:cNvPr id="32" name="Market sizing">
            <a:extLst>
              <a:ext uri="{FF2B5EF4-FFF2-40B4-BE49-F238E27FC236}">
                <a16:creationId xmlns:a16="http://schemas.microsoft.com/office/drawing/2014/main" id="{91CBF5AA-AFA2-4C43-CD42-91247C5EBFB1}"/>
              </a:ext>
            </a:extLst>
          </p:cNvPr>
          <p:cNvSpPr>
            <a:spLocks noGrp="1"/>
          </p:cNvSpPr>
          <p:nvPr/>
        </p:nvSpPr>
        <p:spPr>
          <a:xfrm>
            <a:off x="6172200" y="2006600"/>
            <a:ext cx="28575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Market context</a:t>
            </a:r>
          </a:p>
          <a:p>
            <a:pPr>
              <a:spcAft>
                <a:spcPts val="200"/>
              </a:spcAft>
              <a:buNone/>
            </a:pPr>
            <a:r>
              <a:rPr sz="1050">
                <a:solidFill>
                  <a:schemeClr val="dk1"/>
                </a:solidFill>
                <a:latin typeface="Lato"/>
                <a:ea typeface="Lato"/>
                <a:cs typeface="Lato"/>
              </a:rPr>
              <a:t>2025 Durban customs 13.16B L</a:t>
            </a:r>
          </a:p>
          <a:p>
            <a:pPr>
              <a:spcAft>
                <a:spcPts val="200"/>
              </a:spcAft>
              <a:buNone/>
            </a:pPr>
            <a:r>
              <a:rPr sz="1050">
                <a:solidFill>
                  <a:schemeClr val="dk1"/>
                </a:solidFill>
                <a:latin typeface="Lato"/>
                <a:ea typeface="Lato"/>
                <a:cs typeface="Lato"/>
              </a:rPr>
              <a:t>Catchments and gateway overlap</a:t>
            </a:r>
          </a:p>
        </p:txBody>
      </p:sp>
      <p:sp>
        <p:nvSpPr>
          <p:cNvPr id="33" name="Durban opportunity">
            <a:extLst>
              <a:ext uri="{FF2B5EF4-FFF2-40B4-BE49-F238E27FC236}">
                <a16:creationId xmlns:a16="http://schemas.microsoft.com/office/drawing/2014/main" id="{AD85D3EA-9660-11AF-4D62-53DF642A83A9}"/>
              </a:ext>
            </a:extLst>
          </p:cNvPr>
          <p:cNvSpPr>
            <a:spLocks noGrp="1"/>
          </p:cNvSpPr>
          <p:nvPr/>
        </p:nvSpPr>
        <p:spPr>
          <a:xfrm>
            <a:off x="6172200" y="3073400"/>
            <a:ext cx="13716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Durban context</a:t>
            </a:r>
          </a:p>
          <a:p>
            <a:pPr>
              <a:spcAft>
                <a:spcPts val="200"/>
              </a:spcAft>
              <a:buNone/>
            </a:pPr>
            <a:r>
              <a:rPr sz="1050">
                <a:solidFill>
                  <a:schemeClr val="dk1"/>
                </a:solidFill>
                <a:latin typeface="Lato"/>
                <a:ea typeface="Lato"/>
                <a:cs typeface="Lato"/>
              </a:rPr>
              <a:t>Imports 13.16B L</a:t>
            </a:r>
          </a:p>
          <a:p>
            <a:pPr>
              <a:spcAft>
                <a:spcPts val="200"/>
              </a:spcAft>
              <a:buNone/>
            </a:pPr>
            <a:r>
              <a:rPr lang="en-ZA" sz="1050">
                <a:solidFill>
                  <a:schemeClr val="dk1"/>
                </a:solidFill>
                <a:latin typeface="Lato"/>
                <a:ea typeface="Lato"/>
                <a:cs typeface="Lato"/>
              </a:rPr>
              <a:t>KZN need 5.04B L</a:t>
            </a:r>
            <a:endParaRPr sz="1050">
              <a:solidFill>
                <a:schemeClr val="dk1"/>
              </a:solidFill>
              <a:latin typeface="Lato"/>
              <a:ea typeface="Lato"/>
              <a:cs typeface="Lato"/>
            </a:endParaRPr>
          </a:p>
        </p:txBody>
      </p:sp>
      <p:sp>
        <p:nvSpPr>
          <p:cNvPr id="34" name="Lesedi opportunity">
            <a:extLst>
              <a:ext uri="{FF2B5EF4-FFF2-40B4-BE49-F238E27FC236}">
                <a16:creationId xmlns:a16="http://schemas.microsoft.com/office/drawing/2014/main" id="{63890191-72E5-0DCF-2859-0532EF4E4C33}"/>
              </a:ext>
            </a:extLst>
          </p:cNvPr>
          <p:cNvSpPr>
            <a:spLocks noGrp="1"/>
          </p:cNvSpPr>
          <p:nvPr/>
        </p:nvSpPr>
        <p:spPr>
          <a:xfrm>
            <a:off x="7658100" y="3073400"/>
            <a:ext cx="13716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Lesedi catchments</a:t>
            </a:r>
          </a:p>
          <a:p>
            <a:pPr>
              <a:spcAft>
                <a:spcPts val="200"/>
              </a:spcAft>
              <a:buNone/>
            </a:pPr>
            <a:r>
              <a:rPr lang="en-ZA" sz="1050">
                <a:solidFill>
                  <a:schemeClr val="dk1"/>
                </a:solidFill>
                <a:latin typeface="Lato"/>
                <a:ea typeface="Lato"/>
                <a:cs typeface="Lato"/>
              </a:rPr>
              <a:t>Inland 13.13B L</a:t>
            </a:r>
            <a:endParaRPr sz="1050">
              <a:solidFill>
                <a:schemeClr val="dk1"/>
              </a:solidFill>
              <a:latin typeface="Lato"/>
              <a:ea typeface="Lato"/>
              <a:cs typeface="Lato"/>
            </a:endParaRPr>
          </a:p>
          <a:p>
            <a:pPr>
              <a:spcAft>
                <a:spcPts val="200"/>
              </a:spcAft>
              <a:buNone/>
            </a:pPr>
            <a:r>
              <a:rPr lang="en-ZA" sz="1050">
                <a:solidFill>
                  <a:schemeClr val="dk1"/>
                </a:solidFill>
                <a:latin typeface="Lato"/>
                <a:ea typeface="Lato"/>
                <a:cs typeface="Lato"/>
              </a:rPr>
              <a:t>Net need 6.81B L</a:t>
            </a:r>
            <a:endParaRPr sz="1050">
              <a:solidFill>
                <a:schemeClr val="dk1"/>
              </a:solidFill>
              <a:latin typeface="Lato"/>
              <a:ea typeface="Lato"/>
              <a:cs typeface="Lato"/>
            </a:endParaRPr>
          </a:p>
        </p:txBody>
      </p:sp>
      <p:sp>
        <p:nvSpPr>
          <p:cNvPr id="35" name="Share">
            <a:extLst>
              <a:ext uri="{FF2B5EF4-FFF2-40B4-BE49-F238E27FC236}">
                <a16:creationId xmlns:a16="http://schemas.microsoft.com/office/drawing/2014/main" id="{824CBCA9-E304-3B46-C99C-02F33E9F9976}"/>
              </a:ext>
            </a:extLst>
          </p:cNvPr>
          <p:cNvSpPr>
            <a:spLocks noGrp="1"/>
          </p:cNvSpPr>
          <p:nvPr/>
        </p:nvSpPr>
        <p:spPr>
          <a:xfrm>
            <a:off x="6172200" y="4140200"/>
            <a:ext cx="28575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Conditional base capture</a:t>
            </a:r>
          </a:p>
          <a:p>
            <a:pPr>
              <a:spcAft>
                <a:spcPts val="200"/>
              </a:spcAft>
              <a:buNone/>
            </a:pPr>
            <a:r>
              <a:rPr lang="en-ZA" sz="1050">
                <a:solidFill>
                  <a:schemeClr val="dk1"/>
                </a:solidFill>
                <a:latin typeface="Lato"/>
                <a:ea typeface="Lato"/>
                <a:cs typeface="Lato"/>
              </a:rPr>
              <a:t>Total 2.37B L: Durban 1.01, Lesedi 1.36</a:t>
            </a:r>
            <a:endParaRPr sz="1050">
              <a:solidFill>
                <a:schemeClr val="dk1"/>
              </a:solidFill>
              <a:latin typeface="Lato"/>
              <a:ea typeface="Lato"/>
              <a:cs typeface="Lato"/>
            </a:endParaRPr>
          </a:p>
          <a:p>
            <a:pPr>
              <a:spcAft>
                <a:spcPts val="200"/>
              </a:spcAft>
              <a:buNone/>
            </a:pPr>
            <a:r>
              <a:rPr lang="en-ZA" sz="1050">
                <a:solidFill>
                  <a:schemeClr val="dk1"/>
                </a:solidFill>
                <a:latin typeface="Lato"/>
                <a:ea typeface="Lato"/>
                <a:cs typeface="Lato"/>
              </a:rPr>
              <a:t>20% of import requirement</a:t>
            </a:r>
            <a:endParaRPr sz="1050">
              <a:solidFill>
                <a:schemeClr val="dk1"/>
              </a:solidFill>
              <a:latin typeface="Lato"/>
              <a:ea typeface="Lato"/>
              <a:cs typeface="Lato"/>
            </a:endParaRPr>
          </a:p>
        </p:txBody>
      </p:sp>
      <p:sp>
        <p:nvSpPr>
          <p:cNvPr id="36" name="Headroom">
            <a:extLst>
              <a:ext uri="{FF2B5EF4-FFF2-40B4-BE49-F238E27FC236}">
                <a16:creationId xmlns:a16="http://schemas.microsoft.com/office/drawing/2014/main" id="{05E0AD0B-A792-4BDD-1EB7-B01AECA4226C}"/>
              </a:ext>
            </a:extLst>
          </p:cNvPr>
          <p:cNvSpPr>
            <a:spLocks noGrp="1"/>
          </p:cNvSpPr>
          <p:nvPr/>
        </p:nvSpPr>
        <p:spPr>
          <a:xfrm>
            <a:off x="6172200" y="5207000"/>
            <a:ext cx="28575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Incremental opportunity</a:t>
            </a:r>
          </a:p>
          <a:p>
            <a:pPr>
              <a:spcAft>
                <a:spcPts val="200"/>
              </a:spcAft>
              <a:buNone/>
            </a:pPr>
            <a:r>
              <a:rPr sz="1050">
                <a:solidFill>
                  <a:schemeClr val="dk1"/>
                </a:solidFill>
                <a:latin typeface="Lato"/>
                <a:ea typeface="Lato"/>
                <a:cs typeface="Lato"/>
              </a:rPr>
              <a:t>Needs existing throughput baseline</a:t>
            </a:r>
          </a:p>
          <a:p>
            <a:pPr>
              <a:spcAft>
                <a:spcPts val="200"/>
              </a:spcAft>
              <a:buNone/>
            </a:pPr>
            <a:r>
              <a:rPr sz="1050">
                <a:solidFill>
                  <a:schemeClr val="dk1"/>
                </a:solidFill>
                <a:latin typeface="Lato"/>
                <a:ea typeface="Lato"/>
                <a:cs typeface="Lato"/>
              </a:rPr>
              <a:t>Access and commitments unverified</a:t>
            </a:r>
          </a:p>
        </p:txBody>
      </p:sp>
      <p:sp>
        <p:nvSpPr>
          <p:cNvPr id="37" name="Additional capture">
            <a:extLst>
              <a:ext uri="{FF2B5EF4-FFF2-40B4-BE49-F238E27FC236}">
                <a16:creationId xmlns:a16="http://schemas.microsoft.com/office/drawing/2014/main" id="{6E600B91-FC4C-0363-791E-1A64E047C78A}"/>
              </a:ext>
            </a:extLst>
          </p:cNvPr>
          <p:cNvSpPr>
            <a:spLocks noGrp="1"/>
          </p:cNvSpPr>
          <p:nvPr/>
        </p:nvSpPr>
        <p:spPr>
          <a:xfrm>
            <a:off x="9334500" y="20066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Additional capture</a:t>
            </a:r>
          </a:p>
          <a:p>
            <a:pPr>
              <a:spcAft>
                <a:spcPts val="200"/>
              </a:spcAft>
              <a:buNone/>
            </a:pPr>
            <a:r>
              <a:rPr sz="1050">
                <a:solidFill>
                  <a:schemeClr val="dk1"/>
                </a:solidFill>
                <a:latin typeface="Lato"/>
                <a:ea typeface="Lato"/>
                <a:cs typeface="Lato"/>
              </a:rPr>
              <a:t>Customers, contracts</a:t>
            </a:r>
          </a:p>
          <a:p>
            <a:pPr>
              <a:spcAft>
                <a:spcPts val="200"/>
              </a:spcAft>
              <a:buNone/>
            </a:pPr>
            <a:r>
              <a:rPr sz="1050">
                <a:solidFill>
                  <a:schemeClr val="dk1"/>
                </a:solidFill>
                <a:latin typeface="Lato"/>
                <a:ea typeface="Lato"/>
                <a:cs typeface="Lato"/>
              </a:rPr>
              <a:t>Competition</a:t>
            </a:r>
          </a:p>
        </p:txBody>
      </p:sp>
      <p:sp>
        <p:nvSpPr>
          <p:cNvPr id="38" name="Existing capacity">
            <a:extLst>
              <a:ext uri="{FF2B5EF4-FFF2-40B4-BE49-F238E27FC236}">
                <a16:creationId xmlns:a16="http://schemas.microsoft.com/office/drawing/2014/main" id="{DFB2E8DF-FA37-1759-42B2-545E0BF9734F}"/>
              </a:ext>
            </a:extLst>
          </p:cNvPr>
          <p:cNvSpPr>
            <a:spLocks noGrp="1"/>
          </p:cNvSpPr>
          <p:nvPr/>
        </p:nvSpPr>
        <p:spPr>
          <a:xfrm>
            <a:off x="9334500" y="30734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Existing assets</a:t>
            </a:r>
          </a:p>
          <a:p>
            <a:pPr>
              <a:spcAft>
                <a:spcPts val="200"/>
              </a:spcAft>
              <a:buNone/>
            </a:pPr>
            <a:r>
              <a:rPr sz="1050">
                <a:solidFill>
                  <a:schemeClr val="dk1"/>
                </a:solidFill>
                <a:latin typeface="Lato"/>
                <a:ea typeface="Lato"/>
                <a:cs typeface="Lato"/>
              </a:rPr>
              <a:t>Tanks and turns</a:t>
            </a:r>
          </a:p>
          <a:p>
            <a:pPr>
              <a:spcAft>
                <a:spcPts val="200"/>
              </a:spcAft>
              <a:buNone/>
            </a:pPr>
            <a:r>
              <a:rPr sz="1050">
                <a:solidFill>
                  <a:schemeClr val="dk1"/>
                </a:solidFill>
                <a:latin typeface="Lato"/>
                <a:ea typeface="Lato"/>
                <a:cs typeface="Lato"/>
              </a:rPr>
              <a:t>Receipt and dispatch</a:t>
            </a:r>
          </a:p>
        </p:txBody>
      </p:sp>
      <p:sp>
        <p:nvSpPr>
          <p:cNvPr id="39" name="Investment economics">
            <a:extLst>
              <a:ext uri="{FF2B5EF4-FFF2-40B4-BE49-F238E27FC236}">
                <a16:creationId xmlns:a16="http://schemas.microsoft.com/office/drawing/2014/main" id="{060FE6FB-6025-293B-144C-0BFFB8319407}"/>
              </a:ext>
            </a:extLst>
          </p:cNvPr>
          <p:cNvSpPr>
            <a:spLocks noGrp="1"/>
          </p:cNvSpPr>
          <p:nvPr/>
        </p:nvSpPr>
        <p:spPr>
          <a:xfrm>
            <a:off x="9334500" y="41402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New investment</a:t>
            </a:r>
          </a:p>
          <a:p>
            <a:pPr>
              <a:spcAft>
                <a:spcPts val="200"/>
              </a:spcAft>
              <a:buNone/>
            </a:pPr>
            <a:r>
              <a:rPr sz="1050">
                <a:solidFill>
                  <a:schemeClr val="dk1"/>
                </a:solidFill>
                <a:latin typeface="Lato"/>
                <a:ea typeface="Lato"/>
                <a:cs typeface="Lato"/>
              </a:rPr>
              <a:t>Volume, capex, returns</a:t>
            </a:r>
          </a:p>
          <a:p>
            <a:pPr>
              <a:spcAft>
                <a:spcPts val="200"/>
              </a:spcAft>
              <a:buNone/>
            </a:pPr>
            <a:r>
              <a:rPr sz="1050">
                <a:solidFill>
                  <a:schemeClr val="dk1"/>
                </a:solidFill>
                <a:latin typeface="Lato"/>
                <a:ea typeface="Lato"/>
                <a:cs typeface="Lato"/>
              </a:rPr>
              <a:t>Alternatives, downside</a:t>
            </a:r>
          </a:p>
        </p:txBody>
      </p:sp>
      <p:sp>
        <p:nvSpPr>
          <p:cNvPr id="40" name="Resolution">
            <a:extLst>
              <a:ext uri="{FF2B5EF4-FFF2-40B4-BE49-F238E27FC236}">
                <a16:creationId xmlns:a16="http://schemas.microsoft.com/office/drawing/2014/main" id="{10B2C088-2253-7876-FF66-3F71B4F5F524}"/>
              </a:ext>
            </a:extLst>
          </p:cNvPr>
          <p:cNvSpPr>
            <a:spLocks noGrp="1"/>
          </p:cNvSpPr>
          <p:nvPr/>
        </p:nvSpPr>
        <p:spPr>
          <a:xfrm>
            <a:off x="9334500" y="52070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Resolution</a:t>
            </a:r>
          </a:p>
          <a:p>
            <a:pPr>
              <a:spcAft>
                <a:spcPts val="200"/>
              </a:spcAft>
              <a:buNone/>
            </a:pPr>
            <a:r>
              <a:rPr sz="1050">
                <a:solidFill>
                  <a:schemeClr val="dk1"/>
                </a:solidFill>
                <a:latin typeface="Lato"/>
                <a:ea typeface="Lato"/>
                <a:cs typeface="Lato"/>
              </a:rPr>
              <a:t>Vopak share by site</a:t>
            </a:r>
          </a:p>
          <a:p>
            <a:pPr>
              <a:spcAft>
                <a:spcPts val="200"/>
              </a:spcAft>
              <a:buNone/>
            </a:pPr>
            <a:r>
              <a:rPr sz="1050">
                <a:solidFill>
                  <a:schemeClr val="dk1"/>
                </a:solidFill>
                <a:latin typeface="Lato"/>
                <a:ea typeface="Lato"/>
                <a:cs typeface="Lato"/>
              </a:rPr>
              <a:t>Scope for investment</a:t>
            </a:r>
          </a:p>
        </p:txBody>
      </p:sp>
      <p:sp>
        <p:nvSpPr>
          <p:cNvPr id="41" name="National market tag">
            <a:extLst>
              <a:ext uri="{FF2B5EF4-FFF2-40B4-BE49-F238E27FC236}">
                <a16:creationId xmlns:a16="http://schemas.microsoft.com/office/drawing/2014/main" id="{8D1DF495-2867-B96E-BBC0-866DC91750D0}"/>
              </a:ext>
            </a:extLst>
          </p:cNvPr>
          <p:cNvSpPr>
            <a:spLocks noGrp="1"/>
          </p:cNvSpPr>
          <p:nvPr/>
        </p:nvSpPr>
        <p:spPr>
          <a:xfrm>
            <a:off x="533400" y="2705100"/>
            <a:ext cx="1752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demand estimate</a:t>
            </a:r>
            <a:endParaRPr sz="900" b="1">
              <a:solidFill>
                <a:schemeClr val="accent1"/>
              </a:solidFill>
              <a:latin typeface="Lato"/>
              <a:ea typeface="Lato"/>
              <a:cs typeface="Lato"/>
            </a:endParaRPr>
          </a:p>
        </p:txBody>
      </p:sp>
      <p:sp>
        <p:nvSpPr>
          <p:cNvPr id="42" name="Product demand tag">
            <a:extLst>
              <a:ext uri="{FF2B5EF4-FFF2-40B4-BE49-F238E27FC236}">
                <a16:creationId xmlns:a16="http://schemas.microsoft.com/office/drawing/2014/main" id="{506514FF-4240-195A-1129-AC4FE8DA6F4C}"/>
              </a:ext>
            </a:extLst>
          </p:cNvPr>
          <p:cNvSpPr>
            <a:spLocks noGrp="1"/>
          </p:cNvSpPr>
          <p:nvPr/>
        </p:nvSpPr>
        <p:spPr>
          <a:xfrm>
            <a:off x="533400" y="3771900"/>
            <a:ext cx="1752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estimates</a:t>
            </a:r>
            <a:endParaRPr sz="900" b="1">
              <a:solidFill>
                <a:schemeClr val="accent1"/>
              </a:solidFill>
              <a:latin typeface="Lato"/>
              <a:ea typeface="Lato"/>
              <a:cs typeface="Lato"/>
            </a:endParaRPr>
          </a:p>
        </p:txBody>
      </p:sp>
      <p:sp>
        <p:nvSpPr>
          <p:cNvPr id="43" name="Sector demand tag">
            <a:extLst>
              <a:ext uri="{FF2B5EF4-FFF2-40B4-BE49-F238E27FC236}">
                <a16:creationId xmlns:a16="http://schemas.microsoft.com/office/drawing/2014/main" id="{8249794E-311C-E01E-4EBA-076C8507785A}"/>
              </a:ext>
            </a:extLst>
          </p:cNvPr>
          <p:cNvSpPr>
            <a:spLocks noGrp="1"/>
          </p:cNvSpPr>
          <p:nvPr/>
        </p:nvSpPr>
        <p:spPr>
          <a:xfrm>
            <a:off x="533400" y="4838700"/>
            <a:ext cx="1752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segment estimates</a:t>
            </a:r>
            <a:endParaRPr sz="900" b="1">
              <a:solidFill>
                <a:schemeClr val="accent1"/>
              </a:solidFill>
              <a:latin typeface="Lato"/>
              <a:ea typeface="Lato"/>
              <a:cs typeface="Lato"/>
            </a:endParaRPr>
          </a:p>
        </p:txBody>
      </p:sp>
      <p:sp>
        <p:nvSpPr>
          <p:cNvPr id="44" name="Imports tag">
            <a:extLst>
              <a:ext uri="{FF2B5EF4-FFF2-40B4-BE49-F238E27FC236}">
                <a16:creationId xmlns:a16="http://schemas.microsoft.com/office/drawing/2014/main" id="{45D45AB1-1162-38C5-E090-A37FA7AA51E7}"/>
              </a:ext>
            </a:extLst>
          </p:cNvPr>
          <p:cNvSpPr>
            <a:spLocks noGrp="1"/>
          </p:cNvSpPr>
          <p:nvPr/>
        </p:nvSpPr>
        <p:spPr>
          <a:xfrm>
            <a:off x="2743200" y="27051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2025 gross 16.70B L</a:t>
            </a:r>
          </a:p>
        </p:txBody>
      </p:sp>
      <p:sp>
        <p:nvSpPr>
          <p:cNvPr id="45" name="Production tag">
            <a:extLst>
              <a:ext uri="{FF2B5EF4-FFF2-40B4-BE49-F238E27FC236}">
                <a16:creationId xmlns:a16="http://schemas.microsoft.com/office/drawing/2014/main" id="{201F4CC4-568A-0AF6-9662-B95C70B285AF}"/>
              </a:ext>
            </a:extLst>
          </p:cNvPr>
          <p:cNvSpPr>
            <a:spLocks noGrp="1"/>
          </p:cNvSpPr>
          <p:nvPr/>
        </p:nvSpPr>
        <p:spPr>
          <a:xfrm>
            <a:off x="4419600" y="2705100"/>
            <a:ext cx="1371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estimate (p10)</a:t>
            </a:r>
            <a:endParaRPr sz="900" b="1">
              <a:solidFill>
                <a:schemeClr val="accent1"/>
              </a:solidFill>
              <a:latin typeface="Lato"/>
              <a:ea typeface="Lato"/>
              <a:cs typeface="Lato"/>
            </a:endParaRPr>
          </a:p>
        </p:txBody>
      </p:sp>
      <p:sp>
        <p:nvSpPr>
          <p:cNvPr id="46" name="Ports tag">
            <a:extLst>
              <a:ext uri="{FF2B5EF4-FFF2-40B4-BE49-F238E27FC236}">
                <a16:creationId xmlns:a16="http://schemas.microsoft.com/office/drawing/2014/main" id="{51B6C907-0FB6-0E43-7CE6-E139C7D0A042}"/>
              </a:ext>
            </a:extLst>
          </p:cNvPr>
          <p:cNvSpPr>
            <a:spLocks noGrp="1"/>
          </p:cNvSpPr>
          <p:nvPr/>
        </p:nvSpPr>
        <p:spPr>
          <a:xfrm>
            <a:off x="2743200" y="37719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2025 · Durban 13.2B L</a:t>
            </a:r>
          </a:p>
        </p:txBody>
      </p:sp>
      <p:sp>
        <p:nvSpPr>
          <p:cNvPr id="49" name="Inland tag">
            <a:extLst>
              <a:ext uri="{FF2B5EF4-FFF2-40B4-BE49-F238E27FC236}">
                <a16:creationId xmlns:a16="http://schemas.microsoft.com/office/drawing/2014/main" id="{17EC9F05-1A0A-C138-1FA5-7412DE30E3BA}"/>
              </a:ext>
            </a:extLst>
          </p:cNvPr>
          <p:cNvSpPr>
            <a:spLocks noGrp="1"/>
          </p:cNvSpPr>
          <p:nvPr/>
        </p:nvSpPr>
        <p:spPr>
          <a:xfrm>
            <a:off x="4419600" y="37719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FY25 use 5.46B L/yr</a:t>
            </a:r>
          </a:p>
        </p:txBody>
      </p:sp>
      <p:sp>
        <p:nvSpPr>
          <p:cNvPr id="50" name="Coastal demand tag">
            <a:extLst>
              <a:ext uri="{FF2B5EF4-FFF2-40B4-BE49-F238E27FC236}">
                <a16:creationId xmlns:a16="http://schemas.microsoft.com/office/drawing/2014/main" id="{956E9484-D3A6-A1C6-A247-860F334D3AC4}"/>
              </a:ext>
            </a:extLst>
          </p:cNvPr>
          <p:cNvSpPr>
            <a:spLocks noGrp="1"/>
          </p:cNvSpPr>
          <p:nvPr/>
        </p:nvSpPr>
        <p:spPr>
          <a:xfrm>
            <a:off x="2743200" y="48387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2022 · 10.0B L · proxy</a:t>
            </a:r>
          </a:p>
        </p:txBody>
      </p:sp>
      <p:sp>
        <p:nvSpPr>
          <p:cNvPr id="51" name="Inland demand tag">
            <a:extLst>
              <a:ext uri="{FF2B5EF4-FFF2-40B4-BE49-F238E27FC236}">
                <a16:creationId xmlns:a16="http://schemas.microsoft.com/office/drawing/2014/main" id="{9E107268-37A7-23B8-39C5-7A9C2AB058F2}"/>
              </a:ext>
            </a:extLst>
          </p:cNvPr>
          <p:cNvSpPr>
            <a:spLocks noGrp="1"/>
          </p:cNvSpPr>
          <p:nvPr/>
        </p:nvSpPr>
        <p:spPr>
          <a:xfrm>
            <a:off x="4419600" y="48387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2022 · 12.0B L · proxy</a:t>
            </a:r>
          </a:p>
        </p:txBody>
      </p:sp>
      <p:sp>
        <p:nvSpPr>
          <p:cNvPr id="52" name="Market sizing tag">
            <a:extLst>
              <a:ext uri="{FF2B5EF4-FFF2-40B4-BE49-F238E27FC236}">
                <a16:creationId xmlns:a16="http://schemas.microsoft.com/office/drawing/2014/main" id="{C096C2C5-D37B-3528-AA9C-63E04EEC5FF3}"/>
              </a:ext>
            </a:extLst>
          </p:cNvPr>
          <p:cNvSpPr>
            <a:spLocks noGrp="1"/>
          </p:cNvSpPr>
          <p:nvPr/>
        </p:nvSpPr>
        <p:spPr>
          <a:xfrm>
            <a:off x="6248400" y="2705100"/>
            <a:ext cx="27051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Gateway proxy; capture not observed</a:t>
            </a:r>
          </a:p>
        </p:txBody>
      </p:sp>
      <p:sp>
        <p:nvSpPr>
          <p:cNvPr id="53" name="Durban opportunity tag">
            <a:extLst>
              <a:ext uri="{FF2B5EF4-FFF2-40B4-BE49-F238E27FC236}">
                <a16:creationId xmlns:a16="http://schemas.microsoft.com/office/drawing/2014/main" id="{9E9902C2-0AF9-C9D5-B8FE-F017EB81602A}"/>
              </a:ext>
            </a:extLst>
          </p:cNvPr>
          <p:cNvSpPr>
            <a:spLocks noGrp="1"/>
          </p:cNvSpPr>
          <p:nvPr/>
        </p:nvSpPr>
        <p:spPr>
          <a:xfrm>
            <a:off x="6248400" y="3771900"/>
            <a:ext cx="12192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 p12</a:t>
            </a:r>
            <a:endParaRPr sz="900" b="1">
              <a:solidFill>
                <a:schemeClr val="accent1"/>
              </a:solidFill>
              <a:latin typeface="Lato"/>
              <a:ea typeface="Lato"/>
              <a:cs typeface="Lato"/>
            </a:endParaRPr>
          </a:p>
        </p:txBody>
      </p:sp>
      <p:sp>
        <p:nvSpPr>
          <p:cNvPr id="54" name="Lesedi opportunity tag">
            <a:extLst>
              <a:ext uri="{FF2B5EF4-FFF2-40B4-BE49-F238E27FC236}">
                <a16:creationId xmlns:a16="http://schemas.microsoft.com/office/drawing/2014/main" id="{5B840FCC-C4C2-9CED-168F-98C14A7C2F24}"/>
              </a:ext>
            </a:extLst>
          </p:cNvPr>
          <p:cNvSpPr>
            <a:spLocks noGrp="1"/>
          </p:cNvSpPr>
          <p:nvPr/>
        </p:nvSpPr>
        <p:spPr>
          <a:xfrm>
            <a:off x="7734300" y="3771900"/>
            <a:ext cx="12192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 p12</a:t>
            </a:r>
            <a:endParaRPr sz="900" b="1">
              <a:solidFill>
                <a:schemeClr val="accent1"/>
              </a:solidFill>
              <a:latin typeface="Lato"/>
              <a:ea typeface="Lato"/>
              <a:cs typeface="Lato"/>
            </a:endParaRPr>
          </a:p>
        </p:txBody>
      </p:sp>
      <p:sp>
        <p:nvSpPr>
          <p:cNvPr id="55" name="Share tag">
            <a:extLst>
              <a:ext uri="{FF2B5EF4-FFF2-40B4-BE49-F238E27FC236}">
                <a16:creationId xmlns:a16="http://schemas.microsoft.com/office/drawing/2014/main" id="{9D1D8A45-42BD-CA85-EB3F-5061EFCF24A3}"/>
              </a:ext>
            </a:extLst>
          </p:cNvPr>
          <p:cNvSpPr>
            <a:spLocks noGrp="1"/>
          </p:cNvSpPr>
          <p:nvPr/>
        </p:nvSpPr>
        <p:spPr>
          <a:xfrm>
            <a:off x="6248400" y="4838700"/>
            <a:ext cx="27051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Illustrative capture</a:t>
            </a:r>
            <a:endParaRPr sz="900" b="1">
              <a:solidFill>
                <a:schemeClr val="accent1"/>
              </a:solidFill>
              <a:latin typeface="Lato"/>
              <a:ea typeface="Lato"/>
              <a:cs typeface="Lato"/>
            </a:endParaRPr>
          </a:p>
        </p:txBody>
      </p:sp>
      <p:sp>
        <p:nvSpPr>
          <p:cNvPr id="56" name="Headroom tag">
            <a:extLst>
              <a:ext uri="{FF2B5EF4-FFF2-40B4-BE49-F238E27FC236}">
                <a16:creationId xmlns:a16="http://schemas.microsoft.com/office/drawing/2014/main" id="{2F7794D4-8CCE-E4F1-4E7A-13708B4520F0}"/>
              </a:ext>
            </a:extLst>
          </p:cNvPr>
          <p:cNvSpPr>
            <a:spLocks noGrp="1"/>
          </p:cNvSpPr>
          <p:nvPr/>
        </p:nvSpPr>
        <p:spPr>
          <a:xfrm>
            <a:off x="6248400" y="5905500"/>
            <a:ext cx="27051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DR02/05</a:t>
            </a:r>
          </a:p>
        </p:txBody>
      </p:sp>
      <p:sp>
        <p:nvSpPr>
          <p:cNvPr id="57" name="Additional capture tag">
            <a:extLst>
              <a:ext uri="{FF2B5EF4-FFF2-40B4-BE49-F238E27FC236}">
                <a16:creationId xmlns:a16="http://schemas.microsoft.com/office/drawing/2014/main" id="{D3F3C301-3CD5-70ED-3897-AC853D7F1384}"/>
              </a:ext>
            </a:extLst>
          </p:cNvPr>
          <p:cNvSpPr>
            <a:spLocks noGrp="1"/>
          </p:cNvSpPr>
          <p:nvPr/>
        </p:nvSpPr>
        <p:spPr>
          <a:xfrm>
            <a:off x="9410700" y="2705100"/>
            <a:ext cx="16256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DR02/05</a:t>
            </a:r>
          </a:p>
        </p:txBody>
      </p:sp>
      <p:sp>
        <p:nvSpPr>
          <p:cNvPr id="58" name="Existing capacity tag">
            <a:extLst>
              <a:ext uri="{FF2B5EF4-FFF2-40B4-BE49-F238E27FC236}">
                <a16:creationId xmlns:a16="http://schemas.microsoft.com/office/drawing/2014/main" id="{7033E250-411E-32FA-83F3-A34FD61AA039}"/>
              </a:ext>
            </a:extLst>
          </p:cNvPr>
          <p:cNvSpPr>
            <a:spLocks noGrp="1"/>
          </p:cNvSpPr>
          <p:nvPr/>
        </p:nvSpPr>
        <p:spPr>
          <a:xfrm>
            <a:off x="9410700" y="3771900"/>
            <a:ext cx="16256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DR03</a:t>
            </a:r>
          </a:p>
        </p:txBody>
      </p:sp>
      <p:sp>
        <p:nvSpPr>
          <p:cNvPr id="59" name="Investment economics tag">
            <a:extLst>
              <a:ext uri="{FF2B5EF4-FFF2-40B4-BE49-F238E27FC236}">
                <a16:creationId xmlns:a16="http://schemas.microsoft.com/office/drawing/2014/main" id="{1A45A8CC-C6B7-7080-3CEA-0E352F2696E8}"/>
              </a:ext>
            </a:extLst>
          </p:cNvPr>
          <p:cNvSpPr>
            <a:spLocks noGrp="1"/>
          </p:cNvSpPr>
          <p:nvPr/>
        </p:nvSpPr>
        <p:spPr>
          <a:xfrm>
            <a:off x="9410700" y="4838700"/>
            <a:ext cx="16256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DR06</a:t>
            </a:r>
          </a:p>
        </p:txBody>
      </p:sp>
      <p:cxnSp>
        <p:nvCxnSpPr>
          <p:cNvPr id="159" name="Product sums to consumption"/>
          <p:cNvCxnSpPr>
            <a:stCxn id="22" idx="0"/>
            <a:endCxn id="21" idx="2"/>
          </p:cNvCxnSpPr>
          <p:nvPr/>
        </p:nvCxnSpPr>
        <p:spPr>
          <a:xfrm flipV="1">
            <a:off x="14097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Uses determine product demand"/>
          <p:cNvCxnSpPr>
            <a:stCxn id="23" idx="0"/>
            <a:endCxn id="22" idx="2"/>
          </p:cNvCxnSpPr>
          <p:nvPr/>
        </p:nvCxnSpPr>
        <p:spPr>
          <a:xfrm flipV="1">
            <a:off x="14097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Demand parameter effect"/>
          <p:cNvCxnSpPr>
            <a:stCxn id="24" idx="0"/>
            <a:endCxn id="23" idx="2"/>
          </p:cNvCxnSpPr>
          <p:nvPr/>
        </p:nvCxnSpPr>
        <p:spPr>
          <a:xfrm flipV="1">
            <a:off x="14097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2" name="Demand sets import requirement"/>
          <p:cNvCxnSpPr>
            <a:stCxn id="21" idx="3"/>
            <a:endCxn id="25" idx="1"/>
          </p:cNvCxnSpPr>
          <p:nvPr/>
        </p:nvCxnSpPr>
        <p:spPr>
          <a:xfrm>
            <a:off x="2362200" y="2451100"/>
            <a:ext cx="3048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Imports land at ports"/>
          <p:cNvCxnSpPr>
            <a:stCxn id="25" idx="2"/>
            <a:endCxn id="27" idx="0"/>
          </p:cNvCxnSpPr>
          <p:nvPr/>
        </p:nvCxnSpPr>
        <p:spPr>
          <a:xfrm>
            <a:off x="3429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Domestic output moves inland"/>
          <p:cNvCxnSpPr>
            <a:stCxn id="26" idx="2"/>
            <a:endCxn id="28" idx="0"/>
          </p:cNvCxnSpPr>
          <p:nvPr/>
        </p:nvCxnSpPr>
        <p:spPr>
          <a:xfrm>
            <a:off x="51054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Ports to inland delivery"/>
          <p:cNvCxnSpPr>
            <a:stCxn id="27" idx="3"/>
            <a:endCxn id="28" idx="1"/>
          </p:cNvCxnSpPr>
          <p:nvPr/>
        </p:nvCxnSpPr>
        <p:spPr>
          <a:xfrm>
            <a:off x="4191000" y="3517900"/>
            <a:ext cx="1524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Ports serve coastal demand"/>
          <p:cNvCxnSpPr>
            <a:stCxn id="27" idx="2"/>
            <a:endCxn id="29" idx="0"/>
          </p:cNvCxnSpPr>
          <p:nvPr/>
        </p:nvCxnSpPr>
        <p:spPr>
          <a:xfrm>
            <a:off x="3429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Inland delivery serves inland demand"/>
          <p:cNvCxnSpPr>
            <a:stCxn id="28" idx="2"/>
            <a:endCxn id="30" idx="0"/>
          </p:cNvCxnSpPr>
          <p:nvPr/>
        </p:nvCxnSpPr>
        <p:spPr>
          <a:xfrm>
            <a:off x="51054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upply parameter effect on coastal"/>
          <p:cNvCxnSpPr>
            <a:endCxn id="29" idx="2"/>
          </p:cNvCxnSpPr>
          <p:nvPr/>
        </p:nvCxnSpPr>
        <p:spPr>
          <a:xfrm flipV="1">
            <a:off x="34290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9" name="Supply parameter effect on inland"/>
          <p:cNvCxnSpPr>
            <a:endCxn id="30" idx="2"/>
          </p:cNvCxnSpPr>
          <p:nvPr/>
        </p:nvCxnSpPr>
        <p:spPr>
          <a:xfrm flipV="1">
            <a:off x="51054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0" name="Routes into market sizing"/>
          <p:cNvCxnSpPr>
            <a:stCxn id="28" idx="3"/>
            <a:endCxn id="32" idx="1"/>
          </p:cNvCxnSpPr>
          <p:nvPr/>
        </p:nvCxnSpPr>
        <p:spPr>
          <a:xfrm flipV="1">
            <a:off x="5867400" y="2451100"/>
            <a:ext cx="304800" cy="10668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Destinations into market sizing"/>
          <p:cNvCxnSpPr>
            <a:stCxn id="30" idx="3"/>
            <a:endCxn id="32" idx="1"/>
          </p:cNvCxnSpPr>
          <p:nvPr/>
        </p:nvCxnSpPr>
        <p:spPr>
          <a:xfrm flipV="1">
            <a:off x="5867400" y="2451100"/>
            <a:ext cx="304800" cy="21336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Market sizing to Durban"/>
          <p:cNvCxnSpPr>
            <a:endCxn id="33" idx="0"/>
          </p:cNvCxnSpPr>
          <p:nvPr/>
        </p:nvCxnSpPr>
        <p:spPr>
          <a:xfrm>
            <a:off x="6858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Market sizing to Lesedi"/>
          <p:cNvCxnSpPr>
            <a:endCxn id="34" idx="0"/>
          </p:cNvCxnSpPr>
          <p:nvPr/>
        </p:nvCxnSpPr>
        <p:spPr>
          <a:xfrm>
            <a:off x="83439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Durban into share"/>
          <p:cNvCxnSpPr/>
          <p:nvPr/>
        </p:nvCxnSpPr>
        <p:spPr>
          <a:xfrm>
            <a:off x="6858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Lesedi into share"/>
          <p:cNvCxnSpPr/>
          <p:nvPr/>
        </p:nvCxnSpPr>
        <p:spPr>
          <a:xfrm>
            <a:off x="83439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hare to headroom"/>
          <p:cNvCxnSpPr>
            <a:stCxn id="35" idx="2"/>
            <a:endCxn id="36" idx="0"/>
          </p:cNvCxnSpPr>
          <p:nvPr/>
        </p:nvCxnSpPr>
        <p:spPr>
          <a:xfrm>
            <a:off x="760095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Headroom into investment"/>
          <p:cNvCxnSpPr>
            <a:stCxn id="36" idx="3"/>
            <a:endCxn id="37" idx="1"/>
          </p:cNvCxnSpPr>
          <p:nvPr/>
        </p:nvCxnSpPr>
        <p:spPr>
          <a:xfrm flipV="1">
            <a:off x="9029700" y="2451100"/>
            <a:ext cx="304800" cy="32004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Capture to capacity"/>
          <p:cNvCxnSpPr>
            <a:stCxn id="37" idx="2"/>
            <a:endCxn id="38" idx="0"/>
          </p:cNvCxnSpPr>
          <p:nvPr/>
        </p:nvCxnSpPr>
        <p:spPr>
          <a:xfrm>
            <a:off x="102235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Capacity to returns"/>
          <p:cNvCxnSpPr>
            <a:stCxn id="38" idx="2"/>
            <a:endCxn id="39" idx="0"/>
          </p:cNvCxnSpPr>
          <p:nvPr/>
        </p:nvCxnSpPr>
        <p:spPr>
          <a:xfrm>
            <a:off x="102235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Returns to resolution"/>
          <p:cNvCxnSpPr>
            <a:stCxn id="39" idx="2"/>
            <a:endCxn id="40" idx="0"/>
          </p:cNvCxnSpPr>
          <p:nvPr/>
        </p:nvCxnSpPr>
        <p:spPr>
          <a:xfrm>
            <a:off x="1022350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1"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182"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183"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184"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Tree>
    <p:extLst>
      <p:ext uri="{BB962C8B-B14F-4D97-AF65-F5344CB8AC3E}">
        <p14:creationId xmlns:p14="http://schemas.microsoft.com/office/powerpoint/2010/main" val="364198002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Archive xmlns="265cb39c-7109-435c-af5d-13dc21a2db6b">false</Archive>
    <TaxCatchAll xmlns="62b85a0e-09bb-4b0f-bd28-e34020cdc07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343FF5-2136-45AF-8AEA-720F11C4F25A}">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EC696D7-B64B-4B33-9418-B6CE719B4C55}">
  <ds:schemaRefs>
    <ds:schemaRef ds:uri="265cb39c-7109-435c-af5d-13dc21a2db6b"/>
    <ds:schemaRef ds:uri="62b85a0e-09bb-4b0f-bd28-e34020cdc07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4291FEC-B74E-46BE-BF33-15B47576BA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7733</Words>
  <Application>Microsoft Office PowerPoint</Application>
  <PresentationFormat>Custom</PresentationFormat>
  <Paragraphs>1519</Paragraphs>
  <Slides>23</Slides>
  <Notes>17</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Lato</vt:lpstr>
      <vt:lpstr>Arial</vt:lpstr>
      <vt:lpstr>Vopak Theme</vt:lpstr>
      <vt:lpstr>PowerPoint Presentation</vt:lpstr>
      <vt:lpstr>South Africa used 25.4bn litres of petrol and diesel in 2025; imports supplied two-thirds</vt:lpstr>
      <vt:lpstr>The market of interest brings in about 12bn litres a year, mostly through Durban, rising to about 12.5bn by 2030</vt:lpstr>
      <vt:lpstr>Outside 2020, demand has stayed at 23–26bn litres a year since 2013; road transport uses most of it</vt:lpstr>
      <vt:lpstr>Agricultural fuel demand rebounds and power fuel use falls by about a third, while mining and manufacturing remain broadly flat</vt:lpstr>
      <vt:lpstr>Eskom burnt 77% less diesel in FY2026 than two years earlier as load shedding ended</vt:lpstr>
      <vt:lpstr>Moving freight to rail saves about 0.4bn litres of diesel by 2030, but road freight still grows</vt:lpstr>
      <vt:lpstr>Electrified vehicle sales grew forty-fold since 2019, mostly hybrids, but save little fuel until the fleet turns over</vt:lpstr>
      <vt:lpstr>The vehicle fleet uses 0.4–0.8% less fuel per km each year, about half the gain in new vehicles</vt:lpstr>
      <vt:lpstr>Local refineries made 10.2bn litres of petrol and diesel in 2025, half the 2014 level; 2026 is on track for about 11bn</vt:lpstr>
      <vt:lpstr>Durban lands 79% of South Africa's imports and almost all the fuel for the market of interest; other routes add little</vt:lpstr>
      <vt:lpstr>The market of interest used 18.2bn litres in 2025; Secunda and Natref met a third, so 11.8bn litres had to be brought in</vt:lpstr>
      <vt:lpstr>Of a 25.4bn-litre national market, about 11.8bn litres is open to Vopak; a 20% share would be 2.4bn</vt:lpstr>
      <vt:lpstr>The economy pushes fuel demand up; power recovery, rail, efficiency and electrified vehicles pull it down</vt:lpstr>
      <vt:lpstr>Demand in the market of interest grows to about 18.8bn litres by 2030 in the base case (17.7–20.7bn)</vt:lpstr>
      <vt:lpstr>The market of interest will need about 12.5bn litres brought in by 2030; Vopak's growth depends on winning that flow</vt:lpstr>
      <vt:lpstr>PowerPoint Presentation</vt:lpstr>
      <vt:lpstr>Appendix: assumptions behind the Low, Base and High demand cases</vt:lpstr>
      <vt:lpstr>Appendix: electric car sales in South Africa are where China and the world were in 2015; trucks lag cars everywhere except China</vt:lpstr>
      <vt:lpstr>Appendix: demand in every magisterial district of the market of interest (1 of 2)</vt:lpstr>
      <vt:lpstr>Appendix: demand in every magisterial district of the market of interest (2 of 2)</vt:lpstr>
      <vt:lpstr>Appendix: in the market of interest, this year’s 2030 base case is 2.9bn litres above the November 2025 mid case</vt:lpstr>
      <vt:lpstr>Durban and Lesedi market sizing and investment issue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Manish Ramjeawon</cp:lastModifiedBy>
  <cp:revision>1</cp:revision>
  <dcterms:created xsi:type="dcterms:W3CDTF">2026-10-11T22:01:42Z</dcterms:created>
  <dcterms:modified xsi:type="dcterms:W3CDTF">2026-10-15T15:12:49Z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