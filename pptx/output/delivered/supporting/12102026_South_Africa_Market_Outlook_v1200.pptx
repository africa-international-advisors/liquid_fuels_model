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0" r:id="rId13"/>
    <p:sldId id="264" r:id="rId14"/>
    <p:sldId id="265" r:id="rId15"/>
    <p:sldId id="269" r:id="rId16"/>
    <p:sldId id="266" r:id="rId17"/>
    <p:sldId id="271" r:id="rId18"/>
    <p:sldId id="267" r:id="rId19"/>
    <p:sldId id="268" r:id="rId20"/>
  </p:sldIdLst>
  <p:sldSz cx="1158875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97399-3EEC-4F8E-8A81-B759403EDABA}" v="340" dt="2026-10-12T11:01:55.723"/>
    <p1510:client id="{E71C4F2D-0233-437F-B12B-11FCAAF6CDD3}" v="64" dt="2026-10-12T11:53:48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Ramjeawon" userId="530ca382-ae44-4c47-aaca-bb6bff7153ab" providerId="ADAL" clId="{29D73FD1-3025-44EE-909B-93CFE9675191}"/>
    <pc:docChg chg="custSel modSld">
      <pc:chgData name="Manish Ramjeawon" userId="530ca382-ae44-4c47-aaca-bb6bff7153ab" providerId="ADAL" clId="{29D73FD1-3025-44EE-909B-93CFE9675191}" dt="2026-10-12T11:53:48.229" v="63" actId="207"/>
      <pc:docMkLst>
        <pc:docMk/>
      </pc:docMkLst>
      <pc:sldChg chg="addSp modSp mod">
        <pc:chgData name="Manish Ramjeawon" userId="530ca382-ae44-4c47-aaca-bb6bff7153ab" providerId="ADAL" clId="{29D73FD1-3025-44EE-909B-93CFE9675191}" dt="2026-10-12T11:53:48.229" v="63" actId="207"/>
        <pc:sldMkLst>
          <pc:docMk/>
          <pc:sldMk cId="2019262759" sldId="265"/>
        </pc:sldMkLst>
        <pc:spChg chg="add mod">
          <ac:chgData name="Manish Ramjeawon" userId="530ca382-ae44-4c47-aaca-bb6bff7153ab" providerId="ADAL" clId="{29D73FD1-3025-44EE-909B-93CFE9675191}" dt="2026-10-12T11:53:48.229" v="63" actId="207"/>
          <ac:spMkLst>
            <pc:docMk/>
            <pc:sldMk cId="2019262759" sldId="265"/>
            <ac:spMk id="4" creationId="{EED55322-E406-191C-6751-9ED8C23A201F}"/>
          </ac:spMkLst>
        </pc:spChg>
      </pc:sldChg>
    </pc:docChg>
  </pc:docChgLst>
  <pc:docChgLst>
    <pc:chgData name="Nigel Zhuwaki" userId="601ab1a4-89ec-42bd-bbbd-3cbdd75d5043" providerId="ADAL" clId="{FD94FAF6-F80E-40A7-9173-AD9516BB5441}"/>
    <pc:docChg chg="modSld">
      <pc:chgData name="Nigel Zhuwaki" userId="601ab1a4-89ec-42bd-bbbd-3cbdd75d5043" providerId="ADAL" clId="{FD94FAF6-F80E-40A7-9173-AD9516BB5441}" dt="2026-10-12T11:01:53.205" v="5"/>
      <pc:docMkLst>
        <pc:docMk/>
      </pc:docMkLst>
      <pc:sldChg chg="delSp modSp">
        <pc:chgData name="Nigel Zhuwaki" userId="601ab1a4-89ec-42bd-bbbd-3cbdd75d5043" providerId="ADAL" clId="{FD94FAF6-F80E-40A7-9173-AD9516BB5441}" dt="2026-10-12T11:01:53.205" v="5"/>
        <pc:sldMkLst>
          <pc:docMk/>
          <pc:sldMk cId="2019262759" sldId="266"/>
        </pc:sldMkLst>
        <pc:grpChg chg="mod">
          <ac:chgData name="Nigel Zhuwaki" userId="601ab1a4-89ec-42bd-bbbd-3cbdd75d5043" providerId="ADAL" clId="{FD94FAF6-F80E-40A7-9173-AD9516BB5441}" dt="2026-10-12T10:59:13.367" v="2"/>
          <ac:grpSpMkLst>
            <pc:docMk/>
            <pc:sldMk cId="2019262759" sldId="266"/>
            <ac:grpSpMk id="10" creationId="{3D37963D-AD37-A35D-C17B-AA3620FF935D}"/>
          </ac:grpSpMkLst>
        </pc:grpChg>
        <pc:grpChg chg="mod">
          <ac:chgData name="Nigel Zhuwaki" userId="601ab1a4-89ec-42bd-bbbd-3cbdd75d5043" providerId="ADAL" clId="{FD94FAF6-F80E-40A7-9173-AD9516BB5441}" dt="2026-10-12T11:01:42.298" v="3"/>
          <ac:grpSpMkLst>
            <pc:docMk/>
            <pc:sldMk cId="2019262759" sldId="266"/>
            <ac:grpSpMk id="14" creationId="{3C6289BB-F2CA-4455-B274-7078AFB32F86}"/>
          </ac:grpSpMkLst>
        </pc:grpChg>
        <pc:grpChg chg="del 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19" creationId="{7F1457B6-345A-18DC-32D2-7362069A1037}"/>
          </ac:grpSpMkLst>
        </pc:grpChg>
        <pc:grpChg chg="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21" creationId="{5B144456-6151-7D26-FF3B-BE41721F63D1}"/>
          </ac:grpSpMkLst>
        </pc:grp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6" creationId="{DF5F3AC2-3327-FCC7-6D67-0929A2F786F7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7" creationId="{19D744A8-D0D6-EF14-7D69-A857EA7FEE48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9" creationId="{DF1258E4-4FFA-4C56-24AD-AD7BFE2761D2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1" creationId="{20EEC612-1C23-2350-33C3-BC79979C1BED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2" creationId="{D5F338E2-7EA0-9E18-0E35-2021A65D643A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3" creationId="{986C1384-8528-6F44-4075-0DEB83FB14D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5" creationId="{C9614290-2685-3586-E10B-190009EBF649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6" creationId="{AE40C8CC-5B04-9D7D-4B3E-EA02F0FAE31B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7" creationId="{B23B405D-8A33-4116-08A6-80D33A78848F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8" creationId="{62FF2EE2-74F8-CA6C-28A1-3EE0D1DFED7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20" creationId="{4FBA43CD-0ADD-2D0F-C834-BA33ACF157EC}"/>
          </ac:inkMkLst>
        </pc:inkChg>
      </pc:sldChg>
      <pc:sldChg chg="addSp modSp">
        <pc:chgData name="Nigel Zhuwaki" userId="601ab1a4-89ec-42bd-bbbd-3cbdd75d5043" providerId="ADAL" clId="{FD94FAF6-F80E-40A7-9173-AD9516BB5441}" dt="2026-10-12T10:48:20.409" v="1"/>
        <pc:sldMkLst>
          <pc:docMk/>
          <pc:sldMk cId="75318732" sldId="270"/>
        </pc:sldMkLst>
        <pc:spChg chg="add mod">
          <ac:chgData name="Nigel Zhuwaki" userId="601ab1a4-89ec-42bd-bbbd-3cbdd75d5043" providerId="ADAL" clId="{FD94FAF6-F80E-40A7-9173-AD9516BB5441}" dt="2026-10-12T10:43:50.334" v="0" actId="571"/>
          <ac:spMkLst>
            <pc:docMk/>
            <pc:sldMk cId="75318732" sldId="270"/>
            <ac:spMk id="7" creationId="{14739CA6-736F-9F9F-FEDC-7E4E4345B182}"/>
          </ac:spMkLst>
        </pc:spChg>
        <pc:picChg chg="add">
          <ac:chgData name="Nigel Zhuwaki" userId="601ab1a4-89ec-42bd-bbbd-3cbdd75d5043" providerId="ADAL" clId="{FD94FAF6-F80E-40A7-9173-AD9516BB5441}" dt="2026-10-12T10:48:20.409" v="1"/>
          <ac:picMkLst>
            <pc:docMk/>
            <pc:sldMk cId="75318732" sldId="270"/>
            <ac:picMk id="9" creationId="{91BCDE9B-72BE-25DD-B6F0-BF068B61CA6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Production (assumed)</c:v>
          </c:tx>
          <c:spPr>
            <a:solidFill>
              <a:srgbClr val="6782B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Data'!$B$2:$B$3</c:f>
              <c:numCache>
                <c:formatCode>0.00;\-0.00;</c:formatCode>
                <c:ptCount val="2"/>
                <c:pt idx="0">
                  <c:v>5.8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98-444E-B683-B147F17C1B41}"/>
            </c:ext>
          </c:extLst>
        </c:ser>
        <c:ser>
          <c:idx val="1"/>
          <c:order val="1"/>
          <c:tx>
            <c:v>Imports (recorded)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Data'!$D$2:$D$3</c:f>
              <c:numCache>
                <c:formatCode>0.00;\-0.00;</c:formatCode>
                <c:ptCount val="2"/>
                <c:pt idx="0">
                  <c:v>16.702191440219998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98-444E-B683-B147F17C1B41}"/>
            </c:ext>
          </c:extLst>
        </c:ser>
        <c:ser>
          <c:idx val="2"/>
          <c:order val="2"/>
          <c:tx>
            <c:v>Consumption (estimated)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Data'!$F$2:$F$3</c:f>
              <c:numCache>
                <c:formatCode>0.00;\-0.00;</c:formatCode>
                <c:ptCount val="2"/>
                <c:pt idx="0">
                  <c:v>0</c:v>
                </c:pt>
                <c:pt idx="1">
                  <c:v>20.9873881970952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098-444E-B683-B147F17C1B41}"/>
            </c:ext>
          </c:extLst>
        </c:ser>
        <c:ser>
          <c:idx val="3"/>
          <c:order val="3"/>
          <c:tx>
            <c:v>Exports (recorded)</c:v>
          </c:tx>
          <c:spPr>
            <a:solidFill>
              <a:srgbClr val="9292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Data'!$H$2:$H$3</c:f>
              <c:numCache>
                <c:formatCode>0.00;\-0.00;</c:formatCode>
                <c:ptCount val="2"/>
                <c:pt idx="0">
                  <c:v>0</c:v>
                </c:pt>
                <c:pt idx="1">
                  <c:v>1.54846267607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098-444E-B683-B147F17C1B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;\-0.00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1"/>
        <c:ser>
          <c:idx val="0"/>
          <c:order val="0"/>
          <c:tx>
            <c:v>Petrol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11.475709420317999</c:v>
                </c:pt>
                <c:pt idx="3">
                  <c:v>11.462252466686</c:v>
                </c:pt>
                <c:pt idx="4">
                  <c:v>11.174082980370001</c:v>
                </c:pt>
                <c:pt idx="5">
                  <c:v>11.141630546702</c:v>
                </c:pt>
                <c:pt idx="6">
                  <c:v>10.773208065062001</c:v>
                </c:pt>
                <c:pt idx="7">
                  <c:v>8.7614709614960002</c:v>
                </c:pt>
                <c:pt idx="8">
                  <c:v>9.3015842276829996</c:v>
                </c:pt>
                <c:pt idx="9">
                  <c:v>9.1848699155729996</c:v>
                </c:pt>
                <c:pt idx="10">
                  <c:v>9.0369501134920007</c:v>
                </c:pt>
                <c:pt idx="11">
                  <c:v>8.9459028410985706</c:v>
                </c:pt>
                <c:pt idx="12">
                  <c:v>8.8557728699744995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13.520139251950001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12.908631232216999</c:v>
                </c:pt>
                <c:pt idx="7">
                  <c:v>11.689957759296</c:v>
                </c:pt>
                <c:pt idx="8">
                  <c:v>12.945782750435001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1.3959664570874299</c:v>
                </c:pt>
                <c:pt idx="1">
                  <c:v>1.40372043669139</c:v>
                </c:pt>
                <c:pt idx="2">
                  <c:v>1.4063467846217601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1.0552755203659401</c:v>
                </c:pt>
                <c:pt idx="1">
                  <c:v>0.96334031535047504</c:v>
                </c:pt>
                <c:pt idx="2">
                  <c:v>1.1312246982365199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0.16789786744139201</c:v>
                </c:pt>
                <c:pt idx="1">
                  <c:v>0.16721110753544299</c:v>
                </c:pt>
                <c:pt idx="2">
                  <c:v>0.16507618000173099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1.1294999999999999</c:v>
                </c:pt>
                <c:pt idx="2">
                  <c:v>0.67910000000000004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976.46799999999996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71-4A9C-9D08-603FEE1AD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2030 effect vs 2025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Activity growth</c:v>
                </c:pt>
                <c:pt idx="1">
                  <c:v>Vehicle efficiency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1.5381887998552799</c:v>
                </c:pt>
                <c:pt idx="1">
                  <c:v>-0.79316985514451999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B-40EC-AE78-F0B1F8FA20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10.393065999999999</c:v>
                </c:pt>
                <c:pt idx="3">
                  <c:v>9.4344400000000004</c:v>
                </c:pt>
                <c:pt idx="4">
                  <c:v>9.9745600000000003</c:v>
                </c:pt>
                <c:pt idx="5">
                  <c:v>10.424467</c:v>
                </c:pt>
                <c:pt idx="6">
                  <c:v>7.8949999999999996</c:v>
                </c:pt>
                <c:pt idx="7">
                  <c:v>6.3513066670000002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9.5877400000000002</c:v>
                </c:pt>
                <c:pt idx="1">
                  <c:v>9.3684820000000002</c:v>
                </c:pt>
                <c:pt idx="2">
                  <c:v>9.0141899999999993</c:v>
                </c:pt>
                <c:pt idx="3">
                  <c:v>7.9217259999999996</c:v>
                </c:pt>
                <c:pt idx="4">
                  <c:v>8.425262</c:v>
                </c:pt>
                <c:pt idx="5">
                  <c:v>9.0803569999999993</c:v>
                </c:pt>
                <c:pt idx="6">
                  <c:v>6.4478095</c:v>
                </c:pt>
                <c:pt idx="7">
                  <c:v>5.3149642860000004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Low imports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16.1649850898511</c:v>
                </c:pt>
                <c:pt idx="2">
                  <c:v>15.5983645642248</c:v>
                </c:pt>
                <c:pt idx="3">
                  <c:v>15.0359352753671</c:v>
                </c:pt>
                <c:pt idx="4">
                  <c:v>11.644311431365001</c:v>
                </c:pt>
                <c:pt idx="5">
                  <c:v>8.2567728300966898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57-4CA9-AD2A-3657A817E3C7}"/>
            </c:ext>
          </c:extLst>
        </c:ser>
        <c:ser>
          <c:idx val="1"/>
          <c:order val="1"/>
          <c:tx>
            <c:v>Base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16.708035906836599</c:v>
                </c:pt>
                <c:pt idx="2">
                  <c:v>16.681037530238399</c:v>
                </c:pt>
                <c:pt idx="3">
                  <c:v>16.654869309593199</c:v>
                </c:pt>
                <c:pt idx="4">
                  <c:v>16.6295450366319</c:v>
                </c:pt>
                <c:pt idx="5">
                  <c:v>16.6050787321592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57-4CA9-AD2A-3657A817E3C7}"/>
            </c:ext>
          </c:extLst>
        </c:ser>
        <c:ser>
          <c:idx val="2"/>
          <c:order val="2"/>
          <c:tx>
            <c:v>High imports</c:v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17.308293621173299</c:v>
                </c:pt>
                <c:pt idx="2">
                  <c:v>17.8888406280197</c:v>
                </c:pt>
                <c:pt idx="3">
                  <c:v>18.477659851445299</c:v>
                </c:pt>
                <c:pt idx="4">
                  <c:v>19.074922804316401</c:v>
                </c:pt>
                <c:pt idx="5">
                  <c:v>19.680804631597901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57-4CA9-AD2A-3657A817E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9:07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24575,'2047'0'0,"-1835"-9"0,-2-9 0,352-76 0,-437 72 0,241-11 0,128 34 0,-221 3 0,1238-4 0,-1463 3 0,0 2 0,1 2 0,-2 2 0,81 26 0,-53-13 0,515 129 120,11-45-1605,-493-94-5341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9:0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6015 1 24575,'-2'7'0,"1"1"0,-1 0 0,-1-1 0,1 1 0,-1-1 0,-1 0 0,1 0 0,-1 0 0,0 0 0,-9 9 0,1 3 0,-619 1039 0,173-311 0,121-243 0,238-339 0,-88 203 0,91-146 0,-211 423 0,41-228 0,41-69 0,31 18 0,93-116 0,53-125 0,-105 197 0,-29-33 0,-16 29 0,-3 57 0,90-160 0,-181 262 0,213-366 0,-107 204 0,156-253 0,2 1 0,4 1 0,2 1 0,4 1 0,-14 88 0,11 5 0,-25 136 0,37-258 0,-2-1 0,-1 0 0,-2-1 0,-1 0 0,-40 63 0,-4-9 0,20-34 0,2 2 0,4 1 0,-30 68 0,30-40 0,-63 142 0,75-185 0,-2-1 0,-1-2 0,-37 46 0,16-30 0,-119 163 0,154-202 0,-70 109 0,-169 206 0,223-305 0,16-17 0,0 0 0,0 1 0,1 0 0,0 1 0,1-1 0,0 2 0,1-1 0,0 1 0,1 0 0,1 0 0,-6 21 0,3 29 0,3 0 0,3 81 0,-1 31 0,2-154-113,0-3 174,0 0 1,-2 0 0,-5 23 0,7-37-130,0-1 0,0 1 0,0-1-1,-1 1 1,1-1 0,-1 1 0,0-1 0,0 0 0,0 0 0,-1 0-1,1 0 1,-1 0 0,1-1 0,-1 1 0,0-1 0,0 1 0,0-1 0,0 0-1,-1 0 1,1-1 0,-7 3 0,-12 1-6758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9:1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0 24575,'-56'814'0,"-119"1113"-666,140-1511 605,-17 1324 61,69-1437 0,64 343 0,137 270 401,-20-123-75,-123-361-326,59 299 0,-104-589 0,-7 2 0,-6 0 0,-2 161 0,-20 1377 0,6-1658 0,2 0 0,1 0 0,10 35 0,-3-16 0,19 72 0,-15-66 0,-3 1 0,11 91 0,-22-122 0,1 0 0,1 0 0,0-1 0,2 1 0,0-1 0,1 0 0,1-1 0,0 1 0,2-1 0,0-1 0,12 18 0,-18-31 0,-1 0 0,1-1 0,-1 1 0,1-1 0,0 0 0,0 0 0,0 0 0,0 0 0,0 0 0,1-1 0,-1 1 0,0-1 0,1 0 0,-1 0 0,1 0 0,-1-1 0,1 1 0,0-1 0,-1 0 0,1 0 0,-1 0 0,1 0 0,0-1 0,-1 1 0,1-1 0,-1 0 0,1 0 0,-1 0 0,1-1 0,-1 1 0,0-1 0,0 0 0,6-4 0,9-5 0,-1-2 0,0 0 0,-1-1 0,19-22 0,-19 18 0,0-1 0,-1 0 0,-1-1 0,-1-1 0,-1 0 0,-1 0 0,-1-1 0,-1-1 0,0 0 0,-2 0 0,8-45 0,-9 39 0,1-1 0,1 1 0,1 1 0,2 0 0,1 0 0,1 1 0,1 0 0,2 2 0,0-1 0,2 2 0,1 0 0,0 2 0,32-29 0,-39 40-273,0-1 0,-1-1 0,0 0 0,9-16 0,-11 15-6553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3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24575,'0'5'0,"0"6"0,0 7 0,0 4 0,0 4 0,0 2 0,0 6 0,0 2 0,0 10 0,0 2 0,0-3 0,0-9-8191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4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24575,'4'-3'0,"-1"0"0,1 1 0,-1 0 0,1-1 0,0 2 0,0-1 0,0 0 0,0 1 0,0-1 0,1 1 0,-1 0 0,5 0 0,57-3 0,-44 4 0,17-2 0,37-1 0,-1 2 0,86 12 0,-147-9 0,1 0 0,-1 2 0,0-1 0,0 2 0,0 0 0,-1 1 0,1 0 0,16 11 0,-26-14 0,0-1 0,-1 1 0,1 0 0,-1 0 0,0 0 0,0 1 0,0-1 0,0 1 0,-1 0 0,1 0 0,-1 0 0,0 0 0,0 0 0,0 0 0,-1 0 0,1 1 0,-1-1 0,0 1 0,-1-1 0,1 1 0,-1-1 0,0 1 0,0 0 0,0-1 0,0 1 0,-1-1 0,0 1 0,0-1 0,0 1 0,-2 4 0,-2 2 0,1 0 0,-1-1 0,-1 1 0,0-1 0,0 0 0,-1-1 0,0 0 0,0 0 0,-1 0 0,-1-1 0,1 0 0,-1-1 0,-1 0 0,1 0 0,-18 8 0,12-7 0,-1-2 0,1 0 0,-1-1 0,-1 0 0,1-1 0,0-1 0,-1-1 0,0 0 0,0-1 0,-18-1 0,81 5 0,0 3 0,56 17 0,118 45 0,-216-69 0,5 2 0,-1 1 0,1-1 0,-1 1 0,11 8 0,-18-12 0,-1 0 0,1 1 0,0 0 0,0-1 0,-1 1 0,1-1 0,0 1 0,-1 0 0,1 0 0,-1-1 0,1 1 0,0 0 0,-1 0 0,0 0 0,1-1 0,-1 1 0,0 0 0,1 0 0,-1 0 0,0 0 0,0 0 0,0 0 0,0 0 0,0 0 0,0 0 0,0 0 0,0-1 0,0 1 0,0 0 0,0 0 0,0 0 0,-1 0 0,1 0 0,-1 0 0,1 0 0,0 0 0,-1-1 0,1 1 0,-1 0 0,0 0 0,1-1 0,-1 1 0,1 0 0,-1-1 0,0 1 0,0-1 0,1 1 0,-1-1 0,0 1 0,0-1 0,0 1 0,-1-1 0,-8 7 14,0-1-1,-1-1 0,0 0 0,0-1 1,0 0-1,-1 0 0,1-1 1,-17 2-1,-6-1-756,-55-1 1,59-3-6084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41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129 237 24575,'17'237'0,"-4"-69"0,-29-404 0,7 148 0,4-134 0,5 219 0,0-1 0,0 0 0,1 0 0,-1 0 0,1 1 0,0-1 0,0 0 0,0 1 0,1-1 0,-1 1 0,1-1 0,0 1 0,0 0 0,0-1 0,0 1 0,1 0 0,-1 1 0,1-1 0,0 0 0,-1 1 0,1-1 0,4-1 0,1 0 0,-1 1 0,1 1 0,0-1 0,-1 1 0,1 1 0,0-1 0,0 2 0,0-1 0,13 1 0,-14 0 0,6 0 0,1 0 0,0 0 0,-1 2 0,1-1 0,24 8 0,-35-8 0,-1 0 0,1 0 0,-1 1 0,1-1 0,-1 0 0,1 1 0,-1 0 0,0 0 0,0-1 0,0 1 0,0 0 0,0 1 0,0-1 0,-1 0 0,1 1 0,-1-1 0,0 0 0,1 1 0,-1 0 0,0-1 0,0 1 0,-1 0 0,1-1 0,-1 1 0,1 0 0,-1 0 0,0 0 0,0-1 0,0 1 0,0 0 0,0 0 0,-1 0 0,1-1 0,-3 6 0,-3 11 0,-1 0 0,-1 0 0,0-1 0,-1 0 0,-1-1 0,-1 0 0,-1 0 0,-14 15 0,-22 35 0,46-65 0,1-1 0,0 1 0,0 0 0,0-1 0,0 1 0,0 0 0,0 0 0,1 0 0,-1 0 0,1-1 0,-1 1 0,1 0 0,0 0 0,-1 0 0,1 0 0,0 0 0,0 0 0,1 0 0,-1 0 0,0 0 0,1 0 0,-1 0 0,1 0 0,-1 0 0,1 0 0,0-1 0,0 1 0,0 0 0,0 0 0,0-1 0,0 1 0,1-1 0,-1 1 0,0-1 0,1 0 0,-1 1 0,1-1 0,0 0 0,-1 0 0,1 0 0,0 0 0,2 1 0,10 4 0,0 0 0,0-1 0,0-1 0,25 5 0,-17-4 0,-18-4 0,15 3 0,0 2 0,37 15 0,-53-19 0,1-1 0,0 1 0,-1 0 0,1 0 0,-1 1 0,1-1 0,-1 1 0,0 0 0,0 0 0,0 0 0,-1 0 0,1 0 0,-1 0 0,0 1 0,0-1 0,0 1 0,0 0 0,0-1 0,-1 1 0,0 0 0,2 5 0,-3-6 0,0-1 0,-1 0 0,1 0 0,0 0 0,-1 0 0,1 1 0,-1-1 0,0 0 0,1 0 0,-1 0 0,0 0 0,-1 0 0,1 0 0,0-1 0,0 1 0,-1 0 0,1 0 0,-1-1 0,1 1 0,-1-1 0,0 0 0,0 1 0,0-1 0,1 0 0,-1 0 0,0 0 0,-1 0 0,1 0 0,0-1 0,0 1 0,0-1 0,-3 1 0,-9 2 0,0 0 0,0-1 0,-23 0 0,37-2 0,-152-2 0,101-1 0,0 2 0,-79 9 0,101-2-1365,7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44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211 197 24575,'0'-8'0,"-1"0"0,2 0 0,-1 0 0,1 0 0,0 0 0,1 0 0,0 0 0,0 1 0,1-1 0,0 1 0,0 0 0,1-1 0,0 2 0,0-1 0,0 0 0,1 1 0,0 0 0,0 0 0,1 0 0,0 0 0,0 1 0,0 0 0,9-5 0,-11 7 0,0 0 0,0 0 0,0 1 0,1 0 0,-1 0 0,0 0 0,1 0 0,-1 1 0,1-1 0,0 1 0,0 0 0,-1 1 0,1-1 0,0 1 0,0 0 0,0 0 0,0 0 0,-1 1 0,1 0 0,7 2 0,-7-1 0,-1 1 0,0-1 0,0 1 0,0 0 0,0 0 0,-1 0 0,1 1 0,-1-1 0,0 1 0,0 0 0,0 0 0,0 0 0,-1 0 0,1 1 0,-1-1 0,0 1 0,-1-1 0,1 1 0,-1 0 0,1 6 0,3 7 0,-2 1 0,0 1 0,-1-1 0,-1 0 0,0 0 0,-2 1 0,0-1 0,-1 0 0,-8 31 0,6-43 0,0 0 0,0 0 0,0 0 0,-1-1 0,0 1 0,0-1 0,0 0 0,-1-1 0,0 0 0,0 1 0,-1-2 0,1 1 0,-1-1 0,0 0 0,0 0 0,-13 4 0,-15 4 0,1-1 0,-52 9 0,36-9 0,-89 25 0,127-30 0,16-3 0,21-1 0,108-16 131,-38 2-1627,-61 9-5330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4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4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24575,'-2'16'0,"0"0"0,-1-1 0,-1 1 0,0-1 0,-1 1 0,-1-1 0,0-1 0,-16 26 0,14-24 0,0-1 0,0 1 0,2 0 0,0 1 0,1 0 0,-6 32 0,11-42 0,1 0 0,0 0 0,0 0 0,1 0 0,0-1 0,0 1 0,0-1 0,1 1 0,0-1 0,0 0 0,1 0 0,0 0 0,0-1 0,0 1 0,0-1 0,9 8 0,-1-2 0,-1 0 0,1-1 0,0-1 0,1 0 0,0 0 0,20 8 0,-24-14 0,0 0 0,1 0 0,-1-1 0,1-1 0,0 1 0,-1-2 0,1 1 0,0-1 0,-1-1 0,1 0 0,0 0 0,-1-1 0,18-5 0,-14 3 0,-1-1 0,1 0 0,-2 0 0,1-1 0,0-1 0,-1 0 0,-1 0 0,1-1 0,16-17 0,-26 25 0,0-1 0,0 0 0,0 1 0,-1-1 0,1 0 0,0 1 0,0-1 0,-1 0 0,1 0 0,-1 0 0,1 0 0,-1 0 0,1 0 0,-1 0 0,1 1 0,-1-1 0,0 0 0,1-1 0,-1 1 0,0 0 0,0 0 0,0 0 0,0 0 0,0 0 0,0 0 0,0 0 0,0 0 0,0 0 0,-1 0 0,1 0 0,0 0 0,-1 0 0,1 0 0,-1 0 0,1 0 0,-1 0 0,1 0 0,-1 1 0,1-1 0,-1 0 0,0 0 0,0 0 0,1 1 0,-1-1 0,0 1 0,0-1 0,0 0 0,0 1 0,0-1 0,0 1 0,0 0 0,0-1 0,0 1 0,0 0 0,0-1 0,0 1 0,-1 0 0,-10-3 0,0 1 0,1 0 0,-22-1 0,32 3 0,-32-1 0,-59 6 0,81-4 0,0 0 0,0 1 0,0 1 0,0 0 0,1 0 0,-1 1 0,1 1 0,-17 9 0,11 2-1365,11-1-5461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4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88 24575,'0'441'0,"-22"-582"0,19 108 0,1 1 0,1 0 0,2-1 0,2 1 0,7-39 0,-9 63 0,1 1 0,0-1 0,0 0 0,1 1 0,0 0 0,0-1 0,1 1 0,0 0 0,0 1 0,1-1 0,0 1 0,0 0 0,0 0 0,1 0 0,0 1 0,0-1 0,0 2 0,1-1 0,-1 1 0,1 0 0,0 0 0,1 1 0,-1 0 0,0 0 0,1 0 0,14-2 0,-18 5 0,-1-1 0,1 1 0,0-1 0,0 1 0,-1 0 0,1 0 0,0 1 0,0-1 0,-1 1 0,1 0 0,-1 0 0,1 0 0,0 0 0,-1 1 0,0-1 0,1 1 0,-1 0 0,4 3 0,-5-3 0,0 0 0,0 1 0,0-1 0,0 1 0,-1 0 0,1-1 0,-1 1 0,1 0 0,-1 0 0,0 0 0,0 0 0,-1 0 0,1 0 0,0 0 0,-1 0 0,0 1 0,0-1 0,0 0 0,0 0 0,0 0 0,-1 0 0,-1 5 0,1 0 0,-1 0 0,-1-1 0,0 1 0,0-1 0,0 1 0,-1-1 0,0 0 0,0 0 0,-1 0 0,-7 8 0,-4 2 0,-1-1 0,-23 17 0,31-26 0,9-7 0,0 0 0,0 0 0,0 0 0,-1 0 0,1 0 0,0 0 0,0 0 0,0 1 0,-1-1 0,1 0 0,0 0 0,0 0 0,0 0 0,0 0 0,0 1 0,-1-1 0,1 0 0,0 0 0,0 0 0,0 1 0,0-1 0,0 0 0,0 0 0,0 0 0,0 1 0,0-1 0,0 0 0,0 0 0,0 0 0,-1 1 0,2-1 0,-1 0 0,0 0 0,0 1 0,0-1 0,0 0 0,0 0 0,0 0 0,0 1 0,0-1 0,0 0 0,0 0 0,0 0 0,0 1 0,1-1 0,-1 0 0,0 0 0,0 0 0,0 0 0,0 1 0,0-1 0,1 0 0,16 4 0,27-3 0,-42-1 0,19-1 0,-10 1 0,0-1 0,0 1 0,-1 1 0,1 0 0,0 0 0,14 5 0,-22-5 0,0 0 0,-1 0 0,1 1 0,0-1 0,-1 1 0,1 0 0,-1 0 0,1 0 0,-1 0 0,0 1 0,0-1 0,0 0 0,0 1 0,0 0 0,-1-1 0,1 1 0,-1 0 0,0 0 0,0 0 0,0 0 0,0 0 0,0 0 0,0 0 0,-1 0 0,0 0 0,1 6 0,-1-2 0,1 0 0,-1 0 0,0 0 0,-1 1 0,0-1 0,0 0 0,0 0 0,-1 0 0,0-1 0,-3 9 0,2-11 0,1 0 0,0-1 0,-1 1 0,0-1 0,0 1 0,0-1 0,0 0 0,0 0 0,-1-1 0,1 1 0,-1-1 0,1 0 0,-1 1 0,0-2 0,0 1 0,0 0 0,-8 1 0,-9 1 0,1 0 0,-1-2 0,0 0 0,-42-3 0,48-1 0,-1 1 0,0 1 0,0 0 0,1 2 0,-1 0 0,0 0 0,1 1 0,0 1 0,0 1 0,-16 6 0,22-6-341,-2 0 0,1 0-1,-19 4 1,9-4-6485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5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24575,'5'0'0,"6"0"0,6 0 0,16 0 0,5 0 0,3 0 0,-2 0 0,8 0 0,0 0 0,2 0 0,-3 0 0,-8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5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38 24575,'-189'1'0,"185"0"0,0-1 0,0 2 0,0-1 0,1 0 0,-1 1 0,1 0 0,-1-1 0,1 2 0,0-1 0,-1 0 0,1 1 0,0-1 0,1 1 0,-1 0 0,0 0 0,1 0 0,-1 0 0,1 0 0,0 1 0,0-1 0,1 1 0,-1-1 0,0 1 0,1 0 0,-1 6 0,1-8 0,0 2 0,0-1 0,0 0 0,1 0 0,-1 0 0,1 0 0,0 0 0,0 0 0,0 0 0,0 1 0,1-1 0,-1 0 0,1 0 0,0 0 0,-1 0 0,2 0 0,-1 0 0,0 0 0,1 0 0,-1-1 0,1 1 0,0 0 0,0-1 0,0 0 0,0 1 0,0-1 0,0 0 0,1 0 0,-1 0 0,1 0 0,4 2 0,-4-3 0,0 0 0,0 0 0,1 0 0,-1 0 0,1-1 0,-1 0 0,0 0 0,1 0 0,-1 0 0,1 0 0,-1-1 0,0 1 0,1-1 0,-1 0 0,0 0 0,0 0 0,1 0 0,-1-1 0,0 1 0,0-1 0,0 0 0,-1 0 0,1 0 0,0 0 0,-1 0 0,1-1 0,-1 1 0,0-1 0,0 0 0,0 0 0,0 1 0,0-1 0,-1 0 0,1 0 0,-1-1 0,1-3 0,0 3 0,0 0 0,0 0 0,-1 0 0,0 0 0,1-1 0,-2 1 0,1 0 0,0-1 0,-1 1 0,0-1 0,0 1 0,0 0 0,-1-1 0,1 1 0,-1-1 0,0 1 0,0 0 0,-1 0 0,1-1 0,-1 1 0,0 0 0,0 0 0,0 1 0,-1-1 0,1 0 0,-1 1 0,-6-6 0,2 5 10,0 0 0,0 0 0,-1 1 0,1 0 0,-1 1 0,0 0 0,0 0 0,1 1 0,-1 0 0,0 0 0,-12 1 0,16-1-75,0 1 1,-1 0-1,1 0 1,0 1-1,0-1 1,-1 1-1,1 0 0,0 0 1,0 0-1,0 1 1,0-1-1,0 1 1,1 0-1,-1 0 0,0 1 1,1-1-1,-1 1 1,1-1-1,0 1 1,0 0-1,0 0 1,-3 5-1,-2 11-6761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55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24575,'-1'1'0,"-1"-1"0,1 0 0,0 1 0,0 0 0,-1-1 0,1 1 0,0 0 0,0 0 0,0 0 0,0 0 0,0-1 0,0 1 0,0 1 0,0-1 0,1 0 0,-1 0 0,0 0 0,1 0 0,-1 1 0,1-1 0,-1 0 0,1 0 0,-1 1 0,1-1 0,0 0 0,0 1 0,-1 1 0,-4 44 0,5-42 0,-1 0 0,1 0 0,0 0 0,1 0 0,-1-1 0,1 1 0,0 0 0,0-1 0,0 1 0,1 0 0,-1-1 0,1 1 0,0-1 0,0 0 0,1 0 0,-1 0 0,1 0 0,0 0 0,0 0 0,1-1 0,-1 0 0,1 1 0,-1-1 0,1-1 0,0 1 0,0 0 0,0-1 0,1 0 0,-1 0 0,0 0 0,1 0 0,-1-1 0,1 0 0,0 0 0,0 0 0,-1 0 0,1-1 0,0 0 0,0 0 0,-1 0 0,1-1 0,0 1 0,0-1 0,-1 0 0,1-1 0,-1 1 0,7-4 0,-9 5 5,0-1 0,0 0 0,0 0-1,0-1 1,0 1 0,0 0 0,-1 0 0,1-1-1,-1 1 1,1-1 0,-1 0 0,1 1 0,-1-1-1,0 0 1,0 0 0,0 0 0,0 0-1,0 0 1,0 0 0,-1 0 0,1 0 0,0 0-1,-1 0 1,0-2 0,0 3-13,0 0-1,0 0 1,0 0-1,0 0 1,0 1 0,0-1-1,-1 0 1,1 0 0,0 1-1,-1-1 1,1 0-1,0 0 1,-1 1 0,1-1-1,-1 0 1,1 1 0,-1-1-1,1 1 1,-1-1-1,0 1 1,1-1 0,-1 1-1,-1-2 1,1 2-72,-1-1-1,0 1 1,0 0 0,1-1 0,-1 1-1,0 0 1,0 0 0,0 0 0,1 0-1,-1 0 1,0 0 0,0 1 0,1-1-1,-1 1 1,-2 0 0,-18 7-6746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1:01:5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SARS 2022/2025; Galp Matola, 3 Dec 2020; </a:t>
            </a:r>
            <a:r>
              <a:rPr lang="en-ZA" dirty="0" err="1"/>
              <a:t>Petromoc</a:t>
            </a:r>
            <a:r>
              <a:rPr lang="en-ZA" dirty="0"/>
              <a:t> logistics; market-sizing workbook. Map: © OpenStreetMap contributors / </a:t>
            </a:r>
            <a:r>
              <a:rPr lang="en-ZA" dirty="0" err="1"/>
              <a:t>Geofabrik</a:t>
            </a:r>
            <a:r>
              <a:rPr lang="en-ZA" dirty="0"/>
              <a:t>; Natural Earth; </a:t>
            </a:r>
            <a:r>
              <a:rPr lang="en-ZA" dirty="0" err="1"/>
              <a:t>geoBoundaries</a:t>
            </a:r>
            <a:r>
              <a:rPr lang="en-ZA" dirty="0"/>
              <a:t>. Routes show connectivity, not validated tanker access. Compare the same product and destination.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11" Type="http://schemas.openxmlformats.org/officeDocument/2006/relationships/slide" Target="slide11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24" Type="http://schemas.openxmlformats.org/officeDocument/2006/relationships/image" Target="../media/image19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customXml" Target="../ink/ink9.xml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22" name="Evidence unit">
            <a:extLst>
              <a:ext uri="{FF2B5EF4-FFF2-40B4-BE49-F238E27FC236}">
                <a16:creationId xmlns:a16="http://schemas.microsoft.com/office/drawing/2014/main" id="{FC1A39E3-57CF-EED8-721E-D863AA94870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ZA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calendar 2025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Evidence insights">
            <a:extLst>
              <a:ext uri="{FF2B5EF4-FFF2-40B4-BE49-F238E27FC236}">
                <a16:creationId xmlns:a16="http://schemas.microsoft.com/office/drawing/2014/main" id="{D9783925-0AC7-F42D-CE65-EFD015F64305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Supply: 5.80bn L assumed production + 16.70bn L recorded imports.
Uses: 20.99bn L estimated consumption + 1.55bn L recorded exports.
Supply is 0.034bn L below uses. Stock change is unmeasured; the gap remains a reconciliation item.
Petrol and diesel differences offset: −2.00bn L and +1.97bn L respectively.</a:t>
            </a:r>
            <a:endParaRPr sz="13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Evidence takeaway">
            <a:extLst>
              <a:ext uri="{FF2B5EF4-FFF2-40B4-BE49-F238E27FC236}">
                <a16:creationId xmlns:a16="http://schemas.microsoft.com/office/drawing/2014/main" id="{F99B9D74-922F-317F-263E-F2536C0C76F0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Production + imports − exports = 20.95bn L available, versus 20.99bn L estimated consumption.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" name="Vopak exhibit left heading">
            <a:extLst>
              <a:ext uri="{FF2B5EF4-FFF2-40B4-BE49-F238E27FC236}">
                <a16:creationId xmlns:a16="http://schemas.microsoft.com/office/drawing/2014/main" id="{2078293A-06CD-E24D-A1D4-5D5A4F014FCC}"/>
              </a:ext>
            </a:extLst>
          </p:cNvPr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2025 petrol and diesel balance</a:t>
            </a:r>
            <a:endParaRPr sz="1400" b="1">
              <a:latin typeface="Lato"/>
            </a:endParaRPr>
          </a:p>
        </p:txBody>
      </p:sp>
      <p:sp>
        <p:nvSpPr>
          <p:cNvPr id="26" name="Vopak exhibit right heading">
            <a:extLst>
              <a:ext uri="{FF2B5EF4-FFF2-40B4-BE49-F238E27FC236}">
                <a16:creationId xmlns:a16="http://schemas.microsoft.com/office/drawing/2014/main" id="{CCB0A90D-3C75-BE7C-37E3-52E5C4A2A0C4}"/>
              </a:ext>
            </a:extLst>
          </p:cNvPr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/>
              <a:t>Reported trade; estimated domestic balance</a:t>
            </a:r>
            <a:endParaRPr sz="1300"/>
          </a:p>
        </p:txBody>
      </p:sp>
      <p:cxnSp>
        <p:nvCxnSpPr>
          <p:cNvPr id="27" name="Vopak exhibit left rule">
            <a:extLst>
              <a:ext uri="{FF2B5EF4-FFF2-40B4-BE49-F238E27FC236}">
                <a16:creationId xmlns:a16="http://schemas.microsoft.com/office/drawing/2014/main" id="{DE1D99BE-4A5C-E2CA-913D-2AD83CBD541D}"/>
              </a:ext>
            </a:extLst>
          </p:cNvPr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opak exhibit right rule">
            <a:extLst>
              <a:ext uri="{FF2B5EF4-FFF2-40B4-BE49-F238E27FC236}">
                <a16:creationId xmlns:a16="http://schemas.microsoft.com/office/drawing/2014/main" id="{AA069320-2CAE-3674-A292-C8B016B8C9BA}"/>
              </a:ext>
            </a:extLst>
          </p:cNvPr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opak exhibit divider">
            <a:extLst>
              <a:ext uri="{FF2B5EF4-FFF2-40B4-BE49-F238E27FC236}">
                <a16:creationId xmlns:a16="http://schemas.microsoft.com/office/drawing/2014/main" id="{B9A6B1EA-F8D5-F43D-C0BA-9F85D8834AE4}"/>
              </a:ext>
            </a:extLst>
          </p:cNvPr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opak exhibit marker 0">
            <a:extLst>
              <a:ext uri="{FF2B5EF4-FFF2-40B4-BE49-F238E27FC236}">
                <a16:creationId xmlns:a16="http://schemas.microsoft.com/office/drawing/2014/main" id="{4ABD902C-A424-48F5-F570-578E003BC3A5}"/>
              </a:ext>
            </a:extLst>
          </p:cNvPr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Vopak exhibit marker 1">
            <a:extLst>
              <a:ext uri="{FF2B5EF4-FFF2-40B4-BE49-F238E27FC236}">
                <a16:creationId xmlns:a16="http://schemas.microsoft.com/office/drawing/2014/main" id="{26EB6FF8-ED69-15AB-0475-32C273DBB8E2}"/>
              </a:ext>
            </a:extLst>
          </p:cNvPr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opak exhibit marker 2">
            <a:extLst>
              <a:ext uri="{FF2B5EF4-FFF2-40B4-BE49-F238E27FC236}">
                <a16:creationId xmlns:a16="http://schemas.microsoft.com/office/drawing/2014/main" id="{18D752D8-7BF5-1DE5-7FE8-3D2C169CD54D}"/>
              </a:ext>
            </a:extLst>
          </p:cNvPr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">
            <a:extLst>
              <a:ext uri="{FF2B5EF4-FFF2-40B4-BE49-F238E27FC236}">
                <a16:creationId xmlns:a16="http://schemas.microsoft.com/office/drawing/2014/main" id="{39FFC294-1E86-1485-C073-327B6D2264B6}"/>
              </a:ext>
            </a:extLst>
          </p:cNvPr>
          <p:cNvGraphicFramePr/>
          <p:nvPr/>
        </p:nvGraphicFramePr>
        <p:xfrm>
          <a:off x="457200" y="2333625"/>
          <a:ext cx="644652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00" name="Balance stack label 0"/>
          <p:cNvSpPr txBox="1"/>
          <p:nvPr/>
        </p:nvSpPr>
        <p:spPr>
          <a:xfrm>
            <a:off x="1847850" y="4543425"/>
            <a:ext cx="110490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Production</a:t>
            </a:r>
          </a:p>
        </p:txBody>
      </p:sp>
      <p:sp>
        <p:nvSpPr>
          <p:cNvPr id="9901" name="Balance stack label 1"/>
          <p:cNvSpPr txBox="1"/>
          <p:nvPr/>
        </p:nvSpPr>
        <p:spPr>
          <a:xfrm>
            <a:off x="1933575" y="3314700"/>
            <a:ext cx="9334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Imports</a:t>
            </a:r>
          </a:p>
        </p:txBody>
      </p:sp>
      <p:sp>
        <p:nvSpPr>
          <p:cNvPr id="9902" name="Balance stack label 2"/>
          <p:cNvSpPr txBox="1"/>
          <p:nvPr/>
        </p:nvSpPr>
        <p:spPr>
          <a:xfrm>
            <a:off x="4667250" y="3714750"/>
            <a:ext cx="12763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Consumption</a:t>
            </a:r>
          </a:p>
        </p:txBody>
      </p:sp>
      <p:sp>
        <p:nvSpPr>
          <p:cNvPr id="9903" name="Balance stack label 3"/>
          <p:cNvSpPr txBox="1"/>
          <p:nvPr/>
        </p:nvSpPr>
        <p:spPr>
          <a:xfrm>
            <a:off x="6019800" y="2686050"/>
            <a:ext cx="8572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555555"/>
                </a:solidFill>
                <a:latin typeface="Lato"/>
              </a:rPr>
              <a:t>Exports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3145589907"/>
              </p:ext>
            </p:extLst>
          </p:nvPr>
        </p:nvGraphicFramePr>
        <p:xfrm>
          <a:off x="457200" y="1657350"/>
          <a:ext cx="10648950" cy="391477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estimated demand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115EDB6-F1EB-90EA-F2EA-60FC17F283C6}"/>
              </a:ext>
            </a:extLst>
          </p:cNvPr>
          <p:cNvSpPr/>
          <p:nvPr/>
        </p:nvSpPr>
        <p:spPr>
          <a:xfrm>
            <a:off x="9802368" y="2088451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Convert into stacked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6BC7F90-6BB2-C84D-2181-E408CE992263}"/>
              </a:ext>
            </a:extLst>
          </p:cNvPr>
          <p:cNvSpPr/>
          <p:nvPr/>
        </p:nvSpPr>
        <p:spPr>
          <a:xfrm>
            <a:off x="9802368" y="2088451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 dirty="0">
                <a:solidFill>
                  <a:schemeClr val="tx1"/>
                </a:solidFill>
              </a:rPr>
              <a:t> We need a time series for the graph on the LHS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versus 2025 | modelled base-case effects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Engine and vehicle improvements, fleet renewal and operating practices can lower fuel use per kilometre.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Activity and efficiency effects by 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868091FB-E293-A565-29C2-21D2FCD881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394084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802368" y="2088451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l/100km – mid 2020s and late 2020s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39CA6-736F-9F9F-FEDC-7E4E4345B182}"/>
              </a:ext>
            </a:extLst>
          </p:cNvPr>
          <p:cNvSpPr/>
          <p:nvPr/>
        </p:nvSpPr>
        <p:spPr>
          <a:xfrm>
            <a:off x="3785308" y="2088451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Replace with timeseries</a:t>
            </a:r>
          </a:p>
        </p:txBody>
      </p:sp>
      <p:pic>
        <p:nvPicPr>
          <p:cNvPr id="9" name="Picture 8" descr="Image of a graph lightbox">
            <a:extLst>
              <a:ext uri="{FF2B5EF4-FFF2-40B4-BE49-F238E27FC236}">
                <a16:creationId xmlns:a16="http://schemas.microsoft.com/office/drawing/2014/main" id="{91BCDE9B-72BE-25DD-B6F0-BF068B61C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11" y="1849443"/>
            <a:ext cx="7050024" cy="420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NMPP is the established inland connection discussed at right.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ED55322-E406-191C-6751-9ED8C23A201F}"/>
              </a:ext>
            </a:extLst>
          </p:cNvPr>
          <p:cNvSpPr/>
          <p:nvPr/>
        </p:nvSpPr>
        <p:spPr>
          <a:xfrm>
            <a:off x="8474799" y="54220"/>
            <a:ext cx="2936151" cy="10348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solidFill>
                  <a:schemeClr val="tx1"/>
                </a:solidFill>
              </a:rPr>
              <a:t>Do we want to add NMPP pipeline to map?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Durban 2.63B L, Lesedi 1.32B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Lesedi included in Durban flow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4140835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91F11-E13B-4495-1B15-A2572671F6FE}"/>
              </a:ext>
            </a:extLst>
          </p:cNvPr>
          <p:cNvSpPr/>
          <p:nvPr/>
        </p:nvSpPr>
        <p:spPr>
          <a:xfrm>
            <a:off x="10777091" y="2448253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Are imports good for us or not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37963D-AD37-A35D-C17B-AA3620FF935D}"/>
              </a:ext>
            </a:extLst>
          </p:cNvPr>
          <p:cNvGrpSpPr/>
          <p:nvPr/>
        </p:nvGrpSpPr>
        <p:grpSpPr>
          <a:xfrm>
            <a:off x="8608417" y="2032584"/>
            <a:ext cx="2802240" cy="4377960"/>
            <a:chOff x="8608417" y="2032584"/>
            <a:chExt cx="2802240" cy="437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5F3AC2-3327-FCC7-6D67-0929A2F786F7}"/>
                    </a:ext>
                  </a:extLst>
                </p14:cNvPr>
                <p14:cNvContentPartPr/>
                <p14:nvPr/>
              </p14:nvContentPartPr>
              <p14:xfrm>
                <a:off x="8712457" y="2032584"/>
                <a:ext cx="2698200" cy="127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5F3AC2-3327-FCC7-6D67-0929A2F786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03457" y="2023609"/>
                  <a:ext cx="2715840" cy="1453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D744A8-D0D6-EF14-7D69-A857EA7FEE48}"/>
                    </a:ext>
                  </a:extLst>
                </p14:cNvPr>
                <p14:cNvContentPartPr/>
                <p14:nvPr/>
              </p14:nvContentPartPr>
              <p14:xfrm>
                <a:off x="9167137" y="2126544"/>
                <a:ext cx="2165400" cy="4115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D744A8-D0D6-EF14-7D69-A857EA7FEE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58138" y="2117544"/>
                  <a:ext cx="2183037" cy="41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1258E4-4FFA-4C56-24AD-AD7BFE2761D2}"/>
                    </a:ext>
                  </a:extLst>
                </p14:cNvPr>
                <p14:cNvContentPartPr/>
                <p14:nvPr/>
              </p14:nvContentPartPr>
              <p14:xfrm>
                <a:off x="8608417" y="2116464"/>
                <a:ext cx="596160" cy="4294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1258E4-4FFA-4C56-24AD-AD7BFE2761D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99417" y="2107464"/>
                  <a:ext cx="613800" cy="431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6289BB-F2CA-4455-B274-7078AFB32F86}"/>
              </a:ext>
            </a:extLst>
          </p:cNvPr>
          <p:cNvGrpSpPr/>
          <p:nvPr/>
        </p:nvGrpSpPr>
        <p:grpSpPr>
          <a:xfrm>
            <a:off x="10530817" y="3849504"/>
            <a:ext cx="566640" cy="261360"/>
            <a:chOff x="10530817" y="3849504"/>
            <a:chExt cx="56664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EEC612-1C23-2350-33C3-BC79979C1BED}"/>
                    </a:ext>
                  </a:extLst>
                </p14:cNvPr>
                <p14:cNvContentPartPr/>
                <p14:nvPr/>
              </p14:nvContentPartPr>
              <p14:xfrm>
                <a:off x="10530817" y="3924384"/>
                <a:ext cx="360" cy="128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EEC612-1C23-2350-33C3-BC79979C1B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21817" y="3915384"/>
                  <a:ext cx="18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F338E2-7EA0-9E18-0E35-2021A65D643A}"/>
                    </a:ext>
                  </a:extLst>
                </p14:cNvPr>
                <p14:cNvContentPartPr/>
                <p14:nvPr/>
              </p14:nvContentPartPr>
              <p14:xfrm>
                <a:off x="10582297" y="3891984"/>
                <a:ext cx="299520" cy="21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F338E2-7EA0-9E18-0E35-2021A65D643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573297" y="3882984"/>
                  <a:ext cx="3171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86C1384-8528-6F44-4075-0DEB83FB14DA}"/>
                    </a:ext>
                  </a:extLst>
                </p14:cNvPr>
                <p14:cNvContentPartPr/>
                <p14:nvPr/>
              </p14:nvContentPartPr>
              <p14:xfrm>
                <a:off x="10895497" y="3849504"/>
                <a:ext cx="201960" cy="231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86C1384-8528-6F44-4075-0DEB83FB14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86497" y="3840490"/>
                  <a:ext cx="219600" cy="2491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144456-6151-7D26-FF3B-BE41721F63D1}"/>
              </a:ext>
            </a:extLst>
          </p:cNvPr>
          <p:cNvGrpSpPr/>
          <p:nvPr/>
        </p:nvGrpSpPr>
        <p:grpSpPr>
          <a:xfrm>
            <a:off x="10578337" y="4817544"/>
            <a:ext cx="705600" cy="227520"/>
            <a:chOff x="10578337" y="4817544"/>
            <a:chExt cx="70560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614290-2685-3586-E10B-190009EBF649}"/>
                    </a:ext>
                  </a:extLst>
                </p14:cNvPr>
                <p14:cNvContentPartPr/>
                <p14:nvPr/>
              </p14:nvContentPartPr>
              <p14:xfrm>
                <a:off x="10578337" y="4840224"/>
                <a:ext cx="172080" cy="184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614290-2685-3586-E10B-190009EBF64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69356" y="4831224"/>
                  <a:ext cx="189683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40C8CC-5B04-9D7D-4B3E-EA02F0FAE31B}"/>
                    </a:ext>
                  </a:extLst>
                </p14:cNvPr>
                <p14:cNvContentPartPr/>
                <p14:nvPr/>
              </p14:nvContentPartPr>
              <p14:xfrm>
                <a:off x="10828897" y="4993224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40C8CC-5B04-9D7D-4B3E-EA02F0FAE31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19897" y="49842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3B405D-8A33-4116-08A6-80D33A78848F}"/>
                    </a:ext>
                  </a:extLst>
                </p14:cNvPr>
                <p14:cNvContentPartPr/>
                <p14:nvPr/>
              </p14:nvContentPartPr>
              <p14:xfrm>
                <a:off x="10934737" y="4859664"/>
                <a:ext cx="163800" cy="185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3B405D-8A33-4116-08A6-80D33A78848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925737" y="4850664"/>
                  <a:ext cx="181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FF2EE2-74F8-CA6C-28A1-3EE0D1DFED7A}"/>
                    </a:ext>
                  </a:extLst>
                </p14:cNvPr>
                <p14:cNvContentPartPr/>
                <p14:nvPr/>
              </p14:nvContentPartPr>
              <p14:xfrm>
                <a:off x="11106817" y="4817544"/>
                <a:ext cx="177120" cy="195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FF2EE2-74F8-CA6C-28A1-3EE0D1DFED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97817" y="4808561"/>
                  <a:ext cx="194760" cy="2134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FBA43CD-0ADD-2D0F-C834-BA33ACF157EC}"/>
                    </a:ext>
                  </a:extLst>
                </p14:cNvPr>
                <p14:cNvContentPartPr/>
                <p14:nvPr/>
              </p14:nvContentPartPr>
              <p14:xfrm>
                <a:off x="10612897" y="5044344"/>
                <a:ext cx="14832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FBA43CD-0ADD-2D0F-C834-BA33ACF157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03897" y="5035344"/>
                  <a:ext cx="1659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4AA154E-79E1-58FC-9C66-D78238F2247A}"/>
                  </a:ext>
                </a:extLst>
              </p14:cNvPr>
              <p14:cNvContentPartPr/>
              <p14:nvPr/>
            </p14:nvContentPartPr>
            <p14:xfrm>
              <a:off x="214657" y="2349384"/>
              <a:ext cx="124560" cy="74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4AA154E-79E1-58FC-9C66-D78238F2247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5683" y="2340384"/>
                <a:ext cx="142149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8D7DDA9-49A6-18E7-7995-2DD773340AB3}"/>
                  </a:ext>
                </a:extLst>
              </p14:cNvPr>
              <p14:cNvContentPartPr/>
              <p14:nvPr/>
            </p14:nvContentPartPr>
            <p14:xfrm>
              <a:off x="143737" y="2784264"/>
              <a:ext cx="68400" cy="73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8D7DDA9-49A6-18E7-7995-2DD773340AB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4737" y="2775264"/>
                <a:ext cx="860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6CDB999-08E8-B212-CD5A-08367CF442CF}"/>
                  </a:ext>
                </a:extLst>
              </p14:cNvPr>
              <p14:cNvContentPartPr/>
              <p14:nvPr/>
            </p14:nvContentPartPr>
            <p14:xfrm>
              <a:off x="338857" y="3349104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6CDB999-08E8-B212-CD5A-08367CF442C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9857" y="33401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Gross import requirement,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4FB408B-3022-BC37-CBE7-5FEF1AFBF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950206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A1893E2-15EF-9370-1FFE-66DFE7D0F9F5}"/>
              </a:ext>
            </a:extLst>
          </p:cNvPr>
          <p:cNvSpPr/>
          <p:nvPr/>
        </p:nvSpPr>
        <p:spPr>
          <a:xfrm>
            <a:off x="9527283" y="42424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Are imports good for us or not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8313E0-455F-E1C8-C19C-24FB5A6241C3}"/>
              </a:ext>
            </a:extLst>
          </p:cNvPr>
          <p:cNvSpPr/>
          <p:nvPr/>
        </p:nvSpPr>
        <p:spPr>
          <a:xfrm>
            <a:off x="4148960" y="1977389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Add demand – line baseline</a:t>
            </a:r>
          </a:p>
        </p:txBody>
      </p:sp>
    </p:spTree>
    <p:extLst>
      <p:ext uri="{BB962C8B-B14F-4D97-AF65-F5344CB8AC3E}">
        <p14:creationId xmlns:p14="http://schemas.microsoft.com/office/powerpoint/2010/main" val="13249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3150" b="1">
                <a:solidFill>
                  <a:srgbClr val="FF0000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</a:t>
            </a:r>
            <a:r>
              <a:rPr lang="en-ZA" sz="1500" b="0" err="1">
                <a:solidFill>
                  <a:srgbClr val="11151A"/>
                </a:solidFill>
                <a:latin typeface="Lato"/>
                <a:ea typeface="Lato"/>
                <a:cs typeface="Lato"/>
              </a:rPr>
              <a:t>litres</a:t>
            </a: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 onward through Lesedi within the same fuel flow.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725" b="1">
                <a:solidFill>
                  <a:srgbClr val="FF0000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F650B-9DC0-C217-9E43-D1BDCE61EC52}"/>
              </a:ext>
            </a:extLst>
          </p:cNvPr>
          <p:cNvSpPr/>
          <p:nvPr/>
        </p:nvSpPr>
        <p:spPr>
          <a:xfrm>
            <a:off x="6068120" y="1478662"/>
            <a:ext cx="1623317" cy="4739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What is landing in Durban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Archive xmlns="265cb39c-7109-435c-af5d-13dc21a2db6b">false</Archive>
    <TaxCatchAll xmlns="62b85a0e-09bb-4b0f-bd28-e34020cdc070" xsi:nil="true"/>
  </documentManagement>
</p:properties>
</file>

<file path=customXml/itemProps1.xml><?xml version="1.0" encoding="utf-8"?>
<ds:datastoreItem xmlns:ds="http://schemas.openxmlformats.org/officeDocument/2006/customXml" ds:itemID="{B4291FEC-B74E-46BE-BF33-15B47576BA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343FF5-2136-45AF-8AEA-720F11C4F2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5cb39c-7109-435c-af5d-13dc21a2db6b"/>
    <ds:schemaRef ds:uri="62b85a0e-09bb-4b0f-bd28-e34020cdc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C696D7-B64B-4B33-9418-B6CE719B4C55}">
  <ds:schemaRefs>
    <ds:schemaRef ds:uri="http://schemas.microsoft.com/office/2006/metadata/properties"/>
    <ds:schemaRef ds:uri="http://schemas.microsoft.com/office/infopath/2007/PartnerControls"/>
    <ds:schemaRef ds:uri="265cb39c-7109-435c-af5d-13dc21a2db6b"/>
    <ds:schemaRef ds:uri="62b85a0e-09bb-4b0f-bd28-e34020cdc0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3429</Words>
  <Application>Microsoft Office PowerPoint</Application>
  <DocSecurity>0</DocSecurity>
  <PresentationFormat>Custom</PresentationFormat>
  <Paragraphs>389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Manish Ramjeawon</cp:lastModifiedBy>
  <cp:revision>4</cp:revision>
  <dcterms:created xsi:type="dcterms:W3CDTF">2026-10-11T22:01:42Z</dcterms:created>
  <dcterms:modified xsi:type="dcterms:W3CDTF">2026-10-12T11:54:12Z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