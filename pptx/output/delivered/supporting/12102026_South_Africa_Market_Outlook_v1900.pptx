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0" r:id="rId13"/>
    <p:sldId id="264" r:id="rId14"/>
    <p:sldId id="265" r:id="rId15"/>
    <p:sldId id="269" r:id="rId16"/>
    <p:sldId id="266" r:id="rId17"/>
    <p:sldId id="271" r:id="rId18"/>
    <p:sldId id="267" r:id="rId19"/>
    <p:sldId id="268" r:id="rId20"/>
  </p:sldIdLst>
  <p:sldSz cx="1158875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97399-3EEC-4F8E-8A81-B759403EDABA}" v="340" dt="2026-10-12T11:01:55.723"/>
    <p1510:client id="{E71C4F2D-0233-437F-B12B-11FCAAF6CDD3}" v="64" dt="2026-10-12T11:53:4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Relationship Id="rId3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Ramjeawon" userId="530ca382-ae44-4c47-aaca-bb6bff7153ab" providerId="ADAL" clId="{29D73FD1-3025-44EE-909B-93CFE9675191}"/>
    <pc:docChg chg="custSel modSld">
      <pc:chgData name="Manish Ramjeawon" userId="530ca382-ae44-4c47-aaca-bb6bff7153ab" providerId="ADAL" clId="{29D73FD1-3025-44EE-909B-93CFE9675191}" dt="2026-10-12T11:53:48.229" v="63" actId="207"/>
      <pc:docMkLst>
        <pc:docMk/>
      </pc:docMkLst>
      <pc:sldChg chg="addSp modSp mod">
        <pc:chgData name="Manish Ramjeawon" userId="530ca382-ae44-4c47-aaca-bb6bff7153ab" providerId="ADAL" clId="{29D73FD1-3025-44EE-909B-93CFE9675191}" dt="2026-10-12T11:53:48.229" v="63" actId="207"/>
        <pc:sldMkLst>
          <pc:docMk/>
          <pc:sldMk cId="2019262759" sldId="265"/>
        </pc:sldMkLst>
        <pc:spChg chg="add mod">
          <ac:chgData name="Manish Ramjeawon" userId="530ca382-ae44-4c47-aaca-bb6bff7153ab" providerId="ADAL" clId="{29D73FD1-3025-44EE-909B-93CFE9675191}" dt="2026-10-12T11:53:48.229" v="63" actId="207"/>
          <ac:spMkLst>
            <pc:docMk/>
            <pc:sldMk cId="2019262759" sldId="265"/>
            <ac:spMk id="4" creationId="{EED55322-E406-191C-6751-9ED8C23A201F}"/>
          </ac:spMkLst>
        </pc:spChg>
      </pc:sldChg>
    </pc:docChg>
  </pc:docChgLst>
  <pc:docChgLst>
    <pc:chgData name="Nigel Zhuwaki" userId="601ab1a4-89ec-42bd-bbbd-3cbdd75d5043" providerId="ADAL" clId="{FD94FAF6-F80E-40A7-9173-AD9516BB5441}"/>
    <pc:docChg chg="modSld">
      <pc:chgData name="Nigel Zhuwaki" userId="601ab1a4-89ec-42bd-bbbd-3cbdd75d5043" providerId="ADAL" clId="{FD94FAF6-F80E-40A7-9173-AD9516BB5441}" dt="2026-10-12T11:01:53.205" v="5"/>
      <pc:docMkLst>
        <pc:docMk/>
      </pc:docMkLst>
      <pc:sldChg chg="delSp modSp">
        <pc:chgData name="Nigel Zhuwaki" userId="601ab1a4-89ec-42bd-bbbd-3cbdd75d5043" providerId="ADAL" clId="{FD94FAF6-F80E-40A7-9173-AD9516BB5441}" dt="2026-10-12T11:01:53.205" v="5"/>
        <pc:sldMkLst>
          <pc:docMk/>
          <pc:sldMk cId="2019262759" sldId="266"/>
        </pc:sldMkLst>
        <pc:grpChg chg="mod">
          <ac:chgData name="Nigel Zhuwaki" userId="601ab1a4-89ec-42bd-bbbd-3cbdd75d5043" providerId="ADAL" clId="{FD94FAF6-F80E-40A7-9173-AD9516BB5441}" dt="2026-10-12T10:59:13.367" v="2"/>
          <ac:grpSpMkLst>
            <pc:docMk/>
            <pc:sldMk cId="2019262759" sldId="266"/>
            <ac:grpSpMk id="10" creationId="{3D37963D-AD37-A35D-C17B-AA3620FF935D}"/>
          </ac:grpSpMkLst>
        </pc:grpChg>
        <pc:grpChg chg="mod">
          <ac:chgData name="Nigel Zhuwaki" userId="601ab1a4-89ec-42bd-bbbd-3cbdd75d5043" providerId="ADAL" clId="{FD94FAF6-F80E-40A7-9173-AD9516BB5441}" dt="2026-10-12T11:01:42.298" v="3"/>
          <ac:grpSpMkLst>
            <pc:docMk/>
            <pc:sldMk cId="2019262759" sldId="266"/>
            <ac:grpSpMk id="14" creationId="{3C6289BB-F2CA-4455-B274-7078AFB32F86}"/>
          </ac:grpSpMkLst>
        </pc:grpChg>
        <pc:grpChg chg="del 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19" creationId="{7F1457B6-345A-18DC-32D2-7362069A1037}"/>
          </ac:grpSpMkLst>
        </pc:grpChg>
        <pc:grpChg chg="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21" creationId="{5B144456-6151-7D26-FF3B-BE41721F63D1}"/>
          </ac:grpSpMkLst>
        </pc:grp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6" creationId="{DF5F3AC2-3327-FCC7-6D67-0929A2F786F7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7" creationId="{19D744A8-D0D6-EF14-7D69-A857EA7FEE48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9" creationId="{DF1258E4-4FFA-4C56-24AD-AD7BFE2761D2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1" creationId="{20EEC612-1C23-2350-33C3-BC79979C1BED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2" creationId="{D5F338E2-7EA0-9E18-0E35-2021A65D643A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3" creationId="{986C1384-8528-6F44-4075-0DEB83FB14D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5" creationId="{C9614290-2685-3586-E10B-190009EBF649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6" creationId="{AE40C8CC-5B04-9D7D-4B3E-EA02F0FAE31B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7" creationId="{B23B405D-8A33-4116-08A6-80D33A78848F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8" creationId="{62FF2EE2-74F8-CA6C-28A1-3EE0D1DFED7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20" creationId="{4FBA43CD-0ADD-2D0F-C834-BA33ACF157EC}"/>
          </ac:inkMkLst>
        </pc:inkChg>
      </pc:sldChg>
      <pc:sldChg chg="addSp modSp">
        <pc:chgData name="Nigel Zhuwaki" userId="601ab1a4-89ec-42bd-bbbd-3cbdd75d5043" providerId="ADAL" clId="{FD94FAF6-F80E-40A7-9173-AD9516BB5441}" dt="2026-10-12T10:48:20.409" v="1"/>
        <pc:sldMkLst>
          <pc:docMk/>
          <pc:sldMk cId="75318732" sldId="270"/>
        </pc:sldMkLst>
        <pc:spChg chg="add mod">
          <ac:chgData name="Nigel Zhuwaki" userId="601ab1a4-89ec-42bd-bbbd-3cbdd75d5043" providerId="ADAL" clId="{FD94FAF6-F80E-40A7-9173-AD9516BB5441}" dt="2026-10-12T10:43:50.334" v="0" actId="571"/>
          <ac:spMkLst>
            <pc:docMk/>
            <pc:sldMk cId="75318732" sldId="270"/>
            <ac:spMk id="7" creationId="{14739CA6-736F-9F9F-FEDC-7E4E4345B182}"/>
          </ac:spMkLst>
        </pc:spChg>
        <pc:picChg chg="add">
          <ac:chgData name="Nigel Zhuwaki" userId="601ab1a4-89ec-42bd-bbbd-3cbdd75d5043" providerId="ADAL" clId="{FD94FAF6-F80E-40A7-9173-AD9516BB5441}" dt="2026-10-12T10:48:20.409" v="1"/>
          <ac:picMkLst>
            <pc:docMk/>
            <pc:sldMk cId="75318732" sldId="270"/>
            <ac:picMk id="9" creationId="{91BCDE9B-72BE-25DD-B6F0-BF068B61CA65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16.702191440219998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1"/>
        <c:ser>
          <c:idx val="0"/>
          <c:order val="0"/>
          <c:tx>
            <c:v>Petrol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11.475709420317999</c:v>
                </c:pt>
                <c:pt idx="3">
                  <c:v>11.462252466686</c:v>
                </c:pt>
                <c:pt idx="4">
                  <c:v>11.174082980370001</c:v>
                </c:pt>
                <c:pt idx="5">
                  <c:v>11.141630546702</c:v>
                </c:pt>
                <c:pt idx="6">
                  <c:v>10.773208065062001</c:v>
                </c:pt>
                <c:pt idx="7">
                  <c:v>8.7614709614960002</c:v>
                </c:pt>
                <c:pt idx="8">
                  <c:v>9.3015842276829996</c:v>
                </c:pt>
                <c:pt idx="9">
                  <c:v>9.1848699155729996</c:v>
                </c:pt>
                <c:pt idx="10">
                  <c:v>9.0369501134920007</c:v>
                </c:pt>
                <c:pt idx="11">
                  <c:v>8.9459028410985706</c:v>
                </c:pt>
                <c:pt idx="12">
                  <c:v>8.8557728699744995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13.520139251950001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12.908631232216999</c:v>
                </c:pt>
                <c:pt idx="7">
                  <c:v>11.689957759296</c:v>
                </c:pt>
                <c:pt idx="8">
                  <c:v>12.945782750435001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1.3959664570874299</c:v>
                </c:pt>
                <c:pt idx="1">
                  <c:v>1.40372043669139</c:v>
                </c:pt>
                <c:pt idx="2">
                  <c:v>1.4063467846217601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1.0552755203659401</c:v>
                </c:pt>
                <c:pt idx="1">
                  <c:v>0.96334031535047504</c:v>
                </c:pt>
                <c:pt idx="2">
                  <c:v>1.1312246982365199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0.16789786744139201</c:v>
                </c:pt>
                <c:pt idx="1">
                  <c:v>0.16721110753544299</c:v>
                </c:pt>
                <c:pt idx="2">
                  <c:v>0.16507618000173099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1.1294999999999999</c:v>
                </c:pt>
                <c:pt idx="2">
                  <c:v>0.67910000000000004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976.46799999999996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154</c:v>
                </c:pt>
                <c:pt idx="1">
                  <c:v>92</c:v>
                </c:pt>
                <c:pt idx="2">
                  <c:v>218</c:v>
                </c:pt>
                <c:pt idx="3">
                  <c:v>502</c:v>
                </c:pt>
                <c:pt idx="4">
                  <c:v>929</c:v>
                </c:pt>
                <c:pt idx="5">
                  <c:v>1257</c:v>
                </c:pt>
                <c:pt idx="6">
                  <c:v>1088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Plug-in hybrid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72</c:v>
                </c:pt>
                <c:pt idx="1">
                  <c:v>77</c:v>
                </c:pt>
                <c:pt idx="2">
                  <c:v>51</c:v>
                </c:pt>
                <c:pt idx="3">
                  <c:v>122</c:v>
                </c:pt>
                <c:pt idx="4">
                  <c:v>368</c:v>
                </c:pt>
                <c:pt idx="5">
                  <c:v>738</c:v>
                </c:pt>
                <c:pt idx="6">
                  <c:v>2810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Conventional hybrid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181</c:v>
                </c:pt>
                <c:pt idx="1">
                  <c:v>155</c:v>
                </c:pt>
                <c:pt idx="2">
                  <c:v>627</c:v>
                </c:pt>
                <c:pt idx="3">
                  <c:v>4070</c:v>
                </c:pt>
                <c:pt idx="4">
                  <c:v>6485</c:v>
                </c:pt>
                <c:pt idx="5">
                  <c:v>13616</c:v>
                </c:pt>
                <c:pt idx="6">
                  <c:v>12818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  <c:dTable>
        <c:showHorzBorder val="1"/>
        <c:showVertBorder val="0"/>
        <c:showOutline val="0"/>
        <c:showKeys val="1"/>
        <c:spPr>
          <a:noFill/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</c:dTable>
    </c:plotArea>
    <c:dispBlanksAs val="gap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Petrol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circle"/>
            <c:size val="5"/>
            <c:spPr>
              <a:solidFill>
                <a:srgbClr val="0A2373"/>
              </a:solidFill>
              <a:ln>
                <a:solidFill>
                  <a:srgbClr val="0A2373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17.4</c:v>
                </c:pt>
                <c:pt idx="1">
                  <c:v>15.1</c:v>
                </c:pt>
                <c:pt idx="2">
                  <c:v>13.4</c:v>
                </c:pt>
                <c:pt idx="3">
                  <c:v>12.8</c:v>
                </c:pt>
                <c:pt idx="4">
                  <c:v>12.2</c:v>
                </c:pt>
                <c:pt idx="5">
                  <c:v>11.8</c:v>
                </c:pt>
                <c:pt idx="6">
                  <c:v>11.0</c:v>
                </c:pt>
                <c:pt idx="7">
                  <c:v>10.5</c:v>
                </c:pt>
                <c:pt idx="8">
                  <c:v>9.7</c:v>
                </c:pt>
                <c:pt idx="9">
                  <c:v>9.2</c:v>
                </c:pt>
                <c:pt idx="10">
                  <c:v>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circle"/>
            <c:size val="5"/>
            <c:spPr>
              <a:solidFill>
                <a:srgbClr val="6782B4"/>
              </a:solidFill>
              <a:ln>
                <a:solidFill>
                  <a:srgbClr val="6782B4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13.4</c:v>
                </c:pt>
                <c:pt idx="1">
                  <c:v>11.8</c:v>
                </c:pt>
                <c:pt idx="2">
                  <c:v>10.6</c:v>
                </c:pt>
                <c:pt idx="3">
                  <c:v>10.1</c:v>
                </c:pt>
                <c:pt idx="4">
                  <c:v>9.6</c:v>
                </c:pt>
                <c:pt idx="5">
                  <c:v>9.2</c:v>
                </c:pt>
                <c:pt idx="6">
                  <c:v>8.7</c:v>
                </c:pt>
                <c:pt idx="7">
                  <c:v>8.3</c:v>
                </c:pt>
                <c:pt idx="8">
                  <c:v>7.8</c:v>
                </c:pt>
                <c:pt idx="9">
                  <c:v>7.7</c:v>
                </c:pt>
                <c:pt idx="10">
                  <c:v>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10.393065999999999</c:v>
                </c:pt>
                <c:pt idx="3">
                  <c:v>9.4344400000000004</c:v>
                </c:pt>
                <c:pt idx="4">
                  <c:v>9.9745600000000003</c:v>
                </c:pt>
                <c:pt idx="5">
                  <c:v>10.424467</c:v>
                </c:pt>
                <c:pt idx="6">
                  <c:v>7.8949999999999996</c:v>
                </c:pt>
                <c:pt idx="7">
                  <c:v>6.3513066670000002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9.5877400000000002</c:v>
                </c:pt>
                <c:pt idx="1">
                  <c:v>9.3684820000000002</c:v>
                </c:pt>
                <c:pt idx="2">
                  <c:v>9.0141899999999993</c:v>
                </c:pt>
                <c:pt idx="3">
                  <c:v>7.9217259999999996</c:v>
                </c:pt>
                <c:pt idx="4">
                  <c:v>8.425262</c:v>
                </c:pt>
                <c:pt idx="5">
                  <c:v>9.0803569999999993</c:v>
                </c:pt>
                <c:pt idx="6">
                  <c:v>6.4478095</c:v>
                </c:pt>
                <c:pt idx="7">
                  <c:v>5.3149642860000004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imports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11.644311431365001</c:v>
                </c:pt>
                <c:pt idx="5">
                  <c:v>8.2567728300966898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57-4CA9-AD2A-3657A817E3C7}"/>
            </c:ext>
          </c:extLst>
        </c:ser>
        <c:ser>
          <c:idx val="1"/>
          <c:order val="1"/>
          <c:tx>
            <c:v>Base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16.708035906836599</c:v>
                </c:pt>
                <c:pt idx="2">
                  <c:v>16.681037530238399</c:v>
                </c:pt>
                <c:pt idx="3">
                  <c:v>16.654869309593199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7-4CA9-AD2A-3657A817E3C7}"/>
            </c:ext>
          </c:extLst>
        </c:ser>
        <c:ser>
          <c:idx val="2"/>
          <c:order val="2"/>
          <c:tx>
            <c:v>High imports</c:v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16.735850873165202</c:v>
                </c:pt>
                <c:pt idx="1">
                  <c:v>17.308293621173299</c:v>
                </c:pt>
                <c:pt idx="2">
                  <c:v>17.8888406280197</c:v>
                </c:pt>
                <c:pt idx="3">
                  <c:v>18.477659851445299</c:v>
                </c:pt>
                <c:pt idx="4">
                  <c:v>19.074922804316401</c:v>
                </c:pt>
                <c:pt idx="5">
                  <c:v>19.680804631597901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57-4CA9-AD2A-3657A817E3C7}"/>
            </c:ext>
          </c:extLst>
        </c:ser>
        <c:ser>
          <c:idx val="3"/>
          <c:order val="3"/>
          <c:tx>
            <c:v>Base demand</c:v>
          </c:tx>
          <c:spPr>
            <a:ln w="23813">
              <a:solidFill>
                <a:srgbClr val="404040"/>
              </a:solidFill>
              <a:prstDash val="dash"/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Data'!$E$2:$E$7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20.959573230766598</c:v>
                </c:pt>
                <c:pt idx="2">
                  <c:v>20.93257485416837</c:v>
                </c:pt>
                <c:pt idx="3">
                  <c:v>20.906406633523154</c:v>
                </c:pt>
                <c:pt idx="4">
                  <c:v>20.881082360561916</c:v>
                </c:pt>
                <c:pt idx="5">
                  <c:v>20.856616056089173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D57-4CA9-AD2A-3657A817E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Petrol road 8.59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8.765841610087241</c:v>
                </c:pt>
                <c:pt idx="1">
                  <c:v>8.677525755865611</c:v>
                </c:pt>
                <c:pt idx="2">
                  <c:v>8.590099683875266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petrol 0.27</c:v>
                </c:pt>
              </c:strCache>
            </c:strRef>
          </c:tx>
          <c:spPr>
            <a:solidFill>
              <a:srgbClr val="3F559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0.2711085034047603</c:v>
                </c:pt>
                <c:pt idx="1">
                  <c:v>0.2683770852329573</c:v>
                </c:pt>
                <c:pt idx="2">
                  <c:v>0.2656731860992353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Freight diesel 4.82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Sheet1!$D$2:$D$4</c:f>
              <c:numCache>
                <c:formatCode>0.00</c:formatCode>
                <c:ptCount val="3"/>
                <c:pt idx="0">
                  <c:v>4.841361915996</c:v>
                </c:pt>
                <c:pt idx="1">
                  <c:v>4.86532665748018</c:v>
                </c:pt>
                <c:pt idx="2">
                  <c:v>4.824547112387935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road diesel 1.61</c:v>
                </c:pt>
              </c:strCache>
            </c:strRef>
          </c:tx>
          <c:spPr>
            <a:solidFill>
              <a:srgbClr val="9DB0D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Sheet1!$E$2:$E$4</c:f>
              <c:numCache>
                <c:formatCode>0.00</c:formatCode>
                <c:ptCount val="3"/>
                <c:pt idx="0">
                  <c:v>1.613787305332</c:v>
                </c:pt>
                <c:pt idx="1">
                  <c:v>1.6217755524933932</c:v>
                </c:pt>
                <c:pt idx="2">
                  <c:v>1.6081823707959784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Mining 1.41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Sheet1!$F$2:$F$4</c:f>
              <c:numCache>
                <c:formatCode>0.00</c:formatCode>
                <c:ptCount val="3"/>
                <c:pt idx="0">
                  <c:v>1.3959664570874284</c:v>
                </c:pt>
                <c:pt idx="1">
                  <c:v>1.4037204366913902</c:v>
                </c:pt>
                <c:pt idx="2">
                  <c:v>1.406346784621764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Agriculture 1.13</c:v>
                </c:pt>
              </c:strCache>
            </c:strRef>
          </c:tx>
          <c:spPr>
            <a:solidFill>
              <a:srgbClr val="76767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Sheet1!$G$2:$G$4</c:f>
              <c:numCache>
                <c:formatCode>0.00</c:formatCode>
                <c:ptCount val="3"/>
                <c:pt idx="0">
                  <c:v>1.0552755203659356</c:v>
                </c:pt>
                <c:pt idx="1">
                  <c:v>0.9633403153504746</c:v>
                </c:pt>
                <c:pt idx="2">
                  <c:v>1.1312246982365153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Manufacturing 0.17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Sheet1!$H$2:$H$4</c:f>
              <c:numCache>
                <c:formatCode>0.00</c:formatCode>
                <c:ptCount val="3"/>
                <c:pt idx="0">
                  <c:v>0.16789786744139165</c:v>
                </c:pt>
                <c:pt idx="1">
                  <c:v>0.16721110753544252</c:v>
                </c:pt>
                <c:pt idx="2">
                  <c:v>0.16507618000173108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Power 1.08</c:v>
                </c:pt>
              </c:strCache>
            </c:strRef>
          </c:tx>
          <c:spPr>
            <a:solidFill>
              <a:srgbClr val="BDBEC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Sheet1!$I$2:$I$4</c:f>
              <c:numCache>
                <c:formatCode>0.00</c:formatCode>
                <c:ptCount val="3"/>
                <c:pt idx="0">
                  <c:v>2.0778800000000004</c:v>
                </c:pt>
                <c:pt idx="1">
                  <c:v>2.19729</c:v>
                </c:pt>
                <c:pt idx="2">
                  <c:v>1.08432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 diesel 1.91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Sheet1!$J$2:$J$4</c:f>
              <c:numCache>
                <c:formatCode>0.00</c:formatCode>
                <c:ptCount val="3"/>
                <c:pt idx="0">
                  <c:v>1.7553308995852444</c:v>
                </c:pt>
                <c:pt idx="1">
                  <c:v>1.9165420959151986</c:v>
                </c:pt>
                <c:pt idx="2">
                  <c:v>1.9119181810768164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5.0"/>
      </c:valAx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SARS 2022/2025; Galp Matola, 3 Dec 2020; </a:t>
            </a:r>
            <a:r>
              <a:rPr lang="en-ZA" dirty="0" err="1"/>
              <a:t>Petromoc</a:t>
            </a:r>
            <a:r>
              <a:rPr lang="en-ZA" dirty="0"/>
              <a:t> logistics; market-sizing workbook. Map: © OpenStreetMap contributors / </a:t>
            </a:r>
            <a:r>
              <a:rPr lang="en-ZA" dirty="0" err="1"/>
              <a:t>Geofabrik</a:t>
            </a:r>
            <a:r>
              <a:rPr lang="en-ZA" dirty="0"/>
              <a:t>; Natural Earth; </a:t>
            </a:r>
            <a:r>
              <a:rPr lang="en-ZA" dirty="0" err="1"/>
              <a:t>geoBoundaries</a:t>
            </a:r>
            <a:r>
              <a:rPr lang="en-ZA" dirty="0"/>
              <a:t>. Routes show connectivity, not validated tanker access. Compare the same product and destination.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4.xml"/><Relationship Id="rId11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147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81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7424927" y="2020824"/>
            <a:ext cx="3685032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legend shows 2025 values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5486400"/>
            <a:ext cx="3685032" cy="777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Totals: 21.94, 22.08 and 20.99bn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demand by use, 2023–2025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7333488" y="2286000"/>
          <a:ext cx="3867912" cy="31638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new energy vehicle sales, 2019–2025 (Quarterly Review of Business Conditions: Q3 2024 for 2019; Q2 2026 for 2020–2025); master workbook Vehicle history.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Electrified sales rose from 407 in 2019 to 16,716 in 2025; conventional hybrids are 77% of them.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 in 2025, or 0.18% of all new vehicles, down from 1,257 in 2024.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2019–2025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286000"/>
          <a:ext cx="6446520" cy="3337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Chart: figures taken from the review screenshot of 12 October 2026 (miles per US gallon by model year, converted at 235.2 ÷ MPG). SOURCE NOT IDENTIFIED: they resemble, but do not match, the US EPA Automotive Trends Report, which has no petrol/diesel split; not South African data. Analytical workbook v02, Driver bridge (Base): modelled effects, not observed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Litres per 100 km | converted from miles per gallon; source to be confirmed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Fuel use per 100 km has roughly halved since 1975: petrol from 17.4 to 8.8 litres, diesel from 13.4 to 7.6.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Fuel use of petrol and diesel vehicles, 1975–2025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331720"/>
          <a:ext cx="6446520" cy="2953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1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Get source from Nigel</a:t>
            </a:r>
          </a:p>
        </p:txBody>
      </p:sp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The NMPP trunk line (Durban to Jameson Park, about 560 km) is the established inland connection.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Total 2.22B L: Durban 0.86, Lesedi 1.36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20% of KZN and Gauteng sales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(demand, imports); SARS customs, Durban office, 2025; Department provincial sales 2022; market-sizing workbook. Bars are drawn to scale. Step 4: 2022 sales beside 2025 imports; Gauteng is also supplied by Secunda, Natref and Matola. Step 6: 146,000 m³ working fuel tanks (estimate) at Vopak’s stated target of 2–3 turns a month. Capture is an illustrative 20%, not a contracted share. Walvis Bay is a route to assess; no diversion volume is assigned.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 6: Vopak’s Durban tanks handle about 3.5bn litres a year at two turns a month; volumes above that need new tanks.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168249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Sizing 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1682496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51A"/>
                </a:solidFill>
                <a:latin typeface="Lato"/>
              </a:rPr>
              <a:t>Billion litres a year,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168249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Basis</a:t>
            </a:r>
          </a:p>
        </p:txBody>
      </p:sp>
      <p:cxnSp>
        <p:nvCxnSpPr>
          <p:cNvPr id="63" name="Funnel rule"/>
          <p:cNvCxnSpPr/>
          <p:nvPr/>
        </p:nvCxnSpPr>
        <p:spPr>
          <a:xfrm>
            <a:off x="457200" y="2048256"/>
            <a:ext cx="1065276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unnel bar"/>
          <p:cNvSpPr/>
          <p:nvPr/>
        </p:nvSpPr>
        <p:spPr>
          <a:xfrm>
            <a:off x="3200400" y="2103120"/>
            <a:ext cx="4206240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21.0</a:t>
            </a:r>
          </a:p>
        </p:txBody>
      </p:sp>
      <p:sp>
        <p:nvSpPr>
          <p:cNvPr id="65" name="Funnel step"/>
          <p:cNvSpPr txBox="1"/>
          <p:nvPr/>
        </p:nvSpPr>
        <p:spPr>
          <a:xfrm>
            <a:off x="530352" y="2103120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1  National demand</a:t>
            </a:r>
          </a:p>
        </p:txBody>
      </p:sp>
      <p:sp>
        <p:nvSpPr>
          <p:cNvPr id="66" name="Funnel basis"/>
          <p:cNvSpPr txBox="1"/>
          <p:nvPr/>
        </p:nvSpPr>
        <p:spPr>
          <a:xfrm>
            <a:off x="7818120" y="2029967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Petrol and diesel, estimated from the Department’s 2023 sales.</a:t>
            </a:r>
          </a:p>
        </p:txBody>
      </p:sp>
      <p:cxnSp>
        <p:nvCxnSpPr>
          <p:cNvPr id="67" name="Funnel rule"/>
          <p:cNvCxnSpPr/>
          <p:nvPr/>
        </p:nvCxnSpPr>
        <p:spPr>
          <a:xfrm>
            <a:off x="457200" y="2706624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unnel link"/>
          <p:cNvSpPr/>
          <p:nvPr/>
        </p:nvSpPr>
        <p:spPr>
          <a:xfrm>
            <a:off x="3200400" y="2596896"/>
            <a:ext cx="4206240" cy="219456"/>
          </a:xfrm>
          <a:custGeom>
            <a:avLst/>
            <a:gdLst/>
            <a:ahLst/>
            <a:cxnLst/>
            <a:rect l="l" t="t" r="r" b="b"/>
            <a:pathLst>
              <a:path w="4206240" h="219456">
                <a:moveTo>
                  <a:pt x="0" y="0"/>
                </a:moveTo>
                <a:lnTo>
                  <a:pt x="4206240" y="0"/>
                </a:lnTo>
                <a:lnTo>
                  <a:pt x="3776825" y="219456"/>
                </a:lnTo>
                <a:lnTo>
                  <a:pt x="429414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unnel bar"/>
          <p:cNvSpPr/>
          <p:nvPr/>
        </p:nvSpPr>
        <p:spPr>
          <a:xfrm>
            <a:off x="3629814" y="2816352"/>
            <a:ext cx="3347411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16.7</a:t>
            </a:r>
          </a:p>
        </p:txBody>
      </p:sp>
      <p:sp>
        <p:nvSpPr>
          <p:cNvPr id="69" name="Funnel step"/>
          <p:cNvSpPr txBox="1"/>
          <p:nvPr/>
        </p:nvSpPr>
        <p:spPr>
          <a:xfrm>
            <a:off x="530352" y="2816352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2  Import requirement</a:t>
            </a:r>
          </a:p>
        </p:txBody>
      </p:sp>
      <p:sp>
        <p:nvSpPr>
          <p:cNvPr id="70" name="Funnel basis"/>
          <p:cNvSpPr txBox="1"/>
          <p:nvPr/>
        </p:nvSpPr>
        <p:spPr>
          <a:xfrm>
            <a:off x="7818120" y="27432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80% of demand is imported; domestic production is 5.8bn L.</a:t>
            </a:r>
          </a:p>
        </p:txBody>
      </p:sp>
      <p:cxnSp>
        <p:nvCxnSpPr>
          <p:cNvPr id="71" name="Funnel rule"/>
          <p:cNvCxnSpPr/>
          <p:nvPr/>
        </p:nvCxnSpPr>
        <p:spPr>
          <a:xfrm>
            <a:off x="457200" y="3419856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nnel link"/>
          <p:cNvSpPr/>
          <p:nvPr/>
        </p:nvSpPr>
        <p:spPr>
          <a:xfrm>
            <a:off x="3629814" y="3310128"/>
            <a:ext cx="3347411" cy="219456"/>
          </a:xfrm>
          <a:custGeom>
            <a:avLst/>
            <a:gdLst/>
            <a:ahLst/>
            <a:cxnLst/>
            <a:rect l="l" t="t" r="r" b="b"/>
            <a:pathLst>
              <a:path w="3347411" h="219456">
                <a:moveTo>
                  <a:pt x="0" y="0"/>
                </a:moveTo>
                <a:lnTo>
                  <a:pt x="3347411" y="0"/>
                </a:lnTo>
                <a:lnTo>
                  <a:pt x="2992504" y="219456"/>
                </a:lnTo>
                <a:lnTo>
                  <a:pt x="35490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unnel bar"/>
          <p:cNvSpPr/>
          <p:nvPr/>
        </p:nvSpPr>
        <p:spPr>
          <a:xfrm>
            <a:off x="3984721" y="3529584"/>
            <a:ext cx="2637597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13.2</a:t>
            </a:r>
          </a:p>
        </p:txBody>
      </p:sp>
      <p:sp>
        <p:nvSpPr>
          <p:cNvPr id="73" name="Funnel step"/>
          <p:cNvSpPr txBox="1"/>
          <p:nvPr/>
        </p:nvSpPr>
        <p:spPr>
          <a:xfrm>
            <a:off x="530352" y="3529584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3  Ports and inland routes</a:t>
            </a:r>
          </a:p>
        </p:txBody>
      </p:sp>
      <p:sp>
        <p:nvSpPr>
          <p:cNvPr id="74" name="Funnel basis"/>
          <p:cNvSpPr txBox="1"/>
          <p:nvPr/>
        </p:nvSpPr>
        <p:spPr>
          <a:xfrm>
            <a:off x="7818120" y="34564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Landed at Durban: 79% of imports. Other ports and Matola take the rest.</a:t>
            </a:r>
          </a:p>
        </p:txBody>
      </p:sp>
      <p:cxnSp>
        <p:nvCxnSpPr>
          <p:cNvPr id="75" name="Funnel rule"/>
          <p:cNvCxnSpPr/>
          <p:nvPr/>
        </p:nvCxnSpPr>
        <p:spPr>
          <a:xfrm>
            <a:off x="457200" y="4133088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unnel link"/>
          <p:cNvSpPr/>
          <p:nvPr/>
        </p:nvSpPr>
        <p:spPr>
          <a:xfrm>
            <a:off x="3984721" y="4023360"/>
            <a:ext cx="2637597" cy="219456"/>
          </a:xfrm>
          <a:custGeom>
            <a:avLst/>
            <a:gdLst/>
            <a:ahLst/>
            <a:cxnLst/>
            <a:rect l="l" t="t" r="r" b="b"/>
            <a:pathLst>
              <a:path w="2637597" h="219456">
                <a:moveTo>
                  <a:pt x="0" y="0"/>
                </a:moveTo>
                <a:lnTo>
                  <a:pt x="2637597" y="0"/>
                </a:lnTo>
                <a:lnTo>
                  <a:pt x="2430507" y="219456"/>
                </a:lnTo>
                <a:lnTo>
                  <a:pt x="207090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unnel bar"/>
          <p:cNvSpPr/>
          <p:nvPr/>
        </p:nvSpPr>
        <p:spPr>
          <a:xfrm>
            <a:off x="4191811" y="4242816"/>
            <a:ext cx="844971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4.3</a:t>
            </a:r>
          </a:p>
        </p:txBody>
      </p:sp>
      <p:sp>
        <p:nvSpPr>
          <p:cNvPr id="77" name="Funnel bar"/>
          <p:cNvSpPr/>
          <p:nvPr/>
        </p:nvSpPr>
        <p:spPr>
          <a:xfrm>
            <a:off x="5064215" y="4242816"/>
            <a:ext cx="1351013" cy="493776"/>
          </a:xfrm>
          <a:prstGeom prst="rect">
            <a:avLst/>
          </a:prstGeom>
          <a:solidFill>
            <a:srgbClr val="3F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6.8</a:t>
            </a:r>
          </a:p>
        </p:txBody>
      </p:sp>
      <p:sp>
        <p:nvSpPr>
          <p:cNvPr id="78" name="Funnel total"/>
          <p:cNvSpPr txBox="1"/>
          <p:nvPr/>
        </p:nvSpPr>
        <p:spPr>
          <a:xfrm>
            <a:off x="6524956" y="4242816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A2373"/>
                </a:solidFill>
                <a:latin typeface="Lato"/>
              </a:rPr>
              <a:t>= 11.1</a:t>
            </a:r>
          </a:p>
        </p:txBody>
      </p:sp>
      <p:sp>
        <p:nvSpPr>
          <p:cNvPr id="79" name="Funnel step"/>
          <p:cNvSpPr txBox="1"/>
          <p:nvPr/>
        </p:nvSpPr>
        <p:spPr>
          <a:xfrm>
            <a:off x="530352" y="4242816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4  Addressable market</a:t>
            </a:r>
          </a:p>
        </p:txBody>
      </p:sp>
      <p:sp>
        <p:nvSpPr>
          <p:cNvPr id="80" name="Funnel basis"/>
          <p:cNvSpPr txBox="1"/>
          <p:nvPr/>
        </p:nvSpPr>
        <p:spPr>
          <a:xfrm>
            <a:off x="7818120" y="4169663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The two markets the sites serve: KwaZulu-Natal (4.3) and Gauteng (6.8). Department sales, 2022.</a:t>
            </a:r>
          </a:p>
        </p:txBody>
      </p:sp>
      <p:cxnSp>
        <p:nvCxnSpPr>
          <p:cNvPr id="81" name="Funnel rule"/>
          <p:cNvCxnSpPr/>
          <p:nvPr/>
        </p:nvCxnSpPr>
        <p:spPr>
          <a:xfrm>
            <a:off x="457200" y="4846320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unnel link"/>
          <p:cNvSpPr/>
          <p:nvPr/>
        </p:nvSpPr>
        <p:spPr>
          <a:xfrm>
            <a:off x="4191811" y="4736592"/>
            <a:ext cx="2223417" cy="219456"/>
          </a:xfrm>
          <a:custGeom>
            <a:avLst/>
            <a:gdLst/>
            <a:ahLst/>
            <a:cxnLst/>
            <a:rect l="l" t="t" r="r" b="b"/>
            <a:pathLst>
              <a:path w="2223417" h="219456">
                <a:moveTo>
                  <a:pt x="0" y="0"/>
                </a:moveTo>
                <a:lnTo>
                  <a:pt x="2223417" y="0"/>
                </a:lnTo>
                <a:lnTo>
                  <a:pt x="1334050" y="219456"/>
                </a:lnTo>
                <a:lnTo>
                  <a:pt x="88936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unnel bar"/>
          <p:cNvSpPr/>
          <p:nvPr/>
        </p:nvSpPr>
        <p:spPr>
          <a:xfrm>
            <a:off x="5081178" y="4956048"/>
            <a:ext cx="444683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2.2</a:t>
            </a:r>
          </a:p>
        </p:txBody>
      </p:sp>
      <p:sp>
        <p:nvSpPr>
          <p:cNvPr id="83" name="Funnel step"/>
          <p:cNvSpPr txBox="1"/>
          <p:nvPr/>
        </p:nvSpPr>
        <p:spPr>
          <a:xfrm>
            <a:off x="530352" y="4956048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5  Achievable capture</a:t>
            </a:r>
          </a:p>
        </p:txBody>
      </p:sp>
      <p:sp>
        <p:nvSpPr>
          <p:cNvPr id="84" name="Funnel basis"/>
          <p:cNvSpPr txBox="1"/>
          <p:nvPr/>
        </p:nvSpPr>
        <p:spPr>
          <a:xfrm>
            <a:off x="7818120" y="4882896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Illustrative 20% of step 4: 0.86 at Durban, 1.36 through Lesedi. Vopak’s actual share is not published.</a:t>
            </a:r>
          </a:p>
        </p:txBody>
      </p:sp>
      <p:cxnSp>
        <p:nvCxnSpPr>
          <p:cNvPr id="85" name="Funnel rule"/>
          <p:cNvCxnSpPr/>
          <p:nvPr/>
        </p:nvCxnSpPr>
        <p:spPr>
          <a:xfrm>
            <a:off x="457200" y="5559552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Baseline demand stays near 21bn L (20.86bn L in 2030).
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Gross import requirement and baseline demand,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FB408B-3022-BC37-CBE7-5FEF1AFBF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0206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 Capture base: Department sales 2022, KwaZulu-Natal 4.28bn L and Gauteng 6.81bn L.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3150" b="1">
                <a:solidFill>
                  <a:srgbClr val="FF0000"/>
                </a:solidFill>
                <a:latin typeface="Lato"/>
                <a:ea typeface="Lato"/>
                <a:cs typeface="Lato"/>
              </a:rPr>
              <a:t>2.22bn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capture, Durban and Lesedi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the 11.1bn litres sold in KwaZulu-Natal and Gauteng, the markets the two sites serve: 0.86bn litres at Durban and 1.36bn litres through Lesedi.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725" b="1">
                <a:solidFill>
                  <a:srgbClr val="FF0000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Archive xmlns="265cb39c-7109-435c-af5d-13dc21a2db6b">false</Archive>
    <TaxCatchAll xmlns="62b85a0e-09bb-4b0f-bd28-e34020cdc070" xsi:nil="true"/>
  </documentManagement>
</p:properties>
</file>

<file path=customXml/itemProps1.xml><?xml version="1.0" encoding="utf-8"?>
<ds:datastoreItem xmlns:ds="http://schemas.openxmlformats.org/officeDocument/2006/customXml" ds:itemID="{B4291FEC-B74E-46BE-BF33-15B47576BA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343FF5-2136-45AF-8AEA-720F11C4F2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5cb39c-7109-435c-af5d-13dc21a2db6b"/>
    <ds:schemaRef ds:uri="62b85a0e-09bb-4b0f-bd28-e34020cdc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C696D7-B64B-4B33-9418-B6CE719B4C55}">
  <ds:schemaRefs>
    <ds:schemaRef ds:uri="http://schemas.microsoft.com/office/2006/metadata/properties"/>
    <ds:schemaRef ds:uri="http://schemas.microsoft.com/office/infopath/2007/PartnerControls"/>
    <ds:schemaRef ds:uri="265cb39c-7109-435c-af5d-13dc21a2db6b"/>
    <ds:schemaRef ds:uri="62b85a0e-09bb-4b0f-bd28-e34020cdc0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Microsoft Office PowerPoint</Application>
  <DocSecurity>0</DocSecurity>
  <PresentationFormat>Custom</PresentationFormat>
  <Paragraphs>389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Manish Ramjeawon</cp:lastModifiedBy>
  <cp:revision>4</cp:revision>
  <dcterms:created xsi:type="dcterms:W3CDTF">2026-10-11T22:01:42Z</dcterms:created>
  <dcterms:modified xsi:type="dcterms:W3CDTF">2026-10-12T11:54:12Z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