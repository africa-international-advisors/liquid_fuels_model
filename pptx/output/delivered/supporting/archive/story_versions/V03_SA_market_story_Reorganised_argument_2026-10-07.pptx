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4"/>
  </p:sldMasterIdLst>
  <p:notesMasterIdLst>
    <p:notesMasterId r:id="rId27"/>
  </p:notesMasterIdLst>
  <p:sldIdLst>
    <p:sldId id="25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</p:sldIdLst>
  <p:sldSz cx="11588750" cy="6858000"/>
  <p:notesSz cx="6858000" cy="9144000"/>
  <p:embeddedFontLst>
    <p:embeddedFont>
      <p:font typeface="Lato" panose="020F0502020204030203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note: Walk through four sections: the project question, the analytical</a:t>
            </a:r>
          </a:p>
          <a:p>
            <a:r>
              <a:t>requirements, the model-build problem and the delivery approach. The purpose is to</a:t>
            </a:r>
          </a:p>
          <a:p>
            <a:r>
              <a:t>connect the analyst's tasks to the decisions the engagement needs to support.</a:t>
            </a:r>
          </a:p>
          <a:p>
            <a:r>
              <a:t>Week 1 analytical pack, 6 October 2026. Existing kickoff cover/closing reused at user request.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fuel sales, 2013–2023, same-series comparison. FIASA 2024 shown separately; source definitions require reconciliation. Economic context and sector mechanisms: appendix pp14–16.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Eskom 2025 integrated report (own-fleet diesel + kerosene); Stats SA freight payload. No causal diesel attribution from tonnes alone. Details: appendix pp16, 19–20.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SARS litre-reported petrol/diesel trade; CEF 10 Sep 2026 roadmap; PetroSA recommissioning scope; Sasol reporting. Excluded units/blends and stock changes prevent a complete balance.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Vopak terminal pages and existing corridor evidence. Alternative gateway coverage is a scope for comparison, not a finding that each route is competitive into Gauteng.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Vopak operator inventory checked 6–7 Oct 2026; Gauteng catchment adopted provisionally by user. Gross capacity is not customer throughput or effective working capacity.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Mechanisms drawn from the reviewed scope and current cohort architecture. Rail funding evidence: appendix p21; fuel prices and efficiency: pp17–18. Scenarios remain deferred.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Standalone power complication retained as requested. EAF, retirement and commissioning assumptions require later scenario calibration.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CEF 10 Sep 2026 roadmap; Sasol 6 Nov 2025 MRG and 1 Sep 2026 Natref releases; PetroSA recommissioning scope. URLs and qualifications in evidence report.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Submodel specification adopted from the annotated review. No route winner is asserted without matched costs, access and capacity.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Operator capacities: Vopak Durban 360,246m³, Bidvest Durban 439,306m³, Lesedi 140,000m³. Department Gauteng sales 2022; appendix p22. Transfers between terminals must not be double-counted.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Resolution framework from the signed-off review and user comments. Financial and origin–destination modules are specified; commercial calibration and investment approval remain outstanding.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Detailed evidence retained for review. The main argument is complete on pages 2–12; appendix pages are supporting exhibits, not additional situation pages.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Staged GDP and department fuel sales, indices 2013=100. Sector attribution remains open; COVID distorts short-period comparisons.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World Bank WDI, FDI net inflows and gross fixed capital formation as % of GDP, 2010–2025. Confidence series remains an evidence gap.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Analytical framework following user comments. Sector-specific exhibits and causal attribution remain to be completed.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fuel-price history, nominal R/litre. No quantified geopolitical premium or calibrated EV adoption response is asserted.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Mechanism supported by existing cohort architecture. OEM historical and future efficiency evidence is still missing; no new forecast shown.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Eskom integrated report 2025: FY March, own-fleet diesel + kerosene. EAF association is not a dispatch model; private backup use excluded.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Stats SA monthly freight payload, complete calendar years. National tonnes are not corridor tonne-kilometres or transferable freight.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User-supplied AIA Transnet Funding Brief, Sep 2026, pp1–2; cites FY2026 AFS and Network Statement v4 Annexure 17. Primary figures not independently reconciled.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provincial sales, latest complete staged year 2022; Vopak Lesedi current capacity. Cross-vintage scale test only, not current observed market share.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7" name="Title and body separator"/>
          <p:cNvCxnSpPr/>
          <p:nvPr/>
        </p:nvCxn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6515100"/>
            <a:ext cx="952500" cy="21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>
                <a:solidFill>
                  <a:srgbClr val="404040"/>
                </a:solidFill>
                <a:latin typeface="Lato"/>
              </a:defRPr>
            </a:pPr>
            <a:endParaRPr/>
          </a:p>
        </p:txBody>
      </p:sp>
      <p:cxnSp>
        <p:nvCxnSpPr>
          <p:cNvPr id="10" name="Fine footer rule"/>
          <p:cNvCxnSpPr/>
          <p:nvPr/>
        </p:nvCxn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opak.com/terminals/vopak-terminal-durban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South Africa
liquid fuels
market story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4572000" cy="26161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Lato"/>
              </a:defRPr>
            </a:pPr>
            <a:r>
              <a:rPr lang="en-GB" sz="1700">
                <a:solidFill>
                  <a:srgbClr val="FFFFFF"/>
                </a:solidFill>
              </a:rPr>
              <a:t>An import and inland distribution opportunity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Durban and Gauteng (Lesedi catchment)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ZW">
                <a:solidFill>
                  <a:srgbClr val="FFFFFF"/>
                </a:solidFill>
              </a:rPr>
              <a:t>7 October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457200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ato"/>
              </a:defRPr>
            </a:pPr>
            <a:r>
              <a:rPr lang="en-GB" sz="1200">
                <a:solidFill>
                  <a:srgbClr val="FFFFFF"/>
                </a:solidFill>
              </a:rPr>
              <a:t>Reorganised review draft; scenarios deferred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/>
          <p:cNvSpPr txBox="1"/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/>
          <p:cNvSpPr txBox="1"/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BDBEC1"/>
                </a:solidFill>
                <a:latin typeface="Lato"/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Demand growth alone provides a weak foundation for Vopak’s investment case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fuel sales, 2013–2023, same-series comparison. FIASA 2024 shown separately; source definitions require reconciliation. Economic context and sector mechanisms: appendix pp14–16.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1D713A08-C8C0-4EAE-7D95-646EC23321C7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EE771575-B471-E228-5074-2F3C12157557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D498F434-B50D-7D8F-165E-45F3C1C767F6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B4C28D17-BA00-E9FC-16D5-7F4FE512A09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83B3DCF7-D09C-1505-9E4A-6794E1470482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Petrol fell 19% and diesel rose 9% over 2013–2023. Vopak’s opportunity therefore needs to be explained through product mix, import requirements and customer routes, as well as demand growth.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Power shortages and road freight have supported parts of diesel demand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3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ZW" sz="750"/>
              <a:t>Eskom 2025 integrated report (own-fleet diesel + kerosene); Stats SA freight payload. No causal diesel attribution from tonnes alone. Details: appendix pp16, 19–20.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118161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support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Historical 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What this establishes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Power generation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Eskom’s own OCGT fuel use rose to 1,129.5m litres in FY2024, then fell to 679.1m in FY2025 as EAF improved.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historical diesel market includes a material power-system component whose scale can change.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freight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national payload series shows road carrying substantially more tonnage than rail.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Diesel use depends on how freight moves as well as how much the economy produces.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Mining and agriculture add sector-specific diesel exposure; aviation has a separate jet-fuel market.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national GDP forecast alone cannot explain the product and activity mix that terminals serve.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ED0A9D38-BB82-C262-4F21-C23AC10BF31D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8546E721-8C50-B730-4C71-FF7FE94A79B8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682B1427-F231-3692-B279-3397E56B413E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970478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Reduced domestic production has increased the importance of imported supply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4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ZW" sz="750"/>
              <a:t>SARS litre-reported petrol/diesel trade; CEF 10 Sep 2026 roadmap; PetroSA recommissioning scope; Sasol reporting. Excluded units/blends and stock changes prevent a complete balance.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1F960A30-0881-9DE6-1A13-93B3FE3F186A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F583F2FC-E329-A354-3B1A-3C58AC0BE55A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C3A972DF-C6EA-23AA-F39F-AF00B08BE845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2F3FC526-1AC8-4E38-EC9E-2E3B63C0790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95500"/>
            <a:ext cx="7493000" cy="2894965"/>
          </a:xfrm>
          <a:prstGeom prst="rect">
            <a:avLst/>
          </a:prstGeom>
        </p:spPr>
      </p:pic>
      <p:sp>
        <p:nvSpPr>
          <p:cNvPr id="14" name="Context heading">
            <a:extLst>
              <a:ext uri="{FF2B5EF4-FFF2-40B4-BE49-F238E27FC236}">
                <a16:creationId xmlns:a16="http://schemas.microsoft.com/office/drawing/2014/main" id="{477368A0-201A-A2A6-C5B8-EF971E74922F}"/>
              </a:ext>
            </a:extLst>
          </p:cNvPr>
          <p:cNvSpPr txBox="1"/>
          <p:nvPr/>
        </p:nvSpPr>
        <p:spPr>
          <a:xfrm>
            <a:off x="8280400" y="1816100"/>
            <a:ext cx="27813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400" b="1">
                <a:solidFill>
                  <a:schemeClr val="accent1"/>
                </a:solidFill>
                <a:latin typeface="Lato" panose="020F0502020204030203" pitchFamily="34" charset="0"/>
              </a:rPr>
              <a:t>Domestic supply context</a:t>
            </a:r>
          </a:p>
        </p:txBody>
      </p:sp>
      <p:sp>
        <p:nvSpPr>
          <p:cNvPr id="15" name="Context evidence">
            <a:extLst>
              <a:ext uri="{FF2B5EF4-FFF2-40B4-BE49-F238E27FC236}">
                <a16:creationId xmlns:a16="http://schemas.microsoft.com/office/drawing/2014/main" id="{725E19B5-1A37-5757-FF41-B1FC8E3D16C5}"/>
              </a:ext>
            </a:extLst>
          </p:cNvPr>
          <p:cNvSpPr txBox="1"/>
          <p:nvPr/>
        </p:nvSpPr>
        <p:spPr>
          <a:xfrm>
            <a:off x="8280400" y="2324100"/>
            <a:ext cx="2781300" cy="160043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00">
                <a:solidFill>
                  <a:schemeClr val="dk1"/>
                </a:solidFill>
                <a:latin typeface="Lato" panose="020F0502020204030203" pitchFamily="34" charset="0"/>
              </a:rPr>
              <a:t>Mossgas GTL has not operated since December 2020.
SAPREF’s current roadmap starts with finished-product imports.
Secunda and Natref output remains material to the domestic balance.</a:t>
            </a:r>
            <a:endParaRPr lang="en-ZA" sz="13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  <p:sp>
        <p:nvSpPr>
          <p:cNvPr id="16" name="Interpretation">
            <a:extLst>
              <a:ext uri="{FF2B5EF4-FFF2-40B4-BE49-F238E27FC236}">
                <a16:creationId xmlns:a16="http://schemas.microsoft.com/office/drawing/2014/main" id="{8E87C877-BB93-E5F8-AD56-73792B557CC8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The import opportunity can expand even with limited consumption growth. The trade trend and plant evidence support this mechanism; a reconciled product balance is still needed to quantify each plant’s contribution.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537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The import opportunity is distributed across competing routes into inland markets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5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Vopak terminal pages and existing corridor evidence. Alternative gateway coverage is a scope for comparison, not a finding that each route is competitive into Gauteng.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631171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Route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Position in the supply chain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Market 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Durban–Gauteng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Vopak’s coastal and inland terminals are linked through the Transnet multi-product pipeline. Durban also has road and rail access.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relevant market extends beyond the port into inland customer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Matola / Maputo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 alternative gateway in the review’s corridor comparison. Reach depends on destination and border logistics.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the same product delivered to the same customer location.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Walvis Bay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further gateway to test for reachable inland destinations. Distance and transit time constrain the comparison.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National imports cannot all be treated as volumes accessible through Durban.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C13CD2D8-B1EC-1C24-D46B-FD5325F2729D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F692E641-4836-F89E-FBE5-A3E3A9B78190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F865CD8E-86E8-999A-0ACE-CB7EBF2735E2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175858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Vopak has assets at both ends of the Durban–Gauteng supply chain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6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Vopak operator inventory checked 6–7 Oct 2026; Gauteng catchment adopted provisionally by user. Gross capacity is not customer throughput or effective working capacity.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019386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Asset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Established position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360,246 m³ published gross capacity; vessel, pipeline, road and rail access. Petroleum products and other liquids.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coastal asset can serve imported-product handling and onward distribution; eligible fuel tankage needs to be isolated.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Lesedi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140,000 m³ published capacity for clean petroleum products; connected to Durban via the Transnet pipeline.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inland asset provides a distribution position in the provisional Gauteng catchment.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Commercial question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Assets establish a physical position. Customer allocation, working capacity and realised turnover determine volumes.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investment question is how much demand these assets can capture and whether existing capacity can serve it.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641A1AD6-D93D-E10A-17C1-E4EE2BECEA98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3A27E44D-713D-4997-15A1-37DD45A997E2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ED6D81D2-6E90-077D-0DE9-2C503D0630BD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42845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Rail recovery, EVs and efficiency could weaken transport fuel demand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7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Mechanisms drawn from the reviewed scope and current cohort architecture. Rail funding evidence: appendix p21; fuel prices and efficiency: pp17–18. Scenarios remain deferred.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612792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Potential reversal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Condition for change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Fuel-demand 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Road to rail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funded and reliable rail service can transfer suitable freight from trucks.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Displaced road tonne-kilometres reduce diesel use, after rail traction and last-mile fuel. The 250 Mt ambition is not a direct diesel forecast.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 adoption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Sustained ownership-cost advantages and charging access can influence new-vehicle purchases.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Fuel-price volatility alone does not establish adoption. Replacement cycles govern the effect on the whole fleet.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Vehicle efficiency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More efficient incoming vehicles lower combustion-fleet fuel intensity over time.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Efficiency can offset part of fleet and mileage growth. Apply it only to combustion activity that remains after EV switching.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C0217C0F-9339-9AC6-288A-22ED7EEC7D6E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94AA340D-5EB3-7C2D-3EF2-815FDAC0D3EC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172D695-0ED2-0741-5BCB-CFB9A76374EF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4275131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Power recovery can persist, but availability and replacement timing remain risks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8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Standalone power complication retained as requested. EAF, retirement and commissioning assumptions require later scenario calibration.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899570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Recovery persists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more available coal fleet and replacement generation reduce residual diesel dispatch.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Recent Eskom fuel consumption should not be extrapolated as a permanent growth source.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Recovery reverses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Major breakdowns or retirements before dependable replacement create a generation gap.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Quantify dispatch and operating constraints before translating a gap into fuel litres.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Load shedding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Grid shortages can also affect private backup generation.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Eskom OCGT use from private generators. Ending load shedding does not imply zero Eskom diesel use.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A68BE92E-F49D-57C0-147B-EA8614C262C4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B5AEE4DF-16A9-EE6C-E337-47E75727F6C6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6F38B6D2-56E7-B5CD-5F47-EB1CB19BFA8F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18451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Plant-specific uncertainty can change the import requirement in either direction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9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ZW" sz="750"/>
              <a:t>CEF 10 Sep 2026 roadmap; Sasol 6 Nov 2025 MRG and 1 Sep 2026 Natref releases; PetroSA recommissioning scope. URLs and qualifications in evidence report.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479908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SAPREF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CEF describes an import phase followed by a proposed large refinery development.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Import infrastructure can precede any local production recovery. Timing, financing and yields remain conditional.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Secunda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Declining gas supply and potential MRG diversion could reduce liquid output.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MRG bridge is conditional. A quantified liquids penalty requires a gas balance and marginal conversion yield.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Natref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Sasol reported an operational disruption in September 2026.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 outage is not evidence of permanent closure. Confirm recovery and the longer-term investment outlook.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Mossgas / PetroSA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GTL has not operated since December 2020; a recommissioning proposal exists.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stopped historical production from a funded future restart.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B0EE2E87-B695-BCD0-3289-E0C9BD8A2F0E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3E4E8CBC-18B8-59C0-BEAC-0C7B7D927492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D6D6BD5D-C5B9-EC38-1A05-70401DB0354C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675125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Competing corridors could divert inland volumes away from Durban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10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Submodel specification adopted from the annotated review. No route winner is asserted without matched costs, access and capacity.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882550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Durban–Gauteng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road, rail and pipeline to the same receiving point and product specification.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Include handling, transport, losses, inventory finance and service constraints.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Matola / Maputo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Include inland haul and border costs for each reachable destination.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port-level cost comparison cannot establish Gauteng competitiveness.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Walvis Bay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distance, transit time and corridor capacity into each target market.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Do not assume that every inland customer is economically addressable.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Price bearability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Maximum affordable logistics cost = destination netback less origin product and other delivered costs.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route with price headroom must also offer capacity and reliable access. Higher national imports do not automatically become Vopak volumes.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995E9622-7CB8-64B2-14F3-FFDF68249FEF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2C29A5D6-689A-B0CC-7463-C6CD89DE6317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AA772E15-16D6-C9AE-A9B6-E330A168713F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1426000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The initial share tests establish scale; accessible throughput remains the key uncertainty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11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Operator capacities: Vopak Durban 360,246m³, Bidvest Durban 439,306m³, Lesedi 140,000m³. Department Gauteng sales 2022; appendix p22. Transfers between terminals must not be double-counted.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796365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Catchment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Initial inference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What the result can support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45.1% of the combined published gross capacity of Vopak and Bidvest in Durban.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two-operator footprint proxy with mixed products and an incomplete market denominator. It does not establish Durban throughput share.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Gauteng / Lesedi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2022 petrol + diesel sales: 6.81bn litres. Lesedi’s gross capacity equals 2.06% of that market per effective annual turn.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cross-vintage scale test. Current sales, eligible working capacity, actual turns and Gauteng allocation are needed for a throughput estimate.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Investment implication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Convert eligible tankage and realised turns into unique customer deliveries, then compare with existing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large market can coexist with spare terminal capacity. Market scale alone does not establish a need for additional tanks.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EC17DCF1-31AB-156F-5D84-694873761256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B1B61E75-48B4-AAC5-761A-E0C5CFDBE6CD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7C70F275-3B11-EC95-0751-4160F80A9A8D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1441738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Further investment depends on capturable volume exceeding existing capacity at an adequate return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Resolution framework from the signed-off review and user comments. Financial and origin–destination modules are specified; commercial calibration and investment approval remain outstanding.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160355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Decision test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Analysis required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Decision output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Accessible volume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each destination against delivered cost, service, access and customer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volume opportunity that Vopak can realistically serve.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Capacity requirement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the resulting flows with eligible working tankage, turnover and operational bottlenecks.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Whether the opportunity requires more tanks, faster handling or better use of existing assets.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Financial forecast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Apply storage and handling terms, operating cost, capex, tax and working capital to incremental volumes.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Cash flow, break-even utilisation, NPV and IRR against the required return. Commercial inputs remain open.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Decision today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evidence supports testing an import-and-distribution opportunity. It does not yet establish an expansion return.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Prioritise corridor economics and terminal operating inputs, then quantify investment options. Scenarios follow separately.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72046965-DA63-935B-805E-8E3B4490A3F7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CCB3200E-CF64-A546-97BD-2E04C4BD8240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D52D138D-C5A2-07BB-B942-74B68CB129AC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4078794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Supporting evidence for the main argument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13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Detailed evidence retained for review. The main argument is complete on pages 2–12; appendix pages are supporting exhibits, not additional situation pages.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877182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 group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Detail retained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Connection to the story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context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GDP, investment and sector activity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fr-FR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14–16 support situation pages 2–3.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Transport change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Fuel prices and vehicle efficiency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fr-FR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17–18 support the transport complication on page 7.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Historical diesel support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Eskom fuel use and freight payload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fr-FR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19–20 support situation page 3 and power complication page 8.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Delivery and market reach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Rail funding constraints and Gauteng demand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Pages 21–22 support corridor and share questions on pages 7, 10–11.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02331B3C-7A3E-34CA-B268-A170830D567A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CDE029BE-6A00-EB8C-8C7A-C0371E85A937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30F2C5BF-7A1B-B163-8BCD-901B057B2951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696896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GDP and fuel volumes need separate explanations of activity and sector mix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14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Staged GDP and department fuel sales, indices 2013=100. Sector attribution remains open; COVID distorts short-period comparisons.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6B6F6844-3432-29C3-EB03-89C2F6267E7F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548EA15F-B2EA-22CC-01FE-FC94ACF7A33F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F16CFAB-4F33-5E77-7596-5EDE8F07229C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96885834-F079-5193-5DBF-B3B04425C8F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8B80E6D9-F445-EFC5-8F8A-D3DD56D61D12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Economic weakness means limited growth in real activity and investment. Structural change means a different mix of output, travel and fuel use; this chart alone cannot attribute causality.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577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Investment evidence informs the growth outlook but does not establish extra fuel demand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15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World Bank WDI, FDI net inflows and gross fixed capital formation as % of GDP, 2010–2025. Confidence series remains an evidence gap.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CFB0B64A-1BD0-9324-7C77-BAA3CD826273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3AC57875-8F42-B301-4106-491E9D1513C2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15C40013-ED8E-ABC0-90AB-4453263BB8F1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8758CFEE-BC49-C4D4-DD17-F87B8F5DC82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295A0277-3989-5332-5422-B540DC6D6AE0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Fixed investment helps frame productive capacity. FDI can include large transactions; neither series is a direct investor-confidence measure or an additional fuel-demand multiplier.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244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W" sz="2300">
                <a:solidFill>
                  <a:schemeClr val="accent1"/>
                </a:solidFill>
                <a:latin typeface="Lato"/>
              </a:rPr>
              <a:t>Mining, agriculture and aviation require distinct demand explanations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16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Analytical framework following user comments. Sector-specific exhibits and causal attribution remain to be completed.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577178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Mining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Output, commodity mix and haul distance influence diesel use and freight.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mine activity from the fuel impact of changing freight mode.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Agriculture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Crop cycles, weather, irrigation and logistics can shift seasonal diesel use.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Establish sector activity and fuel exposure before assigning a headwind.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Aviation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Traffic, distance, load factors and aircraft efficiency drive jet-fuel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Keep jet fuel separate from petrol/diesel shares and verify terminal eligibility.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Manufacturing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Real output and industrial composition help explain the economic backdrop.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changes using sector data; a national fuel chart does not prove deindustrialisation.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9CF8EDDD-2189-58AF-64B4-5487B2B51D5A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E6C38551-E564-3C56-276B-43D2D203C87F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FFDFE260-FB30-A4E6-6A36-D127D53A4839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4042317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Fuel-price shocks affect running costs; sustained economics influence EV uptake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17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fuel-price history, nominal R/litre. No quantified geopolitical premium or calibrated EV adoption response is asserted.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4D9FDB66-227C-AF84-EBC0-8789F5E7F510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951A4B9D-5295-9771-070E-95D53B2B21A2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594C88FF-82FC-5A1A-E9B2-95F8957DAD7C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32A7A175-592B-E4CF-AABE-E8F97C0A165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7E12697F-2411-25FD-DB5D-1EC97AC31022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Shipping disruption, crude prices and FX can move fuel costs temporarily. EV adoption depends on sustained total ownership cost, purchase affordability, charging access and fleet replacement.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743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More efficient new vehicles reduce fuel intensity gradually as the fleet turns over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18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Mechanism supported by existing cohort architecture. OEM historical and future efficiency evidence is still missing; no new forecast shown.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857213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Fleet growth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More vehicles or distance travelled can raise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Measure activity before attributing lower fuel volumes to efficiency.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Efficiency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New-cohort consumption gains enter the fleet over successive replacement cycles.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Obtain OEM and real-world evidence by segment; do not apply new-vehicle gains to every vehicle.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 substitution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EVs remove some combustion-engine vehicle activity from the fuel calculation.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Count each vehicle transition once, then calculate efficiency on the remaining combustion fleet.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892FC36B-2488-2235-955A-BEB452C61A01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318EA125-4895-7351-A32B-1F836E04F869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E1A2F5F8-E631-7702-7E5C-BDEAF143670F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3967287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Eskom’s reported OCGT fuel use fell 40% in FY2025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19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Eskom integrated report 2025: FY March, own-fleet diesel + kerosene. EAF association is not a dispatch model; private backup use excluded.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B40E4AA7-DF3A-097A-AC34-41B5E9A4A3DA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2324DDAB-25B1-D967-AE43-2C2C8E3E2ADD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550D1DE4-AF49-3384-BFEB-0A1597E1CA33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FB5EA1A1-BD55-AEDC-A7E7-0CDC204014B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1607945A-A935-7EAB-5B77-977FEEB4D956}"/>
              </a:ext>
            </a:extLst>
          </p:cNvPr>
          <p:cNvSpPr txBox="1"/>
          <p:nvPr/>
        </p:nvSpPr>
        <p:spPr>
          <a:xfrm>
            <a:off x="533400" y="5613400"/>
            <a:ext cx="10477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Reported fuel fell from 1,129.5 to 679.1 million litres as EAF improved from 54.56% to 60.60%. This removes part of the recent diesel-demand support.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976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Road-to-rail recovery matters through transferable freight and haul distance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20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Stats SA monthly freight payload, complete calendar years. National tonnes are not corridor tonne-kilometres or transferable freight.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026A0C8A-2E81-590E-3E8A-5A7371446CC9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38AA2178-6D85-B0B0-9D0B-574DE4241532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69E261A8-19F2-EF1A-E914-19EE0BC82DA1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FAB77329-5006-0313-545B-E1B32AC55F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02763248-E345-6473-1DF8-D14EA2E6F4E6}"/>
              </a:ext>
            </a:extLst>
          </p:cNvPr>
          <p:cNvSpPr txBox="1"/>
          <p:nvPr/>
        </p:nvSpPr>
        <p:spPr>
          <a:xfrm>
            <a:off x="533400" y="5613400"/>
            <a:ext cx="10477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Payload establishes the historical direction. Diesel displacement requires corridor tonne-kilometres, road fuel intensity, rail traction and last-mile activity.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691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Rail recovery on the Durban corridor depends on funding and reliable service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21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User-supplied AIA Transnet Funding Brief, Sep 2026, pp1–2; cites FY2026 AFS and Network Statement v4 Annexure 17. Primary figures not independently reconciled.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738756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Network ambition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supplied brief reports a 250 Mt target dependent on a funding plan.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Do not treat every additional rail tonne as road displacement. Commodity, corridor and origin matter.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Funding constraint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Brief: R46.34bn approved over five years, including R1.71bn expansion.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Maintenance and sustaining spend dominate. A published plan is insufficient evidence of delivered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Container corridor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Brief: R2.11bn in 2026/27–2028/29; private funding expected thereafter.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Prioritise Durban–Gauteng road/rail competition and reconcile the corridor to Network Statement v4.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Two fuel effects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Rail can displace truck diesel while improved infrastructure also changes fuel-distribution economics.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Keep freight-demand effects separate from the route delivering fuel to Gauteng.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E90DF250-16F8-A411-43AF-F05F6FD0CCB2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7D1D85C5-402F-ACB5-CDB5-D3CEE7F0D5AF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EF3F99D9-9FD6-6F9D-E804-B24AA8F8CA15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</p:spTree>
    <p:extLst>
      <p:ext uri="{BB962C8B-B14F-4D97-AF65-F5344CB8AC3E}">
        <p14:creationId xmlns:p14="http://schemas.microsoft.com/office/powerpoint/2010/main" val="1755745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Gauteng provides a demand denominator for testing Lesedi’s potential reach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provincial sales, latest complete staged year 2022; Vopak Lesedi current capacity. Cross-vintage scale test only, not current observed market share.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830DC664-1008-739A-5183-686991D44EE0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Appendix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3D0FC6DF-11F7-BD2A-D864-697223B4513E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Supporting evidence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CDB10900-857D-64F9-7228-F95DFFDE655F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Reference detail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31B2AB1B-B623-0140-B670-1F841740249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448BA4A2-AF41-4AF6-7B5D-AB36EDA9BD3B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2022 petrol + diesel sales total 6.81bn litres. Lesedi’s 140,000m³ equals 2.06% of that annual market per effective gross-capacity turn. Actual turns and Gauteng allocation remain unknown.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21997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23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Props1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0</TotalTime>
  <Words>5082</Words>
  <Application>Microsoft Office PowerPoint</Application>
  <PresentationFormat>Custom</PresentationFormat>
  <Paragraphs>421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Lato</vt:lpstr>
      <vt:lpstr>Arial</vt:lpstr>
      <vt:lpstr>Vopak Theme</vt:lpstr>
      <vt:lpstr>PowerPoint Presentation</vt:lpstr>
      <vt:lpstr>Demand growth alone provides a weak foundation for Vopak’s investment case</vt:lpstr>
      <vt:lpstr>Power shortages and road freight have supported parts of diesel demand</vt:lpstr>
      <vt:lpstr>Reduced domestic production has increased the importance of imported supply</vt:lpstr>
      <vt:lpstr>The import opportunity is distributed across competing routes into inland markets</vt:lpstr>
      <vt:lpstr>Vopak has assets at both ends of the Durban–Gauteng supply chain</vt:lpstr>
      <vt:lpstr>Rail recovery, EVs and efficiency could weaken transport fuel demand</vt:lpstr>
      <vt:lpstr>Power recovery can persist, but availability and replacement timing remain risks</vt:lpstr>
      <vt:lpstr>Plant-specific uncertainty can change the import requirement in either direction</vt:lpstr>
      <vt:lpstr>Competing corridors could divert inland volumes away from Durban</vt:lpstr>
      <vt:lpstr>The initial share tests establish scale; accessible throughput remains the key uncertainty</vt:lpstr>
      <vt:lpstr>Further investment depends on capturable volume exceeding existing capacity at an adequate return</vt:lpstr>
      <vt:lpstr>Supporting evidence for the main argument</vt:lpstr>
      <vt:lpstr>GDP and fuel volumes need separate explanations of activity and sector mix</vt:lpstr>
      <vt:lpstr>Investment evidence informs the growth outlook but does not establish extra fuel demand</vt:lpstr>
      <vt:lpstr>Mining, agriculture and aviation require distinct demand explanations</vt:lpstr>
      <vt:lpstr>Fuel-price shocks affect running costs; sustained economics influence EV uptake</vt:lpstr>
      <vt:lpstr>More efficient new vehicles reduce fuel intensity gradually as the fleet turns over</vt:lpstr>
      <vt:lpstr>Eskom’s reported OCGT fuel use fell 40% in FY2025</vt:lpstr>
      <vt:lpstr>Road-to-rail recovery matters through transferable freight and haul distance</vt:lpstr>
      <vt:lpstr>Rail recovery on the Durban corridor depends on funding and reliable service</vt:lpstr>
      <vt:lpstr>Gauteng provides a demand denominator for testing Lesedi’s potential reach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Africa liquid fuels: Week 1 analytical maps</dc:title>
  <dc:subject>Illustrative demand geography and conditional Vopak market access</dc:subject>
  <dc:creator>Africa International Advisors</dc:creator>
  <cp:lastModifiedBy>Nigel Zhuwaki</cp:lastModifiedBy>
  <cp:revision>2</cp:revision>
  <dcterms:created xsi:type="dcterms:W3CDTF">2017-11-16T09:19:07Z</dcterms:created>
  <dcterms:modified xsi:type="dcterms:W3CDTF">2026-10-07T19:33:32Z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