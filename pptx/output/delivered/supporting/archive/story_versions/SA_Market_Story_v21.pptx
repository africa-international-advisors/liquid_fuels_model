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a:t>
            </a:r>
          </a:p>
          <a:p>
            <a:r>
              <a:rPr lang="en-ZW"/>
              <a:t>Derived evidence: output/delivered/demand_support_2026_10_08/evidence.json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2.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Slow demand growth and greater import reliance set the baseline; however, trajectories of power generation, refineries and the route to market could change it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Vopak can capture inland growth through the Durban–Lesedi corridor, with capacity expansion conditional on turnover and return on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Capturable volumes, route competitiveness and storage turnover determine the investment required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We define the South Africa liquids fuel market across demand–supply worldviews that test investment choices against a set of levers and outcomes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 Bars start at zero; scales are common within each panel, not across different units. Light blue = 2024; navy = 2025.</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174779815"/>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2024 vs 2025</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Implication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450m fewer litres in one year.
D5: test whether Eskom recovery persists as plants retire and new generation arrives.</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carries 85.3% of tonnes.
D2: rail recovery matters where freight can transfer; tonnes alone do not measure diesel savings.</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Sector trends diverge.
D1: agriculture grew; mining was flat and manufacturing declined. Activity is not fuel volume.</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
        <p:nvSpPr>
          <p:cNvPr id="4" name="Comparison unit">
            <a:extLst>
              <a:ext uri="{FF2B5EF4-FFF2-40B4-BE49-F238E27FC236}">
                <a16:creationId xmlns:a16="http://schemas.microsoft.com/office/drawing/2014/main" id="{6848D3B9-9DAE-E5DE-C318-9C697203955D}"/>
              </a:ext>
            </a:extLst>
          </p:cNvPr>
          <p:cNvSpPr txBox="1"/>
          <p:nvPr/>
        </p:nvSpPr>
        <p:spPr>
          <a:xfrm>
            <a:off x="2590800" y="2082800"/>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Own OCGT fuel · million litres · financial years</a:t>
            </a:r>
            <a:endParaRPr lang="en-ZA" sz="1000">
              <a:solidFill>
                <a:schemeClr val="dk1"/>
              </a:solidFill>
              <a:latin typeface="Lato" panose="020F0502020204030203" pitchFamily="34" charset="0"/>
            </a:endParaRPr>
          </a:p>
        </p:txBody>
      </p:sp>
      <p:pic>
        <p:nvPicPr>
          <p:cNvPr id="13" name="Demand comparison power">
            <a:extLst>
              <a:ext uri="{FF2B5EF4-FFF2-40B4-BE49-F238E27FC236}">
                <a16:creationId xmlns:a16="http://schemas.microsoft.com/office/drawing/2014/main" id="{E56657B0-75AD-D8BA-43B4-FF354B0972EF}"/>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590800" y="2159000"/>
            <a:ext cx="4508500" cy="1217295"/>
          </a:xfrm>
          <a:prstGeom prst="rect">
            <a:avLst/>
          </a:prstGeom>
        </p:spPr>
      </p:pic>
      <p:sp>
        <p:nvSpPr>
          <p:cNvPr id="15" name="Comparison unit">
            <a:extLst>
              <a:ext uri="{FF2B5EF4-FFF2-40B4-BE49-F238E27FC236}">
                <a16:creationId xmlns:a16="http://schemas.microsoft.com/office/drawing/2014/main" id="{B8C7AEBC-8080-1E55-90D9-764484D5A075}"/>
              </a:ext>
            </a:extLst>
          </p:cNvPr>
          <p:cNvSpPr txBox="1"/>
          <p:nvPr/>
        </p:nvSpPr>
        <p:spPr>
          <a:xfrm>
            <a:off x="2590800" y="3445933"/>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Reported payload · million tonnes · calendar years</a:t>
            </a:r>
            <a:endParaRPr lang="en-ZA" sz="1000">
              <a:solidFill>
                <a:schemeClr val="dk1"/>
              </a:solidFill>
              <a:latin typeface="Lato" panose="020F0502020204030203" pitchFamily="34" charset="0"/>
            </a:endParaRPr>
          </a:p>
        </p:txBody>
      </p:sp>
      <p:pic>
        <p:nvPicPr>
          <p:cNvPr id="17" name="Demand comparison freight">
            <a:extLst>
              <a:ext uri="{FF2B5EF4-FFF2-40B4-BE49-F238E27FC236}">
                <a16:creationId xmlns:a16="http://schemas.microsoft.com/office/drawing/2014/main" id="{4BF771DF-FDAB-7E86-21BE-D1D878BDB46A}"/>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590800" y="3522133"/>
            <a:ext cx="4508500" cy="1217295"/>
          </a:xfrm>
          <a:prstGeom prst="rect">
            <a:avLst/>
          </a:prstGeom>
        </p:spPr>
      </p:pic>
      <p:sp>
        <p:nvSpPr>
          <p:cNvPr id="18" name="Comparison unit">
            <a:extLst>
              <a:ext uri="{FF2B5EF4-FFF2-40B4-BE49-F238E27FC236}">
                <a16:creationId xmlns:a16="http://schemas.microsoft.com/office/drawing/2014/main" id="{050F5819-3F46-6939-E5CF-0124C47BDEA2}"/>
              </a:ext>
            </a:extLst>
          </p:cNvPr>
          <p:cNvSpPr txBox="1"/>
          <p:nvPr/>
        </p:nvSpPr>
        <p:spPr>
          <a:xfrm>
            <a:off x="2590800" y="4809066"/>
            <a:ext cx="4508500" cy="153888"/>
          </a:xfrm>
          <a:prstGeom prst="rect">
            <a:avLst/>
          </a:prstGeom>
          <a:noFill/>
        </p:spPr>
        <p:txBody>
          <a:bodyPr vert="horz" lIns="0" tIns="0" rIns="0" bIns="0" rtlCol="0">
            <a:spAutoFit/>
          </a:bodyPr>
          <a:lstStyle/>
          <a:p>
            <a:r>
              <a:rPr lang="en-GB" sz="1000">
                <a:solidFill>
                  <a:schemeClr val="dk1"/>
                </a:solidFill>
                <a:latin typeface="Lato" panose="020F0502020204030203" pitchFamily="34" charset="0"/>
              </a:rPr>
              <a:t>Real GVA · Rbn, 2015 prices · calendar years</a:t>
            </a:r>
            <a:endParaRPr lang="en-ZA" sz="1000">
              <a:solidFill>
                <a:schemeClr val="dk1"/>
              </a:solidFill>
              <a:latin typeface="Lato" panose="020F0502020204030203" pitchFamily="34" charset="0"/>
            </a:endParaRPr>
          </a:p>
        </p:txBody>
      </p:sp>
      <p:pic>
        <p:nvPicPr>
          <p:cNvPr id="20" name="Demand comparison sector">
            <a:extLst>
              <a:ext uri="{FF2B5EF4-FFF2-40B4-BE49-F238E27FC236}">
                <a16:creationId xmlns:a16="http://schemas.microsoft.com/office/drawing/2014/main" id="{91EF5371-357A-A86B-5CAE-156578AADBA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590800" y="4885266"/>
            <a:ext cx="4508500" cy="1217295"/>
          </a:xfrm>
          <a:prstGeom prst="rect">
            <a:avLst/>
          </a:prstGeom>
        </p:spPr>
      </p:pic>
      <p:pic>
        <p:nvPicPr>
          <p:cNvPr id="16" name="Picture 15">
            <a:extLst>
              <a:ext uri="{FF2B5EF4-FFF2-40B4-BE49-F238E27FC236}">
                <a16:creationId xmlns:a16="http://schemas.microsoft.com/office/drawing/2014/main" id="{B1A4CA6E-D36D-4514-AC46-C94C7A8EB8F7}"/>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889500" y="1739900"/>
            <a:ext cx="1397000" cy="180213"/>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With increased imports and constrained domestic capacity, alternative gateways compete for the same inland customers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Competitive offering on delivered cost and reliability could shift inland flows between competing corridors and strengthen growth in adjacent markets (landlocked SADC)</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Capital allocation requires capturable throughput beyond achievable capacity and sustainable </a:t>
            </a:r>
            <a:r>
              <a:rPr lang="en-GB" sz="2300">
                <a:solidFill>
                  <a:schemeClr val="dk1"/>
                </a:solidFill>
                <a:latin typeface="Lato"/>
              </a:rPr>
              <a:t>commercial terms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8379</Words>
  <Application>Microsoft Office PowerPoint</Application>
  <PresentationFormat>Custom</PresentationFormat>
  <Paragraphs>633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however, trajectories of power generation, refineries and the route to market could change it</vt:lpstr>
      <vt:lpstr>Vopak can capture inland growth through the Durban–Lesedi corridor, with capacity expansion conditional on turnover and return on investment</vt:lpstr>
      <vt:lpstr>Capturable volumes, route competitiveness and storage turnover determine the investment required</vt:lpstr>
      <vt:lpstr>We define the South Africa liquids fuel market across demand–supply worldviews that test investment choices against a set of levers and outcomes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With increased imports and constrained domestic capacity, alternative gateways compete for the same inland customers</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Competitive offering on delivered cost and reliability could shift inland flows between competing corridors and strengthen growth in adjacent markets (landlocked SADC)</vt:lpstr>
      <vt:lpstr>Capital allocation requires capturable throughput beyond achievable capacity and sustainable commercial terms</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23</cp:revision>
  <dcterms:created xsi:type="dcterms:W3CDTF">2017-11-16T09:19:07Z</dcterms:created>
  <dcterms:modified xsi:type="dcterms:W3CDTF">2026-10-08T00:45:04Z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