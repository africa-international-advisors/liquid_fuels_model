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4"/>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Lst>
  <p:sldSz cx="11588750" cy="6858000"/>
  <p:notesSz cx="6858000" cy="9144000"/>
  <p:embeddedFontLst>
    <p:embeddedFont>
      <p:font typeface="Lato" panose="020F0502020204030203" pitchFamily="34" charset="0"/>
      <p:regular r:id="rId35"/>
      <p:bold r:id="rId36"/>
      <p:italic r:id="rId37"/>
      <p:boldItalic r:id="rId3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3.fntdata"/><Relationship Id="rId40" Type="http://schemas.openxmlformats.org/officeDocument/2006/relationships/presProps" Target="presProps.xml"/><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1.fntdata"/><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4.fntdata"/><Relationship Id="rId20" Type="http://schemas.openxmlformats.org/officeDocument/2006/relationships/slide" Target="slides/slide16.xml"/><Relationship Id="rId4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07/10/2026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2025 integrated report (own-fleet diesel + kerosene); Stats SA freight payload. No causal diesel attribution from tonnes alone. Details: appendix pp19, 22–23.</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Existing corridor JSON and Natural Earth boundaries. Approximate authored road/pipeline candidates, not validated operating fuel routes. Domestic-origin and rail links require confirmation; no route tariff or customer right inferred.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staged refinery_capacity_reported.csv. Reported nameplate capacity, not actual production; source dashes excluded from totals. Historical stack reused; no invented Medium or L/H production forecasts. SAPREF/Natref/Secunda/PetroSA remain explicit levers.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Three aligned L/M/H production panels require these inputs. Existing stacked history is nameplate capacity. Owner: Nigel / supply analyst; resolve before adopting nine-world domestic supply outputs.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7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Executive summary: baseline, changes and investment outlook; calibration gaps explicit</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Slow demand growth and greater import reliance set the baseline; power, refineries and routes could change it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8895011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D2208F-48AA-6070-0399-5F17FF27F17F}"/>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9A23B5F6-8E90-3983-08C0-008A3DA080B5}"/>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E078B7E7-42E0-48B5-8980-F6C0ABD2EEE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F03D191-69A8-3341-EAD4-D9D9FCD4E49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B15BE8DD-EC6F-8E93-842B-D5CBB8A2EAC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A0F47AE2-D2DD-7B44-ED99-274F526E06A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2470B8B7-01DC-748C-5E52-97868EEBF2F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C7A01871-C3E1-F987-AC8A-378AB8547CD8}"/>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Vopak can capture inland growth through the Durban–Lesedi corridor, with expansion conditional on turnover and returns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3846069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CA46545-3EC1-6E1F-468F-2AB5A95C390F}"/>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A26C93A-E198-B8F1-C9A0-B5DB00ECD49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CB572413-696B-DD5B-AD97-FE5C83B147D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3EED3119-3AB3-46BC-2361-A16E5A58D37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EDE5D8F1-2711-623E-AC5C-0D1DB9B6D95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AA4CD3D5-40FE-3C94-46C3-B5993E9DF15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12A70522-A0A9-308C-5EBF-A7D847B3542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7078E238-4BA8-8BDD-D6F5-DCA9828D0ED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87530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Capturable volumes, route competitiveness and tank turnover determine the investment required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62014952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674936204"/>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8FB4C3-489F-DE3B-2E50-0EEB40D91FF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22E6E66-C8DE-E676-5891-55C20FF8311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500BE995-DD41-276C-7AA8-70F1AEFA579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61C93388-1D68-DF23-6CEB-DC24DD5DDB04}"/>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494523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Nine demand–supply worlds test the investment choice against the Medium / Medium baseline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66751926"/>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64550066"/>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533BDF3-A93A-4E17-681F-3223BC849CDC}"/>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B90A14B-DC67-14DF-6CA6-8785FDEF3FD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7B28A111-D6FE-C161-B743-0F2E0652C59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17D7346-D925-CDE8-94C1-0825F87A375D}"/>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
        <p:nvSpPr>
          <p:cNvPr id="13" name="Cell outputs">
            <a:extLst>
              <a:ext uri="{FF2B5EF4-FFF2-40B4-BE49-F238E27FC236}">
                <a16:creationId xmlns:a16="http://schemas.microsoft.com/office/drawing/2014/main" id="{4102123B-FC52-E662-A968-86822AC659CA}"/>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Tree>
    <p:extLst>
      <p:ext uri="{BB962C8B-B14F-4D97-AF65-F5344CB8AC3E}">
        <p14:creationId xmlns:p14="http://schemas.microsoft.com/office/powerpoint/2010/main" val="6745456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Petrol demand has declined while diesel has grown slowly, limiting the case for demand-led expansion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81DECC2-A141-308F-EEAA-ACC05503F8F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18820CC-27F7-4508-A12C-6BF67B28B9B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D91E934-5C5A-4F5E-1A65-E22B5B97AEC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0A8BDDCA-81C2-D7BA-C5BC-C3925497965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278B2E1A-2D97-2BE4-72D4-B395873402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B199090D-DED4-F889-C122-75DB8C439B12}"/>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800139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shortages and road freight have supported diesel consumption, but that support can change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2025 integrated report (own-fleet diesel + kerosene); Stats SA freight payload. No causal diesel attribution from tonnes alone. Details: appendix pp19, 22–23.</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6931314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Historical 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this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Power generation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Eskom’s own OCGT fuel use rose to 1,129.5m litres in FY2024, then fell to 679.1m in FY2025 as EAF improved.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D5: availability, retirement and new generation determine dispatch. See the quantitative power exhibit and calibration requirements.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Road freight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The national payload series shows road carrying substantially more tonnage than rail.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D2: transferable tonne-kilometres, rail reliability and fuel intensity determine the net diesel effect.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 interpretation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Mining and agriculture add sector-specific diesel exposure; aviation has a separate jet-fuel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 sector activity drives end-use demand. Histories precede explicit L/M/H assumptions; missing data remain identified.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2BF2277-4856-C32E-F964-5C2786811AF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709BA75-E407-4D62-BE85-40C432357E65}"/>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66310428-E033-C46C-A0D9-141DBEEA5A0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1B3891D-270E-15D5-4E9D-85728E5A8F5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2456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Lower domestic production has increased imports and shifted how inland demand is supplied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BE515C3-92B8-AD99-8982-B17878D1857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D544474-EBEB-D12D-DCCC-744101C4B762}"/>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3F5AB158-E146-F848-5285-23ECD41FAEB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6431A66-7DAA-BDB5-6B1E-B6BA02A7C4F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D6FDAE9A-26B3-401A-5E52-39759EB018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E8D13577-DDE9-BEC1-4077-31AE1CD666F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541706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Domestic sources and competing gateways contest the same inland customers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Existing corridor JSON and Natural Earth boundaries. Approximate authored road/pipeline candidates, not validated operating fuel routes. Domestic-origin and rail links require confirmation; no route tariff or customer right inferred.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EBB6D56-BF55-4AE9-673A-9E6520FC156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97C6EAB-06F3-C27F-D5A0-C9DAB0F33A3C}"/>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F885B44F-D2CE-73E1-D42D-86B080548B9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DF10C058-3FC3-E88A-5C78-F170A8D5077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5A289504-01CB-E29B-0558-4A32BF018E6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59B29FE6-542B-09CC-37A3-39BB31ADA639}"/>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160856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turnover could let Durban and Lesedi serve more demand through existing tanks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1FE79C6-CB28-79DF-C370-E6493244972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3FCDF5A-89AF-5305-1C74-8DE58381075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2520A07-8079-560E-82C8-108D161C6EC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5516E7EF-4E36-4ED4-C7B7-93BC9857112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EA5EB371-4BF3-787C-8B4D-9745225800F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0B8AED4-5BA8-1442-C489-2F096128B0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818130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recovery, EV adoption and efficiency could reduce transport fuel demand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5678B31-CC3B-5C43-9B3E-E11DFDC342C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B108A1EE-AD29-DE49-9C97-05794383C0CE}"/>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B04ACE55-C7D7-0AE7-30A9-2E2D4B8A91C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4A653521-D6CF-B3A1-D573-33D2741B2EA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09EBF997-97B0-E178-5B24-FADD55B9ED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0766DFA-4026-2A64-6BB3-E99303DE16C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527003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Power recovery could lower diesel use further, while outages and replacement delays could reverse the gains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C630EE1-030D-2A26-8616-35F4AEAB87F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E8A2DE9-3253-C8EA-12E7-10FE6D8434C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2BDD40E-8985-7C92-714F-B19640997FA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1DF7D029-B0D8-7012-E3D7-DE2E37CCBE6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E09B6A43-7082-2374-6214-A1000132994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0FDFDD6-10E2-823E-8129-1219EA2F4CA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291158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Refinery recovery could reduce import needs, while further production losses could increase them</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FIASA 2025 p49, staged refinery_capacity_reported.csv. Reported nameplate capacity, not actual production; source dashes excluded from totals. Historical stack reused; no invented Medium or L/H production forecasts. SAPREF/Natref/Secunda/PetroSA remain explicit levers.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0738872-B54D-5516-A01A-718D51E4185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F4139F6-D7BF-3768-8F6F-CB857A2D075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B93FD5E-AEC6-953E-553B-114956264676}"/>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25A12A6F-FED9-0A6E-FA3D-13ABF9FC7A1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D72BBCD9-88B6-7CEC-8ED7-A4E86A71786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6C2AF26-BCE0-42FF-9206-9E2D8BB88217}"/>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existing stacked chart explains the capacity footprint. Plant availability, utilisation and product yields are still required to turn L/M/H supply assumptions into fuel-output paths.</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89034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Changes in delivered cost and reliability could shift inland flows between competing corridors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061286030"/>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14BBC08-5350-3966-ED3E-C290F170A0E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962D3EC6-1BB5-C98D-CF13-57A870AE73F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CC257373-700A-694E-C864-5B17D0AFAD54}"/>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001BB17C-EE68-3656-FDB9-E112DC99C0D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3919200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Expansion requires capturable throughput beyond achievable capacity at an adequate return</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426762602"/>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E5AF22A-7FBA-9DD4-7BE5-A27650AE3AA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457B6226-206B-F8FB-374E-49A1135664B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F5DCAD3-06FA-4C17-7EE8-DEE07B62B544}"/>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AA9B83D-0D69-DA97-B1D8-EEE06B47DA9A}"/>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spTree>
    <p:extLst>
      <p:ext uri="{BB962C8B-B14F-4D97-AF65-F5344CB8AC3E}">
        <p14:creationId xmlns:p14="http://schemas.microsoft.com/office/powerpoint/2010/main" val="2819215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The supporting evidence calibrates demand, supply and the terminal investment tests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7191981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D6F3199-3FDD-9154-F1BD-634A4412270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0CCC902C-DCB3-97E8-A29E-EFFE22D7C15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E5B8933-DF78-B08F-9BD7-963A7F3E0D31}"/>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A44DCD1-B3C8-661B-8857-65290FF3F2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852574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Fuel demand has diverged from GDP, so sector activity and fuel intensity need separate treatment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B606A117-4606-678C-4638-3865FCE5CD2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F29E35C-0BC1-E073-F27B-F68E27287E5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50CBB31-F206-6E8C-C6EF-DFEC746D281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2A59529-6647-9ABC-23D6-1F53F31CE23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49B0D05-B67D-768D-4280-B47BCEAE7D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EA74CE2A-0AA5-4E92-743E-4973681E762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10135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Fixed investment has weakened while FDI fluctuates, limiting a simple growth-led fuel argument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BAF53DA0-67EC-446E-BFAC-63B8ED9E57A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E2F2EE11-0CBE-473D-A040-15314DE35D0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717ECC1-2C1D-980D-00FB-23F454EC91B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7D17EFD-6CCB-2CE8-2E57-5770BF2A645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56E1E3E1-B123-90F8-859A-91B445493CD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9391951C-D6A4-5735-71C4-860DBBF0AD47}"/>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66691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Mining, agriculture and aviation expose fuel demand to different activity drivers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6695198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D5F0AD8-15B2-6006-284E-B28E067039A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8DA302F-E536-529F-86B9-E80DD866C1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7446989-D390-786C-B571-0CF59EA2559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64F0AC08-DD34-B4D7-692B-673F726CC4A8}"/>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066286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Higher fuel prices strengthen EV running-cost incentives, but ownership economics determine uptake</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0D11151-7E9A-3771-2FB2-F2CA38DF401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56A79AC-B77E-550C-8AE6-B682E3E5EE9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39AB3BB-7F0A-0B9D-DB09-C1C37E1ACC2B}"/>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6A0695A-3C4B-23A5-9C46-D70FF8FBE30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3888C367-3FA3-1385-0FCF-034BF87EF7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81201A41-FB54-33C0-5591-5D700F25F684}"/>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064800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New-vehicle efficiency gains affect fuel demand gradually as older vehicles leave the fleet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8690615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C707CD-52AE-6A16-06C1-5C42B8F39E14}"/>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43E4DE1-6455-F10E-51AF-9539A7A070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4171B9FE-BF12-2D0C-E836-0A81B39A949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40AF40C-EC7B-E1A0-EDD6-934305D6ED0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339509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Eskom’s own OCGT fuel use fell 40% in FY2025 as availability improved</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767FECF-807B-01BA-83A4-E8697F8BC31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B733CCD-ECB3-6E48-723E-9D0E99899FD7}"/>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698CFA6-9164-739D-7F79-06C5E51536C4}"/>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C862346-CF55-2155-2787-2019314F473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070D04F0-5091-FFBE-0B18-DA88F75573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A3CDF37-3AF1-AB64-5E32-3A60496389E6}"/>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426682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Road carries most reported freight tonnage, making transferable haul distance a key diesel lever</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D9F4393-477F-3537-C7DB-0AFE6EB942E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229CD24B-0339-0E3A-9DE6-AC71A436B957}"/>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28FB795-70AD-3F3C-A0E3-C1F3F44B85A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175F748-AD11-E025-2C12-1F30F7165CA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E4AEDCAF-11E1-D508-E42B-383B746C36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D9D7EA9A-4BE5-62A6-08F4-9B55DA1C2FC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62629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Rail funding and reliable service determine how much road freight can return to rail</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0171320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225E946-AE67-EA26-CEA8-87190B113ED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C72D8B3C-ED43-A266-658C-5F2425D8400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D3986AD-739B-9410-B7C1-A0D38923CEB6}"/>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6F8EC871-354C-7CFF-8C64-1B13EF9430F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766508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Gauteng demand establishes market scale, while Lesedi capture and turnover determine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9EF0AC8-7C8F-808C-4308-590A808CF49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C839AD8-DC0F-EBD1-BA0D-7D91A2B6DC5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52F3FBF-F366-86F2-1481-CCEFE2B42F8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B9AD4215-F4BF-EBF6-27C8-B39533658D9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410CA260-85A7-653A-52C6-7E956A7AE1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09EAA07-8088-0029-1DF7-730645C7496E}"/>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4032923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Every market world passes through explicit demand, supply, capture and operating levers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72823629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6BBBD27-4762-395F-172F-9916A0CBA80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A93A911-BC88-1751-8849-102268F0A56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2359A61F-CA6D-FAE5-7743-07E6F74E52A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6C3936C0-74AB-8087-78EA-CF0DC54C093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24146125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Generation timing must close the power balance before residual diesel can be forecast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7651893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6C2F605-CA1D-9856-C769-9BE7DA5CE8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94542B1-6D79-24AB-3BE7-A0A7AA12CEDE}"/>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F85F9A19-54F9-804C-B3F3-3C64BB29985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A284552B-F431-8D9A-E590-0D88706B331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251179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Plant-level output and yields must turn the capacity stack into three supply paths</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Three aligned L/M/H production panels require these inputs. Existing stacked history is nameplate capacity. Owner: Nigel / supply analyst; resolve before adopting nine-world domestic supply outputs.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0608993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Restart/FID dates, ramp-up, product yields and operating availability.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Distinguish import operations, announced refinery ambition and commissioned output.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Actual liquid output, gas decline, MRG allocation and marginal liquids yield.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Quantify output lost or retained; gas diversion is not an end-user demand reduction.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and ownership basis, outages, utilisation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Reconcile reported share with whole-site output before aggregation.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Restart scope, timing, feedstock, utilisation and liquid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stopped GTL history from a funded restart assumption.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5DB2CB3-4A23-620C-1660-B9E871272EE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BFC6A45-3338-0B2B-FBB6-7302CFA3462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C16F7926-8B1B-ABE9-F069-AEDDF90F8F7B}"/>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A122315-4AF9-4FE2-916C-9027985CEC4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4757060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accent1"/>
                </a:solidFill>
                <a:latin typeface="Lato"/>
              </a:rPr>
              <a:t>Public capacity ratios establish scale but cannot substitute for realised terminal throughput</a:t>
            </a:r>
            <a:endParaRPr sz="2300">
              <a:solidFill>
                <a:schemeClr val="accent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241300"/>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p25.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82923894"/>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AFDB905A-06B3-2E8F-F199-2BD4F2F437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FE91667F-966A-37D5-068B-2F21FE53D3B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BBE63D0-3467-AE8B-155E-78C090903D7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52DE137-2CCB-34AB-376D-329FACF6EE6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440139815"/>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1</TotalTime>
  <Words>7259</Words>
  <Application>Microsoft Office PowerPoint</Application>
  <PresentationFormat>Custom</PresentationFormat>
  <Paragraphs>571</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Lato</vt:lpstr>
      <vt:lpstr>Calibri</vt:lpstr>
      <vt:lpstr>Arial</vt:lpstr>
      <vt:lpstr>Vopak Theme</vt:lpstr>
      <vt:lpstr>PowerPoint Presentation</vt:lpstr>
      <vt:lpstr>Slow demand growth and greater import reliance set the baseline; power, refineries and routes could change it</vt:lpstr>
      <vt:lpstr>Vopak can capture inland growth through the Durban–Lesedi corridor, with expansion conditional on turnover and returns</vt:lpstr>
      <vt:lpstr>Capturable volumes, route competitiveness and tank turnover determine the investment required</vt:lpstr>
      <vt:lpstr>Nine demand–supply worlds test the investment choice against the Medium / Medium baseline</vt:lpstr>
      <vt:lpstr>Petrol demand has declined while diesel has grown slowly, limiting the case for demand-led expansion</vt:lpstr>
      <vt:lpstr>Power shortages and road freight have supported diesel consumption, but that support can change</vt:lpstr>
      <vt:lpstr>Lower domestic production has increased imports and shifted how inland demand is supplied</vt:lpstr>
      <vt:lpstr>Domestic sources and competing gateways contest the same inland customers</vt:lpstr>
      <vt:lpstr>Higher turnover could let Durban and Lesedi serve more demand through existing tanks</vt:lpstr>
      <vt:lpstr>Rail recovery, EV adoption and efficiency could reduce transport fuel demand</vt:lpstr>
      <vt:lpstr>Power recovery could lower diesel use further, while outages and replacement delays could reverse the gains</vt:lpstr>
      <vt:lpstr>Refinery recovery could reduce import needs, while further production losses could increase them</vt:lpstr>
      <vt:lpstr>Changes in delivered cost and reliability could shift inland flows between competing corridors</vt:lpstr>
      <vt:lpstr>Expansion requires capturable throughput beyond achievable capacity at an adequate return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Plant-level output and yields must turn the capacity stack into three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3</cp:revision>
  <dcterms:created xsi:type="dcterms:W3CDTF">2017-11-16T09:19:07Z</dcterms:created>
  <dcterms:modified xsi:type="dcterms:W3CDTF">2026-10-07T21:41:48Z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