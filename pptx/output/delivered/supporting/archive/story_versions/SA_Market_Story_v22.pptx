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8"/>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306" r:id="rId20"/>
    <p:sldId id="305"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7" r:id="rId36"/>
    <p:sldId id="308" r:id="rId37"/>
  </p:sldIdLst>
  <p:sldSz cx="11588750" cy="6858000"/>
  <p:notesSz cx="6858000" cy="9144000"/>
  <p:embeddedFontLst>
    <p:embeddedFont>
      <p:font typeface="Lato" panose="020F0502020204030203" pitchFamily="34" charset="0"/>
      <p:regular r:id="rId39"/>
      <p:bold r:id="rId40"/>
      <p:italic r:id="rId41"/>
      <p:boldItalic r:id="rId4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2.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commentAuthors" Target="commentAuthor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Executive summary — baseline and changes. Comparable historical periods differ: Department sales 2013–2023; SARS imports 2020–2025; Eskom FY2025 vs FY2024 (own diesel + kerosene). M/M is a reference framework, not a calibrated forecast.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2013–2023. CAGR from comparable endpoints: petrol −2.08%, diesel +0.82%. FIASA 2024 is excluded from the trend calculation; its observations remain in the evidence data.</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SARS litre-reported petrol/diesel codes, complete calendar years. 2020–2025 changes are historical comparisons, not plant-level causal attribution. Export histories retained in the source report; unit/blend exclusions remain.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FY ending March. Fuel/EAF: 2025 report; GWh: staged 2024–2026 reports. Own Eskom and IPP generation separated. Private backup and load-shedding histories are missing; no assumed annual generation gap is assigned entirely to diesel.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Request prepared, not sent. Proposed coordination: Nigel with Vopak operations/commercial/finance; Manish for public evidence. Monthly data: latest 36 complete months; aligned product, unit and period definitions. Detailed fields, acceptance tests and triggers: data_request.csv.</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Staged GDP and department fuel sales, indices 2013=100. Sector attribution remains open; COVID distorts short-period comparisons.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World Bank WDI, FDI net inflows and gross fixed capital formation as % of GDP, 2010–2025. Confidence series remains an evidence gap.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Analytical framework following user comments. Sector-specific exhibits and causal attribution remain to be completed.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fuel-price history, nominal R/litre. No quantified geopolitical premium or calibrated EV adoption response is asserted.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integrated report 2025: FY March, own-fleet diesel + kerosene. EAF association is not a dispatch model; private backup use excluded.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Stats SA monthly freight payload, complete calendar years. National tonnes are not corridor tonne-kilometres or transferable freight.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User-supplied AIA Transnet Funding Brief, Sep 2026, pp1–2; cites FY2026 AFS and Network Statement v4 Annexure 17. Primary figures not independently reconciled.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provincial sales, latest complete staged year 2022; Vopak Lesedi current capacity. Cross-vintage scale test only, not current observed market share.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Operator capacities: Vopak Durban 360,246m³, Bidvest Durban 439,306m³, Lesedi 140,000m³. Department Gauteng sales 2022; appendix p27. Transfers between terminals must not be double-counted.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four quarters; SARS trade: 12 months and litre units only, blends/other units excluded. 2021 energy-balance consumption differs from sales; statistical differences are not stock changes. Source hashes and exact values: investment_bridge_2026_10_08/evidence.json.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Screening functions tested with synthetic cases; commercial outputs remain unpopulated. Not integrated into the forecast engine or independently reviewed. Owners, request IDs and expiry triggers: workstreams/WS0_governance/workplan/sa_investment_bridge_2026_10_08.csv.</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2.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Data request and investment screening bridge added; scenario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Slow demand growth and greater import reliance set the baseline; road-to-rail shifts, EV adoption, power recovery and refinery changes could reshape the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737828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Vopak can capture inland growth through the Durban–Lesedi corridor, with capacity expansion conditional on turnover and return on investment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920282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Competition from Walvis Bay and Maputo shapes the volumes Vopak can capture; storage turnover determines the capacity required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87130155"/>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We define the South Africa liquids fuel market across demand–supply worldviews that test investment choices against a set of levers and outcomes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855098038"/>
              </p:ext>
            </p:extLst>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
        <p:nvSpPr>
          <p:cNvPr id="4" name="SCR 1">
            <a:extLst>
              <a:ext uri="{FF2B5EF4-FFF2-40B4-BE49-F238E27FC236}">
                <a16:creationId xmlns:a16="http://schemas.microsoft.com/office/drawing/2014/main" id="{0C68F690-E368-ECBA-10F3-479C773D0792}"/>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5" name="SCR 2">
            <a:extLst>
              <a:ext uri="{FF2B5EF4-FFF2-40B4-BE49-F238E27FC236}">
                <a16:creationId xmlns:a16="http://schemas.microsoft.com/office/drawing/2014/main" id="{EC07A52D-4501-3CA9-C10F-94FA47840A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6" name="SCR 3">
            <a:extLst>
              <a:ext uri="{FF2B5EF4-FFF2-40B4-BE49-F238E27FC236}">
                <a16:creationId xmlns:a16="http://schemas.microsoft.com/office/drawing/2014/main" id="{82B0CF40-803C-79C5-086A-07D11B28AC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7" name="SCR 4">
            <a:extLst>
              <a:ext uri="{FF2B5EF4-FFF2-40B4-BE49-F238E27FC236}">
                <a16:creationId xmlns:a16="http://schemas.microsoft.com/office/drawing/2014/main" id="{2929D8D1-57E6-AAE1-EE03-E5C7B7E0CA4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Petrol demand has declined while diesel has grown slowly, limiting the case for demand-led expansion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shortages and road freight have supported diesel consumption, but that support can change with increased support for rail reform and improved Eskom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174779815"/>
              </p:ext>
            </p:extLst>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635500">
                  <a:extLst>
                    <a:ext uri="{9D8B030D-6E8A-4147-A177-3AD203B41FA5}">
                      <a16:colId xmlns:a16="http://schemas.microsoft.com/office/drawing/2014/main" val="20001"/>
                    </a:ext>
                  </a:extLst>
                </a:gridCol>
                <a:gridCol w="3921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2024 vs 2025</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Implication for demand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Power
generation</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450m fewer litres in one year.
D5: test whether Eskom recovery persists as plants retire and new generation arrives.</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Road
freight</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Road still carries 85.3% of tonnes.
D2: rail recovery matters where freight can transfer; tonnes alone do not measure diesel savings.</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Sector
activity</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Sector trends diverge.
D1: agriculture grew; mining was flat and manufacturing declined. Activity is not fuel volume.</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
        <p:nvSpPr>
          <p:cNvPr id="4" name="Comparison unit">
            <a:extLst>
              <a:ext uri="{FF2B5EF4-FFF2-40B4-BE49-F238E27FC236}">
                <a16:creationId xmlns:a16="http://schemas.microsoft.com/office/drawing/2014/main" id="{6848D3B9-9DAE-E5DE-C318-9C697203955D}"/>
              </a:ext>
            </a:extLst>
          </p:cNvPr>
          <p:cNvSpPr txBox="1"/>
          <p:nvPr/>
        </p:nvSpPr>
        <p:spPr>
          <a:xfrm>
            <a:off x="2590800" y="2082800"/>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Own OCGT fuel · million litres · financial years</a:t>
            </a:r>
            <a:endParaRPr lang="en-ZA" sz="1000">
              <a:solidFill>
                <a:schemeClr val="dk1"/>
              </a:solidFill>
              <a:latin typeface="Lato" panose="020F0502020204030203" pitchFamily="34" charset="0"/>
            </a:endParaRPr>
          </a:p>
        </p:txBody>
      </p:sp>
      <p:pic>
        <p:nvPicPr>
          <p:cNvPr id="13" name="Demand comparison power">
            <a:extLst>
              <a:ext uri="{FF2B5EF4-FFF2-40B4-BE49-F238E27FC236}">
                <a16:creationId xmlns:a16="http://schemas.microsoft.com/office/drawing/2014/main" id="{E56657B0-75AD-D8BA-43B4-FF354B0972EF}"/>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590800" y="2159000"/>
            <a:ext cx="4508500" cy="1217295"/>
          </a:xfrm>
          <a:prstGeom prst="rect">
            <a:avLst/>
          </a:prstGeom>
        </p:spPr>
      </p:pic>
      <p:sp>
        <p:nvSpPr>
          <p:cNvPr id="15" name="Comparison unit">
            <a:extLst>
              <a:ext uri="{FF2B5EF4-FFF2-40B4-BE49-F238E27FC236}">
                <a16:creationId xmlns:a16="http://schemas.microsoft.com/office/drawing/2014/main" id="{B8C7AEBC-8080-1E55-90D9-764484D5A075}"/>
              </a:ext>
            </a:extLst>
          </p:cNvPr>
          <p:cNvSpPr txBox="1"/>
          <p:nvPr/>
        </p:nvSpPr>
        <p:spPr>
          <a:xfrm>
            <a:off x="2590800" y="3445933"/>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Reported payload · million tonnes · calendar years</a:t>
            </a:r>
            <a:endParaRPr lang="en-ZA" sz="1000">
              <a:solidFill>
                <a:schemeClr val="dk1"/>
              </a:solidFill>
              <a:latin typeface="Lato" panose="020F0502020204030203" pitchFamily="34" charset="0"/>
            </a:endParaRPr>
          </a:p>
        </p:txBody>
      </p:sp>
      <p:pic>
        <p:nvPicPr>
          <p:cNvPr id="17" name="Demand comparison freight">
            <a:extLst>
              <a:ext uri="{FF2B5EF4-FFF2-40B4-BE49-F238E27FC236}">
                <a16:creationId xmlns:a16="http://schemas.microsoft.com/office/drawing/2014/main" id="{4BF771DF-FDAB-7E86-21BE-D1D878BDB46A}"/>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590800" y="3522133"/>
            <a:ext cx="4508500" cy="1217295"/>
          </a:xfrm>
          <a:prstGeom prst="rect">
            <a:avLst/>
          </a:prstGeom>
        </p:spPr>
      </p:pic>
      <p:sp>
        <p:nvSpPr>
          <p:cNvPr id="18" name="Comparison unit">
            <a:extLst>
              <a:ext uri="{FF2B5EF4-FFF2-40B4-BE49-F238E27FC236}">
                <a16:creationId xmlns:a16="http://schemas.microsoft.com/office/drawing/2014/main" id="{050F5819-3F46-6939-E5CF-0124C47BDEA2}"/>
              </a:ext>
            </a:extLst>
          </p:cNvPr>
          <p:cNvSpPr txBox="1"/>
          <p:nvPr/>
        </p:nvSpPr>
        <p:spPr>
          <a:xfrm>
            <a:off x="2590800" y="4809066"/>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Real GVA · Rbn, 2015 prices · calendar years</a:t>
            </a:r>
            <a:endParaRPr lang="en-ZA" sz="1000">
              <a:solidFill>
                <a:schemeClr val="dk1"/>
              </a:solidFill>
              <a:latin typeface="Lato" panose="020F0502020204030203" pitchFamily="34" charset="0"/>
            </a:endParaRPr>
          </a:p>
        </p:txBody>
      </p:sp>
      <p:pic>
        <p:nvPicPr>
          <p:cNvPr id="20" name="Demand comparison sector">
            <a:extLst>
              <a:ext uri="{FF2B5EF4-FFF2-40B4-BE49-F238E27FC236}">
                <a16:creationId xmlns:a16="http://schemas.microsoft.com/office/drawing/2014/main" id="{91EF5371-357A-A86B-5CAE-156578AADBA6}"/>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590800" y="4885266"/>
            <a:ext cx="4508500" cy="1217295"/>
          </a:xfrm>
          <a:prstGeom prst="rect">
            <a:avLst/>
          </a:prstGeom>
        </p:spPr>
      </p:pic>
      <p:pic>
        <p:nvPicPr>
          <p:cNvPr id="16" name="Picture 15">
            <a:extLst>
              <a:ext uri="{FF2B5EF4-FFF2-40B4-BE49-F238E27FC236}">
                <a16:creationId xmlns:a16="http://schemas.microsoft.com/office/drawing/2014/main" id="{B1A4CA6E-D36D-4514-AC46-C94C7A8EB8F7}"/>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4889500" y="1739900"/>
            <a:ext cx="1397000" cy="180213"/>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shut down of domestic refining capacity has lowered domestic production and has increased imports shifting how inland demand is supplied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With increased imports and constrained domestic capacity, alternative gateways compete for the same inland customers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Increasing asset utilisation through higher turnover could let Durban and Lesedi serve more demand through existing tanks and corridor growth opportunities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Accelerated rail recovery, EV adoption and ICE technology efficiency could reduce transport fuel demand in the medium to long term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generation recovery could lower diesel use further, while outages and replacement delays could sustain domestic demand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Competitive offering on delivered cost and reliability could shift inland flows between competing corridors and strengthen growth in adjacent markets (landlocked SADC)</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39101257"/>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Capital allocation requires capturable throughput beyond achievable capacity and sustainable commercial terms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6871225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5" name="Argument icon flow">
            <a:extLst>
              <a:ext uri="{FF2B5EF4-FFF2-40B4-BE49-F238E27FC236}">
                <a16:creationId xmlns:a16="http://schemas.microsoft.com/office/drawing/2014/main" id="{32CA8D82-7C33-6CEB-4282-519F1B9247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urnover">
            <a:extLst>
              <a:ext uri="{FF2B5EF4-FFF2-40B4-BE49-F238E27FC236}">
                <a16:creationId xmlns:a16="http://schemas.microsoft.com/office/drawing/2014/main" id="{8A9AF1CC-4FE7-5761-EBB3-81D52B58C2D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4" name="Argument icon headroom">
            <a:extLst>
              <a:ext uri="{FF2B5EF4-FFF2-40B4-BE49-F238E27FC236}">
                <a16:creationId xmlns:a16="http://schemas.microsoft.com/office/drawing/2014/main" id="{768F778B-5708-6387-6B02-0A3595E7E99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6" name="Argument icon return">
            <a:extLst>
              <a:ext uri="{FF2B5EF4-FFF2-40B4-BE49-F238E27FC236}">
                <a16:creationId xmlns:a16="http://schemas.microsoft.com/office/drawing/2014/main" id="{8DC3627A-06AF-EE96-5267-BB9A9FDE89A9}"/>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Operating and commercial data will determine how much growth existing assets can serve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Request prepared, not sent. Proposed coordination: Nigel with Vopak operations/commercial/finance; Manish for public evidence. Monthly data: latest 36 complete months; aligned product, unit and period definitions. Detailed fields, acceptance tests and triggers: data_request.csv.</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2310825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Data request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Required detail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it unlocks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Volumes and customers
DR02 / DR05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Monthly m³ by terminal, product, customer and destination; transfer flags; contracts and contestable volumes.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Establish unique customer deliveries, accessible demand and Vopak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Working capacity
DR03</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Product-eligible working tanks, actual turns, committed capacity, stock policy and receipt/dispatch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Test higher turnover before debottlenecking or adding storage.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Competing routes
DR04</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Matched delivered costs, transit time, access and available capacity from Durban, Maputo, Walvis Bay and domestic sources.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Identify competitive routes to the same inland customer.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Commercial returns
DR06</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Rates, incremental costs, capex, schedule, ramp-up, working capital and return hurdle by investment option.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Establish break-even throughput and the value of each option.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Market and plant paths
DR01 / DR07 / DR08</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Reconciled product balance; annual demand levers and plant output, including power, rail, EVs and Secunda gas/MRG.</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Calibrate M/M, then test the investment across all nine worlds.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332274939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Tree>
    <p:extLst>
      <p:ext uri="{BB962C8B-B14F-4D97-AF65-F5344CB8AC3E}">
        <p14:creationId xmlns:p14="http://schemas.microsoft.com/office/powerpoint/2010/main" val="3331781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17</a:t>
            </a:r>
          </a:p>
        </p:txBody>
      </p:sp>
    </p:spTree>
    <p:extLst>
      <p:ext uri="{BB962C8B-B14F-4D97-AF65-F5344CB8AC3E}">
        <p14:creationId xmlns:p14="http://schemas.microsoft.com/office/powerpoint/2010/main" val="1212990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0859630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097486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1349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746268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275643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806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p27.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525995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A matched demand snapshot is available, but the domestic supply balance still needs reconciliation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32</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four quarters; SARS trade: 12 months and litre units only, blends/other units excluded. 2021 energy-balance consumption differs from sales; statistical differences are not stock changes. Source hashes and exact values: investment_bridge_2026_10_08/evidence.json.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59936990"/>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794000">
                  <a:extLst>
                    <a:ext uri="{9D8B030D-6E8A-4147-A177-3AD203B41FA5}">
                      <a16:colId xmlns:a16="http://schemas.microsoft.com/office/drawing/2014/main" val="20000"/>
                    </a:ext>
                  </a:extLst>
                </a:gridCol>
                <a:gridCol w="3929380">
                  <a:extLst>
                    <a:ext uri="{9D8B030D-6E8A-4147-A177-3AD203B41FA5}">
                      <a16:colId xmlns:a16="http://schemas.microsoft.com/office/drawing/2014/main" val="20001"/>
                    </a:ext>
                  </a:extLst>
                </a:gridCol>
                <a:gridCol w="392938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Evidence / bn litres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Petrol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Diesel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national sales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9.18</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12.72</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Gauteng sales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3.53</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3.28</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imports / exports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5.46 / 0.85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11.95 / 0.89</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2021 balance diagnostic</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0.51 statistical difference needed to reconcile reported supply and final consumption.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2.10 statistical difference needed to reconcile reported supply and final consumption.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Decision consequence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Sales less net imports is a residual, not measured domestic output. Confirm product and stock boundaries.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Provincial sales establish demand scale, not source allocation or flows captured by Vopak.</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829265256"/>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6999349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six-step bridge is implemented for screening; calibration now depends on the requested inputs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Screening functions tested with synthetic cases; commercial outputs remain unpopulated. Not integrated into the forecast engine or independently reviewed. Owners, request IDs and expiry triggers: workstreams/WS0_governance/workplan/sa_investment_bridge_2026_10_08.csv.</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00158714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Work package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Implemented now</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Input needed to complete the decision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1 | Baseline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Matched 2022 sales/trade; 2021 balance diagnostic.</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Reconcile production, stocks and source definitions.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 | Route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 cost and bearable-charge calculation; route readiness register.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Matched quotes, service capacity and access.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3 | Vopak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 calculation constrained by accessible market and route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Customer allocation and unique terminal deliveries.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4 | Existing assets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Required-turn and operating-bottleneck calculation; gross-turn screen.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capacity, achievable turns and peak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5 | Investment options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ZW" sz="1200" b="0" u="none">
                          <a:solidFill>
                            <a:schemeClr val="dk1"/>
                          </a:solidFill>
                          <a:latin typeface="Lato" panose="020F0502020204030203" pitchFamily="34" charset="0"/>
                        </a:rPr>
                        <a:t>Pre-tax break-even volume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Commercial inputs and full incremental cash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12071703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6 | Nine worlds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Nine-cell output register and demand/supply balance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Annual L/M/H paths; rerun routes, capture and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2747984756"/>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987861434"/>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7891</Words>
  <Application>Microsoft Office PowerPoint</Application>
  <PresentationFormat>Custom</PresentationFormat>
  <Paragraphs>689</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Lato</vt:lpstr>
      <vt:lpstr>Calibri</vt:lpstr>
      <vt:lpstr>Arial</vt:lpstr>
      <vt:lpstr>Vopak Theme</vt:lpstr>
      <vt:lpstr>PowerPoint Presentation</vt:lpstr>
      <vt:lpstr>Slow demand growth and greater import reliance set the baseline; road-to-rail shifts, EV adoption, power recovery and refinery changes could reshape the outlook</vt:lpstr>
      <vt:lpstr>Vopak can capture inland growth through the Durban–Lesedi corridor, with capacity expansion conditional on turnover and return on investment</vt:lpstr>
      <vt:lpstr>Competition from Walvis Bay and Maputo shapes the volumes Vopak can capture; storage turnover determines the capacity required</vt:lpstr>
      <vt:lpstr>We define the South Africa liquids fuel market across demand–supply worldviews that test investment choices against a set of levers and outcomes</vt:lpstr>
      <vt:lpstr>Petrol demand has declined while diesel has grown slowly, limiting the case for demand-led expansion outlook</vt:lpstr>
      <vt:lpstr>Power shortages and road freight have supported diesel consumption, but that support can change with increased support for rail reform and improved Eskom</vt:lpstr>
      <vt:lpstr>The shut down of domestic refining capacity has lowered domestic production and has increased imports shifting how inland demand is supplied</vt:lpstr>
      <vt:lpstr>With increased imports and constrained domestic capacity, alternative gateways compete for the same inland customers</vt:lpstr>
      <vt:lpstr>Increasing asset utilisation through higher turnover could let Durban and Lesedi serve more demand through existing tanks and corridor growth opportunities</vt:lpstr>
      <vt:lpstr>Accelerated rail recovery, EV adoption and ICE technology efficiency could reduce transport fuel demand in the medium to long term</vt:lpstr>
      <vt:lpstr>Power generation recovery could lower diesel use further, while outages and replacement delays could sustain domestic demand</vt:lpstr>
      <vt:lpstr>SAPREF could expand the supply footprint, while Natref unavailability would reduce it</vt:lpstr>
      <vt:lpstr>Competitive offering on delivered cost and reliability could shift inland flows between competing corridors and strengthen growth in adjacent markets (landlocked SADC)</vt:lpstr>
      <vt:lpstr>Capital allocation requires capturable throughput beyond achievable capacity and sustainable commercial terms</vt:lpstr>
      <vt:lpstr>Operating and commercial data will determine how much growth existing assets can serve</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lpstr>A matched demand snapshot is available, but the domestic supply balance still needs reconciliation</vt:lpstr>
      <vt:lpstr>The six-step bridge is implemented for screening; calibration now depends on the requested inputs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24</cp:revision>
  <dcterms:created xsi:type="dcterms:W3CDTF">2017-11-16T09:19:07Z</dcterms:created>
  <dcterms:modified xsi:type="dcterms:W3CDTF">2026-10-08T01:16:19Z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