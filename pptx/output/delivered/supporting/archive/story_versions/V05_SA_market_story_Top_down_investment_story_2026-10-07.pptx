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4" r:id="rId4"/>
  </p:sldMasterIdLst>
  <p:notesMasterIdLst>
    <p:notesMasterId r:id="rId29"/>
  </p:notesMasterIdLst>
  <p:sldIdLst>
    <p:sldId id="25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</p:sldIdLst>
  <p:sldSz cx="11588750" cy="6858000"/>
  <p:notesSz cx="6858000" cy="9144000"/>
  <p:embeddedFontLst>
    <p:embeddedFont>
      <p:font typeface="Lato" panose="020F0502020204030203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Henry Gilfillan" initials="HG [2]" lastIdx="8" clrIdx="6">
    <p:extLst>
      <p:ext uri="{19B8F6BF-5375-455C-9EA6-DF929625EA0E}">
        <p15:presenceInfo xmlns:p15="http://schemas.microsoft.com/office/powerpoint/2012/main" userId="S::henry.g@africaia.com::20d8d1d5-b81d-4db2-8d49-9db47f87700a" providerId="AD"/>
      </p:ext>
    </p:extLst>
  </p:cmAuthor>
  <p:cmAuthor id="1" name="Abbas Bilgrami" initials="AB [2]" lastIdx="8" clrIdx="0">
    <p:extLst>
      <p:ext uri="{19B8F6BF-5375-455C-9EA6-DF929625EA0E}">
        <p15:presenceInfo xmlns:p15="http://schemas.microsoft.com/office/powerpoint/2012/main" userId="da833efe2a07dd73" providerId="Windows Live"/>
      </p:ext>
    </p:extLst>
  </p:cmAuthor>
  <p:cmAuthor id="8" name="Abbas Bilgrami" initials="AB" lastIdx="34" clrIdx="7">
    <p:extLst>
      <p:ext uri="{19B8F6BF-5375-455C-9EA6-DF929625EA0E}">
        <p15:presenceInfo xmlns:p15="http://schemas.microsoft.com/office/powerpoint/2012/main" userId="S::abbas.b@africaia.com::09d4207e-ca10-48c5-9e33-f8dec02b9ddc" providerId="AD"/>
      </p:ext>
    </p:extLst>
  </p:cmAuthor>
  <p:cmAuthor id="2" name="Henry Gilfillan" initials="HG" lastIdx="82" clrIdx="1">
    <p:extLst>
      <p:ext uri="{19B8F6BF-5375-455C-9EA6-DF929625EA0E}">
        <p15:presenceInfo xmlns:p15="http://schemas.microsoft.com/office/powerpoint/2012/main" userId="Henry Gilfillan" providerId="None"/>
      </p:ext>
    </p:extLst>
  </p:cmAuthor>
  <p:cmAuthor id="9" name="Paayal Kanjee Govind" initials="PKG" lastIdx="4" clrIdx="8">
    <p:extLst>
      <p:ext uri="{19B8F6BF-5375-455C-9EA6-DF929625EA0E}">
        <p15:presenceInfo xmlns:p15="http://schemas.microsoft.com/office/powerpoint/2012/main" userId="Paayal Kanjee Govind" providerId="None"/>
      </p:ext>
    </p:extLst>
  </p:cmAuthor>
  <p:cmAuthor id="3" name="Ismaeel" initials="I" lastIdx="104" clrIdx="2">
    <p:extLst>
      <p:ext uri="{19B8F6BF-5375-455C-9EA6-DF929625EA0E}">
        <p15:presenceInfo xmlns:p15="http://schemas.microsoft.com/office/powerpoint/2012/main" userId="Ismaeel" providerId="None"/>
      </p:ext>
    </p:extLst>
  </p:cmAuthor>
  <p:cmAuthor id="4" name="Jennifer Zeiss" initials="JZ" lastIdx="19" clrIdx="3">
    <p:extLst>
      <p:ext uri="{19B8F6BF-5375-455C-9EA6-DF929625EA0E}">
        <p15:presenceInfo xmlns:p15="http://schemas.microsoft.com/office/powerpoint/2012/main" userId="Jennifer Zeiss" providerId="None"/>
      </p:ext>
    </p:extLst>
  </p:cmAuthor>
  <p:cmAuthor id="5" name="Gabrielle Knott" initials="GK" lastIdx="2" clrIdx="4">
    <p:extLst>
      <p:ext uri="{19B8F6BF-5375-455C-9EA6-DF929625EA0E}">
        <p15:presenceInfo xmlns:p15="http://schemas.microsoft.com/office/powerpoint/2012/main" userId="Gabrielle Knott" providerId="None"/>
      </p:ext>
    </p:extLst>
  </p:cmAuthor>
  <p:cmAuthor id="6" name="James Brown" initials="JB" lastIdx="2" clrIdx="5">
    <p:extLst>
      <p:ext uri="{19B8F6BF-5375-455C-9EA6-DF929625EA0E}">
        <p15:presenceInfo xmlns:p15="http://schemas.microsoft.com/office/powerpoint/2012/main" userId="S::james@africaia.com::5c3cb27f-96be-4c72-848f-aa01b93992f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552"/>
    <a:srgbClr val="EBF9FE"/>
    <a:srgbClr val="FDD9A4"/>
    <a:srgbClr val="2D6196"/>
    <a:srgbClr val="326757"/>
    <a:srgbClr val="728A94"/>
    <a:srgbClr val="F01C24"/>
    <a:srgbClr val="56787A"/>
    <a:srgbClr val="CFDFF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87D74-0723-4269-ADB4-1C2880134AC4}" v="1" dt="2026-10-01T12:10:22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7D6B1-D525-4628-ADA5-8E1FE74ADA4C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20738" y="1143000"/>
            <a:ext cx="5216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01EB5-DFDD-47C4-B7E0-8A0182602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94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note: Walk through four sections: the project question, the analytical</a:t>
            </a:r>
          </a:p>
          <a:p>
            <a:r>
              <a:t>requirements, the model-build problem and the delivery approach. The purpose is to</a:t>
            </a:r>
          </a:p>
          <a:p>
            <a:r>
              <a:t>connect the analyst's tasks to the decisions the engagement needs to support.</a:t>
            </a:r>
          </a:p>
          <a:p>
            <a:r>
              <a:t>Week 1 analytical pack, 6 October 2026. Existing kickoff cover/closing reused at user request.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Final structure: baseline pp3–6; changes pp7–11 (forecast framework p9); outlook pp12–17 (market choices p16, inventory p17).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Final structure: baseline pp3–6; changes pp7–11 (forecast framework p9); outlook pp12–17 (market choices p16, inventory p17). Current page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Working investment thesis, not an approved expansion recommendation. Supporting logic: p3; nine-world framework: p4; evidence and implications: pp5–14. Numerical calibration and commercial inputs remain open.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SCR synthesis supporting the opening investment thesis. L/M/H = Low/Medium/High; M/M is baseline. Matrix follows on p4. Each resolution is conditional on the evidence and calibration described in the pack.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Qualitative framework, not calculated results. Import directions hold exports and stock movements comparable. The diagonal contrasts investment worlds; routing, capture and returns determine the actual choice. M/M calibration remains open.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Department fuel sales, 2013–2023, same-series comparison. FIASA 2024 shown separately; source definitions require reconciliation. Economic context and sector mechanisms: appendix pp16–18.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Eskom 2025 integrated report (own-fleet diesel + kerosene); Stats SA freight payload. No causal diesel attribution from tonnes alone. Details: appendix pp18, 21–22.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SARS litre-reported petrol/diesel trade; CEF 10 Sep 2026 roadmap; PetroSA recommissioning scope; Sasol reporting. Excluded units/blends and stock changes prevent a complete balance.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Vopak terminal pages and existing corridor evidence. Alternative gateway coverage is a scope for comparison, not a finding that each route is competitive into Gauteng.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Vopak operator inventory checked 6–7 Oct 2026; Gauteng catchment adopted provisionally by user. Gross capacity is not customer throughput or effective working capacity.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Mechanisms drawn from the reviewed scope and current cohort architecture. Rail funding evidence: appendix p23; fuel prices and efficiency: pp19–20. Demand and supply paths require calibration.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Standalone power complication retained as requested. EAF, retirement and commissioning assumptions require later scenario calibration.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CEF 10 Sep 2026 roadmap; Sasol 6 Nov 2025 MRG and 1 Sep 2026 Natref releases; PetroSA recommissioning scope. URLs and qualifications in evidence report.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Submodel specification adopted from the annotated review. No route winner is asserted without matched costs, access and capacity.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Operator capacities: Vopak Durban 360,246m³, Bidvest Durban 439,306m³, Lesedi 140,000m³. Department Gauteng sales 2022; appendix p24. Transfers between terminals must not be double-counted.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Opening argument: thesis p2, SCR p3, matrix p4. Supporting analysis: pp5–14. Appendix exhibits provide detail for those arguments.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Staged GDP and department fuel sales, indices 2013=100. Sector attribution remains open; COVID distorts short-period comparisons.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World Bank WDI, FDI net inflows and gross fixed capital formation as % of GDP, 2010–2025. Confidence series remains an evidence gap.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Analytical framework following user comments. Sector-specific exhibits and causal attribution remain to be completed.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Department fuel-price history, nominal R/litre. No quantified geopolitical premium or calibrated EV adoption response is asserted.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Mechanism supported by existing cohort architecture. OEM historical and future efficiency evidence is still missing; no new forecast shown.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Eskom integrated report 2025: FY March, own-fleet diesel + kerosene. EAF association is not a dispatch model; private backup use excluded.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Stats SA monthly freight payload, complete calendar years. National tonnes are not corridor tonne-kilometres or transferable freight.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User-supplied AIA Transnet Funding Brief, Sep 2026, pp1–2; cites FY2026 AFS and Network Statement v4 Annexure 17. Primary figures not independently reconciled.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Department provincial sales, latest complete staged year 2022; Vopak Lesedi current capacity. Cross-vintage scale test only, not current observed market share.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pending.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3" descr="A picture containing sky, building, outdoor, city&#10;&#10;Description automatically generated">
            <a:extLst>
              <a:ext uri="{FF2B5EF4-FFF2-40B4-BE49-F238E27FC236}">
                <a16:creationId xmlns:a16="http://schemas.microsoft.com/office/drawing/2014/main" id="{AF958CDF-21C2-4696-B1FF-98C6C69234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5137149"/>
            <a:ext cx="4933950" cy="1571625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43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/>
          <p:nvPr userDrawn="1"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3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0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76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Click to edit Master title style</a:t>
            </a:r>
          </a:p>
        </p:txBody>
      </p:sp>
      <p:cxnSp>
        <p:nvCxnSpPr>
          <p:cNvPr id="7" name="Title and body separator"/>
          <p:cNvCxnSpPr/>
          <p:nvPr/>
        </p:nvCxn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964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65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43CB578-80E0-884E-8515-53279D5DAC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6515100"/>
            <a:ext cx="952500" cy="212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 txBox="1">
            <a:spLocks/>
          </p:cNvSpPr>
          <p:nvPr userDrawn="1"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marL="0" indent="0" algn="l" defTabSz="869137" rtl="0" eaLnBrk="1" latinLnBrk="0" hangingPunct="1">
              <a:lnSpc>
                <a:spcPct val="90000"/>
              </a:lnSpc>
              <a:spcBef>
                <a:spcPts val="951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185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6422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0990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5559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0127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24696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9265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9383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00">
                <a:solidFill>
                  <a:srgbClr val="404040"/>
                </a:solidFill>
                <a:latin typeface="Lato"/>
              </a:defRPr>
            </a:pPr>
            <a:endParaRPr/>
          </a:p>
        </p:txBody>
      </p:sp>
      <p:cxnSp>
        <p:nvCxnSpPr>
          <p:cNvPr id="10" name="Fine footer rule"/>
          <p:cNvCxnSpPr/>
          <p:nvPr/>
        </p:nvCxn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01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8" r:id="rId2"/>
    <p:sldLayoutId id="2147483723" r:id="rId3"/>
    <p:sldLayoutId id="2147483724" r:id="rId4"/>
    <p:sldLayoutId id="2147483725" r:id="rId5"/>
    <p:sldLayoutId id="2147483698" r:id="rId6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vopak.com/terminals/vopak-terminal-durban" TargetMode="Externa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8.xml"/><Relationship Id="rId5" Type="http://schemas.openxmlformats.org/officeDocument/2006/relationships/slide" Target="slide19.xml"/><Relationship Id="rId4" Type="http://schemas.openxmlformats.org/officeDocument/2006/relationships/slide" Target="slide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9.xml"/><Relationship Id="rId4" Type="http://schemas.openxmlformats.org/officeDocument/2006/relationships/slide" Target="slide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9.xml"/><Relationship Id="rId4" Type="http://schemas.openxmlformats.org/officeDocument/2006/relationships/slide" Target="slide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9.xml"/><Relationship Id="rId4" Type="http://schemas.openxmlformats.org/officeDocument/2006/relationships/slide" Target="slide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9.xml"/><Relationship Id="rId4" Type="http://schemas.openxmlformats.org/officeDocument/2006/relationships/slide" Target="slide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0.xml"/><Relationship Id="rId4" Type="http://schemas.openxmlformats.org/officeDocument/2006/relationships/slide" Target="slid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rPr lang="en-GB">
                <a:solidFill>
                  <a:srgbClr val="FFFFFF"/>
                </a:solidFill>
              </a:rPr>
              <a:t>South Africa
liquid fuels
market story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Lato"/>
              </a:defRPr>
            </a:pPr>
            <a:r>
              <a:rPr lang="en-GB" sz="1700">
                <a:solidFill>
                  <a:srgbClr val="FFFFFF"/>
                </a:solidFill>
              </a:rPr>
              <a:t>Investment thesis, scenario worlds and supporting evidence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rPr lang="en-GB">
                <a:solidFill>
                  <a:srgbClr val="FFFFFF"/>
                </a:solidFill>
              </a:rPr>
              <a:t>Durban and Gauteng (Lesedi catchment)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rPr lang="en-ZW">
                <a:solidFill>
                  <a:srgbClr val="FFFFFF"/>
                </a:solidFill>
              </a:rPr>
              <a:t>7 October 2026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4572000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Lato"/>
              </a:defRPr>
            </a:pPr>
            <a:r>
              <a:rPr lang="en-GB" sz="1200">
                <a:solidFill>
                  <a:srgbClr val="FFFFFF"/>
                </a:solidFill>
              </a:rPr>
              <a:t>Top-down review draft; calibration pending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/>
          <p:cNvSpPr txBox="1"/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/>
          <p:cNvSpPr txBox="1"/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BDBEC1"/>
                </a:solidFill>
                <a:latin typeface="Lato"/>
              </a:defRPr>
            </a:pPr>
            <a:r>
              <a:t>Strictly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Vopak’s investment case rests on capturing imports through its Durban–Gauteng chain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Working investment thesis, not an approved expansion recommendation. Supporting logic: p3; nine-world framework: p4; evidence and implications: pp5–14. Numerical calibration and commercial inputs remain open.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156670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Investment thesis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Supporting reason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What determines the choice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Capture imported fuel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Limited demand growth can coexist with greater import needs as domestic production changes.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Establish how much of that import requirement is accessible through Durban and can be captured by Vopak.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Use the coastal–inland position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 and Lesedi give Vopak assets along the supply chain into Gauteng.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Delivered cost, reliable access and customer allocation determine throughput at each terminal.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Make expansion conditional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relevant investment is the capacity or handling constraint that prevents profitable customer volumes being served.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Use existing assets, debottleneck or add storage according to capturable flow, usable capacity and incremental returns.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 the thesis in nine worlds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Medium / Medium anchors the baseline. Low demand / High supply and High demand / Low supply frame contrasting import environments.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Choose an option that is justified across the relevant worlds, or phase commitment against explicit volume and return triggers.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F38AD2B7-1C2A-0D54-81D9-742A77CD394D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C2C8439F-586F-F0B5-1420-3FC0ADAF0825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84E24292-7DFE-9421-37C4-1DE4E0E6CD0C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The investment thesis depends on imports, route access and profitable capacity use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3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SCR synthesis supporting the opening investment thesis. L/M/H = Low/Medium/High; M/M is baseline. Matrix follows on p4. Each resolution is conditional on the evidence and calibration described in the pack.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149963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8160">
                  <a:extLst>
                    <a:ext uri="{9D8B030D-6E8A-4147-A177-3AD203B41FA5}">
                      <a16:colId xmlns:a16="http://schemas.microsoft.com/office/drawing/2014/main" val="3798216008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Argument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Situation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Complication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Resolution / decision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7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Transport demand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Subdued aggregate growth masks different product trends. Road freight supports diesel use.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Sector growth, rail recovery, EVs and efficiency change fuel demand.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rgbClr val="0A2373"/>
                          </a:solidFill>
                          <a:latin typeface="Lato" panose="020F0502020204030203" pitchFamily="34" charset="0"/>
                        </a:rPr>
                        <a:t>Demand growth alone cannot establish expansion. L/M/H paths test the product volumes Vopak could serve.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7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Power demand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Power shortages supported diesel use; Eskom consumption has recently fallen.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Recovery may persist or reverse through outages and replacement delays.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rgbClr val="0A2373"/>
                          </a:solidFill>
                          <a:latin typeface="Lato" panose="020F0502020204030203" pitchFamily="34" charset="0"/>
                        </a:rPr>
                        <a:t>Power recovery can remove diesel support. The same demand paths must include explicit power assumptions.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7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Domestic supply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Reduced local production has increased reliance on imports.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SAPREF, Natref and Secunda can change domestic fuel output materially.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rgbClr val="0A2373"/>
                          </a:solidFill>
                          <a:latin typeface="Lato" panose="020F0502020204030203" pitchFamily="34" charset="0"/>
                        </a:rPr>
                        <a:t>Domestic supply changes can create import needs even with flat demand. Cross L/M/H supply with demand.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7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Corridor competition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 connects imported fuel to inland customers.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Alternative gateways, delivered costs, reliability and access alter flows.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rgbClr val="0A2373"/>
                          </a:solidFill>
                          <a:latin typeface="Lato" panose="020F0502020204030203" pitchFamily="34" charset="0"/>
                        </a:rPr>
                        <a:t>Vopak benefits only from accessible flows. Delivered economics and access translate imports into Durban volumes.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7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Vopak investment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 and Lesedi provide a coastal–inland asset position.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Capture, usable capacity and commercial returns determine expansion needs.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rgbClr val="0A2373"/>
                          </a:solidFill>
                          <a:latin typeface="Lato" panose="020F0502020204030203" pitchFamily="34" charset="0"/>
                        </a:rPr>
                        <a:t>Expand where capturable flows exceed usable capacity at an adequate return. Compare options across the nine worlds.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4EA12177-6536-4631-D6C9-A0281EBD104F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60129082-3425-8DF4-6264-637FDD0DD9C0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F2426E06-6FB8-CEB9-6D92-96C6E8DFEC16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41449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Nine demand–supply worlds frame the choice, with Medium / Medium as baseline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4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Qualitative framework, not calculated results. Import directions hold exports and stock movements comparable. The diagonal contrasts investment worlds; routing, capture and returns determine the actual choice. M/M calibration remains open.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421781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8160">
                  <a:extLst>
                    <a:ext uri="{9D8B030D-6E8A-4147-A177-3AD203B41FA5}">
                      <a16:colId xmlns:a16="http://schemas.microsoft.com/office/drawing/2014/main" val="207873064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Fuel demand / domestic supply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HIGH supply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MEDIUM supply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LOW supply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LOW demand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1" u="none">
                          <a:solidFill>
                            <a:schemeClr val="accent1"/>
                          </a:solidFill>
                          <a:latin typeface="Lato" panose="020F0502020204030203" pitchFamily="34" charset="0"/>
                        </a:rPr>
                        <a:t>L / H
LOWEST IMPORT PRESSURE
Test existing-capacity use before expansion.</a:t>
                      </a:r>
                      <a:endParaRPr sz="1200" b="1" u="none">
                        <a:solidFill>
                          <a:schemeClr val="accent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chemeClr val="accent1">
                        <a:tint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 / M
Lower imports than baseline.
Test utilisation and customer capture.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rgbClr val="0A2373"/>
                          </a:solidFill>
                          <a:latin typeface="Lato" panose="020F0502020204030203" pitchFamily="34" charset="0"/>
                        </a:rPr>
                        <a:t>L / L
Demand and supply both fall.
Net import effect depends on their relative change.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MEDIUM demand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 / H
Lower imports than baseline.
Supply recovery reduces import needs.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1" u="none">
                          <a:solidFill>
                            <a:schemeClr val="lt1"/>
                          </a:solidFill>
                          <a:latin typeface="Lato" panose="020F0502020204030203" pitchFamily="34" charset="0"/>
                        </a:rPr>
                        <a:t>M / M
BASELINE
Reference imports, terminal throughput and capacity headroom.</a:t>
                      </a:r>
                      <a:endParaRPr sz="1200" b="1" u="none">
                        <a:solidFill>
                          <a:schemeClr val="lt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rgbClr val="0A2373"/>
                          </a:solidFill>
                          <a:latin typeface="Lato" panose="020F0502020204030203" pitchFamily="34" charset="0"/>
                        </a:rPr>
                        <a:t>M / L
Higher imports than baseline.
Supply losses increase import needs.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HIGH demand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 / H
Demand and supply both rise.
Net import effect depends on their relative change.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 / M
Higher imports than baseline.
Demand growth increases import needs.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1" u="none">
                          <a:solidFill>
                            <a:schemeClr val="accent1"/>
                          </a:solidFill>
                          <a:latin typeface="Lato" panose="020F0502020204030203" pitchFamily="34" charset="0"/>
                        </a:rPr>
                        <a:t>H / L
HIGHEST IMPORT PRESSURE
Test debottlenecking or expansion if capturable flows exceed capacity.</a:t>
                      </a:r>
                      <a:endParaRPr sz="1200" b="1" u="none">
                        <a:solidFill>
                          <a:schemeClr val="accent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B8B19012-562F-966C-431C-9CF62525C8A9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A21E0F2A-FF86-27F3-BF30-E4F48242295C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D0D0E74E-79D0-014D-342B-C8B3B155DABB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Resolution</a:t>
            </a:r>
          </a:p>
        </p:txBody>
      </p:sp>
      <p:sp>
        <p:nvSpPr>
          <p:cNvPr id="12" name="Cell outputs">
            <a:extLst>
              <a:ext uri="{FF2B5EF4-FFF2-40B4-BE49-F238E27FC236}">
                <a16:creationId xmlns:a16="http://schemas.microsoft.com/office/drawing/2014/main" id="{503DA694-7865-61B9-58AE-9BA033164306}"/>
              </a:ext>
            </a:extLst>
          </p:cNvPr>
          <p:cNvSpPr txBox="1"/>
          <p:nvPr/>
        </p:nvSpPr>
        <p:spPr>
          <a:xfrm>
            <a:off x="533400" y="5816600"/>
            <a:ext cx="10477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chemeClr val="dk1"/>
                </a:solidFill>
                <a:latin typeface="Lato" panose="020F0502020204030203" pitchFamily="34" charset="0"/>
              </a:rPr>
              <a:t>Each cell will report imports, Vopak Durban / Lesedi throughput, capacity headroom and investment choice.</a:t>
            </a:r>
            <a:endParaRPr lang="en-ZA" sz="11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90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Demand growth alone provides a weak foundation for Vopak’s investment case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5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Department fuel sales, 2013–2023, same-series comparison. FIASA 2024 shown separately; source definitions require reconciliation. Economic context and sector mechanisms: appendix pp16–18.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54590CEA-1CEC-D89D-ED13-53F811CCE110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F9EB1786-683A-3568-D0F6-CF59C49ECD4F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A612619B-8538-5EB2-C62E-DB543DAC3977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E58079D0-D781-7D48-88C4-2BFFC15E09B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87156AF3-6F0E-AD9F-3387-B19671BF70B9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Petrol fell 19% and diesel rose 9% over 2013–2023. This supports the opening thesis: import requirements and accessible customer flows must establish the investment case alongside demand growth.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81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Power shortages and road freight have supported parts of diesel demand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6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ZW" sz="750"/>
              <a:t>Eskom 2025 integrated report (own-fleet diesel + kerosene); Stats SA freight payload. No causal diesel attribution from tonnes alone. Details: appendix pp18, 21–22.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613694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Demand support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Historical 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What this establishes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Power generation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Eskom’s own OCGT fuel use rose to 1,129.5m litres in FY2024, then fell to 679.1m in FY2025 as EAF improved.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historical diesel market includes a material power-system component whose scale can change.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Road freight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national payload series shows road carrying substantially more tonnage than rail.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Diesel use depends on how freight moves as well as how much the economy produces.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Demand 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Mining and agriculture add sector-specific diesel exposure; aviation has a separate jet-fuel market.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national GDP forecast alone cannot explain the product and activity mix that terminals serve.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30877F57-1F81-74A9-2DD4-474A5B978799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7756BB19-A44A-138F-48AB-2EE796E8509F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F18631D0-3FFA-04A8-E4FF-948C25283B31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566920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Reduced domestic production has increased the importance of imported supply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7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ZW" sz="750"/>
              <a:t>SARS litre-reported petrol/diesel trade; CEF 10 Sep 2026 roadmap; PetroSA recommissioning scope; Sasol reporting. Excluded units/blends and stock changes prevent a complete balance.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201D311E-6C1B-9C04-4E7A-C4296955BF9E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6C90AFE7-186C-DAE4-2C82-7680ECEF1DFF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A7A4AAFC-A4EB-3158-AA56-4526E7D60303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D53FFF92-4C28-887B-6DB4-D1F49407273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95500"/>
            <a:ext cx="7493000" cy="2894965"/>
          </a:xfrm>
          <a:prstGeom prst="rect">
            <a:avLst/>
          </a:prstGeom>
        </p:spPr>
      </p:pic>
      <p:sp>
        <p:nvSpPr>
          <p:cNvPr id="14" name="Context heading">
            <a:extLst>
              <a:ext uri="{FF2B5EF4-FFF2-40B4-BE49-F238E27FC236}">
                <a16:creationId xmlns:a16="http://schemas.microsoft.com/office/drawing/2014/main" id="{328AF7B7-5A7D-118F-FC94-1922D4FE962B}"/>
              </a:ext>
            </a:extLst>
          </p:cNvPr>
          <p:cNvSpPr txBox="1"/>
          <p:nvPr/>
        </p:nvSpPr>
        <p:spPr>
          <a:xfrm>
            <a:off x="8280400" y="1816100"/>
            <a:ext cx="27813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400" b="1">
                <a:solidFill>
                  <a:schemeClr val="accent1"/>
                </a:solidFill>
                <a:latin typeface="Lato" panose="020F0502020204030203" pitchFamily="34" charset="0"/>
              </a:rPr>
              <a:t>Domestic supply context</a:t>
            </a:r>
          </a:p>
        </p:txBody>
      </p:sp>
      <p:sp>
        <p:nvSpPr>
          <p:cNvPr id="15" name="Context evidence">
            <a:extLst>
              <a:ext uri="{FF2B5EF4-FFF2-40B4-BE49-F238E27FC236}">
                <a16:creationId xmlns:a16="http://schemas.microsoft.com/office/drawing/2014/main" id="{2EFDCEAA-3B66-EA21-D150-4C993C1F0C45}"/>
              </a:ext>
            </a:extLst>
          </p:cNvPr>
          <p:cNvSpPr txBox="1"/>
          <p:nvPr/>
        </p:nvSpPr>
        <p:spPr>
          <a:xfrm>
            <a:off x="8280400" y="2324100"/>
            <a:ext cx="2781300" cy="160043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00">
                <a:solidFill>
                  <a:schemeClr val="dk1"/>
                </a:solidFill>
                <a:latin typeface="Lato" panose="020F0502020204030203" pitchFamily="34" charset="0"/>
              </a:rPr>
              <a:t>Mossgas GTL has not operated since December 2020.
SAPREF’s current roadmap starts with finished-product imports.
Secunda and Natref output remains material to the domestic balance.</a:t>
            </a:r>
            <a:endParaRPr lang="en-ZA" sz="13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  <p:sp>
        <p:nvSpPr>
          <p:cNvPr id="16" name="Interpretation">
            <a:extLst>
              <a:ext uri="{FF2B5EF4-FFF2-40B4-BE49-F238E27FC236}">
                <a16:creationId xmlns:a16="http://schemas.microsoft.com/office/drawing/2014/main" id="{8194D090-517B-E298-0187-B5F1A79EA8D5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The import opportunity can expand even with limited consumption growth. The trade trend and plant evidence support this mechanism; a reconciled product balance is still needed to quantify each plant’s contribution.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934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The import opportunity is distributed across competing routes into inland markets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8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Vopak terminal pages and existing corridor evidence. Alternative gateway coverage is a scope for comparison, not a finding that each route is competitive into Gauteng.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577687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Route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Position in the supply chain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Market implication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Durban–Gauteng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Vopak’s coastal and inland terminals are linked through the Transnet multi-product pipeline. Durban also has road and rail access.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relevant market extends beyond the port into inland customer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Matola / Maputo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An alternative gateway in the review’s corridor comparison. Reach depends on destination and border logistics.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Compare the same product delivered to the same customer location.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Walvis Bay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further gateway to test for reachable inland destinations. Distance and transit time constrain the comparison.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National imports cannot all be treated as volumes accessible through Durban.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DB73CAA1-4D09-D881-6200-ADC820CE47FE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25CDDAFB-B283-BE9F-C88F-ABAC769F9822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BA1EE597-D208-9034-8AE2-6A6663F883DB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1311207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Vopak has assets at both ends of the Durban–Gauteng supply chain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9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Vopak operator inventory checked 6–7 Oct 2026; Gauteng catchment adopted provisionally by user. Gross capacity is not customer throughput or effective working capacity.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389161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Asset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Established position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360,246 m³ published gross capacity; vessel, pipeline, road and rail access. Petroleum products and other liquids.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coastal asset can serve imported-product handling and onward distribution; eligible fuel tankage needs to be isolated.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Lesedi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140,000 m³ published capacity for clean petroleum products; connected to Durban via the Transnet pipeline.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inland asset provides a distribution position in the provisional Gauteng catchment.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Commercial question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Assets establish a physical position. Customer allocation, working capacity and realised turnover determine volumes.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investment question is how much demand these assets can capture and whether existing capacity can serve it.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3B329806-FE0F-582F-5E38-CBE0138CB778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622B4028-5088-BA3E-ABE0-100180741447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628A7D5F-F3DA-5FC1-8B5E-3FA9A3BF18FA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1146911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Rail recovery, EVs and efficiency could weaken transport fuel demand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10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Mechanisms drawn from the reviewed scope and current cohort architecture. Rail funding evidence: appendix p23; fuel prices and efficiency: pp19–20. Demand and supply paths require calibration.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086978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Potential reversal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Condition for change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Fuel-demand implication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Road to rail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funded and reliable rail service can transfer suitable freight from trucks.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Displaced road tonne-kilometres reduce diesel use, after rail traction and last-mile fuel. The 250 Mt ambition is not a direct diesel forecast.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 adoption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Sustained ownership-cost advantages and charging access can influence new-vehicle purchases.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Fuel-price volatility alone does not establish adoption. Replacement cycles govern the effect on the whole fleet.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Vehicle efficiency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More efficient incoming vehicles lower combustion-fleet fuel intensity over time.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Efficiency can offset part of fleet and mileage growth. Apply it only to combustion activity that remains after EV switching.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F3339183-A05C-9263-43C9-DB4F73FA2E09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466317C5-A9CC-B6E3-F359-F760F6E76084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B1693244-3163-4FFB-028E-E27D6445A004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602813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Power recovery can persist, but availability and replacement timing remain risks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11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Standalone power complication retained as requested. EAF, retirement and commissioning assumptions require later scenario calibration.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554966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Recovery persists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more available coal fleet and replacement generation reduce residual diesel dispatch.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Recent Eskom fuel consumption should not be extrapolated as a permanent growth source.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Recovery reverses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Major breakdowns or retirements before dependable replacement create a generation gap.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Quantify dispatch and operating constraints before translating a gap into fuel litres.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Load shedding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Grid shortages can also affect private backup generation.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Eskom OCGT use from private generators. Ending load shedding does not imply zero Eskom diesel use.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C4B72793-0A7D-5D99-789A-37A50F9DDB67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A4F1A185-8261-AD7A-9E6C-9423B01D03E4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9006452F-AC86-69C4-8488-9F4F60D1CCAD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2623987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Plant-specific uncertainty can change the import requirement in either direction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12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ZW" sz="750"/>
              <a:t>CEF 10 Sep 2026 roadmap; Sasol 6 Nov 2025 MRG and 1 Sep 2026 Natref releases; PetroSA recommissioning scope. URLs and qualifications in evidence report.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121366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SAPREF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CEF describes an import phase followed by a proposed large refinery development.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Import infrastructure can precede any local production recovery. Timing, financing and yields remain conditional.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Secunda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Declining gas supply and potential MRG diversion could reduce liquid output.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MRG bridge is conditional. A quantified liquids penalty requires a gas balance and marginal conversion yield.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Natref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Sasol reported an operational disruption in September 2026.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An outage is not evidence of permanent closure. Confirm recovery and the longer-term investment outlook.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Mossgas / PetroSA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GTL has not operated since December 2020; a recommissioning proposal exists.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stopped historical production from a funded future restart.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8BF550BF-2DFC-A73D-9303-18DB90DE8B8F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2F99D996-A0B3-FE2F-B826-8DD412F6C525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26A3ACB9-1B3F-488B-A0B4-7104B457C3BB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483293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Competing corridors could divert inland volumes away from Durban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13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Submodel specification adopted from the annotated review. No route winner is asserted without matched costs, access and capacity.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562677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Durban–Gauteng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Compare road, rail and pipeline to the same receiving point and product specification.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Include handling, transport, losses, inventory finance and service constraints.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Matola / Maputo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Include inland haul and border costs for each reachable destination.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port-level cost comparison cannot establish Gauteng competitiveness.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Walvis Bay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 distance, transit time and corridor capacity into each target market.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Do not assume that every inland customer is economically addressable.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Price bearability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Maximum affordable logistics cost = destination netback less origin product and other delivered costs.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route with price headroom must also offer capacity and reliable access. Higher national imports do not automatically become Vopak volumes.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E850A0F6-DF41-2839-36E1-43049E1D0820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DDFC1BF4-02EB-65C8-1CAC-EF1679819A3E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E4FF4587-A6DE-AA9B-8C8F-5D96145C43AF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123743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Capacity proxies establish scale; customer throughput must establish the investment need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14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Operator capacities: Vopak Durban 360,246m³, Bidvest Durban 439,306m³, Lesedi 140,000m³. Department Gauteng sales 2022; appendix p24. Transfers between terminals must not be double-counted.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251973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Catchment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Initial inference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What the result can support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45.1% of the combined published gross capacity of Vopak and Bidvest in Durban.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two-operator footprint proxy with mixed products and an incomplete market denominator. It does not establish Durban throughput share.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Gauteng / Lesedi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2022 petrol + diesel sales: 6.81bn litres. Lesedi’s gross capacity equals 2.06% of that market per effective annual turn.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cross-vintage scale test. Current sales, eligible working capacity, actual turns and Gauteng allocation are needed for a throughput estimate.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Investment implication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Convert eligible tankage and realised turns into unique customer deliveries, then compare with existing capacity.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large market can coexist with spare terminal capacity. Market scale alone does not establish a need for additional tanks.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F7F0FD56-2C44-A170-7538-DE865132B281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B742A74C-8F34-35A6-B180-2D13CE1C416C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5C95CDE3-C6DF-7D37-3D14-5301AB16E587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218903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Supporting evidence for the main argument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15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Opening argument: thesis p2, SCR p3, matrix p4. Supporting analysis: pp5–14. Appendix exhibits provide detail for those arguments.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882926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 group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Detail retained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Connection to the story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Demand context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GDP, investment and sector activity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fr-FR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Pages 16–18 support demand arguments on pages 5–6.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Transport change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Fuel prices and vehicle efficiency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fr-FR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Pages 19–20 support the transport complication on page 10.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Historical diesel support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Eskom fuel use and freight payload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Pages 21–22 support historical diesel demand on page 6 and power risk on page 11.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Delivery and market reach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Rail funding constraints and Gauteng demand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Pages 23–24 support corridor and share questions on pages 10, 13 and 14.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3D5E8204-7C73-5044-0D0B-DC79B01C7A4A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493CA0CB-0458-BBE5-D465-742F96FC2800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BC4463ED-AB79-8552-E347-07E73FC46B85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</p:spTree>
    <p:extLst>
      <p:ext uri="{BB962C8B-B14F-4D97-AF65-F5344CB8AC3E}">
        <p14:creationId xmlns:p14="http://schemas.microsoft.com/office/powerpoint/2010/main" val="1328815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GDP and fuel volumes need separate explanations of activity and sector mix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16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Staged GDP and department fuel sales, indices 2013=100. Sector attribution remains open; COVID distorts short-period comparisons.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5D5C5831-AB69-F2D4-DD91-3177AD39DF1E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060EB7F9-5A30-C40A-B4B9-72943D94C459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85A5AEF1-2B3D-C53D-E56E-AF74F6090739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1FBDF2F6-09A9-5AD9-6FCA-20FC9FCE7CC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ED517DE3-768F-FDDE-31D7-8D4D5DC0E8E6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Economic weakness means limited growth in real activity and investment. Structural change means a different mix of output, travel and fuel use; this chart alone cannot attribute causality.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157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Investment evidence informs the growth outlook but does not establish extra fuel demand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17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World Bank WDI, FDI net inflows and gross fixed capital formation as % of GDP, 2010–2025. Confidence series remains an evidence gap.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531FD295-2944-7830-480E-DE234850E4E3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9A5643CB-6F31-0C1C-3FF9-6A5A3323FCB9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7213557B-2D13-D8F1-6DE9-B52461A31821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E5FC0D29-943F-23D6-F2FD-C45043AA453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B7A40F8E-EEA7-90FF-0DFD-AEDFFA70AD72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Fixed investment helps frame productive capacity. FDI can include large transactions; neither series is a direct investor-confidence measure or an additional fuel-demand multiplier.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320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W" sz="2300">
                <a:solidFill>
                  <a:schemeClr val="accent1"/>
                </a:solidFill>
                <a:latin typeface="Lato"/>
              </a:rPr>
              <a:t>Mining, agriculture and aviation require distinct demand explanations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18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Analytical framework following user comments. Sector-specific exhibits and causal attribution remain to be completed.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447414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Mining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Output, commodity mix and haul distance influence diesel use and freight.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mine activity from the fuel impact of changing freight mode.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Agriculture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Crop cycles, weather, irrigation and logistics can shift seasonal diesel use.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Establish sector activity and fuel exposure before assigning a headwind.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Aviation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Traffic, distance, load factors and aircraft efficiency drive jet-fuel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Keep jet fuel separate from petrol/diesel shares and verify terminal eligibility.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Manufacturing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Real output and industrial composition help explain the economic backdrop.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 changes using sector data; a national fuel chart does not prove deindustrialisation.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18BA08CA-7C3E-869D-383C-4651E51C8E03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D9F9CFDE-D7C3-7A3F-1C8D-82D7E36D3B0C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8EC837D2-66A9-C313-974E-372E2BB4E9FF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</p:spTree>
    <p:extLst>
      <p:ext uri="{BB962C8B-B14F-4D97-AF65-F5344CB8AC3E}">
        <p14:creationId xmlns:p14="http://schemas.microsoft.com/office/powerpoint/2010/main" val="3812153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Fuel-price shocks affect running costs; sustained economics influence EV uptake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19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Department fuel-price history, nominal R/litre. No quantified geopolitical premium or calibrated EV adoption response is asserted.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CC4206F3-08A7-B47E-1EF3-7C11C4B66274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5BCE8766-D14E-B50C-F42A-3ED176E37F44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F6C2605B-F140-597A-6543-FA471B200998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21B567F6-5AB9-CC70-986F-64A042494DD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CBD132EF-491F-7F4A-C839-E2808F16B470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Shipping disruption, crude prices and FX can move fuel costs temporarily. EV adoption depends on sustained total ownership cost, purchase affordability, charging access and fleet replacement.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856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More efficient new vehicles reduce fuel intensity gradually as the fleet turns over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20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Mechanism supported by existing cohort architecture. OEM historical and future efficiency evidence is still missing; no new forecast shown.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396144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Fleet growth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More vehicles or distance travelled can raise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Measure activity before attributing lower fuel volumes to efficiency.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Efficiency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New-cohort consumption gains enter the fleet over successive replacement cycles.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Obtain OEM and real-world evidence by segment; do not apply new-vehicle gains to every vehicle.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 substitution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EVs remove some combustion-engine vehicle activity from the fuel calculation.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Count each vehicle transition once, then calculate efficiency on the remaining combustion fleet.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BD0F4145-CEED-4841-29D9-453857EAD29D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326FA732-63A9-A230-DF47-F00FFE5355A4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E990AC28-D4BB-D0D9-227D-22051F748DA3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</p:spTree>
    <p:extLst>
      <p:ext uri="{BB962C8B-B14F-4D97-AF65-F5344CB8AC3E}">
        <p14:creationId xmlns:p14="http://schemas.microsoft.com/office/powerpoint/2010/main" val="3472176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Eskom’s reported OCGT fuel use fell 40% in FY2025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21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Eskom integrated report 2025: FY March, own-fleet diesel + kerosene. EAF association is not a dispatch model; private backup use excluded.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98A458FF-938D-EC2D-B7DE-F4D9EDB2CB21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B857BC96-8068-9F89-D2EE-BDDD53422BFC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1C99A87E-97CB-D688-17DC-E99FBD4C6BFA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8AA246F5-33B2-8C7A-A842-B8F575BDC8C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0ACD8887-64C6-814B-4033-5AAC5E7387C4}"/>
              </a:ext>
            </a:extLst>
          </p:cNvPr>
          <p:cNvSpPr txBox="1"/>
          <p:nvPr/>
        </p:nvSpPr>
        <p:spPr>
          <a:xfrm>
            <a:off x="533400" y="5613400"/>
            <a:ext cx="10477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Reported fuel fell from 1,129.5 to 679.1 million litres as EAF improved from 54.56% to 60.60%. This removes part of the recent diesel-demand support.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735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Road-to-rail recovery matters through transferable freight and haul distance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22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Stats SA monthly freight payload, complete calendar years. National tonnes are not corridor tonne-kilometres or transferable freight.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E325B29A-DB1E-74F4-C145-10E7794AD82B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EA061DC7-9FE1-8B89-14D9-4A1060DB4864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E88DA430-C934-2051-4BA2-08FC27646DF1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D3B84F4B-8E09-1A0A-8F24-4E61D595505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508C8349-B3F8-4045-D187-CECDA36E071E}"/>
              </a:ext>
            </a:extLst>
          </p:cNvPr>
          <p:cNvSpPr txBox="1"/>
          <p:nvPr/>
        </p:nvSpPr>
        <p:spPr>
          <a:xfrm>
            <a:off x="533400" y="5613400"/>
            <a:ext cx="10477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Payload establishes the historical direction. Diesel displacement requires corridor tonne-kilometres, road fuel intensity, rail traction and last-mile activity.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181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Rail recovery on the Durban corridor depends on funding and reliable service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23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User-supplied AIA Transnet Funding Brief, Sep 2026, pp1–2; cites FY2026 AFS and Network Statement v4 Annexure 17. Primary figures not independently reconciled.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990984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Network ambition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supplied brief reports a 250 Mt target dependent on a funding plan.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Do not treat every additional rail tonne as road displacement. Commodity, corridor and origin matter.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Funding constraint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Brief: R46.34bn approved over five years, including R1.71bn expansion.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Maintenance and sustaining spend dominate. A published plan is insufficient evidence of delivered capacity.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Container corridor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Brief: R2.11bn in 2026/27–2028/29; private funding expected thereafter.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Prioritise Durban–Gauteng road/rail competition and reconcile the corridor to Network Statement v4.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Two fuel effects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Rail can displace truck diesel while improved infrastructure also changes fuel-distribution economics.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Keep freight-demand effects separate from the route delivering fuel to Gauteng.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EDCF4B62-4A07-901E-04D6-DD0FDECC243A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7ACF75CD-EF7C-A469-4AEF-73DCDDD15843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2E8642B0-B634-6AF2-7EAE-C6EA24858F19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</p:spTree>
    <p:extLst>
      <p:ext uri="{BB962C8B-B14F-4D97-AF65-F5344CB8AC3E}">
        <p14:creationId xmlns:p14="http://schemas.microsoft.com/office/powerpoint/2010/main" val="1959397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Gauteng provides a demand denominator for testing Lesedi’s potential reach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24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Department provincial sales, latest complete staged year 2022; Vopak Lesedi current capacity. Cross-vintage scale test only, not current observed market share.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E90A6FDD-2029-4685-AE1A-D89285BD5615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E2B4C8C5-3F2A-5624-CB3C-C9BFDB6012BB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5F7B6895-1B1A-1F07-A58E-9713F16E750E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B6564E8E-452E-1E5C-281C-FD1628C9D3C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13FF2484-325A-FEEC-C2A8-FEF99D680AC8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2022 petrol + diesel sales total 6.81bn litres. Lesedi’s 140,000m³ equals 2.06% of that annual market per effective gross-capacity turn. Actual turns and Gauteng allocation remain unknown.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839537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pak Theme" id="{EB158558-B090-4A15-9406-52ADAF46E73D}" vid="{169915E9-BA5A-4298-BC78-09D6818817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A23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29E3C0-DBBA-4E87-A833-D4D671FDC2D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440e1679-9fef-4664-be92-b7e3c5432c2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cdb2463664abbc9cc5ebc4769b50ad18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ee545d7bb76dd121542a05c73fb4a941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TaxCatchAll xmlns="62b85a0e-09bb-4b0f-bd28-e34020cdc070" xsi:nil="true"/>
    <SharedWithUsers xmlns="62b85a0e-09bb-4b0f-bd28-e34020cdc070">
      <UserInfo>
        <DisplayName>Joseph Kihara</DisplayName>
        <AccountId>3747</AccountId>
        <AccountType/>
      </UserInfo>
    </SharedWithUsers>
    <Archive xmlns="265cb39c-7109-435c-af5d-13dc21a2db6b">false</Archive>
  </documentManagement>
</p:properties>
</file>

<file path=customXml/itemProps1.xml><?xml version="1.0" encoding="utf-8"?>
<ds:datastoreItem xmlns:ds="http://schemas.openxmlformats.org/officeDocument/2006/customXml" ds:itemID="{1B9F3023-3460-4C94-AC6C-4F171062BD4F}">
  <ds:schemaRefs>
    <ds:schemaRef ds:uri="265cb39c-7109-435c-af5d-13dc21a2db6b"/>
    <ds:schemaRef ds:uri="62b85a0e-09bb-4b0f-bd28-e34020cdc0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E0AC09D-7AB9-4C7E-89AA-55CFDED1BC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FA9FA0-2CB2-436E-A336-3A77ADFE4CF1}">
  <ds:schemaRefs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265cb39c-7109-435c-af5d-13dc21a2db6b"/>
    <ds:schemaRef ds:uri="http://purl.org/dc/elements/1.1/"/>
    <ds:schemaRef ds:uri="62b85a0e-09bb-4b0f-bd28-e34020cdc07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Vopak Theme</Template>
  <TotalTime>0</TotalTime>
  <Words>5852</Words>
  <Application>Microsoft Office PowerPoint</Application>
  <PresentationFormat>Custom</PresentationFormat>
  <Paragraphs>480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</vt:lpstr>
      <vt:lpstr>Lato</vt:lpstr>
      <vt:lpstr>Arial</vt:lpstr>
      <vt:lpstr>Vopak Theme</vt:lpstr>
      <vt:lpstr>PowerPoint Presentation</vt:lpstr>
      <vt:lpstr>Vopak’s investment case rests on capturing imports through its Durban–Gauteng chain</vt:lpstr>
      <vt:lpstr>The investment thesis depends on imports, route access and profitable capacity use</vt:lpstr>
      <vt:lpstr>Nine demand–supply worlds frame the choice, with Medium / Medium as baseline</vt:lpstr>
      <vt:lpstr>Demand growth alone provides a weak foundation for Vopak’s investment case</vt:lpstr>
      <vt:lpstr>Power shortages and road freight have supported parts of diesel demand</vt:lpstr>
      <vt:lpstr>Reduced domestic production has increased the importance of imported supply</vt:lpstr>
      <vt:lpstr>The import opportunity is distributed across competing routes into inland markets</vt:lpstr>
      <vt:lpstr>Vopak has assets at both ends of the Durban–Gauteng supply chain</vt:lpstr>
      <vt:lpstr>Rail recovery, EVs and efficiency could weaken transport fuel demand</vt:lpstr>
      <vt:lpstr>Power recovery can persist, but availability and replacement timing remain risks</vt:lpstr>
      <vt:lpstr>Plant-specific uncertainty can change the import requirement in either direction</vt:lpstr>
      <vt:lpstr>Competing corridors could divert inland volumes away from Durban</vt:lpstr>
      <vt:lpstr>Capacity proxies establish scale; customer throughput must establish the investment need</vt:lpstr>
      <vt:lpstr>Supporting evidence for the main argument</vt:lpstr>
      <vt:lpstr>GDP and fuel volumes need separate explanations of activity and sector mix</vt:lpstr>
      <vt:lpstr>Investment evidence informs the growth outlook but does not establish extra fuel demand</vt:lpstr>
      <vt:lpstr>Mining, agriculture and aviation require distinct demand explanations</vt:lpstr>
      <vt:lpstr>Fuel-price shocks affect running costs; sustained economics influence EV uptake</vt:lpstr>
      <vt:lpstr>More efficient new vehicles reduce fuel intensity gradually as the fleet turns over</vt:lpstr>
      <vt:lpstr>Eskom’s reported OCGT fuel use fell 40% in FY2025</vt:lpstr>
      <vt:lpstr>Road-to-rail recovery matters through transferable freight and haul distance</vt:lpstr>
      <vt:lpstr>Rail recovery on the Durban corridor depends on funding and reliable service</vt:lpstr>
      <vt:lpstr>Gauteng provides a demand denominator for testing Lesedi’s potential reach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Africa liquid fuels: Week 1 analytical maps</dc:title>
  <dc:subject>Illustrative demand geography and conditional Vopak market access</dc:subject>
  <dc:creator>Africa International Advisors</dc:creator>
  <cp:lastModifiedBy>Nigel Zhuwaki</cp:lastModifiedBy>
  <cp:revision>2</cp:revision>
  <dcterms:created xsi:type="dcterms:W3CDTF">2017-11-16T09:19:07Z</dcterms:created>
  <dcterms:modified xsi:type="dcterms:W3CDTF">2026-10-07T20:27:26Z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