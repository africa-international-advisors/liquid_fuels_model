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4"/>
  </p:sldMasterIdLst>
  <p:notesMasterIdLst>
    <p:notesMasterId r:id="rId29"/>
  </p:notes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</p:sldIdLst>
  <p:sldSz cx="11588750" cy="6858000"/>
  <p:notesSz cx="6858000" cy="9144000"/>
  <p:embeddedFontLst>
    <p:embeddedFont>
      <p:font typeface="Lato" panose="020F05020202040302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fuel sales, 2013–2023, same-series comparison. FIASA 2024 shown separately; source definitions require reconciliation. Economic context and sector mechanisms: appendix pp16–18.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Eskom 2025 integrated report (own-fleet diesel + kerosene); Stats SA freight payload. No causal diesel attribution from tonnes alone. Details: appendix pp18, 21–22.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SARS litre-reported petrol/diesel trade; CEF 10 Sep 2026 roadmap; PetroSA recommissioning scope; Sasol reporting. Excluded units/blends and stock changes prevent a complete balance.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Vopak terminal pages and existing corridor evidence. Alternative gateway coverage is a scope for comparison, not a finding that each route is competitive into Gauteng.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Vopak operator inventory checked 6–7 Oct 2026; Gauteng catchment adopted provisionally by user. Gross capacity is not customer throughput or effective working capacity.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Mechanisms drawn from the reviewed scope and current cohort architecture. Rail funding evidence: appendix p23; fuel prices and efficiency: pp19–20. Demand and supply paths require calibration.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Standalone power complication retained as requested. EAF, retirement and commissioning assumptions require later scenario calibration.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CEF 10 Sep 2026 roadmap; Sasol 6 Nov 2025 MRG and 1 Sep 2026 Natref releases; PetroSA recommissioning scope. URLs and qualifications in evidence report.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Submodel specification adopted from the annotated review. No route winner is asserted without matched costs, access and capacity.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SCR synthesis of the preceding evidence and agreed scenario design. L/M/H = Low/Medium/High. Medium is the baseline; numerical calibration and commercial inputs remain open.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Qualitative framework, not calculated results. Import directions hold exports and stock movements comparable. The diagonal contrasts investment worlds; routing, capture and returns determine the actual choice. M/M calibration remains open.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Operator capacities: Vopak Durban 360,246m³, Bidvest Durban 439,306m³, Lesedi 140,000m³. Department Gauteng sales 2022; appendix p24. Transfers between terminals must not be double-counted.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Resolution framework from the signed-off review and user comments. Financial and origin–destination modules are specified; commercial calibration and investment approval remain outstanding.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Detailed evidence retained for review. The main argument is complete on pages 2–14; appendix pages are supporting exhibits, not additional situation pages.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Staged GDP and department fuel sales, indices 2013=100. Sector attribution remains open; COVID distorts short-period comparisons.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World Bank WDI, FDI net inflows and gross fixed capital formation as % of GDP, 2010–2025. Confidence series remains an evidence gap.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Analytical framework following user comments. Sector-specific exhibits and causal attribution remain to be completed.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fuel-price history, nominal R/litre. No quantified geopolitical premium or calibrated EV adoption response is asserted.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Mechanism supported by existing cohort architecture. OEM historical and future efficiency evidence is still missing; no new forecast shown.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Eskom integrated report 2025: FY March, own-fleet diesel + kerosene. EAF association is not a dispatch model; private backup use excluded.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Stats SA monthly freight payload, complete calendar years. National tonnes are not corridor tonne-kilometres or transferable freight.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User-supplied AIA Transnet Funding Brief, Sep 2026, pp1–2; cites FY2026 AFS and Network Statement v4 Annexure 17. Primary figures not independently reconciled.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provincial sales, latest complete staged year 2022; Vopak Lesedi current capacity. Cross-vintage scale test only, not current observed market share.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6515100"/>
            <a:ext cx="952500" cy="21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  <a:endParaRPr/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opak.com/terminals/vopak-terminal-durban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8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South Africa
liquid fuels
market story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2616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rPr lang="en-GB" sz="1700">
                <a:solidFill>
                  <a:srgbClr val="FFFFFF"/>
                </a:solidFill>
              </a:rPr>
              <a:t>An import and inland distribution opportunity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Durban and Gauteng (Lesedi catchment)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ZW">
                <a:solidFill>
                  <a:srgbClr val="FFFFFF"/>
                </a:solidFill>
              </a:rPr>
              <a:t>7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rPr lang="en-GB" sz="1200">
                <a:solidFill>
                  <a:srgbClr val="FFFFFF"/>
                </a:solidFill>
              </a:rPr>
              <a:t>SCR and nine-world framework; calibration pending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/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/>
          <p:cNvSpPr txBox="1"/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Demand growth alone provides a weak foundation for Vopak’s investment case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fuel sales, 2013–2023, same-series comparison. FIASA 2024 shown separately; source definitions require reconciliation. Economic context and sector mechanisms: appendix pp16–18.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2ED668A5-E08C-2169-26E3-75815DE86D5D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4FFBB1DC-D5F6-81FF-AD13-593009C2276A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034CEE0-EDC9-682C-4135-2E932594BB10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6F8D4218-BC24-5C00-D613-CFFAE4404AB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47891BAD-3A2C-CD6B-B26C-603BF34F853C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Petrol fell 19% and diesel rose 9% over 2013–2023. Vopak’s opportunity therefore needs to be explained through product mix, import requirements and customer routes, as well as demand growth.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 shortages and road freight have supported parts of diesel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Eskom 2025 integrated report (own-fleet diesel + kerosene); Stats SA freight payload. No causal diesel attribution from tonnes alone. Details: appendix pp18, 21–22.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511113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this establishes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 generation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Eskom’s own OCGT fuel use rose to 1,129.5m litres in FY2024, then fell to 679.1m in FY2025 as EAF improved.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historical diesel market includes a material power-system component whose scale can change.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freight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national payload series shows road carrying substantially more tonnage than rail.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Diesel use depends on how freight moves as well as how much the economy produces.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Mining and agriculture add sector-specific diesel exposure; aviation has a separate jet-fuel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national GDP forecast alone cannot explain the product and activity mix that terminals serve.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2FCBF1BA-2AC6-1D9D-A687-D7AAA190DDE2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B8F704E-8AF6-FED1-A0B2-D9B6C9149D1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2AA98B04-80E6-223C-2488-03EA0F1D98AA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78524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Reduced domestic production has increased the importance of imported supply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SARS litre-reported petrol/diesel trade; CEF 10 Sep 2026 roadmap; PetroSA recommissioning scope; Sasol reporting. Excluded units/blends and stock changes prevent a complete balance.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4FDF28A-2DCA-5033-92D8-1C39BDC26C91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8BE3C1DD-39B1-5C78-03E9-41C53C4506B7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7DCA0A2C-7882-07F9-D681-B4B29BBED63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1F3104B4-2DE3-AB42-BE55-CB52A8FD8D0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95500"/>
            <a:ext cx="7493000" cy="2894965"/>
          </a:xfrm>
          <a:prstGeom prst="rect">
            <a:avLst/>
          </a:prstGeom>
        </p:spPr>
      </p:pic>
      <p:sp>
        <p:nvSpPr>
          <p:cNvPr id="14" name="Context heading">
            <a:extLst>
              <a:ext uri="{FF2B5EF4-FFF2-40B4-BE49-F238E27FC236}">
                <a16:creationId xmlns:a16="http://schemas.microsoft.com/office/drawing/2014/main" id="{3E48000A-B87F-A3D8-0566-BC13460341C4}"/>
              </a:ext>
            </a:extLst>
          </p:cNvPr>
          <p:cNvSpPr txBox="1"/>
          <p:nvPr/>
        </p:nvSpPr>
        <p:spPr>
          <a:xfrm>
            <a:off x="8280400" y="1816100"/>
            <a:ext cx="27813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400" b="1">
                <a:solidFill>
                  <a:schemeClr val="accent1"/>
                </a:solidFill>
                <a:latin typeface="Lato" panose="020F0502020204030203" pitchFamily="34" charset="0"/>
              </a:rPr>
              <a:t>Domestic supply context</a:t>
            </a:r>
          </a:p>
        </p:txBody>
      </p:sp>
      <p:sp>
        <p:nvSpPr>
          <p:cNvPr id="15" name="Context evidence">
            <a:extLst>
              <a:ext uri="{FF2B5EF4-FFF2-40B4-BE49-F238E27FC236}">
                <a16:creationId xmlns:a16="http://schemas.microsoft.com/office/drawing/2014/main" id="{93D1BF19-A410-E879-D372-5B95FC74EF9C}"/>
              </a:ext>
            </a:extLst>
          </p:cNvPr>
          <p:cNvSpPr txBox="1"/>
          <p:nvPr/>
        </p:nvSpPr>
        <p:spPr>
          <a:xfrm>
            <a:off x="8280400" y="2324100"/>
            <a:ext cx="2781300" cy="160043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00">
                <a:solidFill>
                  <a:schemeClr val="dk1"/>
                </a:solidFill>
                <a:latin typeface="Lato" panose="020F0502020204030203" pitchFamily="34" charset="0"/>
              </a:rPr>
              <a:t>Mossgas GTL has not operated since December 2020.
SAPREF’s current roadmap starts with finished-product imports.
Secunda and Natref output remains material to the domestic balance.</a:t>
            </a:r>
            <a:endParaRPr lang="en-ZA" sz="13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  <p:sp>
        <p:nvSpPr>
          <p:cNvPr id="16" name="Interpretation">
            <a:extLst>
              <a:ext uri="{FF2B5EF4-FFF2-40B4-BE49-F238E27FC236}">
                <a16:creationId xmlns:a16="http://schemas.microsoft.com/office/drawing/2014/main" id="{942D2434-DCB0-49A9-A6DD-FA19F56255F1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The import opportunity can expand even with limited consumption growth. The trade trend and plant evidence support this mechanism; a reconciled product balance is still needed to quantify each plant’s contribution.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35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import opportunity is distributed across competing routes into inland markets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Vopak terminal pages and existing corridor evidence. Alternative gateway coverage is a scope for comparison, not a finding that each route is competitive into Gauteng.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21433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Route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Position in the supply chain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Market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Durban–Gauteng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Vopak’s coastal and inland terminals are linked through the Transnet multi-product pipeline. Durban also has road and rail access.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relevant market extends beyond the port into inland customer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 alternative gateway in the review’s corridor comparison. Reach depends on destination and border logistics.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the same product delivered to the same customer location.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further gateway to test for reachable inland destinations. Distance and transit time constrain the comparison.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National imports cannot all be treated as volumes accessible through Durban.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F933A390-07C4-5E4D-6BE2-369D614BD5F4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4E1A77AB-F733-CB57-7183-0BAEAE545023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E2000414-103A-18B3-DA0B-CA840E521799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902283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Vopak has assets at both ends of the Durban–Gauteng supply chain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Vopak operator inventory checked 6–7 Oct 2026; Gauteng catchment adopted provisionally by user. Gross capacity is not customer throughput or effective working capacity.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720349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Established position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360,246 m³ published gross capacity; vessel, pipeline, road and rail access. Petroleum products and other liquids.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coastal asset can serve imported-product handling and onward distribution; eligible fuel tankage needs to be isolated.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Lesedi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140,000 m³ published capacity for clean petroleum products; connected to Durban via the Transnet pipeline.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inland asset provides a distribution position in the provisional Gauteng catchment.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Commercial question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Assets establish a physical position. Customer allocation, working capacity and realised turnover determine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investment question is how much demand these assets can capture and whether existing capacity can serve it.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FE9CF063-D886-4567-A50E-82E3E5C525B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5ADB85E-2E4F-7F37-3135-6761D51348F1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9FDCAAAD-8836-9542-05E3-8FCB2EA9EF45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20361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Rail recovery, EVs and efficiency could weaken transport fuel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Mechanisms drawn from the reviewed scope and current cohort architecture. Rail funding evidence: appendix p23; fuel prices and efficiency: pp19–20. Demand and supply paths require calibration.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83769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Potential reversal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Condition for change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Fuel-demand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to rail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funded and reliable rail service can transfer suitable freight from trucks.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Displaced road tonne-kilometres reduce diesel use, after rail traction and last-mile fuel. The 250 Mt ambition is not a direct diesel forecast.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adoption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Sustained ownership-cost advantages and charging access can influence new-vehicle purchases.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Fuel-price volatility alone does not establish adoption. Replacement cycles govern the effect on the whole fleet.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Vehicle 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More efficient incoming vehicles lower combustion-fleet fuel intensity over time.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 can offset part of fleet and mileage growth. Apply it only to combustion activity that remains after EV switching.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CF7B8D2-5B07-7956-510D-1271038C7156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AA27A143-4EA7-6656-91AA-10377BF0A223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829A106-511A-8A97-5D4D-23FE1F069EC9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57241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 recovery can persist, but availability and replacement timing remain risks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Standalone power complication retained as requested. EAF, retirement and commissioning assumptions require later scenario calibration.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2375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persists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more available coal fleet and replacement generation reduce residual diesel dispatch.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Recent Eskom fuel consumption should not be extrapolated as a permanent growth source.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reverses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Major breakdowns or retirements before dependable replacement create a generation gap.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Quantify dispatch and operating constraints before translating a gap into fuel litres.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Load shedding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Grid shortages can also affect private backup generation.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Eskom OCGT use from private generators. Ending load shedding does not imply zero Eskom diesel use.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90921950-9FBB-59C3-011B-1B167A01A5D6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4EFD5E5-0EA5-C7CB-E0F8-5AED9EC1C213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DB246062-2848-C6FE-755C-66200E713F0A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974555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Plant-specific uncertainty can change the import requirement in either direction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CEF 10 Sep 2026 roadmap; Sasol 6 Nov 2025 MRG and 1 Sep 2026 Natref releases; PetroSA recommissioning scope. URLs and qualifications in evidence report.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738398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SAPREF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CEF describes an import phase followed by a proposed large refinery development.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Import infrastructure can precede any local production recovery. Timing, financing and yields remain conditional.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Secunda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Declining gas supply and potential MRG diversion could reduce liquid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MRG bridge is conditional. A quantified liquids penalty requires a gas balance and marginal conversion yield.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Natref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Sasol reported an operational disruption in September 2026.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 outage is not evidence of permanent closure. Confirm recovery and the longer-term investment outlook.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Mossgas / PetroSA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GTL has not operated since December 2020; a recommissioning proposal exists.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stopped historical production from a funded future restart.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3863A86A-8BD0-12D2-F0B5-240AFF92FC08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E72A2CC-88CF-1967-1DFB-F372B37903F3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9B90565C-6D78-5271-44F5-0557F0C1E8C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471289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Competing corridors could divert inland volumes away from Durban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10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Submodel specification adopted from the annotated review. No route winner is asserted without matched costs, access and capacity.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278122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Durban–Gauteng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road, rail and pipeline to the same receiving point and product specification.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handling, transport, losses, inventory finance and service constraints.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inland haul and border costs for each reachable destination.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port-level cost comparison cannot establish Gauteng competitiveness.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distance, transit time and corridor capacity into each target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 not assume that every inland customer is economically addressable.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Price bearability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Maximum affordable logistics cost = destination netback less origin product and other delivered costs.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route with price headroom must also offer capacity and reliable access. Higher national imports do not automatically become Vopak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616094D9-0941-0B81-76A6-53E9734A77B1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85AAC819-E969-4737-1CAF-36E2AFD3F43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28E8EFD0-6251-24A5-415C-14734D261A4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963101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Five arguments connect the market evidence to Vopak’s investment choice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11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SCR synthesis of the preceding evidence and agreed scenario design. L/M/H = Low/Medium/High. Medium is the baseline; numerical calibration and commercial inputs remain open.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6208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160">
                  <a:extLst>
                    <a:ext uri="{9D8B030D-6E8A-4147-A177-3AD203B41FA5}">
                      <a16:colId xmlns:a16="http://schemas.microsoft.com/office/drawing/2014/main" val="287371296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Argument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Situation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Complication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Resolution / decision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Transport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Subdued aggregate growth masks different product trends. Road freight supports diesel use.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Sector growth, rail recovery, EVs and efficiency change fuel demand.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Define L/M/H demand paths and translate activity into fuel volumes.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 shortages supported diesel use; Eskom consumption has recently fallen.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may persist or reverse through outages and replacement delays.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Include explicit power assumptions in the same L/M/H demand paths.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Domestic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Reduced local production has increased reliance on imports.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SAPREF, Natref and Secunda can change domestic fuel output materially.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Define L/M/H domestic supply paths. Cross with demand to create nine import worlds.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Corridor competition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 connects imported fuel to inland customers.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Alternative gateways, delivered costs, reliability and access alter flows.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Translate each world into Durban-accessible volumes using explicit routing assumptions.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Vopak investment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 and Lesedi provide a coastal–inland asset position.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Capture, usable capacity and commercial returns determine expansion needs.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Compare existing capacity, debottlenecking and expansion across the matrix. M/M is baseline.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4D0D5930-B8EE-54BB-934B-06EDC772C94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D8F4861C-B7D7-6022-18C3-36C4B5CC02B1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0263654B-DF1D-E1C6-4A24-AF6CBDB025B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27033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Nine demand–supply worlds frame the choice, with Medium / Medium as baseline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Qualitative framework, not calculated results. Import directions hold exports and stock movements comparable. The diagonal contrasts investment worlds; routing, capture and returns determine the actual choice. M/M calibration remains open.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052988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160">
                  <a:extLst>
                    <a:ext uri="{9D8B030D-6E8A-4147-A177-3AD203B41FA5}">
                      <a16:colId xmlns:a16="http://schemas.microsoft.com/office/drawing/2014/main" val="357570936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 demand / domestic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HIGH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MEDIUM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LOW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LOW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1" u="none">
                          <a:solidFill>
                            <a:schemeClr val="accent1"/>
                          </a:solidFill>
                          <a:latin typeface="Lato" panose="020F0502020204030203" pitchFamily="34" charset="0"/>
                        </a:rPr>
                        <a:t>L / H
LOWEST IMPORT PRESSURE
Test existing-capacity use before expansion.</a:t>
                      </a:r>
                      <a:endParaRPr sz="1200" b="1" u="none">
                        <a:solidFill>
                          <a:schemeClr val="accent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chemeClr val="accent1">
                        <a:tint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 / M
Lower imports than baseline.
Test utilisation and customer capture.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L / L
Demand and supply both fall.
Net import effect depends on their relative change.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MEDIUM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 / H
Lower imports than baseline.
Supply recovery reduces import needs.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1" u="none">
                          <a:solidFill>
                            <a:schemeClr val="lt1"/>
                          </a:solidFill>
                          <a:latin typeface="Lato" panose="020F0502020204030203" pitchFamily="34" charset="0"/>
                        </a:rPr>
                        <a:t>M / M
BASELINE
Reference imports, terminal throughput and capacity headroom.</a:t>
                      </a:r>
                      <a:endParaRPr sz="1200" b="1" u="none">
                        <a:solidFill>
                          <a:schemeClr val="lt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M / L
Higher imports than baseline.
Supply losses increase import needs.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HIGH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 / H
Demand and supply both rise.
Net import effect depends on their relative change.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 / M
Higher imports than baseline.
Demand growth increases import needs.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1" u="none">
                          <a:solidFill>
                            <a:schemeClr val="accent1"/>
                          </a:solidFill>
                          <a:latin typeface="Lato" panose="020F0502020204030203" pitchFamily="34" charset="0"/>
                        </a:rPr>
                        <a:t>H / L
HIGHEST IMPORT PRESSURE
Test debottlenecking or expansion if capturable flows exceed capacity.</a:t>
                      </a:r>
                      <a:endParaRPr sz="1200" b="1" u="none">
                        <a:solidFill>
                          <a:schemeClr val="accent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343BB76-8D78-FE9A-9DCC-DE427F4EBCA8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44F84311-C050-1A94-BA36-572B12B4B057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A1A1E1D8-4121-7F11-CCB8-EBC4AABD6362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  <p:sp>
        <p:nvSpPr>
          <p:cNvPr id="12" name="Cell outputs">
            <a:extLst>
              <a:ext uri="{FF2B5EF4-FFF2-40B4-BE49-F238E27FC236}">
                <a16:creationId xmlns:a16="http://schemas.microsoft.com/office/drawing/2014/main" id="{E423E915-4D24-A291-F0DF-58E411F72FF6}"/>
              </a:ext>
            </a:extLst>
          </p:cNvPr>
          <p:cNvSpPr txBox="1"/>
          <p:nvPr/>
        </p:nvSpPr>
        <p:spPr>
          <a:xfrm>
            <a:off x="533400" y="5816600"/>
            <a:ext cx="1047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chemeClr val="dk1"/>
                </a:solidFill>
                <a:latin typeface="Lato" panose="020F0502020204030203" pitchFamily="34" charset="0"/>
              </a:rPr>
              <a:t>Each cell will report imports, Vopak Durban / Lesedi throughput, capacity headroom and investment choice.</a:t>
            </a:r>
            <a:endParaRPr lang="en-ZA" sz="11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649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initial share tests establish scale; accessible throughput remains the key uncertainty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Operator capacities: Vopak Durban 360,246m³, Bidvest Durban 439,306m³, Lesedi 140,000m³. Department Gauteng sales 2022; appendix p24. Transfers between terminals must not be double-counted.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461293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Catchment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Initial inference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the result can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45.1% of the combined published gross capacity of Vopak and Bidvest in Durban.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two-operator footprint proxy with mixed products and an incomplete market denominator. It does not establish Durban throughput share.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Gauteng / Lesedi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2022 petrol + diesel sales: 6.81bn litres. Lesedi’s gross capacity equals 2.06% of that market per effective annual turn.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cross-vintage scale test. Current sales, eligible working capacity, actual turns and Gauteng allocation are needed for a throughput estimate.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Investment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Convert eligible tankage and realised turns into unique customer deliveries, then compare with existing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large market can coexist with spare terminal capacity. Market scale alone does not establish a need for additional tanks.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92092CEB-0CFB-D580-246C-70B93080A4A3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37E35E0-2D07-C59F-C886-34B3667E5831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4115B7EA-1749-AA38-D8D3-430A7B5A0F33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403897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Further investment depends on capturable volume exceeding existing capacity at an adequate return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Resolution framework from the signed-off review and user comments. Financial and origin–destination modules are specified; commercial calibration and investment approval remain outstanding.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93935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Decision test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Analysis required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Decision output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Accessible volume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each destination against delivered cost, service, access and customer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volume opportunity that Vopak can realistically serve.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Capacity requirement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the resulting flows with eligible working tankage, turnover and operational bottlenecks.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Whether the opportunity requires more tanks, faster handling or better use of existing assets.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Financial forecast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Apply storage and handling terms, operating cost, capex, tax and working capital to incremental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Cash flow, break-even utilisation, NPV and IRR against the required return. Commercial inputs remain open.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Decision today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evidence supports testing an import-and-distribution opportunity. It does not yet establish an expansion return.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Prioritise corridor economics and terminal operating inputs, then quantify investment options. Nine-world calibration follows.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34644AE-BFEF-C48E-12D2-A29D3FC0058F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2DA6E94-1C92-3368-3329-02FE016406C7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6807672E-04F2-1917-8058-280AD3AD56BA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567158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Supporting evidence for the main argument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Detailed evidence retained for review. The main argument is complete on pages 2–14; appendix pages are supporting exhibits, not additional situation pages.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236432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group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Detail retained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Connection to the story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context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GDP, investment and sector activity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fr-FR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16–18 support situation pages 2–3.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Transport change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 prices and vehicle efficiency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fr-FR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19–20 support the transport complication on page 7.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diesel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 fuel use and freight payload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fr-FR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21–22 support situation page 3 and power complication page 8.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Delivery and market reach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Rail funding constraints and Gauteng demand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23–24 support corridor and share questions on pages 7, 10 and 13.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7902513-4E66-469E-C743-8D1DB09828D2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03BF140-C35C-F4EB-8CDF-E062868A051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142BA981-39C7-314F-E2B3-A81DA7AEDB6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3757708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GDP and fuel volumes need separate explanations of activity and sector mix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Staged GDP and department fuel sales, indices 2013=100. Sector attribution remains open; COVID distorts short-period comparisons.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65AAC73-126F-865F-8C1C-33812CA5DB8C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186C9D5-7A46-3DCE-E0C1-4B428E46CC8D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66E4902F-87CE-A04E-5A18-376628C08DA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31287FB4-A274-FD0B-80A2-F8EA74A7B8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420BD685-9987-20C2-8590-A1CE62FA73CC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Economic weakness means limited growth in real activity and investment. Structural change means a different mix of output, travel and fuel use; this chart alone cannot attribute causality.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48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Investment evidence informs the growth outlook but does not establish extra fuel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World Bank WDI, FDI net inflows and gross fixed capital formation as % of GDP, 2010–2025. Confidence series remains an evidence gap.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948B49A-DC50-3256-4219-03CB6B606F9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0341BEB3-7C47-1A51-7C36-37F7567C0235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24A6E52-4D77-C2E8-7947-B25720B41F68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170D73AA-B165-3432-4817-353D5911877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B9E47067-8FE1-F9FE-4312-A7CF0C30B4F4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Fixed investment helps frame productive capacity. FDI can include large transactions; neither series is a direct investor-confidence measure or an additional fuel-demand multiplier.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41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W" sz="2300">
                <a:solidFill>
                  <a:schemeClr val="accent1"/>
                </a:solidFill>
                <a:latin typeface="Lato"/>
              </a:rPr>
              <a:t>Mining, agriculture and aviation require distinct demand explanations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Analytical framework following user comments. Sector-specific exhibits and causal attribution remain to be completed.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08487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Mining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Output, commodity mix and haul distance influence diesel use and freight.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mine activity from the fuel impact of changing freight mode.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Agriculture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Crop cycles, weather, irrigation and logistics can shift seasonal diesel use.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 sector activity and fuel exposure before assigning a headwind.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Aviation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Traffic, distance, load factors and aircraft efficiency drive jet-fuel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Keep jet fuel separate from petrol/diesel shares and verify terminal eligibility.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Manufacturing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Real output and industrial composition help explain the economic backdrop.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changes using sector data; a national fuel chart does not prove deindustrialisation.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9830F774-64C9-D48A-24F6-A9C98D2FEA35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C404F993-5D3C-390E-0249-D32177AA7D49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5F428D04-CCF7-FDAF-3A46-5A91924331EC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366284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Fuel-price shocks affect running costs; sustained economics influence EV uptake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fuel-price history, nominal R/litre. No quantified geopolitical premium or calibrated EV adoption response is asserted.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67C25E7-E2F7-E24D-2DB1-02F256CFC1B3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0E13B28-2D7B-C0F5-F929-6196DFB4436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FB1B2211-92C1-42AE-199A-01A151B608F6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D448DEDC-31CB-B3CB-22B3-2C060C8EE4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6D713B7F-CA36-727D-E2B0-2ED3ABC33853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Shipping disruption, crude prices and FX can move fuel costs temporarily. EV adoption depends on sustained total ownership cost, purchase affordability, charging access and fleet replacement.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940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More efficient new vehicles reduce fuel intensity gradually as the fleet turns over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20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Mechanism supported by existing cohort architecture. OEM historical and future efficiency evidence is still missing; no new forecast shown.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96897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Fleet growth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More vehicles or distance travelled can raise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Measure activity before attributing lower fuel volumes to efficiency.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New-cohort consumption gains enter the fleet over successive replacement cycles.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Obtain OEM and real-world evidence by segment; do not apply new-vehicle gains to every vehicle.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substitution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EVs remove some combustion-engine vehicle activity from the fuel calculation.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Count each vehicle transition once, then calculate efficiency on the remaining combustion fleet.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C1422E8-9529-73F6-DE85-BCB5E8C46E0C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E34A6F6E-0EE1-B39C-C642-ECF6578C473B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6CFFFA89-2372-C4BA-0768-4F4860FBF9EB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1727062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Eskom’s reported OCGT fuel use fell 40% in FY2025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21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Eskom integrated report 2025: FY March, own-fleet diesel + kerosene. EAF association is not a dispatch model; private backup use excluded.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C1FCADD2-B6E1-65B2-F187-A227AC74242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BDE7B46C-A5E9-E59D-FDE0-D31D9AE42AC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05F483D8-0F45-D953-CDAA-86A4137CB07B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44695A3F-E76C-E6AB-EBD8-A341516AF03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01B8C717-58D6-ABA8-A350-AA9DA7E34405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Reported fuel fell from 1,129.5 to 679.1 million litres as EAF improved from 54.56% to 60.60%. This removes part of the recent diesel-demand support.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990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Road-to-rail recovery matters through transferable freight and haul distance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Stats SA monthly freight payload, complete calendar years. National tonnes are not corridor tonne-kilometres or transferable freight.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DCEE8865-0F09-9EB2-0943-F031862FE1ED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C693163-AC24-45F2-4E06-99A3989E4C2F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956F19DD-DA61-94C3-179A-2AF06DDC1403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A94B76BC-654A-8792-D9EF-E385005AB2D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2DDD5D12-597B-E0A8-4292-86DC10A699E9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Payload establishes the historical direction. Diesel displacement requires corridor tonne-kilometres, road fuel intensity, rail traction and last-mile activity.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37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Rail recovery on the Durban corridor depends on funding and reliable service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User-supplied AIA Transnet Funding Brief, Sep 2026, pp1–2; cites FY2026 AFS and Network Statement v4 Annexure 17. Primary figures not independently reconciled.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299703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Network ambition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supplied brief reports a 250 Mt target dependent on a funding plan.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 not treat every additional rail tonne as road displacement. Commodity, corridor and origin matter.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Funding constraint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Brief: R46.34bn approved over five years, including R1.71bn expansion.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Maintenance and sustaining spend dominate. A published plan is insufficient evidence of delivered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Container corridor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Brief: R2.11bn in 2026/27–2028/29; private funding expected thereafter.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Prioritise Durban–Gauteng road/rail competition and reconcile the corridor to Network Statement v4.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Two fuel effects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Rail can displace truck diesel while improved infrastructure also changes fuel-distribution economics.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Keep freight-demand effects separate from the route delivering fuel to Gauteng.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7CAFCE45-F8E3-8493-0584-1F3B8E6C77F2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1EA8A06-6AC7-4B18-3606-FB2ADDD6B33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15FBA25-CD14-D6B2-57B7-716A5A8E6F0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3381655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Gauteng provides a demand denominator for testing Lesedi’s potential reach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provincial sales, latest complete staged year 2022; Vopak Lesedi current capacity. Cross-vintage scale test only, not current observed market share.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32E6AF38-BEBE-B822-7D77-6615A9C43972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9973F5E-240E-12C2-2BE8-99D2BA06CD56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94ECEFB1-D5F4-2F4E-5F1E-45AE4B574BF4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B4F723EE-35E5-A7A7-C2D9-B12BE85A10E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D5E6EE00-1F5D-CEC3-90B5-69BE5620A213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2022 petrol + diesel sales total 6.81bn litres. Lesedi’s 140,000m³ equals 2.06% of that annual market per effective gross-capacity turn. Actual turns and Gauteng allocation remain unknown.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763988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23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1</TotalTime>
  <Words>5770</Words>
  <Application>Microsoft Office PowerPoint</Application>
  <PresentationFormat>Custom</PresentationFormat>
  <Paragraphs>480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Lato</vt:lpstr>
      <vt:lpstr>Arial</vt:lpstr>
      <vt:lpstr>Vopak Theme</vt:lpstr>
      <vt:lpstr>PowerPoint Presentation</vt:lpstr>
      <vt:lpstr>Demand growth alone provides a weak foundation for Vopak’s investment case</vt:lpstr>
      <vt:lpstr>Power shortages and road freight have supported parts of diesel demand</vt:lpstr>
      <vt:lpstr>Reduced domestic production has increased the importance of imported supply</vt:lpstr>
      <vt:lpstr>The import opportunity is distributed across competing routes into inland markets</vt:lpstr>
      <vt:lpstr>Vopak has assets at both ends of the Durban–Gauteng supply chain</vt:lpstr>
      <vt:lpstr>Rail recovery, EVs and efficiency could weaken transport fuel demand</vt:lpstr>
      <vt:lpstr>Power recovery can persist, but availability and replacement timing remain risks</vt:lpstr>
      <vt:lpstr>Plant-specific uncertainty can change the import requirement in either direction</vt:lpstr>
      <vt:lpstr>Competing corridors could divert inland volumes away from Durban</vt:lpstr>
      <vt:lpstr>Five arguments connect the market evidence to Vopak’s investment choice</vt:lpstr>
      <vt:lpstr>Nine demand–supply worlds frame the choice, with Medium / Medium as baseline</vt:lpstr>
      <vt:lpstr>The initial share tests establish scale; accessible throughput remains the key uncertainty</vt:lpstr>
      <vt:lpstr>Further investment depends on capturable volume exceeding existing capacity at an adequate return</vt:lpstr>
      <vt:lpstr>Supporting evidence for the main argument</vt:lpstr>
      <vt:lpstr>GDP and fuel volumes need separate explanations of activity and sector mix</vt:lpstr>
      <vt:lpstr>Investment evidence informs the growth outlook but does not establish extra fuel demand</vt:lpstr>
      <vt:lpstr>Mining, agriculture and aviation require distinct demand explanations</vt:lpstr>
      <vt:lpstr>Fuel-price shocks affect running costs; sustained economics influence EV uptake</vt:lpstr>
      <vt:lpstr>More efficient new vehicles reduce fuel intensity gradually as the fleet turns over</vt:lpstr>
      <vt:lpstr>Eskom’s reported OCGT fuel use fell 40% in FY2025</vt:lpstr>
      <vt:lpstr>Road-to-rail recovery matters through transferable freight and haul distance</vt:lpstr>
      <vt:lpstr>Rail recovery on the Durban corridor depends on funding and reliable service</vt:lpstr>
      <vt:lpstr>Gauteng provides a demand denominator for testing Lesedi’s potential reach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subject>Illustrative demand geography and conditional Vopak market access</dc:subject>
  <dc:creator>Africa International Advisors</dc:creator>
  <cp:lastModifiedBy>Nigel Zhuwaki</cp:lastModifiedBy>
  <cp:revision>2</cp:revision>
  <dcterms:created xsi:type="dcterms:W3CDTF">2017-11-16T09:19:07Z</dcterms:created>
  <dcterms:modified xsi:type="dcterms:W3CDTF">2026-10-07T20:19:53Z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