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5"/>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5"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Lst>
  <p:sldSz cx="11588750" cy="6858000"/>
  <p:notesSz cx="6858000" cy="9144000"/>
  <p:embeddedFontLst>
    <p:embeddedFont>
      <p:font typeface="Lato" panose="020F0502020204030203"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Updated exhibit layout and appendix;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Slow demand growth and greater import reliance set the baseline; however, trajectories of power generation, refineries and the route to market could change it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Vopak can capture inland growth through the Durban–Lesedi corridor, with capacity expansion conditional on turnover and return on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Capturable volumes, route competitiveness and storage turnover determine the investment required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We define the South Africa liquids fuel market across demand–supply worldviews that test investment choices against a set of levers and outcomes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pp20, 23–24.</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25271482"/>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Sector
demand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With increased imports and constrained domestic capacity, alternative gateways compete for the same inland customers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Competitive offering on delivered cost and reliability could shift inland flows between competing corridors and strengthen growth in adjacent markets (landlocked SADC)</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Capital allocation requires capturable throughput beyond achievable capacity and sustainable </a:t>
            </a:r>
            <a:r>
              <a:rPr lang="en-GB" sz="2300">
                <a:solidFill>
                  <a:schemeClr val="dk1"/>
                </a:solidFill>
                <a:latin typeface="Lato"/>
              </a:rPr>
              <a:t>commercial terms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16</a:t>
            </a:r>
          </a:p>
        </p:txBody>
      </p:sp>
    </p:spTree>
    <p:extLst>
      <p:ext uri="{BB962C8B-B14F-4D97-AF65-F5344CB8AC3E}">
        <p14:creationId xmlns:p14="http://schemas.microsoft.com/office/powerpoint/2010/main" val="121299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p26.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8347</Words>
  <Application>Microsoft Office PowerPoint</Application>
  <PresentationFormat>Custom</PresentationFormat>
  <Paragraphs>633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Lato</vt:lpstr>
      <vt:lpstr>Calibri</vt:lpstr>
      <vt:lpstr>Arial</vt:lpstr>
      <vt:lpstr>Vopak Theme</vt:lpstr>
      <vt:lpstr>PowerPoint Presentation</vt:lpstr>
      <vt:lpstr>Slow demand growth and greater import reliance set the baseline; however, trajectories of power generation, refineries and the route to market could change it</vt:lpstr>
      <vt:lpstr>Vopak can capture inland growth through the Durban–Lesedi corridor, with capacity expansion conditional on turnover and return on investment</vt:lpstr>
      <vt:lpstr>Capturable volumes, route competitiveness and storage turnover determine the investment required</vt:lpstr>
      <vt:lpstr>We define the South Africa liquids fuel market across demand–supply worldviews that test investment choices against a set of levers and outcomes</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With increased imports and constrained domestic capacity, alternative gateways compete for the same inland customers</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Competitive offering on delivered cost and reliability could shift inland flows between competing corridors and strengthen growth in adjacent markets (landlocked SADC)</vt:lpstr>
      <vt:lpstr>Capital allocation requires capturable throughput beyond achievable capacity and sustainable commercial terms</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20</cp:revision>
  <dcterms:created xsi:type="dcterms:W3CDTF">2017-11-16T09:19:07Z</dcterms:created>
  <dcterms:modified xsi:type="dcterms:W3CDTF">2026-10-08T00:27:17Z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