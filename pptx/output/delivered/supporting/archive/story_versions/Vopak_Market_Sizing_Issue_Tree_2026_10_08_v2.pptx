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7"/>
  </p:notesMasterIdLst>
  <p:sldIdLst>
    <p:sldId id="289" r:id="rId5"/>
    <p:sldId id="290" r:id="rId6"/>
  </p:sldIdLst>
  <p:sldSz cx="11588750" cy="6858000"/>
  <p:notesSz cx="6858000" cy="9144000"/>
  <p:embeddedFontLst>
    <p:embeddedFont>
      <p:font typeface="Lato" panose="020F0502020204030203" pitchFamily="34" charset="0"/>
      <p:regular r:id="rId8"/>
      <p:bold r:id="rId9"/>
      <p:italic r:id="rId10"/>
      <p:boldItalic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 workstreams/WS0_governance/meetings/2026-10-08_ps_session_manish_ramjeawon.docx and Nigel's supplied market sizing.jpg storyboard.
This is the issue-tree framework requested after the PS session. The roughly 20 billion litres is the discussion's provisional annual petrol-plus-diesel consumption total. It is not gross imports, addressable terminal volume or verified throughput. No market shares have been calculated.
Reconcile product/year consumption against actual domestic production, gross imports, exports and stock changes. Keep statistical differences explicit. Capacity is not production.
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
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
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
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
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
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page groups the outstanding requests in the existing DR01-DR09 register and adds the explicit evidence gaps raised in the 8 October PS session. It is a request summary, not evidence that requests were sent or data received. No new delivery dates are committed.
Manish: assemble public evidence, retain original source files, consolidate observed versus estimated data, and estimate accessible terminal markets while client inputs are pending. Nigel coordinates commercial requests and reviews the baseline. Henry's review concerns scenario settings and specialist power assumptions.
DR01: compatible product/year definitions, actual output and explicit stock changes/statistical differences. Resolve the 2024 sales source and blank 2025 national sales rather than manufacturing observations.
DR04: public port liquid-bulk capacity and pipeline/road/rail connections; confirm working service capacity, actual access rights and destination-matched route economics with operators. Geographic connectivity alone does not establish customer access.
DR07: reported historical Eskom litres rather than generation-based estimates, vehicle composition by province/class, historical petrol/diesel efficiency, and the source paper behind retirement and road diesel split assumptions. Document renewable and gas commissioning dependencies, coal retirements and rail traction. Nigel/Henry review low/medium/high assumptions; scenarios must avoid double counting. Marine remains an open baseline gap; jet evidence is assembled but a separate model is not agreed in this handback.
DR08: complete refinery/synfuels inventory including PetroSA/Mossgas, Secunda, Natref, SAPREF and other national sites, with actual annual product output, feedstock and restart/closure dependencies. Capacity alone does not establish production.
DR02/05: latest 36 complete months of anonymised product/site movements, destinations, customer commitments, contestable volumes and contracts. Explicitly flag shared Durban-Lesedi flows and final deliveries. Verify market share against an explicit accessible-market denominator.
DR03: product-compatible working and unavailable/committed tankage, stock policy, observed turns, occupancy, downtime and peak receipt/dispatch limits.
DR06: storage and handling revenue terms, incremental operating costs, capex, schedule, ramp-up, tax, working capital, asset life and hurdle rate. Compare existing assets, operating improvements and expansion on incremental cash flows.
DR09 is still outstanding but is a separate EV adjacency case, not a prerequisite to the petrol/diesel terminal market-sizing bridge.
The underlying register and full acceptance tests follow:</a:t>
            </a:r>
          </a:p>
          <a:p>
            <a:r>
              <a:rPr lang="en-GB"/>
              <a:t>[</a:t>
            </a:r>
          </a:p>
          <a:p>
            <a:r>
              <a:rPr lang="en-GB"/>
              <a:t>  {</a:t>
            </a:r>
          </a:p>
          <a:p>
            <a:r>
              <a:rPr lang="en-GB"/>
              <a:t>    "id": "DR01",</a:t>
            </a:r>
          </a:p>
          <a:p>
            <a:r>
              <a:rPr lang="en-GB"/>
              <a:t>    "priority": "P1",</a:t>
            </a:r>
          </a:p>
          <a:p>
            <a:r>
              <a:rPr lang="en-GB"/>
              <a:t>    "step": "Baseline",</a:t>
            </a:r>
          </a:p>
          <a:p>
            <a:r>
              <a:rPr lang="en-GB"/>
              <a:t>    "request": "National product balance",</a:t>
            </a:r>
          </a:p>
          <a:p>
            <a:r>
              <a:rPr lang="en-GB"/>
              <a:t>    "required_fields_and_period": "Latest complete calendar year and 2021/2022 bridge; petrol/diesel production, imports, exports, stock changes and statistical differences; units and coverage",</a:t>
            </a:r>
          </a:p>
          <a:p>
            <a:r>
              <a:rPr lang="en-GB"/>
              <a:t>    "proposed_coordinator": "Manish / Nigel review",</a:t>
            </a:r>
          </a:p>
          <a:p>
            <a:r>
              <a:rPr lang="en-GB"/>
              <a:t>    "proposed_data_provider": "Department / SARS / producers",</a:t>
            </a:r>
          </a:p>
          <a:p>
            <a:r>
              <a:rPr lang="en-GB"/>
              <a:t>    "expiry_trigger": "Before baseline adoption",</a:t>
            </a:r>
          </a:p>
          <a:p>
            <a:r>
              <a:rPr lang="en-GB"/>
              <a:t>    "acceptance_test": "Reconcile definitions and source revisions; no residual labelled as production",</a:t>
            </a:r>
          </a:p>
          <a:p>
            <a:r>
              <a:rPr lang="en-GB"/>
              <a:t>    "status": "Prepared; not sent",</a:t>
            </a:r>
          </a:p>
          <a:p>
            <a:r>
              <a:rPr lang="en-GB"/>
              <a:t>    "received_file": "",</a:t>
            </a:r>
          </a:p>
          <a:p>
            <a:r>
              <a:rPr lang="en-GB"/>
              <a:t>    "received_date": ""</a:t>
            </a:r>
          </a:p>
          <a:p>
            <a:r>
              <a:rPr lang="en-GB"/>
              <a:t>  },</a:t>
            </a:r>
          </a:p>
          <a:p>
            <a:r>
              <a:rPr lang="en-GB"/>
              <a:t>  {</a:t>
            </a:r>
          </a:p>
          <a:p>
            <a:r>
              <a:rPr lang="en-GB"/>
              <a:t>    "id": "DR02",</a:t>
            </a:r>
          </a:p>
          <a:p>
            <a:r>
              <a:rPr lang="en-GB"/>
              <a:t>    "priority": "P1",</a:t>
            </a:r>
          </a:p>
          <a:p>
            <a:r>
              <a:rPr lang="en-GB"/>
              <a:t>    "step": "Capture",</a:t>
            </a:r>
          </a:p>
          <a:p>
            <a:r>
              <a:rPr lang="en-GB"/>
              <a:t>    "request": "Terminal movements",</a:t>
            </a:r>
          </a:p>
          <a:p>
            <a:r>
              <a:rPr lang="en-GB"/>
              <a:t>    "required_fields_and_period": "Latest 36 complete months; terminal, product, origin, destination, customer ID, receipt/dispatch m3; flag Durban-Lesedi transfers and final customer deliveries",</a:t>
            </a:r>
          </a:p>
          <a:p>
            <a:r>
              <a:rPr lang="en-GB"/>
              <a:t>    "proposed_coordinator": "Nigel to coordinate",</a:t>
            </a:r>
          </a:p>
          <a:p>
            <a:r>
              <a:rPr lang="en-GB"/>
              <a:t>    "proposed_data_provider": "Vopak operations / commercial",</a:t>
            </a:r>
          </a:p>
          <a:p>
            <a:r>
              <a:rPr lang="en-GB"/>
              <a:t>    "expiry_trigger": "Before market-share estimate",</a:t>
            </a:r>
          </a:p>
          <a:p>
            <a:r>
              <a:rPr lang="en-GB"/>
              <a:t>    "acceptance_test": "Deduplicate chain deliveries; reconcile monthly totals to operating reports",</a:t>
            </a:r>
          </a:p>
          <a:p>
            <a:r>
              <a:rPr lang="en-GB"/>
              <a:t>    "status": "Prepared; not sent",</a:t>
            </a:r>
          </a:p>
          <a:p>
            <a:r>
              <a:rPr lang="en-GB"/>
              <a:t>    "received_file": "",</a:t>
            </a:r>
          </a:p>
          <a:p>
            <a:r>
              <a:rPr lang="en-GB"/>
              <a:t>    "received_date": ""</a:t>
            </a:r>
          </a:p>
          <a:p>
            <a:r>
              <a:rPr lang="en-GB"/>
              <a:t>  },</a:t>
            </a:r>
          </a:p>
          <a:p>
            <a:r>
              <a:rPr lang="en-GB"/>
              <a:t>  {</a:t>
            </a:r>
          </a:p>
          <a:p>
            <a:r>
              <a:rPr lang="en-GB"/>
              <a:t>    "id": "DR03",</a:t>
            </a:r>
          </a:p>
          <a:p>
            <a:r>
              <a:rPr lang="en-GB"/>
              <a:t>    "priority": "P1",</a:t>
            </a:r>
          </a:p>
          <a:p>
            <a:r>
              <a:rPr lang="en-GB"/>
              <a:t>    "step": "Assets",</a:t>
            </a:r>
          </a:p>
          <a:p>
            <a:r>
              <a:rPr lang="en-GB"/>
              <a:t>    "request": "Working capacity and service limits",</a:t>
            </a:r>
          </a:p>
          <a:p>
            <a:r>
              <a:rPr lang="en-GB"/>
              <a:t>    "required_fields_and_period": "Tank/product gross and working m3; unavailable/committed capacity; stock policy; actual turns; monthly receipt/dispatch m3; hourly and peak limits; downtime",</a:t>
            </a:r>
          </a:p>
          <a:p>
            <a:r>
              <a:rPr lang="en-GB"/>
              <a:t>    "proposed_coordinator": "Nigel to coordinate",</a:t>
            </a:r>
          </a:p>
          <a:p>
            <a:r>
              <a:rPr lang="en-GB"/>
              <a:t>    "proposed_data_provider": "Vopak operations",</a:t>
            </a:r>
          </a:p>
          <a:p>
            <a:r>
              <a:rPr lang="en-GB"/>
              <a:t>    "expiry_trigger": "Before capacity-shortfall conclusion",</a:t>
            </a:r>
          </a:p>
          <a:p>
            <a:r>
              <a:rPr lang="en-GB"/>
              <a:t>    "acceptance_test": "Eligible working tankage and achievable throughput reconciled by product and terminal",</a:t>
            </a:r>
          </a:p>
          <a:p>
            <a:r>
              <a:rPr lang="en-GB"/>
              <a:t>    "status": "Prepared; not sent",</a:t>
            </a:r>
          </a:p>
          <a:p>
            <a:r>
              <a:rPr lang="en-GB"/>
              <a:t>    "received_file": "",</a:t>
            </a:r>
          </a:p>
          <a:p>
            <a:r>
              <a:rPr lang="en-GB"/>
              <a:t>    "received_date": ""</a:t>
            </a:r>
          </a:p>
          <a:p>
            <a:r>
              <a:rPr lang="en-GB"/>
              <a:t>  },</a:t>
            </a:r>
          </a:p>
          <a:p>
            <a:r>
              <a:rPr lang="en-GB"/>
              <a:t>  {</a:t>
            </a:r>
          </a:p>
          <a:p>
            <a:r>
              <a:rPr lang="en-GB"/>
              <a:t>    "id": "DR04",</a:t>
            </a:r>
          </a:p>
          <a:p>
            <a:r>
              <a:rPr lang="en-GB"/>
              <a:t>    "priority": "P1",</a:t>
            </a:r>
          </a:p>
          <a:p>
            <a:r>
              <a:rPr lang="en-GB"/>
              <a:t>    "step": "Routes",</a:t>
            </a:r>
          </a:p>
          <a:p>
            <a:r>
              <a:rPr lang="en-GB"/>
              <a:t>    "request": "Matched delivered economics",</a:t>
            </a:r>
          </a:p>
          <a:p>
            <a:r>
              <a:rPr lang="en-GB"/>
              <a:t>    "required_fields_and_period": "Same petrol/diesel spec and inland destination; dated product basis and handling/road/rail/pipeline/border/loss/finance costs; tax basis, currency, transit time, access rights and available annual capacity",</a:t>
            </a:r>
          </a:p>
          <a:p>
            <a:r>
              <a:rPr lang="en-GB"/>
              <a:t>    "proposed_coordinator": "Manish / Nigel review",</a:t>
            </a:r>
          </a:p>
          <a:p>
            <a:r>
              <a:rPr lang="en-GB"/>
              <a:t>    "proposed_data_provider": "Logistics operators / Vopak",</a:t>
            </a:r>
          </a:p>
          <a:p>
            <a:r>
              <a:rPr lang="en-GB"/>
              <a:t>    "expiry_trigger": "Before corridor ranking",</a:t>
            </a:r>
          </a:p>
          <a:p>
            <a:r>
              <a:rPr lang="en-GB"/>
              <a:t>    "acceptance_test": "Compare same product/date/destination; confirm tanker access and service availability",</a:t>
            </a:r>
          </a:p>
          <a:p>
            <a:r>
              <a:rPr lang="en-GB"/>
              <a:t>    "status": "Prepared; not sent",</a:t>
            </a:r>
          </a:p>
          <a:p>
            <a:r>
              <a:rPr lang="en-GB"/>
              <a:t>    "received_file": "",</a:t>
            </a:r>
          </a:p>
          <a:p>
            <a:r>
              <a:rPr lang="en-GB"/>
              <a:t>    "received_date": ""</a:t>
            </a:r>
          </a:p>
          <a:p>
            <a:r>
              <a:rPr lang="en-GB"/>
              <a:t>  },</a:t>
            </a:r>
          </a:p>
          <a:p>
            <a:r>
              <a:rPr lang="en-GB"/>
              <a:t>  {</a:t>
            </a:r>
          </a:p>
          <a:p>
            <a:r>
              <a:rPr lang="en-GB"/>
              <a:t>    "id": "DR05",</a:t>
            </a:r>
          </a:p>
          <a:p>
            <a:r>
              <a:rPr lang="en-GB"/>
              <a:t>    "priority": "P1",</a:t>
            </a:r>
          </a:p>
          <a:p>
            <a:r>
              <a:rPr lang="en-GB"/>
              <a:t>    "step": "Capture",</a:t>
            </a:r>
          </a:p>
          <a:p>
            <a:r>
              <a:rPr lang="en-GB"/>
              <a:t>    "request": "Customer access and commitments",</a:t>
            </a:r>
          </a:p>
          <a:p>
            <a:r>
              <a:rPr lang="en-GB"/>
              <a:t>    "required_fields_and_period": "Anonymised customer/product/destination annual m3; sourcing alternatives, contract dates, committed vs contestable volumes and renewal assumptions",</a:t>
            </a:r>
          </a:p>
          <a:p>
            <a:r>
              <a:rPr lang="en-GB"/>
              <a:t>    "proposed_coordinator": "Nigel to coordinate",</a:t>
            </a:r>
          </a:p>
          <a:p>
            <a:r>
              <a:rPr lang="en-GB"/>
              <a:t>    "proposed_data_provider": "Vopak commercial",</a:t>
            </a:r>
          </a:p>
          <a:p>
            <a:r>
              <a:rPr lang="en-GB"/>
              <a:t>    "expiry_trigger": "Before capturable-volume adoption",</a:t>
            </a:r>
          </a:p>
          <a:p>
            <a:r>
              <a:rPr lang="en-GB"/>
              <a:t>    "acceptance_test": "Mutually exclusive customer pools; confirmed rights and no assumed capacity-share proxy",</a:t>
            </a:r>
          </a:p>
          <a:p>
            <a:r>
              <a:rPr lang="en-GB"/>
              <a:t>    "status": "Prepared; not sent",</a:t>
            </a:r>
          </a:p>
          <a:p>
            <a:r>
              <a:rPr lang="en-GB"/>
              <a:t>    "received_file": "",</a:t>
            </a:r>
          </a:p>
          <a:p>
            <a:r>
              <a:rPr lang="en-GB"/>
              <a:t>    "received_date": ""</a:t>
            </a:r>
          </a:p>
          <a:p>
            <a:r>
              <a:rPr lang="en-GB"/>
              <a:t>  },</a:t>
            </a:r>
          </a:p>
          <a:p>
            <a:r>
              <a:rPr lang="en-GB"/>
              <a:t>  {</a:t>
            </a:r>
          </a:p>
          <a:p>
            <a:r>
              <a:rPr lang="en-GB"/>
              <a:t>    "id": "DR06",</a:t>
            </a:r>
          </a:p>
          <a:p>
            <a:r>
              <a:rPr lang="en-GB"/>
              <a:t>    "priority": "P1",</a:t>
            </a:r>
          </a:p>
          <a:p>
            <a:r>
              <a:rPr lang="en-GB"/>
              <a:t>    "step": "Returns",</a:t>
            </a:r>
          </a:p>
          <a:p>
            <a:r>
              <a:rPr lang="en-GB"/>
              <a:t>    "request": "Commercial terms and project options",</a:t>
            </a:r>
          </a:p>
          <a:p>
            <a:r>
              <a:rPr lang="en-GB"/>
              <a:t>    "required_fields_and_period": "Incremental storage/handling revenue, variable and fixed costs; tank/debottleneck capex, schedule, ramp-up, working capital, tax, hurdle rate and asset life; effects on existing revenue",</a:t>
            </a:r>
          </a:p>
          <a:p>
            <a:r>
              <a:rPr lang="en-GB"/>
              <a:t>    "proposed_coordinator": "Nigel to coordinate",</a:t>
            </a:r>
          </a:p>
          <a:p>
            <a:r>
              <a:rPr lang="en-GB"/>
              <a:t>    "proposed_data_provider": "Vopak finance / engineering / commercial",</a:t>
            </a:r>
          </a:p>
          <a:p>
            <a:r>
              <a:rPr lang="en-GB"/>
              <a:t>    "expiry_trigger": "Before investment recommendation",</a:t>
            </a:r>
          </a:p>
          <a:p>
            <a:r>
              <a:rPr lang="en-GB"/>
              <a:t>    "acceptance_test": "Compare existing assets, debottleneck and expansion on incremental cash flows",</a:t>
            </a:r>
          </a:p>
          <a:p>
            <a:r>
              <a:rPr lang="en-GB"/>
              <a:t>    "status": "Prepared; not sent",</a:t>
            </a:r>
          </a:p>
          <a:p>
            <a:r>
              <a:rPr lang="en-GB"/>
              <a:t>    "received_file": "",</a:t>
            </a:r>
          </a:p>
          <a:p>
            <a:r>
              <a:rPr lang="en-GB"/>
              <a:t>    "received_date": ""</a:t>
            </a:r>
          </a:p>
          <a:p>
            <a:r>
              <a:rPr lang="en-GB"/>
              <a:t>  },</a:t>
            </a:r>
          </a:p>
          <a:p>
            <a:r>
              <a:rPr lang="en-GB"/>
              <a:t>  {</a:t>
            </a:r>
          </a:p>
          <a:p>
            <a:r>
              <a:rPr lang="en-GB"/>
              <a:t>    "id": "DR07",</a:t>
            </a:r>
          </a:p>
          <a:p>
            <a:r>
              <a:rPr lang="en-GB"/>
              <a:t>    "priority": "P2",</a:t>
            </a:r>
          </a:p>
          <a:p>
            <a:r>
              <a:rPr lang="en-GB"/>
              <a:t>    "step": "Demand worlds",</a:t>
            </a:r>
          </a:p>
          <a:p>
            <a:r>
              <a:rPr lang="en-GB"/>
              <a:t>    "request": "Annual demand lever calibration",</a:t>
            </a:r>
          </a:p>
          <a:p>
            <a:r>
              <a:rPr lang="en-GB"/>
              <a:t>    "required_fields_and_period": "Product/sector activity, transferable freight tonne-km, rail traction, EV fleet replacement, ICE efficiency; Eskom/IPP/private backup separately; generation commissioning and retirements",</a:t>
            </a:r>
          </a:p>
          <a:p>
            <a:r>
              <a:rPr lang="en-GB"/>
              <a:t>    "proposed_coordinator": "Manish / Nigel review",</a:t>
            </a:r>
          </a:p>
          <a:p>
            <a:r>
              <a:rPr lang="en-GB"/>
              <a:t>    "proposed_data_provider": "Public sources / sector specialists",</a:t>
            </a:r>
          </a:p>
          <a:p>
            <a:r>
              <a:rPr lang="en-GB"/>
              <a:t>    "expiry_trigger": "Before L/M/H demand adoption",</a:t>
            </a:r>
          </a:p>
          <a:p>
            <a:r>
              <a:rPr lang="en-GB"/>
              <a:t>    "acceptance_test": "No rail/EV/efficiency double count; power balance and dispatch constrain diesel",</a:t>
            </a:r>
          </a:p>
          <a:p>
            <a:r>
              <a:rPr lang="en-GB"/>
              <a:t>    "status": "Prepared; not sent",</a:t>
            </a:r>
          </a:p>
          <a:p>
            <a:r>
              <a:rPr lang="en-GB"/>
              <a:t>    "received_file": "",</a:t>
            </a:r>
          </a:p>
          <a:p>
            <a:r>
              <a:rPr lang="en-GB"/>
              <a:t>    "received_date": ""</a:t>
            </a:r>
          </a:p>
          <a:p>
            <a:r>
              <a:rPr lang="en-GB"/>
              <a:t>  },</a:t>
            </a:r>
          </a:p>
          <a:p>
            <a:r>
              <a:rPr lang="en-GB"/>
              <a:t>  {</a:t>
            </a:r>
          </a:p>
          <a:p>
            <a:r>
              <a:rPr lang="en-GB"/>
              <a:t>    "id": "DR08",</a:t>
            </a:r>
          </a:p>
          <a:p>
            <a:r>
              <a:rPr lang="en-GB"/>
              <a:t>    "priority": "P2",</a:t>
            </a:r>
          </a:p>
          <a:p>
            <a:r>
              <a:rPr lang="en-GB"/>
              <a:t>    "step": "Supply worlds",</a:t>
            </a:r>
          </a:p>
          <a:p>
            <a:r>
              <a:rPr lang="en-GB"/>
              <a:t>    "request": "Annual plant output calibration",</a:t>
            </a:r>
          </a:p>
          <a:p>
            <a:r>
              <a:rPr lang="en-GB"/>
              <a:t>    "required_fields_and_period": "SAPREF funded timing/ramp/yields; Natref availability/utilisation; Secunda gas/MRG liquids penalty; PetroSA feedstock/restart; product-specific annual output",</a:t>
            </a:r>
          </a:p>
          <a:p>
            <a:r>
              <a:rPr lang="en-GB"/>
              <a:t>    "proposed_coordinator": "Manish / Nigel review",</a:t>
            </a:r>
          </a:p>
          <a:p>
            <a:r>
              <a:rPr lang="en-GB"/>
              <a:t>    "proposed_data_provider": "Producers / public disclosures",</a:t>
            </a:r>
          </a:p>
          <a:p>
            <a:r>
              <a:rPr lang="en-GB"/>
              <a:t>    "expiry_trigger": "Before L/M/H supply adoption",</a:t>
            </a:r>
          </a:p>
          <a:p>
            <a:r>
              <a:rPr lang="en-GB"/>
              <a:t>    "acceptance_test": "Nameplate converted to output; dependencies and scenario consistency reviewed",</a:t>
            </a:r>
          </a:p>
          <a:p>
            <a:r>
              <a:rPr lang="en-GB"/>
              <a:t>    "status": "Prepared; not sent",</a:t>
            </a:r>
          </a:p>
          <a:p>
            <a:r>
              <a:rPr lang="en-GB"/>
              <a:t>    "received_file": "",</a:t>
            </a:r>
          </a:p>
          <a:p>
            <a:r>
              <a:rPr lang="en-GB"/>
              <a:t>    "received_date": ""</a:t>
            </a:r>
          </a:p>
          <a:p>
            <a:r>
              <a:rPr lang="en-GB"/>
              <a:t>  },</a:t>
            </a:r>
          </a:p>
          <a:p>
            <a:r>
              <a:rPr lang="en-GB"/>
              <a:t>  {</a:t>
            </a:r>
          </a:p>
          <a:p>
            <a:r>
              <a:rPr lang="en-GB"/>
              <a:t>    "id": "DR09",</a:t>
            </a:r>
          </a:p>
          <a:p>
            <a:r>
              <a:rPr lang="en-GB"/>
              <a:t>    "priority": "P2",</a:t>
            </a:r>
          </a:p>
          <a:p>
            <a:r>
              <a:rPr lang="en-GB"/>
              <a:t>    "step": "EV adjacency",</a:t>
            </a:r>
          </a:p>
          <a:p>
            <a:r>
              <a:rPr lang="en-GB"/>
              <a:t>    "request": "Separate EV investment case",</a:t>
            </a:r>
          </a:p>
          <a:p>
            <a:r>
              <a:rPr lang="en-GB"/>
              <a:t>    "required_fields_and_period": "Customer energy and charging demand; utilisation by location; power connection and tariff; capex, costs, commercial terms, partner model and strategic mandate",</a:t>
            </a:r>
          </a:p>
          <a:p>
            <a:r>
              <a:rPr lang="en-GB"/>
              <a:t>    "proposed_coordinator": "Nigel to coordinate",</a:t>
            </a:r>
          </a:p>
          <a:p>
            <a:r>
              <a:rPr lang="en-GB"/>
              <a:t>    "proposed_data_provider": "Potential customers / Vopak strategy / power partners",</a:t>
            </a:r>
          </a:p>
          <a:p>
            <a:r>
              <a:rPr lang="en-GB"/>
              <a:t>    "expiry_trigger": "Before EV investment screening",</a:t>
            </a:r>
          </a:p>
          <a:p>
            <a:r>
              <a:rPr lang="en-GB"/>
              <a:t>    "acceptance_test": "Standalone customer, power-access and incremental-return case; not inferred from low fuel demand",</a:t>
            </a:r>
          </a:p>
          <a:p>
            <a:r>
              <a:rPr lang="en-GB"/>
              <a:t>    "status": "Prepared; not sent",</a:t>
            </a:r>
          </a:p>
          <a:p>
            <a:r>
              <a:rPr lang="en-GB"/>
              <a:t>    "received_file": "",</a:t>
            </a:r>
          </a:p>
          <a:p>
            <a:r>
              <a:rPr lang="en-GB"/>
              <a:t>    "received_date": ""</a:t>
            </a:r>
          </a:p>
          <a:p>
            <a:r>
              <a:rPr lang="en-GB"/>
              <a:t>  }</a:t>
            </a:r>
          </a:p>
          <a:p>
            <a:r>
              <a:rPr lang="en-GB"/>
              <a: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8 October PS session and marked storyboard. ~20B is provisional. Reconcile production + imports - exports - stock build with consumption. Solid: flow; dashed: parameter effect.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heading">
            <a:extLst>
              <a:ext uri="{FF2B5EF4-FFF2-40B4-BE49-F238E27FC236}">
                <a16:creationId xmlns:a16="http://schemas.microsoft.com/office/drawing/2014/main" id="{14CD1435-9493-0D95-498F-FDC83E6EE04F}"/>
              </a:ext>
            </a:extLst>
          </p:cNvPr>
          <p:cNvSpPr txBox="1"/>
          <p:nvPr/>
        </p:nvSpPr>
        <p:spPr>
          <a:xfrm>
            <a:off x="457200" y="1638300"/>
            <a:ext cx="22098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5" name="System heading">
            <a:extLst>
              <a:ext uri="{FF2B5EF4-FFF2-40B4-BE49-F238E27FC236}">
                <a16:creationId xmlns:a16="http://schemas.microsoft.com/office/drawing/2014/main" id="{C0C17D29-17F6-811C-2016-AEB107CEAD1B}"/>
              </a:ext>
            </a:extLst>
          </p:cNvPr>
          <p:cNvSpPr txBox="1"/>
          <p:nvPr/>
        </p:nvSpPr>
        <p:spPr>
          <a:xfrm>
            <a:off x="3111500" y="1638300"/>
            <a:ext cx="4089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6" name="Terminal heading">
            <a:extLst>
              <a:ext uri="{FF2B5EF4-FFF2-40B4-BE49-F238E27FC236}">
                <a16:creationId xmlns:a16="http://schemas.microsoft.com/office/drawing/2014/main" id="{5CA9319A-5A43-DDF4-3153-ED80CD691028}"/>
              </a:ext>
            </a:extLst>
          </p:cNvPr>
          <p:cNvSpPr txBox="1"/>
          <p:nvPr/>
        </p:nvSpPr>
        <p:spPr>
          <a:xfrm>
            <a:off x="7899400" y="1638300"/>
            <a:ext cx="3213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cxnSp>
        <p:nvCxnSpPr>
          <p:cNvPr id="7" name="Column heading rule">
            <a:extLst>
              <a:ext uri="{FF2B5EF4-FFF2-40B4-BE49-F238E27FC236}">
                <a16:creationId xmlns:a16="http://schemas.microsoft.com/office/drawing/2014/main" id="{9CD9C2EA-8B0C-6190-041D-53E7BCFC4E12}"/>
              </a:ext>
            </a:extLst>
          </p:cNvPr>
          <p:cNvCxnSpPr/>
          <p:nvPr/>
        </p:nvCxnSpPr>
        <p:spPr>
          <a:xfrm>
            <a:off x="457200" y="1917700"/>
            <a:ext cx="2209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3" name="Column heading rule">
            <a:extLst>
              <a:ext uri="{FF2B5EF4-FFF2-40B4-BE49-F238E27FC236}">
                <a16:creationId xmlns:a16="http://schemas.microsoft.com/office/drawing/2014/main" id="{8EB4746A-C908-7903-267C-329D465C94D0}"/>
              </a:ext>
            </a:extLst>
          </p:cNvPr>
          <p:cNvCxnSpPr/>
          <p:nvPr/>
        </p:nvCxnSpPr>
        <p:spPr>
          <a:xfrm>
            <a:off x="3111500" y="1917700"/>
            <a:ext cx="4114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4" name="Column heading rule">
            <a:extLst>
              <a:ext uri="{FF2B5EF4-FFF2-40B4-BE49-F238E27FC236}">
                <a16:creationId xmlns:a16="http://schemas.microsoft.com/office/drawing/2014/main" id="{AA858E4B-F07C-F90D-428F-E07E9E8C909B}"/>
              </a:ext>
            </a:extLst>
          </p:cNvPr>
          <p:cNvCxnSpPr/>
          <p:nvPr/>
        </p:nvCxnSpPr>
        <p:spPr>
          <a:xfrm>
            <a:off x="7899400" y="1917700"/>
            <a:ext cx="3213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5" name="National market">
            <a:extLst>
              <a:ext uri="{FF2B5EF4-FFF2-40B4-BE49-F238E27FC236}">
                <a16:creationId xmlns:a16="http://schemas.microsoft.com/office/drawing/2014/main" id="{C937B83A-DBC2-5EAB-CFE4-6A5A27B56F2A}"/>
              </a:ext>
            </a:extLst>
          </p:cNvPr>
          <p:cNvSpPr txBox="1"/>
          <p:nvPr/>
        </p:nvSpPr>
        <p:spPr>
          <a:xfrm>
            <a:off x="457200" y="2108199"/>
            <a:ext cx="2209800" cy="10287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National consumption</a:t>
            </a:r>
          </a:p>
          <a:p>
            <a:pPr>
              <a:spcAft>
                <a:spcPts val="200"/>
              </a:spcAft>
            </a:pPr>
            <a:r>
              <a:rPr lang="en-GB" sz="1200">
                <a:solidFill>
                  <a:schemeClr val="dk1"/>
                </a:solidFill>
                <a:latin typeface="Lato" panose="020F0502020204030203" pitchFamily="34" charset="0"/>
              </a:rPr>
              <a:t>~20B litres/year discussed</a:t>
            </a:r>
          </a:p>
          <a:p>
            <a:pPr>
              <a:spcAft>
                <a:spcPts val="200"/>
              </a:spcAft>
            </a:pPr>
            <a:r>
              <a:rPr lang="en-GB" sz="1200">
                <a:solidFill>
                  <a:schemeClr val="dk1"/>
                </a:solidFill>
                <a:latin typeface="Lato" panose="020F0502020204030203" pitchFamily="34" charset="0"/>
              </a:rPr>
              <a:t>Petrol and diesel by destination</a:t>
            </a:r>
          </a:p>
          <a:p>
            <a:pPr>
              <a:spcAft>
                <a:spcPts val="200"/>
              </a:spcAft>
            </a:pPr>
            <a:r>
              <a:rPr lang="en-GB" sz="1200">
                <a:solidFill>
                  <a:schemeClr val="dk1"/>
                </a:solidFill>
                <a:latin typeface="Lato" panose="020F0502020204030203" pitchFamily="34" charset="0"/>
              </a:rPr>
              <a:t>PS starting point, to reconcile</a:t>
            </a:r>
            <a:endParaRPr lang="en-ZA" sz="1200">
              <a:solidFill>
                <a:schemeClr val="dk1"/>
              </a:solidFill>
              <a:latin typeface="Lato" panose="020F0502020204030203" pitchFamily="34" charset="0"/>
            </a:endParaRPr>
          </a:p>
        </p:txBody>
      </p:sp>
      <p:sp>
        <p:nvSpPr>
          <p:cNvPr id="16" name="Sector demand">
            <a:extLst>
              <a:ext uri="{FF2B5EF4-FFF2-40B4-BE49-F238E27FC236}">
                <a16:creationId xmlns:a16="http://schemas.microsoft.com/office/drawing/2014/main" id="{7E776481-8BEE-CC1B-C185-4BE139C5F27F}"/>
              </a:ext>
            </a:extLst>
          </p:cNvPr>
          <p:cNvSpPr txBox="1"/>
          <p:nvPr/>
        </p:nvSpPr>
        <p:spPr>
          <a:xfrm>
            <a:off x="457200" y="3251199"/>
            <a:ext cx="2209800" cy="8128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Demand by use</a:t>
            </a:r>
          </a:p>
          <a:p>
            <a:pPr>
              <a:spcAft>
                <a:spcPts val="200"/>
              </a:spcAft>
            </a:pPr>
            <a:r>
              <a:rPr lang="en-GB" sz="1150">
                <a:solidFill>
                  <a:schemeClr val="dk1"/>
                </a:solidFill>
                <a:latin typeface="Lato" panose="020F0502020204030203" pitchFamily="34" charset="0"/>
              </a:rPr>
              <a:t>Road, mining, industry, agriculture</a:t>
            </a:r>
          </a:p>
          <a:p>
            <a:pPr>
              <a:spcAft>
                <a:spcPts val="200"/>
              </a:spcAft>
            </a:pPr>
            <a:r>
              <a:rPr lang="en-GB" sz="1150">
                <a:solidFill>
                  <a:schemeClr val="dk1"/>
                </a:solidFill>
                <a:latin typeface="Lato" panose="020F0502020204030203" pitchFamily="34" charset="0"/>
              </a:rPr>
              <a:t>Power and other uses</a:t>
            </a:r>
            <a:endParaRPr lang="en-ZA" sz="1150">
              <a:solidFill>
                <a:schemeClr val="dk1"/>
              </a:solidFill>
              <a:latin typeface="Lato" panose="020F0502020204030203" pitchFamily="34" charset="0"/>
            </a:endParaRPr>
          </a:p>
        </p:txBody>
      </p:sp>
      <p:cxnSp>
        <p:nvCxnSpPr>
          <p:cNvPr id="17" name="Uses determine demand">
            <a:extLst>
              <a:ext uri="{FF2B5EF4-FFF2-40B4-BE49-F238E27FC236}">
                <a16:creationId xmlns:a16="http://schemas.microsoft.com/office/drawing/2014/main" id="{5BF87840-7B72-822C-EDF1-6766803F1E6A}"/>
              </a:ext>
            </a:extLst>
          </p:cNvPr>
          <p:cNvCxnSpPr/>
          <p:nvPr/>
        </p:nvCxnSpPr>
        <p:spPr>
          <a:xfrm flipV="1">
            <a:off x="1524000" y="3162300"/>
            <a:ext cx="0" cy="88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8" name="Demand parameters">
            <a:extLst>
              <a:ext uri="{FF2B5EF4-FFF2-40B4-BE49-F238E27FC236}">
                <a16:creationId xmlns:a16="http://schemas.microsoft.com/office/drawing/2014/main" id="{05889CF0-02DA-D49E-34DB-0FE1C05F9592}"/>
              </a:ext>
            </a:extLst>
          </p:cNvPr>
          <p:cNvSpPr txBox="1"/>
          <p:nvPr/>
        </p:nvSpPr>
        <p:spPr>
          <a:xfrm>
            <a:off x="457200" y="4203699"/>
            <a:ext cx="2209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Demand parameters</a:t>
            </a:r>
          </a:p>
          <a:p>
            <a:pPr>
              <a:spcAft>
                <a:spcPts val="200"/>
              </a:spcAft>
            </a:pPr>
            <a:r>
              <a:rPr lang="en-GB" sz="1100">
                <a:solidFill>
                  <a:schemeClr val="dk1"/>
                </a:solidFill>
                <a:latin typeface="Lato" panose="020F0502020204030203" pitchFamily="34" charset="0"/>
              </a:rPr>
              <a:t>GDP and sector activity</a:t>
            </a:r>
          </a:p>
          <a:p>
            <a:pPr>
              <a:spcAft>
                <a:spcPts val="200"/>
              </a:spcAft>
            </a:pPr>
            <a:r>
              <a:rPr lang="en-GB" sz="1100">
                <a:solidFill>
                  <a:schemeClr val="dk1"/>
                </a:solidFill>
                <a:latin typeface="Lato" panose="020F0502020204030203" pitchFamily="34" charset="0"/>
              </a:rPr>
              <a:t>EVs, fleet turnover, ICE efficiency</a:t>
            </a:r>
          </a:p>
          <a:p>
            <a:pPr>
              <a:spcAft>
                <a:spcPts val="200"/>
              </a:spcAft>
            </a:pPr>
            <a:r>
              <a:rPr lang="en-GB" sz="1100">
                <a:solidFill>
                  <a:schemeClr val="dk1"/>
                </a:solidFill>
                <a:latin typeface="Lato" panose="020F0502020204030203" pitchFamily="34" charset="0"/>
              </a:rPr>
              <a:t>Freight shift, prices, power dispatch</a:t>
            </a:r>
            <a:endParaRPr lang="en-ZA" sz="1100">
              <a:solidFill>
                <a:schemeClr val="dk1"/>
              </a:solidFill>
              <a:latin typeface="Lato" panose="020F0502020204030203" pitchFamily="34" charset="0"/>
            </a:endParaRPr>
          </a:p>
        </p:txBody>
      </p:sp>
      <p:cxnSp>
        <p:nvCxnSpPr>
          <p:cNvPr id="19" name="Demand parameter effect">
            <a:extLst>
              <a:ext uri="{FF2B5EF4-FFF2-40B4-BE49-F238E27FC236}">
                <a16:creationId xmlns:a16="http://schemas.microsoft.com/office/drawing/2014/main" id="{E99183C3-677B-3951-54F8-364FD7B4B043}"/>
              </a:ext>
            </a:extLst>
          </p:cNvPr>
          <p:cNvCxnSpPr/>
          <p:nvPr/>
        </p:nvCxnSpPr>
        <p:spPr>
          <a:xfrm flipV="1">
            <a:off x="1524000" y="4064000"/>
            <a:ext cx="0" cy="1397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 name="Imports">
            <a:extLst>
              <a:ext uri="{FF2B5EF4-FFF2-40B4-BE49-F238E27FC236}">
                <a16:creationId xmlns:a16="http://schemas.microsoft.com/office/drawing/2014/main" id="{23F72AF9-31E3-D1F7-A839-88E56F43423D}"/>
              </a:ext>
            </a:extLst>
          </p:cNvPr>
          <p:cNvSpPr txBox="1"/>
          <p:nvPr/>
        </p:nvSpPr>
        <p:spPr>
          <a:xfrm>
            <a:off x="3111500" y="2108199"/>
            <a:ext cx="18542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Gross imports</a:t>
            </a:r>
          </a:p>
          <a:p>
            <a:pPr>
              <a:spcAft>
                <a:spcPts val="200"/>
              </a:spcAft>
            </a:pPr>
            <a:r>
              <a:rPr lang="en-GB" sz="1200">
                <a:solidFill>
                  <a:schemeClr val="dk1"/>
                </a:solidFill>
                <a:latin typeface="Lato" panose="020F0502020204030203" pitchFamily="34" charset="0"/>
              </a:rPr>
              <a:t>By product and entry point</a:t>
            </a:r>
          </a:p>
          <a:p>
            <a:pPr>
              <a:spcAft>
                <a:spcPts val="200"/>
              </a:spcAft>
            </a:pPr>
            <a:r>
              <a:rPr lang="en-GB" sz="1200">
                <a:solidFill>
                  <a:schemeClr val="dk1"/>
                </a:solidFill>
                <a:latin typeface="Lato" panose="020F0502020204030203" pitchFamily="34" charset="0"/>
              </a:rPr>
              <a:t>Exports shown separately</a:t>
            </a:r>
            <a:endParaRPr lang="en-ZA" sz="1200">
              <a:solidFill>
                <a:schemeClr val="dk1"/>
              </a:solidFill>
              <a:latin typeface="Lato" panose="020F0502020204030203" pitchFamily="34" charset="0"/>
            </a:endParaRPr>
          </a:p>
        </p:txBody>
      </p:sp>
      <p:sp>
        <p:nvSpPr>
          <p:cNvPr id="21" name="Production">
            <a:extLst>
              <a:ext uri="{FF2B5EF4-FFF2-40B4-BE49-F238E27FC236}">
                <a16:creationId xmlns:a16="http://schemas.microsoft.com/office/drawing/2014/main" id="{4EBBA8B2-2B37-C76A-4D00-E142B3C50D55}"/>
              </a:ext>
            </a:extLst>
          </p:cNvPr>
          <p:cNvSpPr txBox="1"/>
          <p:nvPr/>
        </p:nvSpPr>
        <p:spPr>
          <a:xfrm>
            <a:off x="5257800" y="2108199"/>
            <a:ext cx="19685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Domestic production</a:t>
            </a:r>
          </a:p>
          <a:p>
            <a:pPr>
              <a:spcAft>
                <a:spcPts val="200"/>
              </a:spcAft>
            </a:pPr>
            <a:r>
              <a:rPr lang="en-GB" sz="1200">
                <a:solidFill>
                  <a:schemeClr val="dk1"/>
                </a:solidFill>
                <a:latin typeface="Lato" panose="020F0502020204030203" pitchFamily="34" charset="0"/>
              </a:rPr>
              <a:t>Refinery location, output, yields</a:t>
            </a:r>
          </a:p>
          <a:p>
            <a:pPr>
              <a:spcAft>
                <a:spcPts val="200"/>
              </a:spcAft>
            </a:pPr>
            <a:r>
              <a:rPr lang="en-GB" sz="1200">
                <a:solidFill>
                  <a:schemeClr val="dk1"/>
                </a:solidFill>
                <a:latin typeface="Lato" panose="020F0502020204030203" pitchFamily="34" charset="0"/>
              </a:rPr>
              <a:t>Own storage and distribution</a:t>
            </a:r>
            <a:endParaRPr lang="en-ZA" sz="1200">
              <a:solidFill>
                <a:schemeClr val="dk1"/>
              </a:solidFill>
              <a:latin typeface="Lato" panose="020F0502020204030203" pitchFamily="34" charset="0"/>
            </a:endParaRPr>
          </a:p>
        </p:txBody>
      </p:sp>
      <p:sp>
        <p:nvSpPr>
          <p:cNvPr id="22" name="Routes">
            <a:extLst>
              <a:ext uri="{FF2B5EF4-FFF2-40B4-BE49-F238E27FC236}">
                <a16:creationId xmlns:a16="http://schemas.microsoft.com/office/drawing/2014/main" id="{8848F489-2B26-24D4-5939-007123C4EF82}"/>
              </a:ext>
            </a:extLst>
          </p:cNvPr>
          <p:cNvSpPr txBox="1"/>
          <p:nvPr/>
        </p:nvSpPr>
        <p:spPr>
          <a:xfrm>
            <a:off x="3111500" y="3238499"/>
            <a:ext cx="4114800" cy="8763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Ports and inland delivery network</a:t>
            </a:r>
          </a:p>
          <a:p>
            <a:pPr>
              <a:spcAft>
                <a:spcPts val="200"/>
              </a:spcAft>
            </a:pPr>
            <a:r>
              <a:rPr lang="en-GB" sz="1150">
                <a:solidFill>
                  <a:schemeClr val="dk1"/>
                </a:solidFill>
                <a:latin typeface="Lato" panose="020F0502020204030203" pitchFamily="34" charset="0"/>
              </a:rPr>
              <a:t>Durban, Richards Bay, other gateways</a:t>
            </a:r>
          </a:p>
          <a:p>
            <a:pPr>
              <a:spcAft>
                <a:spcPts val="200"/>
              </a:spcAft>
            </a:pPr>
            <a:r>
              <a:rPr lang="en-GB" sz="1150">
                <a:solidFill>
                  <a:schemeClr val="dk1"/>
                </a:solidFill>
                <a:latin typeface="Lato" panose="020F0502020204030203" pitchFamily="34" charset="0"/>
              </a:rPr>
              <a:t>Pipeline, road and rail to customer catchments</a:t>
            </a:r>
          </a:p>
          <a:p>
            <a:pPr>
              <a:spcAft>
                <a:spcPts val="200"/>
              </a:spcAft>
            </a:pPr>
            <a:r>
              <a:rPr lang="en-GB" sz="1150">
                <a:solidFill>
                  <a:schemeClr val="dk1"/>
                </a:solidFill>
                <a:latin typeface="Lato" panose="020F0502020204030203" pitchFamily="34" charset="0"/>
              </a:rPr>
              <a:t>NMPP / TM2 / DJP links to verify</a:t>
            </a:r>
            <a:endParaRPr lang="en-ZA" sz="1150">
              <a:solidFill>
                <a:schemeClr val="dk1"/>
              </a:solidFill>
              <a:latin typeface="Lato" panose="020F0502020204030203" pitchFamily="34" charset="0"/>
            </a:endParaRPr>
          </a:p>
        </p:txBody>
      </p:sp>
      <p:cxnSp>
        <p:nvCxnSpPr>
          <p:cNvPr id="23" name="Import route">
            <a:extLst>
              <a:ext uri="{FF2B5EF4-FFF2-40B4-BE49-F238E27FC236}">
                <a16:creationId xmlns:a16="http://schemas.microsoft.com/office/drawing/2014/main" id="{941A3E88-6573-8982-109A-C2649445DCCD}"/>
              </a:ext>
            </a:extLst>
          </p:cNvPr>
          <p:cNvCxnSpPr/>
          <p:nvPr/>
        </p:nvCxnSpPr>
        <p:spPr>
          <a:xfrm>
            <a:off x="40005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Domestic route">
            <a:extLst>
              <a:ext uri="{FF2B5EF4-FFF2-40B4-BE49-F238E27FC236}">
                <a16:creationId xmlns:a16="http://schemas.microsoft.com/office/drawing/2014/main" id="{D8992EC8-915F-4CE6-C191-5C21DAA62765}"/>
              </a:ext>
            </a:extLst>
          </p:cNvPr>
          <p:cNvCxnSpPr/>
          <p:nvPr/>
        </p:nvCxnSpPr>
        <p:spPr>
          <a:xfrm>
            <a:off x="62103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5" name="Demand determines destinations 1">
            <a:extLst>
              <a:ext uri="{FF2B5EF4-FFF2-40B4-BE49-F238E27FC236}">
                <a16:creationId xmlns:a16="http://schemas.microsoft.com/office/drawing/2014/main" id="{070C45C0-6D45-336D-AEA8-B4839A45FEEF}"/>
              </a:ext>
            </a:extLst>
          </p:cNvPr>
          <p:cNvCxnSpPr/>
          <p:nvPr/>
        </p:nvCxnSpPr>
        <p:spPr>
          <a:xfrm>
            <a:off x="2667000" y="2590800"/>
            <a:ext cx="1778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Demand determines destinations 2">
            <a:extLst>
              <a:ext uri="{FF2B5EF4-FFF2-40B4-BE49-F238E27FC236}">
                <a16:creationId xmlns:a16="http://schemas.microsoft.com/office/drawing/2014/main" id="{3FB298E3-647A-A899-1E55-7EABEBD6C990}"/>
              </a:ext>
            </a:extLst>
          </p:cNvPr>
          <p:cNvCxnSpPr/>
          <p:nvPr/>
        </p:nvCxnSpPr>
        <p:spPr>
          <a:xfrm>
            <a:off x="2844800" y="2590800"/>
            <a:ext cx="0" cy="9652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Demand determines destinations 3">
            <a:extLst>
              <a:ext uri="{FF2B5EF4-FFF2-40B4-BE49-F238E27FC236}">
                <a16:creationId xmlns:a16="http://schemas.microsoft.com/office/drawing/2014/main" id="{59A73EBE-9DED-4970-8C1E-28FFA1521F91}"/>
              </a:ext>
            </a:extLst>
          </p:cNvPr>
          <p:cNvCxnSpPr/>
          <p:nvPr/>
        </p:nvCxnSpPr>
        <p:spPr>
          <a:xfrm>
            <a:off x="2844800" y="3556000"/>
            <a:ext cx="2159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Supply and route parameters">
            <a:extLst>
              <a:ext uri="{FF2B5EF4-FFF2-40B4-BE49-F238E27FC236}">
                <a16:creationId xmlns:a16="http://schemas.microsoft.com/office/drawing/2014/main" id="{8EA8E5F2-832B-8638-B5D1-32001AF01788}"/>
              </a:ext>
            </a:extLst>
          </p:cNvPr>
          <p:cNvSpPr txBox="1"/>
          <p:nvPr/>
        </p:nvSpPr>
        <p:spPr>
          <a:xfrm>
            <a:off x="3111500" y="4203699"/>
            <a:ext cx="4114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Supply and route parameters</a:t>
            </a:r>
          </a:p>
          <a:p>
            <a:pPr>
              <a:spcAft>
                <a:spcPts val="200"/>
              </a:spcAft>
            </a:pPr>
            <a:r>
              <a:rPr lang="en-GB" sz="1100">
                <a:solidFill>
                  <a:schemeClr val="dk1"/>
                </a:solidFill>
                <a:latin typeface="Lato" panose="020F0502020204030203" pitchFamily="34" charset="0"/>
              </a:rPr>
              <a:t>Refinery closures / restarts and gas availability</a:t>
            </a:r>
          </a:p>
          <a:p>
            <a:pPr>
              <a:spcAft>
                <a:spcPts val="200"/>
              </a:spcAft>
            </a:pPr>
            <a:r>
              <a:rPr lang="en-GB" sz="1100">
                <a:solidFill>
                  <a:schemeClr val="dk1"/>
                </a:solidFill>
                <a:latin typeface="Lato" panose="020F0502020204030203" pitchFamily="34" charset="0"/>
              </a:rPr>
              <a:t>Delivered cost, competing routes, access and contracts</a:t>
            </a:r>
          </a:p>
          <a:p>
            <a:pPr>
              <a:spcAft>
                <a:spcPts val="200"/>
              </a:spcAft>
            </a:pPr>
            <a:r>
              <a:rPr lang="en-GB" sz="1100">
                <a:solidFill>
                  <a:schemeClr val="dk1"/>
                </a:solidFill>
                <a:latin typeface="Lato" panose="020F0502020204030203" pitchFamily="34" charset="0"/>
              </a:rPr>
              <a:t>Port, pipeline and rail capacity and reliability</a:t>
            </a:r>
            <a:endParaRPr lang="en-ZA" sz="1100">
              <a:solidFill>
                <a:schemeClr val="dk1"/>
              </a:solidFill>
              <a:latin typeface="Lato" panose="020F0502020204030203" pitchFamily="34" charset="0"/>
            </a:endParaRPr>
          </a:p>
        </p:txBody>
      </p:sp>
      <p:cxnSp>
        <p:nvCxnSpPr>
          <p:cNvPr id="29" name="Supply parameter effect">
            <a:extLst>
              <a:ext uri="{FF2B5EF4-FFF2-40B4-BE49-F238E27FC236}">
                <a16:creationId xmlns:a16="http://schemas.microsoft.com/office/drawing/2014/main" id="{2F2C4FE6-B6D4-94E5-E610-7318DEFBE0FC}"/>
              </a:ext>
            </a:extLst>
          </p:cNvPr>
          <p:cNvCxnSpPr/>
          <p:nvPr/>
        </p:nvCxnSpPr>
        <p:spPr>
          <a:xfrm flipV="1">
            <a:off x="6210300" y="4102100"/>
            <a:ext cx="0" cy="1016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Durban opportunity">
            <a:extLst>
              <a:ext uri="{FF2B5EF4-FFF2-40B4-BE49-F238E27FC236}">
                <a16:creationId xmlns:a16="http://schemas.microsoft.com/office/drawing/2014/main" id="{CF05637F-F5E3-0913-E697-D51422A5D04C}"/>
              </a:ext>
            </a:extLst>
          </p:cNvPr>
          <p:cNvSpPr txBox="1"/>
          <p:nvPr/>
        </p:nvSpPr>
        <p:spPr>
          <a:xfrm>
            <a:off x="7899400" y="2108199"/>
            <a:ext cx="3213100" cy="7493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Durban accessible market</a:t>
            </a:r>
          </a:p>
          <a:p>
            <a:pPr>
              <a:spcAft>
                <a:spcPts val="200"/>
              </a:spcAft>
            </a:pPr>
            <a:r>
              <a:rPr lang="en-GB" sz="1200">
                <a:solidFill>
                  <a:schemeClr val="dk1"/>
                </a:solidFill>
                <a:latin typeface="Lato" panose="020F0502020204030203" pitchFamily="34" charset="0"/>
              </a:rPr>
              <a:t>Feasible annual product volumes through</a:t>
            </a:r>
          </a:p>
          <a:p>
            <a:pPr>
              <a:spcAft>
                <a:spcPts val="200"/>
              </a:spcAft>
            </a:pPr>
            <a:r>
              <a:rPr lang="en-GB" sz="1200">
                <a:solidFill>
                  <a:schemeClr val="dk1"/>
                </a:solidFill>
                <a:latin typeface="Lato" panose="020F0502020204030203" pitchFamily="34" charset="0"/>
              </a:rPr>
              <a:t>Vopak Durban to reachable customers</a:t>
            </a:r>
            <a:endParaRPr lang="en-ZA" sz="1200">
              <a:solidFill>
                <a:schemeClr val="dk1"/>
              </a:solidFill>
              <a:latin typeface="Lato" panose="020F0502020204030203" pitchFamily="34" charset="0"/>
            </a:endParaRPr>
          </a:p>
        </p:txBody>
      </p:sp>
      <p:sp>
        <p:nvSpPr>
          <p:cNvPr id="31" name="Lesedi opportunity">
            <a:extLst>
              <a:ext uri="{FF2B5EF4-FFF2-40B4-BE49-F238E27FC236}">
                <a16:creationId xmlns:a16="http://schemas.microsoft.com/office/drawing/2014/main" id="{B036927C-17A7-76AA-143E-BADF5A482926}"/>
              </a:ext>
            </a:extLst>
          </p:cNvPr>
          <p:cNvSpPr txBox="1"/>
          <p:nvPr/>
        </p:nvSpPr>
        <p:spPr>
          <a:xfrm>
            <a:off x="7899400" y="3047999"/>
            <a:ext cx="3213100" cy="8128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Lesedi accessible market</a:t>
            </a:r>
          </a:p>
          <a:p>
            <a:pPr>
              <a:spcAft>
                <a:spcPts val="200"/>
              </a:spcAft>
            </a:pPr>
            <a:r>
              <a:rPr lang="en-GB" sz="1200">
                <a:solidFill>
                  <a:schemeClr val="dk1"/>
                </a:solidFill>
                <a:latin typeface="Lato" panose="020F0502020204030203" pitchFamily="34" charset="0"/>
              </a:rPr>
              <a:t>Inland demand Lesedi can feasibly serve</a:t>
            </a:r>
          </a:p>
          <a:p>
            <a:pPr>
              <a:spcAft>
                <a:spcPts val="200"/>
              </a:spcAft>
            </a:pPr>
            <a:r>
              <a:rPr lang="en-GB" sz="1200">
                <a:solidFill>
                  <a:schemeClr val="dk1"/>
                </a:solidFill>
                <a:latin typeface="Lato" panose="020F0502020204030203" pitchFamily="34" charset="0"/>
              </a:rPr>
              <a:t>Catchment and receipt / dispatch connections</a:t>
            </a:r>
            <a:endParaRPr lang="en-ZA" sz="1200">
              <a:solidFill>
                <a:schemeClr val="dk1"/>
              </a:solidFill>
              <a:latin typeface="Lato" panose="020F0502020204030203" pitchFamily="34" charset="0"/>
            </a:endParaRPr>
          </a:p>
        </p:txBody>
      </p:sp>
      <p:cxnSp>
        <p:nvCxnSpPr>
          <p:cNvPr id="32" name="Access screen trunk">
            <a:extLst>
              <a:ext uri="{FF2B5EF4-FFF2-40B4-BE49-F238E27FC236}">
                <a16:creationId xmlns:a16="http://schemas.microsoft.com/office/drawing/2014/main" id="{F9A85249-0816-30DC-EDAB-DE7185F2EDE9}"/>
              </a:ext>
            </a:extLst>
          </p:cNvPr>
          <p:cNvCxnSpPr/>
          <p:nvPr/>
        </p:nvCxnSpPr>
        <p:spPr>
          <a:xfrm>
            <a:off x="7226300" y="3556000"/>
            <a:ext cx="2667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Access screen fork">
            <a:extLst>
              <a:ext uri="{FF2B5EF4-FFF2-40B4-BE49-F238E27FC236}">
                <a16:creationId xmlns:a16="http://schemas.microsoft.com/office/drawing/2014/main" id="{65DD1891-8EAF-16F7-CB81-D479FBC08C58}"/>
              </a:ext>
            </a:extLst>
          </p:cNvPr>
          <p:cNvCxnSpPr/>
          <p:nvPr/>
        </p:nvCxnSpPr>
        <p:spPr>
          <a:xfrm>
            <a:off x="7493000" y="2489200"/>
            <a:ext cx="0" cy="1066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Access to Durban">
            <a:extLst>
              <a:ext uri="{FF2B5EF4-FFF2-40B4-BE49-F238E27FC236}">
                <a16:creationId xmlns:a16="http://schemas.microsoft.com/office/drawing/2014/main" id="{D0597B71-903A-40F2-B919-EFACDFC84EC7}"/>
              </a:ext>
            </a:extLst>
          </p:cNvPr>
          <p:cNvCxnSpPr/>
          <p:nvPr/>
        </p:nvCxnSpPr>
        <p:spPr>
          <a:xfrm>
            <a:off x="7493000" y="24892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5" name="Access to Lesedi">
            <a:extLst>
              <a:ext uri="{FF2B5EF4-FFF2-40B4-BE49-F238E27FC236}">
                <a16:creationId xmlns:a16="http://schemas.microsoft.com/office/drawing/2014/main" id="{6E4F6017-9E5F-2CAA-70BB-D25565F1CE53}"/>
              </a:ext>
            </a:extLst>
          </p:cNvPr>
          <p:cNvCxnSpPr/>
          <p:nvPr/>
        </p:nvCxnSpPr>
        <p:spPr>
          <a:xfrm>
            <a:off x="7493000" y="34290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6" name="Share and headroom">
            <a:extLst>
              <a:ext uri="{FF2B5EF4-FFF2-40B4-BE49-F238E27FC236}">
                <a16:creationId xmlns:a16="http://schemas.microsoft.com/office/drawing/2014/main" id="{635C5460-B18A-91DA-3C22-EBCCAF085E94}"/>
              </a:ext>
            </a:extLst>
          </p:cNvPr>
          <p:cNvSpPr txBox="1"/>
          <p:nvPr/>
        </p:nvSpPr>
        <p:spPr>
          <a:xfrm>
            <a:off x="7899400" y="4165599"/>
            <a:ext cx="3213100" cy="9144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Capture, market share and headroom</a:t>
            </a:r>
          </a:p>
          <a:p>
            <a:pPr>
              <a:spcAft>
                <a:spcPts val="200"/>
              </a:spcAft>
            </a:pPr>
            <a:r>
              <a:rPr lang="en-GB" sz="1100">
                <a:solidFill>
                  <a:schemeClr val="dk1"/>
                </a:solidFill>
                <a:latin typeface="Lato" panose="020F0502020204030203" pitchFamily="34" charset="0"/>
              </a:rPr>
              <a:t>Client throughput / accessible market = share</a:t>
            </a:r>
          </a:p>
          <a:p>
            <a:pPr>
              <a:spcAft>
                <a:spcPts val="200"/>
              </a:spcAft>
            </a:pPr>
            <a:r>
              <a:rPr lang="en-GB" sz="1100">
                <a:solidFill>
                  <a:schemeClr val="dk1"/>
                </a:solidFill>
                <a:latin typeface="Lato" panose="020F0502020204030203" pitchFamily="34" charset="0"/>
              </a:rPr>
              <a:t>Accessible market less current capture = headroom</a:t>
            </a:r>
          </a:p>
          <a:p>
            <a:pPr>
              <a:spcAft>
                <a:spcPts val="200"/>
              </a:spcAft>
            </a:pPr>
            <a:r>
              <a:rPr lang="en-GB" sz="1100">
                <a:solidFill>
                  <a:schemeClr val="dk1"/>
                </a:solidFill>
                <a:latin typeface="Lato" panose="020F0502020204030203" pitchFamily="34" charset="0"/>
              </a:rPr>
              <a:t>Track shared Durban-Lesedi flows once</a:t>
            </a:r>
            <a:endParaRPr lang="en-ZA" sz="1100">
              <a:solidFill>
                <a:schemeClr val="dk1"/>
              </a:solidFill>
              <a:latin typeface="Lato" panose="020F0502020204030203" pitchFamily="34" charset="0"/>
            </a:endParaRPr>
          </a:p>
        </p:txBody>
      </p:sp>
      <p:cxnSp>
        <p:nvCxnSpPr>
          <p:cNvPr id="37" name="Durban into share 1">
            <a:extLst>
              <a:ext uri="{FF2B5EF4-FFF2-40B4-BE49-F238E27FC236}">
                <a16:creationId xmlns:a16="http://schemas.microsoft.com/office/drawing/2014/main" id="{F9C8739E-CCBA-E322-676F-CFEC168B7612}"/>
              </a:ext>
            </a:extLst>
          </p:cNvPr>
          <p:cNvCxnSpPr/>
          <p:nvPr/>
        </p:nvCxnSpPr>
        <p:spPr>
          <a:xfrm>
            <a:off x="11074400" y="2857500"/>
            <a:ext cx="2032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Durban into share 2">
            <a:extLst>
              <a:ext uri="{FF2B5EF4-FFF2-40B4-BE49-F238E27FC236}">
                <a16:creationId xmlns:a16="http://schemas.microsoft.com/office/drawing/2014/main" id="{D93E9E65-5BC6-3832-E403-73067AA04918}"/>
              </a:ext>
            </a:extLst>
          </p:cNvPr>
          <p:cNvCxnSpPr/>
          <p:nvPr/>
        </p:nvCxnSpPr>
        <p:spPr>
          <a:xfrm>
            <a:off x="11277600" y="2857500"/>
            <a:ext cx="0" cy="1574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Durban into share 3">
            <a:extLst>
              <a:ext uri="{FF2B5EF4-FFF2-40B4-BE49-F238E27FC236}">
                <a16:creationId xmlns:a16="http://schemas.microsoft.com/office/drawing/2014/main" id="{D3B9CB9E-7166-6F75-6E91-00684ED9BF63}"/>
              </a:ext>
            </a:extLst>
          </p:cNvPr>
          <p:cNvCxnSpPr/>
          <p:nvPr/>
        </p:nvCxnSpPr>
        <p:spPr>
          <a:xfrm flipH="1">
            <a:off x="11163300" y="4432300"/>
            <a:ext cx="1143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Lesedi into share">
            <a:extLst>
              <a:ext uri="{FF2B5EF4-FFF2-40B4-BE49-F238E27FC236}">
                <a16:creationId xmlns:a16="http://schemas.microsoft.com/office/drawing/2014/main" id="{6A1FB962-2069-DDD3-AA27-F0FDF0DD9A19}"/>
              </a:ext>
            </a:extLst>
          </p:cNvPr>
          <p:cNvCxnSpPr/>
          <p:nvPr/>
        </p:nvCxnSpPr>
        <p:spPr>
          <a:xfrm>
            <a:off x="9486900" y="38608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1" name="Capture into investment 1">
            <a:extLst>
              <a:ext uri="{FF2B5EF4-FFF2-40B4-BE49-F238E27FC236}">
                <a16:creationId xmlns:a16="http://schemas.microsoft.com/office/drawing/2014/main" id="{5635F7CB-40F4-B57E-16EB-2958BF1861A0}"/>
              </a:ext>
            </a:extLst>
          </p:cNvPr>
          <p:cNvCxnSpPr/>
          <p:nvPr/>
        </p:nvCxnSpPr>
        <p:spPr>
          <a:xfrm>
            <a:off x="9486900" y="5080000"/>
            <a:ext cx="0" cy="1016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Capture into investment 2">
            <a:extLst>
              <a:ext uri="{FF2B5EF4-FFF2-40B4-BE49-F238E27FC236}">
                <a16:creationId xmlns:a16="http://schemas.microsoft.com/office/drawing/2014/main" id="{EA92D7F4-947C-B3D8-B059-FB8855F1BCB5}"/>
              </a:ext>
            </a:extLst>
          </p:cNvPr>
          <p:cNvCxnSpPr/>
          <p:nvPr/>
        </p:nvCxnSpPr>
        <p:spPr>
          <a:xfrm flipH="1">
            <a:off x="1524000" y="5181600"/>
            <a:ext cx="79629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apture into investment 3">
            <a:extLst>
              <a:ext uri="{FF2B5EF4-FFF2-40B4-BE49-F238E27FC236}">
                <a16:creationId xmlns:a16="http://schemas.microsoft.com/office/drawing/2014/main" id="{D9181569-E667-1A8F-CE83-4F35C9BCE845}"/>
              </a:ext>
            </a:extLst>
          </p:cNvPr>
          <p:cNvCxnSpPr/>
          <p:nvPr/>
        </p:nvCxnSpPr>
        <p:spPr>
          <a:xfrm>
            <a:off x="1524000" y="5181600"/>
            <a:ext cx="0" cy="1524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4" name="Additional capture">
            <a:extLst>
              <a:ext uri="{FF2B5EF4-FFF2-40B4-BE49-F238E27FC236}">
                <a16:creationId xmlns:a16="http://schemas.microsoft.com/office/drawing/2014/main" id="{A47E906C-8F7F-EAA3-2F80-B829DEA82C6B}"/>
              </a:ext>
            </a:extLst>
          </p:cNvPr>
          <p:cNvSpPr txBox="1"/>
          <p:nvPr/>
        </p:nvSpPr>
        <p:spPr>
          <a:xfrm>
            <a:off x="457200" y="5422899"/>
            <a:ext cx="23495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Achievable additional capture</a:t>
            </a:r>
          </a:p>
          <a:p>
            <a:pPr>
              <a:spcAft>
                <a:spcPts val="200"/>
              </a:spcAft>
            </a:pPr>
            <a:r>
              <a:rPr lang="en-GB" sz="1050">
                <a:solidFill>
                  <a:schemeClr val="dk1"/>
                </a:solidFill>
                <a:latin typeface="Lato" panose="020F0502020204030203" pitchFamily="34" charset="0"/>
              </a:rPr>
              <a:t>Customers, contracts, competition</a:t>
            </a:r>
          </a:p>
          <a:p>
            <a:pPr>
              <a:spcAft>
                <a:spcPts val="200"/>
              </a:spcAft>
            </a:pPr>
            <a:r>
              <a:rPr lang="en-GB" sz="1050">
                <a:solidFill>
                  <a:schemeClr val="dk1"/>
                </a:solidFill>
                <a:latin typeface="Lato" panose="020F0502020204030203" pitchFamily="34" charset="0"/>
              </a:rPr>
              <a:t>Test capture within the opportunity</a:t>
            </a:r>
            <a:endParaRPr lang="en-ZA" sz="1050">
              <a:solidFill>
                <a:schemeClr val="dk1"/>
              </a:solidFill>
              <a:latin typeface="Lato" panose="020F0502020204030203" pitchFamily="34" charset="0"/>
            </a:endParaRPr>
          </a:p>
        </p:txBody>
      </p:sp>
      <p:sp>
        <p:nvSpPr>
          <p:cNvPr id="45" name="Existing capacity">
            <a:extLst>
              <a:ext uri="{FF2B5EF4-FFF2-40B4-BE49-F238E27FC236}">
                <a16:creationId xmlns:a16="http://schemas.microsoft.com/office/drawing/2014/main" id="{BAE5CA36-0E1A-4F01-DBF5-2E904D4B5702}"/>
              </a:ext>
            </a:extLst>
          </p:cNvPr>
          <p:cNvSpPr txBox="1"/>
          <p:nvPr/>
        </p:nvSpPr>
        <p:spPr>
          <a:xfrm>
            <a:off x="3340100" y="5422899"/>
            <a:ext cx="25781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Existing assets and improvements</a:t>
            </a:r>
          </a:p>
          <a:p>
            <a:pPr>
              <a:spcAft>
                <a:spcPts val="200"/>
              </a:spcAft>
            </a:pPr>
            <a:r>
              <a:rPr lang="en-GB" sz="1050">
                <a:solidFill>
                  <a:schemeClr val="dk1"/>
                </a:solidFill>
                <a:latin typeface="Lato" panose="020F0502020204030203" pitchFamily="34" charset="0"/>
              </a:rPr>
              <a:t>Working tanks, turns and constraints</a:t>
            </a:r>
          </a:p>
          <a:p>
            <a:pPr>
              <a:spcAft>
                <a:spcPts val="200"/>
              </a:spcAft>
            </a:pPr>
            <a:r>
              <a:rPr lang="en-GB" sz="1050">
                <a:solidFill>
                  <a:schemeClr val="dk1"/>
                </a:solidFill>
                <a:latin typeface="Lato" panose="020F0502020204030203" pitchFamily="34" charset="0"/>
              </a:rPr>
              <a:t>Test receipt, storage and dispatch</a:t>
            </a:r>
            <a:endParaRPr lang="en-ZA" sz="1050">
              <a:solidFill>
                <a:schemeClr val="dk1"/>
              </a:solidFill>
              <a:latin typeface="Lato" panose="020F0502020204030203" pitchFamily="34" charset="0"/>
            </a:endParaRPr>
          </a:p>
        </p:txBody>
      </p:sp>
      <p:sp>
        <p:nvSpPr>
          <p:cNvPr id="46" name="Investment economics">
            <a:extLst>
              <a:ext uri="{FF2B5EF4-FFF2-40B4-BE49-F238E27FC236}">
                <a16:creationId xmlns:a16="http://schemas.microsoft.com/office/drawing/2014/main" id="{B2606EE2-8E42-5172-39DE-5B783889B2F3}"/>
              </a:ext>
            </a:extLst>
          </p:cNvPr>
          <p:cNvSpPr txBox="1"/>
          <p:nvPr/>
        </p:nvSpPr>
        <p:spPr>
          <a:xfrm>
            <a:off x="6451600" y="5422899"/>
            <a:ext cx="25146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New investment and returns</a:t>
            </a:r>
          </a:p>
          <a:p>
            <a:pPr>
              <a:spcAft>
                <a:spcPts val="200"/>
              </a:spcAft>
            </a:pPr>
            <a:r>
              <a:rPr lang="en-GB" sz="1050">
                <a:solidFill>
                  <a:schemeClr val="dk1"/>
                </a:solidFill>
                <a:latin typeface="Lato" panose="020F0502020204030203" pitchFamily="34" charset="0"/>
              </a:rPr>
              <a:t>Incremental volume, cost and capex</a:t>
            </a:r>
          </a:p>
          <a:p>
            <a:pPr>
              <a:spcAft>
                <a:spcPts val="200"/>
              </a:spcAft>
            </a:pPr>
            <a:r>
              <a:rPr lang="en-GB" sz="1050">
                <a:solidFill>
                  <a:schemeClr val="dk1"/>
                </a:solidFill>
                <a:latin typeface="Lato" panose="020F0502020204030203" pitchFamily="34" charset="0"/>
              </a:rPr>
              <a:t>Compare alternatives and downside</a:t>
            </a:r>
            <a:endParaRPr lang="en-ZA" sz="1050">
              <a:solidFill>
                <a:schemeClr val="dk1"/>
              </a:solidFill>
              <a:latin typeface="Lato" panose="020F0502020204030203" pitchFamily="34" charset="0"/>
            </a:endParaRPr>
          </a:p>
        </p:txBody>
      </p:sp>
      <p:sp>
        <p:nvSpPr>
          <p:cNvPr id="49" name="Resolution">
            <a:extLst>
              <a:ext uri="{FF2B5EF4-FFF2-40B4-BE49-F238E27FC236}">
                <a16:creationId xmlns:a16="http://schemas.microsoft.com/office/drawing/2014/main" id="{36518D2A-834F-FA12-49E1-ECE1CE59DFA9}"/>
              </a:ext>
            </a:extLst>
          </p:cNvPr>
          <p:cNvSpPr txBox="1"/>
          <p:nvPr/>
        </p:nvSpPr>
        <p:spPr>
          <a:xfrm>
            <a:off x="9512300" y="5422899"/>
            <a:ext cx="16002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at each site</a:t>
            </a:r>
          </a:p>
          <a:p>
            <a:pPr>
              <a:spcAft>
                <a:spcPts val="200"/>
              </a:spcAft>
            </a:pPr>
            <a:r>
              <a:rPr lang="en-GB" sz="1050">
                <a:solidFill>
                  <a:schemeClr val="dk1"/>
                </a:solidFill>
                <a:latin typeface="Lato" panose="020F0502020204030203" pitchFamily="34" charset="0"/>
              </a:rPr>
              <a:t>Scope for new investment</a:t>
            </a:r>
            <a:endParaRPr lang="en-ZA" sz="1050">
              <a:solidFill>
                <a:schemeClr val="dk1"/>
              </a:solidFill>
              <a:latin typeface="Lato" panose="020F0502020204030203" pitchFamily="34" charset="0"/>
            </a:endParaRPr>
          </a:p>
        </p:txBody>
      </p:sp>
      <p:cxnSp>
        <p:nvCxnSpPr>
          <p:cNvPr id="50" name="Capture to capacity">
            <a:extLst>
              <a:ext uri="{FF2B5EF4-FFF2-40B4-BE49-F238E27FC236}">
                <a16:creationId xmlns:a16="http://schemas.microsoft.com/office/drawing/2014/main" id="{1A0CED58-7766-9E27-01D7-7E6CB9E0A1DA}"/>
              </a:ext>
            </a:extLst>
          </p:cNvPr>
          <p:cNvCxnSpPr/>
          <p:nvPr/>
        </p:nvCxnSpPr>
        <p:spPr>
          <a:xfrm>
            <a:off x="28448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1" name="Capacity to returns">
            <a:extLst>
              <a:ext uri="{FF2B5EF4-FFF2-40B4-BE49-F238E27FC236}">
                <a16:creationId xmlns:a16="http://schemas.microsoft.com/office/drawing/2014/main" id="{E7EDE825-97C8-5ECE-B656-1128616197AF}"/>
              </a:ext>
            </a:extLst>
          </p:cNvPr>
          <p:cNvCxnSpPr/>
          <p:nvPr/>
        </p:nvCxnSpPr>
        <p:spPr>
          <a:xfrm>
            <a:off x="59563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2" name="Returns to resolution">
            <a:extLst>
              <a:ext uri="{FF2B5EF4-FFF2-40B4-BE49-F238E27FC236}">
                <a16:creationId xmlns:a16="http://schemas.microsoft.com/office/drawing/2014/main" id="{924FFDD7-6647-B317-2296-3F19E0FAF00C}"/>
              </a:ext>
            </a:extLst>
          </p:cNvPr>
          <p:cNvCxnSpPr/>
          <p:nvPr/>
        </p:nvCxnSpPr>
        <p:spPr>
          <a:xfrm>
            <a:off x="8991600" y="5664200"/>
            <a:ext cx="4191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970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Outstanding data for market share and investment testing</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DR01-DR09 request register and 8 October PS session. Register status: prepared, not sent; receipt not recorded. Public estimates can proceed while client inputs are pending.</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Request ownership">
            <a:extLst>
              <a:ext uri="{FF2B5EF4-FFF2-40B4-BE49-F238E27FC236}">
                <a16:creationId xmlns:a16="http://schemas.microsoft.com/office/drawing/2014/main" id="{B39E7D4D-9333-C0A1-526D-469ACA778A2D}"/>
              </a:ext>
            </a:extLst>
          </p:cNvPr>
          <p:cNvSpPr txBox="1"/>
          <p:nvPr/>
        </p:nvSpPr>
        <p:spPr>
          <a:xfrm>
            <a:off x="457200" y="1638300"/>
            <a:ext cx="10655300" cy="215900"/>
          </a:xfrm>
          <a:prstGeom prst="rect">
            <a:avLst/>
          </a:prstGeom>
          <a:noFill/>
        </p:spPr>
        <p:txBody>
          <a:bodyPr vert="horz" wrap="square" lIns="0" tIns="0" rIns="0" bIns="0" rtlCol="0">
            <a:noAutofit/>
          </a:bodyPr>
          <a:lstStyle/>
          <a:p>
            <a:pPr>
              <a:spcAft>
                <a:spcPts val="200"/>
              </a:spcAft>
            </a:pPr>
            <a:r>
              <a:rPr lang="en-GB" sz="1100">
                <a:solidFill>
                  <a:schemeClr val="dk1"/>
                </a:solidFill>
                <a:latin typeface="Lato" panose="020F0502020204030203" pitchFamily="34" charset="0"/>
              </a:rPr>
              <a:t>Manish assembles public evidence and estimates. Nigel coordinates client requests. Nigel / Henry review scenario settings.</a:t>
            </a:r>
            <a:endParaRPr lang="en-ZA" sz="1100">
              <a:solidFill>
                <a:schemeClr val="dk1"/>
              </a:solidFill>
              <a:latin typeface="Lato" panose="020F0502020204030203" pitchFamily="34" charset="0"/>
            </a:endParaRPr>
          </a:p>
        </p:txBody>
      </p:sp>
      <p:graphicFrame>
        <p:nvGraphicFramePr>
          <p:cNvPr id="53" name="Outstanding requests native table">
            <a:extLst>
              <a:ext uri="{FF2B5EF4-FFF2-40B4-BE49-F238E27FC236}">
                <a16:creationId xmlns:a16="http://schemas.microsoft.com/office/drawing/2014/main" id="{121A0965-1351-A60C-8932-0D6C8CAFC730}"/>
              </a:ext>
            </a:extLst>
          </p:cNvPr>
          <p:cNvGraphicFramePr>
            <a:graphicFrameLocks noGrp="1"/>
          </p:cNvGraphicFramePr>
          <p:nvPr>
            <p:extLst>
              <p:ext uri="{D42A27DB-BD31-4B8C-83A1-F6EECF244321}">
                <p14:modId xmlns:p14="http://schemas.microsoft.com/office/powerpoint/2010/main" val="320522802"/>
              </p:ext>
            </p:extLst>
          </p:nvPr>
        </p:nvGraphicFramePr>
        <p:xfrm>
          <a:off x="457199" y="1955800"/>
          <a:ext cx="10655300" cy="38608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1027326814"/>
                    </a:ext>
                  </a:extLst>
                </a:gridCol>
                <a:gridCol w="5105400">
                  <a:extLst>
                    <a:ext uri="{9D8B030D-6E8A-4147-A177-3AD203B41FA5}">
                      <a16:colId xmlns:a16="http://schemas.microsoft.com/office/drawing/2014/main" val="3457511364"/>
                    </a:ext>
                  </a:extLst>
                </a:gridCol>
                <a:gridCol w="1308100">
                  <a:extLst>
                    <a:ext uri="{9D8B030D-6E8A-4147-A177-3AD203B41FA5}">
                      <a16:colId xmlns:a16="http://schemas.microsoft.com/office/drawing/2014/main" val="1747941123"/>
                    </a:ext>
                  </a:extLst>
                </a:gridCol>
                <a:gridCol w="2400300">
                  <a:extLst>
                    <a:ext uri="{9D8B030D-6E8A-4147-A177-3AD203B41FA5}">
                      <a16:colId xmlns:a16="http://schemas.microsoft.com/office/drawing/2014/main" val="2613984537"/>
                    </a:ext>
                  </a:extLst>
                </a:gridCol>
              </a:tblGrid>
              <a:tr h="304800">
                <a:tc>
                  <a:txBody>
                    <a:bodyPr/>
                    <a:lstStyle/>
                    <a:p>
                      <a:pPr>
                        <a:spcAft>
                          <a:spcPts val="0"/>
                        </a:spcAft>
                      </a:pPr>
                      <a:r>
                        <a:rPr lang="en-ZA" sz="1150" b="1">
                          <a:solidFill>
                            <a:schemeClr val="dk1"/>
                          </a:solidFill>
                          <a:latin typeface="Lato" panose="020F0502020204030203" pitchFamily="34" charset="0"/>
                        </a:rPr>
                        <a:t>Outstanding request</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Required data / handback</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Coordinator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Decision supported</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2789965965"/>
                  </a:ext>
                </a:extLst>
              </a:tr>
              <a:tr h="508000">
                <a:tc>
                  <a:txBody>
                    <a:bodyPr/>
                    <a:lstStyle/>
                    <a:p>
                      <a:pPr>
                        <a:spcAft>
                          <a:spcPts val="0"/>
                        </a:spcAft>
                      </a:pPr>
                      <a:r>
                        <a:rPr lang="en-ZA" sz="1100" b="1">
                          <a:solidFill>
                            <a:schemeClr val="accent1"/>
                          </a:solidFill>
                          <a:latin typeface="Lato" panose="020F0502020204030203" pitchFamily="34" charset="0"/>
                        </a:rPr>
                        <a:t>DR01  National balance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Petrol/diesel sales, gross imports, exports, production and stocks, with periods and definitions reconciled.</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Current market size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2872840876"/>
                  </a:ext>
                </a:extLst>
              </a:tr>
              <a:tr h="508000">
                <a:tc>
                  <a:txBody>
                    <a:bodyPr/>
                    <a:lstStyle/>
                    <a:p>
                      <a:pPr>
                        <a:spcAft>
                          <a:spcPts val="0"/>
                        </a:spcAft>
                      </a:pPr>
                      <a:r>
                        <a:rPr lang="en-ZA" sz="1100" b="1">
                          <a:solidFill>
                            <a:schemeClr val="accent1"/>
                          </a:solidFill>
                          <a:latin typeface="Lato" panose="020F0502020204030203" pitchFamily="34" charset="0"/>
                        </a:rPr>
                        <a:t>DR04  Routes and access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Port liquid-bulk and pipeline limits, route access and matched delivered costs to the same destinations.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Accessible market at each terminal</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836305762"/>
                  </a:ext>
                </a:extLst>
              </a:tr>
              <a:tr h="508000">
                <a:tc>
                  <a:txBody>
                    <a:bodyPr/>
                    <a:lstStyle/>
                    <a:p>
                      <a:pPr>
                        <a:spcAft>
                          <a:spcPts val="0"/>
                        </a:spcAft>
                      </a:pPr>
                      <a:r>
                        <a:rPr lang="en-ZA" sz="1100" b="1">
                          <a:solidFill>
                            <a:schemeClr val="accent1"/>
                          </a:solidFill>
                          <a:latin typeface="Lato" panose="020F0502020204030203" pitchFamily="34" charset="0"/>
                        </a:rPr>
                        <a:t>DR07  Demand evidence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Reported Eskom diesel litres; fleet by province/class; efficiency history; IPP commissioning and rail/EV assumptions.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Demand baseline and scenario calibration</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702942271"/>
                  </a:ext>
                </a:extLst>
              </a:tr>
              <a:tr h="508000">
                <a:tc>
                  <a:txBody>
                    <a:bodyPr/>
                    <a:lstStyle/>
                    <a:p>
                      <a:pPr>
                        <a:spcAft>
                          <a:spcPts val="0"/>
                        </a:spcAft>
                      </a:pPr>
                      <a:r>
                        <a:rPr lang="en-ZA" sz="1100" b="1">
                          <a:solidFill>
                            <a:schemeClr val="accent1"/>
                          </a:solidFill>
                          <a:latin typeface="Lato" panose="020F0502020204030203" pitchFamily="34" charset="0"/>
                        </a:rPr>
                        <a:t>DR08  Refinery supply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All refineries, including PetroSA/Mossgas: output, yields, utilisation, feedstock and closure/restart dates.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Domestic output and import requirement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91497839"/>
                  </a:ext>
                </a:extLst>
              </a:tr>
              <a:tr h="508000">
                <a:tc>
                  <a:txBody>
                    <a:bodyPr/>
                    <a:lstStyle/>
                    <a:p>
                      <a:pPr>
                        <a:spcAft>
                          <a:spcPts val="0"/>
                        </a:spcAft>
                      </a:pPr>
                      <a:r>
                        <a:rPr lang="en-ZA" sz="1100" b="1">
                          <a:solidFill>
                            <a:schemeClr val="accent1"/>
                          </a:solidFill>
                          <a:latin typeface="Lato" panose="020F0502020204030203" pitchFamily="34" charset="0"/>
                        </a:rPr>
                        <a:t>DR02/05  Client capture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36 months of site/product receipts and dispatches, linked transfers, customer destinations and contract volumes.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Current share and achievable capture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28192984"/>
                  </a:ext>
                </a:extLst>
              </a:tr>
              <a:tr h="508000">
                <a:tc>
                  <a:txBody>
                    <a:bodyPr/>
                    <a:lstStyle/>
                    <a:p>
                      <a:pPr>
                        <a:spcAft>
                          <a:spcPts val="0"/>
                        </a:spcAft>
                      </a:pPr>
                      <a:r>
                        <a:rPr lang="en-ZA" sz="1100" b="1">
                          <a:solidFill>
                            <a:schemeClr val="accent1"/>
                          </a:solidFill>
                          <a:latin typeface="Lato" panose="020F0502020204030203" pitchFamily="34" charset="0"/>
                        </a:rPr>
                        <a:t>DR03  Client operations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Working and committed tanks, turns, occupancy, downtime and receipt/dispatch limits, by site and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Usable capacity and bottlenecks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980999209"/>
                  </a:ext>
                </a:extLst>
              </a:tr>
              <a:tr h="508000">
                <a:tc>
                  <a:txBody>
                    <a:bodyPr/>
                    <a:lstStyle/>
                    <a:p>
                      <a:pPr>
                        <a:spcAft>
                          <a:spcPts val="0"/>
                        </a:spcAft>
                      </a:pPr>
                      <a:r>
                        <a:rPr lang="en-ZA" sz="1100" b="1">
                          <a:solidFill>
                            <a:schemeClr val="accent1"/>
                          </a:solidFill>
                          <a:latin typeface="Lato" panose="020F0502020204030203" pitchFamily="34" charset="0"/>
                        </a:rPr>
                        <a:t>DR06  Investment inputs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Handling/storage terms, operating costs, project capex, timing, tax, working capital and hurdle rate.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Incremental returns and project alternatives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551782164"/>
                  </a:ext>
                </a:extLst>
              </a:tr>
            </a:tbl>
          </a:graphicData>
        </a:graphic>
      </p:graphicFrame>
      <p:sp>
        <p:nvSpPr>
          <p:cNvPr id="54" name="Separate EV request">
            <a:extLst>
              <a:ext uri="{FF2B5EF4-FFF2-40B4-BE49-F238E27FC236}">
                <a16:creationId xmlns:a16="http://schemas.microsoft.com/office/drawing/2014/main" id="{FF911148-F779-481F-AAD5-2B8E25C4FAF6}"/>
              </a:ext>
            </a:extLst>
          </p:cNvPr>
          <p:cNvSpPr txBox="1"/>
          <p:nvPr/>
        </p:nvSpPr>
        <p:spPr>
          <a:xfrm>
            <a:off x="457200" y="5930900"/>
            <a:ext cx="10655300" cy="190500"/>
          </a:xfrm>
          <a:prstGeom prst="rect">
            <a:avLst/>
          </a:prstGeom>
          <a:noFill/>
        </p:spPr>
        <p:txBody>
          <a:bodyPr vert="horz" wrap="square" lIns="0" tIns="0" rIns="0" bIns="0" rtlCol="0">
            <a:noAutofit/>
          </a:bodyPr>
          <a:lstStyle/>
          <a:p>
            <a:pPr>
              <a:spcAft>
                <a:spcPts val="200"/>
              </a:spcAft>
            </a:pPr>
            <a:r>
              <a:rPr lang="en-GB" sz="950">
                <a:solidFill>
                  <a:schemeClr val="dk1"/>
                </a:solidFill>
                <a:latin typeface="Lato" panose="020F0502020204030203" pitchFamily="34" charset="0"/>
              </a:rPr>
              <a:t>DR09 remains separate: EV adjacency needs customer demand, power access and standalone economics. Nigel coordinates.</a:t>
            </a:r>
            <a:endParaRPr lang="en-ZA" sz="950">
              <a:solidFill>
                <a:schemeClr val="dk1"/>
              </a:solidFill>
              <a:latin typeface="Lato" panose="020F0502020204030203" pitchFamily="34" charset="0"/>
            </a:endParaRPr>
          </a:p>
        </p:txBody>
      </p:sp>
    </p:spTree>
    <p:extLst>
      <p:ext uri="{BB962C8B-B14F-4D97-AF65-F5344CB8AC3E}">
        <p14:creationId xmlns:p14="http://schemas.microsoft.com/office/powerpoint/2010/main" val="3388084621"/>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2898</Words>
  <Application>Microsoft Office PowerPoint</Application>
  <PresentationFormat>Custom</PresentationFormat>
  <Paragraphs>237</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Lato</vt:lpstr>
      <vt:lpstr>Arial</vt:lpstr>
      <vt:lpstr>Vopak Theme</vt:lpstr>
      <vt:lpstr>Durban and Lesedi market sizing and investment issue tree</vt:lpstr>
      <vt:lpstr>Outstanding data for market share and investment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30</cp:revision>
  <dcterms:created xsi:type="dcterms:W3CDTF">2017-11-16T09:19:07Z</dcterms:created>
  <dcterms:modified xsi:type="dcterms:W3CDTF">2026-10-08T13:23:10Z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