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94" r:id="rId4"/>
  </p:sldMasterIdLst>
  <p:notesMasterIdLst>
    <p:notesMasterId r:id="rId34"/>
  </p:notesMasterIdLst>
  <p:sldIdLst>
    <p:sldId id="256" r:id="rId5"/>
    <p:sldId id="277" r:id="rId6"/>
    <p:sldId id="278" r:id="rId7"/>
    <p:sldId id="279" r:id="rId8"/>
    <p:sldId id="280" r:id="rId9"/>
    <p:sldId id="281" r:id="rId10"/>
    <p:sldId id="282" r:id="rId11"/>
    <p:sldId id="283" r:id="rId12"/>
    <p:sldId id="284" r:id="rId13"/>
    <p:sldId id="285" r:id="rId14"/>
    <p:sldId id="286" r:id="rId15"/>
    <p:sldId id="287" r:id="rId16"/>
    <p:sldId id="288" r:id="rId17"/>
    <p:sldId id="289" r:id="rId18"/>
    <p:sldId id="290" r:id="rId19"/>
    <p:sldId id="291" r:id="rId20"/>
    <p:sldId id="292" r:id="rId21"/>
    <p:sldId id="293" r:id="rId22"/>
    <p:sldId id="294" r:id="rId23"/>
    <p:sldId id="295" r:id="rId24"/>
    <p:sldId id="296" r:id="rId25"/>
    <p:sldId id="297" r:id="rId26"/>
    <p:sldId id="298" r:id="rId27"/>
    <p:sldId id="299" r:id="rId28"/>
    <p:sldId id="300" r:id="rId29"/>
    <p:sldId id="301" r:id="rId30"/>
    <p:sldId id="302" r:id="rId31"/>
    <p:sldId id="303" r:id="rId32"/>
    <p:sldId id="304" r:id="rId33"/>
  </p:sldIdLst>
  <p:sldSz cx="11588750" cy="6858000"/>
  <p:notesSz cx="6858000" cy="9144000"/>
  <p:embeddedFontLst>
    <p:embeddedFont>
      <p:font typeface="Lato" panose="020F0502020204030203" pitchFamily="34" charset="0"/>
      <p:regular r:id="rId35"/>
      <p:bold r:id="rId36"/>
      <p:italic r:id="rId37"/>
      <p:boldItalic r:id="rId38"/>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Henry Gilfillan" initials="HG [2]" lastIdx="8" clrIdx="6">
    <p:extLst>
      <p:ext uri="{19B8F6BF-5375-455C-9EA6-DF929625EA0E}">
        <p15:presenceInfo xmlns:p15="http://schemas.microsoft.com/office/powerpoint/2012/main" userId="S::henry.g@africaia.com::20d8d1d5-b81d-4db2-8d49-9db47f87700a" providerId="AD"/>
      </p:ext>
    </p:extLst>
  </p:cmAuthor>
  <p:cmAuthor id="1" name="Abbas Bilgrami" initials="AB [2]" lastIdx="8" clrIdx="0">
    <p:extLst>
      <p:ext uri="{19B8F6BF-5375-455C-9EA6-DF929625EA0E}">
        <p15:presenceInfo xmlns:p15="http://schemas.microsoft.com/office/powerpoint/2012/main" userId="da833efe2a07dd73" providerId="Windows Live"/>
      </p:ext>
    </p:extLst>
  </p:cmAuthor>
  <p:cmAuthor id="8" name="Abbas Bilgrami" initials="AB" lastIdx="34" clrIdx="7">
    <p:extLst>
      <p:ext uri="{19B8F6BF-5375-455C-9EA6-DF929625EA0E}">
        <p15:presenceInfo xmlns:p15="http://schemas.microsoft.com/office/powerpoint/2012/main" userId="S::abbas.b@africaia.com::09d4207e-ca10-48c5-9e33-f8dec02b9ddc" providerId="AD"/>
      </p:ext>
    </p:extLst>
  </p:cmAuthor>
  <p:cmAuthor id="2" name="Henry Gilfillan" initials="HG" lastIdx="82" clrIdx="1">
    <p:extLst>
      <p:ext uri="{19B8F6BF-5375-455C-9EA6-DF929625EA0E}">
        <p15:presenceInfo xmlns:p15="http://schemas.microsoft.com/office/powerpoint/2012/main" userId="Henry Gilfillan" providerId="None"/>
      </p:ext>
    </p:extLst>
  </p:cmAuthor>
  <p:cmAuthor id="9" name="Paayal Kanjee Govind" initials="PKG" lastIdx="4" clrIdx="8">
    <p:extLst>
      <p:ext uri="{19B8F6BF-5375-455C-9EA6-DF929625EA0E}">
        <p15:presenceInfo xmlns:p15="http://schemas.microsoft.com/office/powerpoint/2012/main" userId="Paayal Kanjee Govind" providerId="None"/>
      </p:ext>
    </p:extLst>
  </p:cmAuthor>
  <p:cmAuthor id="3" name="Ismaeel" initials="I" lastIdx="104" clrIdx="2">
    <p:extLst>
      <p:ext uri="{19B8F6BF-5375-455C-9EA6-DF929625EA0E}">
        <p15:presenceInfo xmlns:p15="http://schemas.microsoft.com/office/powerpoint/2012/main" userId="Ismaeel" providerId="None"/>
      </p:ext>
    </p:extLst>
  </p:cmAuthor>
  <p:cmAuthor id="4" name="Jennifer Zeiss" initials="JZ" lastIdx="19" clrIdx="3">
    <p:extLst>
      <p:ext uri="{19B8F6BF-5375-455C-9EA6-DF929625EA0E}">
        <p15:presenceInfo xmlns:p15="http://schemas.microsoft.com/office/powerpoint/2012/main" userId="Jennifer Zeiss" providerId="None"/>
      </p:ext>
    </p:extLst>
  </p:cmAuthor>
  <p:cmAuthor id="5" name="Gabrielle Knott" initials="GK" lastIdx="2" clrIdx="4">
    <p:extLst>
      <p:ext uri="{19B8F6BF-5375-455C-9EA6-DF929625EA0E}">
        <p15:presenceInfo xmlns:p15="http://schemas.microsoft.com/office/powerpoint/2012/main" userId="Gabrielle Knott" providerId="None"/>
      </p:ext>
    </p:extLst>
  </p:cmAuthor>
  <p:cmAuthor id="6" name="James Brown" initials="JB" lastIdx="2" clrIdx="5">
    <p:extLst>
      <p:ext uri="{19B8F6BF-5375-455C-9EA6-DF929625EA0E}">
        <p15:presenceInfo xmlns:p15="http://schemas.microsoft.com/office/powerpoint/2012/main" userId="S::james@africaia.com::5c3cb27f-96be-4c72-848f-aa01b93992f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3552"/>
    <a:srgbClr val="EBF9FE"/>
    <a:srgbClr val="FDD9A4"/>
    <a:srgbClr val="2D6196"/>
    <a:srgbClr val="326757"/>
    <a:srgbClr val="728A94"/>
    <a:srgbClr val="F01C24"/>
    <a:srgbClr val="56787A"/>
    <a:srgbClr val="CFDFF0"/>
    <a:srgbClr val="008E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87D74-0723-4269-ADB4-1C2880134AC4}" v="1" dt="2026-10-01T12:10:22.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77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commentAuthors" Target="commentAuthors.xml"/><Relationship Id="rId21" Type="http://schemas.openxmlformats.org/officeDocument/2006/relationships/slide" Target="slides/slide17.xml"/><Relationship Id="rId34" Type="http://schemas.openxmlformats.org/officeDocument/2006/relationships/notesMaster" Target="notesMasters/notesMaster1.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font" Target="fonts/font3.fntdata"/><Relationship Id="rId40" Type="http://schemas.openxmlformats.org/officeDocument/2006/relationships/presProps" Target="presProps.xml"/><Relationship Id="rId45"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2.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font" Target="fonts/font1.fntdata"/><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font" Target="fonts/font4.fntdata"/><Relationship Id="rId20" Type="http://schemas.openxmlformats.org/officeDocument/2006/relationships/slide" Target="slides/slide16.xml"/><Relationship Id="rId4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47D6B1-D525-4628-ADA5-8E1FE74ADA4C}" type="datetimeFigureOut">
              <a:rPr lang="en-GB" smtClean="0"/>
              <a:t>07/10/2026</a:t>
            </a:fld>
            <a:endParaRPr lang="en-GB"/>
          </a:p>
        </p:txBody>
      </p:sp>
      <p:sp>
        <p:nvSpPr>
          <p:cNvPr id="4" name="Slide Image Placeholder 3"/>
          <p:cNvSpPr>
            <a:spLocks noGrp="1" noRot="1" noChangeAspect="1"/>
          </p:cNvSpPr>
          <p:nvPr>
            <p:ph type="sldImg" idx="2"/>
          </p:nvPr>
        </p:nvSpPr>
        <p:spPr>
          <a:xfrm>
            <a:off x="820738" y="1143000"/>
            <a:ext cx="52165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01EB5-DFDD-47C4-B7E0-8A018260211B}" type="slidenum">
              <a:rPr lang="en-GB" smtClean="0"/>
              <a:t>‹#›</a:t>
            </a:fld>
            <a:endParaRPr lang="en-GB"/>
          </a:p>
        </p:txBody>
      </p:sp>
    </p:spTree>
    <p:extLst>
      <p:ext uri="{BB962C8B-B14F-4D97-AF65-F5344CB8AC3E}">
        <p14:creationId xmlns:p14="http://schemas.microsoft.com/office/powerpoint/2010/main" val="143794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Executive summary — baseline and changes. Comparable historical periods differ: Department sales 2013–2023; SARS imports 2020–2025; Eskom FY2025 vs FY2024 (own diesel + kerosene). M/M is a reference framework, not a calibrated forecast.</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Working thesis for the Durban–Lesedi corridor into Gauteng. Domestic and imported origins require verified access. No measured Vopak share, calibrated nine-world outputs or approved expansion returns are asserted.</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Lever IDs are mapped in the appendix. All nine market worlds use explicit routing, capture and operational assumptions. Tank occupancy, turnover and throughput utilisation are separate measures.</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Qualitative matrix, not numerical forecasts. T1–T5 and F1 translate each world into investment outcomes. Imports are an intermediate balance; domestic supply can also generate terminal flows where access is available.</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Department sales 2013–2023. CAGR from comparable endpoints: petrol −2.08%, diesel +0.82%. FIASA 2024 is excluded from the trend calculation; its observations remain in the evidence data.</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Eskom 2025 integrated report (own-fleet diesel + kerosene); Stats SA freight payload. No causal diesel attribution from tonnes alone. Details: appendix pp19, 22–23.</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SARS litre-reported petrol/diesel codes, complete calendar years. 2020–2025 changes are historical comparisons, not plant-level causal attribution. Export histories retained in the source report; unit/blend exclusions remain.</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Natural Earth country geometry; shared LAEA projection with uniform scale. GeoJSON source catalogue: output/delivered/geospatial/2026_10_07. Corridor lines and places remain authored approximations; operating routes, facility positions and access require validation.</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Registered REG-TERMINAL-HANDLING-TURNS: 1/2/3 turns per month, authored operational sensitivity, not the demand–supply worlds or measured limits. Gross Durban mixed-product tankage; no assumed eligible fraction. Do not sum inter-terminal transfers as unique demand.</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Stats SA freight payload; staged naamsa BEV/PHEV annual sales 2019–2025; existing engine petrol-ICE efficiency diagnostics. Dashed efficiency paths are assumptions, not historical OEM evidence. Medium and causal fuel impacts remain uncalibrated.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Eskom FY ending March. Fuel/EAF: 2025 report; GWh: staged 2024–2026 reports. Own Eskom and IPP generation separated. Private backup and load-shedding histories are missing; no assumed annual generation gap is assigned entirely to diesel.</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FIASA 2025 p49, staged refinery_capacity_reported.csv. Reported nameplate capacity, not actual production; source dashes excluded from totals. Historical stack reused; no invented Medium or L/H production forecasts. SAPREF/Natref/Secunda/PetroSA remain explicit levers.</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Submodel specification adopted from the annotated review. No route winner is asserted without matched costs, access and capacity.</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Public capacity ratios and Gauteng market size are screening evidence only. Working capacity, realised dispatch, routing, tariffs, contracts and capex remain open. No investment return or throughput market share is fabricated.</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The main story runs from the opening thesis to the investment tests. The added lever register and power/supply calibration pages record what remains to be populated.</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Staged GDP and department fuel sales, indices 2013=100. Sector attribution remains open; COVID distorts short-period comparisons.</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World Bank WDI, FDI net inflows and gross fixed capital formation as % of GDP, 2010–2025. Confidence series remains an evidence gap.</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Analytical framework following user comments. Sector-specific exhibits and causal attribution remain to be completed.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Department fuel-price history, nominal R/litre. No quantified geopolitical premium or calibrated EV adoption response is asserted.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Mechanism supported by existing cohort architecture. OEM historical and future efficiency evidence is still missing; no new forecast shown.</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Eskom integrated report 2025: FY March, own-fleet diesel + kerosene. EAF association is not a dispatch model; private backup use excluded.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Stats SA monthly freight payload, complete calendar years. National tonnes are not corridor tonne-kilometres or transferable freight.</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User-supplied AIA Transnet Funding Brief, Sep 2026, pp1–2; cites FY2026 AFS and Network Statement v4 Annexure 17. Primary figures not independently reconciled.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Department provincial sales, latest complete staged year 2022; Vopak Lesedi current capacity. Cross-vintage scale test only, not current observed market share.</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Medium is the reference market world; operational sensitivities are separate. Owner: Nigel / analyst and commercial teams. Resolve each missing input before numeric adoption or investment reliance.</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Requested generation-balance exhibit remains quantitatively incomplete. Owner: Nigel / power analyst; trigger: before D5 adoption. Do not convert installed renewable MW directly into dependable diesel displacement.</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Three aligned L/M/H production panels require these inputs. Existing stacked history is nameplate capacity. Owner: Nigel / supply analyst; resolve before adopting nine-world domestic supply outputs.</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Operator capacities: Vopak Durban 360,246m³, Bidvest Durban 439,306m³, Lesedi 140,000m³. Department Gauteng sales 2022; appendix p25. Transfers between terminals must not be double-counted.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pic>
        <p:nvPicPr>
          <p:cNvPr id="4" name="Picture 3" descr="A picture containing sky, building, outdoor, city&#10;&#10;Description automatically generated">
            <a:extLst>
              <a:ext uri="{FF2B5EF4-FFF2-40B4-BE49-F238E27FC236}">
                <a16:creationId xmlns:a16="http://schemas.microsoft.com/office/drawing/2014/main" id="{AF958CDF-21C2-4696-B1FF-98C6C69234C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 y="5137149"/>
            <a:ext cx="4933950" cy="1571625"/>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Tree>
    <p:extLst>
      <p:ext uri="{BB962C8B-B14F-4D97-AF65-F5344CB8AC3E}">
        <p14:creationId xmlns:p14="http://schemas.microsoft.com/office/powerpoint/2010/main" val="1721437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p:nvPr userDrawn="1"/>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671436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17510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29172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642766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605599" y="6489700"/>
            <a:ext cx="805350" cy="287338"/>
          </a:xfrm>
        </p:spPr>
        <p:txBody>
          <a:bodyPr/>
          <a:lstStyle>
            <a:lvl1pPr>
              <a:defRPr sz="1000">
                <a:solidFill>
                  <a:schemeClr val="tx1"/>
                </a:solidFill>
              </a:defRPr>
            </a:lvl1pPr>
          </a:lstStyle>
          <a:p>
            <a:fld id="{A65E4EDC-57F8-4D5C-B13E-A981C5F2F71A}" type="slidenum">
              <a:rPr lang="en-GB" smtClean="0">
                <a:solidFill>
                  <a:schemeClr val="tx1"/>
                </a:solidFill>
              </a:rPr>
              <a:pPr/>
              <a:t>‹#›</a:t>
            </a:fld>
            <a:endParaRPr lang="en-GB">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rtlCol="0" anchor="ctr">
            <a:normAutofit/>
          </a:bodyPr>
          <a:lstStyle/>
          <a:p>
            <a:r>
              <a:rPr lang="en-US">
                <a:solidFill>
                  <a:schemeClr val="tx1"/>
                </a:solidFill>
              </a:rPr>
              <a:t>Click to edit Master title style</a:t>
            </a:r>
          </a:p>
        </p:txBody>
      </p:sp>
      <p:cxnSp>
        <p:nvCxnSpPr>
          <p:cNvPr id="7" name="Title and body separator"/>
          <p:cNvCxnSpPr/>
          <p:nvPr/>
        </p:nvCxn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964405"/>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65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7801" y="368299"/>
            <a:ext cx="11233148" cy="690101"/>
          </a:xfrm>
          <a:prstGeom prst="rect">
            <a:avLst/>
          </a:prstGeom>
        </p:spPr>
        <p:txBody>
          <a:bodyPr vert="horz" lIns="91440" tIns="45720" rIns="91440" bIns="45720" rtlCol="0" anchor="ctr">
            <a:normAutofit/>
          </a:bodyPr>
          <a:lstStyle/>
          <a:p>
            <a:endParaRPr/>
          </a:p>
        </p:txBody>
      </p:sp>
      <p:sp>
        <p:nvSpPr>
          <p:cNvPr id="3" name="Text Placeholder 2"/>
          <p:cNvSpPr>
            <a:spLocks noGrp="1"/>
          </p:cNvSpPr>
          <p:nvPr>
            <p:ph type="body" idx="1"/>
          </p:nvPr>
        </p:nvSpPr>
        <p:spPr>
          <a:xfrm>
            <a:off x="177801" y="1233488"/>
            <a:ext cx="11233149" cy="5256212"/>
          </a:xfrm>
          <a:prstGeom prst="rect">
            <a:avLst/>
          </a:prstGeom>
        </p:spPr>
        <p:txBody>
          <a:bodyPr vert="horz" lIns="91440" tIns="45720" rIns="91440" bIns="45720" rtlCol="0">
            <a:normAutofit/>
          </a:bodyPr>
          <a:lstStyle/>
          <a:p>
            <a:pPr lvl="0"/>
            <a:endParaRPr/>
          </a:p>
        </p:txBody>
      </p:sp>
      <p:sp>
        <p:nvSpPr>
          <p:cNvPr id="6" name="Slide Number Placeholder 5"/>
          <p:cNvSpPr>
            <a:spLocks noGrp="1"/>
          </p:cNvSpPr>
          <p:nvPr>
            <p:ph type="sldNum" sz="quarter" idx="4"/>
          </p:nvPr>
        </p:nvSpPr>
        <p:spPr>
          <a:xfrm>
            <a:off x="10605599" y="6489700"/>
            <a:ext cx="805350" cy="287338"/>
          </a:xfrm>
          <a:prstGeom prst="rect">
            <a:avLst/>
          </a:prstGeom>
        </p:spPr>
        <p:txBody>
          <a:bodyPr vert="horz" lIns="91440" tIns="45720" rIns="91440" bIns="45720" rtlCol="0" anchor="ctr"/>
          <a:lstStyle>
            <a:lvl1pPr algn="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pic>
        <p:nvPicPr>
          <p:cNvPr id="4" name="Picture 2">
            <a:extLst>
              <a:ext uri="{FF2B5EF4-FFF2-40B4-BE49-F238E27FC236}">
                <a16:creationId xmlns:a16="http://schemas.microsoft.com/office/drawing/2014/main" id="{643CB578-80E0-884E-8515-53279D5DACC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9906000" y="6515100"/>
            <a:ext cx="952500" cy="212558"/>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CB3F387-66D0-18CC-51EE-24B908A792B7}"/>
              </a:ext>
            </a:extLst>
          </p:cNvPr>
          <p:cNvSpPr txBox="1">
            <a:spLocks/>
          </p:cNvSpPr>
          <p:nvPr userDrawn="1"/>
        </p:nvSpPr>
        <p:spPr>
          <a:xfrm>
            <a:off x="457200" y="6528816"/>
            <a:ext cx="8595360" cy="228600"/>
          </a:xfrm>
          <a:prstGeom prst="rect">
            <a:avLst/>
          </a:prstGeom>
        </p:spPr>
        <p:txBody>
          <a:bodyPr tIns="0" bIns="0" anchor="ctr">
            <a:normAutofit/>
          </a:bodyPr>
          <a:lstStyle>
            <a:lvl1pPr marL="0" indent="0" algn="l" defTabSz="869137" rtl="0" eaLnBrk="1" latinLnBrk="0" hangingPunct="1">
              <a:lnSpc>
                <a:spcPct val="90000"/>
              </a:lnSpc>
              <a:spcBef>
                <a:spcPts val="951"/>
              </a:spcBef>
              <a:buFont typeface="Arial" panose="020B0604020202020204" pitchFamily="34" charset="0"/>
              <a:buNone/>
              <a:defRPr sz="1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a:lstStyle>
          <a:p>
            <a:pPr>
              <a:defRPr sz="800">
                <a:solidFill>
                  <a:srgbClr val="404040"/>
                </a:solidFill>
                <a:latin typeface="Lato"/>
              </a:defRPr>
            </a:pPr>
            <a:endParaRPr/>
          </a:p>
        </p:txBody>
      </p:sp>
      <p:cxnSp>
        <p:nvCxnSpPr>
          <p:cNvPr id="10" name="Fine footer rule"/>
          <p:cNvCxnSpPr/>
          <p:nvPr/>
        </p:nvCxn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4016228"/>
      </p:ext>
    </p:extLst>
  </p:cSld>
  <p:clrMap bg1="lt1" tx1="dk1" bg2="lt2" tx2="dk2" accent1="accent1" accent2="accent2" accent3="accent3" accent4="accent4" accent5="accent5" accent6="accent6" hlink="hlink" folHlink="folHlink"/>
  <p:sldLayoutIdLst>
    <p:sldLayoutId id="2147483713" r:id="rId1"/>
    <p:sldLayoutId id="2147483718" r:id="rId2"/>
    <p:sldLayoutId id="2147483723" r:id="rId3"/>
    <p:sldLayoutId id="2147483724" r:id="rId4"/>
    <p:sldLayoutId id="2147483725" r:id="rId5"/>
    <p:sldLayoutId id="2147483698" r:id="rId6"/>
  </p:sldLayoutIdLst>
  <p:hf hdr="0" ftr="0" dt="0"/>
  <p:txStyles>
    <p:titleStyle>
      <a:lvl1pPr algn="l" defTabSz="869137" rtl="0" eaLnBrk="1" latinLnBrk="0" hangingPunct="1">
        <a:lnSpc>
          <a:spcPct val="90000"/>
        </a:lnSpc>
        <a:spcBef>
          <a:spcPct val="0"/>
        </a:spcBef>
        <a:buNone/>
        <a:defRPr sz="2200" b="1" kern="1200">
          <a:solidFill>
            <a:schemeClr val="tx1"/>
          </a:solidFill>
          <a:latin typeface="+mj-lt"/>
          <a:ea typeface="+mj-ea"/>
          <a:cs typeface="+mj-cs"/>
        </a:defRPr>
      </a:lvl1pPr>
    </p:titleStyle>
    <p:bodyStyle>
      <a:lvl1pPr marL="217284" indent="-217284" algn="l" defTabSz="869137" rtl="0" eaLnBrk="1" latinLnBrk="0" hangingPunct="1">
        <a:lnSpc>
          <a:spcPct val="90000"/>
        </a:lnSpc>
        <a:spcBef>
          <a:spcPts val="951"/>
        </a:spcBef>
        <a:buFont typeface="Arial" panose="020B0604020202020204" pitchFamily="34" charset="0"/>
        <a:buChar char="•"/>
        <a:defRPr sz="2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p:bodyStyle>
    <p:otherStyle>
      <a:defPPr>
        <a:defRPr lang="en-US"/>
      </a:defPPr>
      <a:lvl1pPr marL="0" algn="l" defTabSz="869137" rtl="0" eaLnBrk="1" latinLnBrk="0" hangingPunct="1">
        <a:defRPr sz="1711" kern="1200">
          <a:solidFill>
            <a:schemeClr val="tx1"/>
          </a:solidFill>
          <a:latin typeface="+mn-lt"/>
          <a:ea typeface="+mn-ea"/>
          <a:cs typeface="+mn-cs"/>
        </a:defRPr>
      </a:lvl1pPr>
      <a:lvl2pPr marL="434569" algn="l" defTabSz="869137" rtl="0" eaLnBrk="1" latinLnBrk="0" hangingPunct="1">
        <a:defRPr sz="1711" kern="1200">
          <a:solidFill>
            <a:schemeClr val="tx1"/>
          </a:solidFill>
          <a:latin typeface="+mn-lt"/>
          <a:ea typeface="+mn-ea"/>
          <a:cs typeface="+mn-cs"/>
        </a:defRPr>
      </a:lvl2pPr>
      <a:lvl3pPr marL="869137" algn="l" defTabSz="869137" rtl="0" eaLnBrk="1" latinLnBrk="0" hangingPunct="1">
        <a:defRPr sz="1711" kern="1200">
          <a:solidFill>
            <a:schemeClr val="tx1"/>
          </a:solidFill>
          <a:latin typeface="+mn-lt"/>
          <a:ea typeface="+mn-ea"/>
          <a:cs typeface="+mn-cs"/>
        </a:defRPr>
      </a:lvl3pPr>
      <a:lvl4pPr marL="1303706" algn="l" defTabSz="869137" rtl="0" eaLnBrk="1" latinLnBrk="0" hangingPunct="1">
        <a:defRPr sz="1711" kern="1200">
          <a:solidFill>
            <a:schemeClr val="tx1"/>
          </a:solidFill>
          <a:latin typeface="+mn-lt"/>
          <a:ea typeface="+mn-ea"/>
          <a:cs typeface="+mn-cs"/>
        </a:defRPr>
      </a:lvl4pPr>
      <a:lvl5pPr marL="1738274" algn="l" defTabSz="869137" rtl="0" eaLnBrk="1" latinLnBrk="0" hangingPunct="1">
        <a:defRPr sz="1711" kern="1200">
          <a:solidFill>
            <a:schemeClr val="tx1"/>
          </a:solidFill>
          <a:latin typeface="+mn-lt"/>
          <a:ea typeface="+mn-ea"/>
          <a:cs typeface="+mn-cs"/>
        </a:defRPr>
      </a:lvl5pPr>
      <a:lvl6pPr marL="2172843" algn="l" defTabSz="869137" rtl="0" eaLnBrk="1" latinLnBrk="0" hangingPunct="1">
        <a:defRPr sz="1711" kern="1200">
          <a:solidFill>
            <a:schemeClr val="tx1"/>
          </a:solidFill>
          <a:latin typeface="+mn-lt"/>
          <a:ea typeface="+mn-ea"/>
          <a:cs typeface="+mn-cs"/>
        </a:defRPr>
      </a:lvl6pPr>
      <a:lvl7pPr marL="2607412" algn="l" defTabSz="869137" rtl="0" eaLnBrk="1" latinLnBrk="0" hangingPunct="1">
        <a:defRPr sz="1711" kern="1200">
          <a:solidFill>
            <a:schemeClr val="tx1"/>
          </a:solidFill>
          <a:latin typeface="+mn-lt"/>
          <a:ea typeface="+mn-ea"/>
          <a:cs typeface="+mn-cs"/>
        </a:defRPr>
      </a:lvl7pPr>
      <a:lvl8pPr marL="3041980" algn="l" defTabSz="869137" rtl="0" eaLnBrk="1" latinLnBrk="0" hangingPunct="1">
        <a:defRPr sz="1711" kern="1200">
          <a:solidFill>
            <a:schemeClr val="tx1"/>
          </a:solidFill>
          <a:latin typeface="+mn-lt"/>
          <a:ea typeface="+mn-ea"/>
          <a:cs typeface="+mn-cs"/>
        </a:defRPr>
      </a:lvl8pPr>
      <a:lvl9pPr marL="3476549" algn="l" defTabSz="869137" rtl="0" eaLnBrk="1" latinLnBrk="0" hangingPunct="1">
        <a:defRPr sz="1711" kern="1200">
          <a:solidFill>
            <a:schemeClr val="tx1"/>
          </a:solidFill>
          <a:latin typeface="+mn-lt"/>
          <a:ea typeface="+mn-ea"/>
          <a:cs typeface="+mn-cs"/>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hyperlink" Target="https://www.vopak.com/terminals/vopak-terminal-durban" TargetMode="Externa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slide" Target="slide5.xml"/><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7.png"/><Relationship Id="rId5" Type="http://schemas.openxmlformats.org/officeDocument/2006/relationships/slide" Target="slide10.xml"/><Relationship Id="rId4" Type="http://schemas.openxmlformats.org/officeDocument/2006/relationships/slide" Target="slide23.xml"/><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slide" Target="slide5.xml"/><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7.png"/><Relationship Id="rId5" Type="http://schemas.openxmlformats.org/officeDocument/2006/relationships/slide" Target="slide19.xml"/><Relationship Id="rId4" Type="http://schemas.openxmlformats.org/officeDocument/2006/relationships/slide" Target="slide23.xml"/><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slide" Target="slide18.xml"/><Relationship Id="rId5" Type="http://schemas.openxmlformats.org/officeDocument/2006/relationships/slide" Target="slide19.xml"/><Relationship Id="rId4" Type="http://schemas.openxmlformats.org/officeDocument/2006/relationships/slide" Target="slide23.xml"/></Relationships>
</file>

<file path=ppt/slides/_rels/slide5.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slide" Target="slide19.xml"/><Relationship Id="rId4" Type="http://schemas.openxmlformats.org/officeDocument/2006/relationships/slide" Target="slide23.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7.xml"/><Relationship Id="rId1" Type="http://schemas.openxmlformats.org/officeDocument/2006/relationships/slideLayout" Target="../slideLayouts/slideLayout6.xml"/><Relationship Id="rId5" Type="http://schemas.openxmlformats.org/officeDocument/2006/relationships/slide" Target="slide19.xml"/><Relationship Id="rId4" Type="http://schemas.openxmlformats.org/officeDocument/2006/relationships/slide" Target="slide23.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14.xml"/><Relationship Id="rId1" Type="http://schemas.openxmlformats.org/officeDocument/2006/relationships/slideLayout" Target="../slideLayouts/slideLayout6.xml"/><Relationship Id="rId5" Type="http://schemas.openxmlformats.org/officeDocument/2006/relationships/slide" Target="slide10.xml"/><Relationship Id="rId4" Type="http://schemas.openxmlformats.org/officeDocument/2006/relationships/slide" Target="slide23.xml"/></Relationships>
</file>

<file path=ppt/slides/_rels/slide15.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15.xml"/><Relationship Id="rId1" Type="http://schemas.openxmlformats.org/officeDocument/2006/relationships/slideLayout" Target="../slideLayouts/slideLayout6.xml"/><Relationship Id="rId5" Type="http://schemas.openxmlformats.org/officeDocument/2006/relationships/slide" Target="slide10.xml"/><Relationship Id="rId4" Type="http://schemas.openxmlformats.org/officeDocument/2006/relationships/slide" Target="slide23.xml"/></Relationships>
</file>

<file path=ppt/slides/_rels/slide16.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16.xml"/><Relationship Id="rId1" Type="http://schemas.openxmlformats.org/officeDocument/2006/relationships/slideLayout" Target="../slideLayouts/slideLayout6.xml"/><Relationship Id="rId5" Type="http://schemas.openxmlformats.org/officeDocument/2006/relationships/slide" Target="slide10.xml"/><Relationship Id="rId4" Type="http://schemas.openxmlformats.org/officeDocument/2006/relationships/slide" Target="slide23.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19.xml"/><Relationship Id="rId1" Type="http://schemas.openxmlformats.org/officeDocument/2006/relationships/slideLayout" Target="../slideLayouts/slideLayout6.xml"/><Relationship Id="rId5" Type="http://schemas.openxmlformats.org/officeDocument/2006/relationships/slide" Target="slide10.xml"/><Relationship Id="rId4" Type="http://schemas.openxmlformats.org/officeDocument/2006/relationships/slide" Target="slide23.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21.xml"/><Relationship Id="rId1" Type="http://schemas.openxmlformats.org/officeDocument/2006/relationships/slideLayout" Target="../slideLayouts/slideLayout6.xml"/><Relationship Id="rId5" Type="http://schemas.openxmlformats.org/officeDocument/2006/relationships/slide" Target="slide10.xml"/><Relationship Id="rId4" Type="http://schemas.openxmlformats.org/officeDocument/2006/relationships/slide" Target="slide23.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24.xml"/><Relationship Id="rId1" Type="http://schemas.openxmlformats.org/officeDocument/2006/relationships/slideLayout" Target="../slideLayouts/slideLayout6.xml"/><Relationship Id="rId5" Type="http://schemas.openxmlformats.org/officeDocument/2006/relationships/slide" Target="slide10.xml"/><Relationship Id="rId4" Type="http://schemas.openxmlformats.org/officeDocument/2006/relationships/slide" Target="slide23.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26.xml"/><Relationship Id="rId1" Type="http://schemas.openxmlformats.org/officeDocument/2006/relationships/slideLayout" Target="../slideLayouts/slideLayout6.xml"/><Relationship Id="rId6" Type="http://schemas.openxmlformats.org/officeDocument/2006/relationships/slide" Target="slide18.xml"/><Relationship Id="rId5" Type="http://schemas.openxmlformats.org/officeDocument/2006/relationships/slide" Target="slide10.xml"/><Relationship Id="rId4" Type="http://schemas.openxmlformats.org/officeDocument/2006/relationships/slide" Target="slide23.xml"/></Relationships>
</file>

<file path=ppt/slides/_rels/slide27.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27.xml"/><Relationship Id="rId1" Type="http://schemas.openxmlformats.org/officeDocument/2006/relationships/slideLayout" Target="../slideLayouts/slideLayout6.xml"/><Relationship Id="rId5" Type="http://schemas.openxmlformats.org/officeDocument/2006/relationships/slide" Target="slide10.xml"/><Relationship Id="rId4" Type="http://schemas.openxmlformats.org/officeDocument/2006/relationships/slide" Target="slide23.xml"/></Relationships>
</file>

<file path=ppt/slides/_rels/slide28.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28.xml"/><Relationship Id="rId1" Type="http://schemas.openxmlformats.org/officeDocument/2006/relationships/slideLayout" Target="../slideLayouts/slideLayout6.xml"/><Relationship Id="rId5" Type="http://schemas.openxmlformats.org/officeDocument/2006/relationships/slide" Target="slide10.xml"/><Relationship Id="rId4" Type="http://schemas.openxmlformats.org/officeDocument/2006/relationships/slide" Target="slide23.xml"/></Relationships>
</file>

<file path=ppt/slides/_rels/slide29.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29.xml"/><Relationship Id="rId1" Type="http://schemas.openxmlformats.org/officeDocument/2006/relationships/slideLayout" Target="../slideLayouts/slideLayout6.xml"/><Relationship Id="rId5" Type="http://schemas.openxmlformats.org/officeDocument/2006/relationships/slide" Target="slide10.xml"/><Relationship Id="rId4" Type="http://schemas.openxmlformats.org/officeDocument/2006/relationships/slide" Target="slide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588750" cy="6858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endParaRPr/>
          </a:p>
        </p:txBody>
      </p:sp>
      <p:pic>
        <p:nvPicPr>
          <p:cNvPr id="3" name="Picture 2" descr="image.jpg"/>
          <p:cNvPicPr>
            <a:picLocks noChangeAspect="1"/>
          </p:cNvPicPr>
          <p:nvPr/>
        </p:nvPicPr>
        <p:blipFill>
          <a:blip r:embed="rId3"/>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4"/>
          <a:srcRect/>
          <a:stretch>
            <a:fillRect/>
          </a:stretch>
        </p:blipFill>
        <p:spPr>
          <a:xfrm>
            <a:off x="502920" y="457200"/>
            <a:ext cx="1965960" cy="438614"/>
          </a:xfrm>
          <a:prstGeom prst="rect">
            <a:avLst/>
          </a:prstGeom>
        </p:spPr>
      </p:pic>
      <p:sp>
        <p:nvSpPr>
          <p:cNvPr id="5" name="TextBox 4"/>
          <p:cNvSpPr txBox="1"/>
          <p:nvPr/>
        </p:nvSpPr>
        <p:spPr>
          <a:xfrm>
            <a:off x="594360" y="2468880"/>
            <a:ext cx="4709160" cy="1636345"/>
          </a:xfrm>
          <a:prstGeom prst="rect">
            <a:avLst/>
          </a:prstGeom>
          <a:noFill/>
        </p:spPr>
        <p:txBody>
          <a:bodyPr wrap="square" lIns="18288" tIns="0" rIns="18288" bIns="0">
            <a:spAutoFit/>
          </a:bodyPr>
          <a:lstStyle/>
          <a:p>
            <a:pPr>
              <a:spcAft>
                <a:spcPts val="800"/>
              </a:spcAft>
              <a:defRPr sz="3100" b="0">
                <a:solidFill>
                  <a:srgbClr val="FFFFFF"/>
                </a:solidFill>
                <a:latin typeface="Lato"/>
              </a:defRPr>
            </a:pPr>
            <a:r>
              <a:rPr lang="en-GB">
                <a:solidFill>
                  <a:srgbClr val="FFFFFF"/>
                </a:solidFill>
              </a:rPr>
              <a:t>South Africa
liquid fuels
market story</a:t>
            </a:r>
            <a:endParaRPr>
              <a:solidFill>
                <a:srgbClr val="FFFFFF"/>
              </a:solidFill>
            </a:endParaRP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523220"/>
          </a:xfrm>
          <a:prstGeom prst="rect">
            <a:avLst/>
          </a:prstGeom>
          <a:noFill/>
        </p:spPr>
        <p:txBody>
          <a:bodyPr wrap="square" lIns="18288" tIns="0" rIns="18288" bIns="0">
            <a:spAutoFit/>
          </a:bodyPr>
          <a:lstStyle/>
          <a:p>
            <a:pPr>
              <a:spcAft>
                <a:spcPts val="800"/>
              </a:spcAft>
              <a:defRPr sz="2100" b="0">
                <a:solidFill>
                  <a:srgbClr val="FFFFFF"/>
                </a:solidFill>
                <a:latin typeface="Lato"/>
              </a:defRPr>
            </a:pPr>
            <a:r>
              <a:rPr lang="en-GB" sz="1700">
                <a:solidFill>
                  <a:srgbClr val="FFFFFF"/>
                </a:solidFill>
              </a:rPr>
              <a:t>Inland supply, corridor capture and tank turnover</a:t>
            </a:r>
            <a:endParaRPr sz="1700">
              <a:solidFill>
                <a:srgbClr val="FFFFFF"/>
              </a:solidFill>
            </a:endParaRPr>
          </a:p>
        </p:txBody>
      </p:sp>
      <p:sp>
        <p:nvSpPr>
          <p:cNvPr id="8" name="TextBox 7"/>
          <p:cNvSpPr txBox="1"/>
          <p:nvPr/>
        </p:nvSpPr>
        <p:spPr>
          <a:xfrm>
            <a:off x="594360" y="5239512"/>
            <a:ext cx="4572000" cy="200055"/>
          </a:xfrm>
          <a:prstGeom prst="rect">
            <a:avLst/>
          </a:prstGeom>
          <a:noFill/>
        </p:spPr>
        <p:txBody>
          <a:bodyPr wrap="square" lIns="18288" tIns="0" rIns="18288" bIns="0">
            <a:spAutoFit/>
          </a:bodyPr>
          <a:lstStyle/>
          <a:p>
            <a:pPr>
              <a:spcAft>
                <a:spcPts val="800"/>
              </a:spcAft>
              <a:defRPr sz="1300" b="0">
                <a:solidFill>
                  <a:srgbClr val="FFFFFF"/>
                </a:solidFill>
                <a:latin typeface="Lato"/>
              </a:defRPr>
            </a:pPr>
            <a:r>
              <a:rPr lang="it-IT">
                <a:solidFill>
                  <a:srgbClr val="FFFFFF"/>
                </a:solidFill>
              </a:rPr>
              <a:t>Durban–Lesedi corridor into Gauteng</a:t>
            </a:r>
            <a:endParaRPr>
              <a:solidFill>
                <a:srgbClr val="FFFFFF"/>
              </a:solidFill>
            </a:endParaRPr>
          </a:p>
        </p:txBody>
      </p:sp>
      <p:sp>
        <p:nvSpPr>
          <p:cNvPr id="9" name="TextBox 8"/>
          <p:cNvSpPr txBox="1"/>
          <p:nvPr/>
        </p:nvSpPr>
        <p:spPr>
          <a:xfrm>
            <a:off x="594360" y="5696712"/>
            <a:ext cx="4572000" cy="200055"/>
          </a:xfrm>
          <a:prstGeom prst="rect">
            <a:avLst/>
          </a:prstGeom>
          <a:noFill/>
        </p:spPr>
        <p:txBody>
          <a:bodyPr wrap="square" lIns="18288" tIns="0" rIns="18288" bIns="0">
            <a:spAutoFit/>
          </a:bodyPr>
          <a:lstStyle/>
          <a:p>
            <a:pPr>
              <a:spcAft>
                <a:spcPts val="800"/>
              </a:spcAft>
              <a:defRPr sz="1300" b="0">
                <a:solidFill>
                  <a:srgbClr val="FFFFFF"/>
                </a:solidFill>
                <a:latin typeface="Lato"/>
              </a:defRPr>
            </a:pPr>
            <a:r>
              <a:rPr lang="en-ZW">
                <a:solidFill>
                  <a:srgbClr val="FFFFFF"/>
                </a:solidFill>
              </a:rPr>
              <a:t>7 October 2026</a:t>
            </a:r>
            <a:endParaRPr>
              <a:solidFill>
                <a:srgbClr val="FFFFFF"/>
              </a:solidFill>
            </a:endParaRPr>
          </a:p>
        </p:txBody>
      </p:sp>
      <p:sp>
        <p:nvSpPr>
          <p:cNvPr id="10" name="TextBox 9"/>
          <p:cNvSpPr txBox="1"/>
          <p:nvPr/>
        </p:nvSpPr>
        <p:spPr>
          <a:xfrm>
            <a:off x="594360" y="6053328"/>
            <a:ext cx="4572000" cy="369332"/>
          </a:xfrm>
          <a:prstGeom prst="rect">
            <a:avLst/>
          </a:prstGeom>
          <a:noFill/>
        </p:spPr>
        <p:txBody>
          <a:bodyPr wrap="square" lIns="18288" tIns="0" rIns="18288" bIns="0">
            <a:spAutoFit/>
          </a:bodyPr>
          <a:lstStyle/>
          <a:p>
            <a:pPr>
              <a:spcAft>
                <a:spcPts val="800"/>
              </a:spcAft>
              <a:defRPr sz="1200" b="0">
                <a:solidFill>
                  <a:srgbClr val="FFFFFF"/>
                </a:solidFill>
                <a:latin typeface="Lato"/>
              </a:defRPr>
            </a:pPr>
            <a:r>
              <a:rPr lang="en-GB" sz="1200">
                <a:solidFill>
                  <a:srgbClr val="FFFFFF"/>
                </a:solidFill>
              </a:rPr>
              <a:t>Executive summary: baseline, changes and investment outlook; calibration gaps explicit</a:t>
            </a:r>
            <a:endParaRPr sz="1200">
              <a:solidFill>
                <a:srgbClr val="FFFFFF"/>
              </a:solidFill>
            </a:endParaRPr>
          </a:p>
        </p:txBody>
      </p:sp>
      <p:sp>
        <p:nvSpPr>
          <p:cNvPr id="11" name="Photo source credit"/>
          <p:cNvSpPr txBox="1"/>
          <p:nvPr/>
        </p:nvSpPr>
        <p:spPr>
          <a:xfrm>
            <a:off x="594360" y="6400800"/>
            <a:ext cx="4754880" cy="164592"/>
          </a:xfrm>
          <a:prstGeom prst="rect">
            <a:avLst/>
          </a:prstGeom>
          <a:noFill/>
        </p:spPr>
        <p:txBody>
          <a:bodyPr wrap="square" lIns="18288" tIns="0" rIns="18288" bIns="0">
            <a:spAutoFit/>
          </a:bodyPr>
          <a:lstStyle/>
          <a:p>
            <a:pPr algn="l">
              <a:spcAft>
                <a:spcPts val="800"/>
              </a:spcAft>
              <a:defRPr sz="800" b="0">
                <a:solidFill>
                  <a:srgbClr val="FFFFFF"/>
                </a:solidFill>
                <a:latin typeface="Lato"/>
              </a:defRPr>
            </a:pPr>
            <a:r>
              <a:rPr>
                <a:solidFill>
                  <a:srgbClr val="FFFFFF"/>
                </a:solidFill>
              </a:rPr>
              <a:t>Photo source: Royal Vopak | Terminal Durban | vopak.com</a:t>
            </a:r>
          </a:p>
        </p:txBody>
      </p:sp>
      <p:sp>
        <p:nvSpPr>
          <p:cNvPr id="12" name="Strictly Confidential footer"/>
          <p:cNvSpPr txBox="1"/>
          <p:nvPr/>
        </p:nvSpPr>
        <p:spPr>
          <a:xfrm>
            <a:off x="594360" y="6729984"/>
            <a:ext cx="2011680" cy="118872"/>
          </a:xfrm>
          <a:prstGeom prst="rect">
            <a:avLst/>
          </a:prstGeom>
          <a:noFill/>
        </p:spPr>
        <p:txBody>
          <a:bodyPr wrap="none" lIns="0" tIns="0" rIns="0" bIns="0">
            <a:spAutoFit/>
          </a:bodyPr>
          <a:lstStyle/>
          <a:p>
            <a:pPr>
              <a:spcBef>
                <a:spcPts val="0"/>
              </a:spcBef>
              <a:spcAft>
                <a:spcPts val="0"/>
              </a:spcAft>
              <a:defRPr sz="750">
                <a:solidFill>
                  <a:srgbClr val="BDBEC1"/>
                </a:solidFill>
                <a:latin typeface="Lato"/>
              </a:defRPr>
            </a:pPr>
            <a:r>
              <a:t>Strictly Confidential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Slow demand growth and greater import reliance set the baseline; power, refineries and routes could change it</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Executive summary — baseline and changes. Comparable historical periods differ: Department sales 2013–2023; SARS imports 2020–2025; Eskom FY2025 vs FY2024 (own diesel + kerosene). M/M is a reference framework, not a calibrated forecast.</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1929203873"/>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Baseline / reference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What the evidence establishes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What changes the outlook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Fuel demand
and power</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ZW" sz="1300" b="0" u="none">
                          <a:solidFill>
                            <a:schemeClr val="dk1"/>
                          </a:solidFill>
                          <a:latin typeface="Lato" panose="020F0502020204030203" pitchFamily="34" charset="0"/>
                        </a:rPr>
                        <a:t>2013–2023 CAGR: petrol −2.08%;
diesel +0.82%. Eskom OCGT fuel use
fell 40% in FY2025.</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Growth, rail, EVs and efficiency alter
transport demand; fleet recovery and
new generation alter diesel dispatch.</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Domestic supply
and imports</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2020–2025 imports rose by 5.43bn
litres of diesel and 2.73bn of petrol.
The sourcing mix has shifted.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SAPREF and PetroSA restart paths,
Secunda gas/MRG and Natref output
can change domestic supply.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GB" sz="1300" b="1" u="none">
                          <a:solidFill>
                            <a:schemeClr val="dk1"/>
                          </a:solidFill>
                          <a:latin typeface="Lato" panose="020F0502020204030203" pitchFamily="34" charset="0"/>
                        </a:rPr>
                        <a:t>Corridor position
and tank turnover</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Durban and Lesedi provide coastal
and inland assets serving Gauteng.
Working capacity and turns are open.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Route costs, access and customer
capture determine flow; achievable
turnover determines handling headroom.</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Medium / Medium
reference world</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M/M anchors the nine-world matrix.
Historical evidence is assembled;
numerical calibration remains open.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Vary demand and supply around M/M,
then test capture, turnover and returns
to identify investment triggers.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E16A72BA-768E-1987-3AA9-11411A3C5367}"/>
              </a:ext>
            </a:extLst>
          </p:cNvPr>
          <p:cNvSpPr/>
          <p:nvPr/>
        </p:nvSpPr>
        <p:spPr>
          <a:xfrm>
            <a:off x="4572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BA070BFE-5A87-3EA1-DD03-69DF58106087}"/>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DBB490DD-83DD-29B1-0514-82914D9C5D6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966944A5-7C1F-26CF-736E-34B1D804DE2D}"/>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Picture 13">
            <a:extLst>
              <a:ext uri="{FF2B5EF4-FFF2-40B4-BE49-F238E27FC236}">
                <a16:creationId xmlns:a16="http://schemas.microsoft.com/office/drawing/2014/main" id="{95F226EC-39AE-88E7-37BE-2FEFD39E6CEB}"/>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16" name="Picture 15">
            <a:extLst>
              <a:ext uri="{FF2B5EF4-FFF2-40B4-BE49-F238E27FC236}">
                <a16:creationId xmlns:a16="http://schemas.microsoft.com/office/drawing/2014/main" id="{7BF7F25E-900A-39F0-2CDD-3248AA07B453}"/>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508000" y="3143250"/>
            <a:ext cx="317500" cy="317500"/>
          </a:xfrm>
          <a:prstGeom prst="rect">
            <a:avLst/>
          </a:prstGeom>
        </p:spPr>
      </p:pic>
      <p:pic>
        <p:nvPicPr>
          <p:cNvPr id="18" name="Picture 17">
            <a:extLst>
              <a:ext uri="{FF2B5EF4-FFF2-40B4-BE49-F238E27FC236}">
                <a16:creationId xmlns:a16="http://schemas.microsoft.com/office/drawing/2014/main" id="{08D9547B-4C45-221C-1C76-2584EAC8B178}"/>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a:off x="508000" y="4165600"/>
            <a:ext cx="317500" cy="317500"/>
          </a:xfrm>
          <a:prstGeom prst="rect">
            <a:avLst/>
          </a:prstGeom>
        </p:spPr>
      </p:pic>
      <p:pic>
        <p:nvPicPr>
          <p:cNvPr id="20" name="Picture 19">
            <a:extLst>
              <a:ext uri="{FF2B5EF4-FFF2-40B4-BE49-F238E27FC236}">
                <a16:creationId xmlns:a16="http://schemas.microsoft.com/office/drawing/2014/main" id="{77861122-736D-6FFA-0D1F-77A632B193E3}"/>
              </a:ext>
            </a:extLst>
          </p:cNvPr>
          <p:cNvPicPr>
            <a:picLocks/>
          </p:cNvPicPr>
          <p:nvPr/>
        </p:nvPicPr>
        <p:blipFill>
          <a:blip r:embed="rId9">
            <a:extLst>
              <a:ext uri="{28A0092B-C50C-407E-A947-70E740481C1C}">
                <a14:useLocalDpi xmlns:a14="http://schemas.microsoft.com/office/drawing/2010/main" val="0"/>
              </a:ext>
            </a:extLst>
          </a:blip>
          <a:stretch>
            <a:fillRect/>
          </a:stretch>
        </p:blipFill>
        <p:spPr>
          <a:xfrm>
            <a:off x="508000" y="5187950"/>
            <a:ext cx="317500" cy="317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Vopak can capture inland growth through the Durban–Lesedi corridor, with expansion conditional on turnover and returns</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Working thesis for the Durban–Lesedi corridor into Gauteng. Domestic and imported origins require verified access. No measured Vopak share, calibrated nine-world outputs or approved expansion returns are asserted.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947801795"/>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Investment outlook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Why it matters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What determines the choice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Capture inland
supply</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Imported and domestic fuel can serve
inland demand. Terminal access and
customer capture determine volumes.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Size the accessible market by origin,
product and destination, then estimate
Vopak’s share of the resulting flows.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Use the corridor
position</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Durban and Lesedi connect coastal
handling with inland distribution
into the Gauteng catchment.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Compare delivered costs, access and
reliability with competing gateways
and domestic sources.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Increase asset
turnover</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Growth can increase throughput
through existing tanks. Receipt and
dispatch constrain achievable 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Use existing assets, debottleneck or
add storage according to working
capacity, turnover and returns.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Test nine
market worlds</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Demand and domestic supply each
have L/M/H paths. Medium/Medium
is the reference to calibrate.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Track captured flow, required turns
and capacity headroom in every world;
phase investment against clear triggers.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247CEC29-E9AD-AE6D-87B0-A0DD2A9CD2AD}"/>
              </a:ext>
            </a:extLst>
          </p:cNvPr>
          <p:cNvSpPr/>
          <p:nvPr/>
        </p:nvSpPr>
        <p:spPr>
          <a:xfrm>
            <a:off x="4572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3909304B-2DB9-F48F-909A-49BEF84EAFFD}"/>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99D92A50-D189-8232-F08F-400CDBFCAA8A}"/>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93962990-703D-95CD-F8E9-E1EAF9757089}"/>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Picture 13">
            <a:extLst>
              <a:ext uri="{FF2B5EF4-FFF2-40B4-BE49-F238E27FC236}">
                <a16:creationId xmlns:a16="http://schemas.microsoft.com/office/drawing/2014/main" id="{741A4DCE-C29E-6E83-79C4-495297541E96}"/>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16" name="Picture 15">
            <a:extLst>
              <a:ext uri="{FF2B5EF4-FFF2-40B4-BE49-F238E27FC236}">
                <a16:creationId xmlns:a16="http://schemas.microsoft.com/office/drawing/2014/main" id="{9170BB58-D318-190D-C919-2F76352EA765}"/>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508000" y="3143250"/>
            <a:ext cx="317500" cy="317500"/>
          </a:xfrm>
          <a:prstGeom prst="rect">
            <a:avLst/>
          </a:prstGeom>
        </p:spPr>
      </p:pic>
      <p:pic>
        <p:nvPicPr>
          <p:cNvPr id="18" name="Picture 17">
            <a:extLst>
              <a:ext uri="{FF2B5EF4-FFF2-40B4-BE49-F238E27FC236}">
                <a16:creationId xmlns:a16="http://schemas.microsoft.com/office/drawing/2014/main" id="{DE9EC170-919C-78DB-66C1-AB315473A3B7}"/>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a:off x="508000" y="4165600"/>
            <a:ext cx="317500" cy="317500"/>
          </a:xfrm>
          <a:prstGeom prst="rect">
            <a:avLst/>
          </a:prstGeom>
        </p:spPr>
      </p:pic>
      <p:pic>
        <p:nvPicPr>
          <p:cNvPr id="20" name="Picture 19">
            <a:extLst>
              <a:ext uri="{FF2B5EF4-FFF2-40B4-BE49-F238E27FC236}">
                <a16:creationId xmlns:a16="http://schemas.microsoft.com/office/drawing/2014/main" id="{D7372B10-D914-21E8-B139-839F22503A93}"/>
              </a:ext>
            </a:extLst>
          </p:cNvPr>
          <p:cNvPicPr>
            <a:picLocks/>
          </p:cNvPicPr>
          <p:nvPr/>
        </p:nvPicPr>
        <p:blipFill>
          <a:blip r:embed="rId9">
            <a:extLst>
              <a:ext uri="{28A0092B-C50C-407E-A947-70E740481C1C}">
                <a14:useLocalDpi xmlns:a14="http://schemas.microsoft.com/office/drawing/2010/main" val="0"/>
              </a:ext>
            </a:extLst>
          </a:blip>
          <a:stretch>
            <a:fillRect/>
          </a:stretch>
        </p:blipFill>
        <p:spPr>
          <a:xfrm>
            <a:off x="508000" y="5187950"/>
            <a:ext cx="317500" cy="317500"/>
          </a:xfrm>
          <a:prstGeom prst="rect">
            <a:avLst/>
          </a:prstGeom>
        </p:spPr>
      </p:pic>
    </p:spTree>
    <p:extLst>
      <p:ext uri="{BB962C8B-B14F-4D97-AF65-F5344CB8AC3E}">
        <p14:creationId xmlns:p14="http://schemas.microsoft.com/office/powerpoint/2010/main" val="3799650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Capturable volumes, route competitiveness and tank turnover determine the investment required</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4</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Lever IDs are mapped in the appendix. All nine market worlds use explicit routing, capture and operational assumptions. Tank occupancy, turnover and throughput utilisation are separate measures.</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4044416593"/>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1524000">
                  <a:extLst>
                    <a:ext uri="{9D8B030D-6E8A-4147-A177-3AD203B41FA5}">
                      <a16:colId xmlns:a16="http://schemas.microsoft.com/office/drawing/2014/main" val="20000"/>
                    </a:ext>
                  </a:extLst>
                </a:gridCol>
                <a:gridCol w="3035300">
                  <a:extLst>
                    <a:ext uri="{9D8B030D-6E8A-4147-A177-3AD203B41FA5}">
                      <a16:colId xmlns:a16="http://schemas.microsoft.com/office/drawing/2014/main" val="20001"/>
                    </a:ext>
                  </a:extLst>
                </a:gridCol>
                <a:gridCol w="3035300">
                  <a:extLst>
                    <a:ext uri="{9D8B030D-6E8A-4147-A177-3AD203B41FA5}">
                      <a16:colId xmlns:a16="http://schemas.microsoft.com/office/drawing/2014/main" val="20002"/>
                    </a:ext>
                  </a:extLst>
                </a:gridCol>
                <a:gridCol w="3058160">
                  <a:extLst>
                    <a:ext uri="{9D8B030D-6E8A-4147-A177-3AD203B41FA5}">
                      <a16:colId xmlns:a16="http://schemas.microsoft.com/office/drawing/2014/main" val="2215058894"/>
                    </a:ext>
                  </a:extLst>
                </a:gridCol>
              </a:tblGrid>
              <a:tr h="3556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Argument</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Situation</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Complication</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Resolution / decision</a:t>
                      </a:r>
                      <a:endParaRPr sz="1200" b="1" u="none">
                        <a:solidFill>
                          <a:schemeClr val="dk1"/>
                        </a:solidFill>
                        <a:latin typeface="Lato" panose="020F0502020204030203" pitchFamily="34" charset="0"/>
                      </a:endParaRPr>
                    </a:p>
                  </a:txBody>
                  <a:tcPr marL="38100" marR="114300" marT="88900" marB="50800">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Transport demand</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0" u="none">
                          <a:solidFill>
                            <a:schemeClr val="dk1"/>
                          </a:solidFill>
                          <a:latin typeface="Lato" panose="020F0502020204030203" pitchFamily="34" charset="0"/>
                        </a:rPr>
                        <a:t>Subdued aggregate growth masks different product trends. Road freight supports diesel use.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Sector growth, rail recovery, EVs and efficiency change fuel demand.</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D1–D4 define activity, rail, EV and efficiency paths. Translate them into capturable product demand.</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Power demand</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Power shortages supported diesel use; Eskom consumption has recently fallen.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Recovery may persist or reverse through outages and replacement delays.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D5 adds fleet recovery, replacement timing and diesel dispatch to the same demand paths.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Domestic supply</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Reduced local production has increased reliance on imports.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SAPREF, Natref and Secunda can change domestic fuel output materially.</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S1–S4 define plant output and sourcing mix. Imports are one consequence of the domestic balance.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Corridor competition</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Durban connects imported fuel to inland customers.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Alternative gateways, delivered costs, reliability and access alter flows.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T1–T2 compare delivered economics and capture for domestic and imported fuel serving common destinations.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Vopak investment</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Durban and Lesedi provide connected assets whose throughput can rise through higher turnover.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Working tankage, receipt/dispatch, peaks and stock requirements constrain achievable turnover.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T3–T5 compare working capacity, required/achievable turns and dispatch limits. F1 tests incremental returns.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2CFFF274-9ABC-5103-6406-2F2E38D07F3A}"/>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0E6D1ABD-DB34-B534-4510-4E000E245775}"/>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7924F029-E5B7-95CC-3780-5B4974A04D7B}"/>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B2724BE5-2B97-3E5F-F821-452A3664D66A}"/>
              </a:ext>
            </a:extLst>
          </p:cNvPr>
          <p:cNvSpPr/>
          <p:nvPr/>
        </p:nvSpPr>
        <p:spPr>
          <a:xfrm>
            <a:off x="85344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Resolution</a:t>
            </a:r>
          </a:p>
        </p:txBody>
      </p:sp>
    </p:spTree>
    <p:extLst>
      <p:ext uri="{BB962C8B-B14F-4D97-AF65-F5344CB8AC3E}">
        <p14:creationId xmlns:p14="http://schemas.microsoft.com/office/powerpoint/2010/main" val="23763279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Nine demand–supply worlds test the investment choice against the Medium / Medium baseline</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5</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Qualitative matrix, not numerical forecasts. T1–T5 and F1 translate each world into investment outcomes. Imports are an intermediate balance; domestic supply can also generate terminal flows where access is available.</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1187909951"/>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1524000">
                  <a:extLst>
                    <a:ext uri="{9D8B030D-6E8A-4147-A177-3AD203B41FA5}">
                      <a16:colId xmlns:a16="http://schemas.microsoft.com/office/drawing/2014/main" val="20000"/>
                    </a:ext>
                  </a:extLst>
                </a:gridCol>
                <a:gridCol w="3035300">
                  <a:extLst>
                    <a:ext uri="{9D8B030D-6E8A-4147-A177-3AD203B41FA5}">
                      <a16:colId xmlns:a16="http://schemas.microsoft.com/office/drawing/2014/main" val="20001"/>
                    </a:ext>
                  </a:extLst>
                </a:gridCol>
                <a:gridCol w="3035300">
                  <a:extLst>
                    <a:ext uri="{9D8B030D-6E8A-4147-A177-3AD203B41FA5}">
                      <a16:colId xmlns:a16="http://schemas.microsoft.com/office/drawing/2014/main" val="20002"/>
                    </a:ext>
                  </a:extLst>
                </a:gridCol>
                <a:gridCol w="3058160">
                  <a:extLst>
                    <a:ext uri="{9D8B030D-6E8A-4147-A177-3AD203B41FA5}">
                      <a16:colId xmlns:a16="http://schemas.microsoft.com/office/drawing/2014/main" val="3112487224"/>
                    </a:ext>
                  </a:extLst>
                </a:gridCol>
              </a:tblGrid>
              <a:tr h="5080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Fuel demand / domestic supply</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HIGH supply (S1–S4)</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MEDIUM supply (S1–S4)</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LOW supply (S1–S4)</a:t>
                      </a:r>
                      <a:endParaRPr sz="1200" b="1" u="none">
                        <a:solidFill>
                          <a:schemeClr val="dk1"/>
                        </a:solidFill>
                        <a:latin typeface="Lato" panose="020F0502020204030203" pitchFamily="34" charset="0"/>
                      </a:endParaRPr>
                    </a:p>
                  </a:txBody>
                  <a:tcPr marL="38100" marR="114300" marT="88900" marB="50800">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119380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LOW demand
D1–D5</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1" u="none">
                          <a:solidFill>
                            <a:schemeClr val="accent1"/>
                          </a:solidFill>
                          <a:latin typeface="Lato" panose="020F0502020204030203" pitchFamily="34" charset="0"/>
                        </a:rPr>
                        <a:t>L / H
LOWEST IMPORT PRESSURE
Domestic routing and customer capture still determine terminal turns.</a:t>
                      </a:r>
                      <a:endParaRPr sz="1200" b="1" u="none">
                        <a:solidFill>
                          <a:schemeClr val="accent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chemeClr val="accent1">
                        <a:tint val="15000"/>
                      </a:schemeClr>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L / M
Lower imports than baseline.
Test utilisation and customer capture.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L / L
Demand and supply both fall.
Net import effect depends on their relative change.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19380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MEDIUM demand
D1–D5</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M / H
Lower imports than baseline.
Supply recovery reduces import needs.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1" u="none">
                          <a:solidFill>
                            <a:schemeClr val="lt1"/>
                          </a:solidFill>
                          <a:latin typeface="Lato" panose="020F0502020204030203" pitchFamily="34" charset="0"/>
                        </a:rPr>
                        <a:t>M / M
BASELINE
Reference sourcing, captured throughput, required turns and headroom.</a:t>
                      </a:r>
                      <a:endParaRPr sz="1200" b="1" u="none">
                        <a:solidFill>
                          <a:schemeClr val="lt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chemeClr val="accent1"/>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M / L
Higher imports than baseline.
Supply losses increase import needs.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19380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HIGH demand
D1–D5</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H / H
Demand and supply both rise.
Net import effect depends on their relative change.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H / M
Higher imports than baseline.
Demand growth increases import needs.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1" u="none">
                          <a:solidFill>
                            <a:schemeClr val="accent1"/>
                          </a:solidFill>
                          <a:latin typeface="Lato" panose="020F0502020204030203" pitchFamily="34" charset="0"/>
                        </a:rPr>
                        <a:t>H / L
HIGHEST IMPORT PRESSURE
Test the captured flow against working capacity and achievable turns.</a:t>
                      </a:r>
                      <a:endParaRPr sz="1200" b="1" u="none">
                        <a:solidFill>
                          <a:schemeClr val="accent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chemeClr val="accent1">
                        <a:tint val="15000"/>
                      </a:schemeClr>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1E6390E5-F75B-F00C-6361-ECA4159836EA}"/>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0373B031-2CAA-3937-D71E-C16E2D1ECDB1}"/>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E61A69E7-6524-A877-6FC3-8AF21910D7EF}"/>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022EFF54-8156-4C8E-D268-7973E93427B3}"/>
              </a:ext>
            </a:extLst>
          </p:cNvPr>
          <p:cNvSpPr/>
          <p:nvPr/>
        </p:nvSpPr>
        <p:spPr>
          <a:xfrm>
            <a:off x="85344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Resolution</a:t>
            </a:r>
          </a:p>
        </p:txBody>
      </p:sp>
      <p:sp>
        <p:nvSpPr>
          <p:cNvPr id="13" name="Cell outputs">
            <a:extLst>
              <a:ext uri="{FF2B5EF4-FFF2-40B4-BE49-F238E27FC236}">
                <a16:creationId xmlns:a16="http://schemas.microsoft.com/office/drawing/2014/main" id="{5EA9E408-133B-D9F6-3DD0-91FD3D5E7D1A}"/>
              </a:ext>
            </a:extLst>
          </p:cNvPr>
          <p:cNvSpPr txBox="1"/>
          <p:nvPr/>
        </p:nvSpPr>
        <p:spPr>
          <a:xfrm>
            <a:off x="533400" y="5816600"/>
            <a:ext cx="10477500" cy="169277"/>
          </a:xfrm>
          <a:prstGeom prst="rect">
            <a:avLst/>
          </a:prstGeom>
          <a:noFill/>
        </p:spPr>
        <p:txBody>
          <a:bodyPr vert="horz" lIns="0" tIns="0" rIns="0" bIns="0" rtlCol="0">
            <a:spAutoFit/>
          </a:bodyPr>
          <a:lstStyle/>
          <a:p>
            <a:r>
              <a:rPr lang="en-GB" sz="1100">
                <a:solidFill>
                  <a:schemeClr val="dk1"/>
                </a:solidFill>
                <a:latin typeface="Lato" panose="020F0502020204030203" pitchFamily="34" charset="0"/>
              </a:rPr>
              <a:t>Every cell: sourcing mix → captured Durban / Lesedi flow → required vs achievable turns → headroom → return.</a:t>
            </a:r>
            <a:endParaRPr lang="en-ZA" sz="1100">
              <a:solidFill>
                <a:schemeClr val="dk1"/>
              </a:solidFill>
              <a:latin typeface="Lato" panose="020F0502020204030203" pitchFamily="34" charset="0"/>
            </a:endParaRPr>
          </a:p>
        </p:txBody>
      </p:sp>
    </p:spTree>
    <p:extLst>
      <p:ext uri="{BB962C8B-B14F-4D97-AF65-F5344CB8AC3E}">
        <p14:creationId xmlns:p14="http://schemas.microsoft.com/office/powerpoint/2010/main" val="42669906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Petrol demand has declined while diesel has grown slowly, limiting the case for demand-led expansion</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6</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Department sales 2013–2023. CAGR from comparable endpoints: petrol −2.08%, diesel +0.82%. FIASA 2024 is excluded from the trend calculation; its observations remain in the evidence data.</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47B14C95-D924-3665-84F3-29D55A4C87CF}"/>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AF1B239C-E709-7FA6-C8F9-11708DF6B3C0}"/>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3559F509-AA22-60D4-FBB1-4F16315CE824}"/>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F6D8B05F-766F-7196-2271-87679663CBD3}"/>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Evidence chart">
            <a:extLst>
              <a:ext uri="{FF2B5EF4-FFF2-40B4-BE49-F238E27FC236}">
                <a16:creationId xmlns:a16="http://schemas.microsoft.com/office/drawing/2014/main" id="{5C7B3331-E891-838E-8EBF-77CE28D13CE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847C2B00-3C83-ABC4-DF13-7AEFB4E9ADAD}"/>
              </a:ext>
            </a:extLst>
          </p:cNvPr>
          <p:cNvSpPr txBox="1"/>
          <p:nvPr/>
        </p:nvSpPr>
        <p:spPr>
          <a:xfrm>
            <a:off x="533400" y="5613400"/>
            <a:ext cx="10477500" cy="184666"/>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The demand history supports a selective investment case: growth must translate into captured corridor throughput and sufficient tank turns.</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14799658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Power shortages and road freight have supported diesel consumption, but that support can change</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7</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ZW" sz="750"/>
              <a:t>Eskom 2025 integrated report (own-fleet diesel + kerosene); Stats SA freight payload. No causal diesel attribution from tonnes alone. Details: appendix pp19, 22–23.</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619987596"/>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Demand support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Historical 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What this establishes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Power generation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Eskom’s own OCGT fuel use rose to 1,129.5m litres in FY2024, then fell to 679.1m in FY2025 as EAF improved.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D5: availability, retirement and new generation determine dispatch. See the quantitative power exhibit and calibration requirements.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Road freight</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The national payload series shows road carrying substantially more tonnage than rail.</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D2: transferable tonne-kilometres, rail reliability and fuel intensity determine the net diesel effect.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Demand interpretation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Mining and agriculture add sector-specific diesel exposure; aviation has a separate jet-fuel market.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D1: sector activity drives end-use demand. Histories precede explicit L/M/H assumptions; missing data remain identified.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65C188EA-CD4A-66EC-D0E6-4C63F5A12502}"/>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E4120495-0363-30FA-4591-28C06FFB5E97}"/>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712BEA37-A59E-4A93-C915-3D0206F2D34B}"/>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869A999B-B809-8DE4-43D8-6BC161CA77A8}"/>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Tree>
    <p:extLst>
      <p:ext uri="{BB962C8B-B14F-4D97-AF65-F5344CB8AC3E}">
        <p14:creationId xmlns:p14="http://schemas.microsoft.com/office/powerpoint/2010/main" val="41819815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Lower domestic production has increased imports and shifted how inland demand is supplied</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8</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SARS litre-reported petrol/diesel codes, complete calendar years. 2020–2025 changes are historical comparisons, not plant-level causal attribution. Export histories retained in the source report; unit/blend exclusions remain.</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40D21DD3-6452-CF70-D0D4-76BA1A474173}"/>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20D83230-AB67-79B4-27AA-D82CD4D6D37B}"/>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D31EC68D-59A6-67A5-BB91-3F4BB4C90B97}"/>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FBB0628C-B71D-F0B5-B8CF-5E414A3F21C9}"/>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Evidence chart">
            <a:extLst>
              <a:ext uri="{FF2B5EF4-FFF2-40B4-BE49-F238E27FC236}">
                <a16:creationId xmlns:a16="http://schemas.microsoft.com/office/drawing/2014/main" id="{9DFDA661-B832-93F8-55B8-A49FA2CF273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75341B16-4194-5A1D-5C78-62169973A633}"/>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Additional imported litres create handling demand. Vopak benefits where it captures inland flows and can increase turnover or profitably remove a constraint.</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40353937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Domestic sources and competing gateways contest the same inland customers</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9</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Natural Earth country geometry; shared LAEA projection with uniform scale. GeoJSON source catalogue: output/delivered/geospatial/2026_10_07. Corridor lines and places remain authored approximations; operating routes, facility positions and access require validation.</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EC5B595A-4495-9CFA-5F3D-FC80528FC0FC}"/>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B4A2E27F-0865-D805-85A9-620668154449}"/>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4D5C2509-1894-CB8F-6FCB-BE72233AF3D0}"/>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D5A8C1E5-034C-5516-9ED8-30F4DB7FA87C}"/>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Evidence chart">
            <a:extLst>
              <a:ext uri="{FF2B5EF4-FFF2-40B4-BE49-F238E27FC236}">
                <a16:creationId xmlns:a16="http://schemas.microsoft.com/office/drawing/2014/main" id="{F3ECA34E-0574-6DFC-578D-71123ED11CE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64E60D54-782D-6A1D-C81E-94EDFC721C55}"/>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Compare the same product at the same Gauteng destination. Price headroom only becomes capturable throughput where capacity, rights and reliable access exist.</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16494102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Higher turnover could let Durban and Lesedi serve more demand through existing tanks</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10</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Registered REG-TERMINAL-HANDLING-TURNS: 1/2/3 turns per month, authored operational sensitivity, not the demand–supply worlds or measured limits. Gross Durban mixed-product tankage; no assumed eligible fraction. Do not sum inter-terminal transfers as unique demand.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D2EA5270-4919-D320-F38F-D76C5D5A5AEE}"/>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2B76B2D0-6969-37EC-6ACB-1623EFDB8F36}"/>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7CFDF665-061F-DDA4-0817-A9BD9F827778}"/>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90B1D6AB-E7CD-62E8-BD74-5CCF0BC77111}"/>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Evidence chart">
            <a:extLst>
              <a:ext uri="{FF2B5EF4-FFF2-40B4-BE49-F238E27FC236}">
                <a16:creationId xmlns:a16="http://schemas.microsoft.com/office/drawing/2014/main" id="{B6F57FE0-ED9B-2499-F09B-B7607D585E3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30957AFE-744E-715B-9F05-B1FB2F7A17A6}"/>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Required working-capacity turns must be compared with achievable turns at each terminal. Gross handling equivalents do not establish spare capacity or actual market share.</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26842790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Rail recovery, EV adoption and efficiency could reduce transport fuel demand</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11</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ZW" sz="750"/>
              <a:t>Stats SA freight payload; staged naamsa BEV/PHEV annual sales 2019–2025; existing engine petrol-ICE efficiency diagnostics. Dashed efficiency paths are assumptions, not historical OEM evidence. Medium and causal fuel impacts remain uncalibrated.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8A458528-ABA6-4B4C-4804-1223252C00CB}"/>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11E67BA1-7B77-9A65-0D82-29DC20212171}"/>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7B32A317-AF13-D656-8025-C49541529E08}"/>
              </a:ext>
            </a:extLst>
          </p:cNvPr>
          <p:cNvSpPr/>
          <p:nvPr/>
        </p:nvSpPr>
        <p:spPr>
          <a:xfrm>
            <a:off x="58420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2" name="SCR 4">
            <a:extLst>
              <a:ext uri="{FF2B5EF4-FFF2-40B4-BE49-F238E27FC236}">
                <a16:creationId xmlns:a16="http://schemas.microsoft.com/office/drawing/2014/main" id="{12740838-826C-C4C9-FCC1-595105F4014F}"/>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Evidence chart">
            <a:extLst>
              <a:ext uri="{FF2B5EF4-FFF2-40B4-BE49-F238E27FC236}">
                <a16:creationId xmlns:a16="http://schemas.microsoft.com/office/drawing/2014/main" id="{5AF0EBC8-CCD2-F2ED-2ED3-E636FEFF6F4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73734030-2274-8D34-EC2C-4BAEC97A7A2C}"/>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The time series establish the starting points. Rail, adoption and efficiency levers must be calibrated into the same three demand paths before the matrix is quantified.</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16173749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Power recovery could lower diesel use further, while outages and replacement delays could reverse the gains</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12</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Eskom FY ending March. Fuel/EAF: 2025 report; GWh: staged 2024–2026 reports. Own Eskom and IPP generation separated. Private backup and load-shedding histories are missing; no assumed annual generation gap is assigned entirely to diesel.</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EFF47C5C-9BE6-9B50-8E4D-584115D17C20}"/>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6C8FFB71-116C-0FDB-D288-1BAF38702CE6}"/>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6790B19B-241E-3E83-4543-84B52D518E35}"/>
              </a:ext>
            </a:extLst>
          </p:cNvPr>
          <p:cNvSpPr/>
          <p:nvPr/>
        </p:nvSpPr>
        <p:spPr>
          <a:xfrm>
            <a:off x="58420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2" name="SCR 4">
            <a:extLst>
              <a:ext uri="{FF2B5EF4-FFF2-40B4-BE49-F238E27FC236}">
                <a16:creationId xmlns:a16="http://schemas.microsoft.com/office/drawing/2014/main" id="{79C8E30F-91FE-4D18-060B-E3AA2517D545}"/>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Evidence chart">
            <a:extLst>
              <a:ext uri="{FF2B5EF4-FFF2-40B4-BE49-F238E27FC236}">
                <a16:creationId xmlns:a16="http://schemas.microsoft.com/office/drawing/2014/main" id="{9D0A3923-D5FB-7673-D812-D0982C8B84C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5AD931D6-1015-D8CB-E376-2D1232FCDFB7}"/>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Eskom recovery has lowered diesel dispatch. Wind, solar and gas timing must be tested against demand, fleet retirements and dependable output before forecasting residual diesel.</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29532897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Refinery recovery could reduce import needs, while further production losses could increase them</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13</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ZW" sz="750"/>
              <a:t>FIASA 2025 p49, staged refinery_capacity_reported.csv. Reported nameplate capacity, not actual production; source dashes excluded from totals. Historical stack reused; no invented Medium or L/H production forecasts. SAPREF/Natref/Secunda/PetroSA remain explicit levers.</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E66431C4-3871-5B28-69BD-CF0BA3A9C7FC}"/>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7E26C50C-47A4-0925-43F7-C5F1E286BED8}"/>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457F207B-7E7F-6249-76F2-8BE0CD401CA4}"/>
              </a:ext>
            </a:extLst>
          </p:cNvPr>
          <p:cNvSpPr/>
          <p:nvPr/>
        </p:nvSpPr>
        <p:spPr>
          <a:xfrm>
            <a:off x="58420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2" name="SCR 4">
            <a:extLst>
              <a:ext uri="{FF2B5EF4-FFF2-40B4-BE49-F238E27FC236}">
                <a16:creationId xmlns:a16="http://schemas.microsoft.com/office/drawing/2014/main" id="{898DC976-35ED-E260-47FD-F13AD96159A2}"/>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Evidence chart">
            <a:extLst>
              <a:ext uri="{FF2B5EF4-FFF2-40B4-BE49-F238E27FC236}">
                <a16:creationId xmlns:a16="http://schemas.microsoft.com/office/drawing/2014/main" id="{5DC5BF9E-7EFD-184C-98EE-3D3A60141E5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09F101DB-5D5D-2704-1A99-561110F7A4CF}"/>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The existing stacked chart explains the capacity footprint. Plant availability, utilisation and product yields are still required to turn L/M/H supply assumptions into fuel-output paths.</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31033544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Changes in delivered cost and reliability could shift inland flows between competing corridors</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14</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Submodel specification adopted from the annotated review. No route winner is asserted without matched costs, access and capacity.</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243276598"/>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Interpretation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Implication for Vopak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Durban–Lesedi</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Compare road, rail and pipeline to the same receiving point and product specification.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T1–T2: compare access, cost and reliability to the same destination; quantify captured throughput and the resulting tank 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Matola / Maputo</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Include inland haul and border costs for each reachable destination.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 port-level cost comparison cannot establish Gauteng competitiveness.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Walvis Bay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distance, transit time and corridor capacity into each target market.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Do not assume that every inland customer is economically addressable.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Price bearability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Bearable logistics charge = destination selling price less origin product cost, other costs and required margin.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Headroom = bearable charge less actual logistics cost. Capacity and service constrain the share captured through Durban–Lesedi.</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9376314F-2553-8421-A69C-5DADEA2DA3C1}"/>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84805D33-ACC8-CC30-5298-29FE8A73C33A}"/>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F72F9D33-0E55-BA05-DF82-897D88A70BF8}"/>
              </a:ext>
            </a:extLst>
          </p:cNvPr>
          <p:cNvSpPr/>
          <p:nvPr/>
        </p:nvSpPr>
        <p:spPr>
          <a:xfrm>
            <a:off x="58420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2" name="SCR 4">
            <a:extLst>
              <a:ext uri="{FF2B5EF4-FFF2-40B4-BE49-F238E27FC236}">
                <a16:creationId xmlns:a16="http://schemas.microsoft.com/office/drawing/2014/main" id="{8BA5A72B-15E2-F8B3-8485-278A6A907E17}"/>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Tree>
    <p:extLst>
      <p:ext uri="{BB962C8B-B14F-4D97-AF65-F5344CB8AC3E}">
        <p14:creationId xmlns:p14="http://schemas.microsoft.com/office/powerpoint/2010/main" val="3514665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Expansion requires capturable throughput beyond achievable capacity at an adequate return</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15</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Public capacity ratios and Gauteng market size are screening evidence only. Working capacity, realised dispatch, routing, tariffs, contracts and capex remain open. No investment return or throughput market share is fabricated.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766713208"/>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Investment test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Required measure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Decision consequence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Captured throughput</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Domestic + imported unique deliveries by product, customer and terminal.</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Establish accessible flows and avoid double-counting Durban–Lesedi transfers.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Required turnover</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Annual captured m³ / eligible working m³ / 12 = required monthly 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Compare with achievable turns, seasonality, stock policy and receipt/dispatch limits.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Capacity headroom</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Achievable annual handling less required throughput; tank occupancy assessed separately.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Use existing capacity where available, then test targeted debottlenecking or additional storage.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Financial return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Storage and handling revenue, operating cost, capex and working capital.</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incremental cash flow, break-even utilisation, NPV and IRR before committing to expansion.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592B8369-34A7-079A-2C78-1C43BE5AC65B}"/>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AFFF02F3-9FC0-BEAD-4A04-A00CBCB8AB81}"/>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C373341E-CF7C-E549-11A8-6E23F42495F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1B667907-CF1E-DECC-A3AB-8D3194581043}"/>
              </a:ext>
            </a:extLst>
          </p:cNvPr>
          <p:cNvSpPr/>
          <p:nvPr/>
        </p:nvSpPr>
        <p:spPr>
          <a:xfrm>
            <a:off x="85344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Resolution</a:t>
            </a:r>
          </a:p>
        </p:txBody>
      </p:sp>
    </p:spTree>
    <p:extLst>
      <p:ext uri="{BB962C8B-B14F-4D97-AF65-F5344CB8AC3E}">
        <p14:creationId xmlns:p14="http://schemas.microsoft.com/office/powerpoint/2010/main" val="13742047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The supporting evidence calibrates demand, supply and the terminal investment tests</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16</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The main story runs from the opening thesis to the investment tests. The added lever register and power/supply calibration pages record what remains to be populated.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999383959"/>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 group</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Detail retained</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Connection to the story</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Demand</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Activity, freight, EVs, efficiency and power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D1–D5 create the three demand paths.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Supply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Plant output, gas availability and restart timing</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S1–S4 create the three domestic-supply paths.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Capture and operations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Routes, customer share, working tankage and turnover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T1–T5 translate each world into terminal flows and constraints.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Returns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Rates, costs, capex and funding</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F1 translates each investment option into cash flow and returns.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53DC6B79-E55C-72B5-F54C-54859B54DC8C}"/>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090CD179-9F4B-3AF4-C89B-9FEEE6D37121}"/>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CDF829BA-CD47-E6B0-8AC6-66A4CCABAB3D}"/>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8A3C08B8-C08F-B443-4C46-224AC024906C}"/>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844843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Fuel demand has diverged from GDP, so sector activity and fuel intensity need separate treatment</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17</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Staged GDP and department fuel sales, indices 2013=100. Sector attribution remains open; COVID distorts short-period comparisons.</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435C0ED5-64DC-28E1-882F-BA14ED24B3D0}"/>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EAE1214D-FC9D-6704-EFEB-010805C74E79}"/>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B2BB6D62-7433-A397-A9CF-52CA13F82C10}"/>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F2CCCC0E-366A-43B5-8030-D49BECF8B889}"/>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74A030F8-79FE-5823-A630-C7125B26825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B79FBE0F-7A85-700F-D8E1-D09AD897A9B4}"/>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Economic weakness means limited growth in real activity and investment. Structural change means a different mix of output, travel and fuel use; this chart alone cannot attribute causality.</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10454590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Fixed investment has weakened while FDI fluctuates, limiting a simple growth-led fuel argument</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18</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World Bank WDI, FDI net inflows and gross fixed capital formation as % of GDP, 2010–2025. Confidence series remains an evidence gap.</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4A349259-822A-D0A7-CC62-4325C01A456E}"/>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8DD0E411-5447-0A6E-1C6E-ABEEC95D04E9}"/>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CB09B2BB-7B19-FCCC-8C22-D5724B5340B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BB4B52B0-3B90-03D2-FBDF-157624653970}"/>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D81EE01A-D9E8-E0AF-7895-8B9477DA848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93544222-93FC-C5AF-1B73-1B50C9E8230A}"/>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Fixed investment helps frame productive capacity. FDI can include large transactions; neither series is a direct investor-confidence measure or an additional fuel-demand multiplier.</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3876980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Mining, agriculture and aviation expose fuel demand to different activity drivers</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19</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Analytical framework following user comments. Sector-specific exhibits and causal attribution remain to be completed.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816022242"/>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Interpretation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Implication for Vopak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Mining</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Output, commodity mix and haul distance influence diesel use and freight.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Separate mine activity from the fuel impact of changing freight mode.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Agriculture</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Crop cycles, weather, irrigation and logistics can shift seasonal diesel use.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Establish sector activity and fuel exposure before assigning a headwind.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Aviation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Traffic, distance, load factors and aircraft efficiency drive jet-fuel demand.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Keep jet fuel separate from petrol/diesel shares and verify terminal eligibility.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Manufacturing</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Real output and industrial composition help explain the economic backdrop.</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changes using sector data; a national fuel chart does not prove deindustrialisation.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3E942A79-0578-24D9-F877-FFB0C5FC2DFE}"/>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634E4DB7-2ACD-6B37-AE80-AA83ABFDC143}"/>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1F3FD7CF-C985-1B42-865D-655D66905DCD}"/>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4CACE6AA-C355-584C-5274-C6EC46B26917}"/>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34840219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Higher fuel prices strengthen EV running-cost incentives, but ownership economics determine uptake</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20</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Department fuel-price history, nominal R/litre. No quantified geopolitical premium or calibrated EV adoption response is asserted.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AADBCEF7-78AF-51F1-BB92-EB86E910BB05}"/>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0A6FF698-BFA0-959D-160F-56D57562E78C}"/>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97E73EF2-692A-E74A-9B73-468B07CF4B95}"/>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5FBD939D-E96A-AAD4-6C10-561D65335BDB}"/>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13485500-58CA-15F4-A81E-AD174C3D1C8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5059A523-57F5-11C6-E55E-0156AC45055A}"/>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Shipping disruption, crude prices and FX can move fuel costs temporarily. EV adoption depends on sustained total ownership cost, purchase affordability, charging access and fleet replacement.</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16448405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New-vehicle efficiency gains affect fuel demand gradually as older vehicles leave the fleet</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21</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Mechanism supported by existing cohort architecture. OEM historical and future efficiency evidence is still missing; no new forecast shown.</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247120216"/>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Interpretation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Implication for Vopak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Fleet growth</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More vehicles or distance travelled can raise demand.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Measure activity before attributing lower fuel volumes to efficiency.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Efficiency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New-cohort consumption gains enter the fleet over successive replacement cycles.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Obtain OEM and real-world evidence by segment; do not apply new-vehicle gains to every vehicle.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EV substitution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EVs remove some combustion-engine vehicle activity from the fuel calculation.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Count each vehicle transition once, then calculate efficiency on the remaining combustion fleet.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C7C91ED4-8ECA-7CE5-145D-142A4C41AC81}"/>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7DE9220F-5896-A5F2-FCA1-C2C355E82730}"/>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37795AE2-96B8-46CB-1441-A2E9B934AC6D}"/>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B2895A8D-5F6D-5CE0-81D0-6A213DCD74D1}"/>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35565106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Eskom’s own OCGT fuel use fell 40% in FY2025 as availability improved</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22</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Eskom integrated report 2025: FY March, own-fleet diesel + kerosene. EAF association is not a dispatch model; private backup use excluded.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7AF662F1-154D-C701-4E5C-1A22B6959503}"/>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A230D87E-DDC0-4A6E-FBE3-9C8EC59F2732}"/>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7DF847F5-622E-FB8C-50A3-840FADCF00A5}"/>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2C69CE61-D6C5-C242-3F81-CA2D5FB87525}"/>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B2171852-47E4-B906-9625-3A6C59B9422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26CC3E42-3489-527F-F250-57E57DD506DA}"/>
              </a:ext>
            </a:extLst>
          </p:cNvPr>
          <p:cNvSpPr txBox="1"/>
          <p:nvPr/>
        </p:nvSpPr>
        <p:spPr>
          <a:xfrm>
            <a:off x="533400" y="5613400"/>
            <a:ext cx="10477500" cy="184666"/>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Reported fuel fell from 1,129.5 to 679.1 million litres as EAF improved from 54.56% to 60.60%. This removes part of the recent diesel-demand support.</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24907982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Road carries most reported freight tonnage, making transferable haul distance a key diesel lever</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23</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Stats SA monthly freight payload, complete calendar years. National tonnes are not corridor tonne-kilometres or transferable freight.</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07360033-3A16-E422-5722-943A49909B47}"/>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59E66193-0373-0E67-BB5B-AC3074906D73}"/>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CD916A7C-F75C-68C5-245D-159876A316DF}"/>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F736885A-4622-230B-BED4-31207BBBE149}"/>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05C72682-9744-5A66-EC92-BB8309B3143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1797B925-E538-A3F4-8FDD-0D08CEFC03FB}"/>
              </a:ext>
            </a:extLst>
          </p:cNvPr>
          <p:cNvSpPr txBox="1"/>
          <p:nvPr/>
        </p:nvSpPr>
        <p:spPr>
          <a:xfrm>
            <a:off x="533400" y="5613400"/>
            <a:ext cx="10477500" cy="184666"/>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Payload establishes the historical direction. Diesel displacement requires corridor tonne-kilometres, road fuel intensity, rail traction and last-mile activity.</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34724277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Rail funding and reliable service determine how much road freight can return to rail</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24</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User-supplied AIA Transnet Funding Brief, Sep 2026, pp1–2; cites FY2026 AFS and Network Statement v4 Annexure 17. Primary figures not independently reconciled.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961303295"/>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Interpretation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Implication for Vopak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Network ambition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The supplied brief reports a 250 Mt target dependent on a funding plan.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Do not treat every additional rail tonne as road displacement. Commodity, corridor and origin matter.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Funding constraint</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Brief: R46.34bn approved over five years, including R1.71bn expansion.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Maintenance and sustaining spend dominate. A published plan is insufficient evidence of delivered capacity.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Container corridor</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Brief: R2.11bn in 2026/27–2028/29; private funding expected thereafter.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Prioritise Durban–Gauteng road/rail competition and reconcile the corridor to Network Statement v4.</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Two fuel effects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Rail can displace truck diesel while improved infrastructure also changes fuel-distribution economics.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Keep freight-demand effects separate from the route delivering fuel to Gauteng.</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C04A8759-C867-8846-0B8F-51A739366A96}"/>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F4B45393-08F8-D335-04D8-967DB50775CA}"/>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1A6BB13F-B6BF-76B1-9185-92E7E8682C98}"/>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A698CBAB-93A3-2A75-BF13-75277F068108}"/>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10976062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Gauteng demand establishes market scale, while Lesedi capture and turnover determine throughput</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25</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Department provincial sales, latest complete staged year 2022; Vopak Lesedi current capacity. Cross-vintage scale test only, not current observed market share.</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181B9EED-A58D-D508-143D-E2C5DE1F2448}"/>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BA1EABE6-43A2-4CD2-4252-718EEB9E12B0}"/>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06F8FAB3-3713-D5DF-E77B-55F9D6034DCA}"/>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D458739A-A961-8AE3-CB4B-DBC784715338}"/>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FA3A6535-241B-11A2-8777-172A86BD3D6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4ECAB9F4-96BD-0A0A-F5D3-E4253C40D2FB}"/>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2022 petrol + diesel sales total 6.81bn litres. Lesedi’s 140,000m³ equals 2.06% of that annual market per effective gross-capacity turn. Actual turns and Gauteng allocation remain unknown.</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35468477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Every market world passes through explicit demand, supply, capture and operating levers</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26</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Medium is the reference market world; operational sensitivities are separate. Owner: Nigel / analyst and commercial teams. Resolve each missing input before numeric adoption or investment reliance.</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677177630"/>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Lever IDs</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Inputs to calibrate</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Output / remaining evidence</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D1–D5 demand</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0" u="none">
                          <a:solidFill>
                            <a:schemeClr val="dk1"/>
                          </a:solidFill>
                          <a:latin typeface="Lato" panose="020F0502020204030203" pitchFamily="34" charset="0"/>
                        </a:rPr>
                        <a:t>D1 sector growth; D2 rail; D3 EV adoption; D4 efficiency; D5 power.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Historical volumes and time series feed L/M/H demand. OEM, corridor tonne-km and backup evidence remain open.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S1–S4 supply</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pt-BR" sz="1200" b="0" u="none">
                          <a:solidFill>
                            <a:schemeClr val="dk1"/>
                          </a:solidFill>
                          <a:latin typeface="Lato" panose="020F0502020204030203" pitchFamily="34" charset="0"/>
                        </a:rPr>
                        <a:t>S1 SAPREF; S2 Secunda gas/MRG; S3 Natref; S4 PetroSA.</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Dates, utilisation, availability and yields produce L/M/H domestic output. Medium and plant marginal effects require calibration.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T1–T2 capture</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T1 delivered route economics/access; T2 customer/product/destination capture.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Allocate domestic and imported fuel to unique terminal deliveries. Tariffs, rights and commercial allocation remain open.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T3–T5 operations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T3 eligible working tankage; T4 turnover; T5 receipt/dispatch, peaks and stock policy.</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Compare required with achievable turns, occupancy and headroom. Existing 1/2/3-turn sensitivity is illustrative only.</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F1 finance</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Storage/handling terms, costs, capex, tax, working capital and hurdle rate.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Translate constrained throughput into cash flow, NPV, IRR and investment triggers. Commercial inputs remain open.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5"/>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4E1A19EF-DDF5-0323-F86F-3BB0B491BAC4}"/>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758236B7-848C-0AE4-B35A-8697C7580811}"/>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74D21048-EECD-3CC1-F30A-BE0F4041DC9A}"/>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4B86A64B-E20E-0FEA-31B0-B4307B9E1C13}"/>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14922760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Generation timing must close the power balance before residual diesel can be forecast</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27</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ZW" sz="750"/>
              <a:t>Requested generation-balance exhibit remains quantitatively incomplete. Owner: Nigel / power analyst; trigger: before D5 adoption. Do not convert installed renewable MW directly into dependable diesel displacement.</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403520248"/>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Time series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Assumption / lever</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GB" sz="1300" b="1" u="none">
                          <a:solidFill>
                            <a:schemeClr val="dk1"/>
                          </a:solidFill>
                          <a:latin typeface="Lato" panose="020F0502020204030203" pitchFamily="34" charset="0"/>
                        </a:rPr>
                        <a:t>Evidence status and next use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Recovery history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EAF, unserved energy / load-shedding hours, OCGT GWh and litres.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EAF, Eskom fuel and Eskom/IPP GWh staged. Comparable load-shedding and private backup series still needed.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Generation supply by year</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Existing fleet and retirement profile; wind, solar and gas commissioning; availability and utilisation.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Obtain dated Eskom / approved planning schedules. Report annual GWh alongside dependable capacity and dispatch constraints.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Residual dispatch</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Electricity demand, hourly/seasonal shape, storage, imports, reserve needs and fuel constraints.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An annual GWh shortfall alone cannot determine diesel use. Calibrate feasible peaking dispatch, then apply consumption rates.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L/M/H demand contribution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Sustained recovery, reference and setback assumptions across the same planning horizon.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Output generation and diesel time series with solid actuals / dashed assumptions. No uncalibrated future values are drawn.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2D587192-F50E-2157-B619-33B0402256F5}"/>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E3757F78-62CE-3670-6968-EEA3AA0D1721}"/>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E14A1DD4-2D25-4F19-CB8D-6E05B4E594EF}"/>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3B44E80F-7AF5-0E09-D370-40F4B10ACE15}"/>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8164217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Plant-level output and yields must turn the capacity stack into three supply paths</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28</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Three aligned L/M/H production panels require these inputs. Existing stacked history is nameplate capacity. Owner: Nigel / supply analyst; resolve before adopting nine-world domestic supply outputs.</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700617571"/>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Plant lever</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Required time-series inputs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Scenario treatment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S1 SAPREF</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Restart/FID dates, ramp-up, product yields and operating availability.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Distinguish import operations, announced refinery ambition and commissioned output.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S2 Secunda</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Actual liquid output, gas decline, MRG allocation and marginal liquids yield.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Quantify output lost or retained; gas diversion is not an end-user demand reduction.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S3 Natref</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Plant output and ownership basis, outages, utilisation and product yields.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Reconcile reported share with whole-site output before aggregation.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S4 PetroSA</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Restart scope, timing, feedstock, utilisation and liquid yields.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Separate stopped GTL history from a funded restart assumption.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CD7F4386-B47F-42AE-13F3-1C98885D1520}"/>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F1D340AF-F558-104B-C859-7E99872FE403}"/>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9412473E-9774-04E7-1A7C-33A68574AEAF}"/>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5A3AD971-E476-2EBD-5B2A-D96DDDDDBA70}"/>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10835586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Public capacity ratios establish scale but cannot substitute for realised terminal throughput</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29</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Operator capacities: Vopak Durban 360,246m³, Bidvest Durban 439,306m³, Lesedi 140,000m³. Department Gauteng sales 2022; appendix p25. Transfers between terminals must not be double-counted.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548799548"/>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Catchment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Initial inference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GB" sz="1300" b="1" u="none">
                          <a:solidFill>
                            <a:schemeClr val="dk1"/>
                          </a:solidFill>
                          <a:latin typeface="Lato" panose="020F0502020204030203" pitchFamily="34" charset="0"/>
                        </a:rPr>
                        <a:t>What the result can support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Durban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45.1% of the combined published gross capacity of Vopak and Bidvest in Durban.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 two-operator footprint proxy with mixed products and an incomplete market denominator. It does not establish Durban throughput share.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Gauteng / Lesedi</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2022 petrol + diesel sales: 6.81bn litres. Lesedi’s gross capacity equals 2.06% of that market per effective annual turn.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 cross-vintage scale test. Current sales, eligible working capacity, actual turns and Gauteng allocation are needed for a throughput estimate.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Investment implication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Convert eligible tankage and realised turns into unique customer deliveries, then compare with existing capacity.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 large market can coexist with spare terminal capacity. Market scale alone does not establish a need for additional tanks.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C7665B23-6706-C6AF-1544-F08499D30CF5}"/>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8E410C37-9D41-81F9-9797-910EDB28F4FF}"/>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98A8A930-F0AE-7421-2B35-2A2E53FF7AAD}"/>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551434EF-77FB-DF4D-401D-F2376A166647}"/>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3628960855"/>
      </p:ext>
    </p:extLst>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pak Theme" id="{EB158558-B090-4A15-9406-52ADAF46E73D}" vid="{169915E9-BA5A-4298-BC78-09D681881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0A2373"/>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29E3C0-DBBA-4E87-A833-D4D671FDC2D1}">
  <we:reference id="WA200010725" version="1.0.0.1" store="Omex" storeType="OMEX"/>
  <we:alternateReferences>
    <we:reference id="WA200010725" version="1.0.0.1" store="WA200010725" storeType="OMEX"/>
  </we:alternateReferences>
  <we:properties>
    <we:property name="claude.fileId" value="&quot;440e1679-9fef-4664-be92-b7e3c5432c2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B14DAA3CC024F49A081857B4C9CD92A" ma:contentTypeVersion="20" ma:contentTypeDescription="Create a new document." ma:contentTypeScope="" ma:versionID="cdb2463664abbc9cc5ebc4769b50ad18">
  <xsd:schema xmlns:xsd="http://www.w3.org/2001/XMLSchema" xmlns:xs="http://www.w3.org/2001/XMLSchema" xmlns:p="http://schemas.microsoft.com/office/2006/metadata/properties" xmlns:ns2="265cb39c-7109-435c-af5d-13dc21a2db6b" xmlns:ns3="62b85a0e-09bb-4b0f-bd28-e34020cdc070" targetNamespace="http://schemas.microsoft.com/office/2006/metadata/properties" ma:root="true" ma:fieldsID="ee545d7bb76dd121542a05c73fb4a941" ns2:_="" ns3:_="">
    <xsd:import namespace="265cb39c-7109-435c-af5d-13dc21a2db6b"/>
    <xsd:import namespace="62b85a0e-09bb-4b0f-bd28-e34020cdc0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rchiv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5cb39c-7109-435c-af5d-13dc21a2d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f3d1728-64fa-4f01-bb7d-5585de3a980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e" ma:index="26" nillable="true" ma:displayName="Archive" ma:default="0" ma:description="Folder to be backed up, archived and removed from SharePoint" ma:format="Dropdown" ma:internalName="Archive">
      <xsd:simpleType>
        <xsd:restriction base="dms:Boolea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b85a0e-09bb-4b0f-bd28-e34020cdc07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44b13c9-2708-4b8b-a658-00962d7928c2}" ma:internalName="TaxCatchAll" ma:showField="CatchAllData" ma:web="62b85a0e-09bb-4b0f-bd28-e34020cdc0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65cb39c-7109-435c-af5d-13dc21a2db6b">
      <Terms xmlns="http://schemas.microsoft.com/office/infopath/2007/PartnerControls"/>
    </lcf76f155ced4ddcb4097134ff3c332f>
    <TaxCatchAll xmlns="62b85a0e-09bb-4b0f-bd28-e34020cdc070" xsi:nil="true"/>
    <SharedWithUsers xmlns="62b85a0e-09bb-4b0f-bd28-e34020cdc070">
      <UserInfo>
        <DisplayName>Joseph Kihara</DisplayName>
        <AccountId>3747</AccountId>
        <AccountType/>
      </UserInfo>
    </SharedWithUsers>
    <Archive xmlns="265cb39c-7109-435c-af5d-13dc21a2db6b">false</Archive>
  </documentManagement>
</p:properties>
</file>

<file path=customXml/itemProps1.xml><?xml version="1.0" encoding="utf-8"?>
<ds:datastoreItem xmlns:ds="http://schemas.openxmlformats.org/officeDocument/2006/customXml" ds:itemID="{1B9F3023-3460-4C94-AC6C-4F171062BD4F}">
  <ds:schemaRefs>
    <ds:schemaRef ds:uri="265cb39c-7109-435c-af5d-13dc21a2db6b"/>
    <ds:schemaRef ds:uri="62b85a0e-09bb-4b0f-bd28-e34020cdc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1E0AC09D-7AB9-4C7E-89AA-55CFDED1BCB9}">
  <ds:schemaRefs>
    <ds:schemaRef ds:uri="http://schemas.microsoft.com/sharepoint/v3/contenttype/forms"/>
  </ds:schemaRefs>
</ds:datastoreItem>
</file>

<file path=customXml/itemProps3.xml><?xml version="1.0" encoding="utf-8"?>
<ds:datastoreItem xmlns:ds="http://schemas.openxmlformats.org/officeDocument/2006/customXml" ds:itemID="{89FA9FA0-2CB2-436E-A336-3A77ADFE4CF1}">
  <ds:schemaRefs>
    <ds:schemaRef ds:uri="http://purl.org/dc/terms/"/>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schemas.microsoft.com/office/2006/documentManagement/types"/>
    <ds:schemaRef ds:uri="265cb39c-7109-435c-af5d-13dc21a2db6b"/>
    <ds:schemaRef ds:uri="http://purl.org/dc/elements/1.1/"/>
    <ds:schemaRef ds:uri="62b85a0e-09bb-4b0f-bd28-e34020cdc070"/>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Vopak Theme</Template>
  <TotalTime>0</TotalTime>
  <Words>7271</Words>
  <Application>Microsoft Office PowerPoint</Application>
  <PresentationFormat>Custom</PresentationFormat>
  <Paragraphs>571</Paragraphs>
  <Slides>29</Slides>
  <Notes>29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Lato</vt:lpstr>
      <vt:lpstr>Calibri</vt:lpstr>
      <vt:lpstr>Arial</vt:lpstr>
      <vt:lpstr>Vopak Theme</vt:lpstr>
      <vt:lpstr>PowerPoint Presentation</vt:lpstr>
      <vt:lpstr>Slow demand growth and greater import reliance set the baseline; power, refineries and routes could change it</vt:lpstr>
      <vt:lpstr>Vopak can capture inland growth through the Durban–Lesedi corridor, with expansion conditional on turnover and returns</vt:lpstr>
      <vt:lpstr>Capturable volumes, route competitiveness and tank turnover determine the investment required</vt:lpstr>
      <vt:lpstr>Nine demand–supply worlds test the investment choice against the Medium / Medium baseline</vt:lpstr>
      <vt:lpstr>Petrol demand has declined while diesel has grown slowly, limiting the case for demand-led expansion</vt:lpstr>
      <vt:lpstr>Power shortages and road freight have supported diesel consumption, but that support can change</vt:lpstr>
      <vt:lpstr>Lower domestic production has increased imports and shifted how inland demand is supplied</vt:lpstr>
      <vt:lpstr>Domestic sources and competing gateways contest the same inland customers</vt:lpstr>
      <vt:lpstr>Higher turnover could let Durban and Lesedi serve more demand through existing tanks</vt:lpstr>
      <vt:lpstr>Rail recovery, EV adoption and efficiency could reduce transport fuel demand</vt:lpstr>
      <vt:lpstr>Power recovery could lower diesel use further, while outages and replacement delays could reverse the gains</vt:lpstr>
      <vt:lpstr>Refinery recovery could reduce import needs, while further production losses could increase them</vt:lpstr>
      <vt:lpstr>Changes in delivered cost and reliability could shift inland flows between competing corridors</vt:lpstr>
      <vt:lpstr>Expansion requires capturable throughput beyond achievable capacity at an adequate return</vt:lpstr>
      <vt:lpstr>The supporting evidence calibrates demand, supply and the terminal investment tests</vt:lpstr>
      <vt:lpstr>Fuel demand has diverged from GDP, so sector activity and fuel intensity need separate treatment</vt:lpstr>
      <vt:lpstr>Fixed investment has weakened while FDI fluctuates, limiting a simple growth-led fuel argument</vt:lpstr>
      <vt:lpstr>Mining, agriculture and aviation expose fuel demand to different activity drivers</vt:lpstr>
      <vt:lpstr>Higher fuel prices strengthen EV running-cost incentives, but ownership economics determine uptake</vt:lpstr>
      <vt:lpstr>New-vehicle efficiency gains affect fuel demand gradually as older vehicles leave the fleet</vt:lpstr>
      <vt:lpstr>Eskom’s own OCGT fuel use fell 40% in FY2025 as availability improved</vt:lpstr>
      <vt:lpstr>Road carries most reported freight tonnage, making transferable haul distance a key diesel lever</vt:lpstr>
      <vt:lpstr>Rail funding and reliable service determine how much road freight can return to rail</vt:lpstr>
      <vt:lpstr>Gauteng demand establishes market scale, while Lesedi capture and turnover determine throughput</vt:lpstr>
      <vt:lpstr>Every market world passes through explicit demand, supply, capture and operating levers</vt:lpstr>
      <vt:lpstr>Generation timing must close the power balance before residual diesel can be forecast</vt:lpstr>
      <vt:lpstr>Plant-level output and yields must turn the capacity stack into three supply paths</vt:lpstr>
      <vt:lpstr>Public capacity ratios establish scale but cannot substitute for realised terminal throughput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Africa liquid fuels: Week 1 analytical maps</dc:title>
  <dc:subject>Illustrative demand geography and conditional Vopak market access</dc:subject>
  <dc:creator>Africa International Advisors</dc:creator>
  <cp:lastModifiedBy>Nigel Zhuwaki</cp:lastModifiedBy>
  <cp:revision>2</cp:revision>
  <dcterms:created xsi:type="dcterms:W3CDTF">2017-11-16T09:19:07Z</dcterms:created>
  <dcterms:modified xsi:type="dcterms:W3CDTF">2026-10-07T21:53:46Z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0x010100BB14DAA3CC024F49A081857B4C9CD92A</vt:lpwstr>
  </property>
  <property fmtid="{D5CDD505-2E9C-101B-9397-08002B2CF9AE}" pid="3" name="MediaServiceImageTags">
    <vt:lpwstr/>
  </property>
</Properties>
</file>