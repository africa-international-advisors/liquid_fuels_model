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9"/>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6" r:id="rId20"/>
    <p:sldId id="305"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7" r:id="rId36"/>
    <p:sldId id="308" r:id="rId37"/>
    <p:sldId id="309" r:id="rId38"/>
  </p:sldIdLst>
  <p:sldSz cx="11588750" cy="6858000"/>
  <p:notesSz cx="6858000" cy="9144000"/>
  <p:embeddedFontLst>
    <p:embeddedFont>
      <p:font typeface="Lato" panose="020F0502020204030203" pitchFamily="34" charset="0"/>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Executive summary — baseline and changes. Comparable historical periods differ: Department sales 2013–2023; SARS imports 2020–2025; Eskom FY2025 vs FY2024 (own diesel + kerosene). M/M is a reference framework, not a calibrated forecast.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recommendation, not an approved investment. Four numeric decision tests follow on p4; nine-world investment priorities on p5. Customer, operating and commercial inputs remain open.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Decision rules for fuel-capacity expansion, not measured results. Gross turns indicate scale, not achievable working capacity; Durban includes mixed products. Full NPV requires project cash flows. Cost-saving improvements need their own incremental-return test; EV investment is assessed separately. SCR synthesis: p34.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priorities, not calculated recommendations. Rail options need volume, access and returns; rail freight recovery also changes fuel demand. EV adjacencies require a separate customer case and are not implied by low demand. Lever definitions remain in the appendix; original import-direction matrix retained in v22 and slide notes.</a:t>
            </a:r>
          </a:p>
          <a:p>
            <a:r>
              <a:rPr lang="en-GB"/>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CAGR from comparable endpoints: petrol −2.08%, diesel +0.82%. FIASA 2024 is excluded from the trend calculation; its observations remain in the evidence data.</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Fuel/EAF: 2025 report; GWh: staged 2024–2026 reports. Own Eskom and IPP generation separated. Private backup and load-shedding histories are missing; no assumed annual generation gap is assigned entirely to diesel.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Compare common product, destination, price date and tax basis. Emerging gateways must be considered; no relative cost ranking is asserted without quotes and verified access. Landlocked SADC opportunities require separate market/access evidence.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Analytical framework following user comments. Sector-specific exhibits and causal attribution remain to be completed.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own-fleet diesel + kerosene. EAF association is not a dispatch model; private backup use excluded.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monthly freight payload, complete calendar years. National tonnes are not corridor tonne-kilometres or transferable freight.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latest complete staged year 2022; Vopak Lesedi current capacity. Cross-vintage scale test only, not current observed market share.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Operator capacities: Vopak Durban 360,246m³, Bidvest Durban 439,306m³, Lesedi 140,000m³. Department Gauteng sales 2022; appendix p27. Transfers between terminals must not be double-counted.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9.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Investment conditions, nine-world priorities and targeted data requests; commercial thresholds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Prioritise capture and turnover through existing assets; expand where profitable demand exceeds achievable capacity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recommendation, not an approved investment. Four numeric decision tests follow on p4; nine-world investment priorities on p5. Customer, operating and commercial inputs remain open.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5450524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Working recommendation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logic</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Condition for commitment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Win accessible customer flows from imported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Prove delivered competitiveness and sufficient customer volume.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existing
assets first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Increase turnover where tanks and receipt/dispatch allow.</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working capacity and the actual operating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Stage corridor
and capacity spend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access improvements, rail loading, debottlenecking and new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Fund the least-cost viable option that removes the proven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Keep strategic
options open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all nine worlds and emerging gateways; screen EV adjacencies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Apply p4 to fuel-capacity expansion; assess operational and EV options on their own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pic>
        <p:nvPicPr>
          <p:cNvPr id="5" name="Argument icon ship">
            <a:extLst>
              <a:ext uri="{FF2B5EF4-FFF2-40B4-BE49-F238E27FC236}">
                <a16:creationId xmlns:a16="http://schemas.microsoft.com/office/drawing/2014/main" id="{B47E5A1D-34A2-2FC6-94E1-68FB2D2C0D2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route">
            <a:extLst>
              <a:ext uri="{FF2B5EF4-FFF2-40B4-BE49-F238E27FC236}">
                <a16:creationId xmlns:a16="http://schemas.microsoft.com/office/drawing/2014/main" id="{E0A91961-BE7E-F4BD-A78F-05F66CEC383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5" name="Argument icon turns">
            <a:extLst>
              <a:ext uri="{FF2B5EF4-FFF2-40B4-BE49-F238E27FC236}">
                <a16:creationId xmlns:a16="http://schemas.microsoft.com/office/drawing/2014/main" id="{F198E219-6582-C4B6-2F63-4658853F8FC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9" name="Argument icon matrix">
            <a:extLst>
              <a:ext uri="{FF2B5EF4-FFF2-40B4-BE49-F238E27FC236}">
                <a16:creationId xmlns:a16="http://schemas.microsoft.com/office/drawing/2014/main" id="{3A9C8DEA-229B-44BB-94EA-32100EF4BF5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Expand fuel-logistics capacity only when four investment tests pass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Decision rules for fuel-capacity expansion, not measured results. Gross turns indicate scale, not achievable working capacity; Durban includes mixed products. Full NPV requires project cash flows. Cost-saving improvements need their own incremental-return test; EV investment is assessed separately. SCR synthesis: p34.</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51125560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test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Numeric condition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we know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Investment consequence</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Customer
volume</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Secured incremental m³/year ≥ break-even m³/year.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Volume threshold: pending customer commitments, rates and project costs.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Size and phase the option to the volume that can actually be won.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Route
economics</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Delivered-cost headroom ≥ R0/m³ after the required margin.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Headroom: pending matched quotes for the same product and destination.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Include emerging Maputo and Walvis Bay routes and domestic alternatives.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Capacity
constraint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Captured m³/year − achievable m³/year &gt; 0.</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Actual shortfall: unknown. Each 1bn L/year equals 0.23 Durban / 0.60 Lesedi gross monthly 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 access or dispatch first where they bind; add tanks only if storage binds.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Incremental
return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&gt; R0 at the agreed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and hurdle: pending finance inputs. Test ramp-up and downside volumes.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Select a viable option and stage commitment against contracts and delivery.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0" name="Argument icon transport">
            <a:extLst>
              <a:ext uri="{FF2B5EF4-FFF2-40B4-BE49-F238E27FC236}">
                <a16:creationId xmlns:a16="http://schemas.microsoft.com/office/drawing/2014/main" id="{E0719295-613C-380E-B72A-60EDF440E0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2" name="Argument icon corridor">
            <a:extLst>
              <a:ext uri="{FF2B5EF4-FFF2-40B4-BE49-F238E27FC236}">
                <a16:creationId xmlns:a16="http://schemas.microsoft.com/office/drawing/2014/main" id="{65E00889-EA92-28E6-2800-CA4C9A81F27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9" name="Argument icon supply">
            <a:extLst>
              <a:ext uri="{FF2B5EF4-FFF2-40B4-BE49-F238E27FC236}">
                <a16:creationId xmlns:a16="http://schemas.microsoft.com/office/drawing/2014/main" id="{E33F35FC-D817-25D2-1F80-CE1434EB1DB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1" name="Argument icon investment">
            <a:extLst>
              <a:ext uri="{FF2B5EF4-FFF2-40B4-BE49-F238E27FC236}">
                <a16:creationId xmlns:a16="http://schemas.microsoft.com/office/drawing/2014/main" id="{082B07BC-88AB-84C7-C998-15F8C5D6B9A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Nine worlds identify investment priorities; capacity expansion must pass the four tests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priorities, not calculated recommendations. Rail options need volume, access and returns; rail freight recovery also changes fuel demand. EV adjacencies require a separate customer case and are not implied by low demand. Lever definitions remain in the appendix; original import-direction matrix retained in v22 and slide notes.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98169729"/>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DEFEND UTILISATION
Prioritise low-capex efficiency.
Screen rail access / EV adjacencies.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PHASE COMMITMENTS
Debottleneck proven constraints.
Screen EV adjacencies separately.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L
REPLACE LOST SUPPLY
Test import corridor / rail access.
Add tanks only after the four tests.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CAPTURE DOMESTIC FLOWS
Test inland / rail connections.
Defer unsupported import expansion.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CHOICE
Use tanks better; price rail access.
Stage capacity behind contracts.</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L
SECURE IMPORT ACCESS
Test corridor / rail debottlenecks.
Expand only at binding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EXPAND DISTRIBUTION
Test inland links and rail access.
Tank growth follows captured flow.</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UNLOCK THROUGHPUT
Debottleneck corridor / dispatch.
Add tanks if shortfall persists.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TEST STAGED EXPANSION
Secure import / corridor capacity.
Test rail access and extra tanks.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Each world: captured volume → route economics → required turns / bottleneck → investment option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92607845"/>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450m fewer litres in one year. Sustained recovery reduces diesel demand; retirements and replacement timing could reverse it.</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carries 85.3% of tonnes. Rail recovery reduces diesel use only where freight transfers and net fuel savings follow.</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Agriculture grew; mining was flat and manufacturing declined. Sector activity matters more than one GDP assumption.</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Emerging Maputo and Walvis Bay routes must be tested alongside Durban and domestic supply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Maputo and Walvis Bay are emerging alternatives to include by destination. Compare delivered cost, capacity and reliable access before estimating how much inland demand Vopak can capture.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Emerging gateways could redirect inland growth; delivered cost and reliable access determine capture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340449478"/>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Competing route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Pipeline, rail and road costs; reliable receipt and inland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access and handling improvements that protect competitive customer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Maputo / Matola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Delivered cost, border time and capacity into each inland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as an emerging alternative; test customer exposure and corridor responses.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Distance, transit, border costs and feasible destination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Consider emerging inland opportunities; compare reach customer by customer.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sources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Secunda / Natref availability, product output and distribution access.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inland handling and connections as well as import infrastructure.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Choose the investment that removes the proven constraint—and earns a return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2159672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option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When it becomes relevant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 commitment trigger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Existing assets /
debottlenecking</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Customer growth can be served through better tank turns, scheduling or receipt/dispatch.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available working capacity; invest in the specific bottleneck where incremental value is positive.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Corridor / rail
access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Competitive customer flows are constrained by transport capacity, cost or reliability.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Secure service and volume commitments. Compare access contracts, loading assets and partnership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Additional
tank capacity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Profitable captured flows exceed achievable handling and storage remains the binding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and stage tanks against contracted demand; pass the four tests and downside cases.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EV-related
adjacencies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Identified charging / fleet-energy customers offer a viable opportunity as transport electrifies.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Screen partnerships or dedicated assets separately: demand, power access, strategic fit and return must be proven.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6" name="Argument icon turnover">
            <a:extLst>
              <a:ext uri="{FF2B5EF4-FFF2-40B4-BE49-F238E27FC236}">
                <a16:creationId xmlns:a16="http://schemas.microsoft.com/office/drawing/2014/main" id="{BA6FB266-146A-4D87-EE83-A73075F1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Argument icon transport">
            <a:extLst>
              <a:ext uri="{FF2B5EF4-FFF2-40B4-BE49-F238E27FC236}">
                <a16:creationId xmlns:a16="http://schemas.microsoft.com/office/drawing/2014/main" id="{123D469F-315C-7FB5-C3A5-660211B54C5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Argument icon headroom">
            <a:extLst>
              <a:ext uri="{FF2B5EF4-FFF2-40B4-BE49-F238E27FC236}">
                <a16:creationId xmlns:a16="http://schemas.microsoft.com/office/drawing/2014/main" id="{5F1A2A76-F7B3-3178-767E-DCFA9227803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Argument icon power">
            <a:extLst>
              <a:ext uri="{FF2B5EF4-FFF2-40B4-BE49-F238E27FC236}">
                <a16:creationId xmlns:a16="http://schemas.microsoft.com/office/drawing/2014/main" id="{8B95344E-2FD8-34AD-5418-6BD86B8DCB6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Resolve customer volume, working capacity and project economics first to determine the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Request prepared, not sent. Sequence is proposed, not a quantified sensitivity ranking. Nigel to coordinate Vopak data; Manish to reconcile public evidence. Latest 36 complete months where available. Detailed requests and decision triggers logged; owners and commercial inputs remain to be confirmed.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197517381"/>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Data request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detail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it unlocks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FIRST | Volume
DR02 / DR05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Monthly unique deliveries, customer destination, contract term and contestable volumes; separate terminal transfers.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Establish the m³/year Vopak can secure and the revenue it supports.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Capacity
DR03</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Eligible working m³, actual turns, committed capacity, stock policy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Calculate the throughput shortfall and identify whether tanks, access or dispatch bind.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FIRST | Economics
DR04 / DR06</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delivered costs, access, rates, incremental costs and capex; hurdle, ramp-up and working capital.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Calculate route headroom, break-even volume and incremental return by option.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THEN | Stress tests
DR01 / DR07 / DR08</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product balance; annual demand, power and plant-output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Test how far demand or supply must change before the preferred investment changes.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SEPARATE | EV case
DR09</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energy demand, charging utilisation, power connection, delivery partner, capex and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Decide whether an EV adjacency merits development on its own economics.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332274939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17</a:t>
            </a:r>
          </a:p>
        </p:txBody>
      </p:sp>
    </p:spTree>
    <p:extLst>
      <p:ext uri="{BB962C8B-B14F-4D97-AF65-F5344CB8AC3E}">
        <p14:creationId xmlns:p14="http://schemas.microsoft.com/office/powerpoint/2010/main" val="121299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52951794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 separate EV adjacency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p27.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four quarters; SARS trade: 12 months and litre units only, blends/other units excluded. 2021 energy-balance consumption differs from sales; statistical differences are not stock changes. Source hashes and exact values: investment_bridge_2026_10_08/evidence.json.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5993699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national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9.18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12.72</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Gauteng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3.53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3.28</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2022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5.46 / 0.85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11.95 / 0.89</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2021 balance diagnostic</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0.51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2.10 statistical difference needed to reconcile reported supply and final consumption.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is a residual, not measured domestic output. Confirm product and stock boundaries.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Provincial sales establish demand scale, not source allocation or flows captured by Vopak.</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8292652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0158714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Matched 2022 sales/trade; 2021 balance diagnostic.</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 production, stocks and source definitions.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Annual L/M/H paths; rerun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Demand, supply and corridor access translate into captured throughput and required tank turns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59950910"/>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8398</Words>
  <Application>Microsoft Office PowerPoint</Application>
  <PresentationFormat>Custom</PresentationFormat>
  <Paragraphs>719</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Lato</vt:lpstr>
      <vt:lpstr>Calibri</vt:lpstr>
      <vt:lpstr>Arial</vt:lpstr>
      <vt:lpstr>Vopak Theme</vt:lpstr>
      <vt:lpstr>PowerPoint Presentation</vt:lpstr>
      <vt:lpstr>Slow demand growth and greater import reliance set the baseline; road-to-rail shifts, EV adoption, power recovery and refinery changes could reshape the outlook</vt:lpstr>
      <vt:lpstr>Prioritise capture and turnover through existing assets; expand where profitable demand exceeds achievable capacity</vt:lpstr>
      <vt:lpstr>Expand fuel-logistics capacity only when four investment tests pass</vt:lpstr>
      <vt:lpstr>Nine worlds identify investment priorities; capacity expansion must pass the four tests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Emerging Maputo and Walvis Bay routes must be tested alongside Durban and domestic supply</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26</cp:revision>
  <dcterms:created xsi:type="dcterms:W3CDTF">2017-11-16T09:19:07Z</dcterms:created>
  <dcterms:modified xsi:type="dcterms:W3CDTF">2026-10-08T01:31:58Z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