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3"/>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Lst>
  <p:sldSz cx="11588750" cy="6858000"/>
  <p:notesSz cx="6858000" cy="9144000"/>
  <p:embeddedFontLst>
    <p:embeddedFont>
      <p:font typeface="Lato" panose="020F0502020204030203" pitchFamily="34" charset="0"/>
      <p:regular r:id="rId34"/>
      <p:bold r:id="rId35"/>
      <p:italic r:id="rId36"/>
      <p:boldItalic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font" Target="fonts/font1.fntdata"/><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07/10/2026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2025 integrated report (own-fleet diesel + kerosene); Stats SA freight payload. No causal diesel attribution from tonnes alone. Details: appendix pp18, 21–22.</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Existing corridor JSON and Natural Earth boundaries. Approximate authored road/pipeline candidates, not validated operating fuel routes. Domestic-origin and rail links require confirmation; no route tariff or customer right inferred.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staged refinery_capacity_reported.csv. Reported nameplate capacity, not actual production; source dashes excluded from totals. Historical stack reused; no invented Medium or L/H production forecasts. SAPREF/Natref/Secunda/PetroSA remain explicit levers.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Three aligned L/M/H production panels require these inputs. Existing stacked history is nameplate capacity. Owner: Nigel / supply analyst; resolve before adopting nine-world domestic supply outputs.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p24.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vopak.com/terminals/vopak-terminal-durban" TargetMode="Externa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5.xml"/><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slide" Target="slide10.xml"/><Relationship Id="rId4" Type="http://schemas.openxmlformats.org/officeDocument/2006/relationships/slide" Target="slide23.xml"/><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slide" Target="slide18.xml"/><Relationship Id="rId5" Type="http://schemas.openxmlformats.org/officeDocument/2006/relationships/slide" Target="slide19.xml"/><Relationship Id="rId4" Type="http://schemas.openxmlformats.org/officeDocument/2006/relationships/slide" Target="slide23.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slide" Target="slide19.xml"/><Relationship Id="rId4" Type="http://schemas.openxmlformats.org/officeDocument/2006/relationships/slide" Target="slide2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slide" Target="slide19.xml"/><Relationship Id="rId4" Type="http://schemas.openxmlformats.org/officeDocument/2006/relationships/slide" Target="slide2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slide" Target="slide18.xml"/><Relationship Id="rId5" Type="http://schemas.openxmlformats.org/officeDocument/2006/relationships/slide" Target="slide10.xml"/><Relationship Id="rId4" Type="http://schemas.openxmlformats.org/officeDocument/2006/relationships/slide" Target="slide23.xml"/></Relationships>
</file>

<file path=ppt/slides/_rels/slide2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GB">
                <a:solidFill>
                  <a:srgbClr val="FFFFFF"/>
                </a:solidFill>
              </a:rPr>
              <a:t>Durban and Gauteng (Lesedi catchment)</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7 October 2026</a:t>
            </a:r>
            <a:endParaRPr>
              <a:solidFill>
                <a:srgbClr val="FFFFFF"/>
              </a:solidFill>
            </a:endParaRPr>
          </a:p>
        </p:txBody>
      </p:sp>
      <p:sp>
        <p:nvSpPr>
          <p:cNvPr id="10" name="TextBox 9"/>
          <p:cNvSpPr txBox="1"/>
          <p:nvPr/>
        </p:nvSpPr>
        <p:spPr>
          <a:xfrm>
            <a:off x="594360" y="6053328"/>
            <a:ext cx="4572000" cy="184666"/>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ZW" sz="1200">
                <a:solidFill>
                  <a:srgbClr val="FFFFFF"/>
                </a:solidFill>
              </a:rPr>
              <a:t>Feedback applied; quantitative calibration gaps explicit</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Vopak’s growth opportunity lies in serving inland demand through the Durban–Lesedi corridor</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51904371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thesis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market baseline.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3E790-C094-743B-E45E-51D4880A2B6B}"/>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0" name="SCR 2">
            <a:extLst>
              <a:ext uri="{FF2B5EF4-FFF2-40B4-BE49-F238E27FC236}">
                <a16:creationId xmlns:a16="http://schemas.microsoft.com/office/drawing/2014/main" id="{7E120C1F-58DB-EF4A-B862-6294E57C360D}"/>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1" name="SCR 3">
            <a:extLst>
              <a:ext uri="{FF2B5EF4-FFF2-40B4-BE49-F238E27FC236}">
                <a16:creationId xmlns:a16="http://schemas.microsoft.com/office/drawing/2014/main" id="{7768AE69-60C2-4573-BF2E-1ECE2F9444D3}"/>
              </a:ext>
            </a:extLst>
          </p:cNvPr>
          <p:cNvSpPr/>
          <p:nvPr/>
        </p:nvSpPr>
        <p:spPr>
          <a:xfrm>
            <a:off x="76454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13" name="Picture 12">
            <a:extLst>
              <a:ext uri="{FF2B5EF4-FFF2-40B4-BE49-F238E27FC236}">
                <a16:creationId xmlns:a16="http://schemas.microsoft.com/office/drawing/2014/main" id="{D63A1C9A-6F82-F5EC-02A2-EFA0F39F78BB}"/>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5" name="Picture 14">
            <a:extLst>
              <a:ext uri="{FF2B5EF4-FFF2-40B4-BE49-F238E27FC236}">
                <a16:creationId xmlns:a16="http://schemas.microsoft.com/office/drawing/2014/main" id="{FEA60552-4229-7915-89F1-A6769E8F100C}"/>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7" name="Picture 16">
            <a:extLst>
              <a:ext uri="{FF2B5EF4-FFF2-40B4-BE49-F238E27FC236}">
                <a16:creationId xmlns:a16="http://schemas.microsoft.com/office/drawing/2014/main" id="{3D6D4BFA-F05F-ABCC-6197-DF7E106C6FEB}"/>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9" name="Picture 18">
            <a:extLst>
              <a:ext uri="{FF2B5EF4-FFF2-40B4-BE49-F238E27FC236}">
                <a16:creationId xmlns:a16="http://schemas.microsoft.com/office/drawing/2014/main" id="{61E62F49-0CAE-3026-7C75-0D7425D61E10}"/>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Capturable volumes, route competitiveness and tank turnover determine the investment required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68662373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332693933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5F9B971-C1A0-5E90-4835-17A9ED795767}"/>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0" name="SCR 2">
            <a:extLst>
              <a:ext uri="{FF2B5EF4-FFF2-40B4-BE49-F238E27FC236}">
                <a16:creationId xmlns:a16="http://schemas.microsoft.com/office/drawing/2014/main" id="{B5E57652-5667-E29C-F596-0F63FE1F4B75}"/>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1" name="SCR 3">
            <a:extLst>
              <a:ext uri="{FF2B5EF4-FFF2-40B4-BE49-F238E27FC236}">
                <a16:creationId xmlns:a16="http://schemas.microsoft.com/office/drawing/2014/main" id="{B35442E8-33AE-2B7D-29D8-E28F02F5AF04}"/>
              </a:ext>
            </a:extLst>
          </p:cNvPr>
          <p:cNvSpPr/>
          <p:nvPr/>
        </p:nvSpPr>
        <p:spPr>
          <a:xfrm>
            <a:off x="76454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2725317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Nine demand–supply worlds test the investment choice against the Medium / Medium baseline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62770760"/>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1056916109"/>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73ED5B3-2F88-68D0-5BD4-F9A3F2F45D93}"/>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0" name="SCR 2">
            <a:extLst>
              <a:ext uri="{FF2B5EF4-FFF2-40B4-BE49-F238E27FC236}">
                <a16:creationId xmlns:a16="http://schemas.microsoft.com/office/drawing/2014/main" id="{06612307-20FD-E133-4FE5-E2B84544273B}"/>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1" name="SCR 3">
            <a:extLst>
              <a:ext uri="{FF2B5EF4-FFF2-40B4-BE49-F238E27FC236}">
                <a16:creationId xmlns:a16="http://schemas.microsoft.com/office/drawing/2014/main" id="{306EA2EE-28AB-F387-6FFA-146DC8AAAE75}"/>
              </a:ext>
            </a:extLst>
          </p:cNvPr>
          <p:cNvSpPr/>
          <p:nvPr/>
        </p:nvSpPr>
        <p:spPr>
          <a:xfrm>
            <a:off x="76454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
        <p:nvSpPr>
          <p:cNvPr id="12" name="Cell outputs">
            <a:extLst>
              <a:ext uri="{FF2B5EF4-FFF2-40B4-BE49-F238E27FC236}">
                <a16:creationId xmlns:a16="http://schemas.microsoft.com/office/drawing/2014/main" id="{A7DBB6B7-9892-4913-E536-A884F82620EE}"/>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Tree>
    <p:extLst>
      <p:ext uri="{BB962C8B-B14F-4D97-AF65-F5344CB8AC3E}">
        <p14:creationId xmlns:p14="http://schemas.microsoft.com/office/powerpoint/2010/main" val="354195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Petrol demand has declined while diesel has grown slowly, limiting the case for demand-led expansion</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FAD2715-F908-73E2-8B8D-8FCB4216F809}"/>
              </a:ext>
            </a:extLst>
          </p:cNvPr>
          <p:cNvSpPr/>
          <p:nvPr/>
        </p:nvSpPr>
        <p:spPr>
          <a:xfrm>
            <a:off x="4572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0" name="SCR 2">
            <a:extLst>
              <a:ext uri="{FF2B5EF4-FFF2-40B4-BE49-F238E27FC236}">
                <a16:creationId xmlns:a16="http://schemas.microsoft.com/office/drawing/2014/main" id="{36F53BCA-682D-8399-B78E-1190BE6C755E}"/>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1" name="SCR 3">
            <a:extLst>
              <a:ext uri="{FF2B5EF4-FFF2-40B4-BE49-F238E27FC236}">
                <a16:creationId xmlns:a16="http://schemas.microsoft.com/office/drawing/2014/main" id="{D471603A-D366-9098-BE63-D455C5BD0F58}"/>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3" name="Evidence chart">
            <a:extLst>
              <a:ext uri="{FF2B5EF4-FFF2-40B4-BE49-F238E27FC236}">
                <a16:creationId xmlns:a16="http://schemas.microsoft.com/office/drawing/2014/main" id="{2F4E5133-7F99-12F6-B404-2C19F6E7DFB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4A0E2AC4-1024-95EA-0697-D42A0C9535A8}"/>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790241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Power shortages and road freight have supported diesel consumption, but that support can change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2025 integrated report (own-fleet diesel + kerosene); Stats SA freight payload. No causal diesel attribution from tonnes alone. Details: appendix pp18, 21–22.</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80537246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Historical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this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Eskom’s own OCGT fuel use rose to 1,129.5m litres in FY2024, then fell to 679.1m in FY2025 as EAF improved.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D5: availability, retirement and new generation determine dispatch. See the quantitative power exhibit and calibration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national payload series shows road carrying substantially more tonnage than rail.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D2: transferable tonne-kilometres, rail reliability and fuel intensity determine the net diesel effect.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 interpretation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Mining and agriculture add sector-specific diesel exposure; aviation has a separate jet-fuel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 sector activity drives end-use demand. Histories precede explicit L/M/H assumptions; missing data remain identified.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FD3CEC4-737A-018F-6342-5978EBC8D665}"/>
              </a:ext>
            </a:extLst>
          </p:cNvPr>
          <p:cNvSpPr/>
          <p:nvPr/>
        </p:nvSpPr>
        <p:spPr>
          <a:xfrm>
            <a:off x="4572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0" name="SCR 2">
            <a:extLst>
              <a:ext uri="{FF2B5EF4-FFF2-40B4-BE49-F238E27FC236}">
                <a16:creationId xmlns:a16="http://schemas.microsoft.com/office/drawing/2014/main" id="{65E2EF5E-E302-34B9-DC60-869CDE89EE2B}"/>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1" name="SCR 3">
            <a:extLst>
              <a:ext uri="{FF2B5EF4-FFF2-40B4-BE49-F238E27FC236}">
                <a16:creationId xmlns:a16="http://schemas.microsoft.com/office/drawing/2014/main" id="{AC78368F-90C0-BACE-5472-B7C90EB655D5}"/>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3923958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Lower domestic production has increased imports and shifted how inland demand is supplied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871EEE7-E46A-CC60-BD31-3F1F9EA976E9}"/>
              </a:ext>
            </a:extLst>
          </p:cNvPr>
          <p:cNvSpPr/>
          <p:nvPr/>
        </p:nvSpPr>
        <p:spPr>
          <a:xfrm>
            <a:off x="4572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0" name="SCR 2">
            <a:extLst>
              <a:ext uri="{FF2B5EF4-FFF2-40B4-BE49-F238E27FC236}">
                <a16:creationId xmlns:a16="http://schemas.microsoft.com/office/drawing/2014/main" id="{EFF29D88-84FD-BDB7-76BB-EE4649F03AD5}"/>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1" name="SCR 3">
            <a:extLst>
              <a:ext uri="{FF2B5EF4-FFF2-40B4-BE49-F238E27FC236}">
                <a16:creationId xmlns:a16="http://schemas.microsoft.com/office/drawing/2014/main" id="{C564E9BF-2608-052D-CB01-F45E4A5D1FF4}"/>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3" name="Evidence chart">
            <a:extLst>
              <a:ext uri="{FF2B5EF4-FFF2-40B4-BE49-F238E27FC236}">
                <a16:creationId xmlns:a16="http://schemas.microsoft.com/office/drawing/2014/main" id="{7B732664-A1E8-20E4-D8AE-EDF9F991DB9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663D3A38-3DD4-152A-5F08-C9B66C6916C3}"/>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913328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Domestic sources and competing gateways contest the same inland customers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Existing corridor JSON and Natural Earth boundaries. Approximate authored road/pipeline candidates, not validated operating fuel routes. Domestic-origin and rail links require confirmation; no route tariff or customer right inferred.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44BDDF5-DBA1-FB8E-1A9C-E4AE74BE2A6E}"/>
              </a:ext>
            </a:extLst>
          </p:cNvPr>
          <p:cNvSpPr/>
          <p:nvPr/>
        </p:nvSpPr>
        <p:spPr>
          <a:xfrm>
            <a:off x="4572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0" name="SCR 2">
            <a:extLst>
              <a:ext uri="{FF2B5EF4-FFF2-40B4-BE49-F238E27FC236}">
                <a16:creationId xmlns:a16="http://schemas.microsoft.com/office/drawing/2014/main" id="{2381FCD0-2F08-13DD-8AE1-7A8C3E5D3528}"/>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1" name="SCR 3">
            <a:extLst>
              <a:ext uri="{FF2B5EF4-FFF2-40B4-BE49-F238E27FC236}">
                <a16:creationId xmlns:a16="http://schemas.microsoft.com/office/drawing/2014/main" id="{D5EC021B-152F-D6E4-C2A1-0483F1850E3B}"/>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3" name="Evidence chart">
            <a:extLst>
              <a:ext uri="{FF2B5EF4-FFF2-40B4-BE49-F238E27FC236}">
                <a16:creationId xmlns:a16="http://schemas.microsoft.com/office/drawing/2014/main" id="{91AF2E33-FA99-8993-9AA8-B06ABD8C6AB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474A5BE1-B6B8-4211-C0C3-4295E91130C9}"/>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58439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Higher turnover could let Durban and Lesedi serve more demand through existing tanks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A6270A3-A878-B989-8276-EE0BE2C1F61E}"/>
              </a:ext>
            </a:extLst>
          </p:cNvPr>
          <p:cNvSpPr/>
          <p:nvPr/>
        </p:nvSpPr>
        <p:spPr>
          <a:xfrm>
            <a:off x="4572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0" name="SCR 2">
            <a:extLst>
              <a:ext uri="{FF2B5EF4-FFF2-40B4-BE49-F238E27FC236}">
                <a16:creationId xmlns:a16="http://schemas.microsoft.com/office/drawing/2014/main" id="{7EF720C6-EE87-FB5C-1F77-549B45514B36}"/>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1" name="SCR 3">
            <a:extLst>
              <a:ext uri="{FF2B5EF4-FFF2-40B4-BE49-F238E27FC236}">
                <a16:creationId xmlns:a16="http://schemas.microsoft.com/office/drawing/2014/main" id="{DB677FD5-B98F-A698-EFDC-78B1CD49FB7A}"/>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3" name="Evidence chart">
            <a:extLst>
              <a:ext uri="{FF2B5EF4-FFF2-40B4-BE49-F238E27FC236}">
                <a16:creationId xmlns:a16="http://schemas.microsoft.com/office/drawing/2014/main" id="{F634747A-3458-1F11-0F43-3C6ECEBD42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DE453B76-3448-7DB5-3EB7-3E9EA7BA507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995594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Rail recovery, EV adoption and efficiency could reduce transport fuel demand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43346C4-EBEA-7026-F219-2D01E59BFA8B}"/>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0" name="SCR 2">
            <a:extLst>
              <a:ext uri="{FF2B5EF4-FFF2-40B4-BE49-F238E27FC236}">
                <a16:creationId xmlns:a16="http://schemas.microsoft.com/office/drawing/2014/main" id="{D76C1852-6A60-F6CC-699F-269C404B79F4}"/>
              </a:ext>
            </a:extLst>
          </p:cNvPr>
          <p:cNvSpPr/>
          <p:nvPr/>
        </p:nvSpPr>
        <p:spPr>
          <a:xfrm>
            <a:off x="40513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1" name="SCR 3">
            <a:extLst>
              <a:ext uri="{FF2B5EF4-FFF2-40B4-BE49-F238E27FC236}">
                <a16:creationId xmlns:a16="http://schemas.microsoft.com/office/drawing/2014/main" id="{73C1BFE1-2491-AABF-E777-010026378CA1}"/>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3" name="Evidence chart">
            <a:extLst>
              <a:ext uri="{FF2B5EF4-FFF2-40B4-BE49-F238E27FC236}">
                <a16:creationId xmlns:a16="http://schemas.microsoft.com/office/drawing/2014/main" id="{E7063D3B-3E1F-BC7C-4FCD-107157FAA50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D106ADDA-9E8E-612E-7B86-FC488721C0AE}"/>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965818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Power recovery could lower diesel use further, while outages and replacement delays could reverse the gains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AC7B8889-93E1-1BC6-C0CD-8E7127900F72}"/>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0" name="SCR 2">
            <a:extLst>
              <a:ext uri="{FF2B5EF4-FFF2-40B4-BE49-F238E27FC236}">
                <a16:creationId xmlns:a16="http://schemas.microsoft.com/office/drawing/2014/main" id="{BB561DA7-D03A-52AC-65E2-68533FF8DED9}"/>
              </a:ext>
            </a:extLst>
          </p:cNvPr>
          <p:cNvSpPr/>
          <p:nvPr/>
        </p:nvSpPr>
        <p:spPr>
          <a:xfrm>
            <a:off x="40513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1" name="SCR 3">
            <a:extLst>
              <a:ext uri="{FF2B5EF4-FFF2-40B4-BE49-F238E27FC236}">
                <a16:creationId xmlns:a16="http://schemas.microsoft.com/office/drawing/2014/main" id="{48165F10-E4BD-72AD-1351-AB4024985079}"/>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3" name="Evidence chart">
            <a:extLst>
              <a:ext uri="{FF2B5EF4-FFF2-40B4-BE49-F238E27FC236}">
                <a16:creationId xmlns:a16="http://schemas.microsoft.com/office/drawing/2014/main" id="{DFD3FA10-C541-F671-D8DA-16FE230373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AF54B684-CC0D-3ED1-1179-75826B7D4BD7}"/>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09503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Refinery recovery could reduce import needs, while further production losses could increase them</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FIASA 2025 p49, staged refinery_capacity_reported.csv. Reported nameplate capacity, not actual production; source dashes excluded from totals. Historical stack reused; no invented Medium or L/H production forecasts. SAPREF/Natref/Secunda/PetroSA remain explicit levers.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F283D15-7814-8564-A445-7027AACFD2EB}"/>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0" name="SCR 2">
            <a:extLst>
              <a:ext uri="{FF2B5EF4-FFF2-40B4-BE49-F238E27FC236}">
                <a16:creationId xmlns:a16="http://schemas.microsoft.com/office/drawing/2014/main" id="{8CED6D99-176F-92AE-1B9D-1D78F98D144B}"/>
              </a:ext>
            </a:extLst>
          </p:cNvPr>
          <p:cNvSpPr/>
          <p:nvPr/>
        </p:nvSpPr>
        <p:spPr>
          <a:xfrm>
            <a:off x="40513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1" name="SCR 3">
            <a:extLst>
              <a:ext uri="{FF2B5EF4-FFF2-40B4-BE49-F238E27FC236}">
                <a16:creationId xmlns:a16="http://schemas.microsoft.com/office/drawing/2014/main" id="{F311CDBE-7608-A79E-A9A8-60E3CFA65FEB}"/>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3" name="Evidence chart">
            <a:extLst>
              <a:ext uri="{FF2B5EF4-FFF2-40B4-BE49-F238E27FC236}">
                <a16:creationId xmlns:a16="http://schemas.microsoft.com/office/drawing/2014/main" id="{6115EAA6-F06E-8BFD-B3D0-1A1C1F2D0BC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D801B469-9279-0972-9D13-3490321612CE}"/>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existing stacked chart explains the capacity footprint. Plant availability, utilisation and product yields are still required to turn L/M/H supply assumptions into fuel-output paths.</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029007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Changes in delivered cost and reliability could shift inland flows between competing corridors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6231723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D4A7470-AD11-6D61-D89F-B74EA2775EB7}"/>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0" name="SCR 2">
            <a:extLst>
              <a:ext uri="{FF2B5EF4-FFF2-40B4-BE49-F238E27FC236}">
                <a16:creationId xmlns:a16="http://schemas.microsoft.com/office/drawing/2014/main" id="{E22DC434-17D5-F41A-6AEA-7336CCB27060}"/>
              </a:ext>
            </a:extLst>
          </p:cNvPr>
          <p:cNvSpPr/>
          <p:nvPr/>
        </p:nvSpPr>
        <p:spPr>
          <a:xfrm>
            <a:off x="40513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1" name="SCR 3">
            <a:extLst>
              <a:ext uri="{FF2B5EF4-FFF2-40B4-BE49-F238E27FC236}">
                <a16:creationId xmlns:a16="http://schemas.microsoft.com/office/drawing/2014/main" id="{23459247-5BDD-AD4A-2334-9500FB6D1C9E}"/>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247966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Expansion requires capturable throughput beyond achievable capacity at an adequate return</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84754660"/>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2C3DED4-8D51-7B16-6E1A-E881AAD01F34}"/>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0" name="SCR 2">
            <a:extLst>
              <a:ext uri="{FF2B5EF4-FFF2-40B4-BE49-F238E27FC236}">
                <a16:creationId xmlns:a16="http://schemas.microsoft.com/office/drawing/2014/main" id="{36B3F212-F763-7C0C-8990-71AB8A61B3FE}"/>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1" name="SCR 3">
            <a:extLst>
              <a:ext uri="{FF2B5EF4-FFF2-40B4-BE49-F238E27FC236}">
                <a16:creationId xmlns:a16="http://schemas.microsoft.com/office/drawing/2014/main" id="{C14DBA75-5AB1-3051-BF45-EE87F925FF7D}"/>
              </a:ext>
            </a:extLst>
          </p:cNvPr>
          <p:cNvSpPr/>
          <p:nvPr/>
        </p:nvSpPr>
        <p:spPr>
          <a:xfrm>
            <a:off x="7645400" y="88900"/>
            <a:ext cx="346710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330710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The supporting evidence calibrates demand, supply and the terminal investment tests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19978917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BAE83C28-0203-EFAA-A7BD-B95442FC6E2F}"/>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0DDE2967-7EC5-CC62-0F47-5C72ECC449BF}"/>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20A0CEC0-BD90-AB6A-472E-74ACC3478A68}"/>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65079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Fuel demand has diverged from GDP, so sector activity and fuel intensity need separate treatment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AC3CB02-8DF9-4BD4-7267-45D5DEF53246}"/>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685AF04-89A5-2275-BB24-6D4353869302}"/>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41A68B89-25F7-5E1E-98D6-EBA98C62CBD9}"/>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3" name="Evidence chart">
            <a:extLst>
              <a:ext uri="{FF2B5EF4-FFF2-40B4-BE49-F238E27FC236}">
                <a16:creationId xmlns:a16="http://schemas.microsoft.com/office/drawing/2014/main" id="{0D3DFDA2-5D1B-5B85-7B09-39898F1493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C0BCFDF4-B83D-F76C-BCA4-4EB6104E093B}"/>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4165597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Fixed investment has weakened while FDI fluctuates, limiting a simple growth-led fuel argument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701E791-CB25-27BE-6B22-37040C5A9E9B}"/>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FD836165-1FAF-73BE-3EE6-F51EE38FF1DC}"/>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6AB6EA8-0994-99C6-E090-81003D569C29}"/>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3" name="Evidence chart">
            <a:extLst>
              <a:ext uri="{FF2B5EF4-FFF2-40B4-BE49-F238E27FC236}">
                <a16:creationId xmlns:a16="http://schemas.microsoft.com/office/drawing/2014/main" id="{E082F10F-8D2B-5EAA-5465-1808D747AF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2465B020-5732-59C9-5B7E-D8A4FE48EB33}"/>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46136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Mining, agriculture and aviation expose fuel demand to different activity drivers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09198670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D742B60-B07B-FF83-15BE-7D1121167A36}"/>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5A5A67B2-37DD-CBC2-CECA-9C3B34EF4840}"/>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43E9673C-A552-0C64-99B8-0AD86E4DB4C6}"/>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835202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Higher fuel prices strengthen EV running-cost incentives, but ownership economics determine uptake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6B9B6F0-BF96-7ADF-FC77-FA3CDA8E7F8A}"/>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ABE92AB-8BD9-7F0E-B135-7F18657E4897}"/>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FDD9F71-02C1-C987-76B1-12CC0D86066B}"/>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3" name="Evidence chart">
            <a:extLst>
              <a:ext uri="{FF2B5EF4-FFF2-40B4-BE49-F238E27FC236}">
                <a16:creationId xmlns:a16="http://schemas.microsoft.com/office/drawing/2014/main" id="{623A7645-30B7-D0AB-711F-AA16D23A78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8AD98220-8916-5A6D-7351-5A1A6D1B8117}"/>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4203100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New-vehicle efficiency gains affect fuel demand gradually as older vehicles leave the fleet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40877225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3C9272A-11A1-CABA-5F18-D30873E4089F}"/>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C8075B60-ED8B-24D7-59A3-F94DDA1C4E78}"/>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85C3FBE-8BC0-8294-6025-967C453AAABA}"/>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2572432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Eskom’s own OCGT fuel use fell 40% in FY2025 as availability improved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C690620-9869-0105-EEEB-54BC6AB9D582}"/>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E9291C2F-FB1F-F731-FE5F-54629F6BAAE8}"/>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580CC7F3-970C-C596-8575-4E69A6794258}"/>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3" name="Evidence chart">
            <a:extLst>
              <a:ext uri="{FF2B5EF4-FFF2-40B4-BE49-F238E27FC236}">
                <a16:creationId xmlns:a16="http://schemas.microsoft.com/office/drawing/2014/main" id="{B96B80B7-6FBC-5528-2B4B-2B6E3BAC3FD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822FB587-8FC0-B242-9225-922484C930A1}"/>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4258554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Road carries most reported freight tonnage, making transferable haul distance a key diesel lever</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F70603D-13D0-CBDC-E06E-45291EF88AAA}"/>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F3259F32-56D1-3A22-45F7-6CA53E804958}"/>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BC6738A-711A-88D7-45D5-FC4FE4745DE9}"/>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3" name="Evidence chart">
            <a:extLst>
              <a:ext uri="{FF2B5EF4-FFF2-40B4-BE49-F238E27FC236}">
                <a16:creationId xmlns:a16="http://schemas.microsoft.com/office/drawing/2014/main" id="{DAAF05A8-358C-8931-6536-E020DA6CDB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1CD018B8-8E4F-B57C-CF58-24482BE9073B}"/>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894546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Rail funding and reliable service determine how much road freight can return to rail</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00646247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F9DA56A-4829-7569-0F4B-7C44EB4F3974}"/>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CB9BECAD-906F-996B-05B6-4A5D214DB5CF}"/>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F64C1AF-E232-4DE0-583A-5FFC7E0A338D}"/>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78526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Gauteng demand establishes market scale, while Lesedi capture and turnover determine throughput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0F8CB3C-F6E0-9F78-23D2-4B893FBEB822}"/>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22C9148D-5665-4249-4C1A-3ECF99F9D0F4}"/>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6D7139B-C7B3-EBB5-1940-E949A839AEE3}"/>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3" name="Evidence chart">
            <a:extLst>
              <a:ext uri="{FF2B5EF4-FFF2-40B4-BE49-F238E27FC236}">
                <a16:creationId xmlns:a16="http://schemas.microsoft.com/office/drawing/2014/main" id="{E439F3EE-B98D-5548-B2F9-E9393F39E93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Interpretation">
            <a:extLst>
              <a:ext uri="{FF2B5EF4-FFF2-40B4-BE49-F238E27FC236}">
                <a16:creationId xmlns:a16="http://schemas.microsoft.com/office/drawing/2014/main" id="{C87E2668-17E3-00FC-0A43-FB01850E3B5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562726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Every market world passes through explicit demand, supply, capture and operating levers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18394683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233BD69-F533-DD31-2217-CA4560C41C8F}"/>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ED2F569-641B-5357-6038-404EF1D8B777}"/>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FA43D3F-C646-22AD-E94A-15876136CFC5}"/>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2111964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Generation timing must close the power balance before residual diesel can be forecast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00215152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8279956-E094-789F-B939-00B5CB869365}"/>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FD9877-38BA-24F9-2DC3-C710D8AF424B}"/>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FF99E5D-6DED-B636-0F37-8844ECC1793E}"/>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66106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Plant-level output and yields must turn the capacity stack into three supply paths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Three aligned L/M/H production panels require these inputs. Existing stacked history is nameplate capacity. Owner: Nigel / supply analyst; resolve before adopting nine-world domestic supply outputs.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02146848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Restart/FID dates, ramp-up, product yields and operating availability.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Distinguish import operations, announced refinery ambition and commissioned output.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Actual liquid output, gas decline, MRG allocation and marginal liquids yield.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Quantify output lost or retained; gas diversion is not an end-user demand reduction.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and ownership basis, outages, utilisation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Reconcile reported share with whole-site output before aggregation.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Restart scope, timing, feedstock, utilisation and liquid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stopped GTL history from a funded restart assumption.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1AFF5A4-F41A-CB4B-96D0-8AE9BCF3F531}"/>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5C65E380-52D8-CBFE-4EC8-B867A6719515}"/>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5231942A-96F2-FB18-B982-5E4E243D2B05}"/>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13919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Public capacity ratios establish scale but cannot substitute for realised terminal throughput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p24.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24713090"/>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5B1DBD-AB48-642C-39C2-BD8787831B7B}"/>
              </a:ext>
            </a:extLst>
          </p:cNvPr>
          <p:cNvSpPr/>
          <p:nvPr/>
        </p:nvSpPr>
        <p:spPr>
          <a:xfrm>
            <a:off x="4572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C1F3D2B-50FB-0A31-3BB4-25675E8A46B9}"/>
              </a:ext>
            </a:extLst>
          </p:cNvPr>
          <p:cNvSpPr/>
          <p:nvPr/>
        </p:nvSpPr>
        <p:spPr>
          <a:xfrm>
            <a:off x="40513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F2C6885-23F3-93CF-0259-0F9570B27194}"/>
              </a:ext>
            </a:extLst>
          </p:cNvPr>
          <p:cNvSpPr/>
          <p:nvPr/>
        </p:nvSpPr>
        <p:spPr>
          <a:xfrm>
            <a:off x="7645400" y="88900"/>
            <a:ext cx="346710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2359863389"/>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6846</Words>
  <Application>Microsoft Office PowerPoint</Application>
  <PresentationFormat>Custom</PresentationFormat>
  <Paragraphs>519</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Calibri</vt:lpstr>
      <vt:lpstr>Lato</vt:lpstr>
      <vt:lpstr>Arial</vt:lpstr>
      <vt:lpstr>Vopak Theme</vt:lpstr>
      <vt:lpstr>PowerPoint Presentation</vt:lpstr>
      <vt:lpstr>Vopak’s growth opportunity lies in serving inland demand through the Durban–Lesedi corridor</vt:lpstr>
      <vt:lpstr>Capturable volumes, route competitiveness and tank turnover determine the investment required</vt:lpstr>
      <vt:lpstr>Nine demand–supply worlds test the investment choice against the Medium / Medium baseline</vt:lpstr>
      <vt:lpstr>Petrol demand has declined while diesel has grown slowly, limiting the case for demand-led expansion</vt:lpstr>
      <vt:lpstr>Power shortages and road freight have supported diesel consumption, but that support can change</vt:lpstr>
      <vt:lpstr>Lower domestic production has increased imports and shifted how inland demand is supplied</vt:lpstr>
      <vt:lpstr>Domestic sources and competing gateways contest the same inland customers</vt:lpstr>
      <vt:lpstr>Higher turnover could let Durban and Lesedi serve more demand through existing tanks</vt:lpstr>
      <vt:lpstr>Rail recovery, EV adoption and efficiency could reduce transport fuel demand</vt:lpstr>
      <vt:lpstr>Power recovery could lower diesel use further, while outages and replacement delays could reverse the gains</vt:lpstr>
      <vt:lpstr>Refinery recovery could reduce import needs, while further production losses could increase them</vt:lpstr>
      <vt:lpstr>Changes in delivered cost and reliability could shift inland flows between competing corridors</vt:lpstr>
      <vt:lpstr>Expansion requires capturable throughput beyond achievable capacity at an adequate return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Plant-level output and yields must turn the capacity stack into three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2</cp:revision>
  <dcterms:created xsi:type="dcterms:W3CDTF">2017-11-16T09:19:07Z</dcterms:created>
  <dcterms:modified xsi:type="dcterms:W3CDTF">2026-10-07T21:17:20Z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