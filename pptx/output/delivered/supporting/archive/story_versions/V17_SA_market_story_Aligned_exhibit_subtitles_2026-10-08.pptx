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35"/>
  </p:notesMasterIdLst>
  <p:sldIdLst>
    <p:sldId id="256"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305" r:id="rId20"/>
    <p:sldId id="291" r:id="rId21"/>
    <p:sldId id="292" r:id="rId22"/>
    <p:sldId id="293" r:id="rId23"/>
    <p:sldId id="294" r:id="rId24"/>
    <p:sldId id="295" r:id="rId25"/>
    <p:sldId id="296" r:id="rId26"/>
    <p:sldId id="297" r:id="rId27"/>
    <p:sldId id="298" r:id="rId28"/>
    <p:sldId id="299" r:id="rId29"/>
    <p:sldId id="300" r:id="rId30"/>
    <p:sldId id="301" r:id="rId31"/>
    <p:sldId id="302" r:id="rId32"/>
    <p:sldId id="303" r:id="rId33"/>
    <p:sldId id="304" r:id="rId34"/>
  </p:sldIdLst>
  <p:sldSz cx="11588750" cy="6858000"/>
  <p:notesSz cx="6858000" cy="9144000"/>
  <p:embeddedFontLst>
    <p:embeddedFont>
      <p:font typeface="Lato" panose="020F0502020204030203" pitchFamily="34" charset="0"/>
      <p:regular r:id="rId36"/>
      <p:bold r:id="rId37"/>
      <p:italic r:id="rId38"/>
      <p:boldItalic r:id="rId3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4.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2.fntdata"/><Relationship Id="rId40" Type="http://schemas.openxmlformats.org/officeDocument/2006/relationships/commentAuthors" Target="commentAuthor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1.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3.fntdata"/><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08/10/2026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Executive summary — baseline and changes. Comparable historical periods differ: Department sales 2013–2023; SARS imports 2020–2025; Eskom FY2025 vs FY2024 (own diesel + kerosene). M/M is a reference framework, not a calibrated forecast.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Working thesis for the Durban–Lesedi corridor into Gauteng. Domestic and imported origins require verified access. No measured Vopak share, calibrated nine-world outputs or approved expansion returns are asserted.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Lever IDs are mapped in the appendix. All nine market worlds use explicit routing, capture and operational assumptions. Tank occupancy, turnover and throughput utilisation are separate measures.</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Qualitative matrix, not numerical forecasts. T1–T5 and F1 translate each world into investment outcomes. Imports are an intermediate balance; domestic supply can also generate terminal flows where access is available.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sales 2013–2023. CAGR from comparable endpoints: petrol −2.08%, diesel +0.82%. FIASA 2024 is excluded from the trend calculation; its observations remain in the evidence data.</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2025 integrated report (own-fleet diesel + kerosene); Stats SA freight payload. No causal diesel attribution from tonnes alone. Details: appendix pp19, 22–23.</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SARS litre-reported petrol/diesel codes, complete calendar years. 2020–2025 changes are historical comparisons, not plant-level causal attribution. Export histories retained in the source report; unit/blend exclusions remain.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Natural Earth country geometry; shared LAEA projection with uniform scale. GeoJSON source catalogue: output/delivered/geospatial/2026_10_07. Corridor lines and places remain authored approximations; operating routes, facility positions and access require validation.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Registered REG-TERMINAL-HANDLING-TURNS: 1/2/3 turns per month, authored operational sensitivity, not the demand–supply worlds or measured limits. Gross Durban mixed-product tankage; no assumed eligible fraction. Do not sum inter-terminal transfers as unique demand.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freight payload; staged naamsa BEV/PHEV annual sales 2019–2025; existing engine petrol-ICE efficiency diagnostics. Dashed efficiency paths are assumptions, not historical OEM evidence. Medium and causal fuel impacts remain uncalibrated.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FY ending March. Fuel/EAF: 2025 report; GWh: staged 2024–2026 reports. Own Eskom and IPP generation separated. Private backup and load-shedding histories are missing; no assumed annual generation gap is assigned entirely to diesel.</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Submodel specification adopted from the annotated review. No route winner is asserted without matched costs, access and capacity.</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Public capacity ratios and Gauteng market size are screening evidence only. Working capacity, realised dispatch, routing, tariffs, contracts and capex remain open. No investment return or throughput market share is fabricated.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The main story runs from the opening thesis to the investment tests. The added lever register and power/supply calibration pages record what remains to be populated.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Staged GDP and department fuel sales, indices 2013=100. Sector attribution remains open; COVID distorts short-period comparisons.</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World Bank WDI, FDI net inflows and gross fixed capital formation as % of GDP, 2010–2025. Confidence series remains an evidence gap.</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Analytical framework following user comments. Sector-specific exhibits and causal attribution remain to be completed.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fuel-price history, nominal R/litre. No quantified geopolitical premium or calibrated EV adoption response is asserted.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Mechanism supported by existing cohort architecture. OEM historical and future efficiency evidence is still missing; no new forecast shown.</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integrated report 2025: FY March, own-fleet diesel + kerosene. EAF association is not a dispatch model; private backup use excluded.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monthly freight payload, complete calendar years. National tonnes are not corridor tonne-kilometres or transferable freight.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User-supplied AIA Transnet Funding Brief, Sep 2026, pp1–2; cites FY2026 AFS and Network Statement v4 Annexure 17. Primary figures not independently reconciled.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provincial sales, latest complete staged year 2022; Vopak Lesedi current capacity. Cross-vintage scale test only, not current observed market share.</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Medium is the reference market world; operational sensitivities are separate. Owner: Nigel / analyst and commercial teams. Resolve each missing input before numeric adoption or investment reliance.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Requested generation-balance exhibit remains quantitatively incomplete. Owner: Nigel / power analyst; trigger: before D5 adoption. Do not convert installed renewable MW directly into dependable diesel displacement.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footprint cases: 250 / 358 / 758 kbpd; not a complete low/base/high production range. Owner: Manish; Nigel review. Resolve dates, operating factors, yields and gas effects before nine-world output adoption or investment use.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Operator capacities: Vopak Durban 360,246m³, Bidvest Durban 439,306m³, Lesedi 140,000m³. Department Gauteng sales 2022; appendix p25. Transfers between terminals must not be double-counted.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1636345"/>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South Africa
liquid fuels
market story</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52322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Inland supply, corridor capture and tank turnover</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Updated exhibit layout and appendix; scenario and commercial calibration remain open</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Slow demand growth and greater import reliance set the baseline; power, refineries and routes could change it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Executive summary — baseline and changes. Comparable historical periods differ: Department sales 2013–2023; SARS imports 2020–2025; Eskom FY2025 vs FY2024 (own diesel + kerosene). M/M is a reference framework, not a calibrated forecast.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7378282"/>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Baseline / reference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the evidence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changes the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Fuel demand
and power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ZW" sz="1300" b="0" u="none">
                          <a:solidFill>
                            <a:schemeClr val="dk1"/>
                          </a:solidFill>
                          <a:latin typeface="Lato" panose="020F0502020204030203" pitchFamily="34" charset="0"/>
                        </a:rPr>
                        <a:t>2013–2023 CAGR: petrol −2.08%;
diesel +0.82%. Eskom OCGT fuel use
fell 40% in FY2025.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rail, EVs and efficiency alter
transport demand; fleet recovery and
new generation alter diesel 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Domestic supply
and imports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2020–2025 imports rose by 5.43bn
litres of diesel and 2.73bn of petrol.
The sourcing mix has shifted.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SAPREF and PetroSA restart paths,
Secunda gas/MRG and Natref output
can change domestic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Corridor position
and tank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provide coastal
and inland assets serving Gauteng.
Working capacity and turns are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 costs, access and customer
capture determine flow; achievable
turnover determines handling headroom.</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Medium / Medium
reference world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M/M anchors the nine-world matrix.
Historical evidence is assembled;
numerical calibration remains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Vary demand and supply around M/M,
then test capture, turnover and returns
to identify investment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CF3951A-A899-DC35-9D57-2959614A3D2D}"/>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D93A382-E852-639E-5959-D2DC1811AD93}"/>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F003A279-89E8-A115-95AC-AF99BD7AD9FA}"/>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29A5ABB3-597B-135A-9D2F-C83453C0BD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5FFB5050-04D7-BD8E-C2D8-A90ADECEBA2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9D41E588-78D3-6A70-C1DF-050D4913622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87A494AB-264B-D351-11CB-EEDB0FF06A5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8D76DDB2-A3B1-4F8A-F740-7E189C3A976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Vopak can capture inland growth through the Durban–Lesedi corridor, with expansion conditional on turnover and returns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Working thesis for the Durban–Lesedi corridor into Gauteng. Domestic and imported origins require verified access. No measured Vopak share, calibrated nine-world outputs or approved expansion returns are asserted.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79202826"/>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Why it matters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determines the choice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inland
supply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Imported and domestic fuel can serve
inland demand. Terminal access and
customer capture determine volumes.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Size the accessible market by origin,
product and destination, then estimate
Vopak’s share of the resulting flows.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Use the corridor
position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connect coastal
handling with inland distribution
into the Gauteng catchment.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delivered costs, access and
reliability with competing gateways
and domestic sources.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Increase asset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can increase throughput
through existing tanks. Receipt and
dispatch constrain achievable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assets, debottleneck or
add storage according to working
capacity, turnover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Test nine
market worlds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Demand and domestic supply each
have L/M/H paths. Medium/Medium
is the reference to calibrate.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Track captured flow, required turns
and capacity headroom in every world;
phase investment against clear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67BCA86-4787-793C-9BAF-B52395C15ED1}"/>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820E6367-02AA-EFC7-E696-5F9FB9FC8B5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69AF3DC7-6FA2-8B1B-84EA-43740FECF2F0}"/>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E00D3C3D-620E-1E52-A22A-1A32C71711EB}"/>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1C172743-177D-8767-A8C1-E4BB3F204A0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FC9B0254-39CF-D311-B0E6-038C27C8F11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FDF7C176-58AE-4B5C-3E0C-185309C9BF55}"/>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E1ED0EF3-5B29-0FD7-897C-B8F24DE8DF7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1030359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Capturable volumes, route competitiveness and tank turnover determine the investment required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Lever IDs are mapped in the appendix. All nine market worlds use explicit routing, capture and operational assumptions. Tank occupancy, turnover and throughput utilisation are separate measures.</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87130155"/>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758844180"/>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Argument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Situation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Complication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Resolution / decision</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Transport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Subdued aggregate growth masks different product trends. Road freight supports diesel use.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Sector growth, rail recovery, EVs and efficiency change fuel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D1–D4 define activity, rail, EV and efficiency paths. Translate them into capturable product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Power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Power shortages supported diesel use; Eskom consumption has recently fallen.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Recovery may persist or reverse through outages and replacement delays.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D5 adds fleet recovery, replacement timing and diesel dispatch to the same demand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Domestic
supply</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Reduced local production has increased reliance on imports.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SAPREF, Natref and Secunda can change domestic fuel output materially.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S1–S4 define plant output and sourcing mix. Imports are one consequence of the domestic balance.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Corridor
competition</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connects imported fuel to inland customers.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Alternative gateways, delivered costs, reliability and access alter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T1–T2 compare delivered economics and capture for domestic and imported fuel serving common destinations.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Vopak
investment</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and Lesedi provide connected assets whose throughput can rise through higher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tankage, receipt/dispatch, peaks and stock requirements constrain achievable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T3–T5 compare working capacity, required/achievable turns and dispatch limits. F1 tests incremental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F1BADD4-22C2-45DF-EDF9-FFC73FE683E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51A48197-34A5-CE98-9102-867053F8AE8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B5E86410-519A-880A-CBF1-ED931F7C40F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53043490-8979-25F3-E6C4-DF89A6402FD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pic>
        <p:nvPicPr>
          <p:cNvPr id="5" name="Argument icon transport">
            <a:extLst>
              <a:ext uri="{FF2B5EF4-FFF2-40B4-BE49-F238E27FC236}">
                <a16:creationId xmlns:a16="http://schemas.microsoft.com/office/drawing/2014/main" id="{4F16A327-C80A-4F7D-9F32-9B0DED405C1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power">
            <a:extLst>
              <a:ext uri="{FF2B5EF4-FFF2-40B4-BE49-F238E27FC236}">
                <a16:creationId xmlns:a16="http://schemas.microsoft.com/office/drawing/2014/main" id="{27F3DA2D-E378-7BC3-004E-4A784C6C104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2938780"/>
            <a:ext cx="317500" cy="317500"/>
          </a:xfrm>
          <a:prstGeom prst="rect">
            <a:avLst/>
          </a:prstGeom>
        </p:spPr>
      </p:pic>
      <p:pic>
        <p:nvPicPr>
          <p:cNvPr id="14" name="Argument icon supply">
            <a:extLst>
              <a:ext uri="{FF2B5EF4-FFF2-40B4-BE49-F238E27FC236}">
                <a16:creationId xmlns:a16="http://schemas.microsoft.com/office/drawing/2014/main" id="{1F8D31E3-6F2B-57A5-71F0-3ECD2A1DECF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3756660"/>
            <a:ext cx="317500" cy="317500"/>
          </a:xfrm>
          <a:prstGeom prst="rect">
            <a:avLst/>
          </a:prstGeom>
        </p:spPr>
      </p:pic>
      <p:pic>
        <p:nvPicPr>
          <p:cNvPr id="16" name="Argument icon corridor">
            <a:extLst>
              <a:ext uri="{FF2B5EF4-FFF2-40B4-BE49-F238E27FC236}">
                <a16:creationId xmlns:a16="http://schemas.microsoft.com/office/drawing/2014/main" id="{DE49D30A-FD3F-24C2-3BF1-D649A4F6C262}"/>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4574540"/>
            <a:ext cx="317500" cy="317500"/>
          </a:xfrm>
          <a:prstGeom prst="rect">
            <a:avLst/>
          </a:prstGeom>
        </p:spPr>
      </p:pic>
      <p:pic>
        <p:nvPicPr>
          <p:cNvPr id="18" name="Argument icon investment">
            <a:extLst>
              <a:ext uri="{FF2B5EF4-FFF2-40B4-BE49-F238E27FC236}">
                <a16:creationId xmlns:a16="http://schemas.microsoft.com/office/drawing/2014/main" id="{047FF7F7-DD96-6C05-6683-D3DAA13B48B0}"/>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08000" y="5392420"/>
            <a:ext cx="317500" cy="317500"/>
          </a:xfrm>
          <a:prstGeom prst="rect">
            <a:avLst/>
          </a:prstGeom>
        </p:spPr>
      </p:pic>
    </p:spTree>
    <p:extLst>
      <p:ext uri="{BB962C8B-B14F-4D97-AF65-F5344CB8AC3E}">
        <p14:creationId xmlns:p14="http://schemas.microsoft.com/office/powerpoint/2010/main" val="2455040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Nine demand–supply worlds test the investment choice against the Medium / Medium baseline</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Qualitative matrix, not numerical forecasts. T1–T5 and F1 translate each world into investment outcomes. Imports are an intermediate balance; domestic supply can also generate terminal flows where access is available.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85509803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177725183"/>
                    </a:ext>
                  </a:extLst>
                </a:gridCol>
              </a:tblGrid>
              <a:tr h="5080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Fuel demand / domestic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HIGH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MEDIUM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LOW supply (S1–S4)</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LOW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1" u="none">
                          <a:solidFill>
                            <a:schemeClr val="accent1"/>
                          </a:solidFill>
                          <a:latin typeface="Lato" panose="020F0502020204030203" pitchFamily="34" charset="0"/>
                        </a:rPr>
                        <a:t>L / H
LOWEST IMPORT PRESSURE
Domestic routing and customer capture still determine terminal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tint val="15000"/>
                      </a:schemeClr>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M
Lower imports than baseline.
Test utilisation and customer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L / L
Demand and supply both fall.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MEDIUM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H
Lower imports than baseline.
Supply recovery reduces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lt1"/>
                          </a:solidFill>
                          <a:latin typeface="Lato" panose="020F0502020204030203" pitchFamily="34" charset="0"/>
                        </a:rPr>
                        <a:t>M / M
BASELINE
Reference sourcing, captured throughput, required turns and headroom.</a:t>
                      </a:r>
                      <a:endParaRPr sz="1200" b="1" u="none">
                        <a:solidFill>
                          <a:schemeClr val="l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M / L
Higher imports than baseline.
Supply losses increase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HIGH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H
Demand and supply both rise.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M
Higher imports than baseline.
Demand growth increases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accent1"/>
                          </a:solidFill>
                          <a:latin typeface="Lato" panose="020F0502020204030203" pitchFamily="34" charset="0"/>
                        </a:rPr>
                        <a:t>H / L
HIGHEST IMPORT PRESSURE
Test the captured flow against working capacity and achievable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chemeClr val="accent1">
                        <a:tint val="15000"/>
                      </a:schemeClr>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136AF08-1E04-67EA-5D63-A207BCDA044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D682162-EDB3-B556-05D2-5DA6B0C29FED}"/>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BFF8C75E-43C1-A02F-4431-B83E98863AF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836E6DC0-6373-72E1-D28D-0FD892BE099B}"/>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sp>
        <p:nvSpPr>
          <p:cNvPr id="13" name="Cell outputs">
            <a:extLst>
              <a:ext uri="{FF2B5EF4-FFF2-40B4-BE49-F238E27FC236}">
                <a16:creationId xmlns:a16="http://schemas.microsoft.com/office/drawing/2014/main" id="{80C551B0-D528-A7CB-091A-0E0CED318C82}"/>
              </a:ext>
            </a:extLst>
          </p:cNvPr>
          <p:cNvSpPr txBox="1"/>
          <p:nvPr/>
        </p:nvSpPr>
        <p:spPr>
          <a:xfrm>
            <a:off x="533400" y="5816600"/>
            <a:ext cx="10477500" cy="169277"/>
          </a:xfrm>
          <a:prstGeom prst="rect">
            <a:avLst/>
          </a:prstGeom>
          <a:noFill/>
        </p:spPr>
        <p:txBody>
          <a:bodyPr vert="horz" lIns="0" tIns="0" rIns="0" bIns="0" rtlCol="0">
            <a:spAutoFit/>
          </a:bodyPr>
          <a:lstStyle/>
          <a:p>
            <a:r>
              <a:rPr lang="en-GB" sz="1100">
                <a:solidFill>
                  <a:schemeClr val="dk1"/>
                </a:solidFill>
                <a:latin typeface="Lato" panose="020F0502020204030203" pitchFamily="34" charset="0"/>
              </a:rPr>
              <a:t>Every cell: sourcing mix → captured Durban / Lesedi flow → required vs achievable turns → headroom → return.</a:t>
            </a:r>
            <a:endParaRPr lang="en-ZA" sz="1100">
              <a:solidFill>
                <a:schemeClr val="dk1"/>
              </a:solidFill>
              <a:latin typeface="Lato" panose="020F0502020204030203" pitchFamily="34" charset="0"/>
            </a:endParaRPr>
          </a:p>
        </p:txBody>
      </p:sp>
    </p:spTree>
    <p:extLst>
      <p:ext uri="{BB962C8B-B14F-4D97-AF65-F5344CB8AC3E}">
        <p14:creationId xmlns:p14="http://schemas.microsoft.com/office/powerpoint/2010/main" val="1610620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Petrol demand has declined while diesel has grown slowly, limiting the case for demand-led expansion</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6</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sales 2013–2023. CAGR from comparable endpoints: petrol −2.08%, diesel +0.82%. FIASA 2024 is excluded from the trend calculation; its observations remain in the evidence data.</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C5F3F9-4F59-13ED-19D4-0013D487315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16F29AD-D7FE-6F92-5257-CF455AA08A0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408A53D6-704E-7FB6-6013-379E29EB6DA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93202C4-E619-6D6C-D555-717EA9A2652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82C4BDB8-6541-63B8-D72B-1E0C6E25D71E}"/>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demand history supports a selective investment case: growth must translate into captured corridor throughput and sufficient tank turns.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4601A9B8-4DBF-6D30-35BF-BC15F541E7B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A32BFB1A-7005-8829-3986-E9C6574D4BF6}"/>
              </a:ext>
            </a:extLst>
          </p:cNvPr>
          <p:cNvSpPr txBox="1"/>
          <p:nvPr/>
        </p:nvSpPr>
        <p:spPr>
          <a:xfrm>
            <a:off x="457200" y="1625600"/>
            <a:ext cx="6900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Demand trend</a:t>
            </a:r>
          </a:p>
        </p:txBody>
      </p:sp>
      <p:sp>
        <p:nvSpPr>
          <p:cNvPr id="16" name="Aligned panel subtitle">
            <a:extLst>
              <a:ext uri="{FF2B5EF4-FFF2-40B4-BE49-F238E27FC236}">
                <a16:creationId xmlns:a16="http://schemas.microsoft.com/office/drawing/2014/main" id="{B34C4DB0-C252-C5B2-9A2B-64E4954C1BC2}"/>
              </a:ext>
            </a:extLst>
          </p:cNvPr>
          <p:cNvSpPr txBox="1"/>
          <p:nvPr/>
        </p:nvSpPr>
        <p:spPr>
          <a:xfrm>
            <a:off x="7637318" y="1625600"/>
            <a:ext cx="347264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Change over 2013–2023</a:t>
            </a:r>
          </a:p>
        </p:txBody>
      </p:sp>
      <p:cxnSp>
        <p:nvCxnSpPr>
          <p:cNvPr id="13" name="Content margin panel rule">
            <a:extLst>
              <a:ext uri="{FF2B5EF4-FFF2-40B4-BE49-F238E27FC236}">
                <a16:creationId xmlns:a16="http://schemas.microsoft.com/office/drawing/2014/main" id="{9E9502C7-E41F-03FD-386F-5745A114DBD6}"/>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DF2015EC-FF0B-3877-CB46-57E6534A8CA0}"/>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127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Power shortages and road freight have supported diesel consumption, but that support can change</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7</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Eskom 2025 integrated report (own-fleet diesel + kerosene); Stats SA freight payload. No causal diesel attribution from tonnes alone. Details: appendix pp20, 23–24.</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4225271482"/>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Demand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Historical 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this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Power
generation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Eskom’s own OCGT fuel use rose to 1,129.5m litres in FY2024, then fell to 679.1m in FY2025 as EAF improved.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D5: availability, retirement and new generation determine dispatch. See the quantitative power exhibit and calibration requirements.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Road
freight</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The national payload series shows road carrying substantially more tonnage than rail.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D2: transferable tonne-kilometres, rail reliability and fuel intensity determine the net diesel effect.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Sector
demand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Mining and agriculture add sector-specific diesel exposure; aviation has a separate jet-fuel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 sector activity drives end-use demand. Histories precede explicit L/M/H assumptions; missing data remain identified.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3CF9B2C-740D-465A-2E04-EF1E6C04AB3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D74F809-1D99-8AD3-6C6D-E9292C8CF143}"/>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A4627725-22FB-78CC-5D0D-7DCC9CBDF7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878996B7-8B88-DFD0-723B-13DD7E2F15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5" name="Argument icon power">
            <a:extLst>
              <a:ext uri="{FF2B5EF4-FFF2-40B4-BE49-F238E27FC236}">
                <a16:creationId xmlns:a16="http://schemas.microsoft.com/office/drawing/2014/main" id="{5307DC4D-9C2E-17D3-AF75-9BD47A72B28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transport">
            <a:extLst>
              <a:ext uri="{FF2B5EF4-FFF2-40B4-BE49-F238E27FC236}">
                <a16:creationId xmlns:a16="http://schemas.microsoft.com/office/drawing/2014/main" id="{6B99810F-6354-E5DD-6F08-D1853559C0E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484033"/>
            <a:ext cx="317500" cy="317500"/>
          </a:xfrm>
          <a:prstGeom prst="rect">
            <a:avLst/>
          </a:prstGeom>
        </p:spPr>
      </p:pic>
      <p:pic>
        <p:nvPicPr>
          <p:cNvPr id="14" name="Argument icon sector">
            <a:extLst>
              <a:ext uri="{FF2B5EF4-FFF2-40B4-BE49-F238E27FC236}">
                <a16:creationId xmlns:a16="http://schemas.microsoft.com/office/drawing/2014/main" id="{10A63FD9-531D-1196-4A39-9AB4B21B9F63}"/>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847166"/>
            <a:ext cx="317500" cy="317500"/>
          </a:xfrm>
          <a:prstGeom prst="rect">
            <a:avLst/>
          </a:prstGeom>
        </p:spPr>
      </p:pic>
    </p:spTree>
    <p:extLst>
      <p:ext uri="{BB962C8B-B14F-4D97-AF65-F5344CB8AC3E}">
        <p14:creationId xmlns:p14="http://schemas.microsoft.com/office/powerpoint/2010/main" val="1183918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Lower domestic production has increased imports and shifted how inland demand is supplied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SARS litre-reported petrol/diesel codes, complete calendar years. 2020–2025 changes are historical comparisons, not plant-level causal attribution. Export histories retained in the source report; unit/blend exclusions remain.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C93CB81-07B7-7E70-D004-32567DD5FED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6E1A541-338A-EB56-1595-3D44EA292466}"/>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7FEED33D-4506-B40B-29F1-4255470AA99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C412178A-32D9-EFE7-A6BA-4576A3E0776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F651618-E88B-F09E-4383-953C0C2A27BA}"/>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Additional imported litres create handling demand. Vopak benefits where it captures inland flows and can increase turnover or profitably remove a constraint.</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FECCD2A9-E1AC-0767-B262-3724453555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932354EC-65B1-0EF2-A176-8E881B4387C0}"/>
              </a:ext>
            </a:extLst>
          </p:cNvPr>
          <p:cNvSpPr txBox="1"/>
          <p:nvPr/>
        </p:nvSpPr>
        <p:spPr>
          <a:xfrm>
            <a:off x="457200" y="1625600"/>
            <a:ext cx="6900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Import trend</a:t>
            </a:r>
          </a:p>
        </p:txBody>
      </p:sp>
      <p:sp>
        <p:nvSpPr>
          <p:cNvPr id="16" name="Aligned panel subtitle">
            <a:extLst>
              <a:ext uri="{FF2B5EF4-FFF2-40B4-BE49-F238E27FC236}">
                <a16:creationId xmlns:a16="http://schemas.microsoft.com/office/drawing/2014/main" id="{A6FB8A44-2E10-A3A7-1081-800C64B998A5}"/>
              </a:ext>
            </a:extLst>
          </p:cNvPr>
          <p:cNvSpPr txBox="1"/>
          <p:nvPr/>
        </p:nvSpPr>
        <p:spPr>
          <a:xfrm>
            <a:off x="7637318" y="1625600"/>
            <a:ext cx="347264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Change since 2020</a:t>
            </a:r>
          </a:p>
        </p:txBody>
      </p:sp>
      <p:cxnSp>
        <p:nvCxnSpPr>
          <p:cNvPr id="13" name="Content margin panel rule">
            <a:extLst>
              <a:ext uri="{FF2B5EF4-FFF2-40B4-BE49-F238E27FC236}">
                <a16:creationId xmlns:a16="http://schemas.microsoft.com/office/drawing/2014/main" id="{A22152ED-23B4-0FD3-2F66-B6877716014E}"/>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73D51DF1-6238-21A8-43E4-84DCDF95BDD5}"/>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9227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Domestic sources and competing gateways contest the same inland customers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9</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9BE0BDC-1283-E261-F55A-1C6A60822E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BBA0217-A689-9C15-E686-7EA4A2C9E77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219F7F0B-97E6-1C22-9CD8-56F25F0F6A8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70880E68-04F4-B011-F986-4C6BC5F62AC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516117D-4450-D13E-2623-2F637C71BC0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Compare the same product at the same Gauteng destination. Price headroom only becomes capturable throughput where capacity, rights and reliable access exist.</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930EE57E-7562-B5A2-24AC-E21250AE5AF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D1C964E9-5708-A42E-3984-1415C36B1638}"/>
              </a:ext>
            </a:extLst>
          </p:cNvPr>
          <p:cNvSpPr txBox="1"/>
          <p:nvPr/>
        </p:nvSpPr>
        <p:spPr>
          <a:xfrm>
            <a:off x="457200" y="1625600"/>
            <a:ext cx="6554354"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Competing supply corridors</a:t>
            </a:r>
          </a:p>
        </p:txBody>
      </p:sp>
      <p:sp>
        <p:nvSpPr>
          <p:cNvPr id="16" name="Aligned panel subtitle">
            <a:extLst>
              <a:ext uri="{FF2B5EF4-FFF2-40B4-BE49-F238E27FC236}">
                <a16:creationId xmlns:a16="http://schemas.microsoft.com/office/drawing/2014/main" id="{404BB07F-45B9-2C46-75B8-8E01DEEB4FC0}"/>
              </a:ext>
            </a:extLst>
          </p:cNvPr>
          <p:cNvSpPr txBox="1"/>
          <p:nvPr/>
        </p:nvSpPr>
        <p:spPr>
          <a:xfrm>
            <a:off x="7290954" y="1625600"/>
            <a:ext cx="3819005"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Same product, same destination</a:t>
            </a:r>
          </a:p>
        </p:txBody>
      </p:sp>
      <p:cxnSp>
        <p:nvCxnSpPr>
          <p:cNvPr id="13" name="Content margin panel rule">
            <a:extLst>
              <a:ext uri="{FF2B5EF4-FFF2-40B4-BE49-F238E27FC236}">
                <a16:creationId xmlns:a16="http://schemas.microsoft.com/office/drawing/2014/main" id="{D40C228C-E1F3-FAF9-F974-012CA2C8EDA3}"/>
              </a:ext>
            </a:extLst>
          </p:cNvPr>
          <p:cNvCxnSpPr/>
          <p:nvPr/>
        </p:nvCxnSpPr>
        <p:spPr>
          <a:xfrm>
            <a:off x="7290954" y="1907308"/>
            <a:ext cx="3819006"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ED2A77DA-C089-7025-B9EA-04CDDC2FBD82}"/>
              </a:ext>
            </a:extLst>
          </p:cNvPr>
          <p:cNvCxnSpPr/>
          <p:nvPr/>
        </p:nvCxnSpPr>
        <p:spPr>
          <a:xfrm>
            <a:off x="457200" y="1907308"/>
            <a:ext cx="6579754"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3413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Higher turnover could let Durban and Lesedi serve more demand through existing tanks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10</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Registered REG-TERMINAL-HANDLING-TURNS: 1/2/3 turns per month, authored operational sensitivity, not the demand–supply worlds or measured limits. Gross Durban mixed-product tankage; no assumed eligible fraction. Do not sum inter-terminal transfers as unique demand.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2407EC9-1612-094C-1705-85382BC15FE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A778276-599C-2A6B-6C50-6DCD33805BF9}"/>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BB20E8F9-3771-6C49-6A40-18406754706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F5A0E947-B3B3-EB62-5A96-928310C79DFF}"/>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2B2F98-1CA8-D28C-45F0-12A02C57694F}"/>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Required working-capacity turns must be compared with achievable turns at each terminal. Gross handling equivalents do not establish spare capacity or actual market share.</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8E0EDE20-70B3-10E2-1723-322F15147C6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0C3AB7FF-975E-3531-56F7-FAFB27E2CDA6}"/>
              </a:ext>
            </a:extLst>
          </p:cNvPr>
          <p:cNvSpPr txBox="1"/>
          <p:nvPr/>
        </p:nvSpPr>
        <p:spPr>
          <a:xfrm>
            <a:off x="457200" y="1625600"/>
            <a:ext cx="597708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Gross handling sensitivity</a:t>
            </a:r>
          </a:p>
        </p:txBody>
      </p:sp>
      <p:sp>
        <p:nvSpPr>
          <p:cNvPr id="16" name="Aligned panel subtitle">
            <a:extLst>
              <a:ext uri="{FF2B5EF4-FFF2-40B4-BE49-F238E27FC236}">
                <a16:creationId xmlns:a16="http://schemas.microsoft.com/office/drawing/2014/main" id="{B8814EA5-61B8-A714-6C26-C7E3EE3A0648}"/>
              </a:ext>
            </a:extLst>
          </p:cNvPr>
          <p:cNvSpPr txBox="1"/>
          <p:nvPr/>
        </p:nvSpPr>
        <p:spPr>
          <a:xfrm>
            <a:off x="6713682" y="1625600"/>
            <a:ext cx="439627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Investment test</a:t>
            </a:r>
          </a:p>
        </p:txBody>
      </p:sp>
      <p:cxnSp>
        <p:nvCxnSpPr>
          <p:cNvPr id="13" name="Content margin panel rule">
            <a:extLst>
              <a:ext uri="{FF2B5EF4-FFF2-40B4-BE49-F238E27FC236}">
                <a16:creationId xmlns:a16="http://schemas.microsoft.com/office/drawing/2014/main" id="{2ED46011-FBAF-7AAB-EBD0-348E839EAD34}"/>
              </a:ext>
            </a:extLst>
          </p:cNvPr>
          <p:cNvCxnSpPr/>
          <p:nvPr/>
        </p:nvCxnSpPr>
        <p:spPr>
          <a:xfrm>
            <a:off x="6713682" y="1907308"/>
            <a:ext cx="439627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64C0BE0B-48E8-C824-B388-610E8586E426}"/>
              </a:ext>
            </a:extLst>
          </p:cNvPr>
          <p:cNvCxnSpPr/>
          <p:nvPr/>
        </p:nvCxnSpPr>
        <p:spPr>
          <a:xfrm>
            <a:off x="457200" y="1907308"/>
            <a:ext cx="600248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8560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Rail recovery, EV adoption and efficiency could reduce transport fuel demand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Stats SA freight payload; staged naamsa BEV/PHEV annual sales 2019–2025; existing engine petrol-ICE efficiency diagnostics. Dashed efficiency paths are assumptions, not historical OEM evidence. Medium and causal fuel impacts remain uncalibrated.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9FE9DB-A7B9-8D69-C615-C56477C9021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38103FD-60F0-1D52-83B7-120DD9B43DC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D50E0E10-BE04-5DDC-0186-93D6ED9D6991}"/>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C1089FD-0B69-C240-3B7E-FD08C0DF9C83}"/>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C0A75D0E-0958-3DE4-F3C9-30CE642F526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1E4A0915-F513-C2B4-1FEC-0FAB08989DA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time series establish the starting points. Rail, adoption and efficiency levers must be calibrated into the same three demand paths before the matrix is quantified.</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37224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Power recovery could lower diesel use further, while outages and replacement delays could reverse the gains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FY ending March. Fuel/EAF: 2025 report; GWh: staged 2024–2026 reports. Own Eskom and IPP generation separated. Private backup and load-shedding histories are missing; no assumed annual generation gap is assigned entirely to diesel.</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8104FD1-D03E-613C-EADF-9CBAD2040D4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E81801EC-F6BA-CCE9-DE2E-8EE41751C19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0DB85F31-F707-8CF4-8C81-115F7726D01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1DBC1C8-7174-E49A-3855-5054BA72C2C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75C8EF-7362-9FCC-FB56-1545DD74A102}"/>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Eskom recovery has lowered diesel dispatch. Wind, solar and gas timing must be tested against demand, fleet retirements and dependable output before forecasting residual diesel.</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B0D59058-546A-B7AD-DED9-4ED7DDA678C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6" name="Aligned panel subtitle">
            <a:extLst>
              <a:ext uri="{FF2B5EF4-FFF2-40B4-BE49-F238E27FC236}">
                <a16:creationId xmlns:a16="http://schemas.microsoft.com/office/drawing/2014/main" id="{9B1BAE31-E9DC-F48A-FBAB-11CD20EF25A5}"/>
              </a:ext>
            </a:extLst>
          </p:cNvPr>
          <p:cNvSpPr txBox="1"/>
          <p:nvPr/>
        </p:nvSpPr>
        <p:spPr>
          <a:xfrm>
            <a:off x="457200" y="1625600"/>
            <a:ext cx="3471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Diesel use</a:t>
            </a:r>
          </a:p>
        </p:txBody>
      </p:sp>
      <p:sp>
        <p:nvSpPr>
          <p:cNvPr id="17" name="Aligned panel subtitle">
            <a:extLst>
              <a:ext uri="{FF2B5EF4-FFF2-40B4-BE49-F238E27FC236}">
                <a16:creationId xmlns:a16="http://schemas.microsoft.com/office/drawing/2014/main" id="{422D356C-8F8B-BE3B-7BA1-F10680E53CDD}"/>
              </a:ext>
            </a:extLst>
          </p:cNvPr>
          <p:cNvSpPr txBox="1"/>
          <p:nvPr/>
        </p:nvSpPr>
        <p:spPr>
          <a:xfrm>
            <a:off x="4208318" y="1625600"/>
            <a:ext cx="3091873"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Fleet availability</a:t>
            </a:r>
          </a:p>
        </p:txBody>
      </p:sp>
      <p:sp>
        <p:nvSpPr>
          <p:cNvPr id="18" name="Aligned panel subtitle">
            <a:extLst>
              <a:ext uri="{FF2B5EF4-FFF2-40B4-BE49-F238E27FC236}">
                <a16:creationId xmlns:a16="http://schemas.microsoft.com/office/drawing/2014/main" id="{9696205B-021F-AFFC-619E-3E3C643F6B2D}"/>
              </a:ext>
            </a:extLst>
          </p:cNvPr>
          <p:cNvSpPr txBox="1"/>
          <p:nvPr/>
        </p:nvSpPr>
        <p:spPr>
          <a:xfrm>
            <a:off x="7579591" y="1625600"/>
            <a:ext cx="3530369"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Peaking generation</a:t>
            </a:r>
          </a:p>
        </p:txBody>
      </p:sp>
      <p:cxnSp>
        <p:nvCxnSpPr>
          <p:cNvPr id="13" name="Content margin panel rule">
            <a:extLst>
              <a:ext uri="{FF2B5EF4-FFF2-40B4-BE49-F238E27FC236}">
                <a16:creationId xmlns:a16="http://schemas.microsoft.com/office/drawing/2014/main" id="{3D706A4A-3A1F-2B37-0C69-8001EDBF6522}"/>
              </a:ext>
            </a:extLst>
          </p:cNvPr>
          <p:cNvCxnSpPr/>
          <p:nvPr/>
        </p:nvCxnSpPr>
        <p:spPr>
          <a:xfrm>
            <a:off x="4208318" y="1907308"/>
            <a:ext cx="31172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tent margin panel rule">
            <a:extLst>
              <a:ext uri="{FF2B5EF4-FFF2-40B4-BE49-F238E27FC236}">
                <a16:creationId xmlns:a16="http://schemas.microsoft.com/office/drawing/2014/main" id="{663EBD41-7D1E-7CF1-A91A-ECFF3FDB7809}"/>
              </a:ext>
            </a:extLst>
          </p:cNvPr>
          <p:cNvCxnSpPr/>
          <p:nvPr/>
        </p:nvCxnSpPr>
        <p:spPr>
          <a:xfrm>
            <a:off x="7579591" y="1907308"/>
            <a:ext cx="3530369"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DE27D913-8EBB-F21A-E627-98323AA65269}"/>
              </a:ext>
            </a:extLst>
          </p:cNvPr>
          <p:cNvCxnSpPr/>
          <p:nvPr/>
        </p:nvCxnSpPr>
        <p:spPr>
          <a:xfrm>
            <a:off x="457200" y="1907308"/>
            <a:ext cx="3497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3277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could expand the supply footprint, while Natref unavailability would reduce it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13</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3A2CBD4-DADE-06FC-DAA1-79FEEC12F6BB}"/>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F4773F92-650A-67FF-991A-9CC907CF308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95466396-4F3E-F5C6-FE51-8442919301C0}"/>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3E40C6C5-566E-BD31-51EF-6813560C32C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9CC2AEFF-6D66-1976-385C-0512507A5D4D}"/>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These capacity cases anchor the supply-axis discussion. Translate them into product output, then test imports, corridor capture and required tank turns in each of the nine worlds.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73F8AF27-11F8-0FE2-F97D-E3ABDE330FD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063231E6-9BEF-65A8-610E-23EDEA876B26}"/>
              </a:ext>
            </a:extLst>
          </p:cNvPr>
          <p:cNvSpPr txBox="1"/>
          <p:nvPr/>
        </p:nvSpPr>
        <p:spPr>
          <a:xfrm>
            <a:off x="457200" y="1625600"/>
            <a:ext cx="3841173"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Reported history</a:t>
            </a:r>
          </a:p>
        </p:txBody>
      </p:sp>
      <p:sp>
        <p:nvSpPr>
          <p:cNvPr id="16" name="Aligned panel subtitle">
            <a:extLst>
              <a:ext uri="{FF2B5EF4-FFF2-40B4-BE49-F238E27FC236}">
                <a16:creationId xmlns:a16="http://schemas.microsoft.com/office/drawing/2014/main" id="{FAEA5F44-DACF-B58C-7B4A-AD9753A18B4D}"/>
              </a:ext>
            </a:extLst>
          </p:cNvPr>
          <p:cNvSpPr txBox="1"/>
          <p:nvPr/>
        </p:nvSpPr>
        <p:spPr>
          <a:xfrm>
            <a:off x="4577773" y="1625600"/>
            <a:ext cx="6532187"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Illustrative 2036 capacity cases</a:t>
            </a:r>
          </a:p>
        </p:txBody>
      </p:sp>
      <p:cxnSp>
        <p:nvCxnSpPr>
          <p:cNvPr id="13" name="Content margin panel rule">
            <a:extLst>
              <a:ext uri="{FF2B5EF4-FFF2-40B4-BE49-F238E27FC236}">
                <a16:creationId xmlns:a16="http://schemas.microsoft.com/office/drawing/2014/main" id="{FB43A5E6-7CB0-3D5A-B6FA-D4D3731C1005}"/>
              </a:ext>
            </a:extLst>
          </p:cNvPr>
          <p:cNvCxnSpPr/>
          <p:nvPr/>
        </p:nvCxnSpPr>
        <p:spPr>
          <a:xfrm>
            <a:off x="4577773" y="1907308"/>
            <a:ext cx="6532187"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CC44437E-9F8E-EBB4-0E45-906A78355EF0}"/>
              </a:ext>
            </a:extLst>
          </p:cNvPr>
          <p:cNvCxnSpPr/>
          <p:nvPr/>
        </p:nvCxnSpPr>
        <p:spPr>
          <a:xfrm>
            <a:off x="457200" y="1907308"/>
            <a:ext cx="38665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7554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Changes in delivered cost and reliability could shift inland flows between competing corridors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Submodel specification adopted from the annotated review. No route winner is asserted without matched costs, access and capacity.</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39101257"/>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Compare road, rail and pipeline to the same receiving point and product specification.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T1–T2: compare access, cost and reliability to the same destination; quantify captured throughput and the resulting tank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Matola / Maputo</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Include inland haul and border costs for each reachable destination.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port-level cost comparison cannot establish Gauteng competitiveness.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Walvis Bay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distance, transit time and corridor capacity into each target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assume that every inland customer is economically addressable.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Price bearability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Bearable logistics charge = destination selling price less origin product cost, other costs and required margin.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Headroom = bearable charge less actual logistics cost. Capacity and service constrain the share captured through Durban–Lesedi.</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738970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Expansion requires capturable throughput beyond achievable capacity at an adequate return</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Public capacity ratios and Gauteng market size are screening evidence only. Working capacity, realised dispatch, routing, tariffs, contracts and capex remain open. No investment return or throughput market share is fabricated.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668712256"/>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test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measure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Decision consequence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Captured
throughput</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Domestic + imported unique deliveries by product, customer and terminal.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accessible flows and avoid double-counting Durban–Lesedi transfers.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Required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Annual captured m³ / eligible working m³ / 12 = required monthly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with achievable turns, seasonality, stock policy and receipt/dispatch limits.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Capacity
headroom</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Achievable annual handling less required throughput; tank occupancy assessed separately.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capacity where available, then test targeted debottlenecking or additional storage.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Financial
return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Storage and handling revenue, operating cost, capex and working capital.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incremental cash flow, break-even utilisation, NPV and IRR before committing to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DA1376E-FCD2-DCED-F061-B9CFE8F8238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7BFD4F5A-91C7-92BA-98A8-8215D156924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19EF2103-D9E3-FD8D-01B5-EED567E5342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46B9E65-3287-B65C-5CE7-33C886334ACF}"/>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pic>
        <p:nvPicPr>
          <p:cNvPr id="5" name="Argument icon flow">
            <a:extLst>
              <a:ext uri="{FF2B5EF4-FFF2-40B4-BE49-F238E27FC236}">
                <a16:creationId xmlns:a16="http://schemas.microsoft.com/office/drawing/2014/main" id="{32CA8D82-7C33-6CEB-4282-519F1B92479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turnover">
            <a:extLst>
              <a:ext uri="{FF2B5EF4-FFF2-40B4-BE49-F238E27FC236}">
                <a16:creationId xmlns:a16="http://schemas.microsoft.com/office/drawing/2014/main" id="{8A9AF1CC-4FE7-5761-EBB3-81D52B58C2D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4" name="Argument icon headroom">
            <a:extLst>
              <a:ext uri="{FF2B5EF4-FFF2-40B4-BE49-F238E27FC236}">
                <a16:creationId xmlns:a16="http://schemas.microsoft.com/office/drawing/2014/main" id="{768F778B-5708-6387-6B02-0A3595E7E99C}"/>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16" name="Argument icon return">
            <a:extLst>
              <a:ext uri="{FF2B5EF4-FFF2-40B4-BE49-F238E27FC236}">
                <a16:creationId xmlns:a16="http://schemas.microsoft.com/office/drawing/2014/main" id="{8DC3627A-06AF-EE96-5267-BB9A9FDE89A9}"/>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631320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477054"/>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Appendix</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26161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Supporting evidence and calibration</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Detailed evidence, assumptions and remaining calibration requirements</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
        <p:nvSpPr>
          <p:cNvPr id="13" name="Appendix page number">
            <a:extLst>
              <a:ext uri="{FF2B5EF4-FFF2-40B4-BE49-F238E27FC236}">
                <a16:creationId xmlns:a16="http://schemas.microsoft.com/office/drawing/2014/main" id="{0522BF82-0323-6187-CAC1-CB8F852202A2}"/>
              </a:ext>
            </a:extLst>
          </p:cNvPr>
          <p:cNvSpPr txBox="1"/>
          <p:nvPr/>
        </p:nvSpPr>
        <p:spPr>
          <a:xfrm>
            <a:off x="10972800" y="6515100"/>
            <a:ext cx="355600" cy="261610"/>
          </a:xfrm>
          <a:prstGeom prst="rect">
            <a:avLst/>
          </a:prstGeom>
          <a:noFill/>
        </p:spPr>
        <p:txBody>
          <a:bodyPr vert="horz" rtlCol="0">
            <a:spAutoFit/>
          </a:bodyPr>
          <a:lstStyle/>
          <a:p>
            <a:r>
              <a:rPr lang="en-ZA" sz="1100">
                <a:latin typeface="Lato" panose="020F0502020204030203" pitchFamily="34" charset="0"/>
              </a:rPr>
              <a:t>16</a:t>
            </a:r>
          </a:p>
        </p:txBody>
      </p:sp>
    </p:spTree>
    <p:extLst>
      <p:ext uri="{BB962C8B-B14F-4D97-AF65-F5344CB8AC3E}">
        <p14:creationId xmlns:p14="http://schemas.microsoft.com/office/powerpoint/2010/main" val="1212990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supporting evidence calibrates demand, supply and the terminal investment tests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17</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The main story runs from the opening thesis to the investment tests. The added lever register and power/supply calibration pages record what remains to be populated.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608596305"/>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 group</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Detail retained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Connection to the story</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Activity, freight, EVs, efficiency and power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D1–D5 create the three demand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Supply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Plant output, gas availability and restart timing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S1–S4 create the three domestic-supply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and operations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Routes, customer share, working tankage and turnover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T1–T5 translate each world into terminal flows and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Returns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Rates, costs, capex and funding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F1 translates each investment option into cash flow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E13EAF1-FC5F-41FB-E93B-57A2DCD84E77}"/>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A9838A-D738-73AB-9AE8-857836BA0A6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767E082-E6F9-7C23-8801-D08A12B7232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17FEB5C-B9C9-53B2-9C7A-EBB9627DF92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855485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Fuel demand has diverged from GDP, so sector activity and fuel intensity need separate treatment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Staged GDP and department fuel sales, indices 2013=100. Sector attribution remains open; COVID distorts short-period comparisons.</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CE59F08-688D-53B8-0BB2-10390494FFA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4DBE05E5-74B7-21B3-F7F8-AFF0B7D37FA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694899F-BE8C-94B4-521C-E74C27A91FE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07E618B-E5BB-2639-7CFB-D4A90851A5E0}"/>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F925FF99-2397-882F-E7CA-C5B5EE292A6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CBB5D0FF-C724-A09C-3DDB-AA52E776886C}"/>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Economic weakness means limited growth in real activity and investment. Structural change means a different mix of output, travel and fuel use; this chart alone cannot attribute causality.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370318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Fixed investment has weakened while FDI fluctuates, limiting a simple growth-led fuel argument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19</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World Bank WDI, FDI net inflows and gross fixed capital formation as % of GDP, 2010–2025. Confidence series remains an evidence gap.</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ED5F67D8-2381-9F85-2B50-C1B65A1FC52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3771E43-775A-1251-8B2B-6160BEEA177D}"/>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4F82267-D969-3DB1-7EEC-7CD34265A96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4AC079CE-1C94-6427-5D63-FC870D2F4A7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90EF7D7D-B490-0A71-E1FA-98BE844E7B6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2D238C5F-E9FA-F924-D01B-7726C7D59700}"/>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Fixed investment helps frame productive capacity. FDI can include large transactions; neither series is a direct investor-confidence measure or an additional fuel-demand multiplier.</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7509102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Mining, agriculture and aviation expose fuel demand to different activity drivers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20</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Analytical framework following user comments. Sector-specific exhibits and causal attribution remain to be completed.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80974861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Mining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Output, commodity mix and haul distance influence diesel use and freight.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mine activity from the fuel impact of changing freight mode.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Agriculture</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Crop cycles, weather, irrigation and logistics can shift seasonal diesel use.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sector activity and fuel exposure before assigning a headwind.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Aviation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Traffic, distance, load factors and aircraft efficiency drive jet-fuel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jet fuel separate from petrol/diesel shares and verify terminal eligibility.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Manufacturing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Real output and industrial composition help explain the economic backdrop.</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changes using sector data; a national fuel chart does not prove deindustrialisation.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EAB406C-8A26-9685-C8EF-41479C4B736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F79B7CC-7B34-A87C-3A8A-AB08219123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7B560B87-272F-A5DF-713D-F8CB88A64F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EAAEF26-61C9-96DA-98B5-4F89644773D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600789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Higher fuel prices strengthen EV running-cost incentives, but ownership economics determine uptake</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fuel-price history, nominal R/litre. No quantified geopolitical premium or calibrated EV adoption response is asserted.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369661E-E492-EE8D-1250-5FA89D7D790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B16049C-D303-BE92-5B4B-6B5BDF377BA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A098090B-3095-34C7-4918-9BFA7099627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ACF2BFA-537D-ED35-0600-F4E0E1467B5C}"/>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A11340BA-0B77-7823-291E-7599E636CAB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7A02EA4D-EBA7-B1FD-2E26-F896DA08FFD5}"/>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Shipping disruption, crude prices and FX can move fuel costs temporarily. EV adoption depends on sustained total ownership cost, purchase affordability, charging access and fleet replacement.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8083228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New-vehicle efficiency gains affect fuel demand gradually as older vehicles leave the fleet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Mechanism supported by existing cohort architecture. OEM historical and future efficiency evidence is still missing; no new forecast shown.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413493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Fleet growth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More vehicles or distance travelled can raise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Measure activity before attributing lower fuel volumes to efficiency.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Efficiency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New-cohort consumption gains enter the fleet over successive replacement cycles.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OEM and real-world evidence by segment; do not apply new-vehicle gains to every vehicle.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EV substitution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EVs remove some combustion-engine vehicle activity from the fuel calculation.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Count each vehicle transition once, then calculate efficiency on the remaining combustion fleet.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555294B-868D-E689-1EA3-D920195AD42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A6604E9E-363C-866A-E1DA-2C633C00143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0EEFA624-C3D6-6E6C-5435-4DE101B1CF5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73CC640F-82D3-258E-C08E-8E6BF8A76CD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1896856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Eskom’s own OCGT fuel use fell 40% in FY2025 as availability improved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23</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integrated report 2025: FY March, own-fleet diesel + kerosene. EAF association is not a dispatch model; private backup use excluded.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BDEAED2-943E-E9D5-1E14-5C737852B75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5F6CB6-BEDF-49DB-347F-B4F159FB0EC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D1AE1CC-A5ED-00B6-9D63-750099116E9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1E038EA-E9F7-AC88-3FCD-D886DE7672F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6781C1E3-AD29-9268-B880-D94177443A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AAC9EE7F-7B53-00E0-36C0-C40EF77100A3}"/>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Reported fuel fell from 1,129.5 to 679.1 million litres as EAF improved from 54.56% to 60.60%. This removes part of the recent diesel-demand support.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600243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Road carries most reported freight tonnage, making transferable haul distance a key diesel lever</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Stats SA monthly freight payload, complete calendar years. National tonnes are not corridor tonne-kilometres or transferable freight.</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CC4277F-C3D5-1A8B-18B5-9C1AE60F43E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FB52F8C-BCE4-7DB9-6069-A035DD33B0E8}"/>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DA40A8B0-7865-24F9-2729-2330B29F63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F8E5F641-5488-AFD7-2FD4-B8C8CC3EFAC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8CB439C5-30B0-B657-110B-FB2DBF44291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0BD0A93A-8DFF-B036-9E2F-738F1CCBC16D}"/>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Payload establishes the historical direction. Diesel displacement requires corridor tonne-kilometres, road fuel intensity, rail traction and last-mile activity.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48514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Rail funding and reliable service determine how much road freight can return to rail</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User-supplied AIA Transnet Funding Brief, Sep 2026, pp1–2; cites FY2026 AFS and Network Statement v4 Annexure 17. Primary figures not independently reconciled.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66503310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Network ambition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The supplied brief reports a 250 Mt target dependent on a funding plan.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treat every additional rail tonne as road displacement. Commodity, corridor and origin matter.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Funding constraint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R46.34bn approved over five years, including R1.71bn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Maintenance and sustaining spend dominate. A published plan is insufficient evidence of delivered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Container corridor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R2.11bn in 2026/27–2028/29; private funding expected thereafter.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Prioritise Durban–Gauteng road/rail competition and reconcile the corridor to Network Statement v4.</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Two fuel effects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Rail can displace truck diesel while improved infrastructure also changes fuel-distribution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freight-demand effects separate from the route delivering fuel to Gauteng.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0AC212D-110C-D683-56B1-7C56442F25A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66C94D0-F8F6-527B-D5D7-FD8EC7A6F31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3371DB6A-AB6F-6B80-9401-228626E0021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6FEC4B4-F9A9-E4CF-4BC6-F7B2640E4B1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313047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Gauteng demand establishes market scale, while Lesedi capture and turnover determine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26</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provincial sales, latest complete staged year 2022; Vopak Lesedi current capacity. Cross-vintage scale test only, not current observed market share.</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72F49C4D-9748-5B80-6C60-8FB945CB4D0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2394638-FEDF-B8FE-C747-72008332852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5DAA536-BD18-5CF9-0EA7-D857B1E1285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8A92432F-7DC3-DE3E-D12D-8FB27ABEB3A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1B36A8A3-EBCE-E5FF-77B9-386FE049802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FB0F21B2-9907-8E03-22E4-3A4E235A20C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2022 petrol + diesel sales total 6.81bn litres. Lesedi’s 140,000m³ equals 2.06% of that annual market per effective gross-capacity turn. Actual turns and Gauteng allocation remain unknown.</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6166463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Every market world passes through explicit demand, supply, capture and operating levers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27</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Medium is the reference market world; operational sensitivities are separate. Owner: Nigel / analyst and commercial teams. Resolve each missing input before numeric adoption or investment reliance.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7462683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Lever IDs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Inputs to calibrate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Output / remaining evidence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D1–D5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D1 sector growth; D2 rail; D3 EV adoption; D4 efficiency; D5 power.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Historical volumes and time series feed L/M/H demand. OEM, corridor tonne-km and backup evidence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S1–S4 supply</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pt-BR" sz="1200" b="0" u="none">
                          <a:solidFill>
                            <a:schemeClr val="dk1"/>
                          </a:solidFill>
                          <a:latin typeface="Lato" panose="020F0502020204030203" pitchFamily="34" charset="0"/>
                        </a:rPr>
                        <a:t>S1 SAPREF; S2 Secunda gas/MRG; S3 Natref; S4 PetroSA.</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Dates, utilisation, availability and yields produce L/M/H domestic output. Medium and plant marginal effects require calibration.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T1–T2 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T1 delivered route economics/access; T2 customer/product/destination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Allocate domestic and imported fuel to unique terminal deliveries. Tariffs, rights and commercial allocation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T3–T5 operations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T3 eligible working tankage; T4 turnover; T5 receipt/dispatch, peaks and stock policy.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Compare required with achievable turns, occupancy and headroom. Existing 1/2/3-turn sensitivity is illustrative only.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F1 finance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Storage/handling terms, costs, capex, tax, working capital and hurdle 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Translate constrained throughput into cash flow, NPV, IRR and investment triggers. Commercial inputs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5944D4C0-D789-3EFD-3C14-55F8A8D4F2A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CA254AD-65FE-82DB-9747-A6FE2164774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68085162-A6DD-F2B1-1FC8-9975F6EB9F7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17794797-3418-10F5-B60B-7D18DD779BC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792652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Generation timing must close the power balance before residual diesel can be forecast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Requested generation-balance exhibit remains quantitatively incomplete. Owner: Nigel / power analyst; trigger: before D5 adoption. Do not convert installed renewable MW directly into dependable diesel displacement.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275643177"/>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Time series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Assumption /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Evidence status and next use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Recovery history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EAF, unserved energy / load-shedding hours, OCGT GWh and litres.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EAF, Eskom fuel and Eskom/IPP GWh staged. Comparable load-shedding and private backup series still needed.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Generation supply by year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Existing fleet and retirement profile; wind, solar and gas commissioning; availability and utilisation.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dated Eskom / approved planning schedules. Report annual GWh alongside dependable capacity and dispatch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Residual dispatch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Electricity demand, hourly/seasonal shape, storage, imports, reserve needs and fuel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 annual GWh shortfall alone cannot determine diesel use. Calibrate feasible peaking dispatch, then apply consumption rates.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L/M/H demand contribution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Sustained recovery, reference and setback assumptions across the same planning horizon.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Output generation and diesel time series with solid actuals / dashed assumptions. No uncalibrated future values are drawn.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FA39896-8D41-C1C6-E898-B283CD20B596}"/>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635898F-DEBC-20DD-620A-F3901A3A6BA9}"/>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4833148-1B9A-B124-6C68-77B30CAC8A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0B7D399C-0301-71C2-0BBA-BB638B724AE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928222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and Natref define capacity sensitivities; plant output must complete the supply paths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29</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footprint cases: 250 / 358 / 758 kbpd; not a complete low/base/high production range. Owner: Manish; Nigel review. Resolve dates, operating factors, yields and gas effects before nine-world output adoption or investment use.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198063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Plant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time-series inputs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Scenario treatment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S1 SAPREF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High illustration adds 400 kbpd: assumed 2029 FID plus 48 months gives 2033 availability. Low/Medium add none.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the import phase from refinery commissioning; establish ramp-up, availability and product yields.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S3 Natref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108 kbpd retained in Medium/High; excluded in the Low stress case at 2036. No closure date assumed.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This is a hypothetical availability test. Confirm operating outlook; do not infer closure from an outage.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S2 Secunda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150 kbpd reported crude-equivalent footprint held in all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Gas decline and MRG diversion can reduce liquid output without changing nameplate. Quantify the gas balance and liquids penalty.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S4 PetroSA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No restart addition included in these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funded restart scope, feedstock, timing and yields separately; zero reported contribution is not proof of dismantled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2673ED8-656C-3C9E-9793-168AA4A31892}"/>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7DB413E-C059-D52C-A752-5243055EC462}"/>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99976F3-E58B-4FA9-D52A-836EA3DC92C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F98BFE7-2E5D-741B-D8FA-6492D1DA8BB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5959752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Public capacity ratios establish scale but cannot substitute for realised terminal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30</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Operator capacities: Vopak Durban 360,246m³, Bidvest Durban 439,306m³, Lesedi 140,000m³. Department Gauteng sales 2022; appendix p26. Transfers between terminals must not be double-counted.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95259957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Catchment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Initial inference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What the result can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45.1% of the combined published gross capacity of Vopak and Bidvest in Durban.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two-operator footprint proxy with mixed products and an incomplete market denominator. It does not establish Durban throughput share.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Gauteng / 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2022 petrol + diesel sales: 6.81bn litres. Lesedi’s gross capacity equals 2.06% of that market per effective annual turn.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cross-vintage scale test. Current sales, eligible working capacity, actual turns and Gauteng allocation are needed for a throughput estimate.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Convert eligible tankage and realised turns into unique customer deliveries, then compare with existing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large market can coexist with spare terminal capacity. Market scale alone does not establish a need for additional tanks.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43AA7B3A-3772-E466-352F-697EF3D36F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AF8E1A9-B364-8115-C901-16E71935F38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E8F6195D-18F0-5029-7E37-A7A530E8013C}"/>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90684F3-D240-DCBA-2A69-EB87E0C71FE4}"/>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192415948"/>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customXml/itemProps3.xml><?xml version="1.0" encoding="utf-8"?>
<ds:datastoreItem xmlns:ds="http://schemas.openxmlformats.org/officeDocument/2006/customXml" ds:itemID="{1E0AC09D-7AB9-4C7E-89AA-55CFDED1BCB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Vopak Theme</Template>
  <TotalTime>1</TotalTime>
  <Words>8273</Words>
  <Application>Microsoft Office PowerPoint</Application>
  <PresentationFormat>Custom</PresentationFormat>
  <Paragraphs>633</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Lato</vt:lpstr>
      <vt:lpstr>Calibri</vt:lpstr>
      <vt:lpstr>Arial</vt:lpstr>
      <vt:lpstr>Vopak Theme</vt:lpstr>
      <vt:lpstr>PowerPoint Presentation</vt:lpstr>
      <vt:lpstr>Slow demand growth and greater import reliance set the baseline; power, refineries and routes could change it</vt:lpstr>
      <vt:lpstr>Vopak can capture inland growth through the Durban–Lesedi corridor, with expansion conditional on turnover and returns</vt:lpstr>
      <vt:lpstr>Capturable volumes, route competitiveness and tank turnover determine the investment required</vt:lpstr>
      <vt:lpstr>Nine demand–supply worlds test the investment choice against the Medium / Medium baseline</vt:lpstr>
      <vt:lpstr>Petrol demand has declined while diesel has grown slowly, limiting the case for demand-led expansion</vt:lpstr>
      <vt:lpstr>Power shortages and road freight have supported diesel consumption, but that support can change</vt:lpstr>
      <vt:lpstr>Lower domestic production has increased imports and shifted how inland demand is supplied</vt:lpstr>
      <vt:lpstr>Domestic sources and competing gateways contest the same inland customers</vt:lpstr>
      <vt:lpstr>Higher turnover could let Durban and Lesedi serve more demand through existing tanks</vt:lpstr>
      <vt:lpstr>Rail recovery, EV adoption and efficiency could reduce transport fuel demand</vt:lpstr>
      <vt:lpstr>Power recovery could lower diesel use further, while outages and replacement delays could reverse the gains</vt:lpstr>
      <vt:lpstr>SAPREF could expand the supply footprint, while Natref unavailability would reduce it</vt:lpstr>
      <vt:lpstr>Changes in delivered cost and reliability could shift inland flows between competing corridors</vt:lpstr>
      <vt:lpstr>Expansion requires capturable throughput beyond achievable capacity at an adequate return</vt:lpstr>
      <vt:lpstr>PowerPoint Presentation</vt:lpstr>
      <vt:lpstr>The supporting evidence calibrates demand, supply and the terminal investment tests</vt:lpstr>
      <vt:lpstr>Fuel demand has diverged from GDP, so sector activity and fuel intensity need separate treatment</vt:lpstr>
      <vt:lpstr>Fixed investment has weakened while FDI fluctuates, limiting a simple growth-led fuel argument</vt:lpstr>
      <vt:lpstr>Mining, agriculture and aviation expose fuel demand to different activity drivers</vt:lpstr>
      <vt:lpstr>Higher fuel prices strengthen EV running-cost incentives, but ownership economics determine uptake</vt:lpstr>
      <vt:lpstr>New-vehicle efficiency gains affect fuel demand gradually as older vehicles leave the fleet</vt:lpstr>
      <vt:lpstr>Eskom’s own OCGT fuel use fell 40% in FY2025 as availability improved</vt:lpstr>
      <vt:lpstr>Road carries most reported freight tonnage, making transferable haul distance a key diesel lever</vt:lpstr>
      <vt:lpstr>Rail funding and reliable service determine how much road freight can return to rail</vt:lpstr>
      <vt:lpstr>Gauteng demand establishes market scale, while Lesedi capture and turnover determine throughput</vt:lpstr>
      <vt:lpstr>Every market world passes through explicit demand, supply, capture and operating levers</vt:lpstr>
      <vt:lpstr>Generation timing must close the power balance before residual diesel can be forecast</vt:lpstr>
      <vt:lpstr>SAPREF and Natref define capacity sensitivities; plant output must complete the supply paths</vt:lpstr>
      <vt:lpstr>Public capacity ratios establish scale but cannot substitute for realised terminal throughput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Nigel Zhuwaki</cp:lastModifiedBy>
  <cp:revision>7</cp:revision>
  <dcterms:created xsi:type="dcterms:W3CDTF">2017-11-16T09:19:07Z</dcterms:created>
  <dcterms:modified xsi:type="dcterms:W3CDTF">2026-10-07T23:44:57Z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