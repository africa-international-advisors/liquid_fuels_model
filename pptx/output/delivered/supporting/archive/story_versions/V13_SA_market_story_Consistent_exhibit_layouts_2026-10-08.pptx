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4"/>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Lst>
  <p:sldSz cx="11588750" cy="6858000"/>
  <p:notesSz cx="6858000" cy="9144000"/>
  <p:embeddedFontLst>
    <p:embeddedFont>
      <p:font typeface="Lato" panose="020F0502020204030203" pitchFamily="34" charset="0"/>
      <p:regular r:id="rId35"/>
      <p:bold r:id="rId36"/>
      <p:italic r:id="rId37"/>
      <p:boldItalic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20" Type="http://schemas.openxmlformats.org/officeDocument/2006/relationships/slide" Target="slides/slide16.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2025 integrated report (own-fleet diesel + kerosene); Stats SA freight payload. No causal diesel attribution from tonnes alone. Details: appendix pp19, 22–23.</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Natural Earth country geometry; shared LAEA projection with uniform scale. GeoJSON source catalogue: output/delivered/geospatial/2026_10_07. Corridor lines and places remain authored approximations; operating routes, facility positions and access require validation.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vopak.com/terminals/vopak-terminal-durban" TargetMode="Externa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5.xml"/><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slide" Target="slide10.xml"/><Relationship Id="rId4" Type="http://schemas.openxmlformats.org/officeDocument/2006/relationships/slide" Target="slide23.xml"/><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5.xml"/><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slide" Target="slide19.xml"/><Relationship Id="rId4" Type="http://schemas.openxmlformats.org/officeDocument/2006/relationships/slide" Target="slide23.xml"/><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slide" Target="slide18.xml"/><Relationship Id="rId5" Type="http://schemas.openxmlformats.org/officeDocument/2006/relationships/slide" Target="slide19.xml"/><Relationship Id="rId4" Type="http://schemas.openxmlformats.org/officeDocument/2006/relationships/slide" Target="slide23.xml"/></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slide" Target="slide19.xml"/><Relationship Id="rId4" Type="http://schemas.openxmlformats.org/officeDocument/2006/relationships/slide" Target="slide2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slide" Target="slide19.xml"/><Relationship Id="rId4" Type="http://schemas.openxmlformats.org/officeDocument/2006/relationships/slide" Target="slide2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slide" Target="slide18.xml"/><Relationship Id="rId5" Type="http://schemas.openxmlformats.org/officeDocument/2006/relationships/slide" Target="slide10.xml"/><Relationship Id="rId4" Type="http://schemas.openxmlformats.org/officeDocument/2006/relationships/slide" Target="slide23.xml"/></Relationships>
</file>

<file path=ppt/slides/_rels/slide2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Panel layouts aligned; scenario and commercial calibration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Slow demand growth and greater import reliance set the baseline; power, refineries and routes could change it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17567526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Vopak can capture inland growth through the Durban–Lesedi corridor, with expansion conditional on turnover and returns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58649116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Capturable volumes, route competitiveness and tank turnover determine the investment required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01369705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F1BADD4-22C2-45DF-EDF9-FFC73FE68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51A48197-34A5-CE98-9102-867053F8AE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B5E86410-519A-880A-CBF1-ED931F7C40F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53043490-8979-25F3-E6C4-DF89A6402FD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Nine demand–supply worlds test the investment choice against the Medium / Medium baseline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768096194"/>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136AF08-1E04-67EA-5D63-A207BCDA044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682162-EDB3-B556-05D2-5DA6B0C29FE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BFF8C75E-43C1-A02F-4431-B83E98863AF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36E6DC0-6373-72E1-D28D-0FD892BE099B}"/>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Petrol demand has declined while diesel has grown slowly, limiting the case for demand-led expansion</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F7ABCB20-BE09-F91E-B932-FFB63BBA5D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Power shortages and road freight have supported diesel consumption, but that support can change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2025 integrated report (own-fleet diesel + kerosene); Stats SA freight payload. No causal diesel attribution from tonnes alone. Details: appendix pp19, 22–23.</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76096395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Historical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this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Eskom’s own OCGT fuel use rose to 1,129.5m litres in FY2024, then fell to 679.1m in FY2025 as EAF improved.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D5: availability, retirement and new generation determine dispatch. See the quantitative power exhibit and calibration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national payload series shows road carrying substantially more tonnage than rail.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D2: transferable tonne-kilometres, rail reliability and fuel intensity determine the net diesel effect.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 interpretation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Mining and agriculture add sector-specific diesel exposure; aviation has a separate jet-fuel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 sector activity drives end-use demand. Histories precede explicit L/M/H assumptions; missing data remain identified.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Lower domestic production has increased imports and shifted how inland demand is supplied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63B8EB9F-5910-1CC9-0B60-EA962567ACE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Domestic sources and competing gateways contest the same inland customers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Natural Earth country geometry; shared LAEA projection with uniform scale. GeoJSON source catalogue: output/delivered/geospatial/2026_10_07. Corridor lines and places remain authored approximations; operating routes, facility positions and access require validation.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D7B75D38-058D-F3FE-7AB9-3E634BD9DED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Higher turnover could let Durban and Lesedi serve more demand through existing tanks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21DA7FF0-6A01-043B-C072-F67C8FEBC08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Rail recovery, EV adoption and efficiency could reduce transport fuel demand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Power recovery could lower diesel use further, while outages and replacement delays could reverse the gains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10B35DF8-C009-AC36-C718-6E8C3AF783B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SAPREF could expand the supply footprint, while Natref unavailability would reduce it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2BAD6D0B-520D-4C3D-9815-64D14D8E1E1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Changes in delivered cost and reliability could shift inland flows between competing corridors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25222888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Expansion requires capturable throughput beyond achievable capacity at an adequate return</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43558907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The supporting evidence calibrates demand, supply and the terminal investment tests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56943879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Fuel demand has diverged from GDP, so sector activity and fuel intensity need separate treatment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Fixed investment has weakened while FDI fluctuates, limiting a simple growth-led fuel argument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Mining, agriculture and aviation expose fuel demand to different activity drivers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40916365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Higher fuel prices strengthen EV running-cost incentives, but ownership economics determine uptake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New-vehicle efficiency gains affect fuel demand gradually as older vehicles leave the fleet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11809314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Eskom’s own OCGT fuel use fell 40% in FY2025 as availability improved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Road carries most reported freight tonnage, making transferable haul distance a key diesel lever</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Rail funding and reliable service determine how much road freight can return to rail</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6495328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Gauteng demand establishes market scale, while Lesedi capture and turnover determine throughput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Every market world passes through explicit demand, supply, capture and operating levers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77557015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Generation timing must close the power balance before residual diesel can be forecast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6682959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SAPREF and Natref define capacity sensitivities; plant output must complete the supply paths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41351429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Public capacity ratios establish scale but cannot substitute for realised terminal throughput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p25.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9991899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1</TotalTime>
  <Words>7348</Words>
  <Application>Microsoft Office PowerPoint</Application>
  <PresentationFormat>Custom</PresentationFormat>
  <Paragraphs>571</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Calibri</vt:lpstr>
      <vt:lpstr>Lato</vt:lpstr>
      <vt:lpstr>Arial</vt:lpstr>
      <vt:lpstr>Vopak Theme</vt:lpstr>
      <vt:lpstr>PowerPoint Presentation</vt:lpstr>
      <vt:lpstr>Slow demand growth and greater import reliance set the baseline; power, refineries and routes could change it</vt:lpstr>
      <vt:lpstr>Vopak can capture inland growth through the Durban–Lesedi corridor, with expansion conditional on turnover and returns</vt:lpstr>
      <vt:lpstr>Capturable volumes, route competitiveness and tank turnover determine the investment required</vt:lpstr>
      <vt:lpstr>Nine demand–supply worlds test the investment choice against the Medium / Medium baseline</vt:lpstr>
      <vt:lpstr>Petrol demand has declined while diesel has grown slowly, limiting the case for demand-led expansion</vt:lpstr>
      <vt:lpstr>Power shortages and road freight have supported diesel consumption, but that support can change</vt:lpstr>
      <vt:lpstr>Lower domestic production has increased imports and shifted how inland demand is supplied</vt:lpstr>
      <vt:lpstr>Domestic sources and competing gateways contest the same inland customers</vt:lpstr>
      <vt:lpstr>Higher turnover could let Durban and Lesedi serve more demand through existing tanks</vt:lpstr>
      <vt:lpstr>Rail recovery, EV adoption and efficiency could reduce transport fuel demand</vt:lpstr>
      <vt:lpstr>Power recovery could lower diesel use further, while outages and replacement delays could reverse the gains</vt:lpstr>
      <vt:lpstr>SAPREF could expand the supply footprint, while Natref unavailability would reduce it</vt:lpstr>
      <vt:lpstr>Changes in delivered cost and reliability could shift inland flows between competing corridors</vt:lpstr>
      <vt:lpstr>Expansion requires capturable throughput beyond achievable capacity at an adequate return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cp:revision>
  <dcterms:created xsi:type="dcterms:W3CDTF">2017-11-16T09:19:07Z</dcterms:created>
  <dcterms:modified xsi:type="dcterms:W3CDTF">2026-10-07T22:27:52Z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