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4"/>
  </p:sldMasterIdLst>
  <p:notesMasterIdLst>
    <p:notesMasterId r:id="rId24"/>
  </p:notesMasterIdLst>
  <p:sldIdLst>
    <p:sldId id="25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</p:sldIdLst>
  <p:sldSz cx="11588750" cy="6858000"/>
  <p:notesSz cx="6858000" cy="9144000"/>
  <p:embeddedFontLst>
    <p:embeddedFont>
      <p:font typeface="Lato" panose="020F0502020204030203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Henry Gilfillan" initials="HG [2]" lastIdx="8" clrIdx="6">
    <p:extLst>
      <p:ext uri="{19B8F6BF-5375-455C-9EA6-DF929625EA0E}">
        <p15:presenceInfo xmlns:p15="http://schemas.microsoft.com/office/powerpoint/2012/main" userId="S::henry.g@africaia.com::20d8d1d5-b81d-4db2-8d49-9db47f87700a" providerId="AD"/>
      </p:ext>
    </p:extLst>
  </p:cmAuthor>
  <p:cmAuthor id="1" name="Abbas Bilgrami" initials="AB [2]" lastIdx="8" clrIdx="0">
    <p:extLst>
      <p:ext uri="{19B8F6BF-5375-455C-9EA6-DF929625EA0E}">
        <p15:presenceInfo xmlns:p15="http://schemas.microsoft.com/office/powerpoint/2012/main" userId="da833efe2a07dd73" providerId="Windows Live"/>
      </p:ext>
    </p:extLst>
  </p:cmAuthor>
  <p:cmAuthor id="8" name="Abbas Bilgrami" initials="AB" lastIdx="34" clrIdx="7">
    <p:extLst>
      <p:ext uri="{19B8F6BF-5375-455C-9EA6-DF929625EA0E}">
        <p15:presenceInfo xmlns:p15="http://schemas.microsoft.com/office/powerpoint/2012/main" userId="S::abbas.b@africaia.com::09d4207e-ca10-48c5-9e33-f8dec02b9ddc" providerId="AD"/>
      </p:ext>
    </p:extLst>
  </p:cmAuthor>
  <p:cmAuthor id="2" name="Henry Gilfillan" initials="HG" lastIdx="82" clrIdx="1">
    <p:extLst>
      <p:ext uri="{19B8F6BF-5375-455C-9EA6-DF929625EA0E}">
        <p15:presenceInfo xmlns:p15="http://schemas.microsoft.com/office/powerpoint/2012/main" userId="Henry Gilfillan" providerId="None"/>
      </p:ext>
    </p:extLst>
  </p:cmAuthor>
  <p:cmAuthor id="9" name="Paayal Kanjee Govind" initials="PKG" lastIdx="4" clrIdx="8">
    <p:extLst>
      <p:ext uri="{19B8F6BF-5375-455C-9EA6-DF929625EA0E}">
        <p15:presenceInfo xmlns:p15="http://schemas.microsoft.com/office/powerpoint/2012/main" userId="Paayal Kanjee Govind" providerId="None"/>
      </p:ext>
    </p:extLst>
  </p:cmAuthor>
  <p:cmAuthor id="3" name="Ismaeel" initials="I" lastIdx="104" clrIdx="2">
    <p:extLst>
      <p:ext uri="{19B8F6BF-5375-455C-9EA6-DF929625EA0E}">
        <p15:presenceInfo xmlns:p15="http://schemas.microsoft.com/office/powerpoint/2012/main" userId="Ismaeel" providerId="None"/>
      </p:ext>
    </p:extLst>
  </p:cmAuthor>
  <p:cmAuthor id="4" name="Jennifer Zeiss" initials="JZ" lastIdx="19" clrIdx="3">
    <p:extLst>
      <p:ext uri="{19B8F6BF-5375-455C-9EA6-DF929625EA0E}">
        <p15:presenceInfo xmlns:p15="http://schemas.microsoft.com/office/powerpoint/2012/main" userId="Jennifer Zeiss" providerId="None"/>
      </p:ext>
    </p:extLst>
  </p:cmAuthor>
  <p:cmAuthor id="5" name="Gabrielle Knott" initials="GK" lastIdx="2" clrIdx="4">
    <p:extLst>
      <p:ext uri="{19B8F6BF-5375-455C-9EA6-DF929625EA0E}">
        <p15:presenceInfo xmlns:p15="http://schemas.microsoft.com/office/powerpoint/2012/main" userId="Gabrielle Knott" providerId="None"/>
      </p:ext>
    </p:extLst>
  </p:cmAuthor>
  <p:cmAuthor id="6" name="James Brown" initials="JB" lastIdx="2" clrIdx="5">
    <p:extLst>
      <p:ext uri="{19B8F6BF-5375-455C-9EA6-DF929625EA0E}">
        <p15:presenceInfo xmlns:p15="http://schemas.microsoft.com/office/powerpoint/2012/main" userId="S::james@africaia.com::5c3cb27f-96be-4c72-848f-aa01b93992f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552"/>
    <a:srgbClr val="EBF9FE"/>
    <a:srgbClr val="FDD9A4"/>
    <a:srgbClr val="2D6196"/>
    <a:srgbClr val="326757"/>
    <a:srgbClr val="728A94"/>
    <a:srgbClr val="F01C24"/>
    <a:srgbClr val="56787A"/>
    <a:srgbClr val="CFDFF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87D74-0723-4269-ADB4-1C2880134AC4}" v="1" dt="2026-10-01T12:10:22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7D6B1-D525-4628-ADA5-8E1FE74ADA4C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20738" y="1143000"/>
            <a:ext cx="5216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01EB5-DFDD-47C4-B7E0-8A01826021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9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note: Walk through four sections: the project question, the analytical</a:t>
            </a:r>
          </a:p>
          <a:p>
            <a:r>
              <a:t>requirements, the model-build problem and the delivery approach. The purpose is to</a:t>
            </a:r>
          </a:p>
          <a:p>
            <a:r>
              <a:t>connect the analyst's tasks to the decisions the engagement needs to support.</a:t>
            </a:r>
          </a:p>
          <a:p>
            <a:r>
              <a:t>Week 1 analytical pack, 6 October 2026. Existing kickoff cover/closing reused at user request.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  <a:p>
            <a:r>
              <a:t>SCR delivery order: page 1 of 16. Gap IDs and original evidence references retained in notes.</a:t>
            </a:r>
          </a:p>
          <a:p>
            <a:r>
              <a:t>6 October SCR editorial pass: presentation copy and map hierarchy only. Source observations, example volumes and model inputs unchanged.</a:t>
            </a:r>
          </a:p>
          <a:p>
            <a:r>
              <a:t>Convergence order: national accounting p3; provincial map p4; history/estimates p5. Current page 1.</a:t>
            </a:r>
          </a:p>
          <a:p>
            <a:r>
              <a:t>Final structure: baseline pp3–6; changes pp7–11 (forecast framework p9); outlook pp12–17 (market choices p16, inventory p17). Current page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Working synthesis of the evidence on subsequent pages. Scenarios deferred; no investment recommendation or measured Vopak throughput share.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fuel sales, 2013–2023, same-series comparison. FIASA 2024 shown separately; source definitions require reconciliation.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Staged GDP and department fuel sales, indices 2013=100. Sector attribution remains open; COVID distorts short-period comparisons.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World Bank WDI, FDI net inflows and gross fixed capital formation as % of GDP, 2010–2025. Confidence series remains an evidence gap.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Analytical framework following user comments. Sector-specific exhibits and causal attribution remain to be completed.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fuel-price history, nominal R/litre. No quantified geopolitical premium or calibrated EV adoption response is asserted.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Mechanism supported by existing cohort architecture. OEM historical and future efficiency evidence is still missing; no new forecast shown.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Eskom integrated report 2025: FY March, own-fleet diesel + kerosene. EAF association is not a dispatch model; private backup use excluded.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Stats SA monthly freight payload, complete calendar years. National tonnes are not corridor tonne-kilometres or transferable freight.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SARS trade: complete years and litre-reported petrol/diesel codes. Kg, unknown units and excluded blends prevent treatment as a complete physical balance.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CEF 10 Sep 2026 roadmap; Sasol 6 Nov 2025 MRG and 1 Sep 2026 Natref releases; PetroSA recommissioning scope. URLs and qualifications in evidence report.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Standalone power complication retained as requested. EAF, retirement and commissioning assumptions require later scenario calibration.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User-supplied AIA Transnet Funding Brief, Sep 2026, pp1–2; cites FY2026 AFS and Network Statement v4 Annexure 17. Primary figures not independently reconciled.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Submodel specification adopted from the annotated review. No route winner is asserted without matched costs, access and capacity.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Vopak / Bidvest operator inventory checked 6–7 Oct 2026. 360,246 / (360,246 + 439,306). Public capacities are gross; complete denominator unavailable.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Department provincial sales, latest complete staged year 2022; Vopak Lesedi current capacity. Cross-vintage scale test only, not current observed market share.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ZW"/>
              <a:t>User comments adopted: separate deep dives and investment-board financial resolution. Scenarios deferred; finance and origin–destination modules are specified, not implemented.</a:t>
            </a:r>
          </a:p>
          <a:p>
            <a:r>
              <a:rPr lang="en-ZW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Evidence review draft, 7 Oct 2026. Not independently peer-reviewed or approved for investment reliance. Open items remain in the audit tracker.</a:t>
            </a:r>
          </a:p>
          <a:p>
            <a:r>
              <a:rPr lang="en-GB"/>
              <a:t>Evidence: output/delivered/sa_review_2026_10_07_v3/index.html. Comment dispositions: workstreams/WS0_governance/workplan/sa_review_comment_disposition_2026_10_07.csv. Review draft; scenario and commercial calibration deferred.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sky, building, outdoor, city&#10;&#10;Description automatically generated">
            <a:extLst>
              <a:ext uri="{FF2B5EF4-FFF2-40B4-BE49-F238E27FC236}">
                <a16:creationId xmlns:a16="http://schemas.microsoft.com/office/drawing/2014/main" id="{AF958CDF-21C2-4696-B1FF-98C6C69234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5137149"/>
            <a:ext cx="4933950" cy="1571625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37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/>
          <p:nvPr userDrawn="1"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3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opak offering simultaneous LNG bunkering service in Rotterdam - Offshore  Energy">
            <a:extLst>
              <a:ext uri="{FF2B5EF4-FFF2-40B4-BE49-F238E27FC236}">
                <a16:creationId xmlns:a16="http://schemas.microsoft.com/office/drawing/2014/main" id="{04892275-F272-DCB3-8D5D-1CEB80A85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/>
          <p:nvPr userDrawn="1"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7800" y="5205413"/>
            <a:ext cx="4933950" cy="1652587"/>
          </a:xfr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/>
          <p:cNvSpPr/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Vopak cover logo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F643500E-BA42-ED40-0D0F-F69255A71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/>
          <p:nvPr userDrawn="1"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Click to edit Master title style</a:t>
            </a:r>
          </a:p>
        </p:txBody>
      </p:sp>
      <p:cxnSp>
        <p:nvCxnSpPr>
          <p:cNvPr id="7" name="Title and body separator"/>
          <p:cNvCxnSpPr/>
          <p:nvPr/>
        </p:nvCxn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64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65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3CB578-80E0-884E-8515-53279D5DAC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6515100"/>
            <a:ext cx="952500" cy="21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 txBox="1">
            <a:spLocks/>
          </p:cNvSpPr>
          <p:nvPr userDrawn="1"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 rtl="0" eaLnBrk="1" latinLnBrk="0" hangingPunct="1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185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6422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0990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5559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0127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24696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59265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93833" indent="-217284" algn="l" defTabSz="869137" rtl="0" eaLnBrk="1" latinLnBrk="0" hangingPunct="1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800">
                <a:solidFill>
                  <a:srgbClr val="404040"/>
                </a:solidFill>
                <a:latin typeface="Lato"/>
              </a:defRPr>
            </a:pPr>
            <a:endParaRPr/>
          </a:p>
        </p:txBody>
      </p:sp>
      <p:cxnSp>
        <p:nvCxnSpPr>
          <p:cNvPr id="10" name="Fine footer rule"/>
          <p:cNvCxnSpPr/>
          <p:nvPr/>
        </p:nvCxn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01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8" r:id="rId2"/>
    <p:sldLayoutId id="2147483723" r:id="rId3"/>
    <p:sldLayoutId id="2147483724" r:id="rId4"/>
    <p:sldLayoutId id="2147483725" r:id="rId5"/>
    <p:sldLayoutId id="2147483698" r:id="rId6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opak.com/terminals/vopak-terminal-durban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31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South Africa
liquid fuels
market story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4617720"/>
            <a:ext cx="4572000" cy="26161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  <a:latin typeface="Lato"/>
              </a:defRPr>
            </a:pPr>
            <a:r>
              <a:rPr lang="en-GB" sz="1700">
                <a:solidFill>
                  <a:srgbClr val="FFFFFF"/>
                </a:solidFill>
              </a:rPr>
              <a:t>Evidence, implications and Vopak’s opportunity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GB">
                <a:solidFill>
                  <a:srgbClr val="FFFFFF"/>
                </a:solidFill>
              </a:rPr>
              <a:t>Durban and Gauteng (Lesedi catchment)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FFFFF"/>
                </a:solidFill>
                <a:latin typeface="Lato"/>
              </a:defRPr>
            </a:pPr>
            <a:r>
              <a:rPr lang="en-ZW">
                <a:solidFill>
                  <a:srgbClr val="FFFFFF"/>
                </a:solidFill>
              </a:rPr>
              <a:t>7 October 2026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4572000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Lato"/>
              </a:defRPr>
            </a:pPr>
            <a:r>
              <a:rPr lang="en-GB" sz="1200">
                <a:solidFill>
                  <a:srgbClr val="FFFFFF"/>
                </a:solidFill>
              </a:rPr>
              <a:t>Evidence review draft; scenarios deferred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/>
          <p:cNvSpPr txBox="1"/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FFFFFF"/>
                </a:solidFill>
                <a:latin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/>
          <p:cNvSpPr txBox="1"/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BDBEC1"/>
                </a:solidFill>
                <a:latin typeface="Lato"/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Vopak’s opportunity depends on import needs and the routes customers choose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Working synthesis of the evidence on subsequent pages. Scenarios deferred; no investment recommendation or measured Vopak throughput share.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880034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Petrol and diesel have diverged. Power recovery can remove a source of diesel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product and end-use trends before projecting terminal volumes.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Supply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Domestic plant output and restart timing can change import requirements even with flat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 import opportunity can grow without equivalent growth in national consumption.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Capture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 competes through delivered cost and service into inland markets.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accessible customer volumes, then the storage and handling economics.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E1154F9D-E847-85E1-E481-B3D5C5B2B548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01862AC5-7019-E83C-7C78-A33045298124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3CFDB5F9-82CF-4DE8-34D1-533D25DD48FD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Petrol fell 19% over 2013–2023 while diesel rose 9%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fuel sales, 2013–2023, same-series comparison. FIASA 2024 shown separately; source definitions require reconciliation.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00A8F442-3BD4-229F-2C42-D3C9480647C2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FFD0215F-276F-E4A6-E73F-8B826F6C7FA9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5CCA0181-B0A8-5357-309B-1657D3969B8D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A959CCAC-9F44-1116-3E9A-7070928E5B6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E1CF6CD2-BBBE-1CEB-3961-C8A30E7128F8}"/>
              </a:ext>
            </a:extLst>
          </p:cNvPr>
          <p:cNvSpPr txBox="1"/>
          <p:nvPr/>
        </p:nvSpPr>
        <p:spPr>
          <a:xfrm>
            <a:off x="533400" y="5613400"/>
            <a:ext cx="10477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The flat-market shorthand hides different product trajectories. Demand growth alone is an insufficient basis for tank investment.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501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GDP and fuel volumes need separate explanations of activity and sector mix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Staged GDP and department fuel sales, indices 2013=100. Sector attribution remains open; COVID distorts short-period comparisons.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C3EA4C60-5D7A-C59E-3DFC-B6E12848A977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E19F3C0A-D534-2F55-9016-143A68523494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D43D8C87-2074-F1E9-4AD1-BEA3B02151EB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7981E05C-CDF4-27E8-A156-0116BB6F99C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20298E84-6923-2FC7-D80C-D67E157F4F0C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Economic weakness means limited growth in real activity and investment. Structural change means a different mix of output, travel and fuel use; this chart alone cannot attribute causality.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67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Investment evidence informs the growth outlook but does not establish extra fuel demand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5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World Bank WDI, FDI net inflows and gross fixed capital formation as % of GDP, 2010–2025. Confidence series remains an evidence gap.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F17F02F4-6BDF-670A-6BF6-953F401A1B34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FB37B3EB-5765-4C3A-227D-6D3F166A5C1F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6E358B70-3524-B94A-0215-81B1CB63C747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35DD729A-D441-97CC-828F-8FAF815E12A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A5FA17AD-3993-7186-36E6-72B070F99387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Fixed investment helps frame productive capacity. FDI can include large transactions; neither series is a direct investor-confidence measure or an additional fuel-demand multiplier.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505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W" sz="2300">
                <a:solidFill>
                  <a:schemeClr val="accent1"/>
                </a:solidFill>
                <a:latin typeface="Lato"/>
              </a:rPr>
              <a:t>Mining, agriculture and aviation require distinct demand explanations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6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Analytical framework following user comments. Sector-specific exhibits and causal attribution remain to be completed.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277546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Mining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Output, commodity mix and haul distance influence diesel use and freight.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mine activity from the fuel impact of changing freight mode.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Agriculture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Crop cycles, weather, irrigation and logistics can shift seasonal diesel use.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Establish sector activity and fuel exposure before assigning a headwind.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Aviation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Traffic, distance, load factors and aircraft efficiency drive jet-fuel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Keep jet fuel separate from petrol/diesel shares and verify terminal eligibility.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Manufacturing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Real output and industrial composition help explain the economic backdrop.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changes using sector data; a national fuel chart does not prove deindustrialisation.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5BE6E402-F701-684A-8630-BC9C2F063528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8C0E5FEF-953F-D9DC-3D17-A09828A7D600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3475527F-0405-DD69-D395-874FF9790F9B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24254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Fuel-price shocks affect running costs; sustained economics influence EV uptake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7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fuel-price history, nominal R/litre. No quantified geopolitical premium or calibrated EV adoption response is asserted.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1295C550-025D-9FB0-3817-331012BB0E66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F58B552F-71F7-326B-7596-78866F07EECE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2FC35CC0-8772-34AA-2CCF-3A986C7D6655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D051D0FA-9055-5C25-ACC0-88294966E71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0D691DDA-B477-3EA5-495A-12BD85DAA515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Shipping disruption, crude prices and FX can move fuel costs temporarily. EV adoption depends on sustained total ownership cost, purchase affordability, charging access and fleet replacement.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7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More efficient new vehicles reduce fuel intensity gradually as the fleet turns over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8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Mechanism supported by existing cohort architecture. OEM historical and future efficiency evidence is still missing; no new forecast shown.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858204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Fleet growth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More vehicles or distance travelled can raise demand.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Measure activity before attributing lower fuel volumes to efficiency.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Efficiency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New-cohort consumption gains enter the fleet over successive replacement cycles.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Obtain OEM and real-world evidence by segment; do not apply new-vehicle gains to every vehicle.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 substitution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EVs remove some combustion-engine vehicle activity from the fuel calculation.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Count each vehicle transition once, then calculate efficiency on the remaining combustion fleet.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828D6C99-1475-4DE7-990C-981B1D4A8D71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A729A6BD-A301-64DC-B3E7-478FEAEC03F5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02294D5E-DBFE-98A5-9C16-7F44F7DFABB8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8137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Eskom’s reported OCGT fuel use fell 40% in FY2025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9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Eskom integrated report 2025: FY March, own-fleet diesel + kerosene. EAF association is not a dispatch model; private backup use excluded.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4D280556-9257-00E3-225F-AF22603DC656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F6510347-D287-2543-512D-78B81FAA5A5A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88FF7FEF-D3C2-C5A0-657E-5A12EE3A6194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DB8C1058-2611-14D5-9D92-513013A57EA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809B6945-D2AC-BF61-C5D5-9C7875F493E7}"/>
              </a:ext>
            </a:extLst>
          </p:cNvPr>
          <p:cNvSpPr txBox="1"/>
          <p:nvPr/>
        </p:nvSpPr>
        <p:spPr>
          <a:xfrm>
            <a:off x="533400" y="5613400"/>
            <a:ext cx="10477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Reported fuel fell from 1,129.5 to 679.1 million litres as EAF improved from 54.56% to 60.60%. This removes part of the recent diesel-demand support.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694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Road-to-rail recovery matters through transferable freight and haul distance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10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Stats SA monthly freight payload, complete calendar years. National tonnes are not corridor tonne-kilometres or transferable freight.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2A6CE421-5DCA-D3A4-C80A-7095815B1B1A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6938030B-CC9D-2C77-18BD-E6578CAC0CA5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92BECC8F-5E9D-1DDE-E1A5-FE59053837C2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7E7D874E-FB0A-DC55-3336-2DD60E983C3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DB5E51AC-A945-4FD4-E32F-5809AE65A00C}"/>
              </a:ext>
            </a:extLst>
          </p:cNvPr>
          <p:cNvSpPr txBox="1"/>
          <p:nvPr/>
        </p:nvSpPr>
        <p:spPr>
          <a:xfrm>
            <a:off x="533400" y="5613400"/>
            <a:ext cx="10477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Payload establishes the historical direction. Diesel displacement requires corridor tonne-kilometres, road fuel intensity, rail traction and last-mile activity.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561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Domestic production and imports must be read as one supply balance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11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SARS trade: complete years and litre-reported petrol/diesel codes. Kg, unknown units and excluded blends prevent treatment as a complete physical balance.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E8A725A5-FB5A-B4CB-1174-5C92F0D2D314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F2BEA88F-9189-1027-535F-5DB8FDE4207A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B6B6229B-54B1-EED8-BDF4-56C53E919E5D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51DD1C61-F5E1-901C-5CE3-A455D2B17DE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B638DDBF-CB5D-A66E-EDA9-96195039803A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Imports address the gap between demand and domestic product supply. Plant outages and lost output matter, alongside exports, stock movements and product definitions.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67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Plant-specific uncertainty can change the import requirement in either direction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12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ZW" sz="750"/>
              <a:t>CEF 10 Sep 2026 roadmap; Sasol 6 Nov 2025 MRG and 1 Sep 2026 Natref releases; PetroSA recommissioning scope. URLs and qualifications in evidence report.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34178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SAPREF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CEF describes an import phase followed by a proposed large refinery development.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Import infrastructure can precede any local production recovery. Timing, financing and yields remain conditional.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Secunda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Declining gas supply and potential MRG diversion could reduce liquid output.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MRG bridge is conditional. A quantified liquids penalty requires a gas balance and marginal conversion yield.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Natref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Sasol reported an operational disruption in September 2026.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An outage is not evidence of permanent closure. Confirm recovery and the longer-term investment outlook.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Mossgas / PetroSA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GTL has not operated since December 2020; a recommissioning proposal exists.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stopped historical production from a funded future restart.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BD1E8500-4BF9-866D-0A3F-301334E6C899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155FE2D0-72AE-6D68-B6F6-8908B43DCF00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7A810C1F-3D63-CB79-ED2C-C9E6A651137B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06707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Power recovery can persist, but availability and replacement timing remain risks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13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Standalone power complication retained as requested. EAF, retirement and commissioning assumptions require later scenario calibration.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433131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Recovery persists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more available coal fleet and replacement generation reduce residual diesel dispatch.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Recent Eskom fuel consumption should not be extrapolated as a permanent growth source.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Recovery reverses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Major breakdowns or retirements before dependable replacement create a generation gap.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Quantify dispatch and operating constraints before translating a gap into fuel litres.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Load shedding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Grid shortages can also affect private backup generation.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Eskom OCGT use from private generators. Ending load shedding does not imply zero Eskom diesel use.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66F416BB-486F-1960-9B87-ABF5FEF5C65F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F03D7E55-6C78-A5D9-E84B-BC8095043C22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1ACC4EB1-023E-87BE-8317-BAABFF627774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568821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Rail recovery on the Durban corridor depends on funding and reliable service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14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User-supplied AIA Transnet Funding Brief, Sep 2026, pp1–2; cites FY2026 AFS and Network Statement v4 Annexure 17. Primary figures not independently reconciled.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662021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Network ambition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 supplied brief reports a 250 Mt target dependent on a funding plan.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 not treat every additional rail tonne as road displacement. Commodity, corridor and origin matter.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Funding constraint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Brief: R46.34bn approved over five years, including R1.71bn expansion.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Maintenance and sustaining spend dominate. A published plan is insufficient evidence of delivered capacity.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Container corridor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Brief: R2.11bn in 2026/27–2028/29; private funding expected thereafter.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Prioritise Durban–Gauteng road/rail competition and reconcile the corridor to Network Statement v4.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Two fuel effects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Rail can displace truck diesel while improved infrastructure also changes fuel-distribution economics.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Keep freight-demand effects separate from the route delivering fuel to Gauteng.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125565F7-2C28-D060-999C-2578569C5649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58096B47-A9B2-DEA2-EAE0-99A7FB88FB8C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92FF0158-846B-61C5-2906-F81298AA2BED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1265909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Origin–destination economics determine which supply route can win a customer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15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Submodel specification adopted from the annotated review. No route winner is asserted without matched costs, access and capacity.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157537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Durban–Gauteng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road, rail and pipeline to the same receiving point and product specification.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Include handling, transport, losses, inventory finance and service constraints.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Matola / Maputo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Include inland haul and border costs for each reachable destination.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A port-level cost comparison cannot establish Gauteng competitiveness.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Walvis Bay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 distance, transit time and corridor capacity into each target market.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Do not assume that every inland customer is economically addressable.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Price bearability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Maximum affordable logistics cost = destination netback less origin product and other delivered costs.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Output R/litre headroom, feasible volume and binding constraints. Route rates and access terms remain missing.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B330AD3A-3D43-B0CB-61B3-22FA4783AB79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426C74A3-1994-5239-0430-702EA31D1D2D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4DA66CEA-268C-9F77-E669-760620210DE9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275611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Durban capacity provides a limited proxy, not a measured throughput share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16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Vopak / Bidvest operator inventory checked 6–7 Oct 2026. 360,246 / (360,246 + 439,306). Public capacities are gross; complete denominator unavailable.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24225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Published capacity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Vopak Durban: 360,246 m³. Bidvest Durban: 439,306 m³.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These two published totals cover different product mixes and exclude other operators.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Inference test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Vopak holds 45.1% of the combined gross capacity of this two-operator set.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This is an asset-footprint proxy only. It is neither total Durban storage share nor petrol/diesel throughput share.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13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Missing bridge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Eligible working tankage × realised turnover × destination allocation gives a throughput estimate.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Product mix and turnover can change the inferred share materially. Obtain these before reporting a central share estimate.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196E181D-269B-79D3-1F7E-F262ADE804B4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64327B8D-D069-2D04-FE54-12DB0611E6E8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7CC3B1C3-5633-C438-44EC-761541AD658A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2597233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Gauteng provides a demand denominator for testing Lesedi’s potential reach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17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Department provincial sales, latest complete staged year 2022; Vopak Lesedi current capacity. Cross-vintage scale test only, not current observed market share.</a:t>
            </a:r>
            <a:endParaRPr sz="750"/>
          </a:p>
        </p:txBody>
      </p:sp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66E0FD9D-C8DC-4102-2A0F-5DE9FF235C36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C588392C-3DDD-8A48-DA9E-C32D4D959E08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CD05696D-0232-99A6-B567-0BC21004CE6F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  <p:pic>
        <p:nvPicPr>
          <p:cNvPr id="13" name="Evidence chart">
            <a:extLst>
              <a:ext uri="{FF2B5EF4-FFF2-40B4-BE49-F238E27FC236}">
                <a16:creationId xmlns:a16="http://schemas.microsoft.com/office/drawing/2014/main" id="{B44EAA03-4E37-463D-A923-C4415D14A15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49400"/>
            <a:ext cx="10160000" cy="3925443"/>
          </a:xfrm>
          <a:prstGeom prst="rect">
            <a:avLst/>
          </a:prstGeom>
        </p:spPr>
      </p:pic>
      <p:sp>
        <p:nvSpPr>
          <p:cNvPr id="14" name="Interpretation">
            <a:extLst>
              <a:ext uri="{FF2B5EF4-FFF2-40B4-BE49-F238E27FC236}">
                <a16:creationId xmlns:a16="http://schemas.microsoft.com/office/drawing/2014/main" id="{3D3453D2-CD2B-800D-8725-9D34A97BF6AF}"/>
              </a:ext>
            </a:extLst>
          </p:cNvPr>
          <p:cNvSpPr txBox="1"/>
          <p:nvPr/>
        </p:nvSpPr>
        <p:spPr>
          <a:xfrm>
            <a:off x="533400" y="5613400"/>
            <a:ext cx="104775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chemeClr val="dk1"/>
                </a:solidFill>
                <a:latin typeface="Lato" panose="020F0502020204030203" pitchFamily="34" charset="0"/>
              </a:rPr>
              <a:t>2022 petrol + diesel sales total 6.81bn litres. Lesedi’s 140,000m³ equals 2.06% of that annual market per effective gross-capacity turn. Actual turns and Gauteng allocation remain unknown.</a:t>
            </a:r>
            <a:endParaRPr lang="en-ZA" sz="120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291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Catchment dashboards must lead to a forecast of revenue and cash flow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18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User comments adopted: separate deep dives and investment-board financial resolution. Scenarios deferred; finance and origin–destination modules are specified, not implemented.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813472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 dashboard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Demand served, import flows, eligible competitor capacity, inferred throughput and corridor economics.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Separate port handling from deliveries to final customers. Avoid counting Durban–Lesedi transfers twice in a group share.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Gauteng dashboard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Petrol/diesel demand, route access, Lesedi capacity, implied turns and unique customer deliveries.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Refresh the 2022 denominator and reconcile the geographic allocation before estimating current share.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Financial bridge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Contracted m³ × storage tariff, plus billable handling × handling rate, plus eligible services.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Deduct opex to EBITDA, then tax, working capital and capex to cash flow. Avoid overlapping tariff revenue.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Investment decision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Compare phased capex with incremental cash flow, NPV, IRR and break-even utilisation.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Commercial rates, contracts, cost, capex and hurdle rate are missing. The forecast structure is defined; an investment return is not yet estimated.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C961D616-052A-92C2-5B61-FCC89D3629B0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9165ED86-CCB1-439F-D908-42A6001F75E7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7B19FA18-88EE-B724-5749-A30A9AB65C19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4057699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300">
                <a:solidFill>
                  <a:schemeClr val="accent1"/>
                </a:solidFill>
                <a:latin typeface="Lato"/>
              </a:rPr>
              <a:t>The next decision is which evidence can support Vopak’s accessible volume</a:t>
            </a:r>
            <a:endParaRPr sz="2300">
              <a:solidFill>
                <a:schemeClr val="accent1"/>
              </a:solidFill>
              <a:latin typeface="Lato"/>
            </a:endParaRP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defRPr sz="1000">
                <a:latin typeface="Lato"/>
              </a:defRPr>
            </a:pPr>
            <a:r>
              <a:rPr lang="en-ZW" sz="1100"/>
              <a:t>19</a:t>
            </a:r>
            <a:endParaRPr sz="1100"/>
          </a:p>
        </p:txBody>
      </p:sp>
      <p:sp>
        <p:nvSpPr>
          <p:cNvPr id="8" name="Unified source footer"/>
          <p:cNvSpPr txBox="1"/>
          <p:nvPr/>
        </p:nvSpPr>
        <p:spPr>
          <a:xfrm>
            <a:off x="457200" y="6184900"/>
            <a:ext cx="10652760" cy="241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000000"/>
                </a:solidFill>
                <a:latin typeface="Lato"/>
              </a:defRPr>
            </a:pPr>
            <a:r>
              <a:rPr lang="en-GB" sz="750"/>
              <a:t>Evidence review draft, 7 Oct 2026. Not independently peer-reviewed or approved for investment reliance. Open items remain in the audit tracker.</a:t>
            </a:r>
            <a:endParaRPr sz="75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940766"/>
              </p:ext>
            </p:extLst>
          </p:nvPr>
        </p:nvGraphicFramePr>
        <p:xfrm>
          <a:off x="457200" y="1651000"/>
          <a:ext cx="10652760" cy="4133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Interpretation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1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Implication for Vopak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Supported now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Different petrol/diesel histories; lower Eskom fuel use; documented plant uncertainty; provisional Gauteng scope.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Continue the story with explicit product, geographic and period boundaries.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Tested now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Durban two-operator capacity proxy and Lesedi capacity-to-market scale.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Use these as transparent inference tests, not measured terminal market shares.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Next evidence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Corridor primary tables and tariffs; eligible tankage/turnover; refreshed Gauteng sales; sector and OEM evidence.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Owner: Nigel / analyst validation. Resolve before adopting a central market-share or routing result.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3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ZW" sz="1300" b="1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Next decision layer</a:t>
                      </a:r>
                      <a:endParaRPr sz="1300" b="1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Commercial inputs and approved forecast assumptions.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00" b="0">
                          <a:solidFill>
                            <a:srgbClr val="000000"/>
                          </a:solidFill>
                          <a:latin typeface="Lato"/>
                        </a:defRPr>
                      </a:pPr>
                      <a:r>
                        <a:rPr lang="en-GB" sz="1300" b="0" u="none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Owner: Nigel / commercial team. Resolve before financial returns or an investment recommendation; scenarios follow separately.</a:t>
                      </a:r>
                      <a:endParaRPr sz="1300" b="0" u="none">
                        <a:solidFill>
                          <a:schemeClr val="dk1"/>
                        </a:solidFill>
                        <a:latin typeface="Lato" panose="020F0502020204030203" pitchFamily="34" charset="0"/>
                      </a:endParaRPr>
                    </a:p>
                  </a:txBody>
                  <a:tcPr marL="38100" marR="114300" marT="88900" marB="50800">
                    <a:lnT w="762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>
                      <a:solidFill>
                        <a:srgbClr val="EEEE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Strictly Confidential footer"/>
          <p:cNvSpPr txBox="1"/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767676"/>
                </a:solidFill>
                <a:latin typeface="Lato"/>
              </a:defRPr>
            </a:pPr>
            <a:r>
              <a:t>Strictly Confidential</a:t>
            </a:r>
          </a:p>
        </p:txBody>
      </p:sp>
      <p:sp>
        <p:nvSpPr>
          <p:cNvPr id="9" name="SCR 1">
            <a:extLst>
              <a:ext uri="{FF2B5EF4-FFF2-40B4-BE49-F238E27FC236}">
                <a16:creationId xmlns:a16="http://schemas.microsoft.com/office/drawing/2014/main" id="{174C6839-E856-4261-F230-97A381193862}"/>
              </a:ext>
            </a:extLst>
          </p:cNvPr>
          <p:cNvSpPr/>
          <p:nvPr/>
        </p:nvSpPr>
        <p:spPr>
          <a:xfrm>
            <a:off x="4572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Situation</a:t>
            </a:r>
          </a:p>
        </p:txBody>
      </p:sp>
      <p:sp>
        <p:nvSpPr>
          <p:cNvPr id="10" name="SCR 2">
            <a:extLst>
              <a:ext uri="{FF2B5EF4-FFF2-40B4-BE49-F238E27FC236}">
                <a16:creationId xmlns:a16="http://schemas.microsoft.com/office/drawing/2014/main" id="{3AE8E3F5-770F-2FDC-539F-15FA91376550}"/>
              </a:ext>
            </a:extLst>
          </p:cNvPr>
          <p:cNvSpPr/>
          <p:nvPr/>
        </p:nvSpPr>
        <p:spPr>
          <a:xfrm>
            <a:off x="4051300" y="88900"/>
            <a:ext cx="3467100" cy="279400"/>
          </a:xfrm>
          <a:prstGeom prst="rect">
            <a:avLst/>
          </a:prstGeom>
          <a:solidFill>
            <a:schemeClr val="lt1">
              <a:shade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accent1"/>
                </a:solidFill>
                <a:latin typeface="Lato" panose="020F0502020204030203" pitchFamily="34" charset="0"/>
              </a:rPr>
              <a:t>Complication</a:t>
            </a:r>
          </a:p>
        </p:txBody>
      </p:sp>
      <p:sp>
        <p:nvSpPr>
          <p:cNvPr id="11" name="SCR 3">
            <a:extLst>
              <a:ext uri="{FF2B5EF4-FFF2-40B4-BE49-F238E27FC236}">
                <a16:creationId xmlns:a16="http://schemas.microsoft.com/office/drawing/2014/main" id="{DE302E75-3A07-EBA7-6FE0-0D8F35D77B42}"/>
              </a:ext>
            </a:extLst>
          </p:cNvPr>
          <p:cNvSpPr/>
          <p:nvPr/>
        </p:nvSpPr>
        <p:spPr>
          <a:xfrm>
            <a:off x="7645400" y="88900"/>
            <a:ext cx="3467100" cy="2794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400" bIns="0" rtlCol="0" anchor="ctr"/>
          <a:lstStyle/>
          <a:p>
            <a:pPr algn="ctr"/>
            <a:r>
              <a:rPr lang="en-ZA" sz="1100">
                <a:solidFill>
                  <a:schemeClr val="lt1"/>
                </a:solidFill>
                <a:latin typeface="Lato" panose="020F0502020204030203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592708129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pak Theme" id="{EB158558-B090-4A15-9406-52ADAF46E73D}" vid="{169915E9-BA5A-4298-BC78-09D6818817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A23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9E3C0-DBBA-4E87-A833-D4D671FDC2D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440e1679-9fef-4664-be92-b7e3c5432c2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TaxCatchAll xmlns="62b85a0e-09bb-4b0f-bd28-e34020cdc070" xsi:nil="true"/>
    <SharedWithUsers xmlns="62b85a0e-09bb-4b0f-bd28-e34020cdc070">
      <UserInfo>
        <DisplayName>Joseph Kihara</DisplayName>
        <AccountId>3747</AccountId>
        <AccountType/>
      </UserInfo>
    </SharedWithUsers>
    <Archive xmlns="265cb39c-7109-435c-af5d-13dc21a2db6b">false</Archive>
  </documentManagement>
</p:properties>
</file>

<file path=customXml/itemProps1.xml><?xml version="1.0" encoding="utf-8"?>
<ds:datastoreItem xmlns:ds="http://schemas.openxmlformats.org/officeDocument/2006/customXml" ds:itemID="{1B9F3023-3460-4C94-AC6C-4F171062BD4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0AC09D-7AB9-4C7E-89AA-55CFDED1BC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FA9FA0-2CB2-436E-A336-3A77ADFE4CF1}">
  <ds:schemaRefs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265cb39c-7109-435c-af5d-13dc21a2db6b"/>
    <ds:schemaRef ds:uri="http://purl.org/dc/elements/1.1/"/>
    <ds:schemaRef ds:uri="62b85a0e-09bb-4b0f-bd28-e34020cdc07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Vopak Theme</Template>
  <TotalTime>0</TotalTime>
  <Words>4263</Words>
  <Application>Microsoft Office PowerPoint</Application>
  <PresentationFormat>Custom</PresentationFormat>
  <Paragraphs>356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Lato</vt:lpstr>
      <vt:lpstr>Calibri</vt:lpstr>
      <vt:lpstr>Arial</vt:lpstr>
      <vt:lpstr>Vopak Theme</vt:lpstr>
      <vt:lpstr>PowerPoint Presentation</vt:lpstr>
      <vt:lpstr>Vopak’s opportunity depends on import needs and the routes customers choose</vt:lpstr>
      <vt:lpstr>Petrol fell 19% over 2013–2023 while diesel rose 9%</vt:lpstr>
      <vt:lpstr>GDP and fuel volumes need separate explanations of activity and sector mix</vt:lpstr>
      <vt:lpstr>Investment evidence informs the growth outlook but does not establish extra fuel demand</vt:lpstr>
      <vt:lpstr>Mining, agriculture and aviation require distinct demand explanations</vt:lpstr>
      <vt:lpstr>Fuel-price shocks affect running costs; sustained economics influence EV uptake</vt:lpstr>
      <vt:lpstr>More efficient new vehicles reduce fuel intensity gradually as the fleet turns over</vt:lpstr>
      <vt:lpstr>Eskom’s reported OCGT fuel use fell 40% in FY2025</vt:lpstr>
      <vt:lpstr>Road-to-rail recovery matters through transferable freight and haul distance</vt:lpstr>
      <vt:lpstr>Domestic production and imports must be read as one supply balance</vt:lpstr>
      <vt:lpstr>Plant-specific uncertainty can change the import requirement in either direction</vt:lpstr>
      <vt:lpstr>Power recovery can persist, but availability and replacement timing remain risks</vt:lpstr>
      <vt:lpstr>Rail recovery on the Durban corridor depends on funding and reliable service</vt:lpstr>
      <vt:lpstr>Origin–destination economics determine which supply route can win a customer</vt:lpstr>
      <vt:lpstr>Durban capacity provides a limited proxy, not a measured throughput share</vt:lpstr>
      <vt:lpstr>Gauteng provides a demand denominator for testing Lesedi’s potential reach</vt:lpstr>
      <vt:lpstr>Catchment dashboards must lead to a forecast of revenue and cash flow</vt:lpstr>
      <vt:lpstr>The next decision is which evidence can support Vopak’s accessible volume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Africa liquid fuels: Week 1 analytical maps</dc:title>
  <dc:subject>Illustrative demand geography and conditional Vopak market access</dc:subject>
  <dc:creator>Africa International Advisors</dc:creator>
  <cp:lastModifiedBy>Nigel Zhuwaki</cp:lastModifiedBy>
  <cp:revision>2</cp:revision>
  <dcterms:created xsi:type="dcterms:W3CDTF">2017-11-16T09:19:07Z</dcterms:created>
  <dcterms:modified xsi:type="dcterms:W3CDTF">2026-10-07T19:21:46Z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