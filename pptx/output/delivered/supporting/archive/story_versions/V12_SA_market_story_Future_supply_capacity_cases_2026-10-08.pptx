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4"/>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Lst>
  <p:sldSz cx="11588750" cy="6858000"/>
  <p:notesSz cx="6858000" cy="9144000"/>
  <p:embeddedFontLst>
    <p:embeddedFont>
      <p:font typeface="Lato" panose="020F0502020204030203"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vopak.com/terminals/vopak-terminal-durban" TargetMode="Externa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slide" Target="slide10.xml"/><Relationship Id="rId4" Type="http://schemas.openxmlformats.org/officeDocument/2006/relationships/slide" Target="slide23.xml"/><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slide" Target="slide19.xml"/><Relationship Id="rId4" Type="http://schemas.openxmlformats.org/officeDocument/2006/relationships/slide" Target="slide23.xml"/><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slide" Target="slide19.xml"/><Relationship Id="rId4" Type="http://schemas.openxmlformats.org/officeDocument/2006/relationships/slide" Target="slide23.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slide" Target="slide19.xml"/><Relationship Id="rId4" Type="http://schemas.openxmlformats.org/officeDocument/2006/relationships/slide" Target="slide2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slide" Target="slide19.xml"/><Relationship Id="rId4" Type="http://schemas.openxmlformats.org/officeDocument/2006/relationships/slide" Target="slide2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slide" Target="slide18.xml"/><Relationship Id="rId5" Type="http://schemas.openxmlformats.org/officeDocument/2006/relationships/slide" Target="slide10.xml"/><Relationship Id="rId4" Type="http://schemas.openxmlformats.org/officeDocument/2006/relationships/slide" Target="slide23.xml"/></Relationships>
</file>

<file path=ppt/slides/_rels/slide2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_rels/slide2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slide" Target="slide10.xml"/><Relationship Id="rId4" Type="http://schemas.openxmlformats.org/officeDocument/2006/relationships/slide" Target="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Future capacity sensitivities added; production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Slow demand growth and greater import reliance set the baseline; power, refineries and routes could change it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117851894"/>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A21C20C1-5AF7-23AD-28CC-3FB69FEE4436}"/>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C6A39052-8E20-E1D4-CF7B-527F1F3D24F7}"/>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A72459AD-637B-2FAD-7AD9-DDD48AAE2D0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FD328CB-B8B3-F5C6-11E7-FD08322987F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02C0642-E49B-8D9A-8C2D-3C042A3B06D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8FD5DB49-7EFD-69AB-9F61-A6BBCD1572B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6FF4E977-4168-5303-6876-41C04D194CD8}"/>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DC81F98F-8C6B-F484-FB65-399B6C96384F}"/>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Vopak can capture inland growth through the Durban–Lesedi corridor, with expansion conditional on turnover and returns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247099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1D4404F-3C47-1C9B-2BFB-60041C06FDF9}"/>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4D9C824F-3D78-271C-DFAE-0B71AADF8A37}"/>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5D461E9A-70C3-9A69-6F0E-8A5102CFBED6}"/>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30D3A8A-7A66-B708-B261-BBFF72F6E22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7C6B0FE4-1F3E-B82C-CD9D-E73BEE906FC1}"/>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8814F24-0A53-CCD2-09EF-21747F764764}"/>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0647C683-267B-8458-B3F9-A403631CDBAB}"/>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56351BD0-F8F8-9F10-795D-CF15619AB55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6202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Capturable volumes, route competitiveness and tank turnover determine the investment required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1546515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3927775567"/>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378C09-3D10-52DD-7016-9D2910C4DBF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48592C6-1537-30C6-DCD3-7921B111F6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40344B9E-11F4-3585-8770-8D03D41DDF6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089F59B7-E170-C785-A838-B1A157696C07}"/>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3649979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Nine demand–supply worlds test the investment choice against the Medium / Medium baseline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8318316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56231478"/>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0A00795-7097-04F3-540C-EE39272F7EC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B3DEEA4F-83EE-B544-B364-F22055CBE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3F2824B4-0F1C-8519-DECB-9B6585EB74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44DAE2D0-CF57-DDA4-5098-0B0320E36D5A}"/>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3" name="Cell outputs">
            <a:extLst>
              <a:ext uri="{FF2B5EF4-FFF2-40B4-BE49-F238E27FC236}">
                <a16:creationId xmlns:a16="http://schemas.microsoft.com/office/drawing/2014/main" id="{28A23758-7A99-A19E-5757-19756C116F7A}"/>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3971988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Petrol demand has declined while diesel has grown slowly, limiting the case for demand-led expansion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AF10D7B0-E588-CD9C-1492-5CE1E904615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B1B137D2-D499-319D-7609-86804BAF9EBA}"/>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5FAD0C26-607F-293B-0573-1D7546A0448B}"/>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D5B73DA5-32FA-37EF-C958-2601A01018F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516919AB-E6D6-BD7D-307D-DD393F1941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57A0E6E-9CFE-2E7B-4343-EFBDC44C1D48}"/>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475751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shortages and road freight have supported diesel consumption, but that support can change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pp19, 22–23.</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45540777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 interpretation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01B6FC4-2AD9-FB70-3256-2A2E2CBD9DD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DD801C-D807-227B-2CBE-D820BF0DF901}"/>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E80277C3-6A96-B7D1-92DE-9C350955A9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01BA18C8-DA36-1BA8-5E2E-608371B8447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313000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Lower domestic production has increased imports and shifted how inland demand is supplied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4F06A55-D49E-988E-33F9-AE5929BFAC9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72C1372-D987-08A0-4B35-69D42DB9C11B}"/>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62F61792-C29F-AD44-822F-D475800D2D9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37D5EE02-D1B0-28D8-24F3-81082204429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4E212304-A5B8-A9AF-2185-0A1D8AE0200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EF8E5EC-0311-42F2-7D00-BDB6FED766C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264683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Domestic sources and competing gateways contest the same inland customers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Natural Earth country geometry; shared LAEA projection with uniform scale. GeoJSON source catalogue: output/delivered/geospatial/2026_10_07. Corridor lines and places remain authored approximations; operating routes, facility positions and access require validation.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2C7500D-2D8A-D072-19D5-84505A714B1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9CE82A6E-B8BF-63B4-EE26-38147230A1B5}"/>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DBC23130-F231-13F6-11A2-D9139D18B3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3B8AC243-EFD6-4E58-95C4-8915621C4C9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E8913DA9-FC4F-2A2D-D768-63A4DACA2F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462C3227-19DF-7353-311B-647C3A0532D3}"/>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597008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turnover could let Durban and Lesedi serve more demand through existing tanks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FA0BFA4-519D-93CF-542C-6A03373BAB3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0E025812-4EF2-C067-683B-0ACDAF279C0D}"/>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3340CB75-9213-B25D-CAC0-0D1215C6699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A404DEA-A636-530B-5412-A230F739B43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BD2A12AD-719E-566A-63EB-0ECEFBDB423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E104C799-EA4B-FCD1-8A4A-263163D6E151}"/>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15083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recovery, EV adoption and efficiency could reduce transport fuel demand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04FA377-54F3-C633-7160-35BB3B1EFCC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CC119F37-6F4E-ED67-1331-359DE941E7D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215A08C1-D42C-6B3C-F71E-0E9B0BB2119B}"/>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8C05D1B5-393B-ABE3-9588-2EA2D3D56F8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75C233F4-39D2-2F3D-9753-4309043118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4E91BB8B-4894-3CBA-0A26-12462D38E0E3}"/>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233715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recovery could lower diesel use further, while outages and replacement delays could reverse the gains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A6DBB-7078-925C-D4B4-4D8F89B6E01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4F85F0A6-83AE-C28C-04F5-A0E5B50FA6A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965084A-DCAC-177F-985A-B68A6E5AABD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7C49D9D5-3CBC-B4A8-BFE6-B0766A74A84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0DD28858-7040-F13C-872B-2EDFA43CFF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ECEC023B-9220-FB6C-27AB-83ADA283D5E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133242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SAPREF could expand the supply footprint, while Natref unavailability would reduce it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3D9E0A8-5281-01F2-5CB7-A7881213EE54}"/>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938E0106-4C53-D188-9D26-78D1BEFECE2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2A390A6D-C1ED-F784-B436-F347923C7E74}"/>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83839DCE-31CC-6FDB-EBB6-6F70210568E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0B1D9993-7043-A672-BDB9-4D685DDD72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D23B4611-D58D-70A2-ED85-A3F7A562505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65827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Changes in delivered cost and reliability could shift inland flows between competing corridors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91509268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B56FEC22-D099-DE32-816D-1E05B2D7507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901F9E2-AB97-E25F-0BF3-B94112C0490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A6EAA79-5BA2-1C2B-7F49-DF3B4F30ADCA}"/>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FC600891-BC1C-2B8C-654C-C7756C96A25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4131101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Expansion requires capturable throughput beyond achievable capacity at an adequate return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061354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AF542EAF-82FF-1EFA-E7B7-D78D77E41BA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9C0EA82-AAB5-7C7E-E2EC-916458A278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65B09AC-35A9-B591-89D1-FE5A6A7E612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66D4F65-86C8-2373-452D-B00CC4C9C07C}"/>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3956559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The supporting evidence calibrates demand, supply and the terminal investment tests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5780870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F4FC5B8-8366-B064-73E6-101749EBA4BC}"/>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4DE760D-F290-05C6-51AD-2368FC7CDDB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9011E01-C6FF-58F3-8EAC-D131C77C6F6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5D104D1-25FC-14E5-80E1-ABF76EBEBD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962152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Fuel demand has diverged from GDP, so sector activity and fuel intensity need separate treatment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B62C37FE-06CD-7A70-241F-5D6272BBF3CC}"/>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10FE0FD-AF5B-8B31-9E28-EF64AB0584F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81137EB-4B73-4820-1A0C-9C99D953F354}"/>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E8E49160-01AE-D789-8FEE-1709AE1AC63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B1B92731-892E-A9CB-613A-B690C9ECC86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EEBA3359-DC6F-8D06-7BF9-566079387319}"/>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8342547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Fixed investment has weakened while FDI fluctuates, limiting a simple growth-led fuel argument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D018FD0-9AA6-676B-6893-9758CD9BEEA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6F3CF74-C9D7-3074-1E16-0A4BD127623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17FF581-2437-5F10-55D0-872B31BD0DA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0306A80-12B5-1127-85F1-AB91742FE0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24AA0FDC-CAAA-D89E-C78E-5E98C234674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916DEFF1-EF99-36AB-4B2A-73F206F4C04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209860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Mining, agriculture and aviation expose fuel demand to different activity drivers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6746025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A09F2D5-9469-5025-36A2-B15CEF86193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66FAEDB-451A-762C-E5CF-84E315D1730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541702C-122A-E5D9-2289-C747C995BA34}"/>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B5BDFB1F-46A9-1090-295C-C040DBF3AEE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697201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fuel prices strengthen EV running-cost incentives, but ownership economics determine uptake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F327613-0D68-B402-2526-3CADEA61862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07E90C5-298B-6FCA-1CC1-7859ACB2C5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57E45F3-E072-D706-3F20-8ACE85AA513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A7F16FA4-0F28-CCAC-2D9F-1184C84BE43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973B748-2100-9262-E380-F553AB0888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6EE86499-FC00-8A46-76D7-2B459A9BC1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809296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New-vehicle efficiency gains affect fuel demand gradually as older vehicles leave the fleet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01432177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A8A59D3-90DA-3BED-522D-E0C511B78AE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40C32BF-CDA8-7C95-D2BA-F2BE868B482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26525009-B7A8-4CEE-DC6F-AE5A99647ED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58B0B60D-F838-6AB2-68DA-3FF1BB790BF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81583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Eskom’s own OCGT fuel use fell 40% in FY2025 as availability improved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A5765549-751D-5725-943D-19BD70A8584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94D1570-F521-E492-8971-7EF9197EA0F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0CE82AA-74F2-5951-B145-5AF39EAB063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AB525671-BA8F-CB2C-DDBF-86A20185DF3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27FBED73-BA21-5646-853F-64629415C2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FF0F21E-FA6D-A077-3CB8-E7B5485CC6D6}"/>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86628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Road carries most reported freight tonnage, making transferable haul distance a key diesel lever</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002353-6521-EB19-8E7D-6C5ECBC192E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39DF3DE-5B58-5306-ED21-FBD8F283E2D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63B3FEF-81C4-ECB6-C16C-8A48B9E337F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FE87A2-9408-85BE-80E4-2EE53D70642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E92786A-6FD0-AA8F-63FB-4586220FAA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45A71C85-2800-B622-65DF-7A4289B707D1}"/>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513796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funding and reliable service determine how much road freight can return to rail</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75693079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D3BC28E-1AA6-D148-8A4F-08F2B6081FA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0BDDE560-DAA7-D96D-2724-5A9BAAEC8D6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B973536-8B58-8DC1-9AF9-60E6A87475E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6BDFE9A-2060-2C54-DD3A-A7744C554D2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5440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Gauteng demand establishes market scale, while Lesedi capture and turnover determine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F32D0AE-6F46-9CF8-878F-5DECE47524E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9C01FC2-85A2-02B3-95DB-8CD8EE78D2F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C72917C-7B57-0935-3CC2-49314D3364F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8C9B595-A62D-7583-C4ED-27C58024AD1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DEA0CF6A-F7C6-D7FA-2509-7CEDA7B1E5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56C3FCB-84D4-BD7A-13D5-9BFB21DE44B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410998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Every market world passes through explicit demand, supply, capture and operating levers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8771836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6D1E0CC-0972-4E9A-524F-4CDE3A32E91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0ECAE4B8-D8AD-9C6A-480F-E7B68DB0AE3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A128B5A-ACC5-9CAD-FBCB-BDE0E91BAF6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977980-359A-357A-B7C7-4A0E22B39FC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21999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Generation timing must close the power balance before residual diesel can be forecast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68877927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6E69D1B-458C-756C-3CA8-E4F17D4E919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E66A0339-6535-14B9-925D-FBE53D53EA1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C7D4550-AACF-47DF-D74B-7E0345F07C9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DE72CEE6-8FC5-3EDE-6E36-2A9D68FE7CD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47413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SAPREF and Natref define capacity sensitivities; plant output must complete the supply paths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99017235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A0F0CE-713F-5ABA-82E0-26531F567D1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5DAF4AA-9E2C-D935-3B66-10227959D70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CFEA1D3D-F18A-1D8B-6F98-1C237A13514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3F49EE5-6086-84B1-D07B-FE11A397A7C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41881207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Public capacity ratios establish scale but cannot substitute for realised terminal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p25.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18220479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E229C33-FB8F-7004-9445-72795D8E07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077F9BBD-DBE6-CEC3-B98C-5C47ECEB91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DAF1000-79BC-FA61-FC99-9021636E83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BC3C7FE-7ABB-8C6C-5F0E-518F5B10FEE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262004526"/>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7349</Words>
  <Application>Microsoft Office PowerPoint</Application>
  <PresentationFormat>Custom</PresentationFormat>
  <Paragraphs>571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Calibri</vt:lpstr>
      <vt:lpstr>Arial</vt:lpstr>
      <vt:lpstr>Lato</vt:lpstr>
      <vt:lpstr>Vopak Theme</vt:lpstr>
      <vt:lpstr>PowerPoint Presentation</vt:lpstr>
      <vt:lpstr>Slow demand growth and greater import reliance set the baseline; power, refineries and routes could change it</vt:lpstr>
      <vt:lpstr>Vopak can capture inland growth through the Durban–Lesedi corridor, with expansion conditional on turnover and returns</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SAPREF could expand the supply footprint, while Natref unavailability would reduce it</vt:lpstr>
      <vt:lpstr>Changes in delivered cost and reliability could shift inland flows between competing corridors</vt:lpstr>
      <vt:lpstr>Expansion requires capturable throughput beyond achievable capacity at an adequate return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cp:revision>
  <dcterms:created xsi:type="dcterms:W3CDTF">2017-11-16T09:19:07Z</dcterms:created>
  <dcterms:modified xsi:type="dcterms:W3CDTF">2026-10-07T22:13:50Z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