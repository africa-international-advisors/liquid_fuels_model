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43"/>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6" r:id="rId20"/>
    <p:sldId id="305"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7" r:id="rId36"/>
    <p:sldId id="308" r:id="rId37"/>
    <p:sldId id="309" r:id="rId38"/>
    <p:sldId id="310" r:id="rId39"/>
    <p:sldId id="311" r:id="rId40"/>
    <p:sldId id="312" r:id="rId41"/>
    <p:sldId id="313" r:id="rId42"/>
  </p:sldIdLst>
  <p:sldSz cx="11588750" cy="6858000"/>
  <p:notesSz cx="6858000" cy="9144000"/>
  <p:embeddedFontLst>
    <p:embeddedFont>
      <p:font typeface="Lato" panose="020F0502020204030203" pitchFamily="34" charset="0"/>
      <p:regular r:id="rId44"/>
      <p:bold r:id="rId45"/>
      <p:italic r:id="rId46"/>
      <p:boldItalic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4.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Executive summary — baseline and changes. Comparable historical periods differ: Department sales 2013–2023; SARS imports 2020–2025; Eskom FY2025 vs FY2024 (own diesel + kerosene). M/M is a reference framework, not a calibrated forecast.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recommendation supported by an authored Lesedi illustration, not a calibrated forecast. Reported capacity is used; capture, working capacity, tariffs, capex and discount rate are assumptions. No customer volume is represented as secured.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100% project basis, constant ZAR; capex at t0; operating ramp 50%/75%/100%; no tax, working capital, construction delay, inflation or residual value. Turnover and occupancy are distinct. Full assumptions, benchmarks, options and downside tests: pp35–38.</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p37; downside: p38.</a:t>
            </a:r>
          </a:p>
          <a:p>
            <a:r>
              <a:rPr lang="en-GB"/>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
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CAGR from comparable endpoints: petrol −2.08%, diesel +0.82%. FIASA 2024 is excluded from the trend calculation; its observations remain in the evidence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Fuel/EAF: 2025 report; GWh: staged 2024–2026 reports. Own Eskom and IPP generation separated. Private backup and load-shedding histories are missing; no assumed annual generation gap is assigned entirely to diesel.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Compare common product, destination, price date and tax basis. Emerging gateways must be considered; no relative cost ranking is asserted without quotes and verified access. Landlocked SADC opportunities require separate market/access evidence.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p35; these do not constitute engineered rail or EV project estimates.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Analytical framework following user comments. Sector-specific exhibits and causal attribution remain to be completed.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own-fleet diesel + kerosene. EAF association is not a dispatch model; private backup use excluded.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monthly freight payload, complete calendar years. National tonnes are not corridor tonne-kilometres or transferable freight.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latest complete staged year 2022; Vopak Lesedi current capacity. Cross-vintage scale test only, not current observed market share.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Operator capacities: Vopak Durban 360,246m³, Bidvest Durban 439,306m³, Lesedi 140,000m³. Department Gauteng sales 2022; appendix p27. Transfers between terminals must not be double-counted.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four quarters; SARS trade: 12 months and litre units only, blends/other units excluded. 2021 energy-balance consumption differs from sales; statistical differences are not stock changes. Source hashes and exact values: investment_bridge_2026_10_08/evidence.json.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Every illustrative value is registered in assumptions/2026/vopak_investment_illustration.yaml. Not a forecast, commercial offer or approval. Proposed validation: Nigel coordinates Vopak commercial/operations; Manish reconciles; independent review outstanding.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9.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Reported Vopak context and illustrative investment economics; all commercial assumptions require validation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Prioritise capture and turnover through existing assets; expand where profitable demand exceeds achievable capacity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2195622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Working recommendation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logic</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Condition for commitment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Win accessible customer flows from imported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Prove delivered competitiveness and sufficient customer volume.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existing
assets first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worked illustration favours existing assets in six worlds; access/dispatch improvement in two.</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working capacity and the actual operating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Stage corridor
and capacity spend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Only high demand / low domestic supply favours extra tanks, with a narrow advantage over improvement alone.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Fund the least-cost viable option that removes the proven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Keep strategic
options open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all nine worlds and emerging gateways; screen EV adjacencies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Validate capture, chargeable revenues and capex first; the illustrated choice reverses under downside tests.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pic>
        <p:nvPicPr>
          <p:cNvPr id="6" name="Argument icon ship">
            <a:extLst>
              <a:ext uri="{FF2B5EF4-FFF2-40B4-BE49-F238E27FC236}">
                <a16:creationId xmlns:a16="http://schemas.microsoft.com/office/drawing/2014/main" id="{87CF06A2-2E84-63BB-D567-6F100D78AF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7" name="Argument icon route">
            <a:extLst>
              <a:ext uri="{FF2B5EF4-FFF2-40B4-BE49-F238E27FC236}">
                <a16:creationId xmlns:a16="http://schemas.microsoft.com/office/drawing/2014/main" id="{31C14134-62AB-3256-04ED-33DD86B76A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22" name="Argument icon turns">
            <a:extLst>
              <a:ext uri="{FF2B5EF4-FFF2-40B4-BE49-F238E27FC236}">
                <a16:creationId xmlns:a16="http://schemas.microsoft.com/office/drawing/2014/main" id="{0B4613C7-3859-DFE1-7E02-3CD3F6931F5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4" name="Argument icon matrix">
            <a:extLst>
              <a:ext uri="{FF2B5EF4-FFF2-40B4-BE49-F238E27FC236}">
                <a16:creationId xmlns:a16="http://schemas.microsoft.com/office/drawing/2014/main" id="{BEC0AFB8-04AE-6680-611F-6A42BC571C4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illustrated expansion case passes narrowly—and depends on capture, revenue and capex</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100% project basis, constant ZAR; capex at t0; operating ramp 50%/75%/100%; no tax, working capital, construction delay, inflation or residual value. Turnover and occupancy are distinct. Full assumptions, benchmarks, options and downside tests: pp35–38.</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69280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test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Numeric condition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high / low case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Still needs verification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Customer
volume</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Tanks must outperform improving existing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Assumed capture 2.813bn L/year; tanks win above 2.806bn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secured volumes inferred. Validate customer capture and contract duration.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Route
economics</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Delivered-cost headroom ≥ R0/m³.</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R750 allowable less R650 assumed logistics = R100/m³ headroom.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Both prices are authored. Compare actual Durban, Maputo, Walvis Bay and domestic quotes.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Capacity
constraint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Captured flow exceeds achievable handling.</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Existing 1.890bn L/year; improvement 2.268bn; tanks 2.916bn.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capacity and 1.25 / 1.50 monthly turns are assumptions, not reported operations.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Incremental
return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Positive NPV and better value than the alternative.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NPV R+27m; combined R+35m. Extra advantage only R8m.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10% discount rate, 20 years, pre-tax. Actual tariffs, cost, tax and project schedule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7" name="Argument icon transport">
            <a:extLst>
              <a:ext uri="{FF2B5EF4-FFF2-40B4-BE49-F238E27FC236}">
                <a16:creationId xmlns:a16="http://schemas.microsoft.com/office/drawing/2014/main" id="{CDF4F119-FDEF-22AD-8F9E-D71A3A3532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1" name="Argument icon corridor">
            <a:extLst>
              <a:ext uri="{FF2B5EF4-FFF2-40B4-BE49-F238E27FC236}">
                <a16:creationId xmlns:a16="http://schemas.microsoft.com/office/drawing/2014/main" id="{9526BB2F-3AE4-807C-64BA-51DF63105B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6" name="Argument icon supply">
            <a:extLst>
              <a:ext uri="{FF2B5EF4-FFF2-40B4-BE49-F238E27FC236}">
                <a16:creationId xmlns:a16="http://schemas.microsoft.com/office/drawing/2014/main" id="{9AC7A88F-EE1F-650F-0D5E-A43283F0486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8" name="Argument icon investment">
            <a:extLst>
              <a:ext uri="{FF2B5EF4-FFF2-40B4-BE49-F238E27FC236}">
                <a16:creationId xmlns:a16="http://schemas.microsoft.com/office/drawing/2014/main" id="{3B44A565-A667-39BE-D367-DFE7B8DC4B8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Only one illustrative world favours tanks; six favour existing assets and two favour improvement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p37; downside: p38.</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2659755"/>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Gauteng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HIGH deliveries
4.8bn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deliveries
3.6bn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LOW deliveries
2.4bn L/year</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LOW demand
6.0bn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USE EXISTING ASSETS
Capture 0.99bn L/year
Incremental NPV R+0m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USE EXISTING ASSETS
Capture 1.50bn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L
USE EXISTING ASSETS
Capture 2.01bn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MEDIUM demand
6.8bn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USE EXISTING ASSETS
Capture 1.39bn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 BASELINE
USE EXISTING ASSETS
Capture 1.90bn L/year
Incremental NPV R+0m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L
IMPROVE ACCESS / DISPATCH
Capture 2.41bn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HIGH demand
7.6bn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USE EXISTING ASSETS
Capture 1.80bn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IMPROVE ACCESS / DISPATCH
Capture 2.30bn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TEST IMPROVEMENT + TANKS
Capture 2.81bn L/year
Incremental NPV R+35m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Highest incremental NPV among three illustrative packages; R0 means retain existing assets, not zero terminal value.</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92607845"/>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450m fewer litres in one year. Sustained recovery reduces diesel demand; retirements and replacement timing could reverse it.</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carries 85.3% of tonnes. Rail recovery reduces diesel use only where freight transfers and net fuel savings follow.</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Agriculture grew; mining was flat and manufacturing declined. Sector activity matters more than one GDP assumption.</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Emerging Maputo and Walvis Bay routes must be tested alongside Durban and domestic supply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Maputo and Walvis Bay are emerging alternatives to include by destination. Compare delivered cost, capacity and reliable access before estimating how much inland demand Vopak can capture.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Emerging gateways could redirect inland growth; delivered cost and reliable access determine capture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340449478"/>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Competing route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Pipeline, rail and road costs; reliable receipt and inland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access and handling improvements that protect competitive customer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Maputo / Matola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Delivered cost, border time and capacity into each inland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as an emerging alternative; test customer exposure and corridor responses.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Distance, transit, border costs and feasible destination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Consider emerging inland opportunities; compare reach customer by customer.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sources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Secunda / Natref availability, product output and distribution access.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inland handling and connections as well as import infrastructure.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Choose the investment that removes the proven constraint—and earns a return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p35; these do not constitute engineered rail or EV project estimates.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2159672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option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When it becomes relevant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 commitment trigger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Existing assets /
debottlenecking</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Customer growth can be served through better tank turns, scheduling or receipt/dispatch.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available working capacity; invest in the specific bottleneck where incremental value is positive.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Corridor / rail
access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Competitive customer flows are constrained by transport capacity, cost or reliability.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Secure service and volume commitments. Compare access contracts, loading assets and partnership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Additional
tank capacity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Profitable captured flows exceed achievable handling and storage remains the binding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and stage tanks against contracted demand; pass the four tests and downside cases.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EV-related
adjacencies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Identified charging / fleet-energy customers offer a viable opportunity as transport electrifies.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Screen partnerships or dedicated assets separately: demand, power access, strategic fit and return must be proven.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6" name="Argument icon turnover">
            <a:extLst>
              <a:ext uri="{FF2B5EF4-FFF2-40B4-BE49-F238E27FC236}">
                <a16:creationId xmlns:a16="http://schemas.microsoft.com/office/drawing/2014/main" id="{BA6FB266-146A-4D87-EE83-A73075F1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Argument icon transport">
            <a:extLst>
              <a:ext uri="{FF2B5EF4-FFF2-40B4-BE49-F238E27FC236}">
                <a16:creationId xmlns:a16="http://schemas.microsoft.com/office/drawing/2014/main" id="{123D469F-315C-7FB5-C3A5-660211B54C5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Argument icon headroom">
            <a:extLst>
              <a:ext uri="{FF2B5EF4-FFF2-40B4-BE49-F238E27FC236}">
                <a16:creationId xmlns:a16="http://schemas.microsoft.com/office/drawing/2014/main" id="{5F1A2A76-F7B3-3178-767E-DCFA9227803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Argument icon power">
            <a:extLst>
              <a:ext uri="{FF2B5EF4-FFF2-40B4-BE49-F238E27FC236}">
                <a16:creationId xmlns:a16="http://schemas.microsoft.com/office/drawing/2014/main" id="{8B95344E-2FD8-34AD-5418-6BD86B8DCB6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Resolve customer volume, working capacity and project economics first to determine the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2945984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Data request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detail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it unlocks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FIRST | Volume
DR02 / DR05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Monthly unique deliveries, customer destination, contract term and contestable volumes; separate terminal transfers.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the illustrated 2.21bn L improvement trigger and 2.806bn L tank trigger against actual customer commitments.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Capacity
DR03</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Eligible working m³, actual turns, committed capacity, stock policy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Calculate the throughput shortfall and identify whether tanks, access or dispatch bind.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Economics
DR04 / DR06</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delivered costs, access, rates, incremental costs and capex; hurdle, ramp-up and working capital.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Replace the authored rent, chargeable-service margin and capex; these determine whether the narrow expansion advantage survives.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THEN | Stress tests
DR01 / DR07 / DR08</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product balance; annual demand, power and plant-output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how far demand or supply must change before the preferred investment changes.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SEPARATE | EV case
DR09</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energy demand, charging utilisation, power connection, delivery partner, capex and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Decide whether an EV adjacency merits development on its own economics.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332274939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17</a:t>
            </a:r>
          </a:p>
        </p:txBody>
      </p:sp>
    </p:spTree>
    <p:extLst>
      <p:ext uri="{BB962C8B-B14F-4D97-AF65-F5344CB8AC3E}">
        <p14:creationId xmlns:p14="http://schemas.microsoft.com/office/powerpoint/2010/main" val="121299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52951794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 separate EV adjacency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p27.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5993699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national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9.18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12.72</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Gauteng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3.53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3.28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5.46 / 0.85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11.95 / 0.89</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2021 balance diagnostic</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0.51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2.10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is a residual, not measured domestic output. Confirm product and stock boundaries.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Provincial sales establish demand scale, not source allocation or flows captured by Vopak.</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8292652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0158714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Matched 2022 sales/trade; 2021 balance diagnostic.</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 production, stocks and source definitions.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Annual L/M/H paths; rerun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Demand, supply and corridor access translate into captured throughput and required tank turns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59950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illustration gives extra tanks only R8m more NPV than improvement alone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803476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demand / low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Capital and throughput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Incremental value versus existing</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Existing</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R0m capex
1.890bn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R+0.0m
Unserved 0.923bn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access / dispatch</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capex
2.268bn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R+27.0m
Unserved 0.545bn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 add tanks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R600m capex
2.813bn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R+35.1m
Unserved 0.000bn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threshold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beats existing above 2.211bn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Tanks beat improvement above 2.806bn L/year; assumed capture 2.813bn.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37290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Vopak reports anchor capacity and the revenue model; they do not disclose Lesedi project economics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4561069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class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the sources establish</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How it is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Lesedi: 140,000 m³; Durban: 360,246 m³. Vopak share: 70% at each site.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Use full physical capacity for operations. Annual report confirms Lesedi expansion was commissioned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 services: EUR1,058.8m of EUR1,298.9m consolidated revenue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81.5% is storage revenue. Rental may include minimum throughput; extra turns are not automatically extra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INFERRED | Group ratio</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EUR93.9 revenue / gross m³/year: proportional revenue divided by year-end proportional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Mixed-portfolio scale indicator only. Not a Lesedi tariff, margin or estimate of site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Benchmarks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15.6% group operating cash return; 5–7x capex/EBITDA for gas/industrial and 4–8x for transition infrastructure.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Context, not South Africa fuel-project hurdle rates. Authored 10% discount rate is separate.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537164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investment result rests on explicit assumptions that must be replaced or agreed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6194954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input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Value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must be validated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Catchment balance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Demand 6.0 / 6.8 / 7.6bn L; domestic deliveries 2.4 / 3.6 / 4.8bn 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Steady-state stress points; M rounds 2022 Gauteng sales for scale. No national production forecast implied.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70% of imports via Durban; Vopak captures 80%; 90% goes to Lesedi; 8% domestic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observed shares. Capture is unique Lesedi flow; Durban transfers are not added to market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fraction; turns 1.25 existing / 1.50 improved; +40,000 gross m³ tanks.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126,000 working m³ initially; 162,000 with tanks. Assumed receipt/dispatch ceiling 3.5bn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R1,500 / gross m³/year rent on added contracted tanks; R60 / extra m³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Chargeable excess services only, excluding rent/minimum-throughput inclusions. Added rent follows incremental storage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Capital and costs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improvement + R500m tanks; fixed opex R5m + R12m/year; maintenance 1% capex/year.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Author-selected cost sensitivities; no Vopak quotation or engineering estimate.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9335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Cash flow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20 years at 10%; 50% / 75% / 100% operating ramp; capex upfront.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Pre-tax unlevered constant ZAR. Tax, working capital, construction timing and residual value excluded.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206911400"/>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66105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Small changes in capture or economics overturn the illustrated tank-expansion choice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38</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illustration supports validating contracts and a low-capex improvement first. Extra tanks have only a narrow advantage and fail the tested downside cases.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DC12D282-6F4E-3E1C-36CA-D5ECFAD38A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784110054"/>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9646</Words>
  <Application>Microsoft Office PowerPoint</Application>
  <PresentationFormat>Custom</PresentationFormat>
  <Paragraphs>807</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Lato</vt:lpstr>
      <vt:lpstr>Calibri</vt:lpstr>
      <vt:lpstr>Arial</vt:lpstr>
      <vt:lpstr>Vopak Theme</vt:lpstr>
      <vt:lpstr>PowerPoint Presentation</vt:lpstr>
      <vt:lpstr>Slow demand growth and greater import reliance set the baseline; road-to-rail shifts, EV adoption, power recovery and refinery changes could reshape the outlook</vt:lpstr>
      <vt:lpstr>Prioritise capture and turnover through existing assets; expand where profitable demand exceeds achievable capacity</vt:lpstr>
      <vt:lpstr>The illustrated expansion case passes narrowly—and depends on capture, revenue and capex</vt:lpstr>
      <vt:lpstr>Only one illustrative world favours tanks; six favour existing assets and two favour improvement</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Emerging Maputo and Walvis Bay routes must be tested alongside Durban and domestic supply</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lpstr>The illustration gives extra tanks only R8m more NPV than improvement alone</vt:lpstr>
      <vt:lpstr>Vopak reports anchor capacity and the revenue model; they do not disclose Lesedi project economics</vt:lpstr>
      <vt:lpstr>The investment result rests on explicit assumptions that must be replaced or agreed</vt:lpstr>
      <vt:lpstr>Small changes in capture or economics overturn the illustrated tank-expansion choice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28</cp:revision>
  <dcterms:created xsi:type="dcterms:W3CDTF">2017-11-16T09:19:07Z</dcterms:created>
  <dcterms:modified xsi:type="dcterms:W3CDTF">2026-10-08T02:06:49Z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