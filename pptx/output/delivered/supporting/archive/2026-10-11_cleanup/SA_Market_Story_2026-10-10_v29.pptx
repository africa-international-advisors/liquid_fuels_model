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88f1e5469e47e4" /><Relationship Type="http://schemas.openxmlformats.org/officeDocument/2006/relationships/extended-properties" Target="/docProps/app.xml" Id="R1f96279bef7349a6" /><Relationship Type="http://schemas.openxmlformats.org/officeDocument/2006/relationships/officeDocument" Target="/ppt/presentation.xml" Id="R3d39b0b4fa21448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012f8567dabe42d2"/>
  </p:sldMasterIdLst>
  <p:notesMasterIdLst>
    <p:notesMasterId xmlns:r="http://schemas.openxmlformats.org/officeDocument/2006/relationships" r:id="R94ad8f5c0a5e4b0e"/>
  </p:notesMasterIdLst>
  <p:sldIdLst>
    <p:sldId xmlns:r="http://schemas.openxmlformats.org/officeDocument/2006/relationships" id="256" r:id="R0d0b0f2102db4e95"/>
    <p:sldId xmlns:r="http://schemas.openxmlformats.org/officeDocument/2006/relationships" id="257" r:id="Rd47f4654db9b4ff5"/>
    <p:sldId xmlns:r="http://schemas.openxmlformats.org/officeDocument/2006/relationships" id="258" r:id="R5d53766de16a4154"/>
    <p:sldId xmlns:r="http://schemas.openxmlformats.org/officeDocument/2006/relationships" id="259" r:id="R9f5b5f5ee9c242f5"/>
    <p:sldId xmlns:r="http://schemas.openxmlformats.org/officeDocument/2006/relationships" id="260" r:id="R71f8a2bbb247478b"/>
    <p:sldId xmlns:r="http://schemas.openxmlformats.org/officeDocument/2006/relationships" id="261" r:id="R271d2ec4f90840c4"/>
    <p:sldId xmlns:r="http://schemas.openxmlformats.org/officeDocument/2006/relationships" id="262" r:id="R31f50ef6a34041ec"/>
    <p:sldId xmlns:r="http://schemas.openxmlformats.org/officeDocument/2006/relationships" id="263" r:id="R3a27834150774a5b"/>
    <p:sldId xmlns:r="http://schemas.openxmlformats.org/officeDocument/2006/relationships" id="264" r:id="Rdcbe73a58eb34bbd"/>
    <p:sldId xmlns:r="http://schemas.openxmlformats.org/officeDocument/2006/relationships" id="265" r:id="R48317b42c2a1429d"/>
    <p:sldId xmlns:r="http://schemas.openxmlformats.org/officeDocument/2006/relationships" id="266" r:id="Rc6fefc9b67264d94"/>
    <p:sldId xmlns:r="http://schemas.openxmlformats.org/officeDocument/2006/relationships" id="267" r:id="Rc6f2f0dcd5a641cc"/>
    <p:sldId xmlns:r="http://schemas.openxmlformats.org/officeDocument/2006/relationships" id="268" r:id="Re15bb084cbbb4cd9"/>
    <p:sldId xmlns:r="http://schemas.openxmlformats.org/officeDocument/2006/relationships" id="269" r:id="Rc12df1f4307b44b5"/>
    <p:sldId xmlns:r="http://schemas.openxmlformats.org/officeDocument/2006/relationships" id="270" r:id="R202b5aac86cf4e1c"/>
    <p:sldId xmlns:r="http://schemas.openxmlformats.org/officeDocument/2006/relationships" id="271" r:id="Rc7fe8b6dea254de5"/>
    <p:sldId xmlns:r="http://schemas.openxmlformats.org/officeDocument/2006/relationships" id="272" r:id="R5f9c11e25abe4c6c"/>
    <p:sldId xmlns:r="http://schemas.openxmlformats.org/officeDocument/2006/relationships" id="273" r:id="Rfaecefb343e64c94"/>
    <p:sldId xmlns:r="http://schemas.openxmlformats.org/officeDocument/2006/relationships" id="274" r:id="R8b40711e9bae4eb5"/>
    <p:sldId xmlns:r="http://schemas.openxmlformats.org/officeDocument/2006/relationships" id="275" r:id="Rd1461bd1f42c4a7b"/>
    <p:sldId xmlns:r="http://schemas.openxmlformats.org/officeDocument/2006/relationships" id="276" r:id="R4328ff44fb18427c"/>
    <p:sldId xmlns:r="http://schemas.openxmlformats.org/officeDocument/2006/relationships" id="277" r:id="R4d1f0d0a206244fb"/>
    <p:sldId xmlns:r="http://schemas.openxmlformats.org/officeDocument/2006/relationships" id="278" r:id="R166ada05c3a34704"/>
    <p:sldId xmlns:r="http://schemas.openxmlformats.org/officeDocument/2006/relationships" id="279" r:id="R2862cbe66a314ee3"/>
    <p:sldId xmlns:r="http://schemas.openxmlformats.org/officeDocument/2006/relationships" id="280" r:id="R61d665e43b944e31"/>
    <p:sldId xmlns:r="http://schemas.openxmlformats.org/officeDocument/2006/relationships" id="281" r:id="R7fccdc6fd66943a3"/>
    <p:sldId xmlns:r="http://schemas.openxmlformats.org/officeDocument/2006/relationships" id="282" r:id="R2ea3d83847f74ed4"/>
    <p:sldId xmlns:r="http://schemas.openxmlformats.org/officeDocument/2006/relationships" id="283" r:id="R50bcee5c8b144094"/>
    <p:sldId xmlns:r="http://schemas.openxmlformats.org/officeDocument/2006/relationships" id="284" r:id="R1a57b206a2434a55"/>
    <p:sldId xmlns:r="http://schemas.openxmlformats.org/officeDocument/2006/relationships" id="285" r:id="Rbdd4ae4da58a40c3"/>
    <p:sldId xmlns:r="http://schemas.openxmlformats.org/officeDocument/2006/relationships" id="286" r:id="Re7bd7c00579e4160"/>
    <p:sldId xmlns:r="http://schemas.openxmlformats.org/officeDocument/2006/relationships" id="287" r:id="R7ff22af23d0142b9"/>
    <p:sldId xmlns:r="http://schemas.openxmlformats.org/officeDocument/2006/relationships" id="288" r:id="R60b31bfed3104417"/>
    <p:sldId xmlns:r="http://schemas.openxmlformats.org/officeDocument/2006/relationships" id="289" r:id="R7962a4fe9b4f4b79"/>
    <p:sldId xmlns:r="http://schemas.openxmlformats.org/officeDocument/2006/relationships" id="290" r:id="R14b29af7c2e54e17"/>
    <p:sldId xmlns:r="http://schemas.openxmlformats.org/officeDocument/2006/relationships" id="291" r:id="Ra9a4904502fd46c4"/>
    <p:sldId xmlns:r="http://schemas.openxmlformats.org/officeDocument/2006/relationships" id="292" r:id="R3f2ad7f733fd4fa2"/>
    <p:sldId xmlns:r="http://schemas.openxmlformats.org/officeDocument/2006/relationships" id="293" r:id="Rdc2334552f7540eb"/>
    <p:sldId xmlns:r="http://schemas.openxmlformats.org/officeDocument/2006/relationships" id="294" r:id="R29e9af13a29943ed"/>
    <p:sldId xmlns:r="http://schemas.openxmlformats.org/officeDocument/2006/relationships" id="295" r:id="R7d577d231fd24dff"/>
    <p:sldId xmlns:r="http://schemas.openxmlformats.org/officeDocument/2006/relationships" id="296" r:id="R66aa5162b661412a"/>
    <p:sldId xmlns:r="http://schemas.openxmlformats.org/officeDocument/2006/relationships" id="297" r:id="R969fbcf8cfa14ac1"/>
    <p:sldId xmlns:r="http://schemas.openxmlformats.org/officeDocument/2006/relationships" id="298" r:id="Rf243c29dd4b541ad"/>
  </p:sldIdLst>
  <p:sldSz cx="11588750" cy="6858000"/>
  <p:notesSz cx="6858000" cy="9144000"/>
  <p:embeddedFontLst>
    <p:embeddedFont>
      <p:font typeface="Lato"/>
      <p:regular xmlns:r="http://schemas.openxmlformats.org/officeDocument/2006/relationships" r:id="Rc370fbb632534d75"/>
      <p:bold xmlns:r="http://schemas.openxmlformats.org/officeDocument/2006/relationships" r:id="R5149331a8eb3485c"/>
      <p:italic xmlns:r="http://schemas.openxmlformats.org/officeDocument/2006/relationships" r:id="R53821a2931184b8f"/>
      <p:boldItalic xmlns:r="http://schemas.openxmlformats.org/officeDocument/2006/relationships" r:id="Rc04371b195164749"/>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0d0cddd19574d00" /><Relationship Type="http://schemas.openxmlformats.org/officeDocument/2006/relationships/slideMaster" Target="/ppt/slideMasters/slideMaster1.xml" Id="R012f8567dabe42d2" /><Relationship Type="http://schemas.openxmlformats.org/officeDocument/2006/relationships/notesMaster" Target="/ppt/notesMasters/notesMaster1.xml" Id="R94ad8f5c0a5e4b0e" /><Relationship Type="http://schemas.openxmlformats.org/officeDocument/2006/relationships/presProps" Target="/ppt/presProps.xml" Id="Rf7e3c148b3674259" /><Relationship Type="http://schemas.openxmlformats.org/officeDocument/2006/relationships/viewProps" Target="/ppt/viewProps.xml" Id="Rc830bc361e73403b" /><Relationship Type="http://schemas.openxmlformats.org/officeDocument/2006/relationships/tableStyles" Target="/ppt/tableStyles.xml" Id="R0193619b926b45a7" /><Relationship Type="http://schemas.openxmlformats.org/officeDocument/2006/relationships/font" Target="/ppt/fonts/font.dat" Id="Rc370fbb632534d75" /><Relationship Type="http://schemas.openxmlformats.org/officeDocument/2006/relationships/font" Target="/ppt/fonts/font2.dat" Id="R5149331a8eb3485c" /><Relationship Type="http://schemas.openxmlformats.org/officeDocument/2006/relationships/font" Target="/ppt/fonts/font3.dat" Id="R53821a2931184b8f" /><Relationship Type="http://schemas.openxmlformats.org/officeDocument/2006/relationships/font" Target="/ppt/fonts/font4.dat" Id="Rc04371b195164749" /><Relationship Type="http://schemas.microsoft.com/office/2018/10/relationships/authors" Target="/ppt/authors.xml" Id="R81ec2740ac2b4508" /><Relationship Type="http://schemas.openxmlformats.org/officeDocument/2006/relationships/slide" Target="/ppt/slides/slide1.xml" Id="R0d0b0f2102db4e95" /><Relationship Type="http://schemas.openxmlformats.org/officeDocument/2006/relationships/slide" Target="/ppt/slides/slide2.xml" Id="Rd47f4654db9b4ff5" /><Relationship Type="http://schemas.openxmlformats.org/officeDocument/2006/relationships/slide" Target="/ppt/slides/slide3.xml" Id="R5d53766de16a4154" /><Relationship Type="http://schemas.openxmlformats.org/officeDocument/2006/relationships/slide" Target="/ppt/slides/slide4.xml" Id="R9f5b5f5ee9c242f5" /><Relationship Type="http://schemas.openxmlformats.org/officeDocument/2006/relationships/slide" Target="/ppt/slides/slide5.xml" Id="R71f8a2bbb247478b" /><Relationship Type="http://schemas.openxmlformats.org/officeDocument/2006/relationships/slide" Target="/ppt/slides/slide6.xml" Id="R271d2ec4f90840c4" /><Relationship Type="http://schemas.openxmlformats.org/officeDocument/2006/relationships/slide" Target="/ppt/slides/slide7.xml" Id="R31f50ef6a34041ec" /><Relationship Type="http://schemas.openxmlformats.org/officeDocument/2006/relationships/slide" Target="/ppt/slides/slide8.xml" Id="R3a27834150774a5b" /><Relationship Type="http://schemas.openxmlformats.org/officeDocument/2006/relationships/slide" Target="/ppt/slides/slide9.xml" Id="Rdcbe73a58eb34bbd" /><Relationship Type="http://schemas.openxmlformats.org/officeDocument/2006/relationships/slide" Target="/ppt/slides/slide10.xml" Id="R48317b42c2a1429d" /><Relationship Type="http://schemas.openxmlformats.org/officeDocument/2006/relationships/slide" Target="/ppt/slides/slide11.xml" Id="Rc6fefc9b67264d94" /><Relationship Type="http://schemas.openxmlformats.org/officeDocument/2006/relationships/slide" Target="/ppt/slides/slide12.xml" Id="Rc6f2f0dcd5a641cc" /><Relationship Type="http://schemas.openxmlformats.org/officeDocument/2006/relationships/slide" Target="/ppt/slides/slide13.xml" Id="Re15bb084cbbb4cd9" /><Relationship Type="http://schemas.openxmlformats.org/officeDocument/2006/relationships/slide" Target="/ppt/slides/slide14.xml" Id="Rc12df1f4307b44b5" /><Relationship Type="http://schemas.openxmlformats.org/officeDocument/2006/relationships/slide" Target="/ppt/slides/slide15.xml" Id="R202b5aac86cf4e1c" /><Relationship Type="http://schemas.openxmlformats.org/officeDocument/2006/relationships/slide" Target="/ppt/slides/slide16.xml" Id="Rc7fe8b6dea254de5" /><Relationship Type="http://schemas.openxmlformats.org/officeDocument/2006/relationships/slide" Target="/ppt/slides/slide17.xml" Id="R5f9c11e25abe4c6c" /><Relationship Type="http://schemas.openxmlformats.org/officeDocument/2006/relationships/slide" Target="/ppt/slides/slide18.xml" Id="Rfaecefb343e64c94" /><Relationship Type="http://schemas.openxmlformats.org/officeDocument/2006/relationships/slide" Target="/ppt/slides/slide19.xml" Id="R8b40711e9bae4eb5" /><Relationship Type="http://schemas.openxmlformats.org/officeDocument/2006/relationships/slide" Target="/ppt/slides/slide20.xml" Id="Rd1461bd1f42c4a7b" /><Relationship Type="http://schemas.openxmlformats.org/officeDocument/2006/relationships/slide" Target="/ppt/slides/slide21.xml" Id="R4328ff44fb18427c" /><Relationship Type="http://schemas.openxmlformats.org/officeDocument/2006/relationships/slide" Target="/ppt/slides/slide22.xml" Id="R4d1f0d0a206244fb" /><Relationship Type="http://schemas.openxmlformats.org/officeDocument/2006/relationships/slide" Target="/ppt/slides/slide23.xml" Id="R166ada05c3a34704" /><Relationship Type="http://schemas.openxmlformats.org/officeDocument/2006/relationships/slide" Target="/ppt/slides/slide24.xml" Id="R2862cbe66a314ee3" /><Relationship Type="http://schemas.openxmlformats.org/officeDocument/2006/relationships/slide" Target="/ppt/slides/slide25.xml" Id="R61d665e43b944e31" /><Relationship Type="http://schemas.openxmlformats.org/officeDocument/2006/relationships/slide" Target="/ppt/slides/slide26.xml" Id="R7fccdc6fd66943a3" /><Relationship Type="http://schemas.openxmlformats.org/officeDocument/2006/relationships/slide" Target="/ppt/slides/slide27.xml" Id="R2ea3d83847f74ed4" /><Relationship Type="http://schemas.openxmlformats.org/officeDocument/2006/relationships/slide" Target="/ppt/slides/slide28.xml" Id="R50bcee5c8b144094" /><Relationship Type="http://schemas.openxmlformats.org/officeDocument/2006/relationships/slide" Target="/ppt/slides/slide29.xml" Id="R1a57b206a2434a55" /><Relationship Type="http://schemas.openxmlformats.org/officeDocument/2006/relationships/slide" Target="/ppt/slides/slide30.xml" Id="Rbdd4ae4da58a40c3" /><Relationship Type="http://schemas.openxmlformats.org/officeDocument/2006/relationships/slide" Target="/ppt/slides/slide31.xml" Id="Re7bd7c00579e4160" /><Relationship Type="http://schemas.openxmlformats.org/officeDocument/2006/relationships/slide" Target="/ppt/slides/slide32.xml" Id="R7ff22af23d0142b9" /><Relationship Type="http://schemas.openxmlformats.org/officeDocument/2006/relationships/slide" Target="/ppt/slides/slide33.xml" Id="R60b31bfed3104417" /><Relationship Type="http://schemas.openxmlformats.org/officeDocument/2006/relationships/slide" Target="/ppt/slides/slide34.xml" Id="R7962a4fe9b4f4b79" /><Relationship Type="http://schemas.openxmlformats.org/officeDocument/2006/relationships/slide" Target="/ppt/slides/slide35.xml" Id="R14b29af7c2e54e17" /><Relationship Type="http://schemas.openxmlformats.org/officeDocument/2006/relationships/slide" Target="/ppt/slides/slide36.xml" Id="Ra9a4904502fd46c4" /><Relationship Type="http://schemas.openxmlformats.org/officeDocument/2006/relationships/slide" Target="/ppt/slides/slide37.xml" Id="R3f2ad7f733fd4fa2" /><Relationship Type="http://schemas.openxmlformats.org/officeDocument/2006/relationships/slide" Target="/ppt/slides/slide38.xml" Id="Rdc2334552f7540eb" /><Relationship Type="http://schemas.openxmlformats.org/officeDocument/2006/relationships/slide" Target="/ppt/slides/slide39.xml" Id="R29e9af13a29943ed" /><Relationship Type="http://schemas.openxmlformats.org/officeDocument/2006/relationships/slide" Target="/ppt/slides/slide40.xml" Id="R7d577d231fd24dff" /><Relationship Type="http://schemas.openxmlformats.org/officeDocument/2006/relationships/slide" Target="/ppt/slides/slide41.xml" Id="R66aa5162b661412a" /><Relationship Type="http://schemas.openxmlformats.org/officeDocument/2006/relationships/slide" Target="/ppt/slides/slide42.xml" Id="R969fbcf8cfa14ac1" /><Relationship Type="http://schemas.openxmlformats.org/officeDocument/2006/relationships/slide" Target="/ppt/slides/slide43.xml" Id="Rf243c29dd4b5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152e4667774e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7a2e1d04364e1e" /><Relationship Type="http://schemas.openxmlformats.org/officeDocument/2006/relationships/notesMaster" Target="/ppt/notesMasters/notesMaster1.xml" Id="Rfde1d5fac91c49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6a75ea35f74c1c" /><Relationship Type="http://schemas.openxmlformats.org/officeDocument/2006/relationships/notesMaster" Target="/ppt/notesMasters/notesMaster1.xml" Id="Rf135cdbe00d74d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9c439113e34066" /><Relationship Type="http://schemas.openxmlformats.org/officeDocument/2006/relationships/notesMaster" Target="/ppt/notesMasters/notesMaster1.xml" Id="R2dba17b9871247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970409d8644a4" /><Relationship Type="http://schemas.openxmlformats.org/officeDocument/2006/relationships/notesMaster" Target="/ppt/notesMasters/notesMaster1.xml" Id="R0d16323ae7ac41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9196e6ff104af8" /><Relationship Type="http://schemas.openxmlformats.org/officeDocument/2006/relationships/notesMaster" Target="/ppt/notesMasters/notesMaster1.xml" Id="R1b134f1df7c74b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5c1aa2f95a4c42" /><Relationship Type="http://schemas.openxmlformats.org/officeDocument/2006/relationships/notesMaster" Target="/ppt/notesMasters/notesMaster1.xml" Id="R44a70bce9e5a48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8e2c0b2702447c" /><Relationship Type="http://schemas.openxmlformats.org/officeDocument/2006/relationships/notesMaster" Target="/ppt/notesMasters/notesMaster1.xml" Id="Rbdd0179d5f9f43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b0c061c3fa4ef1" /><Relationship Type="http://schemas.openxmlformats.org/officeDocument/2006/relationships/notesMaster" Target="/ppt/notesMasters/notesMaster1.xml" Id="R4ba7499ba30d49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0651ce585d4e90" /><Relationship Type="http://schemas.openxmlformats.org/officeDocument/2006/relationships/notesMaster" Target="/ppt/notesMasters/notesMaster1.xml" Id="Re82f6a184ee14a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bd5b4aed6943ea" /><Relationship Type="http://schemas.openxmlformats.org/officeDocument/2006/relationships/notesMaster" Target="/ppt/notesMasters/notesMaster1.xml" Id="Rdc5e4ff8f5244f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2249960e2a4b39" /><Relationship Type="http://schemas.openxmlformats.org/officeDocument/2006/relationships/notesMaster" Target="/ppt/notesMasters/notesMaster1.xml" Id="Rf12b6bec5d304c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23304aa6c54f4d" /><Relationship Type="http://schemas.openxmlformats.org/officeDocument/2006/relationships/notesMaster" Target="/ppt/notesMasters/notesMaster1.xml" Id="R0c37ec387bf74f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5050c98cec4549" /><Relationship Type="http://schemas.openxmlformats.org/officeDocument/2006/relationships/notesMaster" Target="/ppt/notesMasters/notesMaster1.xml" Id="R79e6a5c931d945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8ab6cf04674237" /><Relationship Type="http://schemas.openxmlformats.org/officeDocument/2006/relationships/notesMaster" Target="/ppt/notesMasters/notesMaster1.xml" Id="Rb639db35544547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5a9bbb27654bec" /><Relationship Type="http://schemas.openxmlformats.org/officeDocument/2006/relationships/notesMaster" Target="/ppt/notesMasters/notesMaster1.xml" Id="R507a6eb5bf4c42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986593922c468b" /><Relationship Type="http://schemas.openxmlformats.org/officeDocument/2006/relationships/notesMaster" Target="/ppt/notesMasters/notesMaster1.xml" Id="R80ce8ec2e4054d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ca28cd701f495c" /><Relationship Type="http://schemas.openxmlformats.org/officeDocument/2006/relationships/notesMaster" Target="/ppt/notesMasters/notesMaster1.xml" Id="Redeeba8de26d4f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6d8b7e1c174954" /><Relationship Type="http://schemas.openxmlformats.org/officeDocument/2006/relationships/notesMaster" Target="/ppt/notesMasters/notesMaster1.xml" Id="R356ef9eb833649f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99bf92f4154932" /><Relationship Type="http://schemas.openxmlformats.org/officeDocument/2006/relationships/notesMaster" Target="/ppt/notesMasters/notesMaster1.xml" Id="R6d696379119145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a69dfe46c04dd3" /><Relationship Type="http://schemas.openxmlformats.org/officeDocument/2006/relationships/notesMaster" Target="/ppt/notesMasters/notesMaster1.xml" Id="R28609caa38c24a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dc36c2b5c24d9f" /><Relationship Type="http://schemas.openxmlformats.org/officeDocument/2006/relationships/notesMaster" Target="/ppt/notesMasters/notesMaster1.xml" Id="R013f838f955b418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f882db267504a52" /><Relationship Type="http://schemas.openxmlformats.org/officeDocument/2006/relationships/notesMaster" Target="/ppt/notesMasters/notesMaster1.xml" Id="R0acbb8c74eed41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721ca4b2644e04" /><Relationship Type="http://schemas.openxmlformats.org/officeDocument/2006/relationships/notesMaster" Target="/ppt/notesMasters/notesMaster1.xml" Id="R8f8092bdbe1640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949aa6926940b8" /><Relationship Type="http://schemas.openxmlformats.org/officeDocument/2006/relationships/notesMaster" Target="/ppt/notesMasters/notesMaster1.xml" Id="R6c111773065d43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f2e552a8e449da" /><Relationship Type="http://schemas.openxmlformats.org/officeDocument/2006/relationships/notesMaster" Target="/ppt/notesMasters/notesMaster1.xml" Id="Rde71c84ae1ae4d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6a8b02c99da474c" /><Relationship Type="http://schemas.openxmlformats.org/officeDocument/2006/relationships/notesMaster" Target="/ppt/notesMasters/notesMaster1.xml" Id="R1ee4a46cbf884d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4c1a5af3b34663" /><Relationship Type="http://schemas.openxmlformats.org/officeDocument/2006/relationships/notesMaster" Target="/ppt/notesMasters/notesMaster1.xml" Id="R2f9aa4be4553400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cbecd7ee1e4d08" /><Relationship Type="http://schemas.openxmlformats.org/officeDocument/2006/relationships/notesMaster" Target="/ppt/notesMasters/notesMaster1.xml" Id="R81ae080843a54bc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d1556760694324" /><Relationship Type="http://schemas.openxmlformats.org/officeDocument/2006/relationships/notesMaster" Target="/ppt/notesMasters/notesMaster1.xml" Id="Rbc04196cca594b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3df573f12e14cdc" /><Relationship Type="http://schemas.openxmlformats.org/officeDocument/2006/relationships/notesMaster" Target="/ppt/notesMasters/notesMaster1.xml" Id="R6c78e921b1eb47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9f7782c50e548c1" /><Relationship Type="http://schemas.openxmlformats.org/officeDocument/2006/relationships/notesMaster" Target="/ppt/notesMasters/notesMaster1.xml" Id="R607e56daed5b46d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26050becb0456f" /><Relationship Type="http://schemas.openxmlformats.org/officeDocument/2006/relationships/notesMaster" Target="/ppt/notesMasters/notesMaster1.xml" Id="Re7444ed98aa5423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a62605040d64579" /><Relationship Type="http://schemas.openxmlformats.org/officeDocument/2006/relationships/notesMaster" Target="/ppt/notesMasters/notesMaster1.xml" Id="R0f4220dc501e4db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d28c28adc034307" /><Relationship Type="http://schemas.openxmlformats.org/officeDocument/2006/relationships/notesMaster" Target="/ppt/notesMasters/notesMaster1.xml" Id="R0416a411a0a149d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6c9da4b4087484b" /><Relationship Type="http://schemas.openxmlformats.org/officeDocument/2006/relationships/notesMaster" Target="/ppt/notesMasters/notesMaster1.xml" Id="R7880a9a1bf1845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4c874a8599d4442" /><Relationship Type="http://schemas.openxmlformats.org/officeDocument/2006/relationships/notesMaster" Target="/ppt/notesMasters/notesMaster1.xml" Id="Rab7ee5c22ba14be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44c445e4e249de" /><Relationship Type="http://schemas.openxmlformats.org/officeDocument/2006/relationships/notesMaster" Target="/ppt/notesMasters/notesMaster1.xml" Id="Re1247ece4fa14d2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3fb2467d7dd45e1" /><Relationship Type="http://schemas.openxmlformats.org/officeDocument/2006/relationships/notesMaster" Target="/ppt/notesMasters/notesMaster1.xml" Id="Rb888202483614bd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02ba94869e74a37" /><Relationship Type="http://schemas.openxmlformats.org/officeDocument/2006/relationships/notesMaster" Target="/ppt/notesMasters/notesMaster1.xml" Id="R6b754f5ead5b493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475a7a98d894eda" /><Relationship Type="http://schemas.openxmlformats.org/officeDocument/2006/relationships/notesMaster" Target="/ppt/notesMasters/notesMaster1.xml" Id="R03b0e9bcb1a3464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961494ed0064371" /><Relationship Type="http://schemas.openxmlformats.org/officeDocument/2006/relationships/notesMaster" Target="/ppt/notesMasters/notesMaster1.xml" Id="Rc0fc87527760429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9963ae52b2247c1" /><Relationship Type="http://schemas.openxmlformats.org/officeDocument/2006/relationships/notesMaster" Target="/ppt/notesMasters/notesMaster1.xml" Id="Ra2981f72fe5b4d4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ce6f1b4566749d8" /><Relationship Type="http://schemas.openxmlformats.org/officeDocument/2006/relationships/notesMaster" Target="/ppt/notesMasters/notesMaster1.xml" Id="R8dbef461456742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2023 total 21.94bn L. FIASA 2024 total 20.76bn L is unverified; no 2025 sales. SARS imports 2020-2025. Eskom FY2025 own diesel + kerosene. M/M remains an uncalibrated reference.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latest comparable national scale and sales-source qualification.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Working recommendation supported by an authored Lesedi illustration, not a calibrated forecast. Reported capacity is used; capture, working capacity, tariffs, capex and discount rate are assumptions. No customer volume is represented as secured.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100% project basis, constant ZAR; capex at t0; operating ramp 50%/75%/100%; no tax, working capital, construction delay, inflation or residual value. Turnover and occupancy are distinct. Full assumptions, benchmarks, options and downside tests: pp39–42.</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a:p>
          <a:p xmlns:a="http://schemas.openxmlformats.org/drawingml/2006/main">
            <a:r>
              <a:t/>
            </a:r>
            <a:endParaRPr/>
          </a:p>
          <a:p xmlns:a="http://schemas.openxmlformats.org/drawingml/2006/main">
            <a:r>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endParaRPr/>
          </a:p>
          <a:p xmlns:a="http://schemas.openxmlformats.org/drawingml/2006/main">
            <a:r>
              <a:t>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petrol CAGR -2.08%, diesel +0.82%. FIASA 2024 is excluded from the trend. Workbook History Q71/R71. RAF levy evidence uses fiscal years and still needs reconciliation.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Keep comparable 2013-2023 chart; add latest-year coverage and reconciliation caution.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sector fuel scale and the freight-operator proxy without changing measured support bars.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M6/O6/R9, M16/O16/R19, M22/O22/R25. Department energy balance to 2021; later fuel estimated with activity and average intensity. Sector attribution and road overlap require review.</a:t>
            </a:r>
            <a:endParaRPr/>
          </a:p>
          <a:p xmlns:a="http://schemas.openxmlformats.org/drawingml/2006/main">
            <a:r>
              <a:t/>
            </a:r>
            <a:endParaRPr/>
          </a:p>
          <a:p xmlns:a="http://schemas.openxmlformats.org/drawingml/2006/main">
            <a:r>
              <a:t>Three sector rows with comparable, zero-based horizontal bars. 2019/2021 observations; 2024 activity-based estimates. Values unchanged from v26.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SARS customs 2025, registered fuel_trade_sars_by_office.csv. Office of clearance is a gateway proxy, not a measured Vopak terminal receipt. Do not divide 2025 imports by 2023 sales to infer current import penetration.</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SARS litre-reported petrol/diesel codes, complete calendar years. 2020–2025 changes are historical comparisons, not plant-level causal attribution. Export histories retained in the source report; unit/blend exclusions remain.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Show gross versus net imports and preserve sales/production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Transnet Pipelines 2025 printed p8: https://www.transnet.net/getFile.ashx?id=6121. Annualised use 5.460bn L and capacity 7.696bn L using 52 weeks. All shippers; no deduction of road/rail volumes from mismatched customs and demand years.</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a:p>
          <a:p xmlns:a="http://schemas.openxmlformats.org/drawingml/2006/main">
            <a:r>
              <a:t/>
            </a:r>
            <a:endParaRPr/>
          </a:p>
          <a:p xmlns:a="http://schemas.openxmlformats.org/drawingml/2006/main">
            <a:r>
              <a:t>Page 10 establishes the situation following corridor geography. Commercial and operational evidence remains open; do not infer spare capacity from gross tankage.</a:t>
            </a:r>
            <a:endParaRPr/>
          </a:p>
          <a:p xmlns:a="http://schemas.openxmlformats.org/drawingml/2006/main">
            <a:r>
              <a:t>Workbook source commit: 8a3c884b0d26a3c5819a9a0b702024ab60485d1e</a:t>
            </a:r>
            <a:endParaRPr/>
          </a:p>
          <a:p xmlns:a="http://schemas.openxmlformats.org/drawingml/2006/main">
            <a:r>
              <a:t>Clarify that the commissioned Lesedi expansion is included in the existing footprint.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freight; naamsa all-market sales 2019-2025, Workbook Vehicle history S31:S36. BEV/PHEV/HEV sales are distinct from fleet shares. Efficiency paths remain model assumptions, with OEM history and annual calibration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Separate observed drivetrain sales from assumed efficiency and adoption paths.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generation.yaml contains new_1 1000MW and new_2 2000MW, alongside older capacities. Current model power estimate around 3.58bn L (2024) differs from FY2024 Eskom plus estimated IPP fuel around 1.60bn L and FY2025 around 0.89bn L. Fiscal/calendar alignment and private backup remain unresolved. No engine recalibration was adopted in this presentation update.</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FY ending March: reported own diesel + kerosene; Eskom/IPP GWh include kerosene output. Workbook Power fleet separates the four diesel stations. Gas switch, coal-site repowering and L/M/H settings await Nigel/Henry review.</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Distinguish own reported burn from combined generation-derived estimates and proposed cases.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Compare common product, destination, price date and tax basis. Emerging gateways must be considered; no relative cost ranking is asserted without quotes and verified access. Landlocked SADC opportunities require separate market/access evidence.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follows Henry's supplied storyboard: Situation (historical demand and its drivers, refinery closures and import entry); Complication (reversal of demand supports, refinery futures and route competitiveness); Resolution (Vopak share and scope for investment). Source trace: workstreams/WS3_reporting_delivery/henry_verbatim_trace_2026-10-06.md and external/partner_story_20261006/. Updated evidence and quantities: output/delivered/market_review_2026_10_10/market_review.json; Master_data_book.xlsx; deck pp6–15, 20–34. Eskom FY2025 own OCGT diesel/kerosene use fell from 1,129.5 to 677.9 million litres; do not equate this with all power diesel. National sales are 2023; Durban customs and imports 2025; Gauteng demand 2022. Market capture is authored sensitivity registered in assumptions/2026/market_review.yaml, not actual share or incremental volume. Base two monthly turns; assumed capture 20% and Lesedi route share 50%; Lesedi is a subset of Durban flow. Route superiority, customer commitments and eligible working capacity remain unverified. SAPREF, Secunda/MRG and Natref statements identify scenario dependencies, not confirmed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DR01-DR09 register and 8 October PS handback. Prepared, not sent; receipt not recorded. DR09 EV adjacency remains separate. Public estimates can proceed while client data is pending.</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the request summary with all active baseline, route, demand, supply and client gaps.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story runs from the opening thesis to the investment tests. The added lever register and power/supply calibration pages record what remains to be populated.</a:t>
            </a:r>
          </a:p>
          <a:p xmlns:a="http://schemas.openxmlformats.org/drawingml/2006/main">
            <a:endParaRPr/>
          </a:p>
          <a:p xmlns:a="http://schemas.openxmlformats.org/drawingml/2006/main">
            <a:r>
              <a:t>Workbook source commit: 8a3c884b0d26a3c5819a9a0b702024ab60485d1e
Refresh evidence navigation to include the added workbook exhibits.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Staged GDP and department fuel sales, indices 2013=100. Sector attribution remains open; COVID distorts short-period comparisons.</a:t>
            </a:r>
          </a:p>
          <a:p xmlns:a="http://schemas.openxmlformats.org/drawingml/2006/main">
            <a:endParaRPr/>
          </a:p>
          <a:p xmlns:a="http://schemas.openxmlformats.org/drawingml/2006/main">
            <a:r>
              <a:t>Workbook source commit: 8a3c884b0d26a3c5819a9a0b702024ab60485d1e
Link aggregate GDP chart to the sector intensity exhibit rather than assume uniform fuel elasticity.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Bank WDI, FDI net inflows and gross fixed capital formation as % of GDP, 2010–2025. Confidence series remains an evidence gap.</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R7/R9/R17/R19/S23/S25 and History R117/R124/R125. Sector litres after 2021 are estimates; jet 2024 uses unverified FIASA. Index base 2019=100; GVA in 2015 prices.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Quantify sector and jet context from the workbook while preserving sector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fuel-price history, nominal R/litre. No quantified geopolitical premium or calibrated EV adoption response is asserted.</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S6:S8/S24/S26. Apparent retirements are not verified scrappage. Stone et al. study uses a 2014 base; no recent OEM efficiency history or fuel-by-class stock is established.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observed apparent replacement and distinguish cohort assumptions from efficiency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S6:S8/S18:S20/S24/S26/S31:S36/Q52. NaTIS and naamsa classes are not identical. Apparent retirement is not verified scrappage; petrol diagnostic compares different scopes.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requested fleet and model-calibration evidence, with scope limits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FY March, own diesel + kerosene. Workbook combined generation includes IPPs and kerosene stations; multiplying it by 0.31 L/kWh is an estimate, not reported diesel burn. Private backup remains unmeasured.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Retain comparable own-fleet reported fuel; qualify scope relative to the new fleet page.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payload and transport-industry fuel purchases. Workbook Diesel by use Q28: spending / average diesel price, hire-and-reward firms only; may include petrol/lubricants. Road residual includes unseparated uses; tonne-km and rail traction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the spending-based operator fuel proxy; preserve the tonne-kilometre evidence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User-supplied AIA Transnet Funding Brief, Sep 2026, pp1–2; cites FY2026 AFS and Network Statement v4 Annexure 17. Primary figures not independently reconciled.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provincial sales through 2022; workbook History Q84/Q104 and R84/R104 estimate later volumes. 2024 also uses unverified FIASA national sales. The chart retains observed 2013-2022 sales history, not current market share.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estimated provincial updates without converting sales or capacity into current share.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HML response has 29 levers. Examples: BEV adoption, rail diversion, mileage, prices, hybrids, truck/LCV electrification and neighbouring exports. All replacement ranges remain proposals; no forecast inputs are adopted in this pack.</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Expose the expanded lever register without adopting analyst proposals.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F11:S15 and N63:N65; proposed scenarios, not forecasts. Generation includes kerosene. IPP renewal, gas availability and coal-site repowering are not established. Historical burn must match scope and period.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generic fleet-data gap wording with the assembled fleet and remaining dispatch dependencies.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F11:F15, N63:N65 and S63:S65. Proposed cases, Nigel/Henry review D22. 0.31 L/kWh, backup fraction, load factors, gas supply and coal-site repowering need review. Kerosene stations and private backup are separate.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fleet inventory and analyst power scenarios, expressly unapproved.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 illustrations retained. Workbook History R53/S53: Sasol all-refined-products output, June FY. Department product production stops at 2021; stocks, plant yields and restart calibration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operator output context and reinforce product-output versus nameplate distinction.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capacity-scale ratios retained, not throughput shares. Workbook provincial estimates: 2023 estimated shares; 2024 estimated shares plus unverified national sales. Client throughput and commercial access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Explain the accessible-market method alongside existing footprint proxies.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History Q59/Q64/R59/R64/S36:S40/R70. RAF-derived 24.42bn L is combined fuel, fiscal/accrual basis, not an adopted calendar sales total. Product output after 2021 and stocks remain missing; 2025 trade is not 2025 consumption.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Extend national evidence, add RAF reconciliation flag and retain production/stock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Refresh implementation status for the analyst workbook, without asserting forecast integration.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xmlns:a="http://schemas.openxmlformats.org/drawingml/2006/main">
            <a:endParaRPr/>
          </a:p>
          <a:p xmlns:a="http://schemas.openxmlformats.org/drawingml/2006/main">
            <a:r>
              <a:t>Workbook source commit: 8a3c884b0d26a3c5819a9a0b702024ab60485d1e
Align original synthesis with the updated consumption scale.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xmlns:a="http://schemas.openxmlformats.org/drawingml/2006/main">
            <a:endParaRPr/>
          </a:p>
          <a:p xmlns:a="http://schemas.openxmlformats.org/drawingml/2006/main">
            <a:r>
              <a:t>Workbook source commit: 8a3c884b0d26a3c5819a9a0b702024ab60485d1e
Prevent double-counting the commissioned Lesedi expansion in the asset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Every illustrative value is registered in assumptions/2026/vopak_investment_illustration.yaml. Not a forecast, commercial offer or approval. Proposed validation: Nigel coordinates Vopak commercial/operations; Manish reconciles; independent review outstanding.</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103eac35504822" /><Relationship Type="http://schemas.openxmlformats.org/officeDocument/2006/relationships/image" Target="/ppt/media/image.jpeg" Id="R65f386f817ed4b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a956f3857f496e" /><Relationship Type="http://schemas.openxmlformats.org/officeDocument/2006/relationships/image" Target="/ppt/media/image2.jpeg" Id="Rcd22cc4d1bc74e7d" /><Relationship Type="http://schemas.openxmlformats.org/officeDocument/2006/relationships/image" Target="/ppt/media/image2.png" Id="Rf7fe5c5c0e9249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a6de71e58746cc" /><Relationship Type="http://schemas.openxmlformats.org/officeDocument/2006/relationships/image" Target="/ppt/media/image2.jpeg" Id="Rb09dfbd1effe4ce5" /><Relationship Type="http://schemas.openxmlformats.org/officeDocument/2006/relationships/image" Target="/ppt/media/image2.png" Id="Rd7184698b30644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a99a2dfa4547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286b4b49b04a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52e68f92dd451c"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65f386f817ed4b8a"/>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cd22cc4d1bc74e7d"/>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f7fe5c5c0e9249f7"/>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b09dfbd1effe4ce5"/>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d7184698b306446b"/>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78ec71116f2b48a5" /><Relationship Type="http://schemas.openxmlformats.org/officeDocument/2006/relationships/theme" Target="/ppt/slideMasters/theme/theme2.xml" Id="R2a421889ab6f4aff" /><Relationship Type="http://schemas.openxmlformats.org/officeDocument/2006/relationships/slideLayout" Target="/ppt/slideLayouts/slideLayout1.xml" Id="R40fcfe5ef1ca4203" /><Relationship Type="http://schemas.openxmlformats.org/officeDocument/2006/relationships/slideLayout" Target="/ppt/slideLayouts/slideLayout2.xml" Id="R10ec300c33d44dcc" /><Relationship Type="http://schemas.openxmlformats.org/officeDocument/2006/relationships/slideLayout" Target="/ppt/slideLayouts/slideLayout3.xml" Id="R927885bc70b848a4" /><Relationship Type="http://schemas.openxmlformats.org/officeDocument/2006/relationships/slideLayout" Target="/ppt/slideLayouts/slideLayout4.xml" Id="Rcfd760f301e74f5e" /><Relationship Type="http://schemas.openxmlformats.org/officeDocument/2006/relationships/slideLayout" Target="/ppt/slideLayouts/slideLayout5.xml" Id="Rb2e15f66cedb4ed0" /><Relationship Type="http://schemas.openxmlformats.org/officeDocument/2006/relationships/slideLayout" Target="/ppt/slideLayouts/slideLayout6.xml" Id="R6a5cec8f45984e8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78ec71116f2b48a5"/>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fcfe5ef1ca4203"/>
    <p:sldLayoutId xmlns:r="http://schemas.openxmlformats.org/officeDocument/2006/relationships" id="2147483650" r:id="R10ec300c33d44dcc"/>
    <p:sldLayoutId xmlns:r="http://schemas.openxmlformats.org/officeDocument/2006/relationships" id="2147483651" r:id="R927885bc70b848a4"/>
    <p:sldLayoutId xmlns:r="http://schemas.openxmlformats.org/officeDocument/2006/relationships" id="2147483652" r:id="Rcfd760f301e74f5e"/>
    <p:sldLayoutId xmlns:r="http://schemas.openxmlformats.org/officeDocument/2006/relationships" id="2147483653" r:id="Rb2e15f66cedb4ed0"/>
    <p:sldLayoutId xmlns:r="http://schemas.openxmlformats.org/officeDocument/2006/relationships" id="2147483654" r:id="R6a5cec8f45984e8e"/>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4560888d321463d" /><Relationship Type="http://schemas.openxmlformats.org/officeDocument/2006/relationships/image" Target="/ppt/media/image3.jpeg" Id="R68f541e94edf4e1e" /><Relationship Type="http://schemas.openxmlformats.org/officeDocument/2006/relationships/image" Target="/ppt/media/image3.png" Id="R90277d7237b0467d" /><Relationship Type="http://schemas.openxmlformats.org/officeDocument/2006/relationships/notesSlide" Target="/ppt/notesSlides/notesSlide1.xml" Id="R72d09d7724ed45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b5d3ed4b7b479e" /><Relationship Type="http://schemas.openxmlformats.org/officeDocument/2006/relationships/image" Target="/ppt/media/image4.png" Id="R1bc506e5e1374d94" /><Relationship Type="http://schemas.openxmlformats.org/officeDocument/2006/relationships/image" Target="/ppt/media/image5.png" Id="R2821daa8d8c1419d" /><Relationship Type="http://schemas.openxmlformats.org/officeDocument/2006/relationships/image" Target="/ppt/media/image6.png" Id="R66bdfff3657b405b" /><Relationship Type="http://schemas.openxmlformats.org/officeDocument/2006/relationships/image" Target="/ppt/media/image7.png" Id="R7799c9fcc5f142ba" /><Relationship Type="http://schemas.openxmlformats.org/officeDocument/2006/relationships/notesSlide" Target="/ppt/notesSlides/notesSlide2.xml" Id="Re62bcdae240c4b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f4a513b01b43e7" /><Relationship Type="http://schemas.openxmlformats.org/officeDocument/2006/relationships/image" Target="/ppt/media/image4.png" Id="R895d540a6a0c45b5" /><Relationship Type="http://schemas.openxmlformats.org/officeDocument/2006/relationships/image" Target="/ppt/media/image5.png" Id="R236cc50f66944b8c" /><Relationship Type="http://schemas.openxmlformats.org/officeDocument/2006/relationships/image" Target="/ppt/media/image6.png" Id="R82fd8dd8f0264225" /><Relationship Type="http://schemas.openxmlformats.org/officeDocument/2006/relationships/image" Target="/ppt/media/image7.png" Id="Rb0e0e9f0a9b340f0" /><Relationship Type="http://schemas.openxmlformats.org/officeDocument/2006/relationships/notesSlide" Target="/ppt/notesSlides/notesSlide3.xml" Id="R7c407e3aa8a14b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a8bd3091194a7d" /><Relationship Type="http://schemas.openxmlformats.org/officeDocument/2006/relationships/image" Target="/ppt/media/image8.png" Id="R4bf3108f4cc646e8" /><Relationship Type="http://schemas.openxmlformats.org/officeDocument/2006/relationships/image" Target="/ppt/media/image9.png" Id="Rb07b430b5b644f50" /><Relationship Type="http://schemas.openxmlformats.org/officeDocument/2006/relationships/image" Target="/ppt/media/image10.png" Id="Rc4f4aaa0acaf4d41" /><Relationship Type="http://schemas.openxmlformats.org/officeDocument/2006/relationships/image" Target="/ppt/media/image11.png" Id="Rdf8fcde6e2364e9a" /><Relationship Type="http://schemas.openxmlformats.org/officeDocument/2006/relationships/notesSlide" Target="/ppt/notesSlides/notesSlide4.xml" Id="R659e5b86c79a42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ffca23a18b42f4" /><Relationship Type="http://schemas.openxmlformats.org/officeDocument/2006/relationships/notesSlide" Target="/ppt/notesSlides/notesSlide5.xml" Id="R4ad7c868afd44d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45b6778fd146ea" /><Relationship Type="http://schemas.openxmlformats.org/officeDocument/2006/relationships/image" Target="/ppt/media/image12.png" Id="R6ceddce80f8c4027" /><Relationship Type="http://schemas.openxmlformats.org/officeDocument/2006/relationships/notesSlide" Target="/ppt/notesSlides/notesSlide6.xml" Id="R7006729382194c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a2bcdf7c6f4b40" /><Relationship Type="http://schemas.openxmlformats.org/officeDocument/2006/relationships/image" Target="/ppt/media/image13.png" Id="R049d96d4531a4971" /><Relationship Type="http://schemas.openxmlformats.org/officeDocument/2006/relationships/image" Target="/ppt/media/image8.png" Id="Rf142ac7f2a7f44a4" /><Relationship Type="http://schemas.openxmlformats.org/officeDocument/2006/relationships/image" Target="/ppt/media/image14.png" Id="R7cd4586eb97b4e64" /><Relationship Type="http://schemas.openxmlformats.org/officeDocument/2006/relationships/image" Target="/ppt/media/image15.png" Id="R8785d66dc7e54edf" /><Relationship Type="http://schemas.openxmlformats.org/officeDocument/2006/relationships/image" Target="/ppt/media/image16.png" Id="Ra00e02be60774090" /><Relationship Type="http://schemas.openxmlformats.org/officeDocument/2006/relationships/image" Target="/ppt/media/image17.png" Id="R736c61efa5734b1e" /><Relationship Type="http://schemas.openxmlformats.org/officeDocument/2006/relationships/image" Target="/ppt/media/image18.png" Id="R63811ff374434954" /><Relationship Type="http://schemas.openxmlformats.org/officeDocument/2006/relationships/notesSlide" Target="/ppt/notesSlides/notesSlide7.xml" Id="R35c66e3cc44a4b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0911f632f3495d" /><Relationship Type="http://schemas.openxmlformats.org/officeDocument/2006/relationships/notesSlide" Target="/ppt/notesSlides/notesSlide8.xml" Id="R4c493fcbf4fd49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353fcb5a694236" /><Relationship Type="http://schemas.openxmlformats.org/officeDocument/2006/relationships/image" Target="/ppt/media/image19.png" Id="Rc95b645c25df4174" /><Relationship Type="http://schemas.openxmlformats.org/officeDocument/2006/relationships/notesSlide" Target="/ppt/notesSlides/notesSlide9.xml" Id="R211e6b7bc5384c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ef472c41ff485a" /><Relationship Type="http://schemas.openxmlformats.org/officeDocument/2006/relationships/image" Target="/ppt/media/image20.png" Id="R9b13b027a340443a" /><Relationship Type="http://schemas.openxmlformats.org/officeDocument/2006/relationships/notesSlide" Target="/ppt/notesSlides/notesSlide10.xml" Id="R605652bd651d48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42fdb8c47c4286" /><Relationship Type="http://schemas.openxmlformats.org/officeDocument/2006/relationships/notesSlide" Target="/ppt/notesSlides/notesSlide11.xml" Id="Rf55acaac191641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d0d06c9b554b44" /><Relationship Type="http://schemas.openxmlformats.org/officeDocument/2006/relationships/image" Target="/ppt/media/image21.png" Id="R7d6c23f4401e4cb4" /><Relationship Type="http://schemas.openxmlformats.org/officeDocument/2006/relationships/notesSlide" Target="/ppt/notesSlides/notesSlide12.xml" Id="R497b673de42748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d9394f76ae4ef6" /><Relationship Type="http://schemas.openxmlformats.org/officeDocument/2006/relationships/image" Target="/ppt/media/image22.png" Id="Rd17d06295e504c0e" /><Relationship Type="http://schemas.openxmlformats.org/officeDocument/2006/relationships/notesSlide" Target="/ppt/notesSlides/notesSlide13.xml" Id="Rfda574861f6d48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e92a387e574e5f" /><Relationship Type="http://schemas.openxmlformats.org/officeDocument/2006/relationships/image" Target="/ppt/media/image23.png" Id="R10150942b2254d8c" /><Relationship Type="http://schemas.openxmlformats.org/officeDocument/2006/relationships/notesSlide" Target="/ppt/notesSlides/notesSlide14.xml" Id="R1387cf069e1644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309297b5124342" /><Relationship Type="http://schemas.openxmlformats.org/officeDocument/2006/relationships/notesSlide" Target="/ppt/notesSlides/notesSlide15.xml" Id="R79ce85681a7748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e720b09d9546f1" /><Relationship Type="http://schemas.openxmlformats.org/officeDocument/2006/relationships/notesSlide" Target="/ppt/notesSlides/notesSlide16.xml" Id="R31a01f09dc8445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00849f8478f4467" /><Relationship Type="http://schemas.openxmlformats.org/officeDocument/2006/relationships/image" Target="/ppt/media/image24.png" Id="Rf9b278cbcf7d40b0" /><Relationship Type="http://schemas.openxmlformats.org/officeDocument/2006/relationships/image" Target="/ppt/media/image8.png" Id="Rbb0bdd36fd3744e8" /><Relationship Type="http://schemas.openxmlformats.org/officeDocument/2006/relationships/image" Target="/ppt/media/image25.png" Id="R49d8a3663cd948cf" /><Relationship Type="http://schemas.openxmlformats.org/officeDocument/2006/relationships/image" Target="/ppt/media/image13.png" Id="Rfedaef4030d2468f" /><Relationship Type="http://schemas.openxmlformats.org/officeDocument/2006/relationships/notesSlide" Target="/ppt/notesSlides/notesSlide17.xml" Id="R3c2a130a00484c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231b973fad4b4c" /><Relationship Type="http://schemas.openxmlformats.org/officeDocument/2006/relationships/notesSlide" Target="/ppt/notesSlides/notesSlide18.xml" Id="Rb46cb3c317d34e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2ad8f309a5a4a57" /><Relationship Type="http://schemas.openxmlformats.org/officeDocument/2006/relationships/image" Target="/ppt/media/image3.jpeg" Id="R7a8827966a3d4e8c" /><Relationship Type="http://schemas.openxmlformats.org/officeDocument/2006/relationships/image" Target="/ppt/media/image3.png" Id="R31bc72fe3cd14012" /><Relationship Type="http://schemas.openxmlformats.org/officeDocument/2006/relationships/notesSlide" Target="/ppt/notesSlides/notesSlide19.xml" Id="R4e339a8f56344c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05614dd34414c1a" /><Relationship Type="http://schemas.openxmlformats.org/officeDocument/2006/relationships/notesSlide" Target="/ppt/notesSlides/notesSlide20.xml" Id="R4081badc67b341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77faba3a83c419f" /><Relationship Type="http://schemas.openxmlformats.org/officeDocument/2006/relationships/image" Target="/ppt/media/image26.png" Id="R206ab6e9adc6402e" /><Relationship Type="http://schemas.openxmlformats.org/officeDocument/2006/relationships/notesSlide" Target="/ppt/notesSlides/notesSlide21.xml" Id="R7e869ba4d5ab418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39b5b1b3ad24a9d" /><Relationship Type="http://schemas.openxmlformats.org/officeDocument/2006/relationships/image" Target="/ppt/media/image27.png" Id="R0a7611b0fdba480c" /><Relationship Type="http://schemas.openxmlformats.org/officeDocument/2006/relationships/notesSlide" Target="/ppt/notesSlides/notesSlide22.xml" Id="R0cd3517ffab242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a8cf2cc9d47458e" /><Relationship Type="http://schemas.openxmlformats.org/officeDocument/2006/relationships/notesSlide" Target="/ppt/notesSlides/notesSlide23.xml" Id="R8beb83b72c6e44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e7ab670ca4a4085" /><Relationship Type="http://schemas.openxmlformats.org/officeDocument/2006/relationships/image" Target="/ppt/media/image28.png" Id="R433f0198eab94d7f" /><Relationship Type="http://schemas.openxmlformats.org/officeDocument/2006/relationships/notesSlide" Target="/ppt/notesSlides/notesSlide24.xml" Id="R04f83e82796c4d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552afa2fa5943a5" /><Relationship Type="http://schemas.openxmlformats.org/officeDocument/2006/relationships/notesSlide" Target="/ppt/notesSlides/notesSlide25.xml" Id="R530b9e34bd874c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485a301853b4b5e" /><Relationship Type="http://schemas.openxmlformats.org/officeDocument/2006/relationships/notesSlide" Target="/ppt/notesSlides/notesSlide26.xml" Id="Rac361262fff2490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d32bddd52d440a0" /><Relationship Type="http://schemas.openxmlformats.org/officeDocument/2006/relationships/image" Target="/ppt/media/image29.png" Id="R461678e7a6d94a69" /><Relationship Type="http://schemas.openxmlformats.org/officeDocument/2006/relationships/notesSlide" Target="/ppt/notesSlides/notesSlide27.xml" Id="R373cffca43d648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9c843cb21614ed2" /><Relationship Type="http://schemas.openxmlformats.org/officeDocument/2006/relationships/image" Target="/ppt/media/image30.png" Id="R85b7a589f3464b20" /><Relationship Type="http://schemas.openxmlformats.org/officeDocument/2006/relationships/notesSlide" Target="/ppt/notesSlides/notesSlide28.xml" Id="R0d583e312a0c41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59563c99594454c" /><Relationship Type="http://schemas.openxmlformats.org/officeDocument/2006/relationships/notesSlide" Target="/ppt/notesSlides/notesSlide29.xml" Id="R12570a2d826544e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2a78a0e79c84ffc" /><Relationship Type="http://schemas.openxmlformats.org/officeDocument/2006/relationships/image" Target="/ppt/media/image31.png" Id="R8e45289216f546cc" /><Relationship Type="http://schemas.openxmlformats.org/officeDocument/2006/relationships/notesSlide" Target="/ppt/notesSlides/notesSlide30.xml" Id="Ra7b485b2a9a6479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6bd1bb32e9940db" /><Relationship Type="http://schemas.openxmlformats.org/officeDocument/2006/relationships/notesSlide" Target="/ppt/notesSlides/notesSlide31.xml" Id="R12f081c989244ba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e841454f5ae4549" /><Relationship Type="http://schemas.openxmlformats.org/officeDocument/2006/relationships/notesSlide" Target="/ppt/notesSlides/notesSlide32.xml" Id="R0876681f16ed465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eddd713dbd5498f" /><Relationship Type="http://schemas.openxmlformats.org/officeDocument/2006/relationships/notesSlide" Target="/ppt/notesSlides/notesSlide33.xml" Id="R27d2398b486f457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fd14be21e904644" /><Relationship Type="http://schemas.openxmlformats.org/officeDocument/2006/relationships/notesSlide" Target="/ppt/notesSlides/notesSlide34.xml" Id="R8144f7f9f53b411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c0932ff61044c14" /><Relationship Type="http://schemas.openxmlformats.org/officeDocument/2006/relationships/notesSlide" Target="/ppt/notesSlides/notesSlide35.xml" Id="R1378f5fcbb9e4e5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198ce70a33a41a0" /><Relationship Type="http://schemas.openxmlformats.org/officeDocument/2006/relationships/notesSlide" Target="/ppt/notesSlides/notesSlide36.xml" Id="Rad57f10226884f2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7ba974456554ebf" /><Relationship Type="http://schemas.openxmlformats.org/officeDocument/2006/relationships/notesSlide" Target="/ppt/notesSlides/notesSlide37.xml" Id="R9c9019d9db2f410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297f746178047ab" /><Relationship Type="http://schemas.openxmlformats.org/officeDocument/2006/relationships/image" Target="/ppt/media/image8.png" Id="Rbea3af97f92c4863" /><Relationship Type="http://schemas.openxmlformats.org/officeDocument/2006/relationships/image" Target="/ppt/media/image13.png" Id="R98b5918ddfdd470b" /><Relationship Type="http://schemas.openxmlformats.org/officeDocument/2006/relationships/image" Target="/ppt/media/image10.png" Id="R249708ae77304472" /><Relationship Type="http://schemas.openxmlformats.org/officeDocument/2006/relationships/image" Target="/ppt/media/image9.png" Id="R1379653e51f748c7" /><Relationship Type="http://schemas.openxmlformats.org/officeDocument/2006/relationships/image" Target="/ppt/media/image11.png" Id="R3d19e45714d447df" /><Relationship Type="http://schemas.openxmlformats.org/officeDocument/2006/relationships/notesSlide" Target="/ppt/notesSlides/notesSlide38.xml" Id="R9402a3d0f48d4e4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6a8f50b248d40aa" /><Relationship Type="http://schemas.openxmlformats.org/officeDocument/2006/relationships/notesSlide" Target="/ppt/notesSlides/notesSlide39.xml" Id="R59c5117e7ba548c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418b2960bfa4e53" /><Relationship Type="http://schemas.openxmlformats.org/officeDocument/2006/relationships/notesSlide" Target="/ppt/notesSlides/notesSlide40.xml" Id="Rbac89c77fa2b4e4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cf9ff0204ef44f4" /><Relationship Type="http://schemas.openxmlformats.org/officeDocument/2006/relationships/notesSlide" Target="/ppt/notesSlides/notesSlide41.xml" Id="R6c82d54392a746f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2242d9dfd0f4aa8" /><Relationship Type="http://schemas.openxmlformats.org/officeDocument/2006/relationships/notesSlide" Target="/ppt/notesSlides/notesSlide42.xml" Id="Rf71c57f7872f4ca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e444cbcae8b4a69" /><Relationship Type="http://schemas.openxmlformats.org/officeDocument/2006/relationships/notesSlide" Target="/ppt/notesSlides/notesSlide43.xml" Id="R6a77e4e8696044a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68f541e94edf4e1e"/>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90277d7237b0467d"/>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
liquid fuels
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Import dependence supports the terminal opportunity, while customer access determines Vopak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2023; SARS customs 2025. Transnet Pipelines 2025 p8. Capture screen: 20% gateway share, 50% routed through Lesedi, two turns/month. Conditional illustration, no customer commitment.</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Baseline / reference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the evidence establishes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outlook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Fuel demand
and power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2023 Department sales: 21.94bn L.
Petrol CAGR -2.08%; diesel +0.82%.
Own Eskom fuel fell 40% in FY2025.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Sector activity, fleet replacement and
power dispatch change fuel use.
2024 sales remain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supply
and imports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gross imports: 16.70bn L.
Net imports: 15.15bn L.
Durban customs: 13.16bn L (79%).</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and PetroSA restart paths,
Secunda gas/MRG and Natref output
can change domestic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position
and tank turnover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Shared MPP pipeline: 105 / 148ML
per week in FY2025, 70.9% used.
Vopak access remains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 costs, access and customer
capture determine flow; achievable
turnover determines handling headroom.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sensitivity
and nine worlds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Base capture screen: Durban 2.63bn L;
Lesedi 1.32bn L within that flow.
Assumed shares, not measured volumes.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Capture cases are shown on p35.
The nine-world investment illustration
uses separate capture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CF3951A-A899-DC35-9D57-2959614A3D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2D93A382-E852-639E-5959-D2DC1811AD9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F003A279-89E8-A115-95AC-AF99BD7AD9FA}"/>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29A5ABB3-597B-135A-9D2F-C83453C0BD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Picture 13"/>
          <p:cNvPicPr>
            <a:picLocks xmlns:a="http://schemas.openxmlformats.org/drawingml/2006/main" noChangeAspect="1"/>
          </p:cNvPicPr>
          <p:nvPr/>
        </p:nvPicPr>
        <p:blipFill>
          <a:blip xmlns:r="http://schemas.openxmlformats.org/officeDocument/2006/relationships" xmlns:a="http://schemas.openxmlformats.org/drawingml/2006/main" r:embed="R1bc506e5e1374d94"/>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Picture 15"/>
          <p:cNvPicPr>
            <a:picLocks xmlns:a="http://schemas.openxmlformats.org/drawingml/2006/main" noChangeAspect="1"/>
          </p:cNvPicPr>
          <p:nvPr/>
        </p:nvPicPr>
        <p:blipFill>
          <a:blip xmlns:r="http://schemas.openxmlformats.org/officeDocument/2006/relationships" xmlns:a="http://schemas.openxmlformats.org/drawingml/2006/main" r:embed="R2821daa8d8c1419d"/>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Picture 17"/>
          <p:cNvPicPr>
            <a:picLocks xmlns:a="http://schemas.openxmlformats.org/drawingml/2006/main" noChangeAspect="1"/>
          </p:cNvPicPr>
          <p:nvPr/>
        </p:nvPicPr>
        <p:blipFill>
          <a:blip xmlns:r="http://schemas.openxmlformats.org/officeDocument/2006/relationships" xmlns:a="http://schemas.openxmlformats.org/drawingml/2006/main" r:embed="R66bdfff3657b405b"/>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Picture 19"/>
          <p:cNvPicPr>
            <a:picLocks xmlns:a="http://schemas.openxmlformats.org/drawingml/2006/main" noChangeAspect="1"/>
          </p:cNvPicPr>
          <p:nvPr/>
        </p:nvPicPr>
        <p:blipFill>
          <a:blip xmlns:r="http://schemas.openxmlformats.org/officeDocument/2006/relationships" xmlns:a="http://schemas.openxmlformats.org/drawingml/2006/main" r:embed="R7799c9fcc5f142ba"/>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7884852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D178F9-F6DF-4CA1-9254-116BDF04742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Existing assets provide the starting point for capturing demand and testing expansion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64B9E2-E701-4097-A4BC-909A5DF2842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3196C3B8-4C77-4179-862C-1389A89AF983}"/>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61"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Working recommendation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logic</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Condition for commitment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inland
supply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Win accessible customer flows from imported and domestic sources.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Prove delivered competitiveness and sufficient customer volume.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Use existing
assets first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The worked illustration favours existing assets in six worlds; access/dispatch improvement in two.</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working capacity and the actual operating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Stage corridor
and capacity spend</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demand / low domestic supply favours extra tanks in the illustration. Working-capacity assumptions materially affect its value.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Fund the least-cost viable option that removes the proven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Keep strategic
options open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all nine worlds and emerging gateways; screen EV adjacencies separately.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Validate capture, chargeable revenues and capex. The illustrated tank choice reverses in the downside tests.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EBB3CD0-57E6-4B7B-9657-2FDA673E4EE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967BCA86-4787-793C-9BAF-B52395C15ED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820E6367-02AA-EFC7-E696-5F9FB9FC8B5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69AF3DC7-6FA2-8B1B-84EA-43740FECF2F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E00D3C3D-620E-1E52-A22A-1A32C71711EB}"/>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7" name="Picture 13"/>
          <p:cNvPicPr>
            <a:picLocks xmlns:a="http://schemas.openxmlformats.org/drawingml/2006/main" noChangeAspect="1"/>
          </p:cNvPicPr>
          <p:nvPr/>
        </p:nvPicPr>
        <p:blipFill>
          <a:blip xmlns:r="http://schemas.openxmlformats.org/officeDocument/2006/relationships" xmlns:a="http://schemas.openxmlformats.org/drawingml/2006/main" r:embed="R895d540a6a0c45b5"/>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8" name="Picture 15"/>
          <p:cNvPicPr>
            <a:picLocks xmlns:a="http://schemas.openxmlformats.org/drawingml/2006/main" noChangeAspect="1"/>
          </p:cNvPicPr>
          <p:nvPr/>
        </p:nvPicPr>
        <p:blipFill>
          <a:blip xmlns:r="http://schemas.openxmlformats.org/officeDocument/2006/relationships" xmlns:a="http://schemas.openxmlformats.org/drawingml/2006/main" r:embed="R236cc50f66944b8c"/>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9" name="Picture 17"/>
          <p:cNvPicPr>
            <a:picLocks xmlns:a="http://schemas.openxmlformats.org/drawingml/2006/main" noChangeAspect="1"/>
          </p:cNvPicPr>
          <p:nvPr/>
        </p:nvPicPr>
        <p:blipFill>
          <a:blip xmlns:r="http://schemas.openxmlformats.org/officeDocument/2006/relationships" xmlns:a="http://schemas.openxmlformats.org/drawingml/2006/main" r:embed="R82fd8dd8f0264225"/>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0" name="Picture 19"/>
          <p:cNvPicPr>
            <a:picLocks xmlns:a="http://schemas.openxmlformats.org/drawingml/2006/main" noChangeAspect="1"/>
          </p:cNvPicPr>
          <p:nvPr/>
        </p:nvPicPr>
        <p:blipFill>
          <a:blip xmlns:r="http://schemas.openxmlformats.org/officeDocument/2006/relationships" xmlns:a="http://schemas.openxmlformats.org/drawingml/2006/main" r:embed="Rb0e0e9f0a9b340f0"/>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pic>
        <p:nvPicPr>
          <p:cNvPr id="71" name="Argument icon ship"/>
          <p:cNvPicPr>
            <a:picLocks xmlns:a="http://schemas.openxmlformats.org/drawingml/2006/main" noChangeAspect="1"/>
          </p:cNvPicPr>
          <p:nvPr/>
        </p:nvPicPr>
        <p:blipFill>
          <a:blip xmlns:r="http://schemas.openxmlformats.org/officeDocument/2006/relationships" xmlns:a="http://schemas.openxmlformats.org/drawingml/2006/main" r:embed="R895d540a6a0c45b5"/>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72" name="Argument icon route"/>
          <p:cNvPicPr>
            <a:picLocks xmlns:a="http://schemas.openxmlformats.org/drawingml/2006/main" noChangeAspect="1"/>
          </p:cNvPicPr>
          <p:nvPr/>
        </p:nvPicPr>
        <p:blipFill>
          <a:blip xmlns:r="http://schemas.openxmlformats.org/officeDocument/2006/relationships" xmlns:a="http://schemas.openxmlformats.org/drawingml/2006/main" r:embed="R236cc50f66944b8c"/>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73" name="Argument icon turns"/>
          <p:cNvPicPr>
            <a:picLocks xmlns:a="http://schemas.openxmlformats.org/drawingml/2006/main" noChangeAspect="1"/>
          </p:cNvPicPr>
          <p:nvPr/>
        </p:nvPicPr>
        <p:blipFill>
          <a:blip xmlns:r="http://schemas.openxmlformats.org/officeDocument/2006/relationships" xmlns:a="http://schemas.openxmlformats.org/drawingml/2006/main" r:embed="R82fd8dd8f0264225"/>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4" name="Argument icon matrix"/>
          <p:cNvPicPr>
            <a:picLocks xmlns:a="http://schemas.openxmlformats.org/drawingml/2006/main" noChangeAspect="1"/>
          </p:cNvPicPr>
          <p:nvPr/>
        </p:nvPicPr>
        <p:blipFill>
          <a:blip xmlns:r="http://schemas.openxmlformats.org/officeDocument/2006/relationships" xmlns:a="http://schemas.openxmlformats.org/drawingml/2006/main" r:embed="Rb0e0e9f0a9b340f0"/>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1030359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868DDA-2FB2-498C-B0F0-3F50A81EAF5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working-capacity assumption changes the illustrated expansion value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61DCC61-7AD3-4B0F-8286-59851EBE0EE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6C049F97-8F1A-42D6-B947-BDE484068F9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ONLY. Working tankage aligned to 124,000 m³. Difference was R8m at 126,000 m³; it is now R58m because the assumed rental allocation changes. Commercial terms and engineering remain unvalidated. Details pp39–42.</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778000"/>
                <a:gridCol w="2730500"/>
                <a:gridCol w="3175000"/>
                <a:gridCol w="2969260"/>
              </a:tblGrid>
              <a:tr h="355600">
                <a:tc>
                  <a:txBody>
                    <a:bodyPr/>
                    <a:lstStyle/>
                    <a:p>
                      <a:pPr>
                        <a:spcAft>
                          <a:spcPts val="0"/>
                        </a:spcAft>
                        <a:buNone/>
                      </a:pPr>
                      <a:r>
                        <a:rPr sz="1200" b="1" u="none">
                          <a:solidFill>
                            <a:schemeClr val="dk1"/>
                          </a:solidFill>
                          <a:latin typeface="Lato"/>
                          <a:ea typeface="Lato"/>
                          <a:cs typeface="Lato"/>
                        </a:rPr>
                        <a:t>Decision test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Numeric condition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ILLUSTRATIVE high / low case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Still needs verification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Customer
volume</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Tanks must outperform improving existing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Assumed capture 2.813bn L/year; tanks win above 2.765bn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No secured volumes inferred. Validate customer capture and contract duration.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Route
economics</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Delivered-cost headroom ≥ R0/m³.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R750 allowable less R650 assumed logistics = R100/m³ headroom.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Both prices are authored. Compare actual Durban, Maputo, Walvis Bay and domestic quotes.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Capacity
constraint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Captured flow exceeds achievable handling.</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Existing 1.860bn L/year; improvement 2.232bn; tanks 2.870bn.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estimate; 36,000 m³ estimated. Turns 1.25 / 1.50 remain assumptions.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Incremental
return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Positive NPV and better value than the alternative.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NPV R+24m; combined R+82m. Difference R58m.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10% discount rate, 20 years, pre-tax. Actual tariffs, cost, tax and project schedule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DC08C4B-F80F-4A40-9A6B-8E1E4FB46F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4bf3108f4cc646e8"/>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b07b430b5b644f50"/>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c4f4aaa0acaf4d41"/>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df8fcde6e2364e9a"/>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245504092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F7A8B-B46B-4276-81B9-76218F9F508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Only one illustrative world favours tanks; six favour existing assets and two favour improvement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BCE4E9-A59E-40B2-892F-B8DEF653050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A7CB78CE-CA3F-434B-8E23-7462E50E14A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0894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508000">
                <a:tc>
                  <a:txBody>
                    <a:bodyPr/>
                    <a:lstStyle/>
                    <a:p>
                      <a:pPr>
                        <a:spcAft>
                          <a:spcPts val="0"/>
                        </a:spcAft>
                        <a:buNone/>
                      </a:pPr>
                      <a:r>
                        <a:rPr sz="1200" b="1" u="none">
                          <a:solidFill>
                            <a:schemeClr val="dk1"/>
                          </a:solidFill>
                          <a:latin typeface="Lato"/>
                          <a:ea typeface="Lato"/>
                          <a:cs typeface="Lato"/>
                        </a:rPr>
                        <a:t>Gauteng demand /
domestic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HIGH deliveries
4.8bn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MEDIUM deliveries
3.6bn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LOW deliveries
2.4bn L/year</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LOW demand
6.0bn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1" u="none">
                          <a:solidFill>
                            <a:schemeClr val="accent1"/>
                          </a:solidFill>
                          <a:latin typeface="Lato"/>
                          <a:ea typeface="Lato"/>
                          <a:cs typeface="Lato"/>
                        </a:rPr>
                        <a:t>L / H
USE EXISTING ASSETS
Capture 0.99bn L/year
Incremental NPV R+0m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tint val="15000"/>
                      </a:schemeClr>
                    </a:solidFill>
                  </a:tcPr>
                </a:tc>
                <a:tc>
                  <a:txBody>
                    <a:bodyPr/>
                    <a:lstStyle/>
                    <a:p>
                      <a:pPr>
                        <a:spcAft>
                          <a:spcPts val="0"/>
                        </a:spcAft>
                        <a:buNone/>
                      </a:pPr>
                      <a:r>
                        <a:rPr sz="1200" b="0" u="none">
                          <a:solidFill>
                            <a:schemeClr val="dk1"/>
                          </a:solidFill>
                          <a:latin typeface="Lato"/>
                          <a:ea typeface="Lato"/>
                          <a:cs typeface="Lato"/>
                        </a:rPr>
                        <a:t>L / M
USE EXISTING ASSETS
Capture 1.50bn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 / L
USE EXISTING ASSETS
Capture 2.01bn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MEDIUM demand
6.8bn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 / H
USE EXISTING ASSETS
Capture 1.39bn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lt1"/>
                          </a:solidFill>
                          <a:latin typeface="Lato"/>
                          <a:ea typeface="Lato"/>
                          <a:cs typeface="Lato"/>
                        </a:rPr>
                        <a:t>M / M | REFERENCE
USE EXISTING ASSETS
Capture 1.90bn L/year
Incremental NPV R+0m</a:t>
                      </a:r>
                      <a:endParaRPr sz="1200" b="1" u="none">
                        <a:solidFill>
                          <a:schemeClr val="l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solidFill>
                  </a:tcPr>
                </a:tc>
                <a:tc>
                  <a:txBody>
                    <a:bodyPr/>
                    <a:lstStyle/>
                    <a:p>
                      <a:pPr>
                        <a:spcAft>
                          <a:spcPts val="0"/>
                        </a:spcAft>
                        <a:buNone/>
                      </a:pPr>
                      <a:r>
                        <a:rPr sz="1200" b="0" u="none">
                          <a:solidFill>
                            <a:schemeClr val="dk1"/>
                          </a:solidFill>
                          <a:latin typeface="Lato"/>
                          <a:ea typeface="Lato"/>
                          <a:cs typeface="Lato"/>
                        </a:rPr>
                        <a:t>M / L
IMPROVE ACCESS / DISPATCH
Capture 2.41bn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HIGH demand
7.6bn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H
USE EXISTING ASSETS
Capture 1.80bn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M
IMPROVE ACCESS / DISPATCH
Capture 2.30bn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accent1"/>
                          </a:solidFill>
                          <a:latin typeface="Lato"/>
                          <a:ea typeface="Lato"/>
                          <a:cs typeface="Lato"/>
                        </a:rPr>
                        <a:t>H / L
TEST IMPROVEMENT + TANKS
Capture 2.81bn L/year
Incremental NPV R+82m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chemeClr val="accent1">
                        <a:tint val="15000"/>
                      </a:schemeClr>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C2D67B7-FB28-44F2-9034-DA8092D085A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3" name="Cell outputs">
            <a:extLst xmlns:a="http://schemas.openxmlformats.org/drawingml/2006/main">
              <a:ext uri="{FF2B5EF4-FFF2-40B4-BE49-F238E27FC236}">
                <a16:creationId xmlns:a16="http://schemas.microsoft.com/office/drawing/2014/main" id="{80C551B0-D528-A7CB-091A-0E0CED318C82}"/>
              </a:ext>
            </a:extLst>
          </p:cNvPr>
          <p:cNvSpPr>
            <a:spLocks xmlns:a="http://schemas.openxmlformats.org/drawingml/2006/main" noGrp="1"/>
          </p:cNvSpPr>
          <p:nvPr/>
        </p:nvSpPr>
        <p:spPr>
          <a:xfrm xmlns:a="http://schemas.openxmlformats.org/drawingml/2006/main">
            <a:off x="533400" y="5816600"/>
            <a:ext cx="10477500" cy="16927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100">
                <a:solidFill>
                  <a:schemeClr val="dk1"/>
                </a:solidFill>
                <a:latin typeface="Lato"/>
                <a:ea typeface="Lato"/>
                <a:cs typeface="Lato"/>
              </a:rPr>
              <a:t>Highest incremental NPV among three illustrative packages; R0 means retain existing assets, not zero terminal value.</a:t>
            </a:r>
            <a:endParaRPr sz="1100">
              <a:solidFill>
                <a:schemeClr val="dk1"/>
              </a:solidFill>
              <a:latin typeface="Lato"/>
              <a:ea typeface="Lato"/>
              <a:cs typeface="Lato"/>
            </a:endParaRPr>
          </a:p>
        </p:txBody>
      </p:sp>
      <p:sp>
        <p:nvSpPr>
          <p:cNvPr id="4" name="SCR 1">
            <a:extLst xmlns:a="http://schemas.openxmlformats.org/drawingml/2006/main">
              <a:ext uri="{FF2B5EF4-FFF2-40B4-BE49-F238E27FC236}">
                <a16:creationId xmlns:a16="http://schemas.microsoft.com/office/drawing/2014/main" id="{0C68F690-E368-ECBA-10F3-479C773D07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5" name="SCR 2">
            <a:extLst xmlns:a="http://schemas.openxmlformats.org/drawingml/2006/main">
              <a:ext uri="{FF2B5EF4-FFF2-40B4-BE49-F238E27FC236}">
                <a16:creationId xmlns:a16="http://schemas.microsoft.com/office/drawing/2014/main" id="{EC07A52D-4501-3CA9-C10F-94FA47840A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6" name="SCR 3">
            <a:extLst xmlns:a="http://schemas.openxmlformats.org/drawingml/2006/main">
              <a:ext uri="{FF2B5EF4-FFF2-40B4-BE49-F238E27FC236}">
                <a16:creationId xmlns:a16="http://schemas.microsoft.com/office/drawing/2014/main" id="{82B0CF40-803C-79C5-086A-07D11B28AC5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7" name="SCR 4">
            <a:extLst xmlns:a="http://schemas.openxmlformats.org/drawingml/2006/main">
              <a:ext uri="{FF2B5EF4-FFF2-40B4-BE49-F238E27FC236}">
                <a16:creationId xmlns:a16="http://schemas.microsoft.com/office/drawing/2014/main" id="{2929D8D1-57E6-AAE1-EE03-E5C7B7E0CA4A}"/>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61062022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837240-3FEB-4152-BBEC-548614CDC870}"/>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Petrol demand declined while diesel grew slowly over 2013–2023</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A050DE0-A852-4217-961B-900033DDB78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EC3FFED6-F1E3-4129-B916-C3ED2A1CCC18}"/>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a:extLst xmlns:a="http://schemas.openxmlformats.org/drawingml/2006/main">
              <a:ext uri="{FF2B5EF4-FFF2-40B4-BE49-F238E27FC236}">
                <a16:creationId xmlns:a16="http://schemas.microsoft.com/office/drawing/2014/main" id="{B3A3E5B5-8B8F-43A2-9BD5-23871560B60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82C4BDB8-6541-63B8-D72B-1E0C6E25D71E}"/>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2023 Department sales total 21.94bn L. The 2024 FIASA comparison is 20.76bn L, unverified; no 2025 sales figure is available.</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6ceddce80f8c4027"/>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A32BFB1A-7005-8829-3986-E9C6574D4BF6}"/>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Demand trend</a:t>
            </a:r>
          </a:p>
        </p:txBody>
      </p:sp>
      <p:sp>
        <p:nvSpPr>
          <p:cNvPr id="16" name="Aligned panel subtitle">
            <a:extLst xmlns:a="http://schemas.openxmlformats.org/drawingml/2006/main">
              <a:ext uri="{FF2B5EF4-FFF2-40B4-BE49-F238E27FC236}">
                <a16:creationId xmlns:a16="http://schemas.microsoft.com/office/drawing/2014/main" id="{B34C4DB0-C252-C5B2-9A2B-64E4954C1BC2}"/>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over 2013–2023</a:t>
            </a:r>
          </a:p>
        </p:txBody>
      </p:sp>
      <p:sp>
        <p:nvSpPr>
          <p:cNvPr id="13" name="Content margin panel rule">
            <a:extLst xmlns:a="http://schemas.openxmlformats.org/drawingml/2006/main">
              <a:ext uri="{FF2B5EF4-FFF2-40B4-BE49-F238E27FC236}">
                <a16:creationId xmlns:a16="http://schemas.microsoft.com/office/drawing/2014/main" id="{B2C5106D-FBBF-4FE5-8413-188D7806E7EA}"/>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E6B55515-B3CB-489E-8F07-D7BEB6372047}"/>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6791279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D8B57-E12F-4ED5-A6C1-386CFF7E5BB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Power recovery reduces diesel support while freight and sector activity remain important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252A0DD-9282-4CC1-8370-441588BB85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1F634E31-70BD-403B-AE1C-10E188BC24D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60" name="Table 46"/>
          <p:cNvGraphicFramePr/>
          <p:nvPr/>
        </p:nvGraphicFramePr>
        <p:xfrm>
          <a:off xmlns:a="http://schemas.openxmlformats.org/drawingml/2006/main" x="457200" y="1651000"/>
          <a:ext xmlns:a="http://schemas.openxmlformats.org/drawingml/2006/main" cx="10652760" cy="4444999"/>
        </p:xfrm>
        <a:graphic xmlns:a="http://schemas.openxmlformats.org/drawingml/2006/main">
          <a:graphicData uri="http://schemas.openxmlformats.org/drawingml/2006/table">
            <a:tbl>
              <a:tblPr firstRow="1" bandRow="1">
                <a:tableStyleId>{2D5ABB26-0587-4C30-8999-92F81FD0307C}</a:tableStyleId>
              </a:tblPr>
              <a:tblGrid>
                <a:gridCol w="2095500"/>
                <a:gridCol w="4635500"/>
                <a:gridCol w="3921760"/>
              </a:tblGrid>
              <a:tr h="355600">
                <a:tc>
                  <a:txBody>
                    <a:bodyPr/>
                    <a:lstStyle/>
                    <a:p>
                      <a:pPr>
                        <a:spcAft>
                          <a:spcPts val="0"/>
                        </a:spcAft>
                        <a:buNone/>
                      </a:pPr>
                      <a:r>
                        <a:rPr sz="1300" b="1" u="none">
                          <a:solidFill>
                            <a:schemeClr val="dk1"/>
                          </a:solidFill>
                          <a:latin typeface="Lato"/>
                          <a:ea typeface="Lato"/>
                          <a:cs typeface="Lato"/>
                        </a:rPr>
                        <a:t>Demand support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2024 vs 2025</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demand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Power
generation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450m fewer litres in one year. Sustained recovery reduces diesel demand; retirements and replacement timing could reverse it.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Road
freight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Road carries 85.3% of tonnes.
Workbook truck-fuel proxy: 3.15bn L
in 2023, partial operator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Sector
activity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estimates:
mining 1.406, industry residual 0.165,
agriculture 1.131bn L. Uses can overlap.</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5ED7406-5490-45E0-8E00-E22648ABC4B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3CF9B2C-740D-465A-2E04-EF1E6C04AB3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D74F809-1D99-8AD3-6C6D-E9292C8CF14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A4627725-22FB-78CC-5D0D-7DCC9CBDF7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878996B7-8B88-DFD0-723B-13DD7E2F15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049d96d4531a4971"/>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7"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f142ac7f2a7f44a4"/>
          <a:stretch xmlns:a="http://schemas.openxmlformats.org/drawingml/2006/main">
            <a:fillRect l="0" t="0" r="0" b="0"/>
          </a:stretch>
        </p:blipFill>
        <p:spPr>
          <a:xfrm xmlns:a="http://schemas.openxmlformats.org/drawingml/2006/main">
            <a:off x="508000" y="3484033"/>
            <a:ext cx="317500" cy="317500"/>
          </a:xfrm>
          <a:prstGeom xmlns:a="http://schemas.openxmlformats.org/drawingml/2006/main" prst="rect">
            <a:avLst/>
          </a:prstGeom>
        </p:spPr>
      </p:pic>
      <p:pic>
        <p:nvPicPr>
          <p:cNvPr id="68" name="Argument icon sector"/>
          <p:cNvPicPr>
            <a:picLocks xmlns:a="http://schemas.openxmlformats.org/drawingml/2006/main" noChangeAspect="1"/>
          </p:cNvPicPr>
          <p:nvPr/>
        </p:nvPicPr>
        <p:blipFill>
          <a:blip xmlns:r="http://schemas.openxmlformats.org/officeDocument/2006/relationships" xmlns:a="http://schemas.openxmlformats.org/drawingml/2006/main" r:embed="R7cd4586eb97b4e64"/>
          <a:stretch xmlns:a="http://schemas.openxmlformats.org/drawingml/2006/main">
            <a:fillRect l="0" t="0" r="0" b="0"/>
          </a:stretch>
        </p:blipFill>
        <p:spPr>
          <a:xfrm xmlns:a="http://schemas.openxmlformats.org/drawingml/2006/main">
            <a:off x="508000" y="4847166"/>
            <a:ext cx="317500" cy="317500"/>
          </a:xfrm>
          <a:prstGeom xmlns:a="http://schemas.openxmlformats.org/drawingml/2006/main" prst="rect">
            <a:avLst/>
          </a:prstGeom>
        </p:spPr>
      </p:pic>
      <p:sp>
        <p:nvSpPr>
          <p:cNvPr id="4" name="Comparison unit">
            <a:extLst xmlns:a="http://schemas.openxmlformats.org/drawingml/2006/main">
              <a:ext uri="{FF2B5EF4-FFF2-40B4-BE49-F238E27FC236}">
                <a16:creationId xmlns:a16="http://schemas.microsoft.com/office/drawing/2014/main" id="{6848D3B9-9DAE-E5DE-C318-9C697203955D}"/>
              </a:ext>
            </a:extLst>
          </p:cNvPr>
          <p:cNvSpPr>
            <a:spLocks xmlns:a="http://schemas.openxmlformats.org/drawingml/2006/main" noGrp="1"/>
          </p:cNvSpPr>
          <p:nvPr/>
        </p:nvSpPr>
        <p:spPr>
          <a:xfrm xmlns:a="http://schemas.openxmlformats.org/drawingml/2006/main">
            <a:off x="2590800" y="2082800"/>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Own OCGT fuel · million litres · financial years</a:t>
            </a:r>
            <a:endParaRPr sz="1000">
              <a:solidFill>
                <a:schemeClr val="dk1"/>
              </a:solidFill>
              <a:latin typeface="Lato"/>
              <a:ea typeface="Lato"/>
              <a:cs typeface="Lato"/>
            </a:endParaRPr>
          </a:p>
        </p:txBody>
      </p:sp>
      <p:pic>
        <p:nvPicPr>
          <p:cNvPr id="70" name="Demand comparison power"/>
          <p:cNvPicPr>
            <a:picLocks xmlns:a="http://schemas.openxmlformats.org/drawingml/2006/main" noChangeAspect="1"/>
          </p:cNvPicPr>
          <p:nvPr/>
        </p:nvPicPr>
        <p:blipFill>
          <a:blip xmlns:r="http://schemas.openxmlformats.org/officeDocument/2006/relationships" xmlns:a="http://schemas.openxmlformats.org/drawingml/2006/main" r:embed="R8785d66dc7e54edf"/>
          <a:stretch xmlns:a="http://schemas.openxmlformats.org/drawingml/2006/main">
            <a:fillRect l="0" t="0" r="0" b="0"/>
          </a:stretch>
        </p:blipFill>
        <p:spPr>
          <a:xfrm xmlns:a="http://schemas.openxmlformats.org/drawingml/2006/main">
            <a:off x="2590800" y="2159000"/>
            <a:ext cx="4508500" cy="1217295"/>
          </a:xfrm>
          <a:prstGeom xmlns:a="http://schemas.openxmlformats.org/drawingml/2006/main" prst="rect">
            <a:avLst/>
          </a:prstGeom>
        </p:spPr>
      </p:pic>
      <p:sp>
        <p:nvSpPr>
          <p:cNvPr id="15" name="Comparison unit">
            <a:extLst xmlns:a="http://schemas.openxmlformats.org/drawingml/2006/main">
              <a:ext uri="{FF2B5EF4-FFF2-40B4-BE49-F238E27FC236}">
                <a16:creationId xmlns:a16="http://schemas.microsoft.com/office/drawing/2014/main" id="{B8C7AEBC-8080-1E55-90D9-764484D5A075}"/>
              </a:ext>
            </a:extLst>
          </p:cNvPr>
          <p:cNvSpPr>
            <a:spLocks xmlns:a="http://schemas.openxmlformats.org/drawingml/2006/main" noGrp="1"/>
          </p:cNvSpPr>
          <p:nvPr/>
        </p:nvSpPr>
        <p:spPr>
          <a:xfrm xmlns:a="http://schemas.openxmlformats.org/drawingml/2006/main">
            <a:off x="2590800" y="3445933"/>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Reported payload · million tonnes · calendar years</a:t>
            </a:r>
            <a:endParaRPr sz="1000">
              <a:solidFill>
                <a:schemeClr val="dk1"/>
              </a:solidFill>
              <a:latin typeface="Lato"/>
              <a:ea typeface="Lato"/>
              <a:cs typeface="Lato"/>
            </a:endParaRPr>
          </a:p>
        </p:txBody>
      </p:sp>
      <p:pic>
        <p:nvPicPr>
          <p:cNvPr id="72" name="Demand comparison freight"/>
          <p:cNvPicPr>
            <a:picLocks xmlns:a="http://schemas.openxmlformats.org/drawingml/2006/main" noChangeAspect="1"/>
          </p:cNvPicPr>
          <p:nvPr/>
        </p:nvPicPr>
        <p:blipFill>
          <a:blip xmlns:r="http://schemas.openxmlformats.org/officeDocument/2006/relationships" xmlns:a="http://schemas.openxmlformats.org/drawingml/2006/main" r:embed="Ra00e02be60774090"/>
          <a:stretch xmlns:a="http://schemas.openxmlformats.org/drawingml/2006/main">
            <a:fillRect l="0" t="0" r="0" b="0"/>
          </a:stretch>
        </p:blipFill>
        <p:spPr>
          <a:xfrm xmlns:a="http://schemas.openxmlformats.org/drawingml/2006/main">
            <a:off x="2590800" y="3522133"/>
            <a:ext cx="4508500" cy="1217295"/>
          </a:xfrm>
          <a:prstGeom xmlns:a="http://schemas.openxmlformats.org/drawingml/2006/main" prst="rect">
            <a:avLst/>
          </a:prstGeom>
        </p:spPr>
      </p:pic>
      <p:sp>
        <p:nvSpPr>
          <p:cNvPr id="18" name="Comparison unit">
            <a:extLst xmlns:a="http://schemas.openxmlformats.org/drawingml/2006/main">
              <a:ext uri="{FF2B5EF4-FFF2-40B4-BE49-F238E27FC236}">
                <a16:creationId xmlns:a16="http://schemas.microsoft.com/office/drawing/2014/main" id="{050F5819-3F46-6939-E5CF-0124C47BDEA2}"/>
              </a:ext>
            </a:extLst>
          </p:cNvPr>
          <p:cNvSpPr>
            <a:spLocks xmlns:a="http://schemas.openxmlformats.org/drawingml/2006/main" noGrp="1"/>
          </p:cNvSpPr>
          <p:nvPr/>
        </p:nvSpPr>
        <p:spPr>
          <a:xfrm xmlns:a="http://schemas.openxmlformats.org/drawingml/2006/main">
            <a:off x="2590800" y="4809066"/>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Real GVA · Rbn, 2015 prices · calendar years</a:t>
            </a:r>
            <a:endParaRPr sz="1000">
              <a:solidFill>
                <a:schemeClr val="dk1"/>
              </a:solidFill>
              <a:latin typeface="Lato"/>
              <a:ea typeface="Lato"/>
              <a:cs typeface="Lato"/>
            </a:endParaRPr>
          </a:p>
        </p:txBody>
      </p:sp>
      <p:pic>
        <p:nvPicPr>
          <p:cNvPr id="74" name="Demand comparison sector"/>
          <p:cNvPicPr>
            <a:picLocks xmlns:a="http://schemas.openxmlformats.org/drawingml/2006/main" noChangeAspect="1"/>
          </p:cNvPicPr>
          <p:nvPr/>
        </p:nvPicPr>
        <p:blipFill>
          <a:blip xmlns:r="http://schemas.openxmlformats.org/officeDocument/2006/relationships" xmlns:a="http://schemas.openxmlformats.org/drawingml/2006/main" r:embed="R736c61efa5734b1e"/>
          <a:stretch xmlns:a="http://schemas.openxmlformats.org/drawingml/2006/main">
            <a:fillRect l="0" t="0" r="0" b="0"/>
          </a:stretch>
        </p:blipFill>
        <p:spPr>
          <a:xfrm xmlns:a="http://schemas.openxmlformats.org/drawingml/2006/main">
            <a:off x="2590800" y="4885266"/>
            <a:ext cx="4508500" cy="1217295"/>
          </a:xfrm>
          <a:prstGeom xmlns:a="http://schemas.openxmlformats.org/drawingml/2006/main" prst="rect">
            <a:avLst/>
          </a:prstGeom>
        </p:spPr>
      </p:pic>
      <p:pic>
        <p:nvPicPr>
          <p:cNvPr id="75" name="Picture 15"/>
          <p:cNvPicPr>
            <a:picLocks xmlns:a="http://schemas.openxmlformats.org/drawingml/2006/main" noChangeAspect="1"/>
          </p:cNvPicPr>
          <p:nvPr/>
        </p:nvPicPr>
        <p:blipFill>
          <a:blip xmlns:r="http://schemas.openxmlformats.org/officeDocument/2006/relationships" xmlns:a="http://schemas.openxmlformats.org/drawingml/2006/main" r:embed="R63811ff374434954"/>
          <a:stretch xmlns:a="http://schemas.openxmlformats.org/drawingml/2006/main">
            <a:fillRect l="0" t="0" r="0" b="0"/>
          </a:stretch>
        </p:blipFill>
        <p:spPr>
          <a:xfrm xmlns:a="http://schemas.openxmlformats.org/drawingml/2006/main">
            <a:off x="4889500" y="1739900"/>
            <a:ext cx="1397000" cy="180213"/>
          </a:xfrm>
          <a:prstGeom xmlns:a="http://schemas.openxmlformats.org/drawingml/2006/main" prst="rect">
            <a:avLst/>
          </a:prstGeom>
        </p:spPr>
      </p:pic>
    </p:spTree>
    <p:extLst>
      <p:ext uri="{BB962C8B-B14F-4D97-AF65-F5344CB8AC3E}">
        <p14:creationId xmlns:p14="http://schemas.microsoft.com/office/powerpoint/2010/main" val="11839180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DC42CF-A65D-4828-BD5C-71A7C61F1B3D}"/>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Mining, manufacturing and agriculture link diesel demand to sector activity</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7BE8C34-E80C-4B62-A747-E3AB6CD0EC2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E495F583-3D31-436D-A60F-E104578FC8F7}"/>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master workbook, DR01 sector activity: 2025 activity × historical average intensity. Department energy balance ends in 2021. Later sector litres are estimates; attribution and road overlap remain open.</a:t>
            </a:r>
            <a:endParaRPr sz="650"/>
          </a:p>
        </p:txBody>
      </p:sp>
      <p:sp>
        <p:nvSpPr>
          <p:cNvPr id="48" name="Strictly Confidential footer">
            <a:extLst xmlns:a="http://schemas.openxmlformats.org/drawingml/2006/main">
              <a:ext uri="{FF2B5EF4-FFF2-40B4-BE49-F238E27FC236}">
                <a16:creationId xmlns:a16="http://schemas.microsoft.com/office/drawing/2014/main" id="{C49621DB-C9C6-4488-AD70-0DA3579B092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6" name="Sector heading">
            <a:extLst xmlns:a="http://schemas.openxmlformats.org/drawingml/2006/main">
              <a:ext uri="{FF2B5EF4-FFF2-40B4-BE49-F238E27FC236}">
                <a16:creationId xmlns:a16="http://schemas.microsoft.com/office/drawing/2014/main" id="{65A169A8-D9BF-7E72-B48E-771CD77BA7BB}"/>
              </a:ext>
            </a:extLst>
          </p:cNvPr>
          <p:cNvSpPr>
            <a:spLocks xmlns:a="http://schemas.openxmlformats.org/drawingml/2006/main" noGrp="1"/>
          </p:cNvSpPr>
          <p:nvPr/>
        </p:nvSpPr>
        <p:spPr>
          <a:xfrm xmlns:a="http://schemas.openxmlformats.org/drawingml/2006/main">
            <a:off x="457200" y="1600200"/>
            <a:ext cx="19685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Sector</a:t>
            </a:r>
          </a:p>
        </p:txBody>
      </p:sp>
      <p:sp>
        <p:nvSpPr>
          <p:cNvPr id="7" name="Chart heading">
            <a:extLst xmlns:a="http://schemas.openxmlformats.org/drawingml/2006/main">
              <a:ext uri="{FF2B5EF4-FFF2-40B4-BE49-F238E27FC236}">
                <a16:creationId xmlns:a16="http://schemas.microsoft.com/office/drawing/2014/main" id="{DBA7DC2C-F2EF-95EA-707F-2D271224C408}"/>
              </a:ext>
            </a:extLst>
          </p:cNvPr>
          <p:cNvSpPr>
            <a:spLocks xmlns:a="http://schemas.openxmlformats.org/drawingml/2006/main" noGrp="1"/>
          </p:cNvSpPr>
          <p:nvPr/>
        </p:nvSpPr>
        <p:spPr>
          <a:xfrm xmlns:a="http://schemas.openxmlformats.org/drawingml/2006/main">
            <a:off x="2552700" y="1600200"/>
            <a:ext cx="4432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Diesel use, billion litres / year</a:t>
            </a:r>
            <a:endParaRPr sz="1200" b="1">
              <a:solidFill>
                <a:schemeClr val="dk1"/>
              </a:solidFill>
              <a:latin typeface="Lato"/>
              <a:ea typeface="Lato"/>
              <a:cs typeface="Lato"/>
            </a:endParaRPr>
          </a:p>
        </p:txBody>
      </p:sp>
      <p:sp>
        <p:nvSpPr>
          <p:cNvPr id="13" name="Activity heading">
            <a:extLst xmlns:a="http://schemas.openxmlformats.org/drawingml/2006/main">
              <a:ext uri="{FF2B5EF4-FFF2-40B4-BE49-F238E27FC236}">
                <a16:creationId xmlns:a16="http://schemas.microsoft.com/office/drawing/2014/main" id="{73F4E311-4081-9D8E-F2A8-1E30E7DE3FE6}"/>
              </a:ext>
            </a:extLst>
          </p:cNvPr>
          <p:cNvSpPr>
            <a:spLocks xmlns:a="http://schemas.openxmlformats.org/drawingml/2006/main" noGrp="1"/>
          </p:cNvSpPr>
          <p:nvPr/>
        </p:nvSpPr>
        <p:spPr>
          <a:xfrm xmlns:a="http://schemas.openxmlformats.org/drawingml/2006/main">
            <a:off x="7480300" y="1600200"/>
            <a:ext cx="36322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Activity and interpretation</a:t>
            </a:r>
          </a:p>
        </p:txBody>
      </p:sp>
      <p:cxnSp>
        <p:nvCxnSpPr>
          <p:cNvPr id="119" name="Sector heading rule"/>
          <p:cNvCxnSpPr/>
          <p:nvPr/>
        </p:nvCxnSpPr>
        <p:spPr>
          <a:xfrm xmlns:a="http://schemas.openxmlformats.org/drawingml/2006/main">
            <a:off x="457200" y="190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 name="Sector label 0">
            <a:extLst xmlns:a="http://schemas.openxmlformats.org/drawingml/2006/main">
              <a:ext uri="{FF2B5EF4-FFF2-40B4-BE49-F238E27FC236}">
                <a16:creationId xmlns:a16="http://schemas.microsoft.com/office/drawing/2014/main" id="{E6CDC96F-13DA-9293-6FD3-08DE11006E7F}"/>
              </a:ext>
            </a:extLst>
          </p:cNvPr>
          <p:cNvSpPr>
            <a:spLocks xmlns:a="http://schemas.openxmlformats.org/drawingml/2006/main" noGrp="1"/>
          </p:cNvSpPr>
          <p:nvPr/>
        </p:nvSpPr>
        <p:spPr>
          <a:xfrm xmlns:a="http://schemas.openxmlformats.org/drawingml/2006/main">
            <a:off x="457200" y="21589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Mining</a:t>
            </a:r>
          </a:p>
        </p:txBody>
      </p:sp>
      <p:sp>
        <p:nvSpPr>
          <p:cNvPr id="16" name="Sector interpretation 0">
            <a:extLst xmlns:a="http://schemas.openxmlformats.org/drawingml/2006/main">
              <a:ext uri="{FF2B5EF4-FFF2-40B4-BE49-F238E27FC236}">
                <a16:creationId xmlns:a16="http://schemas.microsoft.com/office/drawing/2014/main" id="{0E18B143-84EF-D0CF-5516-1798DD1E7F3E}"/>
              </a:ext>
            </a:extLst>
          </p:cNvPr>
          <p:cNvSpPr>
            <a:spLocks xmlns:a="http://schemas.openxmlformats.org/drawingml/2006/main" noGrp="1"/>
          </p:cNvSpPr>
          <p:nvPr/>
        </p:nvSpPr>
        <p:spPr>
          <a:xfrm xmlns:a="http://schemas.openxmlformats.org/drawingml/2006/main">
            <a:off x="7480300" y="21716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Mining activity drives the estimate. Average historical intensity and road-use overlap remain uncertain.</a:t>
            </a:r>
            <a:endParaRPr sz="1250">
              <a:solidFill>
                <a:schemeClr val="dk1"/>
              </a:solidFill>
              <a:latin typeface="Lato"/>
              <a:ea typeface="Lato"/>
              <a:cs typeface="Lato"/>
            </a:endParaRPr>
          </a:p>
        </p:txBody>
      </p:sp>
      <p:cxnSp>
        <p:nvCxnSpPr>
          <p:cNvPr id="122" name="Zero axis 0"/>
          <p:cNvCxnSpPr/>
          <p:nvPr/>
        </p:nvCxnSpPr>
        <p:spPr>
          <a:xfrm xmlns:a="http://schemas.openxmlformats.org/drawingml/2006/main">
            <a:off x="3263900" y="21336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Year 0 0">
            <a:extLst xmlns:a="http://schemas.openxmlformats.org/drawingml/2006/main">
              <a:ext uri="{FF2B5EF4-FFF2-40B4-BE49-F238E27FC236}">
                <a16:creationId xmlns:a16="http://schemas.microsoft.com/office/drawing/2014/main" id="{BCFCEDD5-B360-0731-6047-74636FEA33D4}"/>
              </a:ext>
            </a:extLst>
          </p:cNvPr>
          <p:cNvSpPr>
            <a:spLocks xmlns:a="http://schemas.openxmlformats.org/drawingml/2006/main" noGrp="1"/>
          </p:cNvSpPr>
          <p:nvPr/>
        </p:nvSpPr>
        <p:spPr>
          <a:xfrm xmlns:a="http://schemas.openxmlformats.org/drawingml/2006/main">
            <a:off x="2552700" y="21463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19" name="Sector bar 0 0">
            <a:extLst xmlns:a="http://schemas.openxmlformats.org/drawingml/2006/main">
              <a:ext uri="{FF2B5EF4-FFF2-40B4-BE49-F238E27FC236}">
                <a16:creationId xmlns:a16="http://schemas.microsoft.com/office/drawing/2014/main" id="{F6B91932-F480-7CD7-3C01-05C3B5BF243E}"/>
              </a:ext>
            </a:extLst>
          </p:cNvPr>
          <p:cNvSpPr>
            <a:spLocks xmlns:a="http://schemas.openxmlformats.org/drawingml/2006/main" noGrp="1"/>
          </p:cNvSpPr>
          <p:nvPr/>
        </p:nvSpPr>
        <p:spPr>
          <a:xfrm xmlns:a="http://schemas.openxmlformats.org/drawingml/2006/main">
            <a:off x="3263900" y="2159000"/>
            <a:ext cx="2905633"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Value 0 0">
            <a:extLst xmlns:a="http://schemas.openxmlformats.org/drawingml/2006/main">
              <a:ext uri="{FF2B5EF4-FFF2-40B4-BE49-F238E27FC236}">
                <a16:creationId xmlns:a16="http://schemas.microsoft.com/office/drawing/2014/main" id="{0F4B7BD1-8E3D-B7D8-352E-867A026E823A}"/>
              </a:ext>
            </a:extLst>
          </p:cNvPr>
          <p:cNvSpPr>
            <a:spLocks xmlns:a="http://schemas.openxmlformats.org/drawingml/2006/main" noGrp="1"/>
          </p:cNvSpPr>
          <p:nvPr/>
        </p:nvSpPr>
        <p:spPr>
          <a:xfrm xmlns:a="http://schemas.openxmlformats.org/drawingml/2006/main">
            <a:off x="6245733" y="21463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1.67</a:t>
            </a:r>
          </a:p>
        </p:txBody>
      </p:sp>
      <p:sp>
        <p:nvSpPr>
          <p:cNvPr id="21" name="Year 0 1">
            <a:extLst xmlns:a="http://schemas.openxmlformats.org/drawingml/2006/main">
              <a:ext uri="{FF2B5EF4-FFF2-40B4-BE49-F238E27FC236}">
                <a16:creationId xmlns:a16="http://schemas.microsoft.com/office/drawing/2014/main" id="{14C66B96-9647-0C1B-9CDF-F43C5BFEB805}"/>
              </a:ext>
            </a:extLst>
          </p:cNvPr>
          <p:cNvSpPr>
            <a:spLocks xmlns:a="http://schemas.openxmlformats.org/drawingml/2006/main" noGrp="1"/>
          </p:cNvSpPr>
          <p:nvPr/>
        </p:nvSpPr>
        <p:spPr>
          <a:xfrm xmlns:a="http://schemas.openxmlformats.org/drawingml/2006/main">
            <a:off x="2552700" y="24511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22" name="Sector bar 0 1">
            <a:extLst xmlns:a="http://schemas.openxmlformats.org/drawingml/2006/main">
              <a:ext uri="{FF2B5EF4-FFF2-40B4-BE49-F238E27FC236}">
                <a16:creationId xmlns:a16="http://schemas.microsoft.com/office/drawing/2014/main" id="{94723423-E844-4220-848F-C8B42910C0D5}"/>
              </a:ext>
            </a:extLst>
          </p:cNvPr>
          <p:cNvSpPr>
            <a:spLocks xmlns:a="http://schemas.openxmlformats.org/drawingml/2006/main" noGrp="1"/>
          </p:cNvSpPr>
          <p:nvPr/>
        </p:nvSpPr>
        <p:spPr>
          <a:xfrm xmlns:a="http://schemas.openxmlformats.org/drawingml/2006/main">
            <a:off x="3263900" y="2463800"/>
            <a:ext cx="2244471"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Value 0 1">
            <a:extLst xmlns:a="http://schemas.openxmlformats.org/drawingml/2006/main">
              <a:ext uri="{FF2B5EF4-FFF2-40B4-BE49-F238E27FC236}">
                <a16:creationId xmlns:a16="http://schemas.microsoft.com/office/drawing/2014/main" id="{6E983A38-9C73-873C-063F-C72993543FD6}"/>
              </a:ext>
            </a:extLst>
          </p:cNvPr>
          <p:cNvSpPr>
            <a:spLocks xmlns:a="http://schemas.openxmlformats.org/drawingml/2006/main" noGrp="1"/>
          </p:cNvSpPr>
          <p:nvPr/>
        </p:nvSpPr>
        <p:spPr>
          <a:xfrm xmlns:a="http://schemas.openxmlformats.org/drawingml/2006/main">
            <a:off x="5584571" y="24511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1.29</a:t>
            </a:r>
          </a:p>
        </p:txBody>
      </p:sp>
      <p:sp>
        <p:nvSpPr>
          <p:cNvPr id="24" name="Year 0 2">
            <a:extLst xmlns:a="http://schemas.openxmlformats.org/drawingml/2006/main">
              <a:ext uri="{FF2B5EF4-FFF2-40B4-BE49-F238E27FC236}">
                <a16:creationId xmlns:a16="http://schemas.microsoft.com/office/drawing/2014/main" id="{38003D4B-57B3-CE60-122C-9120C89C55C9}"/>
              </a:ext>
            </a:extLst>
          </p:cNvPr>
          <p:cNvSpPr>
            <a:spLocks xmlns:a="http://schemas.openxmlformats.org/drawingml/2006/main" noGrp="1"/>
          </p:cNvSpPr>
          <p:nvPr/>
        </p:nvSpPr>
        <p:spPr>
          <a:xfrm xmlns:a="http://schemas.openxmlformats.org/drawingml/2006/main">
            <a:off x="2552700" y="2755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25" name="Sector bar 0 2">
            <a:extLst xmlns:a="http://schemas.openxmlformats.org/drawingml/2006/main">
              <a:ext uri="{FF2B5EF4-FFF2-40B4-BE49-F238E27FC236}">
                <a16:creationId xmlns:a16="http://schemas.microsoft.com/office/drawing/2014/main" id="{A388A7E3-B0B3-2918-1E99-E7410D28228A}"/>
              </a:ext>
            </a:extLst>
          </p:cNvPr>
          <p:cNvSpPr>
            <a:spLocks xmlns:a="http://schemas.openxmlformats.org/drawingml/2006/main" noGrp="1"/>
          </p:cNvSpPr>
          <p:nvPr/>
        </p:nvSpPr>
        <p:spPr>
          <a:xfrm xmlns:a="http://schemas.openxmlformats.org/drawingml/2006/main">
            <a:off x="3263900" y="2768600"/>
            <a:ext cx="2446903"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Value 0 2">
            <a:extLst xmlns:a="http://schemas.openxmlformats.org/drawingml/2006/main">
              <a:ext uri="{FF2B5EF4-FFF2-40B4-BE49-F238E27FC236}">
                <a16:creationId xmlns:a16="http://schemas.microsoft.com/office/drawing/2014/main" id="{A13295E8-E5CE-36FE-C86A-8F808A9BA76F}"/>
              </a:ext>
            </a:extLst>
          </p:cNvPr>
          <p:cNvSpPr>
            <a:spLocks xmlns:a="http://schemas.openxmlformats.org/drawingml/2006/main" noGrp="1"/>
          </p:cNvSpPr>
          <p:nvPr/>
        </p:nvSpPr>
        <p:spPr>
          <a:xfrm xmlns:a="http://schemas.openxmlformats.org/drawingml/2006/main">
            <a:off x="5787003" y="2755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1.41</a:t>
            </a:r>
          </a:p>
        </p:txBody>
      </p:sp>
      <p:cxnSp>
        <p:nvCxnSpPr>
          <p:cNvPr id="132" name="Sector row rule 0"/>
          <p:cNvCxnSpPr/>
          <p:nvPr/>
        </p:nvCxnSpPr>
        <p:spPr>
          <a:xfrm xmlns:a="http://schemas.openxmlformats.org/drawingml/2006/main">
            <a:off x="457200" y="317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ector label 1">
            <a:extLst xmlns:a="http://schemas.openxmlformats.org/drawingml/2006/main">
              <a:ext uri="{FF2B5EF4-FFF2-40B4-BE49-F238E27FC236}">
                <a16:creationId xmlns:a16="http://schemas.microsoft.com/office/drawing/2014/main" id="{BBDB7AF9-6122-31BD-BE04-9ACF0FFD77A1}"/>
              </a:ext>
            </a:extLst>
          </p:cNvPr>
          <p:cNvSpPr>
            <a:spLocks xmlns:a="http://schemas.openxmlformats.org/drawingml/2006/main" noGrp="1"/>
          </p:cNvSpPr>
          <p:nvPr/>
        </p:nvSpPr>
        <p:spPr>
          <a:xfrm xmlns:a="http://schemas.openxmlformats.org/drawingml/2006/main">
            <a:off x="457200" y="3416300"/>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Manufacturing / non-specified industry</a:t>
            </a:r>
          </a:p>
        </p:txBody>
      </p:sp>
      <p:sp>
        <p:nvSpPr>
          <p:cNvPr id="29" name="Sector interpretation 1">
            <a:extLst xmlns:a="http://schemas.openxmlformats.org/drawingml/2006/main">
              <a:ext uri="{FF2B5EF4-FFF2-40B4-BE49-F238E27FC236}">
                <a16:creationId xmlns:a16="http://schemas.microsoft.com/office/drawing/2014/main" id="{BFC2BDC1-F459-EAAA-BB5E-806FD2D52D46}"/>
              </a:ext>
            </a:extLst>
          </p:cNvPr>
          <p:cNvSpPr>
            <a:spLocks xmlns:a="http://schemas.openxmlformats.org/drawingml/2006/main" noGrp="1"/>
          </p:cNvSpPr>
          <p:nvPr/>
        </p:nvSpPr>
        <p:spPr>
          <a:xfrm xmlns:a="http://schemas.openxmlformats.org/drawingml/2006/main">
            <a:off x="7480300" y="34289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Industry residual excludes mining and construction. This is an estimate, not a complete industrial census.</a:t>
            </a:r>
            <a:endParaRPr sz="1250">
              <a:solidFill>
                <a:schemeClr val="dk1"/>
              </a:solidFill>
              <a:latin typeface="Lato"/>
              <a:ea typeface="Lato"/>
              <a:cs typeface="Lato"/>
            </a:endParaRPr>
          </a:p>
        </p:txBody>
      </p:sp>
      <p:cxnSp>
        <p:nvCxnSpPr>
          <p:cNvPr id="135" name="Zero axis 1"/>
          <p:cNvCxnSpPr/>
          <p:nvPr/>
        </p:nvCxnSpPr>
        <p:spPr>
          <a:xfrm xmlns:a="http://schemas.openxmlformats.org/drawingml/2006/main">
            <a:off x="3263900" y="33909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1" name="Year 1 0">
            <a:extLst xmlns:a="http://schemas.openxmlformats.org/drawingml/2006/main">
              <a:ext uri="{FF2B5EF4-FFF2-40B4-BE49-F238E27FC236}">
                <a16:creationId xmlns:a16="http://schemas.microsoft.com/office/drawing/2014/main" id="{16B0186D-8604-9086-8124-5B59F61AB1A9}"/>
              </a:ext>
            </a:extLst>
          </p:cNvPr>
          <p:cNvSpPr>
            <a:spLocks xmlns:a="http://schemas.openxmlformats.org/drawingml/2006/main" noGrp="1"/>
          </p:cNvSpPr>
          <p:nvPr/>
        </p:nvSpPr>
        <p:spPr>
          <a:xfrm xmlns:a="http://schemas.openxmlformats.org/drawingml/2006/main">
            <a:off x="2552700" y="34036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32" name="Sector bar 1 0">
            <a:extLst xmlns:a="http://schemas.openxmlformats.org/drawingml/2006/main">
              <a:ext uri="{FF2B5EF4-FFF2-40B4-BE49-F238E27FC236}">
                <a16:creationId xmlns:a16="http://schemas.microsoft.com/office/drawing/2014/main" id="{2DA6DBBB-2E07-06BE-2A17-FB5203EBAC94}"/>
              </a:ext>
            </a:extLst>
          </p:cNvPr>
          <p:cNvSpPr>
            <a:spLocks xmlns:a="http://schemas.openxmlformats.org/drawingml/2006/main" noGrp="1"/>
          </p:cNvSpPr>
          <p:nvPr/>
        </p:nvSpPr>
        <p:spPr>
          <a:xfrm xmlns:a="http://schemas.openxmlformats.org/drawingml/2006/main">
            <a:off x="3263900" y="3416300"/>
            <a:ext cx="400177"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Value 1 0">
            <a:extLst xmlns:a="http://schemas.openxmlformats.org/drawingml/2006/main">
              <a:ext uri="{FF2B5EF4-FFF2-40B4-BE49-F238E27FC236}">
                <a16:creationId xmlns:a16="http://schemas.microsoft.com/office/drawing/2014/main" id="{17BCCB4B-9BA0-D28F-AF5E-09327B282841}"/>
              </a:ext>
            </a:extLst>
          </p:cNvPr>
          <p:cNvSpPr>
            <a:spLocks xmlns:a="http://schemas.openxmlformats.org/drawingml/2006/main" noGrp="1"/>
          </p:cNvSpPr>
          <p:nvPr/>
        </p:nvSpPr>
        <p:spPr>
          <a:xfrm xmlns:a="http://schemas.openxmlformats.org/drawingml/2006/main">
            <a:off x="3740277" y="34036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0.23</a:t>
            </a:r>
          </a:p>
        </p:txBody>
      </p:sp>
      <p:sp>
        <p:nvSpPr>
          <p:cNvPr id="34" name="Year 1 1">
            <a:extLst xmlns:a="http://schemas.openxmlformats.org/drawingml/2006/main">
              <a:ext uri="{FF2B5EF4-FFF2-40B4-BE49-F238E27FC236}">
                <a16:creationId xmlns:a16="http://schemas.microsoft.com/office/drawing/2014/main" id="{136F52DC-B196-9F98-C031-615B735A15BB}"/>
              </a:ext>
            </a:extLst>
          </p:cNvPr>
          <p:cNvSpPr>
            <a:spLocks xmlns:a="http://schemas.openxmlformats.org/drawingml/2006/main" noGrp="1"/>
          </p:cNvSpPr>
          <p:nvPr/>
        </p:nvSpPr>
        <p:spPr>
          <a:xfrm xmlns:a="http://schemas.openxmlformats.org/drawingml/2006/main">
            <a:off x="2552700" y="37084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35" name="Sector bar 1 1">
            <a:extLst xmlns:a="http://schemas.openxmlformats.org/drawingml/2006/main">
              <a:ext uri="{FF2B5EF4-FFF2-40B4-BE49-F238E27FC236}">
                <a16:creationId xmlns:a16="http://schemas.microsoft.com/office/drawing/2014/main" id="{4965B220-CF36-3D8E-8803-FFFF46126B6C}"/>
              </a:ext>
            </a:extLst>
          </p:cNvPr>
          <p:cNvSpPr>
            <a:spLocks xmlns:a="http://schemas.openxmlformats.org/drawingml/2006/main" noGrp="1"/>
          </p:cNvSpPr>
          <p:nvPr/>
        </p:nvSpPr>
        <p:spPr>
          <a:xfrm xmlns:a="http://schemas.openxmlformats.org/drawingml/2006/main">
            <a:off x="3263900" y="3721100"/>
            <a:ext cx="27838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Value 1 1">
            <a:extLst xmlns:a="http://schemas.openxmlformats.org/drawingml/2006/main">
              <a:ext uri="{FF2B5EF4-FFF2-40B4-BE49-F238E27FC236}">
                <a16:creationId xmlns:a16="http://schemas.microsoft.com/office/drawing/2014/main" id="{C2AD154B-6A28-84F2-FD3A-53898FEA8469}"/>
              </a:ext>
            </a:extLst>
          </p:cNvPr>
          <p:cNvSpPr>
            <a:spLocks xmlns:a="http://schemas.openxmlformats.org/drawingml/2006/main" noGrp="1"/>
          </p:cNvSpPr>
          <p:nvPr/>
        </p:nvSpPr>
        <p:spPr>
          <a:xfrm xmlns:a="http://schemas.openxmlformats.org/drawingml/2006/main">
            <a:off x="3618484" y="37084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0.16</a:t>
            </a:r>
          </a:p>
        </p:txBody>
      </p:sp>
      <p:sp>
        <p:nvSpPr>
          <p:cNvPr id="37" name="Year 1 2">
            <a:extLst xmlns:a="http://schemas.openxmlformats.org/drawingml/2006/main">
              <a:ext uri="{FF2B5EF4-FFF2-40B4-BE49-F238E27FC236}">
                <a16:creationId xmlns:a16="http://schemas.microsoft.com/office/drawing/2014/main" id="{ADCEAD1A-F95E-16BE-B8E7-E7150E877487}"/>
              </a:ext>
            </a:extLst>
          </p:cNvPr>
          <p:cNvSpPr>
            <a:spLocks xmlns:a="http://schemas.openxmlformats.org/drawingml/2006/main" noGrp="1"/>
          </p:cNvSpPr>
          <p:nvPr/>
        </p:nvSpPr>
        <p:spPr>
          <a:xfrm xmlns:a="http://schemas.openxmlformats.org/drawingml/2006/main">
            <a:off x="2552700" y="40132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38" name="Sector bar 1 2">
            <a:extLst xmlns:a="http://schemas.openxmlformats.org/drawingml/2006/main">
              <a:ext uri="{FF2B5EF4-FFF2-40B4-BE49-F238E27FC236}">
                <a16:creationId xmlns:a16="http://schemas.microsoft.com/office/drawing/2014/main" id="{7F8F2217-2E77-347C-505D-DBF279785080}"/>
              </a:ext>
            </a:extLst>
          </p:cNvPr>
          <p:cNvSpPr>
            <a:spLocks xmlns:a="http://schemas.openxmlformats.org/drawingml/2006/main" noGrp="1"/>
          </p:cNvSpPr>
          <p:nvPr/>
        </p:nvSpPr>
        <p:spPr>
          <a:xfrm xmlns:a="http://schemas.openxmlformats.org/drawingml/2006/main">
            <a:off x="3263900" y="4025900"/>
            <a:ext cx="287216"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Value 1 2">
            <a:extLst xmlns:a="http://schemas.openxmlformats.org/drawingml/2006/main">
              <a:ext uri="{FF2B5EF4-FFF2-40B4-BE49-F238E27FC236}">
                <a16:creationId xmlns:a16="http://schemas.microsoft.com/office/drawing/2014/main" id="{814FCAB5-F5DB-7991-9CED-5828A76BF304}"/>
              </a:ext>
            </a:extLst>
          </p:cNvPr>
          <p:cNvSpPr>
            <a:spLocks xmlns:a="http://schemas.openxmlformats.org/drawingml/2006/main" noGrp="1"/>
          </p:cNvSpPr>
          <p:nvPr/>
        </p:nvSpPr>
        <p:spPr>
          <a:xfrm xmlns:a="http://schemas.openxmlformats.org/drawingml/2006/main">
            <a:off x="3627316" y="40132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0.17</a:t>
            </a:r>
          </a:p>
        </p:txBody>
      </p:sp>
      <p:cxnSp>
        <p:nvCxnSpPr>
          <p:cNvPr id="145" name="Sector row rule 1"/>
          <p:cNvCxnSpPr/>
          <p:nvPr/>
        </p:nvCxnSpPr>
        <p:spPr>
          <a:xfrm xmlns:a="http://schemas.openxmlformats.org/drawingml/2006/main">
            <a:off x="457200" y="44323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1" name="Sector label 2">
            <a:extLst xmlns:a="http://schemas.openxmlformats.org/drawingml/2006/main">
              <a:ext uri="{FF2B5EF4-FFF2-40B4-BE49-F238E27FC236}">
                <a16:creationId xmlns:a16="http://schemas.microsoft.com/office/drawing/2014/main" id="{432BC058-6345-93A7-631D-3D57222DD209}"/>
              </a:ext>
            </a:extLst>
          </p:cNvPr>
          <p:cNvSpPr>
            <a:spLocks xmlns:a="http://schemas.openxmlformats.org/drawingml/2006/main" noGrp="1"/>
          </p:cNvSpPr>
          <p:nvPr/>
        </p:nvSpPr>
        <p:spPr>
          <a:xfrm xmlns:a="http://schemas.openxmlformats.org/drawingml/2006/main">
            <a:off x="457200" y="46735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Agriculture / forestry</a:t>
            </a:r>
          </a:p>
        </p:txBody>
      </p:sp>
      <p:sp>
        <p:nvSpPr>
          <p:cNvPr id="42" name="Sector interpretation 2">
            <a:extLst xmlns:a="http://schemas.openxmlformats.org/drawingml/2006/main">
              <a:ext uri="{FF2B5EF4-FFF2-40B4-BE49-F238E27FC236}">
                <a16:creationId xmlns:a16="http://schemas.microsoft.com/office/drawing/2014/main" id="{D9A929E7-20BF-D9F1-A9E4-59AD7B63F9DD}"/>
              </a:ext>
            </a:extLst>
          </p:cNvPr>
          <p:cNvSpPr>
            <a:spLocks xmlns:a="http://schemas.openxmlformats.org/drawingml/2006/main" noGrp="1"/>
          </p:cNvSpPr>
          <p:nvPr/>
        </p:nvSpPr>
        <p:spPr>
          <a:xfrm xmlns:a="http://schemas.openxmlformats.org/drawingml/2006/main">
            <a:off x="7480300" y="46862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2025 real GVA R134.8bn, 2015 prices. Weather, irrigation and transport affect fuel intensity.</a:t>
            </a:r>
            <a:endParaRPr sz="1250">
              <a:solidFill>
                <a:schemeClr val="dk1"/>
              </a:solidFill>
              <a:latin typeface="Lato"/>
              <a:ea typeface="Lato"/>
              <a:cs typeface="Lato"/>
            </a:endParaRPr>
          </a:p>
        </p:txBody>
      </p:sp>
      <p:cxnSp>
        <p:nvCxnSpPr>
          <p:cNvPr id="148" name="Zero axis 2"/>
          <p:cNvCxnSpPr/>
          <p:nvPr/>
        </p:nvCxnSpPr>
        <p:spPr>
          <a:xfrm xmlns:a="http://schemas.openxmlformats.org/drawingml/2006/main">
            <a:off x="3263900" y="46482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4" name="Year 2 0">
            <a:extLst xmlns:a="http://schemas.openxmlformats.org/drawingml/2006/main">
              <a:ext uri="{FF2B5EF4-FFF2-40B4-BE49-F238E27FC236}">
                <a16:creationId xmlns:a16="http://schemas.microsoft.com/office/drawing/2014/main" id="{9A46EBB9-80A4-EB24-BF84-58836D7A29C2}"/>
              </a:ext>
            </a:extLst>
          </p:cNvPr>
          <p:cNvSpPr>
            <a:spLocks xmlns:a="http://schemas.openxmlformats.org/drawingml/2006/main" noGrp="1"/>
          </p:cNvSpPr>
          <p:nvPr/>
        </p:nvSpPr>
        <p:spPr>
          <a:xfrm xmlns:a="http://schemas.openxmlformats.org/drawingml/2006/main">
            <a:off x="2552700" y="4660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45" name="Sector bar 2 0">
            <a:extLst xmlns:a="http://schemas.openxmlformats.org/drawingml/2006/main">
              <a:ext uri="{FF2B5EF4-FFF2-40B4-BE49-F238E27FC236}">
                <a16:creationId xmlns:a16="http://schemas.microsoft.com/office/drawing/2014/main" id="{A778E9EF-151C-CB12-5F7F-F2E63EF28409}"/>
              </a:ext>
            </a:extLst>
          </p:cNvPr>
          <p:cNvSpPr>
            <a:spLocks xmlns:a="http://schemas.openxmlformats.org/drawingml/2006/main" noGrp="1"/>
          </p:cNvSpPr>
          <p:nvPr/>
        </p:nvSpPr>
        <p:spPr>
          <a:xfrm xmlns:a="http://schemas.openxmlformats.org/drawingml/2006/main">
            <a:off x="3263900" y="4673600"/>
            <a:ext cx="1600708"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Value 2 0">
            <a:extLst xmlns:a="http://schemas.openxmlformats.org/drawingml/2006/main">
              <a:ext uri="{FF2B5EF4-FFF2-40B4-BE49-F238E27FC236}">
                <a16:creationId xmlns:a16="http://schemas.microsoft.com/office/drawing/2014/main" id="{C19BD180-4226-7FCB-5122-31F30A9F3DA0}"/>
              </a:ext>
            </a:extLst>
          </p:cNvPr>
          <p:cNvSpPr>
            <a:spLocks xmlns:a="http://schemas.openxmlformats.org/drawingml/2006/main" noGrp="1"/>
          </p:cNvSpPr>
          <p:nvPr/>
        </p:nvSpPr>
        <p:spPr>
          <a:xfrm xmlns:a="http://schemas.openxmlformats.org/drawingml/2006/main">
            <a:off x="4940808" y="4660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0.92</a:t>
            </a:r>
          </a:p>
        </p:txBody>
      </p:sp>
      <p:sp>
        <p:nvSpPr>
          <p:cNvPr id="47" name="Year 2 1">
            <a:extLst xmlns:a="http://schemas.openxmlformats.org/drawingml/2006/main">
              <a:ext uri="{FF2B5EF4-FFF2-40B4-BE49-F238E27FC236}">
                <a16:creationId xmlns:a16="http://schemas.microsoft.com/office/drawing/2014/main" id="{203F43BB-C4C4-EF5B-62D7-C983F44D5D80}"/>
              </a:ext>
            </a:extLst>
          </p:cNvPr>
          <p:cNvSpPr>
            <a:spLocks xmlns:a="http://schemas.openxmlformats.org/drawingml/2006/main" noGrp="1"/>
          </p:cNvSpPr>
          <p:nvPr/>
        </p:nvSpPr>
        <p:spPr>
          <a:xfrm xmlns:a="http://schemas.openxmlformats.org/drawingml/2006/main">
            <a:off x="2552700" y="49657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49" name="Sector bar 2 1">
            <a:extLst xmlns:a="http://schemas.openxmlformats.org/drawingml/2006/main">
              <a:ext uri="{FF2B5EF4-FFF2-40B4-BE49-F238E27FC236}">
                <a16:creationId xmlns:a16="http://schemas.microsoft.com/office/drawing/2014/main" id="{9A65D64C-A255-0484-9B4C-DB1D888CA75A}"/>
              </a:ext>
            </a:extLst>
          </p:cNvPr>
          <p:cNvSpPr>
            <a:spLocks xmlns:a="http://schemas.openxmlformats.org/drawingml/2006/main" noGrp="1"/>
          </p:cNvSpPr>
          <p:nvPr/>
        </p:nvSpPr>
        <p:spPr>
          <a:xfrm xmlns:a="http://schemas.openxmlformats.org/drawingml/2006/main">
            <a:off x="3263900" y="4978400"/>
            <a:ext cx="184429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Value 2 1">
            <a:extLst xmlns:a="http://schemas.openxmlformats.org/drawingml/2006/main">
              <a:ext uri="{FF2B5EF4-FFF2-40B4-BE49-F238E27FC236}">
                <a16:creationId xmlns:a16="http://schemas.microsoft.com/office/drawing/2014/main" id="{2639BBAA-BF87-EB2E-3B26-AD87F77D4799}"/>
              </a:ext>
            </a:extLst>
          </p:cNvPr>
          <p:cNvSpPr>
            <a:spLocks xmlns:a="http://schemas.openxmlformats.org/drawingml/2006/main" noGrp="1"/>
          </p:cNvSpPr>
          <p:nvPr/>
        </p:nvSpPr>
        <p:spPr>
          <a:xfrm xmlns:a="http://schemas.openxmlformats.org/drawingml/2006/main">
            <a:off x="5184394" y="49657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1.06</a:t>
            </a:r>
          </a:p>
        </p:txBody>
      </p:sp>
      <p:sp>
        <p:nvSpPr>
          <p:cNvPr id="51" name="Year 2 2">
            <a:extLst xmlns:a="http://schemas.openxmlformats.org/drawingml/2006/main">
              <a:ext uri="{FF2B5EF4-FFF2-40B4-BE49-F238E27FC236}">
                <a16:creationId xmlns:a16="http://schemas.microsoft.com/office/drawing/2014/main" id="{64995438-4D77-DCFE-8013-D3F2C856DF1C}"/>
              </a:ext>
            </a:extLst>
          </p:cNvPr>
          <p:cNvSpPr>
            <a:spLocks xmlns:a="http://schemas.openxmlformats.org/drawingml/2006/main" noGrp="1"/>
          </p:cNvSpPr>
          <p:nvPr/>
        </p:nvSpPr>
        <p:spPr>
          <a:xfrm xmlns:a="http://schemas.openxmlformats.org/drawingml/2006/main">
            <a:off x="2552700" y="52705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52" name="Sector bar 2 2">
            <a:extLst xmlns:a="http://schemas.openxmlformats.org/drawingml/2006/main">
              <a:ext uri="{FF2B5EF4-FFF2-40B4-BE49-F238E27FC236}">
                <a16:creationId xmlns:a16="http://schemas.microsoft.com/office/drawing/2014/main" id="{15ABB96F-19D1-4B54-F98E-900FC6B40019}"/>
              </a:ext>
            </a:extLst>
          </p:cNvPr>
          <p:cNvSpPr>
            <a:spLocks xmlns:a="http://schemas.openxmlformats.org/drawingml/2006/main" noGrp="1"/>
          </p:cNvSpPr>
          <p:nvPr/>
        </p:nvSpPr>
        <p:spPr>
          <a:xfrm xmlns:a="http://schemas.openxmlformats.org/drawingml/2006/main">
            <a:off x="3263900" y="5283200"/>
            <a:ext cx="1968218"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Value 2 2">
            <a:extLst xmlns:a="http://schemas.openxmlformats.org/drawingml/2006/main">
              <a:ext uri="{FF2B5EF4-FFF2-40B4-BE49-F238E27FC236}">
                <a16:creationId xmlns:a16="http://schemas.microsoft.com/office/drawing/2014/main" id="{85D836A3-6D30-F8E0-F284-6B823EE75E71}"/>
              </a:ext>
            </a:extLst>
          </p:cNvPr>
          <p:cNvSpPr>
            <a:spLocks xmlns:a="http://schemas.openxmlformats.org/drawingml/2006/main" noGrp="1"/>
          </p:cNvSpPr>
          <p:nvPr/>
        </p:nvSpPr>
        <p:spPr>
          <a:xfrm xmlns:a="http://schemas.openxmlformats.org/drawingml/2006/main">
            <a:off x="5308318" y="52705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1.13</a:t>
            </a:r>
          </a:p>
        </p:txBody>
      </p:sp>
      <p:cxnSp>
        <p:nvCxnSpPr>
          <p:cNvPr id="158" name="Sector row rule 2"/>
          <p:cNvCxnSpPr/>
          <p:nvPr/>
        </p:nvCxnSpPr>
        <p:spPr>
          <a:xfrm xmlns:a="http://schemas.openxmlformats.org/drawingml/2006/main">
            <a:off x="457200" y="56896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5" name="Chart scale note">
            <a:extLst xmlns:a="http://schemas.openxmlformats.org/drawingml/2006/main">
              <a:ext uri="{FF2B5EF4-FFF2-40B4-BE49-F238E27FC236}">
                <a16:creationId xmlns:a16="http://schemas.microsoft.com/office/drawing/2014/main" id="{108C89DE-252D-F272-16FF-23DAE5529CC0}"/>
              </a:ext>
            </a:extLst>
          </p:cNvPr>
          <p:cNvSpPr>
            <a:spLocks xmlns:a="http://schemas.openxmlformats.org/drawingml/2006/main" noGrp="1"/>
          </p:cNvSpPr>
          <p:nvPr/>
        </p:nvSpPr>
        <p:spPr>
          <a:xfrm xmlns:a="http://schemas.openxmlformats.org/drawingml/2006/main">
            <a:off x="2552700" y="5740399"/>
            <a:ext cx="8382000" cy="203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00">
                <a:solidFill>
                  <a:schemeClr val="dk1"/>
                </a:solidFill>
                <a:latin typeface="Lato"/>
                <a:ea typeface="Lato"/>
                <a:cs typeface="Lato"/>
              </a:rPr>
              <a:t>Bars start at zero; all sectors use the same 0-2bn litre scale. Outlined bars are estimates.</a:t>
            </a:r>
            <a:endParaRPr sz="900">
              <a:solidFill>
                <a:schemeClr val="dk1"/>
              </a:solidFill>
              <a:latin typeface="Lato"/>
              <a:ea typeface="Lato"/>
              <a:cs typeface="Lato"/>
            </a:endParaRPr>
          </a:p>
        </p:txBody>
      </p:sp>
      <p:sp>
        <p:nvSpPr>
          <p:cNvPr id="56" name="Interpretation">
            <a:extLst xmlns:a="http://schemas.openxmlformats.org/drawingml/2006/main">
              <a:ext uri="{FF2B5EF4-FFF2-40B4-BE49-F238E27FC236}">
                <a16:creationId xmlns:a16="http://schemas.microsoft.com/office/drawing/2014/main" id="{13AC0CB5-A862-29E0-D32E-F0683B42E7CF}"/>
              </a:ext>
            </a:extLst>
          </p:cNvPr>
          <p:cNvSpPr>
            <a:spLocks xmlns:a="http://schemas.openxmlformats.org/drawingml/2006/main" noGrp="1"/>
          </p:cNvSpPr>
          <p:nvPr/>
        </p:nvSpPr>
        <p:spPr>
          <a:xfrm xmlns:a="http://schemas.openxmlformats.org/drawingml/2006/main">
            <a:off x="457200" y="5969000"/>
            <a:ext cx="106553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50">
                <a:solidFill>
                  <a:schemeClr val="dk1"/>
                </a:solidFill>
                <a:latin typeface="Lato"/>
                <a:ea typeface="Lato"/>
                <a:cs typeface="Lato"/>
              </a:rPr>
              <a:t>2025 estimates apply average 2018–2021 intensity to sector activity. They require reconciliation with road use and total diesel sales.</a:t>
            </a:r>
            <a:endParaRPr sz="950">
              <a:solidFill>
                <a:schemeClr val="dk1"/>
              </a:solidFill>
              <a:latin typeface="Lato"/>
              <a:ea typeface="Lato"/>
              <a:cs typeface="Lato"/>
            </a:endParaRPr>
          </a:p>
        </p:txBody>
      </p:sp>
    </p:spTree>
    <p:extLst>
      <p:ext uri="{BB962C8B-B14F-4D97-AF65-F5344CB8AC3E}">
        <p14:creationId xmlns:p14="http://schemas.microsoft.com/office/powerpoint/2010/main" val="26344083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B0B56F-08DA-4B85-8416-CC3ADB7A5A1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Refinery shutdowns have increased reliance on imported petrol and diesel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EFA7B83-3726-45DF-A5AB-B24342BB24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16008754-6803-44E9-AEE0-1B2AA7EF993B}"/>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a:extLst xmlns:a="http://schemas.openxmlformats.org/drawingml/2006/main">
              <a:ext uri="{FF2B5EF4-FFF2-40B4-BE49-F238E27FC236}">
                <a16:creationId xmlns:a16="http://schemas.microsoft.com/office/drawing/2014/main" id="{2B92F5C3-2C5B-49AA-A8C1-20D197C425D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C93CB81-07B7-7E70-D004-32567DD5FED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6E1A541-338A-EB56-1595-3D44EA29246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7FEED33D-4506-B40B-29F1-4255470AA99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C412178A-32D9-EFE7-A6BA-4576A3E0776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F651618-E88B-F09E-4383-953C0C2A27BA}"/>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imports: diesel 12.25bn L and petrol 4.45bn L, net 15.15bn L. Durban customs accounts for 13.16bn L; terminal capture remains unverified.</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c95b645c25df4174"/>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932354EC-65B1-0EF2-A176-8E881B4387C0}"/>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Import trend</a:t>
            </a:r>
          </a:p>
        </p:txBody>
      </p:sp>
      <p:sp>
        <p:nvSpPr>
          <p:cNvPr id="16" name="Aligned panel subtitle">
            <a:extLst xmlns:a="http://schemas.openxmlformats.org/drawingml/2006/main">
              <a:ext uri="{FF2B5EF4-FFF2-40B4-BE49-F238E27FC236}">
                <a16:creationId xmlns:a16="http://schemas.microsoft.com/office/drawing/2014/main" id="{A6FB8A44-2E10-A3A7-1081-800C64B998A5}"/>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since 2020</a:t>
            </a:r>
          </a:p>
        </p:txBody>
      </p:sp>
      <p:sp>
        <p:nvSpPr>
          <p:cNvPr id="13" name="Content margin panel rule">
            <a:extLst xmlns:a="http://schemas.openxmlformats.org/drawingml/2006/main">
              <a:ext uri="{FF2B5EF4-FFF2-40B4-BE49-F238E27FC236}">
                <a16:creationId xmlns:a16="http://schemas.microsoft.com/office/drawing/2014/main" id="{D6DC779E-728D-455D-A589-41B88D770255}"/>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DAE682B4-99EA-4AAA-91A8-BE5345521110}"/>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4092277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BF2DF0-4DD1-43F1-BB63-EC445950331B}"/>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Emerging Maputo and Walvis Bay routes must be tested alongside Durban and domestic supply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135D3A-C5B5-498F-9667-7478E83059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56547A1D-F847-4BD0-A092-249BAA32B349}"/>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a:extLst xmlns:a="http://schemas.openxmlformats.org/drawingml/2006/main">
              <a:ext uri="{FF2B5EF4-FFF2-40B4-BE49-F238E27FC236}">
                <a16:creationId xmlns:a16="http://schemas.microsoft.com/office/drawing/2014/main" id="{65AD0587-6905-4E92-8C6E-C186A5C1BC0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9BE0BDC-1283-E261-F55A-1C6A60822E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BBA0217-A689-9C15-E686-7EA4A2C9E77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219F7F0B-97E6-1C22-9CD8-56F25F0F6A8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70880E68-04F4-B011-F986-4C6BC5F62AC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516117D-4450-D13E-2623-2F637C71BC06}"/>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MPP use averaged 105ML/week in FY2025 against 148ML/week capacity. Compare route costs and access by destination; average spare capacity gives no Vopak entitlement.</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9b13b027a340443a"/>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D1C964E9-5708-A42E-3984-1415C36B1638}"/>
              </a:ext>
            </a:extLst>
          </p:cNvPr>
          <p:cNvSpPr>
            <a:spLocks xmlns:a="http://schemas.openxmlformats.org/drawingml/2006/main" noGrp="1"/>
          </p:cNvSpPr>
          <p:nvPr/>
        </p:nvSpPr>
        <p:spPr>
          <a:xfrm xmlns:a="http://schemas.openxmlformats.org/drawingml/2006/main">
            <a:off x="457200" y="1625600"/>
            <a:ext cx="6554354"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Competing supply corridors</a:t>
            </a:r>
          </a:p>
        </p:txBody>
      </p:sp>
      <p:sp>
        <p:nvSpPr>
          <p:cNvPr id="16" name="Aligned panel subtitle">
            <a:extLst xmlns:a="http://schemas.openxmlformats.org/drawingml/2006/main">
              <a:ext uri="{FF2B5EF4-FFF2-40B4-BE49-F238E27FC236}">
                <a16:creationId xmlns:a16="http://schemas.microsoft.com/office/drawing/2014/main" id="{404BB07F-45B9-2C46-75B8-8E01DEEB4FC0}"/>
              </a:ext>
            </a:extLst>
          </p:cNvPr>
          <p:cNvSpPr>
            <a:spLocks xmlns:a="http://schemas.openxmlformats.org/drawingml/2006/main" noGrp="1"/>
          </p:cNvSpPr>
          <p:nvPr/>
        </p:nvSpPr>
        <p:spPr>
          <a:xfrm xmlns:a="http://schemas.openxmlformats.org/drawingml/2006/main">
            <a:off x="7290954" y="1625600"/>
            <a:ext cx="3819005"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Same product, same destination</a:t>
            </a:r>
          </a:p>
        </p:txBody>
      </p:sp>
      <p:sp>
        <p:nvSpPr>
          <p:cNvPr id="13" name="Content margin panel rule">
            <a:extLst xmlns:a="http://schemas.openxmlformats.org/drawingml/2006/main">
              <a:ext uri="{FF2B5EF4-FFF2-40B4-BE49-F238E27FC236}">
                <a16:creationId xmlns:a16="http://schemas.microsoft.com/office/drawing/2014/main" id="{C974DB04-0502-4558-89FC-5F09F4B51542}"/>
              </a:ext>
            </a:extLst>
          </p:cNvPr>
          <p:cNvSpPr>
            <a:spLocks xmlns:a="http://schemas.openxmlformats.org/drawingml/2006/main" noGrp="1"/>
          </p:cNvSpPr>
          <p:nvPr/>
        </p:nvSpPr>
        <p:spPr>
          <a:xfrm xmlns:a="http://schemas.openxmlformats.org/drawingml/2006/main">
            <a:off x="7290954" y="1907308"/>
            <a:ext cx="3819006"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CF52A104-DBDB-4AB9-BEC6-9CA4D194D7DB}"/>
              </a:ext>
            </a:extLst>
          </p:cNvPr>
          <p:cNvSpPr>
            <a:spLocks xmlns:a="http://schemas.openxmlformats.org/drawingml/2006/main" noGrp="1"/>
          </p:cNvSpPr>
          <p:nvPr/>
        </p:nvSpPr>
        <p:spPr>
          <a:xfrm xmlns:a="http://schemas.openxmlformats.org/drawingml/2006/main">
            <a:off x="457200" y="1907308"/>
            <a:ext cx="6579754"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23334137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98C25B-368D-4D35-972F-9DD7B29DBC15}"/>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Durban and Lesedi connect coastal supply to Gauteng; operating data must establish room for growth</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1AFBDFB-5C3E-4912-878A-87639B0BF6B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07ACD7EF-36C8-4B8B-A542-B65218D9C1D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terminal directory; NERSA Lesedi licence documents; registered terminal_site_assumptions.csv; Transnet Pipelines 2025 p8. Gross capacity, estimated working tankage and annual throughput have different meanings.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Asset / measure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Established position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must be established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360,246 m³ published gross capacity.
Coastal receipt and onward distribution; mixed products.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146,000 m³ estimated working subset from the 162,000 m³ expansion. Full petrol/diesel allocation still needs confirmation.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140,000 m3 clean-product capacity.
Includes the 40,000 m3 expansion
commissioned in October 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124,000 m³ working estimate: 88,000 documented plus 36,000 estimated for newer tanks. Actual throughput remains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Operating constraints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MPP use/capacity: 105 / 148ML per week in FY2025. Shared annualised use 5.46bn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Measure receipt, pipeline and dispatch limits, seasonal peaks and stock requirements.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Implication for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Actual throughput and achievable turns are not yet established in this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No spare capacity is claimed. Test captured demand against verified handling limits before selecting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BA702CC3-37E5-4009-AD9A-1C8DD0C784D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3028960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AB03F0-AE1A-4C9B-BB07-014163B5941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Rail recovery, EV adoption and combustion-vehicle efficiency could reduce transport fuel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3DC3C2-49F9-4B3B-90FA-25F28D0A84E8}"/>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99B0A201-5477-4714-A143-4880B140D7E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a:extLst xmlns:a="http://schemas.openxmlformats.org/drawingml/2006/main">
              <a:ext uri="{FF2B5EF4-FFF2-40B4-BE49-F238E27FC236}">
                <a16:creationId xmlns:a16="http://schemas.microsoft.com/office/drawing/2014/main" id="{76B43FBB-F26F-41FD-A4FF-60A741BC470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9FE9DB-A7B9-8D69-C615-C56477C9021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38103FD-60F0-1D52-83B7-120DD9B43DC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D50E0E10-BE04-5DDC-0186-93D6ED9D6991}"/>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C1089FD-0B69-C240-3B7E-FD08C0DF9C83}"/>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7d6c23f4401e4cb4"/>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1E4A0915-F513-C2B4-1FEC-0FAB08989DA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BEV sales were 0.18% of new sales. Manish reviewed the implemented EV/efficiency pair; hybrid savings and rail diversion still need explicit combination rules.</a:t>
            </a:r>
            <a:endParaRPr sz="1050">
              <a:solidFill>
                <a:schemeClr val="dk1"/>
              </a:solidFill>
              <a:latin typeface="Lato"/>
              <a:ea typeface="Lato"/>
              <a:cs typeface="Lato"/>
            </a:endParaRPr>
          </a:p>
        </p:txBody>
      </p:sp>
    </p:spTree>
    <p:extLst>
      <p:ext uri="{BB962C8B-B14F-4D97-AF65-F5344CB8AC3E}">
        <p14:creationId xmlns:p14="http://schemas.microsoft.com/office/powerpoint/2010/main" val="33722401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89D150-EAFA-48A7-99C8-0E1F697BFF2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Power generation recovery could lower diesel use further, while outages and replacement delays could sustain domestic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70B2B05-BEFB-434E-9E2C-5351B95876C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94C50196-EBAD-4F9B-9225-FA27920ACCC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a:extLst xmlns:a="http://schemas.openxmlformats.org/drawingml/2006/main">
              <a:ext uri="{FF2B5EF4-FFF2-40B4-BE49-F238E27FC236}">
                <a16:creationId xmlns:a16="http://schemas.microsoft.com/office/drawing/2014/main" id="{F656CD02-15EA-45B2-BBFF-FC5E660F495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8104FD1-D03E-613C-EADF-9CBAD2040D4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E81801EC-F6BA-CCE9-DE2E-8EE41751C19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0DB85F31-F707-8CF4-8C81-115F7726D01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1DBC1C8-7174-E49A-3855-5054BA72C2C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F675C8EF-7362-9FCC-FB56-1545DD74A102}"/>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engine still includes 3,000MW of notional plants. Reconcile power and road baselines jointly against reported Eskom fuel and estimated IPP burn before forecasting.</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d17d06295e504c0e"/>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6" name="Aligned panel subtitle">
            <a:extLst xmlns:a="http://schemas.openxmlformats.org/drawingml/2006/main">
              <a:ext uri="{FF2B5EF4-FFF2-40B4-BE49-F238E27FC236}">
                <a16:creationId xmlns:a16="http://schemas.microsoft.com/office/drawing/2014/main" id="{9B1BAE31-E9DC-F48A-FBAB-11CD20EF25A5}"/>
              </a:ext>
            </a:extLst>
          </p:cNvPr>
          <p:cNvSpPr>
            <a:spLocks xmlns:a="http://schemas.openxmlformats.org/drawingml/2006/main" noGrp="1"/>
          </p:cNvSpPr>
          <p:nvPr/>
        </p:nvSpPr>
        <p:spPr>
          <a:xfrm xmlns:a="http://schemas.openxmlformats.org/drawingml/2006/main">
            <a:off x="457200" y="1625600"/>
            <a:ext cx="3471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Diesel use</a:t>
            </a:r>
          </a:p>
        </p:txBody>
      </p:sp>
      <p:sp>
        <p:nvSpPr>
          <p:cNvPr id="17" name="Aligned panel subtitle">
            <a:extLst xmlns:a="http://schemas.openxmlformats.org/drawingml/2006/main">
              <a:ext uri="{FF2B5EF4-FFF2-40B4-BE49-F238E27FC236}">
                <a16:creationId xmlns:a16="http://schemas.microsoft.com/office/drawing/2014/main" id="{422D356C-8F8B-BE3B-7BA1-F10680E53CDD}"/>
              </a:ext>
            </a:extLst>
          </p:cNvPr>
          <p:cNvSpPr>
            <a:spLocks xmlns:a="http://schemas.openxmlformats.org/drawingml/2006/main" noGrp="1"/>
          </p:cNvSpPr>
          <p:nvPr/>
        </p:nvSpPr>
        <p:spPr>
          <a:xfrm xmlns:a="http://schemas.openxmlformats.org/drawingml/2006/main">
            <a:off x="4208318" y="1625600"/>
            <a:ext cx="30918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Fleet availability</a:t>
            </a:r>
          </a:p>
        </p:txBody>
      </p:sp>
      <p:sp>
        <p:nvSpPr>
          <p:cNvPr id="18" name="Aligned panel subtitle">
            <a:extLst xmlns:a="http://schemas.openxmlformats.org/drawingml/2006/main">
              <a:ext uri="{FF2B5EF4-FFF2-40B4-BE49-F238E27FC236}">
                <a16:creationId xmlns:a16="http://schemas.microsoft.com/office/drawing/2014/main" id="{9696205B-021F-AFFC-619E-3E3C643F6B2D}"/>
              </a:ext>
            </a:extLst>
          </p:cNvPr>
          <p:cNvSpPr>
            <a:spLocks xmlns:a="http://schemas.openxmlformats.org/drawingml/2006/main" noGrp="1"/>
          </p:cNvSpPr>
          <p:nvPr/>
        </p:nvSpPr>
        <p:spPr>
          <a:xfrm xmlns:a="http://schemas.openxmlformats.org/drawingml/2006/main">
            <a:off x="7579591" y="1625600"/>
            <a:ext cx="3530369"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Peaking generation</a:t>
            </a:r>
          </a:p>
        </p:txBody>
      </p:sp>
      <p:sp>
        <p:nvSpPr>
          <p:cNvPr id="13" name="Content margin panel rule">
            <a:extLst xmlns:a="http://schemas.openxmlformats.org/drawingml/2006/main">
              <a:ext uri="{FF2B5EF4-FFF2-40B4-BE49-F238E27FC236}">
                <a16:creationId xmlns:a16="http://schemas.microsoft.com/office/drawing/2014/main" id="{357AFD1F-DF72-441B-A7D5-83C02BC5D202}"/>
              </a:ext>
            </a:extLst>
          </p:cNvPr>
          <p:cNvSpPr>
            <a:spLocks xmlns:a="http://schemas.openxmlformats.org/drawingml/2006/main" noGrp="1"/>
          </p:cNvSpPr>
          <p:nvPr/>
        </p:nvSpPr>
        <p:spPr>
          <a:xfrm xmlns:a="http://schemas.openxmlformats.org/drawingml/2006/main">
            <a:off x="4208318" y="1907308"/>
            <a:ext cx="31172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Content margin panel rule">
            <a:extLst xmlns:a="http://schemas.openxmlformats.org/drawingml/2006/main">
              <a:ext uri="{FF2B5EF4-FFF2-40B4-BE49-F238E27FC236}">
                <a16:creationId xmlns:a16="http://schemas.microsoft.com/office/drawing/2014/main" id="{6146D809-2D0D-48BF-8553-8D930C225FA8}"/>
              </a:ext>
            </a:extLst>
          </p:cNvPr>
          <p:cNvSpPr>
            <a:spLocks xmlns:a="http://schemas.openxmlformats.org/drawingml/2006/main" noGrp="1"/>
          </p:cNvSpPr>
          <p:nvPr/>
        </p:nvSpPr>
        <p:spPr>
          <a:xfrm xmlns:a="http://schemas.openxmlformats.org/drawingml/2006/main">
            <a:off x="7579591" y="1907308"/>
            <a:ext cx="3530369"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1DD368BD-DEA8-4D35-96BE-6C4C66DE22DD}"/>
              </a:ext>
            </a:extLst>
          </p:cNvPr>
          <p:cNvSpPr>
            <a:spLocks xmlns:a="http://schemas.openxmlformats.org/drawingml/2006/main" noGrp="1"/>
          </p:cNvSpPr>
          <p:nvPr/>
        </p:nvSpPr>
        <p:spPr>
          <a:xfrm xmlns:a="http://schemas.openxmlformats.org/drawingml/2006/main">
            <a:off x="457200" y="1907308"/>
            <a:ext cx="3497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5832777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4020F9-64DE-43C9-BD6F-9E0E1CFC603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could expand the supply footprint, while Natref unavailability would reduce it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DD1AEE1-18E3-4337-8F78-950A54E83FF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2A7FBDCA-7921-4452-9EAF-45DAEA0888F2}"/>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a:extLst xmlns:a="http://schemas.openxmlformats.org/drawingml/2006/main">
              <a:ext uri="{FF2B5EF4-FFF2-40B4-BE49-F238E27FC236}">
                <a16:creationId xmlns:a16="http://schemas.microsoft.com/office/drawing/2014/main" id="{FBA1E938-C0FF-4EF5-B072-4257F8E7306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3A2CBD4-DADE-06FC-DAA1-79FEEC12F6BB}"/>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F4773F92-650A-67FF-991A-9CC907CF308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95466396-4F3E-F5C6-FE51-8442919301C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3E40C6C5-566E-BD31-51EF-6813560C32C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9CC2AEFF-6D66-1976-385C-0512507A5D4D}"/>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SAPREF’s import-terminal phase can compete before any refinery restart. Natref availability and Secunda output also matter; these capacity cases are not product forecasts.</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10150942b2254d8c"/>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063231E6-9BEF-65A8-610E-23EDEA876B26}"/>
              </a:ext>
            </a:extLst>
          </p:cNvPr>
          <p:cNvSpPr>
            <a:spLocks xmlns:a="http://schemas.openxmlformats.org/drawingml/2006/main" noGrp="1"/>
          </p:cNvSpPr>
          <p:nvPr/>
        </p:nvSpPr>
        <p:spPr>
          <a:xfrm xmlns:a="http://schemas.openxmlformats.org/drawingml/2006/main">
            <a:off x="457200" y="1625600"/>
            <a:ext cx="38411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Reported history</a:t>
            </a:r>
          </a:p>
        </p:txBody>
      </p:sp>
      <p:sp>
        <p:nvSpPr>
          <p:cNvPr id="16" name="Aligned panel subtitle">
            <a:extLst xmlns:a="http://schemas.openxmlformats.org/drawingml/2006/main">
              <a:ext uri="{FF2B5EF4-FFF2-40B4-BE49-F238E27FC236}">
                <a16:creationId xmlns:a16="http://schemas.microsoft.com/office/drawing/2014/main" id="{FAEA5F44-DACF-B58C-7B4A-AD9753A18B4D}"/>
              </a:ext>
            </a:extLst>
          </p:cNvPr>
          <p:cNvSpPr>
            <a:spLocks xmlns:a="http://schemas.openxmlformats.org/drawingml/2006/main" noGrp="1"/>
          </p:cNvSpPr>
          <p:nvPr/>
        </p:nvSpPr>
        <p:spPr>
          <a:xfrm xmlns:a="http://schemas.openxmlformats.org/drawingml/2006/main">
            <a:off x="4577773" y="1625600"/>
            <a:ext cx="6532187"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Illustrative 2036 capacity cases</a:t>
            </a:r>
          </a:p>
        </p:txBody>
      </p:sp>
      <p:sp>
        <p:nvSpPr>
          <p:cNvPr id="13" name="Content margin panel rule">
            <a:extLst xmlns:a="http://schemas.openxmlformats.org/drawingml/2006/main">
              <a:ext uri="{FF2B5EF4-FFF2-40B4-BE49-F238E27FC236}">
                <a16:creationId xmlns:a16="http://schemas.microsoft.com/office/drawing/2014/main" id="{B0416782-AD09-4E90-9F07-5072B873771A}"/>
              </a:ext>
            </a:extLst>
          </p:cNvPr>
          <p:cNvSpPr>
            <a:spLocks xmlns:a="http://schemas.openxmlformats.org/drawingml/2006/main" noGrp="1"/>
          </p:cNvSpPr>
          <p:nvPr/>
        </p:nvSpPr>
        <p:spPr>
          <a:xfrm xmlns:a="http://schemas.openxmlformats.org/drawingml/2006/main">
            <a:off x="4577773" y="1907308"/>
            <a:ext cx="6532187"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56523987-A6B3-4635-9E06-6A9A22F28E59}"/>
              </a:ext>
            </a:extLst>
          </p:cNvPr>
          <p:cNvSpPr>
            <a:spLocks xmlns:a="http://schemas.openxmlformats.org/drawingml/2006/main" noGrp="1"/>
          </p:cNvSpPr>
          <p:nvPr/>
        </p:nvSpPr>
        <p:spPr>
          <a:xfrm xmlns:a="http://schemas.openxmlformats.org/drawingml/2006/main">
            <a:off x="457200" y="1907308"/>
            <a:ext cx="38665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7675545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A25867-A152-4AF0-9910-596947DD352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Emerging gateways could redirect inland growth; delivered cost and reliable access determine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61F3FAF-62E5-471E-B4FE-4C411C79043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CCED4392-D526-4568-B262-BADE54F53E5F}"/>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Competing route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choice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implication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FY2025 MPP 105 / 148ML per week. Match tariffs, injection rights and reliable inland dispatch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access and handling improvements that protect competitive customer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Maputo / Matola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Delivered cost, border time and capacity into each inland destination.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Include as an emerging alternative; test customer exposure and corridor responses.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Walvis Bay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Distance, transit, border costs and feasible destination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Consider emerging inland opportunities; compare reach customer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sources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Secunda / Natref availability, product output and distribution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inland handling and connections as well as import infrastructure.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03FCB94-D0FF-4600-86A1-20BAD7C32BD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7389709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South Africa’s fuel outlook and Vopak’s investment case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Partner SCR: Henry storyboard, 6 Oct. Evidence: pp6–15 and 20–34; capture assumptions: p35; investment sensitivities: pp39–43. Years and scopes differ; capture is illustrative.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graphicFrame>
        <p:nvGraphicFramePr>
          <p:cNvPr id="59"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An established import market</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The outlook is changing</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Capture before expansion</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Demand remains substantial: 21.94bn litres of petrol and diesel sold in 2023. Petrol declined over 2013–2023 while diesel grew slowly.</a:t>
                      </a:r>
                    </a:p>
                    <a:p>
                      <a:r>
                        <a:rPr sz="1350" b="0">
                          <a:solidFill>
                            <a:srgbClr val="11151A"/>
                          </a:solidFill>
                          <a:latin typeface="Lato"/>
                          <a:ea typeface="Lato"/>
                          <a:cs typeface="Lato"/>
                        </a:rPr>
                        <a:t/>
                      </a:r>
                    </a:p>
                    <a:p>
                      <a:r>
                        <a:rPr sz="1350" b="0">
                          <a:solidFill>
                            <a:srgbClr val="11151A"/>
                          </a:solidFill>
                          <a:latin typeface="Lato"/>
                          <a:ea typeface="Lato"/>
                          <a:cs typeface="Lato"/>
                        </a:rPr>
                        <a:t>Refinery closures increased import dependence. In 2025, gross imports reached 16.70bn litres; Durban customs accounted for 13.16bn litres.</a:t>
                      </a:r>
                    </a:p>
                    <a:p>
                      <a:r>
                        <a:rPr sz="1350" b="0">
                          <a:solidFill>
                            <a:srgbClr val="11151A"/>
                          </a:solidFill>
                          <a:latin typeface="Lato"/>
                          <a:ea typeface="Lato"/>
                          <a:cs typeface="Lato"/>
                        </a:rPr>
                        <a:t/>
                      </a:r>
                    </a:p>
                    <a:p>
                      <a:r>
                        <a:rPr sz="1350" b="0">
                          <a:solidFill>
                            <a:srgbClr val="11151A"/>
                          </a:solidFill>
                          <a:latin typeface="Lato"/>
                          <a:ea typeface="Lato"/>
                          <a:cs typeface="Lato"/>
                        </a:rPr>
                        <a:t>Durban–NMPP–Lesedi connects imports to inland customers. Gauteng’s 6.81bn-litre demand provides context (2022); delivered cost and access define Vopak’s reachable market.</a:t>
                      </a:r>
                    </a:p>
                  </a:txBody>
                  <a:tcPr marL="91440" marR="91440" marT="45720" marB="45720" anchor="t">
                    <a:solidFill>
                      <a:srgbClr val="FFFFFF"/>
                    </a:solidFill>
                  </a:tcPr>
                </a:tc>
                <a:tc>
                  <a:txBody>
                    <a:bodyPr/>
                    <a:lstStyle/>
                    <a:p>
                      <a:r>
                        <a:rPr sz="1350" b="0">
                          <a:solidFill>
                            <a:srgbClr val="11151A"/>
                          </a:solidFill>
                          <a:latin typeface="Lato"/>
                          <a:ea typeface="Lato"/>
                          <a:cs typeface="Lato"/>
                        </a:rPr>
                        <a:t>Demand drivers can reverse. Eskom’s own OCGT fuel use fell 40% in FY2025. Rail recovery, EVs/HEVs and efficiency affect fuel demand; GDP and fuel prices affect activity and travel.</a:t>
                      </a:r>
                    </a:p>
                    <a:p>
                      <a:r>
                        <a:rPr sz="1350" b="0">
                          <a:solidFill>
                            <a:srgbClr val="11151A"/>
                          </a:solidFill>
                          <a:latin typeface="Lato"/>
                          <a:ea typeface="Lato"/>
                          <a:cs typeface="Lato"/>
                        </a:rPr>
                        <a:t/>
                      </a:r>
                    </a:p>
                    <a:p>
                      <a:r>
                        <a:rPr sz="1350" b="0">
                          <a:solidFill>
                            <a:srgbClr val="11151A"/>
                          </a:solidFill>
                          <a:latin typeface="Lato"/>
                          <a:ea typeface="Lato"/>
                          <a:cs typeface="Lato"/>
                        </a:rPr>
                        <a:t>Domestic supply can change. SAPREF, Secunda’s gas/MRG choices and Natref require dated output scenarios; refinery capacity alone cannot determine imports.</a:t>
                      </a:r>
                    </a:p>
                    <a:p>
                      <a:r>
                        <a:rPr sz="1350" b="0">
                          <a:solidFill>
                            <a:srgbClr val="11151A"/>
                          </a:solidFill>
                          <a:latin typeface="Lato"/>
                          <a:ea typeface="Lato"/>
                          <a:cs typeface="Lato"/>
                        </a:rPr>
                        <a:t/>
                      </a:r>
                    </a:p>
                    <a:p>
                      <a:r>
                        <a:rPr sz="1350" b="0">
                          <a:solidFill>
                            <a:srgbClr val="11151A"/>
                          </a:solidFill>
                          <a:latin typeface="Lato"/>
                          <a:ea typeface="Lato"/>
                          <a:cs typeface="Lato"/>
                        </a:rPr>
                        <a:t>Vopak’s route must compete with road/rail from Durban and supply via Matola or Walvis Bay on delivered cost, access and reliability.</a:t>
                      </a:r>
                    </a:p>
                  </a:txBody>
                  <a:tcPr marL="91440" marR="91440" marT="45720" marB="45720" anchor="t">
                    <a:solidFill>
                      <a:srgbClr val="FFFFFF"/>
                    </a:solidFill>
                  </a:tcPr>
                </a:tc>
                <a:tc>
                  <a:txBody>
                    <a:bodyPr/>
                    <a:lstStyle/>
                    <a:p>
                      <a:r>
                        <a:rPr sz="1350" b="0">
                          <a:solidFill>
                            <a:srgbClr val="11151A"/>
                          </a:solidFill>
                          <a:latin typeface="Lato"/>
                          <a:ea typeface="Lato"/>
                          <a:cs typeface="Lato"/>
                        </a:rPr>
                        <a:t>Establish Vopak’s current share and additional capture by product, customer and destination. Reconcile shared Durban–Lesedi transfers to count unique demand once.</a:t>
                      </a:r>
                    </a:p>
                    <a:p>
                      <a:r>
                        <a:rPr sz="1350" b="0">
                          <a:solidFill>
                            <a:srgbClr val="11151A"/>
                          </a:solidFill>
                          <a:latin typeface="Lato"/>
                          <a:ea typeface="Lato"/>
                          <a:cs typeface="Lato"/>
                        </a:rPr>
                        <a:t/>
                      </a:r>
                    </a:p>
                    <a:p>
                      <a:r>
                        <a:rPr sz="1350" b="0">
                          <a:solidFill>
                            <a:srgbClr val="11151A"/>
                          </a:solidFill>
                          <a:latin typeface="Lato"/>
                          <a:ea typeface="Lato"/>
                          <a:cs typeface="Lato"/>
                        </a:rPr>
                        <a:t>The new illustrative base gives Durban 2.63bn litres, including 1.32bn through Lesedi. It assumes 20% import capture and 50% onward routing; actual share remains open.</a:t>
                      </a:r>
                    </a:p>
                    <a:p>
                      <a:r>
                        <a:rPr sz="1350" b="0">
                          <a:solidFill>
                            <a:srgbClr val="11151A"/>
                          </a:solidFill>
                          <a:latin typeface="Lato"/>
                          <a:ea typeface="Lato"/>
                          <a:cs typeface="Lato"/>
                        </a:rPr>
                        <a:t/>
                      </a:r>
                    </a:p>
                    <a:p>
                      <a:r>
                        <a:rPr sz="1350" b="0">
                          <a:solidFill>
                            <a:srgbClr val="11151A"/>
                          </a:solidFill>
                          <a:latin typeface="Lato"/>
                          <a:ea typeface="Lato"/>
                          <a:cs typeface="Lato"/>
                        </a:rPr>
                        <a:t>Test working tanks, turns and dispatch first. New investment depends on secured incremental flows, a capacity shortfall and returns that withstand downside cases.</a:t>
                      </a:r>
                    </a:p>
                  </a:txBody>
                  <a:tcPr marL="91440" marR="91440" marT="45720" marB="45720" anchor="t">
                    <a:solidFill>
                      <a:srgbClr val="FFFFFF"/>
                    </a:solidFill>
                  </a:tcPr>
                </a:tc>
              </a:tr>
            </a:tbl>
          </a:graphicData>
        </a:graphic>
      </p:graphicFrame>
      <p:sp>
        <p:nvSpPr>
          <p:cNvPr id="50" name="SCR progress">
            <a:extLst xmlns:a="http://schemas.openxmlformats.org/drawingml/2006/main">
              <a:ext uri="{FF2B5EF4-FFF2-40B4-BE49-F238E27FC236}">
                <a16:creationId xmlns:a16="http://schemas.microsoft.com/office/drawing/2014/main" id="{1784CF31-F6F2-48AC-AB61-B6137D096370}"/>
              </a:ext>
            </a:extLst>
          </p:cNvPr>
          <p:cNvSpPr>
            <a:spLocks xmlns:a="http://schemas.openxmlformats.org/drawingml/2006/main" noGrp="1"/>
          </p:cNvSpPr>
          <p:nvPr/>
        </p:nvSpPr>
        <p:spPr>
          <a:xfrm xmlns:a="http://schemas.openxmlformats.org/drawingml/2006/main">
            <a:off x="457200" y="5562600"/>
            <a:ext cx="10648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0A2373"/>
                </a:solidFill>
                <a:latin typeface="Lato"/>
                <a:ea typeface="Lato"/>
                <a:cs typeface="Lato"/>
              </a:defRPr>
            </a:pPr>
            <a:r>
              <a:rPr sz="1275">
                <a:solidFill>
                  <a:srgbClr val="0A2373"/>
                </a:solidFill>
                <a:latin typeface="Lato"/>
                <a:ea typeface="Lato"/>
                <a:cs typeface="Lato"/>
              </a:rPr>
              <a:t>Progress: demand, port imports and operating evidence are assembled; capture cases and investment sensitivities are quantified. Next: validate customer flows, route economics and usable capacity.</a:t>
            </a:r>
          </a:p>
        </p:txBody>
      </p:sp>
    </p:spTree>
    <p:extLst>
      <p:ext uri="{BB962C8B-B14F-4D97-AF65-F5344CB8AC3E}">
        <p14:creationId xmlns:p14="http://schemas.microsoft.com/office/powerpoint/2010/main" val="201926275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AB70F7-EA84-41CE-8779-4E94F733F7D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Choose the investment that removes the proven constraint—and earns a return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A9F673-7E36-486B-888F-F173A676DAF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B38C5981-D465-4814-BAFC-66EFA73B962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Investment option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When it becomes relevant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Decision / commitment trigger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Existing assets /
debottlenecking</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Customer growth can be served through better tank turns, scheduling or receipt/dispatch.</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available working capacity; invest in the specific bottleneck where incremental value is positive.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 rail
access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Competitive customer flows are constrained by transport capacity, cost or reliability.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Secure service and volume commitments. Compare access contracts, loading assets and partnership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Additional
tank capacity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Profitable captured flows exceed achievable handling and storage remains the binding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Size and stage tanks against contracted demand; pass the four tests and downside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EV-related
adjacencies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Identified charging / fleet-energy customers offer a viable opportunity as transport electrifies.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Screen partnerships or dedicated assets separately: demand, power access, strategic fit and return must be proven.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72614B6-00E7-4ECB-95F7-491F5148017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Resolution</a:t>
            </a:r>
          </a:p>
        </p:txBody>
      </p:sp>
      <p:pic>
        <p:nvPicPr>
          <p:cNvPr id="63" name="Argument icon turnover"/>
          <p:cNvPicPr>
            <a:picLocks xmlns:a="http://schemas.openxmlformats.org/drawingml/2006/main" noChangeAspect="1"/>
          </p:cNvPicPr>
          <p:nvPr/>
        </p:nvPicPr>
        <p:blipFill>
          <a:blip xmlns:r="http://schemas.openxmlformats.org/officeDocument/2006/relationships" xmlns:a="http://schemas.openxmlformats.org/drawingml/2006/main" r:embed="Rf9b278cbcf7d40b0"/>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bb0bdd36fd3744e8"/>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headroom"/>
          <p:cNvPicPr>
            <a:picLocks xmlns:a="http://schemas.openxmlformats.org/drawingml/2006/main" noChangeAspect="1"/>
          </p:cNvPicPr>
          <p:nvPr/>
        </p:nvPicPr>
        <p:blipFill>
          <a:blip xmlns:r="http://schemas.openxmlformats.org/officeDocument/2006/relationships" xmlns:a="http://schemas.openxmlformats.org/drawingml/2006/main" r:embed="R49d8a3663cd948cf"/>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fedaef4030d2468f"/>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63132089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8A7A13-C275-4575-AE2B-934674DE7786}"/>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Resolve customer volume, working capacity and project economics first to determine the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3E144A1-5920-4F1F-9A2F-F2AA3F363D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CF4D009C-8B12-404C-9C45-D356B246EAC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Public handback DR01/04/07/08 received and updated through 9 October. Client DR02/05/03/06 prepared; sending and receipt not recorded. Review workbook covers all nine requests, including separate DR09 EV adjacency.</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400050">
                <a:tc>
                  <a:txBody>
                    <a:bodyPr/>
                    <a:lstStyle/>
                    <a:p>
                      <a:pPr>
                        <a:spcAft>
                          <a:spcPts val="0"/>
                        </a:spcAft>
                        <a:buNone/>
                      </a:pPr>
                      <a:r>
                        <a:rPr sz="1200" b="1" u="none">
                          <a:solidFill>
                            <a:schemeClr val="dk1"/>
                          </a:solidFill>
                          <a:latin typeface="Lato"/>
                          <a:ea typeface="Lato"/>
                          <a:cs typeface="Lato"/>
                        </a:rPr>
                        <a:t>Outstanding request / coordinator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Required data / handback</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Decision supported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DR01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sales, customs and energy balance to 2021. Open: stocks, product output after 2021 and comparable 2024–25 sales.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Reconciled current market scale.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DR04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entry, tariff and FY2025 MPP evidence. Open: customer access, route quotes and modal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Accessible Durban and Lesedi markets.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DR07/08 | Manish; Nigel/Henry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power, fleet, refinery and EV/efficiency review. Open: joint baseline and hybrid/rail rules.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Demand and domestic-output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DR02/05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36 months of site/product movements, shared transfers, destinations, customer commitments and contracts.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Actual market share and achievable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DR03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Working/committed tankage, turns, occupancy, downtime and receipt/dispatch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Operating headroom and bottlenecks.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DR06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Storage/handling terms, costs, capex, timing, tax, working capital and hurdle 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Incremental returns and investment scope.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73D8B24-C4C6-46FE-A9C3-B70C70F94B76}"/>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Tree>
    <p:extLst>
      <p:ext uri="{BB962C8B-B14F-4D97-AF65-F5344CB8AC3E}">
        <p14:creationId xmlns:p14="http://schemas.microsoft.com/office/powerpoint/2010/main" val="333178180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39D6BC-9A58-46C9-81C2-2895E5D1C1E4}"/>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7a8827966a3d4e8c"/>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31bc72fe3cd14012"/>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11CCE102-5E72-4ADA-A662-058DB7D9B820}"/>
              </a:ext>
            </a:extLst>
          </p:cNvPr>
          <p:cNvSpPr>
            <a:spLocks xmlns:a="http://schemas.openxmlformats.org/drawingml/2006/main" noGrp="1"/>
          </p:cNvSpPr>
          <p:nvPr/>
        </p:nvSpPr>
        <p:spPr>
          <a:xfrm xmlns:a="http://schemas.openxmlformats.org/drawingml/2006/main">
            <a:off x="594360" y="2468880"/>
            <a:ext cx="4709160" cy="47705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Appendix</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3870E250-7F10-4F6F-AA37-E1E95E308EE2}"/>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8CD92FC-E601-4D87-85EA-5D969A169D0D}"/>
              </a:ext>
            </a:extLst>
          </p:cNvPr>
          <p:cNvSpPr>
            <a:spLocks xmlns:a="http://schemas.openxmlformats.org/drawingml/2006/main" noGrp="1"/>
          </p:cNvSpPr>
          <p:nvPr/>
        </p:nvSpPr>
        <p:spPr>
          <a:xfrm xmlns:a="http://schemas.openxmlformats.org/drawingml/2006/main">
            <a:off x="594360" y="4617720"/>
            <a:ext cx="4572000" cy="26161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Supporting evidence and calibration</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8064CCA5-B6D0-47B2-81A2-7276544851CC}"/>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479C54E4-8D1C-48B7-BC1D-500B9C3E2D2C}"/>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9357DF05-46F3-4275-9A6C-5F6E4748BDE4}"/>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Detailed evidence, assumptions and remaining calibration requirements</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D4E55EE2-7F7C-4486-8391-FAEFE3FFC3FC}"/>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9F5A648E-331C-441B-986D-01157676656C}"/>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
        <p:nvSpPr>
          <p:cNvPr id="13" name="Appendix page number">
            <a:extLst xmlns:a="http://schemas.openxmlformats.org/drawingml/2006/main">
              <a:ext uri="{FF2B5EF4-FFF2-40B4-BE49-F238E27FC236}">
                <a16:creationId xmlns:a16="http://schemas.microsoft.com/office/drawing/2014/main" id="{0522BF82-0323-6187-CAC1-CB8F852202A2}"/>
              </a:ext>
            </a:extLst>
          </p:cNvPr>
          <p:cNvSpPr>
            <a:spLocks xmlns:a="http://schemas.openxmlformats.org/drawingml/2006/main" noGrp="1"/>
          </p:cNvSpPr>
          <p:nvPr/>
        </p:nvSpPr>
        <p:spPr>
          <a:xfrm xmlns:a="http://schemas.openxmlformats.org/drawingml/2006/main">
            <a:off x="10972800" y="6515100"/>
            <a:ext cx="355600" cy="2616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100">
                <a:latin typeface="Lato"/>
                <a:ea typeface="Lato"/>
                <a:cs typeface="Lato"/>
              </a:rPr>
              <a:t>19</a:t>
            </a:r>
          </a:p>
        </p:txBody>
      </p:sp>
    </p:spTree>
    <p:extLst>
      <p:ext uri="{BB962C8B-B14F-4D97-AF65-F5344CB8AC3E}">
        <p14:creationId xmlns:p14="http://schemas.microsoft.com/office/powerpoint/2010/main" val="121299002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3713D9-CCEB-4366-A32B-E0FE2E5D9CF4}"/>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The supporting evidence calibrates demand, supply and the terminal investment tests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493639C-19D5-4E45-AB5C-411EE4DE3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20</a:t>
            </a:r>
            <a:endParaRPr sz="1100"/>
          </a:p>
        </p:txBody>
      </p:sp>
      <p:sp>
        <p:nvSpPr>
          <p:cNvPr id="8" name="Unified source footer">
            <a:extLst xmlns:a="http://schemas.openxmlformats.org/drawingml/2006/main">
              <a:ext uri="{FF2B5EF4-FFF2-40B4-BE49-F238E27FC236}">
                <a16:creationId xmlns:a16="http://schemas.microsoft.com/office/drawing/2014/main" id="{19C69D44-84B2-492F-B8E5-0658047C972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The main story runs from the opening thesis to the investment tests. The added lever register and power/supply calibration pages record what remains to be populated.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 group</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Detail retained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Connection to the story</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Workbook sector history, vehicle stock/sales, diesel-use estimates, freight and power fleet.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Observed history and labelled estimates inform D1-D5; annual L/M/H paths still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Plant output, gas availability and restart timing</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S1–S4 create the three domestic-supply paths.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and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Routes, customer share, working tankage and turnover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T1–T5 translate each world into terminal flows and constraints.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Returns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Rates, costs, capex and funding; separate EV adjacency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F1 translates each investment option into cash flow and returns.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6B7584DD-7BCD-4C07-8789-00DA68B72B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E13EAF1-FC5F-41FB-E93B-57A2DCD84E77}"/>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A9838A-D738-73AB-9AE8-857836BA0A6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767E082-E6F9-7C23-8801-D08A12B7232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17FEB5C-B9C9-53B2-9C7A-EBB9627DF92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85548518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E8B0A2-A286-4D34-8BFF-7A5EF76F6DBA}"/>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Fuel demand has diverged from GDP, so sector activity and fuel intensity need separate treatment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CE3A5BC-4D8E-4ECC-9BCF-4128CC815B4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3DC9376E-4BC8-4D50-B3C4-F93F79644BD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Staged GDP and department fuel sales, indices 2013=100. Sector attribution remains open; COVID distorts short-period comparisons.</a:t>
            </a:r>
            <a:endParaRPr sz="650"/>
          </a:p>
        </p:txBody>
      </p:sp>
      <p:sp>
        <p:nvSpPr>
          <p:cNvPr id="48" name="Strictly Confidential footer">
            <a:extLst xmlns:a="http://schemas.openxmlformats.org/drawingml/2006/main">
              <a:ext uri="{FF2B5EF4-FFF2-40B4-BE49-F238E27FC236}">
                <a16:creationId xmlns:a16="http://schemas.microsoft.com/office/drawing/2014/main" id="{34492F48-BEFC-4C07-97A4-B78E5FB0EFE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CE59F08-688D-53B8-0BB2-10390494FFA0}"/>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4DBE05E5-74B7-21B3-F7F8-AFF0B7D37FA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694899F-BE8C-94B4-521C-E74C27A91FE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07E618B-E5BB-2639-7CFB-D4A90851A5E0}"/>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206ab6e9adc6402e"/>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CBB5D0FF-C724-A09C-3DDB-AA52E776886C}"/>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workbook separates mining/manufacturing indices and agricultural GVA from fuel intensity. Post-2021 sector litres are estimates; GDP alone cannot explain fuel demand.</a:t>
            </a:r>
            <a:endParaRPr sz="1050">
              <a:solidFill>
                <a:schemeClr val="dk1"/>
              </a:solidFill>
              <a:latin typeface="Lato"/>
              <a:ea typeface="Lato"/>
              <a:cs typeface="Lato"/>
            </a:endParaRPr>
          </a:p>
        </p:txBody>
      </p:sp>
    </p:spTree>
    <p:extLst>
      <p:ext uri="{BB962C8B-B14F-4D97-AF65-F5344CB8AC3E}">
        <p14:creationId xmlns:p14="http://schemas.microsoft.com/office/powerpoint/2010/main" val="137031875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BA7A89-2B33-4327-85DF-4A2CC8DD396E}"/>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Fixed investment has weakened while FDI fluctuates, limiting a simple growth-led fuel argument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3E51BAAD-99D0-4D27-B4EC-053D5BD15E2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D296D4A1-EDD0-4438-880F-E2EFCD3BA822}"/>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World Bank WDI, FDI net inflows and gross fixed capital formation as % of GDP, 2010–2025. Confidence series remains an evidence gap.</a:t>
            </a:r>
            <a:endParaRPr sz="750"/>
          </a:p>
        </p:txBody>
      </p:sp>
      <p:sp>
        <p:nvSpPr>
          <p:cNvPr id="48" name="Strictly Confidential footer">
            <a:extLst xmlns:a="http://schemas.openxmlformats.org/drawingml/2006/main">
              <a:ext uri="{FF2B5EF4-FFF2-40B4-BE49-F238E27FC236}">
                <a16:creationId xmlns:a16="http://schemas.microsoft.com/office/drawing/2014/main" id="{08DA5E0E-477B-4ACC-A8C8-9FFC44650BD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ED5F67D8-2381-9F85-2B50-C1B65A1FC52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3771E43-775A-1251-8B2B-6160BEEA177D}"/>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4F82267-D969-3DB1-7EEC-7CD34265A96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4AC079CE-1C94-6427-5D63-FC870D2F4A7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0a7611b0fdba480c"/>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2D238C5F-E9FA-F924-D01B-7726C7D59700}"/>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Fixed investment helps frame productive capacity. FDI can include large transactions; neither series is a direct investor-confidence measure or an additional fuel-demand multiplier.</a:t>
            </a:r>
            <a:endParaRPr sz="1200">
              <a:solidFill>
                <a:schemeClr val="dk1"/>
              </a:solidFill>
              <a:latin typeface="Lato"/>
              <a:ea typeface="Lato"/>
              <a:cs typeface="Lato"/>
            </a:endParaRPr>
          </a:p>
        </p:txBody>
      </p:sp>
    </p:spTree>
    <p:extLst>
      <p:ext uri="{BB962C8B-B14F-4D97-AF65-F5344CB8AC3E}">
        <p14:creationId xmlns:p14="http://schemas.microsoft.com/office/powerpoint/2010/main" val="27509102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12F4BA-A417-42FC-A7A9-7E87C665760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Mining, agriculture and aviation expose fuel demand to different activity drivers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8F75B90-1BC9-46FC-8BF7-6E62FE188F7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23</a:t>
            </a:r>
            <a:endParaRPr sz="1100"/>
          </a:p>
        </p:txBody>
      </p:sp>
      <p:sp>
        <p:nvSpPr>
          <p:cNvPr id="8" name="Unified source footer">
            <a:extLst xmlns:a="http://schemas.openxmlformats.org/drawingml/2006/main">
              <a:ext uri="{FF2B5EF4-FFF2-40B4-BE49-F238E27FC236}">
                <a16:creationId xmlns:a16="http://schemas.microsoft.com/office/drawing/2014/main" id="{C942CBF2-3C80-44B8-BF98-B0BCCAD3A6E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Sector history R7/R9/R17/R19/S23/S25 and History R117/R124/R125. Sector litres after 2021 are estimates; jet 2024 uses unverified FIASA. Index base 2019=100; GVA in 2015 prices.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Mining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 1.406bn L. Post-2021 fuel volumes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activity and intensity separately; balance intensity varies materially.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Manufacturing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industry-residual diesel estimate: 0.165bn L. Sector boundary needs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Industry less mining/construction. This is not a complete industrial diesel census.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Agriculture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real GVA R134.8bn (2015 prices); indicative diesel 1.13bn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Fuel estimate holds 2018-2021 intensity; crop and irrigation exposure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Aviation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2024 jet sales 1.96bn L; 456,214 ACSA movements; 4,285 L/movement.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FIASA sales unverified; movements omit non-ACSA airports. Fuel mix and routes are not separated.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B509058-07D7-4873-99C3-4CE1EDF4A63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EAB406C-8A26-9685-C8EF-41479C4B736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F79B7CC-7B34-A87C-3A8A-AB08219123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7B560B87-272F-A5DF-713D-F8CB88A64F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EAAEF26-61C9-96DA-98B5-4F89644773D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60078980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C1A94-EC5B-4D42-948E-2731836F100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Higher fuel prices strengthen EV running-cost incentives, but ownership economics determine uptake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0719496-603D-444A-84CD-8D0401968BA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24</a:t>
            </a:r>
            <a:endParaRPr sz="1100"/>
          </a:p>
        </p:txBody>
      </p:sp>
      <p:sp>
        <p:nvSpPr>
          <p:cNvPr id="8" name="Unified source footer">
            <a:extLst xmlns:a="http://schemas.openxmlformats.org/drawingml/2006/main">
              <a:ext uri="{FF2B5EF4-FFF2-40B4-BE49-F238E27FC236}">
                <a16:creationId xmlns:a16="http://schemas.microsoft.com/office/drawing/2014/main" id="{03001EB3-8847-4D13-AF09-D8935AFD40F6}"/>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Department fuel-price history, nominal R/litre. No quantified geopolitical premium or calibrated EV adoption response is asserted.</a:t>
            </a:r>
            <a:endParaRPr sz="750"/>
          </a:p>
        </p:txBody>
      </p:sp>
      <p:sp>
        <p:nvSpPr>
          <p:cNvPr id="48" name="Strictly Confidential footer">
            <a:extLst xmlns:a="http://schemas.openxmlformats.org/drawingml/2006/main">
              <a:ext uri="{FF2B5EF4-FFF2-40B4-BE49-F238E27FC236}">
                <a16:creationId xmlns:a16="http://schemas.microsoft.com/office/drawing/2014/main" id="{FDE1D42B-8B51-4EC4-B69C-4C556D2FBB9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369661E-E492-EE8D-1250-5FA89D7D790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B16049C-D303-BE92-5B4B-6B5BDF377BA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A098090B-3095-34C7-4918-9BFA7099627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ACF2BFA-537D-ED35-0600-F4E0E1467B5C}"/>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433f0198eab94d7f"/>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7A02EA4D-EBA7-B1FD-2E26-F896DA08FFD5}"/>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Shipping disruption, crude prices and FX can move fuel costs temporarily. EV adoption depends on sustained total ownership cost, purchase affordability, charging access and fleet replacement.</a:t>
            </a:r>
            <a:endParaRPr sz="1200">
              <a:solidFill>
                <a:schemeClr val="dk1"/>
              </a:solidFill>
              <a:latin typeface="Lato"/>
              <a:ea typeface="Lato"/>
              <a:cs typeface="Lato"/>
            </a:endParaRPr>
          </a:p>
        </p:txBody>
      </p:sp>
    </p:spTree>
    <p:extLst>
      <p:ext uri="{BB962C8B-B14F-4D97-AF65-F5344CB8AC3E}">
        <p14:creationId xmlns:p14="http://schemas.microsoft.com/office/powerpoint/2010/main" val="80832283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3A905C-66EC-4A2A-80AF-539DF8DC82D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New-vehicle efficiency gains affect fuel demand gradually as older vehicles leave the fleet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B18E2DA-7226-4325-BDB3-172930229DB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25</a:t>
            </a:r>
            <a:endParaRPr sz="1100"/>
          </a:p>
        </p:txBody>
      </p:sp>
      <p:sp>
        <p:nvSpPr>
          <p:cNvPr id="8" name="Unified source footer">
            <a:extLst xmlns:a="http://schemas.openxmlformats.org/drawingml/2006/main">
              <a:ext uri="{FF2B5EF4-FFF2-40B4-BE49-F238E27FC236}">
                <a16:creationId xmlns:a16="http://schemas.microsoft.com/office/drawing/2014/main" id="{7F810AF1-CB99-4711-B709-517B9F73F97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S6:S8/S24/S26. Apparent retirements are not verified scrappage. Stone et al. study uses a 2014 base; no recent OEM efficiency history or fuel-by-class stock is established.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Fleet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cars 8.18m; LCVs 2.78m; trucks 0.405m.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Registered stock shows scale; fuel within class and opening cohort age remain unknown.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Replacement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apparent retirement: cars 2.36%, LCVs 3.42%. Model settings: 4% and 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Stock plus sales less next stock is a diagnostic, including deregistration, exports and classification effects.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Efficiency / EVs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Study mileage/fuel-use benchmarks and separate BEV, PHEV and hybrid sales are available.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Implemented EV/efficiency pair reviewed. New-cohort efficiency applies to combustion vehicles. Avoid counting hybrid savings twice.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5609673-E9C0-40F4-A535-9E89A0857358}"/>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555294B-868D-E689-1EA3-D920195AD4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A6604E9E-363C-866A-E1DA-2C633C00143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0EEFA624-C3D6-6E6C-5435-4DE101B1CF5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73CC640F-82D3-258E-C08E-8E6BF8A76CD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18968566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BB612-43C0-4282-B573-24FFA0733EC9}"/>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Vehicle stock and sales expose fuel-demand calibration gaps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C151B4F-89BB-4641-84F8-A2811DD10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26</a:t>
            </a:r>
            <a:endParaRPr sz="1100"/>
          </a:p>
        </p:txBody>
      </p:sp>
      <p:sp>
        <p:nvSpPr>
          <p:cNvPr id="8" name="Unified source footer">
            <a:extLst xmlns:a="http://schemas.openxmlformats.org/drawingml/2006/main">
              <a:ext uri="{FF2B5EF4-FFF2-40B4-BE49-F238E27FC236}">
                <a16:creationId xmlns:a16="http://schemas.microsoft.com/office/drawing/2014/main" id="{B68787E9-80B1-4505-8D3F-F6D980B0114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a:extLst xmlns:a="http://schemas.openxmlformats.org/drawingml/2006/main">
              <a:ext uri="{FF2B5EF4-FFF2-40B4-BE49-F238E27FC236}">
                <a16:creationId xmlns:a16="http://schemas.microsoft.com/office/drawing/2014/main" id="{6C6CB18C-004A-4839-9134-3A6CEBE0E41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58" name="Native evidence table"/>
          <p:cNvGraphicFramePr/>
          <p:nvPr/>
        </p:nvGraphicFramePr>
        <p:xfrm>
          <a:off xmlns:a="http://schemas.openxmlformats.org/drawingml/2006/main" x="457199" y="1651000"/>
          <a:ext xmlns:a="http://schemas.openxmlformats.org/drawingml/2006/main" cx="10652760" cy="4165600"/>
        </p:xfrm>
        <a:graphic xmlns:a="http://schemas.openxmlformats.org/drawingml/2006/main">
          <a:graphicData uri="http://schemas.openxmlformats.org/drawingml/2006/table">
            <a:tbl>
              <a:tblPr firstRow="1" bandRow="1">
                <a:tableStyleId>{5C22544A-7EE6-4342-B048-85BDC9FD1C3A}</a:tableStyleId>
              </a:tblPr>
              <a:tblGrid>
                <a:gridCol w="1841500"/>
                <a:gridCol w="2984500"/>
                <a:gridCol w="1778000"/>
                <a:gridCol w="4048760"/>
              </a:tblGrid>
              <a:tr h="355600">
                <a:tc>
                  <a:txBody>
                    <a:bodyPr/>
                    <a:lstStyle/>
                    <a:p>
                      <a:pPr>
                        <a:spcAft>
                          <a:spcPts val="0"/>
                        </a:spcAft>
                        <a:buNone/>
                      </a:pPr>
                      <a:r>
                        <a:rPr sz="1200" b="1">
                          <a:solidFill>
                            <a:schemeClr val="dk1"/>
                          </a:solidFill>
                          <a:latin typeface="Lato"/>
                          <a:ea typeface="Lato"/>
                          <a:cs typeface="Lato"/>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762000">
                <a:tc>
                  <a:txBody>
                    <a:bodyPr/>
                    <a:lstStyle/>
                    <a:p>
                      <a:pPr>
                        <a:spcAft>
                          <a:spcPts val="0"/>
                        </a:spcAft>
                        <a:buNone/>
                      </a:pPr>
                      <a:r>
                        <a:rPr sz="1200" b="1">
                          <a:solidFill>
                            <a:schemeClr val="accent1"/>
                          </a:solidFill>
                          <a:latin typeface="Lato"/>
                          <a:ea typeface="Lato"/>
                          <a:cs typeface="Lato"/>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8.18m; LCVs 2.78m; trucks 0.405m.</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Age and fuel within class are missing; all-class fuel counts are available only for December 2023.</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70.7%; LCVs 24.1%; medium/heavy 5.2%.</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Observed class mix differs. Agree segmentation before adopting a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Derived from stock and new sales; includes classification changes, exports and deregistrations.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1,088; PHEV 2,810; conventional hybrid 12,818.</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Fuel/class splits and electric-LCV paths remain estimates. Sales shares do not establish fleet shares or hybrid fuel savings.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Passenger setting implies 1,615 L/year.</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Aggregate versus passenger scope differs. Investigate mileage and fuel-use calibration, not a direct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Tree>
    <p:extLst>
      <p:ext uri="{BB962C8B-B14F-4D97-AF65-F5344CB8AC3E}">
        <p14:creationId xmlns:p14="http://schemas.microsoft.com/office/powerpoint/2010/main" val="188549678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5DE78F-B351-4415-ABC8-9904E125200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Eskom’s own OCGT fuel use fell 40% in FY2025 as availability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2379130-E02F-4C5C-9FDF-CA4D582069B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27</a:t>
            </a:r>
            <a:endParaRPr sz="1100"/>
          </a:p>
        </p:txBody>
      </p:sp>
      <p:sp>
        <p:nvSpPr>
          <p:cNvPr id="8" name="Unified source footer">
            <a:extLst xmlns:a="http://schemas.openxmlformats.org/drawingml/2006/main">
              <a:ext uri="{FF2B5EF4-FFF2-40B4-BE49-F238E27FC236}">
                <a16:creationId xmlns:a16="http://schemas.microsoft.com/office/drawing/2014/main" id="{108E5F43-6476-4F1B-9F3B-32F89C2D194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a:extLst xmlns:a="http://schemas.openxmlformats.org/drawingml/2006/main">
              <a:ext uri="{FF2B5EF4-FFF2-40B4-BE49-F238E27FC236}">
                <a16:creationId xmlns:a16="http://schemas.microsoft.com/office/drawing/2014/main" id="{CD8420AE-234B-4C9D-AE9F-8B8AB6FC1BD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BDEAED2-943E-E9D5-1E14-5C737852B75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5F6CB6-BEDF-49DB-347F-B4F159FB0EC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D1AE1CC-A5ED-00B6-9D63-750099116E9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1E038EA-E9F7-AC88-3FCD-D886DE7672F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461678e7a6d94a69"/>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AAC9EE7F-7B53-00E0-36C0-C40EF77100A3}"/>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Own-fleet fuel fell from 1,129.5 to 679.1m L. FY2025 Eskom plus estimated IPP fuel is ~0.89bn L; the model’s power/road split needs joint recalibration.</a:t>
            </a:r>
            <a:endParaRPr sz="1050">
              <a:solidFill>
                <a:schemeClr val="dk1"/>
              </a:solidFill>
              <a:latin typeface="Lato"/>
              <a:ea typeface="Lato"/>
              <a:cs typeface="Lato"/>
            </a:endParaRPr>
          </a:p>
        </p:txBody>
      </p:sp>
    </p:spTree>
    <p:extLst>
      <p:ext uri="{BB962C8B-B14F-4D97-AF65-F5344CB8AC3E}">
        <p14:creationId xmlns:p14="http://schemas.microsoft.com/office/powerpoint/2010/main" val="160024319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C60BC9-3E7C-4EF0-915A-1CC07DC3AE3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Road carries most reported freight tonnage, making transferable haul distance a key diesel lever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4C4B621-B62B-4B4C-9795-C2CDF603807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28</a:t>
            </a:r>
            <a:endParaRPr sz="1100"/>
          </a:p>
        </p:txBody>
      </p:sp>
      <p:sp>
        <p:nvSpPr>
          <p:cNvPr id="8" name="Unified source footer">
            <a:extLst xmlns:a="http://schemas.openxmlformats.org/drawingml/2006/main">
              <a:ext uri="{FF2B5EF4-FFF2-40B4-BE49-F238E27FC236}">
                <a16:creationId xmlns:a16="http://schemas.microsoft.com/office/drawing/2014/main" id="{41B324F5-19D8-4A34-B609-73D7DEC59B1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a:extLst xmlns:a="http://schemas.openxmlformats.org/drawingml/2006/main">
              <a:ext uri="{FF2B5EF4-FFF2-40B4-BE49-F238E27FC236}">
                <a16:creationId xmlns:a16="http://schemas.microsoft.com/office/drawing/2014/main" id="{412FFE2F-2361-48BD-9517-599D30EB0CC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CC4277F-C3D5-1A8B-18B5-9C1AE60F43E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FB52F8C-BCE4-7DB9-6069-A035DD33B0E8}"/>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DA40A8B0-7865-24F9-2729-2330B29F63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8E5F641-5488-AFD7-2FD4-B8C8CC3EFAC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85b7a589f3464b20"/>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0BD0A93A-8DFF-B036-9E2F-738F1CCBC16D}"/>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Apply freight diversion once to a defined road baseline. The ~3.15bn L operator-spending proxy has partial coverage and does not establish corridor tonne-km.</a:t>
            </a:r>
            <a:endParaRPr sz="1050">
              <a:solidFill>
                <a:schemeClr val="dk1"/>
              </a:solidFill>
              <a:latin typeface="Lato"/>
              <a:ea typeface="Lato"/>
              <a:cs typeface="Lato"/>
            </a:endParaRPr>
          </a:p>
        </p:txBody>
      </p:sp>
    </p:spTree>
    <p:extLst>
      <p:ext uri="{BB962C8B-B14F-4D97-AF65-F5344CB8AC3E}">
        <p14:creationId xmlns:p14="http://schemas.microsoft.com/office/powerpoint/2010/main" val="24851435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86F17E-0F6B-4789-B86D-8823ACECF81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Rail funding and reliable service determine how much road freight can return to rail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D68D24-4B97-49EF-8F49-508B520602C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29</a:t>
            </a:r>
            <a:endParaRPr sz="1100"/>
          </a:p>
        </p:txBody>
      </p:sp>
      <p:sp>
        <p:nvSpPr>
          <p:cNvPr id="8" name="Unified source footer">
            <a:extLst xmlns:a="http://schemas.openxmlformats.org/drawingml/2006/main">
              <a:ext uri="{FF2B5EF4-FFF2-40B4-BE49-F238E27FC236}">
                <a16:creationId xmlns:a16="http://schemas.microsoft.com/office/drawing/2014/main" id="{2A69EE83-2099-4200-8CD4-4525FA139FA9}"/>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User-supplied AIA Transnet Funding Brief, Sep 2026, pp1–2; cites FY2026 AFS and Network Statement v4 Annexure 17. Primary figures not independently reconciled.</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Network ambition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The supplied brief reports a 250 Mt target dependent on a funding plan.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Do not treat every additional rail tonne as road displacement. Commodity, corridor and origin matter.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Funding constraint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R46.34bn approved over five years, including R1.71bn expansion.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Maintenance and sustaining spend dominate. A published plan is insufficient evidence of delivered capacity.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Container corridor</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R2.11bn in 2026/27–2028/29; private funding expected thereafter.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Prioritise Durban–Gauteng road/rail competition and reconcile the corridor to Network Statement v4.</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Two fuel effects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Rail can displace truck diesel while improved infrastructure also changes fuel-distribution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Apply road-to-rail diversion once to eligible freight activity. Separately assess the route used to distribute fuel inland.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5B79B205-FB05-4D36-B8FF-93295187F1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0AC212D-110C-D683-56B1-7C56442F25A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66C94D0-F8F6-527B-D5D7-FD8EC7A6F31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3371DB6A-AB6F-6B80-9401-228626E0021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6FEC4B4-F9A9-E4CF-4BC6-F7B2640E4B1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31304737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51EAB8-9634-4572-8ACC-7697A9F7E75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Gauteng demand establishes market scale, while Lesedi capture and turnover determine throughput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D5C80C3-6E0E-44EF-B3A9-19D3C8F066D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30</a:t>
            </a:r>
            <a:endParaRPr sz="1100"/>
          </a:p>
        </p:txBody>
      </p:sp>
      <p:sp>
        <p:nvSpPr>
          <p:cNvPr id="8" name="Unified source footer">
            <a:extLst xmlns:a="http://schemas.openxmlformats.org/drawingml/2006/main">
              <a:ext uri="{FF2B5EF4-FFF2-40B4-BE49-F238E27FC236}">
                <a16:creationId xmlns:a16="http://schemas.microsoft.com/office/drawing/2014/main" id="{E8A7884A-32B8-4756-BC25-3E20827318B0}"/>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a:extLst xmlns:a="http://schemas.openxmlformats.org/drawingml/2006/main">
              <a:ext uri="{FF2B5EF4-FFF2-40B4-BE49-F238E27FC236}">
                <a16:creationId xmlns:a16="http://schemas.microsoft.com/office/drawing/2014/main" id="{275234E6-ED48-48F0-B28E-85A6A7331E6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72F49C4D-9748-5B80-6C60-8FB945CB4D0E}"/>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2394638-FEDF-B8FE-C747-72008332852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5DAA536-BD18-5CF9-0EA7-D857B1E1285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8A92432F-7DC3-DE3E-D12D-8FB27ABEB3A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8e45289216f546cc"/>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FB0F21B2-9907-8E03-22E4-3A4E235A20C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Gauteng sales were 6.81bn L in 2022; the six inland provinces totalled 11.95bn L. These are nested catchments, not low/high Lesedi market scenarios.</a:t>
            </a:r>
            <a:endParaRPr sz="1050">
              <a:solidFill>
                <a:schemeClr val="dk1"/>
              </a:solidFill>
              <a:latin typeface="Lato"/>
              <a:ea typeface="Lato"/>
              <a:cs typeface="Lato"/>
            </a:endParaRPr>
          </a:p>
        </p:txBody>
      </p:sp>
    </p:spTree>
    <p:extLst>
      <p:ext uri="{BB962C8B-B14F-4D97-AF65-F5344CB8AC3E}">
        <p14:creationId xmlns:p14="http://schemas.microsoft.com/office/powerpoint/2010/main" val="36166463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1B7AA6-3C14-4177-A829-5A002B58A922}"/>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Every market world passes through explicit demand, supply, capture and operating levers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EB81A9-F07F-421C-B449-108D2EEE908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31</a:t>
            </a:r>
            <a:endParaRPr sz="1100"/>
          </a:p>
        </p:txBody>
      </p:sp>
      <p:sp>
        <p:nvSpPr>
          <p:cNvPr id="8" name="Unified source footer">
            <a:extLst xmlns:a="http://schemas.openxmlformats.org/drawingml/2006/main">
              <a:ext uri="{FF2B5EF4-FFF2-40B4-BE49-F238E27FC236}">
                <a16:creationId xmlns:a16="http://schemas.microsoft.com/office/drawing/2014/main" id="{F59C79DE-4058-472C-8092-0550AB445375}"/>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Lever IDs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Inputs to calibrate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Output / remaining 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D1–D5 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D1 sector growth; D2 rail; D3 EV adoption; D4 efficiency; D5 power.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EV/efficiency pair reviewed. Hybrid, freight/rail and baseline combination rules remain open. Proposed annual paths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S1–S4 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 SAPREF; S2 Secunda gas/MRG; S3 Natref; S4 PetroSA.</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Output, yields and feedstock dependencies remain open. Reconcile proposed capacity, utilisation and gas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T1–T2 capture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 delivered route economics/access; T2 customer/product/destination capture.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Allocate domestic and imported fuel to unique terminal deliveries. Tariffs, rights and commercial allocation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T3–T5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T3 eligible working tankage; T4 turnover; T5 receipt/dispatch, peaks and stock policy.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Working-tank sensitivity uses Durban 146,000 and Lesedi 124,000 m³, both partly estimated. Validate turns, peaks and route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F1 finance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Storage/handling terms, costs, capex, tax, working capital and hurdle rate.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Translate constrained throughput into cash flow, NPV, IRR and investment triggers. Commercial inputs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AC93260-662B-499F-94A1-D60DC2B8C41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5944D4C0-D789-3EFD-3C14-55F8A8D4F2A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CA254AD-65FE-82DB-9747-A6FE2164774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68085162-A6DD-F2B1-1FC8-9975F6EB9F7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7794797-3418-10F5-B60B-7D18DD779BC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79265204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6427D-4BB2-4CAD-AFAC-3FDC7523D70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Generation timing must close the power balance before residual diesel can be forecast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CF83A97E-51D7-4A7C-8CF8-00F35C37742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32</a:t>
            </a:r>
            <a:endParaRPr sz="1100"/>
          </a:p>
        </p:txBody>
      </p:sp>
      <p:sp>
        <p:nvSpPr>
          <p:cNvPr id="8" name="Unified source footer">
            <a:extLst xmlns:a="http://schemas.openxmlformats.org/drawingml/2006/main">
              <a:ext uri="{FF2B5EF4-FFF2-40B4-BE49-F238E27FC236}">
                <a16:creationId xmlns:a16="http://schemas.microsoft.com/office/drawing/2014/main" id="{BC55EAEB-EA76-4649-B7CD-69F7918CE0A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Time series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 /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Evidence status and next use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Recovery history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Own Eskom fuel/EAF and Eskom/IPP GWh are assembled; generation-based litres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Align FY/calendar scope. Reconcile the model’s 3.58bn L power estimate with reported/estimated fuel and other demand uses.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Fleet and retirements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Four diesel stations: 3,089 MW. Avon/Dedisa PPA endings and coal retirement dates are assembled.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Contract end is not confirmed shutdown. Siting, renewal and actual coal decisions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Replacement / gas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Ankerlig/Gourikwa gas switch and coal-site turbines are case dependencies, not committed outcomes.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Engine includes 3,000MW of notional plants. Treat these separately from the four existing stations and proposed coal-site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Proposed L/M/H cases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2030 power diesel: 86 / 637 / 4,224m L in the workbook scenarios.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Nigel/Henry review D22: conversion rate, backup share, load factors, repowering location and gas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0E11C88A-BD5F-4917-9B21-B7EE2F303E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FA39896-8D41-C1C6-E898-B283CD20B596}"/>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635898F-DEBC-20DD-620A-F3901A3A6BA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4833148-1B9A-B124-6C68-77B30CAC8A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0B7D399C-0301-71C2-0BBA-BB638B724AE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9282223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DBAAD0-C6F7-4B47-B559-096F6E9C48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The diesel fleet and replacement timing define the power-demand cases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08541C-1BC2-496C-A20C-9C851E00B07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33</a:t>
            </a:r>
            <a:endParaRPr sz="1100"/>
          </a:p>
        </p:txBody>
      </p:sp>
      <p:sp>
        <p:nvSpPr>
          <p:cNvPr id="8" name="Unified source footer">
            <a:extLst xmlns:a="http://schemas.openxmlformats.org/drawingml/2006/main">
              <a:ext uri="{FF2B5EF4-FFF2-40B4-BE49-F238E27FC236}">
                <a16:creationId xmlns:a16="http://schemas.microsoft.com/office/drawing/2014/main" id="{D6A154D6-B0D0-4D16-8B29-31E62CD38A3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a:extLst xmlns:a="http://schemas.openxmlformats.org/drawingml/2006/main">
              <a:ext uri="{FF2B5EF4-FFF2-40B4-BE49-F238E27FC236}">
                <a16:creationId xmlns:a16="http://schemas.microsoft.com/office/drawing/2014/main" id="{7C153E1F-B2D2-4962-BB17-6CDA6AD0CF9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4" name="Fleet heading">
            <a:extLst xmlns:a="http://schemas.openxmlformats.org/drawingml/2006/main">
              <a:ext uri="{FF2B5EF4-FFF2-40B4-BE49-F238E27FC236}">
                <a16:creationId xmlns:a16="http://schemas.microsoft.com/office/drawing/2014/main" id="{26C66294-3AFA-17AD-1DD9-AE345133A1E2}"/>
              </a:ext>
            </a:extLst>
          </p:cNvPr>
          <p:cNvSpPr>
            <a:spLocks xmlns:a="http://schemas.openxmlformats.org/drawingml/2006/main" noGrp="1"/>
          </p:cNvSpPr>
          <p:nvPr/>
        </p:nvSpPr>
        <p:spPr>
          <a:xfrm xmlns:a="http://schemas.openxmlformats.org/drawingml/2006/main">
            <a:off x="457200" y="1600200"/>
            <a:ext cx="55118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OPERATING DIESEL FLEET: 3,089 MW</a:t>
            </a:r>
          </a:p>
        </p:txBody>
      </p:sp>
      <p:graphicFrame>
        <p:nvGraphicFramePr>
          <p:cNvPr id="60" name="Operating fleet table"/>
          <p:cNvGraphicFramePr/>
          <p:nvPr/>
        </p:nvGraphicFramePr>
        <p:xfrm>
          <a:off xmlns:a="http://schemas.openxmlformats.org/drawingml/2006/main" x="457200" y="1879600"/>
          <a:ext xmlns:a="http://schemas.openxmlformats.org/drawingml/2006/main" cx="5461000" cy="1739900"/>
        </p:xfrm>
        <a:graphic xmlns:a="http://schemas.openxmlformats.org/drawingml/2006/main">
          <a:graphicData uri="http://schemas.openxmlformats.org/drawingml/2006/table">
            <a:tbl>
              <a:tblPr firstRow="1" bandRow="1">
                <a:tableStyleId>{5C22544A-7EE6-4342-B048-85BDC9FD1C3A}</a:tableStyleId>
              </a:tblPr>
              <a:tblGrid>
                <a:gridCol w="2413000"/>
                <a:gridCol w="1206500"/>
                <a:gridCol w="1841500"/>
              </a:tblGrid>
              <a:tr h="317500">
                <a:tc>
                  <a:txBody>
                    <a:bodyPr/>
                    <a:lstStyle/>
                    <a:p>
                      <a:pPr>
                        <a:spcAft>
                          <a:spcPts val="0"/>
                        </a:spcAft>
                        <a:buNone/>
                      </a:pPr>
                      <a:r>
                        <a:rPr sz="1200" b="1">
                          <a:solidFill>
                            <a:schemeClr val="dk1"/>
                          </a:solidFill>
                          <a:latin typeface="Lato"/>
                          <a:ea typeface="Lato"/>
                          <a:cs typeface="Lato"/>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355600">
                <a:tc>
                  <a:txBody>
                    <a:bodyPr/>
                    <a:lstStyle/>
                    <a:p>
                      <a:pPr>
                        <a:spcAft>
                          <a:spcPts val="0"/>
                        </a:spcAft>
                        <a:buNone/>
                      </a:pPr>
                      <a:r>
                        <a:rPr sz="1200" b="1">
                          <a:solidFill>
                            <a:schemeClr val="accent1"/>
                          </a:solidFill>
                          <a:latin typeface="Lato"/>
                          <a:ea typeface="Lato"/>
                          <a:cs typeface="Lato"/>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6" name="Timing heading">
            <a:extLst xmlns:a="http://schemas.openxmlformats.org/drawingml/2006/main">
              <a:ext uri="{FF2B5EF4-FFF2-40B4-BE49-F238E27FC236}">
                <a16:creationId xmlns:a16="http://schemas.microsoft.com/office/drawing/2014/main" id="{692D2DDD-4539-574B-52E7-2287D43EF72D}"/>
              </a:ext>
            </a:extLst>
          </p:cNvPr>
          <p:cNvSpPr>
            <a:spLocks xmlns:a="http://schemas.openxmlformats.org/drawingml/2006/main" noGrp="1"/>
          </p:cNvSpPr>
          <p:nvPr/>
        </p:nvSpPr>
        <p:spPr>
          <a:xfrm xmlns:a="http://schemas.openxmlformats.org/drawingml/2006/main">
            <a:off x="6311900" y="1600200"/>
            <a:ext cx="48006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TIMING AND DEPENDENCIES</a:t>
            </a:r>
          </a:p>
        </p:txBody>
      </p:sp>
      <p:sp>
        <p:nvSpPr>
          <p:cNvPr id="7" name="Timing conditions">
            <a:extLst xmlns:a="http://schemas.openxmlformats.org/drawingml/2006/main">
              <a:ext uri="{FF2B5EF4-FFF2-40B4-BE49-F238E27FC236}">
                <a16:creationId xmlns:a16="http://schemas.microsoft.com/office/drawing/2014/main" id="{8BA0247D-6497-AD08-227D-A2EDCBC502B4}"/>
              </a:ext>
            </a:extLst>
          </p:cNvPr>
          <p:cNvSpPr>
            <a:spLocks xmlns:a="http://schemas.openxmlformats.org/drawingml/2006/main" noGrp="1"/>
          </p:cNvSpPr>
          <p:nvPr/>
        </p:nvSpPr>
        <p:spPr>
          <a:xfrm xmlns:a="http://schemas.openxmlformats.org/drawingml/2006/main">
            <a:off x="6311900" y="1955800"/>
            <a:ext cx="4800600" cy="1333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300">
                <a:solidFill>
                  <a:schemeClr val="dk1"/>
                </a:solidFill>
                <a:latin typeface="Lato"/>
                <a:ea typeface="Lato"/>
                <a:cs typeface="Lato"/>
              </a:rPr>
              <a:t>Avon / Dedisa PPAs end in 2031 / 2030.
Five coal sites have exemptions to March 2030; final outcomes remain open.
Gas-switch and turbine locations are assumptions, not committed projects.</a:t>
            </a:r>
            <a:endParaRPr sz="1300">
              <a:solidFill>
                <a:schemeClr val="dk1"/>
              </a:solidFill>
              <a:latin typeface="Lato"/>
              <a:ea typeface="Lato"/>
              <a:cs typeface="Lato"/>
            </a:endParaRPr>
          </a:p>
        </p:txBody>
      </p:sp>
      <p:sp>
        <p:nvSpPr>
          <p:cNvPr id="13" name="Scenario heading">
            <a:extLst xmlns:a="http://schemas.openxmlformats.org/drawingml/2006/main">
              <a:ext uri="{FF2B5EF4-FFF2-40B4-BE49-F238E27FC236}">
                <a16:creationId xmlns:a16="http://schemas.microsoft.com/office/drawing/2014/main" id="{BDD1F9F5-2913-0C39-4F9C-A881D8297609}"/>
              </a:ext>
            </a:extLst>
          </p:cNvPr>
          <p:cNvSpPr>
            <a:spLocks xmlns:a="http://schemas.openxmlformats.org/drawingml/2006/main" noGrp="1"/>
          </p:cNvSpPr>
          <p:nvPr/>
        </p:nvSpPr>
        <p:spPr>
          <a:xfrm xmlns:a="http://schemas.openxmlformats.org/drawingml/2006/main">
            <a:off x="457200" y="3898900"/>
            <a:ext cx="10655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PROPOSED WORKBOOK CASES — NIGEL / HENRY REVIEW</a:t>
            </a:r>
            <a:endParaRPr sz="1200" b="1">
              <a:solidFill>
                <a:schemeClr val="accent1"/>
              </a:solidFill>
              <a:latin typeface="Lato"/>
              <a:ea typeface="Lato"/>
              <a:cs typeface="Lato"/>
            </a:endParaRPr>
          </a:p>
        </p:txBody>
      </p:sp>
      <p:graphicFrame>
        <p:nvGraphicFramePr>
          <p:cNvPr id="64" name="Proposed cases table"/>
          <p:cNvGraphicFramePr/>
          <p:nvPr/>
        </p:nvGraphicFramePr>
        <p:xfrm>
          <a:off xmlns:a="http://schemas.openxmlformats.org/drawingml/2006/main" x="457199" y="4203700"/>
          <a:ext xmlns:a="http://schemas.openxmlformats.org/drawingml/2006/main" cx="10652760" cy="1714500"/>
        </p:xfrm>
        <a:graphic xmlns:a="http://schemas.openxmlformats.org/drawingml/2006/main">
          <a:graphicData uri="http://schemas.openxmlformats.org/drawingml/2006/table">
            <a:tbl>
              <a:tblPr firstRow="1" bandRow="1">
                <a:tableStyleId>{5C22544A-7EE6-4342-B048-85BDC9FD1C3A}</a:tableStyleId>
              </a:tblPr>
              <a:tblGrid>
                <a:gridCol w="1968500"/>
                <a:gridCol w="1397000"/>
                <a:gridCol w="1397000"/>
                <a:gridCol w="5890260"/>
              </a:tblGrid>
              <a:tr h="317500">
                <a:tc>
                  <a:txBody>
                    <a:bodyPr/>
                    <a:lstStyle/>
                    <a:p>
                      <a:pPr>
                        <a:spcAft>
                          <a:spcPts val="0"/>
                        </a:spcAft>
                        <a:buNone/>
                      </a:pPr>
                      <a:r>
                        <a:rPr sz="1200" b="1">
                          <a:solidFill>
                            <a:schemeClr val="dk1"/>
                          </a:solidFill>
                          <a:latin typeface="Lato"/>
                          <a:ea typeface="Lato"/>
                          <a:cs typeface="Lato"/>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465667">
                <a:tc>
                  <a:txBody>
                    <a:bodyPr/>
                    <a:lstStyle/>
                    <a:p>
                      <a:pPr>
                        <a:spcAft>
                          <a:spcPts val="0"/>
                        </a:spcAft>
                        <a:buNone/>
                      </a:pPr>
                      <a:r>
                        <a:rPr sz="1200" b="1">
                          <a:solidFill>
                            <a:schemeClr val="accent1"/>
                          </a:solidFill>
                          <a:latin typeface="Lato"/>
                          <a:ea typeface="Lato"/>
                          <a:cs typeface="Lato"/>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Gas switch; PPAs end; no coal-site turbines.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 GW at coal sites; gas available; diesel backup.</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 GW at coal sites; no gas; diesel peakers.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15" name="Case qualification">
            <a:extLst xmlns:a="http://schemas.openxmlformats.org/drawingml/2006/main">
              <a:ext uri="{FF2B5EF4-FFF2-40B4-BE49-F238E27FC236}">
                <a16:creationId xmlns:a16="http://schemas.microsoft.com/office/drawing/2014/main" id="{BBB424CB-1400-A003-0615-24B690A56902}"/>
              </a:ext>
            </a:extLst>
          </p:cNvPr>
          <p:cNvSpPr>
            <a:spLocks xmlns:a="http://schemas.openxmlformats.org/drawingml/2006/main" noGrp="1"/>
          </p:cNvSpPr>
          <p:nvPr/>
        </p:nvSpPr>
        <p:spPr>
          <a:xfrm xmlns:a="http://schemas.openxmlformats.org/drawingml/2006/main">
            <a:off x="495300" y="5994399"/>
            <a:ext cx="10541000" cy="1524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900">
                <a:solidFill>
                  <a:schemeClr val="dk1"/>
                </a:solidFill>
                <a:latin typeface="Lato"/>
                <a:ea typeface="Lato"/>
                <a:cs typeface="Lato"/>
              </a:rPr>
              <a:t>The engine also contains 3,000MW of notional capacity. Reconcile it with these cases and historical power/road use before adopting a forecast.</a:t>
            </a:r>
            <a:endParaRPr sz="900">
              <a:solidFill>
                <a:schemeClr val="dk1"/>
              </a:solidFill>
              <a:latin typeface="Lato"/>
              <a:ea typeface="Lato"/>
              <a:cs typeface="Lato"/>
            </a:endParaRPr>
          </a:p>
        </p:txBody>
      </p:sp>
    </p:spTree>
    <p:extLst>
      <p:ext uri="{BB962C8B-B14F-4D97-AF65-F5344CB8AC3E}">
        <p14:creationId xmlns:p14="http://schemas.microsoft.com/office/powerpoint/2010/main" val="158684115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45AC4B-DCD7-4DBC-BBBD-20D077E3825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and Natref define capacity sensitivities; plant output must complete the supply paths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3E4527F-93AA-4D33-9BED-5A08A1474F9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34</a:t>
            </a:r>
            <a:endParaRPr sz="1100"/>
          </a:p>
        </p:txBody>
      </p:sp>
      <p:sp>
        <p:nvSpPr>
          <p:cNvPr id="8" name="Unified source footer">
            <a:extLst xmlns:a="http://schemas.openxmlformats.org/drawingml/2006/main">
              <a:ext uri="{FF2B5EF4-FFF2-40B4-BE49-F238E27FC236}">
                <a16:creationId xmlns:a16="http://schemas.microsoft.com/office/drawing/2014/main" id="{269A2F55-A3CC-4B61-821C-D47D774B73E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DR08 refinery evidence, updated 9 October; Sasol FY2026 metrics; Glencore/Astron evidence; CEF SAPREF roadmap. FY output, calendar capacity and product yields differ. Capacity sensitivities remain illustrative.</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Plant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Required time-series inputs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Scenario treatment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S1 SAPREF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capacity illustration adds 400 kbpd from assumed 2033 availability.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plans an import-terminal phase before refining. No committed refinery restart date or product slate is established.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S3 Natref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108 kbpd remains in Medium/High; excluded in the Low 2036 stress case.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Natref is separate from Secunda. FY2026 Sasol output uses co-owner capacity; do not scale by historic ownership mechanically.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S2 Secunda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All-refined-products output: 29.1m barrels FY2024, 27.6m FY2025 and 30.6m FY2026.</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June fiscal years; product mix differs. Gas/MRG affects liquid output; do not equate barrels with diesel litres.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Other plant inputs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Astron output evidence is available; its petrol/diesel 50/50 split is an assumption. PetroSA restart remains uncertain.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product yields and actual operator output. No PetroSA addition appears in the existing capacity illustration.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FE5D48F-D882-4304-AC76-6EA9A74A03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2673ED8-656C-3C9E-9793-168AA4A318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7DB413E-C059-D52C-A752-5243055EC462}"/>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99976F3-E58B-4FA9-D52A-836EA3DC92C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F98BFE7-2E5D-741B-D8FA-6492D1DA8BB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59597525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E52915-201C-4CA1-BA20-AABA9B5039D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A conditional Durban import-capture screen gives a 2.63bn litre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94C3983-AC6C-4225-B1EA-6ACA014C926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35</a:t>
            </a:r>
            <a:endParaRPr sz="1100"/>
          </a:p>
        </p:txBody>
      </p:sp>
      <p:sp>
        <p:nvSpPr>
          <p:cNvPr id="8" name="Unified source footer">
            <a:extLst xmlns:a="http://schemas.openxmlformats.org/drawingml/2006/main">
              <a:ext uri="{FF2B5EF4-FFF2-40B4-BE49-F238E27FC236}">
                <a16:creationId xmlns:a16="http://schemas.microsoft.com/office/drawing/2014/main" id="{156109CB-1C09-4928-9826-33DD198DD09C}"/>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2025 Durban customs proxy 13.1605bn L. No forecast probabilities, measured market share or incremental revenue. Product mix, access and working tankage need validation.</a:t>
            </a:r>
            <a:endParaRPr sz="650"/>
          </a:p>
        </p:txBody>
      </p:sp>
      <p:graphicFrame>
        <p:nvGraphicFramePr>
          <p:cNvPr id="55"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81000">
                <a:tc>
                  <a:txBody>
                    <a:bodyPr/>
                    <a:lstStyle/>
                    <a:p>
                      <a:pPr>
                        <a:spcAft>
                          <a:spcPts val="0"/>
                        </a:spcAft>
                        <a:buNone/>
                      </a:pPr>
                      <a:r>
                        <a:rPr sz="1300" b="1" u="none">
                          <a:solidFill>
                            <a:schemeClr val="dk1"/>
                          </a:solidFill>
                          <a:latin typeface="Lato"/>
                          <a:ea typeface="Lato"/>
                          <a:cs typeface="Lato"/>
                        </a:rPr>
                        <a:t>Illustrative case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Annual physical volumes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Assumptions and 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Low</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10%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0.66bn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1.32bn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Base</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20%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2.63bn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2.63bn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High</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30%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3.50bn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1.75bn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Durban tank screen caps the requested 3.95bn L at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CB4DBA-279F-46CA-BE4A-6C8E3C76984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43AA7B3A-3772-E466-352F-697EF3D36F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F8E1A9-B364-8115-C901-16E71935F38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E8F6195D-18F0-5029-7E37-A7A530E8013C}"/>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90684F3-D240-DCBA-2A69-EB87E0C71FE4}"/>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50" name="Review interpretation">
            <a:extLst xmlns:a="http://schemas.openxmlformats.org/drawingml/2006/main">
              <a:ext uri="{FF2B5EF4-FFF2-40B4-BE49-F238E27FC236}">
                <a16:creationId xmlns:a16="http://schemas.microsoft.com/office/drawing/2014/main" id="{49A1B104-130B-4B82-944B-FF3BD97E71C0}"/>
              </a:ext>
            </a:extLst>
          </p:cNvPr>
          <p:cNvSpPr>
            <a:spLocks xmlns:a="http://schemas.openxmlformats.org/drawingml/2006/main" noGrp="1"/>
          </p:cNvSpPr>
          <p:nvPr/>
        </p:nvSpPr>
        <p:spPr>
          <a:xfrm xmlns:a="http://schemas.openxmlformats.org/drawingml/2006/main">
            <a:off x="457200" y="5553075"/>
            <a:ext cx="1064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10/20/30% shares and 50% routing are authored sensitivities. Base turns fixed at two/month. Lesedi is a subset, so volumes are counted once. Domestic and other-terminal Lesedi receipts are excluded.</a:t>
            </a:r>
          </a:p>
        </p:txBody>
      </p:sp>
    </p:spTree>
    <p:extLst>
      <p:ext uri="{BB962C8B-B14F-4D97-AF65-F5344CB8AC3E}">
        <p14:creationId xmlns:p14="http://schemas.microsoft.com/office/powerpoint/2010/main" val="319241594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BD88DA-CCC3-4D1A-A2E6-6EB0F38DCF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A matched demand snapshot is available, but the domestic supply balance still needs reconciliation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9C0B53E-8870-4B82-B017-3287DBBFCFD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36</a:t>
            </a:r>
            <a:endParaRPr sz="1100"/>
          </a:p>
        </p:txBody>
      </p:sp>
      <p:sp>
        <p:nvSpPr>
          <p:cNvPr id="8" name="Unified source footer">
            <a:extLst xmlns:a="http://schemas.openxmlformats.org/drawingml/2006/main">
              <a:ext uri="{FF2B5EF4-FFF2-40B4-BE49-F238E27FC236}">
                <a16:creationId xmlns:a16="http://schemas.microsoft.com/office/drawing/2014/main" id="{73B1843E-18F8-4CCB-8143-95E88A76C25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794000"/>
                <a:gridCol w="3929380"/>
                <a:gridCol w="3929380"/>
              </a:tblGrid>
              <a:tr h="355600">
                <a:tc>
                  <a:txBody>
                    <a:bodyPr/>
                    <a:lstStyle/>
                    <a:p>
                      <a:pPr>
                        <a:spcAft>
                          <a:spcPts val="0"/>
                        </a:spcAft>
                        <a:buNone/>
                      </a:pPr>
                      <a:r>
                        <a:rPr sz="1200" b="1" u="none">
                          <a:solidFill>
                            <a:schemeClr val="dk1"/>
                          </a:solidFill>
                          <a:latin typeface="Lato"/>
                          <a:ea typeface="Lato"/>
                          <a:cs typeface="Lato"/>
                        </a:rPr>
                        <a:t>Evidence / bn litres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Petrol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Diesel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2023 Department sales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9.04</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12.91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2024 FIASA sales, unverified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11.73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SARS imports / exports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4.45 / 0.80</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12.25 / 0.75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sales / product output</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RAF levy cross-check</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Combined levied volume 24.42bn L, year to March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Fiscal/accrual versus calendar sales. Reconcile coverage before interpreting the difference.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Decision consequence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2025 gross imports 16.70bn L; net 15.15bn L. Durban customs 13.16bn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Current import penetration cannot be calculated using 2023 sales. Post-2021 production and stocks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47A44DF-F4D5-46DD-936A-FC9F7FF699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69993497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F80F7-5E95-4254-AADA-2529610CE858}"/>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six-step bridge is implemented for screening; calibration now depends on the requested inputs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C9FD287-0B0A-48C0-824D-9FC486A65C9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37</a:t>
            </a:r>
            <a:endParaRPr sz="1100"/>
          </a:p>
        </p:txBody>
      </p:sp>
      <p:sp>
        <p:nvSpPr>
          <p:cNvPr id="8" name="Unified source footer">
            <a:extLst xmlns:a="http://schemas.openxmlformats.org/drawingml/2006/main">
              <a:ext uri="{FF2B5EF4-FFF2-40B4-BE49-F238E27FC236}">
                <a16:creationId xmlns:a16="http://schemas.microsoft.com/office/drawing/2014/main" id="{1EFAD885-8982-429D-AB56-3670F5B2980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200" b="1" u="none">
                          <a:solidFill>
                            <a:schemeClr val="dk1"/>
                          </a:solidFill>
                          <a:latin typeface="Lato"/>
                          <a:ea typeface="Lato"/>
                          <a:cs typeface="Lato"/>
                        </a:rPr>
                        <a:t>Work package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Implemented now</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Input needed to complete the decision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1 | Baseline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Public handback received through 9 October. Review workbook maps all nine requests and source-level limitations.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Agree baseline year/source; reconcile production, stocks, scopes and fiscal/calendar periods.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2 | Route competition</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 cost and bearable-charge calculation; route readiness register.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Matched quotes, service capacity and access.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3 | Vopak 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Conditional Durban import-capture cases now quantified. Shared Lesedi transfers count once, see p35.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Customer allocation and unique terminal deliveries.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4 | Existing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Required-turn and operating-bottleneck calculation; gross-turn screen.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 capacity, achievable turns and peak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5 | Investment options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Pre-tax break-even volume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Commercial inputs and full incremental cash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6 | Nine worlds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Nine-cell output register and demand/supply balance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EV/efficiency implementation review complete for the pair. Baseline, hybrid/rail interactions and annual paths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0AC7B3C-96B7-423B-8615-4ADEA24A194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98786143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B4585F-2FDB-4473-AD6F-DD26D7A681E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Demand, supply and corridor access translate into captured throughput and required tank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E59FE1-CC8C-42A3-A30F-3E84E3DB47F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38</a:t>
            </a:r>
            <a:endParaRPr sz="1100"/>
          </a:p>
        </p:txBody>
      </p:sp>
      <p:sp>
        <p:nvSpPr>
          <p:cNvPr id="8" name="Unified source footer">
            <a:extLst xmlns:a="http://schemas.openxmlformats.org/drawingml/2006/main">
              <a:ext uri="{FF2B5EF4-FFF2-40B4-BE49-F238E27FC236}">
                <a16:creationId xmlns:a16="http://schemas.microsoft.com/office/drawing/2014/main" id="{9F46A5CE-F125-4B5D-AD64-EA2486FAD9A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58"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355600">
                <a:tc>
                  <a:txBody>
                    <a:bodyPr/>
                    <a:lstStyle/>
                    <a:p>
                      <a:pPr>
                        <a:spcAft>
                          <a:spcPts val="0"/>
                        </a:spcAft>
                        <a:buNone/>
                      </a:pPr>
                      <a:r>
                        <a:rPr sz="1200" b="1" u="none">
                          <a:solidFill>
                            <a:schemeClr val="dk1"/>
                          </a:solidFill>
                          <a:latin typeface="Lato"/>
                          <a:ea typeface="Lato"/>
                          <a:cs typeface="Lato"/>
                        </a:rPr>
                        <a:t>Argument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Situation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Complication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Resolution / decision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Transport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2023 petrol/diesel sales total 21.94bn L; sector activity and fleet evidence explain different fuel exposures.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Sector growth, rail recovery, EVs and efficiency change fuel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D1–D4 define activity, rail, EV and efficiency paths. Translate them into capturable product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Power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Power shortages supported diesel use; Eskom consumption has recently fallen.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Recovery may persist or reverse through outages and replacement delays.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D5 adds fleet recovery, replacement timing and diesel dispatch to the same demand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Domestic
supply</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Reduced local production has increased reliance on imports.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SAPREF, Natref and Secunda can change domestic fuel output materially.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S1–S4 define plant output and sourcing mix. Imports are one consequence of the domestic balance.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Corridor
competition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connects imported fuel to inland customers.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Alternative gateways, delivered costs, reliability and access alter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T1–T2 compare delivered economics and capture for domestic and imported fuel serving common destinations.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Vopak
investment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and Lesedi provide connected assets whose throughput can rise through higher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Working tankage, receipt/dispatch, peaks and stock requirements constrain achievable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T3–T5 compare working capacity, required/achievable turns and dispatch limits. F1 tests incremental returns.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9CBC80E-6861-4DC2-B4DA-CB3014B71A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0"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bea3af97f92c4863"/>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1" name="Argument icon power"/>
          <p:cNvPicPr>
            <a:picLocks xmlns:a="http://schemas.openxmlformats.org/drawingml/2006/main" noChangeAspect="1"/>
          </p:cNvPicPr>
          <p:nvPr/>
        </p:nvPicPr>
        <p:blipFill>
          <a:blip xmlns:r="http://schemas.openxmlformats.org/officeDocument/2006/relationships" xmlns:a="http://schemas.openxmlformats.org/drawingml/2006/main" r:embed="R98b5918ddfdd470b"/>
          <a:stretch xmlns:a="http://schemas.openxmlformats.org/drawingml/2006/main">
            <a:fillRect l="0" t="0" r="0" b="0"/>
          </a:stretch>
        </p:blipFill>
        <p:spPr>
          <a:xfrm xmlns:a="http://schemas.openxmlformats.org/drawingml/2006/main">
            <a:off x="508000" y="2938780"/>
            <a:ext cx="317500" cy="317500"/>
          </a:xfrm>
          <a:prstGeom xmlns:a="http://schemas.openxmlformats.org/drawingml/2006/main" prst="rect">
            <a:avLst/>
          </a:prstGeom>
        </p:spPr>
      </p:pic>
      <p:pic>
        <p:nvPicPr>
          <p:cNvPr id="62"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249708ae77304472"/>
          <a:stretch xmlns:a="http://schemas.openxmlformats.org/drawingml/2006/main">
            <a:fillRect l="0" t="0" r="0" b="0"/>
          </a:stretch>
        </p:blipFill>
        <p:spPr>
          <a:xfrm xmlns:a="http://schemas.openxmlformats.org/drawingml/2006/main">
            <a:off x="508000" y="3756660"/>
            <a:ext cx="317500" cy="317500"/>
          </a:xfrm>
          <a:prstGeom xmlns:a="http://schemas.openxmlformats.org/drawingml/2006/main" prst="rect">
            <a:avLst/>
          </a:prstGeom>
        </p:spPr>
      </p:pic>
      <p:pic>
        <p:nvPicPr>
          <p:cNvPr id="63"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1379653e51f748c7"/>
          <a:stretch xmlns:a="http://schemas.openxmlformats.org/drawingml/2006/main">
            <a:fillRect l="0" t="0" r="0" b="0"/>
          </a:stretch>
        </p:blipFill>
        <p:spPr>
          <a:xfrm xmlns:a="http://schemas.openxmlformats.org/drawingml/2006/main">
            <a:off x="508000" y="4574540"/>
            <a:ext cx="317500" cy="317500"/>
          </a:xfrm>
          <a:prstGeom xmlns:a="http://schemas.openxmlformats.org/drawingml/2006/main" prst="rect">
            <a:avLst/>
          </a:prstGeom>
        </p:spPr>
      </p:pic>
      <p:pic>
        <p:nvPicPr>
          <p:cNvPr id="64"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3d19e45714d447df"/>
          <a:stretch xmlns:a="http://schemas.openxmlformats.org/drawingml/2006/main">
            <a:fillRect l="0" t="0" r="0" b="0"/>
          </a:stretch>
        </p:blipFill>
        <p:spPr>
          <a:xfrm xmlns:a="http://schemas.openxmlformats.org/drawingml/2006/main">
            <a:off x="508000" y="5392420"/>
            <a:ext cx="317500" cy="317500"/>
          </a:xfrm>
          <a:prstGeom xmlns:a="http://schemas.openxmlformats.org/drawingml/2006/main" prst="rect">
            <a:avLst/>
          </a:prstGeom>
        </p:spPr>
      </p:pic>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415995091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F1159C-464E-4FAD-B145-AC35FC2B43D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illustration gives extra tanks R58m more NPV than improvement alone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9D3B2F-37CA-45BE-BCC8-48F30464A1B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39</a:t>
            </a:r>
            <a:endParaRPr sz="1100"/>
          </a:p>
        </p:txBody>
      </p:sp>
      <p:sp>
        <p:nvSpPr>
          <p:cNvPr id="8" name="Unified source footer">
            <a:extLst xmlns:a="http://schemas.openxmlformats.org/drawingml/2006/main">
              <a:ext uri="{FF2B5EF4-FFF2-40B4-BE49-F238E27FC236}">
                <a16:creationId xmlns:a16="http://schemas.microsoft.com/office/drawing/2014/main" id="{22FE3AA1-35B2-4197-931D-902540352AE6}"/>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100% site basis, pre-tax at 10% for 20 years. Working tankage reduced from 126,000 to 124,000 m³. Model allocates more incremental contracted storage to added tanks, increasing assumed rent. This is model sensitivity, not new commercial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High demand / low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Capital and throughput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Incremental value versus existing</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Existing</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R0m capex
1.860bn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R+0.0m
Unserved 0.953bn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access / dispatch</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R100m capex
2.232bn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R+24.2m
Unserved 0.581bn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 add tanks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R600m capex
2.813bn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R+82.2m
Unserved 0.000bn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Decision threshold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beats existing above 2.181bn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Tanks beat improvement above 2.765bn L/year; assumed capture 2.813bn.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1084881-E89D-47F7-9A40-95AF37B76EC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4372908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F67A96-9D75-4908-9D26-D932BE12AD7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Vopak reports anchor capacity and the revenue model; they do not disclose Lesedi project economics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D2CCA37-A41E-4FAE-999A-329E85A20F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40</a:t>
            </a:r>
            <a:endParaRPr sz="1100"/>
          </a:p>
        </p:txBody>
      </p:sp>
      <p:sp>
        <p:nvSpPr>
          <p:cNvPr id="8" name="Unified source footer">
            <a:extLst xmlns:a="http://schemas.openxmlformats.org/drawingml/2006/main">
              <a:ext uri="{FF2B5EF4-FFF2-40B4-BE49-F238E27FC236}">
                <a16:creationId xmlns:a16="http://schemas.microsoft.com/office/drawing/2014/main" id="{87998E70-B65F-4A5D-A10E-E03A54B4B3F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Evidence class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the sources establish</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How it is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Lesedi: 140,000 m³; Durban: 360,246 m³. Vopak share: 70% at each site.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Full physical capacity for operations. The commissioned 40,000 m3 Lesedi expansion is included in 140,000 m3.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 services: EUR1,058.8m of EUR1,298.9m consolidated revenue in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81.5% is storage revenue. Rental may include minimum throughput; extra turns are not automatically extra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INFERRED | Group ratio</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EUR93.9 revenue / gross m³/year: proportional revenue divided by year-end proportional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Mixed-portfolio scale indicator only. Not a Lesedi tariff, margin or estimate of site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Benchmarks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15.6% group operating cash return; 5–7x capex/EBITDA for gas/industrial and 4–8x for transition infrastructure.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Context, not South Africa fuel-project hurdle rates. Authored 10% discount rate is separate.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2CE19C-09D0-4537-93F7-9C7ED84B7C7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537164831"/>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E72D29-5858-42AE-B841-92C625304ED2}"/>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investment result rests on explicit assumptions that must be replaced or agreed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8A060AA-8E12-47A7-9C4A-16EB43F9F00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41</a:t>
            </a:r>
            <a:endParaRPr sz="1100"/>
          </a:p>
        </p:txBody>
      </p:sp>
      <p:sp>
        <p:nvSpPr>
          <p:cNvPr id="8" name="Unified source footer">
            <a:extLst xmlns:a="http://schemas.openxmlformats.org/drawingml/2006/main">
              <a:ext uri="{FF2B5EF4-FFF2-40B4-BE49-F238E27FC236}">
                <a16:creationId xmlns:a16="http://schemas.microsoft.com/office/drawing/2014/main" id="{EF809FBA-6FC0-4883-864D-3584A887CB73}"/>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ILLUSTRATIVE input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Value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must be validated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Catchment balance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Demand 6.0 / 6.8 / 7.6bn L; domestic deliveries 2.4 / 3.6 / 4.8bn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Steady-state stress points; M rounds 2022 Gauteng sales for scale. No national production forecast implied.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70% of imports via Durban; Vopak captures 80%; 90% goes to Lesedi; 8% domestic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Separate investment illustration with imported and domestic capture. Its shares differ from the Durban-only capture screen on p35.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Operations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88.57% of gross; turns 1.25 existing / 1.50 improved; +40,000 gross 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159,429 working m³ with tanks at the same assumed fraction. Receipt/dispatch ceiling 3.5bn L/year remains illustrative.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R1,500 / gross m³/year rent on added contracted tanks; R60 / extra m³ contribution.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Chargeable excess services only, excluding rent/minimum-throughput inclusions. Added rent follows incremental storage use.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Capital and costs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R100m improvement + R500m tanks; fixed opex R5m + R12m/year; maintenance 1% capex/year.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Author-selected cost sensitivities; no Vopak quotation or engineering estimate.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Cash flow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 years at 10%; 50% / 75% / 100% operating ramp; capex upfront.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Pre-tax unlevered constant ZAR. Tax, working capital, construction timing and residual value excluded.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8C21A72-3396-43F8-9401-3D8FA2B97AB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06610567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A5FAE5-2BD6-41A0-8FE6-4540E3B1DC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Capture and commercial assumptions can reverse the illustrated expansion choice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2736954-00DB-4B89-A401-92EA4DC311C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42</a:t>
            </a:r>
            <a:endParaRPr sz="1100"/>
          </a:p>
        </p:txBody>
      </p:sp>
      <p:sp>
        <p:nvSpPr>
          <p:cNvPr id="8" name="Unified source footer">
            <a:extLst xmlns:a="http://schemas.openxmlformats.org/drawingml/2006/main">
              <a:ext uri="{FF2B5EF4-FFF2-40B4-BE49-F238E27FC236}">
                <a16:creationId xmlns:a16="http://schemas.microsoft.com/office/drawing/2014/main" id="{FFC2AA92-721F-4931-8AFB-B842620C6F5D}"/>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a:extLst xmlns:a="http://schemas.openxmlformats.org/drawingml/2006/main">
              <a:ext uri="{FF2B5EF4-FFF2-40B4-BE49-F238E27FC236}">
                <a16:creationId xmlns:a16="http://schemas.microsoft.com/office/drawing/2014/main" id="{25F712FC-256E-4AF8-97C8-E7AD40DFC31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60" name=""/>
          <p:cNvGraphicFramePr/>
          <p:nvPr/>
        </p:nvGraphicFramePr>
        <p:xfrm>
          <a:off xmlns:a="http://schemas.openxmlformats.org/drawingml/2006/main" x="457200" y="1657350"/>
          <a:ext xmlns:a="http://schemas.openxmlformats.org/drawingml/2006/main" cx="10652760" cy="3746500"/>
        </p:xfrm>
        <a:graphic xmlns:a="http://schemas.openxmlformats.org/drawingml/2006/main">
          <a:graphicData uri="http://schemas.openxmlformats.org/drawingml/2006/table">
            <a:tbl>
              <a:tblPr firstRow="0" bandRow="0"/>
              <a:tblGrid>
                <a:gridCol w="3556000"/>
                <a:gridCol w="1778000"/>
                <a:gridCol w="1778000"/>
                <a:gridCol w="3543300"/>
              </a:tblGrid>
              <a:tr h="624417">
                <a:tc>
                  <a:txBody>
                    <a:bodyPr/>
                    <a:lstStyle/>
                    <a:p>
                      <a:r>
                        <a:rPr sz="1275" b="1">
                          <a:solidFill>
                            <a:srgbClr val="0B2475"/>
                          </a:solidFill>
                          <a:latin typeface="Lato"/>
                          <a:ea typeface="Lato"/>
                          <a:cs typeface="Lato"/>
                        </a:rPr>
                        <a:t>Independent sensitivity</a:t>
                      </a:r>
                    </a:p>
                  </a:txBody>
                  <a:tcPr marL="91440" marR="91440" marT="45720" marB="45720" anchor="ctr">
                    <a:solidFill>
                      <a:srgbClr val="F5F5F5"/>
                    </a:solidFill>
                  </a:tcPr>
                </a:tc>
                <a:tc>
                  <a:txBody>
                    <a:bodyPr/>
                    <a:lstStyle/>
                    <a:p>
                      <a:r>
                        <a:rPr sz="1275" b="1">
                          <a:solidFill>
                            <a:srgbClr val="202020"/>
                          </a:solidFill>
                          <a:latin typeface="Lato"/>
                          <a:ea typeface="Lato"/>
                          <a:cs typeface="Lato"/>
                        </a:rPr>
                        <a:t>Improve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Tanks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Preferred package</a:t>
                      </a:r>
                    </a:p>
                  </a:txBody>
                  <a:tcPr marL="91440" marR="91440" marT="45720" marB="45720" anchor="ctr">
                    <a:solidFill>
                      <a:srgbClr val="F5F5F5"/>
                    </a:solidFill>
                  </a:tcPr>
                </a:tc>
              </a:tr>
              <a:tr h="624417">
                <a:tc>
                  <a:txBody>
                    <a:bodyPr/>
                    <a:lstStyle/>
                    <a:p>
                      <a:r>
                        <a:rPr sz="1350" b="1">
                          <a:solidFill>
                            <a:srgbClr val="0B2475"/>
                          </a:solidFill>
                          <a:latin typeface="Lato"/>
                          <a:ea typeface="Lato"/>
                          <a:cs typeface="Lato"/>
                        </a:rPr>
                        <a:t>Base illustration</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+82.2</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 add tanks</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Capex +25%</a:t>
                      </a:r>
                    </a:p>
                  </a:txBody>
                  <a:tcPr marL="91440" marR="91440" marT="45720" marB="45720" anchor="ctr">
                    <a:solidFill>
                      <a:srgbClr val="FFFFFF"/>
                    </a:solidFill>
                  </a:tcPr>
                </a:tc>
                <a:tc>
                  <a:txBody>
                    <a:bodyPr/>
                    <a:lstStyle/>
                    <a:p>
                      <a:r>
                        <a:rPr sz="1350" b="0">
                          <a:solidFill>
                            <a:srgbClr val="202020"/>
                          </a:solidFill>
                          <a:latin typeface="Lato"/>
                          <a:ea typeface="Lato"/>
                          <a:cs typeface="Lato"/>
                        </a:rPr>
                        <a:t>-2.9</a:t>
                      </a:r>
                    </a:p>
                  </a:txBody>
                  <a:tcPr marL="91440" marR="91440" marT="45720" marB="45720" anchor="ctr">
                    <a:solidFill>
                      <a:srgbClr val="FFFFFF"/>
                    </a:solidFill>
                  </a:tcPr>
                </a:tc>
                <a:tc>
                  <a:txBody>
                    <a:bodyPr/>
                    <a:lstStyle/>
                    <a:p>
                      <a:r>
                        <a:rPr sz="1350" b="0">
                          <a:solidFill>
                            <a:srgbClr val="202020"/>
                          </a:solidFill>
                          <a:latin typeface="Lato"/>
                          <a:ea typeface="Lato"/>
                          <a:cs typeface="Lato"/>
                        </a:rPr>
                        <a:t>-80.6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No chargeable excess services</a:t>
                      </a:r>
                    </a:p>
                  </a:txBody>
                  <a:tcPr marL="91440" marR="91440" marT="45720" marB="45720" anchor="ctr">
                    <a:solidFill>
                      <a:srgbClr val="FFFFFF"/>
                    </a:solidFill>
                  </a:tcPr>
                </a:tc>
                <a:tc>
                  <a:txBody>
                    <a:bodyPr/>
                    <a:lstStyle/>
                    <a:p>
                      <a:r>
                        <a:rPr sz="1350" b="0">
                          <a:solidFill>
                            <a:srgbClr val="202020"/>
                          </a:solidFill>
                          <a:latin typeface="Lato"/>
                          <a:ea typeface="Lato"/>
                          <a:cs typeface="Lato"/>
                        </a:rPr>
                        <a:t>-151.1</a:t>
                      </a:r>
                    </a:p>
                  </a:txBody>
                  <a:tcPr marL="91440" marR="91440" marT="45720" marB="45720" anchor="ctr">
                    <a:solidFill>
                      <a:srgbClr val="FFFFFF"/>
                    </a:solidFill>
                  </a:tcPr>
                </a:tc>
                <a:tc>
                  <a:txBody>
                    <a:bodyPr/>
                    <a:lstStyle/>
                    <a:p>
                      <a:r>
                        <a:rPr sz="1350" b="0">
                          <a:solidFill>
                            <a:srgbClr val="202020"/>
                          </a:solidFill>
                          <a:latin typeface="Lato"/>
                          <a:ea typeface="Lato"/>
                          <a:cs typeface="Lato"/>
                        </a:rPr>
                        <a:t>-366.7</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Vopak gateway capture 60%</a:t>
                      </a:r>
                    </a:p>
                  </a:txBody>
                  <a:tcPr marL="91440" marR="91440" marT="45720" marB="45720" anchor="ctr">
                    <a:solidFill>
                      <a:srgbClr val="FFFFFF"/>
                    </a:solidFill>
                  </a:tcPr>
                </a:tc>
                <a:tc>
                  <a:txBody>
                    <a:bodyPr/>
                    <a:lstStyle/>
                    <a:p>
                      <a:r>
                        <a:rPr sz="1350" b="0">
                          <a:solidFill>
                            <a:srgbClr val="202020"/>
                          </a:solidFill>
                          <a:latin typeface="Lato"/>
                          <a:ea typeface="Lato"/>
                          <a:cs typeface="Lato"/>
                        </a:rPr>
                        <a:t>-10.9</a:t>
                      </a:r>
                    </a:p>
                  </a:txBody>
                  <a:tcPr marL="91440" marR="91440" marT="45720" marB="45720" anchor="ctr">
                    <a:solidFill>
                      <a:srgbClr val="FFFFFF"/>
                    </a:solidFill>
                  </a:tcPr>
                </a:tc>
                <a:tc>
                  <a:txBody>
                    <a:bodyPr/>
                    <a:lstStyle/>
                    <a:p>
                      <a:r>
                        <a:rPr sz="1350" b="0">
                          <a:solidFill>
                            <a:srgbClr val="202020"/>
                          </a:solidFill>
                          <a:latin typeface="Lato"/>
                          <a:ea typeface="Lato"/>
                          <a:cs typeface="Lato"/>
                        </a:rPr>
                        <a:t>-655.6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Captured volume -10%</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-258.1</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access / dispatch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E7064438-ACE1-4E5C-B2C8-29AA9586F97D}"/>
              </a:ext>
            </a:extLst>
          </p:cNvPr>
          <p:cNvSpPr>
            <a:spLocks xmlns:a="http://schemas.openxmlformats.org/drawingml/2006/main" noGrp="1"/>
          </p:cNvSpPr>
          <p:nvPr/>
        </p:nvSpPr>
        <p:spPr>
          <a:xfrm xmlns:a="http://schemas.openxmlformats.org/drawingml/2006/main">
            <a:off x="457200" y="56134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The lower working-capacity estimate increases assumed incremental rental in the model. The tank option still loses under the tested downside cases. Validate rental inclusions, customer volumes and project costs.</a:t>
            </a:r>
          </a:p>
        </p:txBody>
      </p:sp>
    </p:spTree>
    <p:extLst>
      <p:ext uri="{BB962C8B-B14F-4D97-AF65-F5344CB8AC3E}">
        <p14:creationId xmlns:p14="http://schemas.microsoft.com/office/powerpoint/2010/main" val="278411005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BB442C-A53C-4A32-9E55-10EBFA84A8EC}"/>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Estimated working tankage supports a handling sensitivity of 3.50 and 2.98bn litres at two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5B510A9-64F3-4C35-B195-FBC1E6C4F61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43</a:t>
            </a:r>
            <a:endParaRPr sz="1100"/>
          </a:p>
        </p:txBody>
      </p:sp>
      <p:sp>
        <p:nvSpPr>
          <p:cNvPr id="8" name="Unified source footer">
            <a:extLst xmlns:a="http://schemas.openxmlformats.org/drawingml/2006/main">
              <a:ext uri="{FF2B5EF4-FFF2-40B4-BE49-F238E27FC236}">
                <a16:creationId xmlns:a16="http://schemas.microsoft.com/office/drawing/2014/main" id="{A0C587D7-8D9F-42CD-BD70-40B4CA2240AF}"/>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Registered terminal_site_assumptions.csv. Capture cases hold base turns at two/month; the investment illustration separately tests 1.25 / 1.50 turns with the same Lesedi starting working capacity. Product allocation, access, peaks and downtime require validation.</a:t>
            </a:r>
            <a:endParaRPr sz="750"/>
          </a:p>
        </p:txBody>
      </p:sp>
      <p:sp>
        <p:nvSpPr>
          <p:cNvPr id="48" name="Strictly Confidential footer">
            <a:extLst xmlns:a="http://schemas.openxmlformats.org/drawingml/2006/main">
              <a:ext uri="{FF2B5EF4-FFF2-40B4-BE49-F238E27FC236}">
                <a16:creationId xmlns:a16="http://schemas.microsoft.com/office/drawing/2014/main" id="{54B9CA1A-9CC3-4DE3-A1E3-9B61B6D4ED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2407EC9-1612-094C-1705-85382BC15FE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778276-599C-2A6B-6C50-6DCD33805BF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B20E8F9-3771-6C49-6A40-18406754706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5A0E947-B3B3-EB62-5A96-928310C79DF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60" name=""/>
          <p:cNvGraphicFramePr/>
          <p:nvPr/>
        </p:nvGraphicFramePr>
        <p:xfrm>
          <a:off xmlns:a="http://schemas.openxmlformats.org/drawingml/2006/main" x="457200" y="1657350"/>
          <a:ext xmlns:a="http://schemas.openxmlformats.org/drawingml/2006/main" cx="10652760" cy="3048000"/>
        </p:xfrm>
        <a:graphic xmlns:a="http://schemas.openxmlformats.org/drawingml/2006/main">
          <a:graphicData uri="http://schemas.openxmlformats.org/drawingml/2006/table">
            <a:tbl>
              <a:tblPr firstRow="0" bandRow="0"/>
              <a:tblGrid>
                <a:gridCol w="1587500"/>
                <a:gridCol w="2413000"/>
                <a:gridCol w="2159000"/>
                <a:gridCol w="2159000"/>
                <a:gridCol w="2336800"/>
              </a:tblGrid>
              <a:tr h="1016000">
                <a:tc>
                  <a:txBody>
                    <a:bodyPr/>
                    <a:lstStyle/>
                    <a:p>
                      <a:r>
                        <a:rPr sz="1275" b="1">
                          <a:solidFill>
                            <a:srgbClr val="0B2475"/>
                          </a:solidFill>
                          <a:latin typeface="Lato"/>
                          <a:ea typeface="Lato"/>
                          <a:cs typeface="Lato"/>
                        </a:rPr>
                        <a:t>Site</a:t>
                      </a:r>
                    </a:p>
                  </a:txBody>
                  <a:tcPr marL="91440" marR="91440" marT="45720" marB="45720" anchor="ctr">
                    <a:solidFill>
                      <a:srgbClr val="F5F5F5"/>
                    </a:solidFill>
                  </a:tcPr>
                </a:tc>
                <a:tc>
                  <a:txBody>
                    <a:bodyPr/>
                    <a:lstStyle/>
                    <a:p>
                      <a:r>
                        <a:rPr sz="1275" b="1">
                          <a:solidFill>
                            <a:srgbClr val="202020"/>
                          </a:solidFill>
                          <a:latin typeface="Lato"/>
                          <a:ea typeface="Lato"/>
                          <a:cs typeface="Lato"/>
                        </a:rPr>
                        <a:t>Working estimate</a:t>
                      </a:r>
                    </a:p>
                  </a:txBody>
                  <a:tcPr marL="91440" marR="91440" marT="45720" marB="45720" anchor="ctr">
                    <a:solidFill>
                      <a:srgbClr val="F5F5F5"/>
                    </a:solidFill>
                  </a:tcPr>
                </a:tc>
                <a:tc>
                  <a:txBody>
                    <a:bodyPr/>
                    <a:lstStyle/>
                    <a:p>
                      <a:r>
                        <a:rPr sz="1275" b="1">
                          <a:solidFill>
                            <a:srgbClr val="202020"/>
                          </a:solidFill>
                          <a:latin typeface="Lato"/>
                          <a:ea typeface="Lato"/>
                          <a:cs typeface="Lato"/>
                        </a:rPr>
                        <a:t>Low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Base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High turns</a:t>
                      </a:r>
                    </a:p>
                  </a:txBody>
                  <a:tcPr marL="91440" marR="91440" marT="45720" marB="45720" anchor="ctr">
                    <a:solidFill>
                      <a:srgbClr val="F5F5F5"/>
                    </a:solidFill>
                  </a:tcPr>
                </a:tc>
              </a:tr>
              <a:tr h="1016000">
                <a:tc>
                  <a:txBody>
                    <a:bodyPr/>
                    <a:lstStyle/>
                    <a:p>
                      <a:r>
                        <a:rPr sz="1350" b="1">
                          <a:solidFill>
                            <a:srgbClr val="0B2475"/>
                          </a:solidFill>
                          <a:latin typeface="Lato"/>
                          <a:ea typeface="Lato"/>
                          <a:cs typeface="Lato"/>
                        </a:rPr>
                        <a:t>Durban</a:t>
                      </a:r>
                    </a:p>
                  </a:txBody>
                  <a:tcPr marL="91440" marR="91440" marT="45720" marB="45720" anchor="ctr">
                    <a:solidFill>
                      <a:srgbClr val="FFFFFF"/>
                    </a:solidFill>
                  </a:tcPr>
                </a:tc>
                <a:tc>
                  <a:txBody>
                    <a:bodyPr/>
                    <a:lstStyle/>
                    <a:p>
                      <a:r>
                        <a:rPr sz="1350" b="0">
                          <a:solidFill>
                            <a:srgbClr val="202020"/>
                          </a:solidFill>
                          <a:latin typeface="Lato"/>
                          <a:ea typeface="Lato"/>
                          <a:cs typeface="Lato"/>
                        </a:rPr>
                        <a:t>146,000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1.75bn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5.26bn L</a:t>
                      </a:r>
                    </a:p>
                    <a:p>
                      <a:r>
                        <a:rPr sz="1350" b="0">
                          <a:solidFill>
                            <a:srgbClr val="202020"/>
                          </a:solidFill>
                          <a:latin typeface="Lato"/>
                          <a:ea typeface="Lato"/>
                          <a:cs typeface="Lato"/>
                        </a:rPr>
                        <a:t>3 turns/month</a:t>
                      </a:r>
                    </a:p>
                  </a:txBody>
                  <a:tcPr marL="91440" marR="91440" marT="45720" marB="45720" anchor="ctr">
                    <a:solidFill>
                      <a:srgbClr val="FFFFFF"/>
                    </a:solidFill>
                  </a:tcPr>
                </a:tc>
              </a:tr>
              <a:tr h="1016000">
                <a:tc>
                  <a:txBody>
                    <a:bodyPr/>
                    <a:lstStyle/>
                    <a:p>
                      <a:r>
                        <a:rPr sz="1350" b="1">
                          <a:solidFill>
                            <a:srgbClr val="0B2475"/>
                          </a:solidFill>
                          <a:latin typeface="Lato"/>
                          <a:ea typeface="Lato"/>
                          <a:cs typeface="Lato"/>
                        </a:rPr>
                        <a:t>Lesedi</a:t>
                      </a:r>
                    </a:p>
                  </a:txBody>
                  <a:tcPr marL="91440" marR="91440" marT="45720" marB="45720" anchor="ctr">
                    <a:solidFill>
                      <a:srgbClr val="FFFFFF"/>
                    </a:solidFill>
                  </a:tcPr>
                </a:tc>
                <a:tc>
                  <a:txBody>
                    <a:bodyPr/>
                    <a:lstStyle/>
                    <a:p>
                      <a:r>
                        <a:rPr sz="1350" b="0">
                          <a:solidFill>
                            <a:srgbClr val="202020"/>
                          </a:solidFill>
                          <a:latin typeface="Lato"/>
                          <a:ea typeface="Lato"/>
                          <a:cs typeface="Lato"/>
                        </a:rPr>
                        <a:t>124,000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1.49bn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2.98bn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3.57bn L</a:t>
                      </a:r>
                    </a:p>
                    <a:p>
                      <a:r>
                        <a:rPr sz="1350" b="0">
                          <a:solidFill>
                            <a:srgbClr val="202020"/>
                          </a:solidFill>
                          <a:latin typeface="Lato"/>
                          <a:ea typeface="Lato"/>
                          <a:cs typeface="Lato"/>
                        </a:rPr>
                        <a:t>2.4 turns/month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F9C06B21-56AB-4138-8BA0-D5AE9599C7C8}"/>
              </a:ext>
            </a:extLst>
          </p:cNvPr>
          <p:cNvSpPr>
            <a:spLocks xmlns:a="http://schemas.openxmlformats.org/drawingml/2006/main" noGrp="1"/>
          </p:cNvSpPr>
          <p:nvPr/>
        </p:nvSpPr>
        <p:spPr>
          <a:xfrm xmlns:a="http://schemas.openxmlformats.org/drawingml/2006/main">
            <a:off x="457200" y="49149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Durban: estimated petrol/diesel subset, not all gross tankage. Lesedi: 88,000 m³ documented plus 36,000 estimated. Handling sensitivities are not measured throughput or guaranteed operating limits.</a:t>
            </a:r>
          </a:p>
        </p:txBody>
      </p:sp>
    </p:spTree>
    <p:extLst>
      <p:ext uri="{BB962C8B-B14F-4D97-AF65-F5344CB8AC3E}">
        <p14:creationId xmlns:p14="http://schemas.microsoft.com/office/powerpoint/2010/main" val="74646006"/>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2026-10-10T11:49:06.0890000Z</dcterms:created>
  <dcterms:modified xsi:type="dcterms:W3CDTF">2026-10-10T11:49:06.0890000Z</dcterms:modified>
</coreProperties>
</file>