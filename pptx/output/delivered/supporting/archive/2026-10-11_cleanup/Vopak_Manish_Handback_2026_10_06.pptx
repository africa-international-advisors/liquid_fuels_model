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4"/>
  </p:sldMasterIdLst>
  <p:notesMasterIdLst>
    <p:notesMasterId r:id="rId8"/>
  </p:notesMasterIdLst>
  <p:sldIdLst>
    <p:sldId id="256" r:id="rId7"/>
    <p:sldId id="262" r:id="rId6"/>
    <p:sldId id="263" r:id="rId16"/>
    <p:sldId id="264" r:id="rId17"/>
    <p:sldId id="265" r:id="rId5"/>
    <p:sldId id="266" r:id="rId19"/>
    <p:sldId id="267" r:id="rId20"/>
    <p:sldId id="268" r:id="rId21"/>
    <p:sldId id="269" r:id="rId22"/>
    <p:sldId id="261" r:id="rId18"/>
  </p:sldIdLst>
  <p:sldSz cx="115887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Henry Gilfillan" initials="HG [2]" lastIdx="8" clrIdx="6">
    <p:extLst>
      <p:ext uri="{19B8F6BF-5375-455C-9EA6-DF929625EA0E}">
        <p15:presenceInfo xmlns:p15="http://schemas.microsoft.com/office/powerpoint/2012/main" userId="S::henry.g@africaia.com::20d8d1d5-b81d-4db2-8d49-9db47f87700a" providerId="AD"/>
      </p:ext>
    </p:extLst>
  </p:cmAuthor>
  <p:cmAuthor id="1" name="Abbas Bilgrami" initials="AB [2]" lastIdx="8" clrIdx="0">
    <p:extLst>
      <p:ext uri="{19B8F6BF-5375-455C-9EA6-DF929625EA0E}">
        <p15:presenceInfo xmlns:p15="http://schemas.microsoft.com/office/powerpoint/2012/main" userId="da833efe2a07dd73" providerId="Windows Live"/>
      </p:ext>
    </p:extLst>
  </p:cmAuthor>
  <p:cmAuthor id="8" name="Abbas Bilgrami" initials="AB" lastIdx="34" clrIdx="7">
    <p:extLst>
      <p:ext uri="{19B8F6BF-5375-455C-9EA6-DF929625EA0E}">
        <p15:presenceInfo xmlns:p15="http://schemas.microsoft.com/office/powerpoint/2012/main" userId="S::abbas.b@africaia.com::09d4207e-ca10-48c5-9e33-f8dec02b9ddc" providerId="AD"/>
      </p:ext>
    </p:extLst>
  </p:cmAuthor>
  <p:cmAuthor id="2" name="Henry Gilfillan" initials="HG" lastIdx="82" clrIdx="1">
    <p:extLst>
      <p:ext uri="{19B8F6BF-5375-455C-9EA6-DF929625EA0E}">
        <p15:presenceInfo xmlns:p15="http://schemas.microsoft.com/office/powerpoint/2012/main" userId="Henry Gilfillan" providerId="None"/>
      </p:ext>
    </p:extLst>
  </p:cmAuthor>
  <p:cmAuthor id="9" name="Paayal Kanjee Govind" initials="PKG" lastIdx="4" clrIdx="8">
    <p:extLst>
      <p:ext uri="{19B8F6BF-5375-455C-9EA6-DF929625EA0E}">
        <p15:presenceInfo xmlns:p15="http://schemas.microsoft.com/office/powerpoint/2012/main" userId="Paayal Kanjee Govind" providerId="None"/>
      </p:ext>
    </p:extLst>
  </p:cmAuthor>
  <p:cmAuthor id="3" name="Ismaeel" initials="I" lastIdx="104" clrIdx="2">
    <p:extLst>
      <p:ext uri="{19B8F6BF-5375-455C-9EA6-DF929625EA0E}">
        <p15:presenceInfo xmlns:p15="http://schemas.microsoft.com/office/powerpoint/2012/main" userId="Ismaeel" providerId="None"/>
      </p:ext>
    </p:extLst>
  </p:cmAuthor>
  <p:cmAuthor id="4" name="Jennifer Zeiss" initials="JZ" lastIdx="19" clrIdx="3">
    <p:extLst>
      <p:ext uri="{19B8F6BF-5375-455C-9EA6-DF929625EA0E}">
        <p15:presenceInfo xmlns:p15="http://schemas.microsoft.com/office/powerpoint/2012/main" userId="Jennifer Zeiss" providerId="None"/>
      </p:ext>
    </p:extLst>
  </p:cmAuthor>
  <p:cmAuthor id="5" name="Gabrielle Knott" initials="GK" lastIdx="2" clrIdx="4">
    <p:extLst>
      <p:ext uri="{19B8F6BF-5375-455C-9EA6-DF929625EA0E}">
        <p15:presenceInfo xmlns:p15="http://schemas.microsoft.com/office/powerpoint/2012/main" userId="Gabrielle Knott" providerId="None"/>
      </p:ext>
    </p:extLst>
  </p:cmAuthor>
  <p:cmAuthor id="6" name="James Brown" initials="JB" lastIdx="2" clrIdx="5">
    <p:extLst>
      <p:ext uri="{19B8F6BF-5375-455C-9EA6-DF929625EA0E}">
        <p15:presenceInfo xmlns:p15="http://schemas.microsoft.com/office/powerpoint/2012/main" userId="S::james@africaia.com::5c3cb27f-96be-4c72-848f-aa01b93992f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3552"/>
    <a:srgbClr val="EBF9FE"/>
    <a:srgbClr val="FDD9A4"/>
    <a:srgbClr val="2D6196"/>
    <a:srgbClr val="326757"/>
    <a:srgbClr val="728A94"/>
    <a:srgbClr val="F01C24"/>
    <a:srgbClr val="56787A"/>
    <a:srgbClr val="CFDFF0"/>
    <a:srgbClr val="008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C87D74-0723-4269-ADB4-1C2880134AC4}" v="1" dt="2026-10-01T12:10:22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Relationship Id="rId15" Type="http://schemas.microsoft.com/office/2018/10/relationships/authors" Target="authors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1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7D6B1-D525-4628-ADA5-8E1FE74ADA4C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20738" y="1143000"/>
            <a:ext cx="5216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01EB5-DFDD-47C4-B7E0-8A0182602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94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four sections: the project question, the analytical</a:t>
            </a:r>
          </a:p>
          <a:p>
            <a:r>
              <a:t>requirements, the model-build problem and the delivery approach. The purpose is to</a:t>
            </a:r>
          </a:p>
          <a:p>
            <a:r>
              <a:t>connect the analyst's tasks to the decisions the engagement needs to support.</a:t>
            </a:r>
          </a:p>
          <a:p>
            <a:r>
              <a:t>Week 1 analytical pack, 6 October 2026. Existing kickoff cover/closing reused at user request.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note: Closing cover photograph: Royal Vopak, Terminal Lesedi. https://www.vopak.com/terminals/vopak-terminal-lesedi</a:t>
            </a:r>
          </a:p>
          <a:p>
            <a:r>
              <a:t>Week 1 analytical pack, 6 October 2026. Existing kickoff cover/closing reused at user request.</a:t>
            </a:r>
          </a:p>
          <a:p>
            <a:r>
              <a:t>SCR delivery order: page 16 of 16. Gap IDs and original evidence references retained in notes.</a:t>
            </a:r>
          </a:p>
          <a:p>
            <a:r>
              <a:t>SCR delivery order: page 16 of 16. Gap IDs and original evidence references retained in notes.</a:t>
            </a:r>
          </a:p>
          <a:p>
            <a:r>
              <a:t>SCR delivery order: page 16 of 16. Gap IDs and original evidence references retained in notes.</a:t>
            </a:r>
          </a:p>
          <a:p>
            <a:r>
              <a:t>SCR delivery order: page 16 of 16. Gap IDs and original evidence references retained in notes.</a:t>
            </a:r>
          </a:p>
          <a:p>
            <a:r>
              <a:t>SCR delivery order: page 16 of 16. Gap IDs and original evidence references retained in notes.</a:t>
            </a:r>
          </a:p>
          <a:p>
            <a:r>
              <a:t>SCR delivery order: page 16 of 16. Gap IDs and original evidence references retained in notes.</a:t>
            </a:r>
          </a:p>
          <a:p>
            <a:r>
              <a:t>SCR delivery order: page 16 of 16. Gap IDs and original evidence references retained in notes.</a:t>
            </a:r>
          </a:p>
          <a:p>
            <a:r>
              <a:t>SCR delivery order: page 16 of 16. Gap IDs and original evidence references retained in notes.</a:t>
            </a:r>
          </a:p>
          <a:p>
            <a:r>
              <a:t>SCR delivery order: page 16 of 16. Gap IDs and original evidence references retained in notes.</a:t>
            </a:r>
          </a:p>
          <a:p>
            <a:r>
              <a:t>SCR delivery order: page 16 of 16. Gap IDs and original evidence references retained in notes.</a:t>
            </a:r>
          </a:p>
          <a:p>
            <a:r>
              <a:t>SCR delivery order: page 16 of 16. Gap IDs and original evidence references retained in notes.</a:t>
            </a:r>
          </a:p>
          <a:p>
            <a:r>
              <a:t>SCR delivery order: page 16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16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16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16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16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16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3" descr="A picture containing sky, building, outdoor, city&#10;&#10;Description automatically generated">
            <a:extLst>
              <a:ext uri="{FF2B5EF4-FFF2-40B4-BE49-F238E27FC236}">
                <a16:creationId xmlns:a16="http://schemas.microsoft.com/office/drawing/2014/main" id="{AF958CDF-21C2-4696-B1FF-98C6C69234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5137149"/>
            <a:ext cx="4933950" cy="1571625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143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/>
          <p:nvPr userDrawn="1"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ver title panel"/>
          <p:cNvSpPr/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Vopak cover logo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3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/>
          <p:cNvSpPr/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Vopak cover logo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0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766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Click to edit Master title style</a:t>
            </a:r>
          </a:p>
        </p:txBody>
      </p:sp>
      <p:cxnSp>
        <p:nvCxnSpPr>
          <p:cNvPr id="7" name="Title and body separator"/>
          <p:cNvCxnSpPr/>
          <p:nvPr/>
        </p:nvCxn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964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65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43CB578-80E0-884E-8515-53279D5DAC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4120" y="6556248"/>
            <a:ext cx="777240" cy="173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 txBox="1">
            <a:spLocks/>
          </p:cNvSpPr>
          <p:nvPr userDrawn="1"/>
        </p:nvSpPr>
        <p:spPr>
          <a:xfrm>
            <a:off x="457200" y="6528816"/>
            <a:ext cx="8595360" cy="228600"/>
          </a:xfrm>
          <a:prstGeom prst="rect">
            <a:avLst/>
          </a:prstGeom>
        </p:spPr>
        <p:txBody>
          <a:bodyPr anchor="ctr" tIns="0" bIns="0">
            <a:normAutofit/>
          </a:bodyPr>
          <a:lstStyle>
            <a:lvl1pPr marL="0" indent="0" algn="l" defTabSz="869137" rtl="0" eaLnBrk="1" latinLnBrk="0" hangingPunct="1">
              <a:lnSpc>
                <a:spcPct val="90000"/>
              </a:lnSpc>
              <a:spcBef>
                <a:spcPts val="951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185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6422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0990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5559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0127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24696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9265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9383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800">
                <a:solidFill>
                  <a:srgbClr val="404040"/>
                </a:solidFill>
                <a:latin typeface="Lato"/>
              </a:defRPr>
            </a:pPr>
          </a:p>
        </p:txBody>
      </p:sp>
      <p:cxnSp>
        <p:nvCxnSpPr>
          <p:cNvPr id="10" name="Fine footer rule"/>
          <p:cNvCxnSpPr/>
          <p:nvPr/>
        </p:nvCxnSpPr>
        <p:spPr>
          <a:xfrm>
            <a:off x="457200" y="6437376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01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8" r:id="rId2"/>
    <p:sldLayoutId id="2147483723" r:id="rId3"/>
    <p:sldLayoutId id="2147483724" r:id="rId4"/>
    <p:sldLayoutId id="2147483725" r:id="rId5"/>
    <p:sldLayoutId id="2147483698" r:id="rId6"/>
  </p:sldLayoutIdLst>
  <p:hf hdr="0" ftr="0" dt="0"/>
  <p:txStyles>
    <p:titleStyle>
      <a:lvl1pPr algn="l" defTabSz="869137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284" indent="-217284" algn="l" defTabSz="869137" rtl="0" eaLnBrk="1" latinLnBrk="0" hangingPunct="1">
        <a:lnSpc>
          <a:spcPct val="90000"/>
        </a:lnSpc>
        <a:spcBef>
          <a:spcPts val="95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5185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6422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990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55559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127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824696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259265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69383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1pPr>
      <a:lvl2pPr marL="43456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2pPr>
      <a:lvl3pPr marL="869137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3pPr>
      <a:lvl4pPr marL="1303706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4pPr>
      <a:lvl5pPr marL="1738274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5pPr>
      <a:lvl6pPr marL="2172843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607412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04198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47654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hyperlink" Target="https://www.vopak.com/terminals/vopak-terminal-durban" TargetMode="External"/><Relationship Id="rId5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8.xml"/><Relationship Id="rId5" Type="http://schemas.openxmlformats.org/officeDocument/2006/relationships/slide" Target="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8.xml"/><Relationship Id="rId5" Type="http://schemas.openxmlformats.org/officeDocument/2006/relationships/slide" Target="slide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8.xml"/><Relationship Id="rId5" Type="http://schemas.openxmlformats.org/officeDocument/2006/relationships/slide" Target="slide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8.xml"/><Relationship Id="rId5" Type="http://schemas.openxmlformats.org/officeDocument/2006/relationships/slide" Target="slide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8.xml"/><Relationship Id="rId5" Type="http://schemas.openxmlformats.org/officeDocument/2006/relationships/slide" Target="slide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8.xml"/><Relationship Id="rId5" Type="http://schemas.openxmlformats.org/officeDocument/2006/relationships/slide" Target="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8.xml"/><Relationship Id="rId5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8.xml"/><Relationship Id="rId5" Type="http://schemas.openxmlformats.org/officeDocument/2006/relationships/slide" Target="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hyperlink" Target="https://www.vopak.com/terminals/vopak-terminal-lesedi" TargetMode="Externa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2468880"/>
            <a:ext cx="4709160" cy="1554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100" b="0">
                <a:solidFill>
                  <a:srgbClr val="FFFFFF"/>
                </a:solidFill>
                <a:latin typeface="Lato"/>
              </a:defRPr>
            </a:pPr>
            <a:r>
              <a:t>Liquid fuels</a:t>
            </a:r>
          </a:p>
          <a:p>
            <a:pPr>
              <a:spcAft>
                <a:spcPts val="800"/>
              </a:spcAft>
              <a:defRPr sz="3100" b="0">
                <a:solidFill>
                  <a:srgbClr val="FFFFFF"/>
                </a:solidFill>
                <a:latin typeface="Lato"/>
              </a:defRPr>
            </a:pPr>
            <a:r>
              <a:t>demand and supply</a:t>
            </a:r>
          </a:p>
          <a:p>
            <a:pPr>
              <a:spcAft>
                <a:spcPts val="800"/>
              </a:spcAft>
              <a:defRPr sz="3100" b="0">
                <a:solidFill>
                  <a:srgbClr val="FFFFFF"/>
                </a:solidFill>
                <a:latin typeface="Lato"/>
              </a:defRPr>
            </a:pPr>
            <a:r>
              <a:t>model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4617720"/>
            <a:ext cx="457200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Lato"/>
              </a:defRPr>
            </a:pPr>
            <a:r>
              <a:t>Manish hand-back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239512"/>
            <a:ext cx="45720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t>6 October | Sourced data, explicit gaps and levers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696712"/>
            <a:ext cx="45720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t>6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053328"/>
            <a:ext cx="45720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Lato"/>
              </a:defRPr>
            </a:pPr>
            <a:r>
              <a:t>Internal working discussion</a:t>
            </a:r>
          </a:p>
        </p:txBody>
      </p:sp>
      <p:sp>
        <p:nvSpPr>
          <p:cNvPr id="11" name="Photo source credit">
            <a:hlinkClick r:id="rId4"/>
          </p:cNvPr>
          <p:cNvSpPr txBox="1"/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FFFFFF"/>
                </a:solidFill>
                <a:latin typeface="Lato"/>
              </a:defRPr>
            </a:pPr>
            <a:r>
              <a:t>Photo source: Royal Vopak | Terminal Durban | vopak.com</a:t>
            </a:r>
          </a:p>
        </p:txBody>
      </p:sp>
      <p:sp>
        <p:nvSpPr>
          <p:cNvPr id="12" name="Strictly Confidential footer"/>
          <p:cNvSpPr txBox="1"/>
          <p:nvPr/>
        </p:nvSpPr>
        <p:spPr>
          <a:xfrm>
            <a:off x="457200" y="6711696"/>
            <a:ext cx="201168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BDBEC1"/>
                </a:solidFill>
                <a:latin typeface="Lato"/>
              </a:defRPr>
            </a:pPr>
            <a:r>
              <a:t>Strictly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packages are back: three complete, two partial with stated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27632"/>
            <a:ext cx="1065276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1151A"/>
                </a:solidFill>
                <a:latin typeface="Lato"/>
              </a:defRPr>
            </a:pPr>
            <a:r>
              <a:t>Handback against the 6 October checklist | petrol and diesel; jet tracked separately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920240"/>
            <a:ext cx="10652760" cy="0"/>
          </a:xfrm>
          <a:prstGeom prst="line">
            <a:avLst/>
          </a:prstGeom>
          <a:ln w="762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47104"/>
            <a:ext cx="96926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11151A"/>
                </a:solidFill>
                <a:latin typeface="Lato"/>
              </a:defRPr>
            </a:pPr>
            <a:r>
              <a:t>Source: evidence notes on manish-branch, 6 October 2026; diesel gap wording corrected 7 October after Nigel's review. Changes are the analyst's position, pending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11696"/>
            <a:ext cx="2011680" cy="12801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11151A"/>
                </a:solidFill>
                <a:latin typeface="Lato"/>
              </a:defRPr>
            </a:pPr>
            <a:r>
              <a:t>Strictly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29968"/>
          <a:ext cx="10652760" cy="3611880"/>
        </p:xfrm>
        <a:graphic>
          <a:graphicData uri="http://schemas.openxmlformats.org/drawingml/2006/table">
            <a:tbl>
              <a:tblPr firstRow="0" bandRow="0"/>
              <a:tblGrid>
                <a:gridCol w="1600200"/>
                <a:gridCol w="6675120"/>
                <a:gridCol w="2377440"/>
              </a:tblGrid>
              <a:tr h="6019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Work package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What came back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1 Integrity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Every P1 flag traced to its source cell. Three extraction errors fixed, one of them ours (2013 sales read from a superseded sheet). Industry and agriculture baselines now sourced.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Complete; decisions with Nigel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2 Traceability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45 datasets mapped from publisher to original, extract and consuming function. The engine still reads six files, all from the Reatile workbook.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3 Provincial demand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Nothing official exists after 2023-Q1; the department's own schedule promised data to end-2024. Estimate for 2023-24: petrol within 2-3%, diesel 5-11%.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Partial: no later data exists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4 Fuel balance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SARS customs data fetched by script, 2010 to August 2026. Sales less net imports computed by product. A diesel gap of 3-4 bn litres a year is a hypothesis to test.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Partial: no product split or stocks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5 Driver evidence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All seven categories sourced or marked. Prices to October 2026, quarterly GDP, mining, manufacturing, freight and CPI series added.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Complete; open rows listed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989320"/>
            <a:ext cx="1065276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A2373"/>
                </a:solidFill>
                <a:latin typeface="Lato"/>
              </a:defRPr>
            </a:pPr>
            <a:r>
              <a:t>155 tests pass; lfm check passes with 52 open exceptions; both scenarios run. No change is on main.</a:t>
            </a:r>
          </a:p>
        </p:txBody>
      </p:sp>
      <p:sp>
        <p:nvSpPr>
          <p:cNvPr id="9" name="Chevron 8">
            <a:hlinkClick action="ppaction://hlinksldjump" r:id="rId2"/>
          </p:cNvPr>
          <p:cNvSpPr/>
          <p:nvPr/>
        </p:nvSpPr>
        <p:spPr>
          <a:xfrm>
            <a:off x="457200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Lato"/>
              </a:defRPr>
            </a:pPr>
            <a:r>
              <a:t>1  Status</a:t>
            </a:r>
          </a:p>
        </p:txBody>
      </p:sp>
      <p:sp>
        <p:nvSpPr>
          <p:cNvPr id="10" name="Chevron 9">
            <a:hlinkClick action="ppaction://hlinksldjump" r:id="rId3"/>
          </p:cNvPr>
          <p:cNvSpPr/>
          <p:nvPr/>
        </p:nvSpPr>
        <p:spPr>
          <a:xfrm>
            <a:off x="3136392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2  Findings</a:t>
            </a:r>
          </a:p>
        </p:txBody>
      </p:sp>
      <p:sp>
        <p:nvSpPr>
          <p:cNvPr id="11" name="Chevron 10">
            <a:hlinkClick action="ppaction://hlinksldjump" r:id="rId4"/>
          </p:cNvPr>
          <p:cNvSpPr/>
          <p:nvPr/>
        </p:nvSpPr>
        <p:spPr>
          <a:xfrm>
            <a:off x="5815584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3  Levers</a:t>
            </a:r>
          </a:p>
        </p:txBody>
      </p:sp>
      <p:sp>
        <p:nvSpPr>
          <p:cNvPr id="12" name="Chevron 11">
            <a:hlinkClick action="ppaction://hlinksldjump" r:id="rId5"/>
          </p:cNvPr>
          <p:cNvSpPr/>
          <p:nvPr/>
        </p:nvSpPr>
        <p:spPr>
          <a:xfrm>
            <a:off x="8494776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4 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input changes are applied on the branch; one moves model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27632"/>
            <a:ext cx="1065276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1151A"/>
                </a:solidFill>
                <a:latin typeface="Lato"/>
              </a:defRPr>
            </a:pPr>
            <a:r>
              <a:t>Approved by Manish, awaiting Nigel | register reconciled, every changed row marked unreviewed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920240"/>
            <a:ext cx="10652760" cy="0"/>
          </a:xfrm>
          <a:prstGeom prst="line">
            <a:avLst/>
          </a:prstGeom>
          <a:ln w="762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47104"/>
            <a:ext cx="96926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11151A"/>
                </a:solidFill>
                <a:latin typeface="Lato"/>
              </a:defRPr>
            </a:pPr>
            <a:r>
              <a:t>Source: evidence notes on manish-branch, 6 October 2026; diesel gap wording corrected 7 October after Nigel's review. Changes are the analyst's position, pending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11696"/>
            <a:ext cx="2011680" cy="12801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11151A"/>
                </a:solidFill>
                <a:latin typeface="Lato"/>
              </a:defRPr>
            </a:pPr>
            <a:r>
              <a:t>Strictly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29968"/>
          <a:ext cx="10652760" cy="3383280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4434840"/>
                <a:gridCol w="2377440"/>
              </a:tblGrid>
              <a:tr h="563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Change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Evidence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Effect on the model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2013 national sales: diesel 11.89 to 12.14, petrol 11.15 to 11.44 bn litres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Department's published sheet, both district workbooks and the Reatile history agree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None: reference data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Refinery file: 948 rows to 348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Production_High range ran to row 13,102 and swept in seven other tables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None: supply identical every year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Jet history: 72 rows to 57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Extraction ran into three regional tables below the national one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None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Industry baseline 2.5 to 1.50 bn litres; agriculture 0.7 to 1.06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Department energy balance, 2021. Placeholders had no source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Diesel demand falls 0.63 bn litres a year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New reference data: SARS trade, operator output, prices, quarterly GDP, Stats SA monthly, power diesel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Each with an evidence record and register rows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None: not read by the engine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52160"/>
            <a:ext cx="1065276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A2373"/>
                </a:solidFill>
                <a:latin typeface="Lato"/>
              </a:defRPr>
            </a:pPr>
            <a:r>
              <a:t>Left unchanged for Nigel: marine baseline, elasticities, road parameters, 2014 and 2018 provincial treatment.</a:t>
            </a:r>
          </a:p>
        </p:txBody>
      </p:sp>
      <p:sp>
        <p:nvSpPr>
          <p:cNvPr id="9" name="Chevron 8">
            <a:hlinkClick action="ppaction://hlinksldjump" r:id="rId2"/>
          </p:cNvPr>
          <p:cNvSpPr/>
          <p:nvPr/>
        </p:nvSpPr>
        <p:spPr>
          <a:xfrm>
            <a:off x="457200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1  Status</a:t>
            </a:r>
          </a:p>
        </p:txBody>
      </p:sp>
      <p:sp>
        <p:nvSpPr>
          <p:cNvPr id="10" name="Chevron 9">
            <a:hlinkClick action="ppaction://hlinksldjump" r:id="rId3"/>
          </p:cNvPr>
          <p:cNvSpPr/>
          <p:nvPr/>
        </p:nvSpPr>
        <p:spPr>
          <a:xfrm>
            <a:off x="3136392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Lato"/>
              </a:defRPr>
            </a:pPr>
            <a:r>
              <a:t>2  Findings</a:t>
            </a:r>
          </a:p>
        </p:txBody>
      </p:sp>
      <p:sp>
        <p:nvSpPr>
          <p:cNvPr id="11" name="Chevron 10">
            <a:hlinkClick action="ppaction://hlinksldjump" r:id="rId4"/>
          </p:cNvPr>
          <p:cNvSpPr/>
          <p:nvPr/>
        </p:nvSpPr>
        <p:spPr>
          <a:xfrm>
            <a:off x="5815584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3  Levers</a:t>
            </a:r>
          </a:p>
        </p:txBody>
      </p:sp>
      <p:sp>
        <p:nvSpPr>
          <p:cNvPr id="12" name="Chevron 11">
            <a:hlinkClick action="ppaction://hlinksldjump" r:id="rId5"/>
          </p:cNvPr>
          <p:cNvSpPr/>
          <p:nvPr/>
        </p:nvSpPr>
        <p:spPr>
          <a:xfrm>
            <a:off x="8494776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4 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Customs data settles 2024 diesel imports and shows where fuel enters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27632"/>
            <a:ext cx="1065276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1151A"/>
                </a:solidFill>
                <a:latin typeface="Lato"/>
              </a:defRPr>
            </a:pPr>
            <a:r>
              <a:t>SARS trade statistics, chapter 27 fuel lines | litres from 2014; fetched by script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920240"/>
            <a:ext cx="10652760" cy="0"/>
          </a:xfrm>
          <a:prstGeom prst="line">
            <a:avLst/>
          </a:prstGeom>
          <a:ln w="762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47104"/>
            <a:ext cx="96926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11151A"/>
                </a:solidFill>
                <a:latin typeface="Lato"/>
              </a:defRPr>
            </a:pPr>
            <a:r>
              <a:t>Source: evidence notes on manish-branch, 6 October 2026; diesel gap wording corrected 7 October after Nigel's review. Changes are the analyst's position, pending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11696"/>
            <a:ext cx="2011680" cy="12801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11151A"/>
                </a:solidFill>
                <a:latin typeface="Lato"/>
              </a:defRPr>
            </a:pPr>
            <a:r>
              <a:t>Strictly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29968"/>
          <a:ext cx="5486400" cy="1737360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1097280"/>
                <a:gridCol w="1097280"/>
                <a:gridCol w="1188720"/>
              </a:tblGrid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2024, bn litres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SARS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FIASA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Trade report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Diesel imports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10.793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14.793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10.8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Petrol imports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4.001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4.000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4.0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Diesel exports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0.796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0.821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0.79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Petrol exports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0.920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0.939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0.92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31920"/>
          <a:ext cx="4297680" cy="2057400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1097280"/>
                <a:gridCol w="1097280"/>
              </a:tblGrid>
              <a:tr h="3429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Imports cleared at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2024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Share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Durban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11.84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80%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Cape Town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1.09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7%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Mossel Bay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0.62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4%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East London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0.53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4%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Richards Bay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0.39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3%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92240" y="2103120"/>
            <a:ext cx="45720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A2373"/>
                </a:solidFill>
                <a:latin typeface="Lato"/>
              </a:defRPr>
            </a:pPr>
            <a:r>
              <a:t>01 | FIASA's figure is a misprint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572000" cy="8229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11151A"/>
                </a:solidFill>
                <a:latin typeface="Lato"/>
              </a:defRPr>
            </a:pPr>
            <a:r>
              <a:t>FIASA's 14 793 is exactly 4 000 million litres above customs. In 2014-17, 2020 and 2025 the two agree to within 12 million litres.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337560"/>
            <a:ext cx="45720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A2373"/>
                </a:solidFill>
                <a:latin typeface="Lato"/>
              </a:defRPr>
            </a:pPr>
            <a:r>
              <a:t>02 | Durban clears four-fifths of imports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657600"/>
            <a:ext cx="4572000" cy="8229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11151A"/>
                </a:solidFill>
                <a:latin typeface="Lato"/>
              </a:defRPr>
            </a:pPr>
            <a:r>
              <a:t>Petrol plus diesel, by customs office. This is a public proxy for entry port, not a terminal record. 98% of diesel imports arrive by sea.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572000"/>
            <a:ext cx="457200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A2373"/>
                </a:solidFill>
                <a:latin typeface="Lato"/>
              </a:defRPr>
            </a:pPr>
            <a:r>
              <a:t>03 | Botswana is sourcing less through South Africa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892040"/>
            <a:ext cx="4572000" cy="8229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11151A"/>
                </a:solidFill>
                <a:latin typeface="Lato"/>
              </a:defRPr>
            </a:pPr>
            <a:r>
              <a:t>Its recorded imports from South Africa fell from 1.02 to 0.63 bn litres between 2023 and 2024; SARS exports show the same direction.</a:t>
            </a:r>
          </a:p>
        </p:txBody>
      </p:sp>
      <p:sp>
        <p:nvSpPr>
          <p:cNvPr id="15" name="Chevron 14">
            <a:hlinkClick action="ppaction://hlinksldjump" r:id="rId2"/>
          </p:cNvPr>
          <p:cNvSpPr/>
          <p:nvPr/>
        </p:nvSpPr>
        <p:spPr>
          <a:xfrm>
            <a:off x="457200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1  Status</a:t>
            </a:r>
          </a:p>
        </p:txBody>
      </p:sp>
      <p:sp>
        <p:nvSpPr>
          <p:cNvPr id="16" name="Chevron 15">
            <a:hlinkClick action="ppaction://hlinksldjump" r:id="rId3"/>
          </p:cNvPr>
          <p:cNvSpPr/>
          <p:nvPr/>
        </p:nvSpPr>
        <p:spPr>
          <a:xfrm>
            <a:off x="3136392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Lato"/>
              </a:defRPr>
            </a:pPr>
            <a:r>
              <a:t>2  Findings</a:t>
            </a:r>
          </a:p>
        </p:txBody>
      </p:sp>
      <p:sp>
        <p:nvSpPr>
          <p:cNvPr id="17" name="Chevron 16">
            <a:hlinkClick action="ppaction://hlinksldjump" r:id="rId4"/>
          </p:cNvPr>
          <p:cNvSpPr/>
          <p:nvPr/>
        </p:nvSpPr>
        <p:spPr>
          <a:xfrm>
            <a:off x="5815584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3  Levers</a:t>
            </a:r>
          </a:p>
        </p:txBody>
      </p:sp>
      <p:sp>
        <p:nvSpPr>
          <p:cNvPr id="18" name="Chevron 17">
            <a:hlinkClick action="ppaction://hlinksldjump" r:id="rId5"/>
          </p:cNvPr>
          <p:cNvSpPr/>
          <p:nvPr/>
        </p:nvSpPr>
        <p:spPr>
          <a:xfrm>
            <a:off x="8494776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4 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indicative comparisons point to a possible diesel gap; none is matched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27632"/>
            <a:ext cx="1065276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1151A"/>
                </a:solidFill>
                <a:latin typeface="Lato"/>
              </a:defRPr>
            </a:pPr>
            <a:r>
              <a:t>Hypothesis to test: 3-4 bn litres a year | not added to demand | production and stocks unresolved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920240"/>
            <a:ext cx="10652760" cy="0"/>
          </a:xfrm>
          <a:prstGeom prst="line">
            <a:avLst/>
          </a:prstGeom>
          <a:ln w="762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47104"/>
            <a:ext cx="96926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11151A"/>
                </a:solidFill>
                <a:latin typeface="Lato"/>
              </a:defRPr>
            </a:pPr>
            <a:r>
              <a:t>Source: evidence notes on manish-branch, 6 October 2026; diesel gap wording corrected 7 October after Nigel's review. Changes are the analyst's position, pending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11696"/>
            <a:ext cx="2011680" cy="12801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11151A"/>
                </a:solidFill>
                <a:latin typeface="Lato"/>
              </a:defRPr>
            </a:pPr>
            <a:r>
              <a:t>Strictly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29968"/>
          <a:ext cx="10652760" cy="3246120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6812280"/>
                <a:gridCol w="2011680"/>
              </a:tblGrid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Route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What it shows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Size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Product balance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Sales less net imports is 0.9-1.7 bn litres for diesel in 2022-24, beside 4.6-6.0 bn for petrol. It is a balancing requirement, not output. The plants made 0.85 litres of diesel per litre of petrol in 2017-19; that ratio need not hold now.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2.2-3.7 bn on that ratio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Operators' output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Secunda, Natref and Astron report 13-14 bn litres of all refined products; the balance needs 8.7 (2023) and 10.6 (2024). Fiscal against calendar years; conversions assumed.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4.4 and 3.3 bn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Customs, both sides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SARS confirms the import and export figures. Nine neighbours report importing 1.8-2.0 bn litres from South Africa against 1.6-1.9 recorded as exported.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Exports do not explain it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Fuel levy volumes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SARS: levy declared on 24 bn litres in the eleven months to February 2024, against about 20 bn of recorded sales for roughly the same months. The period is assumed.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About 3.9 bn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532120"/>
            <a:ext cx="10652760" cy="5029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A2373"/>
                </a:solidFill>
                <a:latin typeface="Lato"/>
              </a:defRPr>
            </a:pPr>
            <a:r>
              <a:t>One reading is that the department's sales series undercounts. Stock changes, plant product mix and mismatched periods could give the same differences. It stays a hypothesis until production and stocks are matched.</a:t>
            </a:r>
          </a:p>
        </p:txBody>
      </p:sp>
      <p:sp>
        <p:nvSpPr>
          <p:cNvPr id="9" name="Chevron 8">
            <a:hlinkClick action="ppaction://hlinksldjump" r:id="rId2"/>
          </p:cNvPr>
          <p:cNvSpPr/>
          <p:nvPr/>
        </p:nvSpPr>
        <p:spPr>
          <a:xfrm>
            <a:off x="457200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1  Status</a:t>
            </a:r>
          </a:p>
        </p:txBody>
      </p:sp>
      <p:sp>
        <p:nvSpPr>
          <p:cNvPr id="10" name="Chevron 9">
            <a:hlinkClick action="ppaction://hlinksldjump" r:id="rId3"/>
          </p:cNvPr>
          <p:cNvSpPr/>
          <p:nvPr/>
        </p:nvSpPr>
        <p:spPr>
          <a:xfrm>
            <a:off x="3136392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Lato"/>
              </a:defRPr>
            </a:pPr>
            <a:r>
              <a:t>2  Findings</a:t>
            </a:r>
          </a:p>
        </p:txBody>
      </p:sp>
      <p:sp>
        <p:nvSpPr>
          <p:cNvPr id="11" name="Chevron 10">
            <a:hlinkClick action="ppaction://hlinksldjump" r:id="rId4"/>
          </p:cNvPr>
          <p:cNvSpPr/>
          <p:nvPr/>
        </p:nvSpPr>
        <p:spPr>
          <a:xfrm>
            <a:off x="5815584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3  Levers</a:t>
            </a:r>
          </a:p>
        </p:txBody>
      </p:sp>
      <p:sp>
        <p:nvSpPr>
          <p:cNvPr id="12" name="Chevron 11">
            <a:hlinkClick action="ppaction://hlinksldjump" r:id="rId5"/>
          </p:cNvPr>
          <p:cNvSpPr/>
          <p:nvPr/>
        </p:nvSpPr>
        <p:spPr>
          <a:xfrm>
            <a:off x="8494776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4 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prices have risen sharply in 2026 and the model has no price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27632"/>
            <a:ext cx="1065276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1151A"/>
                </a:solidFill>
                <a:latin typeface="Lato"/>
              </a:defRPr>
            </a:pPr>
            <a:r>
              <a:t>Regulated inland prices, rand per litre | department to February 2026, Central Energy Fund sheets after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920240"/>
            <a:ext cx="10652760" cy="0"/>
          </a:xfrm>
          <a:prstGeom prst="line">
            <a:avLst/>
          </a:prstGeom>
          <a:ln w="762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47104"/>
            <a:ext cx="96926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11151A"/>
                </a:solidFill>
                <a:latin typeface="Lato"/>
              </a:defRPr>
            </a:pPr>
            <a:r>
              <a:t>Source: evidence notes on manish-branch, 6 October 2026; diesel gap wording corrected 7 October after Nigel's review. Changes are the analyst's position, pending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11696"/>
            <a:ext cx="2011680" cy="12801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11151A"/>
                </a:solidFill>
                <a:latin typeface="Lato"/>
              </a:defRPr>
            </a:pPr>
            <a:r>
              <a:t>Strictly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29968"/>
          <a:ext cx="10652760" cy="1143000"/>
        </p:xfrm>
        <a:graphic>
          <a:graphicData uri="http://schemas.openxmlformats.org/drawingml/2006/table">
            <a:tbl>
              <a:tblPr firstRow="0" bandRow="0"/>
              <a:tblGrid>
                <a:gridCol w="242316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810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Effective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4 Feb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4 Mar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1 Apr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6 May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3 Jun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1 Jul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5 Aug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 Sep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7 Oct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Petrol 95, retail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20.10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20.30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23.36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26.63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28.06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26.10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25.58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26.92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30.25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Diesel 0.05%, wholesale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17.92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18.54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25.91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31.18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27.93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24.79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26.17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29.11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31.95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520440"/>
            <a:ext cx="512064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A2373"/>
                </a:solidFill>
                <a:latin typeface="Lato"/>
              </a:defRPr>
            </a:pPr>
            <a:r>
              <a:t>01 | Diesel is up 78% and petrol 50% since February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5120640" cy="7315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11151A"/>
                </a:solidFill>
                <a:latin typeface="Lato"/>
              </a:defRPr>
            </a:pPr>
            <a:r>
              <a:t>Our price series stopped in April 2024 this morning. It now runs monthly from January 2011 to October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512064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A2373"/>
                </a:solidFill>
                <a:latin typeface="Lato"/>
              </a:defRPr>
            </a:pPr>
            <a:r>
              <a:t>02 | One South African study gives the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5120640" cy="7315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11151A"/>
                </a:solidFill>
                <a:latin typeface="Lato"/>
              </a:defRPr>
            </a:pPr>
            <a:r>
              <a:t>Boshoff (2012): a 10% rise in the real price lowers petrol demand by about 5% and diesel by about 1% in the long run.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520440"/>
            <a:ext cx="512064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A2373"/>
                </a:solidFill>
                <a:latin typeface="Lato"/>
              </a:defRPr>
            </a:pPr>
            <a:r>
              <a:t>03 | Coastal prices are no longer published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840480"/>
            <a:ext cx="5120640" cy="7315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11151A"/>
                </a:solidFill>
                <a:latin typeface="Lato"/>
              </a:defRPr>
            </a:pPr>
            <a:r>
              <a:t>Coastal diesel has no value from December 2025; coastal petrol and paraffin none from March 2026. The fund prints Gauteng prices only.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4663440"/>
            <a:ext cx="512064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A2373"/>
                </a:solidFill>
                <a:latin typeface="Lato"/>
              </a:defRPr>
            </a:pPr>
            <a:r>
              <a:t>04 | Power diesel: 0.31 litres per kWh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4983480"/>
            <a:ext cx="5120640" cy="7315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50" b="0">
                <a:solidFill>
                  <a:srgbClr val="11151A"/>
                </a:solidFill>
                <a:latin typeface="Lato"/>
              </a:defRPr>
            </a:pPr>
            <a:r>
              <a:t>Three years of reported burn against turbine output agree. The workbook's efficiency implies 0.244, a fifth too low. Adoption is left for Nigel.</a:t>
            </a:r>
          </a:p>
        </p:txBody>
      </p:sp>
      <p:sp>
        <p:nvSpPr>
          <p:cNvPr id="16" name="Chevron 15">
            <a:hlinkClick action="ppaction://hlinksldjump" r:id="rId2"/>
          </p:cNvPr>
          <p:cNvSpPr/>
          <p:nvPr/>
        </p:nvSpPr>
        <p:spPr>
          <a:xfrm>
            <a:off x="457200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1  Status</a:t>
            </a:r>
          </a:p>
        </p:txBody>
      </p:sp>
      <p:sp>
        <p:nvSpPr>
          <p:cNvPr id="17" name="Chevron 16">
            <a:hlinkClick action="ppaction://hlinksldjump" r:id="rId3"/>
          </p:cNvPr>
          <p:cNvSpPr/>
          <p:nvPr/>
        </p:nvSpPr>
        <p:spPr>
          <a:xfrm>
            <a:off x="3136392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Lato"/>
              </a:defRPr>
            </a:pPr>
            <a:r>
              <a:t>2  Findings</a:t>
            </a:r>
          </a:p>
        </p:txBody>
      </p:sp>
      <p:sp>
        <p:nvSpPr>
          <p:cNvPr id="18" name="Chevron 17">
            <a:hlinkClick action="ppaction://hlinksldjump" r:id="rId4"/>
          </p:cNvPr>
          <p:cNvSpPr/>
          <p:nvPr/>
        </p:nvSpPr>
        <p:spPr>
          <a:xfrm>
            <a:off x="5815584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3  Levers</a:t>
            </a:r>
          </a:p>
        </p:txBody>
      </p:sp>
      <p:sp>
        <p:nvSpPr>
          <p:cNvPr id="19" name="Chevron 18">
            <a:hlinkClick action="ppaction://hlinksldjump" r:id="rId5"/>
          </p:cNvPr>
          <p:cNvSpPr/>
          <p:nvPr/>
        </p:nvSpPr>
        <p:spPr>
          <a:xfrm>
            <a:off x="8494776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4 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seven levers each have evidence and a proposed base case; none is calibrated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27632"/>
            <a:ext cx="1065276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1151A"/>
                </a:solidFill>
                <a:latin typeface="Lato"/>
              </a:defRPr>
            </a:pPr>
            <a:r>
              <a:t>Draft for discussion | base case = things continue as they perform today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920240"/>
            <a:ext cx="10652760" cy="0"/>
          </a:xfrm>
          <a:prstGeom prst="line">
            <a:avLst/>
          </a:prstGeom>
          <a:ln w="762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47104"/>
            <a:ext cx="96926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11151A"/>
                </a:solidFill>
                <a:latin typeface="Lato"/>
              </a:defRPr>
            </a:pPr>
            <a:r>
              <a:t>Source: evidence notes on manish-branch, 6 October 2026; diesel gap wording corrected 7 October after Nigel's review. Changes are the analyst's position, pending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11696"/>
            <a:ext cx="2011680" cy="12801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11151A"/>
                </a:solidFill>
                <a:latin typeface="Lato"/>
              </a:defRPr>
            </a:pPr>
            <a:r>
              <a:t>Strictly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29968"/>
          <a:ext cx="10652760" cy="3931920"/>
        </p:xfrm>
        <a:graphic>
          <a:graphicData uri="http://schemas.openxmlformats.org/drawingml/2006/table">
            <a:tbl>
              <a:tblPr firstRow="0" bandRow="0"/>
              <a:tblGrid>
                <a:gridCol w="1554480"/>
                <a:gridCol w="4343400"/>
                <a:gridCol w="2377440"/>
                <a:gridCol w="2377440"/>
              </a:tblGrid>
              <a:tr h="49149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Lever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Evidence held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Proposed base case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Needed to reach litres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Road to rail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Rail 214 Mt (2019), 156 (2022), 168 (2025); road 895 to 975. Target 250 Mt by 2029/30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Rail holds its present share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Haul distance; diesel per tonne-km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Electric vehicles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2.8% of 2025 sales against a quoted 20% target; 0.2% battery electric. Peers: Brazil 6%, Southeast Asia near 20%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Continues from actual sales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AIA's view of the path; fleet turnover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Grid power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Turbine output FY2022-26; 0.31 litres per kWh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Eskom's own plan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Decision on the factor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Industry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Mining and manufacturing volumes 7% below 2019, flat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Flat, then with GDP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Litres per unit of output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Agriculture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Value added to 2025; diesel use to 2021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With sector value added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Choice of driver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Vehicle fleet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12.6 million vehicles, growing 1.4% a year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Present growth rate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Fuel split by class; distance after 2014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Growth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Treasury 1.6%, 1.8%, 2.0%; then 2%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As set on 5 October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Wiring into the model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Chevron 7">
            <a:hlinkClick action="ppaction://hlinksldjump" r:id="rId2"/>
          </p:cNvPr>
          <p:cNvSpPr/>
          <p:nvPr/>
        </p:nvSpPr>
        <p:spPr>
          <a:xfrm>
            <a:off x="457200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1  Status</a:t>
            </a:r>
          </a:p>
        </p:txBody>
      </p:sp>
      <p:sp>
        <p:nvSpPr>
          <p:cNvPr id="9" name="Chevron 8">
            <a:hlinkClick action="ppaction://hlinksldjump" r:id="rId3"/>
          </p:cNvPr>
          <p:cNvSpPr/>
          <p:nvPr/>
        </p:nvSpPr>
        <p:spPr>
          <a:xfrm>
            <a:off x="3136392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2  Findings</a:t>
            </a:r>
          </a:p>
        </p:txBody>
      </p:sp>
      <p:sp>
        <p:nvSpPr>
          <p:cNvPr id="10" name="Chevron 9">
            <a:hlinkClick action="ppaction://hlinksldjump" r:id="rId4"/>
          </p:cNvPr>
          <p:cNvSpPr/>
          <p:nvPr/>
        </p:nvSpPr>
        <p:spPr>
          <a:xfrm>
            <a:off x="5815584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Lato"/>
              </a:defRPr>
            </a:pPr>
            <a:r>
              <a:t>3  Levers</a:t>
            </a:r>
          </a:p>
        </p:txBody>
      </p:sp>
      <p:sp>
        <p:nvSpPr>
          <p:cNvPr id="11" name="Chevron 10">
            <a:hlinkClick action="ppaction://hlinksldjump" r:id="rId5"/>
          </p:cNvPr>
          <p:cNvSpPr/>
          <p:nvPr/>
        </p:nvSpPr>
        <p:spPr>
          <a:xfrm>
            <a:off x="8494776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4  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further levers are proposed, mostly where the model is silent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27632"/>
            <a:ext cx="1065276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1151A"/>
                </a:solidFill>
                <a:latin typeface="Lato"/>
              </a:defRPr>
            </a:pPr>
            <a:r>
              <a:t>Additions to the seven | two do not sit on a high-low demand axis and would be shown as variants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920240"/>
            <a:ext cx="10652760" cy="0"/>
          </a:xfrm>
          <a:prstGeom prst="line">
            <a:avLst/>
          </a:prstGeom>
          <a:ln w="762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47104"/>
            <a:ext cx="96926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11151A"/>
                </a:solidFill>
                <a:latin typeface="Lato"/>
              </a:defRPr>
            </a:pPr>
            <a:r>
              <a:t>Source: evidence notes on manish-branch, 6 October 2026; diesel gap wording corrected 7 October after Nigel's review. Changes are the analyst's position, pending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11696"/>
            <a:ext cx="2011680" cy="12801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11151A"/>
                </a:solidFill>
                <a:latin typeface="Lato"/>
              </a:defRPr>
            </a:pPr>
            <a:r>
              <a:t>Strictly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29968"/>
          <a:ext cx="10652760" cy="3429000"/>
        </p:xfrm>
        <a:graphic>
          <a:graphicData uri="http://schemas.openxmlformats.org/drawingml/2006/table">
            <a:tbl>
              <a:tblPr firstRow="0" bandRow="0"/>
              <a:tblGrid>
                <a:gridCol w="2514600"/>
                <a:gridCol w="5577840"/>
                <a:gridCol w="2560320"/>
              </a:tblGrid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Proposed lever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Why it belongs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Proposed base case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Fuel price level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Diesel up 78% and petrol 50% since February; the model has no price response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Prices settle at a stated level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Private backup generation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The power lever covers grid turbines only. SARS attributes a 3 bn litre fall in levy volumes to increased energy availability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No return of load-shedding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Neighbours' sourcing through South Africa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Throughput for Vopak, not South African demand. Botswana's imports via South Africa fell 38% in a year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Present volumes continue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Refinery events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Petrol and diesel must meet 10 ppm sulphur from 1 July 2027. Natref does not yet comply; Astron is investing R6 bn. A miss raises imports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Three plants run and comply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Passengers returning to rail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503 million journeys in 2010, 19 million in 2022, 103 million in 2025. Probably small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0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Recovery continues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06440"/>
            <a:ext cx="10652760" cy="5029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A2373"/>
                </a:solidFill>
                <a:latin typeface="Lato"/>
              </a:defRPr>
            </a:pPr>
            <a:r>
              <a:t>Grid turbines and backup generation move together; so do electric vehicles and fuel prices. A matrix should not treat them as independent.</a:t>
            </a:r>
          </a:p>
        </p:txBody>
      </p:sp>
      <p:sp>
        <p:nvSpPr>
          <p:cNvPr id="9" name="Chevron 8">
            <a:hlinkClick action="ppaction://hlinksldjump" r:id="rId2"/>
          </p:cNvPr>
          <p:cNvSpPr/>
          <p:nvPr/>
        </p:nvSpPr>
        <p:spPr>
          <a:xfrm>
            <a:off x="457200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1  Status</a:t>
            </a:r>
          </a:p>
        </p:txBody>
      </p:sp>
      <p:sp>
        <p:nvSpPr>
          <p:cNvPr id="10" name="Chevron 9">
            <a:hlinkClick action="ppaction://hlinksldjump" r:id="rId3"/>
          </p:cNvPr>
          <p:cNvSpPr/>
          <p:nvPr/>
        </p:nvSpPr>
        <p:spPr>
          <a:xfrm>
            <a:off x="3136392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2  Findings</a:t>
            </a:r>
          </a:p>
        </p:txBody>
      </p:sp>
      <p:sp>
        <p:nvSpPr>
          <p:cNvPr id="11" name="Chevron 10">
            <a:hlinkClick action="ppaction://hlinksldjump" r:id="rId4"/>
          </p:cNvPr>
          <p:cNvSpPr/>
          <p:nvPr/>
        </p:nvSpPr>
        <p:spPr>
          <a:xfrm>
            <a:off x="5815584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Lato"/>
              </a:defRPr>
            </a:pPr>
            <a:r>
              <a:t>3  Levers</a:t>
            </a:r>
          </a:p>
        </p:txBody>
      </p:sp>
      <p:sp>
        <p:nvSpPr>
          <p:cNvPr id="12" name="Chevron 11">
            <a:hlinkClick action="ppaction://hlinksldjump" r:id="rId5"/>
          </p:cNvPr>
          <p:cNvSpPr/>
          <p:nvPr/>
        </p:nvSpPr>
        <p:spPr>
          <a:xfrm>
            <a:off x="8494776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4  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Decisions for Nigel before integration and lever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27632"/>
            <a:ext cx="1065276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1151A"/>
                </a:solidFill>
                <a:latin typeface="Lato"/>
              </a:defRPr>
            </a:pPr>
            <a:r>
              <a:t>Each has evidence in the notes under workstreams/WS1_data_validation and WS2_model_development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920240"/>
            <a:ext cx="10652760" cy="0"/>
          </a:xfrm>
          <a:prstGeom prst="line">
            <a:avLst/>
          </a:prstGeom>
          <a:ln w="762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547104"/>
            <a:ext cx="9692640" cy="18288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800" b="0">
                <a:solidFill>
                  <a:srgbClr val="11151A"/>
                </a:solidFill>
                <a:latin typeface="Lato"/>
              </a:defRPr>
            </a:pPr>
            <a:r>
              <a:t>Source: evidence notes on manish-branch, 6 October 2026; diesel gap wording corrected 7 October after Nigel's review. Changes are the analyst's position, pending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11696"/>
            <a:ext cx="2011680" cy="128016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spcAft>
                <a:spcPts val="300"/>
              </a:spcAft>
              <a:defRPr sz="700" b="0">
                <a:solidFill>
                  <a:srgbClr val="11151A"/>
                </a:solidFill>
                <a:latin typeface="Lato"/>
              </a:defRPr>
            </a:pPr>
            <a:r>
              <a:t>Strictly Confidential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29968"/>
          <a:ext cx="10652759" cy="3931920"/>
        </p:xfrm>
        <a:graphic>
          <a:graphicData uri="http://schemas.openxmlformats.org/drawingml/2006/table">
            <a:tbl>
              <a:tblPr firstRow="0" bandRow="0"/>
              <a:tblGrid>
                <a:gridCol w="3749039"/>
                <a:gridCol w="4160520"/>
                <a:gridCol w="2743200"/>
              </a:tblGrid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Decision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Evidence in brief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Suggestion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Confirm the five applied changes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Slide 3; flag log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Accept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2024 diesel imports and how to report the diesel gap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Customs 10.793 bn litres; four routes to 3-4 bn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Use 10.79; report the gap as a hypothesis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Power diesel factor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0.31 litres per kWh in three years against 0.244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Adopt 0.31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Marine baseline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2.2 bn litres equals the department's 2007 figure; trade press now about 1 bn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Hold until an official figure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Elasticities and road parameters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One study for diesel as a whole; 2018 paper for vehicles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Keep 1.0 for industry; review the vehicle mapping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Provincial 2023-24 in the pack; 2014 and 2018 treatment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Estimate and back-test; original cells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Petrol only, labelled; national stands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Sales less net imports after 2021; 2019-20 balances for trade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Balance note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Not a measure of output; stop using them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1">
                          <a:solidFill>
                            <a:srgbClr val="0A2373"/>
                          </a:solidFill>
                          <a:latin typeface="Lato"/>
                        </a:defRPr>
                      </a:pPr>
                      <a:r>
                        <a:t>Remaining originals; register layout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16 datasets held locally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50" b="0">
                          <a:solidFill>
                            <a:srgbClr val="11151A"/>
                          </a:solidFill>
                          <a:latin typeface="Lato"/>
                        </a:defRPr>
                      </a:pPr>
                      <a:r>
                        <a:t>Nigel's call</a:t>
                      </a:r>
                    </a:p>
                  </a:txBody>
                  <a:tcPr marL="64008" marR="64008" marT="54864" marB="27432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5080">
                      <a:solidFill>
                        <a:srgbClr val="B8B8B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Chevron 7">
            <a:hlinkClick action="ppaction://hlinksldjump" r:id="rId2"/>
          </p:cNvPr>
          <p:cNvSpPr/>
          <p:nvPr/>
        </p:nvSpPr>
        <p:spPr>
          <a:xfrm>
            <a:off x="457200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1  Status</a:t>
            </a:r>
          </a:p>
        </p:txBody>
      </p:sp>
      <p:sp>
        <p:nvSpPr>
          <p:cNvPr id="9" name="Chevron 8">
            <a:hlinkClick action="ppaction://hlinksldjump" r:id="rId3"/>
          </p:cNvPr>
          <p:cNvSpPr/>
          <p:nvPr/>
        </p:nvSpPr>
        <p:spPr>
          <a:xfrm>
            <a:off x="3136392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2  Findings</a:t>
            </a:r>
          </a:p>
        </p:txBody>
      </p:sp>
      <p:sp>
        <p:nvSpPr>
          <p:cNvPr id="10" name="Chevron 9">
            <a:hlinkClick action="ppaction://hlinksldjump" r:id="rId4"/>
          </p:cNvPr>
          <p:cNvSpPr/>
          <p:nvPr/>
        </p:nvSpPr>
        <p:spPr>
          <a:xfrm>
            <a:off x="5815584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0">
                <a:solidFill>
                  <a:srgbClr val="0A2373"/>
                </a:solidFill>
                <a:latin typeface="Lato"/>
              </a:defRPr>
            </a:pPr>
            <a:r>
              <a:t>3  Levers</a:t>
            </a:r>
          </a:p>
        </p:txBody>
      </p:sp>
      <p:sp>
        <p:nvSpPr>
          <p:cNvPr id="11" name="Chevron 10">
            <a:hlinkClick action="ppaction://hlinksldjump" r:id="rId5"/>
          </p:cNvPr>
          <p:cNvSpPr/>
          <p:nvPr/>
        </p:nvSpPr>
        <p:spPr>
          <a:xfrm>
            <a:off x="8494776" y="73152"/>
            <a:ext cx="2615184" cy="384048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Lato"/>
              </a:defRPr>
            </a:pPr>
            <a:r>
              <a:t>4  Decisions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rcRect l="26237" r="26237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2468880"/>
            <a:ext cx="4709160" cy="1554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100" b="0">
                <a:solidFill>
                  <a:srgbClr val="FFFFFF"/>
                </a:solidFill>
                <a:latin typeface="Lato"/>
              </a:defRPr>
            </a:pPr>
            <a:r>
              <a:t>Review the branch</a:t>
            </a:r>
          </a:p>
          <a:p>
            <a:pPr>
              <a:spcAft>
                <a:spcPts val="800"/>
              </a:spcAft>
              <a:defRPr sz="3100" b="0">
                <a:solidFill>
                  <a:srgbClr val="FFFFFF"/>
                </a:solidFill>
                <a:latin typeface="Lato"/>
              </a:defRPr>
            </a:pPr>
            <a:r>
              <a:t>and decide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4617720"/>
            <a:ext cx="4572000" cy="6400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Lato"/>
              </a:defRPr>
            </a:pPr>
            <a:r>
              <a:t>manish-branch | checks pass | nothing merged to 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696712"/>
            <a:ext cx="45720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t>6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053328"/>
            <a:ext cx="45720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Lato"/>
              </a:defRPr>
            </a:pPr>
            <a:r>
              <a:t>Internal working discussion</a:t>
            </a:r>
          </a:p>
        </p:txBody>
      </p:sp>
      <p:sp>
        <p:nvSpPr>
          <p:cNvPr id="10" name="Photo source credit">
            <a:hlinkClick r:id="rId4"/>
          </p:cNvPr>
          <p:cNvSpPr txBox="1"/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FFFFFF"/>
                </a:solidFill>
                <a:latin typeface="Lato"/>
              </a:defRPr>
            </a:pPr>
            <a:r>
              <a:t>Photo source: Royal Vopak | Terminal Lesedi | vopak.com</a:t>
            </a:r>
          </a:p>
        </p:txBody>
      </p:sp>
      <p:sp>
        <p:nvSpPr>
          <p:cNvPr id="11" name="Strictly Confidential footer"/>
          <p:cNvSpPr txBox="1"/>
          <p:nvPr/>
        </p:nvSpPr>
        <p:spPr>
          <a:xfrm>
            <a:off x="457200" y="6711696"/>
            <a:ext cx="201168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BDBEC1"/>
                </a:solidFill>
                <a:latin typeface="Lato"/>
              </a:defRPr>
            </a:pPr>
            <a:r>
              <a:t>Strictly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opak Theme" id="{EB158558-B090-4A15-9406-52ADAF46E73D}" vid="{169915E9-BA5A-4298-BC78-09D6818817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29E3C0-DBBA-4E87-A833-D4D671FDC2D1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440e1679-9fef-4664-be92-b7e3c5432c29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14DAA3CC024F49A081857B4C9CD92A" ma:contentTypeVersion="20" ma:contentTypeDescription="Create a new document." ma:contentTypeScope="" ma:versionID="cdb2463664abbc9cc5ebc4769b50ad18">
  <xsd:schema xmlns:xsd="http://www.w3.org/2001/XMLSchema" xmlns:xs="http://www.w3.org/2001/XMLSchema" xmlns:p="http://schemas.microsoft.com/office/2006/metadata/properties" xmlns:ns2="265cb39c-7109-435c-af5d-13dc21a2db6b" xmlns:ns3="62b85a0e-09bb-4b0f-bd28-e34020cdc070" targetNamespace="http://schemas.microsoft.com/office/2006/metadata/properties" ma:root="true" ma:fieldsID="ee545d7bb76dd121542a05c73fb4a941" ns2:_="" ns3:_="">
    <xsd:import namespace="265cb39c-7109-435c-af5d-13dc21a2db6b"/>
    <xsd:import namespace="62b85a0e-09bb-4b0f-bd28-e34020cdc0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cb39c-7109-435c-af5d-13dc21a2d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f3d1728-64fa-4f01-bb7d-5585de3a980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" ma:index="26" nillable="true" ma:displayName="Archive" ma:default="0" ma:description="Folder to be backed up, archived and removed from SharePoint" ma:format="Dropdown" ma:internalName="Archive">
      <xsd:simpleType>
        <xsd:restriction base="dms:Boolea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85a0e-09bb-4b0f-bd28-e34020cdc07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44b13c9-2708-4b8b-a658-00962d7928c2}" ma:internalName="TaxCatchAll" ma:showField="CatchAllData" ma:web="62b85a0e-09bb-4b0f-bd28-e34020cdc0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5cb39c-7109-435c-af5d-13dc21a2db6b">
      <Terms xmlns="http://schemas.microsoft.com/office/infopath/2007/PartnerControls"/>
    </lcf76f155ced4ddcb4097134ff3c332f>
    <TaxCatchAll xmlns="62b85a0e-09bb-4b0f-bd28-e34020cdc070" xsi:nil="true"/>
    <SharedWithUsers xmlns="62b85a0e-09bb-4b0f-bd28-e34020cdc070">
      <UserInfo>
        <DisplayName>Joseph Kihara</DisplayName>
        <AccountId>3747</AccountId>
        <AccountType/>
      </UserInfo>
    </SharedWithUsers>
    <Archive xmlns="265cb39c-7109-435c-af5d-13dc21a2db6b">false</Archive>
  </documentManagement>
</p:properties>
</file>

<file path=customXml/itemProps1.xml><?xml version="1.0" encoding="utf-8"?>
<ds:datastoreItem xmlns:ds="http://schemas.openxmlformats.org/officeDocument/2006/customXml" ds:itemID="{1E0AC09D-7AB9-4C7E-89AA-55CFDED1BC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9F3023-3460-4C94-AC6C-4F171062BD4F}">
  <ds:schemaRefs>
    <ds:schemaRef ds:uri="265cb39c-7109-435c-af5d-13dc21a2db6b"/>
    <ds:schemaRef ds:uri="62b85a0e-09bb-4b0f-bd28-e34020cdc0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9FA9FA0-2CB2-436E-A336-3A77ADFE4CF1}">
  <ds:schemaRefs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265cb39c-7109-435c-af5d-13dc21a2db6b"/>
    <ds:schemaRef ds:uri="http://purl.org/dc/elements/1.1/"/>
    <ds:schemaRef ds:uri="62b85a0e-09bb-4b0f-bd28-e34020cdc07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Vopak Theme</Template>
  <TotalTime>0</TotalTime>
  <Words>15</Words>
  <Application>Microsoft Office PowerPoint</Application>
  <PresentationFormat>Custom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Lato</vt:lpstr>
      <vt:lpstr>Vopak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 Africa liquid fuels: Week 1 analytical maps</dc:title>
  <dc:creator>Africa International Advisors</dc:creator>
  <cp:lastModifiedBy>Nigel Zhuwaki</cp:lastModifiedBy>
  <cp:revision>1</cp:revision>
  <dcterms:created xsi:type="dcterms:W3CDTF">2017-11-16T09:19:07Z</dcterms:created>
  <dcterms:modified xsi:type="dcterms:W3CDTF">2026-10-01T12:10:22Z</dcterms:modified>
  <dc:subject>Illustrative demand geography and conditional Vopak market access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0x010100BB14DAA3CC024F49A081857B4C9CD92A</vt:lpwstr>
  </property>
  <property fmtid="{D5CDD505-2E9C-101B-9397-08002B2CF9AE}" pid="3" name="MediaServiceImageTags">
    <vt:lpwstr/>
  </property>
</Properties>
</file>