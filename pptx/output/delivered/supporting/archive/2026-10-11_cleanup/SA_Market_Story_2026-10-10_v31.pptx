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diagrams/v31_s2_data1.xml" ContentType="application/vnd.openxmlformats-officedocument.drawingml.diagramData+xml"/>
  <Override PartName="/ppt/diagrams/v31_s2_layout1.xml" ContentType="application/vnd.openxmlformats-officedocument.drawingml.diagramLayout+xml"/>
  <Override PartName="/ppt/diagrams/v31_s2_quickStyle1.xml" ContentType="application/vnd.openxmlformats-officedocument.drawingml.diagramStyle+xml"/>
  <Override PartName="/ppt/diagrams/v31_s2_colors1.xml" ContentType="application/vnd.openxmlformats-officedocument.drawingml.diagramColors+xml"/>
  <Override PartName="/ppt/diagrams/v31_s2_drawing1.xml" ContentType="application/vnd.ms-office.drawingml.diagramDrawing+xml"/>
  <Override PartName="/ppt/diagrams/v31_s3_data1.xml" ContentType="application/vnd.openxmlformats-officedocument.drawingml.diagramData+xml"/>
  <Override PartName="/ppt/diagrams/v31_s3_layout1.xml" ContentType="application/vnd.openxmlformats-officedocument.drawingml.diagramLayout+xml"/>
  <Override PartName="/ppt/diagrams/v31_s3_quickStyle1.xml" ContentType="application/vnd.openxmlformats-officedocument.drawingml.diagramStyle+xml"/>
  <Override PartName="/ppt/diagrams/v31_s3_colors1.xml" ContentType="application/vnd.openxmlformats-officedocument.drawingml.diagramColors+xml"/>
  <Override PartName="/ppt/diagrams/v31_s3_drawing1.xml" ContentType="application/vnd.ms-office.drawingml.diagramDrawing+xml"/>
  <Override PartName="/ppt/diagrams/v31_s4_data1.xml" ContentType="application/vnd.openxmlformats-officedocument.drawingml.diagramData+xml"/>
  <Override PartName="/ppt/diagrams/v31_s4_layout1.xml" ContentType="application/vnd.openxmlformats-officedocument.drawingml.diagramLayout+xml"/>
  <Override PartName="/ppt/diagrams/v31_s4_quickStyle1.xml" ContentType="application/vnd.openxmlformats-officedocument.drawingml.diagramStyle+xml"/>
  <Override PartName="/ppt/diagrams/v31_s4_colors1.xml" ContentType="application/vnd.openxmlformats-officedocument.drawingml.diagramColors+xml"/>
  <Override PartName="/ppt/diagrams/v31_s4_drawing1.xml" ContentType="application/vnd.ms-office.drawingml.diagramDrawing+xml"/>
  <Override PartName="/ppt/diagrams/v31_s5_data1.xml" ContentType="application/vnd.openxmlformats-officedocument.drawingml.diagramData+xml"/>
  <Override PartName="/ppt/diagrams/v31_s5_layout1.xml" ContentType="application/vnd.openxmlformats-officedocument.drawingml.diagramLayout+xml"/>
  <Override PartName="/ppt/diagrams/v31_s5_quickStyle1.xml" ContentType="application/vnd.openxmlformats-officedocument.drawingml.diagramStyle+xml"/>
  <Override PartName="/ppt/diagrams/v31_s5_colors1.xml" ContentType="application/vnd.openxmlformats-officedocument.drawingml.diagramColors+xml"/>
  <Override PartName="/ppt/diagrams/v31_s5_drawing1.xml" ContentType="application/vnd.ms-office.drawingml.diagramDrawing+xml"/>
  <Override PartName="/ppt/diagrams/v31_s6_data1.xml" ContentType="application/vnd.openxmlformats-officedocument.drawingml.diagramData+xml"/>
  <Override PartName="/ppt/diagrams/v31_s6_layout1.xml" ContentType="application/vnd.openxmlformats-officedocument.drawingml.diagramLayout+xml"/>
  <Override PartName="/ppt/diagrams/v31_s6_quickStyle1.xml" ContentType="application/vnd.openxmlformats-officedocument.drawingml.diagramStyle+xml"/>
  <Override PartName="/ppt/diagrams/v31_s6_colors1.xml" ContentType="application/vnd.openxmlformats-officedocument.drawingml.diagramColors+xml"/>
  <Override PartName="/ppt/diagrams/v31_s6_drawing1.xml" ContentType="application/vnd.ms-office.drawingml.diagramDrawing+xml"/>
  <Override PartName="/ppt/diagrams/v31_s7_data1.xml" ContentType="application/vnd.openxmlformats-officedocument.drawingml.diagramData+xml"/>
  <Override PartName="/ppt/diagrams/v31_s7_layout1.xml" ContentType="application/vnd.openxmlformats-officedocument.drawingml.diagramLayout+xml"/>
  <Override PartName="/ppt/diagrams/v31_s7_quickStyle1.xml" ContentType="application/vnd.openxmlformats-officedocument.drawingml.diagramStyle+xml"/>
  <Override PartName="/ppt/diagrams/v31_s7_colors1.xml" ContentType="application/vnd.openxmlformats-officedocument.drawingml.diagramColors+xml"/>
  <Override PartName="/ppt/diagrams/v31_s7_drawing1.xml" ContentType="application/vnd.ms-office.drawingml.diagramDrawing+xml"/>
  <Override PartName="/ppt/diagrams/v31_s8_data1.xml" ContentType="application/vnd.openxmlformats-officedocument.drawingml.diagramData+xml"/>
  <Override PartName="/ppt/diagrams/v31_s8_layout1.xml" ContentType="application/vnd.openxmlformats-officedocument.drawingml.diagramLayout+xml"/>
  <Override PartName="/ppt/diagrams/v31_s8_quickStyle1.xml" ContentType="application/vnd.openxmlformats-officedocument.drawingml.diagramStyle+xml"/>
  <Override PartName="/ppt/diagrams/v31_s8_colors1.xml" ContentType="application/vnd.openxmlformats-officedocument.drawingml.diagramColors+xml"/>
  <Override PartName="/ppt/diagrams/v31_s8_drawing1.xml" ContentType="application/vnd.ms-office.drawingml.diagramDrawing+xml"/>
  <Override PartName="/ppt/diagrams/v31_s9_data1.xml" ContentType="application/vnd.openxmlformats-officedocument.drawingml.diagramData+xml"/>
  <Override PartName="/ppt/diagrams/v31_s9_layout1.xml" ContentType="application/vnd.openxmlformats-officedocument.drawingml.diagramLayout+xml"/>
  <Override PartName="/ppt/diagrams/v31_s9_quickStyle1.xml" ContentType="application/vnd.openxmlformats-officedocument.drawingml.diagramStyle+xml"/>
  <Override PartName="/ppt/diagrams/v31_s9_colors1.xml" ContentType="application/vnd.openxmlformats-officedocument.drawingml.diagramColors+xml"/>
  <Override PartName="/ppt/diagrams/v31_s9_drawing1.xml" ContentType="application/vnd.ms-office.drawingml.diagramDrawing+xml"/>
  <Override PartName="/ppt/diagrams/v31_s10_data1.xml" ContentType="application/vnd.openxmlformats-officedocument.drawingml.diagramData+xml"/>
  <Override PartName="/ppt/diagrams/v31_s10_layout1.xml" ContentType="application/vnd.openxmlformats-officedocument.drawingml.diagramLayout+xml"/>
  <Override PartName="/ppt/diagrams/v31_s10_quickStyle1.xml" ContentType="application/vnd.openxmlformats-officedocument.drawingml.diagramStyle+xml"/>
  <Override PartName="/ppt/diagrams/v31_s10_colors1.xml" ContentType="application/vnd.openxmlformats-officedocument.drawingml.diagramColors+xml"/>
  <Override PartName="/ppt/diagrams/v31_s10_drawing1.xml" ContentType="application/vnd.ms-office.drawingml.diagramDrawing+xml"/>
  <Override PartName="/ppt/diagrams/v31_s11_data1.xml" ContentType="application/vnd.openxmlformats-officedocument.drawingml.diagramData+xml"/>
  <Override PartName="/ppt/diagrams/v31_s11_layout1.xml" ContentType="application/vnd.openxmlformats-officedocument.drawingml.diagramLayout+xml"/>
  <Override PartName="/ppt/diagrams/v31_s11_quickStyle1.xml" ContentType="application/vnd.openxmlformats-officedocument.drawingml.diagramStyle+xml"/>
  <Override PartName="/ppt/diagrams/v31_s11_colors1.xml" ContentType="application/vnd.openxmlformats-officedocument.drawingml.diagramColors+xml"/>
  <Override PartName="/ppt/diagrams/v31_s11_drawing1.xml" ContentType="application/vnd.ms-office.drawingml.diagramDrawing+xml"/>
  <Override PartName="/ppt/diagrams/v31_s12_data1.xml" ContentType="application/vnd.openxmlformats-officedocument.drawingml.diagramData+xml"/>
  <Override PartName="/ppt/diagrams/v31_s12_layout1.xml" ContentType="application/vnd.openxmlformats-officedocument.drawingml.diagramLayout+xml"/>
  <Override PartName="/ppt/diagrams/v31_s12_quickStyle1.xml" ContentType="application/vnd.openxmlformats-officedocument.drawingml.diagramStyle+xml"/>
  <Override PartName="/ppt/diagrams/v31_s12_colors1.xml" ContentType="application/vnd.openxmlformats-officedocument.drawingml.diagramColors+xml"/>
  <Override PartName="/ppt/diagrams/v31_s12_drawing1.xml" ContentType="application/vnd.ms-office.drawingml.diagramDrawing+xml"/>
  <Override PartName="/ppt/diagrams/v31_s13_data1.xml" ContentType="application/vnd.openxmlformats-officedocument.drawingml.diagramData+xml"/>
  <Override PartName="/ppt/diagrams/v31_s13_layout1.xml" ContentType="application/vnd.openxmlformats-officedocument.drawingml.diagramLayout+xml"/>
  <Override PartName="/ppt/diagrams/v31_s13_quickStyle1.xml" ContentType="application/vnd.openxmlformats-officedocument.drawingml.diagramStyle+xml"/>
  <Override PartName="/ppt/diagrams/v31_s13_colors1.xml" ContentType="application/vnd.openxmlformats-officedocument.drawingml.diagramColors+xml"/>
  <Override PartName="/ppt/diagrams/v31_s13_drawing1.xml" ContentType="application/vnd.ms-office.drawingml.diagramDrawing+xml"/>
  <Override PartName="/ppt/diagrams/v31_s14_data1.xml" ContentType="application/vnd.openxmlformats-officedocument.drawingml.diagramData+xml"/>
  <Override PartName="/ppt/diagrams/v31_s14_layout1.xml" ContentType="application/vnd.openxmlformats-officedocument.drawingml.diagramLayout+xml"/>
  <Override PartName="/ppt/diagrams/v31_s14_quickStyle1.xml" ContentType="application/vnd.openxmlformats-officedocument.drawingml.diagramStyle+xml"/>
  <Override PartName="/ppt/diagrams/v31_s14_colors1.xml" ContentType="application/vnd.openxmlformats-officedocument.drawingml.diagramColors+xml"/>
  <Override PartName="/ppt/diagrams/v31_s14_drawing1.xml" ContentType="application/vnd.ms-office.drawingml.diagramDrawing+xml"/>
  <Override PartName="/ppt/diagrams/v31_s15_data1.xml" ContentType="application/vnd.openxmlformats-officedocument.drawingml.diagramData+xml"/>
  <Override PartName="/ppt/diagrams/v31_s15_layout1.xml" ContentType="application/vnd.openxmlformats-officedocument.drawingml.diagramLayout+xml"/>
  <Override PartName="/ppt/diagrams/v31_s15_quickStyle1.xml" ContentType="application/vnd.openxmlformats-officedocument.drawingml.diagramStyle+xml"/>
  <Override PartName="/ppt/diagrams/v31_s15_colors1.xml" ContentType="application/vnd.openxmlformats-officedocument.drawingml.diagramColors+xml"/>
  <Override PartName="/ppt/diagrams/v31_s15_drawing1.xml" ContentType="application/vnd.ms-office.drawingml.diagramDrawing+xml"/>
  <Override PartName="/ppt/diagrams/v31_s16_data1.xml" ContentType="application/vnd.openxmlformats-officedocument.drawingml.diagramData+xml"/>
  <Override PartName="/ppt/diagrams/v31_s16_layout1.xml" ContentType="application/vnd.openxmlformats-officedocument.drawingml.diagramLayout+xml"/>
  <Override PartName="/ppt/diagrams/v31_s16_quickStyle1.xml" ContentType="application/vnd.openxmlformats-officedocument.drawingml.diagramStyle+xml"/>
  <Override PartName="/ppt/diagrams/v31_s16_colors1.xml" ContentType="application/vnd.openxmlformats-officedocument.drawingml.diagramColors+xml"/>
  <Override PartName="/ppt/diagrams/v31_s16_drawing1.xml" ContentType="application/vnd.ms-office.drawingml.diagramDrawing+xml"/>
  <Override PartName="/ppt/diagrams/v31_s17_data1.xml" ContentType="application/vnd.openxmlformats-officedocument.drawingml.diagramData+xml"/>
  <Override PartName="/ppt/diagrams/v31_s17_layout1.xml" ContentType="application/vnd.openxmlformats-officedocument.drawingml.diagramLayout+xml"/>
  <Override PartName="/ppt/diagrams/v31_s17_quickStyle1.xml" ContentType="application/vnd.openxmlformats-officedocument.drawingml.diagramStyle+xml"/>
  <Override PartName="/ppt/diagrams/v31_s17_colors1.xml" ContentType="application/vnd.openxmlformats-officedocument.drawingml.diagramColors+xml"/>
  <Override PartName="/ppt/diagrams/v31_s17_drawing1.xml" ContentType="application/vnd.ms-office.drawingml.diagramDrawing+xml"/>
  <Override PartName="/ppt/diagrams/v31_s18_data1.xml" ContentType="application/vnd.openxmlformats-officedocument.drawingml.diagramData+xml"/>
  <Override PartName="/ppt/diagrams/v31_s18_layout1.xml" ContentType="application/vnd.openxmlformats-officedocument.drawingml.diagramLayout+xml"/>
  <Override PartName="/ppt/diagrams/v31_s18_quickStyle1.xml" ContentType="application/vnd.openxmlformats-officedocument.drawingml.diagramStyle+xml"/>
  <Override PartName="/ppt/diagrams/v31_s18_colors1.xml" ContentType="application/vnd.openxmlformats-officedocument.drawingml.diagramColors+xml"/>
  <Override PartName="/ppt/diagrams/v31_s18_drawing1.xml" ContentType="application/vnd.ms-office.drawingml.diagramDrawing+xml"/>
  <Override PartName="/ppt/diagrams/v31_s19_data1.xml" ContentType="application/vnd.openxmlformats-officedocument.drawingml.diagramData+xml"/>
  <Override PartName="/ppt/diagrams/v31_s19_layout1.xml" ContentType="application/vnd.openxmlformats-officedocument.drawingml.diagramLayout+xml"/>
  <Override PartName="/ppt/diagrams/v31_s19_quickStyle1.xml" ContentType="application/vnd.openxmlformats-officedocument.drawingml.diagramStyle+xml"/>
  <Override PartName="/ppt/diagrams/v31_s19_colors1.xml" ContentType="application/vnd.openxmlformats-officedocument.drawingml.diagramColors+xml"/>
  <Override PartName="/ppt/diagrams/v31_s19_drawing1.xml" ContentType="application/vnd.ms-office.drawingml.diagramDrawing+xml"/>
  <Override PartName="/ppt/diagrams/v31_s21_data1.xml" ContentType="application/vnd.openxmlformats-officedocument.drawingml.diagramData+xml"/>
  <Override PartName="/ppt/diagrams/v31_s21_layout1.xml" ContentType="application/vnd.openxmlformats-officedocument.drawingml.diagramLayout+xml"/>
  <Override PartName="/ppt/diagrams/v31_s21_quickStyle1.xml" ContentType="application/vnd.openxmlformats-officedocument.drawingml.diagramStyle+xml"/>
  <Override PartName="/ppt/diagrams/v31_s21_colors1.xml" ContentType="application/vnd.openxmlformats-officedocument.drawingml.diagramColors+xml"/>
  <Override PartName="/ppt/diagrams/v31_s21_drawing1.xml" ContentType="application/vnd.ms-office.drawingml.diagramDrawing+xml"/>
  <Override PartName="/ppt/diagrams/v31_s22_data1.xml" ContentType="application/vnd.openxmlformats-officedocument.drawingml.diagramData+xml"/>
  <Override PartName="/ppt/diagrams/v31_s22_layout1.xml" ContentType="application/vnd.openxmlformats-officedocument.drawingml.diagramLayout+xml"/>
  <Override PartName="/ppt/diagrams/v31_s22_quickStyle1.xml" ContentType="application/vnd.openxmlformats-officedocument.drawingml.diagramStyle+xml"/>
  <Override PartName="/ppt/diagrams/v31_s22_colors1.xml" ContentType="application/vnd.openxmlformats-officedocument.drawingml.diagramColors+xml"/>
  <Override PartName="/ppt/diagrams/v31_s22_drawing1.xml" ContentType="application/vnd.ms-office.drawingml.diagramDrawing+xml"/>
  <Override PartName="/ppt/diagrams/v31_s23_data1.xml" ContentType="application/vnd.openxmlformats-officedocument.drawingml.diagramData+xml"/>
  <Override PartName="/ppt/diagrams/v31_s23_layout1.xml" ContentType="application/vnd.openxmlformats-officedocument.drawingml.diagramLayout+xml"/>
  <Override PartName="/ppt/diagrams/v31_s23_quickStyle1.xml" ContentType="application/vnd.openxmlformats-officedocument.drawingml.diagramStyle+xml"/>
  <Override PartName="/ppt/diagrams/v31_s23_colors1.xml" ContentType="application/vnd.openxmlformats-officedocument.drawingml.diagramColors+xml"/>
  <Override PartName="/ppt/diagrams/v31_s23_drawing1.xml" ContentType="application/vnd.ms-office.drawingml.diagramDrawing+xml"/>
  <Override PartName="/ppt/diagrams/v31_s24_data1.xml" ContentType="application/vnd.openxmlformats-officedocument.drawingml.diagramData+xml"/>
  <Override PartName="/ppt/diagrams/v31_s24_layout1.xml" ContentType="application/vnd.openxmlformats-officedocument.drawingml.diagramLayout+xml"/>
  <Override PartName="/ppt/diagrams/v31_s24_quickStyle1.xml" ContentType="application/vnd.openxmlformats-officedocument.drawingml.diagramStyle+xml"/>
  <Override PartName="/ppt/diagrams/v31_s24_colors1.xml" ContentType="application/vnd.openxmlformats-officedocument.drawingml.diagramColors+xml"/>
  <Override PartName="/ppt/diagrams/v31_s24_drawing1.xml" ContentType="application/vnd.ms-office.drawingml.diagramDrawing+xml"/>
  <Override PartName="/ppt/diagrams/v31_s25_data1.xml" ContentType="application/vnd.openxmlformats-officedocument.drawingml.diagramData+xml"/>
  <Override PartName="/ppt/diagrams/v31_s25_layout1.xml" ContentType="application/vnd.openxmlformats-officedocument.drawingml.diagramLayout+xml"/>
  <Override PartName="/ppt/diagrams/v31_s25_quickStyle1.xml" ContentType="application/vnd.openxmlformats-officedocument.drawingml.diagramStyle+xml"/>
  <Override PartName="/ppt/diagrams/v31_s25_colors1.xml" ContentType="application/vnd.openxmlformats-officedocument.drawingml.diagramColors+xml"/>
  <Override PartName="/ppt/diagrams/v31_s25_drawing1.xml" ContentType="application/vnd.ms-office.drawingml.diagramDrawing+xml"/>
  <Override PartName="/ppt/diagrams/v31_s26_data1.xml" ContentType="application/vnd.openxmlformats-officedocument.drawingml.diagramData+xml"/>
  <Override PartName="/ppt/diagrams/v31_s26_layout1.xml" ContentType="application/vnd.openxmlformats-officedocument.drawingml.diagramLayout+xml"/>
  <Override PartName="/ppt/diagrams/v31_s26_quickStyle1.xml" ContentType="application/vnd.openxmlformats-officedocument.drawingml.diagramStyle+xml"/>
  <Override PartName="/ppt/diagrams/v31_s26_colors1.xml" ContentType="application/vnd.openxmlformats-officedocument.drawingml.diagramColors+xml"/>
  <Override PartName="/ppt/diagrams/v31_s26_drawing1.xml" ContentType="application/vnd.ms-office.drawingml.diagramDrawing+xml"/>
  <Override PartName="/ppt/diagrams/v31_s27_data1.xml" ContentType="application/vnd.openxmlformats-officedocument.drawingml.diagramData+xml"/>
  <Override PartName="/ppt/diagrams/v31_s27_layout1.xml" ContentType="application/vnd.openxmlformats-officedocument.drawingml.diagramLayout+xml"/>
  <Override PartName="/ppt/diagrams/v31_s27_quickStyle1.xml" ContentType="application/vnd.openxmlformats-officedocument.drawingml.diagramStyle+xml"/>
  <Override PartName="/ppt/diagrams/v31_s27_colors1.xml" ContentType="application/vnd.openxmlformats-officedocument.drawingml.diagramColors+xml"/>
  <Override PartName="/ppt/diagrams/v31_s27_drawing1.xml" ContentType="application/vnd.ms-office.drawingml.diagramDrawing+xml"/>
  <Override PartName="/ppt/diagrams/v31_s28_data1.xml" ContentType="application/vnd.openxmlformats-officedocument.drawingml.diagramData+xml"/>
  <Override PartName="/ppt/diagrams/v31_s28_layout1.xml" ContentType="application/vnd.openxmlformats-officedocument.drawingml.diagramLayout+xml"/>
  <Override PartName="/ppt/diagrams/v31_s28_quickStyle1.xml" ContentType="application/vnd.openxmlformats-officedocument.drawingml.diagramStyle+xml"/>
  <Override PartName="/ppt/diagrams/v31_s28_colors1.xml" ContentType="application/vnd.openxmlformats-officedocument.drawingml.diagramColors+xml"/>
  <Override PartName="/ppt/diagrams/v31_s28_drawing1.xml" ContentType="application/vnd.ms-office.drawingml.diagramDrawing+xml"/>
  <Override PartName="/ppt/diagrams/v31_s29_data1.xml" ContentType="application/vnd.openxmlformats-officedocument.drawingml.diagramData+xml"/>
  <Override PartName="/ppt/diagrams/v31_s29_layout1.xml" ContentType="application/vnd.openxmlformats-officedocument.drawingml.diagramLayout+xml"/>
  <Override PartName="/ppt/diagrams/v31_s29_quickStyle1.xml" ContentType="application/vnd.openxmlformats-officedocument.drawingml.diagramStyle+xml"/>
  <Override PartName="/ppt/diagrams/v31_s29_colors1.xml" ContentType="application/vnd.openxmlformats-officedocument.drawingml.diagramColors+xml"/>
  <Override PartName="/ppt/diagrams/v31_s29_drawing1.xml" ContentType="application/vnd.ms-office.drawingml.diagramDrawing+xml"/>
  <Override PartName="/ppt/diagrams/v31_s30_data1.xml" ContentType="application/vnd.openxmlformats-officedocument.drawingml.diagramData+xml"/>
  <Override PartName="/ppt/diagrams/v31_s30_layout1.xml" ContentType="application/vnd.openxmlformats-officedocument.drawingml.diagramLayout+xml"/>
  <Override PartName="/ppt/diagrams/v31_s30_quickStyle1.xml" ContentType="application/vnd.openxmlformats-officedocument.drawingml.diagramStyle+xml"/>
  <Override PartName="/ppt/diagrams/v31_s30_colors1.xml" ContentType="application/vnd.openxmlformats-officedocument.drawingml.diagramColors+xml"/>
  <Override PartName="/ppt/diagrams/v31_s30_drawing1.xml" ContentType="application/vnd.ms-office.drawingml.diagramDrawing+xml"/>
  <Override PartName="/ppt/diagrams/v31_s31_data1.xml" ContentType="application/vnd.openxmlformats-officedocument.drawingml.diagramData+xml"/>
  <Override PartName="/ppt/diagrams/v31_s31_layout1.xml" ContentType="application/vnd.openxmlformats-officedocument.drawingml.diagramLayout+xml"/>
  <Override PartName="/ppt/diagrams/v31_s31_quickStyle1.xml" ContentType="application/vnd.openxmlformats-officedocument.drawingml.diagramStyle+xml"/>
  <Override PartName="/ppt/diagrams/v31_s31_colors1.xml" ContentType="application/vnd.openxmlformats-officedocument.drawingml.diagramColors+xml"/>
  <Override PartName="/ppt/diagrams/v31_s31_drawing1.xml" ContentType="application/vnd.ms-office.drawingml.diagramDrawing+xml"/>
  <Override PartName="/ppt/diagrams/v31_s32_data1.xml" ContentType="application/vnd.openxmlformats-officedocument.drawingml.diagramData+xml"/>
  <Override PartName="/ppt/diagrams/v31_s32_layout1.xml" ContentType="application/vnd.openxmlformats-officedocument.drawingml.diagramLayout+xml"/>
  <Override PartName="/ppt/diagrams/v31_s32_quickStyle1.xml" ContentType="application/vnd.openxmlformats-officedocument.drawingml.diagramStyle+xml"/>
  <Override PartName="/ppt/diagrams/v31_s32_colors1.xml" ContentType="application/vnd.openxmlformats-officedocument.drawingml.diagramColors+xml"/>
  <Override PartName="/ppt/diagrams/v31_s32_drawing1.xml" ContentType="application/vnd.ms-office.drawingml.diagramDrawing+xml"/>
  <Override PartName="/ppt/diagrams/v31_s33_data1.xml" ContentType="application/vnd.openxmlformats-officedocument.drawingml.diagramData+xml"/>
  <Override PartName="/ppt/diagrams/v31_s33_layout1.xml" ContentType="application/vnd.openxmlformats-officedocument.drawingml.diagramLayout+xml"/>
  <Override PartName="/ppt/diagrams/v31_s33_quickStyle1.xml" ContentType="application/vnd.openxmlformats-officedocument.drawingml.diagramStyle+xml"/>
  <Override PartName="/ppt/diagrams/v31_s33_colors1.xml" ContentType="application/vnd.openxmlformats-officedocument.drawingml.diagramColors+xml"/>
  <Override PartName="/ppt/diagrams/v31_s33_drawing1.xml" ContentType="application/vnd.ms-office.drawingml.diagramDrawing+xml"/>
  <Override PartName="/ppt/diagrams/v31_s34_data1.xml" ContentType="application/vnd.openxmlformats-officedocument.drawingml.diagramData+xml"/>
  <Override PartName="/ppt/diagrams/v31_s34_layout1.xml" ContentType="application/vnd.openxmlformats-officedocument.drawingml.diagramLayout+xml"/>
  <Override PartName="/ppt/diagrams/v31_s34_quickStyle1.xml" ContentType="application/vnd.openxmlformats-officedocument.drawingml.diagramStyle+xml"/>
  <Override PartName="/ppt/diagrams/v31_s34_colors1.xml" ContentType="application/vnd.openxmlformats-officedocument.drawingml.diagramColors+xml"/>
  <Override PartName="/ppt/diagrams/v31_s34_drawing1.xml" ContentType="application/vnd.ms-office.drawingml.diagramDrawing+xml"/>
  <Override PartName="/ppt/diagrams/v31_s35_data1.xml" ContentType="application/vnd.openxmlformats-officedocument.drawingml.diagramData+xml"/>
  <Override PartName="/ppt/diagrams/v31_s35_layout1.xml" ContentType="application/vnd.openxmlformats-officedocument.drawingml.diagramLayout+xml"/>
  <Override PartName="/ppt/diagrams/v31_s35_quickStyle1.xml" ContentType="application/vnd.openxmlformats-officedocument.drawingml.diagramStyle+xml"/>
  <Override PartName="/ppt/diagrams/v31_s35_colors1.xml" ContentType="application/vnd.openxmlformats-officedocument.drawingml.diagramColors+xml"/>
  <Override PartName="/ppt/diagrams/v31_s35_drawing1.xml" ContentType="application/vnd.ms-office.drawingml.diagramDrawing+xml"/>
  <Override PartName="/ppt/diagrams/v31_s36_data1.xml" ContentType="application/vnd.openxmlformats-officedocument.drawingml.diagramData+xml"/>
  <Override PartName="/ppt/diagrams/v31_s36_layout1.xml" ContentType="application/vnd.openxmlformats-officedocument.drawingml.diagramLayout+xml"/>
  <Override PartName="/ppt/diagrams/v31_s36_quickStyle1.xml" ContentType="application/vnd.openxmlformats-officedocument.drawingml.diagramStyle+xml"/>
  <Override PartName="/ppt/diagrams/v31_s36_colors1.xml" ContentType="application/vnd.openxmlformats-officedocument.drawingml.diagramColors+xml"/>
  <Override PartName="/ppt/diagrams/v31_s36_drawing1.xml" ContentType="application/vnd.ms-office.drawingml.diagramDrawing+xml"/>
  <Override PartName="/ppt/diagrams/v31_s37_data1.xml" ContentType="application/vnd.openxmlformats-officedocument.drawingml.diagramData+xml"/>
  <Override PartName="/ppt/diagrams/v31_s37_layout1.xml" ContentType="application/vnd.openxmlformats-officedocument.drawingml.diagramLayout+xml"/>
  <Override PartName="/ppt/diagrams/v31_s37_quickStyle1.xml" ContentType="application/vnd.openxmlformats-officedocument.drawingml.diagramStyle+xml"/>
  <Override PartName="/ppt/diagrams/v31_s37_colors1.xml" ContentType="application/vnd.openxmlformats-officedocument.drawingml.diagramColors+xml"/>
  <Override PartName="/ppt/diagrams/v31_s37_drawing1.xml" ContentType="application/vnd.ms-office.drawingml.diagramDrawing+xml"/>
  <Override PartName="/ppt/diagrams/v31_s38_data1.xml" ContentType="application/vnd.openxmlformats-officedocument.drawingml.diagramData+xml"/>
  <Override PartName="/ppt/diagrams/v31_s38_layout1.xml" ContentType="application/vnd.openxmlformats-officedocument.drawingml.diagramLayout+xml"/>
  <Override PartName="/ppt/diagrams/v31_s38_quickStyle1.xml" ContentType="application/vnd.openxmlformats-officedocument.drawingml.diagramStyle+xml"/>
  <Override PartName="/ppt/diagrams/v31_s38_colors1.xml" ContentType="application/vnd.openxmlformats-officedocument.drawingml.diagramColors+xml"/>
  <Override PartName="/ppt/diagrams/v31_s38_drawing1.xml" ContentType="application/vnd.ms-office.drawingml.diagramDrawing+xml"/>
  <Override PartName="/ppt/diagrams/v31_s39_data1.xml" ContentType="application/vnd.openxmlformats-officedocument.drawingml.diagramData+xml"/>
  <Override PartName="/ppt/diagrams/v31_s39_layout1.xml" ContentType="application/vnd.openxmlformats-officedocument.drawingml.diagramLayout+xml"/>
  <Override PartName="/ppt/diagrams/v31_s39_quickStyle1.xml" ContentType="application/vnd.openxmlformats-officedocument.drawingml.diagramStyle+xml"/>
  <Override PartName="/ppt/diagrams/v31_s39_colors1.xml" ContentType="application/vnd.openxmlformats-officedocument.drawingml.diagramColors+xml"/>
  <Override PartName="/ppt/diagrams/v31_s39_drawing1.xml" ContentType="application/vnd.ms-office.drawingml.diagramDrawing+xml"/>
  <Override PartName="/ppt/diagrams/v31_s40_data1.xml" ContentType="application/vnd.openxmlformats-officedocument.drawingml.diagramData+xml"/>
  <Override PartName="/ppt/diagrams/v31_s40_layout1.xml" ContentType="application/vnd.openxmlformats-officedocument.drawingml.diagramLayout+xml"/>
  <Override PartName="/ppt/diagrams/v31_s40_quickStyle1.xml" ContentType="application/vnd.openxmlformats-officedocument.drawingml.diagramStyle+xml"/>
  <Override PartName="/ppt/diagrams/v31_s40_colors1.xml" ContentType="application/vnd.openxmlformats-officedocument.drawingml.diagramColors+xml"/>
  <Override PartName="/ppt/diagrams/v31_s40_drawing1.xml" ContentType="application/vnd.ms-office.drawingml.diagramDrawing+xml"/>
  <Override PartName="/ppt/diagrams/v31_s41_data1.xml" ContentType="application/vnd.openxmlformats-officedocument.drawingml.diagramData+xml"/>
  <Override PartName="/ppt/diagrams/v31_s41_layout1.xml" ContentType="application/vnd.openxmlformats-officedocument.drawingml.diagramLayout+xml"/>
  <Override PartName="/ppt/diagrams/v31_s41_quickStyle1.xml" ContentType="application/vnd.openxmlformats-officedocument.drawingml.diagramStyle+xml"/>
  <Override PartName="/ppt/diagrams/v31_s41_colors1.xml" ContentType="application/vnd.openxmlformats-officedocument.drawingml.diagramColors+xml"/>
  <Override PartName="/ppt/diagrams/v31_s41_drawing1.xml" ContentType="application/vnd.ms-office.drawingml.diagramDrawing+xml"/>
  <Override PartName="/ppt/diagrams/v31_s42_data1.xml" ContentType="application/vnd.openxmlformats-officedocument.drawingml.diagramData+xml"/>
  <Override PartName="/ppt/diagrams/v31_s42_layout1.xml" ContentType="application/vnd.openxmlformats-officedocument.drawingml.diagramLayout+xml"/>
  <Override PartName="/ppt/diagrams/v31_s42_quickStyle1.xml" ContentType="application/vnd.openxmlformats-officedocument.drawingml.diagramStyle+xml"/>
  <Override PartName="/ppt/diagrams/v31_s42_colors1.xml" ContentType="application/vnd.openxmlformats-officedocument.drawingml.diagramColors+xml"/>
  <Override PartName="/ppt/diagrams/v31_s42_drawing1.xml" ContentType="application/vnd.ms-office.drawingml.diagramDrawing+xml"/>
  <Override PartName="/ppt/diagrams/v31_s43_data1.xml" ContentType="application/vnd.openxmlformats-officedocument.drawingml.diagramData+xml"/>
  <Override PartName="/ppt/diagrams/v31_s43_layout1.xml" ContentType="application/vnd.openxmlformats-officedocument.drawingml.diagramLayout+xml"/>
  <Override PartName="/ppt/diagrams/v31_s43_quickStyle1.xml" ContentType="application/vnd.openxmlformats-officedocument.drawingml.diagramStyle+xml"/>
  <Override PartName="/ppt/diagrams/v31_s43_colors1.xml" ContentType="application/vnd.openxmlformats-officedocument.drawingml.diagramColors+xml"/>
  <Override PartName="/ppt/diagrams/v31_s43_drawing1.xml" ContentType="application/vnd.ms-office.drawingml.diagramDrawing+xml"/>
  <Override PartName="/ppt/diagrams/v31_s44_data1.xml" ContentType="application/vnd.openxmlformats-officedocument.drawingml.diagramData+xml"/>
  <Override PartName="/ppt/diagrams/v31_s44_layout1.xml" ContentType="application/vnd.openxmlformats-officedocument.drawingml.diagramLayout+xml"/>
  <Override PartName="/ppt/diagrams/v31_s44_quickStyle1.xml" ContentType="application/vnd.openxmlformats-officedocument.drawingml.diagramStyle+xml"/>
  <Override PartName="/ppt/diagrams/v31_s44_colors1.xml" ContentType="application/vnd.openxmlformats-officedocument.drawingml.diagramColors+xml"/>
  <Override PartName="/ppt/diagrams/v31_s44_drawing1.xml" ContentType="application/vnd.ms-office.drawingml.diagramDrawing+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1588750" cy="6858000"/>
  <p:notesSz cx="6858000" cy="9144000"/>
  <p:embeddedFontLst>
    <p:embeddedFont>
      <p:font typeface="Lato" panose="020F0502020204030203" pitchFamily="34" charset="0"/>
      <p:regular r:id="rId47"/>
      <p:bold r:id="rId48"/>
      <p:italic r:id="rId49"/>
      <p:bold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s>
</file>

<file path=ppt/diagrams/v31_s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1Drawing2" minVer="http://schemas.openxmlformats.org/drawingml/2006/diagram"/>
    </a:ext>
  </dgm:extLst>
</dgm:dataModel>
</file>

<file path=ppt/diagrams/v31_s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1Drawing3" minVer="http://schemas.openxmlformats.org/drawingml/2006/diagram"/>
    </a:ext>
  </dgm:extLst>
</dgm:dataModel>
</file>

<file path=ppt/diagrams/v31_s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4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1Drawing4" minVer="http://schemas.openxmlformats.org/drawingml/2006/diagram"/>
    </a:ext>
  </dgm:extLst>
</dgm:dataModel>
</file>

<file path=ppt/diagrams/v31_s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5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1Drawing5" minVer="http://schemas.openxmlformats.org/drawingml/2006/diagram"/>
    </a:ext>
  </dgm:extLst>
</dgm:dataModel>
</file>

<file path=ppt/diagrams/v31_s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6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1Drawing6" minVer="http://schemas.openxmlformats.org/drawingml/2006/diagram"/>
    </a:ext>
  </dgm:extLst>
</dgm:dataModel>
</file>

<file path=ppt/diagrams/v31_s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7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1Drawing7" minVer="http://schemas.openxmlformats.org/drawingml/2006/diagram"/>
    </a:ext>
  </dgm:extLst>
</dgm:dataModel>
</file>

<file path=ppt/diagrams/v31_s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8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1Drawing8" minVer="http://schemas.openxmlformats.org/drawingml/2006/diagram"/>
    </a:ext>
  </dgm:extLst>
</dgm:dataModel>
</file>

<file path=ppt/diagrams/v31_s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9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1Drawing9" minVer="http://schemas.openxmlformats.org/drawingml/2006/diagram"/>
    </a:ext>
  </dgm:extLst>
</dgm:dataModel>
</file>

<file path=ppt/diagrams/v31_s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0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1Drawing10" minVer="http://schemas.openxmlformats.org/drawingml/2006/diagram"/>
    </a:ext>
  </dgm:extLst>
</dgm:dataModel>
</file>

<file path=ppt/diagrams/v31_s1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1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1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1Drawing11" minVer="http://schemas.openxmlformats.org/drawingml/2006/diagram"/>
    </a:ext>
  </dgm:extLst>
</dgm:dataModel>
</file>

<file path=ppt/diagrams/v31_s1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1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2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1Drawing12" minVer="http://schemas.openxmlformats.org/drawingml/2006/diagram"/>
    </a:ext>
  </dgm:extLst>
</dgm:dataModel>
</file>

<file path=ppt/diagrams/v31_s1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1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3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1Drawing13" minVer="http://schemas.openxmlformats.org/drawingml/2006/diagram"/>
    </a:ext>
  </dgm:extLst>
</dgm:dataModel>
</file>

<file path=ppt/diagrams/v31_s1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1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4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1Drawing14" minVer="http://schemas.openxmlformats.org/drawingml/2006/diagram"/>
    </a:ext>
  </dgm:extLst>
</dgm:dataModel>
</file>

<file path=ppt/diagrams/v31_s1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1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5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1Drawing15" minVer="http://schemas.openxmlformats.org/drawingml/2006/diagram"/>
    </a:ext>
  </dgm:extLst>
</dgm:dataModel>
</file>

<file path=ppt/diagrams/v31_s1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1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6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1Drawing16" minVer="http://schemas.openxmlformats.org/drawingml/2006/diagram"/>
    </a:ext>
  </dgm:extLst>
</dgm:dataModel>
</file>

<file path=ppt/diagrams/v31_s1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1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7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1Drawing17" minVer="http://schemas.openxmlformats.org/drawingml/2006/diagram"/>
    </a:ext>
  </dgm:extLst>
</dgm:dataModel>
</file>

<file path=ppt/diagrams/v31_s1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1_s1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8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1Drawing18" minVer="http://schemas.openxmlformats.org/drawingml/2006/diagram"/>
    </a:ext>
  </dgm:extLst>
</dgm:dataModel>
</file>

<file path=ppt/diagrams/v31_s1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1_s1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1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19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1Drawing19" minVer="http://schemas.openxmlformats.org/drawingml/2006/diagram"/>
    </a:ext>
  </dgm:extLst>
</dgm:dataModel>
</file>

<file path=ppt/diagrams/v31_s1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1_s1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1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1_data1.xml><?xml version="1.0" encoding="utf-8"?>
<dgm:dataModel xmlns:dgm="http://schemas.openxmlformats.org/drawingml/2006/diagram" xmlns:a="http://schemas.openxmlformats.org/drawingml/2006/main">
  <dgm:ptLst>
    <dgm:pt modelId="{AAE6C25A-DB6D-4D78-9B3C-FAF52388604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C650DAE2-05C8-412C-8907-8BE60B60268D}">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Appendix</a:t>
          </a:r>
        </a:p>
      </dgm:t>
    </dgm:pt>
    <dgm:pt modelId="{B9DE7244-C2E0-47C2-BE1F-ACFAA8813B01}" type="parTrans" cxnId="{9D315063-B86A-4984-A5B5-2440147C83E2}">
      <dgm:prSet/>
      <dgm:spPr>
        <a:ln>
          <a:noFill/>
        </a:ln>
      </dgm:spPr>
    </dgm:pt>
    <dgm:pt modelId="{AC6A796A-FAE5-431B-BA64-9671C8D0A3E2}" type="sibTrans" cxnId="{9D315063-B86A-4984-A5B5-2440147C83E2}">
      <dgm:prSet/>
      <dgm:spPr>
        <a:ln>
          <a:noFill/>
        </a:ln>
      </dgm:spPr>
    </dgm:pt>
    <dgm:pt modelId="{3B811E9B-A679-4E27-B63F-0A648F7D7531}">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6DAA683-9AD7-436F-8A93-6AC8BF751387}" type="parTrans" cxnId="{5F2218A3-2C2C-4BCA-A837-5AB3470343EA}">
      <dgm:prSet/>
      <dgm:spPr>
        <a:ln>
          <a:noFill/>
        </a:ln>
      </dgm:spPr>
    </dgm:pt>
    <dgm:pt modelId="{C775561D-5F66-4396-B318-4E1DA8BBFD09}" type="sibTrans" cxnId="{5F2218A3-2C2C-4BCA-A837-5AB3470343EA}">
      <dgm:prSet/>
      <dgm:spPr>
        <a:ln>
          <a:noFill/>
        </a:ln>
      </dgm:spPr>
    </dgm:pt>
    <dgm:pt modelId="{BD594A9A-9323-4341-96BF-85721BA2C10D}">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537A9428-02EF-4234-BF12-09A126B2DDA1}" type="parTrans" cxnId="{835F645B-250E-4BF0-AFC4-1334188DA137}">
      <dgm:prSet/>
      <dgm:spPr>
        <a:ln>
          <a:noFill/>
        </a:ln>
      </dgm:spPr>
    </dgm:pt>
    <dgm:pt modelId="{ACB5C591-797D-4FD9-9409-F0EDF95FEE27}" type="sibTrans" cxnId="{835F645B-250E-4BF0-AFC4-1334188DA137}">
      <dgm:prSet/>
      <dgm:spPr>
        <a:ln>
          <a:noFill/>
        </a:ln>
      </dgm:spPr>
    </dgm:pt>
    <dgm:pt modelId="{A786AE8E-E5F5-4022-A310-B20DC594406F}">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0D4C8FAA-FB42-484D-B9F6-B3232D98013E}" type="parTrans" cxnId="{C74F17E0-0C32-4B4E-93AE-E7C5D2BF2376}">
      <dgm:prSet/>
      <dgm:spPr>
        <a:ln>
          <a:noFill/>
        </a:ln>
      </dgm:spPr>
    </dgm:pt>
    <dgm:pt modelId="{8488243F-3650-49F5-A77A-DF07A84A14BF}" type="sibTrans" cxnId="{C74F17E0-0C32-4B4E-93AE-E7C5D2BF2376}">
      <dgm:prSet/>
      <dgm:spPr>
        <a:ln>
          <a:noFill/>
        </a:ln>
      </dgm:spPr>
    </dgm:pt>
    <dgm:pt modelId="{C968AC03-41E9-4B9B-BE45-02B1539B4282}" type="pres">
      <dgm:prSet presAssocID="{AAE6C25A-DB6D-4D78-9B3C-FAF523886041}" presName="Name0" presStyleCnt="0">
        <dgm:presLayoutVars>
          <dgm:dir/>
          <dgm:animLvl val="lvl"/>
          <dgm:resizeHandles val="exact"/>
        </dgm:presLayoutVars>
      </dgm:prSet>
      <dgm:spPr>
        <a:ln>
          <a:noFill/>
        </a:ln>
      </dgm:spPr>
    </dgm:pt>
    <dgm:pt modelId="{1AB901B8-27E8-4328-AA0B-6C29B0008F85}" type="pres">
      <dgm:prSet presAssocID="{C650DAE2-05C8-412C-8907-8BE60B60268D}" presName="parTxOnly" presStyleLbl="node1" presStyleIdx="0" presStyleCnt="4">
        <dgm:presLayoutVars>
          <dgm:chMax val="0"/>
          <dgm:chPref val="0"/>
          <dgm:bulletEnabled val="1"/>
        </dgm:presLayoutVars>
      </dgm:prSet>
      <dgm:spPr>
        <a:ln>
          <a:noFill/>
        </a:ln>
      </dgm:spPr>
    </dgm:pt>
    <dgm:pt modelId="{A4575649-1F97-4837-A1A2-C2364EA82ED1}" type="pres">
      <dgm:prSet presAssocID="{AC6A796A-FAE5-431B-BA64-9671C8D0A3E2}" presName="parTxOnlySpace" presStyleCnt="0"/>
      <dgm:spPr>
        <a:ln>
          <a:noFill/>
        </a:ln>
      </dgm:spPr>
    </dgm:pt>
    <dgm:pt modelId="{3AAAE9D2-1344-4643-AA43-2A8F2D82248E}" type="pres">
      <dgm:prSet presAssocID="{3B811E9B-A679-4E27-B63F-0A648F7D7531}" presName="parTxOnly" presStyleLbl="node1" presStyleIdx="1" presStyleCnt="4">
        <dgm:presLayoutVars>
          <dgm:chMax val="0"/>
          <dgm:chPref val="0"/>
          <dgm:bulletEnabled val="1"/>
        </dgm:presLayoutVars>
      </dgm:prSet>
      <dgm:spPr>
        <a:ln>
          <a:noFill/>
        </a:ln>
      </dgm:spPr>
    </dgm:pt>
    <dgm:pt modelId="{9D7B86B8-7DD8-45C4-833D-17A1B25C3980}" type="pres">
      <dgm:prSet presAssocID="{C775561D-5F66-4396-B318-4E1DA8BBFD09}" presName="parTxOnlySpace" presStyleCnt="0"/>
      <dgm:spPr>
        <a:ln>
          <a:noFill/>
        </a:ln>
      </dgm:spPr>
    </dgm:pt>
    <dgm:pt modelId="{CE5359D8-4885-4FD6-96E3-EC640365AC46}" type="pres">
      <dgm:prSet presAssocID="{BD594A9A-9323-4341-96BF-85721BA2C10D}" presName="parTxOnly" presStyleLbl="node1" presStyleIdx="2" presStyleCnt="4">
        <dgm:presLayoutVars>
          <dgm:chMax val="0"/>
          <dgm:chPref val="0"/>
          <dgm:bulletEnabled val="1"/>
        </dgm:presLayoutVars>
      </dgm:prSet>
      <dgm:spPr>
        <a:ln>
          <a:noFill/>
        </a:ln>
      </dgm:spPr>
    </dgm:pt>
    <dgm:pt modelId="{BF092264-4518-4B43-A50E-F77EF016D00A}" type="pres">
      <dgm:prSet presAssocID="{ACB5C591-797D-4FD9-9409-F0EDF95FEE27}" presName="parTxOnlySpace" presStyleCnt="0"/>
      <dgm:spPr>
        <a:ln>
          <a:noFill/>
        </a:ln>
      </dgm:spPr>
    </dgm:pt>
    <dgm:pt modelId="{E20A8324-5073-4681-BF09-1EBF8264B0BB}" type="pres">
      <dgm:prSet presAssocID="{A786AE8E-E5F5-4022-A310-B20DC594406F}" presName="parTxOnly" presStyleLbl="node1" presStyleIdx="3" presStyleCnt="4">
        <dgm:presLayoutVars>
          <dgm:chMax val="0"/>
          <dgm:chPref val="0"/>
          <dgm:bulletEnabled val="1"/>
        </dgm:presLayoutVars>
      </dgm:prSet>
      <dgm:spPr>
        <a:ln>
          <a:noFill/>
        </a:ln>
      </dgm:spPr>
    </dgm:pt>
  </dgm:ptLst>
  <dgm:cxnLst>
    <dgm:cxn modelId="{AA913910-F66D-4DDE-B610-9E8A5AD246D0}" type="presOf" srcId="{C650DAE2-05C8-412C-8907-8BE60B60268D}" destId="{1AB901B8-27E8-4328-AA0B-6C29B0008F85}" srcOrd="0" destOrd="0" presId="urn:microsoft.com/office/officeart/2005/8/layout/chevron1"/>
    <dgm:cxn modelId="{835F645B-250E-4BF0-AFC4-1334188DA137}" srcId="{AAE6C25A-DB6D-4D78-9B3C-FAF523886041}" destId="{BD594A9A-9323-4341-96BF-85721BA2C10D}" srcOrd="2" destOrd="0" parTransId="{537A9428-02EF-4234-BF12-09A126B2DDA1}" sibTransId="{ACB5C591-797D-4FD9-9409-F0EDF95FEE27}"/>
    <dgm:cxn modelId="{9D315063-B86A-4984-A5B5-2440147C83E2}" srcId="{AAE6C25A-DB6D-4D78-9B3C-FAF523886041}" destId="{C650DAE2-05C8-412C-8907-8BE60B60268D}" srcOrd="0" destOrd="0" parTransId="{B9DE7244-C2E0-47C2-BE1F-ACFAA8813B01}" sibTransId="{AC6A796A-FAE5-431B-BA64-9671C8D0A3E2}"/>
    <dgm:cxn modelId="{5F2218A3-2C2C-4BCA-A837-5AB3470343EA}" srcId="{AAE6C25A-DB6D-4D78-9B3C-FAF523886041}" destId="{3B811E9B-A679-4E27-B63F-0A648F7D7531}" srcOrd="1" destOrd="0" parTransId="{86DAA683-9AD7-436F-8A93-6AC8BF751387}" sibTransId="{C775561D-5F66-4396-B318-4E1DA8BBFD09}"/>
    <dgm:cxn modelId="{1CA726B8-65BA-46BA-A05F-29BD1EC000FF}" type="presOf" srcId="{BD594A9A-9323-4341-96BF-85721BA2C10D}" destId="{CE5359D8-4885-4FD6-96E3-EC640365AC46}" srcOrd="0" destOrd="0" presId="urn:microsoft.com/office/officeart/2005/8/layout/chevron1"/>
    <dgm:cxn modelId="{C74F17E0-0C32-4B4E-93AE-E7C5D2BF2376}" srcId="{AAE6C25A-DB6D-4D78-9B3C-FAF523886041}" destId="{A786AE8E-E5F5-4022-A310-B20DC594406F}" srcOrd="3" destOrd="0" parTransId="{0D4C8FAA-FB42-484D-B9F6-B3232D98013E}" sibTransId="{8488243F-3650-49F5-A77A-DF07A84A14BF}"/>
    <dgm:cxn modelId="{B2A6EDE1-4A93-42C4-A660-009F904A286F}" type="presOf" srcId="{3B811E9B-A679-4E27-B63F-0A648F7D7531}" destId="{3AAAE9D2-1344-4643-AA43-2A8F2D82248E}" srcOrd="0" destOrd="0" presId="urn:microsoft.com/office/officeart/2005/8/layout/chevron1"/>
    <dgm:cxn modelId="{A5AA6BEB-AF2D-46DD-92D3-9F66F7C94D64}" type="presOf" srcId="{AAE6C25A-DB6D-4D78-9B3C-FAF523886041}" destId="{C968AC03-41E9-4B9B-BE45-02B1539B4282}" srcOrd="0" destOrd="0" presId="urn:microsoft.com/office/officeart/2005/8/layout/chevron1"/>
    <dgm:cxn modelId="{6162ABF3-FD09-4CAB-AA7B-F4DDEA50CFBF}" type="presOf" srcId="{A786AE8E-E5F5-4022-A310-B20DC594406F}" destId="{E20A8324-5073-4681-BF09-1EBF8264B0BB}" srcOrd="0" destOrd="0" presId="urn:microsoft.com/office/officeart/2005/8/layout/chevron1"/>
    <dgm:cxn modelId="{36CD3796-6634-4E4D-8C7B-303A88336F99}" type="presParOf" srcId="{C968AC03-41E9-4B9B-BE45-02B1539B4282}" destId="{1AB901B8-27E8-4328-AA0B-6C29B0008F85}" srcOrd="0" destOrd="0" presId="urn:microsoft.com/office/officeart/2005/8/layout/chevron1"/>
    <dgm:cxn modelId="{20041F04-F2B0-43AD-9942-1EE206097285}" type="presParOf" srcId="{C968AC03-41E9-4B9B-BE45-02B1539B4282}" destId="{A4575649-1F97-4837-A1A2-C2364EA82ED1}" srcOrd="1" destOrd="0" presId="urn:microsoft.com/office/officeart/2005/8/layout/chevron1"/>
    <dgm:cxn modelId="{9712E61A-5F30-4972-B844-2AB532D872F5}" type="presParOf" srcId="{C968AC03-41E9-4B9B-BE45-02B1539B4282}" destId="{3AAAE9D2-1344-4643-AA43-2A8F2D82248E}" srcOrd="2" destOrd="0" presId="urn:microsoft.com/office/officeart/2005/8/layout/chevron1"/>
    <dgm:cxn modelId="{4D89F43C-E17A-411D-A38E-6BF73E635EF8}" type="presParOf" srcId="{C968AC03-41E9-4B9B-BE45-02B1539B4282}" destId="{9D7B86B8-7DD8-45C4-833D-17A1B25C3980}" srcOrd="3" destOrd="0" presId="urn:microsoft.com/office/officeart/2005/8/layout/chevron1"/>
    <dgm:cxn modelId="{64372D3A-B9BF-4A85-B6B9-58CEA7183769}" type="presParOf" srcId="{C968AC03-41E9-4B9B-BE45-02B1539B4282}" destId="{CE5359D8-4885-4FD6-96E3-EC640365AC46}" srcOrd="4" destOrd="0" presId="urn:microsoft.com/office/officeart/2005/8/layout/chevron1"/>
    <dgm:cxn modelId="{48FD68AB-BEF3-460D-B239-3F24EEFE5DEA}" type="presParOf" srcId="{C968AC03-41E9-4B9B-BE45-02B1539B4282}" destId="{BF092264-4518-4B43-A50E-F77EF016D00A}" srcOrd="5" destOrd="0" presId="urn:microsoft.com/office/officeart/2005/8/layout/chevron1"/>
    <dgm:cxn modelId="{6D3D930F-3147-403D-93C4-65D23C8C3433}" type="presParOf" srcId="{C968AC03-41E9-4B9B-BE45-02B1539B4282}" destId="{E20A8324-5073-4681-BF09-1EBF8264B0BB}" srcOrd="6" destOrd="0" presId="urn:microsoft.com/office/officeart/2005/8/layout/chevron1"/>
  </dgm:cxnLst>
  <dgm:bg/>
  <dgm:whole/>
  <dgm:extLst>
    <a:ext uri="http://schemas.microsoft.com/office/drawing/2008/diagram">
      <dsp:dataModelExt xmlns:dsp="http://schemas.microsoft.com/office/drawing/2008/diagram" relId="rIdV31Drawing21" minVer="http://schemas.openxmlformats.org/drawingml/2006/diagram"/>
    </a:ext>
  </dgm:extLst>
</dgm:dataModel>
</file>

<file path=ppt/diagrams/v31_s2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901B8-27E8-4328-AA0B-6C29B0008F85}">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Appendix</a:t>
          </a:r>
        </a:p>
      </dsp:txBody>
      <dsp:txXfrm>
        <a:off x="56693" y="0"/>
        <a:ext cx="2508656" cy="283464"/>
      </dsp:txXfrm>
    </dsp:sp>
    <dsp:sp modelId="{3AAAE9D2-1344-4643-AA43-2A8F2D82248E}">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CE5359D8-4885-4FD6-96E3-EC640365AC46}">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E20A8324-5073-4681-BF09-1EBF8264B0BB}">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2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22" minVer="http://schemas.openxmlformats.org/drawingml/2006/diagram"/>
    </a:ext>
  </dgm:extLst>
</dgm:dataModel>
</file>

<file path=ppt/diagrams/v31_s2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3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23" minVer="http://schemas.openxmlformats.org/drawingml/2006/diagram"/>
    </a:ext>
  </dgm:extLst>
</dgm:dataModel>
</file>

<file path=ppt/diagrams/v31_s2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4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24" minVer="http://schemas.openxmlformats.org/drawingml/2006/diagram"/>
    </a:ext>
  </dgm:extLst>
</dgm:dataModel>
</file>

<file path=ppt/diagrams/v31_s2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5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25" minVer="http://schemas.openxmlformats.org/drawingml/2006/diagram"/>
    </a:ext>
  </dgm:extLst>
</dgm:dataModel>
</file>

<file path=ppt/diagrams/v31_s2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6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26" minVer="http://schemas.openxmlformats.org/drawingml/2006/diagram"/>
    </a:ext>
  </dgm:extLst>
</dgm:dataModel>
</file>

<file path=ppt/diagrams/v31_s2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7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27" minVer="http://schemas.openxmlformats.org/drawingml/2006/diagram"/>
    </a:ext>
  </dgm:extLst>
</dgm:dataModel>
</file>

<file path=ppt/diagrams/v31_s2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8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28" minVer="http://schemas.openxmlformats.org/drawingml/2006/diagram"/>
    </a:ext>
  </dgm:extLst>
</dgm:dataModel>
</file>

<file path=ppt/diagrams/v31_s2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2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29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29" minVer="http://schemas.openxmlformats.org/drawingml/2006/diagram"/>
    </a:ext>
  </dgm:extLst>
</dgm:dataModel>
</file>

<file path=ppt/diagrams/v31_s2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2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2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0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30" minVer="http://schemas.openxmlformats.org/drawingml/2006/diagram"/>
    </a:ext>
  </dgm:extLst>
</dgm:dataModel>
</file>

<file path=ppt/diagrams/v31_s3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1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1Drawing31" minVer="http://schemas.openxmlformats.org/drawingml/2006/diagram"/>
    </a:ext>
  </dgm:extLst>
</dgm:dataModel>
</file>

<file path=ppt/diagrams/v31_s3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2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1Drawing32" minVer="http://schemas.openxmlformats.org/drawingml/2006/diagram"/>
    </a:ext>
  </dgm:extLst>
</dgm:dataModel>
</file>

<file path=ppt/diagrams/v31_s3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3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1Drawing33" minVer="http://schemas.openxmlformats.org/drawingml/2006/diagram"/>
    </a:ext>
  </dgm:extLst>
</dgm:dataModel>
</file>

<file path=ppt/diagrams/v31_s3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4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1Drawing34" minVer="http://schemas.openxmlformats.org/drawingml/2006/diagram"/>
    </a:ext>
  </dgm:extLst>
</dgm:dataModel>
</file>

<file path=ppt/diagrams/v31_s3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5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1Drawing35" minVer="http://schemas.openxmlformats.org/drawingml/2006/diagram"/>
    </a:ext>
  </dgm:extLst>
</dgm:dataModel>
</file>

<file path=ppt/diagrams/v31_s3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6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1Drawing36" minVer="http://schemas.openxmlformats.org/drawingml/2006/diagram"/>
    </a:ext>
  </dgm:extLst>
</dgm:dataModel>
</file>

<file path=ppt/diagrams/v31_s3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7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1Drawing37" minVer="http://schemas.openxmlformats.org/drawingml/2006/diagram"/>
    </a:ext>
  </dgm:extLst>
</dgm:dataModel>
</file>

<file path=ppt/diagrams/v31_s3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8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1Drawing38" minVer="http://schemas.openxmlformats.org/drawingml/2006/diagram"/>
    </a:ext>
  </dgm:extLst>
</dgm:dataModel>
</file>

<file path=ppt/diagrams/v31_s3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1_s3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3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39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1Drawing39" minVer="http://schemas.openxmlformats.org/drawingml/2006/diagram"/>
    </a:ext>
  </dgm:extLst>
</dgm:dataModel>
</file>

<file path=ppt/diagrams/v31_s3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1_s3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3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4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40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1Drawing40" minVer="http://schemas.openxmlformats.org/drawingml/2006/diagram"/>
    </a:ext>
  </dgm:extLst>
</dgm:dataModel>
</file>

<file path=ppt/diagrams/v31_s4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1_s4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4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4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41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1Drawing41" minVer="http://schemas.openxmlformats.org/drawingml/2006/diagram"/>
    </a:ext>
  </dgm:extLst>
</dgm:dataModel>
</file>

<file path=ppt/diagrams/v31_s4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1_s4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4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4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42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1Drawing42" minVer="http://schemas.openxmlformats.org/drawingml/2006/diagram"/>
    </a:ext>
  </dgm:extLst>
</dgm:dataModel>
</file>

<file path=ppt/diagrams/v31_s4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1_s4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4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4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43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1Drawing43" minVer="http://schemas.openxmlformats.org/drawingml/2006/diagram"/>
    </a:ext>
  </dgm:extLst>
</dgm:dataModel>
</file>

<file path=ppt/diagrams/v31_s4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1_s4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4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1_s4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1_s44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1Drawing44" minVer="http://schemas.openxmlformats.org/drawingml/2006/diagram"/>
    </a:ext>
  </dgm:extLst>
</dgm:dataModel>
</file>

<file path=ppt/diagrams/v31_s4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1_s4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1_s4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Condensed from the supplied HG/Henry storyboard, external/partner_story_20261006/situation.png, complication.png and resolution.png. This page preserves the original analytical brief without inserting subsequent answers, capture assumptions or progress claims. Demand mechanism detail in the original: use Stats SA land transport and project private-sector rail participation; project EV/HEV penetration and its effect on litres per kilometre; assess higher fuel prices and kilometres travelled. Secunda original proposition: improved pure gas production from coal, potential diversion from fuel production due to MRG sales and possible extension to 2032. These are HG's propositions for analysis, not independently established outcomes. Full original wording is traced in workstreams/WS3_reporting_delivery/henry_verbatim_trace_2026-10-06.md and pptx/story/henry_question_answers_2026_10_06.json.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Narrative follows Henry's supplied storyboard: Situation (historical demand and its drivers, refinery closures and import entry); Complication (reversal of demand supports, refinery futures and route competitiveness); Resolution (Vopak share and scope for investment). Source trace: workstreams/WS3_reporting_delivery/henry_verbatim_trace_2026-10-06.md and external/partner_story_20261006/. Updated evidence and quantities: output/delivered/market_review_2026_10_10/market_review.json; Master_data_book.xlsx; deck pp6–15, 20–34. Eskom FY2025 own OCGT diesel/kerosene use fell from 1,129.5 to 677.9 million litres; do not equate this with all power diesel. National sales are 2023; Durban customs and imports 2025; Gauteng demand 2022. Market capture is authored sensitivity registered in assumptions/2026/market_review.yaml, not actual share or incremental volume. Base two monthly turns; assumed capture 20% and Lesedi route share 50%; Lesedi is a subset of Durban flow. Route superiority, customer commitments and eligible working capacity remain unverified. SAPREF, Secunda/MRG and Natref statements identify scenario dependencies, not confirmed outcomes.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Department sales 2013-2023; 2023 total 21.94bn L. FIASA 2024 total 20.76bn L is unverified; no 2025 sales. SARS imports 2020-2025. Eskom FY2025 own diesel + kerosene. M/M remains an uncalibrated reference.</a:t>
            </a:r>
          </a:p>
          <a:p>
            <a:endParaRPr/>
          </a:p>
          <a:p>
            <a:r>
              <a:t>Workbook source commit: 8a3c884b0d26a3c5819a9a0b702024ab60485d1e</a:t>
            </a:r>
          </a:p>
          <a:p>
            <a:r>
              <a:t>Add latest comparable national scale and sales-source qualification.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Working recommendation supported by an authored Lesedi illustration, not a calibrated forecast. Reported capacity is used; capture, working capacity, tariffs, capex and discount rate are assumptions. No customer volume is represented as secured.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ILLUSTRATIVE ONLY. 100% project basis, constant ZAR; capex at t0; operating ramp 50%/75%/100%; no tax, working capital, construction delay, inflation or residual value. Turnover and occupancy are distinct. Full assumptions, benchmarks, options and downside tests: pp39–42.</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p>
          <a:p>
            <a:endParaRPr/>
          </a:p>
          <a:p>
            <a:r>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a:t>
            </a:r>
          </a:p>
          <a:p>
            <a:r>
              <a:t>The nine numerical cells use an authored regional supply-delivery bridge, not calibrated national refinery output. Original qualitative rail/EV investment priorities remain in v23 and p15.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Department sales 2013-2023: petrol CAGR -2.08%, diesel +0.82%. FIASA 2024 is excluded from the trend. Workbook History Q71/R71. RAF levy evidence uses fiscal years and still needs reconciliation.</a:t>
            </a:r>
          </a:p>
          <a:p>
            <a:endParaRPr/>
          </a:p>
          <a:p>
            <a:r>
              <a:t>Workbook source commit: 8a3c884b0d26a3c5819a9a0b702024ab60485d1e</a:t>
            </a:r>
          </a:p>
          <a:p>
            <a:r>
              <a:t>Keep comparable 2013-2023 chart; add latest-year coverage and reconciliation caution.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p>
          <a:p>
            <a:endParaRPr/>
          </a:p>
          <a:p>
            <a:r>
              <a:t>Workbook source commit: 8a3c884b0d26a3c5819a9a0b702024ab60485d1e</a:t>
            </a:r>
          </a:p>
          <a:p>
            <a:r>
              <a:t>Add sector fuel scale and the freight-operator proxy without changing measured support 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Workbook Sector history M6/O6/R9, M16/O16/R19, M22/O22/R25. Department energy balance to 2021; later fuel estimated with activity and average intensity. Sector attribution and road overlap require review.</a:t>
            </a:r>
          </a:p>
          <a:p>
            <a:endParaRPr/>
          </a:p>
          <a:p>
            <a:r>
              <a:t>Three sector rows with comparable, zero-based horizontal bars. 2019/2021 observations; 2024 activity-based estimates. Values unchanged from v26.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r>
              <a:t>SARS customs 2025, registered fuel_trade_sars_by_office.csv. Office of clearance is a gateway proxy, not a measured Vopak terminal receipt. Do not divide 2025 imports by 2023 sales to infer current import penetration.</a:t>
            </a: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SARS litre-reported petrol/diesel codes, complete calendar years. 2020–2025 changes are historical comparisons, not plant-level causal attribution. Export histories retained in the source report; unit/blend exclusions remain.</a:t>
            </a:r>
          </a:p>
          <a:p>
            <a:endParaRPr/>
          </a:p>
          <a:p>
            <a:r>
              <a:t>Workbook source commit: 8a3c884b0d26a3c5819a9a0b702024ab60485d1e</a:t>
            </a:r>
          </a:p>
          <a:p>
            <a:r>
              <a:t>Show gross versus net imports and preserve sales/production boundaries.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r>
              <a:t>Transnet Pipelines 2025 printed p8: https://www.transnet.net/getFile.ashx?id=6121. Annualised use 5.460bn L and capacity 7.696bn L using 52 weeks. All shippers; no deduction of road/rail volumes from mismatched customs and demand years.</a:t>
            </a: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Sources: Vopak terminal directory; Annual Report 2025 confirms Lesedi expansion commissioned in 2025. Published capacity is not working capacity or throughput. Operating data request: p18. Illustrative turnover sensitivity moved to p43; it is not observed utilisation.</a:t>
            </a:r>
          </a:p>
          <a:p>
            <a:endParaRPr/>
          </a:p>
          <a:p>
            <a:r>
              <a:t>Page 10 establishes the situation following corridor geography. Commercial and operational evidence remains open; do not infer spare capacity from gross tankage.</a:t>
            </a:r>
          </a:p>
          <a:p>
            <a:r>
              <a:t>Workbook source commit: 8a3c884b0d26a3c5819a9a0b702024ab60485d1e</a:t>
            </a:r>
          </a:p>
          <a:p>
            <a:r>
              <a:t>Clarify that the commissioned Lesedi expansion is included in the existing footprint.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Stats SA freight; naamsa all-market sales 2019-2025, Workbook Vehicle history S31:S36. BEV/PHEV/HEV sales are distinct from fleet shares. Efficiency paths remain model assumptions, with OEM history and annual calibration open.</a:t>
            </a:r>
          </a:p>
          <a:p>
            <a:endParaRPr/>
          </a:p>
          <a:p>
            <a:r>
              <a:t>Workbook source commit: 8a3c884b0d26a3c5819a9a0b702024ab60485d1e</a:t>
            </a:r>
          </a:p>
          <a:p>
            <a:r>
              <a:t>Separate observed drivetrain sales from assumed efficiency and adoption paths.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r>
              <a:t>generation.yaml contains new_1 1000MW and new_2 2000MW, alongside older capacities. Current model power estimate around 3.58bn L (2024) differs from FY2024 Eskom plus estimated IPP fuel around 1.60bn L and FY2025 around 0.89bn L. Fiscal/calendar alignment and private backup remain unresolved. No engine recalibration was adopted in this presentation update.</a:t>
            </a: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Eskom FY ending March: reported own diesel + kerosene; Eskom/IPP GWh include kerosene output. Workbook Power fleet separates the four diesel stations. Gas switch, coal-site repowering and L/M/H settings await Nigel/Henry review.</a:t>
            </a:r>
          </a:p>
          <a:p>
            <a:endParaRPr/>
          </a:p>
          <a:p>
            <a:r>
              <a:t>Workbook source commit: 8a3c884b0d26a3c5819a9a0b702024ab60485d1e</a:t>
            </a:r>
          </a:p>
          <a:p>
            <a:r>
              <a:t>Distinguish own reported burn from combined generation-derived estimates and proposed cases.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Compare common product, destination, price date and tax basis. Emerging gateways must be considered; no relative cost ranking is asserted without quotes and verified access. Landlocked SADC opportunities require separate market/access evidence.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DR01-DR09 register and 8 October PS handback. Prepared, not sent; receipt not recorded. DR09 EV adjacency remains separate. Public estimates can proceed while client data is pending.</a:t>
            </a:r>
          </a:p>
          <a:p>
            <a:endParaRPr/>
          </a:p>
          <a:p>
            <a:r>
              <a:t>Workbook source commit: 8a3c884b0d26a3c5819a9a0b702024ab60485d1e</a:t>
            </a:r>
          </a:p>
          <a:p>
            <a:r>
              <a:t>Replace the request summary with all active baseline, route, demand, supply and client gaps.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story runs from the opening thesis to the investment tests. The added lever register and power/supply calibration pages record what remains to be populated.</a:t>
            </a:r>
          </a:p>
          <a:p>
            <a:endParaRPr/>
          </a:p>
          <a:p>
            <a:r>
              <a:t>Workbook source commit: 8a3c884b0d26a3c5819a9a0b702024ab60485d1e
Refresh evidence navigation to include the added workbook exhibits.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Staged GDP and department fuel sales, indices 2013=100. Sector attribution remains open; COVID distorts short-period comparisons.</a:t>
            </a:r>
          </a:p>
          <a:p>
            <a:endParaRPr/>
          </a:p>
          <a:p>
            <a:r>
              <a:t>Workbook source commit: 8a3c884b0d26a3c5819a9a0b702024ab60485d1e
Link aggregate GDP chart to the sector intensity exhibit rather than assume uniform fuel elasticity.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World Bank WDI, FDI net inflows and gross fixed capital formation as % of GDP, 2010–2025. Confidence series remains an evidence gap.</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Workbook Sector history R7/R9/R17/R19/S23/S25 and History R117/R124/R125. Sector litres after 2021 are estimates; jet 2024 uses unverified FIASA. Index base 2019=100; GVA in 2015 prices.</a:t>
            </a:r>
          </a:p>
          <a:p>
            <a:endParaRPr/>
          </a:p>
          <a:p>
            <a:r>
              <a:t>Workbook source commit: 8a3c884b0d26a3c5819a9a0b702024ab60485d1e</a:t>
            </a:r>
          </a:p>
          <a:p>
            <a:r>
              <a:t>Quantify sector and jet context from the workbook while preserving sector definitions.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fuel-price history, nominal R/litre. No quantified geopolitical premium or calibrated EV adoption response is asserted.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Workbook Vehicle history S6:S8/S24/S26. Apparent retirements are not verified scrappage. Stone et al. study uses a 2014 base; no recent OEM efficiency history or fuel-by-class stock is established.</a:t>
            </a:r>
          </a:p>
          <a:p>
            <a:endParaRPr/>
          </a:p>
          <a:p>
            <a:r>
              <a:t>Workbook source commit: 8a3c884b0d26a3c5819a9a0b702024ab60485d1e</a:t>
            </a:r>
          </a:p>
          <a:p>
            <a:r>
              <a:t>Add observed apparent replacement and distinguish cohort assumptions from efficiency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Workbook Vehicle history S6:S8/S18:S20/S24/S26/S31:S36/Q52. NaTIS and naamsa classes are not identical. Apparent retirement is not verified scrappage; petrol diagnostic compares different scopes.</a:t>
            </a:r>
          </a:p>
          <a:p>
            <a:endParaRPr/>
          </a:p>
          <a:p>
            <a:r>
              <a:t>Workbook source commit: 8a3c884b0d26a3c5819a9a0b702024ab60485d1e</a:t>
            </a:r>
          </a:p>
          <a:p>
            <a:r>
              <a:t>New requested fleet and model-calibration evidence, with scope limits retained.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Eskom Integrated Report 2025, FY March, own diesel + kerosene. Workbook combined generation includes IPPs and kerosene stations; multiplying it by 0.31 L/kWh is an estimate, not reported diesel burn. Private backup remains unmeasured.</a:t>
            </a:r>
          </a:p>
          <a:p>
            <a:endParaRPr/>
          </a:p>
          <a:p>
            <a:r>
              <a:t>Workbook source commit: 8a3c884b0d26a3c5819a9a0b702024ab60485d1e</a:t>
            </a:r>
          </a:p>
          <a:p>
            <a:r>
              <a:t>Retain comparable own-fleet reported fuel; qualify scope relative to the new fleet page.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Stats SA payload and transport-industry fuel purchases. Workbook Diesel by use Q28: spending / average diesel price, hire-and-reward firms only; may include petrol/lubricants. Road residual includes unseparated uses; tonne-km and rail traction remain open.</a:t>
            </a:r>
          </a:p>
          <a:p>
            <a:endParaRPr/>
          </a:p>
          <a:p>
            <a:r>
              <a:t>Workbook source commit: 8a3c884b0d26a3c5819a9a0b702024ab60485d1e</a:t>
            </a:r>
          </a:p>
          <a:p>
            <a:r>
              <a:t>Add the spending-based operator fuel proxy; preserve the tonne-kilometre evidence gap.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User-supplied AIA Transnet Funding Brief, Sep 2026, pp1–2; cites FY2026 AFS and Network Statement v4 Annexure 17. Primary figures not independently reconciled.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Department provincial sales through 2022; workbook History Q84/Q104 and R84/R104 estimate later volumes. 2024 also uses unverified FIASA national sales. The chart retains observed 2013-2022 sales history, not current market share.</a:t>
            </a:r>
          </a:p>
          <a:p>
            <a:endParaRPr/>
          </a:p>
          <a:p>
            <a:r>
              <a:t>Workbook source commit: 8a3c884b0d26a3c5819a9a0b702024ab60485d1e</a:t>
            </a:r>
          </a:p>
          <a:p>
            <a:r>
              <a:t>Add estimated provincial updates without converting sales or capacity into current share.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Workbook HML response has 29 levers. Examples: BEV adoption, rail diversion, mileage, prices, hybrids, truck/LCV electrification and neighbouring exports. All replacement ranges remain proposals; no forecast inputs are adopted in this pack.</a:t>
            </a:r>
          </a:p>
          <a:p>
            <a:endParaRPr/>
          </a:p>
          <a:p>
            <a:r>
              <a:t>Workbook source commit: 8a3c884b0d26a3c5819a9a0b702024ab60485d1e</a:t>
            </a:r>
          </a:p>
          <a:p>
            <a:r>
              <a:t>Expose the expanded lever register without adopting analyst proposals.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Workbook Power fleet F11:S15 and N63:N65; proposed scenarios, not forecasts. Generation includes kerosene. IPP renewal, gas availability and coal-site repowering are not established. Historical burn must match scope and period.</a:t>
            </a:r>
          </a:p>
          <a:p>
            <a:endParaRPr/>
          </a:p>
          <a:p>
            <a:r>
              <a:t>Workbook source commit: 8a3c884b0d26a3c5819a9a0b702024ab60485d1e</a:t>
            </a:r>
          </a:p>
          <a:p>
            <a:r>
              <a:t>Replace generic fleet-data gap wording with the assembled fleet and remaining dispatch dependencies.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Workbook Power fleet F11:F15, N63:N65 and S63:S65. Proposed cases, Nigel/Henry review D22. 0.31 L/kWh, backup fraction, load factors, gas supply and coal-site repowering need review. Kerosene stations and private backup are separate.</a:t>
            </a:r>
          </a:p>
          <a:p>
            <a:endParaRPr/>
          </a:p>
          <a:p>
            <a:r>
              <a:t>Workbook source commit: 8a3c884b0d26a3c5819a9a0b702024ab60485d1e</a:t>
            </a:r>
          </a:p>
          <a:p>
            <a:r>
              <a:t>New fleet inventory and analyst power scenarios, expressly unapproved.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Existing capacity illustrations retained. Workbook History R53/S53: Sasol all-refined-products output, June FY. Department product production stops at 2021; stocks, plant yields and restart calibration remain open.</a:t>
            </a:r>
          </a:p>
          <a:p>
            <a:endParaRPr/>
          </a:p>
          <a:p>
            <a:r>
              <a:t>Workbook source commit: 8a3c884b0d26a3c5819a9a0b702024ab60485d1e</a:t>
            </a:r>
          </a:p>
          <a:p>
            <a:r>
              <a:t>Add operator output context and reinforce product-output versus nameplate distinction.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Existing capacity-scale ratios retained, not throughput shares. Workbook provincial estimates: 2023 estimated shares; 2024 estimated shares plus unverified national sales. Client throughput and commercial access remain open.</a:t>
            </a:r>
          </a:p>
          <a:p>
            <a:endParaRPr/>
          </a:p>
          <a:p>
            <a:r>
              <a:t>Workbook source commit: 8a3c884b0d26a3c5819a9a0b702024ab60485d1e</a:t>
            </a:r>
          </a:p>
          <a:p>
            <a:r>
              <a:t>Explain the accessible-market method alongside existing footprint proxies.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Workbook History Q59/Q64/R59/R64/S36:S40/R70. RAF-derived 24.42bn L is combined fuel, fiscal/accrual basis, not an adopted calendar sales total. Product output after 2021 and stocks remain missing; 2025 trade is not 2025 consumption.</a:t>
            </a:r>
          </a:p>
          <a:p>
            <a:endParaRPr/>
          </a:p>
          <a:p>
            <a:r>
              <a:t>Workbook source commit: 8a3c884b0d26a3c5819a9a0b702024ab60485d1e</a:t>
            </a:r>
          </a:p>
          <a:p>
            <a:r>
              <a:t>Extend national evidence, add RAF reconciliation flag and retain production/stock gap.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Screening functions tested with synthetic cases; commercial outputs remain unpopulated. Not integrated into the forecast engine or independently reviewed. Owners, request IDs and expiry triggers: workstreams/WS0_governance/workplan/sa_investment_bridge_2026_10_08.csv.</a:t>
            </a:r>
          </a:p>
          <a:p>
            <a:endParaRPr/>
          </a:p>
          <a:p>
            <a:r>
              <a:t>Workbook source commit: 8a3c884b0d26a3c5819a9a0b702024ab60485d1e</a:t>
            </a:r>
          </a:p>
          <a:p>
            <a:r>
              <a:t>Refresh implementation status for the analyst workbook, without asserting forecast integration.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a:endParaRPr/>
          </a:p>
          <a:p>
            <a:r>
              <a:t>Workbook source commit: 8a3c884b0d26a3c5819a9a0b702024ab60485d1e
Align original synthesis with the updated consumption scale.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a:endParaRPr/>
          </a:p>
          <a:p>
            <a:r>
              <a:t>Workbook source commit: 8a3c884b0d26a3c5819a9a0b702024ab60485d1e
Prevent double-counting the commissioned Lesedi expansion in the asset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Every illustrative value is registered in assumptions/2026/vopak_investment_illustration.yaml. Not a forecast, commercial offer or approval. Proposed validation: Nigel coordinates Vopak commercial/operations; Manish reconciles; independent review outstanding.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pic>
        <p:nvPicPr>
          <p:cNvPr id="12" name="Picture 3"/>
          <p:cNvPicPr>
            <a:picLocks noChangeAspect="1"/>
          </p:cNvPicPr>
          <p:nvPr/>
        </p:nvPicPr>
        <p:blipFill rotWithShape="1">
          <a:blip r:embed="rId2"/>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 y="5137149"/>
            <a:ext cx="4933950" cy="1571625"/>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a:spLocks noGrp="1"/>
          </p:cNvSpPr>
          <p:nvPr/>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0" name="Cover title panel">
            <a:extLst>
              <a:ext uri="{FF2B5EF4-FFF2-40B4-BE49-F238E27FC236}">
                <a16:creationId xmlns:a16="http://schemas.microsoft.com/office/drawing/2014/main" id="{B6CC79FF-F297-46B4-B0E4-850EE5B89B78}"/>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10" name="Cover title panel">
            <a:extLst>
              <a:ext uri="{FF2B5EF4-FFF2-40B4-BE49-F238E27FC236}">
                <a16:creationId xmlns:a16="http://schemas.microsoft.com/office/drawing/2014/main" id="{571FD3DD-6D32-43BA-B044-BAFA89A96F83}"/>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96FAB5-3A31-4A82-B70E-C4CDDAD20A82}"/>
              </a:ext>
            </a:extLst>
          </p:cNvPr>
          <p:cNvSpPr>
            <a:spLocks noGrp="1"/>
          </p:cNvSpPr>
          <p:nvPr>
            <p:ph type="sldNum" idx="12"/>
          </p:nvPr>
        </p:nvSpPr>
        <p:spPr>
          <a:xfrm>
            <a:off x="10605599" y="6489700"/>
            <a:ext cx="805350" cy="287338"/>
          </a:xfrm>
        </p:spPr>
        <p:txBody>
          <a:bodyPr/>
          <a:lstStyle>
            <a:lvl1pPr>
              <a:buNone/>
              <a:defRPr sz="1000">
                <a:solidFill>
                  <a:schemeClr val="tx1"/>
                </a:solidFill>
              </a:defRPr>
            </a:lvl1pPr>
          </a:lstStyle>
          <a:p>
            <a:fld id="{A65E4EDC-57F8-4D5C-B13E-A981C5F2F71A}" type="slidenum">
              <a:rPr>
                <a:solidFill>
                  <a:schemeClr val="tx1"/>
                </a:solidFill>
              </a:rPr>
              <a:t>‹#›</a:t>
            </a:fld>
            <a:endParaRPr>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anchor="ctr">
            <a:normAutofit/>
          </a:bodyPr>
          <a:lstStyle/>
          <a:p>
            <a:r>
              <a:rPr>
                <a:solidFill>
                  <a:schemeClr val="tx1"/>
                </a:solidFill>
              </a:rPr>
              <a:t>Click to edit Master title style</a:t>
            </a:r>
          </a:p>
        </p:txBody>
      </p:sp>
      <p:sp>
        <p:nvSpPr>
          <p:cNvPr id="7" name="Title and body separator">
            <a:extLst>
              <a:ext uri="{FF2B5EF4-FFF2-40B4-BE49-F238E27FC236}">
                <a16:creationId xmlns:a16="http://schemas.microsoft.com/office/drawing/2014/main" id="{6079D373-E04F-4CB2-8D62-0EE11526CD3C}"/>
              </a:ext>
            </a:extLst>
          </p:cNvPr>
          <p:cNvSpPr>
            <a:spLocks noGrp="1"/>
          </p:cNvSpPr>
          <p:nvPr/>
        </p:nv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C860AC-EA18-440E-B23B-E92B7C49F015}"/>
              </a:ext>
            </a:extLst>
          </p:cNvPr>
          <p:cNvSpPr>
            <a:spLocks noGrp="1"/>
          </p:cNvSpPr>
          <p:nvPr>
            <p:ph type="title"/>
          </p:nvPr>
        </p:nvSpPr>
        <p:spPr>
          <a:xfrm>
            <a:off x="177801" y="368299"/>
            <a:ext cx="11233148" cy="690101"/>
          </a:xfrm>
          <a:prstGeom prst="rect">
            <a:avLst/>
          </a:prstGeom>
        </p:spPr>
        <p:txBody>
          <a:bodyPr vert="horz" lIns="91440" tIns="45720" rIns="91440" bIns="45720" anchor="ctr">
            <a:normAutofit/>
          </a:bodyPr>
          <a:lstStyle/>
          <a:p>
            <a:endParaRPr/>
          </a:p>
        </p:txBody>
      </p:sp>
      <p:sp>
        <p:nvSpPr>
          <p:cNvPr id="3" name="Text Placeholder 2">
            <a:extLst>
              <a:ext uri="{FF2B5EF4-FFF2-40B4-BE49-F238E27FC236}">
                <a16:creationId xmlns:a16="http://schemas.microsoft.com/office/drawing/2014/main" id="{8C59D33E-9E34-4BB4-9EFE-331A0FF3C833}"/>
              </a:ext>
            </a:extLst>
          </p:cNvPr>
          <p:cNvSpPr>
            <a:spLocks noGrp="1"/>
          </p:cNvSpPr>
          <p:nvPr>
            <p:ph type="body" idx="1"/>
          </p:nvPr>
        </p:nvSpPr>
        <p:spPr>
          <a:xfrm>
            <a:off x="177801" y="1233488"/>
            <a:ext cx="11233149" cy="5256212"/>
          </a:xfrm>
          <a:prstGeom prst="rect">
            <a:avLst/>
          </a:prstGeom>
        </p:spPr>
        <p:txBody>
          <a:bodyPr vert="horz" lIns="91440" tIns="45720" rIns="91440" bIns="45720">
            <a:normAutofit/>
          </a:bodyPr>
          <a:lstStyle/>
          <a:p>
            <a:pPr lvl="0">
              <a:buNone/>
            </a:pPr>
            <a:endParaRPr/>
          </a:p>
        </p:txBody>
      </p:sp>
      <p:sp>
        <p:nvSpPr>
          <p:cNvPr id="6" name="Slide Number Placeholder 5">
            <a:extLst>
              <a:ext uri="{FF2B5EF4-FFF2-40B4-BE49-F238E27FC236}">
                <a16:creationId xmlns:a16="http://schemas.microsoft.com/office/drawing/2014/main" id="{A722AEE9-FEF7-46B6-98E2-A569C4A8AD3C}"/>
              </a:ext>
            </a:extLst>
          </p:cNvPr>
          <p:cNvSpPr>
            <a:spLocks noGrp="1"/>
          </p:cNvSpPr>
          <p:nvPr>
            <p:ph type="sldNum" idx="4"/>
          </p:nvPr>
        </p:nvSpPr>
        <p:spPr>
          <a:xfrm>
            <a:off x="10605599" y="6489700"/>
            <a:ext cx="805350" cy="287338"/>
          </a:xfrm>
          <a:prstGeom prst="rect">
            <a:avLst/>
          </a:prstGeom>
        </p:spPr>
        <p:txBody>
          <a:bodyPr vert="horz" lIns="91440" tIns="45720" rIns="91440" bIns="45720" anchor="ctr"/>
          <a:lstStyle>
            <a:lvl1pPr algn="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pic>
        <p:nvPicPr>
          <p:cNvPr id="15" name="Picture 2"/>
          <p:cNvPicPr>
            <a:picLocks noChangeAspect="1"/>
          </p:cNvPicPr>
          <p:nvPr/>
        </p:nvPicPr>
        <p:blipFill>
          <a:blip r:embed="rId8"/>
          <a:srcRect/>
          <a:stretch>
            <a:fillRect/>
          </a:stretch>
        </p:blipFill>
        <p:spPr>
          <a:xfrm>
            <a:off x="9906000" y="6515100"/>
            <a:ext cx="952500" cy="212558"/>
          </a:xfrm>
          <a:prstGeom prst="rect">
            <a:avLst/>
          </a:prstGeom>
        </p:spPr>
      </p:pic>
      <p:sp>
        <p:nvSpPr>
          <p:cNvPr id="9" name="Text Placeholder 6">
            <a:extLst>
              <a:ext uri="{FF2B5EF4-FFF2-40B4-BE49-F238E27FC236}">
                <a16:creationId xmlns:a16="http://schemas.microsoft.com/office/drawing/2014/main" id="{5CB3F387-66D0-18CC-51EE-24B908A792B7}"/>
              </a:ext>
            </a:extLst>
          </p:cNvPr>
          <p:cNvSpPr>
            <a:spLocks noGrp="1"/>
          </p:cNvSpPr>
          <p:nvPr/>
        </p:nvSpPr>
        <p:spPr>
          <a:xfrm>
            <a:off x="457200" y="6528816"/>
            <a:ext cx="8595360" cy="228600"/>
          </a:xfrm>
          <a:prstGeom prst="rect">
            <a:avLst/>
          </a:prstGeom>
        </p:spPr>
        <p:txBody>
          <a:bodyPr tIns="0" bIns="0" anchor="ctr">
            <a:normAutofit/>
          </a:bodyPr>
          <a:lstStyle>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a:pPr>
              <a:buNone/>
              <a:defRPr sz="800">
                <a:solidFill>
                  <a:srgbClr val="404040"/>
                </a:solidFill>
                <a:latin typeface="Lato"/>
                <a:ea typeface="Lato"/>
                <a:cs typeface="Lato"/>
              </a:defRPr>
            </a:pPr>
            <a:endParaRPr/>
          </a:p>
        </p:txBody>
      </p:sp>
      <p:sp>
        <p:nvSpPr>
          <p:cNvPr id="10" name="Fine footer rule">
            <a:extLst>
              <a:ext uri="{FF2B5EF4-FFF2-40B4-BE49-F238E27FC236}">
                <a16:creationId xmlns:a16="http://schemas.microsoft.com/office/drawing/2014/main" id="{B4062CE9-9215-4788-A6E3-2613DEB91A9E}"/>
              </a:ext>
            </a:extLst>
          </p:cNvPr>
          <p:cNvSpPr>
            <a:spLocks noGrp="1"/>
          </p:cNvSpPr>
          <p:nvPr/>
        </p:nv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869137">
        <a:lnSpc>
          <a:spcPct val="90000"/>
        </a:lnSpc>
        <a:spcBef>
          <a:spcPct val="0"/>
        </a:spcBef>
        <a:buNone/>
        <a:defRPr sz="2200" b="1" kern="1200">
          <a:solidFill>
            <a:schemeClr val="tx1"/>
          </a:solidFill>
          <a:latin typeface="+mj-lt"/>
          <a:ea typeface="+mj-lt"/>
          <a:cs typeface="+mj-lt"/>
        </a:defRPr>
      </a:lvl1pPr>
    </p:titleStyle>
    <p:bodyStyle>
      <a:lvl1pPr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marL="0" algn="l" defTabSz="869137">
        <a:buNone/>
        <a:defRPr sz="1711" kern="1200">
          <a:solidFill>
            <a:schemeClr val="tx1"/>
          </a:solidFill>
          <a:latin typeface="+mn-lt"/>
          <a:ea typeface="+mn-lt"/>
          <a:cs typeface="+mn-lt"/>
        </a:defRPr>
      </a:lvl1pPr>
      <a:lvl2pPr marL="434569" algn="l" defTabSz="869137">
        <a:buNone/>
        <a:defRPr sz="1711" kern="1200">
          <a:solidFill>
            <a:schemeClr val="tx1"/>
          </a:solidFill>
          <a:latin typeface="+mn-lt"/>
          <a:ea typeface="+mn-lt"/>
          <a:cs typeface="+mn-lt"/>
        </a:defRPr>
      </a:lvl2pPr>
      <a:lvl3pPr marL="869137" algn="l" defTabSz="869137">
        <a:buNone/>
        <a:defRPr sz="1711" kern="1200">
          <a:solidFill>
            <a:schemeClr val="tx1"/>
          </a:solidFill>
          <a:latin typeface="+mn-lt"/>
          <a:ea typeface="+mn-lt"/>
          <a:cs typeface="+mn-lt"/>
        </a:defRPr>
      </a:lvl3pPr>
      <a:lvl4pPr marL="1303706" algn="l" defTabSz="869137">
        <a:buNone/>
        <a:defRPr sz="1711" kern="1200">
          <a:solidFill>
            <a:schemeClr val="tx1"/>
          </a:solidFill>
          <a:latin typeface="+mn-lt"/>
          <a:ea typeface="+mn-lt"/>
          <a:cs typeface="+mn-lt"/>
        </a:defRPr>
      </a:lvl4pPr>
      <a:lvl5pPr marL="1738274" algn="l" defTabSz="869137">
        <a:buNone/>
        <a:defRPr sz="1711" kern="1200">
          <a:solidFill>
            <a:schemeClr val="tx1"/>
          </a:solidFill>
          <a:latin typeface="+mn-lt"/>
          <a:ea typeface="+mn-lt"/>
          <a:cs typeface="+mn-lt"/>
        </a:defRPr>
      </a:lvl5pPr>
      <a:lvl6pPr marL="2172843" algn="l" defTabSz="869137">
        <a:buNone/>
        <a:defRPr sz="1711" kern="1200">
          <a:solidFill>
            <a:schemeClr val="tx1"/>
          </a:solidFill>
          <a:latin typeface="+mn-lt"/>
          <a:ea typeface="+mn-lt"/>
          <a:cs typeface="+mn-lt"/>
        </a:defRPr>
      </a:lvl6pPr>
      <a:lvl7pPr marL="2607412" algn="l" defTabSz="869137">
        <a:buNone/>
        <a:defRPr sz="1711" kern="1200">
          <a:solidFill>
            <a:schemeClr val="tx1"/>
          </a:solidFill>
          <a:latin typeface="+mn-lt"/>
          <a:ea typeface="+mn-lt"/>
          <a:cs typeface="+mn-lt"/>
        </a:defRPr>
      </a:lvl7pPr>
      <a:lvl8pPr marL="3041980" algn="l" defTabSz="869137">
        <a:buNone/>
        <a:defRPr sz="1711" kern="1200">
          <a:solidFill>
            <a:schemeClr val="tx1"/>
          </a:solidFill>
          <a:latin typeface="+mn-lt"/>
          <a:ea typeface="+mn-lt"/>
          <a:cs typeface="+mn-lt"/>
        </a:defRPr>
      </a:lvl8pPr>
      <a:lvl9pPr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 Id="rIdSmartArt3" Type="http://schemas.openxmlformats.org/officeDocument/2006/relationships/diagramData" Target="../diagrams/v31_s2_data1.xml"/><Relationship Id="rIdSmartArt4" Type="http://schemas.openxmlformats.org/officeDocument/2006/relationships/diagramLayout" Target="../diagrams/v31_s2_layout1.xml"/><Relationship Id="rIdSmartArt5" Type="http://schemas.openxmlformats.org/officeDocument/2006/relationships/diagramQuickStyle" Target="../diagrams/v31_s2_quickStyle1.xml"/><Relationship Id="rIdSmartArt6" Type="http://schemas.openxmlformats.org/officeDocument/2006/relationships/diagramColors" Target="../diagrams/v31_s2_colors1.xml"/><Relationship Id="rIdV31Drawing2" Type="http://schemas.microsoft.com/office/2007/relationships/diagramDrawing" Target="../diagrams/v31_s2_drawin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 Id="rIdSmartArt3" Type="http://schemas.openxmlformats.org/officeDocument/2006/relationships/diagramData" Target="../diagrams/v31_s3_data1.xml"/><Relationship Id="rIdSmartArt4" Type="http://schemas.openxmlformats.org/officeDocument/2006/relationships/diagramLayout" Target="../diagrams/v31_s3_layout1.xml"/><Relationship Id="rIdSmartArt5" Type="http://schemas.openxmlformats.org/officeDocument/2006/relationships/diagramQuickStyle" Target="../diagrams/v31_s3_quickStyle1.xml"/><Relationship Id="rIdSmartArt6" Type="http://schemas.openxmlformats.org/officeDocument/2006/relationships/diagramColors" Target="../diagrams/v31_s3_colors1.xml"/><Relationship Id="rIdV31Drawing3" Type="http://schemas.microsoft.com/office/2007/relationships/diagramDrawing" Target="../diagrams/v31_s3_drawing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SmartArt7" Type="http://schemas.openxmlformats.org/officeDocument/2006/relationships/diagramData" Target="../diagrams/v31_s4_data1.xml"/><Relationship Id="rIdSmartArt8" Type="http://schemas.openxmlformats.org/officeDocument/2006/relationships/diagramLayout" Target="../diagrams/v31_s4_layout1.xml"/><Relationship Id="rIdSmartArt9" Type="http://schemas.openxmlformats.org/officeDocument/2006/relationships/diagramQuickStyle" Target="../diagrams/v31_s4_quickStyle1.xml"/><Relationship Id="rIdSmartArt10" Type="http://schemas.openxmlformats.org/officeDocument/2006/relationships/diagramColors" Target="../diagrams/v31_s4_colors1.xml"/><Relationship Id="rIdV31Drawing4" Type="http://schemas.microsoft.com/office/2007/relationships/diagramDrawing" Target="../diagrams/v31_s4_drawing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SmartArt7" Type="http://schemas.openxmlformats.org/officeDocument/2006/relationships/diagramData" Target="../diagrams/v31_s5_data1.xml"/><Relationship Id="rIdSmartArt8" Type="http://schemas.openxmlformats.org/officeDocument/2006/relationships/diagramLayout" Target="../diagrams/v31_s5_layout1.xml"/><Relationship Id="rIdSmartArt9" Type="http://schemas.openxmlformats.org/officeDocument/2006/relationships/diagramQuickStyle" Target="../diagrams/v31_s5_quickStyle1.xml"/><Relationship Id="rIdSmartArt10" Type="http://schemas.openxmlformats.org/officeDocument/2006/relationships/diagramColors" Target="../diagrams/v31_s5_colors1.xml"/><Relationship Id="rIdV31Drawing5" Type="http://schemas.microsoft.com/office/2007/relationships/diagramDrawing" Target="../diagrams/v31_s5_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SmartArt7" Type="http://schemas.openxmlformats.org/officeDocument/2006/relationships/diagramData" Target="../diagrams/v31_s6_data1.xml"/><Relationship Id="rIdSmartArt8" Type="http://schemas.openxmlformats.org/officeDocument/2006/relationships/diagramLayout" Target="../diagrams/v31_s6_layout1.xml"/><Relationship Id="rIdSmartArt9" Type="http://schemas.openxmlformats.org/officeDocument/2006/relationships/diagramQuickStyle" Target="../diagrams/v31_s6_quickStyle1.xml"/><Relationship Id="rIdSmartArt10" Type="http://schemas.openxmlformats.org/officeDocument/2006/relationships/diagramColors" Target="../diagrams/v31_s6_colors1.xml"/><Relationship Id="rIdV31Drawing6" Type="http://schemas.microsoft.com/office/2007/relationships/diagramDrawing" Target="../diagrams/v31_s6_drawin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 Id="rIdSmartArt3" Type="http://schemas.openxmlformats.org/officeDocument/2006/relationships/diagramData" Target="../diagrams/v31_s7_data1.xml"/><Relationship Id="rIdSmartArt4" Type="http://schemas.openxmlformats.org/officeDocument/2006/relationships/diagramLayout" Target="../diagrams/v31_s7_layout1.xml"/><Relationship Id="rIdSmartArt5" Type="http://schemas.openxmlformats.org/officeDocument/2006/relationships/diagramQuickStyle" Target="../diagrams/v31_s7_quickStyle1.xml"/><Relationship Id="rIdSmartArt6" Type="http://schemas.openxmlformats.org/officeDocument/2006/relationships/diagramColors" Target="../diagrams/v31_s7_colors1.xml"/><Relationship Id="rIdV31Drawing7" Type="http://schemas.microsoft.com/office/2007/relationships/diagramDrawing" Target="../diagrams/v31_s7_drawing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xml"/><Relationship Id="rIdSmartArt4" Type="http://schemas.openxmlformats.org/officeDocument/2006/relationships/diagramData" Target="../diagrams/v31_s8_data1.xml"/><Relationship Id="rIdSmartArt5" Type="http://schemas.openxmlformats.org/officeDocument/2006/relationships/diagramLayout" Target="../diagrams/v31_s8_layout1.xml"/><Relationship Id="rIdSmartArt6" Type="http://schemas.openxmlformats.org/officeDocument/2006/relationships/diagramQuickStyle" Target="../diagrams/v31_s8_quickStyle1.xml"/><Relationship Id="rIdSmartArt7" Type="http://schemas.openxmlformats.org/officeDocument/2006/relationships/diagramColors" Target="../diagrams/v31_s8_colors1.xml"/><Relationship Id="rIdV31Drawing8" Type="http://schemas.microsoft.com/office/2007/relationships/diagramDrawing" Target="../diagrams/v31_s8_drawing1.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21.png"/><Relationship Id="rIdSmartArt10" Type="http://schemas.openxmlformats.org/officeDocument/2006/relationships/diagramData" Target="../diagrams/v31_s9_data1.xml"/><Relationship Id="rIdSmartArt11" Type="http://schemas.openxmlformats.org/officeDocument/2006/relationships/diagramLayout" Target="../diagrams/v31_s9_layout1.xml"/><Relationship Id="rIdSmartArt12" Type="http://schemas.openxmlformats.org/officeDocument/2006/relationships/diagramQuickStyle" Target="../diagrams/v31_s9_quickStyle1.xml"/><Relationship Id="rIdSmartArt13" Type="http://schemas.openxmlformats.org/officeDocument/2006/relationships/diagramColors" Target="../diagrams/v31_s9_colors1.xml"/><Relationship Id="rIdV31Drawing9" Type="http://schemas.microsoft.com/office/2007/relationships/diagramDrawing" Target="../diagrams/v31_s9_drawin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 Id="rIdSmartArt3" Type="http://schemas.openxmlformats.org/officeDocument/2006/relationships/diagramData" Target="../diagrams/v31_s10_data1.xml"/><Relationship Id="rIdSmartArt4" Type="http://schemas.openxmlformats.org/officeDocument/2006/relationships/diagramLayout" Target="../diagrams/v31_s10_layout1.xml"/><Relationship Id="rIdSmartArt5" Type="http://schemas.openxmlformats.org/officeDocument/2006/relationships/diagramQuickStyle" Target="../diagrams/v31_s10_quickStyle1.xml"/><Relationship Id="rIdSmartArt6" Type="http://schemas.openxmlformats.org/officeDocument/2006/relationships/diagramColors" Target="../diagrams/v31_s10_colors1.xml"/><Relationship Id="rIdV31Drawing10" Type="http://schemas.microsoft.com/office/2007/relationships/diagramDrawing" Target="../diagrams/v31_s10_drawing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6.xml"/><Relationship Id="rIdSmartArt4" Type="http://schemas.openxmlformats.org/officeDocument/2006/relationships/diagramData" Target="../diagrams/v31_s11_data1.xml"/><Relationship Id="rIdSmartArt5" Type="http://schemas.openxmlformats.org/officeDocument/2006/relationships/diagramLayout" Target="../diagrams/v31_s11_layout1.xml"/><Relationship Id="rIdSmartArt6" Type="http://schemas.openxmlformats.org/officeDocument/2006/relationships/diagramQuickStyle" Target="../diagrams/v31_s11_quickStyle1.xml"/><Relationship Id="rIdSmartArt7" Type="http://schemas.openxmlformats.org/officeDocument/2006/relationships/diagramColors" Target="../diagrams/v31_s11_colors1.xml"/><Relationship Id="rIdV31Drawing11" Type="http://schemas.microsoft.com/office/2007/relationships/diagramDrawing" Target="../diagrams/v31_s11_drawing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6.xml"/><Relationship Id="rIdSmartArt4" Type="http://schemas.openxmlformats.org/officeDocument/2006/relationships/diagramData" Target="../diagrams/v31_s12_data1.xml"/><Relationship Id="rIdSmartArt5" Type="http://schemas.openxmlformats.org/officeDocument/2006/relationships/diagramLayout" Target="../diagrams/v31_s12_layout1.xml"/><Relationship Id="rIdSmartArt6" Type="http://schemas.openxmlformats.org/officeDocument/2006/relationships/diagramQuickStyle" Target="../diagrams/v31_s12_quickStyle1.xml"/><Relationship Id="rIdSmartArt7" Type="http://schemas.openxmlformats.org/officeDocument/2006/relationships/diagramColors" Target="../diagrams/v31_s12_colors1.xml"/><Relationship Id="rIdV31Drawing12" Type="http://schemas.microsoft.com/office/2007/relationships/diagramDrawing" Target="../diagrams/v31_s12_drawin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 Id="rIdSmartArt3" Type="http://schemas.openxmlformats.org/officeDocument/2006/relationships/diagramData" Target="../diagrams/v31_s13_data1.xml"/><Relationship Id="rIdSmartArt4" Type="http://schemas.openxmlformats.org/officeDocument/2006/relationships/diagramLayout" Target="../diagrams/v31_s13_layout1.xml"/><Relationship Id="rIdSmartArt5" Type="http://schemas.openxmlformats.org/officeDocument/2006/relationships/diagramQuickStyle" Target="../diagrams/v31_s13_quickStyle1.xml"/><Relationship Id="rIdSmartArt6" Type="http://schemas.openxmlformats.org/officeDocument/2006/relationships/diagramColors" Target="../diagrams/v31_s13_colors1.xml"/><Relationship Id="rIdV31Drawing13" Type="http://schemas.microsoft.com/office/2007/relationships/diagramDrawing" Target="../diagrams/v31_s13_drawing1.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6.xml"/><Relationship Id="rIdSmartArt4" Type="http://schemas.openxmlformats.org/officeDocument/2006/relationships/diagramData" Target="../diagrams/v31_s14_data1.xml"/><Relationship Id="rIdSmartArt5" Type="http://schemas.openxmlformats.org/officeDocument/2006/relationships/diagramLayout" Target="../diagrams/v31_s14_layout1.xml"/><Relationship Id="rIdSmartArt6" Type="http://schemas.openxmlformats.org/officeDocument/2006/relationships/diagramQuickStyle" Target="../diagrams/v31_s14_quickStyle1.xml"/><Relationship Id="rIdSmartArt7" Type="http://schemas.openxmlformats.org/officeDocument/2006/relationships/diagramColors" Target="../diagrams/v31_s14_colors1.xml"/><Relationship Id="rIdV31Drawing14" Type="http://schemas.microsoft.com/office/2007/relationships/diagramDrawing" Target="../diagrams/v31_s14_drawing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 Id="rIdSmartArt4" Type="http://schemas.openxmlformats.org/officeDocument/2006/relationships/diagramData" Target="../diagrams/v31_s15_data1.xml"/><Relationship Id="rIdSmartArt5" Type="http://schemas.openxmlformats.org/officeDocument/2006/relationships/diagramLayout" Target="../diagrams/v31_s15_layout1.xml"/><Relationship Id="rIdSmartArt6" Type="http://schemas.openxmlformats.org/officeDocument/2006/relationships/diagramQuickStyle" Target="../diagrams/v31_s15_quickStyle1.xml"/><Relationship Id="rIdSmartArt7" Type="http://schemas.openxmlformats.org/officeDocument/2006/relationships/diagramColors" Target="../diagrams/v31_s15_colors1.xml"/><Relationship Id="rIdV31Drawing15" Type="http://schemas.microsoft.com/office/2007/relationships/diagramDrawing" Target="../diagrams/v31_s15_drawing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6.xml"/><Relationship Id="rIdSmartArt4" Type="http://schemas.openxmlformats.org/officeDocument/2006/relationships/diagramData" Target="../diagrams/v31_s16_data1.xml"/><Relationship Id="rIdSmartArt5" Type="http://schemas.openxmlformats.org/officeDocument/2006/relationships/diagramLayout" Target="../diagrams/v31_s16_layout1.xml"/><Relationship Id="rIdSmartArt6" Type="http://schemas.openxmlformats.org/officeDocument/2006/relationships/diagramQuickStyle" Target="../diagrams/v31_s16_quickStyle1.xml"/><Relationship Id="rIdSmartArt7" Type="http://schemas.openxmlformats.org/officeDocument/2006/relationships/diagramColors" Target="../diagrams/v31_s16_colors1.xml"/><Relationship Id="rIdV31Drawing16" Type="http://schemas.microsoft.com/office/2007/relationships/diagramDrawing" Target="../diagrams/v31_s16_drawing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 Id="rIdSmartArt3" Type="http://schemas.openxmlformats.org/officeDocument/2006/relationships/diagramData" Target="../diagrams/v31_s17_data1.xml"/><Relationship Id="rIdSmartArt4" Type="http://schemas.openxmlformats.org/officeDocument/2006/relationships/diagramLayout" Target="../diagrams/v31_s17_layout1.xml"/><Relationship Id="rIdSmartArt5" Type="http://schemas.openxmlformats.org/officeDocument/2006/relationships/diagramQuickStyle" Target="../diagrams/v31_s17_quickStyle1.xml"/><Relationship Id="rIdSmartArt6" Type="http://schemas.openxmlformats.org/officeDocument/2006/relationships/diagramColors" Target="../diagrams/v31_s17_colors1.xml"/><Relationship Id="rIdV31Drawing17" Type="http://schemas.microsoft.com/office/2007/relationships/diagramDrawing" Target="../diagrams/v31_s17_drawing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28.png"/><Relationship Id="rId4" Type="http://schemas.openxmlformats.org/officeDocument/2006/relationships/image" Target="../media/image11.png"/><Relationship Id="rIdSmartArt7" Type="http://schemas.openxmlformats.org/officeDocument/2006/relationships/diagramData" Target="../diagrams/v31_s18_data1.xml"/><Relationship Id="rIdSmartArt8" Type="http://schemas.openxmlformats.org/officeDocument/2006/relationships/diagramLayout" Target="../diagrams/v31_s18_layout1.xml"/><Relationship Id="rIdSmartArt9" Type="http://schemas.openxmlformats.org/officeDocument/2006/relationships/diagramQuickStyle" Target="../diagrams/v31_s18_quickStyle1.xml"/><Relationship Id="rIdSmartArt10" Type="http://schemas.openxmlformats.org/officeDocument/2006/relationships/diagramColors" Target="../diagrams/v31_s18_colors1.xml"/><Relationship Id="rIdV31Drawing18" Type="http://schemas.microsoft.com/office/2007/relationships/diagramDrawing" Target="../diagrams/v31_s18_drawing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 Id="rIdSmartArt3" Type="http://schemas.openxmlformats.org/officeDocument/2006/relationships/diagramData" Target="../diagrams/v31_s19_data1.xml"/><Relationship Id="rIdSmartArt4" Type="http://schemas.openxmlformats.org/officeDocument/2006/relationships/diagramLayout" Target="../diagrams/v31_s19_layout1.xml"/><Relationship Id="rIdSmartArt5" Type="http://schemas.openxmlformats.org/officeDocument/2006/relationships/diagramQuickStyle" Target="../diagrams/v31_s19_quickStyle1.xml"/><Relationship Id="rIdSmartArt6" Type="http://schemas.openxmlformats.org/officeDocument/2006/relationships/diagramColors" Target="../diagrams/v31_s19_colors1.xml"/><Relationship Id="rIdV31Drawing19" Type="http://schemas.microsoft.com/office/2007/relationships/diagramDrawing" Target="../diagrams/v31_s19_drawing1.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 Id="rIdSmartArt3" Type="http://schemas.openxmlformats.org/officeDocument/2006/relationships/diagramData" Target="../diagrams/v31_s21_data1.xml"/><Relationship Id="rIdSmartArt4" Type="http://schemas.openxmlformats.org/officeDocument/2006/relationships/diagramLayout" Target="../diagrams/v31_s21_layout1.xml"/><Relationship Id="rIdSmartArt5" Type="http://schemas.openxmlformats.org/officeDocument/2006/relationships/diagramQuickStyle" Target="../diagrams/v31_s21_quickStyle1.xml"/><Relationship Id="rIdSmartArt6" Type="http://schemas.openxmlformats.org/officeDocument/2006/relationships/diagramColors" Target="../diagrams/v31_s21_colors1.xml"/><Relationship Id="rIdV31Drawing21" Type="http://schemas.microsoft.com/office/2007/relationships/diagramDrawing" Target="../diagrams/v31_s21_drawing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6.xml"/><Relationship Id="rIdSmartArt4" Type="http://schemas.openxmlformats.org/officeDocument/2006/relationships/diagramData" Target="../diagrams/v31_s22_data1.xml"/><Relationship Id="rIdSmartArt5" Type="http://schemas.openxmlformats.org/officeDocument/2006/relationships/diagramLayout" Target="../diagrams/v31_s22_layout1.xml"/><Relationship Id="rIdSmartArt6" Type="http://schemas.openxmlformats.org/officeDocument/2006/relationships/diagramQuickStyle" Target="../diagrams/v31_s22_quickStyle1.xml"/><Relationship Id="rIdSmartArt7" Type="http://schemas.openxmlformats.org/officeDocument/2006/relationships/diagramColors" Target="../diagrams/v31_s22_colors1.xml"/><Relationship Id="rIdV31Drawing22" Type="http://schemas.microsoft.com/office/2007/relationships/diagramDrawing" Target="../diagrams/v31_s22_drawing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6.xml"/><Relationship Id="rIdSmartArt4" Type="http://schemas.openxmlformats.org/officeDocument/2006/relationships/diagramData" Target="../diagrams/v31_s23_data1.xml"/><Relationship Id="rIdSmartArt5" Type="http://schemas.openxmlformats.org/officeDocument/2006/relationships/diagramLayout" Target="../diagrams/v31_s23_layout1.xml"/><Relationship Id="rIdSmartArt6" Type="http://schemas.openxmlformats.org/officeDocument/2006/relationships/diagramQuickStyle" Target="../diagrams/v31_s23_quickStyle1.xml"/><Relationship Id="rIdSmartArt7" Type="http://schemas.openxmlformats.org/officeDocument/2006/relationships/diagramColors" Target="../diagrams/v31_s23_colors1.xml"/><Relationship Id="rIdV31Drawing23" Type="http://schemas.microsoft.com/office/2007/relationships/diagramDrawing" Target="../diagrams/v31_s23_drawing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 Id="rIdSmartArt3" Type="http://schemas.openxmlformats.org/officeDocument/2006/relationships/diagramData" Target="../diagrams/v31_s24_data1.xml"/><Relationship Id="rIdSmartArt4" Type="http://schemas.openxmlformats.org/officeDocument/2006/relationships/diagramLayout" Target="../diagrams/v31_s24_layout1.xml"/><Relationship Id="rIdSmartArt5" Type="http://schemas.openxmlformats.org/officeDocument/2006/relationships/diagramQuickStyle" Target="../diagrams/v31_s24_quickStyle1.xml"/><Relationship Id="rIdSmartArt6" Type="http://schemas.openxmlformats.org/officeDocument/2006/relationships/diagramColors" Target="../diagrams/v31_s24_colors1.xml"/><Relationship Id="rIdV31Drawing24" Type="http://schemas.microsoft.com/office/2007/relationships/diagramDrawing" Target="../diagrams/v31_s24_drawing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6.xml"/><Relationship Id="rIdSmartArt4" Type="http://schemas.openxmlformats.org/officeDocument/2006/relationships/diagramData" Target="../diagrams/v31_s25_data1.xml"/><Relationship Id="rIdSmartArt5" Type="http://schemas.openxmlformats.org/officeDocument/2006/relationships/diagramLayout" Target="../diagrams/v31_s25_layout1.xml"/><Relationship Id="rIdSmartArt6" Type="http://schemas.openxmlformats.org/officeDocument/2006/relationships/diagramQuickStyle" Target="../diagrams/v31_s25_quickStyle1.xml"/><Relationship Id="rIdSmartArt7" Type="http://schemas.openxmlformats.org/officeDocument/2006/relationships/diagramColors" Target="../diagrams/v31_s25_colors1.xml"/><Relationship Id="rIdV31Drawing25" Type="http://schemas.microsoft.com/office/2007/relationships/diagramDrawing" Target="../diagrams/v31_s25_drawing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 Id="rIdSmartArt3" Type="http://schemas.openxmlformats.org/officeDocument/2006/relationships/diagramData" Target="../diagrams/v31_s26_data1.xml"/><Relationship Id="rIdSmartArt4" Type="http://schemas.openxmlformats.org/officeDocument/2006/relationships/diagramLayout" Target="../diagrams/v31_s26_layout1.xml"/><Relationship Id="rIdSmartArt5" Type="http://schemas.openxmlformats.org/officeDocument/2006/relationships/diagramQuickStyle" Target="../diagrams/v31_s26_quickStyle1.xml"/><Relationship Id="rIdSmartArt6" Type="http://schemas.openxmlformats.org/officeDocument/2006/relationships/diagramColors" Target="../diagrams/v31_s26_colors1.xml"/><Relationship Id="rIdV31Drawing26" Type="http://schemas.microsoft.com/office/2007/relationships/diagramDrawing" Target="../diagrams/v31_s26_drawing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 Id="rIdSmartArt3" Type="http://schemas.openxmlformats.org/officeDocument/2006/relationships/diagramData" Target="../diagrams/v31_s27_data1.xml"/><Relationship Id="rIdSmartArt4" Type="http://schemas.openxmlformats.org/officeDocument/2006/relationships/diagramLayout" Target="../diagrams/v31_s27_layout1.xml"/><Relationship Id="rIdSmartArt5" Type="http://schemas.openxmlformats.org/officeDocument/2006/relationships/diagramQuickStyle" Target="../diagrams/v31_s27_quickStyle1.xml"/><Relationship Id="rIdSmartArt6" Type="http://schemas.openxmlformats.org/officeDocument/2006/relationships/diagramColors" Target="../diagrams/v31_s27_colors1.xml"/><Relationship Id="rIdV31Drawing27" Type="http://schemas.microsoft.com/office/2007/relationships/diagramDrawing" Target="../diagrams/v31_s27_drawing1.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6.xml"/><Relationship Id="rIdSmartArt4" Type="http://schemas.openxmlformats.org/officeDocument/2006/relationships/diagramData" Target="../diagrams/v31_s28_data1.xml"/><Relationship Id="rIdSmartArt5" Type="http://schemas.openxmlformats.org/officeDocument/2006/relationships/diagramLayout" Target="../diagrams/v31_s28_layout1.xml"/><Relationship Id="rIdSmartArt6" Type="http://schemas.openxmlformats.org/officeDocument/2006/relationships/diagramQuickStyle" Target="../diagrams/v31_s28_quickStyle1.xml"/><Relationship Id="rIdSmartArt7" Type="http://schemas.openxmlformats.org/officeDocument/2006/relationships/diagramColors" Target="../diagrams/v31_s28_colors1.xml"/><Relationship Id="rIdV31Drawing28" Type="http://schemas.microsoft.com/office/2007/relationships/diagramDrawing" Target="../diagrams/v31_s28_drawing1.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6.xml"/><Relationship Id="rIdSmartArt4" Type="http://schemas.openxmlformats.org/officeDocument/2006/relationships/diagramData" Target="../diagrams/v31_s29_data1.xml"/><Relationship Id="rIdSmartArt5" Type="http://schemas.openxmlformats.org/officeDocument/2006/relationships/diagramLayout" Target="../diagrams/v31_s29_layout1.xml"/><Relationship Id="rIdSmartArt6" Type="http://schemas.openxmlformats.org/officeDocument/2006/relationships/diagramQuickStyle" Target="../diagrams/v31_s29_quickStyle1.xml"/><Relationship Id="rIdSmartArt7" Type="http://schemas.openxmlformats.org/officeDocument/2006/relationships/diagramColors" Target="../diagrams/v31_s29_colors1.xml"/><Relationship Id="rIdV31Drawing29" Type="http://schemas.microsoft.com/office/2007/relationships/diagramDrawing" Target="../diagrams/v31_s29_drawing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 Id="rIdSmartArt3" Type="http://schemas.openxmlformats.org/officeDocument/2006/relationships/diagramData" Target="../diagrams/v31_s30_data1.xml"/><Relationship Id="rIdSmartArt4" Type="http://schemas.openxmlformats.org/officeDocument/2006/relationships/diagramLayout" Target="../diagrams/v31_s30_layout1.xml"/><Relationship Id="rIdSmartArt5" Type="http://schemas.openxmlformats.org/officeDocument/2006/relationships/diagramQuickStyle" Target="../diagrams/v31_s30_quickStyle1.xml"/><Relationship Id="rIdSmartArt6" Type="http://schemas.openxmlformats.org/officeDocument/2006/relationships/diagramColors" Target="../diagrams/v31_s30_colors1.xml"/><Relationship Id="rIdV31Drawing30" Type="http://schemas.microsoft.com/office/2007/relationships/diagramDrawing" Target="../diagrams/v31_s30_drawing1.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6.xml"/><Relationship Id="rIdSmartArt4" Type="http://schemas.openxmlformats.org/officeDocument/2006/relationships/diagramData" Target="../diagrams/v31_s31_data1.xml"/><Relationship Id="rIdSmartArt5" Type="http://schemas.openxmlformats.org/officeDocument/2006/relationships/diagramLayout" Target="../diagrams/v31_s31_layout1.xml"/><Relationship Id="rIdSmartArt6" Type="http://schemas.openxmlformats.org/officeDocument/2006/relationships/diagramQuickStyle" Target="../diagrams/v31_s31_quickStyle1.xml"/><Relationship Id="rIdSmartArt7" Type="http://schemas.openxmlformats.org/officeDocument/2006/relationships/diagramColors" Target="../diagrams/v31_s31_colors1.xml"/><Relationship Id="rIdV31Drawing31" Type="http://schemas.microsoft.com/office/2007/relationships/diagramDrawing" Target="../diagrams/v31_s31_drawing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 Id="rIdSmartArt3" Type="http://schemas.openxmlformats.org/officeDocument/2006/relationships/diagramData" Target="../diagrams/v31_s32_data1.xml"/><Relationship Id="rIdSmartArt4" Type="http://schemas.openxmlformats.org/officeDocument/2006/relationships/diagramLayout" Target="../diagrams/v31_s32_layout1.xml"/><Relationship Id="rIdSmartArt5" Type="http://schemas.openxmlformats.org/officeDocument/2006/relationships/diagramQuickStyle" Target="../diagrams/v31_s32_quickStyle1.xml"/><Relationship Id="rIdSmartArt6" Type="http://schemas.openxmlformats.org/officeDocument/2006/relationships/diagramColors" Target="../diagrams/v31_s32_colors1.xml"/><Relationship Id="rIdV31Drawing32" Type="http://schemas.microsoft.com/office/2007/relationships/diagramDrawing" Target="../diagrams/v31_s32_drawing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 Id="rIdSmartArt3" Type="http://schemas.openxmlformats.org/officeDocument/2006/relationships/diagramData" Target="../diagrams/v31_s33_data1.xml"/><Relationship Id="rIdSmartArt4" Type="http://schemas.openxmlformats.org/officeDocument/2006/relationships/diagramLayout" Target="../diagrams/v31_s33_layout1.xml"/><Relationship Id="rIdSmartArt5" Type="http://schemas.openxmlformats.org/officeDocument/2006/relationships/diagramQuickStyle" Target="../diagrams/v31_s33_quickStyle1.xml"/><Relationship Id="rIdSmartArt6" Type="http://schemas.openxmlformats.org/officeDocument/2006/relationships/diagramColors" Target="../diagrams/v31_s33_colors1.xml"/><Relationship Id="rIdV31Drawing33" Type="http://schemas.microsoft.com/office/2007/relationships/diagramDrawing" Target="../diagrams/v31_s33_drawing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 Id="rIdSmartArt3" Type="http://schemas.openxmlformats.org/officeDocument/2006/relationships/diagramData" Target="../diagrams/v31_s34_data1.xml"/><Relationship Id="rIdSmartArt4" Type="http://schemas.openxmlformats.org/officeDocument/2006/relationships/diagramLayout" Target="../diagrams/v31_s34_layout1.xml"/><Relationship Id="rIdSmartArt5" Type="http://schemas.openxmlformats.org/officeDocument/2006/relationships/diagramQuickStyle" Target="../diagrams/v31_s34_quickStyle1.xml"/><Relationship Id="rIdSmartArt6" Type="http://schemas.openxmlformats.org/officeDocument/2006/relationships/diagramColors" Target="../diagrams/v31_s34_colors1.xml"/><Relationship Id="rIdV31Drawing34" Type="http://schemas.microsoft.com/office/2007/relationships/diagramDrawing" Target="../diagrams/v31_s34_drawing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 Id="rIdSmartArt3" Type="http://schemas.openxmlformats.org/officeDocument/2006/relationships/diagramData" Target="../diagrams/v31_s35_data1.xml"/><Relationship Id="rIdSmartArt4" Type="http://schemas.openxmlformats.org/officeDocument/2006/relationships/diagramLayout" Target="../diagrams/v31_s35_layout1.xml"/><Relationship Id="rIdSmartArt5" Type="http://schemas.openxmlformats.org/officeDocument/2006/relationships/diagramQuickStyle" Target="../diagrams/v31_s35_quickStyle1.xml"/><Relationship Id="rIdSmartArt6" Type="http://schemas.openxmlformats.org/officeDocument/2006/relationships/diagramColors" Target="../diagrams/v31_s35_colors1.xml"/><Relationship Id="rIdV31Drawing35" Type="http://schemas.microsoft.com/office/2007/relationships/diagramDrawing" Target="../diagrams/v31_s35_drawing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 Id="rIdSmartArt3" Type="http://schemas.openxmlformats.org/officeDocument/2006/relationships/diagramData" Target="../diagrams/v31_s36_data1.xml"/><Relationship Id="rIdSmartArt4" Type="http://schemas.openxmlformats.org/officeDocument/2006/relationships/diagramLayout" Target="../diagrams/v31_s36_layout1.xml"/><Relationship Id="rIdSmartArt5" Type="http://schemas.openxmlformats.org/officeDocument/2006/relationships/diagramQuickStyle" Target="../diagrams/v31_s36_quickStyle1.xml"/><Relationship Id="rIdSmartArt6" Type="http://schemas.openxmlformats.org/officeDocument/2006/relationships/diagramColors" Target="../diagrams/v31_s36_colors1.xml"/><Relationship Id="rIdV31Drawing36" Type="http://schemas.microsoft.com/office/2007/relationships/diagramDrawing" Target="../diagrams/v31_s36_drawing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 Id="rIdSmartArt3" Type="http://schemas.openxmlformats.org/officeDocument/2006/relationships/diagramData" Target="../diagrams/v31_s37_data1.xml"/><Relationship Id="rIdSmartArt4" Type="http://schemas.openxmlformats.org/officeDocument/2006/relationships/diagramLayout" Target="../diagrams/v31_s37_layout1.xml"/><Relationship Id="rIdSmartArt5" Type="http://schemas.openxmlformats.org/officeDocument/2006/relationships/diagramQuickStyle" Target="../diagrams/v31_s37_quickStyle1.xml"/><Relationship Id="rIdSmartArt6" Type="http://schemas.openxmlformats.org/officeDocument/2006/relationships/diagramColors" Target="../diagrams/v31_s37_colors1.xml"/><Relationship Id="rIdV31Drawing37" Type="http://schemas.microsoft.com/office/2007/relationships/diagramDrawing" Target="../diagrams/v31_s37_drawing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 Id="rIdSmartArt3" Type="http://schemas.openxmlformats.org/officeDocument/2006/relationships/diagramData" Target="../diagrams/v31_s38_data1.xml"/><Relationship Id="rIdSmartArt4" Type="http://schemas.openxmlformats.org/officeDocument/2006/relationships/diagramLayout" Target="../diagrams/v31_s38_layout1.xml"/><Relationship Id="rIdSmartArt5" Type="http://schemas.openxmlformats.org/officeDocument/2006/relationships/diagramQuickStyle" Target="../diagrams/v31_s38_quickStyle1.xml"/><Relationship Id="rIdSmartArt6" Type="http://schemas.openxmlformats.org/officeDocument/2006/relationships/diagramColors" Target="../diagrams/v31_s38_colors1.xml"/><Relationship Id="rIdV31Drawing38" Type="http://schemas.microsoft.com/office/2007/relationships/diagramDrawing" Target="../diagrams/v31_s38_drawing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6.png"/><Relationship Id="rIdSmartArt8" Type="http://schemas.openxmlformats.org/officeDocument/2006/relationships/diagramData" Target="../diagrams/v31_s39_data1.xml"/><Relationship Id="rIdSmartArt9" Type="http://schemas.openxmlformats.org/officeDocument/2006/relationships/diagramLayout" Target="../diagrams/v31_s39_layout1.xml"/><Relationship Id="rIdSmartArt10" Type="http://schemas.openxmlformats.org/officeDocument/2006/relationships/diagramQuickStyle" Target="../diagrams/v31_s39_quickStyle1.xml"/><Relationship Id="rIdSmartArt11" Type="http://schemas.openxmlformats.org/officeDocument/2006/relationships/diagramColors" Target="../diagrams/v31_s39_colors1.xml"/><Relationship Id="rIdV31Drawing39" Type="http://schemas.microsoft.com/office/2007/relationships/diagramDrawing" Target="../diagrams/v31_s39_drawing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 Id="rIdSmartArt3" Type="http://schemas.openxmlformats.org/officeDocument/2006/relationships/diagramData" Target="../diagrams/v31_s40_data1.xml"/><Relationship Id="rIdSmartArt4" Type="http://schemas.openxmlformats.org/officeDocument/2006/relationships/diagramLayout" Target="../diagrams/v31_s40_layout1.xml"/><Relationship Id="rIdSmartArt5" Type="http://schemas.openxmlformats.org/officeDocument/2006/relationships/diagramQuickStyle" Target="../diagrams/v31_s40_quickStyle1.xml"/><Relationship Id="rIdSmartArt6" Type="http://schemas.openxmlformats.org/officeDocument/2006/relationships/diagramColors" Target="../diagrams/v31_s40_colors1.xml"/><Relationship Id="rIdV31Drawing40" Type="http://schemas.microsoft.com/office/2007/relationships/diagramDrawing" Target="../diagrams/v31_s40_drawing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 Id="rIdSmartArt3" Type="http://schemas.openxmlformats.org/officeDocument/2006/relationships/diagramData" Target="../diagrams/v31_s41_data1.xml"/><Relationship Id="rIdSmartArt4" Type="http://schemas.openxmlformats.org/officeDocument/2006/relationships/diagramLayout" Target="../diagrams/v31_s41_layout1.xml"/><Relationship Id="rIdSmartArt5" Type="http://schemas.openxmlformats.org/officeDocument/2006/relationships/diagramQuickStyle" Target="../diagrams/v31_s41_quickStyle1.xml"/><Relationship Id="rIdSmartArt6" Type="http://schemas.openxmlformats.org/officeDocument/2006/relationships/diagramColors" Target="../diagrams/v31_s41_colors1.xml"/><Relationship Id="rIdV31Drawing41" Type="http://schemas.microsoft.com/office/2007/relationships/diagramDrawing" Target="../diagrams/v31_s41_drawing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 Id="rIdSmartArt3" Type="http://schemas.openxmlformats.org/officeDocument/2006/relationships/diagramData" Target="../diagrams/v31_s42_data1.xml"/><Relationship Id="rIdSmartArt4" Type="http://schemas.openxmlformats.org/officeDocument/2006/relationships/diagramLayout" Target="../diagrams/v31_s42_layout1.xml"/><Relationship Id="rIdSmartArt5" Type="http://schemas.openxmlformats.org/officeDocument/2006/relationships/diagramQuickStyle" Target="../diagrams/v31_s42_quickStyle1.xml"/><Relationship Id="rIdSmartArt6" Type="http://schemas.openxmlformats.org/officeDocument/2006/relationships/diagramColors" Target="../diagrams/v31_s42_colors1.xml"/><Relationship Id="rIdV31Drawing42" Type="http://schemas.microsoft.com/office/2007/relationships/diagramDrawing" Target="../diagrams/v31_s42_drawing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 Id="rIdSmartArt3" Type="http://schemas.openxmlformats.org/officeDocument/2006/relationships/diagramData" Target="../diagrams/v31_s43_data1.xml"/><Relationship Id="rIdSmartArt4" Type="http://schemas.openxmlformats.org/officeDocument/2006/relationships/diagramLayout" Target="../diagrams/v31_s43_layout1.xml"/><Relationship Id="rIdSmartArt5" Type="http://schemas.openxmlformats.org/officeDocument/2006/relationships/diagramQuickStyle" Target="../diagrams/v31_s43_quickStyle1.xml"/><Relationship Id="rIdSmartArt6" Type="http://schemas.openxmlformats.org/officeDocument/2006/relationships/diagramColors" Target="../diagrams/v31_s43_colors1.xml"/><Relationship Id="rIdV31Drawing43" Type="http://schemas.microsoft.com/office/2007/relationships/diagramDrawing" Target="../diagrams/v31_s43_drawing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 Id="rIdSmartArt3" Type="http://schemas.openxmlformats.org/officeDocument/2006/relationships/diagramData" Target="../diagrams/v31_s44_data1.xml"/><Relationship Id="rIdSmartArt4" Type="http://schemas.openxmlformats.org/officeDocument/2006/relationships/diagramLayout" Target="../diagrams/v31_s44_layout1.xml"/><Relationship Id="rIdSmartArt5" Type="http://schemas.openxmlformats.org/officeDocument/2006/relationships/diagramQuickStyle" Target="../diagrams/v31_s44_quickStyle1.xml"/><Relationship Id="rIdSmartArt6" Type="http://schemas.openxmlformats.org/officeDocument/2006/relationships/diagramColors" Target="../diagrams/v31_s44_colors1.xml"/><Relationship Id="rIdV31Drawing44" Type="http://schemas.microsoft.com/office/2007/relationships/diagramDrawing" Target="../diagrams/v31_s44_drawin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39121-817A-4D3C-899A-D0A0C1F58930}"/>
              </a:ext>
            </a:extLst>
          </p:cNvPr>
          <p:cNvSpPr>
            <a:spLocks noGrp="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solidFill>
                  <a:srgbClr val="FFFFFF"/>
                </a:solidFill>
              </a:defRPr>
            </a:pPr>
            <a:endParaRPr/>
          </a:p>
        </p:txBody>
      </p:sp>
      <p:pic>
        <p:nvPicPr>
          <p:cNvPr id="16" name="Picture 2"/>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17" name="Picture 3"/>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a:extLst>
              <a:ext uri="{FF2B5EF4-FFF2-40B4-BE49-F238E27FC236}">
                <a16:creationId xmlns:a16="http://schemas.microsoft.com/office/drawing/2014/main" id="{5FD954C5-04DB-4280-B44C-D964E6C9CDDA}"/>
              </a:ext>
            </a:extLst>
          </p:cNvPr>
          <p:cNvSpPr>
            <a:spLocks noGrp="1"/>
          </p:cNvSpPr>
          <p:nvPr/>
        </p:nvSpPr>
        <p:spPr>
          <a:xfrm>
            <a:off x="594360" y="2468880"/>
            <a:ext cx="4709160" cy="1636345"/>
          </a:xfrm>
          <a:prstGeom prst="rect">
            <a:avLst/>
          </a:prstGeom>
          <a:noFill/>
        </p:spPr>
        <p:txBody>
          <a:bodyPr wrap="square" lIns="18288" tIns="0" rIns="18288" bIns="0">
            <a:spAutoFit/>
          </a:bodyPr>
          <a:lstStyle/>
          <a:p>
            <a:pPr>
              <a:spcAft>
                <a:spcPts val="800"/>
              </a:spcAft>
              <a:buNone/>
              <a:defRPr sz="3100" b="0">
                <a:solidFill>
                  <a:srgbClr val="FFFFFF"/>
                </a:solidFill>
                <a:latin typeface="Lato"/>
                <a:ea typeface="Lato"/>
                <a:cs typeface="Lato"/>
              </a:defRPr>
            </a:pPr>
            <a:r>
              <a:rPr>
                <a:solidFill>
                  <a:srgbClr val="FFFFFF"/>
                </a:solidFill>
              </a:rPr>
              <a:t>South Africa
liquid fuels
market story</a:t>
            </a:r>
          </a:p>
        </p:txBody>
      </p:sp>
      <p:sp>
        <p:nvSpPr>
          <p:cNvPr id="6" name="Connector 5">
            <a:extLst>
              <a:ext uri="{FF2B5EF4-FFF2-40B4-BE49-F238E27FC236}">
                <a16:creationId xmlns:a16="http://schemas.microsoft.com/office/drawing/2014/main" id="{8AC3AB0E-746B-4AF6-ABCD-D6526DA2BFFE}"/>
              </a:ext>
            </a:extLst>
          </p:cNvPr>
          <p:cNvSpPr>
            <a:spLocks noGrp="1"/>
          </p:cNvSpPr>
          <p:nvPr/>
        </p:nv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sp>
      <p:sp>
        <p:nvSpPr>
          <p:cNvPr id="7" name="TextBox 6">
            <a:extLst>
              <a:ext uri="{FF2B5EF4-FFF2-40B4-BE49-F238E27FC236}">
                <a16:creationId xmlns:a16="http://schemas.microsoft.com/office/drawing/2014/main" id="{92702DF3-0D72-4A19-ADCB-903E36583053}"/>
              </a:ext>
            </a:extLst>
          </p:cNvPr>
          <p:cNvSpPr>
            <a:spLocks noGrp="1"/>
          </p:cNvSpPr>
          <p:nvPr/>
        </p:nvSpPr>
        <p:spPr>
          <a:xfrm>
            <a:off x="594360" y="4617720"/>
            <a:ext cx="4572000" cy="523220"/>
          </a:xfrm>
          <a:prstGeom prst="rect">
            <a:avLst/>
          </a:prstGeom>
          <a:noFill/>
        </p:spPr>
        <p:txBody>
          <a:bodyPr wrap="square" lIns="18288" tIns="0" rIns="18288" bIns="0">
            <a:spAutoFit/>
          </a:bodyPr>
          <a:lstStyle/>
          <a:p>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p>
        </p:txBody>
      </p:sp>
      <p:sp>
        <p:nvSpPr>
          <p:cNvPr id="8" name="TextBox 7">
            <a:extLst>
              <a:ext uri="{FF2B5EF4-FFF2-40B4-BE49-F238E27FC236}">
                <a16:creationId xmlns:a16="http://schemas.microsoft.com/office/drawing/2014/main" id="{C5CB190A-7488-44E1-8968-36FDC90EDA0B}"/>
              </a:ext>
            </a:extLst>
          </p:cNvPr>
          <p:cNvSpPr>
            <a:spLocks noGrp="1"/>
          </p:cNvSpPr>
          <p:nvPr/>
        </p:nvSpPr>
        <p:spPr>
          <a:xfrm>
            <a:off x="594360" y="52395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Durban–Lesedi corridor into Gauteng</a:t>
            </a:r>
          </a:p>
        </p:txBody>
      </p:sp>
      <p:sp>
        <p:nvSpPr>
          <p:cNvPr id="9" name="TextBox 8">
            <a:extLst>
              <a:ext uri="{FF2B5EF4-FFF2-40B4-BE49-F238E27FC236}">
                <a16:creationId xmlns:a16="http://schemas.microsoft.com/office/drawing/2014/main" id="{D208E6D2-5587-493C-AED5-50FFAEFBCE44}"/>
              </a:ext>
            </a:extLst>
          </p:cNvPr>
          <p:cNvSpPr>
            <a:spLocks noGrp="1"/>
          </p:cNvSpPr>
          <p:nvPr/>
        </p:nvSpPr>
        <p:spPr>
          <a:xfrm>
            <a:off x="594360" y="56967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10 October 2026</a:t>
            </a:r>
          </a:p>
        </p:txBody>
      </p:sp>
      <p:sp>
        <p:nvSpPr>
          <p:cNvPr id="10" name="TextBox 9">
            <a:extLst>
              <a:ext uri="{FF2B5EF4-FFF2-40B4-BE49-F238E27FC236}">
                <a16:creationId xmlns:a16="http://schemas.microsoft.com/office/drawing/2014/main" id="{15A94E5E-E17D-406B-B780-6593F829C0CA}"/>
              </a:ext>
            </a:extLst>
          </p:cNvPr>
          <p:cNvSpPr>
            <a:spLocks noGrp="1"/>
          </p:cNvSpPr>
          <p:nvPr/>
        </p:nvSpPr>
        <p:spPr>
          <a:xfrm>
            <a:off x="594360" y="6053328"/>
            <a:ext cx="4572000" cy="369332"/>
          </a:xfrm>
          <a:prstGeom prst="rect">
            <a:avLst/>
          </a:prstGeom>
          <a:noFill/>
        </p:spPr>
        <p:txBody>
          <a:bodyPr wrap="square" lIns="18288" tIns="0" rIns="18288" bIns="0">
            <a:spAutoFit/>
          </a:bodyPr>
          <a:lstStyle/>
          <a:p>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p>
        </p:txBody>
      </p:sp>
      <p:sp>
        <p:nvSpPr>
          <p:cNvPr id="11" name="Photo source credit">
            <a:extLst>
              <a:ext uri="{FF2B5EF4-FFF2-40B4-BE49-F238E27FC236}">
                <a16:creationId xmlns:a16="http://schemas.microsoft.com/office/drawing/2014/main" id="{605235CD-EC7B-4D28-A4DA-C6360164F0A7}"/>
              </a:ext>
            </a:extLst>
          </p:cNvPr>
          <p:cNvSpPr>
            <a:spLocks noGrp="1"/>
          </p:cNvSpPr>
          <p:nvPr/>
        </p:nvSpPr>
        <p:spPr>
          <a:xfrm>
            <a:off x="594360" y="6400800"/>
            <a:ext cx="4754880" cy="164592"/>
          </a:xfrm>
          <a:prstGeom prst="rect">
            <a:avLst/>
          </a:prstGeom>
          <a:noFill/>
        </p:spPr>
        <p:txBody>
          <a:bodyPr wrap="square" lIns="18288" tIns="0" rIns="18288" bIns="0">
            <a:spAutoFit/>
          </a:bodyPr>
          <a:lstStyle/>
          <a:p>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a:ext uri="{FF2B5EF4-FFF2-40B4-BE49-F238E27FC236}">
                <a16:creationId xmlns:a16="http://schemas.microsoft.com/office/drawing/2014/main" id="{ED5236C5-84CC-47CC-8ACF-9C81666786AA}"/>
              </a:ext>
            </a:extLst>
          </p:cNvPr>
          <p:cNvSpPr>
            <a:spLocks noGrp="1"/>
          </p:cNvSpPr>
          <p:nvPr/>
        </p:nvSpPr>
        <p:spPr>
          <a:xfrm>
            <a:off x="59436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rmAutofit/>
          </a:bodyPr>
          <a:lstStyle/>
          <a:p>
            <a:r>
              <a:rPr>
                <a:solidFill>
                  <a:schemeClr val="dk1"/>
                </a:solidFill>
                <a:latin typeface="Lato"/>
                <a:ea typeface="Lato"/>
                <a:cs typeface="Lato"/>
              </a:rPr>
              <a:t>HG’s South Africa storyline</a:t>
            </a: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a:t>
            </a:r>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172199"/>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Source: HG’s supplied storyboard, slides 30–32 (6 October 2026). Condensed framing; propositions and questions to investigate. The following page presents the current analytical response.</a:t>
            </a:r>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60" name="Table 59"/>
          <p:cNvGraphicFramePr/>
          <p:nvPr/>
        </p:nvGraphicFramePr>
        <p:xfrm>
          <a:off x="457200" y="1647825"/>
          <a:ext cx="10648950" cy="3638550"/>
        </p:xfrm>
        <a:graphic>
          <a:graphicData uri="http://schemas.openxmlformats.org/drawingml/2006/table">
            <a:tbl>
              <a:tblPr/>
              <a:tblGrid>
                <a:gridCol w="3549968">
                  <a:extLst>
                    <a:ext uri="{9D8B030D-6E8A-4147-A177-3AD203B41FA5}">
                      <a16:colId xmlns:a16="http://schemas.microsoft.com/office/drawing/2014/main" val="20000"/>
                    </a:ext>
                  </a:extLst>
                </a:gridCol>
                <a:gridCol w="3549968">
                  <a:extLst>
                    <a:ext uri="{9D8B030D-6E8A-4147-A177-3AD203B41FA5}">
                      <a16:colId xmlns:a16="http://schemas.microsoft.com/office/drawing/2014/main" val="20001"/>
                    </a:ext>
                  </a:extLst>
                </a:gridCol>
                <a:gridCol w="3549015">
                  <a:extLst>
                    <a:ext uri="{9D8B030D-6E8A-4147-A177-3AD203B41FA5}">
                      <a16:colId xmlns:a16="http://schemas.microsoft.com/office/drawing/2014/main" val="20002"/>
                    </a:ext>
                  </a:extLst>
                </a:gridCol>
              </a:tblGrid>
              <a:tr h="419100">
                <a:tc>
                  <a:txBody>
                    <a:bodyPr/>
                    <a:lstStyle/>
                    <a:p>
                      <a:r>
                        <a:rPr sz="1350" b="1">
                          <a:solidFill>
                            <a:srgbClr val="0A2373"/>
                          </a:solidFill>
                          <a:latin typeface="Lato"/>
                          <a:ea typeface="Lato"/>
                          <a:cs typeface="Lato"/>
                        </a:rPr>
                        <a:t>SITUATION | The market and its drivers</a:t>
                      </a:r>
                    </a:p>
                  </a:txBody>
                  <a:tcPr>
                    <a:solidFill>
                      <a:srgbClr val="FFFFFF"/>
                    </a:solidFill>
                  </a:tcPr>
                </a:tc>
                <a:tc>
                  <a:txBody>
                    <a:bodyPr/>
                    <a:lstStyle/>
                    <a:p>
                      <a:r>
                        <a:rPr sz="1350" b="1">
                          <a:solidFill>
                            <a:srgbClr val="0A2373"/>
                          </a:solidFill>
                          <a:latin typeface="Lato"/>
                          <a:ea typeface="Lato"/>
                          <a:cs typeface="Lato"/>
                        </a:rPr>
                        <a:t>COMPLICATION | Trends begin to reverse</a:t>
                      </a:r>
                    </a:p>
                  </a:txBody>
                  <a:tcPr>
                    <a:solidFill>
                      <a:srgbClr val="FFFFFF"/>
                    </a:solidFill>
                  </a:tcPr>
                </a:tc>
                <a:tc>
                  <a:txBody>
                    <a:bodyPr/>
                    <a:lstStyle/>
                    <a:p>
                      <a:r>
                        <a:rPr sz="1350" b="1">
                          <a:solidFill>
                            <a:srgbClr val="0A2373"/>
                          </a:solidFill>
                          <a:latin typeface="Lato"/>
                          <a:ea typeface="Lato"/>
                          <a:cs typeface="Lato"/>
                        </a:rPr>
                        <a:t>RESOLUTION | Vopak’s outlook</a:t>
                      </a:r>
                    </a:p>
                  </a:txBody>
                  <a:tcPr>
                    <a:solidFill>
                      <a:srgbClr val="FFFFFF"/>
                    </a:solidFill>
                  </a:tcPr>
                </a:tc>
                <a:extLst>
                  <a:ext uri="{0D108BD9-81ED-4DB2-BD59-A6C34878D82A}">
                    <a16:rowId xmlns:a16="http://schemas.microsoft.com/office/drawing/2014/main" val="10000"/>
                  </a:ext>
                </a:extLst>
              </a:tr>
              <a:tr h="3219450">
                <a:tc>
                  <a:txBody>
                    <a:bodyPr/>
                    <a:lstStyle/>
                    <a:p>
                      <a:r>
                        <a:rPr sz="1350" b="0">
                          <a:solidFill>
                            <a:srgbClr val="11151A"/>
                          </a:solidFill>
                          <a:latin typeface="Lato"/>
                          <a:ea typeface="Lato"/>
                          <a:cs typeface="Lato"/>
                        </a:rPr>
                        <a:t>Outline South African demand development and Vopak’s market of interest: eastern South Africa within economic reach of its storage infrastructure and NMPP.</a:t>
                      </a:r>
                    </a:p>
                    <a:p>
                      <a:endParaRPr sz="1350" b="0">
                        <a:solidFill>
                          <a:srgbClr val="11151A"/>
                        </a:solidFill>
                        <a:latin typeface="Lato"/>
                        <a:ea typeface="Lato"/>
                        <a:cs typeface="Lato"/>
                      </a:endParaRPr>
                    </a:p>
                    <a:p>
                      <a:r>
                        <a:rPr sz="1350" b="0">
                          <a:solidFill>
                            <a:srgbClr val="11151A"/>
                          </a:solidFill>
                          <a:latin typeface="Lato"/>
                          <a:ea typeface="Lato"/>
                          <a:cs typeface="Lato"/>
                        </a:rPr>
                        <a:t>Explain the demand drivers: greater diesel use in power generation; rail to road; fuel prices; more efficient vehicles; and slow GDP growth.</a:t>
                      </a:r>
                    </a:p>
                    <a:p>
                      <a:endParaRPr sz="1350" b="0">
                        <a:solidFill>
                          <a:srgbClr val="11151A"/>
                        </a:solidFill>
                        <a:latin typeface="Lato"/>
                        <a:ea typeface="Lato"/>
                        <a:cs typeface="Lato"/>
                      </a:endParaRPr>
                    </a:p>
                    <a:p>
                      <a:r>
                        <a:rPr sz="1350" b="0">
                          <a:solidFill>
                            <a:srgbClr val="11151A"/>
                          </a:solidFill>
                          <a:latin typeface="Lato"/>
                          <a:ea typeface="Lato"/>
                          <a:cs typeface="Lato"/>
                        </a:rPr>
                        <a:t>Outline the supply picture: refinery closures, challenges at Secunda and closure of Mossgas. Show growth in imports and where they enter.</a:t>
                      </a:r>
                    </a:p>
                  </a:txBody>
                  <a:tcPr>
                    <a:solidFill>
                      <a:srgbClr val="FFFFFF"/>
                    </a:solidFill>
                  </a:tcPr>
                </a:tc>
                <a:tc>
                  <a:txBody>
                    <a:bodyPr/>
                    <a:lstStyle/>
                    <a:p>
                      <a:r>
                        <a:rPr sz="1350" b="0">
                          <a:solidFill>
                            <a:srgbClr val="11151A"/>
                          </a:solidFill>
                          <a:latin typeface="Lato"/>
                          <a:ea typeface="Lato"/>
                          <a:cs typeface="Lato"/>
                        </a:rPr>
                        <a:t>A number of trends that supported demand growth have started to reverse: road to rail; the end of loadshedding and spare generation capacity; EVs/HEVs; and higher fuel prices affecting kilometres travelled.</a:t>
                      </a:r>
                    </a:p>
                    <a:p>
                      <a:endParaRPr sz="1350" b="0">
                        <a:solidFill>
                          <a:srgbClr val="11151A"/>
                        </a:solidFill>
                        <a:latin typeface="Lato"/>
                        <a:ea typeface="Lato"/>
                        <a:cs typeface="Lato"/>
                      </a:endParaRPr>
                    </a:p>
                    <a:p>
                      <a:r>
                        <a:rPr sz="1350" b="0">
                          <a:solidFill>
                            <a:srgbClr val="11151A"/>
                          </a:solidFill>
                          <a:latin typeface="Lato"/>
                          <a:ea typeface="Lato"/>
                          <a:cs typeface="Lato"/>
                        </a:rPr>
                        <a:t>Explore supply changes: a SAPREF restart; Secunda’s coal-derived gas, MRG sales and potential extension to 2032; and Natref’s future.</a:t>
                      </a:r>
                    </a:p>
                    <a:p>
                      <a:endParaRPr sz="1350" b="0">
                        <a:solidFill>
                          <a:srgbClr val="11151A"/>
                        </a:solidFill>
                        <a:latin typeface="Lato"/>
                        <a:ea typeface="Lato"/>
                        <a:cs typeface="Lato"/>
                      </a:endParaRPr>
                    </a:p>
                    <a:p>
                      <a:r>
                        <a:rPr sz="1350" b="0">
                          <a:solidFill>
                            <a:srgbClr val="11151A"/>
                          </a:solidFill>
                          <a:latin typeface="Lato"/>
                          <a:ea typeface="Lato"/>
                          <a:cs typeface="Lato"/>
                        </a:rPr>
                        <a:t>Compare Durban storage–NMPP–Lesedi with road/rail from Durban, transport from Matola and transport from Walvis Bay.</a:t>
                      </a:r>
                    </a:p>
                  </a:txBody>
                  <a:tcPr>
                    <a:solidFill>
                      <a:srgbClr val="FFFFFF"/>
                    </a:solidFill>
                  </a:tcPr>
                </a:tc>
                <a:tc>
                  <a:txBody>
                    <a:bodyPr/>
                    <a:lstStyle/>
                    <a:p>
                      <a:r>
                        <a:rPr sz="1350" b="0">
                          <a:solidFill>
                            <a:srgbClr val="11151A"/>
                          </a:solidFill>
                          <a:latin typeface="Lato"/>
                          <a:ea typeface="Lato"/>
                          <a:cs typeface="Lato"/>
                        </a:rPr>
                        <a:t>Market share of Vopak in Durban and Lesedi</a:t>
                      </a:r>
                    </a:p>
                    <a:p>
                      <a:endParaRPr sz="1350" b="0">
                        <a:solidFill>
                          <a:srgbClr val="11151A"/>
                        </a:solidFill>
                        <a:latin typeface="Lato"/>
                        <a:ea typeface="Lato"/>
                        <a:cs typeface="Lato"/>
                      </a:endParaRPr>
                    </a:p>
                    <a:p>
                      <a:r>
                        <a:rPr sz="1350" b="0">
                          <a:solidFill>
                            <a:srgbClr val="11151A"/>
                          </a:solidFill>
                          <a:latin typeface="Lato"/>
                          <a:ea typeface="Lato"/>
                          <a:cs typeface="Lato"/>
                        </a:rPr>
                        <a:t>Potential scope for new investment?</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5002"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2019262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rmAutofit/>
          </a:bodyPr>
          <a:lstStyle/>
          <a:p>
            <a:r>
              <a:rPr>
                <a:solidFill>
                  <a:schemeClr val="dk1"/>
                </a:solidFill>
                <a:latin typeface="Lato"/>
                <a:ea typeface="Lato"/>
                <a:cs typeface="Lato"/>
              </a:rPr>
              <a:t>South Africa’s fuel outlook and Vopak’s investment case</a:t>
            </a: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a:t>
            </a:r>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172199"/>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Partner SCR: Henry storyboard, 6 Oct. Evidence: pp8–17 and 21–35; capture assumptions: p36; investment sensitivities: pp40–44. Years and scopes differ; capture is illustrative.</a:t>
            </a:r>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60" name="Table 59"/>
          <p:cNvGraphicFramePr/>
          <p:nvPr/>
        </p:nvGraphicFramePr>
        <p:xfrm>
          <a:off x="457200" y="1647825"/>
          <a:ext cx="10648950" cy="3638550"/>
        </p:xfrm>
        <a:graphic>
          <a:graphicData uri="http://schemas.openxmlformats.org/drawingml/2006/table">
            <a:tbl>
              <a:tblPr/>
              <a:tblGrid>
                <a:gridCol w="3549968">
                  <a:extLst>
                    <a:ext uri="{9D8B030D-6E8A-4147-A177-3AD203B41FA5}">
                      <a16:colId xmlns:a16="http://schemas.microsoft.com/office/drawing/2014/main" val="20000"/>
                    </a:ext>
                  </a:extLst>
                </a:gridCol>
                <a:gridCol w="3549968">
                  <a:extLst>
                    <a:ext uri="{9D8B030D-6E8A-4147-A177-3AD203B41FA5}">
                      <a16:colId xmlns:a16="http://schemas.microsoft.com/office/drawing/2014/main" val="20001"/>
                    </a:ext>
                  </a:extLst>
                </a:gridCol>
                <a:gridCol w="3549015">
                  <a:extLst>
                    <a:ext uri="{9D8B030D-6E8A-4147-A177-3AD203B41FA5}">
                      <a16:colId xmlns:a16="http://schemas.microsoft.com/office/drawing/2014/main" val="20002"/>
                    </a:ext>
                  </a:extLst>
                </a:gridCol>
              </a:tblGrid>
              <a:tr h="419100">
                <a:tc>
                  <a:txBody>
                    <a:bodyPr/>
                    <a:lstStyle/>
                    <a:p>
                      <a:r>
                        <a:rPr sz="1350" b="1">
                          <a:solidFill>
                            <a:srgbClr val="0A2373"/>
                          </a:solidFill>
                          <a:latin typeface="Lato"/>
                          <a:ea typeface="Lato"/>
                          <a:cs typeface="Lato"/>
                        </a:rPr>
                        <a:t>SITUATION | An established import market</a:t>
                      </a:r>
                    </a:p>
                  </a:txBody>
                  <a:tcPr>
                    <a:solidFill>
                      <a:srgbClr val="FFFFFF"/>
                    </a:solidFill>
                  </a:tcPr>
                </a:tc>
                <a:tc>
                  <a:txBody>
                    <a:bodyPr/>
                    <a:lstStyle/>
                    <a:p>
                      <a:r>
                        <a:rPr sz="1350" b="1">
                          <a:solidFill>
                            <a:srgbClr val="0A2373"/>
                          </a:solidFill>
                          <a:latin typeface="Lato"/>
                          <a:ea typeface="Lato"/>
                          <a:cs typeface="Lato"/>
                        </a:rPr>
                        <a:t>COMPLICATION | The outlook is changing</a:t>
                      </a:r>
                    </a:p>
                  </a:txBody>
                  <a:tcPr>
                    <a:solidFill>
                      <a:srgbClr val="FFFFFF"/>
                    </a:solidFill>
                  </a:tcPr>
                </a:tc>
                <a:tc>
                  <a:txBody>
                    <a:bodyPr/>
                    <a:lstStyle/>
                    <a:p>
                      <a:r>
                        <a:rPr sz="1350" b="1">
                          <a:solidFill>
                            <a:srgbClr val="0A2373"/>
                          </a:solidFill>
                          <a:latin typeface="Lato"/>
                          <a:ea typeface="Lato"/>
                          <a:cs typeface="Lato"/>
                        </a:rPr>
                        <a:t>RESOLUTION | Capture before expansion</a:t>
                      </a:r>
                    </a:p>
                  </a:txBody>
                  <a:tcPr>
                    <a:solidFill>
                      <a:srgbClr val="FFFFFF"/>
                    </a:solidFill>
                  </a:tcPr>
                </a:tc>
                <a:extLst>
                  <a:ext uri="{0D108BD9-81ED-4DB2-BD59-A6C34878D82A}">
                    <a16:rowId xmlns:a16="http://schemas.microsoft.com/office/drawing/2014/main" val="10000"/>
                  </a:ext>
                </a:extLst>
              </a:tr>
              <a:tr h="3219450">
                <a:tc>
                  <a:txBody>
                    <a:bodyPr/>
                    <a:lstStyle/>
                    <a:p>
                      <a:r>
                        <a:rPr sz="1350" b="0">
                          <a:solidFill>
                            <a:srgbClr val="11151A"/>
                          </a:solidFill>
                          <a:latin typeface="Lato"/>
                          <a:ea typeface="Lato"/>
                          <a:cs typeface="Lato"/>
                        </a:rPr>
                        <a:t>Demand remains substantial: 21.94bn litres of petrol and diesel sold in 2023. Petrol declined over 2013–2023 while diesel grew slowly.</a:t>
                      </a:r>
                    </a:p>
                    <a:p>
                      <a:endParaRPr sz="1350" b="0">
                        <a:solidFill>
                          <a:srgbClr val="11151A"/>
                        </a:solidFill>
                        <a:latin typeface="Lato"/>
                        <a:ea typeface="Lato"/>
                        <a:cs typeface="Lato"/>
                      </a:endParaRPr>
                    </a:p>
                    <a:p>
                      <a:r>
                        <a:rPr sz="1350" b="0">
                          <a:solidFill>
                            <a:srgbClr val="11151A"/>
                          </a:solidFill>
                          <a:latin typeface="Lato"/>
                          <a:ea typeface="Lato"/>
                          <a:cs typeface="Lato"/>
                        </a:rPr>
                        <a:t>Refinery closures increased import dependence. In 2025, gross imports reached 16.70bn litres; Durban customs accounted for 13.16bn litres.</a:t>
                      </a:r>
                    </a:p>
                    <a:p>
                      <a:endParaRPr sz="1350" b="0">
                        <a:solidFill>
                          <a:srgbClr val="11151A"/>
                        </a:solidFill>
                        <a:latin typeface="Lato"/>
                        <a:ea typeface="Lato"/>
                        <a:cs typeface="Lato"/>
                      </a:endParaRPr>
                    </a:p>
                    <a:p>
                      <a:r>
                        <a:rPr sz="1350" b="0">
                          <a:solidFill>
                            <a:srgbClr val="11151A"/>
                          </a:solidFill>
                          <a:latin typeface="Lato"/>
                          <a:ea typeface="Lato"/>
                          <a:cs typeface="Lato"/>
                        </a:rPr>
                        <a:t>Durban–NMPP–Lesedi connects imports to inland customers. Gauteng’s 6.81bn-litre demand provides context (2022); delivered cost and access define Vopak’s reachable market.</a:t>
                      </a:r>
                    </a:p>
                  </a:txBody>
                  <a:tcPr>
                    <a:solidFill>
                      <a:srgbClr val="FFFFFF"/>
                    </a:solidFill>
                  </a:tcPr>
                </a:tc>
                <a:tc>
                  <a:txBody>
                    <a:bodyPr/>
                    <a:lstStyle/>
                    <a:p>
                      <a:r>
                        <a:rPr sz="1350" b="0">
                          <a:solidFill>
                            <a:srgbClr val="11151A"/>
                          </a:solidFill>
                          <a:latin typeface="Lato"/>
                          <a:ea typeface="Lato"/>
                          <a:cs typeface="Lato"/>
                        </a:rPr>
                        <a:t>Demand drivers can reverse. Eskom’s own OCGT fuel use fell 40% in FY2025. Rail recovery, EVs/HEVs and efficiency affect fuel demand; GDP and fuel prices affect activity and travel.</a:t>
                      </a:r>
                    </a:p>
                    <a:p>
                      <a:endParaRPr sz="1350" b="0">
                        <a:solidFill>
                          <a:srgbClr val="11151A"/>
                        </a:solidFill>
                        <a:latin typeface="Lato"/>
                        <a:ea typeface="Lato"/>
                        <a:cs typeface="Lato"/>
                      </a:endParaRPr>
                    </a:p>
                    <a:p>
                      <a:r>
                        <a:rPr sz="1350" b="0">
                          <a:solidFill>
                            <a:srgbClr val="11151A"/>
                          </a:solidFill>
                          <a:latin typeface="Lato"/>
                          <a:ea typeface="Lato"/>
                          <a:cs typeface="Lato"/>
                        </a:rPr>
                        <a:t>Domestic supply can change. SAPREF, Secunda’s gas/MRG choices and Natref require dated output scenarios; refinery capacity alone cannot determine imports.</a:t>
                      </a:r>
                    </a:p>
                    <a:p>
                      <a:endParaRPr sz="1350" b="0">
                        <a:solidFill>
                          <a:srgbClr val="11151A"/>
                        </a:solidFill>
                        <a:latin typeface="Lato"/>
                        <a:ea typeface="Lato"/>
                        <a:cs typeface="Lato"/>
                      </a:endParaRPr>
                    </a:p>
                    <a:p>
                      <a:r>
                        <a:rPr sz="1350" b="0">
                          <a:solidFill>
                            <a:srgbClr val="11151A"/>
                          </a:solidFill>
                          <a:latin typeface="Lato"/>
                          <a:ea typeface="Lato"/>
                          <a:cs typeface="Lato"/>
                        </a:rPr>
                        <a:t>Vopak’s route must compete with road/rail from Durban and supply via Matola or Walvis Bay on delivered cost, access and reliability.</a:t>
                      </a:r>
                    </a:p>
                  </a:txBody>
                  <a:tcPr>
                    <a:solidFill>
                      <a:srgbClr val="FFFFFF"/>
                    </a:solidFill>
                  </a:tcPr>
                </a:tc>
                <a:tc>
                  <a:txBody>
                    <a:bodyPr/>
                    <a:lstStyle/>
                    <a:p>
                      <a:r>
                        <a:rPr sz="1350" b="0">
                          <a:solidFill>
                            <a:srgbClr val="11151A"/>
                          </a:solidFill>
                          <a:latin typeface="Lato"/>
                          <a:ea typeface="Lato"/>
                          <a:cs typeface="Lato"/>
                        </a:rPr>
                        <a:t>Establish Vopak’s current share and additional capture by product, customer and destination. Reconcile shared Durban–Lesedi transfers to count unique demand once.</a:t>
                      </a:r>
                    </a:p>
                    <a:p>
                      <a:endParaRPr sz="1350" b="0">
                        <a:solidFill>
                          <a:srgbClr val="11151A"/>
                        </a:solidFill>
                        <a:latin typeface="Lato"/>
                        <a:ea typeface="Lato"/>
                        <a:cs typeface="Lato"/>
                      </a:endParaRPr>
                    </a:p>
                    <a:p>
                      <a:r>
                        <a:rPr sz="1350" b="0">
                          <a:solidFill>
                            <a:srgbClr val="11151A"/>
                          </a:solidFill>
                          <a:latin typeface="Lato"/>
                          <a:ea typeface="Lato"/>
                          <a:cs typeface="Lato"/>
                        </a:rPr>
                        <a:t>The new illustrative base gives Durban 2.63bn litres, including 1.32bn through Lesedi. It assumes 20% import capture and 50% onward routing; actual share remains open.</a:t>
                      </a:r>
                    </a:p>
                    <a:p>
                      <a:endParaRPr sz="1350" b="0">
                        <a:solidFill>
                          <a:srgbClr val="11151A"/>
                        </a:solidFill>
                        <a:latin typeface="Lato"/>
                        <a:ea typeface="Lato"/>
                        <a:cs typeface="Lato"/>
                      </a:endParaRPr>
                    </a:p>
                    <a:p>
                      <a:r>
                        <a:rPr sz="1350" b="0">
                          <a:solidFill>
                            <a:srgbClr val="11151A"/>
                          </a:solidFill>
                          <a:latin typeface="Lato"/>
                          <a:ea typeface="Lato"/>
                          <a:cs typeface="Lato"/>
                        </a:rPr>
                        <a:t>Test working tanks, turns and dispatch first. New investment depends on secured incremental flows, a capacity shortfall and returns that withstand downside cases.</a:t>
                      </a:r>
                    </a:p>
                  </a:txBody>
                  <a:tcPr>
                    <a:solidFill>
                      <a:srgbClr val="FFFFFF"/>
                    </a:solidFill>
                  </a:tcPr>
                </a:tc>
                <a:extLst>
                  <a:ext uri="{0D108BD9-81ED-4DB2-BD59-A6C34878D82A}">
                    <a16:rowId xmlns:a16="http://schemas.microsoft.com/office/drawing/2014/main" val="10001"/>
                  </a:ext>
                </a:extLst>
              </a:tr>
            </a:tbl>
          </a:graphicData>
        </a:graphic>
      </p:graphicFrame>
      <p:sp>
        <p:nvSpPr>
          <p:cNvPr id="50" name="SCR progress">
            <a:extLst>
              <a:ext uri="{FF2B5EF4-FFF2-40B4-BE49-F238E27FC236}">
                <a16:creationId xmlns:a16="http://schemas.microsoft.com/office/drawing/2014/main" id="{1784CF31-F6F2-48AC-AB61-B6137D096370}"/>
              </a:ext>
            </a:extLst>
          </p:cNvPr>
          <p:cNvSpPr>
            <a:spLocks noGrp="1"/>
          </p:cNvSpPr>
          <p:nvPr/>
        </p:nvSpPr>
        <p:spPr>
          <a:xfrm>
            <a:off x="457200" y="5562600"/>
            <a:ext cx="10648950" cy="523875"/>
          </a:xfrm>
          <a:prstGeom prst="rect">
            <a:avLst/>
          </a:prstGeom>
          <a:noFill/>
          <a:ln w="0">
            <a:noFill/>
          </a:ln>
        </p:spPr>
        <p:txBody>
          <a:bodyPr>
            <a:noAutofit/>
          </a:bodyPr>
          <a:lstStyle/>
          <a:p>
            <a:pPr>
              <a:buNone/>
              <a:defRPr sz="1275">
                <a:solidFill>
                  <a:srgbClr val="0A2373"/>
                </a:solidFill>
                <a:latin typeface="Lato"/>
                <a:ea typeface="Lato"/>
                <a:cs typeface="Lato"/>
              </a:defRPr>
            </a:pPr>
            <a:r>
              <a:rPr sz="1275">
                <a:solidFill>
                  <a:srgbClr val="0A2373"/>
                </a:solidFill>
                <a:latin typeface="Lato"/>
                <a:ea typeface="Lato"/>
                <a:cs typeface="Lato"/>
              </a:rPr>
              <a:t>Progress: demand, port imports and operating evidence are assembled; capture cases and investment sensitivities are quantified. Next: validate customer flows, route economics and usable capacity.</a:t>
            </a:r>
          </a:p>
        </p:txBody>
      </p:sp>
      <p:graphicFrame>
        <p:nvGraphicFramePr>
          <p:cNvPr id="5003"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2019262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rmAutofit/>
          </a:bodyPr>
          <a:lstStyle/>
          <a:p>
            <a:r>
              <a:rPr sz="2300">
                <a:solidFill>
                  <a:schemeClr val="dk1"/>
                </a:solidFill>
                <a:latin typeface="Lato"/>
                <a:ea typeface="Lato"/>
                <a:cs typeface="Lato"/>
              </a:rPr>
              <a:t>Import dependence supports the terminal opportunity, while customer access determines Vopak capture</a:t>
            </a: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4</a:t>
            </a:r>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Department sales 2023; SARS customs 2025. Transnet Pipelines 2025 p8. Capture screen: 20% gateway share, 50% routed through Lesedi, two turns/month. Conditional illustration, no customer commitment.</a:t>
            </a:r>
          </a:p>
        </p:txBody>
      </p:sp>
      <p:graphicFrame>
        <p:nvGraphicFramePr>
          <p:cNvPr id="57"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Baseline / reference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the evidence establishes</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outlook</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Fuel demand
and power</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2023 Department sales: 21.94bn L.
Petrol CAGR -2.08%; diesel +0.82%.
Own Eskom fuel fell 40% in FY2025.</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Sector activity, fleet replacement and
power dispatch change fuel use.
2024 sales remain unverified.</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Domestic supply
and imports</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gross imports: 16.70bn L.
Net imports: 15.15bn L.
Durban customs: 13.16bn L (79%).</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and PetroSA restart paths,
Secunda gas/MRG and Natref output
can change domestic supply.</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Corridor position
and tank turnover</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Shared MPP pipeline: 105 / 148ML
per week in FY2025, 70.9% used.
Vopak access remains unverified.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 costs, access and customer
capture determine flow; achievable
turnover determines handling headroom.</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Capture sensitivity
and nine worlds</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Base capture screen: Durban 2.63bn L;
Lesedi 1.32bn L within that flow.
Assumed shares, not measured volumes.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Capture cases are shown on p36.
The nine-world investment illustration
uses separate capture assumptions.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63" name="Picture 13"/>
          <p:cNvPicPr>
            <a:picLocks noChangeAspect="1"/>
          </p:cNvPicPr>
          <p:nvPr/>
        </p:nvPicPr>
        <p:blipFill>
          <a:blip r:embed="rId3"/>
          <a:stretch>
            <a:fillRect/>
          </a:stretch>
        </p:blipFill>
        <p:spPr>
          <a:xfrm>
            <a:off x="508000" y="2120900"/>
            <a:ext cx="317500" cy="317500"/>
          </a:xfrm>
          <a:prstGeom prst="rect">
            <a:avLst/>
          </a:prstGeom>
        </p:spPr>
      </p:pic>
      <p:pic>
        <p:nvPicPr>
          <p:cNvPr id="64" name="Picture 15"/>
          <p:cNvPicPr>
            <a:picLocks noChangeAspect="1"/>
          </p:cNvPicPr>
          <p:nvPr/>
        </p:nvPicPr>
        <p:blipFill>
          <a:blip r:embed="rId4"/>
          <a:stretch>
            <a:fillRect/>
          </a:stretch>
        </p:blipFill>
        <p:spPr>
          <a:xfrm>
            <a:off x="508000" y="3143250"/>
            <a:ext cx="317500" cy="317500"/>
          </a:xfrm>
          <a:prstGeom prst="rect">
            <a:avLst/>
          </a:prstGeom>
        </p:spPr>
      </p:pic>
      <p:pic>
        <p:nvPicPr>
          <p:cNvPr id="65" name="Picture 17"/>
          <p:cNvPicPr>
            <a:picLocks noChangeAspect="1"/>
          </p:cNvPicPr>
          <p:nvPr/>
        </p:nvPicPr>
        <p:blipFill>
          <a:blip r:embed="rId5"/>
          <a:stretch>
            <a:fillRect/>
          </a:stretch>
        </p:blipFill>
        <p:spPr>
          <a:xfrm>
            <a:off x="508000" y="4165600"/>
            <a:ext cx="317500" cy="317500"/>
          </a:xfrm>
          <a:prstGeom prst="rect">
            <a:avLst/>
          </a:prstGeom>
        </p:spPr>
      </p:pic>
      <p:pic>
        <p:nvPicPr>
          <p:cNvPr id="66" name="Picture 19"/>
          <p:cNvPicPr>
            <a:picLocks noChangeAspect="1"/>
          </p:cNvPicPr>
          <p:nvPr/>
        </p:nvPicPr>
        <p:blipFill>
          <a:blip r:embed="rId6"/>
          <a:stretch>
            <a:fillRect/>
          </a:stretch>
        </p:blipFill>
        <p:spPr>
          <a:xfrm>
            <a:off x="508000" y="5187950"/>
            <a:ext cx="317500" cy="317500"/>
          </a:xfrm>
          <a:prstGeom prst="rect">
            <a:avLst/>
          </a:prstGeom>
        </p:spPr>
      </p:pic>
      <p:graphicFrame>
        <p:nvGraphicFramePr>
          <p:cNvPr id="5004"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r:dm="rIdSmartArt7" r:lo="rIdSmartArt8" r:qs="rIdSmartArt9" r:cs="rIdSmartArt10"/>
          </a:graphicData>
        </a:graphic>
      </p:graphicFrame>
    </p:spTree>
    <p:extLst>
      <p:ext uri="{BB962C8B-B14F-4D97-AF65-F5344CB8AC3E}">
        <p14:creationId xmlns:p14="http://schemas.microsoft.com/office/powerpoint/2010/main" val="788485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78F9-F6DF-4CA1-9254-116BDF04742E}"/>
              </a:ext>
            </a:extLst>
          </p:cNvPr>
          <p:cNvSpPr>
            <a:spLocks noGrp="1"/>
          </p:cNvSpPr>
          <p:nvPr>
            <p:ph type="title"/>
          </p:nvPr>
        </p:nvSpPr>
        <p:spPr/>
        <p:txBody>
          <a:bodyPr>
            <a:normAutofit/>
          </a:bodyPr>
          <a:lstStyle/>
          <a:p>
            <a:r>
              <a:rPr sz="2300">
                <a:solidFill>
                  <a:schemeClr val="dk1"/>
                </a:solidFill>
                <a:latin typeface="Lato"/>
                <a:ea typeface="Lato"/>
                <a:cs typeface="Lato"/>
              </a:rPr>
              <a:t>Existing assets provide the starting point for capturing demand and testing expansion</a:t>
            </a:r>
          </a:p>
        </p:txBody>
      </p:sp>
      <p:sp>
        <p:nvSpPr>
          <p:cNvPr id="3" name="Slide Number Placeholder">
            <a:extLst>
              <a:ext uri="{FF2B5EF4-FFF2-40B4-BE49-F238E27FC236}">
                <a16:creationId xmlns:a16="http://schemas.microsoft.com/office/drawing/2014/main" id="{B564B9E2-E701-4097-A4BC-909A5DF28425}"/>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5</a:t>
            </a:r>
          </a:p>
        </p:txBody>
      </p:sp>
      <p:sp>
        <p:nvSpPr>
          <p:cNvPr id="8" name="Unified source footer">
            <a:extLst>
              <a:ext uri="{FF2B5EF4-FFF2-40B4-BE49-F238E27FC236}">
                <a16:creationId xmlns:a16="http://schemas.microsoft.com/office/drawing/2014/main" id="{3196C3B8-4C77-4179-862C-1389A89AF983}"/>
              </a:ext>
            </a:extLst>
          </p:cNvPr>
          <p:cNvSpPr>
            <a:spLocks noGrp="1"/>
          </p:cNvSpPr>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Working recommendation supported by an authored Lesedi illustration, not a calibrated forecast. Reported capacity is used; capture, working capacity, tariffs, capex and discount rate are assumptions. No customer volume is represented as secured.</a:t>
            </a:r>
          </a:p>
        </p:txBody>
      </p:sp>
      <p:graphicFrame>
        <p:nvGraphicFramePr>
          <p:cNvPr id="61"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Working recommendation</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logic</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Condition for commitment</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Capture inland
supply</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Win accessible customer flows from imported and domestic sources.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Prove delivered competitiveness and sufficient customer volume.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Use existing
assets first</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The worked illustration favours existing assets in six worlds; access/dispatch improvement in two.</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working capacity and the actual operating constraint.</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Stage corridor
and capacity spend</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demand / low domestic supply favours extra tanks in the illustration. Working-capacity assumptions materially affect its value.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Fund the least-cost viable option that removes the proven constraint.</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Keep strategic
options open</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all nine worlds and emerging gateways; screen EV adjacencies separately.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Validate capture, chargeable revenues and capex. The illustrated tank choice reverses in the downside tests.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8EBB3CD0-57E6-4B7B-9657-2FDA673E4EEC}"/>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67" name="Picture 13"/>
          <p:cNvPicPr>
            <a:picLocks noChangeAspect="1"/>
          </p:cNvPicPr>
          <p:nvPr/>
        </p:nvPicPr>
        <p:blipFill>
          <a:blip r:embed="rId3"/>
          <a:stretch>
            <a:fillRect/>
          </a:stretch>
        </p:blipFill>
        <p:spPr>
          <a:xfrm>
            <a:off x="508000" y="2120900"/>
            <a:ext cx="317500" cy="317500"/>
          </a:xfrm>
          <a:prstGeom prst="rect">
            <a:avLst/>
          </a:prstGeom>
        </p:spPr>
      </p:pic>
      <p:pic>
        <p:nvPicPr>
          <p:cNvPr id="68" name="Picture 15"/>
          <p:cNvPicPr>
            <a:picLocks noChangeAspect="1"/>
          </p:cNvPicPr>
          <p:nvPr/>
        </p:nvPicPr>
        <p:blipFill>
          <a:blip r:embed="rId4"/>
          <a:stretch>
            <a:fillRect/>
          </a:stretch>
        </p:blipFill>
        <p:spPr>
          <a:xfrm>
            <a:off x="508000" y="3143250"/>
            <a:ext cx="317500" cy="317500"/>
          </a:xfrm>
          <a:prstGeom prst="rect">
            <a:avLst/>
          </a:prstGeom>
        </p:spPr>
      </p:pic>
      <p:pic>
        <p:nvPicPr>
          <p:cNvPr id="69" name="Picture 17"/>
          <p:cNvPicPr>
            <a:picLocks noChangeAspect="1"/>
          </p:cNvPicPr>
          <p:nvPr/>
        </p:nvPicPr>
        <p:blipFill>
          <a:blip r:embed="rId5"/>
          <a:stretch>
            <a:fillRect/>
          </a:stretch>
        </p:blipFill>
        <p:spPr>
          <a:xfrm>
            <a:off x="508000" y="4165600"/>
            <a:ext cx="317500" cy="317500"/>
          </a:xfrm>
          <a:prstGeom prst="rect">
            <a:avLst/>
          </a:prstGeom>
        </p:spPr>
      </p:pic>
      <p:pic>
        <p:nvPicPr>
          <p:cNvPr id="70" name="Picture 19"/>
          <p:cNvPicPr>
            <a:picLocks noChangeAspect="1"/>
          </p:cNvPicPr>
          <p:nvPr/>
        </p:nvPicPr>
        <p:blipFill>
          <a:blip r:embed="rId6"/>
          <a:stretch>
            <a:fillRect/>
          </a:stretch>
        </p:blipFill>
        <p:spPr>
          <a:xfrm>
            <a:off x="508000" y="5187950"/>
            <a:ext cx="317500" cy="317500"/>
          </a:xfrm>
          <a:prstGeom prst="rect">
            <a:avLst/>
          </a:prstGeom>
        </p:spPr>
      </p:pic>
      <p:pic>
        <p:nvPicPr>
          <p:cNvPr id="71" name="Argument icon ship"/>
          <p:cNvPicPr>
            <a:picLocks noChangeAspect="1"/>
          </p:cNvPicPr>
          <p:nvPr/>
        </p:nvPicPr>
        <p:blipFill>
          <a:blip r:embed="rId3"/>
          <a:stretch>
            <a:fillRect/>
          </a:stretch>
        </p:blipFill>
        <p:spPr>
          <a:xfrm>
            <a:off x="508000" y="2120900"/>
            <a:ext cx="317500" cy="317500"/>
          </a:xfrm>
          <a:prstGeom prst="rect">
            <a:avLst/>
          </a:prstGeom>
        </p:spPr>
      </p:pic>
      <p:pic>
        <p:nvPicPr>
          <p:cNvPr id="72" name="Argument icon route"/>
          <p:cNvPicPr>
            <a:picLocks noChangeAspect="1"/>
          </p:cNvPicPr>
          <p:nvPr/>
        </p:nvPicPr>
        <p:blipFill>
          <a:blip r:embed="rId4"/>
          <a:stretch>
            <a:fillRect/>
          </a:stretch>
        </p:blipFill>
        <p:spPr>
          <a:xfrm>
            <a:off x="508000" y="3143250"/>
            <a:ext cx="317500" cy="317500"/>
          </a:xfrm>
          <a:prstGeom prst="rect">
            <a:avLst/>
          </a:prstGeom>
        </p:spPr>
      </p:pic>
      <p:pic>
        <p:nvPicPr>
          <p:cNvPr id="73" name="Argument icon turns"/>
          <p:cNvPicPr>
            <a:picLocks noChangeAspect="1"/>
          </p:cNvPicPr>
          <p:nvPr/>
        </p:nvPicPr>
        <p:blipFill>
          <a:blip r:embed="rId5"/>
          <a:stretch>
            <a:fillRect/>
          </a:stretch>
        </p:blipFill>
        <p:spPr>
          <a:xfrm>
            <a:off x="508000" y="4165600"/>
            <a:ext cx="317500" cy="317500"/>
          </a:xfrm>
          <a:prstGeom prst="rect">
            <a:avLst/>
          </a:prstGeom>
        </p:spPr>
      </p:pic>
      <p:pic>
        <p:nvPicPr>
          <p:cNvPr id="74" name="Argument icon matrix"/>
          <p:cNvPicPr>
            <a:picLocks noChangeAspect="1"/>
          </p:cNvPicPr>
          <p:nvPr/>
        </p:nvPicPr>
        <p:blipFill>
          <a:blip r:embed="rId6"/>
          <a:stretch>
            <a:fillRect/>
          </a:stretch>
        </p:blipFill>
        <p:spPr>
          <a:xfrm>
            <a:off x="508000" y="5187950"/>
            <a:ext cx="317500" cy="317500"/>
          </a:xfrm>
          <a:prstGeom prst="rect">
            <a:avLst/>
          </a:prstGeom>
        </p:spPr>
      </p:pic>
      <p:graphicFrame>
        <p:nvGraphicFramePr>
          <p:cNvPr id="5005"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r:dm="rIdSmartArt7" r:lo="rIdSmartArt8" r:qs="rIdSmartArt9" r:cs="rIdSmartArt10"/>
          </a:graphicData>
        </a:graphic>
      </p:graphicFrame>
    </p:spTree>
    <p:extLst>
      <p:ext uri="{BB962C8B-B14F-4D97-AF65-F5344CB8AC3E}">
        <p14:creationId xmlns:p14="http://schemas.microsoft.com/office/powerpoint/2010/main" val="103035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68DDA-2FB2-498C-B0F0-3F50A81EAF5A}"/>
              </a:ext>
            </a:extLst>
          </p:cNvPr>
          <p:cNvSpPr>
            <a:spLocks noGrp="1"/>
          </p:cNvSpPr>
          <p:nvPr>
            <p:ph type="title"/>
          </p:nvPr>
        </p:nvSpPr>
        <p:spPr/>
        <p:txBody>
          <a:bodyPr>
            <a:normAutofit/>
          </a:bodyPr>
          <a:lstStyle/>
          <a:p>
            <a:r>
              <a:rPr sz="2300">
                <a:solidFill>
                  <a:schemeClr val="dk1"/>
                </a:solidFill>
                <a:latin typeface="Lato"/>
                <a:ea typeface="Lato"/>
                <a:cs typeface="Lato"/>
              </a:rPr>
              <a:t>The revised working-capacity assumption changes the illustrated expansion value</a:t>
            </a:r>
          </a:p>
        </p:txBody>
      </p:sp>
      <p:sp>
        <p:nvSpPr>
          <p:cNvPr id="3" name="Slide Number Placeholder">
            <a:extLst>
              <a:ext uri="{FF2B5EF4-FFF2-40B4-BE49-F238E27FC236}">
                <a16:creationId xmlns:a16="http://schemas.microsoft.com/office/drawing/2014/main" id="{161DCC61-7AD3-4B0F-8286-59851EBE0EE2}"/>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6</a:t>
            </a:r>
          </a:p>
        </p:txBody>
      </p:sp>
      <p:sp>
        <p:nvSpPr>
          <p:cNvPr id="8" name="Unified source footer">
            <a:extLst>
              <a:ext uri="{FF2B5EF4-FFF2-40B4-BE49-F238E27FC236}">
                <a16:creationId xmlns:a16="http://schemas.microsoft.com/office/drawing/2014/main" id="{6C049F97-8F1A-42D6-B947-BDE484068F94}"/>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ILLUSTRATIVE ONLY. Working tankage aligned to 124,000 m³. Difference was R8m at 126,000 m³; it is now R58m because the assumed rental allocation changes. Commercial terms and engineering remain unvalidated. Details pp40–43.</a:t>
            </a:r>
          </a:p>
        </p:txBody>
      </p:sp>
      <p:graphicFrame>
        <p:nvGraphicFramePr>
          <p:cNvPr id="57"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1778000">
                  <a:extLst>
                    <a:ext uri="{9D8B030D-6E8A-4147-A177-3AD203B41FA5}">
                      <a16:colId xmlns:a16="http://schemas.microsoft.com/office/drawing/2014/main" val="20000"/>
                    </a:ext>
                  </a:extLst>
                </a:gridCol>
                <a:gridCol w="2730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969260">
                  <a:extLst>
                    <a:ext uri="{9D8B030D-6E8A-4147-A177-3AD203B41FA5}">
                      <a16:colId xmlns:a16="http://schemas.microsoft.com/office/drawing/2014/main" val="20003"/>
                    </a:ext>
                  </a:extLst>
                </a:gridCol>
              </a:tblGrid>
              <a:tr h="355600">
                <a:tc>
                  <a:txBody>
                    <a:bodyPr/>
                    <a:lstStyle/>
                    <a:p>
                      <a:pPr>
                        <a:spcAft>
                          <a:spcPts val="0"/>
                        </a:spcAft>
                        <a:buNone/>
                      </a:pPr>
                      <a:r>
                        <a:rPr sz="1200" b="1" u="none">
                          <a:solidFill>
                            <a:schemeClr val="dk1"/>
                          </a:solidFill>
                          <a:latin typeface="Lato"/>
                          <a:ea typeface="Lato"/>
                          <a:cs typeface="Lato"/>
                        </a:rPr>
                        <a:t>Decision test</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Numeric condition</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ILLUSTRATIVE high / low case</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Still needs verification</a:t>
                      </a:r>
                    </a:p>
                  </a:txBody>
                  <a:tcPr marL="38100" marR="114300" marT="88900" marB="50800">
                    <a:lnB w="7620" cmpd="sng">
                      <a:solidFill>
                        <a:srgbClr val="EEEEEE"/>
                      </a:solidFill>
                      <a:prstDash val="solid"/>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200" b="1" u="none">
                          <a:solidFill>
                            <a:schemeClr val="dk1"/>
                          </a:solidFill>
                          <a:latin typeface="Lato"/>
                          <a:ea typeface="Lato"/>
                          <a:cs typeface="Lato"/>
                        </a:rPr>
                        <a:t>Customer
volume</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Tanks must outperform improving existing capacity.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Assumed capture 2.813bn L/year; tanks win above 2.765bn L/year.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No secured volumes inferred. Validate customer capture and contract duration.</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200" b="1" u="none">
                          <a:solidFill>
                            <a:schemeClr val="dk1"/>
                          </a:solidFill>
                          <a:latin typeface="Lato"/>
                          <a:ea typeface="Lato"/>
                          <a:cs typeface="Lato"/>
                        </a:rPr>
                        <a:t>Route
economics</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Delivered-cost headroom ≥ R0/m³.</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R750 allowable less R650 assumed logistics = R100/m³ headroom.</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Both prices are authored. Compare actual Durban, Maputo, Walvis Bay and domestic quotes.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200" b="1" u="none">
                          <a:solidFill>
                            <a:schemeClr val="dk1"/>
                          </a:solidFill>
                          <a:latin typeface="Lato"/>
                          <a:ea typeface="Lato"/>
                          <a:cs typeface="Lato"/>
                        </a:rPr>
                        <a:t>Capacity
constraint</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Captured flow exceeds achievable handling.</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Existing 1.860bn L/year; improvement 2.232bn; tanks 2.870bn.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estimate; 36,000 m³ estimated. Turns 1.25 / 1.50 remain assumptions.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200" b="1" u="none">
                          <a:solidFill>
                            <a:schemeClr val="dk1"/>
                          </a:solidFill>
                          <a:latin typeface="Lato"/>
                          <a:ea typeface="Lato"/>
                          <a:cs typeface="Lato"/>
                        </a:rPr>
                        <a:t>Incremental
return</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Positive NPV and better value than the alternative.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NPV R+24m; combined R+82m. Difference R58m.</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10% discount rate, 20 years, pre-tax. Actual tariffs, cost, tax and project schedule remain open.</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DDC08C4B-F80F-4A40-9A6B-8E1E4FB46FB3}"/>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63" name="Argument icon transport"/>
          <p:cNvPicPr>
            <a:picLocks noChangeAspect="1"/>
          </p:cNvPicPr>
          <p:nvPr/>
        </p:nvPicPr>
        <p:blipFill>
          <a:blip r:embed="rId3"/>
          <a:stretch>
            <a:fillRect/>
          </a:stretch>
        </p:blipFill>
        <p:spPr>
          <a:xfrm>
            <a:off x="508000" y="2120900"/>
            <a:ext cx="317500" cy="317500"/>
          </a:xfrm>
          <a:prstGeom prst="rect">
            <a:avLst/>
          </a:prstGeom>
        </p:spPr>
      </p:pic>
      <p:pic>
        <p:nvPicPr>
          <p:cNvPr id="64" name="Argument icon corridor"/>
          <p:cNvPicPr>
            <a:picLocks noChangeAspect="1"/>
          </p:cNvPicPr>
          <p:nvPr/>
        </p:nvPicPr>
        <p:blipFill>
          <a:blip r:embed="rId4"/>
          <a:stretch>
            <a:fillRect/>
          </a:stretch>
        </p:blipFill>
        <p:spPr>
          <a:xfrm>
            <a:off x="508000" y="3143250"/>
            <a:ext cx="317500" cy="317500"/>
          </a:xfrm>
          <a:prstGeom prst="rect">
            <a:avLst/>
          </a:prstGeom>
        </p:spPr>
      </p:pic>
      <p:pic>
        <p:nvPicPr>
          <p:cNvPr id="65" name="Argument icon supply"/>
          <p:cNvPicPr>
            <a:picLocks noChangeAspect="1"/>
          </p:cNvPicPr>
          <p:nvPr/>
        </p:nvPicPr>
        <p:blipFill>
          <a:blip r:embed="rId5"/>
          <a:stretch>
            <a:fillRect/>
          </a:stretch>
        </p:blipFill>
        <p:spPr>
          <a:xfrm>
            <a:off x="508000" y="4165600"/>
            <a:ext cx="317500" cy="317500"/>
          </a:xfrm>
          <a:prstGeom prst="rect">
            <a:avLst/>
          </a:prstGeom>
        </p:spPr>
      </p:pic>
      <p:pic>
        <p:nvPicPr>
          <p:cNvPr id="66" name="Argument icon investment"/>
          <p:cNvPicPr>
            <a:picLocks noChangeAspect="1"/>
          </p:cNvPicPr>
          <p:nvPr/>
        </p:nvPicPr>
        <p:blipFill>
          <a:blip r:embed="rId6"/>
          <a:stretch>
            <a:fillRect/>
          </a:stretch>
        </p:blipFill>
        <p:spPr>
          <a:xfrm>
            <a:off x="508000" y="5187950"/>
            <a:ext cx="317500" cy="317500"/>
          </a:xfrm>
          <a:prstGeom prst="rect">
            <a:avLst/>
          </a:prstGeom>
        </p:spPr>
      </p:pic>
      <p:graphicFrame>
        <p:nvGraphicFramePr>
          <p:cNvPr id="5006"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r:dm="rIdSmartArt7" r:lo="rIdSmartArt8" r:qs="rIdSmartArt9" r:cs="rIdSmartArt10"/>
          </a:graphicData>
        </a:graphic>
      </p:graphicFrame>
    </p:spTree>
    <p:extLst>
      <p:ext uri="{BB962C8B-B14F-4D97-AF65-F5344CB8AC3E}">
        <p14:creationId xmlns:p14="http://schemas.microsoft.com/office/powerpoint/2010/main" val="2455040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F7A8B-B46B-4276-81B9-76218F9F5087}"/>
              </a:ext>
            </a:extLst>
          </p:cNvPr>
          <p:cNvSpPr>
            <a:spLocks noGrp="1"/>
          </p:cNvSpPr>
          <p:nvPr>
            <p:ph type="title"/>
          </p:nvPr>
        </p:nvSpPr>
        <p:spPr/>
        <p:txBody>
          <a:bodyPr>
            <a:normAutofit/>
          </a:bodyPr>
          <a:lstStyle/>
          <a:p>
            <a:r>
              <a:rPr sz="2300">
                <a:solidFill>
                  <a:schemeClr val="dk1"/>
                </a:solidFill>
                <a:latin typeface="Lato"/>
                <a:ea typeface="Lato"/>
                <a:cs typeface="Lato"/>
              </a:rPr>
              <a:t>Only one illustrative world favours tanks; six favour existing assets and two favour improvement</a:t>
            </a:r>
          </a:p>
        </p:txBody>
      </p:sp>
      <p:sp>
        <p:nvSpPr>
          <p:cNvPr id="3" name="Slide Number Placeholder">
            <a:extLst>
              <a:ext uri="{FF2B5EF4-FFF2-40B4-BE49-F238E27FC236}">
                <a16:creationId xmlns:a16="http://schemas.microsoft.com/office/drawing/2014/main" id="{75BCE4E9-A59E-40B2-892F-B8DEF653050E}"/>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7</a:t>
            </a:r>
          </a:p>
        </p:txBody>
      </p:sp>
      <p:sp>
        <p:nvSpPr>
          <p:cNvPr id="8" name="Unified source footer">
            <a:extLst>
              <a:ext uri="{FF2B5EF4-FFF2-40B4-BE49-F238E27FC236}">
                <a16:creationId xmlns:a16="http://schemas.microsoft.com/office/drawing/2014/main" id="{A7CB78CE-CA3F-434B-8E23-7462E50E14A1}"/>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p42; downside: p43.</a:t>
            </a:r>
          </a:p>
        </p:txBody>
      </p:sp>
      <p:graphicFrame>
        <p:nvGraphicFramePr>
          <p:cNvPr id="53" name="Table 46"/>
          <p:cNvGraphicFramePr/>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0003"/>
                    </a:ext>
                  </a:extLst>
                </a:gridCol>
              </a:tblGrid>
              <a:tr h="508000">
                <a:tc>
                  <a:txBody>
                    <a:bodyPr/>
                    <a:lstStyle/>
                    <a:p>
                      <a:pPr>
                        <a:spcAft>
                          <a:spcPts val="0"/>
                        </a:spcAft>
                        <a:buNone/>
                      </a:pPr>
                      <a:r>
                        <a:rPr sz="1200" b="1" u="none">
                          <a:solidFill>
                            <a:schemeClr val="dk1"/>
                          </a:solidFill>
                          <a:latin typeface="Lato"/>
                          <a:ea typeface="Lato"/>
                          <a:cs typeface="Lato"/>
                        </a:rPr>
                        <a:t>Gauteng demand /
domestic supply</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HIGH deliveries
4.8bn L/year</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MEDIUM deliveries
3.6bn L/year</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LOW deliveries
2.4bn L/year</a:t>
                      </a:r>
                    </a:p>
                  </a:txBody>
                  <a:tcPr marL="38100" marR="114300" marT="88900" marB="50800">
                    <a:lnB w="7620" cmpd="sng">
                      <a:solidFill>
                        <a:srgbClr val="EEEEEE"/>
                      </a:solidFill>
                      <a:prstDash val="solid"/>
                    </a:lnB>
                    <a:solidFill>
                      <a:srgbClr val="FFFFFF"/>
                    </a:solidFill>
                  </a:tcPr>
                </a:tc>
                <a:extLst>
                  <a:ext uri="{0D108BD9-81ED-4DB2-BD59-A6C34878D82A}">
                    <a16:rowId xmlns:a16="http://schemas.microsoft.com/office/drawing/2014/main" val="10000"/>
                  </a:ext>
                </a:extLst>
              </a:tr>
              <a:tr h="1193800">
                <a:tc>
                  <a:txBody>
                    <a:bodyPr/>
                    <a:lstStyle/>
                    <a:p>
                      <a:pPr>
                        <a:spcAft>
                          <a:spcPts val="0"/>
                        </a:spcAft>
                        <a:buNone/>
                      </a:pPr>
                      <a:r>
                        <a:rPr sz="1200" b="1" u="none">
                          <a:solidFill>
                            <a:schemeClr val="dk1"/>
                          </a:solidFill>
                          <a:latin typeface="Lato"/>
                          <a:ea typeface="Lato"/>
                          <a:cs typeface="Lato"/>
                        </a:rPr>
                        <a:t>LOW demand
6.0bn L/year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1" u="none">
                          <a:solidFill>
                            <a:schemeClr val="accent1"/>
                          </a:solidFill>
                          <a:latin typeface="Lato"/>
                          <a:ea typeface="Lato"/>
                          <a:cs typeface="Lato"/>
                        </a:rPr>
                        <a:t>L / H
USE EXISTING ASSETS
Capture 0.99bn L/year
Incremental NPV R+0m</a:t>
                      </a:r>
                    </a:p>
                  </a:txBody>
                  <a:tcPr marL="38100" marR="114300" marT="88900" marB="50800">
                    <a:lnT w="7620" cmpd="sng">
                      <a:solidFill>
                        <a:srgbClr val="EEEEEE"/>
                      </a:solidFill>
                      <a:prstDash val="solid"/>
                    </a:lnT>
                    <a:lnB w="7620">
                      <a:solidFill>
                        <a:srgbClr val="EEEEEE"/>
                      </a:solidFill>
                    </a:lnB>
                    <a:solidFill>
                      <a:schemeClr val="accent1">
                        <a:tint val="15000"/>
                      </a:schemeClr>
                    </a:solidFill>
                  </a:tcPr>
                </a:tc>
                <a:tc>
                  <a:txBody>
                    <a:bodyPr/>
                    <a:lstStyle/>
                    <a:p>
                      <a:pPr>
                        <a:spcAft>
                          <a:spcPts val="0"/>
                        </a:spcAft>
                        <a:buNone/>
                      </a:pPr>
                      <a:r>
                        <a:rPr sz="1200" b="0" u="none">
                          <a:solidFill>
                            <a:schemeClr val="dk1"/>
                          </a:solidFill>
                          <a:latin typeface="Lato"/>
                          <a:ea typeface="Lato"/>
                          <a:cs typeface="Lato"/>
                        </a:rPr>
                        <a:t>L / M
USE EXISTING ASSETS
Capture 1.50bn L/year
Incremental NPV R+0m</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 / L
USE EXISTING ASSETS
Capture 2.01bn L/year
Incremental NPV R+0m</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1"/>
                  </a:ext>
                </a:extLst>
              </a:tr>
              <a:tr h="1193800">
                <a:tc>
                  <a:txBody>
                    <a:bodyPr/>
                    <a:lstStyle/>
                    <a:p>
                      <a:pPr>
                        <a:spcAft>
                          <a:spcPts val="0"/>
                        </a:spcAft>
                        <a:buNone/>
                      </a:pPr>
                      <a:r>
                        <a:rPr sz="1200" b="1" u="none">
                          <a:solidFill>
                            <a:schemeClr val="dk1"/>
                          </a:solidFill>
                          <a:latin typeface="Lato"/>
                          <a:ea typeface="Lato"/>
                          <a:cs typeface="Lato"/>
                        </a:rPr>
                        <a:t>MEDIUM demand
6.8bn L/year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 / H
USE EXISTING ASSETS
Capture 1.39bn L/year
Incremental NPV R+0m</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lt1"/>
                          </a:solidFill>
                          <a:latin typeface="Lato"/>
                          <a:ea typeface="Lato"/>
                          <a:cs typeface="Lato"/>
                        </a:rPr>
                        <a:t>M / M | REFERENCE
USE EXISTING ASSETS
Capture 1.90bn L/year
Incremental NPV R+0m</a:t>
                      </a:r>
                    </a:p>
                  </a:txBody>
                  <a:tcPr marL="38100" marR="114300" marT="88900" marB="50800">
                    <a:lnT w="7620" cmpd="sng">
                      <a:solidFill>
                        <a:srgbClr val="EEEEEE"/>
                      </a:solidFill>
                      <a:prstDash val="solid"/>
                    </a:lnT>
                    <a:lnB w="7620">
                      <a:solidFill>
                        <a:srgbClr val="EEEEEE"/>
                      </a:solidFill>
                    </a:lnB>
                    <a:solidFill>
                      <a:schemeClr val="accent1"/>
                    </a:solidFill>
                  </a:tcPr>
                </a:tc>
                <a:tc>
                  <a:txBody>
                    <a:bodyPr/>
                    <a:lstStyle/>
                    <a:p>
                      <a:pPr>
                        <a:spcAft>
                          <a:spcPts val="0"/>
                        </a:spcAft>
                        <a:buNone/>
                      </a:pPr>
                      <a:r>
                        <a:rPr sz="1200" b="0" u="none">
                          <a:solidFill>
                            <a:schemeClr val="dk1"/>
                          </a:solidFill>
                          <a:latin typeface="Lato"/>
                          <a:ea typeface="Lato"/>
                          <a:cs typeface="Lato"/>
                        </a:rPr>
                        <a:t>M / L
IMPROVE ACCESS / DISPATCH
Capture 2.41bn L/year
Incremental NPV R+24m</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2"/>
                  </a:ext>
                </a:extLst>
              </a:tr>
              <a:tr h="1193800">
                <a:tc>
                  <a:txBody>
                    <a:bodyPr/>
                    <a:lstStyle/>
                    <a:p>
                      <a:pPr>
                        <a:spcAft>
                          <a:spcPts val="0"/>
                        </a:spcAft>
                        <a:buNone/>
                      </a:pPr>
                      <a:r>
                        <a:rPr sz="1200" b="1" u="none">
                          <a:solidFill>
                            <a:schemeClr val="dk1"/>
                          </a:solidFill>
                          <a:latin typeface="Lato"/>
                          <a:ea typeface="Lato"/>
                          <a:cs typeface="Lato"/>
                        </a:rPr>
                        <a:t>HIGH demand
7.6bn L/year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H
USE EXISTING ASSETS
Capture 1.80bn L/year
Incremental NPV R+0m</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M
IMPROVE ACCESS / DISPATCH
Capture 2.30bn L/year
Incremental NPV R+24m</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accent1"/>
                          </a:solidFill>
                          <a:latin typeface="Lato"/>
                          <a:ea typeface="Lato"/>
                          <a:cs typeface="Lato"/>
                        </a:rPr>
                        <a:t>H / L
TEST IMPROVEMENT + TANKS
Capture 2.81bn L/year
Incremental NPV R+82m</a:t>
                      </a:r>
                    </a:p>
                  </a:txBody>
                  <a:tcPr marL="38100" marR="114300" marT="88900" marB="50800">
                    <a:lnT w="7620" cmpd="sng">
                      <a:solidFill>
                        <a:srgbClr val="EEEEEE"/>
                      </a:solidFill>
                      <a:prstDash val="solid"/>
                    </a:lnT>
                    <a:lnB w="7620" cmpd="sng">
                      <a:solidFill>
                        <a:srgbClr val="EEEEEE"/>
                      </a:solidFill>
                      <a:prstDash val="soli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a:extLst>
              <a:ext uri="{FF2B5EF4-FFF2-40B4-BE49-F238E27FC236}">
                <a16:creationId xmlns:a16="http://schemas.microsoft.com/office/drawing/2014/main" id="{DC2D67B7-FB28-44F2-9034-DA8092D085A9}"/>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a:spLocks noGrp="1"/>
          </p:cNvSpPr>
          <p:nvPr/>
        </p:nvSpPr>
        <p:spPr>
          <a:xfrm>
            <a:off x="533400" y="5816600"/>
            <a:ext cx="10477500" cy="169277"/>
          </a:xfrm>
          <a:prstGeom prst="rect">
            <a:avLst/>
          </a:prstGeom>
          <a:noFill/>
        </p:spPr>
        <p:txBody>
          <a:bodyPr vert="horz" lIns="0" tIns="0" rIns="0" bIns="0">
            <a:spAutoFit/>
          </a:bodyPr>
          <a:lstStyle/>
          <a:p>
            <a:r>
              <a:rPr sz="1100">
                <a:solidFill>
                  <a:schemeClr val="dk1"/>
                </a:solidFill>
                <a:latin typeface="Lato"/>
                <a:ea typeface="Lato"/>
                <a:cs typeface="Lato"/>
              </a:rPr>
              <a:t>Highest incremental NPV among three illustrative packages; R0 means retain existing assets, not zero terminal value.</a:t>
            </a:r>
          </a:p>
        </p:txBody>
      </p:sp>
      <p:graphicFrame>
        <p:nvGraphicFramePr>
          <p:cNvPr id="5007"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1610620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37240-3FEB-4152-BBEC-548614CDC870}"/>
              </a:ext>
            </a:extLst>
          </p:cNvPr>
          <p:cNvSpPr>
            <a:spLocks noGrp="1"/>
          </p:cNvSpPr>
          <p:nvPr>
            <p:ph type="title"/>
          </p:nvPr>
        </p:nvSpPr>
        <p:spPr/>
        <p:txBody>
          <a:bodyPr>
            <a:normAutofit/>
          </a:bodyPr>
          <a:lstStyle/>
          <a:p>
            <a:r>
              <a:rPr sz="2300">
                <a:solidFill>
                  <a:schemeClr val="dk1"/>
                </a:solidFill>
                <a:latin typeface="Lato"/>
                <a:ea typeface="Lato"/>
                <a:cs typeface="Lato"/>
              </a:rPr>
              <a:t>Petrol demand declined while diesel grew slowly over 2013–2023</a:t>
            </a:r>
          </a:p>
        </p:txBody>
      </p:sp>
      <p:sp>
        <p:nvSpPr>
          <p:cNvPr id="3" name="Slide Number Placeholder">
            <a:extLst>
              <a:ext uri="{FF2B5EF4-FFF2-40B4-BE49-F238E27FC236}">
                <a16:creationId xmlns:a16="http://schemas.microsoft.com/office/drawing/2014/main" id="{2A050DE0-A852-4217-961B-900033DDB784}"/>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8</a:t>
            </a:r>
          </a:p>
        </p:txBody>
      </p:sp>
      <p:sp>
        <p:nvSpPr>
          <p:cNvPr id="8" name="Unified source footer">
            <a:extLst>
              <a:ext uri="{FF2B5EF4-FFF2-40B4-BE49-F238E27FC236}">
                <a16:creationId xmlns:a16="http://schemas.microsoft.com/office/drawing/2014/main" id="{EC3FFED6-F1E3-4129-B916-C3ED2A1CCC18}"/>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Department sales 2013-2023: petrol CAGR -2.08%, diesel +0.82%. FIASA 2024 is excluded from the trend. Workbook History Q71/R71. RAF levy evidence uses fiscal years and still needs reconciliation.</a:t>
            </a:r>
          </a:p>
        </p:txBody>
      </p:sp>
      <p:sp>
        <p:nvSpPr>
          <p:cNvPr id="48" name="Strictly Confidential footer">
            <a:extLst>
              <a:ext uri="{FF2B5EF4-FFF2-40B4-BE49-F238E27FC236}">
                <a16:creationId xmlns:a16="http://schemas.microsoft.com/office/drawing/2014/main" id="{B3A3E5B5-8B8F-43A2-9BD5-23871560B603}"/>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a:ext uri="{FF2B5EF4-FFF2-40B4-BE49-F238E27FC236}">
                <a16:creationId xmlns:a16="http://schemas.microsoft.com/office/drawing/2014/main" id="{82C4BDB8-6541-63B8-D72B-1E0C6E25D71E}"/>
              </a:ext>
            </a:extLst>
          </p:cNvPr>
          <p:cNvSpPr>
            <a:spLocks noGrp="1"/>
          </p:cNvSpPr>
          <p:nvPr/>
        </p:nvSpPr>
        <p:spPr>
          <a:xfrm>
            <a:off x="533400" y="5600699"/>
            <a:ext cx="10477500" cy="482600"/>
          </a:xfrm>
          <a:prstGeom prst="rect">
            <a:avLst/>
          </a:prstGeom>
          <a:noFill/>
        </p:spPr>
        <p:txBody>
          <a:bodyPr vert="horz" lIns="0" tIns="0" rIns="0" bIns="0">
            <a:noAutofit/>
          </a:bodyPr>
          <a:lstStyle/>
          <a:p>
            <a:r>
              <a:rPr sz="1050">
                <a:solidFill>
                  <a:schemeClr val="dk1"/>
                </a:solidFill>
                <a:latin typeface="Lato"/>
                <a:ea typeface="Lato"/>
                <a:cs typeface="Lato"/>
              </a:rPr>
              <a:t>2023 Department sales total 21.94bn L. The 2024 FIASA comparison is 20.76bn L, unverified; no 2025 sales figure is available.</a:t>
            </a:r>
          </a:p>
        </p:txBody>
      </p:sp>
      <p:pic>
        <p:nvPicPr>
          <p:cNvPr id="59"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a:spLocks noGrp="1"/>
          </p:cNvSpPr>
          <p:nvPr/>
        </p:nvSpPr>
        <p:spPr>
          <a:xfrm>
            <a:off x="457200" y="1625600"/>
            <a:ext cx="6900718" cy="184666"/>
          </a:xfrm>
          <a:prstGeom prst="rect">
            <a:avLst/>
          </a:prstGeom>
          <a:noFill/>
        </p:spPr>
        <p:txBody>
          <a:bodyPr vert="horz" lIns="0" tIns="0" rIns="0" bIns="0">
            <a:spAutoFit/>
          </a:bodyPr>
          <a:lstStyle/>
          <a:p>
            <a:r>
              <a:rPr sz="1200" b="1">
                <a:solidFill>
                  <a:schemeClr val="dk1"/>
                </a:solidFill>
                <a:latin typeface="Lato"/>
                <a:ea typeface="Lato"/>
                <a:cs typeface="Lato"/>
              </a:rPr>
              <a:t>Demand trend</a:t>
            </a:r>
          </a:p>
        </p:txBody>
      </p:sp>
      <p:sp>
        <p:nvSpPr>
          <p:cNvPr id="16" name="Aligned panel subtitle">
            <a:extLst>
              <a:ext uri="{FF2B5EF4-FFF2-40B4-BE49-F238E27FC236}">
                <a16:creationId xmlns:a16="http://schemas.microsoft.com/office/drawing/2014/main" id="{B34C4DB0-C252-C5B2-9A2B-64E4954C1BC2}"/>
              </a:ext>
            </a:extLst>
          </p:cNvPr>
          <p:cNvSpPr>
            <a:spLocks noGrp="1"/>
          </p:cNvSpPr>
          <p:nvPr/>
        </p:nvSpPr>
        <p:spPr>
          <a:xfrm>
            <a:off x="7637318" y="1625600"/>
            <a:ext cx="3472642" cy="184666"/>
          </a:xfrm>
          <a:prstGeom prst="rect">
            <a:avLst/>
          </a:prstGeom>
          <a:noFill/>
        </p:spPr>
        <p:txBody>
          <a:bodyPr vert="horz" lIns="0" tIns="0" rIns="0" bIns="0">
            <a:spAutoFit/>
          </a:bodyPr>
          <a:lstStyle/>
          <a:p>
            <a:r>
              <a:rPr sz="1200" b="1">
                <a:solidFill>
                  <a:schemeClr val="dk1"/>
                </a:solidFill>
                <a:latin typeface="Lato"/>
                <a:ea typeface="Lato"/>
                <a:cs typeface="Lato"/>
              </a:rPr>
              <a:t>Change over 2013–2023</a:t>
            </a:r>
          </a:p>
        </p:txBody>
      </p:sp>
      <p:sp>
        <p:nvSpPr>
          <p:cNvPr id="13" name="Content margin panel rule">
            <a:extLst>
              <a:ext uri="{FF2B5EF4-FFF2-40B4-BE49-F238E27FC236}">
                <a16:creationId xmlns:a16="http://schemas.microsoft.com/office/drawing/2014/main" id="{B2C5106D-FBBF-4FE5-8413-188D7806E7EA}"/>
              </a:ext>
            </a:extLst>
          </p:cNvPr>
          <p:cNvSpPr>
            <a:spLocks noGrp="1"/>
          </p:cNvSpPr>
          <p:nvPr/>
        </p:nvSpPr>
        <p:spPr>
          <a:xfrm>
            <a:off x="7637318" y="1907308"/>
            <a:ext cx="3472642"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7" name="Content margin panel rule">
            <a:extLst>
              <a:ext uri="{FF2B5EF4-FFF2-40B4-BE49-F238E27FC236}">
                <a16:creationId xmlns:a16="http://schemas.microsoft.com/office/drawing/2014/main" id="{E6B55515-B3CB-489E-8F07-D7BEB6372047}"/>
              </a:ext>
            </a:extLst>
          </p:cNvPr>
          <p:cNvSpPr>
            <a:spLocks noGrp="1"/>
          </p:cNvSpPr>
          <p:nvPr/>
        </p:nvSpPr>
        <p:spPr>
          <a:xfrm>
            <a:off x="457200" y="1907308"/>
            <a:ext cx="6926118"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graphicFrame>
        <p:nvGraphicFramePr>
          <p:cNvPr id="5008"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679127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D8B57-E12F-4ED5-A6C1-386CFF7E5BBA}"/>
              </a:ext>
            </a:extLst>
          </p:cNvPr>
          <p:cNvSpPr>
            <a:spLocks noGrp="1"/>
          </p:cNvSpPr>
          <p:nvPr>
            <p:ph type="title"/>
          </p:nvPr>
        </p:nvSpPr>
        <p:spPr/>
        <p:txBody>
          <a:bodyPr>
            <a:normAutofit/>
          </a:bodyPr>
          <a:lstStyle/>
          <a:p>
            <a:r>
              <a:rPr sz="2300">
                <a:solidFill>
                  <a:schemeClr val="dk1"/>
                </a:solidFill>
                <a:latin typeface="Lato"/>
                <a:ea typeface="Lato"/>
                <a:cs typeface="Lato"/>
              </a:rPr>
              <a:t>Power recovery reduces diesel support while freight and sector activity remain important</a:t>
            </a:r>
          </a:p>
        </p:txBody>
      </p:sp>
      <p:sp>
        <p:nvSpPr>
          <p:cNvPr id="3" name="Slide Number Placeholder">
            <a:extLst>
              <a:ext uri="{FF2B5EF4-FFF2-40B4-BE49-F238E27FC236}">
                <a16:creationId xmlns:a16="http://schemas.microsoft.com/office/drawing/2014/main" id="{E252A0DD-9282-4CC1-8370-441588BB85DB}"/>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9</a:t>
            </a:r>
          </a:p>
        </p:txBody>
      </p:sp>
      <p:sp>
        <p:nvSpPr>
          <p:cNvPr id="8" name="Unified source footer">
            <a:extLst>
              <a:ext uri="{FF2B5EF4-FFF2-40B4-BE49-F238E27FC236}">
                <a16:creationId xmlns:a16="http://schemas.microsoft.com/office/drawing/2014/main" id="{1F634E31-70BD-403B-AE1C-10E188BC24D9}"/>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p>
        </p:txBody>
      </p:sp>
      <p:graphicFrame>
        <p:nvGraphicFramePr>
          <p:cNvPr id="60" name="Table 46"/>
          <p:cNvGraphicFramePr/>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Demand support</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2024 vs 2025</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demand</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buNone/>
                      </a:pPr>
                      <a:r>
                        <a:rPr sz="1300" b="1" u="none">
                          <a:solidFill>
                            <a:schemeClr val="dk1"/>
                          </a:solidFill>
                          <a:latin typeface="Lato"/>
                          <a:ea typeface="Lato"/>
                          <a:cs typeface="Lato"/>
                        </a:rPr>
                        <a:t>Power
generation</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450m fewer litres in one year. Sustained recovery reduces diesel demand; retirements and replacement timing could reverse it.</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buNone/>
                      </a:pPr>
                      <a:r>
                        <a:rPr sz="1300" b="1" u="none">
                          <a:solidFill>
                            <a:schemeClr val="dk1"/>
                          </a:solidFill>
                          <a:latin typeface="Lato"/>
                          <a:ea typeface="Lato"/>
                          <a:cs typeface="Lato"/>
                        </a:rPr>
                        <a:t>Road
freight</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Road carries 85.3% of tonnes.
Workbook truck-fuel proxy: 3.15bn L
in 2023, partial operator coverage.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buNone/>
                      </a:pPr>
                      <a:r>
                        <a:rPr sz="1300" b="1" u="none">
                          <a:solidFill>
                            <a:schemeClr val="dk1"/>
                          </a:solidFill>
                          <a:latin typeface="Lato"/>
                          <a:ea typeface="Lato"/>
                          <a:cs typeface="Lato"/>
                        </a:rPr>
                        <a:t>Sector
activity</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estimates:
mining 1.406, industry residual 0.165,
agriculture 1.131bn L. Uses can overlap.</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a:extLst>
              <a:ext uri="{FF2B5EF4-FFF2-40B4-BE49-F238E27FC236}">
                <a16:creationId xmlns:a16="http://schemas.microsoft.com/office/drawing/2014/main" id="{D5ED7406-5490-45E0-8E00-E22648ABC4B4}"/>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66" name="Argument icon power"/>
          <p:cNvPicPr>
            <a:picLocks noChangeAspect="1"/>
          </p:cNvPicPr>
          <p:nvPr/>
        </p:nvPicPr>
        <p:blipFill>
          <a:blip r:embed="rId3"/>
          <a:stretch>
            <a:fillRect/>
          </a:stretch>
        </p:blipFill>
        <p:spPr>
          <a:xfrm>
            <a:off x="508000" y="2120900"/>
            <a:ext cx="317500" cy="317500"/>
          </a:xfrm>
          <a:prstGeom prst="rect">
            <a:avLst/>
          </a:prstGeom>
        </p:spPr>
      </p:pic>
      <p:pic>
        <p:nvPicPr>
          <p:cNvPr id="67" name="Argument icon transport"/>
          <p:cNvPicPr>
            <a:picLocks noChangeAspect="1"/>
          </p:cNvPicPr>
          <p:nvPr/>
        </p:nvPicPr>
        <p:blipFill>
          <a:blip r:embed="rId4"/>
          <a:stretch>
            <a:fillRect/>
          </a:stretch>
        </p:blipFill>
        <p:spPr>
          <a:xfrm>
            <a:off x="508000" y="3484033"/>
            <a:ext cx="317500" cy="317500"/>
          </a:xfrm>
          <a:prstGeom prst="rect">
            <a:avLst/>
          </a:prstGeom>
        </p:spPr>
      </p:pic>
      <p:pic>
        <p:nvPicPr>
          <p:cNvPr id="68" name="Argument icon sector"/>
          <p:cNvPicPr>
            <a:picLocks noChangeAspect="1"/>
          </p:cNvPicPr>
          <p:nvPr/>
        </p:nvPicPr>
        <p:blipFill>
          <a:blip r:embed="rId5"/>
          <a:stretch>
            <a:fillRect/>
          </a:stretch>
        </p:blipFill>
        <p:spPr>
          <a:xfrm>
            <a:off x="508000" y="4847166"/>
            <a:ext cx="317500" cy="317500"/>
          </a:xfrm>
          <a:prstGeom prst="rect">
            <a:avLst/>
          </a:prstGeom>
        </p:spPr>
      </p:pic>
      <p:sp>
        <p:nvSpPr>
          <p:cNvPr id="4" name="Comparison unit">
            <a:extLst>
              <a:ext uri="{FF2B5EF4-FFF2-40B4-BE49-F238E27FC236}">
                <a16:creationId xmlns:a16="http://schemas.microsoft.com/office/drawing/2014/main" id="{6848D3B9-9DAE-E5DE-C318-9C697203955D}"/>
              </a:ext>
            </a:extLst>
          </p:cNvPr>
          <p:cNvSpPr>
            <a:spLocks noGrp="1"/>
          </p:cNvSpPr>
          <p:nvPr/>
        </p:nvSpPr>
        <p:spPr>
          <a:xfrm>
            <a:off x="2590800" y="2082800"/>
            <a:ext cx="4508500" cy="153888"/>
          </a:xfrm>
          <a:prstGeom prst="rect">
            <a:avLst/>
          </a:prstGeom>
          <a:noFill/>
        </p:spPr>
        <p:txBody>
          <a:bodyPr vert="horz" lIns="0" tIns="0" rIns="0" bIns="0">
            <a:spAutoFit/>
          </a:bodyPr>
          <a:lstStyle/>
          <a:p>
            <a:r>
              <a:rPr sz="1000">
                <a:solidFill>
                  <a:schemeClr val="dk1"/>
                </a:solidFill>
                <a:latin typeface="Lato"/>
                <a:ea typeface="Lato"/>
                <a:cs typeface="Lato"/>
              </a:rPr>
              <a:t>Own OCGT fuel · million litres · financial years</a:t>
            </a:r>
          </a:p>
        </p:txBody>
      </p:sp>
      <p:pic>
        <p:nvPicPr>
          <p:cNvPr id="70" name="Demand comparison power"/>
          <p:cNvPicPr>
            <a:picLocks noChangeAspect="1"/>
          </p:cNvPicPr>
          <p:nvPr/>
        </p:nvPicPr>
        <p:blipFill>
          <a:blip r:embed="rId6"/>
          <a:stretch>
            <a:fillRect/>
          </a:stretch>
        </p:blipFill>
        <p:spPr>
          <a:xfrm>
            <a:off x="2590800" y="2159000"/>
            <a:ext cx="4508500" cy="1217295"/>
          </a:xfrm>
          <a:prstGeom prst="rect">
            <a:avLst/>
          </a:prstGeom>
        </p:spPr>
      </p:pic>
      <p:sp>
        <p:nvSpPr>
          <p:cNvPr id="15" name="Comparison unit">
            <a:extLst>
              <a:ext uri="{FF2B5EF4-FFF2-40B4-BE49-F238E27FC236}">
                <a16:creationId xmlns:a16="http://schemas.microsoft.com/office/drawing/2014/main" id="{B8C7AEBC-8080-1E55-90D9-764484D5A075}"/>
              </a:ext>
            </a:extLst>
          </p:cNvPr>
          <p:cNvSpPr>
            <a:spLocks noGrp="1"/>
          </p:cNvSpPr>
          <p:nvPr/>
        </p:nvSpPr>
        <p:spPr>
          <a:xfrm>
            <a:off x="2590800" y="3445933"/>
            <a:ext cx="4508500" cy="153888"/>
          </a:xfrm>
          <a:prstGeom prst="rect">
            <a:avLst/>
          </a:prstGeom>
          <a:noFill/>
        </p:spPr>
        <p:txBody>
          <a:bodyPr vert="horz" lIns="0" tIns="0" rIns="0" bIns="0">
            <a:spAutoFit/>
          </a:bodyPr>
          <a:lstStyle/>
          <a:p>
            <a:r>
              <a:rPr sz="1000">
                <a:solidFill>
                  <a:schemeClr val="dk1"/>
                </a:solidFill>
                <a:latin typeface="Lato"/>
                <a:ea typeface="Lato"/>
                <a:cs typeface="Lato"/>
              </a:rPr>
              <a:t>Reported payload · million tonnes · calendar years</a:t>
            </a:r>
          </a:p>
        </p:txBody>
      </p:sp>
      <p:pic>
        <p:nvPicPr>
          <p:cNvPr id="72" name="Demand comparison freight"/>
          <p:cNvPicPr>
            <a:picLocks noChangeAspect="1"/>
          </p:cNvPicPr>
          <p:nvPr/>
        </p:nvPicPr>
        <p:blipFill>
          <a:blip r:embed="rId7"/>
          <a:stretch>
            <a:fillRect/>
          </a:stretch>
        </p:blipFill>
        <p:spPr>
          <a:xfrm>
            <a:off x="2590800" y="3522133"/>
            <a:ext cx="4508500" cy="1217295"/>
          </a:xfrm>
          <a:prstGeom prst="rect">
            <a:avLst/>
          </a:prstGeom>
        </p:spPr>
      </p:pic>
      <p:sp>
        <p:nvSpPr>
          <p:cNvPr id="18" name="Comparison unit">
            <a:extLst>
              <a:ext uri="{FF2B5EF4-FFF2-40B4-BE49-F238E27FC236}">
                <a16:creationId xmlns:a16="http://schemas.microsoft.com/office/drawing/2014/main" id="{050F5819-3F46-6939-E5CF-0124C47BDEA2}"/>
              </a:ext>
            </a:extLst>
          </p:cNvPr>
          <p:cNvSpPr>
            <a:spLocks noGrp="1"/>
          </p:cNvSpPr>
          <p:nvPr/>
        </p:nvSpPr>
        <p:spPr>
          <a:xfrm>
            <a:off x="2590800" y="4809066"/>
            <a:ext cx="4508500" cy="153888"/>
          </a:xfrm>
          <a:prstGeom prst="rect">
            <a:avLst/>
          </a:prstGeom>
          <a:noFill/>
        </p:spPr>
        <p:txBody>
          <a:bodyPr vert="horz" lIns="0" tIns="0" rIns="0" bIns="0">
            <a:spAutoFit/>
          </a:bodyPr>
          <a:lstStyle/>
          <a:p>
            <a:r>
              <a:rPr sz="1000">
                <a:solidFill>
                  <a:schemeClr val="dk1"/>
                </a:solidFill>
                <a:latin typeface="Lato"/>
                <a:ea typeface="Lato"/>
                <a:cs typeface="Lato"/>
              </a:rPr>
              <a:t>Real GVA · Rbn, 2015 prices · calendar years</a:t>
            </a:r>
          </a:p>
        </p:txBody>
      </p:sp>
      <p:pic>
        <p:nvPicPr>
          <p:cNvPr id="74" name="Demand comparison sector"/>
          <p:cNvPicPr>
            <a:picLocks noChangeAspect="1"/>
          </p:cNvPicPr>
          <p:nvPr/>
        </p:nvPicPr>
        <p:blipFill>
          <a:blip r:embed="rId8"/>
          <a:stretch>
            <a:fillRect/>
          </a:stretch>
        </p:blipFill>
        <p:spPr>
          <a:xfrm>
            <a:off x="2590800" y="4885266"/>
            <a:ext cx="4508500" cy="1217295"/>
          </a:xfrm>
          <a:prstGeom prst="rect">
            <a:avLst/>
          </a:prstGeom>
        </p:spPr>
      </p:pic>
      <p:pic>
        <p:nvPicPr>
          <p:cNvPr id="75" name="Picture 15"/>
          <p:cNvPicPr>
            <a:picLocks noChangeAspect="1"/>
          </p:cNvPicPr>
          <p:nvPr/>
        </p:nvPicPr>
        <p:blipFill>
          <a:blip r:embed="rId9"/>
          <a:stretch>
            <a:fillRect/>
          </a:stretch>
        </p:blipFill>
        <p:spPr>
          <a:xfrm>
            <a:off x="4889500" y="1739900"/>
            <a:ext cx="1397000" cy="180213"/>
          </a:xfrm>
          <a:prstGeom prst="rect">
            <a:avLst/>
          </a:prstGeom>
        </p:spPr>
      </p:pic>
      <p:graphicFrame>
        <p:nvGraphicFramePr>
          <p:cNvPr id="5009"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r:dm="rIdSmartArt10" r:lo="rIdSmartArt11" r:qs="rIdSmartArt12" r:cs="rIdSmartArt13"/>
          </a:graphicData>
        </a:graphic>
      </p:graphicFrame>
    </p:spTree>
    <p:extLst>
      <p:ext uri="{BB962C8B-B14F-4D97-AF65-F5344CB8AC3E}">
        <p14:creationId xmlns:p14="http://schemas.microsoft.com/office/powerpoint/2010/main" val="1183918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C42CF-A65D-4828-BD5C-71A7C61F1B3D}"/>
              </a:ext>
            </a:extLst>
          </p:cNvPr>
          <p:cNvSpPr>
            <a:spLocks noGrp="1"/>
          </p:cNvSpPr>
          <p:nvPr>
            <p:ph type="title"/>
          </p:nvPr>
        </p:nvSpPr>
        <p:spPr/>
        <p:txBody>
          <a:bodyPr>
            <a:normAutofit fontScale="90000"/>
          </a:bodyPr>
          <a:lstStyle/>
          <a:p>
            <a:r>
              <a:rPr>
                <a:solidFill>
                  <a:schemeClr val="dk1"/>
                </a:solidFill>
                <a:latin typeface="Lato"/>
                <a:ea typeface="Lato"/>
                <a:cs typeface="Lato"/>
              </a:rPr>
              <a:t>Mining, manufacturing and agriculture link diesel demand to sector activity</a:t>
            </a:r>
          </a:p>
        </p:txBody>
      </p:sp>
      <p:sp>
        <p:nvSpPr>
          <p:cNvPr id="3" name="Slide Number Placeholder">
            <a:extLst>
              <a:ext uri="{FF2B5EF4-FFF2-40B4-BE49-F238E27FC236}">
                <a16:creationId xmlns:a16="http://schemas.microsoft.com/office/drawing/2014/main" id="{F7BE8C34-E80C-4B62-A747-E3AB6CD0EC2E}"/>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10</a:t>
            </a:r>
          </a:p>
        </p:txBody>
      </p:sp>
      <p:sp>
        <p:nvSpPr>
          <p:cNvPr id="8" name="Unified source footer">
            <a:extLst>
              <a:ext uri="{FF2B5EF4-FFF2-40B4-BE49-F238E27FC236}">
                <a16:creationId xmlns:a16="http://schemas.microsoft.com/office/drawing/2014/main" id="{E495F583-3D31-436D-A60F-E104578FC8F7}"/>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Manish master workbook, DR01 sector activity: 2025 activity × historical average intensity. Department energy balance ends in 2021. Later sector litres are estimates; attribution and road overlap remain open.</a:t>
            </a:r>
          </a:p>
        </p:txBody>
      </p:sp>
      <p:sp>
        <p:nvSpPr>
          <p:cNvPr id="48" name="Strictly Confidential footer">
            <a:extLst>
              <a:ext uri="{FF2B5EF4-FFF2-40B4-BE49-F238E27FC236}">
                <a16:creationId xmlns:a16="http://schemas.microsoft.com/office/drawing/2014/main" id="{C49621DB-C9C6-4488-AD70-0DA3579B0925}"/>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6" name="Sector heading">
            <a:extLst>
              <a:ext uri="{FF2B5EF4-FFF2-40B4-BE49-F238E27FC236}">
                <a16:creationId xmlns:a16="http://schemas.microsoft.com/office/drawing/2014/main" id="{65A169A8-D9BF-7E72-B48E-771CD77BA7BB}"/>
              </a:ext>
            </a:extLst>
          </p:cNvPr>
          <p:cNvSpPr>
            <a:spLocks noGrp="1"/>
          </p:cNvSpPr>
          <p:nvPr/>
        </p:nvSpPr>
        <p:spPr>
          <a:xfrm>
            <a:off x="457200" y="1600200"/>
            <a:ext cx="1968500" cy="228600"/>
          </a:xfrm>
          <a:prstGeom prst="rect">
            <a:avLst/>
          </a:prstGeom>
          <a:noFill/>
        </p:spPr>
        <p:txBody>
          <a:bodyPr vert="horz" lIns="0" tIns="0" rIns="0" bIns="0">
            <a:noAutofit/>
          </a:bodyPr>
          <a:lstStyle/>
          <a:p>
            <a:r>
              <a:rPr sz="1200" b="1">
                <a:solidFill>
                  <a:schemeClr val="dk1"/>
                </a:solidFill>
                <a:latin typeface="Lato"/>
                <a:ea typeface="Lato"/>
                <a:cs typeface="Lato"/>
              </a:rPr>
              <a:t>Sector</a:t>
            </a:r>
          </a:p>
        </p:txBody>
      </p:sp>
      <p:sp>
        <p:nvSpPr>
          <p:cNvPr id="7" name="Chart heading">
            <a:extLst>
              <a:ext uri="{FF2B5EF4-FFF2-40B4-BE49-F238E27FC236}">
                <a16:creationId xmlns:a16="http://schemas.microsoft.com/office/drawing/2014/main" id="{DBA7DC2C-F2EF-95EA-707F-2D271224C408}"/>
              </a:ext>
            </a:extLst>
          </p:cNvPr>
          <p:cNvSpPr>
            <a:spLocks noGrp="1"/>
          </p:cNvSpPr>
          <p:nvPr/>
        </p:nvSpPr>
        <p:spPr>
          <a:xfrm>
            <a:off x="2552700" y="1600200"/>
            <a:ext cx="4432300" cy="228600"/>
          </a:xfrm>
          <a:prstGeom prst="rect">
            <a:avLst/>
          </a:prstGeom>
          <a:noFill/>
        </p:spPr>
        <p:txBody>
          <a:bodyPr vert="horz" lIns="0" tIns="0" rIns="0" bIns="0">
            <a:noAutofit/>
          </a:bodyPr>
          <a:lstStyle/>
          <a:p>
            <a:r>
              <a:rPr sz="1200" b="1">
                <a:solidFill>
                  <a:schemeClr val="dk1"/>
                </a:solidFill>
                <a:latin typeface="Lato"/>
                <a:ea typeface="Lato"/>
                <a:cs typeface="Lato"/>
              </a:rPr>
              <a:t>Diesel use, billion litres / year</a:t>
            </a:r>
          </a:p>
        </p:txBody>
      </p:sp>
      <p:sp>
        <p:nvSpPr>
          <p:cNvPr id="13" name="Activity heading">
            <a:extLst>
              <a:ext uri="{FF2B5EF4-FFF2-40B4-BE49-F238E27FC236}">
                <a16:creationId xmlns:a16="http://schemas.microsoft.com/office/drawing/2014/main" id="{73F4E311-4081-9D8E-F2A8-1E30E7DE3FE6}"/>
              </a:ext>
            </a:extLst>
          </p:cNvPr>
          <p:cNvSpPr>
            <a:spLocks noGrp="1"/>
          </p:cNvSpPr>
          <p:nvPr/>
        </p:nvSpPr>
        <p:spPr>
          <a:xfrm>
            <a:off x="7480300" y="1600200"/>
            <a:ext cx="3632200" cy="228600"/>
          </a:xfrm>
          <a:prstGeom prst="rect">
            <a:avLst/>
          </a:prstGeom>
          <a:noFill/>
        </p:spPr>
        <p:txBody>
          <a:bodyPr vert="horz" lIns="0" tIns="0" rIns="0" bIns="0">
            <a:noAutofit/>
          </a:bodyPr>
          <a:lstStyle/>
          <a:p>
            <a:r>
              <a:rPr sz="1200" b="1">
                <a:solidFill>
                  <a:schemeClr val="dk1"/>
                </a:solidFill>
                <a:latin typeface="Lato"/>
                <a:ea typeface="Lato"/>
                <a:cs typeface="Lato"/>
              </a:rPr>
              <a:t>Activity and interpretation</a:t>
            </a:r>
          </a:p>
        </p:txBody>
      </p:sp>
      <p:cxnSp>
        <p:nvCxnSpPr>
          <p:cNvPr id="170" name="Sector heading rule"/>
          <p:cNvCxnSpPr/>
          <p:nvPr/>
        </p:nvCxnSpPr>
        <p:spPr>
          <a:xfrm>
            <a:off x="457200" y="1905000"/>
            <a:ext cx="10652760" cy="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15" name="Sector label 0">
            <a:extLst>
              <a:ext uri="{FF2B5EF4-FFF2-40B4-BE49-F238E27FC236}">
                <a16:creationId xmlns:a16="http://schemas.microsoft.com/office/drawing/2014/main" id="{E6CDC96F-13DA-9293-6FD3-08DE11006E7F}"/>
              </a:ext>
            </a:extLst>
          </p:cNvPr>
          <p:cNvSpPr>
            <a:spLocks noGrp="1"/>
          </p:cNvSpPr>
          <p:nvPr/>
        </p:nvSpPr>
        <p:spPr>
          <a:xfrm>
            <a:off x="457200" y="2158999"/>
            <a:ext cx="1968500" cy="711200"/>
          </a:xfrm>
          <a:prstGeom prst="rect">
            <a:avLst/>
          </a:prstGeom>
          <a:noFill/>
        </p:spPr>
        <p:txBody>
          <a:bodyPr vert="horz" lIns="0" tIns="0" rIns="0" bIns="0">
            <a:noAutofit/>
          </a:bodyPr>
          <a:lstStyle/>
          <a:p>
            <a:r>
              <a:rPr sz="1300" b="1">
                <a:solidFill>
                  <a:schemeClr val="accent1"/>
                </a:solidFill>
                <a:latin typeface="Lato"/>
                <a:ea typeface="Lato"/>
                <a:cs typeface="Lato"/>
              </a:rPr>
              <a:t>Mining</a:t>
            </a:r>
          </a:p>
        </p:txBody>
      </p:sp>
      <p:sp>
        <p:nvSpPr>
          <p:cNvPr id="16" name="Sector interpretation 0">
            <a:extLst>
              <a:ext uri="{FF2B5EF4-FFF2-40B4-BE49-F238E27FC236}">
                <a16:creationId xmlns:a16="http://schemas.microsoft.com/office/drawing/2014/main" id="{0E18B143-84EF-D0CF-5516-1798DD1E7F3E}"/>
              </a:ext>
            </a:extLst>
          </p:cNvPr>
          <p:cNvSpPr>
            <a:spLocks noGrp="1"/>
          </p:cNvSpPr>
          <p:nvPr/>
        </p:nvSpPr>
        <p:spPr>
          <a:xfrm>
            <a:off x="7480300" y="2171699"/>
            <a:ext cx="3632200" cy="825500"/>
          </a:xfrm>
          <a:prstGeom prst="rect">
            <a:avLst/>
          </a:prstGeom>
          <a:noFill/>
        </p:spPr>
        <p:txBody>
          <a:bodyPr vert="horz" lIns="0" tIns="0" rIns="0" bIns="0">
            <a:noAutofit/>
          </a:bodyPr>
          <a:lstStyle/>
          <a:p>
            <a:r>
              <a:rPr sz="1250">
                <a:solidFill>
                  <a:schemeClr val="dk1"/>
                </a:solidFill>
                <a:latin typeface="Lato"/>
                <a:ea typeface="Lato"/>
                <a:cs typeface="Lato"/>
              </a:rPr>
              <a:t>Mining activity drives the estimate. Average historical intensity and road-use overlap remain uncertain.</a:t>
            </a:r>
          </a:p>
        </p:txBody>
      </p:sp>
      <p:cxnSp>
        <p:nvCxnSpPr>
          <p:cNvPr id="173" name="Zero axis 0"/>
          <p:cNvCxnSpPr/>
          <p:nvPr/>
        </p:nvCxnSpPr>
        <p:spPr>
          <a:xfrm>
            <a:off x="3263900" y="2133600"/>
            <a:ext cx="0" cy="87630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18" name="Year 0 0">
            <a:extLst>
              <a:ext uri="{FF2B5EF4-FFF2-40B4-BE49-F238E27FC236}">
                <a16:creationId xmlns:a16="http://schemas.microsoft.com/office/drawing/2014/main" id="{BCFCEDD5-B360-0731-6047-74636FEA33D4}"/>
              </a:ext>
            </a:extLst>
          </p:cNvPr>
          <p:cNvSpPr>
            <a:spLocks noGrp="1"/>
          </p:cNvSpPr>
          <p:nvPr/>
        </p:nvSpPr>
        <p:spPr>
          <a:xfrm>
            <a:off x="2552700" y="21463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2019</a:t>
            </a:r>
          </a:p>
        </p:txBody>
      </p:sp>
      <p:sp>
        <p:nvSpPr>
          <p:cNvPr id="19" name="Sector bar 0 0">
            <a:extLst>
              <a:ext uri="{FF2B5EF4-FFF2-40B4-BE49-F238E27FC236}">
                <a16:creationId xmlns:a16="http://schemas.microsoft.com/office/drawing/2014/main" id="{F6B91932-F480-7CD7-3C01-05C3B5BF243E}"/>
              </a:ext>
            </a:extLst>
          </p:cNvPr>
          <p:cNvSpPr>
            <a:spLocks noGrp="1"/>
          </p:cNvSpPr>
          <p:nvPr/>
        </p:nvSpPr>
        <p:spPr>
          <a:xfrm>
            <a:off x="3263900" y="2159000"/>
            <a:ext cx="2905633" cy="152400"/>
          </a:xfrm>
          <a:prstGeom prst="rect">
            <a:avLst/>
          </a:prstGeom>
          <a:solidFill>
            <a:schemeClr val="accent2"/>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Value 0 0">
            <a:extLst>
              <a:ext uri="{FF2B5EF4-FFF2-40B4-BE49-F238E27FC236}">
                <a16:creationId xmlns:a16="http://schemas.microsoft.com/office/drawing/2014/main" id="{0F4B7BD1-8E3D-B7D8-352E-867A026E823A}"/>
              </a:ext>
            </a:extLst>
          </p:cNvPr>
          <p:cNvSpPr>
            <a:spLocks noGrp="1"/>
          </p:cNvSpPr>
          <p:nvPr/>
        </p:nvSpPr>
        <p:spPr>
          <a:xfrm>
            <a:off x="6245733" y="21463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1.67</a:t>
            </a:r>
          </a:p>
        </p:txBody>
      </p:sp>
      <p:sp>
        <p:nvSpPr>
          <p:cNvPr id="21" name="Year 0 1">
            <a:extLst>
              <a:ext uri="{FF2B5EF4-FFF2-40B4-BE49-F238E27FC236}">
                <a16:creationId xmlns:a16="http://schemas.microsoft.com/office/drawing/2014/main" id="{14C66B96-9647-0C1B-9CDF-F43C5BFEB805}"/>
              </a:ext>
            </a:extLst>
          </p:cNvPr>
          <p:cNvSpPr>
            <a:spLocks noGrp="1"/>
          </p:cNvSpPr>
          <p:nvPr/>
        </p:nvSpPr>
        <p:spPr>
          <a:xfrm>
            <a:off x="2552700" y="24511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2021</a:t>
            </a:r>
          </a:p>
        </p:txBody>
      </p:sp>
      <p:sp>
        <p:nvSpPr>
          <p:cNvPr id="22" name="Sector bar 0 1">
            <a:extLst>
              <a:ext uri="{FF2B5EF4-FFF2-40B4-BE49-F238E27FC236}">
                <a16:creationId xmlns:a16="http://schemas.microsoft.com/office/drawing/2014/main" id="{94723423-E844-4220-848F-C8B42910C0D5}"/>
              </a:ext>
            </a:extLst>
          </p:cNvPr>
          <p:cNvSpPr>
            <a:spLocks noGrp="1"/>
          </p:cNvSpPr>
          <p:nvPr/>
        </p:nvSpPr>
        <p:spPr>
          <a:xfrm>
            <a:off x="3263900" y="2463800"/>
            <a:ext cx="2244471" cy="152400"/>
          </a:xfrm>
          <a:prstGeom prst="rect">
            <a:avLst/>
          </a:prstGeom>
          <a:solidFill>
            <a:schemeClr val="accent1"/>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Value 0 1">
            <a:extLst>
              <a:ext uri="{FF2B5EF4-FFF2-40B4-BE49-F238E27FC236}">
                <a16:creationId xmlns:a16="http://schemas.microsoft.com/office/drawing/2014/main" id="{6E983A38-9C73-873C-063F-C72993543FD6}"/>
              </a:ext>
            </a:extLst>
          </p:cNvPr>
          <p:cNvSpPr>
            <a:spLocks noGrp="1"/>
          </p:cNvSpPr>
          <p:nvPr/>
        </p:nvSpPr>
        <p:spPr>
          <a:xfrm>
            <a:off x="5584571" y="24511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1.29</a:t>
            </a:r>
          </a:p>
        </p:txBody>
      </p:sp>
      <p:sp>
        <p:nvSpPr>
          <p:cNvPr id="24" name="Year 0 2">
            <a:extLst>
              <a:ext uri="{FF2B5EF4-FFF2-40B4-BE49-F238E27FC236}">
                <a16:creationId xmlns:a16="http://schemas.microsoft.com/office/drawing/2014/main" id="{38003D4B-57B3-CE60-122C-9120C89C55C9}"/>
              </a:ext>
            </a:extLst>
          </p:cNvPr>
          <p:cNvSpPr>
            <a:spLocks noGrp="1"/>
          </p:cNvSpPr>
          <p:nvPr/>
        </p:nvSpPr>
        <p:spPr>
          <a:xfrm>
            <a:off x="2552700" y="27559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2025 est.</a:t>
            </a:r>
          </a:p>
        </p:txBody>
      </p:sp>
      <p:sp>
        <p:nvSpPr>
          <p:cNvPr id="25" name="Sector bar 0 2">
            <a:extLst>
              <a:ext uri="{FF2B5EF4-FFF2-40B4-BE49-F238E27FC236}">
                <a16:creationId xmlns:a16="http://schemas.microsoft.com/office/drawing/2014/main" id="{A388A7E3-B0B3-2918-1E99-E7410D28228A}"/>
              </a:ext>
            </a:extLst>
          </p:cNvPr>
          <p:cNvSpPr>
            <a:spLocks noGrp="1"/>
          </p:cNvSpPr>
          <p:nvPr/>
        </p:nvSpPr>
        <p:spPr>
          <a:xfrm>
            <a:off x="3263900" y="2768600"/>
            <a:ext cx="2446903" cy="152400"/>
          </a:xfrm>
          <a:prstGeom prst="rect">
            <a:avLst/>
          </a:prstGeom>
          <a:solidFill>
            <a:schemeClr val="lt1"/>
          </a:solidFill>
          <a:ln w="11430" cmpd="sng">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 name="Value 0 2">
            <a:extLst>
              <a:ext uri="{FF2B5EF4-FFF2-40B4-BE49-F238E27FC236}">
                <a16:creationId xmlns:a16="http://schemas.microsoft.com/office/drawing/2014/main" id="{A13295E8-E5CE-36FE-C86A-8F808A9BA76F}"/>
              </a:ext>
            </a:extLst>
          </p:cNvPr>
          <p:cNvSpPr>
            <a:spLocks noGrp="1"/>
          </p:cNvSpPr>
          <p:nvPr/>
        </p:nvSpPr>
        <p:spPr>
          <a:xfrm>
            <a:off x="5787003" y="27559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1.41</a:t>
            </a:r>
          </a:p>
        </p:txBody>
      </p:sp>
      <p:cxnSp>
        <p:nvCxnSpPr>
          <p:cNvPr id="183" name="Sector row rule 0"/>
          <p:cNvCxnSpPr/>
          <p:nvPr/>
        </p:nvCxnSpPr>
        <p:spPr>
          <a:xfrm>
            <a:off x="457200" y="3175000"/>
            <a:ext cx="10652760" cy="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28" name="Sector label 1">
            <a:extLst>
              <a:ext uri="{FF2B5EF4-FFF2-40B4-BE49-F238E27FC236}">
                <a16:creationId xmlns:a16="http://schemas.microsoft.com/office/drawing/2014/main" id="{BBDB7AF9-6122-31BD-BE04-9ACF0FFD77A1}"/>
              </a:ext>
            </a:extLst>
          </p:cNvPr>
          <p:cNvSpPr>
            <a:spLocks noGrp="1"/>
          </p:cNvSpPr>
          <p:nvPr/>
        </p:nvSpPr>
        <p:spPr>
          <a:xfrm>
            <a:off x="457200" y="3416300"/>
            <a:ext cx="1968500" cy="711200"/>
          </a:xfrm>
          <a:prstGeom prst="rect">
            <a:avLst/>
          </a:prstGeom>
          <a:noFill/>
        </p:spPr>
        <p:txBody>
          <a:bodyPr vert="horz" lIns="0" tIns="0" rIns="0" bIns="0">
            <a:noAutofit/>
          </a:bodyPr>
          <a:lstStyle/>
          <a:p>
            <a:r>
              <a:rPr sz="1300" b="1">
                <a:solidFill>
                  <a:schemeClr val="accent1"/>
                </a:solidFill>
                <a:latin typeface="Lato"/>
                <a:ea typeface="Lato"/>
                <a:cs typeface="Lato"/>
              </a:rPr>
              <a:t>Manufacturing / non-specified industry</a:t>
            </a:r>
          </a:p>
        </p:txBody>
      </p:sp>
      <p:sp>
        <p:nvSpPr>
          <p:cNvPr id="29" name="Sector interpretation 1">
            <a:extLst>
              <a:ext uri="{FF2B5EF4-FFF2-40B4-BE49-F238E27FC236}">
                <a16:creationId xmlns:a16="http://schemas.microsoft.com/office/drawing/2014/main" id="{BFC2BDC1-F459-EAAA-BB5E-806FD2D52D46}"/>
              </a:ext>
            </a:extLst>
          </p:cNvPr>
          <p:cNvSpPr>
            <a:spLocks noGrp="1"/>
          </p:cNvSpPr>
          <p:nvPr/>
        </p:nvSpPr>
        <p:spPr>
          <a:xfrm>
            <a:off x="7480300" y="3428999"/>
            <a:ext cx="3632200" cy="825500"/>
          </a:xfrm>
          <a:prstGeom prst="rect">
            <a:avLst/>
          </a:prstGeom>
          <a:noFill/>
        </p:spPr>
        <p:txBody>
          <a:bodyPr vert="horz" lIns="0" tIns="0" rIns="0" bIns="0">
            <a:noAutofit/>
          </a:bodyPr>
          <a:lstStyle/>
          <a:p>
            <a:r>
              <a:rPr sz="1250">
                <a:solidFill>
                  <a:schemeClr val="dk1"/>
                </a:solidFill>
                <a:latin typeface="Lato"/>
                <a:ea typeface="Lato"/>
                <a:cs typeface="Lato"/>
              </a:rPr>
              <a:t>Industry residual excludes mining and construction. This is an estimate, not a complete industrial census.</a:t>
            </a:r>
          </a:p>
        </p:txBody>
      </p:sp>
      <p:cxnSp>
        <p:nvCxnSpPr>
          <p:cNvPr id="186" name="Zero axis 1"/>
          <p:cNvCxnSpPr/>
          <p:nvPr/>
        </p:nvCxnSpPr>
        <p:spPr>
          <a:xfrm>
            <a:off x="3263900" y="3390900"/>
            <a:ext cx="0" cy="87630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31" name="Year 1 0">
            <a:extLst>
              <a:ext uri="{FF2B5EF4-FFF2-40B4-BE49-F238E27FC236}">
                <a16:creationId xmlns:a16="http://schemas.microsoft.com/office/drawing/2014/main" id="{16B0186D-8604-9086-8124-5B59F61AB1A9}"/>
              </a:ext>
            </a:extLst>
          </p:cNvPr>
          <p:cNvSpPr>
            <a:spLocks noGrp="1"/>
          </p:cNvSpPr>
          <p:nvPr/>
        </p:nvSpPr>
        <p:spPr>
          <a:xfrm>
            <a:off x="2552700" y="34036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2019</a:t>
            </a:r>
          </a:p>
        </p:txBody>
      </p:sp>
      <p:sp>
        <p:nvSpPr>
          <p:cNvPr id="32" name="Sector bar 1 0">
            <a:extLst>
              <a:ext uri="{FF2B5EF4-FFF2-40B4-BE49-F238E27FC236}">
                <a16:creationId xmlns:a16="http://schemas.microsoft.com/office/drawing/2014/main" id="{2DA6DBBB-2E07-06BE-2A17-FB5203EBAC94}"/>
              </a:ext>
            </a:extLst>
          </p:cNvPr>
          <p:cNvSpPr>
            <a:spLocks noGrp="1"/>
          </p:cNvSpPr>
          <p:nvPr/>
        </p:nvSpPr>
        <p:spPr>
          <a:xfrm>
            <a:off x="3263900" y="3416300"/>
            <a:ext cx="400177" cy="152400"/>
          </a:xfrm>
          <a:prstGeom prst="rect">
            <a:avLst/>
          </a:prstGeom>
          <a:solidFill>
            <a:schemeClr val="accent2"/>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3" name="Value 1 0">
            <a:extLst>
              <a:ext uri="{FF2B5EF4-FFF2-40B4-BE49-F238E27FC236}">
                <a16:creationId xmlns:a16="http://schemas.microsoft.com/office/drawing/2014/main" id="{17BCCB4B-9BA0-D28F-AF5E-09327B282841}"/>
              </a:ext>
            </a:extLst>
          </p:cNvPr>
          <p:cNvSpPr>
            <a:spLocks noGrp="1"/>
          </p:cNvSpPr>
          <p:nvPr/>
        </p:nvSpPr>
        <p:spPr>
          <a:xfrm>
            <a:off x="3740277" y="34036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0.23</a:t>
            </a:r>
          </a:p>
        </p:txBody>
      </p:sp>
      <p:sp>
        <p:nvSpPr>
          <p:cNvPr id="34" name="Year 1 1">
            <a:extLst>
              <a:ext uri="{FF2B5EF4-FFF2-40B4-BE49-F238E27FC236}">
                <a16:creationId xmlns:a16="http://schemas.microsoft.com/office/drawing/2014/main" id="{136F52DC-B196-9F98-C031-615B735A15BB}"/>
              </a:ext>
            </a:extLst>
          </p:cNvPr>
          <p:cNvSpPr>
            <a:spLocks noGrp="1"/>
          </p:cNvSpPr>
          <p:nvPr/>
        </p:nvSpPr>
        <p:spPr>
          <a:xfrm>
            <a:off x="2552700" y="37084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2021</a:t>
            </a:r>
          </a:p>
        </p:txBody>
      </p:sp>
      <p:sp>
        <p:nvSpPr>
          <p:cNvPr id="35" name="Sector bar 1 1">
            <a:extLst>
              <a:ext uri="{FF2B5EF4-FFF2-40B4-BE49-F238E27FC236}">
                <a16:creationId xmlns:a16="http://schemas.microsoft.com/office/drawing/2014/main" id="{4965B220-CF36-3D8E-8803-FFFF46126B6C}"/>
              </a:ext>
            </a:extLst>
          </p:cNvPr>
          <p:cNvSpPr>
            <a:spLocks noGrp="1"/>
          </p:cNvSpPr>
          <p:nvPr/>
        </p:nvSpPr>
        <p:spPr>
          <a:xfrm>
            <a:off x="3263900" y="3721100"/>
            <a:ext cx="278384" cy="152400"/>
          </a:xfrm>
          <a:prstGeom prst="rect">
            <a:avLst/>
          </a:prstGeom>
          <a:solidFill>
            <a:schemeClr val="accent1"/>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6" name="Value 1 1">
            <a:extLst>
              <a:ext uri="{FF2B5EF4-FFF2-40B4-BE49-F238E27FC236}">
                <a16:creationId xmlns:a16="http://schemas.microsoft.com/office/drawing/2014/main" id="{C2AD154B-6A28-84F2-FD3A-53898FEA8469}"/>
              </a:ext>
            </a:extLst>
          </p:cNvPr>
          <p:cNvSpPr>
            <a:spLocks noGrp="1"/>
          </p:cNvSpPr>
          <p:nvPr/>
        </p:nvSpPr>
        <p:spPr>
          <a:xfrm>
            <a:off x="3618484" y="37084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0.16</a:t>
            </a:r>
          </a:p>
        </p:txBody>
      </p:sp>
      <p:sp>
        <p:nvSpPr>
          <p:cNvPr id="37" name="Year 1 2">
            <a:extLst>
              <a:ext uri="{FF2B5EF4-FFF2-40B4-BE49-F238E27FC236}">
                <a16:creationId xmlns:a16="http://schemas.microsoft.com/office/drawing/2014/main" id="{ADCEAD1A-F95E-16BE-B8E7-E7150E877487}"/>
              </a:ext>
            </a:extLst>
          </p:cNvPr>
          <p:cNvSpPr>
            <a:spLocks noGrp="1"/>
          </p:cNvSpPr>
          <p:nvPr/>
        </p:nvSpPr>
        <p:spPr>
          <a:xfrm>
            <a:off x="2552700" y="40132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2025 est.</a:t>
            </a:r>
          </a:p>
        </p:txBody>
      </p:sp>
      <p:sp>
        <p:nvSpPr>
          <p:cNvPr id="38" name="Sector bar 1 2">
            <a:extLst>
              <a:ext uri="{FF2B5EF4-FFF2-40B4-BE49-F238E27FC236}">
                <a16:creationId xmlns:a16="http://schemas.microsoft.com/office/drawing/2014/main" id="{7F8F2217-2E77-347C-505D-DBF279785080}"/>
              </a:ext>
            </a:extLst>
          </p:cNvPr>
          <p:cNvSpPr>
            <a:spLocks noGrp="1"/>
          </p:cNvSpPr>
          <p:nvPr/>
        </p:nvSpPr>
        <p:spPr>
          <a:xfrm>
            <a:off x="3263900" y="4025900"/>
            <a:ext cx="287216" cy="152400"/>
          </a:xfrm>
          <a:prstGeom prst="rect">
            <a:avLst/>
          </a:prstGeom>
          <a:solidFill>
            <a:schemeClr val="lt1"/>
          </a:solidFill>
          <a:ln w="11430" cmpd="sng">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9" name="Value 1 2">
            <a:extLst>
              <a:ext uri="{FF2B5EF4-FFF2-40B4-BE49-F238E27FC236}">
                <a16:creationId xmlns:a16="http://schemas.microsoft.com/office/drawing/2014/main" id="{814FCAB5-F5DB-7991-9CED-5828A76BF304}"/>
              </a:ext>
            </a:extLst>
          </p:cNvPr>
          <p:cNvSpPr>
            <a:spLocks noGrp="1"/>
          </p:cNvSpPr>
          <p:nvPr/>
        </p:nvSpPr>
        <p:spPr>
          <a:xfrm>
            <a:off x="3627316" y="40132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0.17</a:t>
            </a:r>
          </a:p>
        </p:txBody>
      </p:sp>
      <p:cxnSp>
        <p:nvCxnSpPr>
          <p:cNvPr id="196" name="Sector row rule 1"/>
          <p:cNvCxnSpPr/>
          <p:nvPr/>
        </p:nvCxnSpPr>
        <p:spPr>
          <a:xfrm>
            <a:off x="457200" y="4432300"/>
            <a:ext cx="10652760" cy="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41" name="Sector label 2">
            <a:extLst>
              <a:ext uri="{FF2B5EF4-FFF2-40B4-BE49-F238E27FC236}">
                <a16:creationId xmlns:a16="http://schemas.microsoft.com/office/drawing/2014/main" id="{432BC058-6345-93A7-631D-3D57222DD209}"/>
              </a:ext>
            </a:extLst>
          </p:cNvPr>
          <p:cNvSpPr>
            <a:spLocks noGrp="1"/>
          </p:cNvSpPr>
          <p:nvPr/>
        </p:nvSpPr>
        <p:spPr>
          <a:xfrm>
            <a:off x="457200" y="4673599"/>
            <a:ext cx="1968500" cy="711200"/>
          </a:xfrm>
          <a:prstGeom prst="rect">
            <a:avLst/>
          </a:prstGeom>
          <a:noFill/>
        </p:spPr>
        <p:txBody>
          <a:bodyPr vert="horz" lIns="0" tIns="0" rIns="0" bIns="0">
            <a:noAutofit/>
          </a:bodyPr>
          <a:lstStyle/>
          <a:p>
            <a:r>
              <a:rPr sz="1300" b="1">
                <a:solidFill>
                  <a:schemeClr val="accent1"/>
                </a:solidFill>
                <a:latin typeface="Lato"/>
                <a:ea typeface="Lato"/>
                <a:cs typeface="Lato"/>
              </a:rPr>
              <a:t>Agriculture / forestry</a:t>
            </a:r>
          </a:p>
        </p:txBody>
      </p:sp>
      <p:sp>
        <p:nvSpPr>
          <p:cNvPr id="42" name="Sector interpretation 2">
            <a:extLst>
              <a:ext uri="{FF2B5EF4-FFF2-40B4-BE49-F238E27FC236}">
                <a16:creationId xmlns:a16="http://schemas.microsoft.com/office/drawing/2014/main" id="{D9A929E7-20BF-D9F1-A9E4-59AD7B63F9DD}"/>
              </a:ext>
            </a:extLst>
          </p:cNvPr>
          <p:cNvSpPr>
            <a:spLocks noGrp="1"/>
          </p:cNvSpPr>
          <p:nvPr/>
        </p:nvSpPr>
        <p:spPr>
          <a:xfrm>
            <a:off x="7480300" y="4686299"/>
            <a:ext cx="3632200" cy="825500"/>
          </a:xfrm>
          <a:prstGeom prst="rect">
            <a:avLst/>
          </a:prstGeom>
          <a:noFill/>
        </p:spPr>
        <p:txBody>
          <a:bodyPr vert="horz" lIns="0" tIns="0" rIns="0" bIns="0">
            <a:noAutofit/>
          </a:bodyPr>
          <a:lstStyle/>
          <a:p>
            <a:r>
              <a:rPr sz="1250">
                <a:solidFill>
                  <a:schemeClr val="dk1"/>
                </a:solidFill>
                <a:latin typeface="Lato"/>
                <a:ea typeface="Lato"/>
                <a:cs typeface="Lato"/>
              </a:rPr>
              <a:t>2025 real GVA R134.8bn, 2015 prices. Weather, irrigation and transport affect fuel intensity.</a:t>
            </a:r>
          </a:p>
        </p:txBody>
      </p:sp>
      <p:cxnSp>
        <p:nvCxnSpPr>
          <p:cNvPr id="199" name="Zero axis 2"/>
          <p:cNvCxnSpPr/>
          <p:nvPr/>
        </p:nvCxnSpPr>
        <p:spPr>
          <a:xfrm>
            <a:off x="3263900" y="4648200"/>
            <a:ext cx="0" cy="87630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44" name="Year 2 0">
            <a:extLst>
              <a:ext uri="{FF2B5EF4-FFF2-40B4-BE49-F238E27FC236}">
                <a16:creationId xmlns:a16="http://schemas.microsoft.com/office/drawing/2014/main" id="{9A46EBB9-80A4-EB24-BF84-58836D7A29C2}"/>
              </a:ext>
            </a:extLst>
          </p:cNvPr>
          <p:cNvSpPr>
            <a:spLocks noGrp="1"/>
          </p:cNvSpPr>
          <p:nvPr/>
        </p:nvSpPr>
        <p:spPr>
          <a:xfrm>
            <a:off x="2552700" y="46609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2019</a:t>
            </a:r>
          </a:p>
        </p:txBody>
      </p:sp>
      <p:sp>
        <p:nvSpPr>
          <p:cNvPr id="45" name="Sector bar 2 0">
            <a:extLst>
              <a:ext uri="{FF2B5EF4-FFF2-40B4-BE49-F238E27FC236}">
                <a16:creationId xmlns:a16="http://schemas.microsoft.com/office/drawing/2014/main" id="{A778E9EF-151C-CB12-5F7F-F2E63EF28409}"/>
              </a:ext>
            </a:extLst>
          </p:cNvPr>
          <p:cNvSpPr>
            <a:spLocks noGrp="1"/>
          </p:cNvSpPr>
          <p:nvPr/>
        </p:nvSpPr>
        <p:spPr>
          <a:xfrm>
            <a:off x="3263900" y="4673600"/>
            <a:ext cx="1600708" cy="152400"/>
          </a:xfrm>
          <a:prstGeom prst="rect">
            <a:avLst/>
          </a:prstGeom>
          <a:solidFill>
            <a:schemeClr val="accent2"/>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Value 2 0">
            <a:extLst>
              <a:ext uri="{FF2B5EF4-FFF2-40B4-BE49-F238E27FC236}">
                <a16:creationId xmlns:a16="http://schemas.microsoft.com/office/drawing/2014/main" id="{C19BD180-4226-7FCB-5122-31F30A9F3DA0}"/>
              </a:ext>
            </a:extLst>
          </p:cNvPr>
          <p:cNvSpPr>
            <a:spLocks noGrp="1"/>
          </p:cNvSpPr>
          <p:nvPr/>
        </p:nvSpPr>
        <p:spPr>
          <a:xfrm>
            <a:off x="4940808" y="46609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0.92</a:t>
            </a:r>
          </a:p>
        </p:txBody>
      </p:sp>
      <p:sp>
        <p:nvSpPr>
          <p:cNvPr id="47" name="Year 2 1">
            <a:extLst>
              <a:ext uri="{FF2B5EF4-FFF2-40B4-BE49-F238E27FC236}">
                <a16:creationId xmlns:a16="http://schemas.microsoft.com/office/drawing/2014/main" id="{203F43BB-C4C4-EF5B-62D7-C983F44D5D80}"/>
              </a:ext>
            </a:extLst>
          </p:cNvPr>
          <p:cNvSpPr>
            <a:spLocks noGrp="1"/>
          </p:cNvSpPr>
          <p:nvPr/>
        </p:nvSpPr>
        <p:spPr>
          <a:xfrm>
            <a:off x="2552700" y="49657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2021</a:t>
            </a:r>
          </a:p>
        </p:txBody>
      </p:sp>
      <p:sp>
        <p:nvSpPr>
          <p:cNvPr id="49" name="Sector bar 2 1">
            <a:extLst>
              <a:ext uri="{FF2B5EF4-FFF2-40B4-BE49-F238E27FC236}">
                <a16:creationId xmlns:a16="http://schemas.microsoft.com/office/drawing/2014/main" id="{9A65D64C-A255-0484-9B4C-DB1D888CA75A}"/>
              </a:ext>
            </a:extLst>
          </p:cNvPr>
          <p:cNvSpPr>
            <a:spLocks noGrp="1"/>
          </p:cNvSpPr>
          <p:nvPr/>
        </p:nvSpPr>
        <p:spPr>
          <a:xfrm>
            <a:off x="3263900" y="4978400"/>
            <a:ext cx="1844294" cy="152400"/>
          </a:xfrm>
          <a:prstGeom prst="rect">
            <a:avLst/>
          </a:prstGeom>
          <a:solidFill>
            <a:schemeClr val="accent1"/>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0" name="Value 2 1">
            <a:extLst>
              <a:ext uri="{FF2B5EF4-FFF2-40B4-BE49-F238E27FC236}">
                <a16:creationId xmlns:a16="http://schemas.microsoft.com/office/drawing/2014/main" id="{2639BBAA-BF87-EB2E-3B26-AD87F77D4799}"/>
              </a:ext>
            </a:extLst>
          </p:cNvPr>
          <p:cNvSpPr>
            <a:spLocks noGrp="1"/>
          </p:cNvSpPr>
          <p:nvPr/>
        </p:nvSpPr>
        <p:spPr>
          <a:xfrm>
            <a:off x="5184394" y="49657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1.06</a:t>
            </a:r>
          </a:p>
        </p:txBody>
      </p:sp>
      <p:sp>
        <p:nvSpPr>
          <p:cNvPr id="51" name="Year 2 2">
            <a:extLst>
              <a:ext uri="{FF2B5EF4-FFF2-40B4-BE49-F238E27FC236}">
                <a16:creationId xmlns:a16="http://schemas.microsoft.com/office/drawing/2014/main" id="{64995438-4D77-DCFE-8013-D3F2C856DF1C}"/>
              </a:ext>
            </a:extLst>
          </p:cNvPr>
          <p:cNvSpPr>
            <a:spLocks noGrp="1"/>
          </p:cNvSpPr>
          <p:nvPr/>
        </p:nvSpPr>
        <p:spPr>
          <a:xfrm>
            <a:off x="2552700" y="5270500"/>
            <a:ext cx="660400" cy="190500"/>
          </a:xfrm>
          <a:prstGeom prst="rect">
            <a:avLst/>
          </a:prstGeom>
          <a:noFill/>
        </p:spPr>
        <p:txBody>
          <a:bodyPr vert="horz" lIns="0" tIns="0" rIns="0" bIns="0">
            <a:noAutofit/>
          </a:bodyPr>
          <a:lstStyle/>
          <a:p>
            <a:r>
              <a:rPr sz="1000">
                <a:solidFill>
                  <a:schemeClr val="dk1"/>
                </a:solidFill>
                <a:latin typeface="Lato"/>
                <a:ea typeface="Lato"/>
                <a:cs typeface="Lato"/>
              </a:rPr>
              <a:t>2025 est.</a:t>
            </a:r>
          </a:p>
        </p:txBody>
      </p:sp>
      <p:sp>
        <p:nvSpPr>
          <p:cNvPr id="52" name="Sector bar 2 2">
            <a:extLst>
              <a:ext uri="{FF2B5EF4-FFF2-40B4-BE49-F238E27FC236}">
                <a16:creationId xmlns:a16="http://schemas.microsoft.com/office/drawing/2014/main" id="{15ABB96F-19D1-4B54-F98E-900FC6B40019}"/>
              </a:ext>
            </a:extLst>
          </p:cNvPr>
          <p:cNvSpPr>
            <a:spLocks noGrp="1"/>
          </p:cNvSpPr>
          <p:nvPr/>
        </p:nvSpPr>
        <p:spPr>
          <a:xfrm>
            <a:off x="3263900" y="5283200"/>
            <a:ext cx="1968218" cy="152400"/>
          </a:xfrm>
          <a:prstGeom prst="rect">
            <a:avLst/>
          </a:prstGeom>
          <a:solidFill>
            <a:schemeClr val="lt1"/>
          </a:solidFill>
          <a:ln w="11430" cmpd="sng">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Value 2 2">
            <a:extLst>
              <a:ext uri="{FF2B5EF4-FFF2-40B4-BE49-F238E27FC236}">
                <a16:creationId xmlns:a16="http://schemas.microsoft.com/office/drawing/2014/main" id="{85D836A3-6D30-F8E0-F284-6B823EE75E71}"/>
              </a:ext>
            </a:extLst>
          </p:cNvPr>
          <p:cNvSpPr>
            <a:spLocks noGrp="1"/>
          </p:cNvSpPr>
          <p:nvPr/>
        </p:nvSpPr>
        <p:spPr>
          <a:xfrm>
            <a:off x="5308318" y="5270500"/>
            <a:ext cx="546100" cy="190500"/>
          </a:xfrm>
          <a:prstGeom prst="rect">
            <a:avLst/>
          </a:prstGeom>
          <a:noFill/>
        </p:spPr>
        <p:txBody>
          <a:bodyPr vert="horz" lIns="0" tIns="0" rIns="0" bIns="0">
            <a:noAutofit/>
          </a:bodyPr>
          <a:lstStyle/>
          <a:p>
            <a:r>
              <a:rPr sz="1000" b="1">
                <a:solidFill>
                  <a:schemeClr val="accent1"/>
                </a:solidFill>
                <a:latin typeface="Lato"/>
                <a:ea typeface="Lato"/>
                <a:cs typeface="Lato"/>
              </a:rPr>
              <a:t>1.13</a:t>
            </a:r>
          </a:p>
        </p:txBody>
      </p:sp>
      <p:cxnSp>
        <p:nvCxnSpPr>
          <p:cNvPr id="209" name="Sector row rule 2"/>
          <p:cNvCxnSpPr/>
          <p:nvPr/>
        </p:nvCxnSpPr>
        <p:spPr>
          <a:xfrm>
            <a:off x="457200" y="5689600"/>
            <a:ext cx="10652760" cy="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55" name="Chart scale note">
            <a:extLst>
              <a:ext uri="{FF2B5EF4-FFF2-40B4-BE49-F238E27FC236}">
                <a16:creationId xmlns:a16="http://schemas.microsoft.com/office/drawing/2014/main" id="{108C89DE-252D-F272-16FF-23DAE5529CC0}"/>
              </a:ext>
            </a:extLst>
          </p:cNvPr>
          <p:cNvSpPr>
            <a:spLocks noGrp="1"/>
          </p:cNvSpPr>
          <p:nvPr/>
        </p:nvSpPr>
        <p:spPr>
          <a:xfrm>
            <a:off x="2552700" y="5740399"/>
            <a:ext cx="8382000" cy="203200"/>
          </a:xfrm>
          <a:prstGeom prst="rect">
            <a:avLst/>
          </a:prstGeom>
          <a:noFill/>
        </p:spPr>
        <p:txBody>
          <a:bodyPr vert="horz" lIns="0" tIns="0" rIns="0" bIns="0">
            <a:noAutofit/>
          </a:bodyPr>
          <a:lstStyle/>
          <a:p>
            <a:r>
              <a:rPr sz="900">
                <a:solidFill>
                  <a:schemeClr val="dk1"/>
                </a:solidFill>
                <a:latin typeface="Lato"/>
                <a:ea typeface="Lato"/>
                <a:cs typeface="Lato"/>
              </a:rPr>
              <a:t>Bars start at zero; all sectors use the same 0-2bn litre scale. Outlined bars are estimates.</a:t>
            </a:r>
          </a:p>
        </p:txBody>
      </p:sp>
      <p:sp>
        <p:nvSpPr>
          <p:cNvPr id="56" name="Interpretation">
            <a:extLst>
              <a:ext uri="{FF2B5EF4-FFF2-40B4-BE49-F238E27FC236}">
                <a16:creationId xmlns:a16="http://schemas.microsoft.com/office/drawing/2014/main" id="{13AC0CB5-A862-29E0-D32E-F0683B42E7CF}"/>
              </a:ext>
            </a:extLst>
          </p:cNvPr>
          <p:cNvSpPr>
            <a:spLocks noGrp="1"/>
          </p:cNvSpPr>
          <p:nvPr/>
        </p:nvSpPr>
        <p:spPr>
          <a:xfrm>
            <a:off x="457200" y="5969000"/>
            <a:ext cx="10655300" cy="190500"/>
          </a:xfrm>
          <a:prstGeom prst="rect">
            <a:avLst/>
          </a:prstGeom>
          <a:noFill/>
        </p:spPr>
        <p:txBody>
          <a:bodyPr vert="horz" lIns="0" tIns="0" rIns="0" bIns="0">
            <a:noAutofit/>
          </a:bodyPr>
          <a:lstStyle/>
          <a:p>
            <a:r>
              <a:rPr sz="950">
                <a:solidFill>
                  <a:schemeClr val="dk1"/>
                </a:solidFill>
                <a:latin typeface="Lato"/>
                <a:ea typeface="Lato"/>
                <a:cs typeface="Lato"/>
              </a:rPr>
              <a:t>2025 estimates apply average 2018–2021 intensity to sector activity. They require reconciliation with road use and total diesel sales.</a:t>
            </a:r>
          </a:p>
        </p:txBody>
      </p:sp>
      <p:graphicFrame>
        <p:nvGraphicFramePr>
          <p:cNvPr id="5010"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2634408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0B56F-08DA-4B85-8416-CC3ADB7A5A1B}"/>
              </a:ext>
            </a:extLst>
          </p:cNvPr>
          <p:cNvSpPr>
            <a:spLocks noGrp="1"/>
          </p:cNvSpPr>
          <p:nvPr>
            <p:ph type="title"/>
          </p:nvPr>
        </p:nvSpPr>
        <p:spPr/>
        <p:txBody>
          <a:bodyPr>
            <a:normAutofit/>
          </a:bodyPr>
          <a:lstStyle/>
          <a:p>
            <a:r>
              <a:rPr sz="2300">
                <a:solidFill>
                  <a:schemeClr val="dk1"/>
                </a:solidFill>
                <a:latin typeface="Lato"/>
                <a:ea typeface="Lato"/>
                <a:cs typeface="Lato"/>
              </a:rPr>
              <a:t>Refinery shutdowns have increased reliance on imported petrol and diesel</a:t>
            </a:r>
          </a:p>
        </p:txBody>
      </p:sp>
      <p:sp>
        <p:nvSpPr>
          <p:cNvPr id="3" name="Slide Number Placeholder">
            <a:extLst>
              <a:ext uri="{FF2B5EF4-FFF2-40B4-BE49-F238E27FC236}">
                <a16:creationId xmlns:a16="http://schemas.microsoft.com/office/drawing/2014/main" id="{FEFA7B83-3726-45DF-A5AB-B24342BB24DB}"/>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11</a:t>
            </a:r>
          </a:p>
        </p:txBody>
      </p:sp>
      <p:sp>
        <p:nvSpPr>
          <p:cNvPr id="8" name="Unified source footer">
            <a:extLst>
              <a:ext uri="{FF2B5EF4-FFF2-40B4-BE49-F238E27FC236}">
                <a16:creationId xmlns:a16="http://schemas.microsoft.com/office/drawing/2014/main" id="{16008754-6803-44E9-AEE0-1B2AA7EF993B}"/>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SARS litre-reported petrol/diesel codes, complete calendar years. 2020–2025 changes are historical comparisons, not plant-level causal attribution. Export histories retained in the source report; unit/blend exclusions remain.</a:t>
            </a:r>
          </a:p>
        </p:txBody>
      </p:sp>
      <p:sp>
        <p:nvSpPr>
          <p:cNvPr id="48" name="Strictly Confidential footer">
            <a:extLst>
              <a:ext uri="{FF2B5EF4-FFF2-40B4-BE49-F238E27FC236}">
                <a16:creationId xmlns:a16="http://schemas.microsoft.com/office/drawing/2014/main" id="{2B92F5C3-2C5B-49AA-A8C1-20D197C425DE}"/>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a:ext uri="{FF2B5EF4-FFF2-40B4-BE49-F238E27FC236}">
                <a16:creationId xmlns:a16="http://schemas.microsoft.com/office/drawing/2014/main" id="{1F651618-E88B-F09E-4383-953C0C2A27BA}"/>
              </a:ext>
            </a:extLst>
          </p:cNvPr>
          <p:cNvSpPr>
            <a:spLocks noGrp="1"/>
          </p:cNvSpPr>
          <p:nvPr/>
        </p:nvSpPr>
        <p:spPr>
          <a:xfrm>
            <a:off x="533400" y="5600699"/>
            <a:ext cx="10477500" cy="482600"/>
          </a:xfrm>
          <a:prstGeom prst="rect">
            <a:avLst/>
          </a:prstGeom>
          <a:noFill/>
        </p:spPr>
        <p:txBody>
          <a:bodyPr vert="horz" lIns="0" tIns="0" rIns="0" bIns="0">
            <a:noAutofit/>
          </a:bodyPr>
          <a:lstStyle/>
          <a:p>
            <a:r>
              <a:rPr sz="1050">
                <a:solidFill>
                  <a:schemeClr val="dk1"/>
                </a:solidFill>
                <a:latin typeface="Lato"/>
                <a:ea typeface="Lato"/>
                <a:cs typeface="Lato"/>
              </a:rPr>
              <a:t>2025 imports: diesel 12.25bn L and petrol 4.45bn L, net 15.15bn L. Durban customs accounts for 13.16bn L; terminal capture remains unverified.</a:t>
            </a:r>
          </a:p>
        </p:txBody>
      </p:sp>
      <p:pic>
        <p:nvPicPr>
          <p:cNvPr id="59"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a:spLocks noGrp="1"/>
          </p:cNvSpPr>
          <p:nvPr/>
        </p:nvSpPr>
        <p:spPr>
          <a:xfrm>
            <a:off x="457200" y="1625600"/>
            <a:ext cx="6900718" cy="184666"/>
          </a:xfrm>
          <a:prstGeom prst="rect">
            <a:avLst/>
          </a:prstGeom>
          <a:noFill/>
        </p:spPr>
        <p:txBody>
          <a:bodyPr vert="horz" lIns="0" tIns="0" rIns="0" bIns="0">
            <a:spAutoFit/>
          </a:bodyPr>
          <a:lstStyle/>
          <a:p>
            <a:r>
              <a:rPr sz="1200" b="1">
                <a:solidFill>
                  <a:schemeClr val="dk1"/>
                </a:solidFill>
                <a:latin typeface="Lato"/>
                <a:ea typeface="Lato"/>
                <a:cs typeface="Lato"/>
              </a:rPr>
              <a:t>Import trend</a:t>
            </a:r>
          </a:p>
        </p:txBody>
      </p:sp>
      <p:sp>
        <p:nvSpPr>
          <p:cNvPr id="16" name="Aligned panel subtitle">
            <a:extLst>
              <a:ext uri="{FF2B5EF4-FFF2-40B4-BE49-F238E27FC236}">
                <a16:creationId xmlns:a16="http://schemas.microsoft.com/office/drawing/2014/main" id="{A6FB8A44-2E10-A3A7-1081-800C64B998A5}"/>
              </a:ext>
            </a:extLst>
          </p:cNvPr>
          <p:cNvSpPr>
            <a:spLocks noGrp="1"/>
          </p:cNvSpPr>
          <p:nvPr/>
        </p:nvSpPr>
        <p:spPr>
          <a:xfrm>
            <a:off x="7637318" y="1625600"/>
            <a:ext cx="3472642" cy="184666"/>
          </a:xfrm>
          <a:prstGeom prst="rect">
            <a:avLst/>
          </a:prstGeom>
          <a:noFill/>
        </p:spPr>
        <p:txBody>
          <a:bodyPr vert="horz" lIns="0" tIns="0" rIns="0" bIns="0">
            <a:spAutoFit/>
          </a:bodyPr>
          <a:lstStyle/>
          <a:p>
            <a:r>
              <a:rPr sz="1200" b="1">
                <a:solidFill>
                  <a:schemeClr val="dk1"/>
                </a:solidFill>
                <a:latin typeface="Lato"/>
                <a:ea typeface="Lato"/>
                <a:cs typeface="Lato"/>
              </a:rPr>
              <a:t>Change since 2020</a:t>
            </a:r>
          </a:p>
        </p:txBody>
      </p:sp>
      <p:sp>
        <p:nvSpPr>
          <p:cNvPr id="13" name="Content margin panel rule">
            <a:extLst>
              <a:ext uri="{FF2B5EF4-FFF2-40B4-BE49-F238E27FC236}">
                <a16:creationId xmlns:a16="http://schemas.microsoft.com/office/drawing/2014/main" id="{D6DC779E-728D-455D-A589-41B88D770255}"/>
              </a:ext>
            </a:extLst>
          </p:cNvPr>
          <p:cNvSpPr>
            <a:spLocks noGrp="1"/>
          </p:cNvSpPr>
          <p:nvPr/>
        </p:nvSpPr>
        <p:spPr>
          <a:xfrm>
            <a:off x="7637318" y="1907308"/>
            <a:ext cx="3472642"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7" name="Content margin panel rule">
            <a:extLst>
              <a:ext uri="{FF2B5EF4-FFF2-40B4-BE49-F238E27FC236}">
                <a16:creationId xmlns:a16="http://schemas.microsoft.com/office/drawing/2014/main" id="{DAE682B4-99EA-4AAA-91A8-BE5345521110}"/>
              </a:ext>
            </a:extLst>
          </p:cNvPr>
          <p:cNvSpPr>
            <a:spLocks noGrp="1"/>
          </p:cNvSpPr>
          <p:nvPr/>
        </p:nvSpPr>
        <p:spPr>
          <a:xfrm>
            <a:off x="457200" y="1907308"/>
            <a:ext cx="6926118"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graphicFrame>
        <p:nvGraphicFramePr>
          <p:cNvPr id="5011"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1409227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2DF0-4DD1-43F1-BB63-EC445950331B}"/>
              </a:ext>
            </a:extLst>
          </p:cNvPr>
          <p:cNvSpPr>
            <a:spLocks noGrp="1"/>
          </p:cNvSpPr>
          <p:nvPr>
            <p:ph type="title"/>
          </p:nvPr>
        </p:nvSpPr>
        <p:spPr/>
        <p:txBody>
          <a:bodyPr>
            <a:normAutofit/>
          </a:bodyPr>
          <a:lstStyle/>
          <a:p>
            <a:r>
              <a:rPr sz="2300">
                <a:solidFill>
                  <a:schemeClr val="dk1"/>
                </a:solidFill>
                <a:latin typeface="Lato"/>
                <a:ea typeface="Lato"/>
                <a:cs typeface="Lato"/>
              </a:rPr>
              <a:t>Emerging Maputo and Walvis Bay routes must be tested alongside Durban and domestic supply</a:t>
            </a:r>
          </a:p>
        </p:txBody>
      </p:sp>
      <p:sp>
        <p:nvSpPr>
          <p:cNvPr id="3" name="Slide Number Placeholder">
            <a:extLst>
              <a:ext uri="{FF2B5EF4-FFF2-40B4-BE49-F238E27FC236}">
                <a16:creationId xmlns:a16="http://schemas.microsoft.com/office/drawing/2014/main" id="{AD135D3A-C5B5-498F-9667-7478E830595B}"/>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12</a:t>
            </a:r>
          </a:p>
        </p:txBody>
      </p:sp>
      <p:sp>
        <p:nvSpPr>
          <p:cNvPr id="8" name="Unified source footer">
            <a:extLst>
              <a:ext uri="{FF2B5EF4-FFF2-40B4-BE49-F238E27FC236}">
                <a16:creationId xmlns:a16="http://schemas.microsoft.com/office/drawing/2014/main" id="{56547A1D-F847-4BD0-A092-249BAA32B349}"/>
              </a:ext>
            </a:extLst>
          </p:cNvPr>
          <p:cNvSpPr>
            <a:spLocks noGrp="1"/>
          </p:cNvSpPr>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p>
        </p:txBody>
      </p:sp>
      <p:sp>
        <p:nvSpPr>
          <p:cNvPr id="48" name="Strictly Confidential footer">
            <a:extLst>
              <a:ext uri="{FF2B5EF4-FFF2-40B4-BE49-F238E27FC236}">
                <a16:creationId xmlns:a16="http://schemas.microsoft.com/office/drawing/2014/main" id="{65AD0587-6905-4E92-8C6E-C186A5C1BC0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a:ext uri="{FF2B5EF4-FFF2-40B4-BE49-F238E27FC236}">
                <a16:creationId xmlns:a16="http://schemas.microsoft.com/office/drawing/2014/main" id="{1516117D-4450-D13E-2623-2F637C71BC06}"/>
              </a:ext>
            </a:extLst>
          </p:cNvPr>
          <p:cNvSpPr>
            <a:spLocks noGrp="1"/>
          </p:cNvSpPr>
          <p:nvPr/>
        </p:nvSpPr>
        <p:spPr>
          <a:xfrm>
            <a:off x="533400" y="5613400"/>
            <a:ext cx="10477500" cy="369332"/>
          </a:xfrm>
          <a:prstGeom prst="rect">
            <a:avLst/>
          </a:prstGeom>
          <a:noFill/>
        </p:spPr>
        <p:txBody>
          <a:bodyPr vert="horz" lIns="0" tIns="0" rIns="0" bIns="0">
            <a:spAutoFit/>
          </a:bodyPr>
          <a:lstStyle/>
          <a:p>
            <a:r>
              <a:rPr sz="1200">
                <a:solidFill>
                  <a:schemeClr val="dk1"/>
                </a:solidFill>
                <a:latin typeface="Lato"/>
                <a:ea typeface="Lato"/>
                <a:cs typeface="Lato"/>
              </a:rPr>
              <a:t>MPP use averaged 105ML/week in FY2025 against 148ML/week capacity. Compare route costs and access by destination; average spare capacity gives no Vopak entitlement.</a:t>
            </a:r>
          </a:p>
        </p:txBody>
      </p:sp>
      <p:pic>
        <p:nvPicPr>
          <p:cNvPr id="59"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a:spLocks noGrp="1"/>
          </p:cNvSpPr>
          <p:nvPr/>
        </p:nvSpPr>
        <p:spPr>
          <a:xfrm>
            <a:off x="457200" y="1625600"/>
            <a:ext cx="6554354" cy="184666"/>
          </a:xfrm>
          <a:prstGeom prst="rect">
            <a:avLst/>
          </a:prstGeom>
          <a:noFill/>
        </p:spPr>
        <p:txBody>
          <a:bodyPr vert="horz" lIns="0" tIns="0" rIns="0" bIns="0">
            <a:spAutoFit/>
          </a:bodyPr>
          <a:lstStyle/>
          <a:p>
            <a:r>
              <a:rPr sz="1200" b="1">
                <a:solidFill>
                  <a:schemeClr val="dk1"/>
                </a:solidFill>
                <a:latin typeface="Lato"/>
                <a:ea typeface="Lato"/>
                <a:cs typeface="Lato"/>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a:spLocks noGrp="1"/>
          </p:cNvSpPr>
          <p:nvPr/>
        </p:nvSpPr>
        <p:spPr>
          <a:xfrm>
            <a:off x="7290954" y="1625600"/>
            <a:ext cx="3819005" cy="184666"/>
          </a:xfrm>
          <a:prstGeom prst="rect">
            <a:avLst/>
          </a:prstGeom>
          <a:noFill/>
        </p:spPr>
        <p:txBody>
          <a:bodyPr vert="horz" lIns="0" tIns="0" rIns="0" bIns="0">
            <a:spAutoFit/>
          </a:bodyPr>
          <a:lstStyle/>
          <a:p>
            <a:r>
              <a:rPr sz="1200" b="1">
                <a:solidFill>
                  <a:schemeClr val="dk1"/>
                </a:solidFill>
                <a:latin typeface="Lato"/>
                <a:ea typeface="Lato"/>
                <a:cs typeface="Lato"/>
              </a:rPr>
              <a:t>Same product, same destination</a:t>
            </a:r>
          </a:p>
        </p:txBody>
      </p:sp>
      <p:sp>
        <p:nvSpPr>
          <p:cNvPr id="13" name="Content margin panel rule">
            <a:extLst>
              <a:ext uri="{FF2B5EF4-FFF2-40B4-BE49-F238E27FC236}">
                <a16:creationId xmlns:a16="http://schemas.microsoft.com/office/drawing/2014/main" id="{C974DB04-0502-4558-89FC-5F09F4B51542}"/>
              </a:ext>
            </a:extLst>
          </p:cNvPr>
          <p:cNvSpPr>
            <a:spLocks noGrp="1"/>
          </p:cNvSpPr>
          <p:nvPr/>
        </p:nvSpPr>
        <p:spPr>
          <a:xfrm>
            <a:off x="7290954" y="1907308"/>
            <a:ext cx="3819006"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7" name="Content margin panel rule">
            <a:extLst>
              <a:ext uri="{FF2B5EF4-FFF2-40B4-BE49-F238E27FC236}">
                <a16:creationId xmlns:a16="http://schemas.microsoft.com/office/drawing/2014/main" id="{CF52A104-DBDB-4AB9-BEC6-9CA4D194D7DB}"/>
              </a:ext>
            </a:extLst>
          </p:cNvPr>
          <p:cNvSpPr>
            <a:spLocks noGrp="1"/>
          </p:cNvSpPr>
          <p:nvPr/>
        </p:nvSpPr>
        <p:spPr>
          <a:xfrm>
            <a:off x="457200" y="1907308"/>
            <a:ext cx="6579754"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graphicFrame>
        <p:nvGraphicFramePr>
          <p:cNvPr id="5012"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2333413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8C25B-368D-4D35-972F-9DD7B29DBC15}"/>
              </a:ext>
            </a:extLst>
          </p:cNvPr>
          <p:cNvSpPr>
            <a:spLocks noGrp="1"/>
          </p:cNvSpPr>
          <p:nvPr>
            <p:ph type="title"/>
          </p:nvPr>
        </p:nvSpPr>
        <p:spPr/>
        <p:txBody>
          <a:bodyPr>
            <a:normAutofit fontScale="90000"/>
          </a:bodyPr>
          <a:lstStyle/>
          <a:p>
            <a:r>
              <a:rPr sz="2300">
                <a:solidFill>
                  <a:schemeClr val="dk1"/>
                </a:solidFill>
                <a:latin typeface="Lato"/>
                <a:ea typeface="Lato"/>
                <a:cs typeface="Lato"/>
              </a:rPr>
              <a:t>Durban and Lesedi connect coastal supply to Gauteng; operating data must establish room for growth</a:t>
            </a:r>
          </a:p>
        </p:txBody>
      </p:sp>
      <p:sp>
        <p:nvSpPr>
          <p:cNvPr id="3" name="Slide Number Placeholder">
            <a:extLst>
              <a:ext uri="{FF2B5EF4-FFF2-40B4-BE49-F238E27FC236}">
                <a16:creationId xmlns:a16="http://schemas.microsoft.com/office/drawing/2014/main" id="{A1AFBDFB-5C3E-4912-878A-87639B0BF6B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13</a:t>
            </a:r>
          </a:p>
        </p:txBody>
      </p:sp>
      <p:sp>
        <p:nvSpPr>
          <p:cNvPr id="8" name="Unified source footer">
            <a:extLst>
              <a:ext uri="{FF2B5EF4-FFF2-40B4-BE49-F238E27FC236}">
                <a16:creationId xmlns:a16="http://schemas.microsoft.com/office/drawing/2014/main" id="{07ACD7EF-36C8-4B8B-A542-B65218D9C1DD}"/>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Vopak terminal directory; NERSA Lesedi licence documents; registered terminal_site_assumptions.csv; Transnet Pipelines 2025 p8. Gross capacity, estimated working tankage and annual throughput have different meanings.</a:t>
            </a:r>
          </a:p>
        </p:txBody>
      </p:sp>
      <p:graphicFrame>
        <p:nvGraphicFramePr>
          <p:cNvPr id="53"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Asset / measure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Established position</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must be established</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Durban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360,246 m³ published gross capacity.
Coastal receipt and onward distribution; mixed products.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146,000 m³ estimated working subset from the 162,000 m³ expansion. Full petrol/diesel allocation still needs confirmation.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Lesedi</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140,000 m3 clean-product capacity.
Includes the 40,000 m3 expansion
commissioned in October 2025.</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124,000 m³ working estimate: 88,000 documented plus 36,000 estimated for newer tanks. Actual throughput remains open.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Operating constraints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MPP use/capacity: 105 / 148ML per week in FY2025. Shared annualised use 5.46bn L.</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Measure receipt, pipeline and dispatch limits, seasonal peaks and stock requirements.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Implication for growth</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Actual throughput and achievable turns are not yet established in this review.</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No spare capacity is claimed. Test captured demand against verified handling limits before selecting investment.</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BA702CC3-37E5-4009-AD9A-1C8DD0C784D5}"/>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13"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1302896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03F0-AE1A-4C9B-BB07-014163B5941F}"/>
              </a:ext>
            </a:extLst>
          </p:cNvPr>
          <p:cNvSpPr>
            <a:spLocks noGrp="1"/>
          </p:cNvSpPr>
          <p:nvPr>
            <p:ph type="title"/>
          </p:nvPr>
        </p:nvSpPr>
        <p:spPr/>
        <p:txBody>
          <a:bodyPr>
            <a:normAutofit/>
          </a:bodyPr>
          <a:lstStyle/>
          <a:p>
            <a:r>
              <a:rPr sz="2300">
                <a:solidFill>
                  <a:schemeClr val="dk1"/>
                </a:solidFill>
                <a:latin typeface="Lato"/>
                <a:ea typeface="Lato"/>
                <a:cs typeface="Lato"/>
              </a:rPr>
              <a:t>Rail recovery, EV adoption and combustion-vehicle efficiency could reduce transport fuel demand</a:t>
            </a:r>
          </a:p>
        </p:txBody>
      </p:sp>
      <p:sp>
        <p:nvSpPr>
          <p:cNvPr id="3" name="Slide Number Placeholder">
            <a:extLst>
              <a:ext uri="{FF2B5EF4-FFF2-40B4-BE49-F238E27FC236}">
                <a16:creationId xmlns:a16="http://schemas.microsoft.com/office/drawing/2014/main" id="{B53DC3C2-49F9-4B3B-90FA-25F28D0A84E8}"/>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14</a:t>
            </a:r>
          </a:p>
        </p:txBody>
      </p:sp>
      <p:sp>
        <p:nvSpPr>
          <p:cNvPr id="8" name="Unified source footer">
            <a:extLst>
              <a:ext uri="{FF2B5EF4-FFF2-40B4-BE49-F238E27FC236}">
                <a16:creationId xmlns:a16="http://schemas.microsoft.com/office/drawing/2014/main" id="{99B0A201-5477-4714-A143-4880B140D7E1}"/>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Stats SA freight; naamsa all-market sales 2019-2025, Workbook Vehicle history S31:S36. BEV/PHEV/HEV sales are distinct from fleet shares. Efficiency paths remain model assumptions, with OEM history and annual calibration open.</a:t>
            </a:r>
          </a:p>
        </p:txBody>
      </p:sp>
      <p:sp>
        <p:nvSpPr>
          <p:cNvPr id="48" name="Strictly Confidential footer">
            <a:extLst>
              <a:ext uri="{FF2B5EF4-FFF2-40B4-BE49-F238E27FC236}">
                <a16:creationId xmlns:a16="http://schemas.microsoft.com/office/drawing/2014/main" id="{76B43FBB-F26F-41FD-A4FF-60A741BC470A}"/>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58"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a:spLocks noGrp="1"/>
          </p:cNvSpPr>
          <p:nvPr/>
        </p:nvSpPr>
        <p:spPr>
          <a:xfrm>
            <a:off x="533400" y="5600699"/>
            <a:ext cx="10477500" cy="482600"/>
          </a:xfrm>
          <a:prstGeom prst="rect">
            <a:avLst/>
          </a:prstGeom>
          <a:noFill/>
        </p:spPr>
        <p:txBody>
          <a:bodyPr vert="horz" lIns="0" tIns="0" rIns="0" bIns="0">
            <a:noAutofit/>
          </a:bodyPr>
          <a:lstStyle/>
          <a:p>
            <a:r>
              <a:rPr sz="1050">
                <a:solidFill>
                  <a:schemeClr val="dk1"/>
                </a:solidFill>
                <a:latin typeface="Lato"/>
                <a:ea typeface="Lato"/>
                <a:cs typeface="Lato"/>
              </a:rPr>
              <a:t>2025 BEV sales were 0.18% of new sales. Manish reviewed the implemented EV/efficiency pair; hybrid savings and rail diversion still need explicit combination rules.</a:t>
            </a:r>
          </a:p>
        </p:txBody>
      </p:sp>
      <p:graphicFrame>
        <p:nvGraphicFramePr>
          <p:cNvPr id="5014"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337224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9D150-EAFA-48A7-99C8-0E1F697BFF25}"/>
              </a:ext>
            </a:extLst>
          </p:cNvPr>
          <p:cNvSpPr>
            <a:spLocks noGrp="1"/>
          </p:cNvSpPr>
          <p:nvPr>
            <p:ph type="title"/>
          </p:nvPr>
        </p:nvSpPr>
        <p:spPr/>
        <p:txBody>
          <a:bodyPr>
            <a:normAutofit/>
          </a:bodyPr>
          <a:lstStyle/>
          <a:p>
            <a:r>
              <a:rPr sz="2300">
                <a:solidFill>
                  <a:schemeClr val="dk1"/>
                </a:solidFill>
                <a:latin typeface="Lato"/>
                <a:ea typeface="Lato"/>
                <a:cs typeface="Lato"/>
              </a:rPr>
              <a:t>Power generation recovery could lower diesel use further, while outages and replacement delays could sustain domestic demand</a:t>
            </a:r>
          </a:p>
        </p:txBody>
      </p:sp>
      <p:sp>
        <p:nvSpPr>
          <p:cNvPr id="3" name="Slide Number Placeholder">
            <a:extLst>
              <a:ext uri="{FF2B5EF4-FFF2-40B4-BE49-F238E27FC236}">
                <a16:creationId xmlns:a16="http://schemas.microsoft.com/office/drawing/2014/main" id="{570B2B05-BEFB-434E-9E2C-5351B95876C6}"/>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15</a:t>
            </a:r>
          </a:p>
        </p:txBody>
      </p:sp>
      <p:sp>
        <p:nvSpPr>
          <p:cNvPr id="8" name="Unified source footer">
            <a:extLst>
              <a:ext uri="{FF2B5EF4-FFF2-40B4-BE49-F238E27FC236}">
                <a16:creationId xmlns:a16="http://schemas.microsoft.com/office/drawing/2014/main" id="{94C50196-EBAD-4F9B-9225-FA27920ACCCA}"/>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Eskom FY ending March: reported own diesel + kerosene; Eskom/IPP GWh include kerosene output. Workbook Power fleet separates the four diesel stations. Gas switch, coal-site repowering and L/M/H settings await Nigel/Henry review.</a:t>
            </a:r>
          </a:p>
        </p:txBody>
      </p:sp>
      <p:sp>
        <p:nvSpPr>
          <p:cNvPr id="48" name="Strictly Confidential footer">
            <a:extLst>
              <a:ext uri="{FF2B5EF4-FFF2-40B4-BE49-F238E27FC236}">
                <a16:creationId xmlns:a16="http://schemas.microsoft.com/office/drawing/2014/main" id="{F656CD02-15EA-45B2-BBFF-FC5E660F4951}"/>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a:ext uri="{FF2B5EF4-FFF2-40B4-BE49-F238E27FC236}">
                <a16:creationId xmlns:a16="http://schemas.microsoft.com/office/drawing/2014/main" id="{F675C8EF-7362-9FCC-FB56-1545DD74A102}"/>
              </a:ext>
            </a:extLst>
          </p:cNvPr>
          <p:cNvSpPr>
            <a:spLocks noGrp="1"/>
          </p:cNvSpPr>
          <p:nvPr/>
        </p:nvSpPr>
        <p:spPr>
          <a:xfrm>
            <a:off x="533400" y="5600699"/>
            <a:ext cx="10477500" cy="482600"/>
          </a:xfrm>
          <a:prstGeom prst="rect">
            <a:avLst/>
          </a:prstGeom>
          <a:noFill/>
        </p:spPr>
        <p:txBody>
          <a:bodyPr vert="horz" lIns="0" tIns="0" rIns="0" bIns="0">
            <a:noAutofit/>
          </a:bodyPr>
          <a:lstStyle/>
          <a:p>
            <a:r>
              <a:rPr sz="1050">
                <a:solidFill>
                  <a:schemeClr val="dk1"/>
                </a:solidFill>
                <a:latin typeface="Lato"/>
                <a:ea typeface="Lato"/>
                <a:cs typeface="Lato"/>
              </a:rPr>
              <a:t>The engine still includes 3,000MW of notional plants. Reconcile power and road baselines jointly against reported Eskom fuel and estimated IPP burn before forecasting.</a:t>
            </a:r>
          </a:p>
        </p:txBody>
      </p:sp>
      <p:pic>
        <p:nvPicPr>
          <p:cNvPr id="59"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a:spLocks noGrp="1"/>
          </p:cNvSpPr>
          <p:nvPr/>
        </p:nvSpPr>
        <p:spPr>
          <a:xfrm>
            <a:off x="457200" y="1625600"/>
            <a:ext cx="3471718" cy="184666"/>
          </a:xfrm>
          <a:prstGeom prst="rect">
            <a:avLst/>
          </a:prstGeom>
          <a:noFill/>
        </p:spPr>
        <p:txBody>
          <a:bodyPr vert="horz" lIns="0" tIns="0" rIns="0" bIns="0">
            <a:spAutoFit/>
          </a:bodyPr>
          <a:lstStyle/>
          <a:p>
            <a:r>
              <a:rPr sz="1200" b="1">
                <a:solidFill>
                  <a:schemeClr val="dk1"/>
                </a:solidFill>
                <a:latin typeface="Lato"/>
                <a:ea typeface="Lato"/>
                <a:cs typeface="Lato"/>
              </a:rPr>
              <a:t>Diesel use</a:t>
            </a:r>
          </a:p>
        </p:txBody>
      </p:sp>
      <p:sp>
        <p:nvSpPr>
          <p:cNvPr id="17" name="Aligned panel subtitle">
            <a:extLst>
              <a:ext uri="{FF2B5EF4-FFF2-40B4-BE49-F238E27FC236}">
                <a16:creationId xmlns:a16="http://schemas.microsoft.com/office/drawing/2014/main" id="{422D356C-8F8B-BE3B-7BA1-F10680E53CDD}"/>
              </a:ext>
            </a:extLst>
          </p:cNvPr>
          <p:cNvSpPr>
            <a:spLocks noGrp="1"/>
          </p:cNvSpPr>
          <p:nvPr/>
        </p:nvSpPr>
        <p:spPr>
          <a:xfrm>
            <a:off x="4208318" y="1625600"/>
            <a:ext cx="3091873" cy="184666"/>
          </a:xfrm>
          <a:prstGeom prst="rect">
            <a:avLst/>
          </a:prstGeom>
          <a:noFill/>
        </p:spPr>
        <p:txBody>
          <a:bodyPr vert="horz" lIns="0" tIns="0" rIns="0" bIns="0">
            <a:spAutoFit/>
          </a:bodyPr>
          <a:lstStyle/>
          <a:p>
            <a:r>
              <a:rPr sz="1200" b="1">
                <a:solidFill>
                  <a:schemeClr val="dk1"/>
                </a:solidFill>
                <a:latin typeface="Lato"/>
                <a:ea typeface="Lato"/>
                <a:cs typeface="Lato"/>
              </a:rPr>
              <a:t>Fleet availability</a:t>
            </a:r>
          </a:p>
        </p:txBody>
      </p:sp>
      <p:sp>
        <p:nvSpPr>
          <p:cNvPr id="18" name="Aligned panel subtitle">
            <a:extLst>
              <a:ext uri="{FF2B5EF4-FFF2-40B4-BE49-F238E27FC236}">
                <a16:creationId xmlns:a16="http://schemas.microsoft.com/office/drawing/2014/main" id="{9696205B-021F-AFFC-619E-3E3C643F6B2D}"/>
              </a:ext>
            </a:extLst>
          </p:cNvPr>
          <p:cNvSpPr>
            <a:spLocks noGrp="1"/>
          </p:cNvSpPr>
          <p:nvPr/>
        </p:nvSpPr>
        <p:spPr>
          <a:xfrm>
            <a:off x="7579591" y="1625600"/>
            <a:ext cx="3530369" cy="184666"/>
          </a:xfrm>
          <a:prstGeom prst="rect">
            <a:avLst/>
          </a:prstGeom>
          <a:noFill/>
        </p:spPr>
        <p:txBody>
          <a:bodyPr vert="horz" lIns="0" tIns="0" rIns="0" bIns="0">
            <a:spAutoFit/>
          </a:bodyPr>
          <a:lstStyle/>
          <a:p>
            <a:r>
              <a:rPr sz="1200" b="1">
                <a:solidFill>
                  <a:schemeClr val="dk1"/>
                </a:solidFill>
                <a:latin typeface="Lato"/>
                <a:ea typeface="Lato"/>
                <a:cs typeface="Lato"/>
              </a:rPr>
              <a:t>Peaking generation</a:t>
            </a:r>
          </a:p>
        </p:txBody>
      </p:sp>
      <p:sp>
        <p:nvSpPr>
          <p:cNvPr id="13" name="Content margin panel rule">
            <a:extLst>
              <a:ext uri="{FF2B5EF4-FFF2-40B4-BE49-F238E27FC236}">
                <a16:creationId xmlns:a16="http://schemas.microsoft.com/office/drawing/2014/main" id="{357AFD1F-DF72-441B-A7D5-83C02BC5D202}"/>
              </a:ext>
            </a:extLst>
          </p:cNvPr>
          <p:cNvSpPr>
            <a:spLocks noGrp="1"/>
          </p:cNvSpPr>
          <p:nvPr/>
        </p:nvSpPr>
        <p:spPr>
          <a:xfrm>
            <a:off x="4208318" y="1907308"/>
            <a:ext cx="3117273"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14" name="Content margin panel rule">
            <a:extLst>
              <a:ext uri="{FF2B5EF4-FFF2-40B4-BE49-F238E27FC236}">
                <a16:creationId xmlns:a16="http://schemas.microsoft.com/office/drawing/2014/main" id="{6146D809-2D0D-48BF-8553-8D930C225FA8}"/>
              </a:ext>
            </a:extLst>
          </p:cNvPr>
          <p:cNvSpPr>
            <a:spLocks noGrp="1"/>
          </p:cNvSpPr>
          <p:nvPr/>
        </p:nvSpPr>
        <p:spPr>
          <a:xfrm>
            <a:off x="7579591" y="1907308"/>
            <a:ext cx="3530369"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7" name="Content margin panel rule">
            <a:extLst>
              <a:ext uri="{FF2B5EF4-FFF2-40B4-BE49-F238E27FC236}">
                <a16:creationId xmlns:a16="http://schemas.microsoft.com/office/drawing/2014/main" id="{1DD368BD-DEA8-4D35-96BE-6C4C66DE22DD}"/>
              </a:ext>
            </a:extLst>
          </p:cNvPr>
          <p:cNvSpPr>
            <a:spLocks noGrp="1"/>
          </p:cNvSpPr>
          <p:nvPr/>
        </p:nvSpPr>
        <p:spPr>
          <a:xfrm>
            <a:off x="457200" y="1907308"/>
            <a:ext cx="3497118"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graphicFrame>
        <p:nvGraphicFramePr>
          <p:cNvPr id="5015"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583277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20F9-64DE-43C9-BD6F-9E0E1CFC6037}"/>
              </a:ext>
            </a:extLst>
          </p:cNvPr>
          <p:cNvSpPr>
            <a:spLocks noGrp="1"/>
          </p:cNvSpPr>
          <p:nvPr>
            <p:ph type="title"/>
          </p:nvPr>
        </p:nvSpPr>
        <p:spPr/>
        <p:txBody>
          <a:bodyPr>
            <a:normAutofit/>
          </a:bodyPr>
          <a:lstStyle/>
          <a:p>
            <a:r>
              <a:rPr sz="2300">
                <a:solidFill>
                  <a:schemeClr val="dk1"/>
                </a:solidFill>
                <a:latin typeface="Lato"/>
                <a:ea typeface="Lato"/>
                <a:cs typeface="Lato"/>
              </a:rPr>
              <a:t>SAPREF could expand the supply footprint, while Natref unavailability would reduce it</a:t>
            </a:r>
          </a:p>
        </p:txBody>
      </p:sp>
      <p:sp>
        <p:nvSpPr>
          <p:cNvPr id="3" name="Slide Number Placeholder">
            <a:extLst>
              <a:ext uri="{FF2B5EF4-FFF2-40B4-BE49-F238E27FC236}">
                <a16:creationId xmlns:a16="http://schemas.microsoft.com/office/drawing/2014/main" id="{6DD1AEE1-18E3-4337-8F78-950A54E83FF2}"/>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16</a:t>
            </a:r>
          </a:p>
        </p:txBody>
      </p:sp>
      <p:sp>
        <p:nvSpPr>
          <p:cNvPr id="8" name="Unified source footer">
            <a:extLst>
              <a:ext uri="{FF2B5EF4-FFF2-40B4-BE49-F238E27FC236}">
                <a16:creationId xmlns:a16="http://schemas.microsoft.com/office/drawing/2014/main" id="{2A7FBDCA-7921-4452-9EAF-45DAEA0888F2}"/>
              </a:ext>
            </a:extLst>
          </p:cNvPr>
          <p:cNvSpPr>
            <a:spLocks noGrp="1"/>
          </p:cNvSpPr>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p:txBody>
      </p:sp>
      <p:sp>
        <p:nvSpPr>
          <p:cNvPr id="48" name="Strictly Confidential footer">
            <a:extLst>
              <a:ext uri="{FF2B5EF4-FFF2-40B4-BE49-F238E27FC236}">
                <a16:creationId xmlns:a16="http://schemas.microsoft.com/office/drawing/2014/main" id="{FBA1E938-C0FF-4EF5-B072-4257F8E7306F}"/>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a:ext uri="{FF2B5EF4-FFF2-40B4-BE49-F238E27FC236}">
                <a16:creationId xmlns:a16="http://schemas.microsoft.com/office/drawing/2014/main" id="{9CC2AEFF-6D66-1976-385C-0512507A5D4D}"/>
              </a:ext>
            </a:extLst>
          </p:cNvPr>
          <p:cNvSpPr>
            <a:spLocks noGrp="1"/>
          </p:cNvSpPr>
          <p:nvPr/>
        </p:nvSpPr>
        <p:spPr>
          <a:xfrm>
            <a:off x="533400" y="5613400"/>
            <a:ext cx="10477500" cy="369332"/>
          </a:xfrm>
          <a:prstGeom prst="rect">
            <a:avLst/>
          </a:prstGeom>
          <a:noFill/>
        </p:spPr>
        <p:txBody>
          <a:bodyPr vert="horz" lIns="0" tIns="0" rIns="0" bIns="0">
            <a:spAutoFit/>
          </a:bodyPr>
          <a:lstStyle/>
          <a:p>
            <a:r>
              <a:rPr sz="1200">
                <a:solidFill>
                  <a:schemeClr val="dk1"/>
                </a:solidFill>
                <a:latin typeface="Lato"/>
                <a:ea typeface="Lato"/>
                <a:cs typeface="Lato"/>
              </a:rPr>
              <a:t>SAPREF’s import-terminal phase can compete before any refinery restart. Natref availability and Secunda output also matter; these capacity cases are not product forecasts.</a:t>
            </a:r>
          </a:p>
        </p:txBody>
      </p:sp>
      <p:pic>
        <p:nvPicPr>
          <p:cNvPr id="59"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a:spLocks noGrp="1"/>
          </p:cNvSpPr>
          <p:nvPr/>
        </p:nvSpPr>
        <p:spPr>
          <a:xfrm>
            <a:off x="457200" y="1625600"/>
            <a:ext cx="3841173" cy="184666"/>
          </a:xfrm>
          <a:prstGeom prst="rect">
            <a:avLst/>
          </a:prstGeom>
          <a:noFill/>
        </p:spPr>
        <p:txBody>
          <a:bodyPr vert="horz" lIns="0" tIns="0" rIns="0" bIns="0">
            <a:spAutoFit/>
          </a:bodyPr>
          <a:lstStyle/>
          <a:p>
            <a:r>
              <a:rPr sz="1200" b="1">
                <a:solidFill>
                  <a:schemeClr val="dk1"/>
                </a:solidFill>
                <a:latin typeface="Lato"/>
                <a:ea typeface="Lato"/>
                <a:cs typeface="Lato"/>
              </a:rPr>
              <a:t>Reported history</a:t>
            </a:r>
          </a:p>
        </p:txBody>
      </p:sp>
      <p:sp>
        <p:nvSpPr>
          <p:cNvPr id="16" name="Aligned panel subtitle">
            <a:extLst>
              <a:ext uri="{FF2B5EF4-FFF2-40B4-BE49-F238E27FC236}">
                <a16:creationId xmlns:a16="http://schemas.microsoft.com/office/drawing/2014/main" id="{FAEA5F44-DACF-B58C-7B4A-AD9753A18B4D}"/>
              </a:ext>
            </a:extLst>
          </p:cNvPr>
          <p:cNvSpPr>
            <a:spLocks noGrp="1"/>
          </p:cNvSpPr>
          <p:nvPr/>
        </p:nvSpPr>
        <p:spPr>
          <a:xfrm>
            <a:off x="4577773" y="1625600"/>
            <a:ext cx="6532187" cy="184666"/>
          </a:xfrm>
          <a:prstGeom prst="rect">
            <a:avLst/>
          </a:prstGeom>
          <a:noFill/>
        </p:spPr>
        <p:txBody>
          <a:bodyPr vert="horz" lIns="0" tIns="0" rIns="0" bIns="0">
            <a:spAutoFit/>
          </a:bodyPr>
          <a:lstStyle/>
          <a:p>
            <a:r>
              <a:rPr sz="1200" b="1">
                <a:solidFill>
                  <a:schemeClr val="dk1"/>
                </a:solidFill>
                <a:latin typeface="Lato"/>
                <a:ea typeface="Lato"/>
                <a:cs typeface="Lato"/>
              </a:rPr>
              <a:t>Illustrative 2036 capacity cases</a:t>
            </a:r>
          </a:p>
        </p:txBody>
      </p:sp>
      <p:sp>
        <p:nvSpPr>
          <p:cNvPr id="13" name="Content margin panel rule">
            <a:extLst>
              <a:ext uri="{FF2B5EF4-FFF2-40B4-BE49-F238E27FC236}">
                <a16:creationId xmlns:a16="http://schemas.microsoft.com/office/drawing/2014/main" id="{B0416782-AD09-4E90-9F07-5072B873771A}"/>
              </a:ext>
            </a:extLst>
          </p:cNvPr>
          <p:cNvSpPr>
            <a:spLocks noGrp="1"/>
          </p:cNvSpPr>
          <p:nvPr/>
        </p:nvSpPr>
        <p:spPr>
          <a:xfrm>
            <a:off x="4577773" y="1907308"/>
            <a:ext cx="6532187"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7" name="Content margin panel rule">
            <a:extLst>
              <a:ext uri="{FF2B5EF4-FFF2-40B4-BE49-F238E27FC236}">
                <a16:creationId xmlns:a16="http://schemas.microsoft.com/office/drawing/2014/main" id="{56523987-A6B3-4635-9E06-6A9A22F28E59}"/>
              </a:ext>
            </a:extLst>
          </p:cNvPr>
          <p:cNvSpPr>
            <a:spLocks noGrp="1"/>
          </p:cNvSpPr>
          <p:nvPr/>
        </p:nvSpPr>
        <p:spPr>
          <a:xfrm>
            <a:off x="457200" y="1907308"/>
            <a:ext cx="3866573" cy="0"/>
          </a:xfrm>
          <a:prstGeom prst="line">
            <a:avLst/>
          </a:prstGeom>
          <a:ln w="6350">
            <a:solidFill>
              <a:schemeClr val="dk1">
                <a:alpha val="4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sp>
      <p:graphicFrame>
        <p:nvGraphicFramePr>
          <p:cNvPr id="5016"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1767554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25867-A152-4AF0-9910-596947DD352E}"/>
              </a:ext>
            </a:extLst>
          </p:cNvPr>
          <p:cNvSpPr>
            <a:spLocks noGrp="1"/>
          </p:cNvSpPr>
          <p:nvPr>
            <p:ph type="title"/>
          </p:nvPr>
        </p:nvSpPr>
        <p:spPr/>
        <p:txBody>
          <a:bodyPr>
            <a:normAutofit fontScale="90000"/>
          </a:bodyPr>
          <a:lstStyle/>
          <a:p>
            <a:r>
              <a:rPr sz="2300">
                <a:solidFill>
                  <a:schemeClr val="dk1"/>
                </a:solidFill>
                <a:latin typeface="Lato"/>
                <a:ea typeface="Lato"/>
                <a:cs typeface="Lato"/>
              </a:rPr>
              <a:t>Emerging gateways could redirect inland growth; delivered cost and reliable access determine capture</a:t>
            </a:r>
          </a:p>
        </p:txBody>
      </p:sp>
      <p:sp>
        <p:nvSpPr>
          <p:cNvPr id="3" name="Slide Number Placeholder">
            <a:extLst>
              <a:ext uri="{FF2B5EF4-FFF2-40B4-BE49-F238E27FC236}">
                <a16:creationId xmlns:a16="http://schemas.microsoft.com/office/drawing/2014/main" id="{061F3FAF-62E5-471E-B4FE-4C411C79043E}"/>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17</a:t>
            </a:r>
          </a:p>
        </p:txBody>
      </p:sp>
      <p:sp>
        <p:nvSpPr>
          <p:cNvPr id="8" name="Unified source footer">
            <a:extLst>
              <a:ext uri="{FF2B5EF4-FFF2-40B4-BE49-F238E27FC236}">
                <a16:creationId xmlns:a16="http://schemas.microsoft.com/office/drawing/2014/main" id="{CCED4392-D526-4568-B262-BADE54F53E5F}"/>
              </a:ext>
            </a:extLst>
          </p:cNvPr>
          <p:cNvSpPr>
            <a:spLocks noGrp="1"/>
          </p:cNvSpPr>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Compare common product, destination, price date and tax basis. Emerging gateways must be considered; no relative cost ranking is asserted without quotes and verified access. Landlocked SADC opportunities require separate market/access evidence.</a:t>
            </a:r>
          </a:p>
        </p:txBody>
      </p:sp>
      <p:graphicFrame>
        <p:nvGraphicFramePr>
          <p:cNvPr id="53"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Competing route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choice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implication</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Durban–Lesedi</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FY2025 MPP 105 / 148ML per week. Match tariffs, injection rights and reliable inland dispatch by customer.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access and handling improvements that protect competitive customer supply.</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Maputo / Matola</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Delivered cost, border time and capacity into each inland destination.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Include as an emerging alternative; test customer exposure and corridor responses.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Walvis Bay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Distance, transit, border costs and feasible destination coverage.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Consider emerging inland opportunities; compare reach customer by customer.</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Domestic sources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Secunda / Natref availability, product output and distribution access.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inland handling and connections as well as import infrastructure.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903FCB94-D0FF-4600-86A1-20BAD7C32BD3}"/>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17"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738970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70F7-EA84-41CE-8779-4E94F733F7D5}"/>
              </a:ext>
            </a:extLst>
          </p:cNvPr>
          <p:cNvSpPr>
            <a:spLocks noGrp="1"/>
          </p:cNvSpPr>
          <p:nvPr>
            <p:ph type="title"/>
          </p:nvPr>
        </p:nvSpPr>
        <p:spPr/>
        <p:txBody>
          <a:bodyPr>
            <a:normAutofit/>
          </a:bodyPr>
          <a:lstStyle/>
          <a:p>
            <a:r>
              <a:rPr sz="2300">
                <a:solidFill>
                  <a:schemeClr val="dk1"/>
                </a:solidFill>
                <a:latin typeface="Lato"/>
                <a:ea typeface="Lato"/>
                <a:cs typeface="Lato"/>
              </a:rPr>
              <a:t>Choose the investment that removes the proven constraint—and earns a return</a:t>
            </a:r>
          </a:p>
        </p:txBody>
      </p:sp>
      <p:sp>
        <p:nvSpPr>
          <p:cNvPr id="3" name="Slide Number Placeholder">
            <a:extLst>
              <a:ext uri="{FF2B5EF4-FFF2-40B4-BE49-F238E27FC236}">
                <a16:creationId xmlns:a16="http://schemas.microsoft.com/office/drawing/2014/main" id="{1BA9F673-7E36-486B-888F-F173A676DAF7}"/>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18</a:t>
            </a:r>
          </a:p>
        </p:txBody>
      </p:sp>
      <p:sp>
        <p:nvSpPr>
          <p:cNvPr id="8" name="Unified source footer">
            <a:extLst>
              <a:ext uri="{FF2B5EF4-FFF2-40B4-BE49-F238E27FC236}">
                <a16:creationId xmlns:a16="http://schemas.microsoft.com/office/drawing/2014/main" id="{B38C5981-D465-4814-BAFC-66EFA73B9626}"/>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p40; these do not constitute engineered rail or EV project estimates.</a:t>
            </a:r>
          </a:p>
        </p:txBody>
      </p:sp>
      <p:graphicFrame>
        <p:nvGraphicFramePr>
          <p:cNvPr id="57"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Investment option</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When it becomes relevant</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Decision / commitment trigger</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Existing assets /
debottlenecking</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Customer growth can be served through better tank turns, scheduling or receipt/dispatch.</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available working capacity; invest in the specific bottleneck where incremental value is positive.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Corridor / rail
access</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Competitive customer flows are constrained by transport capacity, cost or reliability.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Secure service and volume commitments. Compare access contracts, loading assets and partnership investment.</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Additional
tank capacity</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Profitable captured flows exceed achievable handling and storage remains the binding constraint.</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Size and stage tanks against contracted demand; pass the four tests and downside cases.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EV-related
adjacencies</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Identified charging / fleet-energy customers offer a viable opportunity as transport electrifies.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Screen partnerships or dedicated assets separately: demand, power access, strategic fit and return must be proven.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772614B6-00E7-4ECB-95F7-491F5148017C}"/>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63" name="Argument icon turnover"/>
          <p:cNvPicPr>
            <a:picLocks noChangeAspect="1"/>
          </p:cNvPicPr>
          <p:nvPr/>
        </p:nvPicPr>
        <p:blipFill>
          <a:blip r:embed="rId3"/>
          <a:stretch>
            <a:fillRect/>
          </a:stretch>
        </p:blipFill>
        <p:spPr>
          <a:xfrm>
            <a:off x="508000" y="2120900"/>
            <a:ext cx="317500" cy="317500"/>
          </a:xfrm>
          <a:prstGeom prst="rect">
            <a:avLst/>
          </a:prstGeom>
        </p:spPr>
      </p:pic>
      <p:pic>
        <p:nvPicPr>
          <p:cNvPr id="64" name="Argument icon transport"/>
          <p:cNvPicPr>
            <a:picLocks noChangeAspect="1"/>
          </p:cNvPicPr>
          <p:nvPr/>
        </p:nvPicPr>
        <p:blipFill>
          <a:blip r:embed="rId4"/>
          <a:stretch>
            <a:fillRect/>
          </a:stretch>
        </p:blipFill>
        <p:spPr>
          <a:xfrm>
            <a:off x="508000" y="3143250"/>
            <a:ext cx="317500" cy="317500"/>
          </a:xfrm>
          <a:prstGeom prst="rect">
            <a:avLst/>
          </a:prstGeom>
        </p:spPr>
      </p:pic>
      <p:pic>
        <p:nvPicPr>
          <p:cNvPr id="65" name="Argument icon headroom"/>
          <p:cNvPicPr>
            <a:picLocks noChangeAspect="1"/>
          </p:cNvPicPr>
          <p:nvPr/>
        </p:nvPicPr>
        <p:blipFill>
          <a:blip r:embed="rId5"/>
          <a:stretch>
            <a:fillRect/>
          </a:stretch>
        </p:blipFill>
        <p:spPr>
          <a:xfrm>
            <a:off x="508000" y="4165600"/>
            <a:ext cx="317500" cy="317500"/>
          </a:xfrm>
          <a:prstGeom prst="rect">
            <a:avLst/>
          </a:prstGeom>
        </p:spPr>
      </p:pic>
      <p:pic>
        <p:nvPicPr>
          <p:cNvPr id="66" name="Argument icon power"/>
          <p:cNvPicPr>
            <a:picLocks noChangeAspect="1"/>
          </p:cNvPicPr>
          <p:nvPr/>
        </p:nvPicPr>
        <p:blipFill>
          <a:blip r:embed="rId6"/>
          <a:stretch>
            <a:fillRect/>
          </a:stretch>
        </p:blipFill>
        <p:spPr>
          <a:xfrm>
            <a:off x="508000" y="5187950"/>
            <a:ext cx="317500" cy="317500"/>
          </a:xfrm>
          <a:prstGeom prst="rect">
            <a:avLst/>
          </a:prstGeom>
        </p:spPr>
      </p:pic>
      <p:graphicFrame>
        <p:nvGraphicFramePr>
          <p:cNvPr id="5018"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r:dm="rIdSmartArt7" r:lo="rIdSmartArt8" r:qs="rIdSmartArt9" r:cs="rIdSmartArt10"/>
          </a:graphicData>
        </a:graphic>
      </p:graphicFrame>
    </p:spTree>
    <p:extLst>
      <p:ext uri="{BB962C8B-B14F-4D97-AF65-F5344CB8AC3E}">
        <p14:creationId xmlns:p14="http://schemas.microsoft.com/office/powerpoint/2010/main" val="631320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7A13-C275-4575-AE2B-934674DE7786}"/>
              </a:ext>
            </a:extLst>
          </p:cNvPr>
          <p:cNvSpPr>
            <a:spLocks noGrp="1"/>
          </p:cNvSpPr>
          <p:nvPr>
            <p:ph type="title"/>
          </p:nvPr>
        </p:nvSpPr>
        <p:spPr/>
        <p:txBody>
          <a:bodyPr>
            <a:normAutofit/>
          </a:bodyPr>
          <a:lstStyle/>
          <a:p>
            <a:r>
              <a:rPr sz="2300">
                <a:solidFill>
                  <a:schemeClr val="dk1"/>
                </a:solidFill>
                <a:latin typeface="Lato"/>
                <a:ea typeface="Lato"/>
                <a:cs typeface="Lato"/>
              </a:rPr>
              <a:t>Resolve customer volume, working capacity and project economics first to determine the investment</a:t>
            </a:r>
          </a:p>
        </p:txBody>
      </p:sp>
      <p:sp>
        <p:nvSpPr>
          <p:cNvPr id="3" name="Slide Number Placeholder">
            <a:extLst>
              <a:ext uri="{FF2B5EF4-FFF2-40B4-BE49-F238E27FC236}">
                <a16:creationId xmlns:a16="http://schemas.microsoft.com/office/drawing/2014/main" id="{F3E144A1-5920-4F1F-9A2F-F2AA3F363D5B}"/>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19</a:t>
            </a:r>
          </a:p>
        </p:txBody>
      </p:sp>
      <p:sp>
        <p:nvSpPr>
          <p:cNvPr id="8" name="Unified source footer">
            <a:extLst>
              <a:ext uri="{FF2B5EF4-FFF2-40B4-BE49-F238E27FC236}">
                <a16:creationId xmlns:a16="http://schemas.microsoft.com/office/drawing/2014/main" id="{CF4D009C-8B12-404C-9C45-D356B246EAC1}"/>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Public handback DR01/04/07/08 received and updated through 9 October. Client DR02/05/03/06 prepared; sending and receipt not recorded. Review workbook covers all nine requests, including separate DR09 EV adjacency.</a:t>
            </a:r>
          </a:p>
        </p:txBody>
      </p:sp>
      <p:graphicFrame>
        <p:nvGraphicFramePr>
          <p:cNvPr id="53"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400050">
                <a:tc>
                  <a:txBody>
                    <a:bodyPr/>
                    <a:lstStyle/>
                    <a:p>
                      <a:pPr>
                        <a:spcAft>
                          <a:spcPts val="0"/>
                        </a:spcAft>
                        <a:buNone/>
                      </a:pPr>
                      <a:r>
                        <a:rPr sz="1200" b="1" u="none">
                          <a:solidFill>
                            <a:schemeClr val="dk1"/>
                          </a:solidFill>
                          <a:latin typeface="Lato"/>
                          <a:ea typeface="Lato"/>
                          <a:cs typeface="Lato"/>
                        </a:rPr>
                        <a:t>Outstanding request / coordinator</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Required data / handback</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Decision supported</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628650">
                <a:tc>
                  <a:txBody>
                    <a:bodyPr/>
                    <a:lstStyle/>
                    <a:p>
                      <a:pPr>
                        <a:spcAft>
                          <a:spcPts val="0"/>
                        </a:spcAft>
                        <a:buNone/>
                      </a:pPr>
                      <a:r>
                        <a:rPr sz="1200" b="1" u="none">
                          <a:solidFill>
                            <a:schemeClr val="dk1"/>
                          </a:solidFill>
                          <a:latin typeface="Lato"/>
                          <a:ea typeface="Lato"/>
                          <a:cs typeface="Lato"/>
                        </a:rPr>
                        <a:t>DR01 | Manish; Nigel review</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sales, customs and energy balance to 2021. Open: stocks, product output after 2021 and comparable 2024–25 sales.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Reconciled current market scale.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628650">
                <a:tc>
                  <a:txBody>
                    <a:bodyPr/>
                    <a:lstStyle/>
                    <a:p>
                      <a:pPr>
                        <a:spcAft>
                          <a:spcPts val="0"/>
                        </a:spcAft>
                        <a:buNone/>
                      </a:pPr>
                      <a:r>
                        <a:rPr sz="1200" b="1" u="none">
                          <a:solidFill>
                            <a:schemeClr val="dk1"/>
                          </a:solidFill>
                          <a:latin typeface="Lato"/>
                          <a:ea typeface="Lato"/>
                          <a:cs typeface="Lato"/>
                        </a:rPr>
                        <a:t>DR04 | Manish; Nigel review</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entry, tariff and FY2025 MPP evidence. Open: customer access, route quotes and modal flows.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Accessible Durban and Lesedi markets.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628650">
                <a:tc>
                  <a:txBody>
                    <a:bodyPr/>
                    <a:lstStyle/>
                    <a:p>
                      <a:pPr>
                        <a:spcAft>
                          <a:spcPts val="0"/>
                        </a:spcAft>
                        <a:buNone/>
                      </a:pPr>
                      <a:r>
                        <a:rPr sz="1200" b="1" u="none">
                          <a:solidFill>
                            <a:schemeClr val="dk1"/>
                          </a:solidFill>
                          <a:latin typeface="Lato"/>
                          <a:ea typeface="Lato"/>
                          <a:cs typeface="Lato"/>
                        </a:rPr>
                        <a:t>DR07/08 | Manish; Nigel/Henry review</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power, fleet, refinery and EV/efficiency review. Open: joint baseline and hybrid/rail rules.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Demand and domestic-output paths.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628650">
                <a:tc>
                  <a:txBody>
                    <a:bodyPr/>
                    <a:lstStyle/>
                    <a:p>
                      <a:pPr>
                        <a:spcAft>
                          <a:spcPts val="0"/>
                        </a:spcAft>
                        <a:buNone/>
                      </a:pPr>
                      <a:r>
                        <a:rPr sz="1200" b="1" u="none">
                          <a:solidFill>
                            <a:schemeClr val="dk1"/>
                          </a:solidFill>
                          <a:latin typeface="Lato"/>
                          <a:ea typeface="Lato"/>
                          <a:cs typeface="Lato"/>
                        </a:rPr>
                        <a:t>DR02/05 | Nigel coordinates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36 months of site/product movements, shared transfers, destinations, customer commitments and contracts.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Actual market share and achievable capture.</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4"/>
                  </a:ext>
                </a:extLst>
              </a:tr>
              <a:tr h="628650">
                <a:tc>
                  <a:txBody>
                    <a:bodyPr/>
                    <a:lstStyle/>
                    <a:p>
                      <a:pPr>
                        <a:spcAft>
                          <a:spcPts val="0"/>
                        </a:spcAft>
                        <a:buNone/>
                      </a:pPr>
                      <a:r>
                        <a:rPr sz="1200" b="1" u="none">
                          <a:solidFill>
                            <a:schemeClr val="dk1"/>
                          </a:solidFill>
                          <a:latin typeface="Lato"/>
                          <a:ea typeface="Lato"/>
                          <a:cs typeface="Lato"/>
                        </a:rPr>
                        <a:t>DR03 | Nigel coordinates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Working/committed tankage, turns, occupancy, downtime and receipt/dispatch limits.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Operating headroom and bottlenecks.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5"/>
                  </a:ext>
                </a:extLst>
              </a:tr>
              <a:tr h="628650">
                <a:tc>
                  <a:txBody>
                    <a:bodyPr/>
                    <a:lstStyle/>
                    <a:p>
                      <a:pPr>
                        <a:spcAft>
                          <a:spcPts val="0"/>
                        </a:spcAft>
                        <a:buNone/>
                      </a:pPr>
                      <a:r>
                        <a:rPr sz="1200" b="1" u="none">
                          <a:solidFill>
                            <a:schemeClr val="dk1"/>
                          </a:solidFill>
                          <a:latin typeface="Lato"/>
                          <a:ea typeface="Lato"/>
                          <a:cs typeface="Lato"/>
                        </a:rPr>
                        <a:t>DR06 | Nigel coordinates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Storage/handling terms, costs, capex, timing, tax, working capital and hurdle rate.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Incremental returns and investment scope.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6"/>
                  </a:ext>
                </a:extLst>
              </a:tr>
            </a:tbl>
          </a:graphicData>
        </a:graphic>
      </p:graphicFrame>
      <p:sp>
        <p:nvSpPr>
          <p:cNvPr id="48" name="Strictly Confidential footer">
            <a:extLst>
              <a:ext uri="{FF2B5EF4-FFF2-40B4-BE49-F238E27FC236}">
                <a16:creationId xmlns:a16="http://schemas.microsoft.com/office/drawing/2014/main" id="{273D8B24-C4C6-46FE-A9C3-B70C70F94B76}"/>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19"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3331781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39D6BC-9A58-46C9-81C2-2895E5D1C1E4}"/>
              </a:ext>
            </a:extLst>
          </p:cNvPr>
          <p:cNvSpPr>
            <a:spLocks noGrp="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solidFill>
                  <a:srgbClr val="FFFFFF"/>
                </a:solidFill>
              </a:defRPr>
            </a:pPr>
            <a:endParaRPr/>
          </a:p>
        </p:txBody>
      </p:sp>
      <p:pic>
        <p:nvPicPr>
          <p:cNvPr id="17" name="Picture 2"/>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18" name="Picture 3"/>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a:extLst>
              <a:ext uri="{FF2B5EF4-FFF2-40B4-BE49-F238E27FC236}">
                <a16:creationId xmlns:a16="http://schemas.microsoft.com/office/drawing/2014/main" id="{11CCE102-5E72-4ADA-A662-058DB7D9B820}"/>
              </a:ext>
            </a:extLst>
          </p:cNvPr>
          <p:cNvSpPr>
            <a:spLocks noGrp="1"/>
          </p:cNvSpPr>
          <p:nvPr/>
        </p:nvSpPr>
        <p:spPr>
          <a:xfrm>
            <a:off x="594360" y="2468880"/>
            <a:ext cx="4709160" cy="477054"/>
          </a:xfrm>
          <a:prstGeom prst="rect">
            <a:avLst/>
          </a:prstGeom>
          <a:noFill/>
        </p:spPr>
        <p:txBody>
          <a:bodyPr wrap="square" lIns="18288" tIns="0" rIns="18288" bIns="0">
            <a:spAutoFit/>
          </a:bodyPr>
          <a:lstStyle/>
          <a:p>
            <a:pPr>
              <a:spcAft>
                <a:spcPts val="800"/>
              </a:spcAft>
              <a:buNone/>
              <a:defRPr sz="3100" b="0">
                <a:solidFill>
                  <a:srgbClr val="FFFFFF"/>
                </a:solidFill>
                <a:latin typeface="Lato"/>
                <a:ea typeface="Lato"/>
                <a:cs typeface="Lato"/>
              </a:defRPr>
            </a:pPr>
            <a:r>
              <a:rPr>
                <a:solidFill>
                  <a:srgbClr val="FFFFFF"/>
                </a:solidFill>
              </a:rPr>
              <a:t>Appendix</a:t>
            </a:r>
          </a:p>
        </p:txBody>
      </p:sp>
      <p:sp>
        <p:nvSpPr>
          <p:cNvPr id="6" name="Connector 5">
            <a:extLst>
              <a:ext uri="{FF2B5EF4-FFF2-40B4-BE49-F238E27FC236}">
                <a16:creationId xmlns:a16="http://schemas.microsoft.com/office/drawing/2014/main" id="{3870E250-7F10-4F6F-AA37-E1E95E308EE2}"/>
              </a:ext>
            </a:extLst>
          </p:cNvPr>
          <p:cNvSpPr>
            <a:spLocks noGrp="1"/>
          </p:cNvSpPr>
          <p:nvPr/>
        </p:nv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sp>
      <p:sp>
        <p:nvSpPr>
          <p:cNvPr id="7" name="TextBox 6">
            <a:extLst>
              <a:ext uri="{FF2B5EF4-FFF2-40B4-BE49-F238E27FC236}">
                <a16:creationId xmlns:a16="http://schemas.microsoft.com/office/drawing/2014/main" id="{68CD92FC-E601-4D87-85EA-5D969A169D0D}"/>
              </a:ext>
            </a:extLst>
          </p:cNvPr>
          <p:cNvSpPr>
            <a:spLocks noGrp="1"/>
          </p:cNvSpPr>
          <p:nvPr/>
        </p:nvSpPr>
        <p:spPr>
          <a:xfrm>
            <a:off x="594360" y="4617720"/>
            <a:ext cx="4572000" cy="261610"/>
          </a:xfrm>
          <a:prstGeom prst="rect">
            <a:avLst/>
          </a:prstGeom>
          <a:noFill/>
        </p:spPr>
        <p:txBody>
          <a:bodyPr wrap="square" lIns="18288" tIns="0" rIns="18288" bIns="0">
            <a:spAutoFit/>
          </a:bodyPr>
          <a:lstStyle/>
          <a:p>
            <a:pPr>
              <a:spcAft>
                <a:spcPts val="800"/>
              </a:spcAft>
              <a:buNone/>
              <a:defRPr sz="2100" b="0">
                <a:solidFill>
                  <a:srgbClr val="FFFFFF"/>
                </a:solidFill>
                <a:latin typeface="Lato"/>
                <a:ea typeface="Lato"/>
                <a:cs typeface="Lato"/>
              </a:defRPr>
            </a:pPr>
            <a:r>
              <a:rPr sz="1700">
                <a:solidFill>
                  <a:srgbClr val="FFFFFF"/>
                </a:solidFill>
              </a:rPr>
              <a:t>Supporting evidence and calibration</a:t>
            </a:r>
          </a:p>
        </p:txBody>
      </p:sp>
      <p:sp>
        <p:nvSpPr>
          <p:cNvPr id="8" name="TextBox 7">
            <a:extLst>
              <a:ext uri="{FF2B5EF4-FFF2-40B4-BE49-F238E27FC236}">
                <a16:creationId xmlns:a16="http://schemas.microsoft.com/office/drawing/2014/main" id="{8064CCA5-B6D0-47B2-81A2-7276544851CC}"/>
              </a:ext>
            </a:extLst>
          </p:cNvPr>
          <p:cNvSpPr>
            <a:spLocks noGrp="1"/>
          </p:cNvSpPr>
          <p:nvPr/>
        </p:nvSpPr>
        <p:spPr>
          <a:xfrm>
            <a:off x="594360" y="52395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Durban–Lesedi corridor into Gauteng</a:t>
            </a:r>
          </a:p>
        </p:txBody>
      </p:sp>
      <p:sp>
        <p:nvSpPr>
          <p:cNvPr id="9" name="TextBox 8">
            <a:extLst>
              <a:ext uri="{FF2B5EF4-FFF2-40B4-BE49-F238E27FC236}">
                <a16:creationId xmlns:a16="http://schemas.microsoft.com/office/drawing/2014/main" id="{479C54E4-8D1C-48B7-BC1D-500B9C3E2D2C}"/>
              </a:ext>
            </a:extLst>
          </p:cNvPr>
          <p:cNvSpPr>
            <a:spLocks noGrp="1"/>
          </p:cNvSpPr>
          <p:nvPr/>
        </p:nvSpPr>
        <p:spPr>
          <a:xfrm>
            <a:off x="594360" y="56967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10 October 2026</a:t>
            </a:r>
          </a:p>
        </p:txBody>
      </p:sp>
      <p:sp>
        <p:nvSpPr>
          <p:cNvPr id="10" name="TextBox 9">
            <a:extLst>
              <a:ext uri="{FF2B5EF4-FFF2-40B4-BE49-F238E27FC236}">
                <a16:creationId xmlns:a16="http://schemas.microsoft.com/office/drawing/2014/main" id="{9357DF05-46F3-4275-9A6C-5F6E4748BDE4}"/>
              </a:ext>
            </a:extLst>
          </p:cNvPr>
          <p:cNvSpPr>
            <a:spLocks noGrp="1"/>
          </p:cNvSpPr>
          <p:nvPr/>
        </p:nvSpPr>
        <p:spPr>
          <a:xfrm>
            <a:off x="594360" y="6053328"/>
            <a:ext cx="4572000" cy="369332"/>
          </a:xfrm>
          <a:prstGeom prst="rect">
            <a:avLst/>
          </a:prstGeom>
          <a:noFill/>
        </p:spPr>
        <p:txBody>
          <a:bodyPr wrap="square" lIns="18288" tIns="0" rIns="18288" bIns="0">
            <a:spAutoFit/>
          </a:bodyPr>
          <a:lstStyle/>
          <a:p>
            <a:pPr>
              <a:spcAft>
                <a:spcPts val="800"/>
              </a:spcAft>
              <a:buNone/>
              <a:defRPr sz="1200" b="0">
                <a:solidFill>
                  <a:srgbClr val="FFFFFF"/>
                </a:solidFill>
                <a:latin typeface="Lato"/>
                <a:ea typeface="Lato"/>
                <a:cs typeface="Lato"/>
              </a:defRPr>
            </a:pPr>
            <a:r>
              <a:rPr sz="1200">
                <a:solidFill>
                  <a:srgbClr val="FFFFFF"/>
                </a:solidFill>
              </a:rPr>
              <a:t>Detailed evidence, assumptions and remaining calibration requirements</a:t>
            </a:r>
          </a:p>
        </p:txBody>
      </p:sp>
      <p:sp>
        <p:nvSpPr>
          <p:cNvPr id="11" name="Photo source credit">
            <a:extLst>
              <a:ext uri="{FF2B5EF4-FFF2-40B4-BE49-F238E27FC236}">
                <a16:creationId xmlns:a16="http://schemas.microsoft.com/office/drawing/2014/main" id="{D4E55EE2-7F7C-4486-8391-FAEFE3FFC3FC}"/>
              </a:ext>
            </a:extLst>
          </p:cNvPr>
          <p:cNvSpPr>
            <a:spLocks noGrp="1"/>
          </p:cNvSpPr>
          <p:nvPr/>
        </p:nvSpPr>
        <p:spPr>
          <a:xfrm>
            <a:off x="594360" y="6400800"/>
            <a:ext cx="4754880" cy="164592"/>
          </a:xfrm>
          <a:prstGeom prst="rect">
            <a:avLst/>
          </a:prstGeom>
          <a:noFill/>
        </p:spPr>
        <p:txBody>
          <a:bodyPr wrap="square" lIns="18288" tIns="0" rIns="18288" bIns="0">
            <a:spAutoFit/>
          </a:bodyPr>
          <a:lstStyle/>
          <a:p>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a:ext uri="{FF2B5EF4-FFF2-40B4-BE49-F238E27FC236}">
                <a16:creationId xmlns:a16="http://schemas.microsoft.com/office/drawing/2014/main" id="{9F5A648E-331C-441B-986D-01157676656C}"/>
              </a:ext>
            </a:extLst>
          </p:cNvPr>
          <p:cNvSpPr>
            <a:spLocks noGrp="1"/>
          </p:cNvSpPr>
          <p:nvPr/>
        </p:nvSpPr>
        <p:spPr>
          <a:xfrm>
            <a:off x="59436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BDBEC1"/>
                </a:solidFill>
                <a:latin typeface="Lato"/>
                <a:ea typeface="Lato"/>
                <a:cs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a:spLocks noGrp="1"/>
          </p:cNvSpPr>
          <p:nvPr/>
        </p:nvSpPr>
        <p:spPr>
          <a:xfrm>
            <a:off x="10972800" y="6515100"/>
            <a:ext cx="355600" cy="261610"/>
          </a:xfrm>
          <a:prstGeom prst="rect">
            <a:avLst/>
          </a:prstGeom>
          <a:noFill/>
        </p:spPr>
        <p:txBody>
          <a:bodyPr vert="horz">
            <a:spAutoFit/>
          </a:bodyPr>
          <a:lstStyle/>
          <a:p>
            <a:r>
              <a:rPr sz="1100">
                <a:latin typeface="Lato"/>
                <a:ea typeface="Lato"/>
                <a:cs typeface="Lato"/>
              </a:rPr>
              <a:t>19</a:t>
            </a:r>
          </a:p>
        </p:txBody>
      </p:sp>
    </p:spTree>
    <p:extLst>
      <p:ext uri="{BB962C8B-B14F-4D97-AF65-F5344CB8AC3E}">
        <p14:creationId xmlns:p14="http://schemas.microsoft.com/office/powerpoint/2010/main" val="1212990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13D9-CCEB-4366-A32B-E0FE2E5D9CF4}"/>
              </a:ext>
            </a:extLst>
          </p:cNvPr>
          <p:cNvSpPr>
            <a:spLocks noGrp="1"/>
          </p:cNvSpPr>
          <p:nvPr>
            <p:ph type="title"/>
          </p:nvPr>
        </p:nvSpPr>
        <p:spPr/>
        <p:txBody>
          <a:bodyPr>
            <a:normAutofit/>
          </a:bodyPr>
          <a:lstStyle/>
          <a:p>
            <a:r>
              <a:rPr sz="2300">
                <a:solidFill>
                  <a:schemeClr val="dk1"/>
                </a:solidFill>
                <a:latin typeface="Lato"/>
                <a:ea typeface="Lato"/>
                <a:cs typeface="Lato"/>
              </a:rPr>
              <a:t>The supporting evidence calibrates demand, supply and the terminal investment tests</a:t>
            </a:r>
          </a:p>
        </p:txBody>
      </p:sp>
      <p:sp>
        <p:nvSpPr>
          <p:cNvPr id="3" name="Slide Number Placeholder">
            <a:extLst>
              <a:ext uri="{FF2B5EF4-FFF2-40B4-BE49-F238E27FC236}">
                <a16:creationId xmlns:a16="http://schemas.microsoft.com/office/drawing/2014/main" id="{8493639C-19D5-4E45-AB5C-411EE4DE3BDA}"/>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21</a:t>
            </a:r>
          </a:p>
        </p:txBody>
      </p:sp>
      <p:sp>
        <p:nvSpPr>
          <p:cNvPr id="8" name="Unified source footer">
            <a:extLst>
              <a:ext uri="{FF2B5EF4-FFF2-40B4-BE49-F238E27FC236}">
                <a16:creationId xmlns:a16="http://schemas.microsoft.com/office/drawing/2014/main" id="{19C69D44-84B2-492F-B8E5-0658047C9722}"/>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The main story runs from the opening thesis to the investment tests. The added lever register and power/supply calibration pages record what remains to be populated.</a:t>
            </a:r>
          </a:p>
        </p:txBody>
      </p:sp>
      <p:graphicFrame>
        <p:nvGraphicFramePr>
          <p:cNvPr id="53" name="Table 46"/>
          <p:cNvGraphicFramePr/>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Evidence group</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Detail retained</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Connection to the story</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Demand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Workbook sector history, vehicle stock/sales, diesel-use estimates, freight and power fleet.</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Observed history and labelled estimates inform D1-D5; annual L/M/H paths still require agreement.</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Supply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Plant output, gas availability and restart timing</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S1–S4 create the three domestic-supply paths.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Capture and operations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Routes, customer share, working tankage and turnover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T1–T5 translate each world into terminal flows and constraints.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Returns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Rates, costs, capex and funding; separate EV adjacency economics.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F1 translates each investment option into cash flow and returns.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6B7584DD-7BCD-4C07-8789-00DA68B72B3E}"/>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21" name="brand-pptx section navigation">
            <a:extLst>
              <a:ext uri="{FF2B5EF4-FFF2-40B4-BE49-F238E27FC236}">
                <a16:creationId xmlns:a16="http://schemas.microsoft.com/office/drawing/2014/main" id="{E84A3441-E5C5-E6E9-435C-D2DCE47C1BB3}"/>
              </a:ext>
            </a:extLst>
          </p:cNvPr>
          <p:cNvGraphicFramePr/>
          <p:nvPr>
            <p:extLst>
              <p:ext uri="{D42A27DB-BD31-4B8C-83A1-F6EECF244321}">
                <p14:modId xmlns:p14="http://schemas.microsoft.com/office/powerpoint/2010/main" val="915271828"/>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1855485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8B0A2-A286-4D34-8BFF-7A5EF76F6DBA}"/>
              </a:ext>
            </a:extLst>
          </p:cNvPr>
          <p:cNvSpPr>
            <a:spLocks noGrp="1"/>
          </p:cNvSpPr>
          <p:nvPr>
            <p:ph type="title"/>
          </p:nvPr>
        </p:nvSpPr>
        <p:spPr/>
        <p:txBody>
          <a:bodyPr>
            <a:normAutofit/>
          </a:bodyPr>
          <a:lstStyle/>
          <a:p>
            <a:r>
              <a:rPr sz="2300">
                <a:solidFill>
                  <a:schemeClr val="dk1"/>
                </a:solidFill>
                <a:latin typeface="Lato"/>
                <a:ea typeface="Lato"/>
                <a:cs typeface="Lato"/>
              </a:rPr>
              <a:t>Fuel demand has diverged from GDP, so sector activity and fuel intensity need separate treatment</a:t>
            </a:r>
          </a:p>
        </p:txBody>
      </p:sp>
      <p:sp>
        <p:nvSpPr>
          <p:cNvPr id="3" name="Slide Number Placeholder">
            <a:extLst>
              <a:ext uri="{FF2B5EF4-FFF2-40B4-BE49-F238E27FC236}">
                <a16:creationId xmlns:a16="http://schemas.microsoft.com/office/drawing/2014/main" id="{1CE3A5BC-4D8E-4ECC-9BCF-4128CC815B4F}"/>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22</a:t>
            </a:r>
          </a:p>
        </p:txBody>
      </p:sp>
      <p:sp>
        <p:nvSpPr>
          <p:cNvPr id="8" name="Unified source footer">
            <a:extLst>
              <a:ext uri="{FF2B5EF4-FFF2-40B4-BE49-F238E27FC236}">
                <a16:creationId xmlns:a16="http://schemas.microsoft.com/office/drawing/2014/main" id="{3DC9376E-4BC8-4D50-B3C4-F93F79644BDF}"/>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Staged GDP and department fuel sales, indices 2013=100. Sector attribution remains open; COVID distorts short-period comparisons.</a:t>
            </a:r>
          </a:p>
        </p:txBody>
      </p:sp>
      <p:sp>
        <p:nvSpPr>
          <p:cNvPr id="48" name="Strictly Confidential footer">
            <a:extLst>
              <a:ext uri="{FF2B5EF4-FFF2-40B4-BE49-F238E27FC236}">
                <a16:creationId xmlns:a16="http://schemas.microsoft.com/office/drawing/2014/main" id="{34492F48-BEFC-4C07-97A4-B78E5FB0EFE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58"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a:spLocks noGrp="1"/>
          </p:cNvSpPr>
          <p:nvPr/>
        </p:nvSpPr>
        <p:spPr>
          <a:xfrm>
            <a:off x="533400" y="5600699"/>
            <a:ext cx="10477500" cy="482600"/>
          </a:xfrm>
          <a:prstGeom prst="rect">
            <a:avLst/>
          </a:prstGeom>
          <a:noFill/>
        </p:spPr>
        <p:txBody>
          <a:bodyPr vert="horz" lIns="0" tIns="0" rIns="0" bIns="0">
            <a:noAutofit/>
          </a:bodyPr>
          <a:lstStyle/>
          <a:p>
            <a:r>
              <a:rPr sz="1050">
                <a:solidFill>
                  <a:schemeClr val="dk1"/>
                </a:solidFill>
                <a:latin typeface="Lato"/>
                <a:ea typeface="Lato"/>
                <a:cs typeface="Lato"/>
              </a:rPr>
              <a:t>The workbook separates mining/manufacturing indices and agricultural GVA from fuel intensity. Post-2021 sector litres are estimates; GDP alone cannot explain fuel demand.</a:t>
            </a:r>
          </a:p>
        </p:txBody>
      </p:sp>
      <p:graphicFrame>
        <p:nvGraphicFramePr>
          <p:cNvPr id="5022"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1370318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A7A89-2B33-4327-85DF-4A2CC8DD396E}"/>
              </a:ext>
            </a:extLst>
          </p:cNvPr>
          <p:cNvSpPr>
            <a:spLocks noGrp="1"/>
          </p:cNvSpPr>
          <p:nvPr>
            <p:ph type="title"/>
          </p:nvPr>
        </p:nvSpPr>
        <p:spPr/>
        <p:txBody>
          <a:bodyPr>
            <a:normAutofit/>
          </a:bodyPr>
          <a:lstStyle/>
          <a:p>
            <a:r>
              <a:rPr sz="2300">
                <a:solidFill>
                  <a:schemeClr val="dk1"/>
                </a:solidFill>
                <a:latin typeface="Lato"/>
                <a:ea typeface="Lato"/>
                <a:cs typeface="Lato"/>
              </a:rPr>
              <a:t>Fixed investment has weakened while FDI fluctuates, limiting a simple growth-led fuel argument</a:t>
            </a:r>
          </a:p>
        </p:txBody>
      </p:sp>
      <p:sp>
        <p:nvSpPr>
          <p:cNvPr id="3" name="Slide Number Placeholder">
            <a:extLst>
              <a:ext uri="{FF2B5EF4-FFF2-40B4-BE49-F238E27FC236}">
                <a16:creationId xmlns:a16="http://schemas.microsoft.com/office/drawing/2014/main" id="{3E51BAAD-99D0-4D27-B4EC-053D5BD15E2D}"/>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23</a:t>
            </a:r>
          </a:p>
        </p:txBody>
      </p:sp>
      <p:sp>
        <p:nvSpPr>
          <p:cNvPr id="8" name="Unified source footer">
            <a:extLst>
              <a:ext uri="{FF2B5EF4-FFF2-40B4-BE49-F238E27FC236}">
                <a16:creationId xmlns:a16="http://schemas.microsoft.com/office/drawing/2014/main" id="{D296D4A1-EDD0-4438-880F-E2EFCD3BA822}"/>
              </a:ext>
            </a:extLst>
          </p:cNvPr>
          <p:cNvSpPr>
            <a:spLocks noGrp="1"/>
          </p:cNvSpPr>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World Bank WDI, FDI net inflows and gross fixed capital formation as % of GDP, 2010–2025. Confidence series remains an evidence gap.</a:t>
            </a:r>
          </a:p>
        </p:txBody>
      </p:sp>
      <p:sp>
        <p:nvSpPr>
          <p:cNvPr id="48" name="Strictly Confidential footer">
            <a:extLst>
              <a:ext uri="{FF2B5EF4-FFF2-40B4-BE49-F238E27FC236}">
                <a16:creationId xmlns:a16="http://schemas.microsoft.com/office/drawing/2014/main" id="{08DA5E0E-477B-4ACC-A8C8-9FFC44650BDB}"/>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58"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a:spLocks noGrp="1"/>
          </p:cNvSpPr>
          <p:nvPr/>
        </p:nvSpPr>
        <p:spPr>
          <a:xfrm>
            <a:off x="533400" y="5613400"/>
            <a:ext cx="10477500" cy="369332"/>
          </a:xfrm>
          <a:prstGeom prst="rect">
            <a:avLst/>
          </a:prstGeom>
          <a:noFill/>
        </p:spPr>
        <p:txBody>
          <a:bodyPr vert="horz" lIns="0" tIns="0" rIns="0" bIns="0">
            <a:spAutoFit/>
          </a:bodyPr>
          <a:lstStyle/>
          <a:p>
            <a:r>
              <a:rPr sz="1200">
                <a:solidFill>
                  <a:schemeClr val="dk1"/>
                </a:solidFill>
                <a:latin typeface="Lato"/>
                <a:ea typeface="Lato"/>
                <a:cs typeface="Lato"/>
              </a:rPr>
              <a:t>Fixed investment helps frame productive capacity. FDI can include large transactions; neither series is a direct investor-confidence measure or an additional fuel-demand multiplier.</a:t>
            </a:r>
          </a:p>
        </p:txBody>
      </p:sp>
      <p:graphicFrame>
        <p:nvGraphicFramePr>
          <p:cNvPr id="5023"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2750910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2F4BA-A417-42FC-A7A9-7E87C6657609}"/>
              </a:ext>
            </a:extLst>
          </p:cNvPr>
          <p:cNvSpPr>
            <a:spLocks noGrp="1"/>
          </p:cNvSpPr>
          <p:nvPr>
            <p:ph type="title"/>
          </p:nvPr>
        </p:nvSpPr>
        <p:spPr/>
        <p:txBody>
          <a:bodyPr>
            <a:normAutofit/>
          </a:bodyPr>
          <a:lstStyle/>
          <a:p>
            <a:r>
              <a:rPr sz="2300">
                <a:solidFill>
                  <a:schemeClr val="dk1"/>
                </a:solidFill>
                <a:latin typeface="Lato"/>
                <a:ea typeface="Lato"/>
                <a:cs typeface="Lato"/>
              </a:rPr>
              <a:t>Mining, agriculture and aviation expose fuel demand to different activity drivers</a:t>
            </a:r>
          </a:p>
        </p:txBody>
      </p:sp>
      <p:sp>
        <p:nvSpPr>
          <p:cNvPr id="3" name="Slide Number Placeholder">
            <a:extLst>
              <a:ext uri="{FF2B5EF4-FFF2-40B4-BE49-F238E27FC236}">
                <a16:creationId xmlns:a16="http://schemas.microsoft.com/office/drawing/2014/main" id="{98F75B90-1BC9-46FC-8BF7-6E62FE188F74}"/>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24</a:t>
            </a:r>
          </a:p>
        </p:txBody>
      </p:sp>
      <p:sp>
        <p:nvSpPr>
          <p:cNvPr id="8" name="Unified source footer">
            <a:extLst>
              <a:ext uri="{FF2B5EF4-FFF2-40B4-BE49-F238E27FC236}">
                <a16:creationId xmlns:a16="http://schemas.microsoft.com/office/drawing/2014/main" id="{C942CBF2-3C80-44B8-BF98-B0BCCAD3A6E9}"/>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Workbook Sector history R7/R9/R17/R19/S23/S25 and History R117/R124/R125. Sector litres after 2021 are estimates; jet 2024 uses unverified FIASA. Index base 2019=100; GVA in 2015 prices.</a:t>
            </a:r>
          </a:p>
        </p:txBody>
      </p:sp>
      <p:graphicFrame>
        <p:nvGraphicFramePr>
          <p:cNvPr id="53" name="Table 46"/>
          <p:cNvGraphicFramePr/>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Evidence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Mining</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 1.406bn L. Post-2021 fuel volumes are estimated.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activity and intensity separately; balance intensity varies materially.</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Manufacturing</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industry-residual diesel estimate: 0.165bn L. Sector boundary needs review.</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Industry less mining/construction. This is not a complete industrial diesel census.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Agriculture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real GVA R134.8bn (2015 prices); indicative diesel 1.13bn L.</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Fuel estimate holds 2018-2021 intensity; crop and irrigation exposure remain open.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Aviation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2024 jet sales 1.96bn L; 456,214 ACSA movements; 4,285 L/movement.</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FIASA sales unverified; movements omit non-ACSA airports. Fuel mix and routes are not separated.</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7B509058-07D7-4873-99C3-4CE1EDF4A63D}"/>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24"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600789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1A94-EC5B-4D42-948E-2731836F1008}"/>
              </a:ext>
            </a:extLst>
          </p:cNvPr>
          <p:cNvSpPr>
            <a:spLocks noGrp="1"/>
          </p:cNvSpPr>
          <p:nvPr>
            <p:ph type="title"/>
          </p:nvPr>
        </p:nvSpPr>
        <p:spPr/>
        <p:txBody>
          <a:bodyPr>
            <a:normAutofit/>
          </a:bodyPr>
          <a:lstStyle/>
          <a:p>
            <a:r>
              <a:rPr sz="2300">
                <a:solidFill>
                  <a:schemeClr val="dk1"/>
                </a:solidFill>
                <a:latin typeface="Lato"/>
                <a:ea typeface="Lato"/>
                <a:cs typeface="Lato"/>
              </a:rPr>
              <a:t>Higher fuel prices strengthen EV running-cost incentives, but ownership economics determine uptake</a:t>
            </a:r>
          </a:p>
        </p:txBody>
      </p:sp>
      <p:sp>
        <p:nvSpPr>
          <p:cNvPr id="3" name="Slide Number Placeholder">
            <a:extLst>
              <a:ext uri="{FF2B5EF4-FFF2-40B4-BE49-F238E27FC236}">
                <a16:creationId xmlns:a16="http://schemas.microsoft.com/office/drawing/2014/main" id="{90719496-603D-444A-84CD-8D0401968BA4}"/>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25</a:t>
            </a:r>
          </a:p>
        </p:txBody>
      </p:sp>
      <p:sp>
        <p:nvSpPr>
          <p:cNvPr id="8" name="Unified source footer">
            <a:extLst>
              <a:ext uri="{FF2B5EF4-FFF2-40B4-BE49-F238E27FC236}">
                <a16:creationId xmlns:a16="http://schemas.microsoft.com/office/drawing/2014/main" id="{03001EB3-8847-4D13-AF09-D8935AFD40F6}"/>
              </a:ext>
            </a:extLst>
          </p:cNvPr>
          <p:cNvSpPr>
            <a:spLocks noGrp="1"/>
          </p:cNvSpPr>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Department fuel-price history, nominal R/litre. No quantified geopolitical premium or calibrated EV adoption response is asserted.</a:t>
            </a:r>
          </a:p>
        </p:txBody>
      </p:sp>
      <p:sp>
        <p:nvSpPr>
          <p:cNvPr id="48" name="Strictly Confidential footer">
            <a:extLst>
              <a:ext uri="{FF2B5EF4-FFF2-40B4-BE49-F238E27FC236}">
                <a16:creationId xmlns:a16="http://schemas.microsoft.com/office/drawing/2014/main" id="{FDE1D42B-8B51-4EC4-B69C-4C556D2FBB9C}"/>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58"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a:spLocks noGrp="1"/>
          </p:cNvSpPr>
          <p:nvPr/>
        </p:nvSpPr>
        <p:spPr>
          <a:xfrm>
            <a:off x="533400" y="5613400"/>
            <a:ext cx="10477500" cy="369332"/>
          </a:xfrm>
          <a:prstGeom prst="rect">
            <a:avLst/>
          </a:prstGeom>
          <a:noFill/>
        </p:spPr>
        <p:txBody>
          <a:bodyPr vert="horz" lIns="0" tIns="0" rIns="0" bIns="0">
            <a:spAutoFit/>
          </a:bodyPr>
          <a:lstStyle/>
          <a:p>
            <a:r>
              <a:rPr sz="1200">
                <a:solidFill>
                  <a:schemeClr val="dk1"/>
                </a:solidFill>
                <a:latin typeface="Lato"/>
                <a:ea typeface="Lato"/>
                <a:cs typeface="Lato"/>
              </a:rPr>
              <a:t>Shipping disruption, crude prices and FX can move fuel costs temporarily. EV adoption depends on sustained total ownership cost, purchase affordability, charging access and fleet replacement.</a:t>
            </a:r>
          </a:p>
        </p:txBody>
      </p:sp>
      <p:graphicFrame>
        <p:nvGraphicFramePr>
          <p:cNvPr id="5025"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808322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A905C-66EC-4A2A-80AF-539DF8DC82D3}"/>
              </a:ext>
            </a:extLst>
          </p:cNvPr>
          <p:cNvSpPr>
            <a:spLocks noGrp="1"/>
          </p:cNvSpPr>
          <p:nvPr>
            <p:ph type="title"/>
          </p:nvPr>
        </p:nvSpPr>
        <p:spPr/>
        <p:txBody>
          <a:bodyPr>
            <a:normAutofit/>
          </a:bodyPr>
          <a:lstStyle/>
          <a:p>
            <a:r>
              <a:rPr sz="2300">
                <a:solidFill>
                  <a:schemeClr val="dk1"/>
                </a:solidFill>
                <a:latin typeface="Lato"/>
                <a:ea typeface="Lato"/>
                <a:cs typeface="Lato"/>
              </a:rPr>
              <a:t>New-vehicle efficiency gains affect fuel demand gradually as older vehicles leave the fleet</a:t>
            </a:r>
          </a:p>
        </p:txBody>
      </p:sp>
      <p:sp>
        <p:nvSpPr>
          <p:cNvPr id="3" name="Slide Number Placeholder">
            <a:extLst>
              <a:ext uri="{FF2B5EF4-FFF2-40B4-BE49-F238E27FC236}">
                <a16:creationId xmlns:a16="http://schemas.microsoft.com/office/drawing/2014/main" id="{AB18E2DA-7226-4325-BDB3-172930229DB2}"/>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26</a:t>
            </a:r>
          </a:p>
        </p:txBody>
      </p:sp>
      <p:sp>
        <p:nvSpPr>
          <p:cNvPr id="8" name="Unified source footer">
            <a:extLst>
              <a:ext uri="{FF2B5EF4-FFF2-40B4-BE49-F238E27FC236}">
                <a16:creationId xmlns:a16="http://schemas.microsoft.com/office/drawing/2014/main" id="{7F810AF1-CB99-4711-B709-517B9F73F974}"/>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Workbook Vehicle history S6:S8/S24/S26. Apparent retirements are not verified scrappage. Stone et al. study uses a 2014 base; no recent OEM efficiency history or fuel-by-class stock is established.</a:t>
            </a:r>
          </a:p>
        </p:txBody>
      </p:sp>
      <p:graphicFrame>
        <p:nvGraphicFramePr>
          <p:cNvPr id="53" name="Table 46"/>
          <p:cNvGraphicFramePr/>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Evidence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buNone/>
                      </a:pPr>
                      <a:r>
                        <a:rPr sz="1300" b="1" u="none">
                          <a:solidFill>
                            <a:schemeClr val="dk1"/>
                          </a:solidFill>
                          <a:latin typeface="Lato"/>
                          <a:ea typeface="Lato"/>
                          <a:cs typeface="Lato"/>
                        </a:rPr>
                        <a:t>Fleet growth</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cars 8.18m; LCVs 2.78m; trucks 0.405m.</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Registered stock shows scale; fuel within class and opening cohort age remain unknown.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buNone/>
                      </a:pPr>
                      <a:r>
                        <a:rPr sz="1300" b="1" u="none">
                          <a:solidFill>
                            <a:schemeClr val="dk1"/>
                          </a:solidFill>
                          <a:latin typeface="Lato"/>
                          <a:ea typeface="Lato"/>
                          <a:cs typeface="Lato"/>
                        </a:rPr>
                        <a:t>Replacement</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apparent retirement: cars 2.36%, LCVs 3.42%. Model settings: 4% and 5%.</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Stock plus sales less next stock is a diagnostic, including deregistration, exports and classification effects.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buNone/>
                      </a:pPr>
                      <a:r>
                        <a:rPr sz="1300" b="1" u="none">
                          <a:solidFill>
                            <a:schemeClr val="dk1"/>
                          </a:solidFill>
                          <a:latin typeface="Lato"/>
                          <a:ea typeface="Lato"/>
                          <a:cs typeface="Lato"/>
                        </a:rPr>
                        <a:t>Efficiency / EVs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Study mileage/fuel-use benchmarks and separate BEV, PHEV and hybrid sales are available.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Implemented EV/efficiency pair reviewed. New-cohort efficiency applies to combustion vehicles. Avoid counting hybrid savings twice.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a:extLst>
              <a:ext uri="{FF2B5EF4-FFF2-40B4-BE49-F238E27FC236}">
                <a16:creationId xmlns:a16="http://schemas.microsoft.com/office/drawing/2014/main" id="{A5609673-E9C0-40F4-A535-9E89A0857358}"/>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26"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1189685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BB612-43C0-4282-B573-24FFA0733EC9}"/>
              </a:ext>
            </a:extLst>
          </p:cNvPr>
          <p:cNvSpPr>
            <a:spLocks noGrp="1"/>
          </p:cNvSpPr>
          <p:nvPr>
            <p:ph type="title"/>
          </p:nvPr>
        </p:nvSpPr>
        <p:spPr/>
        <p:txBody>
          <a:bodyPr>
            <a:normAutofit fontScale="90000"/>
          </a:bodyPr>
          <a:lstStyle/>
          <a:p>
            <a:r>
              <a:rPr>
                <a:solidFill>
                  <a:schemeClr val="dk1"/>
                </a:solidFill>
                <a:latin typeface="Lato"/>
                <a:ea typeface="Lato"/>
                <a:cs typeface="Lato"/>
              </a:rPr>
              <a:t>Vehicle stock and sales expose fuel-demand calibration gaps</a:t>
            </a:r>
          </a:p>
        </p:txBody>
      </p:sp>
      <p:sp>
        <p:nvSpPr>
          <p:cNvPr id="3" name="Slide Number Placeholder">
            <a:extLst>
              <a:ext uri="{FF2B5EF4-FFF2-40B4-BE49-F238E27FC236}">
                <a16:creationId xmlns:a16="http://schemas.microsoft.com/office/drawing/2014/main" id="{FC151B4F-89BB-4641-84F8-A2811DD10BDA}"/>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27</a:t>
            </a:r>
          </a:p>
        </p:txBody>
      </p:sp>
      <p:sp>
        <p:nvSpPr>
          <p:cNvPr id="8" name="Unified source footer">
            <a:extLst>
              <a:ext uri="{FF2B5EF4-FFF2-40B4-BE49-F238E27FC236}">
                <a16:creationId xmlns:a16="http://schemas.microsoft.com/office/drawing/2014/main" id="{B68787E9-80B1-4505-8D3F-F6D980B01144}"/>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Workbook Vehicle history S6:S8/S18:S20/S24/S26/S31:S36/Q52. NaTIS and naamsa classes are not identical. Apparent retirement is not verified scrappage; petrol diagnostic compares different scopes.</a:t>
            </a:r>
          </a:p>
        </p:txBody>
      </p:sp>
      <p:sp>
        <p:nvSpPr>
          <p:cNvPr id="48" name="Strictly Confidential footer">
            <a:extLst>
              <a:ext uri="{FF2B5EF4-FFF2-40B4-BE49-F238E27FC236}">
                <a16:creationId xmlns:a16="http://schemas.microsoft.com/office/drawing/2014/main" id="{6C6CB18C-004A-4839-9134-3A6CEBE0E41C}"/>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Native evidence table"/>
          <p:cNvGraphicFramePr/>
          <p:nvPr/>
        </p:nvGraphicFramePr>
        <p:xfrm>
          <a:off x="457199" y="1651000"/>
          <a:ext cx="10652760" cy="41656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20000"/>
                    </a:ext>
                  </a:extLst>
                </a:gridCol>
                <a:gridCol w="29845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4048760">
                  <a:extLst>
                    <a:ext uri="{9D8B030D-6E8A-4147-A177-3AD203B41FA5}">
                      <a16:colId xmlns:a16="http://schemas.microsoft.com/office/drawing/2014/main" val="20003"/>
                    </a:ext>
                  </a:extLst>
                </a:gridCol>
              </a:tblGrid>
              <a:tr h="355600">
                <a:tc>
                  <a:txBody>
                    <a:bodyPr/>
                    <a:lstStyle/>
                    <a:p>
                      <a:pPr>
                        <a:spcAft>
                          <a:spcPts val="0"/>
                        </a:spcAft>
                        <a:buNone/>
                      </a:pPr>
                      <a:r>
                        <a:rPr sz="1200" b="1">
                          <a:solidFill>
                            <a:schemeClr val="dk1"/>
                          </a:solidFill>
                          <a:latin typeface="Lato"/>
                          <a:ea typeface="Lato"/>
                          <a:cs typeface="Lato"/>
                        </a:rPr>
                        <a:t>Calibration item</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Observed evidence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Model / calibration reference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Implication / limitation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10000"/>
                  </a:ext>
                </a:extLst>
              </a:tr>
              <a:tr h="762000">
                <a:tc>
                  <a:txBody>
                    <a:bodyPr/>
                    <a:lstStyle/>
                    <a:p>
                      <a:pPr>
                        <a:spcAft>
                          <a:spcPts val="0"/>
                        </a:spcAft>
                        <a:buNone/>
                      </a:pPr>
                      <a:r>
                        <a:rPr sz="1200" b="1">
                          <a:solidFill>
                            <a:schemeClr val="accent1"/>
                          </a:solidFill>
                          <a:latin typeface="Lato"/>
                          <a:ea typeface="Lato"/>
                          <a:cs typeface="Lato"/>
                        </a:rPr>
                        <a:t>2025 registered fleet</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8.18m; LCVs 2.78m; trucks 0.405m.</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Opening cohorts need review.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Age and fuel within class are missing; all-class fuel counts are available only for December 2023.</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10001"/>
                  </a:ext>
                </a:extLst>
              </a:tr>
              <a:tr h="762000">
                <a:tc>
                  <a:txBody>
                    <a:bodyPr/>
                    <a:lstStyle/>
                    <a:p>
                      <a:pPr>
                        <a:spcAft>
                          <a:spcPts val="0"/>
                        </a:spcAft>
                        <a:buNone/>
                      </a:pPr>
                      <a:r>
                        <a:rPr sz="1200" b="1">
                          <a:solidFill>
                            <a:schemeClr val="accent1"/>
                          </a:solidFill>
                          <a:latin typeface="Lato"/>
                          <a:ea typeface="Lato"/>
                          <a:cs typeface="Lato"/>
                        </a:rPr>
                        <a:t>New-sales mix,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70.7%; LCVs 24.1%; medium/heavy 5.2%.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78% / 18% / 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Observed class mix differs. Agree segmentation before adopting a replacement.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2"/>
                  </a:ext>
                </a:extLst>
              </a:tr>
              <a:tr h="762000">
                <a:tc>
                  <a:txBody>
                    <a:bodyPr/>
                    <a:lstStyle/>
                    <a:p>
                      <a:pPr>
                        <a:spcAft>
                          <a:spcPts val="0"/>
                        </a:spcAft>
                        <a:buNone/>
                      </a:pPr>
                      <a:r>
                        <a:rPr sz="1200" b="1">
                          <a:solidFill>
                            <a:schemeClr val="accent1"/>
                          </a:solidFill>
                          <a:latin typeface="Lato"/>
                          <a:ea typeface="Lato"/>
                          <a:cs typeface="Lato"/>
                        </a:rPr>
                        <a:t>Apparent retirement,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2.36%; LCVs 3.42%.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 cars; 5% LCVs.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Derived from stock and new sales; includes classification changes, exports and deregistrations.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3"/>
                  </a:ext>
                </a:extLst>
              </a:tr>
              <a:tr h="762000">
                <a:tc>
                  <a:txBody>
                    <a:bodyPr/>
                    <a:lstStyle/>
                    <a:p>
                      <a:pPr>
                        <a:spcAft>
                          <a:spcPts val="0"/>
                        </a:spcAft>
                        <a:buNone/>
                      </a:pPr>
                      <a:r>
                        <a:rPr sz="1200" b="1">
                          <a:solidFill>
                            <a:schemeClr val="accent1"/>
                          </a:solidFill>
                          <a:latin typeface="Lato"/>
                          <a:ea typeface="Lato"/>
                          <a:cs typeface="Lato"/>
                        </a:rPr>
                        <a:t>New drivetrains,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1,088; PHEV 2,810; conventional hybrid 12,818.</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observed share 0.18%.</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Fuel/class splits and electric-LCV paths remain estimates. Sales shares do not establish fleet shares or hybrid fuel savings.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4"/>
                  </a:ext>
                </a:extLst>
              </a:tr>
              <a:tr h="762000">
                <a:tc>
                  <a:txBody>
                    <a:bodyPr/>
                    <a:lstStyle/>
                    <a:p>
                      <a:pPr>
                        <a:spcAft>
                          <a:spcPts val="0"/>
                        </a:spcAft>
                        <a:buNone/>
                      </a:pPr>
                      <a:r>
                        <a:rPr sz="1200" b="1">
                          <a:solidFill>
                            <a:schemeClr val="accent1"/>
                          </a:solidFill>
                          <a:latin typeface="Lato"/>
                          <a:ea typeface="Lato"/>
                          <a:cs typeface="Lato"/>
                        </a:rPr>
                        <a:t>Petrol-use diagnostic, 2023</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1,056 L per registered petrol vehicle.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Passenger setting implies 1,615 L/year.</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Aggregate versus passenger scope differs. Investigate mileage and fuel-use calibration, not a direct replacement.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5"/>
                  </a:ext>
                </a:extLst>
              </a:tr>
            </a:tbl>
          </a:graphicData>
        </a:graphic>
      </p:graphicFrame>
      <p:graphicFrame>
        <p:nvGraphicFramePr>
          <p:cNvPr id="5027"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1885496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DE78F-B351-4415-ABC8-9904E1252003}"/>
              </a:ext>
            </a:extLst>
          </p:cNvPr>
          <p:cNvSpPr>
            <a:spLocks noGrp="1"/>
          </p:cNvSpPr>
          <p:nvPr>
            <p:ph type="title"/>
          </p:nvPr>
        </p:nvSpPr>
        <p:spPr/>
        <p:txBody>
          <a:bodyPr>
            <a:normAutofit/>
          </a:bodyPr>
          <a:lstStyle/>
          <a:p>
            <a:r>
              <a:rPr sz="2300">
                <a:solidFill>
                  <a:schemeClr val="dk1"/>
                </a:solidFill>
                <a:latin typeface="Lato"/>
                <a:ea typeface="Lato"/>
                <a:cs typeface="Lato"/>
              </a:rPr>
              <a:t>Eskom’s own OCGT fuel use fell 40% in FY2025 as availability improved</a:t>
            </a:r>
          </a:p>
        </p:txBody>
      </p:sp>
      <p:sp>
        <p:nvSpPr>
          <p:cNvPr id="3" name="Slide Number Placeholder">
            <a:extLst>
              <a:ext uri="{FF2B5EF4-FFF2-40B4-BE49-F238E27FC236}">
                <a16:creationId xmlns:a16="http://schemas.microsoft.com/office/drawing/2014/main" id="{22379130-E02F-4C5C-9FDF-CA4D582069B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28</a:t>
            </a:r>
          </a:p>
        </p:txBody>
      </p:sp>
      <p:sp>
        <p:nvSpPr>
          <p:cNvPr id="8" name="Unified source footer">
            <a:extLst>
              <a:ext uri="{FF2B5EF4-FFF2-40B4-BE49-F238E27FC236}">
                <a16:creationId xmlns:a16="http://schemas.microsoft.com/office/drawing/2014/main" id="{108E5F43-6476-4F1B-9F3B-32F89C2D1942}"/>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Eskom Integrated Report 2025, FY March, own diesel + kerosene. Workbook combined generation includes IPPs and kerosene stations; multiplying it by 0.31 L/kWh is an estimate, not reported diesel burn. Private backup remains unmeasured.</a:t>
            </a:r>
          </a:p>
        </p:txBody>
      </p:sp>
      <p:sp>
        <p:nvSpPr>
          <p:cNvPr id="48" name="Strictly Confidential footer">
            <a:extLst>
              <a:ext uri="{FF2B5EF4-FFF2-40B4-BE49-F238E27FC236}">
                <a16:creationId xmlns:a16="http://schemas.microsoft.com/office/drawing/2014/main" id="{CD8420AE-234B-4C9D-AE9F-8B8AB6FC1BDF}"/>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58"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a:spLocks noGrp="1"/>
          </p:cNvSpPr>
          <p:nvPr/>
        </p:nvSpPr>
        <p:spPr>
          <a:xfrm>
            <a:off x="533400" y="5600699"/>
            <a:ext cx="10477500" cy="482600"/>
          </a:xfrm>
          <a:prstGeom prst="rect">
            <a:avLst/>
          </a:prstGeom>
          <a:noFill/>
        </p:spPr>
        <p:txBody>
          <a:bodyPr vert="horz" lIns="0" tIns="0" rIns="0" bIns="0">
            <a:noAutofit/>
          </a:bodyPr>
          <a:lstStyle/>
          <a:p>
            <a:r>
              <a:rPr sz="1050">
                <a:solidFill>
                  <a:schemeClr val="dk1"/>
                </a:solidFill>
                <a:latin typeface="Lato"/>
                <a:ea typeface="Lato"/>
                <a:cs typeface="Lato"/>
              </a:rPr>
              <a:t>Own-fleet fuel fell from 1,129.5 to 679.1m L. FY2025 Eskom plus estimated IPP fuel is ~0.89bn L; the model’s power/road split needs joint recalibration.</a:t>
            </a:r>
          </a:p>
        </p:txBody>
      </p:sp>
      <p:graphicFrame>
        <p:nvGraphicFramePr>
          <p:cNvPr id="5028"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16002431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0BC9-3E7C-4EF0-915A-1CC07DC3AE38}"/>
              </a:ext>
            </a:extLst>
          </p:cNvPr>
          <p:cNvSpPr>
            <a:spLocks noGrp="1"/>
          </p:cNvSpPr>
          <p:nvPr>
            <p:ph type="title"/>
          </p:nvPr>
        </p:nvSpPr>
        <p:spPr/>
        <p:txBody>
          <a:bodyPr>
            <a:normAutofit/>
          </a:bodyPr>
          <a:lstStyle/>
          <a:p>
            <a:r>
              <a:rPr sz="2300">
                <a:solidFill>
                  <a:schemeClr val="dk1"/>
                </a:solidFill>
                <a:latin typeface="Lato"/>
                <a:ea typeface="Lato"/>
                <a:cs typeface="Lato"/>
              </a:rPr>
              <a:t>Road carries most reported freight tonnage, making transferable haul distance a key diesel lever</a:t>
            </a:r>
          </a:p>
        </p:txBody>
      </p:sp>
      <p:sp>
        <p:nvSpPr>
          <p:cNvPr id="3" name="Slide Number Placeholder">
            <a:extLst>
              <a:ext uri="{FF2B5EF4-FFF2-40B4-BE49-F238E27FC236}">
                <a16:creationId xmlns:a16="http://schemas.microsoft.com/office/drawing/2014/main" id="{64C4B621-B62B-4B4C-9795-C2CDF603807B}"/>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29</a:t>
            </a:r>
          </a:p>
        </p:txBody>
      </p:sp>
      <p:sp>
        <p:nvSpPr>
          <p:cNvPr id="8" name="Unified source footer">
            <a:extLst>
              <a:ext uri="{FF2B5EF4-FFF2-40B4-BE49-F238E27FC236}">
                <a16:creationId xmlns:a16="http://schemas.microsoft.com/office/drawing/2014/main" id="{41B324F5-19D8-4A34-B609-73D7DEC59B11}"/>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Stats SA payload and transport-industry fuel purchases. Workbook Diesel by use Q28: spending / average diesel price, hire-and-reward firms only; may include petrol/lubricants. Road residual includes unseparated uses; tonne-km and rail traction remain open.</a:t>
            </a:r>
          </a:p>
        </p:txBody>
      </p:sp>
      <p:sp>
        <p:nvSpPr>
          <p:cNvPr id="48" name="Strictly Confidential footer">
            <a:extLst>
              <a:ext uri="{FF2B5EF4-FFF2-40B4-BE49-F238E27FC236}">
                <a16:creationId xmlns:a16="http://schemas.microsoft.com/office/drawing/2014/main" id="{412FFE2F-2361-48BD-9517-599D30EB0CC7}"/>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58"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a:spLocks noGrp="1"/>
          </p:cNvSpPr>
          <p:nvPr/>
        </p:nvSpPr>
        <p:spPr>
          <a:xfrm>
            <a:off x="533400" y="5600699"/>
            <a:ext cx="10477500" cy="482600"/>
          </a:xfrm>
          <a:prstGeom prst="rect">
            <a:avLst/>
          </a:prstGeom>
          <a:noFill/>
        </p:spPr>
        <p:txBody>
          <a:bodyPr vert="horz" lIns="0" tIns="0" rIns="0" bIns="0">
            <a:noAutofit/>
          </a:bodyPr>
          <a:lstStyle/>
          <a:p>
            <a:r>
              <a:rPr sz="1050">
                <a:solidFill>
                  <a:schemeClr val="dk1"/>
                </a:solidFill>
                <a:latin typeface="Lato"/>
                <a:ea typeface="Lato"/>
                <a:cs typeface="Lato"/>
              </a:rPr>
              <a:t>Apply freight diversion once to a defined road baseline. The ~3.15bn L operator-spending proxy has partial coverage and does not establish corridor tonne-km.</a:t>
            </a:r>
          </a:p>
        </p:txBody>
      </p:sp>
      <p:graphicFrame>
        <p:nvGraphicFramePr>
          <p:cNvPr id="5029"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248514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6F17E-0F6B-4789-B86D-8823ACECF818}"/>
              </a:ext>
            </a:extLst>
          </p:cNvPr>
          <p:cNvSpPr>
            <a:spLocks noGrp="1"/>
          </p:cNvSpPr>
          <p:nvPr>
            <p:ph type="title"/>
          </p:nvPr>
        </p:nvSpPr>
        <p:spPr/>
        <p:txBody>
          <a:bodyPr>
            <a:normAutofit/>
          </a:bodyPr>
          <a:lstStyle/>
          <a:p>
            <a:r>
              <a:rPr sz="2300">
                <a:solidFill>
                  <a:schemeClr val="dk1"/>
                </a:solidFill>
                <a:latin typeface="Lato"/>
                <a:ea typeface="Lato"/>
                <a:cs typeface="Lato"/>
              </a:rPr>
              <a:t>Rail funding and reliable service determine how much road freight can return to rail</a:t>
            </a:r>
          </a:p>
        </p:txBody>
      </p:sp>
      <p:sp>
        <p:nvSpPr>
          <p:cNvPr id="3" name="Slide Number Placeholder">
            <a:extLst>
              <a:ext uri="{FF2B5EF4-FFF2-40B4-BE49-F238E27FC236}">
                <a16:creationId xmlns:a16="http://schemas.microsoft.com/office/drawing/2014/main" id="{0FD68D24-4B97-49EF-8F49-508B520602CD}"/>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30</a:t>
            </a:r>
          </a:p>
        </p:txBody>
      </p:sp>
      <p:sp>
        <p:nvSpPr>
          <p:cNvPr id="8" name="Unified source footer">
            <a:extLst>
              <a:ext uri="{FF2B5EF4-FFF2-40B4-BE49-F238E27FC236}">
                <a16:creationId xmlns:a16="http://schemas.microsoft.com/office/drawing/2014/main" id="{2A69EE83-2099-4200-8CD4-4525FA139FA9}"/>
              </a:ext>
            </a:extLst>
          </p:cNvPr>
          <p:cNvSpPr>
            <a:spLocks noGrp="1"/>
          </p:cNvSpPr>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User-supplied AIA Transnet Funding Brief, Sep 2026, pp1–2; cites FY2026 AFS and Network Statement v4 Annexure 17. Primary figures not independently reconciled.</a:t>
            </a:r>
          </a:p>
        </p:txBody>
      </p:sp>
      <p:graphicFrame>
        <p:nvGraphicFramePr>
          <p:cNvPr id="53" name="Table 46"/>
          <p:cNvGraphicFramePr/>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Evidence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Network ambition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The supplied brief reports a 250 Mt target dependent on a funding plan.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Do not treat every additional rail tonne as road displacement. Commodity, corridor and origin matter.</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Funding constraint</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R46.34bn approved over five years, including R1.71bn expansion.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Maintenance and sustaining spend dominate. A published plan is insufficient evidence of delivered capacity.</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Container corridor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R2.11bn in 2026/27–2028/29; private funding expected thereafter.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Prioritise Durban–Gauteng road/rail competition and reconcile the corridor to Network Statement v4.</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Two fuel effects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Rail can displace truck diesel while improved infrastructure also changes fuel-distribution economics.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Apply road-to-rail diversion once to eligible freight activity. Separately assess the route used to distribute fuel inland.</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5B79B205-FB05-4D36-B8FF-93295187F1B3}"/>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30"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3313047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EAB8-9634-4572-8ACC-7697A9F7E755}"/>
              </a:ext>
            </a:extLst>
          </p:cNvPr>
          <p:cNvSpPr>
            <a:spLocks noGrp="1"/>
          </p:cNvSpPr>
          <p:nvPr>
            <p:ph type="title"/>
          </p:nvPr>
        </p:nvSpPr>
        <p:spPr/>
        <p:txBody>
          <a:bodyPr>
            <a:normAutofit/>
          </a:bodyPr>
          <a:lstStyle/>
          <a:p>
            <a:r>
              <a:rPr sz="2300">
                <a:solidFill>
                  <a:schemeClr val="dk1"/>
                </a:solidFill>
                <a:latin typeface="Lato"/>
                <a:ea typeface="Lato"/>
                <a:cs typeface="Lato"/>
              </a:rPr>
              <a:t>Gauteng demand establishes market scale, while Lesedi capture and turnover determine throughput</a:t>
            </a:r>
          </a:p>
        </p:txBody>
      </p:sp>
      <p:sp>
        <p:nvSpPr>
          <p:cNvPr id="3" name="Slide Number Placeholder">
            <a:extLst>
              <a:ext uri="{FF2B5EF4-FFF2-40B4-BE49-F238E27FC236}">
                <a16:creationId xmlns:a16="http://schemas.microsoft.com/office/drawing/2014/main" id="{7D5C80C3-6E0E-44EF-B3A9-19D3C8F066DE}"/>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31</a:t>
            </a:r>
          </a:p>
        </p:txBody>
      </p:sp>
      <p:sp>
        <p:nvSpPr>
          <p:cNvPr id="8" name="Unified source footer">
            <a:extLst>
              <a:ext uri="{FF2B5EF4-FFF2-40B4-BE49-F238E27FC236}">
                <a16:creationId xmlns:a16="http://schemas.microsoft.com/office/drawing/2014/main" id="{E8A7884A-32B8-4756-BC25-3E20827318B0}"/>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Department provincial sales through 2022; workbook History Q84/Q104 and R84/R104 estimate later volumes. 2024 also uses unverified FIASA national sales. The chart retains observed 2013-2022 sales history, not current market share.</a:t>
            </a:r>
          </a:p>
        </p:txBody>
      </p:sp>
      <p:sp>
        <p:nvSpPr>
          <p:cNvPr id="48" name="Strictly Confidential footer">
            <a:extLst>
              <a:ext uri="{FF2B5EF4-FFF2-40B4-BE49-F238E27FC236}">
                <a16:creationId xmlns:a16="http://schemas.microsoft.com/office/drawing/2014/main" id="{275234E6-ED48-48F0-B28E-85A6A7331E64}"/>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58" name="Evidence chart"/>
          <p:cNvPicPr>
            <a:picLocks noChangeAspect="1"/>
          </p:cNvPicPr>
          <p:nvPr/>
        </p:nvPicPr>
        <p:blipFill>
          <a:blip r:embed="rId3"/>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a:spLocks noGrp="1"/>
          </p:cNvSpPr>
          <p:nvPr/>
        </p:nvSpPr>
        <p:spPr>
          <a:xfrm>
            <a:off x="533400" y="5600699"/>
            <a:ext cx="10477500" cy="482600"/>
          </a:xfrm>
          <a:prstGeom prst="rect">
            <a:avLst/>
          </a:prstGeom>
          <a:noFill/>
        </p:spPr>
        <p:txBody>
          <a:bodyPr vert="horz" lIns="0" tIns="0" rIns="0" bIns="0">
            <a:noAutofit/>
          </a:bodyPr>
          <a:lstStyle/>
          <a:p>
            <a:r>
              <a:rPr sz="1050">
                <a:solidFill>
                  <a:schemeClr val="dk1"/>
                </a:solidFill>
                <a:latin typeface="Lato"/>
                <a:ea typeface="Lato"/>
                <a:cs typeface="Lato"/>
              </a:rPr>
              <a:t>Gauteng sales were 6.81bn L in 2022; the six inland provinces totalled 11.95bn L. These are nested catchments, not low/high Lesedi market scenarios.</a:t>
            </a:r>
          </a:p>
        </p:txBody>
      </p:sp>
      <p:graphicFrame>
        <p:nvGraphicFramePr>
          <p:cNvPr id="5031"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r:dm="rIdSmartArt4" r:lo="rIdSmartArt5" r:qs="rIdSmartArt6" r:cs="rIdSmartArt7"/>
          </a:graphicData>
        </a:graphic>
      </p:graphicFrame>
    </p:spTree>
    <p:extLst>
      <p:ext uri="{BB962C8B-B14F-4D97-AF65-F5344CB8AC3E}">
        <p14:creationId xmlns:p14="http://schemas.microsoft.com/office/powerpoint/2010/main" val="3616646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B7AA6-3C14-4177-A829-5A002B58A922}"/>
              </a:ext>
            </a:extLst>
          </p:cNvPr>
          <p:cNvSpPr>
            <a:spLocks noGrp="1"/>
          </p:cNvSpPr>
          <p:nvPr>
            <p:ph type="title"/>
          </p:nvPr>
        </p:nvSpPr>
        <p:spPr/>
        <p:txBody>
          <a:bodyPr>
            <a:normAutofit/>
          </a:bodyPr>
          <a:lstStyle/>
          <a:p>
            <a:r>
              <a:rPr sz="2300">
                <a:solidFill>
                  <a:schemeClr val="dk1"/>
                </a:solidFill>
                <a:latin typeface="Lato"/>
                <a:ea typeface="Lato"/>
                <a:cs typeface="Lato"/>
              </a:rPr>
              <a:t>Every market world passes through explicit demand, supply, capture and operating levers</a:t>
            </a:r>
          </a:p>
        </p:txBody>
      </p:sp>
      <p:sp>
        <p:nvSpPr>
          <p:cNvPr id="3" name="Slide Number Placeholder">
            <a:extLst>
              <a:ext uri="{FF2B5EF4-FFF2-40B4-BE49-F238E27FC236}">
                <a16:creationId xmlns:a16="http://schemas.microsoft.com/office/drawing/2014/main" id="{0FEB81A9-F07F-421C-B449-108D2EEE908F}"/>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32</a:t>
            </a:r>
          </a:p>
        </p:txBody>
      </p:sp>
      <p:sp>
        <p:nvSpPr>
          <p:cNvPr id="8" name="Unified source footer">
            <a:extLst>
              <a:ext uri="{FF2B5EF4-FFF2-40B4-BE49-F238E27FC236}">
                <a16:creationId xmlns:a16="http://schemas.microsoft.com/office/drawing/2014/main" id="{F59C79DE-4058-472C-8092-0550AB445375}"/>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Workbook HML response has 29 levers. Examples: BEV adoption, rail diversion, mileage, prices, hybrids, truck/LCV electrification and neighbouring exports. All replacement ranges remain proposals; no forecast inputs are adopted in this pack.</a:t>
            </a:r>
          </a:p>
        </p:txBody>
      </p:sp>
      <p:graphicFrame>
        <p:nvGraphicFramePr>
          <p:cNvPr id="53" name="Table 46"/>
          <p:cNvGraphicFramePr/>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Lever IDs</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Inputs to calibrate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Output / remaining evidence</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buNone/>
                      </a:pPr>
                      <a:r>
                        <a:rPr sz="1300" b="1" u="none">
                          <a:solidFill>
                            <a:schemeClr val="dk1"/>
                          </a:solidFill>
                          <a:latin typeface="Lato"/>
                          <a:ea typeface="Lato"/>
                          <a:cs typeface="Lato"/>
                        </a:rPr>
                        <a:t>D1–D5 demand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D1 sector growth; D2 rail; D3 EV adoption; D4 efficiency; D5 power.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EV/efficiency pair reviewed. Hybrid, freight/rail and baseline combination rules remain open. Proposed annual paths require agreement.</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buNone/>
                      </a:pPr>
                      <a:r>
                        <a:rPr sz="1300" b="1" u="none">
                          <a:solidFill>
                            <a:schemeClr val="dk1"/>
                          </a:solidFill>
                          <a:latin typeface="Lato"/>
                          <a:ea typeface="Lato"/>
                          <a:cs typeface="Lato"/>
                        </a:rPr>
                        <a:t>S1–S4 supply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 SAPREF; S2 Secunda gas/MRG; S3 Natref; S4 PetroSA.</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Output, yields and feedstock dependencies remain open. Reconcile proposed capacity, utilisation and gas assumptions.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buNone/>
                      </a:pPr>
                      <a:r>
                        <a:rPr sz="1300" b="1" u="none">
                          <a:solidFill>
                            <a:schemeClr val="dk1"/>
                          </a:solidFill>
                          <a:latin typeface="Lato"/>
                          <a:ea typeface="Lato"/>
                          <a:cs typeface="Lato"/>
                        </a:rPr>
                        <a:t>T1–T2 capture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 delivered route economics/access; T2 customer/product/destination capture.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Allocate domestic and imported fuel to unique terminal deliveries. Tariffs, rights and commercial allocation remain open.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buNone/>
                      </a:pPr>
                      <a:r>
                        <a:rPr sz="1300" b="1" u="none">
                          <a:solidFill>
                            <a:schemeClr val="dk1"/>
                          </a:solidFill>
                          <a:latin typeface="Lato"/>
                          <a:ea typeface="Lato"/>
                          <a:cs typeface="Lato"/>
                        </a:rPr>
                        <a:t>T3–T5 operations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T3 eligible working tankage; T4 turnover; T5 receipt/dispatch, peaks and stock policy.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Working-tank sensitivity uses Durban 146,000 and Lesedi 124,000 m³, both partly estimated. Validate turns, peaks and route access.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buNone/>
                      </a:pPr>
                      <a:r>
                        <a:rPr sz="1300" b="1" u="none">
                          <a:solidFill>
                            <a:schemeClr val="dk1"/>
                          </a:solidFill>
                          <a:latin typeface="Lato"/>
                          <a:ea typeface="Lato"/>
                          <a:cs typeface="Lato"/>
                        </a:rPr>
                        <a:t>F1 finance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Storage/handling terms, costs, capex, tax, working capital and hurdle rate.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Translate constrained throughput into cash flow, NPV, IRR and investment triggers. Commercial inputs remain open.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a:extLst>
              <a:ext uri="{FF2B5EF4-FFF2-40B4-BE49-F238E27FC236}">
                <a16:creationId xmlns:a16="http://schemas.microsoft.com/office/drawing/2014/main" id="{8AC93260-662B-499F-94A1-D60DC2B8C419}"/>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32"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792652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6427D-4BB2-4CAD-AFAC-3FDC7523D701}"/>
              </a:ext>
            </a:extLst>
          </p:cNvPr>
          <p:cNvSpPr>
            <a:spLocks noGrp="1"/>
          </p:cNvSpPr>
          <p:nvPr>
            <p:ph type="title"/>
          </p:nvPr>
        </p:nvSpPr>
        <p:spPr/>
        <p:txBody>
          <a:bodyPr>
            <a:normAutofit/>
          </a:bodyPr>
          <a:lstStyle/>
          <a:p>
            <a:r>
              <a:rPr sz="2300">
                <a:solidFill>
                  <a:schemeClr val="dk1"/>
                </a:solidFill>
                <a:latin typeface="Lato"/>
                <a:ea typeface="Lato"/>
                <a:cs typeface="Lato"/>
              </a:rPr>
              <a:t>Generation timing must close the power balance before residual diesel can be forecast</a:t>
            </a:r>
          </a:p>
        </p:txBody>
      </p:sp>
      <p:sp>
        <p:nvSpPr>
          <p:cNvPr id="3" name="Slide Number Placeholder">
            <a:extLst>
              <a:ext uri="{FF2B5EF4-FFF2-40B4-BE49-F238E27FC236}">
                <a16:creationId xmlns:a16="http://schemas.microsoft.com/office/drawing/2014/main" id="{CF83A97E-51D7-4A7C-8CF8-00F35C37742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33</a:t>
            </a:r>
          </a:p>
        </p:txBody>
      </p:sp>
      <p:sp>
        <p:nvSpPr>
          <p:cNvPr id="8" name="Unified source footer">
            <a:extLst>
              <a:ext uri="{FF2B5EF4-FFF2-40B4-BE49-F238E27FC236}">
                <a16:creationId xmlns:a16="http://schemas.microsoft.com/office/drawing/2014/main" id="{BC55EAEB-EA76-4649-B7CD-69F7918CE0A4}"/>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Workbook Power fleet F11:S15 and N63:N65; proposed scenarios, not forecasts. Generation includes kerosene. IPP renewal, gas availability and coal-site repowering are not established. Historical burn must match scope and period.</a:t>
            </a:r>
          </a:p>
        </p:txBody>
      </p:sp>
      <p:graphicFrame>
        <p:nvGraphicFramePr>
          <p:cNvPr id="53" name="Table 46"/>
          <p:cNvGraphicFramePr/>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Time series</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 / lever</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Evidence status and next use</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Recovery history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Own Eskom fuel/EAF and Eskom/IPP GWh are assembled; generation-based litres are estimated.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Align FY/calendar scope. Reconcile the model’s 3.58bn L power estimate with reported/estimated fuel and other demand uses.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Fleet and retirements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Four diesel stations: 3,089 MW. Avon/Dedisa PPA endings and coal retirement dates are assembled.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Contract end is not confirmed shutdown. Siting, renewal and actual coal decisions remain open.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Replacement / gas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Ankerlig/Gourikwa gas switch and coal-site turbines are case dependencies, not committed outcomes.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Engine includes 3,000MW of notional plants. Treat these separately from the four existing stations and proposed coal-site cases.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Proposed L/M/H cases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2030 power diesel: 86 / 637 / 4,224m L in the workbook scenarios.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Nigel/Henry review D22: conversion rate, backup share, load factors, repowering location and gas supply.</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0E11C88A-BD5F-4917-9B21-B7EE2F303E09}"/>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33"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92822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BAAD0-C6F7-4B47-B559-096F6E9C4830}"/>
              </a:ext>
            </a:extLst>
          </p:cNvPr>
          <p:cNvSpPr>
            <a:spLocks noGrp="1"/>
          </p:cNvSpPr>
          <p:nvPr>
            <p:ph type="title"/>
          </p:nvPr>
        </p:nvSpPr>
        <p:spPr/>
        <p:txBody>
          <a:bodyPr>
            <a:normAutofit fontScale="90000"/>
          </a:bodyPr>
          <a:lstStyle/>
          <a:p>
            <a:r>
              <a:rPr>
                <a:solidFill>
                  <a:schemeClr val="dk1"/>
                </a:solidFill>
                <a:latin typeface="Lato"/>
                <a:ea typeface="Lato"/>
                <a:cs typeface="Lato"/>
              </a:rPr>
              <a:t>The diesel fleet and replacement timing define the power-demand cases</a:t>
            </a:r>
          </a:p>
        </p:txBody>
      </p:sp>
      <p:sp>
        <p:nvSpPr>
          <p:cNvPr id="3" name="Slide Number Placeholder">
            <a:extLst>
              <a:ext uri="{FF2B5EF4-FFF2-40B4-BE49-F238E27FC236}">
                <a16:creationId xmlns:a16="http://schemas.microsoft.com/office/drawing/2014/main" id="{7508541C-1BC2-496C-A20C-9C851E00B079}"/>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34</a:t>
            </a:r>
          </a:p>
        </p:txBody>
      </p:sp>
      <p:sp>
        <p:nvSpPr>
          <p:cNvPr id="8" name="Unified source footer">
            <a:extLst>
              <a:ext uri="{FF2B5EF4-FFF2-40B4-BE49-F238E27FC236}">
                <a16:creationId xmlns:a16="http://schemas.microsoft.com/office/drawing/2014/main" id="{D6A154D6-B0D0-4D16-8B29-31E62CD38A3A}"/>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Workbook Power fleet F11:F15, N63:N65 and S63:S65. Proposed cases, Nigel/Henry review D22. 0.31 L/kWh, backup fraction, load factors, gas supply and coal-site repowering need review. Kerosene stations and private backup are separate.</a:t>
            </a:r>
          </a:p>
        </p:txBody>
      </p:sp>
      <p:sp>
        <p:nvSpPr>
          <p:cNvPr id="48" name="Strictly Confidential footer">
            <a:extLst>
              <a:ext uri="{FF2B5EF4-FFF2-40B4-BE49-F238E27FC236}">
                <a16:creationId xmlns:a16="http://schemas.microsoft.com/office/drawing/2014/main" id="{7C153E1F-B2D2-4962-BB17-6CDA6AD0CF97}"/>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4" name="Fleet heading">
            <a:extLst>
              <a:ext uri="{FF2B5EF4-FFF2-40B4-BE49-F238E27FC236}">
                <a16:creationId xmlns:a16="http://schemas.microsoft.com/office/drawing/2014/main" id="{26C66294-3AFA-17AD-1DD9-AE345133A1E2}"/>
              </a:ext>
            </a:extLst>
          </p:cNvPr>
          <p:cNvSpPr>
            <a:spLocks noGrp="1"/>
          </p:cNvSpPr>
          <p:nvPr/>
        </p:nvSpPr>
        <p:spPr>
          <a:xfrm>
            <a:off x="457200" y="1600200"/>
            <a:ext cx="5511800" cy="228600"/>
          </a:xfrm>
          <a:prstGeom prst="rect">
            <a:avLst/>
          </a:prstGeom>
          <a:noFill/>
        </p:spPr>
        <p:txBody>
          <a:bodyPr vert="horz" lIns="0" tIns="0" rIns="0" bIns="0">
            <a:noAutofit/>
          </a:bodyPr>
          <a:lstStyle/>
          <a:p>
            <a:pPr>
              <a:spcAft>
                <a:spcPts val="200"/>
              </a:spcAft>
              <a:buNone/>
            </a:pPr>
            <a:r>
              <a:rPr sz="1200" b="1">
                <a:solidFill>
                  <a:schemeClr val="accent1"/>
                </a:solidFill>
                <a:latin typeface="Lato"/>
                <a:ea typeface="Lato"/>
                <a:cs typeface="Lato"/>
              </a:rPr>
              <a:t>OPERATING DIESEL FLEET: 3,089 MW</a:t>
            </a:r>
          </a:p>
        </p:txBody>
      </p:sp>
      <p:graphicFrame>
        <p:nvGraphicFramePr>
          <p:cNvPr id="60" name="Operating fleet table"/>
          <p:cNvGraphicFramePr/>
          <p:nvPr/>
        </p:nvGraphicFramePr>
        <p:xfrm>
          <a:off x="457200" y="1879600"/>
          <a:ext cx="5461000" cy="17399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tblGrid>
              <a:tr h="317500">
                <a:tc>
                  <a:txBody>
                    <a:bodyPr/>
                    <a:lstStyle/>
                    <a:p>
                      <a:pPr>
                        <a:spcAft>
                          <a:spcPts val="0"/>
                        </a:spcAft>
                        <a:buNone/>
                      </a:pPr>
                      <a:r>
                        <a:rPr sz="1200" b="1">
                          <a:solidFill>
                            <a:schemeClr val="dk1"/>
                          </a:solidFill>
                          <a:latin typeface="Lato"/>
                          <a:ea typeface="Lato"/>
                          <a:cs typeface="Lato"/>
                        </a:rPr>
                        <a:t>Diesel station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MW</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Owner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10000"/>
                  </a:ext>
                </a:extLst>
              </a:tr>
              <a:tr h="355600">
                <a:tc>
                  <a:txBody>
                    <a:bodyPr/>
                    <a:lstStyle/>
                    <a:p>
                      <a:pPr>
                        <a:spcAft>
                          <a:spcPts val="0"/>
                        </a:spcAft>
                        <a:buNone/>
                      </a:pPr>
                      <a:r>
                        <a:rPr sz="1200" b="1">
                          <a:solidFill>
                            <a:schemeClr val="accent1"/>
                          </a:solidFill>
                          <a:latin typeface="Lato"/>
                          <a:ea typeface="Lato"/>
                          <a:cs typeface="Lato"/>
                        </a:rPr>
                        <a:t>Ankerlig</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1,338</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10001"/>
                  </a:ext>
                </a:extLst>
              </a:tr>
              <a:tr h="355600">
                <a:tc>
                  <a:txBody>
                    <a:bodyPr/>
                    <a:lstStyle/>
                    <a:p>
                      <a:pPr>
                        <a:spcAft>
                          <a:spcPts val="0"/>
                        </a:spcAft>
                        <a:buNone/>
                      </a:pPr>
                      <a:r>
                        <a:rPr sz="1200" b="1">
                          <a:solidFill>
                            <a:schemeClr val="accent1"/>
                          </a:solidFill>
                          <a:latin typeface="Lato"/>
                          <a:ea typeface="Lato"/>
                          <a:cs typeface="Lato"/>
                        </a:rPr>
                        <a:t>Gourikwa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746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2"/>
                  </a:ext>
                </a:extLst>
              </a:tr>
              <a:tr h="355600">
                <a:tc>
                  <a:txBody>
                    <a:bodyPr/>
                    <a:lstStyle/>
                    <a:p>
                      <a:pPr>
                        <a:spcAft>
                          <a:spcPts val="0"/>
                        </a:spcAft>
                        <a:buNone/>
                      </a:pPr>
                      <a:r>
                        <a:rPr sz="1200" b="1">
                          <a:solidFill>
                            <a:schemeClr val="accent1"/>
                          </a:solidFill>
                          <a:latin typeface="Lato"/>
                          <a:ea typeface="Lato"/>
                          <a:cs typeface="Lato"/>
                        </a:rPr>
                        <a:t>Avon</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670</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3"/>
                  </a:ext>
                </a:extLst>
              </a:tr>
              <a:tr h="355600">
                <a:tc>
                  <a:txBody>
                    <a:bodyPr/>
                    <a:lstStyle/>
                    <a:p>
                      <a:pPr>
                        <a:spcAft>
                          <a:spcPts val="0"/>
                        </a:spcAft>
                        <a:buNone/>
                      </a:pPr>
                      <a:r>
                        <a:rPr sz="1200" b="1">
                          <a:solidFill>
                            <a:schemeClr val="accent1"/>
                          </a:solidFill>
                          <a:latin typeface="Lato"/>
                          <a:ea typeface="Lato"/>
                          <a:cs typeface="Lato"/>
                        </a:rPr>
                        <a:t>Dedisa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335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4"/>
                  </a:ext>
                </a:extLst>
              </a:tr>
            </a:tbl>
          </a:graphicData>
        </a:graphic>
      </p:graphicFrame>
      <p:sp>
        <p:nvSpPr>
          <p:cNvPr id="6" name="Timing heading">
            <a:extLst>
              <a:ext uri="{FF2B5EF4-FFF2-40B4-BE49-F238E27FC236}">
                <a16:creationId xmlns:a16="http://schemas.microsoft.com/office/drawing/2014/main" id="{692D2DDD-4539-574B-52E7-2287D43EF72D}"/>
              </a:ext>
            </a:extLst>
          </p:cNvPr>
          <p:cNvSpPr>
            <a:spLocks noGrp="1"/>
          </p:cNvSpPr>
          <p:nvPr/>
        </p:nvSpPr>
        <p:spPr>
          <a:xfrm>
            <a:off x="6311900" y="1600200"/>
            <a:ext cx="4800600" cy="228600"/>
          </a:xfrm>
          <a:prstGeom prst="rect">
            <a:avLst/>
          </a:prstGeom>
          <a:noFill/>
        </p:spPr>
        <p:txBody>
          <a:bodyPr vert="horz" lIns="0" tIns="0" rIns="0" bIns="0">
            <a:noAutofit/>
          </a:bodyPr>
          <a:lstStyle/>
          <a:p>
            <a:pPr>
              <a:spcAft>
                <a:spcPts val="200"/>
              </a:spcAft>
              <a:buNone/>
            </a:pPr>
            <a:r>
              <a:rPr sz="1200" b="1">
                <a:solidFill>
                  <a:schemeClr val="accent1"/>
                </a:solidFill>
                <a:latin typeface="Lato"/>
                <a:ea typeface="Lato"/>
                <a:cs typeface="Lato"/>
              </a:rPr>
              <a:t>TIMING AND DEPENDENCIES</a:t>
            </a:r>
          </a:p>
        </p:txBody>
      </p:sp>
      <p:sp>
        <p:nvSpPr>
          <p:cNvPr id="7" name="Timing conditions">
            <a:extLst>
              <a:ext uri="{FF2B5EF4-FFF2-40B4-BE49-F238E27FC236}">
                <a16:creationId xmlns:a16="http://schemas.microsoft.com/office/drawing/2014/main" id="{8BA0247D-6497-AD08-227D-A2EDCBC502B4}"/>
              </a:ext>
            </a:extLst>
          </p:cNvPr>
          <p:cNvSpPr>
            <a:spLocks noGrp="1"/>
          </p:cNvSpPr>
          <p:nvPr/>
        </p:nvSpPr>
        <p:spPr>
          <a:xfrm>
            <a:off x="6311900" y="1955800"/>
            <a:ext cx="4800600" cy="1333500"/>
          </a:xfrm>
          <a:prstGeom prst="rect">
            <a:avLst/>
          </a:prstGeom>
          <a:noFill/>
        </p:spPr>
        <p:txBody>
          <a:bodyPr vert="horz" lIns="0" tIns="0" rIns="0" bIns="0">
            <a:noAutofit/>
          </a:bodyPr>
          <a:lstStyle/>
          <a:p>
            <a:pPr>
              <a:spcAft>
                <a:spcPts val="200"/>
              </a:spcAft>
              <a:buNone/>
            </a:pPr>
            <a:r>
              <a:rPr sz="1300">
                <a:solidFill>
                  <a:schemeClr val="dk1"/>
                </a:solidFill>
                <a:latin typeface="Lato"/>
                <a:ea typeface="Lato"/>
                <a:cs typeface="Lato"/>
              </a:rPr>
              <a:t>Avon / Dedisa PPAs end in 2031 / 2030.
Five coal sites have exemptions to March 2030; final outcomes remain open.
Gas-switch and turbine locations are assumptions, not committed projects.</a:t>
            </a:r>
          </a:p>
        </p:txBody>
      </p:sp>
      <p:sp>
        <p:nvSpPr>
          <p:cNvPr id="13" name="Scenario heading">
            <a:extLst>
              <a:ext uri="{FF2B5EF4-FFF2-40B4-BE49-F238E27FC236}">
                <a16:creationId xmlns:a16="http://schemas.microsoft.com/office/drawing/2014/main" id="{BDD1F9F5-2913-0C39-4F9C-A881D8297609}"/>
              </a:ext>
            </a:extLst>
          </p:cNvPr>
          <p:cNvSpPr>
            <a:spLocks noGrp="1"/>
          </p:cNvSpPr>
          <p:nvPr/>
        </p:nvSpPr>
        <p:spPr>
          <a:xfrm>
            <a:off x="457200" y="3898900"/>
            <a:ext cx="10655300" cy="228600"/>
          </a:xfrm>
          <a:prstGeom prst="rect">
            <a:avLst/>
          </a:prstGeom>
          <a:noFill/>
        </p:spPr>
        <p:txBody>
          <a:bodyPr vert="horz" lIns="0" tIns="0" rIns="0" bIns="0">
            <a:noAutofit/>
          </a:bodyPr>
          <a:lstStyle/>
          <a:p>
            <a:pPr>
              <a:spcAft>
                <a:spcPts val="200"/>
              </a:spcAft>
              <a:buNone/>
            </a:pPr>
            <a:r>
              <a:rPr sz="1200" b="1">
                <a:solidFill>
                  <a:schemeClr val="accent1"/>
                </a:solidFill>
                <a:latin typeface="Lato"/>
                <a:ea typeface="Lato"/>
                <a:cs typeface="Lato"/>
              </a:rPr>
              <a:t>PROPOSED WORKBOOK CASES — NIGEL / HENRY REVIEW</a:t>
            </a:r>
          </a:p>
        </p:txBody>
      </p:sp>
      <p:graphicFrame>
        <p:nvGraphicFramePr>
          <p:cNvPr id="64" name="Proposed cases table"/>
          <p:cNvGraphicFramePr/>
          <p:nvPr/>
        </p:nvGraphicFramePr>
        <p:xfrm>
          <a:off x="457199" y="4203700"/>
          <a:ext cx="10652760" cy="1714500"/>
        </p:xfrm>
        <a:graphic>
          <a:graphicData uri="http://schemas.openxmlformats.org/drawingml/2006/table">
            <a:tbl>
              <a:tblPr firstRow="1" bandRow="1">
                <a:tableStyleId>{5C22544A-7EE6-4342-B048-85BDC9FD1C3A}</a:tableStyleId>
              </a:tblPr>
              <a:tblGrid>
                <a:gridCol w="19685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gridCol w="5890260">
                  <a:extLst>
                    <a:ext uri="{9D8B030D-6E8A-4147-A177-3AD203B41FA5}">
                      <a16:colId xmlns:a16="http://schemas.microsoft.com/office/drawing/2014/main" val="20003"/>
                    </a:ext>
                  </a:extLst>
                </a:gridCol>
              </a:tblGrid>
              <a:tr h="317500">
                <a:tc>
                  <a:txBody>
                    <a:bodyPr/>
                    <a:lstStyle/>
                    <a:p>
                      <a:pPr>
                        <a:spcAft>
                          <a:spcPts val="0"/>
                        </a:spcAft>
                        <a:buNone/>
                      </a:pPr>
                      <a:r>
                        <a:rPr sz="1200" b="1">
                          <a:solidFill>
                            <a:schemeClr val="dk1"/>
                          </a:solidFill>
                          <a:latin typeface="Lato"/>
                          <a:ea typeface="Lato"/>
                          <a:cs typeface="Lato"/>
                        </a:rPr>
                        <a:t>Proposed case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2030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2035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Key dependency</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10000"/>
                  </a:ext>
                </a:extLst>
              </a:tr>
              <a:tr h="465667">
                <a:tc>
                  <a:txBody>
                    <a:bodyPr/>
                    <a:lstStyle/>
                    <a:p>
                      <a:pPr>
                        <a:spcAft>
                          <a:spcPts val="0"/>
                        </a:spcAft>
                        <a:buNone/>
                      </a:pPr>
                      <a:r>
                        <a:rPr sz="1200" b="1">
                          <a:solidFill>
                            <a:schemeClr val="accent1"/>
                          </a:solidFill>
                          <a:latin typeface="Lato"/>
                          <a:ea typeface="Lato"/>
                          <a:cs typeface="Lato"/>
                        </a:rPr>
                        <a:t>Low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86</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20</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Gas switch; PPAs end; no coal-site turbines.</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10001"/>
                  </a:ext>
                </a:extLst>
              </a:tr>
              <a:tr h="465667">
                <a:tc>
                  <a:txBody>
                    <a:bodyPr/>
                    <a:lstStyle/>
                    <a:p>
                      <a:pPr>
                        <a:spcAft>
                          <a:spcPts val="0"/>
                        </a:spcAft>
                        <a:buNone/>
                      </a:pPr>
                      <a:r>
                        <a:rPr sz="1200" b="1">
                          <a:solidFill>
                            <a:schemeClr val="accent1"/>
                          </a:solidFill>
                          <a:latin typeface="Lato"/>
                          <a:ea typeface="Lato"/>
                          <a:cs typeface="Lato"/>
                        </a:rPr>
                        <a:t>Medium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 GW at coal sites; gas available; diesel backup.</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2"/>
                  </a:ext>
                </a:extLst>
              </a:tr>
              <a:tr h="465667">
                <a:tc>
                  <a:txBody>
                    <a:bodyPr/>
                    <a:lstStyle/>
                    <a:p>
                      <a:pPr>
                        <a:spcAft>
                          <a:spcPts val="0"/>
                        </a:spcAft>
                        <a:buNone/>
                      </a:pPr>
                      <a:r>
                        <a:rPr sz="1200" b="1">
                          <a:solidFill>
                            <a:schemeClr val="accent1"/>
                          </a:solidFill>
                          <a:latin typeface="Lato"/>
                          <a:ea typeface="Lato"/>
                          <a:cs typeface="Lato"/>
                        </a:rPr>
                        <a:t>High</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 GW at coal sites; no gas; diesel peakers.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0003"/>
                  </a:ext>
                </a:extLst>
              </a:tr>
            </a:tbl>
          </a:graphicData>
        </a:graphic>
      </p:graphicFrame>
      <p:sp>
        <p:nvSpPr>
          <p:cNvPr id="15" name="Case qualification">
            <a:extLst>
              <a:ext uri="{FF2B5EF4-FFF2-40B4-BE49-F238E27FC236}">
                <a16:creationId xmlns:a16="http://schemas.microsoft.com/office/drawing/2014/main" id="{BBB424CB-1400-A003-0615-24B690A56902}"/>
              </a:ext>
            </a:extLst>
          </p:cNvPr>
          <p:cNvSpPr>
            <a:spLocks noGrp="1"/>
          </p:cNvSpPr>
          <p:nvPr/>
        </p:nvSpPr>
        <p:spPr>
          <a:xfrm>
            <a:off x="495300" y="5994399"/>
            <a:ext cx="10541000" cy="152400"/>
          </a:xfrm>
          <a:prstGeom prst="rect">
            <a:avLst/>
          </a:prstGeom>
          <a:noFill/>
        </p:spPr>
        <p:txBody>
          <a:bodyPr vert="horz" lIns="0" tIns="0" rIns="0" bIns="0">
            <a:noAutofit/>
          </a:bodyPr>
          <a:lstStyle/>
          <a:p>
            <a:pPr>
              <a:spcAft>
                <a:spcPts val="200"/>
              </a:spcAft>
              <a:buNone/>
            </a:pPr>
            <a:r>
              <a:rPr sz="900">
                <a:solidFill>
                  <a:schemeClr val="dk1"/>
                </a:solidFill>
                <a:latin typeface="Lato"/>
                <a:ea typeface="Lato"/>
                <a:cs typeface="Lato"/>
              </a:rPr>
              <a:t>The engine also contains 3,000MW of notional capacity. Reconcile it with these cases and historical power/road use before adopting a forecast.</a:t>
            </a:r>
          </a:p>
        </p:txBody>
      </p:sp>
      <p:graphicFrame>
        <p:nvGraphicFramePr>
          <p:cNvPr id="5034"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1586841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AC4B-DCD7-4DBC-BBBD-20D077E38257}"/>
              </a:ext>
            </a:extLst>
          </p:cNvPr>
          <p:cNvSpPr>
            <a:spLocks noGrp="1"/>
          </p:cNvSpPr>
          <p:nvPr>
            <p:ph type="title"/>
          </p:nvPr>
        </p:nvSpPr>
        <p:spPr/>
        <p:txBody>
          <a:bodyPr>
            <a:normAutofit/>
          </a:bodyPr>
          <a:lstStyle/>
          <a:p>
            <a:r>
              <a:rPr sz="2300">
                <a:solidFill>
                  <a:schemeClr val="dk1"/>
                </a:solidFill>
                <a:latin typeface="Lato"/>
                <a:ea typeface="Lato"/>
                <a:cs typeface="Lato"/>
              </a:rPr>
              <a:t>SAPREF and Natref define capacity sensitivities; plant output must complete the supply paths</a:t>
            </a:r>
          </a:p>
        </p:txBody>
      </p:sp>
      <p:sp>
        <p:nvSpPr>
          <p:cNvPr id="3" name="Slide Number Placeholder">
            <a:extLst>
              <a:ext uri="{FF2B5EF4-FFF2-40B4-BE49-F238E27FC236}">
                <a16:creationId xmlns:a16="http://schemas.microsoft.com/office/drawing/2014/main" id="{13E4527F-93AA-4D33-9BED-5A08A1474F9B}"/>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35</a:t>
            </a:r>
          </a:p>
        </p:txBody>
      </p:sp>
      <p:sp>
        <p:nvSpPr>
          <p:cNvPr id="8" name="Unified source footer">
            <a:extLst>
              <a:ext uri="{FF2B5EF4-FFF2-40B4-BE49-F238E27FC236}">
                <a16:creationId xmlns:a16="http://schemas.microsoft.com/office/drawing/2014/main" id="{269A2F55-A3CC-4B61-821C-D47D774B73EA}"/>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Manish DR08 refinery evidence, updated 9 October; Sasol FY2026 metrics; Glencore/Astron evidence; CEF SAPREF roadmap. FY output, calendar capacity and product yields differ. Capacity sensitivities remain illustrative.</a:t>
            </a:r>
          </a:p>
        </p:txBody>
      </p:sp>
      <p:graphicFrame>
        <p:nvGraphicFramePr>
          <p:cNvPr id="53" name="Table 46"/>
          <p:cNvGraphicFramePr/>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300" b="1" u="none">
                          <a:solidFill>
                            <a:schemeClr val="dk1"/>
                          </a:solidFill>
                          <a:latin typeface="Lato"/>
                          <a:ea typeface="Lato"/>
                          <a:cs typeface="Lato"/>
                        </a:rPr>
                        <a:t>Plant lever</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Required time-series inputs</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Scenario treatment</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300" b="1" u="none">
                          <a:solidFill>
                            <a:schemeClr val="dk1"/>
                          </a:solidFill>
                          <a:latin typeface="Lato"/>
                          <a:ea typeface="Lato"/>
                          <a:cs typeface="Lato"/>
                        </a:rPr>
                        <a:t>S1 SAPREF</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capacity illustration adds 400 kbpd from assumed 2033 availability.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plans an import-terminal phase before refining. No committed refinery restart date or product slate is established.</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300" b="1" u="none">
                          <a:solidFill>
                            <a:schemeClr val="dk1"/>
                          </a:solidFill>
                          <a:latin typeface="Lato"/>
                          <a:ea typeface="Lato"/>
                          <a:cs typeface="Lato"/>
                        </a:rPr>
                        <a:t>S3 Natref</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108 kbpd remains in Medium/High; excluded in the Low 2036 stress case.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Natref is separate from Secunda. FY2026 Sasol output uses co-owner capacity; do not scale by historic ownership mechanically.</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300" b="1" u="none">
                          <a:solidFill>
                            <a:schemeClr val="dk1"/>
                          </a:solidFill>
                          <a:latin typeface="Lato"/>
                          <a:ea typeface="Lato"/>
                          <a:cs typeface="Lato"/>
                        </a:rPr>
                        <a:t>S2 Secunda</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All-refined-products output: 29.1m barrels FY2024, 27.6m FY2025 and 30.6m FY2026.</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June fiscal years; product mix differs. Gas/MRG affects liquid output; do not equate barrels with diesel litres.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300" b="1" u="none">
                          <a:solidFill>
                            <a:schemeClr val="dk1"/>
                          </a:solidFill>
                          <a:latin typeface="Lato"/>
                          <a:ea typeface="Lato"/>
                          <a:cs typeface="Lato"/>
                        </a:rPr>
                        <a:t>Other plant inputs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Astron output evidence is available; its petrol/diesel 50/50 split is an assumption. PetroSA restart remains uncertain.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product yields and actual operator output. No PetroSA addition appears in the existing capacity illustration.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2FE5D48F-D882-4304-AC76-6EA9A74A0311}"/>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35"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1595975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52915-201C-4CA1-BA20-AABA9B5039DE}"/>
              </a:ext>
            </a:extLst>
          </p:cNvPr>
          <p:cNvSpPr>
            <a:spLocks noGrp="1"/>
          </p:cNvSpPr>
          <p:nvPr>
            <p:ph type="title"/>
          </p:nvPr>
        </p:nvSpPr>
        <p:spPr/>
        <p:txBody>
          <a:bodyPr>
            <a:normAutofit/>
          </a:bodyPr>
          <a:lstStyle/>
          <a:p>
            <a:r>
              <a:rPr sz="2300">
                <a:solidFill>
                  <a:schemeClr val="dk1"/>
                </a:solidFill>
                <a:latin typeface="Lato"/>
                <a:ea typeface="Lato"/>
                <a:cs typeface="Lato"/>
              </a:rPr>
              <a:t>A conditional Durban import-capture screen gives a 2.63bn litre base case</a:t>
            </a:r>
          </a:p>
        </p:txBody>
      </p:sp>
      <p:sp>
        <p:nvSpPr>
          <p:cNvPr id="3" name="Slide Number Placeholder">
            <a:extLst>
              <a:ext uri="{FF2B5EF4-FFF2-40B4-BE49-F238E27FC236}">
                <a16:creationId xmlns:a16="http://schemas.microsoft.com/office/drawing/2014/main" id="{594C3983-AC6C-4225-B1EA-6ACA014C9265}"/>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36</a:t>
            </a:r>
          </a:p>
        </p:txBody>
      </p:sp>
      <p:sp>
        <p:nvSpPr>
          <p:cNvPr id="8" name="Unified source footer">
            <a:extLst>
              <a:ext uri="{FF2B5EF4-FFF2-40B4-BE49-F238E27FC236}">
                <a16:creationId xmlns:a16="http://schemas.microsoft.com/office/drawing/2014/main" id="{156109CB-1C09-4928-9826-33DD198DD09C}"/>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Registered market_review.yaml and terminal_site_assumptions.csv; 2025 Durban customs proxy 13.1605bn L. No forecast probabilities, measured market share or incremental revenue. Product mix, access and working tankage need validation.</a:t>
            </a:r>
          </a:p>
        </p:txBody>
      </p:sp>
      <p:graphicFrame>
        <p:nvGraphicFramePr>
          <p:cNvPr id="55" name="Table 46"/>
          <p:cNvGraphicFramePr/>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81000">
                <a:tc>
                  <a:txBody>
                    <a:bodyPr/>
                    <a:lstStyle/>
                    <a:p>
                      <a:pPr>
                        <a:spcAft>
                          <a:spcPts val="0"/>
                        </a:spcAft>
                        <a:buNone/>
                      </a:pPr>
                      <a:r>
                        <a:rPr sz="1300" b="1" u="none">
                          <a:solidFill>
                            <a:schemeClr val="dk1"/>
                          </a:solidFill>
                          <a:latin typeface="Lato"/>
                          <a:ea typeface="Lato"/>
                          <a:cs typeface="Lato"/>
                        </a:rPr>
                        <a:t>Illustrative case</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Annual physical volumes</a:t>
                      </a: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Assumptions and interpretation</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104900">
                <a:tc>
                  <a:txBody>
                    <a:bodyPr/>
                    <a:lstStyle/>
                    <a:p>
                      <a:pPr>
                        <a:spcAft>
                          <a:spcPts val="0"/>
                        </a:spcAft>
                        <a:buNone/>
                      </a:pPr>
                      <a:r>
                        <a:rPr sz="1300" b="1" u="none">
                          <a:solidFill>
                            <a:schemeClr val="dk1"/>
                          </a:solidFill>
                          <a:latin typeface="Lato"/>
                          <a:ea typeface="Lato"/>
                          <a:cs typeface="Lato"/>
                        </a:rPr>
                        <a:t>Low</a:t>
                      </a:r>
                    </a:p>
                    <a:p>
                      <a:pPr>
                        <a:spcAft>
                          <a:spcPts val="0"/>
                        </a:spcAft>
                        <a:buNone/>
                      </a:pPr>
                      <a:r>
                        <a:rPr sz="1300" b="1" u="none">
                          <a:solidFill>
                            <a:schemeClr val="dk1"/>
                          </a:solidFill>
                          <a:latin typeface="Lato"/>
                          <a:ea typeface="Lato"/>
                          <a:cs typeface="Lato"/>
                        </a:rPr>
                        <a:t>10% gateway share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1.32bn L</a:t>
                      </a:r>
                    </a:p>
                    <a:p>
                      <a:pPr>
                        <a:spcAft>
                          <a:spcPts val="0"/>
                        </a:spcAft>
                        <a:buNone/>
                      </a:pPr>
                      <a:r>
                        <a:rPr sz="1300" b="0" u="none">
                          <a:solidFill>
                            <a:schemeClr val="dk1"/>
                          </a:solidFill>
                          <a:latin typeface="Lato"/>
                          <a:ea typeface="Lato"/>
                          <a:cs typeface="Lato"/>
                        </a:rPr>
                        <a:t>Lesedi 0.66bn L</a:t>
                      </a:r>
                    </a:p>
                    <a:p>
                      <a:pPr>
                        <a:spcAft>
                          <a:spcPts val="0"/>
                        </a:spcAft>
                        <a:buNone/>
                      </a:pPr>
                      <a:r>
                        <a:rPr sz="1300" b="0" u="none">
                          <a:solidFill>
                            <a:schemeClr val="dk1"/>
                          </a:solidFill>
                          <a:latin typeface="Lato"/>
                          <a:ea typeface="Lato"/>
                          <a:cs typeface="Lato"/>
                        </a:rPr>
                        <a:t>Unique flow 1.32bn L</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104900">
                <a:tc>
                  <a:txBody>
                    <a:bodyPr/>
                    <a:lstStyle/>
                    <a:p>
                      <a:pPr>
                        <a:spcAft>
                          <a:spcPts val="0"/>
                        </a:spcAft>
                        <a:buNone/>
                      </a:pPr>
                      <a:r>
                        <a:rPr sz="1300" b="1" u="none">
                          <a:solidFill>
                            <a:schemeClr val="dk1"/>
                          </a:solidFill>
                          <a:latin typeface="Lato"/>
                          <a:ea typeface="Lato"/>
                          <a:cs typeface="Lato"/>
                        </a:rPr>
                        <a:t>Base</a:t>
                      </a:r>
                    </a:p>
                    <a:p>
                      <a:pPr>
                        <a:spcAft>
                          <a:spcPts val="0"/>
                        </a:spcAft>
                        <a:buNone/>
                      </a:pPr>
                      <a:r>
                        <a:rPr sz="1300" b="1" u="none">
                          <a:solidFill>
                            <a:schemeClr val="dk1"/>
                          </a:solidFill>
                          <a:latin typeface="Lato"/>
                          <a:ea typeface="Lato"/>
                          <a:cs typeface="Lato"/>
                        </a:rPr>
                        <a:t>20% gateway share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2.63bn L</a:t>
                      </a:r>
                    </a:p>
                    <a:p>
                      <a:pPr>
                        <a:spcAft>
                          <a:spcPts val="0"/>
                        </a:spcAft>
                        <a:buNone/>
                      </a:pPr>
                      <a:r>
                        <a:rPr sz="1300" b="0" u="none">
                          <a:solidFill>
                            <a:schemeClr val="dk1"/>
                          </a:solidFill>
                          <a:latin typeface="Lato"/>
                          <a:ea typeface="Lato"/>
                          <a:cs typeface="Lato"/>
                        </a:rPr>
                        <a:t>Lesedi 1.32bn L</a:t>
                      </a:r>
                    </a:p>
                    <a:p>
                      <a:pPr>
                        <a:spcAft>
                          <a:spcPts val="0"/>
                        </a:spcAft>
                        <a:buNone/>
                      </a:pPr>
                      <a:r>
                        <a:rPr sz="1300" b="0" u="none">
                          <a:solidFill>
                            <a:schemeClr val="dk1"/>
                          </a:solidFill>
                          <a:latin typeface="Lato"/>
                          <a:ea typeface="Lato"/>
                          <a:cs typeface="Lato"/>
                        </a:rPr>
                        <a:t>Unique flow 2.63bn L</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104900">
                <a:tc>
                  <a:txBody>
                    <a:bodyPr/>
                    <a:lstStyle/>
                    <a:p>
                      <a:pPr>
                        <a:spcAft>
                          <a:spcPts val="0"/>
                        </a:spcAft>
                        <a:buNone/>
                      </a:pPr>
                      <a:r>
                        <a:rPr sz="1300" b="1" u="none">
                          <a:solidFill>
                            <a:schemeClr val="dk1"/>
                          </a:solidFill>
                          <a:latin typeface="Lato"/>
                          <a:ea typeface="Lato"/>
                          <a:cs typeface="Lato"/>
                        </a:rPr>
                        <a:t>High</a:t>
                      </a:r>
                    </a:p>
                    <a:p>
                      <a:pPr>
                        <a:spcAft>
                          <a:spcPts val="0"/>
                        </a:spcAft>
                        <a:buNone/>
                      </a:pPr>
                      <a:r>
                        <a:rPr sz="1300" b="1" u="none">
                          <a:solidFill>
                            <a:schemeClr val="dk1"/>
                          </a:solidFill>
                          <a:latin typeface="Lato"/>
                          <a:ea typeface="Lato"/>
                          <a:cs typeface="Lato"/>
                        </a:rPr>
                        <a:t>30% gateway share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3.50bn L</a:t>
                      </a:r>
                    </a:p>
                    <a:p>
                      <a:pPr>
                        <a:spcAft>
                          <a:spcPts val="0"/>
                        </a:spcAft>
                        <a:buNone/>
                      </a:pPr>
                      <a:r>
                        <a:rPr sz="1300" b="0" u="none">
                          <a:solidFill>
                            <a:schemeClr val="dk1"/>
                          </a:solidFill>
                          <a:latin typeface="Lato"/>
                          <a:ea typeface="Lato"/>
                          <a:cs typeface="Lato"/>
                        </a:rPr>
                        <a:t>Lesedi 1.75bn L</a:t>
                      </a:r>
                    </a:p>
                    <a:p>
                      <a:pPr>
                        <a:spcAft>
                          <a:spcPts val="0"/>
                        </a:spcAft>
                        <a:buNone/>
                      </a:pPr>
                      <a:r>
                        <a:rPr sz="1300" b="0" u="none">
                          <a:solidFill>
                            <a:schemeClr val="dk1"/>
                          </a:solidFill>
                          <a:latin typeface="Lato"/>
                          <a:ea typeface="Lato"/>
                          <a:cs typeface="Lato"/>
                        </a:rPr>
                        <a:t>Unique flow 3.50bn L</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Durban tank screen caps the requested 3.95bn L at 3.50bn L.</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a:extLst>
              <a:ext uri="{FF2B5EF4-FFF2-40B4-BE49-F238E27FC236}">
                <a16:creationId xmlns:a16="http://schemas.microsoft.com/office/drawing/2014/main" id="{D3CB4DBA-279F-46CA-BE4A-6C8E3C76984B}"/>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0" name="Review interpretation">
            <a:extLst>
              <a:ext uri="{FF2B5EF4-FFF2-40B4-BE49-F238E27FC236}">
                <a16:creationId xmlns:a16="http://schemas.microsoft.com/office/drawing/2014/main" id="{49A1B104-130B-4B82-944B-FF3BD97E71C0}"/>
              </a:ext>
            </a:extLst>
          </p:cNvPr>
          <p:cNvSpPr>
            <a:spLocks noGrp="1"/>
          </p:cNvSpPr>
          <p:nvPr/>
        </p:nvSpPr>
        <p:spPr>
          <a:xfrm>
            <a:off x="457200" y="5553075"/>
            <a:ext cx="10648950" cy="533400"/>
          </a:xfrm>
          <a:prstGeom prst="rect">
            <a:avLst/>
          </a:prstGeom>
          <a:noFill/>
          <a:ln w="0">
            <a:noFill/>
          </a:ln>
        </p:spPr>
        <p:txBody>
          <a:bodyPr>
            <a:noAutofit/>
          </a:bodyPr>
          <a:lstStyle/>
          <a:p>
            <a:pPr>
              <a:buNone/>
              <a:defRPr sz="1125">
                <a:solidFill>
                  <a:srgbClr val="202020"/>
                </a:solidFill>
                <a:latin typeface="Lato"/>
                <a:ea typeface="Lato"/>
                <a:cs typeface="Lato"/>
              </a:defRPr>
            </a:pPr>
            <a:r>
              <a:rPr sz="1125">
                <a:solidFill>
                  <a:srgbClr val="202020"/>
                </a:solidFill>
                <a:latin typeface="Lato"/>
                <a:ea typeface="Lato"/>
                <a:cs typeface="Lato"/>
              </a:rPr>
              <a:t>10/20/30% shares and 50% routing are authored sensitivities. Base turns fixed at two/month. Lesedi is a subset, so volumes are counted once. Domestic and other-terminal Lesedi receipts are excluded.</a:t>
            </a:r>
          </a:p>
        </p:txBody>
      </p:sp>
      <p:graphicFrame>
        <p:nvGraphicFramePr>
          <p:cNvPr id="5036"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31924159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D88DA-CCC3-4D1A-A2E6-6EB0F38DCF30}"/>
              </a:ext>
            </a:extLst>
          </p:cNvPr>
          <p:cNvSpPr>
            <a:spLocks noGrp="1"/>
          </p:cNvSpPr>
          <p:nvPr>
            <p:ph type="title"/>
          </p:nvPr>
        </p:nvSpPr>
        <p:spPr/>
        <p:txBody>
          <a:bodyPr>
            <a:normAutofit fontScale="90000"/>
          </a:bodyPr>
          <a:lstStyle/>
          <a:p>
            <a:r>
              <a:rPr sz="2300">
                <a:solidFill>
                  <a:schemeClr val="dk1"/>
                </a:solidFill>
                <a:latin typeface="Lato"/>
                <a:ea typeface="Lato"/>
                <a:cs typeface="Lato"/>
              </a:rPr>
              <a:t>A matched demand snapshot is available, but the domestic supply balance still needs reconciliation</a:t>
            </a:r>
          </a:p>
        </p:txBody>
      </p:sp>
      <p:sp>
        <p:nvSpPr>
          <p:cNvPr id="3" name="Slide Number Placeholder">
            <a:extLst>
              <a:ext uri="{FF2B5EF4-FFF2-40B4-BE49-F238E27FC236}">
                <a16:creationId xmlns:a16="http://schemas.microsoft.com/office/drawing/2014/main" id="{99C0B53E-8870-4B82-B017-3287DBBFCFD5}"/>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37</a:t>
            </a:r>
          </a:p>
        </p:txBody>
      </p:sp>
      <p:sp>
        <p:nvSpPr>
          <p:cNvPr id="8" name="Unified source footer">
            <a:extLst>
              <a:ext uri="{FF2B5EF4-FFF2-40B4-BE49-F238E27FC236}">
                <a16:creationId xmlns:a16="http://schemas.microsoft.com/office/drawing/2014/main" id="{73B1843E-18F8-4CCB-8143-95E88A76C256}"/>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Workbook History Q59/Q64/R59/R64/S36:S40/R70. RAF-derived 24.42bn L is combined fuel, fiscal/accrual basis, not an adopted calendar sales total. Product output after 2021 and stocks remain missing; 2025 trade is not 2025 consumption.</a:t>
            </a:r>
          </a:p>
        </p:txBody>
      </p:sp>
      <p:graphicFrame>
        <p:nvGraphicFramePr>
          <p:cNvPr id="53"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794000">
                  <a:extLst>
                    <a:ext uri="{9D8B030D-6E8A-4147-A177-3AD203B41FA5}">
                      <a16:colId xmlns:a16="http://schemas.microsoft.com/office/drawing/2014/main" val="20000"/>
                    </a:ext>
                  </a:extLst>
                </a:gridCol>
                <a:gridCol w="3929380">
                  <a:extLst>
                    <a:ext uri="{9D8B030D-6E8A-4147-A177-3AD203B41FA5}">
                      <a16:colId xmlns:a16="http://schemas.microsoft.com/office/drawing/2014/main" val="20001"/>
                    </a:ext>
                  </a:extLst>
                </a:gridCol>
                <a:gridCol w="3929380">
                  <a:extLst>
                    <a:ext uri="{9D8B030D-6E8A-4147-A177-3AD203B41FA5}">
                      <a16:colId xmlns:a16="http://schemas.microsoft.com/office/drawing/2014/main" val="20002"/>
                    </a:ext>
                  </a:extLst>
                </a:gridCol>
              </a:tblGrid>
              <a:tr h="355600">
                <a:tc>
                  <a:txBody>
                    <a:bodyPr/>
                    <a:lstStyle/>
                    <a:p>
                      <a:pPr>
                        <a:spcAft>
                          <a:spcPts val="0"/>
                        </a:spcAft>
                        <a:buNone/>
                      </a:pPr>
                      <a:r>
                        <a:rPr sz="1200" b="1" u="none">
                          <a:solidFill>
                            <a:schemeClr val="dk1"/>
                          </a:solidFill>
                          <a:latin typeface="Lato"/>
                          <a:ea typeface="Lato"/>
                          <a:cs typeface="Lato"/>
                        </a:rPr>
                        <a:t>Evidence / bn litres</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Petrol</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Diesel</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664633">
                <a:tc>
                  <a:txBody>
                    <a:bodyPr/>
                    <a:lstStyle/>
                    <a:p>
                      <a:pPr>
                        <a:spcAft>
                          <a:spcPts val="0"/>
                        </a:spcAft>
                        <a:buNone/>
                      </a:pPr>
                      <a:r>
                        <a:rPr sz="1200" b="1" u="none">
                          <a:solidFill>
                            <a:schemeClr val="dk1"/>
                          </a:solidFill>
                          <a:latin typeface="Lato"/>
                          <a:ea typeface="Lato"/>
                          <a:cs typeface="Lato"/>
                        </a:rPr>
                        <a:t>2023 Department sales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9.04</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12.91</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664633">
                <a:tc>
                  <a:txBody>
                    <a:bodyPr/>
                    <a:lstStyle/>
                    <a:p>
                      <a:pPr>
                        <a:spcAft>
                          <a:spcPts val="0"/>
                        </a:spcAft>
                        <a:buNone/>
                      </a:pPr>
                      <a:r>
                        <a:rPr sz="1200" b="1" u="none">
                          <a:solidFill>
                            <a:schemeClr val="dk1"/>
                          </a:solidFill>
                          <a:latin typeface="Lato"/>
                          <a:ea typeface="Lato"/>
                          <a:cs typeface="Lato"/>
                        </a:rPr>
                        <a:t>2024 FIASA sales, unverified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9.03</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11.73</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664633">
                <a:tc>
                  <a:txBody>
                    <a:bodyPr/>
                    <a:lstStyle/>
                    <a:p>
                      <a:pPr>
                        <a:spcAft>
                          <a:spcPts val="0"/>
                        </a:spcAft>
                        <a:buNone/>
                      </a:pPr>
                      <a:r>
                        <a:rPr sz="1200" b="1" u="none">
                          <a:solidFill>
                            <a:schemeClr val="dk1"/>
                          </a:solidFill>
                          <a:latin typeface="Lato"/>
                          <a:ea typeface="Lato"/>
                          <a:cs typeface="Lato"/>
                        </a:rPr>
                        <a:t>2025 SARS imports / exports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4.45 / 0.80</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12.25 / 0.75</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664633">
                <a:tc>
                  <a:txBody>
                    <a:bodyPr/>
                    <a:lstStyle/>
                    <a:p>
                      <a:pPr>
                        <a:spcAft>
                          <a:spcPts val="0"/>
                        </a:spcAft>
                        <a:buNone/>
                      </a:pPr>
                      <a:r>
                        <a:rPr sz="1200" b="1" u="none">
                          <a:solidFill>
                            <a:schemeClr val="dk1"/>
                          </a:solidFill>
                          <a:latin typeface="Lato"/>
                          <a:ea typeface="Lato"/>
                          <a:cs typeface="Lato"/>
                        </a:rPr>
                        <a:t>2025 sales / product output</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4"/>
                  </a:ext>
                </a:extLst>
              </a:tr>
              <a:tr h="664633">
                <a:tc>
                  <a:txBody>
                    <a:bodyPr/>
                    <a:lstStyle/>
                    <a:p>
                      <a:pPr>
                        <a:spcAft>
                          <a:spcPts val="0"/>
                        </a:spcAft>
                        <a:buNone/>
                      </a:pPr>
                      <a:r>
                        <a:rPr sz="1200" b="1" u="none">
                          <a:solidFill>
                            <a:schemeClr val="dk1"/>
                          </a:solidFill>
                          <a:latin typeface="Lato"/>
                          <a:ea typeface="Lato"/>
                          <a:cs typeface="Lato"/>
                        </a:rPr>
                        <a:t>RAF levy cross-check</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Combined levied volume 24.42bn L, year to March 2025.</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Fiscal/accrual versus calendar sales. Reconcile coverage before interpreting the difference.</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5"/>
                  </a:ext>
                </a:extLst>
              </a:tr>
              <a:tr h="664633">
                <a:tc>
                  <a:txBody>
                    <a:bodyPr/>
                    <a:lstStyle/>
                    <a:p>
                      <a:pPr>
                        <a:spcAft>
                          <a:spcPts val="0"/>
                        </a:spcAft>
                        <a:buNone/>
                      </a:pPr>
                      <a:r>
                        <a:rPr sz="1200" b="1" u="none">
                          <a:solidFill>
                            <a:schemeClr val="dk1"/>
                          </a:solidFill>
                          <a:latin typeface="Lato"/>
                          <a:ea typeface="Lato"/>
                          <a:cs typeface="Lato"/>
                        </a:rPr>
                        <a:t>Decision consequence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2025 gross imports 16.70bn L; net 15.15bn L. Durban customs 13.16bn L.</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Current import penetration cannot be calculated using 2023 sales. Post-2021 production and stocks remain open.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6"/>
                  </a:ext>
                </a:extLst>
              </a:tr>
            </a:tbl>
          </a:graphicData>
        </a:graphic>
      </p:graphicFrame>
      <p:sp>
        <p:nvSpPr>
          <p:cNvPr id="48" name="Strictly Confidential footer">
            <a:extLst>
              <a:ext uri="{FF2B5EF4-FFF2-40B4-BE49-F238E27FC236}">
                <a16:creationId xmlns:a16="http://schemas.microsoft.com/office/drawing/2014/main" id="{947A44DF-F4D5-46DD-936A-FC9F7FF69911}"/>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37"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3699934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F80F7-5E95-4254-AADA-2529610CE858}"/>
              </a:ext>
            </a:extLst>
          </p:cNvPr>
          <p:cNvSpPr>
            <a:spLocks noGrp="1"/>
          </p:cNvSpPr>
          <p:nvPr>
            <p:ph type="title"/>
          </p:nvPr>
        </p:nvSpPr>
        <p:spPr/>
        <p:txBody>
          <a:bodyPr>
            <a:normAutofit fontScale="90000"/>
          </a:bodyPr>
          <a:lstStyle/>
          <a:p>
            <a:r>
              <a:rPr sz="2300">
                <a:solidFill>
                  <a:schemeClr val="dk1"/>
                </a:solidFill>
                <a:latin typeface="Lato"/>
                <a:ea typeface="Lato"/>
                <a:cs typeface="Lato"/>
              </a:rPr>
              <a:t>The six-step bridge is implemented for screening; calibration now depends on the requested inputs</a:t>
            </a:r>
          </a:p>
        </p:txBody>
      </p:sp>
      <p:sp>
        <p:nvSpPr>
          <p:cNvPr id="3" name="Slide Number Placeholder">
            <a:extLst>
              <a:ext uri="{FF2B5EF4-FFF2-40B4-BE49-F238E27FC236}">
                <a16:creationId xmlns:a16="http://schemas.microsoft.com/office/drawing/2014/main" id="{8C9FD287-0B0A-48C0-824D-9FC486A65C96}"/>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38</a:t>
            </a:r>
          </a:p>
        </p:txBody>
      </p:sp>
      <p:sp>
        <p:nvSpPr>
          <p:cNvPr id="8" name="Unified source footer">
            <a:extLst>
              <a:ext uri="{FF2B5EF4-FFF2-40B4-BE49-F238E27FC236}">
                <a16:creationId xmlns:a16="http://schemas.microsoft.com/office/drawing/2014/main" id="{1EFAD885-8982-429D-AB56-3670F5B2980D}"/>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Screening functions tested with synthetic cases; commercial outputs remain unpopulated. Not integrated into the forecast engine or independently reviewed. Owners, request IDs and expiry triggers: workstreams/WS0_governance/workplan/sa_investment_bridge_2026_10_08.csv.</a:t>
            </a:r>
          </a:p>
        </p:txBody>
      </p:sp>
      <p:graphicFrame>
        <p:nvGraphicFramePr>
          <p:cNvPr id="53"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buNone/>
                      </a:pPr>
                      <a:r>
                        <a:rPr sz="1200" b="1" u="none">
                          <a:solidFill>
                            <a:schemeClr val="dk1"/>
                          </a:solidFill>
                          <a:latin typeface="Lato"/>
                          <a:ea typeface="Lato"/>
                          <a:cs typeface="Lato"/>
                        </a:rPr>
                        <a:t>Work package</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Implemented now</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Input needed to complete the decision</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buNone/>
                      </a:pPr>
                      <a:r>
                        <a:rPr sz="1200" b="1" u="none">
                          <a:solidFill>
                            <a:schemeClr val="dk1"/>
                          </a:solidFill>
                          <a:latin typeface="Lato"/>
                          <a:ea typeface="Lato"/>
                          <a:cs typeface="Lato"/>
                        </a:rPr>
                        <a:t>1 | Baseline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Public handback received through 9 October. Review workbook maps all nine requests and source-level limitations.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Agree baseline year/source; reconcile production, stocks, scopes and fiscal/calendar periods.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buNone/>
                      </a:pPr>
                      <a:r>
                        <a:rPr sz="1200" b="1" u="none">
                          <a:solidFill>
                            <a:schemeClr val="dk1"/>
                          </a:solidFill>
                          <a:latin typeface="Lato"/>
                          <a:ea typeface="Lato"/>
                          <a:cs typeface="Lato"/>
                        </a:rPr>
                        <a:t>2 | Route competition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 cost and bearable-charge calculation; route readiness register.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Matched quotes, service capacity and access.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buNone/>
                      </a:pPr>
                      <a:r>
                        <a:rPr sz="1200" b="1" u="none">
                          <a:solidFill>
                            <a:schemeClr val="dk1"/>
                          </a:solidFill>
                          <a:latin typeface="Lato"/>
                          <a:ea typeface="Lato"/>
                          <a:cs typeface="Lato"/>
                        </a:rPr>
                        <a:t>3 | Vopak capture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Conditional Durban import-capture cases now quantified. Shared Lesedi transfers count once, see p36.</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Customer allocation and unique terminal deliveries.</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buNone/>
                      </a:pPr>
                      <a:r>
                        <a:rPr sz="1200" b="1" u="none">
                          <a:solidFill>
                            <a:schemeClr val="dk1"/>
                          </a:solidFill>
                          <a:latin typeface="Lato"/>
                          <a:ea typeface="Lato"/>
                          <a:cs typeface="Lato"/>
                        </a:rPr>
                        <a:t>4 | Existing assets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Required-turn and operating-bottleneck calculation; gross-turn screen.</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 capacity, achievable turns and peak limits.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4"/>
                  </a:ext>
                </a:extLst>
              </a:tr>
              <a:tr h="681567">
                <a:tc>
                  <a:txBody>
                    <a:bodyPr/>
                    <a:lstStyle/>
                    <a:p>
                      <a:pPr>
                        <a:spcAft>
                          <a:spcPts val="0"/>
                        </a:spcAft>
                        <a:buNone/>
                      </a:pPr>
                      <a:r>
                        <a:rPr sz="1200" b="1" u="none">
                          <a:solidFill>
                            <a:schemeClr val="dk1"/>
                          </a:solidFill>
                          <a:latin typeface="Lato"/>
                          <a:ea typeface="Lato"/>
                          <a:cs typeface="Lato"/>
                        </a:rPr>
                        <a:t>5 | Investment options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Pre-tax break-even volume calculation.</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Commercial inputs and full incremental cash flows.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5"/>
                  </a:ext>
                </a:extLst>
              </a:tr>
              <a:tr h="681567">
                <a:tc>
                  <a:txBody>
                    <a:bodyPr/>
                    <a:lstStyle/>
                    <a:p>
                      <a:pPr>
                        <a:spcAft>
                          <a:spcPts val="0"/>
                        </a:spcAft>
                        <a:buNone/>
                      </a:pPr>
                      <a:r>
                        <a:rPr sz="1200" b="1" u="none">
                          <a:solidFill>
                            <a:schemeClr val="dk1"/>
                          </a:solidFill>
                          <a:latin typeface="Lato"/>
                          <a:ea typeface="Lato"/>
                          <a:cs typeface="Lato"/>
                        </a:rPr>
                        <a:t>6 | Nine worlds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Nine-cell output register and demand/supply balance calculation.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EV/efficiency implementation review complete for the pair. Baseline, hybrid/rail interactions and annual paths remain open.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6"/>
                  </a:ext>
                </a:extLst>
              </a:tr>
            </a:tbl>
          </a:graphicData>
        </a:graphic>
      </p:graphicFrame>
      <p:sp>
        <p:nvSpPr>
          <p:cNvPr id="48" name="Strictly Confidential footer">
            <a:extLst>
              <a:ext uri="{FF2B5EF4-FFF2-40B4-BE49-F238E27FC236}">
                <a16:creationId xmlns:a16="http://schemas.microsoft.com/office/drawing/2014/main" id="{D0AC7B3C-96B7-423B-8615-4ADEA24A194A}"/>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38"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39878614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4585F-2FDB-4473-AD6F-DD26D7A681E1}"/>
              </a:ext>
            </a:extLst>
          </p:cNvPr>
          <p:cNvSpPr>
            <a:spLocks noGrp="1"/>
          </p:cNvSpPr>
          <p:nvPr>
            <p:ph type="title"/>
          </p:nvPr>
        </p:nvSpPr>
        <p:spPr/>
        <p:txBody>
          <a:bodyPr>
            <a:normAutofit/>
          </a:bodyPr>
          <a:lstStyle/>
          <a:p>
            <a:r>
              <a:rPr sz="2300">
                <a:solidFill>
                  <a:schemeClr val="dk1"/>
                </a:solidFill>
                <a:latin typeface="Lato"/>
                <a:ea typeface="Lato"/>
                <a:cs typeface="Lato"/>
              </a:rPr>
              <a:t>Demand, supply and corridor access translate into captured throughput and required tank turns</a:t>
            </a:r>
          </a:p>
        </p:txBody>
      </p:sp>
      <p:sp>
        <p:nvSpPr>
          <p:cNvPr id="3" name="Slide Number Placeholder">
            <a:extLst>
              <a:ext uri="{FF2B5EF4-FFF2-40B4-BE49-F238E27FC236}">
                <a16:creationId xmlns:a16="http://schemas.microsoft.com/office/drawing/2014/main" id="{ADE59FE1-CC8C-42A3-A30F-3E84E3DB47F9}"/>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39</a:t>
            </a:r>
          </a:p>
        </p:txBody>
      </p:sp>
      <p:sp>
        <p:nvSpPr>
          <p:cNvPr id="8" name="Unified source footer">
            <a:extLst>
              <a:ext uri="{FF2B5EF4-FFF2-40B4-BE49-F238E27FC236}">
                <a16:creationId xmlns:a16="http://schemas.microsoft.com/office/drawing/2014/main" id="{9F46A5CE-F125-4B5D-AD64-EA2486FAD9AF}"/>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p:txBody>
      </p:sp>
      <p:graphicFrame>
        <p:nvGraphicFramePr>
          <p:cNvPr id="58"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0003"/>
                    </a:ext>
                  </a:extLst>
                </a:gridCol>
              </a:tblGrid>
              <a:tr h="355600">
                <a:tc>
                  <a:txBody>
                    <a:bodyPr/>
                    <a:lstStyle/>
                    <a:p>
                      <a:pPr>
                        <a:spcAft>
                          <a:spcPts val="0"/>
                        </a:spcAft>
                        <a:buNone/>
                      </a:pPr>
                      <a:r>
                        <a:rPr sz="1200" b="1" u="none">
                          <a:solidFill>
                            <a:schemeClr val="dk1"/>
                          </a:solidFill>
                          <a:latin typeface="Lato"/>
                          <a:ea typeface="Lato"/>
                          <a:cs typeface="Lato"/>
                        </a:rPr>
                        <a:t>Argument</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Situation</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Complication</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Resolution / decision</a:t>
                      </a:r>
                    </a:p>
                  </a:txBody>
                  <a:tcPr marL="38100" marR="114300" marT="88900" marB="50800">
                    <a:lnB w="7620" cmpd="sng">
                      <a:solidFill>
                        <a:srgbClr val="EEEEEE"/>
                      </a:solidFill>
                      <a:prstDash val="solid"/>
                    </a:lnB>
                    <a:solidFill>
                      <a:srgbClr val="FFFFFF"/>
                    </a:solidFill>
                  </a:tcPr>
                </a:tc>
                <a:extLst>
                  <a:ext uri="{0D108BD9-81ED-4DB2-BD59-A6C34878D82A}">
                    <a16:rowId xmlns:a16="http://schemas.microsoft.com/office/drawing/2014/main" val="10000"/>
                  </a:ext>
                </a:extLst>
              </a:tr>
              <a:tr h="817880">
                <a:tc>
                  <a:txBody>
                    <a:bodyPr/>
                    <a:lstStyle/>
                    <a:p>
                      <a:pPr>
                        <a:spcAft>
                          <a:spcPts val="0"/>
                        </a:spcAft>
                        <a:buNone/>
                      </a:pPr>
                      <a:r>
                        <a:rPr sz="1200" b="1" u="none">
                          <a:solidFill>
                            <a:schemeClr val="dk1"/>
                          </a:solidFill>
                          <a:latin typeface="Lato"/>
                          <a:ea typeface="Lato"/>
                          <a:cs typeface="Lato"/>
                        </a:rPr>
                        <a:t>Transport
demand</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2023 petrol/diesel sales total 21.94bn L; sector activity and fleet evidence explain different fuel exposures.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Sector growth, rail recovery, EVs and efficiency change fuel demand.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D1–D4 define activity, rail, EV and efficiency paths. Translate them into capturable product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1"/>
                  </a:ext>
                </a:extLst>
              </a:tr>
              <a:tr h="817880">
                <a:tc>
                  <a:txBody>
                    <a:bodyPr/>
                    <a:lstStyle/>
                    <a:p>
                      <a:pPr>
                        <a:spcAft>
                          <a:spcPts val="0"/>
                        </a:spcAft>
                        <a:buNone/>
                      </a:pPr>
                      <a:r>
                        <a:rPr sz="1200" b="1" u="none">
                          <a:solidFill>
                            <a:schemeClr val="dk1"/>
                          </a:solidFill>
                          <a:latin typeface="Lato"/>
                          <a:ea typeface="Lato"/>
                          <a:cs typeface="Lato"/>
                        </a:rPr>
                        <a:t>Power
demand</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Power shortages supported diesel use; Eskom consumption has recently fallen.</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Recovery may persist or reverse through outages and replacement delays.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D5 adds fleet recovery, replacement timing and diesel dispatch to the same demand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2"/>
                  </a:ext>
                </a:extLst>
              </a:tr>
              <a:tr h="817880">
                <a:tc>
                  <a:txBody>
                    <a:bodyPr/>
                    <a:lstStyle/>
                    <a:p>
                      <a:pPr>
                        <a:spcAft>
                          <a:spcPts val="0"/>
                        </a:spcAft>
                        <a:buNone/>
                      </a:pPr>
                      <a:r>
                        <a:rPr sz="1200" b="1" u="none">
                          <a:solidFill>
                            <a:schemeClr val="dk1"/>
                          </a:solidFill>
                          <a:latin typeface="Lato"/>
                          <a:ea typeface="Lato"/>
                          <a:cs typeface="Lato"/>
                        </a:rPr>
                        <a:t>Domestic
supply</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Reduced local production has increased reliance on imports.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SAPREF, Natref and Secunda can change domestic fuel output materially.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S1–S4 define plant output and sourcing mix. Imports are one consequence of the domestic balance.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3"/>
                  </a:ext>
                </a:extLst>
              </a:tr>
              <a:tr h="817880">
                <a:tc>
                  <a:txBody>
                    <a:bodyPr/>
                    <a:lstStyle/>
                    <a:p>
                      <a:pPr>
                        <a:spcAft>
                          <a:spcPts val="0"/>
                        </a:spcAft>
                        <a:buNone/>
                      </a:pPr>
                      <a:r>
                        <a:rPr sz="1200" b="1" u="none">
                          <a:solidFill>
                            <a:schemeClr val="dk1"/>
                          </a:solidFill>
                          <a:latin typeface="Lato"/>
                          <a:ea typeface="Lato"/>
                          <a:cs typeface="Lato"/>
                        </a:rPr>
                        <a:t>Corridor
competition</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connects imported fuel to inland customers.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Alternative gateways, delivered costs, reliability and access alter flows.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T1–T2 compare delivered economics and capture for domestic and imported fuel serving common destinations.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4"/>
                  </a:ext>
                </a:extLst>
              </a:tr>
              <a:tr h="817880">
                <a:tc>
                  <a:txBody>
                    <a:bodyPr/>
                    <a:lstStyle/>
                    <a:p>
                      <a:pPr>
                        <a:spcAft>
                          <a:spcPts val="0"/>
                        </a:spcAft>
                        <a:buNone/>
                      </a:pPr>
                      <a:r>
                        <a:rPr sz="1200" b="1" u="none">
                          <a:solidFill>
                            <a:schemeClr val="dk1"/>
                          </a:solidFill>
                          <a:latin typeface="Lato"/>
                          <a:ea typeface="Lato"/>
                          <a:cs typeface="Lato"/>
                        </a:rPr>
                        <a:t>Vopak
investment</a:t>
                      </a: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and Lesedi provide connected assets whose throughput can rise through higher turnover.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Working tankage, receipt/dispatch, peaks and stock requirements constrain achievable turnover.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T3–T5 compare working capacity, required/achievable turns and dispatch limits. F1 tests incremental returns.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a:extLst>
              <a:ext uri="{FF2B5EF4-FFF2-40B4-BE49-F238E27FC236}">
                <a16:creationId xmlns:a16="http://schemas.microsoft.com/office/drawing/2014/main" id="{89CBC80E-6861-4DC2-B4DA-CB3014B71A09}"/>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pic>
        <p:nvPicPr>
          <p:cNvPr id="60" name="Argument icon transport"/>
          <p:cNvPicPr>
            <a:picLocks noChangeAspect="1"/>
          </p:cNvPicPr>
          <p:nvPr/>
        </p:nvPicPr>
        <p:blipFill>
          <a:blip r:embed="rId3"/>
          <a:stretch>
            <a:fillRect/>
          </a:stretch>
        </p:blipFill>
        <p:spPr>
          <a:xfrm>
            <a:off x="508000" y="2120900"/>
            <a:ext cx="317500" cy="317500"/>
          </a:xfrm>
          <a:prstGeom prst="rect">
            <a:avLst/>
          </a:prstGeom>
        </p:spPr>
      </p:pic>
      <p:pic>
        <p:nvPicPr>
          <p:cNvPr id="61" name="Argument icon power"/>
          <p:cNvPicPr>
            <a:picLocks noChangeAspect="1"/>
          </p:cNvPicPr>
          <p:nvPr/>
        </p:nvPicPr>
        <p:blipFill>
          <a:blip r:embed="rId4"/>
          <a:stretch>
            <a:fillRect/>
          </a:stretch>
        </p:blipFill>
        <p:spPr>
          <a:xfrm>
            <a:off x="508000" y="2938780"/>
            <a:ext cx="317500" cy="317500"/>
          </a:xfrm>
          <a:prstGeom prst="rect">
            <a:avLst/>
          </a:prstGeom>
        </p:spPr>
      </p:pic>
      <p:pic>
        <p:nvPicPr>
          <p:cNvPr id="62" name="Argument icon supply"/>
          <p:cNvPicPr>
            <a:picLocks noChangeAspect="1"/>
          </p:cNvPicPr>
          <p:nvPr/>
        </p:nvPicPr>
        <p:blipFill>
          <a:blip r:embed="rId5"/>
          <a:stretch>
            <a:fillRect/>
          </a:stretch>
        </p:blipFill>
        <p:spPr>
          <a:xfrm>
            <a:off x="508000" y="3756660"/>
            <a:ext cx="317500" cy="317500"/>
          </a:xfrm>
          <a:prstGeom prst="rect">
            <a:avLst/>
          </a:prstGeom>
        </p:spPr>
      </p:pic>
      <p:pic>
        <p:nvPicPr>
          <p:cNvPr id="63" name="Argument icon corridor"/>
          <p:cNvPicPr>
            <a:picLocks noChangeAspect="1"/>
          </p:cNvPicPr>
          <p:nvPr/>
        </p:nvPicPr>
        <p:blipFill>
          <a:blip r:embed="rId6"/>
          <a:stretch>
            <a:fillRect/>
          </a:stretch>
        </p:blipFill>
        <p:spPr>
          <a:xfrm>
            <a:off x="508000" y="4574540"/>
            <a:ext cx="317500" cy="317500"/>
          </a:xfrm>
          <a:prstGeom prst="rect">
            <a:avLst/>
          </a:prstGeom>
        </p:spPr>
      </p:pic>
      <p:pic>
        <p:nvPicPr>
          <p:cNvPr id="64" name="Argument icon investment"/>
          <p:cNvPicPr>
            <a:picLocks noChangeAspect="1"/>
          </p:cNvPicPr>
          <p:nvPr/>
        </p:nvPicPr>
        <p:blipFill>
          <a:blip r:embed="rId7"/>
          <a:stretch>
            <a:fillRect/>
          </a:stretch>
        </p:blipFill>
        <p:spPr>
          <a:xfrm>
            <a:off x="508000" y="5392420"/>
            <a:ext cx="317500" cy="317500"/>
          </a:xfrm>
          <a:prstGeom prst="rect">
            <a:avLst/>
          </a:prstGeom>
        </p:spPr>
      </p:pic>
      <p:graphicFrame>
        <p:nvGraphicFramePr>
          <p:cNvPr id="5039"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r:dm="rIdSmartArt8" r:lo="rIdSmartArt9" r:qs="rIdSmartArt10" r:cs="rIdSmartArt11"/>
          </a:graphicData>
        </a:graphic>
      </p:graphicFrame>
    </p:spTree>
    <p:extLst>
      <p:ext uri="{BB962C8B-B14F-4D97-AF65-F5344CB8AC3E}">
        <p14:creationId xmlns:p14="http://schemas.microsoft.com/office/powerpoint/2010/main" val="41599509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1159C-464E-4FAD-B145-AC35FC2B43D6}"/>
              </a:ext>
            </a:extLst>
          </p:cNvPr>
          <p:cNvSpPr>
            <a:spLocks noGrp="1"/>
          </p:cNvSpPr>
          <p:nvPr>
            <p:ph type="title"/>
          </p:nvPr>
        </p:nvSpPr>
        <p:spPr/>
        <p:txBody>
          <a:bodyPr>
            <a:normAutofit/>
          </a:bodyPr>
          <a:lstStyle/>
          <a:p>
            <a:r>
              <a:rPr sz="2300">
                <a:solidFill>
                  <a:schemeClr val="dk1"/>
                </a:solidFill>
                <a:latin typeface="Lato"/>
                <a:ea typeface="Lato"/>
                <a:cs typeface="Lato"/>
              </a:rPr>
              <a:t>The revised illustration gives extra tanks R58m more NPV than improvement alone</a:t>
            </a:r>
          </a:p>
        </p:txBody>
      </p:sp>
      <p:sp>
        <p:nvSpPr>
          <p:cNvPr id="3" name="Slide Number Placeholder">
            <a:extLst>
              <a:ext uri="{FF2B5EF4-FFF2-40B4-BE49-F238E27FC236}">
                <a16:creationId xmlns:a16="http://schemas.microsoft.com/office/drawing/2014/main" id="{1B9D3B2F-37CA-45BE-BCC8-48F30464A1BD}"/>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40</a:t>
            </a:r>
          </a:p>
        </p:txBody>
      </p:sp>
      <p:sp>
        <p:nvSpPr>
          <p:cNvPr id="8" name="Unified source footer">
            <a:extLst>
              <a:ext uri="{FF2B5EF4-FFF2-40B4-BE49-F238E27FC236}">
                <a16:creationId xmlns:a16="http://schemas.microsoft.com/office/drawing/2014/main" id="{22FE3AA1-35B2-4197-931D-902540352AE6}"/>
              </a:ext>
            </a:extLst>
          </p:cNvPr>
          <p:cNvSpPr>
            <a:spLocks noGrp="1"/>
          </p:cNvSpPr>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ILLUSTRATIVE, 100% site basis, pre-tax at 10% for 20 years. Working tankage reduced from 126,000 to 124,000 m³. Model allocates more incremental contracted storage to added tanks, increasing assumed rent. This is model sensitivity, not new commercial evidence.</a:t>
            </a:r>
          </a:p>
        </p:txBody>
      </p:sp>
      <p:graphicFrame>
        <p:nvGraphicFramePr>
          <p:cNvPr id="53"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buNone/>
                      </a:pPr>
                      <a:r>
                        <a:rPr sz="1200" b="1" u="none">
                          <a:solidFill>
                            <a:schemeClr val="dk1"/>
                          </a:solidFill>
                          <a:latin typeface="Lato"/>
                          <a:ea typeface="Lato"/>
                          <a:cs typeface="Lato"/>
                        </a:rPr>
                        <a:t>High demand / low supply</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Capital and throughput</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Incremental value versus existing</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200" b="1" u="none">
                          <a:solidFill>
                            <a:schemeClr val="dk1"/>
                          </a:solidFill>
                          <a:latin typeface="Lato"/>
                          <a:ea typeface="Lato"/>
                          <a:cs typeface="Lato"/>
                        </a:rPr>
                        <a:t>Existing</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R0m capex
1.860bn L/year served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R+0.0m
Unserved 0.953bn L/year</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200" b="1" u="none">
                          <a:solidFill>
                            <a:schemeClr val="dk1"/>
                          </a:solidFill>
                          <a:latin typeface="Lato"/>
                          <a:ea typeface="Lato"/>
                          <a:cs typeface="Lato"/>
                        </a:rPr>
                        <a:t>Improve access / dispatch</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R100m capex
2.232bn L/year served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R+24.2m
Unserved 0.581bn L/year</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200" b="1" u="none">
                          <a:solidFill>
                            <a:schemeClr val="dk1"/>
                          </a:solidFill>
                          <a:latin typeface="Lato"/>
                          <a:ea typeface="Lato"/>
                          <a:cs typeface="Lato"/>
                        </a:rPr>
                        <a:t>Improve + add tanks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R600m capex
2.813bn L/year served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R+82.2m
Unserved 0.000bn L/year</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200" b="1" u="none">
                          <a:solidFill>
                            <a:schemeClr val="dk1"/>
                          </a:solidFill>
                          <a:latin typeface="Lato"/>
                          <a:ea typeface="Lato"/>
                          <a:cs typeface="Lato"/>
                        </a:rPr>
                        <a:t>Decision threshold</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beats existing above 2.181bn L/year.</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Tanks beat improvement above 2.765bn L/year; assumed capture 2.813bn.</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A1084881-E89D-47F7-9A40-95AF37B76EC5}"/>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40"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34372908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67A96-9D75-4908-9D26-D932BE12AD7A}"/>
              </a:ext>
            </a:extLst>
          </p:cNvPr>
          <p:cNvSpPr>
            <a:spLocks noGrp="1"/>
          </p:cNvSpPr>
          <p:nvPr>
            <p:ph type="title"/>
          </p:nvPr>
        </p:nvSpPr>
        <p:spPr/>
        <p:txBody>
          <a:bodyPr>
            <a:normAutofit fontScale="90000"/>
          </a:bodyPr>
          <a:lstStyle/>
          <a:p>
            <a:r>
              <a:rPr sz="2300">
                <a:solidFill>
                  <a:schemeClr val="dk1"/>
                </a:solidFill>
                <a:latin typeface="Lato"/>
                <a:ea typeface="Lato"/>
                <a:cs typeface="Lato"/>
              </a:rPr>
              <a:t>Vopak reports anchor capacity and the revenue model; they do not disclose Lesedi project economics</a:t>
            </a:r>
          </a:p>
        </p:txBody>
      </p:sp>
      <p:sp>
        <p:nvSpPr>
          <p:cNvPr id="3" name="Slide Number Placeholder">
            <a:extLst>
              <a:ext uri="{FF2B5EF4-FFF2-40B4-BE49-F238E27FC236}">
                <a16:creationId xmlns:a16="http://schemas.microsoft.com/office/drawing/2014/main" id="{2D2CCA37-A41E-4FAE-999A-329E85A20FDA}"/>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41</a:t>
            </a:r>
          </a:p>
        </p:txBody>
      </p:sp>
      <p:sp>
        <p:nvSpPr>
          <p:cNvPr id="8" name="Unified source footer">
            <a:extLst>
              <a:ext uri="{FF2B5EF4-FFF2-40B4-BE49-F238E27FC236}">
                <a16:creationId xmlns:a16="http://schemas.microsoft.com/office/drawing/2014/main" id="{87998E70-B65F-4A5D-A10E-E03A54B4B3FF}"/>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sz="650"/>
              <a:t>Vopak Annual Report 2025 pp36/39, 63, 213 and 324; FY2025 Analyst Presentation p24; official terminal directory checked 8 Oct 2026. All other business units includes multiple countries; do not allocate its profit to South Africa. URLs, downloaded originals and hashes retained.</a:t>
            </a:r>
          </a:p>
        </p:txBody>
      </p:sp>
      <p:graphicFrame>
        <p:nvGraphicFramePr>
          <p:cNvPr id="53"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buNone/>
                      </a:pPr>
                      <a:r>
                        <a:rPr sz="1200" b="1" u="none">
                          <a:solidFill>
                            <a:schemeClr val="dk1"/>
                          </a:solidFill>
                          <a:latin typeface="Lato"/>
                          <a:ea typeface="Lato"/>
                          <a:cs typeface="Lato"/>
                        </a:rPr>
                        <a:t>Evidence class</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the sources establish</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How it is used</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buNone/>
                      </a:pPr>
                      <a:r>
                        <a:rPr sz="1200" b="1" u="none">
                          <a:solidFill>
                            <a:schemeClr val="dk1"/>
                          </a:solidFill>
                          <a:latin typeface="Lato"/>
                          <a:ea typeface="Lato"/>
                          <a:cs typeface="Lato"/>
                        </a:rPr>
                        <a:t>REPORTED | Assets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Lesedi: 140,000 m³; Durban: 360,246 m³. Vopak share: 70% at each site.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Full physical capacity for operations. The commissioned 40,000 m3 Lesedi expansion is included in 140,000 m3.</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buNone/>
                      </a:pPr>
                      <a:r>
                        <a:rPr sz="1200" b="1" u="none">
                          <a:solidFill>
                            <a:schemeClr val="dk1"/>
                          </a:solidFill>
                          <a:latin typeface="Lato"/>
                          <a:ea typeface="Lato"/>
                          <a:cs typeface="Lato"/>
                        </a:rPr>
                        <a:t>REPORTED | Revenue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 services: EUR1,058.8m of EUR1,298.9m consolidated revenue in 2025.</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81.5% is storage revenue. Rental may include minimum throughput; extra turns are not automatically extra revenue.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buNone/>
                      </a:pPr>
                      <a:r>
                        <a:rPr sz="1200" b="1" u="none">
                          <a:solidFill>
                            <a:schemeClr val="dk1"/>
                          </a:solidFill>
                          <a:latin typeface="Lato"/>
                          <a:ea typeface="Lato"/>
                          <a:cs typeface="Lato"/>
                        </a:rPr>
                        <a:t>INFERRED | Group ratio</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EUR93.9 revenue / gross m³/year: proportional revenue divided by year-end proportional capacity.</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Mixed-portfolio scale indicator only. Not a Lesedi tariff, margin or estimate of site revenue.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buNone/>
                      </a:pPr>
                      <a:r>
                        <a:rPr sz="1200" b="1" u="none">
                          <a:solidFill>
                            <a:schemeClr val="dk1"/>
                          </a:solidFill>
                          <a:latin typeface="Lato"/>
                          <a:ea typeface="Lato"/>
                          <a:cs typeface="Lato"/>
                        </a:rPr>
                        <a:t>REPORTED | Benchmarks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15.6% group operating cash return; 5–7x capex/EBITDA for gas/industrial and 4–8x for transition infrastructure.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Context, not South Africa fuel-project hurdle rates. Authored 10% discount rate is separate.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a:extLst>
              <a:ext uri="{FF2B5EF4-FFF2-40B4-BE49-F238E27FC236}">
                <a16:creationId xmlns:a16="http://schemas.microsoft.com/office/drawing/2014/main" id="{D32CE19C-09D0-4537-93F7-9C7ED84B7C7F}"/>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41"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5371648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72D29-5858-42AE-B841-92C625304ED2}"/>
              </a:ext>
            </a:extLst>
          </p:cNvPr>
          <p:cNvSpPr>
            <a:spLocks noGrp="1"/>
          </p:cNvSpPr>
          <p:nvPr>
            <p:ph type="title"/>
          </p:nvPr>
        </p:nvSpPr>
        <p:spPr/>
        <p:txBody>
          <a:bodyPr>
            <a:normAutofit fontScale="90000"/>
          </a:bodyPr>
          <a:lstStyle/>
          <a:p>
            <a:r>
              <a:rPr sz="2300">
                <a:solidFill>
                  <a:schemeClr val="dk1"/>
                </a:solidFill>
                <a:latin typeface="Lato"/>
                <a:ea typeface="Lato"/>
                <a:cs typeface="Lato"/>
              </a:rPr>
              <a:t>The investment result rests on explicit assumptions that must be replaced or agreed</a:t>
            </a:r>
          </a:p>
        </p:txBody>
      </p:sp>
      <p:sp>
        <p:nvSpPr>
          <p:cNvPr id="3" name="Slide Number Placeholder">
            <a:extLst>
              <a:ext uri="{FF2B5EF4-FFF2-40B4-BE49-F238E27FC236}">
                <a16:creationId xmlns:a16="http://schemas.microsoft.com/office/drawing/2014/main" id="{58A060AA-8E12-47A7-9C4A-16EB43F9F004}"/>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42</a:t>
            </a:r>
          </a:p>
        </p:txBody>
      </p:sp>
      <p:sp>
        <p:nvSpPr>
          <p:cNvPr id="8" name="Unified source footer">
            <a:extLst>
              <a:ext uri="{FF2B5EF4-FFF2-40B4-BE49-F238E27FC236}">
                <a16:creationId xmlns:a16="http://schemas.microsoft.com/office/drawing/2014/main" id="{EF809FBA-6FC0-4883-864D-3584A887CB73}"/>
              </a:ext>
            </a:extLst>
          </p:cNvPr>
          <p:cNvSpPr>
            <a:spLocks noGrp="1"/>
          </p:cNvSpPr>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Every illustrative value is registered in assumptions/2026/vopak_investment_illustration.yaml. Not a forecast, commercial offer or approval. Proposed validation: Nigel coordinates Vopak commercial/operations; Manish reconciles; independent review outstanding.</a:t>
            </a:r>
          </a:p>
        </p:txBody>
      </p:sp>
      <p:graphicFrame>
        <p:nvGraphicFramePr>
          <p:cNvPr id="53" name="Table 46"/>
          <p:cNvGraphicFramePr/>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buNone/>
                      </a:pPr>
                      <a:r>
                        <a:rPr sz="1200" b="1" u="none">
                          <a:solidFill>
                            <a:schemeClr val="dk1"/>
                          </a:solidFill>
                          <a:latin typeface="Lato"/>
                          <a:ea typeface="Lato"/>
                          <a:cs typeface="Lato"/>
                        </a:rPr>
                        <a:t>ILLUSTRATIVE input</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Value used</a:t>
                      </a: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must be validated</a:t>
                      </a:r>
                    </a:p>
                  </a:txBody>
                  <a:tcPr marL="38100" marR="114300" marT="88900" marB="50800">
                    <a:lnB w="7620">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buNone/>
                      </a:pPr>
                      <a:r>
                        <a:rPr sz="1200" b="1" u="none">
                          <a:solidFill>
                            <a:schemeClr val="dk1"/>
                          </a:solidFill>
                          <a:latin typeface="Lato"/>
                          <a:ea typeface="Lato"/>
                          <a:cs typeface="Lato"/>
                        </a:rPr>
                        <a:t>Catchment balance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Demand 6.0 / 6.8 / 7.6bn L; domestic deliveries 2.4 / 3.6 / 4.8bn L.</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Steady-state stress points; M rounds 2022 Gauteng sales for scale. No national production forecast implied.</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buNone/>
                      </a:pPr>
                      <a:r>
                        <a:rPr sz="1200" b="1" u="none">
                          <a:solidFill>
                            <a:schemeClr val="dk1"/>
                          </a:solidFill>
                          <a:latin typeface="Lato"/>
                          <a:ea typeface="Lato"/>
                          <a:cs typeface="Lato"/>
                        </a:rPr>
                        <a:t>Capture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70% of imports via Durban; Vopak captures 80%; 90% goes to Lesedi; 8% domestic capture.</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Separate investment illustration with imported and domestic capture. Its shares differ from the Durban-only capture screen on p36.</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buNone/>
                      </a:pPr>
                      <a:r>
                        <a:rPr sz="1200" b="1" u="none">
                          <a:solidFill>
                            <a:schemeClr val="dk1"/>
                          </a:solidFill>
                          <a:latin typeface="Lato"/>
                          <a:ea typeface="Lato"/>
                          <a:cs typeface="Lato"/>
                        </a:rPr>
                        <a:t>Operations</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88.57% of gross; turns 1.25 existing / 1.50 improved; +40,000 gross m³.</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159,429 working m³ with tanks at the same assumed fraction. Receipt/dispatch ceiling 3.5bn L/year remains illustrative.</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buNone/>
                      </a:pPr>
                      <a:r>
                        <a:rPr sz="1200" b="1" u="none">
                          <a:solidFill>
                            <a:schemeClr val="dk1"/>
                          </a:solidFill>
                          <a:latin typeface="Lato"/>
                          <a:ea typeface="Lato"/>
                          <a:cs typeface="Lato"/>
                        </a:rPr>
                        <a:t>Revenue</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R1,500 / gross m³/year rent on added contracted tanks; R60 / extra m³ contribution.</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Chargeable excess services only, excluding rent/minimum-throughput inclusions. Added rent follows incremental storage use.</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4"/>
                  </a:ext>
                </a:extLst>
              </a:tr>
              <a:tr h="681567">
                <a:tc>
                  <a:txBody>
                    <a:bodyPr/>
                    <a:lstStyle/>
                    <a:p>
                      <a:pPr>
                        <a:spcAft>
                          <a:spcPts val="0"/>
                        </a:spcAft>
                        <a:buNone/>
                      </a:pPr>
                      <a:r>
                        <a:rPr sz="1200" b="1" u="none">
                          <a:solidFill>
                            <a:schemeClr val="dk1"/>
                          </a:solidFill>
                          <a:latin typeface="Lato"/>
                          <a:ea typeface="Lato"/>
                          <a:cs typeface="Lato"/>
                        </a:rPr>
                        <a:t>Capital and costs</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R100m improvement + R500m tanks; fixed opex R5m + R12m/year; maintenance 1% capex/year.</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Author-selected cost sensitivities; no Vopak quotation or engineering estimate.</a:t>
                      </a: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extLst>
                  <a:ext uri="{0D108BD9-81ED-4DB2-BD59-A6C34878D82A}">
                    <a16:rowId xmlns:a16="http://schemas.microsoft.com/office/drawing/2014/main" val="10005"/>
                  </a:ext>
                </a:extLst>
              </a:tr>
              <a:tr h="681567">
                <a:tc>
                  <a:txBody>
                    <a:bodyPr/>
                    <a:lstStyle/>
                    <a:p>
                      <a:pPr>
                        <a:spcAft>
                          <a:spcPts val="0"/>
                        </a:spcAft>
                        <a:buNone/>
                      </a:pPr>
                      <a:r>
                        <a:rPr sz="1200" b="1" u="none">
                          <a:solidFill>
                            <a:schemeClr val="dk1"/>
                          </a:solidFill>
                          <a:latin typeface="Lato"/>
                          <a:ea typeface="Lato"/>
                          <a:cs typeface="Lato"/>
                        </a:rPr>
                        <a:t>Cash flow</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 years at 10%; 50% / 75% / 100% operating ramp; capex upfront.</a:t>
                      </a: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Pre-tax unlevered constant ZAR. Tax, working capital, construction timing and residual value excluded.</a:t>
                      </a:r>
                    </a:p>
                  </a:txBody>
                  <a:tcPr marL="38100" marR="114300" marT="88900" marB="50800">
                    <a:lnT w="7620" cmpd="sng">
                      <a:solidFill>
                        <a:srgbClr val="EEEEEE"/>
                      </a:solidFill>
                      <a:prstDash val="solid"/>
                    </a:lnT>
                    <a:lnB w="7620">
                      <a:solidFill>
                        <a:srgbClr val="EEEEEE"/>
                      </a:solidFill>
                    </a:lnB>
                    <a:solidFill>
                      <a:srgbClr val="FFFFFF"/>
                    </a:solidFill>
                  </a:tcPr>
                </a:tc>
                <a:extLst>
                  <a:ext uri="{0D108BD9-81ED-4DB2-BD59-A6C34878D82A}">
                    <a16:rowId xmlns:a16="http://schemas.microsoft.com/office/drawing/2014/main" val="10006"/>
                  </a:ext>
                </a:extLst>
              </a:tr>
            </a:tbl>
          </a:graphicData>
        </a:graphic>
      </p:graphicFrame>
      <p:sp>
        <p:nvSpPr>
          <p:cNvPr id="48" name="Strictly Confidential footer">
            <a:extLst>
              <a:ext uri="{FF2B5EF4-FFF2-40B4-BE49-F238E27FC236}">
                <a16:creationId xmlns:a16="http://schemas.microsoft.com/office/drawing/2014/main" id="{98C21A72-3396-43F8-9401-3D8FA2B97ABB}"/>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042"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10661056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5FAE5-2BD6-41A0-8FE6-4540E3B1DC51}"/>
              </a:ext>
            </a:extLst>
          </p:cNvPr>
          <p:cNvSpPr>
            <a:spLocks noGrp="1"/>
          </p:cNvSpPr>
          <p:nvPr>
            <p:ph type="title"/>
          </p:nvPr>
        </p:nvSpPr>
        <p:spPr/>
        <p:txBody>
          <a:bodyPr>
            <a:normAutofit/>
          </a:bodyPr>
          <a:lstStyle/>
          <a:p>
            <a:r>
              <a:rPr sz="2300">
                <a:solidFill>
                  <a:schemeClr val="dk1"/>
                </a:solidFill>
                <a:latin typeface="Lato"/>
                <a:ea typeface="Lato"/>
                <a:cs typeface="Lato"/>
              </a:rPr>
              <a:t>Capture and commercial assumptions can reverse the illustrated expansion choice</a:t>
            </a:r>
          </a:p>
        </p:txBody>
      </p:sp>
      <p:sp>
        <p:nvSpPr>
          <p:cNvPr id="3" name="Slide Number Placeholder">
            <a:extLst>
              <a:ext uri="{FF2B5EF4-FFF2-40B4-BE49-F238E27FC236}">
                <a16:creationId xmlns:a16="http://schemas.microsoft.com/office/drawing/2014/main" id="{62736954-00DB-4B89-A401-92EA4DC311C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43</a:t>
            </a:r>
          </a:p>
        </p:txBody>
      </p:sp>
      <p:sp>
        <p:nvSpPr>
          <p:cNvPr id="8" name="Unified source footer">
            <a:extLst>
              <a:ext uri="{FF2B5EF4-FFF2-40B4-BE49-F238E27FC236}">
                <a16:creationId xmlns:a16="http://schemas.microsoft.com/office/drawing/2014/main" id="{FFC2AA92-721F-4931-8AFB-B842620C6F5D}"/>
              </a:ext>
            </a:extLst>
          </p:cNvPr>
          <p:cNvSpPr>
            <a:spLocks noGrp="1"/>
          </p:cNvSpPr>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p>
        </p:txBody>
      </p:sp>
      <p:sp>
        <p:nvSpPr>
          <p:cNvPr id="48" name="Strictly Confidential footer">
            <a:extLst>
              <a:ext uri="{FF2B5EF4-FFF2-40B4-BE49-F238E27FC236}">
                <a16:creationId xmlns:a16="http://schemas.microsoft.com/office/drawing/2014/main" id="{25F712FC-256E-4AF8-97C8-E7AD40DFC31A}"/>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60" name="Table 59"/>
          <p:cNvGraphicFramePr/>
          <p:nvPr/>
        </p:nvGraphicFramePr>
        <p:xfrm>
          <a:off x="457200" y="1657350"/>
          <a:ext cx="10652760" cy="3746500"/>
        </p:xfrm>
        <a:graphic>
          <a:graphicData uri="http://schemas.openxmlformats.org/drawingml/2006/table">
            <a:tbl>
              <a:tblPr/>
              <a:tblGrid>
                <a:gridCol w="3556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3543300">
                  <a:extLst>
                    <a:ext uri="{9D8B030D-6E8A-4147-A177-3AD203B41FA5}">
                      <a16:colId xmlns:a16="http://schemas.microsoft.com/office/drawing/2014/main" val="20003"/>
                    </a:ext>
                  </a:extLst>
                </a:gridCol>
              </a:tblGrid>
              <a:tr h="624417">
                <a:tc>
                  <a:txBody>
                    <a:bodyPr/>
                    <a:lstStyle/>
                    <a:p>
                      <a:r>
                        <a:rPr sz="1275" b="1">
                          <a:solidFill>
                            <a:srgbClr val="0B2475"/>
                          </a:solidFill>
                          <a:latin typeface="Lato"/>
                          <a:ea typeface="Lato"/>
                          <a:cs typeface="Lato"/>
                        </a:rPr>
                        <a:t>Independent sensitivity</a:t>
                      </a:r>
                    </a:p>
                  </a:txBody>
                  <a:tcPr anchor="ctr">
                    <a:solidFill>
                      <a:srgbClr val="F5F5F5"/>
                    </a:solidFill>
                  </a:tcPr>
                </a:tc>
                <a:tc>
                  <a:txBody>
                    <a:bodyPr/>
                    <a:lstStyle/>
                    <a:p>
                      <a:r>
                        <a:rPr sz="1275" b="1">
                          <a:solidFill>
                            <a:srgbClr val="202020"/>
                          </a:solidFill>
                          <a:latin typeface="Lato"/>
                          <a:ea typeface="Lato"/>
                          <a:cs typeface="Lato"/>
                        </a:rPr>
                        <a:t>Improve NPV Rm</a:t>
                      </a:r>
                    </a:p>
                  </a:txBody>
                  <a:tcPr anchor="ctr">
                    <a:solidFill>
                      <a:srgbClr val="F5F5F5"/>
                    </a:solidFill>
                  </a:tcPr>
                </a:tc>
                <a:tc>
                  <a:txBody>
                    <a:bodyPr/>
                    <a:lstStyle/>
                    <a:p>
                      <a:r>
                        <a:rPr sz="1275" b="1">
                          <a:solidFill>
                            <a:srgbClr val="202020"/>
                          </a:solidFill>
                          <a:latin typeface="Lato"/>
                          <a:ea typeface="Lato"/>
                          <a:cs typeface="Lato"/>
                        </a:rPr>
                        <a:t>Tanks NPV Rm</a:t>
                      </a:r>
                    </a:p>
                  </a:txBody>
                  <a:tcPr anchor="ctr">
                    <a:solidFill>
                      <a:srgbClr val="F5F5F5"/>
                    </a:solidFill>
                  </a:tcPr>
                </a:tc>
                <a:tc>
                  <a:txBody>
                    <a:bodyPr/>
                    <a:lstStyle/>
                    <a:p>
                      <a:r>
                        <a:rPr sz="1275" b="1">
                          <a:solidFill>
                            <a:srgbClr val="202020"/>
                          </a:solidFill>
                          <a:latin typeface="Lato"/>
                          <a:ea typeface="Lato"/>
                          <a:cs typeface="Lato"/>
                        </a:rPr>
                        <a:t>Preferred package</a:t>
                      </a:r>
                    </a:p>
                  </a:txBody>
                  <a:tcPr anchor="ctr">
                    <a:solidFill>
                      <a:srgbClr val="F5F5F5"/>
                    </a:solidFill>
                  </a:tcPr>
                </a:tc>
                <a:extLst>
                  <a:ext uri="{0D108BD9-81ED-4DB2-BD59-A6C34878D82A}">
                    <a16:rowId xmlns:a16="http://schemas.microsoft.com/office/drawing/2014/main" val="10000"/>
                  </a:ext>
                </a:extLst>
              </a:tr>
              <a:tr h="624417">
                <a:tc>
                  <a:txBody>
                    <a:bodyPr/>
                    <a:lstStyle/>
                    <a:p>
                      <a:r>
                        <a:rPr sz="1350" b="1">
                          <a:solidFill>
                            <a:srgbClr val="0B2475"/>
                          </a:solidFill>
                          <a:latin typeface="Lato"/>
                          <a:ea typeface="Lato"/>
                          <a:cs typeface="Lato"/>
                        </a:rPr>
                        <a:t>Base illustration</a:t>
                      </a:r>
                    </a:p>
                  </a:txBody>
                  <a:tcPr anchor="ctr">
                    <a:solidFill>
                      <a:srgbClr val="FFFFFF"/>
                    </a:solidFill>
                  </a:tcPr>
                </a:tc>
                <a:tc>
                  <a:txBody>
                    <a:bodyPr/>
                    <a:lstStyle/>
                    <a:p>
                      <a:r>
                        <a:rPr sz="1350" b="0">
                          <a:solidFill>
                            <a:srgbClr val="202020"/>
                          </a:solidFill>
                          <a:latin typeface="Lato"/>
                          <a:ea typeface="Lato"/>
                          <a:cs typeface="Lato"/>
                        </a:rPr>
                        <a:t>+24.2</a:t>
                      </a:r>
                    </a:p>
                  </a:txBody>
                  <a:tcPr anchor="ctr">
                    <a:solidFill>
                      <a:srgbClr val="FFFFFF"/>
                    </a:solidFill>
                  </a:tcPr>
                </a:tc>
                <a:tc>
                  <a:txBody>
                    <a:bodyPr/>
                    <a:lstStyle/>
                    <a:p>
                      <a:r>
                        <a:rPr sz="1350" b="0">
                          <a:solidFill>
                            <a:srgbClr val="202020"/>
                          </a:solidFill>
                          <a:latin typeface="Lato"/>
                          <a:ea typeface="Lato"/>
                          <a:cs typeface="Lato"/>
                        </a:rPr>
                        <a:t>+82.2</a:t>
                      </a:r>
                    </a:p>
                  </a:txBody>
                  <a:tcPr anchor="ctr">
                    <a:solidFill>
                      <a:srgbClr val="FFFFFF"/>
                    </a:solidFill>
                  </a:tcPr>
                </a:tc>
                <a:tc>
                  <a:txBody>
                    <a:bodyPr/>
                    <a:lstStyle/>
                    <a:p>
                      <a:r>
                        <a:rPr sz="1350" b="0">
                          <a:solidFill>
                            <a:srgbClr val="202020"/>
                          </a:solidFill>
                          <a:latin typeface="Lato"/>
                          <a:ea typeface="Lato"/>
                          <a:cs typeface="Lato"/>
                        </a:rPr>
                        <a:t>Improve + add tanks</a:t>
                      </a:r>
                    </a:p>
                  </a:txBody>
                  <a:tcPr anchor="ctr">
                    <a:solidFill>
                      <a:srgbClr val="FFFFFF"/>
                    </a:solidFill>
                  </a:tcPr>
                </a:tc>
                <a:extLst>
                  <a:ext uri="{0D108BD9-81ED-4DB2-BD59-A6C34878D82A}">
                    <a16:rowId xmlns:a16="http://schemas.microsoft.com/office/drawing/2014/main" val="10001"/>
                  </a:ext>
                </a:extLst>
              </a:tr>
              <a:tr h="624417">
                <a:tc>
                  <a:txBody>
                    <a:bodyPr/>
                    <a:lstStyle/>
                    <a:p>
                      <a:r>
                        <a:rPr sz="1350" b="1">
                          <a:solidFill>
                            <a:srgbClr val="0B2475"/>
                          </a:solidFill>
                          <a:latin typeface="Lato"/>
                          <a:ea typeface="Lato"/>
                          <a:cs typeface="Lato"/>
                        </a:rPr>
                        <a:t>Capex +25%</a:t>
                      </a:r>
                    </a:p>
                  </a:txBody>
                  <a:tcPr anchor="ctr">
                    <a:solidFill>
                      <a:srgbClr val="FFFFFF"/>
                    </a:solidFill>
                  </a:tcPr>
                </a:tc>
                <a:tc>
                  <a:txBody>
                    <a:bodyPr/>
                    <a:lstStyle/>
                    <a:p>
                      <a:r>
                        <a:rPr sz="1350" b="0">
                          <a:solidFill>
                            <a:srgbClr val="202020"/>
                          </a:solidFill>
                          <a:latin typeface="Lato"/>
                          <a:ea typeface="Lato"/>
                          <a:cs typeface="Lato"/>
                        </a:rPr>
                        <a:t>-2.9</a:t>
                      </a:r>
                    </a:p>
                  </a:txBody>
                  <a:tcPr anchor="ctr">
                    <a:solidFill>
                      <a:srgbClr val="FFFFFF"/>
                    </a:solidFill>
                  </a:tcPr>
                </a:tc>
                <a:tc>
                  <a:txBody>
                    <a:bodyPr/>
                    <a:lstStyle/>
                    <a:p>
                      <a:r>
                        <a:rPr sz="1350" b="0">
                          <a:solidFill>
                            <a:srgbClr val="202020"/>
                          </a:solidFill>
                          <a:latin typeface="Lato"/>
                          <a:ea typeface="Lato"/>
                          <a:cs typeface="Lato"/>
                        </a:rPr>
                        <a:t>-80.6</a:t>
                      </a:r>
                    </a:p>
                  </a:txBody>
                  <a:tcPr anchor="ctr">
                    <a:solidFill>
                      <a:srgbClr val="FFFFFF"/>
                    </a:solidFill>
                  </a:tcPr>
                </a:tc>
                <a:tc>
                  <a:txBody>
                    <a:bodyPr/>
                    <a:lstStyle/>
                    <a:p>
                      <a:r>
                        <a:rPr sz="1350" b="0">
                          <a:solidFill>
                            <a:srgbClr val="202020"/>
                          </a:solidFill>
                          <a:latin typeface="Lato"/>
                          <a:ea typeface="Lato"/>
                          <a:cs typeface="Lato"/>
                        </a:rPr>
                        <a:t>Existing</a:t>
                      </a:r>
                    </a:p>
                  </a:txBody>
                  <a:tcPr anchor="ctr">
                    <a:solidFill>
                      <a:srgbClr val="FFFFFF"/>
                    </a:solidFill>
                  </a:tcPr>
                </a:tc>
                <a:extLst>
                  <a:ext uri="{0D108BD9-81ED-4DB2-BD59-A6C34878D82A}">
                    <a16:rowId xmlns:a16="http://schemas.microsoft.com/office/drawing/2014/main" val="10002"/>
                  </a:ext>
                </a:extLst>
              </a:tr>
              <a:tr h="624417">
                <a:tc>
                  <a:txBody>
                    <a:bodyPr/>
                    <a:lstStyle/>
                    <a:p>
                      <a:r>
                        <a:rPr sz="1350" b="1">
                          <a:solidFill>
                            <a:srgbClr val="0B2475"/>
                          </a:solidFill>
                          <a:latin typeface="Lato"/>
                          <a:ea typeface="Lato"/>
                          <a:cs typeface="Lato"/>
                        </a:rPr>
                        <a:t>No chargeable excess services</a:t>
                      </a:r>
                    </a:p>
                  </a:txBody>
                  <a:tcPr anchor="ctr">
                    <a:solidFill>
                      <a:srgbClr val="FFFFFF"/>
                    </a:solidFill>
                  </a:tcPr>
                </a:tc>
                <a:tc>
                  <a:txBody>
                    <a:bodyPr/>
                    <a:lstStyle/>
                    <a:p>
                      <a:r>
                        <a:rPr sz="1350" b="0">
                          <a:solidFill>
                            <a:srgbClr val="202020"/>
                          </a:solidFill>
                          <a:latin typeface="Lato"/>
                          <a:ea typeface="Lato"/>
                          <a:cs typeface="Lato"/>
                        </a:rPr>
                        <a:t>-151.1</a:t>
                      </a:r>
                    </a:p>
                  </a:txBody>
                  <a:tcPr anchor="ctr">
                    <a:solidFill>
                      <a:srgbClr val="FFFFFF"/>
                    </a:solidFill>
                  </a:tcPr>
                </a:tc>
                <a:tc>
                  <a:txBody>
                    <a:bodyPr/>
                    <a:lstStyle/>
                    <a:p>
                      <a:r>
                        <a:rPr sz="1350" b="0">
                          <a:solidFill>
                            <a:srgbClr val="202020"/>
                          </a:solidFill>
                          <a:latin typeface="Lato"/>
                          <a:ea typeface="Lato"/>
                          <a:cs typeface="Lato"/>
                        </a:rPr>
                        <a:t>-366.7</a:t>
                      </a:r>
                    </a:p>
                  </a:txBody>
                  <a:tcPr anchor="ctr">
                    <a:solidFill>
                      <a:srgbClr val="FFFFFF"/>
                    </a:solidFill>
                  </a:tcPr>
                </a:tc>
                <a:tc>
                  <a:txBody>
                    <a:bodyPr/>
                    <a:lstStyle/>
                    <a:p>
                      <a:r>
                        <a:rPr sz="1350" b="0">
                          <a:solidFill>
                            <a:srgbClr val="202020"/>
                          </a:solidFill>
                          <a:latin typeface="Lato"/>
                          <a:ea typeface="Lato"/>
                          <a:cs typeface="Lato"/>
                        </a:rPr>
                        <a:t>Existing</a:t>
                      </a:r>
                    </a:p>
                  </a:txBody>
                  <a:tcPr anchor="ctr">
                    <a:solidFill>
                      <a:srgbClr val="FFFFFF"/>
                    </a:solidFill>
                  </a:tcPr>
                </a:tc>
                <a:extLst>
                  <a:ext uri="{0D108BD9-81ED-4DB2-BD59-A6C34878D82A}">
                    <a16:rowId xmlns:a16="http://schemas.microsoft.com/office/drawing/2014/main" val="10003"/>
                  </a:ext>
                </a:extLst>
              </a:tr>
              <a:tr h="624417">
                <a:tc>
                  <a:txBody>
                    <a:bodyPr/>
                    <a:lstStyle/>
                    <a:p>
                      <a:r>
                        <a:rPr sz="1350" b="1">
                          <a:solidFill>
                            <a:srgbClr val="0B2475"/>
                          </a:solidFill>
                          <a:latin typeface="Lato"/>
                          <a:ea typeface="Lato"/>
                          <a:cs typeface="Lato"/>
                        </a:rPr>
                        <a:t>Vopak gateway capture 60%</a:t>
                      </a:r>
                    </a:p>
                  </a:txBody>
                  <a:tcPr anchor="ctr">
                    <a:solidFill>
                      <a:srgbClr val="FFFFFF"/>
                    </a:solidFill>
                  </a:tcPr>
                </a:tc>
                <a:tc>
                  <a:txBody>
                    <a:bodyPr/>
                    <a:lstStyle/>
                    <a:p>
                      <a:r>
                        <a:rPr sz="1350" b="0">
                          <a:solidFill>
                            <a:srgbClr val="202020"/>
                          </a:solidFill>
                          <a:latin typeface="Lato"/>
                          <a:ea typeface="Lato"/>
                          <a:cs typeface="Lato"/>
                        </a:rPr>
                        <a:t>-10.9</a:t>
                      </a:r>
                    </a:p>
                  </a:txBody>
                  <a:tcPr anchor="ctr">
                    <a:solidFill>
                      <a:srgbClr val="FFFFFF"/>
                    </a:solidFill>
                  </a:tcPr>
                </a:tc>
                <a:tc>
                  <a:txBody>
                    <a:bodyPr/>
                    <a:lstStyle/>
                    <a:p>
                      <a:r>
                        <a:rPr sz="1350" b="0">
                          <a:solidFill>
                            <a:srgbClr val="202020"/>
                          </a:solidFill>
                          <a:latin typeface="Lato"/>
                          <a:ea typeface="Lato"/>
                          <a:cs typeface="Lato"/>
                        </a:rPr>
                        <a:t>-655.6</a:t>
                      </a:r>
                    </a:p>
                  </a:txBody>
                  <a:tcPr anchor="ctr">
                    <a:solidFill>
                      <a:srgbClr val="FFFFFF"/>
                    </a:solidFill>
                  </a:tcPr>
                </a:tc>
                <a:tc>
                  <a:txBody>
                    <a:bodyPr/>
                    <a:lstStyle/>
                    <a:p>
                      <a:r>
                        <a:rPr sz="1350" b="0">
                          <a:solidFill>
                            <a:srgbClr val="202020"/>
                          </a:solidFill>
                          <a:latin typeface="Lato"/>
                          <a:ea typeface="Lato"/>
                          <a:cs typeface="Lato"/>
                        </a:rPr>
                        <a:t>Existing</a:t>
                      </a:r>
                    </a:p>
                  </a:txBody>
                  <a:tcPr anchor="ctr">
                    <a:solidFill>
                      <a:srgbClr val="FFFFFF"/>
                    </a:solidFill>
                  </a:tcPr>
                </a:tc>
                <a:extLst>
                  <a:ext uri="{0D108BD9-81ED-4DB2-BD59-A6C34878D82A}">
                    <a16:rowId xmlns:a16="http://schemas.microsoft.com/office/drawing/2014/main" val="10004"/>
                  </a:ext>
                </a:extLst>
              </a:tr>
              <a:tr h="624417">
                <a:tc>
                  <a:txBody>
                    <a:bodyPr/>
                    <a:lstStyle/>
                    <a:p>
                      <a:r>
                        <a:rPr sz="1350" b="1">
                          <a:solidFill>
                            <a:srgbClr val="0B2475"/>
                          </a:solidFill>
                          <a:latin typeface="Lato"/>
                          <a:ea typeface="Lato"/>
                          <a:cs typeface="Lato"/>
                        </a:rPr>
                        <a:t>Captured volume -10%</a:t>
                      </a:r>
                    </a:p>
                  </a:txBody>
                  <a:tcPr anchor="ctr">
                    <a:solidFill>
                      <a:srgbClr val="FFFFFF"/>
                    </a:solidFill>
                  </a:tcPr>
                </a:tc>
                <a:tc>
                  <a:txBody>
                    <a:bodyPr/>
                    <a:lstStyle/>
                    <a:p>
                      <a:r>
                        <a:rPr sz="1350" b="0">
                          <a:solidFill>
                            <a:srgbClr val="202020"/>
                          </a:solidFill>
                          <a:latin typeface="Lato"/>
                          <a:ea typeface="Lato"/>
                          <a:cs typeface="Lato"/>
                        </a:rPr>
                        <a:t>+24.2</a:t>
                      </a:r>
                    </a:p>
                  </a:txBody>
                  <a:tcPr anchor="ctr">
                    <a:solidFill>
                      <a:srgbClr val="FFFFFF"/>
                    </a:solidFill>
                  </a:tcPr>
                </a:tc>
                <a:tc>
                  <a:txBody>
                    <a:bodyPr/>
                    <a:lstStyle/>
                    <a:p>
                      <a:r>
                        <a:rPr sz="1350" b="0">
                          <a:solidFill>
                            <a:srgbClr val="202020"/>
                          </a:solidFill>
                          <a:latin typeface="Lato"/>
                          <a:ea typeface="Lato"/>
                          <a:cs typeface="Lato"/>
                        </a:rPr>
                        <a:t>-258.1</a:t>
                      </a:r>
                    </a:p>
                  </a:txBody>
                  <a:tcPr anchor="ctr">
                    <a:solidFill>
                      <a:srgbClr val="FFFFFF"/>
                    </a:solidFill>
                  </a:tcPr>
                </a:tc>
                <a:tc>
                  <a:txBody>
                    <a:bodyPr/>
                    <a:lstStyle/>
                    <a:p>
                      <a:r>
                        <a:rPr sz="1350" b="0">
                          <a:solidFill>
                            <a:srgbClr val="202020"/>
                          </a:solidFill>
                          <a:latin typeface="Lato"/>
                          <a:ea typeface="Lato"/>
                          <a:cs typeface="Lato"/>
                        </a:rPr>
                        <a:t>Improve access / dispatch</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0" name="Review interpretation">
            <a:extLst>
              <a:ext uri="{FF2B5EF4-FFF2-40B4-BE49-F238E27FC236}">
                <a16:creationId xmlns:a16="http://schemas.microsoft.com/office/drawing/2014/main" id="{E7064438-ACE1-4E5C-B2C8-29AA9586F97D}"/>
              </a:ext>
            </a:extLst>
          </p:cNvPr>
          <p:cNvSpPr>
            <a:spLocks noGrp="1"/>
          </p:cNvSpPr>
          <p:nvPr/>
        </p:nvSpPr>
        <p:spPr>
          <a:xfrm>
            <a:off x="457200" y="5613400"/>
            <a:ext cx="10648950" cy="609600"/>
          </a:xfrm>
          <a:prstGeom prst="rect">
            <a:avLst/>
          </a:prstGeom>
          <a:noFill/>
          <a:ln w="0">
            <a:noFill/>
          </a:ln>
        </p:spPr>
        <p:txBody>
          <a:bodyPr>
            <a:noAutofit/>
          </a:bodyPr>
          <a:lstStyle/>
          <a:p>
            <a:pPr>
              <a:buNone/>
              <a:defRPr sz="1125">
                <a:solidFill>
                  <a:srgbClr val="202020"/>
                </a:solidFill>
                <a:latin typeface="Lato"/>
                <a:ea typeface="Lato"/>
                <a:cs typeface="Lato"/>
              </a:defRPr>
            </a:pPr>
            <a:r>
              <a:rPr sz="1125">
                <a:solidFill>
                  <a:srgbClr val="202020"/>
                </a:solidFill>
                <a:latin typeface="Lato"/>
                <a:ea typeface="Lato"/>
                <a:cs typeface="Lato"/>
              </a:rPr>
              <a:t>The lower working-capacity estimate increases assumed incremental rental in the model. The tank option still loses under the tested downside cases. Validate rental inclusions, customer volumes and project costs.</a:t>
            </a:r>
          </a:p>
        </p:txBody>
      </p:sp>
      <p:graphicFrame>
        <p:nvGraphicFramePr>
          <p:cNvPr id="5043"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27841100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442C-A53C-4A32-9E55-10EBFA84A8EC}"/>
              </a:ext>
            </a:extLst>
          </p:cNvPr>
          <p:cNvSpPr>
            <a:spLocks noGrp="1"/>
          </p:cNvSpPr>
          <p:nvPr>
            <p:ph type="title"/>
          </p:nvPr>
        </p:nvSpPr>
        <p:spPr/>
        <p:txBody>
          <a:bodyPr>
            <a:normAutofit/>
          </a:bodyPr>
          <a:lstStyle/>
          <a:p>
            <a:r>
              <a:rPr sz="2300">
                <a:solidFill>
                  <a:schemeClr val="dk1"/>
                </a:solidFill>
                <a:latin typeface="Lato"/>
                <a:ea typeface="Lato"/>
                <a:cs typeface="Lato"/>
              </a:rPr>
              <a:t>Estimated working tankage supports a handling sensitivity of 3.50 and 2.98bn litres at two turns</a:t>
            </a:r>
          </a:p>
        </p:txBody>
      </p:sp>
      <p:sp>
        <p:nvSpPr>
          <p:cNvPr id="3" name="Slide Number Placeholder">
            <a:extLst>
              <a:ext uri="{FF2B5EF4-FFF2-40B4-BE49-F238E27FC236}">
                <a16:creationId xmlns:a16="http://schemas.microsoft.com/office/drawing/2014/main" id="{E5B510A9-64F3-4C35-B195-FBC1E6C4F61F}"/>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sz="1100"/>
              <a:t>44</a:t>
            </a:r>
          </a:p>
        </p:txBody>
      </p:sp>
      <p:sp>
        <p:nvSpPr>
          <p:cNvPr id="8" name="Unified source footer">
            <a:extLst>
              <a:ext uri="{FF2B5EF4-FFF2-40B4-BE49-F238E27FC236}">
                <a16:creationId xmlns:a16="http://schemas.microsoft.com/office/drawing/2014/main" id="{A0C587D7-8D9F-42CD-BD70-40B4CA2240AF}"/>
              </a:ext>
            </a:extLst>
          </p:cNvPr>
          <p:cNvSpPr>
            <a:spLocks noGrp="1"/>
          </p:cNvSpPr>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buNone/>
              <a:defRPr sz="750" b="0">
                <a:solidFill>
                  <a:srgbClr val="000000"/>
                </a:solidFill>
                <a:latin typeface="Lato"/>
                <a:ea typeface="Lato"/>
                <a:cs typeface="Lato"/>
              </a:defRPr>
            </a:pPr>
            <a:r>
              <a:rPr sz="750"/>
              <a:t>Registered terminal_site_assumptions.csv. Capture cases hold base turns at two/month; the investment illustration separately tests 1.25 / 1.50 turns with the same Lesedi starting working capacity. Product allocation, access, peaks and downtime require validation.</a:t>
            </a:r>
          </a:p>
        </p:txBody>
      </p:sp>
      <p:sp>
        <p:nvSpPr>
          <p:cNvPr id="48" name="Strictly Confidential footer">
            <a:extLst>
              <a:ext uri="{FF2B5EF4-FFF2-40B4-BE49-F238E27FC236}">
                <a16:creationId xmlns:a16="http://schemas.microsoft.com/office/drawing/2014/main" id="{54B9CA1A-9CC3-4DE3-A1E3-9B61B6D4ED3E}"/>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60" name="Table 59"/>
          <p:cNvGraphicFramePr/>
          <p:nvPr/>
        </p:nvGraphicFramePr>
        <p:xfrm>
          <a:off x="457200" y="1657350"/>
          <a:ext cx="10652760" cy="3048000"/>
        </p:xfrm>
        <a:graphic>
          <a:graphicData uri="http://schemas.openxmlformats.org/drawingml/2006/table">
            <a:tbl>
              <a:tblPr/>
              <a:tblGrid>
                <a:gridCol w="15875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159000">
                  <a:extLst>
                    <a:ext uri="{9D8B030D-6E8A-4147-A177-3AD203B41FA5}">
                      <a16:colId xmlns:a16="http://schemas.microsoft.com/office/drawing/2014/main" val="20002"/>
                    </a:ext>
                  </a:extLst>
                </a:gridCol>
                <a:gridCol w="2159000">
                  <a:extLst>
                    <a:ext uri="{9D8B030D-6E8A-4147-A177-3AD203B41FA5}">
                      <a16:colId xmlns:a16="http://schemas.microsoft.com/office/drawing/2014/main" val="20003"/>
                    </a:ext>
                  </a:extLst>
                </a:gridCol>
                <a:gridCol w="2336800">
                  <a:extLst>
                    <a:ext uri="{9D8B030D-6E8A-4147-A177-3AD203B41FA5}">
                      <a16:colId xmlns:a16="http://schemas.microsoft.com/office/drawing/2014/main" val="20004"/>
                    </a:ext>
                  </a:extLst>
                </a:gridCol>
              </a:tblGrid>
              <a:tr h="1016000">
                <a:tc>
                  <a:txBody>
                    <a:bodyPr/>
                    <a:lstStyle/>
                    <a:p>
                      <a:r>
                        <a:rPr sz="1275" b="1">
                          <a:solidFill>
                            <a:srgbClr val="0B2475"/>
                          </a:solidFill>
                          <a:latin typeface="Lato"/>
                          <a:ea typeface="Lato"/>
                          <a:cs typeface="Lato"/>
                        </a:rPr>
                        <a:t>Site</a:t>
                      </a:r>
                    </a:p>
                  </a:txBody>
                  <a:tcPr anchor="ctr">
                    <a:solidFill>
                      <a:srgbClr val="F5F5F5"/>
                    </a:solidFill>
                  </a:tcPr>
                </a:tc>
                <a:tc>
                  <a:txBody>
                    <a:bodyPr/>
                    <a:lstStyle/>
                    <a:p>
                      <a:r>
                        <a:rPr sz="1275" b="1">
                          <a:solidFill>
                            <a:srgbClr val="202020"/>
                          </a:solidFill>
                          <a:latin typeface="Lato"/>
                          <a:ea typeface="Lato"/>
                          <a:cs typeface="Lato"/>
                        </a:rPr>
                        <a:t>Working estimate</a:t>
                      </a:r>
                    </a:p>
                  </a:txBody>
                  <a:tcPr anchor="ctr">
                    <a:solidFill>
                      <a:srgbClr val="F5F5F5"/>
                    </a:solidFill>
                  </a:tcPr>
                </a:tc>
                <a:tc>
                  <a:txBody>
                    <a:bodyPr/>
                    <a:lstStyle/>
                    <a:p>
                      <a:r>
                        <a:rPr sz="1275" b="1">
                          <a:solidFill>
                            <a:srgbClr val="202020"/>
                          </a:solidFill>
                          <a:latin typeface="Lato"/>
                          <a:ea typeface="Lato"/>
                          <a:cs typeface="Lato"/>
                        </a:rPr>
                        <a:t>Low turns</a:t>
                      </a:r>
                    </a:p>
                  </a:txBody>
                  <a:tcPr anchor="ctr">
                    <a:solidFill>
                      <a:srgbClr val="F5F5F5"/>
                    </a:solidFill>
                  </a:tcPr>
                </a:tc>
                <a:tc>
                  <a:txBody>
                    <a:bodyPr/>
                    <a:lstStyle/>
                    <a:p>
                      <a:r>
                        <a:rPr sz="1275" b="1">
                          <a:solidFill>
                            <a:srgbClr val="202020"/>
                          </a:solidFill>
                          <a:latin typeface="Lato"/>
                          <a:ea typeface="Lato"/>
                          <a:cs typeface="Lato"/>
                        </a:rPr>
                        <a:t>Base turns</a:t>
                      </a:r>
                    </a:p>
                  </a:txBody>
                  <a:tcPr anchor="ctr">
                    <a:solidFill>
                      <a:srgbClr val="F5F5F5"/>
                    </a:solidFill>
                  </a:tcPr>
                </a:tc>
                <a:tc>
                  <a:txBody>
                    <a:bodyPr/>
                    <a:lstStyle/>
                    <a:p>
                      <a:r>
                        <a:rPr sz="1275" b="1">
                          <a:solidFill>
                            <a:srgbClr val="202020"/>
                          </a:solidFill>
                          <a:latin typeface="Lato"/>
                          <a:ea typeface="Lato"/>
                          <a:cs typeface="Lato"/>
                        </a:rPr>
                        <a:t>High turns</a:t>
                      </a:r>
                    </a:p>
                  </a:txBody>
                  <a:tcPr anchor="ctr">
                    <a:solidFill>
                      <a:srgbClr val="F5F5F5"/>
                    </a:solidFill>
                  </a:tcPr>
                </a:tc>
                <a:extLst>
                  <a:ext uri="{0D108BD9-81ED-4DB2-BD59-A6C34878D82A}">
                    <a16:rowId xmlns:a16="http://schemas.microsoft.com/office/drawing/2014/main" val="10000"/>
                  </a:ext>
                </a:extLst>
              </a:tr>
              <a:tr h="1016000">
                <a:tc>
                  <a:txBody>
                    <a:bodyPr/>
                    <a:lstStyle/>
                    <a:p>
                      <a:r>
                        <a:rPr sz="1350" b="1">
                          <a:solidFill>
                            <a:srgbClr val="0B2475"/>
                          </a:solidFill>
                          <a:latin typeface="Lato"/>
                          <a:ea typeface="Lato"/>
                          <a:cs typeface="Lato"/>
                        </a:rPr>
                        <a:t>Durban</a:t>
                      </a:r>
                    </a:p>
                  </a:txBody>
                  <a:tcPr anchor="ctr">
                    <a:solidFill>
                      <a:srgbClr val="FFFFFF"/>
                    </a:solidFill>
                  </a:tcPr>
                </a:tc>
                <a:tc>
                  <a:txBody>
                    <a:bodyPr/>
                    <a:lstStyle/>
                    <a:p>
                      <a:r>
                        <a:rPr sz="1350" b="0">
                          <a:solidFill>
                            <a:srgbClr val="202020"/>
                          </a:solidFill>
                          <a:latin typeface="Lato"/>
                          <a:ea typeface="Lato"/>
                          <a:cs typeface="Lato"/>
                        </a:rPr>
                        <a:t>146,000 m³</a:t>
                      </a:r>
                    </a:p>
                  </a:txBody>
                  <a:tcPr anchor="ctr">
                    <a:solidFill>
                      <a:srgbClr val="FFFFFF"/>
                    </a:solidFill>
                  </a:tcPr>
                </a:tc>
                <a:tc>
                  <a:txBody>
                    <a:bodyPr/>
                    <a:lstStyle/>
                    <a:p>
                      <a:r>
                        <a:rPr sz="1350" b="0">
                          <a:solidFill>
                            <a:srgbClr val="202020"/>
                          </a:solidFill>
                          <a:latin typeface="Lato"/>
                          <a:ea typeface="Lato"/>
                          <a:cs typeface="Lato"/>
                        </a:rPr>
                        <a:t>1.75bn L</a:t>
                      </a:r>
                    </a:p>
                    <a:p>
                      <a:r>
                        <a:rPr sz="1350" b="0">
                          <a:solidFill>
                            <a:srgbClr val="202020"/>
                          </a:solidFill>
                          <a:latin typeface="Lato"/>
                          <a:ea typeface="Lato"/>
                          <a:cs typeface="Lato"/>
                        </a:rPr>
                        <a:t>1 turns/month</a:t>
                      </a:r>
                    </a:p>
                  </a:txBody>
                  <a:tcPr anchor="ctr">
                    <a:solidFill>
                      <a:srgbClr val="FFFFFF"/>
                    </a:solidFill>
                  </a:tcPr>
                </a:tc>
                <a:tc>
                  <a:txBody>
                    <a:bodyPr/>
                    <a:lstStyle/>
                    <a:p>
                      <a:r>
                        <a:rPr sz="1350" b="0">
                          <a:solidFill>
                            <a:srgbClr val="202020"/>
                          </a:solidFill>
                          <a:latin typeface="Lato"/>
                          <a:ea typeface="Lato"/>
                          <a:cs typeface="Lato"/>
                        </a:rPr>
                        <a:t>3.50bn L</a:t>
                      </a:r>
                    </a:p>
                    <a:p>
                      <a:r>
                        <a:rPr sz="1350" b="0">
                          <a:solidFill>
                            <a:srgbClr val="202020"/>
                          </a:solidFill>
                          <a:latin typeface="Lato"/>
                          <a:ea typeface="Lato"/>
                          <a:cs typeface="Lato"/>
                        </a:rPr>
                        <a:t>2 turns/month</a:t>
                      </a:r>
                    </a:p>
                  </a:txBody>
                  <a:tcPr anchor="ctr">
                    <a:solidFill>
                      <a:srgbClr val="FFFFFF"/>
                    </a:solidFill>
                  </a:tcPr>
                </a:tc>
                <a:tc>
                  <a:txBody>
                    <a:bodyPr/>
                    <a:lstStyle/>
                    <a:p>
                      <a:r>
                        <a:rPr sz="1350" b="0">
                          <a:solidFill>
                            <a:srgbClr val="202020"/>
                          </a:solidFill>
                          <a:latin typeface="Lato"/>
                          <a:ea typeface="Lato"/>
                          <a:cs typeface="Lato"/>
                        </a:rPr>
                        <a:t>5.26bn L</a:t>
                      </a:r>
                    </a:p>
                    <a:p>
                      <a:r>
                        <a:rPr sz="1350" b="0">
                          <a:solidFill>
                            <a:srgbClr val="202020"/>
                          </a:solidFill>
                          <a:latin typeface="Lato"/>
                          <a:ea typeface="Lato"/>
                          <a:cs typeface="Lato"/>
                        </a:rPr>
                        <a:t>3 turns/month</a:t>
                      </a:r>
                    </a:p>
                  </a:txBody>
                  <a:tcPr anchor="ctr">
                    <a:solidFill>
                      <a:srgbClr val="FFFFFF"/>
                    </a:solidFill>
                  </a:tcPr>
                </a:tc>
                <a:extLst>
                  <a:ext uri="{0D108BD9-81ED-4DB2-BD59-A6C34878D82A}">
                    <a16:rowId xmlns:a16="http://schemas.microsoft.com/office/drawing/2014/main" val="10001"/>
                  </a:ext>
                </a:extLst>
              </a:tr>
              <a:tr h="1016000">
                <a:tc>
                  <a:txBody>
                    <a:bodyPr/>
                    <a:lstStyle/>
                    <a:p>
                      <a:r>
                        <a:rPr sz="1350" b="1">
                          <a:solidFill>
                            <a:srgbClr val="0B2475"/>
                          </a:solidFill>
                          <a:latin typeface="Lato"/>
                          <a:ea typeface="Lato"/>
                          <a:cs typeface="Lato"/>
                        </a:rPr>
                        <a:t>Lesedi</a:t>
                      </a:r>
                    </a:p>
                  </a:txBody>
                  <a:tcPr anchor="ctr">
                    <a:solidFill>
                      <a:srgbClr val="FFFFFF"/>
                    </a:solidFill>
                  </a:tcPr>
                </a:tc>
                <a:tc>
                  <a:txBody>
                    <a:bodyPr/>
                    <a:lstStyle/>
                    <a:p>
                      <a:r>
                        <a:rPr sz="1350" b="0">
                          <a:solidFill>
                            <a:srgbClr val="202020"/>
                          </a:solidFill>
                          <a:latin typeface="Lato"/>
                          <a:ea typeface="Lato"/>
                          <a:cs typeface="Lato"/>
                        </a:rPr>
                        <a:t>124,000 m³</a:t>
                      </a:r>
                    </a:p>
                  </a:txBody>
                  <a:tcPr anchor="ctr">
                    <a:solidFill>
                      <a:srgbClr val="FFFFFF"/>
                    </a:solidFill>
                  </a:tcPr>
                </a:tc>
                <a:tc>
                  <a:txBody>
                    <a:bodyPr/>
                    <a:lstStyle/>
                    <a:p>
                      <a:r>
                        <a:rPr sz="1350" b="0">
                          <a:solidFill>
                            <a:srgbClr val="202020"/>
                          </a:solidFill>
                          <a:latin typeface="Lato"/>
                          <a:ea typeface="Lato"/>
                          <a:cs typeface="Lato"/>
                        </a:rPr>
                        <a:t>1.49bn L</a:t>
                      </a:r>
                    </a:p>
                    <a:p>
                      <a:r>
                        <a:rPr sz="1350" b="0">
                          <a:solidFill>
                            <a:srgbClr val="202020"/>
                          </a:solidFill>
                          <a:latin typeface="Lato"/>
                          <a:ea typeface="Lato"/>
                          <a:cs typeface="Lato"/>
                        </a:rPr>
                        <a:t>1 turns/month</a:t>
                      </a:r>
                    </a:p>
                  </a:txBody>
                  <a:tcPr anchor="ctr">
                    <a:solidFill>
                      <a:srgbClr val="FFFFFF"/>
                    </a:solidFill>
                  </a:tcPr>
                </a:tc>
                <a:tc>
                  <a:txBody>
                    <a:bodyPr/>
                    <a:lstStyle/>
                    <a:p>
                      <a:r>
                        <a:rPr sz="1350" b="0">
                          <a:solidFill>
                            <a:srgbClr val="202020"/>
                          </a:solidFill>
                          <a:latin typeface="Lato"/>
                          <a:ea typeface="Lato"/>
                          <a:cs typeface="Lato"/>
                        </a:rPr>
                        <a:t>2.98bn L</a:t>
                      </a:r>
                    </a:p>
                    <a:p>
                      <a:r>
                        <a:rPr sz="1350" b="0">
                          <a:solidFill>
                            <a:srgbClr val="202020"/>
                          </a:solidFill>
                          <a:latin typeface="Lato"/>
                          <a:ea typeface="Lato"/>
                          <a:cs typeface="Lato"/>
                        </a:rPr>
                        <a:t>2 turns/month</a:t>
                      </a:r>
                    </a:p>
                  </a:txBody>
                  <a:tcPr anchor="ctr">
                    <a:solidFill>
                      <a:srgbClr val="FFFFFF"/>
                    </a:solidFill>
                  </a:tcPr>
                </a:tc>
                <a:tc>
                  <a:txBody>
                    <a:bodyPr/>
                    <a:lstStyle/>
                    <a:p>
                      <a:r>
                        <a:rPr sz="1350" b="0">
                          <a:solidFill>
                            <a:srgbClr val="202020"/>
                          </a:solidFill>
                          <a:latin typeface="Lato"/>
                          <a:ea typeface="Lato"/>
                          <a:cs typeface="Lato"/>
                        </a:rPr>
                        <a:t>3.57bn L</a:t>
                      </a:r>
                    </a:p>
                    <a:p>
                      <a:r>
                        <a:rPr sz="1350" b="0">
                          <a:solidFill>
                            <a:srgbClr val="202020"/>
                          </a:solidFill>
                          <a:latin typeface="Lato"/>
                          <a:ea typeface="Lato"/>
                          <a:cs typeface="Lato"/>
                        </a:rPr>
                        <a:t>2.4 turns/month</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50" name="Review interpretation">
            <a:extLst>
              <a:ext uri="{FF2B5EF4-FFF2-40B4-BE49-F238E27FC236}">
                <a16:creationId xmlns:a16="http://schemas.microsoft.com/office/drawing/2014/main" id="{F9C06B21-56AB-4138-8BA0-D5AE9599C7C8}"/>
              </a:ext>
            </a:extLst>
          </p:cNvPr>
          <p:cNvSpPr>
            <a:spLocks noGrp="1"/>
          </p:cNvSpPr>
          <p:nvPr/>
        </p:nvSpPr>
        <p:spPr>
          <a:xfrm>
            <a:off x="457200" y="4914900"/>
            <a:ext cx="10648950" cy="609600"/>
          </a:xfrm>
          <a:prstGeom prst="rect">
            <a:avLst/>
          </a:prstGeom>
          <a:noFill/>
          <a:ln w="0">
            <a:noFill/>
          </a:ln>
        </p:spPr>
        <p:txBody>
          <a:bodyPr>
            <a:noAutofit/>
          </a:bodyPr>
          <a:lstStyle/>
          <a:p>
            <a:pPr>
              <a:buNone/>
              <a:defRPr sz="1125">
                <a:solidFill>
                  <a:srgbClr val="202020"/>
                </a:solidFill>
                <a:latin typeface="Lato"/>
                <a:ea typeface="Lato"/>
                <a:cs typeface="Lato"/>
              </a:defRPr>
            </a:pPr>
            <a:r>
              <a:rPr sz="1125">
                <a:solidFill>
                  <a:srgbClr val="202020"/>
                </a:solidFill>
                <a:latin typeface="Lato"/>
                <a:ea typeface="Lato"/>
                <a:cs typeface="Lato"/>
              </a:rPr>
              <a:t>Durban: estimated petrol/diesel subset, not all gross tankage. Lesedi: 88,000 m³ documented plus 36,000 estimated. Handling sensitivities are not measured throughput or guaranteed operating limits.</a:t>
            </a:r>
          </a:p>
        </p:txBody>
      </p:sp>
      <p:graphicFrame>
        <p:nvGraphicFramePr>
          <p:cNvPr id="5044"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r:dm="rIdSmartArt3" r:lo="rIdSmartArt4" r:qs="rIdSmartArt5" r:cs="rIdSmartArt6"/>
          </a:graphicData>
        </a:graphic>
      </p:graphicFrame>
    </p:spTree>
    <p:extLst>
      <p:ext uri="{BB962C8B-B14F-4D97-AF65-F5344CB8AC3E}">
        <p14:creationId xmlns:p14="http://schemas.microsoft.com/office/powerpoint/2010/main" val="74646006"/>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16895</Words>
  <Application>Microsoft Office PowerPoint</Application>
  <DocSecurity>0</DocSecurity>
  <PresentationFormat>Custom</PresentationFormat>
  <Paragraphs>1142</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Lato</vt:lpstr>
      <vt:lpstr>Arial</vt:lpstr>
      <vt:lpstr>Vopak Theme</vt:lpstr>
      <vt:lpstr>PowerPoint Presentation</vt:lpstr>
      <vt:lpstr>HG’s South Africa storyline</vt:lpstr>
      <vt:lpstr>South Africa’s fuel outlook and Vopak’s investment case</vt:lpstr>
      <vt:lpstr>Import dependence supports the terminal opportunity, while customer access determines Vopak capture</vt:lpstr>
      <vt:lpstr>Existing assets provide the starting point for capturing demand and testing expansion</vt:lpstr>
      <vt:lpstr>The revised working-capacity assumption changes the illustrated expansion value</vt:lpstr>
      <vt:lpstr>Only one illustrative world favours tanks; six favour existing assets and two favour improvement</vt:lpstr>
      <vt:lpstr>Petrol demand declined while diesel grew slowly over 2013–2023</vt:lpstr>
      <vt:lpstr>Power recovery reduces diesel support while freight and sector activity remain important</vt:lpstr>
      <vt:lpstr>Mining, manufacturing and agriculture link diesel demand to sector activity</vt:lpstr>
      <vt:lpstr>Refinery shutdowns have increased reliance on imported petrol and diesel</vt:lpstr>
      <vt:lpstr>Emerging Maputo and Walvis Bay routes must be tested alongside Durban and domestic supply</vt:lpstr>
      <vt:lpstr>Durban and Lesedi connect coastal supply to Gauteng; operating data must establish room for growth</vt:lpstr>
      <vt:lpstr>Rail recovery, EV adoption and combustion-vehicle efficiency could reduce transport fuel demand</vt:lpstr>
      <vt:lpstr>Power generation recovery could lower diesel use further, while outages and replacement delays could sustain domestic demand</vt:lpstr>
      <vt:lpstr>SAPREF could expand the supply footprint, while Natref unavailability would reduce it</vt:lpstr>
      <vt:lpstr>Emerging gateways could redirect inland growth; delivered cost and reliable access determine capture</vt:lpstr>
      <vt:lpstr>Choose the investment that removes the proven constraint—and earns a return</vt:lpstr>
      <vt:lpstr>Resolve customer volume, working capacity and project economics first to determine the investment</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Vehicle stock and sales expose fuel-demand calibration gaps</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The diesel fleet and replacement timing define the power-demand cases</vt:lpstr>
      <vt:lpstr>SAPREF and Natref define capacity sensitivities; plant output must complete the supply paths</vt:lpstr>
      <vt:lpstr>A conditional Durban import-capture screen gives a 2.63bn litre base case</vt:lpstr>
      <vt:lpstr>A matched demand snapshot is available, but the domestic supply balance still needs reconciliation</vt:lpstr>
      <vt:lpstr>The six-step bridge is implemented for screening; calibration now depends on the requested inputs</vt:lpstr>
      <vt:lpstr>Demand, supply and corridor access translate into captured throughput and required tank turns</vt:lpstr>
      <vt:lpstr>The revised illustration gives extra tanks R58m more NPV than improvement alone</vt:lpstr>
      <vt:lpstr>Vopak reports anchor capacity and the revenue model; they do not disclose Lesedi project economics</vt:lpstr>
      <vt:lpstr>The investment result rests on explicit assumptions that must be replaced or agreed</vt:lpstr>
      <vt:lpstr>Capture and commercial assumptions can reverse the illustrated expansion choice</vt:lpstr>
      <vt:lpstr>Estimated working tankage supports a handling sensitivity of 3.50 and 2.98bn litres at two turns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Nigel Zhuwaki</cp:lastModifiedBy>
  <cp:revision>1</cp:revision>
  <dcterms:created xsi:type="dcterms:W3CDTF">2026-10-10T11:59:21Z</dcterms:created>
  <dcterms:modified xsi:type="dcterms:W3CDTF">2026-10-10T13:46:32Z</dcterms:modified>
</cp:coreProperties>
</file>