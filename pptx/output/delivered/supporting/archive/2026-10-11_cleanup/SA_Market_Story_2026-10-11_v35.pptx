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charts/chart1.xml" ContentType="application/vnd.openxmlformats-officedocument.drawingml.chart+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charts/chart2.xml" ContentType="application/vnd.openxmlformats-officedocument.drawingml.chart+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charts/chart3.xml" ContentType="application/vnd.openxmlformats-officedocument.drawingml.chart+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charts/chart4.xml" ContentType="application/vnd.openxmlformats-officedocument.drawingml.chart+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charts/chart5.xml" ContentType="application/vnd.openxmlformats-officedocument.drawingml.chart+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charts/chart6.xml" ContentType="application/vnd.openxmlformats-officedocument.drawingml.chart+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7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1588750" cy="6858000"/>
  <p:notesSz cx="6858000" cy="9144000"/>
  <p:embeddedFontLst>
    <p:embeddedFont>
      <p:font typeface="Lato" panose="020F0502020204030203"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lineChart>
        <c:grouping val="standard"/>
        <c:varyColors val="1"/>
        <c:ser>
          <c:idx val="0"/>
          <c:order val="0"/>
          <c:tx>
            <c:v>Petrol</c:v>
          </c:tx>
          <c:spPr>
            <a:ln w="23813">
              <a:solidFill>
                <a:srgbClr val="0A2373"/>
              </a:solidFill>
            </a:ln>
          </c:spPr>
          <c:marker>
            <c:symbol val="none"/>
          </c:marker>
          <c:cat>
            <c:numRef>
              <c:f>'Chart Data'!$A$2:$A$14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'Chart Data'!$B$2:$B$14</c:f>
              <c:numCache>
                <c:formatCode>0.00</c:formatCode>
                <c:ptCount val="13"/>
                <c:pt idx="0">
                  <c:v>11.439925235</c:v>
                </c:pt>
                <c:pt idx="1">
                  <c:v>10.890207679</c:v>
                </c:pt>
                <c:pt idx="2">
                  <c:v>11.475709420318</c:v>
                </c:pt>
                <c:pt idx="3">
                  <c:v>11.462252466686</c:v>
                </c:pt>
                <c:pt idx="4">
                  <c:v>11.17408298037</c:v>
                </c:pt>
                <c:pt idx="5">
                  <c:v>11.141630546702</c:v>
                </c:pt>
                <c:pt idx="6">
                  <c:v>10.773208065062</c:v>
                </c:pt>
                <c:pt idx="7">
                  <c:v>8.761470961496</c:v>
                </c:pt>
                <c:pt idx="8">
                  <c:v>9.301584227683</c:v>
                </c:pt>
                <c:pt idx="9">
                  <c:v>9.184869915573</c:v>
                </c:pt>
                <c:pt idx="10">
                  <c:v>9.036950113492</c:v>
                </c:pt>
                <c:pt idx="11">
                  <c:v>8.94590284109857</c:v>
                </c:pt>
                <c:pt idx="12">
                  <c:v>8.8557728699745</c:v>
                </c:pt>
              </c:numCache>
            </c:numRef>
          </c:val>
          <c:smooth val="1"/>
          <c:extLst>
            <c:ext xmlns:c16="http://schemas.microsoft.com/office/drawing/2014/chart" uri="{C3380CC4-5D6E-409C-BE32-E72D297353CC}">
              <c16:uniqueId val="{00000000-63ED-435C-9FF1-86B702E5FA45}"/>
            </c:ext>
          </c:extLst>
        </c:ser>
        <c:ser>
          <c:idx val="1"/>
          <c:order val="1"/>
          <c:tx>
            <c:v>Diesel</c:v>
          </c:tx>
          <c:spPr>
            <a:ln w="23813">
              <a:solidFill>
                <a:srgbClr val="6782B4"/>
              </a:solidFill>
            </a:ln>
          </c:spPr>
          <c:marker>
            <c:symbol val="none"/>
          </c:marker>
          <c:cat>
            <c:numRef>
              <c:f>'Chart Data'!$C$2:$C$14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'Chart Data'!$D$2:$D$14</c:f>
              <c:numCache>
                <c:formatCode>0.00</c:formatCode>
                <c:ptCount val="13"/>
                <c:pt idx="0">
                  <c:v>12.141281548</c:v>
                </c:pt>
                <c:pt idx="1">
                  <c:v>12.615023359</c:v>
                </c:pt>
                <c:pt idx="2">
                  <c:v>13.52013925195</c:v>
                </c:pt>
                <c:pt idx="3">
                  <c:v>12.082374038422</c:v>
                </c:pt>
                <c:pt idx="4">
                  <c:v>12.147245167189</c:v>
                </c:pt>
                <c:pt idx="5">
                  <c:v>12.538744325998</c:v>
                </c:pt>
                <c:pt idx="6">
                  <c:v>12.908631232217</c:v>
                </c:pt>
                <c:pt idx="7">
                  <c:v>11.689957759296</c:v>
                </c:pt>
                <c:pt idx="8">
                  <c:v>12.945782750435</c:v>
                </c:pt>
                <c:pt idx="9">
                  <c:v>12.717326319019</c:v>
                </c:pt>
                <c:pt idx="10">
                  <c:v>12.907499965808</c:v>
                </c:pt>
                <c:pt idx="11">
                  <c:v>13.1352061654661</c:v>
                </c:pt>
                <c:pt idx="12">
                  <c:v>12.1316153271207</c:v>
                </c:pt>
              </c:numCache>
            </c:numRef>
          </c:val>
          <c:smooth val="1"/>
          <c:extLst>
            <c:ext xmlns:c16="http://schemas.microsoft.com/office/drawing/2014/chart" uri="{C3380CC4-5D6E-409C-BE32-E72D297353CC}">
              <c16:uniqueId val="{00000001-63ED-435C-9FF1-86B702E5FA45}"/>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2025 estimated bn litres</c:v>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Data'!$A$2:$A$10</c:f>
              <c:strCache>
                <c:ptCount val="9"/>
                <c:pt idx="0">
                  <c:v>Petrol road</c:v>
                </c:pt>
                <c:pt idx="1">
                  <c:v>Freight diesel</c:v>
                </c:pt>
                <c:pt idx="2">
                  <c:v>Other road diesel</c:v>
                </c:pt>
                <c:pt idx="3">
                  <c:v>Mining</c:v>
                </c:pt>
                <c:pt idx="4">
                  <c:v>Agriculture</c:v>
                </c:pt>
                <c:pt idx="5">
                  <c:v>Power</c:v>
                </c:pt>
                <c:pt idx="6">
                  <c:v>Manufacturing</c:v>
                </c:pt>
                <c:pt idx="7">
                  <c:v>Other petrol</c:v>
                </c:pt>
                <c:pt idx="8">
                  <c:v>Other diesel</c:v>
                </c:pt>
              </c:strCache>
            </c:strRef>
          </c:cat>
          <c:val>
            <c:numRef>
              <c:f>'Chart Data'!$B$2:$B$10</c:f>
              <c:numCache>
                <c:formatCode>0.00</c:formatCode>
                <c:ptCount val="9"/>
                <c:pt idx="0">
                  <c:v>8.59009968387527</c:v>
                </c:pt>
                <c:pt idx="1">
                  <c:v>4.82454711238794</c:v>
                </c:pt>
                <c:pt idx="2">
                  <c:v>1.60818237079598</c:v>
                </c:pt>
                <c:pt idx="3">
                  <c:v>1.40634678462176</c:v>
                </c:pt>
                <c:pt idx="4">
                  <c:v>1.13122469823652</c:v>
                </c:pt>
                <c:pt idx="5">
                  <c:v>1.08432</c:v>
                </c:pt>
                <c:pt idx="6">
                  <c:v>0.165076180001731</c:v>
                </c:pt>
                <c:pt idx="7">
                  <c:v>0.265673186099235</c:v>
                </c:pt>
                <c:pt idx="8">
                  <c:v>1.91191818107682</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F4F5-4ACF-BF83-3F93AE407DA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b"/>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lineChart>
        <c:grouping val="standard"/>
        <c:varyColors val="1"/>
        <c:ser>
          <c:idx val="0"/>
          <c:order val="0"/>
          <c:tx>
            <c:v>Mining</c:v>
          </c:tx>
          <c:spPr>
            <a:ln w="23813">
              <a:solidFill>
                <a:srgbClr val="0A2373"/>
              </a:solidFill>
            </a:ln>
          </c:spPr>
          <c:marker>
            <c:symbol val="none"/>
          </c:marker>
          <c:cat>
            <c:numRef>
              <c:f>'Chart Data'!$A$2:$A$4</c:f>
              <c:numCache>
                <c:formatCode>General</c:formatCode>
                <c:ptCount val="3"/>
                <c:pt idx="0">
                  <c:v>2023</c:v>
                </c:pt>
                <c:pt idx="1">
                  <c:v>2024</c:v>
                </c:pt>
                <c:pt idx="2">
                  <c:v>2025</c:v>
                </c:pt>
              </c:numCache>
            </c:numRef>
          </c:cat>
          <c:val>
            <c:numRef>
              <c:f>'Chart Data'!$B$2:$B$4</c:f>
              <c:numCache>
                <c:formatCode>0.00</c:formatCode>
                <c:ptCount val="3"/>
                <c:pt idx="0">
                  <c:v>1.39596645708743</c:v>
                </c:pt>
                <c:pt idx="1">
                  <c:v>1.40372043669139</c:v>
                </c:pt>
                <c:pt idx="2">
                  <c:v>1.40634678462176</c:v>
                </c:pt>
              </c:numCache>
            </c:numRef>
          </c:val>
          <c:smooth val="1"/>
          <c:extLst>
            <c:ext xmlns:c16="http://schemas.microsoft.com/office/drawing/2014/chart" uri="{C3380CC4-5D6E-409C-BE32-E72D297353CC}">
              <c16:uniqueId val="{00000000-9F9D-40A7-B5C0-2355777AD7A5}"/>
            </c:ext>
          </c:extLst>
        </c:ser>
        <c:ser>
          <c:idx val="1"/>
          <c:order val="1"/>
          <c:tx>
            <c:v>Agriculture</c:v>
          </c:tx>
          <c:spPr>
            <a:ln w="23813">
              <a:solidFill>
                <a:srgbClr val="6782B4"/>
              </a:solidFill>
            </a:ln>
          </c:spPr>
          <c:marker>
            <c:symbol val="none"/>
          </c:marker>
          <c:cat>
            <c:numRef>
              <c:f>'Chart Data'!$C$2:$C$4</c:f>
              <c:numCache>
                <c:formatCode>General</c:formatCode>
                <c:ptCount val="3"/>
                <c:pt idx="0">
                  <c:v>2023</c:v>
                </c:pt>
                <c:pt idx="1">
                  <c:v>2024</c:v>
                </c:pt>
                <c:pt idx="2">
                  <c:v>2025</c:v>
                </c:pt>
              </c:numCache>
            </c:numRef>
          </c:cat>
          <c:val>
            <c:numRef>
              <c:f>'Chart Data'!$D$2:$D$4</c:f>
              <c:numCache>
                <c:formatCode>0.00</c:formatCode>
                <c:ptCount val="3"/>
                <c:pt idx="0">
                  <c:v>1.05527552036594</c:v>
                </c:pt>
                <c:pt idx="1">
                  <c:v>0.963340315350475</c:v>
                </c:pt>
                <c:pt idx="2">
                  <c:v>1.13122469823652</c:v>
                </c:pt>
              </c:numCache>
            </c:numRef>
          </c:val>
          <c:smooth val="1"/>
          <c:extLst>
            <c:ext xmlns:c16="http://schemas.microsoft.com/office/drawing/2014/chart" uri="{C3380CC4-5D6E-409C-BE32-E72D297353CC}">
              <c16:uniqueId val="{00000001-9F9D-40A7-B5C0-2355777AD7A5}"/>
            </c:ext>
          </c:extLst>
        </c:ser>
        <c:ser>
          <c:idx val="2"/>
          <c:order val="2"/>
          <c:tx>
            <c:v>Manufacturing</c:v>
          </c:tx>
          <c:spPr>
            <a:ln w="23813">
              <a:solidFill>
                <a:srgbClr val="868686"/>
              </a:solidFill>
            </a:ln>
          </c:spPr>
          <c:marker>
            <c:symbol val="none"/>
          </c:marker>
          <c:cat>
            <c:numRef>
              <c:f>'Chart Data'!$E$2:$E$4</c:f>
              <c:numCache>
                <c:formatCode>General</c:formatCode>
                <c:ptCount val="3"/>
                <c:pt idx="0">
                  <c:v>2023</c:v>
                </c:pt>
                <c:pt idx="1">
                  <c:v>2024</c:v>
                </c:pt>
                <c:pt idx="2">
                  <c:v>2025</c:v>
                </c:pt>
              </c:numCache>
            </c:numRef>
          </c:cat>
          <c:val>
            <c:numRef>
              <c:f>'Chart Data'!$F$2:$F$4</c:f>
              <c:numCache>
                <c:formatCode>0.00</c:formatCode>
                <c:ptCount val="3"/>
                <c:pt idx="0">
                  <c:v>0.167897867441392</c:v>
                </c:pt>
                <c:pt idx="1">
                  <c:v>0.167211107535443</c:v>
                </c:pt>
                <c:pt idx="2">
                  <c:v>0.165076180001731</c:v>
                </c:pt>
              </c:numCache>
            </c:numRef>
          </c:val>
          <c:smooth val="1"/>
          <c:extLst>
            <c:ext xmlns:c16="http://schemas.microsoft.com/office/drawing/2014/chart" uri="{C3380CC4-5D6E-409C-BE32-E72D297353CC}">
              <c16:uniqueId val="{00000002-9F9D-40A7-B5C0-2355777AD7A5}"/>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Eskom diesel + kerosene, bn litres</c:v>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FY2023</c:v>
                </c:pt>
                <c:pt idx="1">
                  <c:v>FY2024</c:v>
                </c:pt>
                <c:pt idx="2">
                  <c:v>FY2025</c:v>
                </c:pt>
              </c:strCache>
            </c:strRef>
          </c:cat>
          <c:val>
            <c:numRef>
              <c:f>'Chart Data'!$B$2:$B$4</c:f>
              <c:numCache>
                <c:formatCode>0.00</c:formatCode>
                <c:ptCount val="3"/>
                <c:pt idx="0">
                  <c:v>0.9375</c:v>
                </c:pt>
                <c:pt idx="1">
                  <c:v>1.1295</c:v>
                </c:pt>
                <c:pt idx="2">
                  <c:v>0.6791</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B620-473B-B9A4-135DD82277F1}"/>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Road, million tonnes</c:v>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Data'!$A$2:$A$3</c:f>
              <c:numCache>
                <c:formatCode>General</c:formatCode>
                <c:ptCount val="2"/>
                <c:pt idx="0">
                  <c:v>2024</c:v>
                </c:pt>
                <c:pt idx="1">
                  <c:v>2025</c:v>
                </c:pt>
              </c:numCache>
            </c:numRef>
          </c:cat>
          <c:val>
            <c:numRef>
              <c:f>'Chart Data'!$B$2:$B$3</c:f>
              <c:numCache>
                <c:formatCode>0.00</c:formatCode>
                <c:ptCount val="2"/>
                <c:pt idx="0">
                  <c:v>979.798</c:v>
                </c:pt>
                <c:pt idx="1">
                  <c:v>976.468</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7670-4BCD-86FC-2CD176E26255}"/>
            </c:ext>
          </c:extLst>
        </c:ser>
        <c:ser>
          <c:idx val="1"/>
          <c:order val="1"/>
          <c:tx>
            <c:v>Rail, million tonnes</c:v>
          </c:tx>
          <c:spPr>
            <a:solidFill>
              <a:srgbClr val="6782B4"/>
            </a:solidFill>
            <a:ln w="23813">
              <a:solidFill>
                <a:srgbClr val="6782B4"/>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Data'!$C$2:$C$3</c:f>
              <c:numCache>
                <c:formatCode>General</c:formatCode>
                <c:ptCount val="2"/>
                <c:pt idx="0">
                  <c:v>2024</c:v>
                </c:pt>
                <c:pt idx="1">
                  <c:v>2025</c:v>
                </c:pt>
              </c:numCache>
            </c:numRef>
          </c:cat>
          <c:val>
            <c:numRef>
              <c:f>'Chart Data'!$D$2:$D$3</c:f>
              <c:numCache>
                <c:formatCode>0.00</c:formatCode>
                <c:ptCount val="2"/>
                <c:pt idx="0">
                  <c:v>160.745</c:v>
                </c:pt>
                <c:pt idx="1">
                  <c:v>168.263</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6782B4"/>
                    </a:solidFill>
                  </a:ln>
                </c14:spPr>
              </c14:invertSolidFillFmt>
            </c:ext>
            <c:ext xmlns:c16="http://schemas.microsoft.com/office/drawing/2014/chart" uri="{C3380CC4-5D6E-409C-BE32-E72D297353CC}">
              <c16:uniqueId val="{00000001-7670-4BCD-86FC-2CD176E2625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lineChart>
        <c:grouping val="standard"/>
        <c:varyColors val="1"/>
        <c:ser>
          <c:idx val="0"/>
          <c:order val="0"/>
          <c:tx>
            <c:v>Low imports</c:v>
          </c:tx>
          <c:spPr>
            <a:ln w="23813">
              <a:solidFill>
                <a:srgbClr val="0A2373"/>
              </a:solidFill>
            </a:ln>
          </c:spPr>
          <c:marker>
            <c:symbol val="none"/>
          </c:marker>
          <c:cat>
            <c:numRef>
              <c:f>'Chart Data'!$A$2:$A$7</c:f>
              <c:numCache>
                <c:formatCode>General</c:formatCode>
                <c:ptCount val="6"/>
                <c:pt idx="0">
                  <c:v>2025</c:v>
                </c:pt>
                <c:pt idx="1">
                  <c:v>2026</c:v>
                </c:pt>
                <c:pt idx="2">
                  <c:v>2027</c:v>
                </c:pt>
                <c:pt idx="3">
                  <c:v>2028</c:v>
                </c:pt>
                <c:pt idx="4">
                  <c:v>2029</c:v>
                </c:pt>
                <c:pt idx="5">
                  <c:v>2030</c:v>
                </c:pt>
              </c:numCache>
            </c:numRef>
          </c:cat>
          <c:val>
            <c:numRef>
              <c:f>'Chart Data'!$B$2:$B$7</c:f>
              <c:numCache>
                <c:formatCode>0.00</c:formatCode>
                <c:ptCount val="6"/>
                <c:pt idx="0">
                  <c:v>16.7358508731652</c:v>
                </c:pt>
                <c:pt idx="1">
                  <c:v>16.1649850898511</c:v>
                </c:pt>
                <c:pt idx="2">
                  <c:v>15.5983645642248</c:v>
                </c:pt>
                <c:pt idx="3">
                  <c:v>15.0359352753671</c:v>
                </c:pt>
                <c:pt idx="4">
                  <c:v>11.644311431365</c:v>
                </c:pt>
                <c:pt idx="5">
                  <c:v>8.25677283009669</c:v>
                </c:pt>
              </c:numCache>
            </c:numRef>
          </c:val>
          <c:smooth val="1"/>
          <c:extLst>
            <c:ext xmlns:c16="http://schemas.microsoft.com/office/drawing/2014/chart" uri="{C3380CC4-5D6E-409C-BE32-E72D297353CC}">
              <c16:uniqueId val="{00000000-FB69-43B6-8298-EF775967A97C}"/>
            </c:ext>
          </c:extLst>
        </c:ser>
        <c:ser>
          <c:idx val="1"/>
          <c:order val="1"/>
          <c:tx>
            <c:v>Base</c:v>
          </c:tx>
          <c:spPr>
            <a:ln w="23813">
              <a:solidFill>
                <a:srgbClr val="6782B4"/>
              </a:solidFill>
            </a:ln>
          </c:spPr>
          <c:marker>
            <c:symbol val="none"/>
          </c:marker>
          <c:cat>
            <c:numRef>
              <c:f>'Chart Data'!$C$2:$C$7</c:f>
              <c:numCache>
                <c:formatCode>General</c:formatCode>
                <c:ptCount val="6"/>
                <c:pt idx="0">
                  <c:v>2025</c:v>
                </c:pt>
                <c:pt idx="1">
                  <c:v>2026</c:v>
                </c:pt>
                <c:pt idx="2">
                  <c:v>2027</c:v>
                </c:pt>
                <c:pt idx="3">
                  <c:v>2028</c:v>
                </c:pt>
                <c:pt idx="4">
                  <c:v>2029</c:v>
                </c:pt>
                <c:pt idx="5">
                  <c:v>2030</c:v>
                </c:pt>
              </c:numCache>
            </c:numRef>
          </c:cat>
          <c:val>
            <c:numRef>
              <c:f>'Chart Data'!$D$2:$D$7</c:f>
              <c:numCache>
                <c:formatCode>0.00</c:formatCode>
                <c:ptCount val="6"/>
                <c:pt idx="0">
                  <c:v>16.7358508731652</c:v>
                </c:pt>
                <c:pt idx="1">
                  <c:v>16.7080359068366</c:v>
                </c:pt>
                <c:pt idx="2">
                  <c:v>16.6810375302384</c:v>
                </c:pt>
                <c:pt idx="3">
                  <c:v>16.6548693095932</c:v>
                </c:pt>
                <c:pt idx="4">
                  <c:v>16.6295450366319</c:v>
                </c:pt>
                <c:pt idx="5">
                  <c:v>16.6050787321592</c:v>
                </c:pt>
              </c:numCache>
            </c:numRef>
          </c:val>
          <c:smooth val="1"/>
          <c:extLst>
            <c:ext xmlns:c16="http://schemas.microsoft.com/office/drawing/2014/chart" uri="{C3380CC4-5D6E-409C-BE32-E72D297353CC}">
              <c16:uniqueId val="{00000001-FB69-43B6-8298-EF775967A97C}"/>
            </c:ext>
          </c:extLst>
        </c:ser>
        <c:ser>
          <c:idx val="2"/>
          <c:order val="2"/>
          <c:tx>
            <c:v>High imports</c:v>
          </c:tx>
          <c:spPr>
            <a:ln w="23813">
              <a:solidFill>
                <a:srgbClr val="868686"/>
              </a:solidFill>
            </a:ln>
          </c:spPr>
          <c:marker>
            <c:symbol val="none"/>
          </c:marker>
          <c:cat>
            <c:numRef>
              <c:f>'Chart Data'!$E$2:$E$7</c:f>
              <c:numCache>
                <c:formatCode>General</c:formatCode>
                <c:ptCount val="6"/>
                <c:pt idx="0">
                  <c:v>2025</c:v>
                </c:pt>
                <c:pt idx="1">
                  <c:v>2026</c:v>
                </c:pt>
                <c:pt idx="2">
                  <c:v>2027</c:v>
                </c:pt>
                <c:pt idx="3">
                  <c:v>2028</c:v>
                </c:pt>
                <c:pt idx="4">
                  <c:v>2029</c:v>
                </c:pt>
                <c:pt idx="5">
                  <c:v>2030</c:v>
                </c:pt>
              </c:numCache>
            </c:numRef>
          </c:cat>
          <c:val>
            <c:numRef>
              <c:f>'Chart Data'!$F$2:$F$7</c:f>
              <c:numCache>
                <c:formatCode>0.00</c:formatCode>
                <c:ptCount val="6"/>
                <c:pt idx="0">
                  <c:v>16.7358508731652</c:v>
                </c:pt>
                <c:pt idx="1">
                  <c:v>17.3082936211733</c:v>
                </c:pt>
                <c:pt idx="2">
                  <c:v>17.8888406280197</c:v>
                </c:pt>
                <c:pt idx="3">
                  <c:v>18.4776598514453</c:v>
                </c:pt>
                <c:pt idx="4">
                  <c:v>19.0749228043164</c:v>
                </c:pt>
                <c:pt idx="5">
                  <c:v>19.6808046315979</c:v>
                </c:pt>
              </c:numCache>
            </c:numRef>
          </c:val>
          <c:smooth val="1"/>
          <c:extLst>
            <c:ext xmlns:c16="http://schemas.microsoft.com/office/drawing/2014/chart" uri="{C3380CC4-5D6E-409C-BE32-E72D297353CC}">
              <c16:uniqueId val="{00000002-FB69-43B6-8298-EF775967A97C}"/>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11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111"/>
    <dgm:cxn modelId="{00E6AD35-B2A0-4BFA-BBB4-D15C1E4078ED}" type="presOf" srcId="{06DE8A2B-A371-4AB7-90B4-4467EB5CFE26}" destId="{55AC4808-C1FA-4E58-9765-99C16695002F}" srcOrd="0" destOrd="0" presId="urn:microsoft.com/office/officeart/2005/8/layout/chevron1#111"/>
    <dgm:cxn modelId="{17A0EF5A-F035-4D33-B383-48556F2DFE6A}" type="presOf" srcId="{4B1EC208-E3C2-4554-87E4-D91132AA684B}" destId="{CCF220CD-041D-463A-ABAB-54867BF84649}" srcOrd="0" destOrd="0" presId="urn:microsoft.com/office/officeart/2005/8/layout/chevron1#11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11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111"/>
    <dgm:cxn modelId="{1352ACE6-F49F-4003-922A-070147C012B1}" type="presParOf" srcId="{55AC4808-C1FA-4E58-9765-99C16695002F}" destId="{FB490D9F-D232-444B-84A9-1F90A326E3CC}" srcOrd="0" destOrd="0" presId="urn:microsoft.com/office/officeart/2005/8/layout/chevron1#111"/>
    <dgm:cxn modelId="{1C17A09A-57EE-4548-AF39-6351DC4DE2E3}" type="presParOf" srcId="{55AC4808-C1FA-4E58-9765-99C16695002F}" destId="{A7401B36-21FD-452B-859D-C13C1D2F3CC6}" srcOrd="1" destOrd="0" presId="urn:microsoft.com/office/officeart/2005/8/layout/chevron1#111"/>
    <dgm:cxn modelId="{6D962CA6-E16D-4EE3-A73B-D49D25AC0D65}" type="presParOf" srcId="{55AC4808-C1FA-4E58-9765-99C16695002F}" destId="{CCF220CD-041D-463A-ABAB-54867BF84649}" srcOrd="2" destOrd="0" presId="urn:microsoft.com/office/officeart/2005/8/layout/chevron1#111"/>
    <dgm:cxn modelId="{16A48331-6BB0-4703-B8B8-AE2CEFBB4284}" type="presParOf" srcId="{55AC4808-C1FA-4E58-9765-99C16695002F}" destId="{1A8D38A3-70C1-474B-A8AC-0FE84517A371}" srcOrd="3" destOrd="0" presId="urn:microsoft.com/office/officeart/2005/8/layout/chevron1#111"/>
    <dgm:cxn modelId="{83FFF6B7-4710-4E2F-96C1-49BBDE8AC84F}" type="presParOf" srcId="{55AC4808-C1FA-4E58-9765-99C16695002F}" destId="{F19C7174-B035-4453-8EBC-1B4075AE4C8D}" srcOrd="4" destOrd="0" presId="urn:microsoft.com/office/officeart/2005/8/layout/chevron1#111"/>
    <dgm:cxn modelId="{530C610A-012C-4B43-859F-0A60A5DC1A2B}" type="presParOf" srcId="{55AC4808-C1FA-4E58-9765-99C16695002F}" destId="{ABF607AF-ABAC-4D0F-A475-E7EBA406A6AF}" srcOrd="5" destOrd="0" presId="urn:microsoft.com/office/officeart/2005/8/layout/chevron1#111"/>
    <dgm:cxn modelId="{40DBA209-52FC-4C84-91AB-58F88472ED68}" type="presParOf" srcId="{55AC4808-C1FA-4E58-9765-99C16695002F}" destId="{4226169C-8DDB-42F5-831F-1C867C2D6E72}" srcOrd="6" destOrd="0" presId="urn:microsoft.com/office/officeart/2005/8/layout/chevron1#1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11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111"/>
    <dgm:cxn modelId="{00E6AD35-B2A0-4BFA-BBB4-D15C1E4078ED}" type="presOf" srcId="{06DE8A2B-A371-4AB7-90B4-4467EB5CFE26}" destId="{55AC4808-C1FA-4E58-9765-99C16695002F}" srcOrd="0" destOrd="0" presId="urn:microsoft.com/office/officeart/2005/8/layout/chevron1#111"/>
    <dgm:cxn modelId="{17A0EF5A-F035-4D33-B383-48556F2DFE6A}" type="presOf" srcId="{4B1EC208-E3C2-4554-87E4-D91132AA684B}" destId="{CCF220CD-041D-463A-ABAB-54867BF84649}" srcOrd="0" destOrd="0" presId="urn:microsoft.com/office/officeart/2005/8/layout/chevron1#11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11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111"/>
    <dgm:cxn modelId="{1352ACE6-F49F-4003-922A-070147C012B1}" type="presParOf" srcId="{55AC4808-C1FA-4E58-9765-99C16695002F}" destId="{FB490D9F-D232-444B-84A9-1F90A326E3CC}" srcOrd="0" destOrd="0" presId="urn:microsoft.com/office/officeart/2005/8/layout/chevron1#111"/>
    <dgm:cxn modelId="{1C17A09A-57EE-4548-AF39-6351DC4DE2E3}" type="presParOf" srcId="{55AC4808-C1FA-4E58-9765-99C16695002F}" destId="{A7401B36-21FD-452B-859D-C13C1D2F3CC6}" srcOrd="1" destOrd="0" presId="urn:microsoft.com/office/officeart/2005/8/layout/chevron1#111"/>
    <dgm:cxn modelId="{6D962CA6-E16D-4EE3-A73B-D49D25AC0D65}" type="presParOf" srcId="{55AC4808-C1FA-4E58-9765-99C16695002F}" destId="{CCF220CD-041D-463A-ABAB-54867BF84649}" srcOrd="2" destOrd="0" presId="urn:microsoft.com/office/officeart/2005/8/layout/chevron1#111"/>
    <dgm:cxn modelId="{16A48331-6BB0-4703-B8B8-AE2CEFBB4284}" type="presParOf" srcId="{55AC4808-C1FA-4E58-9765-99C16695002F}" destId="{1A8D38A3-70C1-474B-A8AC-0FE84517A371}" srcOrd="3" destOrd="0" presId="urn:microsoft.com/office/officeart/2005/8/layout/chevron1#111"/>
    <dgm:cxn modelId="{83FFF6B7-4710-4E2F-96C1-49BBDE8AC84F}" type="presParOf" srcId="{55AC4808-C1FA-4E58-9765-99C16695002F}" destId="{F19C7174-B035-4453-8EBC-1B4075AE4C8D}" srcOrd="4" destOrd="0" presId="urn:microsoft.com/office/officeart/2005/8/layout/chevron1#111"/>
    <dgm:cxn modelId="{530C610A-012C-4B43-859F-0A60A5DC1A2B}" type="presParOf" srcId="{55AC4808-C1FA-4E58-9765-99C16695002F}" destId="{ABF607AF-ABAC-4D0F-A475-E7EBA406A6AF}" srcOrd="5" destOrd="0" presId="urn:microsoft.com/office/officeart/2005/8/layout/chevron1#111"/>
    <dgm:cxn modelId="{40DBA209-52FC-4C84-91AB-58F88472ED68}" type="presParOf" srcId="{55AC4808-C1FA-4E58-9765-99C16695002F}" destId="{4226169C-8DDB-42F5-831F-1C867C2D6E72}" srcOrd="6" destOrd="0" presId="urn:microsoft.com/office/officeart/2005/8/layout/chevron1#1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112"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112"/>
    <dgm:cxn modelId="{00E6AD35-B2A0-4BFA-BBB4-D15C1E4078ED}" type="presOf" srcId="{06DE8A2B-A371-4AB7-90B4-4467EB5CFE26}" destId="{55AC4808-C1FA-4E58-9765-99C16695002F}" srcOrd="0" destOrd="0" presId="urn:microsoft.com/office/officeart/2005/8/layout/chevron1#112"/>
    <dgm:cxn modelId="{17A0EF5A-F035-4D33-B383-48556F2DFE6A}" type="presOf" srcId="{4B1EC208-E3C2-4554-87E4-D91132AA684B}" destId="{CCF220CD-041D-463A-ABAB-54867BF84649}" srcOrd="0" destOrd="0" presId="urn:microsoft.com/office/officeart/2005/8/layout/chevron1#112"/>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112"/>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112"/>
    <dgm:cxn modelId="{1352ACE6-F49F-4003-922A-070147C012B1}" type="presParOf" srcId="{55AC4808-C1FA-4E58-9765-99C16695002F}" destId="{FB490D9F-D232-444B-84A9-1F90A326E3CC}" srcOrd="0" destOrd="0" presId="urn:microsoft.com/office/officeart/2005/8/layout/chevron1#112"/>
    <dgm:cxn modelId="{1C17A09A-57EE-4548-AF39-6351DC4DE2E3}" type="presParOf" srcId="{55AC4808-C1FA-4E58-9765-99C16695002F}" destId="{A7401B36-21FD-452B-859D-C13C1D2F3CC6}" srcOrd="1" destOrd="0" presId="urn:microsoft.com/office/officeart/2005/8/layout/chevron1#112"/>
    <dgm:cxn modelId="{6D962CA6-E16D-4EE3-A73B-D49D25AC0D65}" type="presParOf" srcId="{55AC4808-C1FA-4E58-9765-99C16695002F}" destId="{CCF220CD-041D-463A-ABAB-54867BF84649}" srcOrd="2" destOrd="0" presId="urn:microsoft.com/office/officeart/2005/8/layout/chevron1#112"/>
    <dgm:cxn modelId="{16A48331-6BB0-4703-B8B8-AE2CEFBB4284}" type="presParOf" srcId="{55AC4808-C1FA-4E58-9765-99C16695002F}" destId="{1A8D38A3-70C1-474B-A8AC-0FE84517A371}" srcOrd="3" destOrd="0" presId="urn:microsoft.com/office/officeart/2005/8/layout/chevron1#112"/>
    <dgm:cxn modelId="{83FFF6B7-4710-4E2F-96C1-49BBDE8AC84F}" type="presParOf" srcId="{55AC4808-C1FA-4E58-9765-99C16695002F}" destId="{F19C7174-B035-4453-8EBC-1B4075AE4C8D}" srcOrd="4" destOrd="0" presId="urn:microsoft.com/office/officeart/2005/8/layout/chevron1#112"/>
    <dgm:cxn modelId="{530C610A-012C-4B43-859F-0A60A5DC1A2B}" type="presParOf" srcId="{55AC4808-C1FA-4E58-9765-99C16695002F}" destId="{ABF607AF-ABAC-4D0F-A475-E7EBA406A6AF}" srcOrd="5" destOrd="0" presId="urn:microsoft.com/office/officeart/2005/8/layout/chevron1#112"/>
    <dgm:cxn modelId="{40DBA209-52FC-4C84-91AB-58F88472ED68}" type="presParOf" srcId="{55AC4808-C1FA-4E58-9765-99C16695002F}" destId="{4226169C-8DDB-42F5-831F-1C867C2D6E72}" srcOrd="6" destOrd="0" presId="urn:microsoft.com/office/officeart/2005/8/layout/chevron1#11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3"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3"/>
    <dgm:cxn modelId="{02074744-DBB7-4014-8363-60EC43DBA6CD}" type="presOf" srcId="{76DF3A45-5741-4BF8-90F1-4A7020D88F3E}" destId="{9F404DEC-4EC8-4518-BE85-93B7692E5638}" srcOrd="0" destOrd="0" presId="urn:microsoft.com/office/officeart/2005/8/layout/chevron1#113"/>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3"/>
    <dgm:cxn modelId="{C2106DF6-D6A2-49E4-BAFA-5D750DDEF7C3}" type="presOf" srcId="{EC8A132B-7A37-405A-AE61-D0A4AC9C84D4}" destId="{E56216AE-4B62-49BF-B577-95F970D228C9}" srcOrd="0" destOrd="0" presId="urn:microsoft.com/office/officeart/2005/8/layout/chevron1#113"/>
    <dgm:cxn modelId="{C8ED67F8-207C-47C2-85A0-36C82DA29F5A}" type="presOf" srcId="{87F06D40-41DD-4A2F-9F9C-1ED0B44BA962}" destId="{C17A1487-1862-4A32-B801-89B618873E04}" srcOrd="0" destOrd="0" presId="urn:microsoft.com/office/officeart/2005/8/layout/chevron1#113"/>
    <dgm:cxn modelId="{D0EFF3B6-E4F2-4B6D-A9D3-5680F8F7DDBC}" type="presParOf" srcId="{15F593F2-40E2-4653-8025-677035C3DC9D}" destId="{C4EF7803-CBF7-4F68-B5E2-A27214E782BF}" srcOrd="0" destOrd="0" presId="urn:microsoft.com/office/officeart/2005/8/layout/chevron1#113"/>
    <dgm:cxn modelId="{4DF86A96-FF9B-43FA-B523-DE662ABFEBFD}" type="presParOf" srcId="{15F593F2-40E2-4653-8025-677035C3DC9D}" destId="{7F42B213-6EC2-4A7A-98EE-FD00CE627AC2}" srcOrd="1" destOrd="0" presId="urn:microsoft.com/office/officeart/2005/8/layout/chevron1#113"/>
    <dgm:cxn modelId="{6ECCF7C3-0645-4626-A41E-BEE32AE1FD38}" type="presParOf" srcId="{15F593F2-40E2-4653-8025-677035C3DC9D}" destId="{C17A1487-1862-4A32-B801-89B618873E04}" srcOrd="2" destOrd="0" presId="urn:microsoft.com/office/officeart/2005/8/layout/chevron1#113"/>
    <dgm:cxn modelId="{E5B8DE1C-33F9-4E01-9629-46FA7E111D45}" type="presParOf" srcId="{15F593F2-40E2-4653-8025-677035C3DC9D}" destId="{4C1C00FF-9A18-4423-93D0-E6C21EE159AE}" srcOrd="3" destOrd="0" presId="urn:microsoft.com/office/officeart/2005/8/layout/chevron1#113"/>
    <dgm:cxn modelId="{51034CBE-7419-4500-8460-737D374B25E9}" type="presParOf" srcId="{15F593F2-40E2-4653-8025-677035C3DC9D}" destId="{9F404DEC-4EC8-4518-BE85-93B7692E5638}" srcOrd="4" destOrd="0" presId="urn:microsoft.com/office/officeart/2005/8/layout/chevron1#113"/>
    <dgm:cxn modelId="{5CF547D9-5245-4382-8157-6EC67EB041B9}" type="presParOf" srcId="{15F593F2-40E2-4653-8025-677035C3DC9D}" destId="{4B4707A9-14D8-4951-8914-17DD9D9F43B5}" srcOrd="5" destOrd="0" presId="urn:microsoft.com/office/officeart/2005/8/layout/chevron1#113"/>
    <dgm:cxn modelId="{C4DDF6FA-AEF9-483D-B368-FE146FCD804F}" type="presParOf" srcId="{15F593F2-40E2-4653-8025-677035C3DC9D}" destId="{E56216AE-4B62-49BF-B577-95F970D228C9}" srcOrd="6" destOrd="0" presId="urn:microsoft.com/office/officeart/2005/8/layout/chevron1#11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4"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4"/>
    <dgm:cxn modelId="{02074744-DBB7-4014-8363-60EC43DBA6CD}" type="presOf" srcId="{76DF3A45-5741-4BF8-90F1-4A7020D88F3E}" destId="{9F404DEC-4EC8-4518-BE85-93B7692E5638}" srcOrd="0" destOrd="0" presId="urn:microsoft.com/office/officeart/2005/8/layout/chevron1#114"/>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4"/>
    <dgm:cxn modelId="{C2106DF6-D6A2-49E4-BAFA-5D750DDEF7C3}" type="presOf" srcId="{EC8A132B-7A37-405A-AE61-D0A4AC9C84D4}" destId="{E56216AE-4B62-49BF-B577-95F970D228C9}" srcOrd="0" destOrd="0" presId="urn:microsoft.com/office/officeart/2005/8/layout/chevron1#114"/>
    <dgm:cxn modelId="{C8ED67F8-207C-47C2-85A0-36C82DA29F5A}" type="presOf" srcId="{87F06D40-41DD-4A2F-9F9C-1ED0B44BA962}" destId="{C17A1487-1862-4A32-B801-89B618873E04}" srcOrd="0" destOrd="0" presId="urn:microsoft.com/office/officeart/2005/8/layout/chevron1#114"/>
    <dgm:cxn modelId="{D0EFF3B6-E4F2-4B6D-A9D3-5680F8F7DDBC}" type="presParOf" srcId="{15F593F2-40E2-4653-8025-677035C3DC9D}" destId="{C4EF7803-CBF7-4F68-B5E2-A27214E782BF}" srcOrd="0" destOrd="0" presId="urn:microsoft.com/office/officeart/2005/8/layout/chevron1#114"/>
    <dgm:cxn modelId="{4DF86A96-FF9B-43FA-B523-DE662ABFEBFD}" type="presParOf" srcId="{15F593F2-40E2-4653-8025-677035C3DC9D}" destId="{7F42B213-6EC2-4A7A-98EE-FD00CE627AC2}" srcOrd="1" destOrd="0" presId="urn:microsoft.com/office/officeart/2005/8/layout/chevron1#114"/>
    <dgm:cxn modelId="{6ECCF7C3-0645-4626-A41E-BEE32AE1FD38}" type="presParOf" srcId="{15F593F2-40E2-4653-8025-677035C3DC9D}" destId="{C17A1487-1862-4A32-B801-89B618873E04}" srcOrd="2" destOrd="0" presId="urn:microsoft.com/office/officeart/2005/8/layout/chevron1#114"/>
    <dgm:cxn modelId="{E5B8DE1C-33F9-4E01-9629-46FA7E111D45}" type="presParOf" srcId="{15F593F2-40E2-4653-8025-677035C3DC9D}" destId="{4C1C00FF-9A18-4423-93D0-E6C21EE159AE}" srcOrd="3" destOrd="0" presId="urn:microsoft.com/office/officeart/2005/8/layout/chevron1#114"/>
    <dgm:cxn modelId="{51034CBE-7419-4500-8460-737D374B25E9}" type="presParOf" srcId="{15F593F2-40E2-4653-8025-677035C3DC9D}" destId="{9F404DEC-4EC8-4518-BE85-93B7692E5638}" srcOrd="4" destOrd="0" presId="urn:microsoft.com/office/officeart/2005/8/layout/chevron1#114"/>
    <dgm:cxn modelId="{5CF547D9-5245-4382-8157-6EC67EB041B9}" type="presParOf" srcId="{15F593F2-40E2-4653-8025-677035C3DC9D}" destId="{4B4707A9-14D8-4951-8914-17DD9D9F43B5}" srcOrd="5" destOrd="0" presId="urn:microsoft.com/office/officeart/2005/8/layout/chevron1#114"/>
    <dgm:cxn modelId="{C4DDF6FA-AEF9-483D-B368-FE146FCD804F}" type="presParOf" srcId="{15F593F2-40E2-4653-8025-677035C3DC9D}" destId="{E56216AE-4B62-49BF-B577-95F970D228C9}" srcOrd="6" destOrd="0" presId="urn:microsoft.com/office/officeart/2005/8/layout/chevron1#11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5"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5"/>
    <dgm:cxn modelId="{02074744-DBB7-4014-8363-60EC43DBA6CD}" type="presOf" srcId="{76DF3A45-5741-4BF8-90F1-4A7020D88F3E}" destId="{9F404DEC-4EC8-4518-BE85-93B7692E5638}" srcOrd="0" destOrd="0" presId="urn:microsoft.com/office/officeart/2005/8/layout/chevron1#115"/>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5"/>
    <dgm:cxn modelId="{C2106DF6-D6A2-49E4-BAFA-5D750DDEF7C3}" type="presOf" srcId="{EC8A132B-7A37-405A-AE61-D0A4AC9C84D4}" destId="{E56216AE-4B62-49BF-B577-95F970D228C9}" srcOrd="0" destOrd="0" presId="urn:microsoft.com/office/officeart/2005/8/layout/chevron1#115"/>
    <dgm:cxn modelId="{C8ED67F8-207C-47C2-85A0-36C82DA29F5A}" type="presOf" srcId="{87F06D40-41DD-4A2F-9F9C-1ED0B44BA962}" destId="{C17A1487-1862-4A32-B801-89B618873E04}" srcOrd="0" destOrd="0" presId="urn:microsoft.com/office/officeart/2005/8/layout/chevron1#115"/>
    <dgm:cxn modelId="{D0EFF3B6-E4F2-4B6D-A9D3-5680F8F7DDBC}" type="presParOf" srcId="{15F593F2-40E2-4653-8025-677035C3DC9D}" destId="{C4EF7803-CBF7-4F68-B5E2-A27214E782BF}" srcOrd="0" destOrd="0" presId="urn:microsoft.com/office/officeart/2005/8/layout/chevron1#115"/>
    <dgm:cxn modelId="{4DF86A96-FF9B-43FA-B523-DE662ABFEBFD}" type="presParOf" srcId="{15F593F2-40E2-4653-8025-677035C3DC9D}" destId="{7F42B213-6EC2-4A7A-98EE-FD00CE627AC2}" srcOrd="1" destOrd="0" presId="urn:microsoft.com/office/officeart/2005/8/layout/chevron1#115"/>
    <dgm:cxn modelId="{6ECCF7C3-0645-4626-A41E-BEE32AE1FD38}" type="presParOf" srcId="{15F593F2-40E2-4653-8025-677035C3DC9D}" destId="{C17A1487-1862-4A32-B801-89B618873E04}" srcOrd="2" destOrd="0" presId="urn:microsoft.com/office/officeart/2005/8/layout/chevron1#115"/>
    <dgm:cxn modelId="{E5B8DE1C-33F9-4E01-9629-46FA7E111D45}" type="presParOf" srcId="{15F593F2-40E2-4653-8025-677035C3DC9D}" destId="{4C1C00FF-9A18-4423-93D0-E6C21EE159AE}" srcOrd="3" destOrd="0" presId="urn:microsoft.com/office/officeart/2005/8/layout/chevron1#115"/>
    <dgm:cxn modelId="{51034CBE-7419-4500-8460-737D374B25E9}" type="presParOf" srcId="{15F593F2-40E2-4653-8025-677035C3DC9D}" destId="{9F404DEC-4EC8-4518-BE85-93B7692E5638}" srcOrd="4" destOrd="0" presId="urn:microsoft.com/office/officeart/2005/8/layout/chevron1#115"/>
    <dgm:cxn modelId="{5CF547D9-5245-4382-8157-6EC67EB041B9}" type="presParOf" srcId="{15F593F2-40E2-4653-8025-677035C3DC9D}" destId="{4B4707A9-14D8-4951-8914-17DD9D9F43B5}" srcOrd="5" destOrd="0" presId="urn:microsoft.com/office/officeart/2005/8/layout/chevron1#115"/>
    <dgm:cxn modelId="{C4DDF6FA-AEF9-483D-B368-FE146FCD804F}" type="presParOf" srcId="{15F593F2-40E2-4653-8025-677035C3DC9D}" destId="{E56216AE-4B62-49BF-B577-95F970D228C9}" srcOrd="6" destOrd="0" presId="urn:microsoft.com/office/officeart/2005/8/layout/chevron1#11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6"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6"/>
    <dgm:cxn modelId="{02074744-DBB7-4014-8363-60EC43DBA6CD}" type="presOf" srcId="{76DF3A45-5741-4BF8-90F1-4A7020D88F3E}" destId="{9F404DEC-4EC8-4518-BE85-93B7692E5638}" srcOrd="0" destOrd="0" presId="urn:microsoft.com/office/officeart/2005/8/layout/chevron1#116"/>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6"/>
    <dgm:cxn modelId="{C2106DF6-D6A2-49E4-BAFA-5D750DDEF7C3}" type="presOf" srcId="{EC8A132B-7A37-405A-AE61-D0A4AC9C84D4}" destId="{E56216AE-4B62-49BF-B577-95F970D228C9}" srcOrd="0" destOrd="0" presId="urn:microsoft.com/office/officeart/2005/8/layout/chevron1#116"/>
    <dgm:cxn modelId="{C8ED67F8-207C-47C2-85A0-36C82DA29F5A}" type="presOf" srcId="{87F06D40-41DD-4A2F-9F9C-1ED0B44BA962}" destId="{C17A1487-1862-4A32-B801-89B618873E04}" srcOrd="0" destOrd="0" presId="urn:microsoft.com/office/officeart/2005/8/layout/chevron1#116"/>
    <dgm:cxn modelId="{D0EFF3B6-E4F2-4B6D-A9D3-5680F8F7DDBC}" type="presParOf" srcId="{15F593F2-40E2-4653-8025-677035C3DC9D}" destId="{C4EF7803-CBF7-4F68-B5E2-A27214E782BF}" srcOrd="0" destOrd="0" presId="urn:microsoft.com/office/officeart/2005/8/layout/chevron1#116"/>
    <dgm:cxn modelId="{4DF86A96-FF9B-43FA-B523-DE662ABFEBFD}" type="presParOf" srcId="{15F593F2-40E2-4653-8025-677035C3DC9D}" destId="{7F42B213-6EC2-4A7A-98EE-FD00CE627AC2}" srcOrd="1" destOrd="0" presId="urn:microsoft.com/office/officeart/2005/8/layout/chevron1#116"/>
    <dgm:cxn modelId="{6ECCF7C3-0645-4626-A41E-BEE32AE1FD38}" type="presParOf" srcId="{15F593F2-40E2-4653-8025-677035C3DC9D}" destId="{C17A1487-1862-4A32-B801-89B618873E04}" srcOrd="2" destOrd="0" presId="urn:microsoft.com/office/officeart/2005/8/layout/chevron1#116"/>
    <dgm:cxn modelId="{E5B8DE1C-33F9-4E01-9629-46FA7E111D45}" type="presParOf" srcId="{15F593F2-40E2-4653-8025-677035C3DC9D}" destId="{4C1C00FF-9A18-4423-93D0-E6C21EE159AE}" srcOrd="3" destOrd="0" presId="urn:microsoft.com/office/officeart/2005/8/layout/chevron1#116"/>
    <dgm:cxn modelId="{51034CBE-7419-4500-8460-737D374B25E9}" type="presParOf" srcId="{15F593F2-40E2-4653-8025-677035C3DC9D}" destId="{9F404DEC-4EC8-4518-BE85-93B7692E5638}" srcOrd="4" destOrd="0" presId="urn:microsoft.com/office/officeart/2005/8/layout/chevron1#116"/>
    <dgm:cxn modelId="{5CF547D9-5245-4382-8157-6EC67EB041B9}" type="presParOf" srcId="{15F593F2-40E2-4653-8025-677035C3DC9D}" destId="{4B4707A9-14D8-4951-8914-17DD9D9F43B5}" srcOrd="5" destOrd="0" presId="urn:microsoft.com/office/officeart/2005/8/layout/chevron1#116"/>
    <dgm:cxn modelId="{C4DDF6FA-AEF9-483D-B368-FE146FCD804F}" type="presParOf" srcId="{15F593F2-40E2-4653-8025-677035C3DC9D}" destId="{E56216AE-4B62-49BF-B577-95F970D228C9}" srcOrd="6" destOrd="0" presId="urn:microsoft.com/office/officeart/2005/8/layout/chevron1#11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17"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17"/>
    <dgm:cxn modelId="{AC4F6029-1BF4-47CB-8BA5-680A584F2DDF}" type="presOf" srcId="{D5012695-E636-436E-8E3E-60550BC3080E}" destId="{54D1D34D-643C-499A-B330-F91526D1DBE8}" srcOrd="0" destOrd="0" presId="urn:microsoft.com/office/officeart/2005/8/layout/chevron1#117"/>
    <dgm:cxn modelId="{6B6CE272-F2F3-4936-B001-E499C3B681C4}" type="presOf" srcId="{8FC3E99C-7BCE-40A0-B316-2E0BBFF2573F}" destId="{EC812F4D-EF66-448A-B027-679DD9AEE63D}" srcOrd="0" destOrd="0" presId="urn:microsoft.com/office/officeart/2005/8/layout/chevron1#117"/>
    <dgm:cxn modelId="{33E33F55-80EC-484E-A613-EF53AA13C72A}" type="presOf" srcId="{66535F52-61D9-45C6-A6A4-51615B77690B}" destId="{6636E125-B383-4A9D-B027-3EFC54D58BB6}" srcOrd="0" destOrd="0" presId="urn:microsoft.com/office/officeart/2005/8/layout/chevron1#117"/>
    <dgm:cxn modelId="{5A1E9998-D021-48E7-9F22-4B7E9E7C1B1C}" type="presOf" srcId="{78F4C9A7-4E95-49A6-8310-38E561C483BA}" destId="{4BCE8E4B-4C6F-4AB8-BA87-94EBADC2C5D0}" srcOrd="0" destOrd="0" presId="urn:microsoft.com/office/officeart/2005/8/layout/chevron1#117"/>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17"/>
    <dgm:cxn modelId="{C8ED28C5-1DD9-4885-840B-086B2A7EB6BC}" type="presParOf" srcId="{19B0610F-282C-4322-866B-0055FAF46627}" destId="{4B66681B-9D4C-436C-87BB-82E64E68F6C8}" srcOrd="1" destOrd="0" presId="urn:microsoft.com/office/officeart/2005/8/layout/chevron1#117"/>
    <dgm:cxn modelId="{032CB6FE-5464-43D9-9665-77F40DBF7861}" type="presParOf" srcId="{19B0610F-282C-4322-866B-0055FAF46627}" destId="{6636E125-B383-4A9D-B027-3EFC54D58BB6}" srcOrd="2" destOrd="0" presId="urn:microsoft.com/office/officeart/2005/8/layout/chevron1#117"/>
    <dgm:cxn modelId="{79F4CB33-4866-48D9-9DC6-0390A47EA9E6}" type="presParOf" srcId="{19B0610F-282C-4322-866B-0055FAF46627}" destId="{B7D1B483-87CF-4091-8E45-AEF05E32D037}" srcOrd="3" destOrd="0" presId="urn:microsoft.com/office/officeart/2005/8/layout/chevron1#117"/>
    <dgm:cxn modelId="{AF7401B2-4231-4570-8711-83F5617B87E6}" type="presParOf" srcId="{19B0610F-282C-4322-866B-0055FAF46627}" destId="{EC812F4D-EF66-448A-B027-679DD9AEE63D}" srcOrd="4" destOrd="0" presId="urn:microsoft.com/office/officeart/2005/8/layout/chevron1#117"/>
    <dgm:cxn modelId="{DD643616-A114-43CF-8265-2475291604A2}" type="presParOf" srcId="{19B0610F-282C-4322-866B-0055FAF46627}" destId="{AA5BB0A8-BEB9-4A1C-ADF5-7F8122850824}" srcOrd="5" destOrd="0" presId="urn:microsoft.com/office/officeart/2005/8/layout/chevron1#117"/>
    <dgm:cxn modelId="{03454C2C-BB9D-46BA-B390-3C3B24C9F4BC}" type="presParOf" srcId="{19B0610F-282C-4322-866B-0055FAF46627}" destId="{4BCE8E4B-4C6F-4AB8-BA87-94EBADC2C5D0}" srcOrd="6" destOrd="0" presId="urn:microsoft.com/office/officeart/2005/8/layout/chevron1#11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18"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18"/>
    <dgm:cxn modelId="{AC4F6029-1BF4-47CB-8BA5-680A584F2DDF}" type="presOf" srcId="{D5012695-E636-436E-8E3E-60550BC3080E}" destId="{54D1D34D-643C-499A-B330-F91526D1DBE8}" srcOrd="0" destOrd="0" presId="urn:microsoft.com/office/officeart/2005/8/layout/chevron1#118"/>
    <dgm:cxn modelId="{6B6CE272-F2F3-4936-B001-E499C3B681C4}" type="presOf" srcId="{8FC3E99C-7BCE-40A0-B316-2E0BBFF2573F}" destId="{EC812F4D-EF66-448A-B027-679DD9AEE63D}" srcOrd="0" destOrd="0" presId="urn:microsoft.com/office/officeart/2005/8/layout/chevron1#118"/>
    <dgm:cxn modelId="{33E33F55-80EC-484E-A613-EF53AA13C72A}" type="presOf" srcId="{66535F52-61D9-45C6-A6A4-51615B77690B}" destId="{6636E125-B383-4A9D-B027-3EFC54D58BB6}" srcOrd="0" destOrd="0" presId="urn:microsoft.com/office/officeart/2005/8/layout/chevron1#118"/>
    <dgm:cxn modelId="{5A1E9998-D021-48E7-9F22-4B7E9E7C1B1C}" type="presOf" srcId="{78F4C9A7-4E95-49A6-8310-38E561C483BA}" destId="{4BCE8E4B-4C6F-4AB8-BA87-94EBADC2C5D0}" srcOrd="0" destOrd="0" presId="urn:microsoft.com/office/officeart/2005/8/layout/chevron1#118"/>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18"/>
    <dgm:cxn modelId="{C8ED28C5-1DD9-4885-840B-086B2A7EB6BC}" type="presParOf" srcId="{19B0610F-282C-4322-866B-0055FAF46627}" destId="{4B66681B-9D4C-436C-87BB-82E64E68F6C8}" srcOrd="1" destOrd="0" presId="urn:microsoft.com/office/officeart/2005/8/layout/chevron1#118"/>
    <dgm:cxn modelId="{032CB6FE-5464-43D9-9665-77F40DBF7861}" type="presParOf" srcId="{19B0610F-282C-4322-866B-0055FAF46627}" destId="{6636E125-B383-4A9D-B027-3EFC54D58BB6}" srcOrd="2" destOrd="0" presId="urn:microsoft.com/office/officeart/2005/8/layout/chevron1#118"/>
    <dgm:cxn modelId="{79F4CB33-4866-48D9-9DC6-0390A47EA9E6}" type="presParOf" srcId="{19B0610F-282C-4322-866B-0055FAF46627}" destId="{B7D1B483-87CF-4091-8E45-AEF05E32D037}" srcOrd="3" destOrd="0" presId="urn:microsoft.com/office/officeart/2005/8/layout/chevron1#118"/>
    <dgm:cxn modelId="{AF7401B2-4231-4570-8711-83F5617B87E6}" type="presParOf" srcId="{19B0610F-282C-4322-866B-0055FAF46627}" destId="{EC812F4D-EF66-448A-B027-679DD9AEE63D}" srcOrd="4" destOrd="0" presId="urn:microsoft.com/office/officeart/2005/8/layout/chevron1#118"/>
    <dgm:cxn modelId="{DD643616-A114-43CF-8265-2475291604A2}" type="presParOf" srcId="{19B0610F-282C-4322-866B-0055FAF46627}" destId="{AA5BB0A8-BEB9-4A1C-ADF5-7F8122850824}" srcOrd="5" destOrd="0" presId="urn:microsoft.com/office/officeart/2005/8/layout/chevron1#118"/>
    <dgm:cxn modelId="{03454C2C-BB9D-46BA-B390-3C3B24C9F4BC}" type="presParOf" srcId="{19B0610F-282C-4322-866B-0055FAF46627}" destId="{4BCE8E4B-4C6F-4AB8-BA87-94EBADC2C5D0}" srcOrd="6" destOrd="0" presId="urn:microsoft.com/office/officeart/2005/8/layout/chevron1#11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19"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19"/>
    <dgm:cxn modelId="{AC4F6029-1BF4-47CB-8BA5-680A584F2DDF}" type="presOf" srcId="{D5012695-E636-436E-8E3E-60550BC3080E}" destId="{54D1D34D-643C-499A-B330-F91526D1DBE8}" srcOrd="0" destOrd="0" presId="urn:microsoft.com/office/officeart/2005/8/layout/chevron1#119"/>
    <dgm:cxn modelId="{6B6CE272-F2F3-4936-B001-E499C3B681C4}" type="presOf" srcId="{8FC3E99C-7BCE-40A0-B316-2E0BBFF2573F}" destId="{EC812F4D-EF66-448A-B027-679DD9AEE63D}" srcOrd="0" destOrd="0" presId="urn:microsoft.com/office/officeart/2005/8/layout/chevron1#119"/>
    <dgm:cxn modelId="{33E33F55-80EC-484E-A613-EF53AA13C72A}" type="presOf" srcId="{66535F52-61D9-45C6-A6A4-51615B77690B}" destId="{6636E125-B383-4A9D-B027-3EFC54D58BB6}" srcOrd="0" destOrd="0" presId="urn:microsoft.com/office/officeart/2005/8/layout/chevron1#119"/>
    <dgm:cxn modelId="{5A1E9998-D021-48E7-9F22-4B7E9E7C1B1C}" type="presOf" srcId="{78F4C9A7-4E95-49A6-8310-38E561C483BA}" destId="{4BCE8E4B-4C6F-4AB8-BA87-94EBADC2C5D0}" srcOrd="0" destOrd="0" presId="urn:microsoft.com/office/officeart/2005/8/layout/chevron1#119"/>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19"/>
    <dgm:cxn modelId="{C8ED28C5-1DD9-4885-840B-086B2A7EB6BC}" type="presParOf" srcId="{19B0610F-282C-4322-866B-0055FAF46627}" destId="{4B66681B-9D4C-436C-87BB-82E64E68F6C8}" srcOrd="1" destOrd="0" presId="urn:microsoft.com/office/officeart/2005/8/layout/chevron1#119"/>
    <dgm:cxn modelId="{032CB6FE-5464-43D9-9665-77F40DBF7861}" type="presParOf" srcId="{19B0610F-282C-4322-866B-0055FAF46627}" destId="{6636E125-B383-4A9D-B027-3EFC54D58BB6}" srcOrd="2" destOrd="0" presId="urn:microsoft.com/office/officeart/2005/8/layout/chevron1#119"/>
    <dgm:cxn modelId="{79F4CB33-4866-48D9-9DC6-0390A47EA9E6}" type="presParOf" srcId="{19B0610F-282C-4322-866B-0055FAF46627}" destId="{B7D1B483-87CF-4091-8E45-AEF05E32D037}" srcOrd="3" destOrd="0" presId="urn:microsoft.com/office/officeart/2005/8/layout/chevron1#119"/>
    <dgm:cxn modelId="{AF7401B2-4231-4570-8711-83F5617B87E6}" type="presParOf" srcId="{19B0610F-282C-4322-866B-0055FAF46627}" destId="{EC812F4D-EF66-448A-B027-679DD9AEE63D}" srcOrd="4" destOrd="0" presId="urn:microsoft.com/office/officeart/2005/8/layout/chevron1#119"/>
    <dgm:cxn modelId="{DD643616-A114-43CF-8265-2475291604A2}" type="presParOf" srcId="{19B0610F-282C-4322-866B-0055FAF46627}" destId="{AA5BB0A8-BEB9-4A1C-ADF5-7F8122850824}" srcOrd="5" destOrd="0" presId="urn:microsoft.com/office/officeart/2005/8/layout/chevron1#119"/>
    <dgm:cxn modelId="{03454C2C-BB9D-46BA-B390-3C3B24C9F4BC}" type="presParOf" srcId="{19B0610F-282C-4322-866B-0055FAF46627}" destId="{4BCE8E4B-4C6F-4AB8-BA87-94EBADC2C5D0}" srcOrd="6" destOrd="0" presId="urn:microsoft.com/office/officeart/2005/8/layout/chevron1#11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0"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0"/>
    <dgm:cxn modelId="{AC4F6029-1BF4-47CB-8BA5-680A584F2DDF}" type="presOf" srcId="{D5012695-E636-436E-8E3E-60550BC3080E}" destId="{54D1D34D-643C-499A-B330-F91526D1DBE8}" srcOrd="0" destOrd="0" presId="urn:microsoft.com/office/officeart/2005/8/layout/chevron1#120"/>
    <dgm:cxn modelId="{6B6CE272-F2F3-4936-B001-E499C3B681C4}" type="presOf" srcId="{8FC3E99C-7BCE-40A0-B316-2E0BBFF2573F}" destId="{EC812F4D-EF66-448A-B027-679DD9AEE63D}" srcOrd="0" destOrd="0" presId="urn:microsoft.com/office/officeart/2005/8/layout/chevron1#120"/>
    <dgm:cxn modelId="{33E33F55-80EC-484E-A613-EF53AA13C72A}" type="presOf" srcId="{66535F52-61D9-45C6-A6A4-51615B77690B}" destId="{6636E125-B383-4A9D-B027-3EFC54D58BB6}" srcOrd="0" destOrd="0" presId="urn:microsoft.com/office/officeart/2005/8/layout/chevron1#120"/>
    <dgm:cxn modelId="{5A1E9998-D021-48E7-9F22-4B7E9E7C1B1C}" type="presOf" srcId="{78F4C9A7-4E95-49A6-8310-38E561C483BA}" destId="{4BCE8E4B-4C6F-4AB8-BA87-94EBADC2C5D0}" srcOrd="0" destOrd="0" presId="urn:microsoft.com/office/officeart/2005/8/layout/chevron1#120"/>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0"/>
    <dgm:cxn modelId="{C8ED28C5-1DD9-4885-840B-086B2A7EB6BC}" type="presParOf" srcId="{19B0610F-282C-4322-866B-0055FAF46627}" destId="{4B66681B-9D4C-436C-87BB-82E64E68F6C8}" srcOrd="1" destOrd="0" presId="urn:microsoft.com/office/officeart/2005/8/layout/chevron1#120"/>
    <dgm:cxn modelId="{032CB6FE-5464-43D9-9665-77F40DBF7861}" type="presParOf" srcId="{19B0610F-282C-4322-866B-0055FAF46627}" destId="{6636E125-B383-4A9D-B027-3EFC54D58BB6}" srcOrd="2" destOrd="0" presId="urn:microsoft.com/office/officeart/2005/8/layout/chevron1#120"/>
    <dgm:cxn modelId="{79F4CB33-4866-48D9-9DC6-0390A47EA9E6}" type="presParOf" srcId="{19B0610F-282C-4322-866B-0055FAF46627}" destId="{B7D1B483-87CF-4091-8E45-AEF05E32D037}" srcOrd="3" destOrd="0" presId="urn:microsoft.com/office/officeart/2005/8/layout/chevron1#120"/>
    <dgm:cxn modelId="{AF7401B2-4231-4570-8711-83F5617B87E6}" type="presParOf" srcId="{19B0610F-282C-4322-866B-0055FAF46627}" destId="{EC812F4D-EF66-448A-B027-679DD9AEE63D}" srcOrd="4" destOrd="0" presId="urn:microsoft.com/office/officeart/2005/8/layout/chevron1#120"/>
    <dgm:cxn modelId="{DD643616-A114-43CF-8265-2475291604A2}" type="presParOf" srcId="{19B0610F-282C-4322-866B-0055FAF46627}" destId="{AA5BB0A8-BEB9-4A1C-ADF5-7F8122850824}" srcOrd="5" destOrd="0" presId="urn:microsoft.com/office/officeart/2005/8/layout/chevron1#120"/>
    <dgm:cxn modelId="{03454C2C-BB9D-46BA-B390-3C3B24C9F4BC}" type="presParOf" srcId="{19B0610F-282C-4322-866B-0055FAF46627}" destId="{4BCE8E4B-4C6F-4AB8-BA87-94EBADC2C5D0}" srcOrd="6" destOrd="0" presId="urn:microsoft.com/office/officeart/2005/8/layout/chevron1#12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1"/>
    <dgm:cxn modelId="{AC4F6029-1BF4-47CB-8BA5-680A584F2DDF}" type="presOf" srcId="{D5012695-E636-436E-8E3E-60550BC3080E}" destId="{54D1D34D-643C-499A-B330-F91526D1DBE8}" srcOrd="0" destOrd="0" presId="urn:microsoft.com/office/officeart/2005/8/layout/chevron1#121"/>
    <dgm:cxn modelId="{6B6CE272-F2F3-4936-B001-E499C3B681C4}" type="presOf" srcId="{8FC3E99C-7BCE-40A0-B316-2E0BBFF2573F}" destId="{EC812F4D-EF66-448A-B027-679DD9AEE63D}" srcOrd="0" destOrd="0" presId="urn:microsoft.com/office/officeart/2005/8/layout/chevron1#121"/>
    <dgm:cxn modelId="{33E33F55-80EC-484E-A613-EF53AA13C72A}" type="presOf" srcId="{66535F52-61D9-45C6-A6A4-51615B77690B}" destId="{6636E125-B383-4A9D-B027-3EFC54D58BB6}" srcOrd="0" destOrd="0" presId="urn:microsoft.com/office/officeart/2005/8/layout/chevron1#121"/>
    <dgm:cxn modelId="{5A1E9998-D021-48E7-9F22-4B7E9E7C1B1C}" type="presOf" srcId="{78F4C9A7-4E95-49A6-8310-38E561C483BA}" destId="{4BCE8E4B-4C6F-4AB8-BA87-94EBADC2C5D0}" srcOrd="0" destOrd="0" presId="urn:microsoft.com/office/officeart/2005/8/layout/chevron1#12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1"/>
    <dgm:cxn modelId="{C8ED28C5-1DD9-4885-840B-086B2A7EB6BC}" type="presParOf" srcId="{19B0610F-282C-4322-866B-0055FAF46627}" destId="{4B66681B-9D4C-436C-87BB-82E64E68F6C8}" srcOrd="1" destOrd="0" presId="urn:microsoft.com/office/officeart/2005/8/layout/chevron1#121"/>
    <dgm:cxn modelId="{032CB6FE-5464-43D9-9665-77F40DBF7861}" type="presParOf" srcId="{19B0610F-282C-4322-866B-0055FAF46627}" destId="{6636E125-B383-4A9D-B027-3EFC54D58BB6}" srcOrd="2" destOrd="0" presId="urn:microsoft.com/office/officeart/2005/8/layout/chevron1#121"/>
    <dgm:cxn modelId="{79F4CB33-4866-48D9-9DC6-0390A47EA9E6}" type="presParOf" srcId="{19B0610F-282C-4322-866B-0055FAF46627}" destId="{B7D1B483-87CF-4091-8E45-AEF05E32D037}" srcOrd="3" destOrd="0" presId="urn:microsoft.com/office/officeart/2005/8/layout/chevron1#121"/>
    <dgm:cxn modelId="{AF7401B2-4231-4570-8711-83F5617B87E6}" type="presParOf" srcId="{19B0610F-282C-4322-866B-0055FAF46627}" destId="{EC812F4D-EF66-448A-B027-679DD9AEE63D}" srcOrd="4" destOrd="0" presId="urn:microsoft.com/office/officeart/2005/8/layout/chevron1#121"/>
    <dgm:cxn modelId="{DD643616-A114-43CF-8265-2475291604A2}" type="presParOf" srcId="{19B0610F-282C-4322-866B-0055FAF46627}" destId="{AA5BB0A8-BEB9-4A1C-ADF5-7F8122850824}" srcOrd="5" destOrd="0" presId="urn:microsoft.com/office/officeart/2005/8/layout/chevron1#121"/>
    <dgm:cxn modelId="{03454C2C-BB9D-46BA-B390-3C3B24C9F4BC}" type="presParOf" srcId="{19B0610F-282C-4322-866B-0055FAF46627}" destId="{4BCE8E4B-4C6F-4AB8-BA87-94EBADC2C5D0}" srcOrd="6" destOrd="0" presId="urn:microsoft.com/office/officeart/2005/8/layout/chevron1#1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2"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2"/>
    <dgm:cxn modelId="{AC4F6029-1BF4-47CB-8BA5-680A584F2DDF}" type="presOf" srcId="{D5012695-E636-436E-8E3E-60550BC3080E}" destId="{54D1D34D-643C-499A-B330-F91526D1DBE8}" srcOrd="0" destOrd="0" presId="urn:microsoft.com/office/officeart/2005/8/layout/chevron1#122"/>
    <dgm:cxn modelId="{6B6CE272-F2F3-4936-B001-E499C3B681C4}" type="presOf" srcId="{8FC3E99C-7BCE-40A0-B316-2E0BBFF2573F}" destId="{EC812F4D-EF66-448A-B027-679DD9AEE63D}" srcOrd="0" destOrd="0" presId="urn:microsoft.com/office/officeart/2005/8/layout/chevron1#122"/>
    <dgm:cxn modelId="{33E33F55-80EC-484E-A613-EF53AA13C72A}" type="presOf" srcId="{66535F52-61D9-45C6-A6A4-51615B77690B}" destId="{6636E125-B383-4A9D-B027-3EFC54D58BB6}" srcOrd="0" destOrd="0" presId="urn:microsoft.com/office/officeart/2005/8/layout/chevron1#122"/>
    <dgm:cxn modelId="{5A1E9998-D021-48E7-9F22-4B7E9E7C1B1C}" type="presOf" srcId="{78F4C9A7-4E95-49A6-8310-38E561C483BA}" destId="{4BCE8E4B-4C6F-4AB8-BA87-94EBADC2C5D0}" srcOrd="0" destOrd="0" presId="urn:microsoft.com/office/officeart/2005/8/layout/chevron1#122"/>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2"/>
    <dgm:cxn modelId="{C8ED28C5-1DD9-4885-840B-086B2A7EB6BC}" type="presParOf" srcId="{19B0610F-282C-4322-866B-0055FAF46627}" destId="{4B66681B-9D4C-436C-87BB-82E64E68F6C8}" srcOrd="1" destOrd="0" presId="urn:microsoft.com/office/officeart/2005/8/layout/chevron1#122"/>
    <dgm:cxn modelId="{032CB6FE-5464-43D9-9665-77F40DBF7861}" type="presParOf" srcId="{19B0610F-282C-4322-866B-0055FAF46627}" destId="{6636E125-B383-4A9D-B027-3EFC54D58BB6}" srcOrd="2" destOrd="0" presId="urn:microsoft.com/office/officeart/2005/8/layout/chevron1#122"/>
    <dgm:cxn modelId="{79F4CB33-4866-48D9-9DC6-0390A47EA9E6}" type="presParOf" srcId="{19B0610F-282C-4322-866B-0055FAF46627}" destId="{B7D1B483-87CF-4091-8E45-AEF05E32D037}" srcOrd="3" destOrd="0" presId="urn:microsoft.com/office/officeart/2005/8/layout/chevron1#122"/>
    <dgm:cxn modelId="{AF7401B2-4231-4570-8711-83F5617B87E6}" type="presParOf" srcId="{19B0610F-282C-4322-866B-0055FAF46627}" destId="{EC812F4D-EF66-448A-B027-679DD9AEE63D}" srcOrd="4" destOrd="0" presId="urn:microsoft.com/office/officeart/2005/8/layout/chevron1#122"/>
    <dgm:cxn modelId="{DD643616-A114-43CF-8265-2475291604A2}" type="presParOf" srcId="{19B0610F-282C-4322-866B-0055FAF46627}" destId="{AA5BB0A8-BEB9-4A1C-ADF5-7F8122850824}" srcOrd="5" destOrd="0" presId="urn:microsoft.com/office/officeart/2005/8/layout/chevron1#122"/>
    <dgm:cxn modelId="{03454C2C-BB9D-46BA-B390-3C3B24C9F4BC}" type="presParOf" srcId="{19B0610F-282C-4322-866B-0055FAF46627}" destId="{4BCE8E4B-4C6F-4AB8-BA87-94EBADC2C5D0}" srcOrd="6" destOrd="0" presId="urn:microsoft.com/office/officeart/2005/8/layout/chevron1#12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3"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3"/>
    <dgm:cxn modelId="{AC4F6029-1BF4-47CB-8BA5-680A584F2DDF}" type="presOf" srcId="{D5012695-E636-436E-8E3E-60550BC3080E}" destId="{54D1D34D-643C-499A-B330-F91526D1DBE8}" srcOrd="0" destOrd="0" presId="urn:microsoft.com/office/officeart/2005/8/layout/chevron1#123"/>
    <dgm:cxn modelId="{6B6CE272-F2F3-4936-B001-E499C3B681C4}" type="presOf" srcId="{8FC3E99C-7BCE-40A0-B316-2E0BBFF2573F}" destId="{EC812F4D-EF66-448A-B027-679DD9AEE63D}" srcOrd="0" destOrd="0" presId="urn:microsoft.com/office/officeart/2005/8/layout/chevron1#123"/>
    <dgm:cxn modelId="{33E33F55-80EC-484E-A613-EF53AA13C72A}" type="presOf" srcId="{66535F52-61D9-45C6-A6A4-51615B77690B}" destId="{6636E125-B383-4A9D-B027-3EFC54D58BB6}" srcOrd="0" destOrd="0" presId="urn:microsoft.com/office/officeart/2005/8/layout/chevron1#123"/>
    <dgm:cxn modelId="{5A1E9998-D021-48E7-9F22-4B7E9E7C1B1C}" type="presOf" srcId="{78F4C9A7-4E95-49A6-8310-38E561C483BA}" destId="{4BCE8E4B-4C6F-4AB8-BA87-94EBADC2C5D0}" srcOrd="0" destOrd="0" presId="urn:microsoft.com/office/officeart/2005/8/layout/chevron1#123"/>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3"/>
    <dgm:cxn modelId="{C8ED28C5-1DD9-4885-840B-086B2A7EB6BC}" type="presParOf" srcId="{19B0610F-282C-4322-866B-0055FAF46627}" destId="{4B66681B-9D4C-436C-87BB-82E64E68F6C8}" srcOrd="1" destOrd="0" presId="urn:microsoft.com/office/officeart/2005/8/layout/chevron1#123"/>
    <dgm:cxn modelId="{032CB6FE-5464-43D9-9665-77F40DBF7861}" type="presParOf" srcId="{19B0610F-282C-4322-866B-0055FAF46627}" destId="{6636E125-B383-4A9D-B027-3EFC54D58BB6}" srcOrd="2" destOrd="0" presId="urn:microsoft.com/office/officeart/2005/8/layout/chevron1#123"/>
    <dgm:cxn modelId="{79F4CB33-4866-48D9-9DC6-0390A47EA9E6}" type="presParOf" srcId="{19B0610F-282C-4322-866B-0055FAF46627}" destId="{B7D1B483-87CF-4091-8E45-AEF05E32D037}" srcOrd="3" destOrd="0" presId="urn:microsoft.com/office/officeart/2005/8/layout/chevron1#123"/>
    <dgm:cxn modelId="{AF7401B2-4231-4570-8711-83F5617B87E6}" type="presParOf" srcId="{19B0610F-282C-4322-866B-0055FAF46627}" destId="{EC812F4D-EF66-448A-B027-679DD9AEE63D}" srcOrd="4" destOrd="0" presId="urn:microsoft.com/office/officeart/2005/8/layout/chevron1#123"/>
    <dgm:cxn modelId="{DD643616-A114-43CF-8265-2475291604A2}" type="presParOf" srcId="{19B0610F-282C-4322-866B-0055FAF46627}" destId="{AA5BB0A8-BEB9-4A1C-ADF5-7F8122850824}" srcOrd="5" destOrd="0" presId="urn:microsoft.com/office/officeart/2005/8/layout/chevron1#123"/>
    <dgm:cxn modelId="{03454C2C-BB9D-46BA-B390-3C3B24C9F4BC}" type="presParOf" srcId="{19B0610F-282C-4322-866B-0055FAF46627}" destId="{4BCE8E4B-4C6F-4AB8-BA87-94EBADC2C5D0}" srcOrd="6" destOrd="0" presId="urn:microsoft.com/office/officeart/2005/8/layout/chevron1#12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4"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4"/>
    <dgm:cxn modelId="{AC4F6029-1BF4-47CB-8BA5-680A584F2DDF}" type="presOf" srcId="{D5012695-E636-436E-8E3E-60550BC3080E}" destId="{54D1D34D-643C-499A-B330-F91526D1DBE8}" srcOrd="0" destOrd="0" presId="urn:microsoft.com/office/officeart/2005/8/layout/chevron1#124"/>
    <dgm:cxn modelId="{6B6CE272-F2F3-4936-B001-E499C3B681C4}" type="presOf" srcId="{8FC3E99C-7BCE-40A0-B316-2E0BBFF2573F}" destId="{EC812F4D-EF66-448A-B027-679DD9AEE63D}" srcOrd="0" destOrd="0" presId="urn:microsoft.com/office/officeart/2005/8/layout/chevron1#124"/>
    <dgm:cxn modelId="{33E33F55-80EC-484E-A613-EF53AA13C72A}" type="presOf" srcId="{66535F52-61D9-45C6-A6A4-51615B77690B}" destId="{6636E125-B383-4A9D-B027-3EFC54D58BB6}" srcOrd="0" destOrd="0" presId="urn:microsoft.com/office/officeart/2005/8/layout/chevron1#124"/>
    <dgm:cxn modelId="{5A1E9998-D021-48E7-9F22-4B7E9E7C1B1C}" type="presOf" srcId="{78F4C9A7-4E95-49A6-8310-38E561C483BA}" destId="{4BCE8E4B-4C6F-4AB8-BA87-94EBADC2C5D0}" srcOrd="0" destOrd="0" presId="urn:microsoft.com/office/officeart/2005/8/layout/chevron1#124"/>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4"/>
    <dgm:cxn modelId="{C8ED28C5-1DD9-4885-840B-086B2A7EB6BC}" type="presParOf" srcId="{19B0610F-282C-4322-866B-0055FAF46627}" destId="{4B66681B-9D4C-436C-87BB-82E64E68F6C8}" srcOrd="1" destOrd="0" presId="urn:microsoft.com/office/officeart/2005/8/layout/chevron1#124"/>
    <dgm:cxn modelId="{032CB6FE-5464-43D9-9665-77F40DBF7861}" type="presParOf" srcId="{19B0610F-282C-4322-866B-0055FAF46627}" destId="{6636E125-B383-4A9D-B027-3EFC54D58BB6}" srcOrd="2" destOrd="0" presId="urn:microsoft.com/office/officeart/2005/8/layout/chevron1#124"/>
    <dgm:cxn modelId="{79F4CB33-4866-48D9-9DC6-0390A47EA9E6}" type="presParOf" srcId="{19B0610F-282C-4322-866B-0055FAF46627}" destId="{B7D1B483-87CF-4091-8E45-AEF05E32D037}" srcOrd="3" destOrd="0" presId="urn:microsoft.com/office/officeart/2005/8/layout/chevron1#124"/>
    <dgm:cxn modelId="{AF7401B2-4231-4570-8711-83F5617B87E6}" type="presParOf" srcId="{19B0610F-282C-4322-866B-0055FAF46627}" destId="{EC812F4D-EF66-448A-B027-679DD9AEE63D}" srcOrd="4" destOrd="0" presId="urn:microsoft.com/office/officeart/2005/8/layout/chevron1#124"/>
    <dgm:cxn modelId="{DD643616-A114-43CF-8265-2475291604A2}" type="presParOf" srcId="{19B0610F-282C-4322-866B-0055FAF46627}" destId="{AA5BB0A8-BEB9-4A1C-ADF5-7F8122850824}" srcOrd="5" destOrd="0" presId="urn:microsoft.com/office/officeart/2005/8/layout/chevron1#124"/>
    <dgm:cxn modelId="{03454C2C-BB9D-46BA-B390-3C3B24C9F4BC}" type="presParOf" srcId="{19B0610F-282C-4322-866B-0055FAF46627}" destId="{4BCE8E4B-4C6F-4AB8-BA87-94EBADC2C5D0}" srcOrd="6" destOrd="0" presId="urn:microsoft.com/office/officeart/2005/8/layout/chevron1#12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5"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5"/>
    <dgm:cxn modelId="{AC4F6029-1BF4-47CB-8BA5-680A584F2DDF}" type="presOf" srcId="{D5012695-E636-436E-8E3E-60550BC3080E}" destId="{54D1D34D-643C-499A-B330-F91526D1DBE8}" srcOrd="0" destOrd="0" presId="urn:microsoft.com/office/officeart/2005/8/layout/chevron1#125"/>
    <dgm:cxn modelId="{6B6CE272-F2F3-4936-B001-E499C3B681C4}" type="presOf" srcId="{8FC3E99C-7BCE-40A0-B316-2E0BBFF2573F}" destId="{EC812F4D-EF66-448A-B027-679DD9AEE63D}" srcOrd="0" destOrd="0" presId="urn:microsoft.com/office/officeart/2005/8/layout/chevron1#125"/>
    <dgm:cxn modelId="{33E33F55-80EC-484E-A613-EF53AA13C72A}" type="presOf" srcId="{66535F52-61D9-45C6-A6A4-51615B77690B}" destId="{6636E125-B383-4A9D-B027-3EFC54D58BB6}" srcOrd="0" destOrd="0" presId="urn:microsoft.com/office/officeart/2005/8/layout/chevron1#125"/>
    <dgm:cxn modelId="{5A1E9998-D021-48E7-9F22-4B7E9E7C1B1C}" type="presOf" srcId="{78F4C9A7-4E95-49A6-8310-38E561C483BA}" destId="{4BCE8E4B-4C6F-4AB8-BA87-94EBADC2C5D0}" srcOrd="0" destOrd="0" presId="urn:microsoft.com/office/officeart/2005/8/layout/chevron1#125"/>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5"/>
    <dgm:cxn modelId="{C8ED28C5-1DD9-4885-840B-086B2A7EB6BC}" type="presParOf" srcId="{19B0610F-282C-4322-866B-0055FAF46627}" destId="{4B66681B-9D4C-436C-87BB-82E64E68F6C8}" srcOrd="1" destOrd="0" presId="urn:microsoft.com/office/officeart/2005/8/layout/chevron1#125"/>
    <dgm:cxn modelId="{032CB6FE-5464-43D9-9665-77F40DBF7861}" type="presParOf" srcId="{19B0610F-282C-4322-866B-0055FAF46627}" destId="{6636E125-B383-4A9D-B027-3EFC54D58BB6}" srcOrd="2" destOrd="0" presId="urn:microsoft.com/office/officeart/2005/8/layout/chevron1#125"/>
    <dgm:cxn modelId="{79F4CB33-4866-48D9-9DC6-0390A47EA9E6}" type="presParOf" srcId="{19B0610F-282C-4322-866B-0055FAF46627}" destId="{B7D1B483-87CF-4091-8E45-AEF05E32D037}" srcOrd="3" destOrd="0" presId="urn:microsoft.com/office/officeart/2005/8/layout/chevron1#125"/>
    <dgm:cxn modelId="{AF7401B2-4231-4570-8711-83F5617B87E6}" type="presParOf" srcId="{19B0610F-282C-4322-866B-0055FAF46627}" destId="{EC812F4D-EF66-448A-B027-679DD9AEE63D}" srcOrd="4" destOrd="0" presId="urn:microsoft.com/office/officeart/2005/8/layout/chevron1#125"/>
    <dgm:cxn modelId="{DD643616-A114-43CF-8265-2475291604A2}" type="presParOf" srcId="{19B0610F-282C-4322-866B-0055FAF46627}" destId="{AA5BB0A8-BEB9-4A1C-ADF5-7F8122850824}" srcOrd="5" destOrd="0" presId="urn:microsoft.com/office/officeart/2005/8/layout/chevron1#125"/>
    <dgm:cxn modelId="{03454C2C-BB9D-46BA-B390-3C3B24C9F4BC}" type="presParOf" srcId="{19B0610F-282C-4322-866B-0055FAF46627}" destId="{4BCE8E4B-4C6F-4AB8-BA87-94EBADC2C5D0}" srcOrd="6" destOrd="0" presId="urn:microsoft.com/office/officeart/2005/8/layout/chevron1#12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126"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126"/>
    <dgm:cxn modelId="{5F8D4429-3512-4733-9D28-C39DEC6D5A46}" type="presOf" srcId="{09E83A0D-6FEF-41DF-A1A8-06E9FFC85F71}" destId="{E9EC313E-C07D-4024-9AF7-7BAA82F22646}" srcOrd="0" destOrd="0" presId="urn:microsoft.com/office/officeart/2005/8/layout/chevron1#126"/>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126"/>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126"/>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126"/>
    <dgm:cxn modelId="{FDC2920E-D462-4099-AAD9-7061DA75790D}" type="presParOf" srcId="{AFDF9144-0890-4741-9012-683715D91BA8}" destId="{E9EC313E-C07D-4024-9AF7-7BAA82F22646}" srcOrd="0" destOrd="0" presId="urn:microsoft.com/office/officeart/2005/8/layout/chevron1#126"/>
    <dgm:cxn modelId="{BE9CD0F0-86E3-473D-ACC0-0A1CDB83D02D}" type="presParOf" srcId="{AFDF9144-0890-4741-9012-683715D91BA8}" destId="{1254BCE1-0659-4C9C-A343-41153979CEE1}" srcOrd="1" destOrd="0" presId="urn:microsoft.com/office/officeart/2005/8/layout/chevron1#126"/>
    <dgm:cxn modelId="{23C3C8E6-6442-4A61-9F3C-66FB5F60C029}" type="presParOf" srcId="{AFDF9144-0890-4741-9012-683715D91BA8}" destId="{4F9DEA38-A8FA-418A-B139-308095C75DE5}" srcOrd="2" destOrd="0" presId="urn:microsoft.com/office/officeart/2005/8/layout/chevron1#126"/>
    <dgm:cxn modelId="{ECF28035-C4C2-4F0A-91A6-54605395BB01}" type="presParOf" srcId="{AFDF9144-0890-4741-9012-683715D91BA8}" destId="{F32AF327-A8A7-42ED-9A3A-FD065AEF35CC}" srcOrd="3" destOrd="0" presId="urn:microsoft.com/office/officeart/2005/8/layout/chevron1#126"/>
    <dgm:cxn modelId="{1EA5E5A7-6379-4647-82EB-47293F901444}" type="presParOf" srcId="{AFDF9144-0890-4741-9012-683715D91BA8}" destId="{DB2DC495-4888-4FB0-8E56-94B7ED74FA00}" srcOrd="4" destOrd="0" presId="urn:microsoft.com/office/officeart/2005/8/layout/chevron1#126"/>
    <dgm:cxn modelId="{05C2C0AF-C649-43A1-9660-BD856B630B95}" type="presParOf" srcId="{AFDF9144-0890-4741-9012-683715D91BA8}" destId="{3128D3E7-1249-4292-B711-881F04FEB888}" srcOrd="5" destOrd="0" presId="urn:microsoft.com/office/officeart/2005/8/layout/chevron1#126"/>
    <dgm:cxn modelId="{39A0DD8E-E4B6-47DF-81A2-0B69F2B95DCA}" type="presParOf" srcId="{AFDF9144-0890-4741-9012-683715D91BA8}" destId="{89AA18CC-6C77-44F3-85A7-38695F314F32}" srcOrd="6" destOrd="0" presId="urn:microsoft.com/office/officeart/2005/8/layout/chevron1#12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127"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127"/>
    <dgm:cxn modelId="{5F8D4429-3512-4733-9D28-C39DEC6D5A46}" type="presOf" srcId="{09E83A0D-6FEF-41DF-A1A8-06E9FFC85F71}" destId="{E9EC313E-C07D-4024-9AF7-7BAA82F22646}" srcOrd="0" destOrd="0" presId="urn:microsoft.com/office/officeart/2005/8/layout/chevron1#127"/>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127"/>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127"/>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127"/>
    <dgm:cxn modelId="{FDC2920E-D462-4099-AAD9-7061DA75790D}" type="presParOf" srcId="{AFDF9144-0890-4741-9012-683715D91BA8}" destId="{E9EC313E-C07D-4024-9AF7-7BAA82F22646}" srcOrd="0" destOrd="0" presId="urn:microsoft.com/office/officeart/2005/8/layout/chevron1#127"/>
    <dgm:cxn modelId="{BE9CD0F0-86E3-473D-ACC0-0A1CDB83D02D}" type="presParOf" srcId="{AFDF9144-0890-4741-9012-683715D91BA8}" destId="{1254BCE1-0659-4C9C-A343-41153979CEE1}" srcOrd="1" destOrd="0" presId="urn:microsoft.com/office/officeart/2005/8/layout/chevron1#127"/>
    <dgm:cxn modelId="{23C3C8E6-6442-4A61-9F3C-66FB5F60C029}" type="presParOf" srcId="{AFDF9144-0890-4741-9012-683715D91BA8}" destId="{4F9DEA38-A8FA-418A-B139-308095C75DE5}" srcOrd="2" destOrd="0" presId="urn:microsoft.com/office/officeart/2005/8/layout/chevron1#127"/>
    <dgm:cxn modelId="{ECF28035-C4C2-4F0A-91A6-54605395BB01}" type="presParOf" srcId="{AFDF9144-0890-4741-9012-683715D91BA8}" destId="{F32AF327-A8A7-42ED-9A3A-FD065AEF35CC}" srcOrd="3" destOrd="0" presId="urn:microsoft.com/office/officeart/2005/8/layout/chevron1#127"/>
    <dgm:cxn modelId="{1EA5E5A7-6379-4647-82EB-47293F901444}" type="presParOf" srcId="{AFDF9144-0890-4741-9012-683715D91BA8}" destId="{DB2DC495-4888-4FB0-8E56-94B7ED74FA00}" srcOrd="4" destOrd="0" presId="urn:microsoft.com/office/officeart/2005/8/layout/chevron1#127"/>
    <dgm:cxn modelId="{05C2C0AF-C649-43A1-9660-BD856B630B95}" type="presParOf" srcId="{AFDF9144-0890-4741-9012-683715D91BA8}" destId="{3128D3E7-1249-4292-B711-881F04FEB888}" srcOrd="5" destOrd="0" presId="urn:microsoft.com/office/officeart/2005/8/layout/chevron1#127"/>
    <dgm:cxn modelId="{39A0DD8E-E4B6-47DF-81A2-0B69F2B95DCA}" type="presParOf" srcId="{AFDF9144-0890-4741-9012-683715D91BA8}" destId="{89AA18CC-6C77-44F3-85A7-38695F314F32}" srcOrd="6" destOrd="0" presId="urn:microsoft.com/office/officeart/2005/8/layout/chevron1#12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128"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128"/>
    <dgm:cxn modelId="{5F8D4429-3512-4733-9D28-C39DEC6D5A46}" type="presOf" srcId="{09E83A0D-6FEF-41DF-A1A8-06E9FFC85F71}" destId="{E9EC313E-C07D-4024-9AF7-7BAA82F22646}" srcOrd="0" destOrd="0" presId="urn:microsoft.com/office/officeart/2005/8/layout/chevron1#128"/>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128"/>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128"/>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128"/>
    <dgm:cxn modelId="{FDC2920E-D462-4099-AAD9-7061DA75790D}" type="presParOf" srcId="{AFDF9144-0890-4741-9012-683715D91BA8}" destId="{E9EC313E-C07D-4024-9AF7-7BAA82F22646}" srcOrd="0" destOrd="0" presId="urn:microsoft.com/office/officeart/2005/8/layout/chevron1#128"/>
    <dgm:cxn modelId="{BE9CD0F0-86E3-473D-ACC0-0A1CDB83D02D}" type="presParOf" srcId="{AFDF9144-0890-4741-9012-683715D91BA8}" destId="{1254BCE1-0659-4C9C-A343-41153979CEE1}" srcOrd="1" destOrd="0" presId="urn:microsoft.com/office/officeart/2005/8/layout/chevron1#128"/>
    <dgm:cxn modelId="{23C3C8E6-6442-4A61-9F3C-66FB5F60C029}" type="presParOf" srcId="{AFDF9144-0890-4741-9012-683715D91BA8}" destId="{4F9DEA38-A8FA-418A-B139-308095C75DE5}" srcOrd="2" destOrd="0" presId="urn:microsoft.com/office/officeart/2005/8/layout/chevron1#128"/>
    <dgm:cxn modelId="{ECF28035-C4C2-4F0A-91A6-54605395BB01}" type="presParOf" srcId="{AFDF9144-0890-4741-9012-683715D91BA8}" destId="{F32AF327-A8A7-42ED-9A3A-FD065AEF35CC}" srcOrd="3" destOrd="0" presId="urn:microsoft.com/office/officeart/2005/8/layout/chevron1#128"/>
    <dgm:cxn modelId="{1EA5E5A7-6379-4647-82EB-47293F901444}" type="presParOf" srcId="{AFDF9144-0890-4741-9012-683715D91BA8}" destId="{DB2DC495-4888-4FB0-8E56-94B7ED74FA00}" srcOrd="4" destOrd="0" presId="urn:microsoft.com/office/officeart/2005/8/layout/chevron1#128"/>
    <dgm:cxn modelId="{05C2C0AF-C649-43A1-9660-BD856B630B95}" type="presParOf" srcId="{AFDF9144-0890-4741-9012-683715D91BA8}" destId="{3128D3E7-1249-4292-B711-881F04FEB888}" srcOrd="5" destOrd="0" presId="urn:microsoft.com/office/officeart/2005/8/layout/chevron1#128"/>
    <dgm:cxn modelId="{39A0DD8E-E4B6-47DF-81A2-0B69F2B95DCA}" type="presParOf" srcId="{AFDF9144-0890-4741-9012-683715D91BA8}" destId="{89AA18CC-6C77-44F3-85A7-38695F314F32}" srcOrd="6" destOrd="0" presId="urn:microsoft.com/office/officeart/2005/8/layout/chevron1#12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AE6C25A-DB6D-4D78-9B3C-FAF523886041}" type="doc">
      <dgm:prSet loTypeId="urn:microsoft.com/office/officeart/2005/8/layout/chevron1#129" loCatId="process" qsTypeId="urn:microsoft.com/office/officeart/2005/8/quickstyle/simple1" qsCatId="simple" csTypeId="urn:microsoft.com/office/officeart/2005/8/colors/accent1_2" csCatId="accent1" phldr="1"/>
      <dgm:spPr>
        <a:ln>
          <a:noFill/>
        </a:ln>
      </dgm:spPr>
    </dgm:pt>
    <dgm:pt modelId="{C650DAE2-05C8-412C-8907-8BE60B60268D}">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Appendix</a:t>
          </a:r>
        </a:p>
      </dgm:t>
    </dgm:pt>
    <dgm:pt modelId="{B9DE7244-C2E0-47C2-BE1F-ACFAA8813B01}" type="parTrans" cxnId="{9D315063-B86A-4984-A5B5-2440147C83E2}">
      <dgm:prSet/>
      <dgm:spPr>
        <a:ln>
          <a:noFill/>
        </a:ln>
      </dgm:spPr>
    </dgm:pt>
    <dgm:pt modelId="{AC6A796A-FAE5-431B-BA64-9671C8D0A3E2}" type="sibTrans" cxnId="{9D315063-B86A-4984-A5B5-2440147C83E2}">
      <dgm:prSet/>
      <dgm:spPr>
        <a:ln>
          <a:noFill/>
        </a:ln>
      </dgm:spPr>
    </dgm:pt>
    <dgm:pt modelId="{3B811E9B-A679-4E27-B63F-0A648F7D7531}">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6DAA683-9AD7-436F-8A93-6AC8BF751387}" type="parTrans" cxnId="{5F2218A3-2C2C-4BCA-A837-5AB3470343EA}">
      <dgm:prSet/>
      <dgm:spPr>
        <a:ln>
          <a:noFill/>
        </a:ln>
      </dgm:spPr>
    </dgm:pt>
    <dgm:pt modelId="{C775561D-5F66-4396-B318-4E1DA8BBFD09}" type="sibTrans" cxnId="{5F2218A3-2C2C-4BCA-A837-5AB3470343EA}">
      <dgm:prSet/>
      <dgm:spPr>
        <a:ln>
          <a:noFill/>
        </a:ln>
      </dgm:spPr>
    </dgm:pt>
    <dgm:pt modelId="{BD594A9A-9323-4341-96BF-85721BA2C10D}">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537A9428-02EF-4234-BF12-09A126B2DDA1}" type="parTrans" cxnId="{835F645B-250E-4BF0-AFC4-1334188DA137}">
      <dgm:prSet/>
      <dgm:spPr>
        <a:ln>
          <a:noFill/>
        </a:ln>
      </dgm:spPr>
    </dgm:pt>
    <dgm:pt modelId="{ACB5C591-797D-4FD9-9409-F0EDF95FEE27}" type="sibTrans" cxnId="{835F645B-250E-4BF0-AFC4-1334188DA137}">
      <dgm:prSet/>
      <dgm:spPr>
        <a:ln>
          <a:noFill/>
        </a:ln>
      </dgm:spPr>
    </dgm:pt>
    <dgm:pt modelId="{A786AE8E-E5F5-4022-A310-B20DC594406F}">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0D4C8FAA-FB42-484D-B9F6-B3232D98013E}" type="parTrans" cxnId="{C74F17E0-0C32-4B4E-93AE-E7C5D2BF2376}">
      <dgm:prSet/>
      <dgm:spPr>
        <a:ln>
          <a:noFill/>
        </a:ln>
      </dgm:spPr>
    </dgm:pt>
    <dgm:pt modelId="{8488243F-3650-49F5-A77A-DF07A84A14BF}" type="sibTrans" cxnId="{C74F17E0-0C32-4B4E-93AE-E7C5D2BF2376}">
      <dgm:prSet/>
      <dgm:spPr>
        <a:ln>
          <a:noFill/>
        </a:ln>
      </dgm:spPr>
    </dgm:pt>
    <dgm:pt modelId="{C968AC03-41E9-4B9B-BE45-02B1539B4282}" type="pres">
      <dgm:prSet presAssocID="{AAE6C25A-DB6D-4D78-9B3C-FAF523886041}" presName="Name0" presStyleCnt="0">
        <dgm:presLayoutVars>
          <dgm:dir/>
          <dgm:animLvl val="lvl"/>
          <dgm:resizeHandles val="exact"/>
        </dgm:presLayoutVars>
      </dgm:prSet>
      <dgm:spPr>
        <a:ln>
          <a:noFill/>
        </a:ln>
      </dgm:spPr>
    </dgm:pt>
    <dgm:pt modelId="{1AB901B8-27E8-4328-AA0B-6C29B0008F85}" type="pres">
      <dgm:prSet presAssocID="{C650DAE2-05C8-412C-8907-8BE60B60268D}" presName="parTxOnly" presStyleLbl="node1" presStyleIdx="0" presStyleCnt="4">
        <dgm:presLayoutVars>
          <dgm:chMax val="0"/>
          <dgm:chPref val="0"/>
          <dgm:bulletEnabled val="1"/>
        </dgm:presLayoutVars>
      </dgm:prSet>
      <dgm:spPr>
        <a:ln>
          <a:noFill/>
        </a:ln>
      </dgm:spPr>
    </dgm:pt>
    <dgm:pt modelId="{A4575649-1F97-4837-A1A2-C2364EA82ED1}" type="pres">
      <dgm:prSet presAssocID="{AC6A796A-FAE5-431B-BA64-9671C8D0A3E2}" presName="parTxOnlySpace" presStyleCnt="0"/>
      <dgm:spPr>
        <a:ln>
          <a:noFill/>
        </a:ln>
      </dgm:spPr>
    </dgm:pt>
    <dgm:pt modelId="{3AAAE9D2-1344-4643-AA43-2A8F2D82248E}" type="pres">
      <dgm:prSet presAssocID="{3B811E9B-A679-4E27-B63F-0A648F7D7531}" presName="parTxOnly" presStyleLbl="node1" presStyleIdx="1" presStyleCnt="4">
        <dgm:presLayoutVars>
          <dgm:chMax val="0"/>
          <dgm:chPref val="0"/>
          <dgm:bulletEnabled val="1"/>
        </dgm:presLayoutVars>
      </dgm:prSet>
      <dgm:spPr>
        <a:ln>
          <a:noFill/>
        </a:ln>
      </dgm:spPr>
    </dgm:pt>
    <dgm:pt modelId="{9D7B86B8-7DD8-45C4-833D-17A1B25C3980}" type="pres">
      <dgm:prSet presAssocID="{C775561D-5F66-4396-B318-4E1DA8BBFD09}" presName="parTxOnlySpace" presStyleCnt="0"/>
      <dgm:spPr>
        <a:ln>
          <a:noFill/>
        </a:ln>
      </dgm:spPr>
    </dgm:pt>
    <dgm:pt modelId="{CE5359D8-4885-4FD6-96E3-EC640365AC46}" type="pres">
      <dgm:prSet presAssocID="{BD594A9A-9323-4341-96BF-85721BA2C10D}" presName="parTxOnly" presStyleLbl="node1" presStyleIdx="2" presStyleCnt="4">
        <dgm:presLayoutVars>
          <dgm:chMax val="0"/>
          <dgm:chPref val="0"/>
          <dgm:bulletEnabled val="1"/>
        </dgm:presLayoutVars>
      </dgm:prSet>
      <dgm:spPr>
        <a:ln>
          <a:noFill/>
        </a:ln>
      </dgm:spPr>
    </dgm:pt>
    <dgm:pt modelId="{BF092264-4518-4B43-A50E-F77EF016D00A}" type="pres">
      <dgm:prSet presAssocID="{ACB5C591-797D-4FD9-9409-F0EDF95FEE27}" presName="parTxOnlySpace" presStyleCnt="0"/>
      <dgm:spPr>
        <a:ln>
          <a:noFill/>
        </a:ln>
      </dgm:spPr>
    </dgm:pt>
    <dgm:pt modelId="{E20A8324-5073-4681-BF09-1EBF8264B0BB}" type="pres">
      <dgm:prSet presAssocID="{A786AE8E-E5F5-4022-A310-B20DC594406F}" presName="parTxOnly" presStyleLbl="node1" presStyleIdx="3" presStyleCnt="4">
        <dgm:presLayoutVars>
          <dgm:chMax val="0"/>
          <dgm:chPref val="0"/>
          <dgm:bulletEnabled val="1"/>
        </dgm:presLayoutVars>
      </dgm:prSet>
      <dgm:spPr>
        <a:ln>
          <a:noFill/>
        </a:ln>
      </dgm:spPr>
    </dgm:pt>
  </dgm:ptLst>
  <dgm:cxnLst>
    <dgm:cxn modelId="{AA913910-F66D-4DDE-B610-9E8A5AD246D0}" type="presOf" srcId="{C650DAE2-05C8-412C-8907-8BE60B60268D}" destId="{1AB901B8-27E8-4328-AA0B-6C29B0008F85}" srcOrd="0" destOrd="0" presId="urn:microsoft.com/office/officeart/2005/8/layout/chevron1#129"/>
    <dgm:cxn modelId="{835F645B-250E-4BF0-AFC4-1334188DA137}" srcId="{AAE6C25A-DB6D-4D78-9B3C-FAF523886041}" destId="{BD594A9A-9323-4341-96BF-85721BA2C10D}" srcOrd="2" destOrd="0" parTransId="{537A9428-02EF-4234-BF12-09A126B2DDA1}" sibTransId="{ACB5C591-797D-4FD9-9409-F0EDF95FEE27}"/>
    <dgm:cxn modelId="{9D315063-B86A-4984-A5B5-2440147C83E2}" srcId="{AAE6C25A-DB6D-4D78-9B3C-FAF523886041}" destId="{C650DAE2-05C8-412C-8907-8BE60B60268D}" srcOrd="0" destOrd="0" parTransId="{B9DE7244-C2E0-47C2-BE1F-ACFAA8813B01}" sibTransId="{AC6A796A-FAE5-431B-BA64-9671C8D0A3E2}"/>
    <dgm:cxn modelId="{5F2218A3-2C2C-4BCA-A837-5AB3470343EA}" srcId="{AAE6C25A-DB6D-4D78-9B3C-FAF523886041}" destId="{3B811E9B-A679-4E27-B63F-0A648F7D7531}" srcOrd="1" destOrd="0" parTransId="{86DAA683-9AD7-436F-8A93-6AC8BF751387}" sibTransId="{C775561D-5F66-4396-B318-4E1DA8BBFD09}"/>
    <dgm:cxn modelId="{1CA726B8-65BA-46BA-A05F-29BD1EC000FF}" type="presOf" srcId="{BD594A9A-9323-4341-96BF-85721BA2C10D}" destId="{CE5359D8-4885-4FD6-96E3-EC640365AC46}" srcOrd="0" destOrd="0" presId="urn:microsoft.com/office/officeart/2005/8/layout/chevron1#129"/>
    <dgm:cxn modelId="{C74F17E0-0C32-4B4E-93AE-E7C5D2BF2376}" srcId="{AAE6C25A-DB6D-4D78-9B3C-FAF523886041}" destId="{A786AE8E-E5F5-4022-A310-B20DC594406F}" srcOrd="3" destOrd="0" parTransId="{0D4C8FAA-FB42-484D-B9F6-B3232D98013E}" sibTransId="{8488243F-3650-49F5-A77A-DF07A84A14BF}"/>
    <dgm:cxn modelId="{B2A6EDE1-4A93-42C4-A660-009F904A286F}" type="presOf" srcId="{3B811E9B-A679-4E27-B63F-0A648F7D7531}" destId="{3AAAE9D2-1344-4643-AA43-2A8F2D82248E}" srcOrd="0" destOrd="0" presId="urn:microsoft.com/office/officeart/2005/8/layout/chevron1#129"/>
    <dgm:cxn modelId="{A5AA6BEB-AF2D-46DD-92D3-9F66F7C94D64}" type="presOf" srcId="{AAE6C25A-DB6D-4D78-9B3C-FAF523886041}" destId="{C968AC03-41E9-4B9B-BE45-02B1539B4282}" srcOrd="0" destOrd="0" presId="urn:microsoft.com/office/officeart/2005/8/layout/chevron1#129"/>
    <dgm:cxn modelId="{6162ABF3-FD09-4CAB-AA7B-F4DDEA50CFBF}" type="presOf" srcId="{A786AE8E-E5F5-4022-A310-B20DC594406F}" destId="{E20A8324-5073-4681-BF09-1EBF8264B0BB}" srcOrd="0" destOrd="0" presId="urn:microsoft.com/office/officeart/2005/8/layout/chevron1#129"/>
    <dgm:cxn modelId="{36CD3796-6634-4E4D-8C7B-303A88336F99}" type="presParOf" srcId="{C968AC03-41E9-4B9B-BE45-02B1539B4282}" destId="{1AB901B8-27E8-4328-AA0B-6C29B0008F85}" srcOrd="0" destOrd="0" presId="urn:microsoft.com/office/officeart/2005/8/layout/chevron1#129"/>
    <dgm:cxn modelId="{20041F04-F2B0-43AD-9942-1EE206097285}" type="presParOf" srcId="{C968AC03-41E9-4B9B-BE45-02B1539B4282}" destId="{A4575649-1F97-4837-A1A2-C2364EA82ED1}" srcOrd="1" destOrd="0" presId="urn:microsoft.com/office/officeart/2005/8/layout/chevron1#129"/>
    <dgm:cxn modelId="{9712E61A-5F30-4972-B844-2AB532D872F5}" type="presParOf" srcId="{C968AC03-41E9-4B9B-BE45-02B1539B4282}" destId="{3AAAE9D2-1344-4643-AA43-2A8F2D82248E}" srcOrd="2" destOrd="0" presId="urn:microsoft.com/office/officeart/2005/8/layout/chevron1#129"/>
    <dgm:cxn modelId="{4D89F43C-E17A-411D-A38E-6BF73E635EF8}" type="presParOf" srcId="{C968AC03-41E9-4B9B-BE45-02B1539B4282}" destId="{9D7B86B8-7DD8-45C4-833D-17A1B25C3980}" srcOrd="3" destOrd="0" presId="urn:microsoft.com/office/officeart/2005/8/layout/chevron1#129"/>
    <dgm:cxn modelId="{64372D3A-B9BF-4A85-B6B9-58CEA7183769}" type="presParOf" srcId="{C968AC03-41E9-4B9B-BE45-02B1539B4282}" destId="{CE5359D8-4885-4FD6-96E3-EC640365AC46}" srcOrd="4" destOrd="0" presId="urn:microsoft.com/office/officeart/2005/8/layout/chevron1#129"/>
    <dgm:cxn modelId="{48FD68AB-BEF3-460D-B239-3F24EEFE5DEA}" type="presParOf" srcId="{C968AC03-41E9-4B9B-BE45-02B1539B4282}" destId="{BF092264-4518-4B43-A50E-F77EF016D00A}" srcOrd="5" destOrd="0" presId="urn:microsoft.com/office/officeart/2005/8/layout/chevron1#129"/>
    <dgm:cxn modelId="{6D3D930F-3147-403D-93C4-65D23C8C3433}" type="presParOf" srcId="{C968AC03-41E9-4B9B-BE45-02B1539B4282}" destId="{E20A8324-5073-4681-BF09-1EBF8264B0BB}" srcOrd="6" destOrd="0" presId="urn:microsoft.com/office/officeart/2005/8/layout/chevron1#12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130"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130"/>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130"/>
    <dgm:cxn modelId="{BABAC4BE-9205-41C3-A9E1-0B8AA1F8BE68}" type="presOf" srcId="{90084507-E514-459F-A0D7-E88E90EC4649}" destId="{9D90B05B-90BC-4C33-912E-0BA4D8EA5529}" srcOrd="0" destOrd="0" presId="urn:microsoft.com/office/officeart/2005/8/layout/chevron1#130"/>
    <dgm:cxn modelId="{F508BBC1-AD9E-49EA-96EE-204314552116}" type="presOf" srcId="{9EF98226-BFB7-4D32-9899-03567500D2AB}" destId="{3B12C42E-FCE4-47A3-BDAA-E0A86D72ED8B}" srcOrd="0" destOrd="0" presId="urn:microsoft.com/office/officeart/2005/8/layout/chevron1#130"/>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130"/>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130"/>
    <dgm:cxn modelId="{122FBC7A-D5B7-4142-B9E8-4FF0BF77548B}" type="presParOf" srcId="{7FC0E1D2-923D-4582-892F-125DCF76B55E}" destId="{79409381-1686-461B-8BE6-0680B33EC0B6}" srcOrd="1" destOrd="0" presId="urn:microsoft.com/office/officeart/2005/8/layout/chevron1#130"/>
    <dgm:cxn modelId="{88E7E968-5439-4110-88BC-7F0387B44DA8}" type="presParOf" srcId="{7FC0E1D2-923D-4582-892F-125DCF76B55E}" destId="{3B12C42E-FCE4-47A3-BDAA-E0A86D72ED8B}" srcOrd="2" destOrd="0" presId="urn:microsoft.com/office/officeart/2005/8/layout/chevron1#130"/>
    <dgm:cxn modelId="{8482E8D7-F484-4C33-BBC6-0784F624055C}" type="presParOf" srcId="{7FC0E1D2-923D-4582-892F-125DCF76B55E}" destId="{AFC19BE2-F538-47BB-B7D7-33FB7D8BC7AB}" srcOrd="3" destOrd="0" presId="urn:microsoft.com/office/officeart/2005/8/layout/chevron1#130"/>
    <dgm:cxn modelId="{718A7191-968C-4CEF-870A-15C445809A4F}" type="presParOf" srcId="{7FC0E1D2-923D-4582-892F-125DCF76B55E}" destId="{9D90B05B-90BC-4C33-912E-0BA4D8EA5529}" srcOrd="4" destOrd="0" presId="urn:microsoft.com/office/officeart/2005/8/layout/chevron1#130"/>
    <dgm:cxn modelId="{4D035BA2-DCC3-434D-A2C6-05297C85C7CA}" type="presParOf" srcId="{7FC0E1D2-923D-4582-892F-125DCF76B55E}" destId="{68E0CE78-0178-4B87-B246-AD3C8E1A521D}" srcOrd="5" destOrd="0" presId="urn:microsoft.com/office/officeart/2005/8/layout/chevron1#130"/>
    <dgm:cxn modelId="{6FBB6115-919E-48E9-A7C7-EC760095E882}" type="presParOf" srcId="{7FC0E1D2-923D-4582-892F-125DCF76B55E}" destId="{891D13F4-88CD-40CD-AA59-CF68CE46AE18}" srcOrd="6" destOrd="0" presId="urn:microsoft.com/office/officeart/2005/8/layout/chevron1#13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13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13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131"/>
    <dgm:cxn modelId="{BABAC4BE-9205-41C3-A9E1-0B8AA1F8BE68}" type="presOf" srcId="{90084507-E514-459F-A0D7-E88E90EC4649}" destId="{9D90B05B-90BC-4C33-912E-0BA4D8EA5529}" srcOrd="0" destOrd="0" presId="urn:microsoft.com/office/officeart/2005/8/layout/chevron1#131"/>
    <dgm:cxn modelId="{F508BBC1-AD9E-49EA-96EE-204314552116}" type="presOf" srcId="{9EF98226-BFB7-4D32-9899-03567500D2AB}" destId="{3B12C42E-FCE4-47A3-BDAA-E0A86D72ED8B}" srcOrd="0" destOrd="0" presId="urn:microsoft.com/office/officeart/2005/8/layout/chevron1#13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13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131"/>
    <dgm:cxn modelId="{122FBC7A-D5B7-4142-B9E8-4FF0BF77548B}" type="presParOf" srcId="{7FC0E1D2-923D-4582-892F-125DCF76B55E}" destId="{79409381-1686-461B-8BE6-0680B33EC0B6}" srcOrd="1" destOrd="0" presId="urn:microsoft.com/office/officeart/2005/8/layout/chevron1#131"/>
    <dgm:cxn modelId="{88E7E968-5439-4110-88BC-7F0387B44DA8}" type="presParOf" srcId="{7FC0E1D2-923D-4582-892F-125DCF76B55E}" destId="{3B12C42E-FCE4-47A3-BDAA-E0A86D72ED8B}" srcOrd="2" destOrd="0" presId="urn:microsoft.com/office/officeart/2005/8/layout/chevron1#131"/>
    <dgm:cxn modelId="{8482E8D7-F484-4C33-BBC6-0784F624055C}" type="presParOf" srcId="{7FC0E1D2-923D-4582-892F-125DCF76B55E}" destId="{AFC19BE2-F538-47BB-B7D7-33FB7D8BC7AB}" srcOrd="3" destOrd="0" presId="urn:microsoft.com/office/officeart/2005/8/layout/chevron1#131"/>
    <dgm:cxn modelId="{718A7191-968C-4CEF-870A-15C445809A4F}" type="presParOf" srcId="{7FC0E1D2-923D-4582-892F-125DCF76B55E}" destId="{9D90B05B-90BC-4C33-912E-0BA4D8EA5529}" srcOrd="4" destOrd="0" presId="urn:microsoft.com/office/officeart/2005/8/layout/chevron1#131"/>
    <dgm:cxn modelId="{4D035BA2-DCC3-434D-A2C6-05297C85C7CA}" type="presParOf" srcId="{7FC0E1D2-923D-4582-892F-125DCF76B55E}" destId="{68E0CE78-0178-4B87-B246-AD3C8E1A521D}" srcOrd="5" destOrd="0" presId="urn:microsoft.com/office/officeart/2005/8/layout/chevron1#131"/>
    <dgm:cxn modelId="{6FBB6115-919E-48E9-A7C7-EC760095E882}" type="presParOf" srcId="{7FC0E1D2-923D-4582-892F-125DCF76B55E}" destId="{891D13F4-88CD-40CD-AA59-CF68CE46AE18}" srcOrd="6" destOrd="0" presId="urn:microsoft.com/office/officeart/2005/8/layout/chevron1#1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901B8-27E8-4328-AA0B-6C29B0008F85}">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Appendix</a:t>
          </a:r>
        </a:p>
      </dsp:txBody>
      <dsp:txXfrm>
        <a:off x="56693" y="0"/>
        <a:ext cx="2508656" cy="283464"/>
      </dsp:txXfrm>
    </dsp:sp>
    <dsp:sp modelId="{3AAAE9D2-1344-4643-AA43-2A8F2D82248E}">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CE5359D8-4885-4FD6-96E3-EC640365AC46}">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E20A8324-5073-4681-BF09-1EBF8264B0BB}">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11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11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112">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113">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114">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115">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116">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117">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118">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119">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hevron1#120">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hevron1#12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chevron1#122">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chevron1#123">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124">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125">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126">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127">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hevron1#128">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chevron1#129">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hevron1#130">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chevron1#13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analytical workbook v02 and registered market review. 2025 demand is estimated; 5.8bn L production is a planning assumption. Capture is illustrative; petrol/diesel reconciliation remains open.</a:t>
            </a:r>
          </a:p>
          <a:p>
            <a:r>
              <a:t>Five agreed complication drivers retained. Walvis Bay is a qualitative route sensitivity with no quantified diversion assigned. All numerical values reuse the v34 story; no model changes.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30830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sales through 2023; energy balances and Stats SA activity; Eskom/IPP evidence. All 2025 segment allocations are estimates; other diesel retains an explicit residual.</a:t>
            </a:r>
          </a:p>
          <a:p>
            <a:r>
              <a:t>Petrol: 8.86bn L. Diesel: 12.13bn L. Total demand falls from 21.94bn L in 2023 to an estimated 20.99bn L in 2025.</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2025 analytical workbook v02: registered demand assumptions and user-directed 5.8bn L domestic production case. Estimates are not reported actuals.</a:t>
            </a:r>
          </a:p>
          <a:p>
            <a:r>
              <a:t>Activity adds 1.54bn L by 2030, broadly offsetting power, efficiency and rail reductions. Customer access determines Vopak capture.</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annual sales, 2013–2023. Estimated 2024–2025: analytical workbook v02. Earlier deck FIASA comparison figures are not spliced into this series.</a:t>
            </a:r>
          </a:p>
          <a:p>
            <a:r>
              <a:t>Petrol remains below its earlier level; diesel demand responds more directly to freight, industry and power.</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Segments. 2021 energy-balance road volume; 75% of road diesel allocated to freight. Historical sector intensities at current activity.</a:t>
            </a:r>
          </a:p>
          <a:p>
            <a:r>
              <a:t>Sector-attributed vehicle fuel stays in its sector; the road split is an explicit allocation assumption.</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mining/manufacturing indices and agriculture real GVA; mean 2018–2021 fuel intensity. Sector diesel values after 2021 are estimates.</a:t>
            </a:r>
          </a:p>
          <a:p>
            <a:r>
              <a:t>Sector activity produces different demand paths; applying one GDP growth rate would hide these differences.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2023 sales; analytical workbook v02, Assumptions and Demand history. Activity and efficiency settings are authored planning assumptions.</a:t>
            </a:r>
          </a:p>
          <a:p>
            <a:r>
              <a:t>The assumptions are explicit and editable; EV uptake is not counted again as a separate reduction.</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Eskom Integrated Report 2025 p141; staged source series. 679.1m L diesel + kerosene supersedes the earlier slide’s 677.9m figure for this scope.</a:t>
            </a:r>
          </a:p>
          <a:p>
            <a:r>
              <a:t>The demand baseline replaces annual power consumption explicitly, so the decline is not hidden in a generic growth rate.</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Segments / Driver bridge. Private backup 2023/24/25: 0.8/0.6/0.2bn L. IPP conversion: 0.31 L/kWh. FY-to-calendar and fuel-mix assumptions apply.</a:t>
            </a:r>
          </a:p>
          <a:p>
            <a:r>
              <a:t>Power demand can fall without an equivalent decline in transport or industrial demand.</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P7162 December 2025 p7; all reported freight. Analytical workbook v02, Evidence.</a:t>
            </a:r>
          </a:p>
          <a:p>
            <a:r>
              <a:t>Rail recovery changes fuel demand through eligible freight, distance, truck efficiency and the rail traction mix.</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Driver bridge and scenario assumptions. Shift interpreted as freight tonne-km share. Distances and eligibility remain assumed; cases also vary growth and efficiency.</a:t>
            </a:r>
          </a:p>
          <a:p>
            <a:r>
              <a:t>These shifts apply to road-freight activity, not the entire diesel market; sector demand and power remain separate.</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Balance and Supply assumption. User direction 11 October 2026. Original plant-based estimate 10.23bn L retained in appendix.</a:t>
            </a:r>
          </a:p>
          <a:p>
            <a:r>
              <a:t>5.8bn litres sets the planning case. Aggregate closure does not validate domestic output or its petrol/diesel split.</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Registered scenario assumptions; DR08 refinery evidence. Capacity inputs: SAPREF 180kb/d, PetroSA 45kb/d; 70% petrol/diesel yield in restart sensitivities. Dates are not project commitments.</a:t>
            </a:r>
          </a:p>
          <a:p>
            <a:r>
              <a:t>Restart dates and ramp-up settings are scenario assumptions. Import-terminal operations can compete before refining resumes.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Scenarios. Demand-implied gross imports = demand − domestic supply + 2025 exports. Zero stock change; 5.8bn L directed opening supply.</a:t>
            </a:r>
          </a:p>
          <a:p>
            <a:r>
              <a:t>The base case balances activity growth against efficiency, rail and power reductions; supply assumptions drive the widest spread.</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Galp Matola announcement (3 Dec 2020); Petromoc logistics; Sasol Mozambique operations; SARS customs. URLs retained in notes / workbook.</a:t>
            </a:r>
          </a:p>
          <a:p>
            <a:r>
              <a:t>Storage capacity, berth capacity and delivered South African volumes measure different things and are not added together.</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Mozambique. Distances, tariffs, border charges, financing and allocation are authored sensitivities, not carrier quotes or confirmed access.</a:t>
            </a:r>
          </a:p>
          <a:p>
            <a:r>
              <a:t>Mozambique diversion changes the gateway serving demand. It does not reduce South Africa’s national import requirement.</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Registered market_review.yaml and market_review.json, 10 October. Capture is total conditional flow, not incremental sales; domestic and other-terminal Lesedi receipts are outside this screen.</a:t>
            </a:r>
          </a:p>
          <a:p>
            <a:r>
              <a:t>The illustrative unique flow is 2.63bn litres. Adding Lesedi would double-count fuel handled at both sites.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Registered terminal_site_assumptions.csv and market_review.json. Durban working subset is not the full terminal; access, peaks and current throughput remain open.</a:t>
            </a:r>
          </a:p>
          <a:p>
            <a:r>
              <a:t>Working-tank arithmetic screens feasibility. Engineering limits and current customer flows determine actual headroom.</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2025 analytical workbook v02: registered demand assumptions and user-directed 5.8bn L domestic production case. Estimates are not reported actuals.</a:t>
            </a:r>
          </a:p>
          <a:p>
            <a:r>
              <a:t>Next decisions: review the product balance, obtain route quotes and customer commitments, and establish usable capacity at both sites.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from the supplied HG/Henry storyboard, external/partner_story_20261006/situation.png, complication.png and resolution.png. This page preserves the original analytical brief without inserting subsequent answers, capture assumptions or progress claims. Demand mechanism detail in the original: use Stats SA land transport and project private-sector rail participation; project EV/HEV penetration and its effect on litres per kilometre; assess higher fuel prices and kilometres travelled. Secunda original proposition: improved pure gas production from coal, potential diversion from fuel production due to MRG sales and possible extension to 2032. These are HG's propositions for analysis, not independently established outcomes. Full original wording is traced in workstreams/WS3_reporting_delivery/henry_verbatim_trace_2026-10-06.md and pptx/story/henry_question_answers_2026_10_06.json.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Supply assumption and Balance. Original plant estimate: Secunda 3.95, Natref 2.37, Astron 3.91bn L; 10.23bn total. These do not govern the directed case.</a:t>
            </a:r>
          </a:p>
          <a:p>
            <a:r>
              <a:t>The 5.8bn L override uses the original estimated production mix. Offsetting product differences remain visible; no product allocation is claimed as verified.</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register: REG-SA-ANALYTICS-202510 and REG-SA-STORY-CASE-2025. Exception EXC-SA-ANALYTICS-202510; review before external use, expiry 12 November 2026.</a:t>
            </a:r>
          </a:p>
          <a:p>
            <a:r>
              <a:t>Planning assumptions remain editable in workbook v02. Source observations, estimates and sensitivities retain separate labels.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pic>
        <p:nvPicPr>
          <p:cNvPr id="12" name="Picture 3"/>
          <p:cNvPicPr>
            <a:picLocks noChangeAspect="1"/>
          </p:cNvPicPr>
          <p:nvPr/>
        </p:nvPicPr>
        <p:blipFill rotWithShape="1">
          <a:blip r:embed="rId2"/>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 y="5137149"/>
            <a:ext cx="4933950" cy="1571625"/>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a:spLocks noGrp="1"/>
          </p:cNvSpPr>
          <p:nvPr/>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0" name="Cover title panel">
            <a:extLst>
              <a:ext uri="{FF2B5EF4-FFF2-40B4-BE49-F238E27FC236}">
                <a16:creationId xmlns:a16="http://schemas.microsoft.com/office/drawing/2014/main" id="{B6CC79FF-F297-46B4-B0E4-850EE5B89B78}"/>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10" name="Cover title panel">
            <a:extLst>
              <a:ext uri="{FF2B5EF4-FFF2-40B4-BE49-F238E27FC236}">
                <a16:creationId xmlns:a16="http://schemas.microsoft.com/office/drawing/2014/main" id="{571FD3DD-6D32-43BA-B044-BAFA89A96F83}"/>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96FAB5-3A31-4A82-B70E-C4CDDAD20A82}"/>
              </a:ext>
            </a:extLst>
          </p:cNvPr>
          <p:cNvSpPr>
            <a:spLocks noGrp="1"/>
          </p:cNvSpPr>
          <p:nvPr>
            <p:ph type="sldNum" idx="12"/>
          </p:nvPr>
        </p:nvSpPr>
        <p:spPr>
          <a:xfrm>
            <a:off x="10605599" y="6489700"/>
            <a:ext cx="805350" cy="287338"/>
          </a:xfrm>
        </p:spPr>
        <p:txBody>
          <a:bodyPr/>
          <a:lstStyle>
            <a:lvl1pPr>
              <a:buNone/>
              <a:defRPr sz="1000">
                <a:solidFill>
                  <a:schemeClr val="tx1"/>
                </a:solidFill>
              </a:defRPr>
            </a:lvl1pPr>
          </a:lstStyle>
          <a:p>
            <a:fld id="{A65E4EDC-57F8-4D5C-B13E-A981C5F2F71A}" type="slidenum">
              <a:rPr>
                <a:solidFill>
                  <a:schemeClr val="tx1"/>
                </a:solidFill>
              </a:rPr>
              <a:t>‹#›</a:t>
            </a:fld>
            <a:endParaRPr>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anchor="ctr">
            <a:normAutofit/>
          </a:bodyPr>
          <a:lstStyle/>
          <a:p>
            <a:r>
              <a:rPr>
                <a:solidFill>
                  <a:schemeClr val="tx1"/>
                </a:solidFill>
              </a:rPr>
              <a:t>Click to edit Master title style</a:t>
            </a:r>
          </a:p>
        </p:txBody>
      </p:sp>
      <p:sp>
        <p:nvSpPr>
          <p:cNvPr id="7" name="Title and body separator">
            <a:extLst>
              <a:ext uri="{FF2B5EF4-FFF2-40B4-BE49-F238E27FC236}">
                <a16:creationId xmlns:a16="http://schemas.microsoft.com/office/drawing/2014/main" id="{6079D373-E04F-4CB2-8D62-0EE11526CD3C}"/>
              </a:ext>
            </a:extLst>
          </p:cNvPr>
          <p:cNvSpPr>
            <a:spLocks noGrp="1"/>
          </p:cNvSpPr>
          <p:nvPr/>
        </p:nv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C860AC-EA18-440E-B23B-E92B7C49F015}"/>
              </a:ext>
            </a:extLst>
          </p:cNvPr>
          <p:cNvSpPr>
            <a:spLocks noGrp="1"/>
          </p:cNvSpPr>
          <p:nvPr>
            <p:ph type="title"/>
          </p:nvPr>
        </p:nvSpPr>
        <p:spPr>
          <a:xfrm>
            <a:off x="177801" y="368299"/>
            <a:ext cx="11233148" cy="690101"/>
          </a:xfrm>
          <a:prstGeom prst="rect">
            <a:avLst/>
          </a:prstGeom>
        </p:spPr>
        <p:txBody>
          <a:bodyPr vert="horz" lIns="91440" tIns="45720" rIns="91440" bIns="45720" anchor="ctr">
            <a:normAutofit/>
          </a:bodyPr>
          <a:lstStyle/>
          <a:p>
            <a:endParaRPr/>
          </a:p>
        </p:txBody>
      </p:sp>
      <p:sp>
        <p:nvSpPr>
          <p:cNvPr id="3" name="Text Placeholder 2">
            <a:extLst>
              <a:ext uri="{FF2B5EF4-FFF2-40B4-BE49-F238E27FC236}">
                <a16:creationId xmlns:a16="http://schemas.microsoft.com/office/drawing/2014/main" id="{8C59D33E-9E34-4BB4-9EFE-331A0FF3C833}"/>
              </a:ext>
            </a:extLst>
          </p:cNvPr>
          <p:cNvSpPr>
            <a:spLocks noGrp="1"/>
          </p:cNvSpPr>
          <p:nvPr>
            <p:ph type="body" idx="1"/>
          </p:nvPr>
        </p:nvSpPr>
        <p:spPr>
          <a:xfrm>
            <a:off x="177801" y="1233488"/>
            <a:ext cx="11233149" cy="5256212"/>
          </a:xfrm>
          <a:prstGeom prst="rect">
            <a:avLst/>
          </a:prstGeom>
        </p:spPr>
        <p:txBody>
          <a:bodyPr vert="horz" lIns="91440" tIns="45720" rIns="91440" bIns="45720">
            <a:normAutofit/>
          </a:bodyPr>
          <a:lstStyle/>
          <a:p>
            <a:pPr lvl="0">
              <a:buNone/>
            </a:pPr>
            <a:endParaRPr/>
          </a:p>
        </p:txBody>
      </p:sp>
      <p:sp>
        <p:nvSpPr>
          <p:cNvPr id="6" name="Slide Number Placeholder 5">
            <a:extLst>
              <a:ext uri="{FF2B5EF4-FFF2-40B4-BE49-F238E27FC236}">
                <a16:creationId xmlns:a16="http://schemas.microsoft.com/office/drawing/2014/main" id="{A722AEE9-FEF7-46B6-98E2-A569C4A8AD3C}"/>
              </a:ext>
            </a:extLst>
          </p:cNvPr>
          <p:cNvSpPr>
            <a:spLocks noGrp="1"/>
          </p:cNvSpPr>
          <p:nvPr>
            <p:ph type="sldNum" idx="4"/>
          </p:nvPr>
        </p:nvSpPr>
        <p:spPr>
          <a:xfrm>
            <a:off x="10605599" y="6489700"/>
            <a:ext cx="805350" cy="287338"/>
          </a:xfrm>
          <a:prstGeom prst="rect">
            <a:avLst/>
          </a:prstGeom>
        </p:spPr>
        <p:txBody>
          <a:bodyPr vert="horz" lIns="91440" tIns="45720" rIns="91440" bIns="45720" anchor="ctr"/>
          <a:lstStyle>
            <a:lvl1pPr algn="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pic>
        <p:nvPicPr>
          <p:cNvPr id="15" name="Picture 2"/>
          <p:cNvPicPr>
            <a:picLocks noChangeAspect="1"/>
          </p:cNvPicPr>
          <p:nvPr/>
        </p:nvPicPr>
        <p:blipFill>
          <a:blip r:embed="rId8"/>
          <a:srcRect/>
          <a:stretch>
            <a:fillRect/>
          </a:stretch>
        </p:blipFill>
        <p:spPr>
          <a:xfrm>
            <a:off x="9906000" y="6515100"/>
            <a:ext cx="952500" cy="212558"/>
          </a:xfrm>
          <a:prstGeom prst="rect">
            <a:avLst/>
          </a:prstGeom>
        </p:spPr>
      </p:pic>
      <p:sp>
        <p:nvSpPr>
          <p:cNvPr id="9" name="Text Placeholder 6">
            <a:extLst>
              <a:ext uri="{FF2B5EF4-FFF2-40B4-BE49-F238E27FC236}">
                <a16:creationId xmlns:a16="http://schemas.microsoft.com/office/drawing/2014/main" id="{5CB3F387-66D0-18CC-51EE-24B908A792B7}"/>
              </a:ext>
            </a:extLst>
          </p:cNvPr>
          <p:cNvSpPr>
            <a:spLocks noGrp="1"/>
          </p:cNvSpPr>
          <p:nvPr/>
        </p:nvSpPr>
        <p:spPr>
          <a:xfrm>
            <a:off x="457200" y="6528816"/>
            <a:ext cx="8595360" cy="228600"/>
          </a:xfrm>
          <a:prstGeom prst="rect">
            <a:avLst/>
          </a:prstGeom>
        </p:spPr>
        <p:txBody>
          <a:bodyPr tIns="0" bIns="0" anchor="ctr">
            <a:normAutofit/>
          </a:bodyPr>
          <a:lstStyle>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a:pPr>
              <a:buNone/>
              <a:defRPr sz="800">
                <a:solidFill>
                  <a:srgbClr val="404040"/>
                </a:solidFill>
                <a:latin typeface="Lato"/>
                <a:ea typeface="Lato"/>
                <a:cs typeface="Lato"/>
              </a:defRPr>
            </a:pPr>
            <a:endParaRPr/>
          </a:p>
        </p:txBody>
      </p:sp>
      <p:sp>
        <p:nvSpPr>
          <p:cNvPr id="10" name="Fine footer rule">
            <a:extLst>
              <a:ext uri="{FF2B5EF4-FFF2-40B4-BE49-F238E27FC236}">
                <a16:creationId xmlns:a16="http://schemas.microsoft.com/office/drawing/2014/main" id="{B4062CE9-9215-4788-A6E3-2613DEB91A9E}"/>
              </a:ext>
            </a:extLst>
          </p:cNvPr>
          <p:cNvSpPr>
            <a:spLocks noGrp="1"/>
          </p:cNvSpPr>
          <p:nvPr/>
        </p:nv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869137">
        <a:lnSpc>
          <a:spcPct val="90000"/>
        </a:lnSpc>
        <a:spcBef>
          <a:spcPct val="0"/>
        </a:spcBef>
        <a:buNone/>
        <a:defRPr sz="2200" b="1" kern="1200">
          <a:solidFill>
            <a:schemeClr val="tx1"/>
          </a:solidFill>
          <a:latin typeface="+mj-lt"/>
          <a:ea typeface="+mj-lt"/>
          <a:cs typeface="+mj-lt"/>
        </a:defRPr>
      </a:lvl1pPr>
    </p:titleStyle>
    <p:bodyStyle>
      <a:lvl1pPr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marL="0" algn="l" defTabSz="869137">
        <a:buNone/>
        <a:defRPr sz="1711" kern="1200">
          <a:solidFill>
            <a:schemeClr val="tx1"/>
          </a:solidFill>
          <a:latin typeface="+mn-lt"/>
          <a:ea typeface="+mn-lt"/>
          <a:cs typeface="+mn-lt"/>
        </a:defRPr>
      </a:lvl1pPr>
      <a:lvl2pPr marL="434569" algn="l" defTabSz="869137">
        <a:buNone/>
        <a:defRPr sz="1711" kern="1200">
          <a:solidFill>
            <a:schemeClr val="tx1"/>
          </a:solidFill>
          <a:latin typeface="+mn-lt"/>
          <a:ea typeface="+mn-lt"/>
          <a:cs typeface="+mn-lt"/>
        </a:defRPr>
      </a:lvl2pPr>
      <a:lvl3pPr marL="869137" algn="l" defTabSz="869137">
        <a:buNone/>
        <a:defRPr sz="1711" kern="1200">
          <a:solidFill>
            <a:schemeClr val="tx1"/>
          </a:solidFill>
          <a:latin typeface="+mn-lt"/>
          <a:ea typeface="+mn-lt"/>
          <a:cs typeface="+mn-lt"/>
        </a:defRPr>
      </a:lvl3pPr>
      <a:lvl4pPr marL="1303706" algn="l" defTabSz="869137">
        <a:buNone/>
        <a:defRPr sz="1711" kern="1200">
          <a:solidFill>
            <a:schemeClr val="tx1"/>
          </a:solidFill>
          <a:latin typeface="+mn-lt"/>
          <a:ea typeface="+mn-lt"/>
          <a:cs typeface="+mn-lt"/>
        </a:defRPr>
      </a:lvl4pPr>
      <a:lvl5pPr marL="1738274" algn="l" defTabSz="869137">
        <a:buNone/>
        <a:defRPr sz="1711" kern="1200">
          <a:solidFill>
            <a:schemeClr val="tx1"/>
          </a:solidFill>
          <a:latin typeface="+mn-lt"/>
          <a:ea typeface="+mn-lt"/>
          <a:cs typeface="+mn-lt"/>
        </a:defRPr>
      </a:lvl5pPr>
      <a:lvl6pPr marL="2172843" algn="l" defTabSz="869137">
        <a:buNone/>
        <a:defRPr sz="1711" kern="1200">
          <a:solidFill>
            <a:schemeClr val="tx1"/>
          </a:solidFill>
          <a:latin typeface="+mn-lt"/>
          <a:ea typeface="+mn-lt"/>
          <a:cs typeface="+mn-lt"/>
        </a:defRPr>
      </a:lvl6pPr>
      <a:lvl7pPr marL="2607412" algn="l" defTabSz="869137">
        <a:buNone/>
        <a:defRPr sz="1711" kern="1200">
          <a:solidFill>
            <a:schemeClr val="tx1"/>
          </a:solidFill>
          <a:latin typeface="+mn-lt"/>
          <a:ea typeface="+mn-lt"/>
          <a:cs typeface="+mn-lt"/>
        </a:defRPr>
      </a:lvl7pPr>
      <a:lvl8pPr marL="3041980" algn="l" defTabSz="869137">
        <a:buNone/>
        <a:defRPr sz="1711" kern="1200">
          <a:solidFill>
            <a:schemeClr val="tx1"/>
          </a:solidFill>
          <a:latin typeface="+mn-lt"/>
          <a:ea typeface="+mn-lt"/>
          <a:cs typeface="+mn-lt"/>
        </a:defRPr>
      </a:lvl8pPr>
      <a:lvl9pPr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chart" Target="../charts/chart1.xml"/><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chart" Target="../charts/chart2.xml"/><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chart" Target="../charts/chart3.xml"/><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chart" Target="../charts/chart4.xml"/><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chart" Target="../charts/chart5.xml"/><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5.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chart" Target="../charts/chart6.xml"/><Relationship Id="rId7" Type="http://schemas.openxmlformats.org/officeDocument/2006/relationships/diagramColors" Target="../diagrams/colors14.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39121-817A-4D3C-899A-D0A0C1F58930}"/>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6"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7"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5FD954C5-04DB-4280-B44C-D964E6C9CDDA}"/>
              </a:ext>
            </a:extLst>
          </p:cNvPr>
          <p:cNvSpPr>
            <a:spLocks noGrp="1"/>
          </p:cNvSpPr>
          <p:nvPr/>
        </p:nvSpPr>
        <p:spPr>
          <a:xfrm>
            <a:off x="594360" y="2468880"/>
            <a:ext cx="4709160" cy="1636345"/>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South Africa</a:t>
            </a:r>
          </a:p>
          <a:p>
            <a:pPr>
              <a:spcAft>
                <a:spcPts val="800"/>
              </a:spcAft>
              <a:buNone/>
              <a:defRPr sz="3100" b="0">
                <a:solidFill>
                  <a:srgbClr val="FFFFFF"/>
                </a:solidFill>
                <a:latin typeface="Lato"/>
                <a:ea typeface="Lato"/>
                <a:cs typeface="Lato"/>
              </a:defRPr>
            </a:pPr>
            <a:r>
              <a:rPr>
                <a:solidFill>
                  <a:srgbClr val="FFFFFF"/>
                </a:solidFill>
              </a:rPr>
              <a:t>liquid fuels</a:t>
            </a:r>
          </a:p>
          <a:p>
            <a:pPr>
              <a:spcAft>
                <a:spcPts val="800"/>
              </a:spcAft>
              <a:buNone/>
              <a:defRPr sz="3100" b="0">
                <a:solidFill>
                  <a:srgbClr val="FFFFFF"/>
                </a:solidFill>
                <a:latin typeface="Lato"/>
                <a:ea typeface="Lato"/>
                <a:cs typeface="Lato"/>
              </a:defRPr>
            </a:pPr>
            <a:r>
              <a:rPr>
                <a:solidFill>
                  <a:srgbClr val="FFFFFF"/>
                </a:solidFill>
              </a:rPr>
              <a:t>market story</a:t>
            </a:r>
          </a:p>
        </p:txBody>
      </p:sp>
      <p:sp>
        <p:nvSpPr>
          <p:cNvPr id="6" name="Connector 5">
            <a:extLst>
              <a:ext uri="{FF2B5EF4-FFF2-40B4-BE49-F238E27FC236}">
                <a16:creationId xmlns:a16="http://schemas.microsoft.com/office/drawing/2014/main" id="{8AC3AB0E-746B-4AF6-ABCD-D6526DA2BFFE}"/>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sp>
      <p:sp>
        <p:nvSpPr>
          <p:cNvPr id="7" name="TextBox 6">
            <a:extLst>
              <a:ext uri="{FF2B5EF4-FFF2-40B4-BE49-F238E27FC236}">
                <a16:creationId xmlns:a16="http://schemas.microsoft.com/office/drawing/2014/main" id="{92702DF3-0D72-4A19-ADCB-903E36583053}"/>
              </a:ext>
            </a:extLst>
          </p:cNvPr>
          <p:cNvSpPr>
            <a:spLocks noGrp="1"/>
          </p:cNvSpPr>
          <p:nvPr/>
        </p:nvSpPr>
        <p:spPr>
          <a:xfrm>
            <a:off x="594360" y="4617720"/>
            <a:ext cx="4572000" cy="52322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p>
        </p:txBody>
      </p:sp>
      <p:sp>
        <p:nvSpPr>
          <p:cNvPr id="8" name="TextBox 7">
            <a:extLst>
              <a:ext uri="{FF2B5EF4-FFF2-40B4-BE49-F238E27FC236}">
                <a16:creationId xmlns:a16="http://schemas.microsoft.com/office/drawing/2014/main" id="{C5CB190A-7488-44E1-8968-36FDC90EDA0B}"/>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Durban–Lesedi corridor into Gauteng</a:t>
            </a:r>
          </a:p>
        </p:txBody>
      </p:sp>
      <p:sp>
        <p:nvSpPr>
          <p:cNvPr id="9" name="TextBox 8">
            <a:extLst>
              <a:ext uri="{FF2B5EF4-FFF2-40B4-BE49-F238E27FC236}">
                <a16:creationId xmlns:a16="http://schemas.microsoft.com/office/drawing/2014/main" id="{D208E6D2-5587-493C-AED5-50FFAEFBCE44}"/>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11 October 2026</a:t>
            </a:r>
          </a:p>
        </p:txBody>
      </p:sp>
      <p:sp>
        <p:nvSpPr>
          <p:cNvPr id="10" name="TextBox 9">
            <a:extLst>
              <a:ext uri="{FF2B5EF4-FFF2-40B4-BE49-F238E27FC236}">
                <a16:creationId xmlns:a16="http://schemas.microsoft.com/office/drawing/2014/main" id="{15A94E5E-E17D-406B-B780-6593F829C0CA}"/>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p>
        </p:txBody>
      </p:sp>
      <p:sp>
        <p:nvSpPr>
          <p:cNvPr id="11" name="Photo source credit">
            <a:extLst>
              <a:ext uri="{FF2B5EF4-FFF2-40B4-BE49-F238E27FC236}">
                <a16:creationId xmlns:a16="http://schemas.microsoft.com/office/drawing/2014/main" id="{605235CD-EC7B-4D28-A4DA-C6360164F0A7}"/>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ED5236C5-84CC-47CC-8ACF-9C81666786AA}"/>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South Africa remains an import-led fuel market, making customer capture Vopak’s priority</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a:t>
            </a:r>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305550"/>
            <a:ext cx="10648950" cy="11430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Source: analytical workbook v02 and market review. Demand is estimated; production and capture are planning assumptions. Product reconciliation remains open; Walvis Bay diversion is unquantified.</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49" name="Situation label">
            <a:extLst>
              <a:ext uri="{FF2B5EF4-FFF2-40B4-BE49-F238E27FC236}">
                <a16:creationId xmlns:a16="http://schemas.microsoft.com/office/drawing/2014/main" id="{40B8E8AE-2C98-416B-9143-9E51C56EEA92}"/>
              </a:ext>
            </a:extLst>
          </p:cNvPr>
          <p:cNvSpPr>
            <a:spLocks noGrp="1"/>
          </p:cNvSpPr>
          <p:nvPr/>
        </p:nvSpPr>
        <p:spPr>
          <a:xfrm>
            <a:off x="457200" y="1657350"/>
            <a:ext cx="1581150" cy="285750"/>
          </a:xfrm>
          <a:prstGeom prst="rect">
            <a:avLst/>
          </a:prstGeom>
          <a:noFill/>
          <a:ln w="0">
            <a:noFill/>
          </a:ln>
        </p:spPr>
        <p:txBody>
          <a:bodyPr>
            <a:noAutofit/>
          </a:bodyPr>
          <a:lstStyle/>
          <a:p>
            <a:pPr>
              <a:defRPr sz="1350" b="1">
                <a:solidFill>
                  <a:srgbClr val="0A2373"/>
                </a:solidFill>
                <a:latin typeface="Lato"/>
                <a:ea typeface="Lato"/>
                <a:cs typeface="Lato"/>
              </a:defRPr>
            </a:pPr>
            <a:r>
              <a:rPr sz="1350" b="1">
                <a:solidFill>
                  <a:srgbClr val="0A2373"/>
                </a:solidFill>
                <a:latin typeface="Lato"/>
                <a:ea typeface="Lato"/>
                <a:cs typeface="Lato"/>
              </a:rPr>
              <a:t>SITUATION</a:t>
            </a:r>
          </a:p>
        </p:txBody>
      </p:sp>
      <p:sp>
        <p:nvSpPr>
          <p:cNvPr id="50" name="Situation answer">
            <a:extLst>
              <a:ext uri="{FF2B5EF4-FFF2-40B4-BE49-F238E27FC236}">
                <a16:creationId xmlns:a16="http://schemas.microsoft.com/office/drawing/2014/main" id="{ED8B638D-7D1F-4D5A-8C2F-635A1FE9EEB2}"/>
              </a:ext>
            </a:extLst>
          </p:cNvPr>
          <p:cNvSpPr>
            <a:spLocks noGrp="1"/>
          </p:cNvSpPr>
          <p:nvPr/>
        </p:nvSpPr>
        <p:spPr>
          <a:xfrm>
            <a:off x="2143125" y="1619250"/>
            <a:ext cx="8963025" cy="28575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A large fuel market relies on substantial imports</a:t>
            </a:r>
          </a:p>
        </p:txBody>
      </p:sp>
      <p:sp>
        <p:nvSpPr>
          <p:cNvPr id="51" name="Situation evidence">
            <a:extLst>
              <a:ext uri="{FF2B5EF4-FFF2-40B4-BE49-F238E27FC236}">
                <a16:creationId xmlns:a16="http://schemas.microsoft.com/office/drawing/2014/main" id="{2D502196-C00F-47F4-A6D5-1BCBFD132E5E}"/>
              </a:ext>
            </a:extLst>
          </p:cNvPr>
          <p:cNvSpPr>
            <a:spLocks noGrp="1"/>
          </p:cNvSpPr>
          <p:nvPr/>
        </p:nvSpPr>
        <p:spPr>
          <a:xfrm>
            <a:off x="2143125" y="1962150"/>
            <a:ext cx="8963025" cy="619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2025 demand is estimated at 21.0bn litres: 8.9bn petrol and 12.1bn diesel, down from 21.9bn litres in 2023. Road use dominates, alongside mining, agriculture and power. With domestic production assumed at 5.8bn litres, gross import need is about 16.7bn litres.</a:t>
            </a:r>
          </a:p>
        </p:txBody>
      </p:sp>
      <p:sp>
        <p:nvSpPr>
          <p:cNvPr id="52" name="SCR divider 278">
            <a:extLst>
              <a:ext uri="{FF2B5EF4-FFF2-40B4-BE49-F238E27FC236}">
                <a16:creationId xmlns:a16="http://schemas.microsoft.com/office/drawing/2014/main" id="{2DC6F380-EF3B-4EB9-AEC3-D1CA74354B0D}"/>
              </a:ext>
            </a:extLst>
          </p:cNvPr>
          <p:cNvSpPr>
            <a:spLocks noGrp="1"/>
          </p:cNvSpPr>
          <p:nvPr/>
        </p:nvSpPr>
        <p:spPr>
          <a:xfrm>
            <a:off x="457200" y="2647950"/>
            <a:ext cx="10648950" cy="9525"/>
          </a:xfrm>
          <a:prstGeom prst="rect">
            <a:avLst/>
          </a:prstGeom>
          <a:solidFill>
            <a:srgbClr val="D9D9D9"/>
          </a:solidFill>
          <a:ln w="0">
            <a:noFill/>
          </a:ln>
        </p:spPr>
      </p:sp>
      <p:sp>
        <p:nvSpPr>
          <p:cNvPr id="53" name="Complication label">
            <a:extLst>
              <a:ext uri="{FF2B5EF4-FFF2-40B4-BE49-F238E27FC236}">
                <a16:creationId xmlns:a16="http://schemas.microsoft.com/office/drawing/2014/main" id="{F93396E4-F8B8-4E13-9BCD-F9127B0B80F4}"/>
              </a:ext>
            </a:extLst>
          </p:cNvPr>
          <p:cNvSpPr>
            <a:spLocks noGrp="1"/>
          </p:cNvSpPr>
          <p:nvPr/>
        </p:nvSpPr>
        <p:spPr>
          <a:xfrm>
            <a:off x="457200" y="2800350"/>
            <a:ext cx="1619250" cy="285750"/>
          </a:xfrm>
          <a:prstGeom prst="rect">
            <a:avLst/>
          </a:prstGeom>
          <a:noFill/>
          <a:ln w="0">
            <a:noFill/>
          </a:ln>
        </p:spPr>
        <p:txBody>
          <a:bodyPr>
            <a:noAutofit/>
          </a:bodyPr>
          <a:lstStyle/>
          <a:p>
            <a:pPr>
              <a:defRPr sz="1350" b="1">
                <a:solidFill>
                  <a:srgbClr val="0A2373"/>
                </a:solidFill>
                <a:latin typeface="Lato"/>
                <a:ea typeface="Lato"/>
                <a:cs typeface="Lato"/>
              </a:defRPr>
            </a:pPr>
            <a:r>
              <a:rPr sz="1350" b="1">
                <a:solidFill>
                  <a:srgbClr val="0A2373"/>
                </a:solidFill>
                <a:latin typeface="Lato"/>
                <a:ea typeface="Lato"/>
                <a:cs typeface="Lato"/>
              </a:rPr>
              <a:t>COMPLICATION</a:t>
            </a:r>
          </a:p>
        </p:txBody>
      </p:sp>
      <p:sp>
        <p:nvSpPr>
          <p:cNvPr id="54" name="Complication answer">
            <a:extLst>
              <a:ext uri="{FF2B5EF4-FFF2-40B4-BE49-F238E27FC236}">
                <a16:creationId xmlns:a16="http://schemas.microsoft.com/office/drawing/2014/main" id="{B25D0F1D-8193-40CA-A912-4516957568AA}"/>
              </a:ext>
            </a:extLst>
          </p:cNvPr>
          <p:cNvSpPr>
            <a:spLocks noGrp="1"/>
          </p:cNvSpPr>
          <p:nvPr/>
        </p:nvSpPr>
        <p:spPr>
          <a:xfrm>
            <a:off x="2143125" y="2781300"/>
            <a:ext cx="8963025" cy="304800"/>
          </a:xfrm>
          <a:prstGeom prst="rect">
            <a:avLst/>
          </a:prstGeom>
          <a:noFill/>
          <a:ln w="0">
            <a:noFill/>
          </a:ln>
        </p:spPr>
        <p:txBody>
          <a:bodyPr>
            <a:noAutofit/>
          </a:bodyPr>
          <a:lstStyle/>
          <a:p>
            <a:pPr>
              <a:defRPr sz="1575" b="1">
                <a:solidFill>
                  <a:srgbClr val="0A2373"/>
                </a:solidFill>
                <a:latin typeface="Lato"/>
                <a:ea typeface="Lato"/>
                <a:cs typeface="Lato"/>
              </a:defRPr>
            </a:pPr>
            <a:r>
              <a:rPr sz="1575" b="1">
                <a:solidFill>
                  <a:srgbClr val="0A2373"/>
                </a:solidFill>
                <a:latin typeface="Lato"/>
                <a:ea typeface="Lato"/>
                <a:cs typeface="Lato"/>
              </a:rPr>
              <a:t>Sector growth supports demand, but five drivers reshape fuel flows through Durban</a:t>
            </a:r>
          </a:p>
        </p:txBody>
      </p:sp>
      <p:sp>
        <p:nvSpPr>
          <p:cNvPr id="55" name="Driver 0">
            <a:extLst>
              <a:ext uri="{FF2B5EF4-FFF2-40B4-BE49-F238E27FC236}">
                <a16:creationId xmlns:a16="http://schemas.microsoft.com/office/drawing/2014/main" id="{C571A78D-3FB7-421D-BFCF-30976342BD81}"/>
              </a:ext>
            </a:extLst>
          </p:cNvPr>
          <p:cNvSpPr>
            <a:spLocks noGrp="1"/>
          </p:cNvSpPr>
          <p:nvPr/>
        </p:nvSpPr>
        <p:spPr>
          <a:xfrm>
            <a:off x="2143125" y="3190875"/>
            <a:ext cx="2362200" cy="371475"/>
          </a:xfrm>
          <a:prstGeom prst="rect">
            <a:avLst/>
          </a:prstGeom>
          <a:noFill/>
          <a:ln w="0">
            <a:noFill/>
          </a:ln>
        </p:spPr>
        <p:txBody>
          <a:bodyPr>
            <a:noAutofit/>
          </a:bodyPr>
          <a:lstStyle/>
          <a:p>
            <a:pPr>
              <a:defRPr sz="1275" b="1">
                <a:solidFill>
                  <a:srgbClr val="0A2373"/>
                </a:solidFill>
                <a:latin typeface="Lato"/>
                <a:ea typeface="Lato"/>
                <a:cs typeface="Lato"/>
              </a:defRPr>
            </a:pPr>
            <a:r>
              <a:rPr sz="1275" b="1">
                <a:solidFill>
                  <a:srgbClr val="0A2373"/>
                </a:solidFill>
                <a:latin typeface="Lato"/>
                <a:ea typeface="Lato"/>
                <a:cs typeface="Lato"/>
              </a:rPr>
              <a:t>Mining, manufacturing</a:t>
            </a:r>
          </a:p>
          <a:p>
            <a:pPr>
              <a:defRPr sz="1275" b="1">
                <a:solidFill>
                  <a:srgbClr val="0A2373"/>
                </a:solidFill>
                <a:latin typeface="Lato"/>
                <a:ea typeface="Lato"/>
                <a:cs typeface="Lato"/>
              </a:defRPr>
            </a:pPr>
            <a:r>
              <a:rPr sz="1275" b="1">
                <a:solidFill>
                  <a:srgbClr val="0A2373"/>
                </a:solidFill>
                <a:latin typeface="Lato"/>
                <a:ea typeface="Lato"/>
                <a:cs typeface="Lato"/>
              </a:rPr>
              <a:t>and agriculture</a:t>
            </a:r>
          </a:p>
        </p:txBody>
      </p:sp>
      <p:sp>
        <p:nvSpPr>
          <p:cNvPr id="56" name="Driver implication 0">
            <a:extLst>
              <a:ext uri="{FF2B5EF4-FFF2-40B4-BE49-F238E27FC236}">
                <a16:creationId xmlns:a16="http://schemas.microsoft.com/office/drawing/2014/main" id="{0465E92D-5FD9-4E18-9301-F4F3556C7CEC}"/>
              </a:ext>
            </a:extLst>
          </p:cNvPr>
          <p:cNvSpPr>
            <a:spLocks noGrp="1"/>
          </p:cNvSpPr>
          <p:nvPr/>
        </p:nvSpPr>
        <p:spPr>
          <a:xfrm>
            <a:off x="4600575" y="3190875"/>
            <a:ext cx="6505575" cy="371475"/>
          </a:xfrm>
          <a:prstGeom prst="rect">
            <a:avLst/>
          </a:prstGeom>
          <a:noFill/>
          <a:ln w="0">
            <a:noFill/>
          </a:ln>
        </p:spPr>
        <p:txBody>
          <a:bodyPr>
            <a:noAutofit/>
          </a:bodyPr>
          <a:lstStyle/>
          <a:p>
            <a:pPr>
              <a:defRPr sz="1275" b="0">
                <a:solidFill>
                  <a:srgbClr val="11151A"/>
                </a:solidFill>
                <a:latin typeface="Lato"/>
                <a:ea typeface="Lato"/>
                <a:cs typeface="Lato"/>
              </a:defRPr>
            </a:pPr>
            <a:r>
              <a:rPr sz="1275" b="0">
                <a:solidFill>
                  <a:srgbClr val="11151A"/>
                </a:solidFill>
                <a:latin typeface="Lato"/>
                <a:ea typeface="Lato"/>
                <a:cs typeface="Lato"/>
              </a:rPr>
              <a:t>Production, exports and harvests drive equipment and freight demand; different sector growth paths produce different fuel-demand outcomes.</a:t>
            </a:r>
          </a:p>
        </p:txBody>
      </p:sp>
      <p:sp>
        <p:nvSpPr>
          <p:cNvPr id="57" name="Driver 1">
            <a:extLst>
              <a:ext uri="{FF2B5EF4-FFF2-40B4-BE49-F238E27FC236}">
                <a16:creationId xmlns:a16="http://schemas.microsoft.com/office/drawing/2014/main" id="{475D985B-60D5-4B1A-9742-5F9032BB18DB}"/>
              </a:ext>
            </a:extLst>
          </p:cNvPr>
          <p:cNvSpPr>
            <a:spLocks noGrp="1"/>
          </p:cNvSpPr>
          <p:nvPr/>
        </p:nvSpPr>
        <p:spPr>
          <a:xfrm>
            <a:off x="2143125" y="3562350"/>
            <a:ext cx="2362200" cy="371475"/>
          </a:xfrm>
          <a:prstGeom prst="rect">
            <a:avLst/>
          </a:prstGeom>
          <a:noFill/>
          <a:ln w="0">
            <a:noFill/>
          </a:ln>
        </p:spPr>
        <p:txBody>
          <a:bodyPr>
            <a:noAutofit/>
          </a:bodyPr>
          <a:lstStyle/>
          <a:p>
            <a:pPr>
              <a:defRPr sz="1275" b="1">
                <a:solidFill>
                  <a:srgbClr val="0A2373"/>
                </a:solidFill>
                <a:latin typeface="Lato"/>
                <a:ea typeface="Lato"/>
                <a:cs typeface="Lato"/>
              </a:defRPr>
            </a:pPr>
            <a:r>
              <a:rPr sz="1275" b="1">
                <a:solidFill>
                  <a:srgbClr val="0A2373"/>
                </a:solidFill>
                <a:latin typeface="Lato"/>
                <a:ea typeface="Lato"/>
                <a:cs typeface="Lato"/>
              </a:rPr>
              <a:t>Eskom and power</a:t>
            </a:r>
          </a:p>
          <a:p>
            <a:pPr>
              <a:defRPr sz="1275" b="1">
                <a:solidFill>
                  <a:srgbClr val="0A2373"/>
                </a:solidFill>
                <a:latin typeface="Lato"/>
                <a:ea typeface="Lato"/>
                <a:cs typeface="Lato"/>
              </a:defRPr>
            </a:pPr>
            <a:r>
              <a:rPr sz="1275" b="1">
                <a:solidFill>
                  <a:srgbClr val="0A2373"/>
                </a:solidFill>
                <a:latin typeface="Lato"/>
                <a:ea typeface="Lato"/>
                <a:cs typeface="Lato"/>
              </a:rPr>
              <a:t>generation</a:t>
            </a:r>
          </a:p>
        </p:txBody>
      </p:sp>
      <p:sp>
        <p:nvSpPr>
          <p:cNvPr id="58" name="Driver implication 1">
            <a:extLst>
              <a:ext uri="{FF2B5EF4-FFF2-40B4-BE49-F238E27FC236}">
                <a16:creationId xmlns:a16="http://schemas.microsoft.com/office/drawing/2014/main" id="{73FDDC47-AEF4-4E26-B5F9-D3C9EEC3E8AE}"/>
              </a:ext>
            </a:extLst>
          </p:cNvPr>
          <p:cNvSpPr>
            <a:spLocks noGrp="1"/>
          </p:cNvSpPr>
          <p:nvPr/>
        </p:nvSpPr>
        <p:spPr>
          <a:xfrm>
            <a:off x="4600575" y="3562350"/>
            <a:ext cx="6505575" cy="371475"/>
          </a:xfrm>
          <a:prstGeom prst="rect">
            <a:avLst/>
          </a:prstGeom>
          <a:noFill/>
          <a:ln w="0">
            <a:noFill/>
          </a:ln>
        </p:spPr>
        <p:txBody>
          <a:bodyPr>
            <a:noAutofit/>
          </a:bodyPr>
          <a:lstStyle/>
          <a:p>
            <a:pPr>
              <a:defRPr sz="1275" b="0">
                <a:solidFill>
                  <a:srgbClr val="11151A"/>
                </a:solidFill>
                <a:latin typeface="Lato"/>
                <a:ea typeface="Lato"/>
                <a:cs typeface="Lato"/>
              </a:defRPr>
            </a:pPr>
            <a:r>
              <a:rPr sz="1275" b="0">
                <a:solidFill>
                  <a:srgbClr val="11151A"/>
                </a:solidFill>
                <a:latin typeface="Lato"/>
                <a:ea typeface="Lato"/>
                <a:cs typeface="Lato"/>
              </a:rPr>
              <a:t>Eskom recovery reduces peaking and backup diesel at utilities, mines, factories and farms, while better electricity supply can support higher activity.</a:t>
            </a:r>
          </a:p>
        </p:txBody>
      </p:sp>
      <p:sp>
        <p:nvSpPr>
          <p:cNvPr id="59" name="Driver 2">
            <a:extLst>
              <a:ext uri="{FF2B5EF4-FFF2-40B4-BE49-F238E27FC236}">
                <a16:creationId xmlns:a16="http://schemas.microsoft.com/office/drawing/2014/main" id="{2A9E55B5-67CF-43BD-A658-8F9281C314ED}"/>
              </a:ext>
            </a:extLst>
          </p:cNvPr>
          <p:cNvSpPr>
            <a:spLocks noGrp="1"/>
          </p:cNvSpPr>
          <p:nvPr/>
        </p:nvSpPr>
        <p:spPr>
          <a:xfrm>
            <a:off x="2143125" y="3933825"/>
            <a:ext cx="2362200" cy="371475"/>
          </a:xfrm>
          <a:prstGeom prst="rect">
            <a:avLst/>
          </a:prstGeom>
          <a:noFill/>
          <a:ln w="0">
            <a:noFill/>
          </a:ln>
        </p:spPr>
        <p:txBody>
          <a:bodyPr>
            <a:noAutofit/>
          </a:bodyPr>
          <a:lstStyle/>
          <a:p>
            <a:pPr>
              <a:defRPr sz="1275" b="1">
                <a:solidFill>
                  <a:srgbClr val="0A2373"/>
                </a:solidFill>
                <a:latin typeface="Lato"/>
                <a:ea typeface="Lato"/>
                <a:cs typeface="Lato"/>
              </a:defRPr>
            </a:pPr>
            <a:r>
              <a:rPr sz="1275" b="1">
                <a:solidFill>
                  <a:srgbClr val="0A2373"/>
                </a:solidFill>
                <a:latin typeface="Lato"/>
                <a:ea typeface="Lato"/>
                <a:cs typeface="Lato"/>
              </a:rPr>
              <a:t>Road-to-rail shift and</a:t>
            </a:r>
          </a:p>
          <a:p>
            <a:pPr>
              <a:defRPr sz="1275" b="1">
                <a:solidFill>
                  <a:srgbClr val="0A2373"/>
                </a:solidFill>
                <a:latin typeface="Lato"/>
                <a:ea typeface="Lato"/>
                <a:cs typeface="Lato"/>
              </a:defRPr>
            </a:pPr>
            <a:r>
              <a:rPr sz="1275" b="1">
                <a:solidFill>
                  <a:srgbClr val="0A2373"/>
                </a:solidFill>
                <a:latin typeface="Lato"/>
                <a:ea typeface="Lato"/>
                <a:cs typeface="Lato"/>
              </a:rPr>
              <a:t>vehicle efficiency</a:t>
            </a:r>
          </a:p>
        </p:txBody>
      </p:sp>
      <p:sp>
        <p:nvSpPr>
          <p:cNvPr id="60" name="Driver implication 2">
            <a:extLst>
              <a:ext uri="{FF2B5EF4-FFF2-40B4-BE49-F238E27FC236}">
                <a16:creationId xmlns:a16="http://schemas.microsoft.com/office/drawing/2014/main" id="{41C7F8CB-A2EC-4DD8-A667-79BBDD2B791D}"/>
              </a:ext>
            </a:extLst>
          </p:cNvPr>
          <p:cNvSpPr>
            <a:spLocks noGrp="1"/>
          </p:cNvSpPr>
          <p:nvPr/>
        </p:nvSpPr>
        <p:spPr>
          <a:xfrm>
            <a:off x="4600575" y="3933825"/>
            <a:ext cx="6505575" cy="371475"/>
          </a:xfrm>
          <a:prstGeom prst="rect">
            <a:avLst/>
          </a:prstGeom>
          <a:noFill/>
          <a:ln w="0">
            <a:noFill/>
          </a:ln>
        </p:spPr>
        <p:txBody>
          <a:bodyPr>
            <a:noAutofit/>
          </a:bodyPr>
          <a:lstStyle/>
          <a:p>
            <a:pPr>
              <a:defRPr sz="1275" b="0">
                <a:solidFill>
                  <a:srgbClr val="11151A"/>
                </a:solidFill>
                <a:latin typeface="Lato"/>
                <a:ea typeface="Lato"/>
                <a:cs typeface="Lato"/>
              </a:defRPr>
            </a:pPr>
            <a:r>
              <a:rPr sz="1275" b="0">
                <a:solidFill>
                  <a:srgbClr val="11151A"/>
                </a:solidFill>
                <a:latin typeface="Lato"/>
                <a:ea typeface="Lato"/>
                <a:cs typeface="Lato"/>
              </a:rPr>
              <a:t>Moving mining, agricultural and manufactured goods from trucks to rail reduces road diesel use; vehicle efficiency further lowers fuel per unit of activity.</a:t>
            </a:r>
          </a:p>
        </p:txBody>
      </p:sp>
      <p:sp>
        <p:nvSpPr>
          <p:cNvPr id="61" name="Driver 3">
            <a:extLst>
              <a:ext uri="{FF2B5EF4-FFF2-40B4-BE49-F238E27FC236}">
                <a16:creationId xmlns:a16="http://schemas.microsoft.com/office/drawing/2014/main" id="{BAB177DF-ADA4-4D59-B3D6-DC834C636935}"/>
              </a:ext>
            </a:extLst>
          </p:cNvPr>
          <p:cNvSpPr>
            <a:spLocks noGrp="1"/>
          </p:cNvSpPr>
          <p:nvPr/>
        </p:nvSpPr>
        <p:spPr>
          <a:xfrm>
            <a:off x="2143125" y="4305300"/>
            <a:ext cx="2362200" cy="371475"/>
          </a:xfrm>
          <a:prstGeom prst="rect">
            <a:avLst/>
          </a:prstGeom>
          <a:noFill/>
          <a:ln w="0">
            <a:noFill/>
          </a:ln>
        </p:spPr>
        <p:txBody>
          <a:bodyPr>
            <a:noAutofit/>
          </a:bodyPr>
          <a:lstStyle/>
          <a:p>
            <a:pPr>
              <a:defRPr sz="1275" b="1">
                <a:solidFill>
                  <a:srgbClr val="0A2373"/>
                </a:solidFill>
                <a:latin typeface="Lato"/>
                <a:ea typeface="Lato"/>
                <a:cs typeface="Lato"/>
              </a:defRPr>
            </a:pPr>
            <a:r>
              <a:rPr sz="1275" b="1">
                <a:solidFill>
                  <a:srgbClr val="0A2373"/>
                </a:solidFill>
                <a:latin typeface="Lato"/>
                <a:ea typeface="Lato"/>
                <a:cs typeface="Lato"/>
              </a:rPr>
              <a:t>Refineries and domestic</a:t>
            </a:r>
          </a:p>
          <a:p>
            <a:pPr>
              <a:defRPr sz="1275" b="1">
                <a:solidFill>
                  <a:srgbClr val="0A2373"/>
                </a:solidFill>
                <a:latin typeface="Lato"/>
                <a:ea typeface="Lato"/>
                <a:cs typeface="Lato"/>
              </a:defRPr>
            </a:pPr>
            <a:r>
              <a:rPr sz="1275" b="1">
                <a:solidFill>
                  <a:srgbClr val="0A2373"/>
                </a:solidFill>
                <a:latin typeface="Lato"/>
                <a:ea typeface="Lato"/>
                <a:cs typeface="Lato"/>
              </a:rPr>
              <a:t>fuel production</a:t>
            </a:r>
          </a:p>
        </p:txBody>
      </p:sp>
      <p:sp>
        <p:nvSpPr>
          <p:cNvPr id="62" name="Driver implication 3">
            <a:extLst>
              <a:ext uri="{FF2B5EF4-FFF2-40B4-BE49-F238E27FC236}">
                <a16:creationId xmlns:a16="http://schemas.microsoft.com/office/drawing/2014/main" id="{664DBA78-C8EF-410F-9289-03D1EF46275F}"/>
              </a:ext>
            </a:extLst>
          </p:cNvPr>
          <p:cNvSpPr>
            <a:spLocks noGrp="1"/>
          </p:cNvSpPr>
          <p:nvPr/>
        </p:nvSpPr>
        <p:spPr>
          <a:xfrm>
            <a:off x="4600575" y="4305300"/>
            <a:ext cx="6505575" cy="371475"/>
          </a:xfrm>
          <a:prstGeom prst="rect">
            <a:avLst/>
          </a:prstGeom>
          <a:noFill/>
          <a:ln w="0">
            <a:noFill/>
          </a:ln>
        </p:spPr>
        <p:txBody>
          <a:bodyPr>
            <a:noAutofit/>
          </a:bodyPr>
          <a:lstStyle/>
          <a:p>
            <a:pPr>
              <a:defRPr sz="1275" b="0">
                <a:solidFill>
                  <a:srgbClr val="11151A"/>
                </a:solidFill>
                <a:latin typeface="Lato"/>
                <a:ea typeface="Lato"/>
                <a:cs typeface="Lato"/>
              </a:defRPr>
            </a:pPr>
            <a:r>
              <a:rPr sz="1275" b="0">
                <a:solidFill>
                  <a:srgbClr val="11151A"/>
                </a:solidFill>
                <a:latin typeface="Lato"/>
                <a:ea typeface="Lato"/>
                <a:cs typeface="Lato"/>
              </a:rPr>
              <a:t>Higher operating output or refinery restarts could displace imports relative to the 5.8bn-litre production assumption; lower output increases import need.</a:t>
            </a:r>
          </a:p>
        </p:txBody>
      </p:sp>
      <p:sp>
        <p:nvSpPr>
          <p:cNvPr id="63" name="Driver 4">
            <a:extLst>
              <a:ext uri="{FF2B5EF4-FFF2-40B4-BE49-F238E27FC236}">
                <a16:creationId xmlns:a16="http://schemas.microsoft.com/office/drawing/2014/main" id="{078D60FF-AD06-409E-B14F-3C39CB732874}"/>
              </a:ext>
            </a:extLst>
          </p:cNvPr>
          <p:cNvSpPr>
            <a:spLocks noGrp="1"/>
          </p:cNvSpPr>
          <p:nvPr/>
        </p:nvSpPr>
        <p:spPr>
          <a:xfrm>
            <a:off x="2143125" y="4676775"/>
            <a:ext cx="2362200" cy="371475"/>
          </a:xfrm>
          <a:prstGeom prst="rect">
            <a:avLst/>
          </a:prstGeom>
          <a:noFill/>
          <a:ln w="0">
            <a:noFill/>
          </a:ln>
        </p:spPr>
        <p:txBody>
          <a:bodyPr>
            <a:noAutofit/>
          </a:bodyPr>
          <a:lstStyle/>
          <a:p>
            <a:pPr>
              <a:defRPr sz="1275" b="1">
                <a:solidFill>
                  <a:srgbClr val="0A2373"/>
                </a:solidFill>
                <a:latin typeface="Lato"/>
                <a:ea typeface="Lato"/>
                <a:cs typeface="Lato"/>
              </a:defRPr>
            </a:pPr>
            <a:r>
              <a:rPr sz="1275" b="1">
                <a:solidFill>
                  <a:srgbClr val="0A2373"/>
                </a:solidFill>
                <a:latin typeface="Lato"/>
                <a:ea typeface="Lato"/>
                <a:cs typeface="Lato"/>
              </a:rPr>
              <a:t>Matola and Walvis Bay</a:t>
            </a:r>
          </a:p>
        </p:txBody>
      </p:sp>
      <p:sp>
        <p:nvSpPr>
          <p:cNvPr id="64" name="Driver implication 4">
            <a:extLst>
              <a:ext uri="{FF2B5EF4-FFF2-40B4-BE49-F238E27FC236}">
                <a16:creationId xmlns:a16="http://schemas.microsoft.com/office/drawing/2014/main" id="{85D0D7A6-C7C6-4F5E-82AC-728B7799C163}"/>
              </a:ext>
            </a:extLst>
          </p:cNvPr>
          <p:cNvSpPr>
            <a:spLocks noGrp="1"/>
          </p:cNvSpPr>
          <p:nvPr/>
        </p:nvSpPr>
        <p:spPr>
          <a:xfrm>
            <a:off x="4600575" y="4676775"/>
            <a:ext cx="6505575" cy="371475"/>
          </a:xfrm>
          <a:prstGeom prst="rect">
            <a:avLst/>
          </a:prstGeom>
          <a:noFill/>
          <a:ln w="0">
            <a:noFill/>
          </a:ln>
        </p:spPr>
        <p:txBody>
          <a:bodyPr>
            <a:noAutofit/>
          </a:bodyPr>
          <a:lstStyle/>
          <a:p>
            <a:pPr>
              <a:defRPr sz="1275" b="0">
                <a:solidFill>
                  <a:srgbClr val="11151A"/>
                </a:solidFill>
                <a:latin typeface="Lato"/>
                <a:ea typeface="Lato"/>
                <a:cs typeface="Lato"/>
              </a:defRPr>
            </a:pPr>
            <a:r>
              <a:rPr sz="1275" b="0">
                <a:solidFill>
                  <a:srgbClr val="11151A"/>
                </a:solidFill>
                <a:latin typeface="Lato"/>
                <a:ea typeface="Lato"/>
                <a:cs typeface="Lato"/>
              </a:rPr>
              <a:t>Alternative gateways could divert inland supply from Durban, depending on delivered cost, reliability and customer access.</a:t>
            </a:r>
          </a:p>
        </p:txBody>
      </p:sp>
      <p:sp>
        <p:nvSpPr>
          <p:cNvPr id="65" name="SCR divider 536">
            <a:extLst>
              <a:ext uri="{FF2B5EF4-FFF2-40B4-BE49-F238E27FC236}">
                <a16:creationId xmlns:a16="http://schemas.microsoft.com/office/drawing/2014/main" id="{EF33762C-FFE1-4265-91E5-2DAD3A2F729D}"/>
              </a:ext>
            </a:extLst>
          </p:cNvPr>
          <p:cNvSpPr>
            <a:spLocks noGrp="1"/>
          </p:cNvSpPr>
          <p:nvPr/>
        </p:nvSpPr>
        <p:spPr>
          <a:xfrm>
            <a:off x="457200" y="5105400"/>
            <a:ext cx="10648950" cy="9525"/>
          </a:xfrm>
          <a:prstGeom prst="rect">
            <a:avLst/>
          </a:prstGeom>
          <a:solidFill>
            <a:srgbClr val="D9D9D9"/>
          </a:solidFill>
          <a:ln w="0">
            <a:noFill/>
          </a:ln>
        </p:spPr>
      </p:sp>
      <p:sp>
        <p:nvSpPr>
          <p:cNvPr id="66" name="Resolution label">
            <a:extLst>
              <a:ext uri="{FF2B5EF4-FFF2-40B4-BE49-F238E27FC236}">
                <a16:creationId xmlns:a16="http://schemas.microsoft.com/office/drawing/2014/main" id="{1C36B8FD-E951-4E0D-B48B-A208D50A5F37}"/>
              </a:ext>
            </a:extLst>
          </p:cNvPr>
          <p:cNvSpPr>
            <a:spLocks noGrp="1"/>
          </p:cNvSpPr>
          <p:nvPr/>
        </p:nvSpPr>
        <p:spPr>
          <a:xfrm>
            <a:off x="457200" y="5267325"/>
            <a:ext cx="1619250" cy="285750"/>
          </a:xfrm>
          <a:prstGeom prst="rect">
            <a:avLst/>
          </a:prstGeom>
          <a:noFill/>
          <a:ln w="0">
            <a:noFill/>
          </a:ln>
        </p:spPr>
        <p:txBody>
          <a:bodyPr>
            <a:noAutofit/>
          </a:bodyPr>
          <a:lstStyle/>
          <a:p>
            <a:pPr>
              <a:defRPr sz="1350" b="1">
                <a:solidFill>
                  <a:srgbClr val="0A2373"/>
                </a:solidFill>
                <a:latin typeface="Lato"/>
                <a:ea typeface="Lato"/>
                <a:cs typeface="Lato"/>
              </a:defRPr>
            </a:pPr>
            <a:r>
              <a:rPr sz="1350" b="1">
                <a:solidFill>
                  <a:srgbClr val="0A2373"/>
                </a:solidFill>
                <a:latin typeface="Lato"/>
                <a:ea typeface="Lato"/>
                <a:cs typeface="Lato"/>
              </a:rPr>
              <a:t>RESOLUTION</a:t>
            </a:r>
          </a:p>
        </p:txBody>
      </p:sp>
      <p:sp>
        <p:nvSpPr>
          <p:cNvPr id="67" name="Resolution answer">
            <a:extLst>
              <a:ext uri="{FF2B5EF4-FFF2-40B4-BE49-F238E27FC236}">
                <a16:creationId xmlns:a16="http://schemas.microsoft.com/office/drawing/2014/main" id="{DA0EB151-EB84-48A3-8408-E15C38C058C7}"/>
              </a:ext>
            </a:extLst>
          </p:cNvPr>
          <p:cNvSpPr>
            <a:spLocks noGrp="1"/>
          </p:cNvSpPr>
          <p:nvPr/>
        </p:nvSpPr>
        <p:spPr>
          <a:xfrm>
            <a:off x="2143125" y="5219700"/>
            <a:ext cx="8963025" cy="295275"/>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Vopak should secure customer capture before expanding capacity</a:t>
            </a:r>
          </a:p>
        </p:txBody>
      </p:sp>
      <p:sp>
        <p:nvSpPr>
          <p:cNvPr id="68" name="Resolution evidence">
            <a:extLst>
              <a:ext uri="{FF2B5EF4-FFF2-40B4-BE49-F238E27FC236}">
                <a16:creationId xmlns:a16="http://schemas.microsoft.com/office/drawing/2014/main" id="{2BB9C21B-0533-4D86-AB97-4C72FAC564E0}"/>
              </a:ext>
            </a:extLst>
          </p:cNvPr>
          <p:cNvSpPr>
            <a:spLocks noGrp="1"/>
          </p:cNvSpPr>
          <p:nvPr/>
        </p:nvSpPr>
        <p:spPr>
          <a:xfrm>
            <a:off x="2143125" y="5562600"/>
            <a:ext cx="8963025" cy="40957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Base-case imports remain about 16.6bn litres in 2030. Illustrative capture is 2.63bn litres through Durban, including 1.32bn onward through Lesedi within the same flow; this fits the preliminary working-tank screen.</a:t>
            </a:r>
          </a:p>
        </p:txBody>
      </p:sp>
      <p:sp>
        <p:nvSpPr>
          <p:cNvPr id="69" name="Resolution decision">
            <a:extLst>
              <a:ext uri="{FF2B5EF4-FFF2-40B4-BE49-F238E27FC236}">
                <a16:creationId xmlns:a16="http://schemas.microsoft.com/office/drawing/2014/main" id="{4BF63A74-D72C-456E-AFC2-06768AC44145}"/>
              </a:ext>
            </a:extLst>
          </p:cNvPr>
          <p:cNvSpPr>
            <a:spLocks noGrp="1"/>
          </p:cNvSpPr>
          <p:nvPr/>
        </p:nvSpPr>
        <p:spPr>
          <a:xfrm>
            <a:off x="2143125" y="6010275"/>
            <a:ext cx="8963025" cy="238125"/>
          </a:xfrm>
          <a:prstGeom prst="rect">
            <a:avLst/>
          </a:prstGeom>
          <a:noFill/>
          <a:ln w="0">
            <a:noFill/>
          </a:ln>
        </p:spPr>
        <p:txBody>
          <a:bodyPr>
            <a:noAutofit/>
          </a:bodyPr>
          <a:lstStyle/>
          <a:p>
            <a:pPr>
              <a:defRPr sz="1350" b="1">
                <a:solidFill>
                  <a:srgbClr val="0A2373"/>
                </a:solidFill>
                <a:latin typeface="Lato"/>
                <a:ea typeface="Lato"/>
                <a:cs typeface="Lato"/>
              </a:defRPr>
            </a:pPr>
            <a:r>
              <a:rPr sz="1350" b="1">
                <a:solidFill>
                  <a:srgbClr val="0A2373"/>
                </a:solidFill>
                <a:latin typeface="Lato"/>
                <a:ea typeface="Lato"/>
                <a:cs typeface="Lato"/>
              </a:rPr>
              <a:t>Expansion requires secured incremental volumes and a demonstrated capacity shortfall.</a:t>
            </a:r>
          </a:p>
        </p:txBody>
      </p:sp>
      <p:graphicFrame>
        <p:nvGraphicFramePr>
          <p:cNvPr id="4" name="brand-pptx section navigation">
            <a:extLst>
              <a:ext uri="{FF2B5EF4-FFF2-40B4-BE49-F238E27FC236}">
                <a16:creationId xmlns:a16="http://schemas.microsoft.com/office/drawing/2014/main" id="{705D643C-9213-E65E-E110-A890C791977C}"/>
              </a:ext>
            </a:extLst>
          </p:cNvPr>
          <p:cNvGraphicFramePr/>
          <p:nvPr>
            <p:extLst>
              <p:ext uri="{D42A27DB-BD31-4B8C-83A1-F6EECF244321}">
                <p14:modId xmlns:p14="http://schemas.microsoft.com/office/powerpoint/2010/main" val="214549660"/>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9058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Our 2025 baseline is 21.0bn litres, with road use accounting for most demand</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3</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sales through 2023; energy balances and Stats SA activity; Eskom/IPP evidence. All 2025 segment allocations are estimates; other diesel retains an explicit residual.</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810000"/>
        </p:xfrm>
        <a:graphic>
          <a:graphicData uri="http://schemas.openxmlformats.org/drawingml/2006/table">
            <a:tbl>
              <a:tblPr/>
              <a:tblGrid>
                <a:gridCol w="5810250">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2600325">
                  <a:extLst>
                    <a:ext uri="{9D8B030D-6E8A-4147-A177-3AD203B41FA5}">
                      <a16:colId xmlns:a16="http://schemas.microsoft.com/office/drawing/2014/main" val="20002"/>
                    </a:ext>
                  </a:extLst>
                </a:gridCol>
              </a:tblGrid>
              <a:tr h="409575">
                <a:tc>
                  <a:txBody>
                    <a:bodyPr/>
                    <a:lstStyle/>
                    <a:p>
                      <a:r>
                        <a:rPr sz="1275" b="1">
                          <a:solidFill>
                            <a:srgbClr val="0A2373"/>
                          </a:solidFill>
                          <a:latin typeface="Lato"/>
                          <a:ea typeface="Lato"/>
                          <a:cs typeface="Lato"/>
                        </a:rPr>
                        <a:t>Demand segment</a:t>
                      </a:r>
                    </a:p>
                  </a:txBody>
                  <a:tcPr>
                    <a:solidFill>
                      <a:srgbClr val="F5F5F5"/>
                    </a:solidFill>
                  </a:tcPr>
                </a:tc>
                <a:tc>
                  <a:txBody>
                    <a:bodyPr/>
                    <a:lstStyle/>
                    <a:p>
                      <a:r>
                        <a:rPr sz="1275" b="1">
                          <a:solidFill>
                            <a:srgbClr val="0A2373"/>
                          </a:solidFill>
                          <a:latin typeface="Lato"/>
                          <a:ea typeface="Lato"/>
                          <a:cs typeface="Lato"/>
                        </a:rPr>
                        <a:t>2025 estimate</a:t>
                      </a:r>
                    </a:p>
                    <a:p>
                      <a:r>
                        <a:rPr sz="1275" b="1">
                          <a:solidFill>
                            <a:srgbClr val="0A2373"/>
                          </a:solidFill>
                          <a:latin typeface="Lato"/>
                          <a:ea typeface="Lato"/>
                          <a:cs typeface="Lato"/>
                        </a:rPr>
                        <a:t>bn litres</a:t>
                      </a:r>
                    </a:p>
                  </a:txBody>
                  <a:tcPr>
                    <a:solidFill>
                      <a:srgbClr val="F5F5F5"/>
                    </a:solidFill>
                  </a:tcPr>
                </a:tc>
                <a:tc>
                  <a:txBody>
                    <a:bodyPr/>
                    <a:lstStyle/>
                    <a:p>
                      <a:r>
                        <a:rPr sz="1275" b="1">
                          <a:solidFill>
                            <a:srgbClr val="0A2373"/>
                          </a:solidFill>
                          <a:latin typeface="Lato"/>
                          <a:ea typeface="Lato"/>
                          <a:cs typeface="Lato"/>
                        </a:rPr>
                        <a:t>Change since 2023</a:t>
                      </a:r>
                    </a:p>
                    <a:p>
                      <a:r>
                        <a:rPr sz="1275" b="1">
                          <a:solidFill>
                            <a:srgbClr val="0A2373"/>
                          </a:solidFill>
                          <a:latin typeface="Lato"/>
                          <a:ea typeface="Lato"/>
                          <a:cs typeface="Lato"/>
                        </a:rPr>
                        <a:t>bn litres</a:t>
                      </a:r>
                    </a:p>
                  </a:txBody>
                  <a:tcPr>
                    <a:solidFill>
                      <a:srgbClr val="F5F5F5"/>
                    </a:solidFill>
                  </a:tcPr>
                </a:tc>
                <a:extLst>
                  <a:ext uri="{0D108BD9-81ED-4DB2-BD59-A6C34878D82A}">
                    <a16:rowId xmlns:a16="http://schemas.microsoft.com/office/drawing/2014/main" val="10000"/>
                  </a:ext>
                </a:extLst>
              </a:tr>
              <a:tr h="377825">
                <a:tc>
                  <a:txBody>
                    <a:bodyPr/>
                    <a:lstStyle/>
                    <a:p>
                      <a:r>
                        <a:rPr sz="1275" b="1">
                          <a:solidFill>
                            <a:srgbClr val="0A2373"/>
                          </a:solidFill>
                          <a:latin typeface="Lato"/>
                          <a:ea typeface="Lato"/>
                          <a:cs typeface="Lato"/>
                        </a:rPr>
                        <a:t>Petrol road use</a:t>
                      </a:r>
                    </a:p>
                  </a:txBody>
                  <a:tcPr>
                    <a:solidFill>
                      <a:srgbClr val="FFFFFF"/>
                    </a:solidFill>
                  </a:tcPr>
                </a:tc>
                <a:tc>
                  <a:txBody>
                    <a:bodyPr/>
                    <a:lstStyle/>
                    <a:p>
                      <a:r>
                        <a:rPr sz="1275" b="0">
                          <a:solidFill>
                            <a:srgbClr val="11151A"/>
                          </a:solidFill>
                          <a:latin typeface="Lato"/>
                          <a:ea typeface="Lato"/>
                          <a:cs typeface="Lato"/>
                        </a:rPr>
                        <a:t>8.59</a:t>
                      </a:r>
                    </a:p>
                  </a:txBody>
                  <a:tcPr>
                    <a:solidFill>
                      <a:srgbClr val="FFFFFF"/>
                    </a:solidFill>
                  </a:tcPr>
                </a:tc>
                <a:tc>
                  <a:txBody>
                    <a:bodyPr/>
                    <a:lstStyle/>
                    <a:p>
                      <a:r>
                        <a:rPr sz="1275" b="0">
                          <a:solidFill>
                            <a:srgbClr val="11151A"/>
                          </a:solidFill>
                          <a:latin typeface="Lato"/>
                          <a:ea typeface="Lato"/>
                          <a:cs typeface="Lato"/>
                        </a:rPr>
                        <a:t>-0.18</a:t>
                      </a:r>
                    </a:p>
                  </a:txBody>
                  <a:tcPr>
                    <a:solidFill>
                      <a:srgbClr val="FFFFFF"/>
                    </a:solidFill>
                  </a:tcPr>
                </a:tc>
                <a:extLst>
                  <a:ext uri="{0D108BD9-81ED-4DB2-BD59-A6C34878D82A}">
                    <a16:rowId xmlns:a16="http://schemas.microsoft.com/office/drawing/2014/main" val="10001"/>
                  </a:ext>
                </a:extLst>
              </a:tr>
              <a:tr h="377825">
                <a:tc>
                  <a:txBody>
                    <a:bodyPr/>
                    <a:lstStyle/>
                    <a:p>
                      <a:r>
                        <a:rPr sz="1275" b="1">
                          <a:solidFill>
                            <a:srgbClr val="0A2373"/>
                          </a:solidFill>
                          <a:latin typeface="Lato"/>
                          <a:ea typeface="Lato"/>
                          <a:cs typeface="Lato"/>
                        </a:rPr>
                        <a:t>Mining</a:t>
                      </a:r>
                    </a:p>
                  </a:txBody>
                  <a:tcPr>
                    <a:solidFill>
                      <a:srgbClr val="FFFFFF"/>
                    </a:solidFill>
                  </a:tcPr>
                </a:tc>
                <a:tc>
                  <a:txBody>
                    <a:bodyPr/>
                    <a:lstStyle/>
                    <a:p>
                      <a:r>
                        <a:rPr sz="1275" b="0">
                          <a:solidFill>
                            <a:srgbClr val="11151A"/>
                          </a:solidFill>
                          <a:latin typeface="Lato"/>
                          <a:ea typeface="Lato"/>
                          <a:cs typeface="Lato"/>
                        </a:rPr>
                        <a:t>1.41</a:t>
                      </a:r>
                    </a:p>
                  </a:txBody>
                  <a:tcPr>
                    <a:solidFill>
                      <a:srgbClr val="FFFFFF"/>
                    </a:solidFill>
                  </a:tcPr>
                </a:tc>
                <a:tc>
                  <a:txBody>
                    <a:bodyPr/>
                    <a:lstStyle/>
                    <a:p>
                      <a:r>
                        <a:rPr sz="1275" b="0">
                          <a:solidFill>
                            <a:srgbClr val="11151A"/>
                          </a:solidFill>
                          <a:latin typeface="Lato"/>
                          <a:ea typeface="Lato"/>
                          <a:cs typeface="Lato"/>
                        </a:rPr>
                        <a:t>0.01</a:t>
                      </a:r>
                    </a:p>
                  </a:txBody>
                  <a:tcPr>
                    <a:solidFill>
                      <a:srgbClr val="FFFFFF"/>
                    </a:solidFill>
                  </a:tcPr>
                </a:tc>
                <a:extLst>
                  <a:ext uri="{0D108BD9-81ED-4DB2-BD59-A6C34878D82A}">
                    <a16:rowId xmlns:a16="http://schemas.microsoft.com/office/drawing/2014/main" val="10002"/>
                  </a:ext>
                </a:extLst>
              </a:tr>
              <a:tr h="377825">
                <a:tc>
                  <a:txBody>
                    <a:bodyPr/>
                    <a:lstStyle/>
                    <a:p>
                      <a:r>
                        <a:rPr sz="1275" b="1">
                          <a:solidFill>
                            <a:srgbClr val="0A2373"/>
                          </a:solidFill>
                          <a:latin typeface="Lato"/>
                          <a:ea typeface="Lato"/>
                          <a:cs typeface="Lato"/>
                        </a:rPr>
                        <a:t>Manufacturing</a:t>
                      </a:r>
                    </a:p>
                  </a:txBody>
                  <a:tcPr>
                    <a:solidFill>
                      <a:srgbClr val="FFFFFF"/>
                    </a:solidFill>
                  </a:tcPr>
                </a:tc>
                <a:tc>
                  <a:txBody>
                    <a:bodyPr/>
                    <a:lstStyle/>
                    <a:p>
                      <a:r>
                        <a:rPr sz="1275" b="0">
                          <a:solidFill>
                            <a:srgbClr val="11151A"/>
                          </a:solidFill>
                          <a:latin typeface="Lato"/>
                          <a:ea typeface="Lato"/>
                          <a:cs typeface="Lato"/>
                        </a:rPr>
                        <a:t>0.17</a:t>
                      </a:r>
                    </a:p>
                  </a:txBody>
                  <a:tcPr>
                    <a:solidFill>
                      <a:srgbClr val="FFFFFF"/>
                    </a:solidFill>
                  </a:tcPr>
                </a:tc>
                <a:tc>
                  <a:txBody>
                    <a:bodyPr/>
                    <a:lstStyle/>
                    <a:p>
                      <a:r>
                        <a:rPr sz="1275" b="0">
                          <a:solidFill>
                            <a:srgbClr val="11151A"/>
                          </a:solidFill>
                          <a:latin typeface="Lato"/>
                          <a:ea typeface="Lato"/>
                          <a:cs typeface="Lato"/>
                        </a:rPr>
                        <a:t>-0.00</a:t>
                      </a:r>
                    </a:p>
                  </a:txBody>
                  <a:tcPr>
                    <a:solidFill>
                      <a:srgbClr val="FFFFFF"/>
                    </a:solidFill>
                  </a:tcPr>
                </a:tc>
                <a:extLst>
                  <a:ext uri="{0D108BD9-81ED-4DB2-BD59-A6C34878D82A}">
                    <a16:rowId xmlns:a16="http://schemas.microsoft.com/office/drawing/2014/main" val="10003"/>
                  </a:ext>
                </a:extLst>
              </a:tr>
              <a:tr h="377825">
                <a:tc>
                  <a:txBody>
                    <a:bodyPr/>
                    <a:lstStyle/>
                    <a:p>
                      <a:r>
                        <a:rPr sz="1275" b="1">
                          <a:solidFill>
                            <a:srgbClr val="0A2373"/>
                          </a:solidFill>
                          <a:latin typeface="Lato"/>
                          <a:ea typeface="Lato"/>
                          <a:cs typeface="Lato"/>
                        </a:rPr>
                        <a:t>Agriculture</a:t>
                      </a:r>
                    </a:p>
                  </a:txBody>
                  <a:tcPr>
                    <a:solidFill>
                      <a:srgbClr val="FFFFFF"/>
                    </a:solidFill>
                  </a:tcPr>
                </a:tc>
                <a:tc>
                  <a:txBody>
                    <a:bodyPr/>
                    <a:lstStyle/>
                    <a:p>
                      <a:r>
                        <a:rPr sz="1275" b="0">
                          <a:solidFill>
                            <a:srgbClr val="11151A"/>
                          </a:solidFill>
                          <a:latin typeface="Lato"/>
                          <a:ea typeface="Lato"/>
                          <a:cs typeface="Lato"/>
                        </a:rPr>
                        <a:t>1.13</a:t>
                      </a:r>
                    </a:p>
                  </a:txBody>
                  <a:tcPr>
                    <a:solidFill>
                      <a:srgbClr val="FFFFFF"/>
                    </a:solidFill>
                  </a:tcPr>
                </a:tc>
                <a:tc>
                  <a:txBody>
                    <a:bodyPr/>
                    <a:lstStyle/>
                    <a:p>
                      <a:r>
                        <a:rPr sz="1275" b="0">
                          <a:solidFill>
                            <a:srgbClr val="11151A"/>
                          </a:solidFill>
                          <a:latin typeface="Lato"/>
                          <a:ea typeface="Lato"/>
                          <a:cs typeface="Lato"/>
                        </a:rPr>
                        <a:t>0.08</a:t>
                      </a:r>
                    </a:p>
                  </a:txBody>
                  <a:tcPr>
                    <a:solidFill>
                      <a:srgbClr val="FFFFFF"/>
                    </a:solidFill>
                  </a:tcPr>
                </a:tc>
                <a:extLst>
                  <a:ext uri="{0D108BD9-81ED-4DB2-BD59-A6C34878D82A}">
                    <a16:rowId xmlns:a16="http://schemas.microsoft.com/office/drawing/2014/main" val="10004"/>
                  </a:ext>
                </a:extLst>
              </a:tr>
              <a:tr h="377825">
                <a:tc>
                  <a:txBody>
                    <a:bodyPr/>
                    <a:lstStyle/>
                    <a:p>
                      <a:r>
                        <a:rPr sz="1275" b="1">
                          <a:solidFill>
                            <a:srgbClr val="0A2373"/>
                          </a:solidFill>
                          <a:latin typeface="Lato"/>
                          <a:ea typeface="Lato"/>
                          <a:cs typeface="Lato"/>
                        </a:rPr>
                        <a:t>Utility and private power</a:t>
                      </a:r>
                    </a:p>
                  </a:txBody>
                  <a:tcPr>
                    <a:solidFill>
                      <a:srgbClr val="FFFFFF"/>
                    </a:solidFill>
                  </a:tcPr>
                </a:tc>
                <a:tc>
                  <a:txBody>
                    <a:bodyPr/>
                    <a:lstStyle/>
                    <a:p>
                      <a:r>
                        <a:rPr sz="1275" b="0">
                          <a:solidFill>
                            <a:srgbClr val="11151A"/>
                          </a:solidFill>
                          <a:latin typeface="Lato"/>
                          <a:ea typeface="Lato"/>
                          <a:cs typeface="Lato"/>
                        </a:rPr>
                        <a:t>1.08</a:t>
                      </a:r>
                    </a:p>
                  </a:txBody>
                  <a:tcPr>
                    <a:solidFill>
                      <a:srgbClr val="FFFFFF"/>
                    </a:solidFill>
                  </a:tcPr>
                </a:tc>
                <a:tc>
                  <a:txBody>
                    <a:bodyPr/>
                    <a:lstStyle/>
                    <a:p>
                      <a:r>
                        <a:rPr sz="1275" b="0">
                          <a:solidFill>
                            <a:srgbClr val="11151A"/>
                          </a:solidFill>
                          <a:latin typeface="Lato"/>
                          <a:ea typeface="Lato"/>
                          <a:cs typeface="Lato"/>
                        </a:rPr>
                        <a:t>-0.99</a:t>
                      </a:r>
                    </a:p>
                  </a:txBody>
                  <a:tcPr>
                    <a:solidFill>
                      <a:srgbClr val="FFFFFF"/>
                    </a:solidFill>
                  </a:tcPr>
                </a:tc>
                <a:extLst>
                  <a:ext uri="{0D108BD9-81ED-4DB2-BD59-A6C34878D82A}">
                    <a16:rowId xmlns:a16="http://schemas.microsoft.com/office/drawing/2014/main" val="10005"/>
                  </a:ext>
                </a:extLst>
              </a:tr>
              <a:tr h="377825">
                <a:tc>
                  <a:txBody>
                    <a:bodyPr/>
                    <a:lstStyle/>
                    <a:p>
                      <a:r>
                        <a:rPr sz="1275" b="1">
                          <a:solidFill>
                            <a:srgbClr val="0A2373"/>
                          </a:solidFill>
                          <a:latin typeface="Lato"/>
                          <a:ea typeface="Lato"/>
                          <a:cs typeface="Lato"/>
                        </a:rPr>
                        <a:t>Road freight diesel</a:t>
                      </a:r>
                    </a:p>
                  </a:txBody>
                  <a:tcPr>
                    <a:solidFill>
                      <a:srgbClr val="FFFFFF"/>
                    </a:solidFill>
                  </a:tcPr>
                </a:tc>
                <a:tc>
                  <a:txBody>
                    <a:bodyPr/>
                    <a:lstStyle/>
                    <a:p>
                      <a:r>
                        <a:rPr sz="1275" b="0">
                          <a:solidFill>
                            <a:srgbClr val="11151A"/>
                          </a:solidFill>
                          <a:latin typeface="Lato"/>
                          <a:ea typeface="Lato"/>
                          <a:cs typeface="Lato"/>
                        </a:rPr>
                        <a:t>4.82</a:t>
                      </a:r>
                    </a:p>
                  </a:txBody>
                  <a:tcPr>
                    <a:solidFill>
                      <a:srgbClr val="FFFFFF"/>
                    </a:solidFill>
                  </a:tcPr>
                </a:tc>
                <a:tc>
                  <a:txBody>
                    <a:bodyPr/>
                    <a:lstStyle/>
                    <a:p>
                      <a:r>
                        <a:rPr sz="1275" b="0">
                          <a:solidFill>
                            <a:srgbClr val="11151A"/>
                          </a:solidFill>
                          <a:latin typeface="Lato"/>
                          <a:ea typeface="Lato"/>
                          <a:cs typeface="Lato"/>
                        </a:rPr>
                        <a:t>-0.02</a:t>
                      </a:r>
                    </a:p>
                  </a:txBody>
                  <a:tcPr>
                    <a:solidFill>
                      <a:srgbClr val="FFFFFF"/>
                    </a:solidFill>
                  </a:tcPr>
                </a:tc>
                <a:extLst>
                  <a:ext uri="{0D108BD9-81ED-4DB2-BD59-A6C34878D82A}">
                    <a16:rowId xmlns:a16="http://schemas.microsoft.com/office/drawing/2014/main" val="10006"/>
                  </a:ext>
                </a:extLst>
              </a:tr>
              <a:tr h="377825">
                <a:tc>
                  <a:txBody>
                    <a:bodyPr/>
                    <a:lstStyle/>
                    <a:p>
                      <a:r>
                        <a:rPr sz="1275" b="1">
                          <a:solidFill>
                            <a:srgbClr val="0A2373"/>
                          </a:solidFill>
                          <a:latin typeface="Lato"/>
                          <a:ea typeface="Lato"/>
                          <a:cs typeface="Lato"/>
                        </a:rPr>
                        <a:t>Other road diesel</a:t>
                      </a:r>
                    </a:p>
                  </a:txBody>
                  <a:tcPr>
                    <a:solidFill>
                      <a:srgbClr val="FFFFFF"/>
                    </a:solidFill>
                  </a:tcPr>
                </a:tc>
                <a:tc>
                  <a:txBody>
                    <a:bodyPr/>
                    <a:lstStyle/>
                    <a:p>
                      <a:r>
                        <a:rPr sz="1275" b="0">
                          <a:solidFill>
                            <a:srgbClr val="11151A"/>
                          </a:solidFill>
                          <a:latin typeface="Lato"/>
                          <a:ea typeface="Lato"/>
                          <a:cs typeface="Lato"/>
                        </a:rPr>
                        <a:t>1.61</a:t>
                      </a:r>
                    </a:p>
                  </a:txBody>
                  <a:tcPr>
                    <a:solidFill>
                      <a:srgbClr val="FFFFFF"/>
                    </a:solidFill>
                  </a:tcPr>
                </a:tc>
                <a:tc>
                  <a:txBody>
                    <a:bodyPr/>
                    <a:lstStyle/>
                    <a:p>
                      <a:r>
                        <a:rPr sz="1275" b="0">
                          <a:solidFill>
                            <a:srgbClr val="11151A"/>
                          </a:solidFill>
                          <a:latin typeface="Lato"/>
                          <a:ea typeface="Lato"/>
                          <a:cs typeface="Lato"/>
                        </a:rPr>
                        <a:t>-0.01</a:t>
                      </a:r>
                    </a:p>
                  </a:txBody>
                  <a:tcPr>
                    <a:solidFill>
                      <a:srgbClr val="FFFFFF"/>
                    </a:solidFill>
                  </a:tcPr>
                </a:tc>
                <a:extLst>
                  <a:ext uri="{0D108BD9-81ED-4DB2-BD59-A6C34878D82A}">
                    <a16:rowId xmlns:a16="http://schemas.microsoft.com/office/drawing/2014/main" val="10007"/>
                  </a:ext>
                </a:extLst>
              </a:tr>
              <a:tr h="377825">
                <a:tc>
                  <a:txBody>
                    <a:bodyPr/>
                    <a:lstStyle/>
                    <a:p>
                      <a:r>
                        <a:rPr sz="1275" b="1">
                          <a:solidFill>
                            <a:srgbClr val="0A2373"/>
                          </a:solidFill>
                          <a:latin typeface="Lato"/>
                          <a:ea typeface="Lato"/>
                          <a:cs typeface="Lato"/>
                        </a:rPr>
                        <a:t>Other petrol</a:t>
                      </a:r>
                    </a:p>
                  </a:txBody>
                  <a:tcPr>
                    <a:solidFill>
                      <a:srgbClr val="FFFFFF"/>
                    </a:solidFill>
                  </a:tcPr>
                </a:tc>
                <a:tc>
                  <a:txBody>
                    <a:bodyPr/>
                    <a:lstStyle/>
                    <a:p>
                      <a:r>
                        <a:rPr sz="1275" b="0">
                          <a:solidFill>
                            <a:srgbClr val="11151A"/>
                          </a:solidFill>
                          <a:latin typeface="Lato"/>
                          <a:ea typeface="Lato"/>
                          <a:cs typeface="Lato"/>
                        </a:rPr>
                        <a:t>0.27</a:t>
                      </a:r>
                    </a:p>
                  </a:txBody>
                  <a:tcPr>
                    <a:solidFill>
                      <a:srgbClr val="FFFFFF"/>
                    </a:solidFill>
                  </a:tcPr>
                </a:tc>
                <a:tc>
                  <a:txBody>
                    <a:bodyPr/>
                    <a:lstStyle/>
                    <a:p>
                      <a:r>
                        <a:rPr sz="1275" b="0">
                          <a:solidFill>
                            <a:srgbClr val="11151A"/>
                          </a:solidFill>
                          <a:latin typeface="Lato"/>
                          <a:ea typeface="Lato"/>
                          <a:cs typeface="Lato"/>
                        </a:rPr>
                        <a:t>-0.01</a:t>
                      </a:r>
                    </a:p>
                  </a:txBody>
                  <a:tcPr>
                    <a:solidFill>
                      <a:srgbClr val="FFFFFF"/>
                    </a:solidFill>
                  </a:tcPr>
                </a:tc>
                <a:extLst>
                  <a:ext uri="{0D108BD9-81ED-4DB2-BD59-A6C34878D82A}">
                    <a16:rowId xmlns:a16="http://schemas.microsoft.com/office/drawing/2014/main" val="10008"/>
                  </a:ext>
                </a:extLst>
              </a:tr>
              <a:tr h="377825">
                <a:tc>
                  <a:txBody>
                    <a:bodyPr/>
                    <a:lstStyle/>
                    <a:p>
                      <a:r>
                        <a:rPr sz="1275" b="1">
                          <a:solidFill>
                            <a:srgbClr val="0A2373"/>
                          </a:solidFill>
                          <a:latin typeface="Lato"/>
                          <a:ea typeface="Lato"/>
                          <a:cs typeface="Lato"/>
                        </a:rPr>
                        <a:t>Other diesel / unallocated</a:t>
                      </a:r>
                    </a:p>
                  </a:txBody>
                  <a:tcPr>
                    <a:solidFill>
                      <a:srgbClr val="FFFFFF"/>
                    </a:solidFill>
                  </a:tcPr>
                </a:tc>
                <a:tc>
                  <a:txBody>
                    <a:bodyPr/>
                    <a:lstStyle/>
                    <a:p>
                      <a:r>
                        <a:rPr sz="1275" b="0">
                          <a:solidFill>
                            <a:srgbClr val="11151A"/>
                          </a:solidFill>
                          <a:latin typeface="Lato"/>
                          <a:ea typeface="Lato"/>
                          <a:cs typeface="Lato"/>
                        </a:rPr>
                        <a:t>1.91</a:t>
                      </a:r>
                    </a:p>
                  </a:txBody>
                  <a:tcPr>
                    <a:solidFill>
                      <a:srgbClr val="FFFFFF"/>
                    </a:solidFill>
                  </a:tcPr>
                </a:tc>
                <a:tc>
                  <a:txBody>
                    <a:bodyPr/>
                    <a:lstStyle/>
                    <a:p>
                      <a:r>
                        <a:rPr sz="1275" b="0">
                          <a:solidFill>
                            <a:srgbClr val="11151A"/>
                          </a:solidFill>
                          <a:latin typeface="Lato"/>
                          <a:ea typeface="Lato"/>
                          <a:cs typeface="Lato"/>
                        </a:rPr>
                        <a:t>0.16</a:t>
                      </a:r>
                    </a:p>
                  </a:txBody>
                  <a:tcPr>
                    <a:solidFill>
                      <a:srgbClr val="FFFFFF"/>
                    </a:solidFill>
                  </a:tcPr>
                </a:tc>
                <a:extLst>
                  <a:ext uri="{0D108BD9-81ED-4DB2-BD59-A6C34878D82A}">
                    <a16:rowId xmlns:a16="http://schemas.microsoft.com/office/drawing/2014/main" val="10009"/>
                  </a:ext>
                </a:extLst>
              </a:tr>
            </a:tbl>
          </a:graphicData>
        </a:graphic>
      </p:graphicFrame>
      <p:sp>
        <p:nvSpPr>
          <p:cNvPr id="50" name="Story implication">
            <a:extLst>
              <a:ext uri="{FF2B5EF4-FFF2-40B4-BE49-F238E27FC236}">
                <a16:creationId xmlns:a16="http://schemas.microsoft.com/office/drawing/2014/main" id="{8687BB8D-A1E3-40B8-903E-7243BBBEF7EA}"/>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Petrol: 8.86bn L. Diesel: 12.13bn L. Total demand falls from 21.94bn L in 2023 to an estimated 20.99bn L in 2025.</a:t>
            </a:r>
          </a:p>
        </p:txBody>
      </p:sp>
      <p:graphicFrame>
        <p:nvGraphicFramePr>
          <p:cNvPr id="5002"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Demand stays broadly flat in our base case; supply and routes determine where imports enter</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4</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2025 analytical workbook v02: registered demand assumptions and user-directed 5.8bn L domestic production case. Estimates are not reported actuals.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extLst>
              <p:ext uri="{D42A27DB-BD31-4B8C-83A1-F6EECF244321}">
                <p14:modId xmlns:p14="http://schemas.microsoft.com/office/powerpoint/2010/main" val="2110518648"/>
              </p:ext>
            </p:extLst>
          </p:nvPr>
        </p:nvGraphicFramePr>
        <p:xfrm>
          <a:off x="457200" y="1657350"/>
          <a:ext cx="10648950" cy="3619500"/>
        </p:xfrm>
        <a:graphic>
          <a:graphicData uri="http://schemas.openxmlformats.org/drawingml/2006/table">
            <a:tbl>
              <a:tblPr/>
              <a:tblGrid>
                <a:gridCol w="2428875">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gridCol w="4267200">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Driver and deep dive</a:t>
                      </a:r>
                    </a:p>
                  </a:txBody>
                  <a:tcPr>
                    <a:solidFill>
                      <a:srgbClr val="F5F5F5"/>
                    </a:solidFill>
                  </a:tcPr>
                </a:tc>
                <a:tc>
                  <a:txBody>
                    <a:bodyPr/>
                    <a:lstStyle/>
                    <a:p>
                      <a:r>
                        <a:rPr sz="1350" b="1">
                          <a:solidFill>
                            <a:srgbClr val="0A2373"/>
                          </a:solidFill>
                          <a:latin typeface="Lato"/>
                          <a:ea typeface="Lato"/>
                          <a:cs typeface="Lato"/>
                        </a:rPr>
                        <a:t>Evidence / planning assumption</a:t>
                      </a:r>
                    </a:p>
                  </a:txBody>
                  <a:tcPr>
                    <a:solidFill>
                      <a:srgbClr val="F5F5F5"/>
                    </a:solidFill>
                  </a:tcPr>
                </a:tc>
                <a:tc>
                  <a:txBody>
                    <a:bodyPr/>
                    <a:lstStyle/>
                    <a:p>
                      <a:r>
                        <a:rPr sz="1350" b="1">
                          <a:solidFill>
                            <a:srgbClr val="0A2373"/>
                          </a:solidFill>
                          <a:latin typeface="Lato"/>
                          <a:ea typeface="Lato"/>
                          <a:cs typeface="Lato"/>
                        </a:rPr>
                        <a:t>Base-case implication by 2030</a:t>
                      </a:r>
                    </a:p>
                  </a:txBody>
                  <a:tcPr>
                    <a:solidFill>
                      <a:srgbClr val="F5F5F5"/>
                    </a:solidFill>
                  </a:tcPr>
                </a:tc>
                <a:extLst>
                  <a:ext uri="{0D108BD9-81ED-4DB2-BD59-A6C34878D82A}">
                    <a16:rowId xmlns:a16="http://schemas.microsoft.com/office/drawing/2014/main" val="10000"/>
                  </a:ext>
                </a:extLst>
              </a:tr>
              <a:tr h="804863">
                <a:tc>
                  <a:txBody>
                    <a:bodyPr/>
                    <a:lstStyle/>
                    <a:p>
                      <a:r>
                        <a:rPr lang="en-ZA" sz="1350" b="1">
                          <a:solidFill>
                            <a:srgbClr val="0A2373"/>
                          </a:solidFill>
                          <a:latin typeface="Lato"/>
                          <a:ea typeface="Lato"/>
                          <a:cs typeface="Lato"/>
                        </a:rPr>
                        <a:t>Power | pp9–10</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Eskom fuel fell from 1.13bn L in FY2024 to 0.68bn in FY2025</a:t>
                      </a:r>
                    </a:p>
                  </a:txBody>
                  <a:tcPr>
                    <a:solidFill>
                      <a:srgbClr val="FFFFFF"/>
                    </a:solidFill>
                  </a:tcPr>
                </a:tc>
                <a:tc>
                  <a:txBody>
                    <a:bodyPr/>
                    <a:lstStyle/>
                    <a:p>
                      <a:r>
                        <a:rPr sz="1350" b="0">
                          <a:solidFill>
                            <a:srgbClr val="11151A"/>
                          </a:solidFill>
                          <a:latin typeface="Lato"/>
                          <a:ea typeface="Lato"/>
                          <a:cs typeface="Lato"/>
                        </a:rPr>
                        <a:t>Power demand reduction: 0.54bn L; includes assumed private backup</a:t>
                      </a:r>
                    </a:p>
                  </a:txBody>
                  <a:tcPr>
                    <a:solidFill>
                      <a:srgbClr val="FFFFFF"/>
                    </a:solidFill>
                  </a:tcPr>
                </a:tc>
                <a:extLst>
                  <a:ext uri="{0D108BD9-81ED-4DB2-BD59-A6C34878D82A}">
                    <a16:rowId xmlns:a16="http://schemas.microsoft.com/office/drawing/2014/main" val="10001"/>
                  </a:ext>
                </a:extLst>
              </a:tr>
              <a:tr h="804863">
                <a:tc>
                  <a:txBody>
                    <a:bodyPr/>
                    <a:lstStyle/>
                    <a:p>
                      <a:r>
                        <a:rPr lang="en-GB" sz="1350" b="1">
                          <a:solidFill>
                            <a:srgbClr val="0A2373"/>
                          </a:solidFill>
                          <a:latin typeface="Lato"/>
                          <a:ea typeface="Lato"/>
                          <a:cs typeface="Lato"/>
                        </a:rPr>
                        <a:t>Freight and vehicles | pp8, 11–12</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7.5% road-freight shift to rail; 1% annual road-fuel efficiency gain</a:t>
                      </a:r>
                    </a:p>
                  </a:txBody>
                  <a:tcPr>
                    <a:solidFill>
                      <a:srgbClr val="FFFFFF"/>
                    </a:solidFill>
                  </a:tcPr>
                </a:tc>
                <a:tc>
                  <a:txBody>
                    <a:bodyPr/>
                    <a:lstStyle/>
                    <a:p>
                      <a:r>
                        <a:rPr sz="1350" b="0">
                          <a:solidFill>
                            <a:srgbClr val="11151A"/>
                          </a:solidFill>
                          <a:latin typeface="Lato"/>
                          <a:ea typeface="Lato"/>
                          <a:cs typeface="Lato"/>
                        </a:rPr>
                        <a:t>Rail saves 0.33bn L; road efficiency saves 0.79bn L</a:t>
                      </a:r>
                    </a:p>
                  </a:txBody>
                  <a:tcPr>
                    <a:solidFill>
                      <a:srgbClr val="FFFFFF"/>
                    </a:solidFill>
                  </a:tcPr>
                </a:tc>
                <a:extLst>
                  <a:ext uri="{0D108BD9-81ED-4DB2-BD59-A6C34878D82A}">
                    <a16:rowId xmlns:a16="http://schemas.microsoft.com/office/drawing/2014/main" val="10002"/>
                  </a:ext>
                </a:extLst>
              </a:tr>
              <a:tr h="804863">
                <a:tc>
                  <a:txBody>
                    <a:bodyPr/>
                    <a:lstStyle/>
                    <a:p>
                      <a:r>
                        <a:rPr lang="en-ZA" sz="1350" b="1">
                          <a:solidFill>
                            <a:srgbClr val="0A2373"/>
                          </a:solidFill>
                          <a:latin typeface="Lato"/>
                          <a:ea typeface="Lato"/>
                          <a:cs typeface="Lato"/>
                        </a:rPr>
                        <a:t>Domestic production | pp13–15</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5.8bn L directed planning baseline; no restart in base case</a:t>
                      </a:r>
                    </a:p>
                  </a:txBody>
                  <a:tcPr>
                    <a:solidFill>
                      <a:srgbClr val="FFFFFF"/>
                    </a:solidFill>
                  </a:tcPr>
                </a:tc>
                <a:tc>
                  <a:txBody>
                    <a:bodyPr/>
                    <a:lstStyle/>
                    <a:p>
                      <a:r>
                        <a:rPr sz="1350" b="0">
                          <a:solidFill>
                            <a:srgbClr val="11151A"/>
                          </a:solidFill>
                          <a:latin typeface="Lato"/>
                          <a:ea typeface="Lato"/>
                          <a:cs typeface="Lato"/>
                        </a:rPr>
                        <a:t>Demand-implied gross imports remain about 16.6bn L in 2030</a:t>
                      </a:r>
                    </a:p>
                  </a:txBody>
                  <a:tcPr>
                    <a:solidFill>
                      <a:srgbClr val="FFFFFF"/>
                    </a:solidFill>
                  </a:tcPr>
                </a:tc>
                <a:extLst>
                  <a:ext uri="{0D108BD9-81ED-4DB2-BD59-A6C34878D82A}">
                    <a16:rowId xmlns:a16="http://schemas.microsoft.com/office/drawing/2014/main" val="10003"/>
                  </a:ext>
                </a:extLst>
              </a:tr>
              <a:tr h="804863">
                <a:tc>
                  <a:txBody>
                    <a:bodyPr/>
                    <a:lstStyle/>
                    <a:p>
                      <a:r>
                        <a:rPr lang="en-ZA" sz="1350" b="1">
                          <a:solidFill>
                            <a:srgbClr val="0A2373"/>
                          </a:solidFill>
                          <a:latin typeface="Lato"/>
                          <a:ea typeface="Lato"/>
                          <a:cs typeface="Lato"/>
                        </a:rPr>
                        <a:t>Mozambique routes | pp16–17</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Existing Matola infrastructure and an assumed 0.20bn L additional SA flow</a:t>
                      </a:r>
                    </a:p>
                  </a:txBody>
                  <a:tcPr>
                    <a:solidFill>
                      <a:srgbClr val="FFFFFF"/>
                    </a:solidFill>
                  </a:tcPr>
                </a:tc>
                <a:tc>
                  <a:txBody>
                    <a:bodyPr/>
                    <a:lstStyle/>
                    <a:p>
                      <a:r>
                        <a:rPr sz="1350" b="0">
                          <a:solidFill>
                            <a:srgbClr val="11151A"/>
                          </a:solidFill>
                          <a:latin typeface="Lato"/>
                          <a:ea typeface="Lato"/>
                          <a:cs typeface="Lato"/>
                        </a:rPr>
                        <a:t>Imports change gateway; national fuel demand stays unchanged</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4DDFBF68-8013-4800-9F79-5D56DBDA88F4}"/>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Activity adds 1.54bn L by 2030, broadly offsetting power, efficiency and rail reductions. Customer access determines Vopak capture.</a:t>
            </a:r>
          </a:p>
        </p:txBody>
      </p:sp>
      <p:graphicFrame>
        <p:nvGraphicFramePr>
          <p:cNvPr id="5003"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Petrol has declined since 2013, while diesel has sustained the market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5</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annual sales, 2013–2023. Estimated 2024–2025: analytical workbook v02. Earlier deck FIASA comparison figures are not spliced into this series.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44A86F64-F21A-4BCF-97B1-F5B100B75316}"/>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44B4BBCA-5A0E-4D1B-9C59-2C822B9D4C8D}"/>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2025 estimate</a:t>
            </a:r>
          </a:p>
        </p:txBody>
      </p:sp>
      <p:sp>
        <p:nvSpPr>
          <p:cNvPr id="52" name="Chart insights">
            <a:extLst>
              <a:ext uri="{FF2B5EF4-FFF2-40B4-BE49-F238E27FC236}">
                <a16:creationId xmlns:a16="http://schemas.microsoft.com/office/drawing/2014/main" id="{A61B8D28-6D09-4529-9ACE-0AA02331406C}"/>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Petrol 8.86bn litres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Diesel 12.13bn litres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2024–25 are estimates; 2013–23 use one consistent Department series.</a:t>
            </a:r>
          </a:p>
        </p:txBody>
      </p:sp>
      <p:sp>
        <p:nvSpPr>
          <p:cNvPr id="53" name="Story implication">
            <a:extLst>
              <a:ext uri="{FF2B5EF4-FFF2-40B4-BE49-F238E27FC236}">
                <a16:creationId xmlns:a16="http://schemas.microsoft.com/office/drawing/2014/main" id="{D922A044-14FA-46CD-915A-945AB5C9696B}"/>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Petrol remains below its earlier level; diesel demand responds more directly to freight, industry and power.</a:t>
            </a:r>
          </a:p>
        </p:txBody>
      </p:sp>
      <p:graphicFrame>
        <p:nvGraphicFramePr>
          <p:cNvPr id="5004"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Road use dominates the baseline, with meaningful diesel demand outside transport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6</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Segments. 2021 energy-balance road volume; 75% of road diesel allocated to freight. Historical sector intensities at current activity.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F0AD24FC-04DF-4A18-99F1-CFAFE84100B4}"/>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246882A6-6DA2-47C6-9AA2-57E0BF425CF6}"/>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Demand allocation</a:t>
            </a:r>
          </a:p>
        </p:txBody>
      </p:sp>
      <p:sp>
        <p:nvSpPr>
          <p:cNvPr id="52" name="Chart insights">
            <a:extLst>
              <a:ext uri="{FF2B5EF4-FFF2-40B4-BE49-F238E27FC236}">
                <a16:creationId xmlns:a16="http://schemas.microsoft.com/office/drawing/2014/main" id="{B5FAA6EB-1B97-4B3F-9EE2-BC9A4F27E316}"/>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Road freight: 4.82bn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Mining: 1.41bn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Agriculture: 1.13bn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Other diesel: 1.91bn L remains unallocated to a specific end use.</a:t>
            </a:r>
          </a:p>
        </p:txBody>
      </p:sp>
      <p:sp>
        <p:nvSpPr>
          <p:cNvPr id="53" name="Story implication">
            <a:extLst>
              <a:ext uri="{FF2B5EF4-FFF2-40B4-BE49-F238E27FC236}">
                <a16:creationId xmlns:a16="http://schemas.microsoft.com/office/drawing/2014/main" id="{E7C7103D-E5A6-43E4-B6A1-D84619BA83C6}"/>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Sector-attributed vehicle fuel stays in its sector; the road split is an explicit allocation assumption.</a:t>
            </a:r>
          </a:p>
        </p:txBody>
      </p:sp>
      <p:graphicFrame>
        <p:nvGraphicFramePr>
          <p:cNvPr id="5005"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Agricultural demand rebounds in 2025 while mining and manufacturing remain broadly flat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7</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mining/manufacturing indices and agriculture real GVA; mean 2018–2021 fuel intensity. Sector diesel values after 2021 are estimates.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F63DCE46-2D32-4AE2-B04A-593EA9F3D14D}"/>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C641E2E3-C6E8-441E-A6F8-E294AA26F63D}"/>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Estimated diesel use</a:t>
            </a:r>
          </a:p>
        </p:txBody>
      </p:sp>
      <p:sp>
        <p:nvSpPr>
          <p:cNvPr id="52" name="Chart insights">
            <a:extLst>
              <a:ext uri="{FF2B5EF4-FFF2-40B4-BE49-F238E27FC236}">
                <a16:creationId xmlns:a16="http://schemas.microsoft.com/office/drawing/2014/main" id="{DBF318D8-6073-4CB0-8349-7ADAD04D1398}"/>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Mining: 1.40 → 1.41bn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Agriculture: 1.06 → 1.13bn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Manufacturing: about 0.17bn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Manufacturing covers the energy-balance industry residual, not a complete industrial census.</a:t>
            </a:r>
          </a:p>
        </p:txBody>
      </p:sp>
      <p:sp>
        <p:nvSpPr>
          <p:cNvPr id="53" name="Story implication">
            <a:extLst>
              <a:ext uri="{FF2B5EF4-FFF2-40B4-BE49-F238E27FC236}">
                <a16:creationId xmlns:a16="http://schemas.microsoft.com/office/drawing/2014/main" id="{4A4917C5-1EC4-4BD8-8250-59C54C97C761}"/>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Sector activity produces different demand paths; applying one GDP growth rate would hide these differences.</a:t>
            </a:r>
          </a:p>
        </p:txBody>
      </p:sp>
      <p:graphicFrame>
        <p:nvGraphicFramePr>
          <p:cNvPr id="5006"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Efficiency offsets activity growth in the petrol baseline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8</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2023 sales; analytical workbook v02, Assumptions and Demand history. Activity and efficiency settings are authored planning assumptions.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4765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743450">
                  <a:extLst>
                    <a:ext uri="{9D8B030D-6E8A-4147-A177-3AD203B41FA5}">
                      <a16:colId xmlns:a16="http://schemas.microsoft.com/office/drawing/2014/main" val="20002"/>
                    </a:ext>
                  </a:extLst>
                </a:gridCol>
              </a:tblGrid>
              <a:tr h="400050">
                <a:tc>
                  <a:txBody>
                    <a:bodyPr/>
                    <a:lstStyle/>
                    <a:p>
                      <a:r>
                        <a:rPr sz="1425" b="1">
                          <a:solidFill>
                            <a:srgbClr val="0A2373"/>
                          </a:solidFill>
                          <a:latin typeface="Lato"/>
                          <a:ea typeface="Lato"/>
                          <a:cs typeface="Lato"/>
                        </a:rPr>
                        <a:t>Demand component</a:t>
                      </a:r>
                    </a:p>
                  </a:txBody>
                  <a:tcPr>
                    <a:solidFill>
                      <a:srgbClr val="F5F5F5"/>
                    </a:solidFill>
                  </a:tcPr>
                </a:tc>
                <a:tc>
                  <a:txBody>
                    <a:bodyPr/>
                    <a:lstStyle/>
                    <a:p>
                      <a:r>
                        <a:rPr sz="1425" b="1">
                          <a:solidFill>
                            <a:srgbClr val="0A2373"/>
                          </a:solidFill>
                          <a:latin typeface="Lato"/>
                          <a:ea typeface="Lato"/>
                          <a:cs typeface="Lato"/>
                        </a:rPr>
                        <a:t>Assumption / result</a:t>
                      </a:r>
                    </a:p>
                  </a:txBody>
                  <a:tcPr>
                    <a:solidFill>
                      <a:srgbClr val="F5F5F5"/>
                    </a:solidFill>
                  </a:tcPr>
                </a:tc>
                <a:tc>
                  <a:txBody>
                    <a:bodyPr/>
                    <a:lstStyle/>
                    <a:p>
                      <a:r>
                        <a:rPr sz="1425" b="1">
                          <a:solidFill>
                            <a:srgbClr val="0A2373"/>
                          </a:solidFill>
                          <a:latin typeface="Lato"/>
                          <a:ea typeface="Lato"/>
                          <a:cs typeface="Lato"/>
                        </a:rPr>
                        <a:t>How it enters the estimate</a:t>
                      </a:r>
                    </a:p>
                  </a:txBody>
                  <a:tcPr>
                    <a:solidFill>
                      <a:srgbClr val="F5F5F5"/>
                    </a:solidFill>
                  </a:tcPr>
                </a:tc>
                <a:extLst>
                  <a:ext uri="{0D108BD9-81ED-4DB2-BD59-A6C34878D82A}">
                    <a16:rowId xmlns:a16="http://schemas.microsoft.com/office/drawing/2014/main" val="10000"/>
                  </a:ext>
                </a:extLst>
              </a:tr>
              <a:tr h="804863">
                <a:tc>
                  <a:txBody>
                    <a:bodyPr/>
                    <a:lstStyle/>
                    <a:p>
                      <a:r>
                        <a:rPr sz="1425" b="1">
                          <a:solidFill>
                            <a:srgbClr val="0A2373"/>
                          </a:solidFill>
                          <a:latin typeface="Lato"/>
                          <a:ea typeface="Lato"/>
                          <a:cs typeface="Lato"/>
                        </a:rPr>
                        <a:t>Petrol activity</a:t>
                      </a:r>
                    </a:p>
                  </a:txBody>
                  <a:tcPr>
                    <a:solidFill>
                      <a:srgbClr val="FFFFFF"/>
                    </a:solidFill>
                  </a:tcPr>
                </a:tc>
                <a:tc>
                  <a:txBody>
                    <a:bodyPr/>
                    <a:lstStyle/>
                    <a:p>
                      <a:r>
                        <a:rPr sz="1425" b="0">
                          <a:solidFill>
                            <a:srgbClr val="11151A"/>
                          </a:solidFill>
                          <a:latin typeface="Lato"/>
                          <a:ea typeface="Lato"/>
                          <a:cs typeface="Lato"/>
                        </a:rPr>
                        <a:t>+0.5% per year in 2024–2025</a:t>
                      </a:r>
                    </a:p>
                  </a:txBody>
                  <a:tcPr>
                    <a:solidFill>
                      <a:srgbClr val="FFFFFF"/>
                    </a:solidFill>
                  </a:tcPr>
                </a:tc>
                <a:tc>
                  <a:txBody>
                    <a:bodyPr/>
                    <a:lstStyle/>
                    <a:p>
                      <a:r>
                        <a:rPr sz="1425" b="0">
                          <a:solidFill>
                            <a:srgbClr val="11151A"/>
                          </a:solidFill>
                          <a:latin typeface="Lato"/>
                          <a:ea typeface="Lato"/>
                          <a:cs typeface="Lato"/>
                        </a:rPr>
                        <a:t>More vehicle use supports consumption</a:t>
                      </a:r>
                    </a:p>
                  </a:txBody>
                  <a:tcPr>
                    <a:solidFill>
                      <a:srgbClr val="FFFFFF"/>
                    </a:solidFill>
                  </a:tcPr>
                </a:tc>
                <a:extLst>
                  <a:ext uri="{0D108BD9-81ED-4DB2-BD59-A6C34878D82A}">
                    <a16:rowId xmlns:a16="http://schemas.microsoft.com/office/drawing/2014/main" val="10001"/>
                  </a:ext>
                </a:extLst>
              </a:tr>
              <a:tr h="804863">
                <a:tc>
                  <a:txBody>
                    <a:bodyPr/>
                    <a:lstStyle/>
                    <a:p>
                      <a:r>
                        <a:rPr sz="1425" b="1">
                          <a:solidFill>
                            <a:srgbClr val="0A2373"/>
                          </a:solidFill>
                          <a:latin typeface="Lato"/>
                          <a:ea typeface="Lato"/>
                          <a:cs typeface="Lato"/>
                        </a:rPr>
                        <a:t>Petrol fuel intensity</a:t>
                      </a:r>
                    </a:p>
                  </a:txBody>
                  <a:tcPr>
                    <a:solidFill>
                      <a:srgbClr val="FFFFFF"/>
                    </a:solidFill>
                  </a:tcPr>
                </a:tc>
                <a:tc>
                  <a:txBody>
                    <a:bodyPr/>
                    <a:lstStyle/>
                    <a:p>
                      <a:r>
                        <a:rPr sz="1425" b="0">
                          <a:solidFill>
                            <a:srgbClr val="11151A"/>
                          </a:solidFill>
                          <a:latin typeface="Lato"/>
                          <a:ea typeface="Lato"/>
                          <a:cs typeface="Lato"/>
                        </a:rPr>
                        <a:t>−1.5% per year in 2024–2025</a:t>
                      </a:r>
                    </a:p>
                  </a:txBody>
                  <a:tcPr>
                    <a:solidFill>
                      <a:srgbClr val="FFFFFF"/>
                    </a:solidFill>
                  </a:tcPr>
                </a:tc>
                <a:tc>
                  <a:txBody>
                    <a:bodyPr/>
                    <a:lstStyle/>
                    <a:p>
                      <a:r>
                        <a:rPr sz="1425" b="0">
                          <a:solidFill>
                            <a:srgbClr val="11151A"/>
                          </a:solidFill>
                          <a:latin typeface="Lato"/>
                          <a:ea typeface="Lato"/>
                          <a:cs typeface="Lato"/>
                        </a:rPr>
                        <a:t>A combined efficiency / fleet-mix assumption reduces fuel per unit of activity</a:t>
                      </a:r>
                    </a:p>
                  </a:txBody>
                  <a:tcPr>
                    <a:solidFill>
                      <a:srgbClr val="FFFFFF"/>
                    </a:solidFill>
                  </a:tcPr>
                </a:tc>
                <a:extLst>
                  <a:ext uri="{0D108BD9-81ED-4DB2-BD59-A6C34878D82A}">
                    <a16:rowId xmlns:a16="http://schemas.microsoft.com/office/drawing/2014/main" val="10002"/>
                  </a:ext>
                </a:extLst>
              </a:tr>
              <a:tr h="804863">
                <a:tc>
                  <a:txBody>
                    <a:bodyPr/>
                    <a:lstStyle/>
                    <a:p>
                      <a:r>
                        <a:rPr sz="1425" b="1">
                          <a:solidFill>
                            <a:srgbClr val="0A2373"/>
                          </a:solidFill>
                          <a:latin typeface="Lato"/>
                          <a:ea typeface="Lato"/>
                          <a:cs typeface="Lato"/>
                        </a:rPr>
                        <a:t>Petrol demand</a:t>
                      </a:r>
                    </a:p>
                  </a:txBody>
                  <a:tcPr>
                    <a:solidFill>
                      <a:srgbClr val="FFFFFF"/>
                    </a:solidFill>
                  </a:tcPr>
                </a:tc>
                <a:tc>
                  <a:txBody>
                    <a:bodyPr/>
                    <a:lstStyle/>
                    <a:p>
                      <a:r>
                        <a:rPr sz="1425" b="0">
                          <a:solidFill>
                            <a:srgbClr val="11151A"/>
                          </a:solidFill>
                          <a:latin typeface="Lato"/>
                          <a:ea typeface="Lato"/>
                          <a:cs typeface="Lato"/>
                        </a:rPr>
                        <a:t>9.04bn L in 2023 → 8.86bn L in 2025</a:t>
                      </a:r>
                    </a:p>
                  </a:txBody>
                  <a:tcPr>
                    <a:solidFill>
                      <a:srgbClr val="FFFFFF"/>
                    </a:solidFill>
                  </a:tcPr>
                </a:tc>
                <a:tc>
                  <a:txBody>
                    <a:bodyPr/>
                    <a:lstStyle/>
                    <a:p>
                      <a:r>
                        <a:rPr sz="1425" b="0">
                          <a:solidFill>
                            <a:srgbClr val="11151A"/>
                          </a:solidFill>
                          <a:latin typeface="Lato"/>
                          <a:ea typeface="Lato"/>
                          <a:cs typeface="Lato"/>
                        </a:rPr>
                        <a:t>Compounding activity and intensity yields a modest decline</a:t>
                      </a:r>
                    </a:p>
                  </a:txBody>
                  <a:tcPr>
                    <a:solidFill>
                      <a:srgbClr val="FFFFFF"/>
                    </a:solidFill>
                  </a:tcPr>
                </a:tc>
                <a:extLst>
                  <a:ext uri="{0D108BD9-81ED-4DB2-BD59-A6C34878D82A}">
                    <a16:rowId xmlns:a16="http://schemas.microsoft.com/office/drawing/2014/main" val="10003"/>
                  </a:ext>
                </a:extLst>
              </a:tr>
              <a:tr h="804863">
                <a:tc>
                  <a:txBody>
                    <a:bodyPr/>
                    <a:lstStyle/>
                    <a:p>
                      <a:r>
                        <a:rPr sz="1425" b="1">
                          <a:solidFill>
                            <a:srgbClr val="0A2373"/>
                          </a:solidFill>
                          <a:latin typeface="Lato"/>
                          <a:ea typeface="Lato"/>
                          <a:cs typeface="Lato"/>
                        </a:rPr>
                        <a:t>2030 road outlook</a:t>
                      </a:r>
                    </a:p>
                  </a:txBody>
                  <a:tcPr>
                    <a:solidFill>
                      <a:srgbClr val="FFFFFF"/>
                    </a:solidFill>
                  </a:tcPr>
                </a:tc>
                <a:tc>
                  <a:txBody>
                    <a:bodyPr/>
                    <a:lstStyle/>
                    <a:p>
                      <a:r>
                        <a:rPr sz="1425" b="0">
                          <a:solidFill>
                            <a:srgbClr val="11151A"/>
                          </a:solidFill>
                          <a:latin typeface="Lato"/>
                          <a:ea typeface="Lato"/>
                          <a:cs typeface="Lato"/>
                        </a:rPr>
                        <a:t>Base: 1% annual efficiency improvement</a:t>
                      </a:r>
                    </a:p>
                  </a:txBody>
                  <a:tcPr>
                    <a:solidFill>
                      <a:srgbClr val="FFFFFF"/>
                    </a:solidFill>
                  </a:tcPr>
                </a:tc>
                <a:tc>
                  <a:txBody>
                    <a:bodyPr/>
                    <a:lstStyle/>
                    <a:p>
                      <a:r>
                        <a:rPr sz="1425" b="0">
                          <a:solidFill>
                            <a:srgbClr val="11151A"/>
                          </a:solidFill>
                          <a:latin typeface="Lato"/>
                          <a:ea typeface="Lato"/>
                          <a:cs typeface="Lato"/>
                        </a:rPr>
                        <a:t>Applied after activity growth; rail displacement is then applied to freight only</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89F27FBA-C5F5-4E60-B181-9EF672DB5642}"/>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assumptions are explicit and editable; EV uptake is not counted again as a separate reduction.</a:t>
            </a:r>
          </a:p>
        </p:txBody>
      </p:sp>
      <p:graphicFrame>
        <p:nvGraphicFramePr>
          <p:cNvPr id="5007"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Eskom fuel use fell by about 40% in FY2025 as supply performance improved</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9</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Eskom Integrated Report 2025 p141; staged source series. 679.1m L diesel + kerosene supersedes the earlier slide’s 677.9m figure for this scope.</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42DE4852-6528-4158-A718-69C74CFD29A4}"/>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EF0F5770-164C-4C01-9852-AD6B6289681C}"/>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Observed utility trend</a:t>
            </a:r>
          </a:p>
        </p:txBody>
      </p:sp>
      <p:sp>
        <p:nvSpPr>
          <p:cNvPr id="52" name="Chart insights">
            <a:extLst>
              <a:ext uri="{FF2B5EF4-FFF2-40B4-BE49-F238E27FC236}">
                <a16:creationId xmlns:a16="http://schemas.microsoft.com/office/drawing/2014/main" id="{DEE0CE4C-AF60-469D-AAEF-21701CBEBC1C}"/>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FY2024: 1.130bn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FY2025: 0.679bn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The utility series includes kerosene. Fiscal years end in March.</a:t>
            </a:r>
          </a:p>
        </p:txBody>
      </p:sp>
      <p:sp>
        <p:nvSpPr>
          <p:cNvPr id="53" name="Story implication">
            <a:extLst>
              <a:ext uri="{FF2B5EF4-FFF2-40B4-BE49-F238E27FC236}">
                <a16:creationId xmlns:a16="http://schemas.microsoft.com/office/drawing/2014/main" id="{9822F76E-4815-443E-9471-1FD58EC90809}"/>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demand baseline replaces annual power consumption explicitly, so the decline is not hidden in a generic growth rate.</a:t>
            </a:r>
          </a:p>
        </p:txBody>
      </p:sp>
      <p:graphicFrame>
        <p:nvGraphicFramePr>
          <p:cNvPr id="5008"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Further power recovery removes 0.54bn litres in the 2030 base case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10</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Segments / Driver bridge. Private backup 2023/24/25: 0.8/0.6/0.2bn L. IPP conversion: 0.31 L/kWh. FY-to-calendar and fuel-mix assumptions apply.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4552950">
                  <a:extLst>
                    <a:ext uri="{9D8B030D-6E8A-4147-A177-3AD203B41FA5}">
                      <a16:colId xmlns:a16="http://schemas.microsoft.com/office/drawing/2014/main" val="20002"/>
                    </a:ext>
                  </a:extLst>
                </a:gridCol>
              </a:tblGrid>
              <a:tr h="400050">
                <a:tc>
                  <a:txBody>
                    <a:bodyPr/>
                    <a:lstStyle/>
                    <a:p>
                      <a:r>
                        <a:rPr sz="1425" b="1">
                          <a:solidFill>
                            <a:srgbClr val="0A2373"/>
                          </a:solidFill>
                          <a:latin typeface="Lato"/>
                          <a:ea typeface="Lato"/>
                          <a:cs typeface="Lato"/>
                        </a:rPr>
                        <a:t>Power measure</a:t>
                      </a:r>
                    </a:p>
                  </a:txBody>
                  <a:tcPr>
                    <a:solidFill>
                      <a:srgbClr val="F5F5F5"/>
                    </a:solidFill>
                  </a:tcPr>
                </a:tc>
                <a:tc>
                  <a:txBody>
                    <a:bodyPr/>
                    <a:lstStyle/>
                    <a:p>
                      <a:r>
                        <a:rPr sz="1425" b="1">
                          <a:solidFill>
                            <a:srgbClr val="0A2373"/>
                          </a:solidFill>
                          <a:latin typeface="Lato"/>
                          <a:ea typeface="Lato"/>
                          <a:cs typeface="Lato"/>
                        </a:rPr>
                        <a:t>Volume / assumption</a:t>
                      </a:r>
                    </a:p>
                  </a:txBody>
                  <a:tcPr>
                    <a:solidFill>
                      <a:srgbClr val="F5F5F5"/>
                    </a:solidFill>
                  </a:tcPr>
                </a:tc>
                <a:tc>
                  <a:txBody>
                    <a:bodyPr/>
                    <a:lstStyle/>
                    <a:p>
                      <a:r>
                        <a:rPr sz="1425" b="1">
                          <a:solidFill>
                            <a:srgbClr val="0A2373"/>
                          </a:solidFill>
                          <a:latin typeface="Lato"/>
                          <a:ea typeface="Lato"/>
                          <a:cs typeface="Lato"/>
                        </a:rPr>
                        <a:t>Interpretation</a:t>
                      </a:r>
                    </a:p>
                  </a:txBody>
                  <a:tcPr>
                    <a:solidFill>
                      <a:srgbClr val="F5F5F5"/>
                    </a:solidFill>
                  </a:tcPr>
                </a:tc>
                <a:extLst>
                  <a:ext uri="{0D108BD9-81ED-4DB2-BD59-A6C34878D82A}">
                    <a16:rowId xmlns:a16="http://schemas.microsoft.com/office/drawing/2014/main" val="10000"/>
                  </a:ext>
                </a:extLst>
              </a:tr>
              <a:tr h="804863">
                <a:tc>
                  <a:txBody>
                    <a:bodyPr/>
                    <a:lstStyle/>
                    <a:p>
                      <a:r>
                        <a:rPr sz="1425" b="1">
                          <a:solidFill>
                            <a:srgbClr val="0A2373"/>
                          </a:solidFill>
                          <a:latin typeface="Lato"/>
                          <a:ea typeface="Lato"/>
                          <a:cs typeface="Lato"/>
                        </a:rPr>
                        <a:t>2025 utility + private baseline</a:t>
                      </a:r>
                    </a:p>
                  </a:txBody>
                  <a:tcPr>
                    <a:solidFill>
                      <a:srgbClr val="FFFFFF"/>
                    </a:solidFill>
                  </a:tcPr>
                </a:tc>
                <a:tc>
                  <a:txBody>
                    <a:bodyPr/>
                    <a:lstStyle/>
                    <a:p>
                      <a:r>
                        <a:rPr sz="1425" b="0">
                          <a:solidFill>
                            <a:srgbClr val="11151A"/>
                          </a:solidFill>
                          <a:latin typeface="Lato"/>
                          <a:ea typeface="Lato"/>
                          <a:cs typeface="Lato"/>
                        </a:rPr>
                        <a:t>1.08bn litres</a:t>
                      </a:r>
                    </a:p>
                  </a:txBody>
                  <a:tcPr>
                    <a:solidFill>
                      <a:srgbClr val="FFFFFF"/>
                    </a:solidFill>
                  </a:tcPr>
                </a:tc>
                <a:tc>
                  <a:txBody>
                    <a:bodyPr/>
                    <a:lstStyle/>
                    <a:p>
                      <a:r>
                        <a:rPr sz="1425" b="0">
                          <a:solidFill>
                            <a:srgbClr val="11151A"/>
                          </a:solidFill>
                          <a:latin typeface="Lato"/>
                          <a:ea typeface="Lato"/>
                          <a:cs typeface="Lato"/>
                        </a:rPr>
                        <a:t>Eskom FY proxy, IPP generation conversion and private backup</a:t>
                      </a:r>
                    </a:p>
                  </a:txBody>
                  <a:tcPr>
                    <a:solidFill>
                      <a:srgbClr val="FFFFFF"/>
                    </a:solidFill>
                  </a:tcPr>
                </a:tc>
                <a:extLst>
                  <a:ext uri="{0D108BD9-81ED-4DB2-BD59-A6C34878D82A}">
                    <a16:rowId xmlns:a16="http://schemas.microsoft.com/office/drawing/2014/main" val="10001"/>
                  </a:ext>
                </a:extLst>
              </a:tr>
              <a:tr h="804863">
                <a:tc>
                  <a:txBody>
                    <a:bodyPr/>
                    <a:lstStyle/>
                    <a:p>
                      <a:r>
                        <a:rPr sz="1425" b="1">
                          <a:solidFill>
                            <a:srgbClr val="0A2373"/>
                          </a:solidFill>
                          <a:latin typeface="Lato"/>
                          <a:ea typeface="Lato"/>
                          <a:cs typeface="Lato"/>
                        </a:rPr>
                        <a:t>Private backup within 2025 baseline</a:t>
                      </a:r>
                    </a:p>
                  </a:txBody>
                  <a:tcPr>
                    <a:solidFill>
                      <a:srgbClr val="FFFFFF"/>
                    </a:solidFill>
                  </a:tcPr>
                </a:tc>
                <a:tc>
                  <a:txBody>
                    <a:bodyPr/>
                    <a:lstStyle/>
                    <a:p>
                      <a:r>
                        <a:rPr sz="1425" b="0">
                          <a:solidFill>
                            <a:srgbClr val="11151A"/>
                          </a:solidFill>
                          <a:latin typeface="Lato"/>
                          <a:ea typeface="Lato"/>
                          <a:cs typeface="Lato"/>
                        </a:rPr>
                        <a:t>0.20bn litres assumed</a:t>
                      </a:r>
                    </a:p>
                  </a:txBody>
                  <a:tcPr>
                    <a:solidFill>
                      <a:srgbClr val="FFFFFF"/>
                    </a:solidFill>
                  </a:tcPr>
                </a:tc>
                <a:tc>
                  <a:txBody>
                    <a:bodyPr/>
                    <a:lstStyle/>
                    <a:p>
                      <a:r>
                        <a:rPr sz="1425" b="0">
                          <a:solidFill>
                            <a:srgbClr val="11151A"/>
                          </a:solidFill>
                          <a:latin typeface="Lato"/>
                          <a:ea typeface="Lato"/>
                          <a:cs typeface="Lato"/>
                        </a:rPr>
                        <a:t>Separate from reported Eskom fuel; not a measured national census</a:t>
                      </a:r>
                    </a:p>
                  </a:txBody>
                  <a:tcPr>
                    <a:solidFill>
                      <a:srgbClr val="FFFFFF"/>
                    </a:solidFill>
                  </a:tcPr>
                </a:tc>
                <a:extLst>
                  <a:ext uri="{0D108BD9-81ED-4DB2-BD59-A6C34878D82A}">
                    <a16:rowId xmlns:a16="http://schemas.microsoft.com/office/drawing/2014/main" val="10002"/>
                  </a:ext>
                </a:extLst>
              </a:tr>
              <a:tr h="804863">
                <a:tc>
                  <a:txBody>
                    <a:bodyPr/>
                    <a:lstStyle/>
                    <a:p>
                      <a:r>
                        <a:rPr sz="1425" b="1">
                          <a:solidFill>
                            <a:srgbClr val="0A2373"/>
                          </a:solidFill>
                          <a:latin typeface="Lato"/>
                          <a:ea typeface="Lato"/>
                          <a:cs typeface="Lato"/>
                        </a:rPr>
                        <a:t>Base case to 2030</a:t>
                      </a:r>
                    </a:p>
                  </a:txBody>
                  <a:tcPr>
                    <a:solidFill>
                      <a:srgbClr val="FFFFFF"/>
                    </a:solidFill>
                  </a:tcPr>
                </a:tc>
                <a:tc>
                  <a:txBody>
                    <a:bodyPr/>
                    <a:lstStyle/>
                    <a:p>
                      <a:r>
                        <a:rPr sz="1425" b="0">
                          <a:solidFill>
                            <a:srgbClr val="11151A"/>
                          </a:solidFill>
                          <a:latin typeface="Lato"/>
                          <a:ea typeface="Lato"/>
                          <a:cs typeface="Lato"/>
                        </a:rPr>
                        <a:t>50% retained; 0.54bn L reduction</a:t>
                      </a:r>
                    </a:p>
                  </a:txBody>
                  <a:tcPr>
                    <a:solidFill>
                      <a:srgbClr val="FFFFFF"/>
                    </a:solidFill>
                  </a:tcPr>
                </a:tc>
                <a:tc>
                  <a:txBody>
                    <a:bodyPr/>
                    <a:lstStyle/>
                    <a:p>
                      <a:r>
                        <a:rPr sz="1425" b="0">
                          <a:solidFill>
                            <a:srgbClr val="11151A"/>
                          </a:solidFill>
                          <a:latin typeface="Lato"/>
                          <a:ea typeface="Lato"/>
                          <a:cs typeface="Lato"/>
                        </a:rPr>
                        <a:t>Recovery persists across utility and backup requirements</a:t>
                      </a:r>
                    </a:p>
                  </a:txBody>
                  <a:tcPr>
                    <a:solidFill>
                      <a:srgbClr val="FFFFFF"/>
                    </a:solidFill>
                  </a:tcPr>
                </a:tc>
                <a:extLst>
                  <a:ext uri="{0D108BD9-81ED-4DB2-BD59-A6C34878D82A}">
                    <a16:rowId xmlns:a16="http://schemas.microsoft.com/office/drawing/2014/main" val="10003"/>
                  </a:ext>
                </a:extLst>
              </a:tr>
              <a:tr h="804863">
                <a:tc>
                  <a:txBody>
                    <a:bodyPr/>
                    <a:lstStyle/>
                    <a:p>
                      <a:r>
                        <a:rPr sz="1425" b="1">
                          <a:solidFill>
                            <a:srgbClr val="0A2373"/>
                          </a:solidFill>
                          <a:latin typeface="Lato"/>
                          <a:ea typeface="Lato"/>
                          <a:cs typeface="Lato"/>
                        </a:rPr>
                        <a:t>Sensitivity cases</a:t>
                      </a:r>
                    </a:p>
                  </a:txBody>
                  <a:tcPr>
                    <a:solidFill>
                      <a:srgbClr val="FFFFFF"/>
                    </a:solidFill>
                  </a:tcPr>
                </a:tc>
                <a:tc>
                  <a:txBody>
                    <a:bodyPr/>
                    <a:lstStyle/>
                    <a:p>
                      <a:r>
                        <a:rPr sz="1425" b="0">
                          <a:solidFill>
                            <a:srgbClr val="11151A"/>
                          </a:solidFill>
                          <a:latin typeface="Lato"/>
                          <a:ea typeface="Lato"/>
                          <a:cs typeface="Lato"/>
                        </a:rPr>
                        <a:t>0.00–0.70bn L reduction</a:t>
                      </a:r>
                    </a:p>
                  </a:txBody>
                  <a:tcPr>
                    <a:solidFill>
                      <a:srgbClr val="FFFFFF"/>
                    </a:solidFill>
                  </a:tcPr>
                </a:tc>
                <a:tc>
                  <a:txBody>
                    <a:bodyPr/>
                    <a:lstStyle/>
                    <a:p>
                      <a:r>
                        <a:rPr sz="1425" b="0">
                          <a:solidFill>
                            <a:srgbClr val="11151A"/>
                          </a:solidFill>
                          <a:latin typeface="Lato"/>
                          <a:ea typeface="Lato"/>
                          <a:cs typeface="Lato"/>
                        </a:rPr>
                        <a:t>High-import case retains power use; low-import case retains 35%</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4B3F20DC-E08A-4A69-B284-33F6CD6DAA6F}"/>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Power demand can fall without an equivalent decline in transport or industrial demand.</a:t>
            </a:r>
          </a:p>
        </p:txBody>
      </p:sp>
      <p:graphicFrame>
        <p:nvGraphicFramePr>
          <p:cNvPr id="5009"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Road still carries most reported freight despite the recent recovery in rail volumes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11</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P7162 December 2025 p7; all reported freight. Analytical workbook v02, Evidence.</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1F4A746C-95B0-428F-AC00-B7BD3E6BB63B}"/>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Million tonnes</a:t>
            </a:r>
          </a:p>
        </p:txBody>
      </p:sp>
      <p:sp>
        <p:nvSpPr>
          <p:cNvPr id="51" name="Chart insight header">
            <a:extLst>
              <a:ext uri="{FF2B5EF4-FFF2-40B4-BE49-F238E27FC236}">
                <a16:creationId xmlns:a16="http://schemas.microsoft.com/office/drawing/2014/main" id="{D34FE016-8E37-485D-A3E4-32298563CB42}"/>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Reported freight</a:t>
            </a:r>
          </a:p>
        </p:txBody>
      </p:sp>
      <p:sp>
        <p:nvSpPr>
          <p:cNvPr id="52" name="Chart insights">
            <a:extLst>
              <a:ext uri="{FF2B5EF4-FFF2-40B4-BE49-F238E27FC236}">
                <a16:creationId xmlns:a16="http://schemas.microsoft.com/office/drawing/2014/main" id="{723AD14C-CFD1-44FC-830E-FD90ED3877E2}"/>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Road: 979.8 → 976.5m tonnes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Rail: 160.7 → 168.3m tonnes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Tonnes measure payload, not tonne-kilometres or directly displaced diesel.</a:t>
            </a:r>
          </a:p>
        </p:txBody>
      </p:sp>
      <p:sp>
        <p:nvSpPr>
          <p:cNvPr id="53" name="Story implication">
            <a:extLst>
              <a:ext uri="{FF2B5EF4-FFF2-40B4-BE49-F238E27FC236}">
                <a16:creationId xmlns:a16="http://schemas.microsoft.com/office/drawing/2014/main" id="{805FCB29-004E-4A6C-8703-9326884525AF}"/>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Rail recovery changes fuel demand through eligible freight, distance, truck efficiency and the rail traction mix.</a:t>
            </a:r>
          </a:p>
        </p:txBody>
      </p:sp>
      <p:graphicFrame>
        <p:nvGraphicFramePr>
          <p:cNvPr id="5010"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 7.5% shift of road-freight activity to rail saves 0.33bn litres in the base case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12</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Driver bridge and scenario assumptions. Shift interpreted as freight tonne-km share. Distances and eligibility remain assumed; cases also vary growth and efficiency.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3337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4362450">
                  <a:extLst>
                    <a:ext uri="{9D8B030D-6E8A-4147-A177-3AD203B41FA5}">
                      <a16:colId xmlns:a16="http://schemas.microsoft.com/office/drawing/2014/main" val="20002"/>
                    </a:ext>
                  </a:extLst>
                </a:gridCol>
              </a:tblGrid>
              <a:tr h="400050">
                <a:tc>
                  <a:txBody>
                    <a:bodyPr/>
                    <a:lstStyle/>
                    <a:p>
                      <a:r>
                        <a:rPr sz="1500" b="1">
                          <a:solidFill>
                            <a:srgbClr val="0A2373"/>
                          </a:solidFill>
                          <a:latin typeface="Lato"/>
                          <a:ea typeface="Lato"/>
                          <a:cs typeface="Lato"/>
                        </a:rPr>
                        <a:t>2030 case</a:t>
                      </a:r>
                    </a:p>
                  </a:txBody>
                  <a:tcPr>
                    <a:solidFill>
                      <a:srgbClr val="F5F5F5"/>
                    </a:solidFill>
                  </a:tcPr>
                </a:tc>
                <a:tc>
                  <a:txBody>
                    <a:bodyPr/>
                    <a:lstStyle/>
                    <a:p>
                      <a:r>
                        <a:rPr sz="1500" b="1">
                          <a:solidFill>
                            <a:srgbClr val="0A2373"/>
                          </a:solidFill>
                          <a:latin typeface="Lato"/>
                          <a:ea typeface="Lato"/>
                          <a:cs typeface="Lato"/>
                        </a:rPr>
                        <a:t>Road-freight shift</a:t>
                      </a:r>
                    </a:p>
                  </a:txBody>
                  <a:tcPr>
                    <a:solidFill>
                      <a:srgbClr val="F5F5F5"/>
                    </a:solidFill>
                  </a:tcPr>
                </a:tc>
                <a:tc>
                  <a:txBody>
                    <a:bodyPr/>
                    <a:lstStyle/>
                    <a:p>
                      <a:r>
                        <a:rPr sz="1500" b="1">
                          <a:solidFill>
                            <a:srgbClr val="0A2373"/>
                          </a:solidFill>
                          <a:latin typeface="Lato"/>
                          <a:ea typeface="Lato"/>
                          <a:cs typeface="Lato"/>
                        </a:rPr>
                        <a:t>Net diesel reduction</a:t>
                      </a:r>
                    </a:p>
                  </a:txBody>
                  <a:tcPr>
                    <a:solidFill>
                      <a:srgbClr val="F5F5F5"/>
                    </a:solidFill>
                  </a:tcPr>
                </a:tc>
                <a:extLst>
                  <a:ext uri="{0D108BD9-81ED-4DB2-BD59-A6C34878D82A}">
                    <a16:rowId xmlns:a16="http://schemas.microsoft.com/office/drawing/2014/main" val="10000"/>
                  </a:ext>
                </a:extLst>
              </a:tr>
              <a:tr h="804863">
                <a:tc>
                  <a:txBody>
                    <a:bodyPr/>
                    <a:lstStyle/>
                    <a:p>
                      <a:r>
                        <a:rPr sz="1500" b="1">
                          <a:solidFill>
                            <a:srgbClr val="0A2373"/>
                          </a:solidFill>
                          <a:latin typeface="Lato"/>
                          <a:ea typeface="Lato"/>
                          <a:cs typeface="Lato"/>
                        </a:rPr>
                        <a:t>Low imports</a:t>
                      </a:r>
                    </a:p>
                  </a:txBody>
                  <a:tcPr>
                    <a:solidFill>
                      <a:srgbClr val="FFFFFF"/>
                    </a:solidFill>
                  </a:tcPr>
                </a:tc>
                <a:tc>
                  <a:txBody>
                    <a:bodyPr/>
                    <a:lstStyle/>
                    <a:p>
                      <a:r>
                        <a:rPr sz="1500" b="0">
                          <a:solidFill>
                            <a:srgbClr val="11151A"/>
                          </a:solidFill>
                          <a:latin typeface="Lato"/>
                          <a:ea typeface="Lato"/>
                          <a:cs typeface="Lato"/>
                        </a:rPr>
                        <a:t>15.0%</a:t>
                      </a:r>
                    </a:p>
                  </a:txBody>
                  <a:tcPr>
                    <a:solidFill>
                      <a:srgbClr val="FFFFFF"/>
                    </a:solidFill>
                  </a:tcPr>
                </a:tc>
                <a:tc>
                  <a:txBody>
                    <a:bodyPr/>
                    <a:lstStyle/>
                    <a:p>
                      <a:r>
                        <a:rPr sz="1500" b="0">
                          <a:solidFill>
                            <a:srgbClr val="11151A"/>
                          </a:solidFill>
                          <a:latin typeface="Lato"/>
                          <a:ea typeface="Lato"/>
                          <a:cs typeface="Lato"/>
                        </a:rPr>
                        <a:t>0.62bn litres</a:t>
                      </a:r>
                    </a:p>
                  </a:txBody>
                  <a:tcPr>
                    <a:solidFill>
                      <a:srgbClr val="FFFFFF"/>
                    </a:solidFill>
                  </a:tcPr>
                </a:tc>
                <a:extLst>
                  <a:ext uri="{0D108BD9-81ED-4DB2-BD59-A6C34878D82A}">
                    <a16:rowId xmlns:a16="http://schemas.microsoft.com/office/drawing/2014/main" val="10001"/>
                  </a:ext>
                </a:extLst>
              </a:tr>
              <a:tr h="804863">
                <a:tc>
                  <a:txBody>
                    <a:bodyPr/>
                    <a:lstStyle/>
                    <a:p>
                      <a:r>
                        <a:rPr sz="1500" b="1">
                          <a:solidFill>
                            <a:srgbClr val="0A2373"/>
                          </a:solidFill>
                          <a:latin typeface="Lato"/>
                          <a:ea typeface="Lato"/>
                          <a:cs typeface="Lato"/>
                        </a:rPr>
                        <a:t>Base</a:t>
                      </a:r>
                    </a:p>
                  </a:txBody>
                  <a:tcPr>
                    <a:solidFill>
                      <a:srgbClr val="FFFFFF"/>
                    </a:solidFill>
                  </a:tcPr>
                </a:tc>
                <a:tc>
                  <a:txBody>
                    <a:bodyPr/>
                    <a:lstStyle/>
                    <a:p>
                      <a:r>
                        <a:rPr sz="1500" b="0">
                          <a:solidFill>
                            <a:srgbClr val="11151A"/>
                          </a:solidFill>
                          <a:latin typeface="Lato"/>
                          <a:ea typeface="Lato"/>
                          <a:cs typeface="Lato"/>
                        </a:rPr>
                        <a:t>7.5%</a:t>
                      </a:r>
                    </a:p>
                  </a:txBody>
                  <a:tcPr>
                    <a:solidFill>
                      <a:srgbClr val="FFFFFF"/>
                    </a:solidFill>
                  </a:tcPr>
                </a:tc>
                <a:tc>
                  <a:txBody>
                    <a:bodyPr/>
                    <a:lstStyle/>
                    <a:p>
                      <a:r>
                        <a:rPr sz="1500" b="0">
                          <a:solidFill>
                            <a:srgbClr val="11151A"/>
                          </a:solidFill>
                          <a:latin typeface="Lato"/>
                          <a:ea typeface="Lato"/>
                          <a:cs typeface="Lato"/>
                        </a:rPr>
                        <a:t>0.33bn litres</a:t>
                      </a:r>
                    </a:p>
                  </a:txBody>
                  <a:tcPr>
                    <a:solidFill>
                      <a:srgbClr val="FFFFFF"/>
                    </a:solidFill>
                  </a:tcPr>
                </a:tc>
                <a:extLst>
                  <a:ext uri="{0D108BD9-81ED-4DB2-BD59-A6C34878D82A}">
                    <a16:rowId xmlns:a16="http://schemas.microsoft.com/office/drawing/2014/main" val="10002"/>
                  </a:ext>
                </a:extLst>
              </a:tr>
              <a:tr h="804863">
                <a:tc>
                  <a:txBody>
                    <a:bodyPr/>
                    <a:lstStyle/>
                    <a:p>
                      <a:r>
                        <a:rPr sz="1500" b="1">
                          <a:solidFill>
                            <a:srgbClr val="0A2373"/>
                          </a:solidFill>
                          <a:latin typeface="Lato"/>
                          <a:ea typeface="Lato"/>
                          <a:cs typeface="Lato"/>
                        </a:rPr>
                        <a:t>High imports</a:t>
                      </a:r>
                    </a:p>
                  </a:txBody>
                  <a:tcPr>
                    <a:solidFill>
                      <a:srgbClr val="FFFFFF"/>
                    </a:solidFill>
                  </a:tcPr>
                </a:tc>
                <a:tc>
                  <a:txBody>
                    <a:bodyPr/>
                    <a:lstStyle/>
                    <a:p>
                      <a:r>
                        <a:rPr sz="1500" b="0">
                          <a:solidFill>
                            <a:srgbClr val="11151A"/>
                          </a:solidFill>
                          <a:latin typeface="Lato"/>
                          <a:ea typeface="Lato"/>
                          <a:cs typeface="Lato"/>
                        </a:rPr>
                        <a:t>2.5%</a:t>
                      </a:r>
                    </a:p>
                  </a:txBody>
                  <a:tcPr>
                    <a:solidFill>
                      <a:srgbClr val="FFFFFF"/>
                    </a:solidFill>
                  </a:tcPr>
                </a:tc>
                <a:tc>
                  <a:txBody>
                    <a:bodyPr/>
                    <a:lstStyle/>
                    <a:p>
                      <a:r>
                        <a:rPr sz="1500" b="0">
                          <a:solidFill>
                            <a:srgbClr val="11151A"/>
                          </a:solidFill>
                          <a:latin typeface="Lato"/>
                          <a:ea typeface="Lato"/>
                          <a:cs typeface="Lato"/>
                        </a:rPr>
                        <a:t>0.12bn litres</a:t>
                      </a:r>
                    </a:p>
                  </a:txBody>
                  <a:tcPr>
                    <a:solidFill>
                      <a:srgbClr val="FFFFFF"/>
                    </a:solidFill>
                  </a:tcPr>
                </a:tc>
                <a:extLst>
                  <a:ext uri="{0D108BD9-81ED-4DB2-BD59-A6C34878D82A}">
                    <a16:rowId xmlns:a16="http://schemas.microsoft.com/office/drawing/2014/main" val="10003"/>
                  </a:ext>
                </a:extLst>
              </a:tr>
              <a:tr h="804863">
                <a:tc>
                  <a:txBody>
                    <a:bodyPr/>
                    <a:lstStyle/>
                    <a:p>
                      <a:r>
                        <a:rPr sz="1500" b="1">
                          <a:solidFill>
                            <a:srgbClr val="0A2373"/>
                          </a:solidFill>
                          <a:latin typeface="Lato"/>
                          <a:ea typeface="Lato"/>
                          <a:cs typeface="Lato"/>
                        </a:rPr>
                        <a:t>Calculation order</a:t>
                      </a:r>
                    </a:p>
                  </a:txBody>
                  <a:tcPr>
                    <a:solidFill>
                      <a:srgbClr val="FFFFFF"/>
                    </a:solidFill>
                  </a:tcPr>
                </a:tc>
                <a:tc>
                  <a:txBody>
                    <a:bodyPr/>
                    <a:lstStyle/>
                    <a:p>
                      <a:r>
                        <a:rPr sz="1500" b="0">
                          <a:solidFill>
                            <a:srgbClr val="11151A"/>
                          </a:solidFill>
                          <a:latin typeface="Lato"/>
                          <a:ea typeface="Lato"/>
                          <a:cs typeface="Lato"/>
                        </a:rPr>
                        <a:t>Activity → efficiency → modal shift</a:t>
                      </a:r>
                    </a:p>
                  </a:txBody>
                  <a:tcPr>
                    <a:solidFill>
                      <a:srgbClr val="FFFFFF"/>
                    </a:solidFill>
                  </a:tcPr>
                </a:tc>
                <a:tc>
                  <a:txBody>
                    <a:bodyPr/>
                    <a:lstStyle/>
                    <a:p>
                      <a:r>
                        <a:rPr sz="1500" b="0">
                          <a:solidFill>
                            <a:srgbClr val="11151A"/>
                          </a:solidFill>
                          <a:latin typeface="Lato"/>
                          <a:ea typeface="Lato"/>
                          <a:cs typeface="Lato"/>
                        </a:rPr>
                        <a:t>10% diesel rebound allowance for rail</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1D7BFD1A-CD1B-4950-8639-5238A3A4A209}"/>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These shifts apply to road-freight activity, not the entire diesel market; sector demand and power remain separate.</a:t>
            </a:r>
          </a:p>
        </p:txBody>
      </p:sp>
      <p:graphicFrame>
        <p:nvGraphicFramePr>
          <p:cNvPr id="5011"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5.8bn-litre production assumption leaves a gross import requirement of about 16.7bn litres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13</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Balance and Supply assumption. User direction 11 October 2026. Original plant-based estimate 10.23bn L retained in appendix.</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45243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2025 national balance</a:t>
                      </a:r>
                    </a:p>
                  </a:txBody>
                  <a:tcPr>
                    <a:solidFill>
                      <a:srgbClr val="F5F5F5"/>
                    </a:solidFill>
                  </a:tcPr>
                </a:tc>
                <a:tc>
                  <a:txBody>
                    <a:bodyPr/>
                    <a:lstStyle/>
                    <a:p>
                      <a:r>
                        <a:rPr sz="1350" b="1">
                          <a:solidFill>
                            <a:srgbClr val="0A2373"/>
                          </a:solidFill>
                          <a:latin typeface="Lato"/>
                          <a:ea typeface="Lato"/>
                          <a:cs typeface="Lato"/>
                        </a:rPr>
                        <a:t>bn litres</a:t>
                      </a:r>
                    </a:p>
                  </a:txBody>
                  <a:tcPr>
                    <a:solidFill>
                      <a:srgbClr val="F5F5F5"/>
                    </a:solidFill>
                  </a:tcPr>
                </a:tc>
                <a:tc>
                  <a:txBody>
                    <a:bodyPr/>
                    <a:lstStyle/>
                    <a:p>
                      <a:r>
                        <a:rPr sz="1350" b="1">
                          <a:solidFill>
                            <a:srgbClr val="0A2373"/>
                          </a:solidFill>
                          <a:latin typeface="Lato"/>
                          <a:ea typeface="Lato"/>
                          <a:cs typeface="Lato"/>
                        </a:rPr>
                        <a:t>Basis</a:t>
                      </a:r>
                    </a:p>
                  </a:txBody>
                  <a:tcPr>
                    <a:solidFill>
                      <a:srgbClr val="F5F5F5"/>
                    </a:solidFill>
                  </a:tcPr>
                </a:tc>
                <a:extLst>
                  <a:ext uri="{0D108BD9-81ED-4DB2-BD59-A6C34878D82A}">
                    <a16:rowId xmlns:a16="http://schemas.microsoft.com/office/drawing/2014/main" val="10000"/>
                  </a:ext>
                </a:extLst>
              </a:tr>
              <a:tr h="536575">
                <a:tc>
                  <a:txBody>
                    <a:bodyPr/>
                    <a:lstStyle/>
                    <a:p>
                      <a:r>
                        <a:rPr sz="1350" b="1">
                          <a:solidFill>
                            <a:srgbClr val="0A2373"/>
                          </a:solidFill>
                          <a:latin typeface="Lato"/>
                          <a:ea typeface="Lato"/>
                          <a:cs typeface="Lato"/>
                        </a:rPr>
                        <a:t>Demand</a:t>
                      </a:r>
                    </a:p>
                  </a:txBody>
                  <a:tcPr>
                    <a:solidFill>
                      <a:srgbClr val="FFFFFF"/>
                    </a:solidFill>
                  </a:tcPr>
                </a:tc>
                <a:tc>
                  <a:txBody>
                    <a:bodyPr/>
                    <a:lstStyle/>
                    <a:p>
                      <a:r>
                        <a:rPr sz="1350" b="0">
                          <a:solidFill>
                            <a:srgbClr val="11151A"/>
                          </a:solidFill>
                          <a:latin typeface="Lato"/>
                          <a:ea typeface="Lato"/>
                          <a:cs typeface="Lato"/>
                        </a:rPr>
                        <a:t>20.99</a:t>
                      </a:r>
                    </a:p>
                  </a:txBody>
                  <a:tcPr>
                    <a:solidFill>
                      <a:srgbClr val="FFFFFF"/>
                    </a:solidFill>
                  </a:tcPr>
                </a:tc>
                <a:tc>
                  <a:txBody>
                    <a:bodyPr/>
                    <a:lstStyle/>
                    <a:p>
                      <a:r>
                        <a:rPr sz="1350" b="0">
                          <a:solidFill>
                            <a:srgbClr val="11151A"/>
                          </a:solidFill>
                          <a:latin typeface="Lato"/>
                          <a:ea typeface="Lato"/>
                          <a:cs typeface="Lato"/>
                        </a:rPr>
                        <a:t>Estimated from the 2023 sales baseline</a:t>
                      </a:r>
                    </a:p>
                  </a:txBody>
                  <a:tcPr>
                    <a:solidFill>
                      <a:srgbClr val="FFFFFF"/>
                    </a:solidFill>
                  </a:tcPr>
                </a:tc>
                <a:extLst>
                  <a:ext uri="{0D108BD9-81ED-4DB2-BD59-A6C34878D82A}">
                    <a16:rowId xmlns:a16="http://schemas.microsoft.com/office/drawing/2014/main" val="10001"/>
                  </a:ext>
                </a:extLst>
              </a:tr>
              <a:tr h="536575">
                <a:tc>
                  <a:txBody>
                    <a:bodyPr/>
                    <a:lstStyle/>
                    <a:p>
                      <a:r>
                        <a:rPr sz="1350" b="1">
                          <a:solidFill>
                            <a:srgbClr val="0A2373"/>
                          </a:solidFill>
                          <a:latin typeface="Lato"/>
                          <a:ea typeface="Lato"/>
                          <a:cs typeface="Lato"/>
                        </a:rPr>
                        <a:t>Domestic production</a:t>
                      </a:r>
                    </a:p>
                  </a:txBody>
                  <a:tcPr>
                    <a:solidFill>
                      <a:srgbClr val="FFFFFF"/>
                    </a:solidFill>
                  </a:tcPr>
                </a:tc>
                <a:tc>
                  <a:txBody>
                    <a:bodyPr/>
                    <a:lstStyle/>
                    <a:p>
                      <a:r>
                        <a:rPr sz="1350" b="0">
                          <a:solidFill>
                            <a:srgbClr val="11151A"/>
                          </a:solidFill>
                          <a:latin typeface="Lato"/>
                          <a:ea typeface="Lato"/>
                          <a:cs typeface="Lato"/>
                        </a:rPr>
                        <a:t>5.80</a:t>
                      </a:r>
                    </a:p>
                  </a:txBody>
                  <a:tcPr>
                    <a:solidFill>
                      <a:srgbClr val="FFFFFF"/>
                    </a:solidFill>
                  </a:tcPr>
                </a:tc>
                <a:tc>
                  <a:txBody>
                    <a:bodyPr/>
                    <a:lstStyle/>
                    <a:p>
                      <a:r>
                        <a:rPr sz="1350" b="0">
                          <a:solidFill>
                            <a:srgbClr val="11151A"/>
                          </a:solidFill>
                          <a:latin typeface="Lato"/>
                          <a:ea typeface="Lato"/>
                          <a:cs typeface="Lato"/>
                        </a:rPr>
                        <a:t>User-directed national planning assumption</a:t>
                      </a:r>
                    </a:p>
                  </a:txBody>
                  <a:tcPr>
                    <a:solidFill>
                      <a:srgbClr val="FFFFFF"/>
                    </a:solidFill>
                  </a:tcPr>
                </a:tc>
                <a:extLst>
                  <a:ext uri="{0D108BD9-81ED-4DB2-BD59-A6C34878D82A}">
                    <a16:rowId xmlns:a16="http://schemas.microsoft.com/office/drawing/2014/main" val="10002"/>
                  </a:ext>
                </a:extLst>
              </a:tr>
              <a:tr h="536575">
                <a:tc>
                  <a:txBody>
                    <a:bodyPr/>
                    <a:lstStyle/>
                    <a:p>
                      <a:r>
                        <a:rPr sz="1350" b="1">
                          <a:solidFill>
                            <a:srgbClr val="0A2373"/>
                          </a:solidFill>
                          <a:latin typeface="Lato"/>
                          <a:ea typeface="Lato"/>
                          <a:cs typeface="Lato"/>
                        </a:rPr>
                        <a:t>Gross imports</a:t>
                      </a:r>
                    </a:p>
                  </a:txBody>
                  <a:tcPr>
                    <a:solidFill>
                      <a:srgbClr val="FFFFFF"/>
                    </a:solidFill>
                  </a:tcPr>
                </a:tc>
                <a:tc>
                  <a:txBody>
                    <a:bodyPr/>
                    <a:lstStyle/>
                    <a:p>
                      <a:r>
                        <a:rPr sz="1350" b="0">
                          <a:solidFill>
                            <a:srgbClr val="11151A"/>
                          </a:solidFill>
                          <a:latin typeface="Lato"/>
                          <a:ea typeface="Lato"/>
                          <a:cs typeface="Lato"/>
                        </a:rPr>
                        <a:t>16.70</a:t>
                      </a:r>
                    </a:p>
                  </a:txBody>
                  <a:tcPr>
                    <a:solidFill>
                      <a:srgbClr val="FFFFFF"/>
                    </a:solidFill>
                  </a:tcPr>
                </a:tc>
                <a:tc>
                  <a:txBody>
                    <a:bodyPr/>
                    <a:lstStyle/>
                    <a:p>
                      <a:r>
                        <a:rPr sz="1350" b="0">
                          <a:solidFill>
                            <a:srgbClr val="11151A"/>
                          </a:solidFill>
                          <a:latin typeface="Lato"/>
                          <a:ea typeface="Lato"/>
                          <a:cs typeface="Lato"/>
                        </a:rPr>
                        <a:t>SARS recorded customs litres</a:t>
                      </a:r>
                    </a:p>
                  </a:txBody>
                  <a:tcPr>
                    <a:solidFill>
                      <a:srgbClr val="FFFFFF"/>
                    </a:solidFill>
                  </a:tcPr>
                </a:tc>
                <a:extLst>
                  <a:ext uri="{0D108BD9-81ED-4DB2-BD59-A6C34878D82A}">
                    <a16:rowId xmlns:a16="http://schemas.microsoft.com/office/drawing/2014/main" val="10003"/>
                  </a:ext>
                </a:extLst>
              </a:tr>
              <a:tr h="536575">
                <a:tc>
                  <a:txBody>
                    <a:bodyPr/>
                    <a:lstStyle/>
                    <a:p>
                      <a:r>
                        <a:rPr sz="1350" b="1">
                          <a:solidFill>
                            <a:srgbClr val="0A2373"/>
                          </a:solidFill>
                          <a:latin typeface="Lato"/>
                          <a:ea typeface="Lato"/>
                          <a:cs typeface="Lato"/>
                        </a:rPr>
                        <a:t>Exports</a:t>
                      </a:r>
                    </a:p>
                  </a:txBody>
                  <a:tcPr>
                    <a:solidFill>
                      <a:srgbClr val="FFFFFF"/>
                    </a:solidFill>
                  </a:tcPr>
                </a:tc>
                <a:tc>
                  <a:txBody>
                    <a:bodyPr/>
                    <a:lstStyle/>
                    <a:p>
                      <a:r>
                        <a:rPr sz="1350" b="0">
                          <a:solidFill>
                            <a:srgbClr val="11151A"/>
                          </a:solidFill>
                          <a:latin typeface="Lato"/>
                          <a:ea typeface="Lato"/>
                          <a:cs typeface="Lato"/>
                        </a:rPr>
                        <a:t>1.55</a:t>
                      </a:r>
                    </a:p>
                  </a:txBody>
                  <a:tcPr>
                    <a:solidFill>
                      <a:srgbClr val="FFFFFF"/>
                    </a:solidFill>
                  </a:tcPr>
                </a:tc>
                <a:tc>
                  <a:txBody>
                    <a:bodyPr/>
                    <a:lstStyle/>
                    <a:p>
                      <a:r>
                        <a:rPr sz="1350" b="0">
                          <a:solidFill>
                            <a:srgbClr val="11151A"/>
                          </a:solidFill>
                          <a:latin typeface="Lato"/>
                          <a:ea typeface="Lato"/>
                          <a:cs typeface="Lato"/>
                        </a:rPr>
                        <a:t>SARS recorded customs litres</a:t>
                      </a:r>
                    </a:p>
                  </a:txBody>
                  <a:tcPr>
                    <a:solidFill>
                      <a:srgbClr val="FFFFFF"/>
                    </a:solidFill>
                  </a:tcPr>
                </a:tc>
                <a:extLst>
                  <a:ext uri="{0D108BD9-81ED-4DB2-BD59-A6C34878D82A}">
                    <a16:rowId xmlns:a16="http://schemas.microsoft.com/office/drawing/2014/main" val="10004"/>
                  </a:ext>
                </a:extLst>
              </a:tr>
              <a:tr h="536575">
                <a:tc>
                  <a:txBody>
                    <a:bodyPr/>
                    <a:lstStyle/>
                    <a:p>
                      <a:r>
                        <a:rPr sz="1350" b="1">
                          <a:solidFill>
                            <a:srgbClr val="0A2373"/>
                          </a:solidFill>
                          <a:latin typeface="Lato"/>
                          <a:ea typeface="Lato"/>
                          <a:cs typeface="Lato"/>
                        </a:rPr>
                        <a:t>Production + net imports</a:t>
                      </a:r>
                    </a:p>
                  </a:txBody>
                  <a:tcPr>
                    <a:solidFill>
                      <a:srgbClr val="FFFFFF"/>
                    </a:solidFill>
                  </a:tcPr>
                </a:tc>
                <a:tc>
                  <a:txBody>
                    <a:bodyPr/>
                    <a:lstStyle/>
                    <a:p>
                      <a:r>
                        <a:rPr sz="1350" b="0">
                          <a:solidFill>
                            <a:srgbClr val="11151A"/>
                          </a:solidFill>
                          <a:latin typeface="Lato"/>
                          <a:ea typeface="Lato"/>
                          <a:cs typeface="Lato"/>
                        </a:rPr>
                        <a:t>20.95</a:t>
                      </a:r>
                    </a:p>
                  </a:txBody>
                  <a:tcPr>
                    <a:solidFill>
                      <a:srgbClr val="FFFFFF"/>
                    </a:solidFill>
                  </a:tcPr>
                </a:tc>
                <a:tc>
                  <a:txBody>
                    <a:bodyPr/>
                    <a:lstStyle/>
                    <a:p>
                      <a:r>
                        <a:rPr sz="1350" b="0">
                          <a:solidFill>
                            <a:srgbClr val="11151A"/>
                          </a:solidFill>
                          <a:latin typeface="Lato"/>
                          <a:ea typeface="Lato"/>
                          <a:cs typeface="Lato"/>
                        </a:rPr>
                        <a:t>Availability before stock / statistical differences</a:t>
                      </a:r>
                    </a:p>
                  </a:txBody>
                  <a:tcPr>
                    <a:solidFill>
                      <a:srgbClr val="FFFFFF"/>
                    </a:solidFill>
                  </a:tcPr>
                </a:tc>
                <a:extLst>
                  <a:ext uri="{0D108BD9-81ED-4DB2-BD59-A6C34878D82A}">
                    <a16:rowId xmlns:a16="http://schemas.microsoft.com/office/drawing/2014/main" val="10005"/>
                  </a:ext>
                </a:extLst>
              </a:tr>
              <a:tr h="536575">
                <a:tc>
                  <a:txBody>
                    <a:bodyPr/>
                    <a:lstStyle/>
                    <a:p>
                      <a:r>
                        <a:rPr sz="1350" b="1">
                          <a:solidFill>
                            <a:srgbClr val="0A2373"/>
                          </a:solidFill>
                          <a:latin typeface="Lato"/>
                          <a:ea typeface="Lato"/>
                          <a:cs typeface="Lato"/>
                        </a:rPr>
                        <a:t>Availability less demand</a:t>
                      </a:r>
                    </a:p>
                  </a:txBody>
                  <a:tcPr>
                    <a:solidFill>
                      <a:srgbClr val="FFFFFF"/>
                    </a:solidFill>
                  </a:tcPr>
                </a:tc>
                <a:tc>
                  <a:txBody>
                    <a:bodyPr/>
                    <a:lstStyle/>
                    <a:p>
                      <a:r>
                        <a:rPr sz="1350" b="0">
                          <a:solidFill>
                            <a:srgbClr val="11151A"/>
                          </a:solidFill>
                          <a:latin typeface="Lato"/>
                          <a:ea typeface="Lato"/>
                          <a:cs typeface="Lato"/>
                        </a:rPr>
                        <a:t>-0.03</a:t>
                      </a:r>
                    </a:p>
                  </a:txBody>
                  <a:tcPr>
                    <a:solidFill>
                      <a:srgbClr val="FFFFFF"/>
                    </a:solidFill>
                  </a:tcPr>
                </a:tc>
                <a:tc>
                  <a:txBody>
                    <a:bodyPr/>
                    <a:lstStyle/>
                    <a:p>
                      <a:r>
                        <a:rPr sz="1350" b="0">
                          <a:solidFill>
                            <a:srgbClr val="11151A"/>
                          </a:solidFill>
                          <a:latin typeface="Lato"/>
                          <a:ea typeface="Lato"/>
                          <a:cs typeface="Lato"/>
                        </a:rPr>
                        <a:t>Aggregate near-balance; product differences remain</a:t>
                      </a:r>
                    </a:p>
                  </a:txBody>
                  <a:tcPr>
                    <a:solidFill>
                      <a:srgbClr val="FFFFFF"/>
                    </a:solidFill>
                  </a:tcPr>
                </a:tc>
                <a:extLst>
                  <a:ext uri="{0D108BD9-81ED-4DB2-BD59-A6C34878D82A}">
                    <a16:rowId xmlns:a16="http://schemas.microsoft.com/office/drawing/2014/main" val="10006"/>
                  </a:ext>
                </a:extLst>
              </a:tr>
            </a:tbl>
          </a:graphicData>
        </a:graphic>
      </p:graphicFrame>
      <p:sp>
        <p:nvSpPr>
          <p:cNvPr id="50" name="Story implication">
            <a:extLst>
              <a:ext uri="{FF2B5EF4-FFF2-40B4-BE49-F238E27FC236}">
                <a16:creationId xmlns:a16="http://schemas.microsoft.com/office/drawing/2014/main" id="{6483961D-0791-4B03-A770-0392DAB70868}"/>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5.8bn litres sets the planning case. Aggregate closure does not validate domestic output or its petrol/diesel split.</a:t>
            </a:r>
          </a:p>
        </p:txBody>
      </p:sp>
      <p:graphicFrame>
        <p:nvGraphicFramePr>
          <p:cNvPr id="5012"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Refinery recovery is the largest downside risk to the import requirement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14</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scenario assumptions; DR08 refinery evidence. Capacity inputs: SAPREF 180kb/d, PetroSA 45kb/d; 70% petrol/diesel yield in restart sensitivities. Dates are not project commitments.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9527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4743450">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Supply lever</a:t>
                      </a:r>
                    </a:p>
                  </a:txBody>
                  <a:tcPr>
                    <a:solidFill>
                      <a:srgbClr val="F5F5F5"/>
                    </a:solidFill>
                  </a:tcPr>
                </a:tc>
                <a:tc>
                  <a:txBody>
                    <a:bodyPr/>
                    <a:lstStyle/>
                    <a:p>
                      <a:r>
                        <a:rPr sz="1350" b="1">
                          <a:solidFill>
                            <a:srgbClr val="0A2373"/>
                          </a:solidFill>
                          <a:latin typeface="Lato"/>
                          <a:ea typeface="Lato"/>
                          <a:cs typeface="Lato"/>
                        </a:rPr>
                        <a:t>Base case</a:t>
                      </a:r>
                    </a:p>
                  </a:txBody>
                  <a:tcPr>
                    <a:solidFill>
                      <a:srgbClr val="F5F5F5"/>
                    </a:solidFill>
                  </a:tcPr>
                </a:tc>
                <a:tc>
                  <a:txBody>
                    <a:bodyPr/>
                    <a:lstStyle/>
                    <a:p>
                      <a:r>
                        <a:rPr sz="1350" b="1">
                          <a:solidFill>
                            <a:srgbClr val="0A2373"/>
                          </a:solidFill>
                          <a:latin typeface="Lato"/>
                          <a:ea typeface="Lato"/>
                          <a:cs typeface="Lato"/>
                        </a:rPr>
                        <a:t>Low-import sensitivity</a:t>
                      </a:r>
                    </a:p>
                  </a:txBody>
                  <a:tcPr>
                    <a:solidFill>
                      <a:srgbClr val="F5F5F5"/>
                    </a:solidFill>
                  </a:tcPr>
                </a:tc>
                <a:extLst>
                  <a:ext uri="{0D108BD9-81ED-4DB2-BD59-A6C34878D82A}">
                    <a16:rowId xmlns:a16="http://schemas.microsoft.com/office/drawing/2014/main" val="10000"/>
                  </a:ext>
                </a:extLst>
              </a:tr>
              <a:tr h="804863">
                <a:tc>
                  <a:txBody>
                    <a:bodyPr/>
                    <a:lstStyle/>
                    <a:p>
                      <a:r>
                        <a:rPr sz="1350" b="1">
                          <a:solidFill>
                            <a:srgbClr val="0A2373"/>
                          </a:solidFill>
                          <a:latin typeface="Lato"/>
                          <a:ea typeface="Lato"/>
                          <a:cs typeface="Lato"/>
                        </a:rPr>
                        <a:t>Operating domestic supply</a:t>
                      </a:r>
                    </a:p>
                  </a:txBody>
                  <a:tcPr>
                    <a:solidFill>
                      <a:srgbClr val="FFFFFF"/>
                    </a:solidFill>
                  </a:tcPr>
                </a:tc>
                <a:tc>
                  <a:txBody>
                    <a:bodyPr/>
                    <a:lstStyle/>
                    <a:p>
                      <a:r>
                        <a:rPr sz="1350" b="0">
                          <a:solidFill>
                            <a:srgbClr val="11151A"/>
                          </a:solidFill>
                          <a:latin typeface="Lato"/>
                          <a:ea typeface="Lato"/>
                          <a:cs typeface="Lato"/>
                        </a:rPr>
                        <a:t>5.8bn L through 2030</a:t>
                      </a:r>
                    </a:p>
                  </a:txBody>
                  <a:tcPr>
                    <a:solidFill>
                      <a:srgbClr val="FFFFFF"/>
                    </a:solidFill>
                  </a:tcPr>
                </a:tc>
                <a:tc>
                  <a:txBody>
                    <a:bodyPr/>
                    <a:lstStyle/>
                    <a:p>
                      <a:r>
                        <a:rPr sz="1350" b="0">
                          <a:solidFill>
                            <a:srgbClr val="11151A"/>
                          </a:solidFill>
                          <a:latin typeface="Lato"/>
                          <a:ea typeface="Lato"/>
                          <a:cs typeface="Lato"/>
                        </a:rPr>
                        <a:t>15% increase in the national planning volume</a:t>
                      </a:r>
                    </a:p>
                  </a:txBody>
                  <a:tcPr>
                    <a:solidFill>
                      <a:srgbClr val="FFFFFF"/>
                    </a:solidFill>
                  </a:tcPr>
                </a:tc>
                <a:extLst>
                  <a:ext uri="{0D108BD9-81ED-4DB2-BD59-A6C34878D82A}">
                    <a16:rowId xmlns:a16="http://schemas.microsoft.com/office/drawing/2014/main" val="10001"/>
                  </a:ext>
                </a:extLst>
              </a:tr>
              <a:tr h="804863">
                <a:tc>
                  <a:txBody>
                    <a:bodyPr/>
                    <a:lstStyle/>
                    <a:p>
                      <a:r>
                        <a:rPr sz="1350" b="1">
                          <a:solidFill>
                            <a:srgbClr val="0A2373"/>
                          </a:solidFill>
                          <a:latin typeface="Lato"/>
                          <a:ea typeface="Lato"/>
                          <a:cs typeface="Lato"/>
                        </a:rPr>
                        <a:t>SAPREF</a:t>
                      </a:r>
                    </a:p>
                  </a:txBody>
                  <a:tcPr>
                    <a:solidFill>
                      <a:srgbClr val="FFFFFF"/>
                    </a:solidFill>
                  </a:tcPr>
                </a:tc>
                <a:tc>
                  <a:txBody>
                    <a:bodyPr/>
                    <a:lstStyle/>
                    <a:p>
                      <a:r>
                        <a:rPr sz="1350" b="0">
                          <a:solidFill>
                            <a:srgbClr val="11151A"/>
                          </a:solidFill>
                          <a:latin typeface="Lato"/>
                          <a:ea typeface="Lato"/>
                          <a:cs typeface="Lato"/>
                        </a:rPr>
                        <a:t>No refining restart through 2030</a:t>
                      </a:r>
                    </a:p>
                  </a:txBody>
                  <a:tcPr>
                    <a:solidFill>
                      <a:srgbClr val="FFFFFF"/>
                    </a:solidFill>
                  </a:tcPr>
                </a:tc>
                <a:tc>
                  <a:txBody>
                    <a:bodyPr/>
                    <a:lstStyle/>
                    <a:p>
                      <a:r>
                        <a:rPr sz="1350" b="0">
                          <a:solidFill>
                            <a:srgbClr val="11151A"/>
                          </a:solidFill>
                          <a:latin typeface="Lato"/>
                          <a:ea typeface="Lato"/>
                          <a:cs typeface="Lato"/>
                        </a:rPr>
                        <a:t>Assumed 2029 start; 65% utilisation after a two-year ramp</a:t>
                      </a:r>
                    </a:p>
                  </a:txBody>
                  <a:tcPr>
                    <a:solidFill>
                      <a:srgbClr val="FFFFFF"/>
                    </a:solidFill>
                  </a:tcPr>
                </a:tc>
                <a:extLst>
                  <a:ext uri="{0D108BD9-81ED-4DB2-BD59-A6C34878D82A}">
                    <a16:rowId xmlns:a16="http://schemas.microsoft.com/office/drawing/2014/main" val="10002"/>
                  </a:ext>
                </a:extLst>
              </a:tr>
              <a:tr h="804863">
                <a:tc>
                  <a:txBody>
                    <a:bodyPr/>
                    <a:lstStyle/>
                    <a:p>
                      <a:r>
                        <a:rPr sz="1350" b="1">
                          <a:solidFill>
                            <a:srgbClr val="0A2373"/>
                          </a:solidFill>
                          <a:latin typeface="Lato"/>
                          <a:ea typeface="Lato"/>
                          <a:cs typeface="Lato"/>
                        </a:rPr>
                        <a:t>PetroSA / Mossel Bay</a:t>
                      </a:r>
                    </a:p>
                  </a:txBody>
                  <a:tcPr>
                    <a:solidFill>
                      <a:srgbClr val="FFFFFF"/>
                    </a:solidFill>
                  </a:tcPr>
                </a:tc>
                <a:tc>
                  <a:txBody>
                    <a:bodyPr/>
                    <a:lstStyle/>
                    <a:p>
                      <a:r>
                        <a:rPr sz="1350" b="0">
                          <a:solidFill>
                            <a:srgbClr val="11151A"/>
                          </a:solidFill>
                          <a:latin typeface="Lato"/>
                          <a:ea typeface="Lato"/>
                          <a:cs typeface="Lato"/>
                        </a:rPr>
                        <a:t>No refining restart through 2030</a:t>
                      </a:r>
                    </a:p>
                  </a:txBody>
                  <a:tcPr>
                    <a:solidFill>
                      <a:srgbClr val="FFFFFF"/>
                    </a:solidFill>
                  </a:tcPr>
                </a:tc>
                <a:tc>
                  <a:txBody>
                    <a:bodyPr/>
                    <a:lstStyle/>
                    <a:p>
                      <a:r>
                        <a:rPr sz="1350" b="0">
                          <a:solidFill>
                            <a:srgbClr val="11151A"/>
                          </a:solidFill>
                          <a:latin typeface="Lato"/>
                          <a:ea typeface="Lato"/>
                          <a:cs typeface="Lato"/>
                        </a:rPr>
                        <a:t>Assumed 2029 start; 50% utilisation after a two-year ramp</a:t>
                      </a:r>
                    </a:p>
                  </a:txBody>
                  <a:tcPr>
                    <a:solidFill>
                      <a:srgbClr val="FFFFFF"/>
                    </a:solidFill>
                  </a:tcPr>
                </a:tc>
                <a:extLst>
                  <a:ext uri="{0D108BD9-81ED-4DB2-BD59-A6C34878D82A}">
                    <a16:rowId xmlns:a16="http://schemas.microsoft.com/office/drawing/2014/main" val="10003"/>
                  </a:ext>
                </a:extLst>
              </a:tr>
              <a:tr h="804863">
                <a:tc>
                  <a:txBody>
                    <a:bodyPr/>
                    <a:lstStyle/>
                    <a:p>
                      <a:r>
                        <a:rPr sz="1350" b="1">
                          <a:solidFill>
                            <a:srgbClr val="0A2373"/>
                          </a:solidFill>
                          <a:latin typeface="Lato"/>
                          <a:ea typeface="Lato"/>
                          <a:cs typeface="Lato"/>
                        </a:rPr>
                        <a:t>Combined restart contribution</a:t>
                      </a:r>
                    </a:p>
                  </a:txBody>
                  <a:tcPr>
                    <a:solidFill>
                      <a:srgbClr val="FFFFFF"/>
                    </a:solidFill>
                  </a:tcPr>
                </a:tc>
                <a:tc>
                  <a:txBody>
                    <a:bodyPr/>
                    <a:lstStyle/>
                    <a:p>
                      <a:r>
                        <a:rPr sz="1350" b="0">
                          <a:solidFill>
                            <a:srgbClr val="11151A"/>
                          </a:solidFill>
                          <a:latin typeface="Lato"/>
                          <a:ea typeface="Lato"/>
                          <a:cs typeface="Lato"/>
                        </a:rPr>
                        <a:t>Zero</a:t>
                      </a:r>
                    </a:p>
                  </a:txBody>
                  <a:tcPr>
                    <a:solidFill>
                      <a:srgbClr val="FFFFFF"/>
                    </a:solidFill>
                  </a:tcPr>
                </a:tc>
                <a:tc>
                  <a:txBody>
                    <a:bodyPr/>
                    <a:lstStyle/>
                    <a:p>
                      <a:r>
                        <a:rPr sz="1350" b="0">
                          <a:solidFill>
                            <a:srgbClr val="11151A"/>
                          </a:solidFill>
                          <a:latin typeface="Lato"/>
                          <a:ea typeface="Lato"/>
                          <a:cs typeface="Lato"/>
                        </a:rPr>
                        <a:t>5.67bn L petrol/diesel in 2030</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2C0231F2-C11B-4E4C-A639-AAEA7D29A80E}"/>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Restart dates and ramp-up settings are scenario assumptions. Import-terminal operations can compete before refining resumes.</a:t>
            </a:r>
          </a:p>
        </p:txBody>
      </p:sp>
      <p:graphicFrame>
        <p:nvGraphicFramePr>
          <p:cNvPr id="5013"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Base-case imports remain near 16.6bn litres; refinery recovery creates a much lower outcome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15</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Scenarios. Demand-implied gross imports = demand − domestic supply + 2025 exports. Zero stock change; 5.8bn L directed opening supply.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437340A9-6942-4095-AD28-0BB9D6B28B40}"/>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A642DBE3-4F68-4AEE-8FA8-2DDC4D9AECBA}"/>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2030 gross import need</a:t>
            </a:r>
          </a:p>
        </p:txBody>
      </p:sp>
      <p:sp>
        <p:nvSpPr>
          <p:cNvPr id="52" name="Chart insights">
            <a:extLst>
              <a:ext uri="{FF2B5EF4-FFF2-40B4-BE49-F238E27FC236}">
                <a16:creationId xmlns:a16="http://schemas.microsoft.com/office/drawing/2014/main" id="{EE7622E9-6EFD-460B-B40E-6EE14B12FECD}"/>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Low imports: 8.26bn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Base: 16.61bn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High imports: 19.68bn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Cases are sensitivities, not assigned probabilities.</a:t>
            </a:r>
          </a:p>
        </p:txBody>
      </p:sp>
      <p:sp>
        <p:nvSpPr>
          <p:cNvPr id="53" name="Story implication">
            <a:extLst>
              <a:ext uri="{FF2B5EF4-FFF2-40B4-BE49-F238E27FC236}">
                <a16:creationId xmlns:a16="http://schemas.microsoft.com/office/drawing/2014/main" id="{0667ABD7-5AB0-4F92-BE34-BC9D090E5B38}"/>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base case balances activity growth against efficiency, rail and power reductions; supply assumptions drive the widest spread.</a:t>
            </a:r>
          </a:p>
        </p:txBody>
      </p:sp>
      <p:graphicFrame>
        <p:nvGraphicFramePr>
          <p:cNvPr id="5014"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Matola provides an existing alternative gateway; new gas projects have a different role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16</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Galp Matola announcement (3 Dec 2020); Petromoc logistics; Sasol Mozambique operations; SARS customs. URLs retained in notes / workbook.</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667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362450">
                  <a:extLst>
                    <a:ext uri="{9D8B030D-6E8A-4147-A177-3AD203B41FA5}">
                      <a16:colId xmlns:a16="http://schemas.microsoft.com/office/drawing/2014/main" val="20002"/>
                    </a:ext>
                  </a:extLst>
                </a:gridCol>
              </a:tblGrid>
              <a:tr h="400050">
                <a:tc>
                  <a:txBody>
                    <a:bodyPr/>
                    <a:lstStyle/>
                    <a:p>
                      <a:r>
                        <a:rPr sz="1275" b="1">
                          <a:solidFill>
                            <a:srgbClr val="0A2373"/>
                          </a:solidFill>
                          <a:latin typeface="Lato"/>
                          <a:ea typeface="Lato"/>
                          <a:cs typeface="Lato"/>
                        </a:rPr>
                        <a:t>Node</a:t>
                      </a:r>
                    </a:p>
                  </a:txBody>
                  <a:tcPr>
                    <a:solidFill>
                      <a:srgbClr val="F5F5F5"/>
                    </a:solidFill>
                  </a:tcPr>
                </a:tc>
                <a:tc>
                  <a:txBody>
                    <a:bodyPr/>
                    <a:lstStyle/>
                    <a:p>
                      <a:r>
                        <a:rPr sz="1275" b="1">
                          <a:solidFill>
                            <a:srgbClr val="0A2373"/>
                          </a:solidFill>
                          <a:latin typeface="Lato"/>
                          <a:ea typeface="Lato"/>
                          <a:cs typeface="Lato"/>
                        </a:rPr>
                        <a:t>Evidence</a:t>
                      </a:r>
                    </a:p>
                  </a:txBody>
                  <a:tcPr>
                    <a:solidFill>
                      <a:srgbClr val="F5F5F5"/>
                    </a:solidFill>
                  </a:tcPr>
                </a:tc>
                <a:tc>
                  <a:txBody>
                    <a:bodyPr/>
                    <a:lstStyle/>
                    <a:p>
                      <a:r>
                        <a:rPr sz="1275" b="1">
                          <a:solidFill>
                            <a:srgbClr val="0A2373"/>
                          </a:solidFill>
                          <a:latin typeface="Lato"/>
                          <a:ea typeface="Lato"/>
                          <a:cs typeface="Lato"/>
                        </a:rPr>
                        <a:t>Implication for South African fuel routes</a:t>
                      </a:r>
                    </a:p>
                  </a:txBody>
                  <a:tcPr>
                    <a:solidFill>
                      <a:srgbClr val="F5F5F5"/>
                    </a:solidFill>
                  </a:tcPr>
                </a:tc>
                <a:extLst>
                  <a:ext uri="{0D108BD9-81ED-4DB2-BD59-A6C34878D82A}">
                    <a16:rowId xmlns:a16="http://schemas.microsoft.com/office/drawing/2014/main" val="10000"/>
                  </a:ext>
                </a:extLst>
              </a:tr>
              <a:tr h="643890">
                <a:tc>
                  <a:txBody>
                    <a:bodyPr/>
                    <a:lstStyle/>
                    <a:p>
                      <a:r>
                        <a:rPr sz="1275" b="1">
                          <a:solidFill>
                            <a:srgbClr val="0A2373"/>
                          </a:solidFill>
                          <a:latin typeface="Lato"/>
                          <a:ea typeface="Lato"/>
                          <a:cs typeface="Lato"/>
                        </a:rPr>
                        <a:t>Galp/IPG Matola</a:t>
                      </a:r>
                    </a:p>
                  </a:txBody>
                  <a:tcPr>
                    <a:solidFill>
                      <a:srgbClr val="FFFFFF"/>
                    </a:solidFill>
                  </a:tcPr>
                </a:tc>
                <a:tc>
                  <a:txBody>
                    <a:bodyPr/>
                    <a:lstStyle/>
                    <a:p>
                      <a:r>
                        <a:rPr sz="1275" b="0">
                          <a:solidFill>
                            <a:srgbClr val="11151A"/>
                          </a:solidFill>
                          <a:latin typeface="Lato"/>
                          <a:ea typeface="Lato"/>
                          <a:cs typeface="Lato"/>
                        </a:rPr>
                        <a:t>60,000m³ petrol/diesel storage; opened 2020</a:t>
                      </a:r>
                    </a:p>
                  </a:txBody>
                  <a:tcPr>
                    <a:solidFill>
                      <a:srgbClr val="FFFFFF"/>
                    </a:solidFill>
                  </a:tcPr>
                </a:tc>
                <a:tc>
                  <a:txBody>
                    <a:bodyPr/>
                    <a:lstStyle/>
                    <a:p>
                      <a:r>
                        <a:rPr sz="1275" b="0">
                          <a:solidFill>
                            <a:srgbClr val="11151A"/>
                          </a:solidFill>
                          <a:latin typeface="Lato"/>
                          <a:ea typeface="Lato"/>
                          <a:cs typeface="Lato"/>
                        </a:rPr>
                        <a:t>Existing import and distribution infrastructure</a:t>
                      </a:r>
                    </a:p>
                  </a:txBody>
                  <a:tcPr>
                    <a:solidFill>
                      <a:srgbClr val="FFFFFF"/>
                    </a:solidFill>
                  </a:tcPr>
                </a:tc>
                <a:extLst>
                  <a:ext uri="{0D108BD9-81ED-4DB2-BD59-A6C34878D82A}">
                    <a16:rowId xmlns:a16="http://schemas.microsoft.com/office/drawing/2014/main" val="10001"/>
                  </a:ext>
                </a:extLst>
              </a:tr>
              <a:tr h="643890">
                <a:tc>
                  <a:txBody>
                    <a:bodyPr/>
                    <a:lstStyle/>
                    <a:p>
                      <a:r>
                        <a:rPr sz="1275" b="1">
                          <a:solidFill>
                            <a:srgbClr val="0A2373"/>
                          </a:solidFill>
                          <a:latin typeface="Lato"/>
                          <a:ea typeface="Lato"/>
                          <a:cs typeface="Lato"/>
                        </a:rPr>
                        <a:t>Petromoc Língamo / Matola</a:t>
                      </a:r>
                    </a:p>
                  </a:txBody>
                  <a:tcPr>
                    <a:solidFill>
                      <a:srgbClr val="FFFFFF"/>
                    </a:solidFill>
                  </a:tcPr>
                </a:tc>
                <a:tc>
                  <a:txBody>
                    <a:bodyPr/>
                    <a:lstStyle/>
                    <a:p>
                      <a:r>
                        <a:rPr sz="1275" b="0">
                          <a:solidFill>
                            <a:srgbClr val="11151A"/>
                          </a:solidFill>
                          <a:latin typeface="Lato"/>
                          <a:ea typeface="Lato"/>
                          <a:cs typeface="Lato"/>
                        </a:rPr>
                        <a:t>390,000m³ across liquid fuels</a:t>
                      </a:r>
                    </a:p>
                  </a:txBody>
                  <a:tcPr>
                    <a:solidFill>
                      <a:srgbClr val="FFFFFF"/>
                    </a:solidFill>
                  </a:tcPr>
                </a:tc>
                <a:tc>
                  <a:txBody>
                    <a:bodyPr/>
                    <a:lstStyle/>
                    <a:p>
                      <a:r>
                        <a:rPr sz="1275" b="0">
                          <a:solidFill>
                            <a:srgbClr val="11151A"/>
                          </a:solidFill>
                          <a:latin typeface="Lato"/>
                          <a:ea typeface="Lato"/>
                          <a:cs typeface="Lato"/>
                        </a:rPr>
                        <a:t>Broader storage base; product allocation and overlap need confirmation</a:t>
                      </a:r>
                    </a:p>
                  </a:txBody>
                  <a:tcPr>
                    <a:solidFill>
                      <a:srgbClr val="FFFFFF"/>
                    </a:solidFill>
                  </a:tcPr>
                </a:tc>
                <a:extLst>
                  <a:ext uri="{0D108BD9-81ED-4DB2-BD59-A6C34878D82A}">
                    <a16:rowId xmlns:a16="http://schemas.microsoft.com/office/drawing/2014/main" val="10002"/>
                  </a:ext>
                </a:extLst>
              </a:tr>
              <a:tr h="643890">
                <a:tc>
                  <a:txBody>
                    <a:bodyPr/>
                    <a:lstStyle/>
                    <a:p>
                      <a:r>
                        <a:rPr sz="1275" b="1">
                          <a:solidFill>
                            <a:srgbClr val="0A2373"/>
                          </a:solidFill>
                          <a:latin typeface="Lato"/>
                          <a:ea typeface="Lato"/>
                          <a:cs typeface="Lato"/>
                        </a:rPr>
                        <a:t>Beira, Nacala and Pemba</a:t>
                      </a:r>
                    </a:p>
                  </a:txBody>
                  <a:tcPr>
                    <a:solidFill>
                      <a:srgbClr val="FFFFFF"/>
                    </a:solidFill>
                  </a:tcPr>
                </a:tc>
                <a:tc>
                  <a:txBody>
                    <a:bodyPr/>
                    <a:lstStyle/>
                    <a:p>
                      <a:r>
                        <a:rPr sz="1275" b="0">
                          <a:solidFill>
                            <a:srgbClr val="11151A"/>
                          </a:solidFill>
                          <a:latin typeface="Lato"/>
                          <a:ea typeface="Lato"/>
                          <a:cs typeface="Lato"/>
                        </a:rPr>
                        <a:t>Existing central / northern logistics nodes</a:t>
                      </a:r>
                    </a:p>
                  </a:txBody>
                  <a:tcPr>
                    <a:solidFill>
                      <a:srgbClr val="FFFFFF"/>
                    </a:solidFill>
                  </a:tcPr>
                </a:tc>
                <a:tc>
                  <a:txBody>
                    <a:bodyPr/>
                    <a:lstStyle/>
                    <a:p>
                      <a:r>
                        <a:rPr sz="1275" b="0">
                          <a:solidFill>
                            <a:srgbClr val="11151A"/>
                          </a:solidFill>
                          <a:latin typeface="Lato"/>
                          <a:ea typeface="Lato"/>
                          <a:cs typeface="Lato"/>
                        </a:rPr>
                        <a:t>Regional supply; no additional SA flow assigned in the base case</a:t>
                      </a:r>
                    </a:p>
                  </a:txBody>
                  <a:tcPr>
                    <a:solidFill>
                      <a:srgbClr val="FFFFFF"/>
                    </a:solidFill>
                  </a:tcPr>
                </a:tc>
                <a:extLst>
                  <a:ext uri="{0D108BD9-81ED-4DB2-BD59-A6C34878D82A}">
                    <a16:rowId xmlns:a16="http://schemas.microsoft.com/office/drawing/2014/main" val="10003"/>
                  </a:ext>
                </a:extLst>
              </a:tr>
              <a:tr h="643890">
                <a:tc>
                  <a:txBody>
                    <a:bodyPr/>
                    <a:lstStyle/>
                    <a:p>
                      <a:r>
                        <a:rPr sz="1275" b="1">
                          <a:solidFill>
                            <a:srgbClr val="0A2373"/>
                          </a:solidFill>
                          <a:latin typeface="Lato"/>
                          <a:ea typeface="Lato"/>
                          <a:cs typeface="Lato"/>
                        </a:rPr>
                        <a:t>Temane PSA</a:t>
                      </a:r>
                    </a:p>
                  </a:txBody>
                  <a:tcPr>
                    <a:solidFill>
                      <a:srgbClr val="FFFFFF"/>
                    </a:solidFill>
                  </a:tcPr>
                </a:tc>
                <a:tc>
                  <a:txBody>
                    <a:bodyPr/>
                    <a:lstStyle/>
                    <a:p>
                      <a:r>
                        <a:rPr sz="1275" b="0">
                          <a:solidFill>
                            <a:srgbClr val="11151A"/>
                          </a:solidFill>
                          <a:latin typeface="Lato"/>
                          <a:ea typeface="Lato"/>
                          <a:cs typeface="Lato"/>
                        </a:rPr>
                        <a:t>Light oil, gas and LPG; production began December 2025</a:t>
                      </a:r>
                    </a:p>
                  </a:txBody>
                  <a:tcPr>
                    <a:solidFill>
                      <a:srgbClr val="FFFFFF"/>
                    </a:solidFill>
                  </a:tcPr>
                </a:tc>
                <a:tc>
                  <a:txBody>
                    <a:bodyPr/>
                    <a:lstStyle/>
                    <a:p>
                      <a:r>
                        <a:rPr sz="1275" b="0">
                          <a:solidFill>
                            <a:srgbClr val="11151A"/>
                          </a:solidFill>
                          <a:latin typeface="Lato"/>
                          <a:ea typeface="Lato"/>
                          <a:cs typeface="Lato"/>
                        </a:rPr>
                        <a:t>No direct finished petrol/diesel output credited</a:t>
                      </a:r>
                    </a:p>
                  </a:txBody>
                  <a:tcPr>
                    <a:solidFill>
                      <a:srgbClr val="FFFFFF"/>
                    </a:solidFill>
                  </a:tcPr>
                </a:tc>
                <a:extLst>
                  <a:ext uri="{0D108BD9-81ED-4DB2-BD59-A6C34878D82A}">
                    <a16:rowId xmlns:a16="http://schemas.microsoft.com/office/drawing/2014/main" val="10004"/>
                  </a:ext>
                </a:extLst>
              </a:tr>
              <a:tr h="643890">
                <a:tc>
                  <a:txBody>
                    <a:bodyPr/>
                    <a:lstStyle/>
                    <a:p>
                      <a:r>
                        <a:rPr sz="1275" b="1">
                          <a:solidFill>
                            <a:srgbClr val="0A2373"/>
                          </a:solidFill>
                          <a:latin typeface="Lato"/>
                          <a:ea typeface="Lato"/>
                          <a:cs typeface="Lato"/>
                        </a:rPr>
                        <a:t>Komatipoort recorded imports</a:t>
                      </a:r>
                    </a:p>
                  </a:txBody>
                  <a:tcPr>
                    <a:solidFill>
                      <a:srgbClr val="FFFFFF"/>
                    </a:solidFill>
                  </a:tcPr>
                </a:tc>
                <a:tc>
                  <a:txBody>
                    <a:bodyPr/>
                    <a:lstStyle/>
                    <a:p>
                      <a:r>
                        <a:rPr sz="1275" b="0">
                          <a:solidFill>
                            <a:srgbClr val="11151A"/>
                          </a:solidFill>
                          <a:latin typeface="Lato"/>
                          <a:ea typeface="Lato"/>
                          <a:cs typeface="Lato"/>
                        </a:rPr>
                        <a:t>0.303bn L in 2022 → 0.086bn L in 2025</a:t>
                      </a:r>
                    </a:p>
                  </a:txBody>
                  <a:tcPr>
                    <a:solidFill>
                      <a:srgbClr val="FFFFFF"/>
                    </a:solidFill>
                  </a:tcPr>
                </a:tc>
                <a:tc>
                  <a:txBody>
                    <a:bodyPr/>
                    <a:lstStyle/>
                    <a:p>
                      <a:r>
                        <a:rPr sz="1275" b="0">
                          <a:solidFill>
                            <a:srgbClr val="11151A"/>
                          </a:solidFill>
                          <a:latin typeface="Lato"/>
                          <a:ea typeface="Lato"/>
                          <a:cs typeface="Lato"/>
                        </a:rPr>
                        <a:t>Current cross-border flow is far smaller than gross storage suggests</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2E83443C-F6BE-455B-855A-B3B29BA3DE04}"/>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Storage capacity, berth capacity and delivered South African volumes measure different things and are not added together.</a:t>
            </a:r>
          </a:p>
        </p:txBody>
      </p:sp>
      <p:graphicFrame>
        <p:nvGraphicFramePr>
          <p:cNvPr id="5015"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Matola needs a landed-price or service advantage to offset border and logistics costs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17</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Mozambique. Distances, tariffs, border charges, financing and allocation are authored sensitivities, not carrier quotes or confirmed access.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3337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4457700">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Route sensitivity</a:t>
                      </a:r>
                    </a:p>
                  </a:txBody>
                  <a:tcPr>
                    <a:solidFill>
                      <a:srgbClr val="F5F5F5"/>
                    </a:solidFill>
                  </a:tcPr>
                </a:tc>
                <a:tc>
                  <a:txBody>
                    <a:bodyPr/>
                    <a:lstStyle/>
                    <a:p>
                      <a:r>
                        <a:rPr sz="1350" b="1">
                          <a:solidFill>
                            <a:srgbClr val="0A2373"/>
                          </a:solidFill>
                          <a:latin typeface="Lato"/>
                          <a:ea typeface="Lato"/>
                          <a:cs typeface="Lato"/>
                        </a:rPr>
                        <a:t>Result</a:t>
                      </a:r>
                    </a:p>
                  </a:txBody>
                  <a:tcPr>
                    <a:solidFill>
                      <a:srgbClr val="F5F5F5"/>
                    </a:solidFill>
                  </a:tcPr>
                </a:tc>
                <a:tc>
                  <a:txBody>
                    <a:bodyPr/>
                    <a:lstStyle/>
                    <a:p>
                      <a:r>
                        <a:rPr sz="1350" b="1">
                          <a:solidFill>
                            <a:srgbClr val="0A2373"/>
                          </a:solidFill>
                          <a:latin typeface="Lato"/>
                          <a:ea typeface="Lato"/>
                          <a:cs typeface="Lato"/>
                        </a:rPr>
                        <a:t>Assumptions behind the result</a:t>
                      </a:r>
                    </a:p>
                  </a:txBody>
                  <a:tcPr>
                    <a:solidFill>
                      <a:srgbClr val="F5F5F5"/>
                    </a:solidFill>
                  </a:tcPr>
                </a:tc>
                <a:extLst>
                  <a:ext uri="{0D108BD9-81ED-4DB2-BD59-A6C34878D82A}">
                    <a16:rowId xmlns:a16="http://schemas.microsoft.com/office/drawing/2014/main" val="10000"/>
                  </a:ext>
                </a:extLst>
              </a:tr>
              <a:tr h="643890">
                <a:tc>
                  <a:txBody>
                    <a:bodyPr/>
                    <a:lstStyle/>
                    <a:p>
                      <a:r>
                        <a:rPr sz="1350" b="1">
                          <a:solidFill>
                            <a:srgbClr val="0A2373"/>
                          </a:solidFill>
                          <a:latin typeface="Lato"/>
                          <a:ea typeface="Lato"/>
                          <a:cs typeface="Lato"/>
                        </a:rPr>
                        <a:t>Durban → same inland destination</a:t>
                      </a:r>
                    </a:p>
                  </a:txBody>
                  <a:tcPr>
                    <a:solidFill>
                      <a:srgbClr val="FFFFFF"/>
                    </a:solidFill>
                  </a:tcPr>
                </a:tc>
                <a:tc>
                  <a:txBody>
                    <a:bodyPr/>
                    <a:lstStyle/>
                    <a:p>
                      <a:r>
                        <a:rPr sz="1350" b="0">
                          <a:solidFill>
                            <a:srgbClr val="11151A"/>
                          </a:solidFill>
                          <a:latin typeface="Lato"/>
                          <a:ea typeface="Lato"/>
                          <a:cs typeface="Lato"/>
                        </a:rPr>
                        <a:t>R0.95 per litre logistics</a:t>
                      </a:r>
                    </a:p>
                  </a:txBody>
                  <a:tcPr>
                    <a:solidFill>
                      <a:srgbClr val="FFFFFF"/>
                    </a:solidFill>
                  </a:tcPr>
                </a:tc>
                <a:tc>
                  <a:txBody>
                    <a:bodyPr/>
                    <a:lstStyle/>
                    <a:p>
                      <a:r>
                        <a:rPr sz="1350" b="0">
                          <a:solidFill>
                            <a:srgbClr val="11151A"/>
                          </a:solidFill>
                          <a:latin typeface="Lato"/>
                          <a:ea typeface="Lato"/>
                          <a:cs typeface="Lato"/>
                        </a:rPr>
                        <a:t>600km one way; round trip; R25/truck-km; 40,000L payload</a:t>
                      </a:r>
                    </a:p>
                  </a:txBody>
                  <a:tcPr>
                    <a:solidFill>
                      <a:srgbClr val="FFFFFF"/>
                    </a:solidFill>
                  </a:tcPr>
                </a:tc>
                <a:extLst>
                  <a:ext uri="{0D108BD9-81ED-4DB2-BD59-A6C34878D82A}">
                    <a16:rowId xmlns:a16="http://schemas.microsoft.com/office/drawing/2014/main" val="10001"/>
                  </a:ext>
                </a:extLst>
              </a:tr>
              <a:tr h="643890">
                <a:tc>
                  <a:txBody>
                    <a:bodyPr/>
                    <a:lstStyle/>
                    <a:p>
                      <a:r>
                        <a:rPr sz="1350" b="1">
                          <a:solidFill>
                            <a:srgbClr val="0A2373"/>
                          </a:solidFill>
                          <a:latin typeface="Lato"/>
                          <a:ea typeface="Lato"/>
                          <a:cs typeface="Lato"/>
                        </a:rPr>
                        <a:t>Matola → same inland destination</a:t>
                      </a:r>
                    </a:p>
                  </a:txBody>
                  <a:tcPr>
                    <a:solidFill>
                      <a:srgbClr val="FFFFFF"/>
                    </a:solidFill>
                  </a:tcPr>
                </a:tc>
                <a:tc>
                  <a:txBody>
                    <a:bodyPr/>
                    <a:lstStyle/>
                    <a:p>
                      <a:r>
                        <a:rPr sz="1350" b="0">
                          <a:solidFill>
                            <a:srgbClr val="11151A"/>
                          </a:solidFill>
                          <a:latin typeface="Lato"/>
                          <a:ea typeface="Lato"/>
                          <a:cs typeface="Lato"/>
                        </a:rPr>
                        <a:t>R1.14 per litre logistics</a:t>
                      </a:r>
                    </a:p>
                  </a:txBody>
                  <a:tcPr>
                    <a:solidFill>
                      <a:srgbClr val="FFFFFF"/>
                    </a:solidFill>
                  </a:tcPr>
                </a:tc>
                <a:tc>
                  <a:txBody>
                    <a:bodyPr/>
                    <a:lstStyle/>
                    <a:p>
                      <a:r>
                        <a:rPr sz="1350" b="0">
                          <a:solidFill>
                            <a:srgbClr val="11151A"/>
                          </a:solidFill>
                          <a:latin typeface="Lato"/>
                          <a:ea typeface="Lato"/>
                          <a:cs typeface="Lato"/>
                        </a:rPr>
                        <a:t>550km one way; terminal and border costs; one-day delay</a:t>
                      </a:r>
                    </a:p>
                  </a:txBody>
                  <a:tcPr>
                    <a:solidFill>
                      <a:srgbClr val="FFFFFF"/>
                    </a:solidFill>
                  </a:tcPr>
                </a:tc>
                <a:extLst>
                  <a:ext uri="{0D108BD9-81ED-4DB2-BD59-A6C34878D82A}">
                    <a16:rowId xmlns:a16="http://schemas.microsoft.com/office/drawing/2014/main" val="10002"/>
                  </a:ext>
                </a:extLst>
              </a:tr>
              <a:tr h="643890">
                <a:tc>
                  <a:txBody>
                    <a:bodyPr/>
                    <a:lstStyle/>
                    <a:p>
                      <a:r>
                        <a:rPr sz="1350" b="1">
                          <a:solidFill>
                            <a:srgbClr val="0A2373"/>
                          </a:solidFill>
                          <a:latin typeface="Lato"/>
                          <a:ea typeface="Lato"/>
                          <a:cs typeface="Lato"/>
                        </a:rPr>
                        <a:t>Matola premium</a:t>
                      </a:r>
                    </a:p>
                  </a:txBody>
                  <a:tcPr>
                    <a:solidFill>
                      <a:srgbClr val="FFFFFF"/>
                    </a:solidFill>
                  </a:tcPr>
                </a:tc>
                <a:tc>
                  <a:txBody>
                    <a:bodyPr/>
                    <a:lstStyle/>
                    <a:p>
                      <a:r>
                        <a:rPr sz="1350" b="0">
                          <a:solidFill>
                            <a:srgbClr val="11151A"/>
                          </a:solidFill>
                          <a:latin typeface="Lato"/>
                          <a:ea typeface="Lato"/>
                          <a:cs typeface="Lato"/>
                        </a:rPr>
                        <a:t>R0.19 per litre</a:t>
                      </a:r>
                    </a:p>
                  </a:txBody>
                  <a:tcPr>
                    <a:solidFill>
                      <a:srgbClr val="FFFFFF"/>
                    </a:solidFill>
                  </a:tcPr>
                </a:tc>
                <a:tc>
                  <a:txBody>
                    <a:bodyPr/>
                    <a:lstStyle/>
                    <a:p>
                      <a:r>
                        <a:rPr sz="1350" b="0">
                          <a:solidFill>
                            <a:srgbClr val="11151A"/>
                          </a:solidFill>
                          <a:latin typeface="Lato"/>
                          <a:ea typeface="Lato"/>
                          <a:cs typeface="Lato"/>
                        </a:rPr>
                        <a:t>Required landed-product discount under these illustrative costs</a:t>
                      </a:r>
                    </a:p>
                  </a:txBody>
                  <a:tcPr>
                    <a:solidFill>
                      <a:srgbClr val="FFFFFF"/>
                    </a:solidFill>
                  </a:tcPr>
                </a:tc>
                <a:extLst>
                  <a:ext uri="{0D108BD9-81ED-4DB2-BD59-A6C34878D82A}">
                    <a16:rowId xmlns:a16="http://schemas.microsoft.com/office/drawing/2014/main" val="10003"/>
                  </a:ext>
                </a:extLst>
              </a:tr>
              <a:tr h="643890">
                <a:tc>
                  <a:txBody>
                    <a:bodyPr/>
                    <a:lstStyle/>
                    <a:p>
                      <a:r>
                        <a:rPr sz="1350" b="1">
                          <a:solidFill>
                            <a:srgbClr val="0A2373"/>
                          </a:solidFill>
                          <a:latin typeface="Lato"/>
                          <a:ea typeface="Lato"/>
                          <a:cs typeface="Lato"/>
                        </a:rPr>
                        <a:t>Border-delay sensitivity</a:t>
                      </a:r>
                    </a:p>
                  </a:txBody>
                  <a:tcPr>
                    <a:solidFill>
                      <a:srgbClr val="FFFFFF"/>
                    </a:solidFill>
                  </a:tcPr>
                </a:tc>
                <a:tc>
                  <a:txBody>
                    <a:bodyPr/>
                    <a:lstStyle/>
                    <a:p>
                      <a:r>
                        <a:rPr sz="1350" b="0">
                          <a:solidFill>
                            <a:srgbClr val="11151A"/>
                          </a:solidFill>
                          <a:latin typeface="Lato"/>
                          <a:ea typeface="Lato"/>
                          <a:cs typeface="Lato"/>
                        </a:rPr>
                        <a:t>R0.09–R0.40 per litre premium</a:t>
                      </a:r>
                    </a:p>
                  </a:txBody>
                  <a:tcPr>
                    <a:solidFill>
                      <a:srgbClr val="FFFFFF"/>
                    </a:solidFill>
                  </a:tcPr>
                </a:tc>
                <a:tc>
                  <a:txBody>
                    <a:bodyPr/>
                    <a:lstStyle/>
                    <a:p>
                      <a:r>
                        <a:rPr sz="1350" b="0">
                          <a:solidFill>
                            <a:srgbClr val="11151A"/>
                          </a:solidFill>
                          <a:latin typeface="Lato"/>
                          <a:ea typeface="Lato"/>
                          <a:cs typeface="Lato"/>
                        </a:rPr>
                        <a:t>Zero to three delay days</a:t>
                      </a:r>
                    </a:p>
                  </a:txBody>
                  <a:tcPr>
                    <a:solidFill>
                      <a:srgbClr val="FFFFFF"/>
                    </a:solidFill>
                  </a:tcPr>
                </a:tc>
                <a:extLst>
                  <a:ext uri="{0D108BD9-81ED-4DB2-BD59-A6C34878D82A}">
                    <a16:rowId xmlns:a16="http://schemas.microsoft.com/office/drawing/2014/main" val="10004"/>
                  </a:ext>
                </a:extLst>
              </a:tr>
              <a:tr h="643890">
                <a:tc>
                  <a:txBody>
                    <a:bodyPr/>
                    <a:lstStyle/>
                    <a:p>
                      <a:r>
                        <a:rPr sz="1350" b="1">
                          <a:solidFill>
                            <a:srgbClr val="0A2373"/>
                          </a:solidFill>
                          <a:latin typeface="Lato"/>
                          <a:ea typeface="Lato"/>
                          <a:cs typeface="Lato"/>
                        </a:rPr>
                        <a:t>Base incremental Mozambique flow</a:t>
                      </a:r>
                    </a:p>
                  </a:txBody>
                  <a:tcPr>
                    <a:solidFill>
                      <a:srgbClr val="FFFFFF"/>
                    </a:solidFill>
                  </a:tcPr>
                </a:tc>
                <a:tc>
                  <a:txBody>
                    <a:bodyPr/>
                    <a:lstStyle/>
                    <a:p>
                      <a:r>
                        <a:rPr sz="1350" b="0">
                          <a:solidFill>
                            <a:srgbClr val="11151A"/>
                          </a:solidFill>
                          <a:latin typeface="Lato"/>
                          <a:ea typeface="Lato"/>
                          <a:cs typeface="Lato"/>
                        </a:rPr>
                        <a:t>0.20bn L by 2030</a:t>
                      </a:r>
                    </a:p>
                  </a:txBody>
                  <a:tcPr>
                    <a:solidFill>
                      <a:srgbClr val="FFFFFF"/>
                    </a:solidFill>
                  </a:tcPr>
                </a:tc>
                <a:tc>
                  <a:txBody>
                    <a:bodyPr/>
                    <a:lstStyle/>
                    <a:p>
                      <a:r>
                        <a:rPr sz="1350" b="0">
                          <a:solidFill>
                            <a:srgbClr val="11151A"/>
                          </a:solidFill>
                          <a:latin typeface="Lato"/>
                          <a:ea typeface="Lato"/>
                          <a:cs typeface="Lato"/>
                        </a:rPr>
                        <a:t>About 15 additional loaded trucks/day over 330 days</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6CC7EA46-F7BE-4B7F-92A4-FAE34AABCBFD}"/>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Mozambique diversion changes the gateway serving demand. It does not reduce South Africa’s national import requirement.</a:t>
            </a:r>
          </a:p>
        </p:txBody>
      </p:sp>
      <p:graphicFrame>
        <p:nvGraphicFramePr>
          <p:cNvPr id="5016"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Vopak’s capture depends on the accessible share of Durban imports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18</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market_review.yaml and market_review.json, 10 October. Capture is total conditional flow, not incremental sales; domestic and other-terminal Lesedi receipts are outside this screen.</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81000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Market / flow measure</a:t>
                      </a:r>
                    </a:p>
                  </a:txBody>
                  <a:tcPr>
                    <a:solidFill>
                      <a:srgbClr val="F5F5F5"/>
                    </a:solidFill>
                  </a:tcPr>
                </a:tc>
                <a:tc>
                  <a:txBody>
                    <a:bodyPr/>
                    <a:lstStyle/>
                    <a:p>
                      <a:r>
                        <a:rPr sz="1350" b="1">
                          <a:solidFill>
                            <a:srgbClr val="0A2373"/>
                          </a:solidFill>
                          <a:latin typeface="Lato"/>
                          <a:ea typeface="Lato"/>
                          <a:cs typeface="Lato"/>
                        </a:rPr>
                        <a:t>Annual volume</a:t>
                      </a:r>
                    </a:p>
                  </a:txBody>
                  <a:tcPr>
                    <a:solidFill>
                      <a:srgbClr val="F5F5F5"/>
                    </a:solidFill>
                  </a:tcPr>
                </a:tc>
                <a:tc>
                  <a:txBody>
                    <a:bodyPr/>
                    <a:lstStyle/>
                    <a:p>
                      <a:r>
                        <a:rPr sz="1350" b="1">
                          <a:solidFill>
                            <a:srgbClr val="0A2373"/>
                          </a:solidFill>
                          <a:latin typeface="Lato"/>
                          <a:ea typeface="Lato"/>
                          <a:cs typeface="Lato"/>
                        </a:rPr>
                        <a:t>Meaning for Vopak</a:t>
                      </a:r>
                    </a:p>
                  </a:txBody>
                  <a:tcPr>
                    <a:solidFill>
                      <a:srgbClr val="F5F5F5"/>
                    </a:solidFill>
                  </a:tcPr>
                </a:tc>
                <a:extLst>
                  <a:ext uri="{0D108BD9-81ED-4DB2-BD59-A6C34878D82A}">
                    <a16:rowId xmlns:a16="http://schemas.microsoft.com/office/drawing/2014/main" val="10000"/>
                  </a:ext>
                </a:extLst>
              </a:tr>
              <a:tr h="643890">
                <a:tc>
                  <a:txBody>
                    <a:bodyPr/>
                    <a:lstStyle/>
                    <a:p>
                      <a:r>
                        <a:rPr sz="1350" b="1">
                          <a:solidFill>
                            <a:srgbClr val="0A2373"/>
                          </a:solidFill>
                          <a:latin typeface="Lato"/>
                          <a:ea typeface="Lato"/>
                          <a:cs typeface="Lato"/>
                        </a:rPr>
                        <a:t>National demand, 2025 estimate</a:t>
                      </a:r>
                    </a:p>
                  </a:txBody>
                  <a:tcPr>
                    <a:solidFill>
                      <a:srgbClr val="FFFFFF"/>
                    </a:solidFill>
                  </a:tcPr>
                </a:tc>
                <a:tc>
                  <a:txBody>
                    <a:bodyPr/>
                    <a:lstStyle/>
                    <a:p>
                      <a:r>
                        <a:rPr sz="1350" b="0">
                          <a:solidFill>
                            <a:srgbClr val="11151A"/>
                          </a:solidFill>
                          <a:latin typeface="Lato"/>
                          <a:ea typeface="Lato"/>
                          <a:cs typeface="Lato"/>
                        </a:rPr>
                        <a:t>20.99bn litres</a:t>
                      </a:r>
                    </a:p>
                  </a:txBody>
                  <a:tcPr>
                    <a:solidFill>
                      <a:srgbClr val="FFFFFF"/>
                    </a:solidFill>
                  </a:tcPr>
                </a:tc>
                <a:tc>
                  <a:txBody>
                    <a:bodyPr/>
                    <a:lstStyle/>
                    <a:p>
                      <a:r>
                        <a:rPr sz="1350" b="0">
                          <a:solidFill>
                            <a:srgbClr val="11151A"/>
                          </a:solidFill>
                          <a:latin typeface="Lato"/>
                          <a:ea typeface="Lato"/>
                          <a:cs typeface="Lato"/>
                        </a:rPr>
                        <a:t>Total consumption context</a:t>
                      </a:r>
                    </a:p>
                  </a:txBody>
                  <a:tcPr>
                    <a:solidFill>
                      <a:srgbClr val="FFFFFF"/>
                    </a:solidFill>
                  </a:tcPr>
                </a:tc>
                <a:extLst>
                  <a:ext uri="{0D108BD9-81ED-4DB2-BD59-A6C34878D82A}">
                    <a16:rowId xmlns:a16="http://schemas.microsoft.com/office/drawing/2014/main" val="10001"/>
                  </a:ext>
                </a:extLst>
              </a:tr>
              <a:tr h="643890">
                <a:tc>
                  <a:txBody>
                    <a:bodyPr/>
                    <a:lstStyle/>
                    <a:p>
                      <a:r>
                        <a:rPr sz="1350" b="1">
                          <a:solidFill>
                            <a:srgbClr val="0A2373"/>
                          </a:solidFill>
                          <a:latin typeface="Lato"/>
                          <a:ea typeface="Lato"/>
                          <a:cs typeface="Lato"/>
                        </a:rPr>
                        <a:t>National gross imports, 2025</a:t>
                      </a:r>
                    </a:p>
                  </a:txBody>
                  <a:tcPr>
                    <a:solidFill>
                      <a:srgbClr val="FFFFFF"/>
                    </a:solidFill>
                  </a:tcPr>
                </a:tc>
                <a:tc>
                  <a:txBody>
                    <a:bodyPr/>
                    <a:lstStyle/>
                    <a:p>
                      <a:r>
                        <a:rPr sz="1350" b="0">
                          <a:solidFill>
                            <a:srgbClr val="11151A"/>
                          </a:solidFill>
                          <a:latin typeface="Lato"/>
                          <a:ea typeface="Lato"/>
                          <a:cs typeface="Lato"/>
                        </a:rPr>
                        <a:t>16.70bn litres</a:t>
                      </a:r>
                    </a:p>
                  </a:txBody>
                  <a:tcPr>
                    <a:solidFill>
                      <a:srgbClr val="FFFFFF"/>
                    </a:solidFill>
                  </a:tcPr>
                </a:tc>
                <a:tc>
                  <a:txBody>
                    <a:bodyPr/>
                    <a:lstStyle/>
                    <a:p>
                      <a:r>
                        <a:rPr sz="1350" b="0">
                          <a:solidFill>
                            <a:srgbClr val="11151A"/>
                          </a:solidFill>
                          <a:latin typeface="Lato"/>
                          <a:ea typeface="Lato"/>
                          <a:cs typeface="Lato"/>
                        </a:rPr>
                        <a:t>All recorded import gateways</a:t>
                      </a:r>
                    </a:p>
                  </a:txBody>
                  <a:tcPr>
                    <a:solidFill>
                      <a:srgbClr val="FFFFFF"/>
                    </a:solidFill>
                  </a:tcPr>
                </a:tc>
                <a:extLst>
                  <a:ext uri="{0D108BD9-81ED-4DB2-BD59-A6C34878D82A}">
                    <a16:rowId xmlns:a16="http://schemas.microsoft.com/office/drawing/2014/main" val="10002"/>
                  </a:ext>
                </a:extLst>
              </a:tr>
              <a:tr h="643890">
                <a:tc>
                  <a:txBody>
                    <a:bodyPr/>
                    <a:lstStyle/>
                    <a:p>
                      <a:r>
                        <a:rPr sz="1350" b="1">
                          <a:solidFill>
                            <a:srgbClr val="0A2373"/>
                          </a:solidFill>
                          <a:latin typeface="Lato"/>
                          <a:ea typeface="Lato"/>
                          <a:cs typeface="Lato"/>
                        </a:rPr>
                        <a:t>Durban customs imports, 2025</a:t>
                      </a:r>
                    </a:p>
                  </a:txBody>
                  <a:tcPr>
                    <a:solidFill>
                      <a:srgbClr val="FFFFFF"/>
                    </a:solidFill>
                  </a:tcPr>
                </a:tc>
                <a:tc>
                  <a:txBody>
                    <a:bodyPr/>
                    <a:lstStyle/>
                    <a:p>
                      <a:r>
                        <a:rPr sz="1350" b="0">
                          <a:solidFill>
                            <a:srgbClr val="11151A"/>
                          </a:solidFill>
                          <a:latin typeface="Lato"/>
                          <a:ea typeface="Lato"/>
                          <a:cs typeface="Lato"/>
                        </a:rPr>
                        <a:t>13.16bn litres</a:t>
                      </a:r>
                    </a:p>
                  </a:txBody>
                  <a:tcPr>
                    <a:solidFill>
                      <a:srgbClr val="FFFFFF"/>
                    </a:solidFill>
                  </a:tcPr>
                </a:tc>
                <a:tc>
                  <a:txBody>
                    <a:bodyPr/>
                    <a:lstStyle/>
                    <a:p>
                      <a:r>
                        <a:rPr sz="1350" b="0">
                          <a:solidFill>
                            <a:srgbClr val="11151A"/>
                          </a:solidFill>
                          <a:latin typeface="Lato"/>
                          <a:ea typeface="Lato"/>
                          <a:cs typeface="Lato"/>
                        </a:rPr>
                        <a:t>Gateway proxy before customer and route allocation</a:t>
                      </a:r>
                    </a:p>
                  </a:txBody>
                  <a:tcPr>
                    <a:solidFill>
                      <a:srgbClr val="FFFFFF"/>
                    </a:solidFill>
                  </a:tcPr>
                </a:tc>
                <a:extLst>
                  <a:ext uri="{0D108BD9-81ED-4DB2-BD59-A6C34878D82A}">
                    <a16:rowId xmlns:a16="http://schemas.microsoft.com/office/drawing/2014/main" val="10003"/>
                  </a:ext>
                </a:extLst>
              </a:tr>
              <a:tr h="643890">
                <a:tc>
                  <a:txBody>
                    <a:bodyPr/>
                    <a:lstStyle/>
                    <a:p>
                      <a:r>
                        <a:rPr sz="1350" b="1">
                          <a:solidFill>
                            <a:srgbClr val="0A2373"/>
                          </a:solidFill>
                          <a:latin typeface="Lato"/>
                          <a:ea typeface="Lato"/>
                          <a:cs typeface="Lato"/>
                        </a:rPr>
                        <a:t>Illustrative Durban capture</a:t>
                      </a:r>
                    </a:p>
                  </a:txBody>
                  <a:tcPr>
                    <a:solidFill>
                      <a:srgbClr val="FFFFFF"/>
                    </a:solidFill>
                  </a:tcPr>
                </a:tc>
                <a:tc>
                  <a:txBody>
                    <a:bodyPr/>
                    <a:lstStyle/>
                    <a:p>
                      <a:r>
                        <a:rPr sz="1350" b="0">
                          <a:solidFill>
                            <a:srgbClr val="11151A"/>
                          </a:solidFill>
                          <a:latin typeface="Lato"/>
                          <a:ea typeface="Lato"/>
                          <a:cs typeface="Lato"/>
                        </a:rPr>
                        <a:t>2.63bn litres</a:t>
                      </a:r>
                    </a:p>
                  </a:txBody>
                  <a:tcPr>
                    <a:solidFill>
                      <a:srgbClr val="FFFFFF"/>
                    </a:solidFill>
                  </a:tcPr>
                </a:tc>
                <a:tc>
                  <a:txBody>
                    <a:bodyPr/>
                    <a:lstStyle/>
                    <a:p>
                      <a:r>
                        <a:rPr sz="1350" b="0">
                          <a:solidFill>
                            <a:srgbClr val="11151A"/>
                          </a:solidFill>
                          <a:latin typeface="Lato"/>
                          <a:ea typeface="Lato"/>
                          <a:cs typeface="Lato"/>
                        </a:rPr>
                        <a:t>20% of Durban gateway volume; no contracted share inferred</a:t>
                      </a:r>
                    </a:p>
                  </a:txBody>
                  <a:tcPr>
                    <a:solidFill>
                      <a:srgbClr val="FFFFFF"/>
                    </a:solidFill>
                  </a:tcPr>
                </a:tc>
                <a:extLst>
                  <a:ext uri="{0D108BD9-81ED-4DB2-BD59-A6C34878D82A}">
                    <a16:rowId xmlns:a16="http://schemas.microsoft.com/office/drawing/2014/main" val="10004"/>
                  </a:ext>
                </a:extLst>
              </a:tr>
              <a:tr h="643890">
                <a:tc>
                  <a:txBody>
                    <a:bodyPr/>
                    <a:lstStyle/>
                    <a:p>
                      <a:r>
                        <a:rPr sz="1350" b="1">
                          <a:solidFill>
                            <a:srgbClr val="0A2373"/>
                          </a:solidFill>
                          <a:latin typeface="Lato"/>
                          <a:ea typeface="Lato"/>
                          <a:cs typeface="Lato"/>
                        </a:rPr>
                        <a:t>Illustrative onward Lesedi flow</a:t>
                      </a:r>
                    </a:p>
                  </a:txBody>
                  <a:tcPr>
                    <a:solidFill>
                      <a:srgbClr val="FFFFFF"/>
                    </a:solidFill>
                  </a:tcPr>
                </a:tc>
                <a:tc>
                  <a:txBody>
                    <a:bodyPr/>
                    <a:lstStyle/>
                    <a:p>
                      <a:r>
                        <a:rPr sz="1350" b="0">
                          <a:solidFill>
                            <a:srgbClr val="11151A"/>
                          </a:solidFill>
                          <a:latin typeface="Lato"/>
                          <a:ea typeface="Lato"/>
                          <a:cs typeface="Lato"/>
                        </a:rPr>
                        <a:t>1.32bn litres</a:t>
                      </a:r>
                    </a:p>
                  </a:txBody>
                  <a:tcPr>
                    <a:solidFill>
                      <a:srgbClr val="FFFFFF"/>
                    </a:solidFill>
                  </a:tcPr>
                </a:tc>
                <a:tc>
                  <a:txBody>
                    <a:bodyPr/>
                    <a:lstStyle/>
                    <a:p>
                      <a:r>
                        <a:rPr sz="1350" b="0">
                          <a:solidFill>
                            <a:srgbClr val="11151A"/>
                          </a:solidFill>
                          <a:latin typeface="Lato"/>
                          <a:ea typeface="Lato"/>
                          <a:cs typeface="Lato"/>
                        </a:rPr>
                        <a:t>50% of captured Durban flow; counted within the same fuel volume</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39F713A3-21BD-483B-9C7D-C9391ED8B4B3}"/>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illustrative unique flow is 2.63bn litres. Adding Lesedi would double-count fuel handled at both sites.</a:t>
            </a:r>
          </a:p>
        </p:txBody>
      </p:sp>
      <p:graphicFrame>
        <p:nvGraphicFramePr>
          <p:cNvPr id="5017"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illustrative capture case fits the tank-turn screen, making usable capacity the next test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19</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terminal_site_assumptions.csv and market_review.json. Durban working subset is not the full terminal; access, peaks and current throughput remain open.</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000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4267200">
                  <a:extLst>
                    <a:ext uri="{9D8B030D-6E8A-4147-A177-3AD203B41FA5}">
                      <a16:colId xmlns:a16="http://schemas.microsoft.com/office/drawing/2014/main" val="20003"/>
                    </a:ext>
                  </a:extLst>
                </a:gridCol>
              </a:tblGrid>
              <a:tr h="400050">
                <a:tc>
                  <a:txBody>
                    <a:bodyPr/>
                    <a:lstStyle/>
                    <a:p>
                      <a:r>
                        <a:rPr sz="1425" b="1">
                          <a:solidFill>
                            <a:srgbClr val="0A2373"/>
                          </a:solidFill>
                          <a:latin typeface="Lato"/>
                          <a:ea typeface="Lato"/>
                          <a:cs typeface="Lato"/>
                        </a:rPr>
                        <a:t>Site</a:t>
                      </a:r>
                    </a:p>
                  </a:txBody>
                  <a:tcPr>
                    <a:solidFill>
                      <a:srgbClr val="F5F5F5"/>
                    </a:solidFill>
                  </a:tcPr>
                </a:tc>
                <a:tc>
                  <a:txBody>
                    <a:bodyPr/>
                    <a:lstStyle/>
                    <a:p>
                      <a:r>
                        <a:rPr sz="1425" b="1">
                          <a:solidFill>
                            <a:srgbClr val="0A2373"/>
                          </a:solidFill>
                          <a:latin typeface="Lato"/>
                          <a:ea typeface="Lato"/>
                          <a:cs typeface="Lato"/>
                        </a:rPr>
                        <a:t>Illustrative flow</a:t>
                      </a:r>
                    </a:p>
                    <a:p>
                      <a:r>
                        <a:rPr sz="1425" b="1">
                          <a:solidFill>
                            <a:srgbClr val="0A2373"/>
                          </a:solidFill>
                          <a:latin typeface="Lato"/>
                          <a:ea typeface="Lato"/>
                          <a:cs typeface="Lato"/>
                        </a:rPr>
                        <a:t>bn L/year</a:t>
                      </a:r>
                    </a:p>
                  </a:txBody>
                  <a:tcPr>
                    <a:solidFill>
                      <a:srgbClr val="F5F5F5"/>
                    </a:solidFill>
                  </a:tcPr>
                </a:tc>
                <a:tc>
                  <a:txBody>
                    <a:bodyPr/>
                    <a:lstStyle/>
                    <a:p>
                      <a:r>
                        <a:rPr sz="1425" b="1">
                          <a:solidFill>
                            <a:srgbClr val="0A2373"/>
                          </a:solidFill>
                          <a:latin typeface="Lato"/>
                          <a:ea typeface="Lato"/>
                          <a:cs typeface="Lato"/>
                        </a:rPr>
                        <a:t>Handling screen</a:t>
                      </a:r>
                    </a:p>
                    <a:p>
                      <a:r>
                        <a:rPr sz="1425" b="1">
                          <a:solidFill>
                            <a:srgbClr val="0A2373"/>
                          </a:solidFill>
                          <a:latin typeface="Lato"/>
                          <a:ea typeface="Lato"/>
                          <a:cs typeface="Lato"/>
                        </a:rPr>
                        <a:t>bn L/year</a:t>
                      </a:r>
                    </a:p>
                  </a:txBody>
                  <a:tcPr>
                    <a:solidFill>
                      <a:srgbClr val="F5F5F5"/>
                    </a:solidFill>
                  </a:tcPr>
                </a:tc>
                <a:tc>
                  <a:txBody>
                    <a:bodyPr/>
                    <a:lstStyle/>
                    <a:p>
                      <a:r>
                        <a:rPr sz="1425" b="1">
                          <a:solidFill>
                            <a:srgbClr val="0A2373"/>
                          </a:solidFill>
                          <a:latin typeface="Lato"/>
                          <a:ea typeface="Lato"/>
                          <a:cs typeface="Lato"/>
                        </a:rPr>
                        <a:t>Operating basis</a:t>
                      </a:r>
                    </a:p>
                  </a:txBody>
                  <a:tcPr>
                    <a:solidFill>
                      <a:srgbClr val="F5F5F5"/>
                    </a:solidFill>
                  </a:tcPr>
                </a:tc>
                <a:extLst>
                  <a:ext uri="{0D108BD9-81ED-4DB2-BD59-A6C34878D82A}">
                    <a16:rowId xmlns:a16="http://schemas.microsoft.com/office/drawing/2014/main" val="10000"/>
                  </a:ext>
                </a:extLst>
              </a:tr>
              <a:tr h="1073150">
                <a:tc>
                  <a:txBody>
                    <a:bodyPr/>
                    <a:lstStyle/>
                    <a:p>
                      <a:r>
                        <a:rPr sz="1425" b="1">
                          <a:solidFill>
                            <a:srgbClr val="0A2373"/>
                          </a:solidFill>
                          <a:latin typeface="Lato"/>
                          <a:ea typeface="Lato"/>
                          <a:cs typeface="Lato"/>
                        </a:rPr>
                        <a:t>Durban</a:t>
                      </a:r>
                    </a:p>
                  </a:txBody>
                  <a:tcPr>
                    <a:solidFill>
                      <a:srgbClr val="FFFFFF"/>
                    </a:solidFill>
                  </a:tcPr>
                </a:tc>
                <a:tc>
                  <a:txBody>
                    <a:bodyPr/>
                    <a:lstStyle/>
                    <a:p>
                      <a:r>
                        <a:rPr sz="1425" b="0">
                          <a:solidFill>
                            <a:srgbClr val="11151A"/>
                          </a:solidFill>
                          <a:latin typeface="Lato"/>
                          <a:ea typeface="Lato"/>
                          <a:cs typeface="Lato"/>
                        </a:rPr>
                        <a:t>2.63</a:t>
                      </a:r>
                    </a:p>
                  </a:txBody>
                  <a:tcPr>
                    <a:solidFill>
                      <a:srgbClr val="FFFFFF"/>
                    </a:solidFill>
                  </a:tcPr>
                </a:tc>
                <a:tc>
                  <a:txBody>
                    <a:bodyPr/>
                    <a:lstStyle/>
                    <a:p>
                      <a:r>
                        <a:rPr sz="1425" b="0">
                          <a:solidFill>
                            <a:srgbClr val="11151A"/>
                          </a:solidFill>
                          <a:latin typeface="Lato"/>
                          <a:ea typeface="Lato"/>
                          <a:cs typeface="Lato"/>
                        </a:rPr>
                        <a:t>3.50</a:t>
                      </a:r>
                    </a:p>
                  </a:txBody>
                  <a:tcPr>
                    <a:solidFill>
                      <a:srgbClr val="FFFFFF"/>
                    </a:solidFill>
                  </a:tcPr>
                </a:tc>
                <a:tc>
                  <a:txBody>
                    <a:bodyPr/>
                    <a:lstStyle/>
                    <a:p>
                      <a:r>
                        <a:rPr sz="1425" b="0">
                          <a:solidFill>
                            <a:srgbClr val="11151A"/>
                          </a:solidFill>
                          <a:latin typeface="Lato"/>
                          <a:ea typeface="Lato"/>
                          <a:cs typeface="Lato"/>
                        </a:rPr>
                        <a:t>146,000m³ estimated working subset; two turns/month</a:t>
                      </a:r>
                    </a:p>
                  </a:txBody>
                  <a:tcPr>
                    <a:solidFill>
                      <a:srgbClr val="FFFFFF"/>
                    </a:solidFill>
                  </a:tcPr>
                </a:tc>
                <a:extLst>
                  <a:ext uri="{0D108BD9-81ED-4DB2-BD59-A6C34878D82A}">
                    <a16:rowId xmlns:a16="http://schemas.microsoft.com/office/drawing/2014/main" val="10001"/>
                  </a:ext>
                </a:extLst>
              </a:tr>
              <a:tr h="1073150">
                <a:tc>
                  <a:txBody>
                    <a:bodyPr/>
                    <a:lstStyle/>
                    <a:p>
                      <a:r>
                        <a:rPr sz="1425" b="1">
                          <a:solidFill>
                            <a:srgbClr val="0A2373"/>
                          </a:solidFill>
                          <a:latin typeface="Lato"/>
                          <a:ea typeface="Lato"/>
                          <a:cs typeface="Lato"/>
                        </a:rPr>
                        <a:t>Lesedi</a:t>
                      </a:r>
                    </a:p>
                  </a:txBody>
                  <a:tcPr>
                    <a:solidFill>
                      <a:srgbClr val="FFFFFF"/>
                    </a:solidFill>
                  </a:tcPr>
                </a:tc>
                <a:tc>
                  <a:txBody>
                    <a:bodyPr/>
                    <a:lstStyle/>
                    <a:p>
                      <a:r>
                        <a:rPr sz="1425" b="0">
                          <a:solidFill>
                            <a:srgbClr val="11151A"/>
                          </a:solidFill>
                          <a:latin typeface="Lato"/>
                          <a:ea typeface="Lato"/>
                          <a:cs typeface="Lato"/>
                        </a:rPr>
                        <a:t>1.32</a:t>
                      </a:r>
                    </a:p>
                  </a:txBody>
                  <a:tcPr>
                    <a:solidFill>
                      <a:srgbClr val="FFFFFF"/>
                    </a:solidFill>
                  </a:tcPr>
                </a:tc>
                <a:tc>
                  <a:txBody>
                    <a:bodyPr/>
                    <a:lstStyle/>
                    <a:p>
                      <a:r>
                        <a:rPr sz="1425" b="0">
                          <a:solidFill>
                            <a:srgbClr val="11151A"/>
                          </a:solidFill>
                          <a:latin typeface="Lato"/>
                          <a:ea typeface="Lato"/>
                          <a:cs typeface="Lato"/>
                        </a:rPr>
                        <a:t>2.98</a:t>
                      </a:r>
                    </a:p>
                  </a:txBody>
                  <a:tcPr>
                    <a:solidFill>
                      <a:srgbClr val="FFFFFF"/>
                    </a:solidFill>
                  </a:tcPr>
                </a:tc>
                <a:tc>
                  <a:txBody>
                    <a:bodyPr/>
                    <a:lstStyle/>
                    <a:p>
                      <a:r>
                        <a:rPr sz="1425" b="0">
                          <a:solidFill>
                            <a:srgbClr val="11151A"/>
                          </a:solidFill>
                          <a:latin typeface="Lato"/>
                          <a:ea typeface="Lato"/>
                          <a:cs typeface="Lato"/>
                        </a:rPr>
                        <a:t>124,000m³ working capacity, partly estimated; two turns/month</a:t>
                      </a:r>
                    </a:p>
                  </a:txBody>
                  <a:tcPr>
                    <a:solidFill>
                      <a:srgbClr val="FFFFFF"/>
                    </a:solidFill>
                  </a:tcPr>
                </a:tc>
                <a:extLst>
                  <a:ext uri="{0D108BD9-81ED-4DB2-BD59-A6C34878D82A}">
                    <a16:rowId xmlns:a16="http://schemas.microsoft.com/office/drawing/2014/main" val="10002"/>
                  </a:ext>
                </a:extLst>
              </a:tr>
              <a:tr h="1073150">
                <a:tc>
                  <a:txBody>
                    <a:bodyPr/>
                    <a:lstStyle/>
                    <a:p>
                      <a:r>
                        <a:rPr sz="1425" b="1">
                          <a:solidFill>
                            <a:srgbClr val="0A2373"/>
                          </a:solidFill>
                          <a:latin typeface="Lato"/>
                          <a:ea typeface="Lato"/>
                          <a:cs typeface="Lato"/>
                        </a:rPr>
                        <a:t>Investment test</a:t>
                      </a:r>
                    </a:p>
                  </a:txBody>
                  <a:tcPr>
                    <a:solidFill>
                      <a:srgbClr val="FFFFFF"/>
                    </a:solidFill>
                  </a:tcPr>
                </a:tc>
                <a:tc>
                  <a:txBody>
                    <a:bodyPr/>
                    <a:lstStyle/>
                    <a:p>
                      <a:r>
                        <a:rPr sz="1425" b="0">
                          <a:solidFill>
                            <a:srgbClr val="11151A"/>
                          </a:solidFill>
                          <a:latin typeface="Lato"/>
                          <a:ea typeface="Lato"/>
                          <a:cs typeface="Lato"/>
                        </a:rPr>
                        <a:t>Incremental contracts</a:t>
                      </a:r>
                    </a:p>
                  </a:txBody>
                  <a:tcPr>
                    <a:solidFill>
                      <a:srgbClr val="FFFFFF"/>
                    </a:solidFill>
                  </a:tcPr>
                </a:tc>
                <a:tc>
                  <a:txBody>
                    <a:bodyPr/>
                    <a:lstStyle/>
                    <a:p>
                      <a:r>
                        <a:rPr sz="1425" b="0">
                          <a:solidFill>
                            <a:srgbClr val="11151A"/>
                          </a:solidFill>
                          <a:latin typeface="Lato"/>
                          <a:ea typeface="Lato"/>
                          <a:cs typeface="Lato"/>
                        </a:rPr>
                        <a:t>Actual constraint</a:t>
                      </a:r>
                    </a:p>
                  </a:txBody>
                  <a:tcPr>
                    <a:solidFill>
                      <a:srgbClr val="FFFFFF"/>
                    </a:solidFill>
                  </a:tcPr>
                </a:tc>
                <a:tc>
                  <a:txBody>
                    <a:bodyPr/>
                    <a:lstStyle/>
                    <a:p>
                      <a:r>
                        <a:rPr sz="1425" b="0">
                          <a:solidFill>
                            <a:srgbClr val="11151A"/>
                          </a:solidFill>
                          <a:latin typeface="Lato"/>
                          <a:ea typeface="Lato"/>
                          <a:cs typeface="Lato"/>
                        </a:rPr>
                        <a:t>Receipt, product segregation, dispatch, pipeline access and peak demand</a:t>
                      </a:r>
                    </a:p>
                  </a:txBody>
                  <a:tcPr>
                    <a:solidFill>
                      <a:srgbClr val="FFFFFF"/>
                    </a:solidFill>
                  </a:tcPr>
                </a:tc>
                <a:extLst>
                  <a:ext uri="{0D108BD9-81ED-4DB2-BD59-A6C34878D82A}">
                    <a16:rowId xmlns:a16="http://schemas.microsoft.com/office/drawing/2014/main" val="10003"/>
                  </a:ext>
                </a:extLst>
              </a:tr>
            </a:tbl>
          </a:graphicData>
        </a:graphic>
      </p:graphicFrame>
      <p:sp>
        <p:nvSpPr>
          <p:cNvPr id="50" name="Story implication">
            <a:extLst>
              <a:ext uri="{FF2B5EF4-FFF2-40B4-BE49-F238E27FC236}">
                <a16:creationId xmlns:a16="http://schemas.microsoft.com/office/drawing/2014/main" id="{D376DD25-E146-4FF3-AABF-F3D2B421F08C}"/>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Working-tank arithmetic screens feasibility. Engineering limits and current customer flows determine actual headroom.</a:t>
            </a:r>
          </a:p>
        </p:txBody>
      </p:sp>
      <p:graphicFrame>
        <p:nvGraphicFramePr>
          <p:cNvPr id="5018"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market supports an import platform; customer capture and capacity constraints govern investment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20</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2025 analytical workbook v02: registered demand assumptions and user-directed 5.8bn L domestic production case. Estimates are not reported actuals.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905125">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4219575">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Conclusion</a:t>
                      </a:r>
                    </a:p>
                  </a:txBody>
                  <a:tcPr>
                    <a:solidFill>
                      <a:srgbClr val="F5F5F5"/>
                    </a:solidFill>
                  </a:tcPr>
                </a:tc>
                <a:tc>
                  <a:txBody>
                    <a:bodyPr/>
                    <a:lstStyle/>
                    <a:p>
                      <a:r>
                        <a:rPr sz="1350" b="1">
                          <a:solidFill>
                            <a:srgbClr val="0A2373"/>
                          </a:solidFill>
                          <a:latin typeface="Lato"/>
                          <a:ea typeface="Lato"/>
                          <a:cs typeface="Lato"/>
                        </a:rPr>
                        <a:t>Evidence from this story</a:t>
                      </a:r>
                    </a:p>
                  </a:txBody>
                  <a:tcPr>
                    <a:solidFill>
                      <a:srgbClr val="F5F5F5"/>
                    </a:solidFill>
                  </a:tcPr>
                </a:tc>
                <a:tc>
                  <a:txBody>
                    <a:bodyPr/>
                    <a:lstStyle/>
                    <a:p>
                      <a:r>
                        <a:rPr sz="1350" b="1">
                          <a:solidFill>
                            <a:srgbClr val="0A2373"/>
                          </a:solidFill>
                          <a:latin typeface="Lato"/>
                          <a:ea typeface="Lato"/>
                          <a:cs typeface="Lato"/>
                        </a:rPr>
                        <a:t>Decision implication</a:t>
                      </a:r>
                    </a:p>
                  </a:txBody>
                  <a:tcPr>
                    <a:solidFill>
                      <a:srgbClr val="F5F5F5"/>
                    </a:solidFill>
                  </a:tcPr>
                </a:tc>
                <a:extLst>
                  <a:ext uri="{0D108BD9-81ED-4DB2-BD59-A6C34878D82A}">
                    <a16:rowId xmlns:a16="http://schemas.microsoft.com/office/drawing/2014/main" val="10000"/>
                  </a:ext>
                </a:extLst>
              </a:tr>
              <a:tr h="804863">
                <a:tc>
                  <a:txBody>
                    <a:bodyPr/>
                    <a:lstStyle/>
                    <a:p>
                      <a:r>
                        <a:rPr sz="1350" b="1">
                          <a:solidFill>
                            <a:srgbClr val="0A2373"/>
                          </a:solidFill>
                          <a:latin typeface="Lato"/>
                          <a:ea typeface="Lato"/>
                          <a:cs typeface="Lato"/>
                        </a:rPr>
                        <a:t>A substantial demand base</a:t>
                      </a:r>
                    </a:p>
                  </a:txBody>
                  <a:tcPr>
                    <a:solidFill>
                      <a:srgbClr val="FFFFFF"/>
                    </a:solidFill>
                  </a:tcPr>
                </a:tc>
                <a:tc>
                  <a:txBody>
                    <a:bodyPr/>
                    <a:lstStyle/>
                    <a:p>
                      <a:r>
                        <a:rPr sz="1350" b="0">
                          <a:solidFill>
                            <a:srgbClr val="11151A"/>
                          </a:solidFill>
                          <a:latin typeface="Lato"/>
                          <a:ea typeface="Lato"/>
                          <a:cs typeface="Lato"/>
                        </a:rPr>
                        <a:t>2025 estimated demand of 21.0bn litres</a:t>
                      </a:r>
                    </a:p>
                  </a:txBody>
                  <a:tcPr>
                    <a:solidFill>
                      <a:srgbClr val="FFFFFF"/>
                    </a:solidFill>
                  </a:tcPr>
                </a:tc>
                <a:tc>
                  <a:txBody>
                    <a:bodyPr/>
                    <a:lstStyle/>
                    <a:p>
                      <a:r>
                        <a:rPr sz="1350" b="0">
                          <a:solidFill>
                            <a:srgbClr val="11151A"/>
                          </a:solidFill>
                          <a:latin typeface="Lato"/>
                          <a:ea typeface="Lato"/>
                          <a:cs typeface="Lato"/>
                        </a:rPr>
                        <a:t>Prioritise identifiable customer segments and destinations</a:t>
                      </a:r>
                    </a:p>
                  </a:txBody>
                  <a:tcPr>
                    <a:solidFill>
                      <a:srgbClr val="FFFFFF"/>
                    </a:solidFill>
                  </a:tcPr>
                </a:tc>
                <a:extLst>
                  <a:ext uri="{0D108BD9-81ED-4DB2-BD59-A6C34878D82A}">
                    <a16:rowId xmlns:a16="http://schemas.microsoft.com/office/drawing/2014/main" val="10001"/>
                  </a:ext>
                </a:extLst>
              </a:tr>
              <a:tr h="804863">
                <a:tc>
                  <a:txBody>
                    <a:bodyPr/>
                    <a:lstStyle/>
                    <a:p>
                      <a:r>
                        <a:rPr sz="1350" b="1">
                          <a:solidFill>
                            <a:srgbClr val="0A2373"/>
                          </a:solidFill>
                          <a:latin typeface="Lato"/>
                          <a:ea typeface="Lato"/>
                          <a:cs typeface="Lato"/>
                        </a:rPr>
                        <a:t>Base imports remain substantial</a:t>
                      </a:r>
                    </a:p>
                  </a:txBody>
                  <a:tcPr>
                    <a:solidFill>
                      <a:srgbClr val="FFFFFF"/>
                    </a:solidFill>
                  </a:tcPr>
                </a:tc>
                <a:tc>
                  <a:txBody>
                    <a:bodyPr/>
                    <a:lstStyle/>
                    <a:p>
                      <a:r>
                        <a:rPr sz="1350" b="0">
                          <a:solidFill>
                            <a:srgbClr val="11151A"/>
                          </a:solidFill>
                          <a:latin typeface="Lato"/>
                          <a:ea typeface="Lato"/>
                          <a:cs typeface="Lato"/>
                        </a:rPr>
                        <a:t>About 16.6bn litres in 2030 under the 5.8bn supply case</a:t>
                      </a:r>
                    </a:p>
                  </a:txBody>
                  <a:tcPr>
                    <a:solidFill>
                      <a:srgbClr val="FFFFFF"/>
                    </a:solidFill>
                  </a:tcPr>
                </a:tc>
                <a:tc>
                  <a:txBody>
                    <a:bodyPr/>
                    <a:lstStyle/>
                    <a:p>
                      <a:r>
                        <a:rPr sz="1350" b="0">
                          <a:solidFill>
                            <a:srgbClr val="11151A"/>
                          </a:solidFill>
                          <a:latin typeface="Lato"/>
                          <a:ea typeface="Lato"/>
                          <a:cs typeface="Lato"/>
                        </a:rPr>
                        <a:t>Plan for ongoing imports; retain refinery sensitivities</a:t>
                      </a:r>
                    </a:p>
                  </a:txBody>
                  <a:tcPr>
                    <a:solidFill>
                      <a:srgbClr val="FFFFFF"/>
                    </a:solidFill>
                  </a:tcPr>
                </a:tc>
                <a:extLst>
                  <a:ext uri="{0D108BD9-81ED-4DB2-BD59-A6C34878D82A}">
                    <a16:rowId xmlns:a16="http://schemas.microsoft.com/office/drawing/2014/main" val="10002"/>
                  </a:ext>
                </a:extLst>
              </a:tr>
              <a:tr h="804863">
                <a:tc>
                  <a:txBody>
                    <a:bodyPr/>
                    <a:lstStyle/>
                    <a:p>
                      <a:r>
                        <a:rPr sz="1350" b="1">
                          <a:solidFill>
                            <a:srgbClr val="0A2373"/>
                          </a:solidFill>
                          <a:latin typeface="Lato"/>
                          <a:ea typeface="Lato"/>
                          <a:cs typeface="Lato"/>
                        </a:rPr>
                        <a:t>Gateways compete for the same fuel</a:t>
                      </a:r>
                    </a:p>
                  </a:txBody>
                  <a:tcPr>
                    <a:solidFill>
                      <a:srgbClr val="FFFFFF"/>
                    </a:solidFill>
                  </a:tcPr>
                </a:tc>
                <a:tc>
                  <a:txBody>
                    <a:bodyPr/>
                    <a:lstStyle/>
                    <a:p>
                      <a:r>
                        <a:rPr sz="1350" b="0">
                          <a:solidFill>
                            <a:srgbClr val="11151A"/>
                          </a:solidFill>
                          <a:latin typeface="Lato"/>
                          <a:ea typeface="Lato"/>
                          <a:cs typeface="Lato"/>
                        </a:rPr>
                        <a:t>Mozambique base diversion of 0.20bn L is a route assumption</a:t>
                      </a:r>
                    </a:p>
                  </a:txBody>
                  <a:tcPr>
                    <a:solidFill>
                      <a:srgbClr val="FFFFFF"/>
                    </a:solidFill>
                  </a:tcPr>
                </a:tc>
                <a:tc>
                  <a:txBody>
                    <a:bodyPr/>
                    <a:lstStyle/>
                    <a:p>
                      <a:r>
                        <a:rPr sz="1350" b="0">
                          <a:solidFill>
                            <a:srgbClr val="11151A"/>
                          </a:solidFill>
                          <a:latin typeface="Lato"/>
                          <a:ea typeface="Lato"/>
                          <a:cs typeface="Lato"/>
                        </a:rPr>
                        <a:t>Validate delivered cost, service and customer access</a:t>
                      </a:r>
                    </a:p>
                  </a:txBody>
                  <a:tcPr>
                    <a:solidFill>
                      <a:srgbClr val="FFFFFF"/>
                    </a:solidFill>
                  </a:tcPr>
                </a:tc>
                <a:extLst>
                  <a:ext uri="{0D108BD9-81ED-4DB2-BD59-A6C34878D82A}">
                    <a16:rowId xmlns:a16="http://schemas.microsoft.com/office/drawing/2014/main" val="10003"/>
                  </a:ext>
                </a:extLst>
              </a:tr>
              <a:tr h="804863">
                <a:tc>
                  <a:txBody>
                    <a:bodyPr/>
                    <a:lstStyle/>
                    <a:p>
                      <a:r>
                        <a:rPr sz="1350" b="1">
                          <a:solidFill>
                            <a:srgbClr val="0A2373"/>
                          </a:solidFill>
                          <a:latin typeface="Lato"/>
                          <a:ea typeface="Lato"/>
                          <a:cs typeface="Lato"/>
                        </a:rPr>
                        <a:t>Expansion follows incremental capture</a:t>
                      </a:r>
                    </a:p>
                  </a:txBody>
                  <a:tcPr>
                    <a:solidFill>
                      <a:srgbClr val="FFFFFF"/>
                    </a:solidFill>
                  </a:tcPr>
                </a:tc>
                <a:tc>
                  <a:txBody>
                    <a:bodyPr/>
                    <a:lstStyle/>
                    <a:p>
                      <a:r>
                        <a:rPr sz="1350" b="0">
                          <a:solidFill>
                            <a:srgbClr val="11151A"/>
                          </a:solidFill>
                          <a:latin typeface="Lato"/>
                          <a:ea typeface="Lato"/>
                          <a:cs typeface="Lato"/>
                        </a:rPr>
                        <a:t>Illustrative 2.63bn L unique flow fits the tank-turn screen</a:t>
                      </a:r>
                    </a:p>
                  </a:txBody>
                  <a:tcPr>
                    <a:solidFill>
                      <a:srgbClr val="FFFFFF"/>
                    </a:solidFill>
                  </a:tcPr>
                </a:tc>
                <a:tc>
                  <a:txBody>
                    <a:bodyPr/>
                    <a:lstStyle/>
                    <a:p>
                      <a:r>
                        <a:rPr sz="1350" b="0">
                          <a:solidFill>
                            <a:srgbClr val="11151A"/>
                          </a:solidFill>
                          <a:latin typeface="Lato"/>
                          <a:ea typeface="Lato"/>
                          <a:cs typeface="Lato"/>
                        </a:rPr>
                        <a:t>Secure additional volumes, prove the bottleneck, then compare improvement and expansion returns</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395A061D-CFCA-4300-98C5-0D94004E37B4}"/>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Next decisions: review the product balance, obtain route quotes and customer commitments, and establish usable capacity at both sites.</a:t>
            </a:r>
          </a:p>
        </p:txBody>
      </p:sp>
      <p:graphicFrame>
        <p:nvGraphicFramePr>
          <p:cNvPr id="5019"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rmAutofit/>
          </a:bodyPr>
          <a:lstStyle/>
          <a:p>
            <a:r>
              <a:rPr>
                <a:solidFill>
                  <a:schemeClr val="dk1"/>
                </a:solidFill>
                <a:latin typeface="Lato"/>
                <a:ea typeface="Lato"/>
                <a:cs typeface="Lato"/>
              </a:rPr>
              <a:t>HG’s South Africa storyline</a:t>
            </a: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21</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172199"/>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lang="en-GB" sz="650"/>
              <a:t>Source: HG’s supplied storyboard, slides 30–32 (6 October 2026). Condensed framing; propositions and questions to investigate. Pages 2-20 present the current analytical response.</a:t>
            </a:r>
            <a:endParaRPr sz="65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4" name="Table 53"/>
          <p:cNvGraphicFramePr/>
          <p:nvPr/>
        </p:nvGraphicFramePr>
        <p:xfrm>
          <a:off x="457200" y="1647825"/>
          <a:ext cx="10648950" cy="3638550"/>
        </p:xfrm>
        <a:graphic>
          <a:graphicData uri="http://schemas.openxmlformats.org/drawingml/2006/table">
            <a:tbl>
              <a:tblPr/>
              <a:tblGrid>
                <a:gridCol w="3549968">
                  <a:extLst>
                    <a:ext uri="{9D8B030D-6E8A-4147-A177-3AD203B41FA5}">
                      <a16:colId xmlns:a16="http://schemas.microsoft.com/office/drawing/2014/main" val="20000"/>
                    </a:ext>
                  </a:extLst>
                </a:gridCol>
                <a:gridCol w="3549968">
                  <a:extLst>
                    <a:ext uri="{9D8B030D-6E8A-4147-A177-3AD203B41FA5}">
                      <a16:colId xmlns:a16="http://schemas.microsoft.com/office/drawing/2014/main" val="20001"/>
                    </a:ext>
                  </a:extLst>
                </a:gridCol>
                <a:gridCol w="3549015">
                  <a:extLst>
                    <a:ext uri="{9D8B030D-6E8A-4147-A177-3AD203B41FA5}">
                      <a16:colId xmlns:a16="http://schemas.microsoft.com/office/drawing/2014/main" val="20002"/>
                    </a:ext>
                  </a:extLst>
                </a:gridCol>
              </a:tblGrid>
              <a:tr h="419100">
                <a:tc>
                  <a:txBody>
                    <a:bodyPr/>
                    <a:lstStyle/>
                    <a:p>
                      <a:r>
                        <a:rPr sz="1350" b="1">
                          <a:solidFill>
                            <a:srgbClr val="0A2373"/>
                          </a:solidFill>
                          <a:latin typeface="Lato"/>
                          <a:ea typeface="Lato"/>
                          <a:cs typeface="Lato"/>
                        </a:rPr>
                        <a:t>SITUATION | The market and its drivers</a:t>
                      </a:r>
                    </a:p>
                  </a:txBody>
                  <a:tcPr>
                    <a:solidFill>
                      <a:srgbClr val="FFFFFF"/>
                    </a:solidFill>
                  </a:tcPr>
                </a:tc>
                <a:tc>
                  <a:txBody>
                    <a:bodyPr/>
                    <a:lstStyle/>
                    <a:p>
                      <a:r>
                        <a:rPr sz="1350" b="1">
                          <a:solidFill>
                            <a:srgbClr val="0A2373"/>
                          </a:solidFill>
                          <a:latin typeface="Lato"/>
                          <a:ea typeface="Lato"/>
                          <a:cs typeface="Lato"/>
                        </a:rPr>
                        <a:t>COMPLICATION | Trends begin to reverse</a:t>
                      </a:r>
                    </a:p>
                  </a:txBody>
                  <a:tcPr>
                    <a:solidFill>
                      <a:srgbClr val="FFFFFF"/>
                    </a:solidFill>
                  </a:tcPr>
                </a:tc>
                <a:tc>
                  <a:txBody>
                    <a:bodyPr/>
                    <a:lstStyle/>
                    <a:p>
                      <a:r>
                        <a:rPr sz="1350" b="1">
                          <a:solidFill>
                            <a:srgbClr val="0A2373"/>
                          </a:solidFill>
                          <a:latin typeface="Lato"/>
                          <a:ea typeface="Lato"/>
                          <a:cs typeface="Lato"/>
                        </a:rPr>
                        <a:t>RESOLUTION | Vopak’s outlook</a:t>
                      </a:r>
                    </a:p>
                  </a:txBody>
                  <a:tcPr>
                    <a:solidFill>
                      <a:srgbClr val="FFFFFF"/>
                    </a:solidFill>
                  </a:tcPr>
                </a:tc>
                <a:extLst>
                  <a:ext uri="{0D108BD9-81ED-4DB2-BD59-A6C34878D82A}">
                    <a16:rowId xmlns:a16="http://schemas.microsoft.com/office/drawing/2014/main" val="10000"/>
                  </a:ext>
                </a:extLst>
              </a:tr>
              <a:tr h="3219450">
                <a:tc>
                  <a:txBody>
                    <a:bodyPr/>
                    <a:lstStyle/>
                    <a:p>
                      <a:r>
                        <a:rPr sz="1350" b="0">
                          <a:solidFill>
                            <a:srgbClr val="11151A"/>
                          </a:solidFill>
                          <a:latin typeface="Lato"/>
                          <a:ea typeface="Lato"/>
                          <a:cs typeface="Lato"/>
                        </a:rPr>
                        <a:t>Outline South African demand development and Vopak’s market of interest: eastern South Africa within economic reach of its storage infrastructure and NMPP.</a:t>
                      </a:r>
                    </a:p>
                    <a:p>
                      <a:endParaRPr sz="1350" b="0">
                        <a:solidFill>
                          <a:srgbClr val="11151A"/>
                        </a:solidFill>
                        <a:latin typeface="Lato"/>
                        <a:ea typeface="Lato"/>
                        <a:cs typeface="Lato"/>
                      </a:endParaRPr>
                    </a:p>
                    <a:p>
                      <a:r>
                        <a:rPr sz="1350" b="0">
                          <a:solidFill>
                            <a:srgbClr val="11151A"/>
                          </a:solidFill>
                          <a:latin typeface="Lato"/>
                          <a:ea typeface="Lato"/>
                          <a:cs typeface="Lato"/>
                        </a:rPr>
                        <a:t>Explain the demand drivers: greater diesel use in power generation; rail to road; fuel prices; more efficient vehicles; and slow GDP growth.</a:t>
                      </a:r>
                    </a:p>
                    <a:p>
                      <a:endParaRPr sz="1350" b="0">
                        <a:solidFill>
                          <a:srgbClr val="11151A"/>
                        </a:solidFill>
                        <a:latin typeface="Lato"/>
                        <a:ea typeface="Lato"/>
                        <a:cs typeface="Lato"/>
                      </a:endParaRPr>
                    </a:p>
                    <a:p>
                      <a:r>
                        <a:rPr sz="1350" b="0">
                          <a:solidFill>
                            <a:srgbClr val="11151A"/>
                          </a:solidFill>
                          <a:latin typeface="Lato"/>
                          <a:ea typeface="Lato"/>
                          <a:cs typeface="Lato"/>
                        </a:rPr>
                        <a:t>Outline the supply picture: refinery closures, challenges at Secunda and closure of Mossgas. Show growth in imports and where they enter.</a:t>
                      </a:r>
                    </a:p>
                  </a:txBody>
                  <a:tcPr>
                    <a:solidFill>
                      <a:srgbClr val="FFFFFF"/>
                    </a:solidFill>
                  </a:tcPr>
                </a:tc>
                <a:tc>
                  <a:txBody>
                    <a:bodyPr/>
                    <a:lstStyle/>
                    <a:p>
                      <a:r>
                        <a:rPr sz="1350" b="0">
                          <a:solidFill>
                            <a:srgbClr val="11151A"/>
                          </a:solidFill>
                          <a:latin typeface="Lato"/>
                          <a:ea typeface="Lato"/>
                          <a:cs typeface="Lato"/>
                        </a:rPr>
                        <a:t>A number of trends that supported demand growth have started to reverse: road to rail; the end of loadshedding and spare generation capacity; EVs/HEVs; and higher fuel prices affecting kilometres travelled.</a:t>
                      </a:r>
                    </a:p>
                    <a:p>
                      <a:endParaRPr sz="1350" b="0">
                        <a:solidFill>
                          <a:srgbClr val="11151A"/>
                        </a:solidFill>
                        <a:latin typeface="Lato"/>
                        <a:ea typeface="Lato"/>
                        <a:cs typeface="Lato"/>
                      </a:endParaRPr>
                    </a:p>
                    <a:p>
                      <a:r>
                        <a:rPr sz="1350" b="0">
                          <a:solidFill>
                            <a:srgbClr val="11151A"/>
                          </a:solidFill>
                          <a:latin typeface="Lato"/>
                          <a:ea typeface="Lato"/>
                          <a:cs typeface="Lato"/>
                        </a:rPr>
                        <a:t>Explore supply changes: a SAPREF restart; Secunda’s coal-derived gas, MRG sales and potential extension to 2032; and Natref’s future.</a:t>
                      </a:r>
                    </a:p>
                    <a:p>
                      <a:endParaRPr sz="1350" b="0">
                        <a:solidFill>
                          <a:srgbClr val="11151A"/>
                        </a:solidFill>
                        <a:latin typeface="Lato"/>
                        <a:ea typeface="Lato"/>
                        <a:cs typeface="Lato"/>
                      </a:endParaRPr>
                    </a:p>
                    <a:p>
                      <a:r>
                        <a:rPr sz="1350" b="0">
                          <a:solidFill>
                            <a:srgbClr val="11151A"/>
                          </a:solidFill>
                          <a:latin typeface="Lato"/>
                          <a:ea typeface="Lato"/>
                          <a:cs typeface="Lato"/>
                        </a:rPr>
                        <a:t>Compare Durban storage–NMPP–Lesedi with road/rail from Durban, transport from Matola and transport from Walvis Bay.</a:t>
                      </a:r>
                    </a:p>
                  </a:txBody>
                  <a:tcPr>
                    <a:solidFill>
                      <a:srgbClr val="FFFFFF"/>
                    </a:solidFill>
                  </a:tcPr>
                </a:tc>
                <a:tc>
                  <a:txBody>
                    <a:bodyPr/>
                    <a:lstStyle/>
                    <a:p>
                      <a:r>
                        <a:rPr sz="1350" b="0">
                          <a:solidFill>
                            <a:srgbClr val="11151A"/>
                          </a:solidFill>
                          <a:latin typeface="Lato"/>
                          <a:ea typeface="Lato"/>
                          <a:cs typeface="Lato"/>
                        </a:rPr>
                        <a:t>Market share of Vopak in Durban and Lesedi</a:t>
                      </a:r>
                    </a:p>
                    <a:p>
                      <a:endParaRPr sz="1350" b="0">
                        <a:solidFill>
                          <a:srgbClr val="11151A"/>
                        </a:solidFill>
                        <a:latin typeface="Lato"/>
                        <a:ea typeface="Lato"/>
                        <a:cs typeface="Lato"/>
                      </a:endParaRPr>
                    </a:p>
                    <a:p>
                      <a:r>
                        <a:rPr sz="1350" b="0">
                          <a:solidFill>
                            <a:srgbClr val="11151A"/>
                          </a:solidFill>
                          <a:latin typeface="Lato"/>
                          <a:ea typeface="Lato"/>
                          <a:cs typeface="Lato"/>
                        </a:rPr>
                        <a:t>Potential scope for new investment?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020" name="brand-pptx section navigation">
            <a:extLst>
              <a:ext uri="{FF2B5EF4-FFF2-40B4-BE49-F238E27FC236}">
                <a16:creationId xmlns:a16="http://schemas.microsoft.com/office/drawing/2014/main" id="{E84A3441-E5C5-E6E9-435C-D2DCE47C1BB3}"/>
              </a:ext>
            </a:extLst>
          </p:cNvPr>
          <p:cNvGraphicFramePr/>
          <p:nvPr>
            <p:extLst>
              <p:ext uri="{D42A27DB-BD31-4B8C-83A1-F6EECF244321}">
                <p14:modId xmlns:p14="http://schemas.microsoft.com/office/powerpoint/2010/main" val="91527182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9262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national supply assumption closes the total balance but leaves the product mix unresolved</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22</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Supply assumption and Balance. Original plant estimate: Secunda 3.95, Natref 2.37, Astron 3.91bn L; 10.23bn total. These do not govern the directed case.</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4953000">
                  <a:extLst>
                    <a:ext uri="{9D8B030D-6E8A-4147-A177-3AD203B41FA5}">
                      <a16:colId xmlns:a16="http://schemas.microsoft.com/office/drawing/2014/main" val="20000"/>
                    </a:ext>
                  </a:extLst>
                </a:gridCol>
                <a:gridCol w="1895475">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400050">
                <a:tc>
                  <a:txBody>
                    <a:bodyPr/>
                    <a:lstStyle/>
                    <a:p>
                      <a:r>
                        <a:rPr sz="1350" b="1">
                          <a:solidFill>
                            <a:srgbClr val="0A2373"/>
                          </a:solidFill>
                          <a:latin typeface="Lato"/>
                          <a:ea typeface="Lato"/>
                          <a:cs typeface="Lato"/>
                        </a:rPr>
                        <a:t>2025 measure</a:t>
                      </a:r>
                    </a:p>
                  </a:txBody>
                  <a:tcPr>
                    <a:solidFill>
                      <a:srgbClr val="F5F5F5"/>
                    </a:solidFill>
                  </a:tcPr>
                </a:tc>
                <a:tc>
                  <a:txBody>
                    <a:bodyPr/>
                    <a:lstStyle/>
                    <a:p>
                      <a:r>
                        <a:rPr sz="1350" b="1">
                          <a:solidFill>
                            <a:srgbClr val="0A2373"/>
                          </a:solidFill>
                          <a:latin typeface="Lato"/>
                          <a:ea typeface="Lato"/>
                          <a:cs typeface="Lato"/>
                        </a:rPr>
                        <a:t>Petrol bn L</a:t>
                      </a:r>
                    </a:p>
                  </a:txBody>
                  <a:tcPr>
                    <a:solidFill>
                      <a:srgbClr val="F5F5F5"/>
                    </a:solidFill>
                  </a:tcPr>
                </a:tc>
                <a:tc>
                  <a:txBody>
                    <a:bodyPr/>
                    <a:lstStyle/>
                    <a:p>
                      <a:r>
                        <a:rPr sz="1350" b="1">
                          <a:solidFill>
                            <a:srgbClr val="0A2373"/>
                          </a:solidFill>
                          <a:latin typeface="Lato"/>
                          <a:ea typeface="Lato"/>
                          <a:cs typeface="Lato"/>
                        </a:rPr>
                        <a:t>Diesel bn L</a:t>
                      </a:r>
                    </a:p>
                  </a:txBody>
                  <a:tcPr>
                    <a:solidFill>
                      <a:srgbClr val="F5F5F5"/>
                    </a:solidFill>
                  </a:tcPr>
                </a:tc>
                <a:tc>
                  <a:txBody>
                    <a:bodyPr/>
                    <a:lstStyle/>
                    <a:p>
                      <a:r>
                        <a:rPr sz="1350" b="1">
                          <a:solidFill>
                            <a:srgbClr val="0A2373"/>
                          </a:solidFill>
                          <a:latin typeface="Lato"/>
                          <a:ea typeface="Lato"/>
                          <a:cs typeface="Lato"/>
                        </a:rPr>
                        <a:t>Total bn L</a:t>
                      </a:r>
                    </a:p>
                  </a:txBody>
                  <a:tcPr>
                    <a:solidFill>
                      <a:srgbClr val="F5F5F5"/>
                    </a:solidFill>
                  </a:tcPr>
                </a:tc>
                <a:extLst>
                  <a:ext uri="{0D108BD9-81ED-4DB2-BD59-A6C34878D82A}">
                    <a16:rowId xmlns:a16="http://schemas.microsoft.com/office/drawing/2014/main" val="10000"/>
                  </a:ext>
                </a:extLst>
              </a:tr>
              <a:tr h="536575">
                <a:tc>
                  <a:txBody>
                    <a:bodyPr/>
                    <a:lstStyle/>
                    <a:p>
                      <a:r>
                        <a:rPr sz="1350" b="1">
                          <a:solidFill>
                            <a:srgbClr val="0A2373"/>
                          </a:solidFill>
                          <a:latin typeface="Lato"/>
                          <a:ea typeface="Lato"/>
                          <a:cs typeface="Lato"/>
                        </a:rPr>
                        <a:t>2025 demand</a:t>
                      </a:r>
                    </a:p>
                  </a:txBody>
                  <a:tcPr>
                    <a:solidFill>
                      <a:srgbClr val="FFFFFF"/>
                    </a:solidFill>
                  </a:tcPr>
                </a:tc>
                <a:tc>
                  <a:txBody>
                    <a:bodyPr/>
                    <a:lstStyle/>
                    <a:p>
                      <a:r>
                        <a:rPr sz="1350" b="0">
                          <a:solidFill>
                            <a:srgbClr val="11151A"/>
                          </a:solidFill>
                          <a:latin typeface="Lato"/>
                          <a:ea typeface="Lato"/>
                          <a:cs typeface="Lato"/>
                        </a:rPr>
                        <a:t>8.86</a:t>
                      </a:r>
                    </a:p>
                  </a:txBody>
                  <a:tcPr>
                    <a:solidFill>
                      <a:srgbClr val="FFFFFF"/>
                    </a:solidFill>
                  </a:tcPr>
                </a:tc>
                <a:tc>
                  <a:txBody>
                    <a:bodyPr/>
                    <a:lstStyle/>
                    <a:p>
                      <a:r>
                        <a:rPr sz="1350" b="0">
                          <a:solidFill>
                            <a:srgbClr val="11151A"/>
                          </a:solidFill>
                          <a:latin typeface="Lato"/>
                          <a:ea typeface="Lato"/>
                          <a:cs typeface="Lato"/>
                        </a:rPr>
                        <a:t>12.13</a:t>
                      </a:r>
                    </a:p>
                  </a:txBody>
                  <a:tcPr>
                    <a:solidFill>
                      <a:srgbClr val="FFFFFF"/>
                    </a:solidFill>
                  </a:tcPr>
                </a:tc>
                <a:tc>
                  <a:txBody>
                    <a:bodyPr/>
                    <a:lstStyle/>
                    <a:p>
                      <a:r>
                        <a:rPr sz="1350" b="0">
                          <a:solidFill>
                            <a:srgbClr val="11151A"/>
                          </a:solidFill>
                          <a:latin typeface="Lato"/>
                          <a:ea typeface="Lato"/>
                          <a:cs typeface="Lato"/>
                        </a:rPr>
                        <a:t>20.99</a:t>
                      </a:r>
                    </a:p>
                  </a:txBody>
                  <a:tcPr>
                    <a:solidFill>
                      <a:srgbClr val="FFFFFF"/>
                    </a:solidFill>
                  </a:tcPr>
                </a:tc>
                <a:extLst>
                  <a:ext uri="{0D108BD9-81ED-4DB2-BD59-A6C34878D82A}">
                    <a16:rowId xmlns:a16="http://schemas.microsoft.com/office/drawing/2014/main" val="10001"/>
                  </a:ext>
                </a:extLst>
              </a:tr>
              <a:tr h="536575">
                <a:tc>
                  <a:txBody>
                    <a:bodyPr/>
                    <a:lstStyle/>
                    <a:p>
                      <a:r>
                        <a:rPr sz="1350" b="1">
                          <a:solidFill>
                            <a:srgbClr val="0A2373"/>
                          </a:solidFill>
                          <a:latin typeface="Lato"/>
                          <a:ea typeface="Lato"/>
                          <a:cs typeface="Lato"/>
                        </a:rPr>
                        <a:t>Domestic production</a:t>
                      </a:r>
                    </a:p>
                  </a:txBody>
                  <a:tcPr>
                    <a:solidFill>
                      <a:srgbClr val="FFFFFF"/>
                    </a:solidFill>
                  </a:tcPr>
                </a:tc>
                <a:tc>
                  <a:txBody>
                    <a:bodyPr/>
                    <a:lstStyle/>
                    <a:p>
                      <a:r>
                        <a:rPr sz="1350" b="0">
                          <a:solidFill>
                            <a:srgbClr val="11151A"/>
                          </a:solidFill>
                          <a:latin typeface="Lato"/>
                          <a:ea typeface="Lato"/>
                          <a:cs typeface="Lato"/>
                        </a:rPr>
                        <a:t>3.20</a:t>
                      </a:r>
                    </a:p>
                  </a:txBody>
                  <a:tcPr>
                    <a:solidFill>
                      <a:srgbClr val="FFFFFF"/>
                    </a:solidFill>
                  </a:tcPr>
                </a:tc>
                <a:tc>
                  <a:txBody>
                    <a:bodyPr/>
                    <a:lstStyle/>
                    <a:p>
                      <a:r>
                        <a:rPr sz="1350" b="0">
                          <a:solidFill>
                            <a:srgbClr val="11151A"/>
                          </a:solidFill>
                          <a:latin typeface="Lato"/>
                          <a:ea typeface="Lato"/>
                          <a:cs typeface="Lato"/>
                        </a:rPr>
                        <a:t>2.60</a:t>
                      </a:r>
                    </a:p>
                  </a:txBody>
                  <a:tcPr>
                    <a:solidFill>
                      <a:srgbClr val="FFFFFF"/>
                    </a:solidFill>
                  </a:tcPr>
                </a:tc>
                <a:tc>
                  <a:txBody>
                    <a:bodyPr/>
                    <a:lstStyle/>
                    <a:p>
                      <a:r>
                        <a:rPr sz="1350" b="0">
                          <a:solidFill>
                            <a:srgbClr val="11151A"/>
                          </a:solidFill>
                          <a:latin typeface="Lato"/>
                          <a:ea typeface="Lato"/>
                          <a:cs typeface="Lato"/>
                        </a:rPr>
                        <a:t>5.80</a:t>
                      </a:r>
                    </a:p>
                  </a:txBody>
                  <a:tcPr>
                    <a:solidFill>
                      <a:srgbClr val="FFFFFF"/>
                    </a:solidFill>
                  </a:tcPr>
                </a:tc>
                <a:extLst>
                  <a:ext uri="{0D108BD9-81ED-4DB2-BD59-A6C34878D82A}">
                    <a16:rowId xmlns:a16="http://schemas.microsoft.com/office/drawing/2014/main" val="10002"/>
                  </a:ext>
                </a:extLst>
              </a:tr>
              <a:tr h="536575">
                <a:tc>
                  <a:txBody>
                    <a:bodyPr/>
                    <a:lstStyle/>
                    <a:p>
                      <a:r>
                        <a:rPr sz="1350" b="1">
                          <a:solidFill>
                            <a:srgbClr val="0A2373"/>
                          </a:solidFill>
                          <a:latin typeface="Lato"/>
                          <a:ea typeface="Lato"/>
                          <a:cs typeface="Lato"/>
                        </a:rPr>
                        <a:t>Gross customs imports</a:t>
                      </a:r>
                    </a:p>
                  </a:txBody>
                  <a:tcPr>
                    <a:solidFill>
                      <a:srgbClr val="FFFFFF"/>
                    </a:solidFill>
                  </a:tcPr>
                </a:tc>
                <a:tc>
                  <a:txBody>
                    <a:bodyPr/>
                    <a:lstStyle/>
                    <a:p>
                      <a:r>
                        <a:rPr sz="1350" b="0">
                          <a:solidFill>
                            <a:srgbClr val="11151A"/>
                          </a:solidFill>
                          <a:latin typeface="Lato"/>
                          <a:ea typeface="Lato"/>
                          <a:cs typeface="Lato"/>
                        </a:rPr>
                        <a:t>4.45</a:t>
                      </a:r>
                    </a:p>
                  </a:txBody>
                  <a:tcPr>
                    <a:solidFill>
                      <a:srgbClr val="FFFFFF"/>
                    </a:solidFill>
                  </a:tcPr>
                </a:tc>
                <a:tc>
                  <a:txBody>
                    <a:bodyPr/>
                    <a:lstStyle/>
                    <a:p>
                      <a:r>
                        <a:rPr sz="1350" b="0">
                          <a:solidFill>
                            <a:srgbClr val="11151A"/>
                          </a:solidFill>
                          <a:latin typeface="Lato"/>
                          <a:ea typeface="Lato"/>
                          <a:cs typeface="Lato"/>
                        </a:rPr>
                        <a:t>12.25</a:t>
                      </a:r>
                    </a:p>
                  </a:txBody>
                  <a:tcPr>
                    <a:solidFill>
                      <a:srgbClr val="FFFFFF"/>
                    </a:solidFill>
                  </a:tcPr>
                </a:tc>
                <a:tc>
                  <a:txBody>
                    <a:bodyPr/>
                    <a:lstStyle/>
                    <a:p>
                      <a:r>
                        <a:rPr sz="1350" b="0">
                          <a:solidFill>
                            <a:srgbClr val="11151A"/>
                          </a:solidFill>
                          <a:latin typeface="Lato"/>
                          <a:ea typeface="Lato"/>
                          <a:cs typeface="Lato"/>
                        </a:rPr>
                        <a:t>16.70</a:t>
                      </a:r>
                    </a:p>
                  </a:txBody>
                  <a:tcPr>
                    <a:solidFill>
                      <a:srgbClr val="FFFFFF"/>
                    </a:solidFill>
                  </a:tcPr>
                </a:tc>
                <a:extLst>
                  <a:ext uri="{0D108BD9-81ED-4DB2-BD59-A6C34878D82A}">
                    <a16:rowId xmlns:a16="http://schemas.microsoft.com/office/drawing/2014/main" val="10003"/>
                  </a:ext>
                </a:extLst>
              </a:tr>
              <a:tr h="536575">
                <a:tc>
                  <a:txBody>
                    <a:bodyPr/>
                    <a:lstStyle/>
                    <a:p>
                      <a:r>
                        <a:rPr sz="1350" b="1">
                          <a:solidFill>
                            <a:srgbClr val="0A2373"/>
                          </a:solidFill>
                          <a:latin typeface="Lato"/>
                          <a:ea typeface="Lato"/>
                          <a:cs typeface="Lato"/>
                        </a:rPr>
                        <a:t>Customs exports</a:t>
                      </a:r>
                    </a:p>
                  </a:txBody>
                  <a:tcPr>
                    <a:solidFill>
                      <a:srgbClr val="FFFFFF"/>
                    </a:solidFill>
                  </a:tcPr>
                </a:tc>
                <a:tc>
                  <a:txBody>
                    <a:bodyPr/>
                    <a:lstStyle/>
                    <a:p>
                      <a:r>
                        <a:rPr sz="1350" b="0">
                          <a:solidFill>
                            <a:srgbClr val="11151A"/>
                          </a:solidFill>
                          <a:latin typeface="Lato"/>
                          <a:ea typeface="Lato"/>
                          <a:cs typeface="Lato"/>
                        </a:rPr>
                        <a:t>0.80</a:t>
                      </a:r>
                    </a:p>
                  </a:txBody>
                  <a:tcPr>
                    <a:solidFill>
                      <a:srgbClr val="FFFFFF"/>
                    </a:solidFill>
                  </a:tcPr>
                </a:tc>
                <a:tc>
                  <a:txBody>
                    <a:bodyPr/>
                    <a:lstStyle/>
                    <a:p>
                      <a:r>
                        <a:rPr sz="1350" b="0">
                          <a:solidFill>
                            <a:srgbClr val="11151A"/>
                          </a:solidFill>
                          <a:latin typeface="Lato"/>
                          <a:ea typeface="Lato"/>
                          <a:cs typeface="Lato"/>
                        </a:rPr>
                        <a:t>0.75</a:t>
                      </a:r>
                    </a:p>
                  </a:txBody>
                  <a:tcPr>
                    <a:solidFill>
                      <a:srgbClr val="FFFFFF"/>
                    </a:solidFill>
                  </a:tcPr>
                </a:tc>
                <a:tc>
                  <a:txBody>
                    <a:bodyPr/>
                    <a:lstStyle/>
                    <a:p>
                      <a:r>
                        <a:rPr sz="1350" b="0">
                          <a:solidFill>
                            <a:srgbClr val="11151A"/>
                          </a:solidFill>
                          <a:latin typeface="Lato"/>
                          <a:ea typeface="Lato"/>
                          <a:cs typeface="Lato"/>
                        </a:rPr>
                        <a:t>1.55</a:t>
                      </a:r>
                    </a:p>
                  </a:txBody>
                  <a:tcPr>
                    <a:solidFill>
                      <a:srgbClr val="FFFFFF"/>
                    </a:solidFill>
                  </a:tcPr>
                </a:tc>
                <a:extLst>
                  <a:ext uri="{0D108BD9-81ED-4DB2-BD59-A6C34878D82A}">
                    <a16:rowId xmlns:a16="http://schemas.microsoft.com/office/drawing/2014/main" val="10004"/>
                  </a:ext>
                </a:extLst>
              </a:tr>
              <a:tr h="536575">
                <a:tc>
                  <a:txBody>
                    <a:bodyPr/>
                    <a:lstStyle/>
                    <a:p>
                      <a:r>
                        <a:rPr sz="1350" b="1">
                          <a:solidFill>
                            <a:srgbClr val="0A2373"/>
                          </a:solidFill>
                          <a:latin typeface="Lato"/>
                          <a:ea typeface="Lato"/>
                          <a:cs typeface="Lato"/>
                        </a:rPr>
                        <a:t>Supply plus net imports</a:t>
                      </a:r>
                    </a:p>
                  </a:txBody>
                  <a:tcPr>
                    <a:solidFill>
                      <a:srgbClr val="FFFFFF"/>
                    </a:solidFill>
                  </a:tcPr>
                </a:tc>
                <a:tc>
                  <a:txBody>
                    <a:bodyPr/>
                    <a:lstStyle/>
                    <a:p>
                      <a:r>
                        <a:rPr sz="1350" b="0">
                          <a:solidFill>
                            <a:srgbClr val="11151A"/>
                          </a:solidFill>
                          <a:latin typeface="Lato"/>
                          <a:ea typeface="Lato"/>
                          <a:cs typeface="Lato"/>
                        </a:rPr>
                        <a:t>6.85</a:t>
                      </a:r>
                    </a:p>
                  </a:txBody>
                  <a:tcPr>
                    <a:solidFill>
                      <a:srgbClr val="FFFFFF"/>
                    </a:solidFill>
                  </a:tcPr>
                </a:tc>
                <a:tc>
                  <a:txBody>
                    <a:bodyPr/>
                    <a:lstStyle/>
                    <a:p>
                      <a:r>
                        <a:rPr sz="1350" b="0">
                          <a:solidFill>
                            <a:srgbClr val="11151A"/>
                          </a:solidFill>
                          <a:latin typeface="Lato"/>
                          <a:ea typeface="Lato"/>
                          <a:cs typeface="Lato"/>
                        </a:rPr>
                        <a:t>14.10</a:t>
                      </a:r>
                    </a:p>
                  </a:txBody>
                  <a:tcPr>
                    <a:solidFill>
                      <a:srgbClr val="FFFFFF"/>
                    </a:solidFill>
                  </a:tcPr>
                </a:tc>
                <a:tc>
                  <a:txBody>
                    <a:bodyPr/>
                    <a:lstStyle/>
                    <a:p>
                      <a:r>
                        <a:rPr sz="1350" b="0">
                          <a:solidFill>
                            <a:srgbClr val="11151A"/>
                          </a:solidFill>
                          <a:latin typeface="Lato"/>
                          <a:ea typeface="Lato"/>
                          <a:cs typeface="Lato"/>
                        </a:rPr>
                        <a:t>20.95</a:t>
                      </a:r>
                    </a:p>
                  </a:txBody>
                  <a:tcPr>
                    <a:solidFill>
                      <a:srgbClr val="FFFFFF"/>
                    </a:solidFill>
                  </a:tcPr>
                </a:tc>
                <a:extLst>
                  <a:ext uri="{0D108BD9-81ED-4DB2-BD59-A6C34878D82A}">
                    <a16:rowId xmlns:a16="http://schemas.microsoft.com/office/drawing/2014/main" val="10005"/>
                  </a:ext>
                </a:extLst>
              </a:tr>
              <a:tr h="536575">
                <a:tc>
                  <a:txBody>
                    <a:bodyPr/>
                    <a:lstStyle/>
                    <a:p>
                      <a:r>
                        <a:rPr sz="1350" b="1">
                          <a:solidFill>
                            <a:srgbClr val="0A2373"/>
                          </a:solidFill>
                          <a:latin typeface="Lato"/>
                          <a:ea typeface="Lato"/>
                          <a:cs typeface="Lato"/>
                        </a:rPr>
                        <a:t>Unexplained availability less demand</a:t>
                      </a:r>
                    </a:p>
                  </a:txBody>
                  <a:tcPr>
                    <a:solidFill>
                      <a:srgbClr val="FFFFFF"/>
                    </a:solidFill>
                  </a:tcPr>
                </a:tc>
                <a:tc>
                  <a:txBody>
                    <a:bodyPr/>
                    <a:lstStyle/>
                    <a:p>
                      <a:r>
                        <a:rPr sz="1350" b="0">
                          <a:solidFill>
                            <a:srgbClr val="11151A"/>
                          </a:solidFill>
                          <a:latin typeface="Lato"/>
                          <a:ea typeface="Lato"/>
                          <a:cs typeface="Lato"/>
                        </a:rPr>
                        <a:t>-2.00</a:t>
                      </a:r>
                    </a:p>
                  </a:txBody>
                  <a:tcPr>
                    <a:solidFill>
                      <a:srgbClr val="FFFFFF"/>
                    </a:solidFill>
                  </a:tcPr>
                </a:tc>
                <a:tc>
                  <a:txBody>
                    <a:bodyPr/>
                    <a:lstStyle/>
                    <a:p>
                      <a:r>
                        <a:rPr sz="1350" b="0">
                          <a:solidFill>
                            <a:srgbClr val="11151A"/>
                          </a:solidFill>
                          <a:latin typeface="Lato"/>
                          <a:ea typeface="Lato"/>
                          <a:cs typeface="Lato"/>
                        </a:rPr>
                        <a:t>1.97</a:t>
                      </a:r>
                    </a:p>
                  </a:txBody>
                  <a:tcPr>
                    <a:solidFill>
                      <a:srgbClr val="FFFFFF"/>
                    </a:solidFill>
                  </a:tcPr>
                </a:tc>
                <a:tc>
                  <a:txBody>
                    <a:bodyPr/>
                    <a:lstStyle/>
                    <a:p>
                      <a:r>
                        <a:rPr sz="1350" b="0">
                          <a:solidFill>
                            <a:srgbClr val="11151A"/>
                          </a:solidFill>
                          <a:latin typeface="Lato"/>
                          <a:ea typeface="Lato"/>
                          <a:cs typeface="Lato"/>
                        </a:rPr>
                        <a:t>-0.03</a:t>
                      </a:r>
                    </a:p>
                  </a:txBody>
                  <a:tcPr>
                    <a:solidFill>
                      <a:srgbClr val="FFFFFF"/>
                    </a:solidFill>
                  </a:tcPr>
                </a:tc>
                <a:extLst>
                  <a:ext uri="{0D108BD9-81ED-4DB2-BD59-A6C34878D82A}">
                    <a16:rowId xmlns:a16="http://schemas.microsoft.com/office/drawing/2014/main" val="10006"/>
                  </a:ext>
                </a:extLst>
              </a:tr>
            </a:tbl>
          </a:graphicData>
        </a:graphic>
      </p:graphicFrame>
      <p:sp>
        <p:nvSpPr>
          <p:cNvPr id="50" name="Story implication">
            <a:extLst>
              <a:ext uri="{FF2B5EF4-FFF2-40B4-BE49-F238E27FC236}">
                <a16:creationId xmlns:a16="http://schemas.microsoft.com/office/drawing/2014/main" id="{6202B4E7-228E-4780-B40D-F357E0C5342B}"/>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5.8bn L override uses the original estimated production mix. Offsetting product differences remain visible; no product allocation is claimed as verified.</a:t>
            </a:r>
          </a:p>
        </p:txBody>
      </p:sp>
      <p:graphicFrame>
        <p:nvGraphicFramePr>
          <p:cNvPr id="5021"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conclusions are traceable to sources and a small set of explicit planning assumptions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23</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Source register: REG-SA-ANALYTICS-202510 and REG-SA-STORY-CASE-2025. Exception EXC-SA-ANALYTICS-202510; review before external use, expiry 12 November 2026.</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extLst>
              <p:ext uri="{D42A27DB-BD31-4B8C-83A1-F6EECF244321}">
                <p14:modId xmlns:p14="http://schemas.microsoft.com/office/powerpoint/2010/main" val="2278059194"/>
              </p:ext>
            </p:extLst>
          </p:nvPr>
        </p:nvGraphicFramePr>
        <p:xfrm>
          <a:off x="457200" y="1657350"/>
          <a:ext cx="10648950" cy="3619500"/>
        </p:xfrm>
        <a:graphic>
          <a:graphicData uri="http://schemas.openxmlformats.org/drawingml/2006/table">
            <a:tbl>
              <a:tblPr/>
              <a:tblGrid>
                <a:gridCol w="31432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6076950">
                  <a:extLst>
                    <a:ext uri="{9D8B030D-6E8A-4147-A177-3AD203B41FA5}">
                      <a16:colId xmlns:a16="http://schemas.microsoft.com/office/drawing/2014/main" val="20002"/>
                    </a:ext>
                  </a:extLst>
                </a:gridCol>
              </a:tblGrid>
              <a:tr h="400050">
                <a:tc>
                  <a:txBody>
                    <a:bodyPr/>
                    <a:lstStyle/>
                    <a:p>
                      <a:r>
                        <a:rPr sz="1275" b="1">
                          <a:solidFill>
                            <a:srgbClr val="0A2373"/>
                          </a:solidFill>
                          <a:latin typeface="Lato"/>
                          <a:ea typeface="Lato"/>
                          <a:cs typeface="Lato"/>
                        </a:rPr>
                        <a:t>Evidence / assumption</a:t>
                      </a:r>
                    </a:p>
                  </a:txBody>
                  <a:tcPr>
                    <a:solidFill>
                      <a:srgbClr val="F5F5F5"/>
                    </a:solidFill>
                  </a:tcPr>
                </a:tc>
                <a:tc>
                  <a:txBody>
                    <a:bodyPr/>
                    <a:lstStyle/>
                    <a:p>
                      <a:r>
                        <a:rPr sz="1275" b="1">
                          <a:solidFill>
                            <a:srgbClr val="0A2373"/>
                          </a:solidFill>
                          <a:latin typeface="Lato"/>
                          <a:ea typeface="Lato"/>
                          <a:cs typeface="Lato"/>
                        </a:rPr>
                        <a:t>Used on pages</a:t>
                      </a:r>
                    </a:p>
                  </a:txBody>
                  <a:tcPr>
                    <a:solidFill>
                      <a:srgbClr val="F5F5F5"/>
                    </a:solidFill>
                  </a:tcPr>
                </a:tc>
                <a:tc>
                  <a:txBody>
                    <a:bodyPr/>
                    <a:lstStyle/>
                    <a:p>
                      <a:r>
                        <a:rPr sz="1275" b="1">
                          <a:solidFill>
                            <a:srgbClr val="0A2373"/>
                          </a:solidFill>
                          <a:latin typeface="Lato"/>
                          <a:ea typeface="Lato"/>
                          <a:cs typeface="Lato"/>
                        </a:rPr>
                        <a:t>Basis / next validation</a:t>
                      </a:r>
                    </a:p>
                  </a:txBody>
                  <a:tcPr>
                    <a:solidFill>
                      <a:srgbClr val="F5F5F5"/>
                    </a:solidFill>
                  </a:tcPr>
                </a:tc>
                <a:extLst>
                  <a:ext uri="{0D108BD9-81ED-4DB2-BD59-A6C34878D82A}">
                    <a16:rowId xmlns:a16="http://schemas.microsoft.com/office/drawing/2014/main" val="10000"/>
                  </a:ext>
                </a:extLst>
              </a:tr>
              <a:tr h="643890">
                <a:tc>
                  <a:txBody>
                    <a:bodyPr/>
                    <a:lstStyle/>
                    <a:p>
                      <a:r>
                        <a:rPr sz="1275" b="1">
                          <a:solidFill>
                            <a:srgbClr val="0A2373"/>
                          </a:solidFill>
                          <a:latin typeface="Lato"/>
                          <a:ea typeface="Lato"/>
                          <a:cs typeface="Lato"/>
                        </a:rPr>
                        <a:t>National sales and sector activity</a:t>
                      </a:r>
                    </a:p>
                  </a:txBody>
                  <a:tcPr>
                    <a:solidFill>
                      <a:srgbClr val="FFFFFF"/>
                    </a:solidFill>
                  </a:tcPr>
                </a:tc>
                <a:tc>
                  <a:txBody>
                    <a:bodyPr/>
                    <a:lstStyle/>
                    <a:p>
                      <a:r>
                        <a:rPr lang="en-ZA" sz="1275" b="0">
                          <a:solidFill>
                            <a:srgbClr val="11151A"/>
                          </a:solidFill>
                          <a:latin typeface="Lato"/>
                          <a:ea typeface="Lato"/>
                          <a:cs typeface="Lato"/>
                        </a:rPr>
                        <a:t>3, 5–8</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Department sales; energy balances; Stats SA. Manish: sales coverage and segment boundaries</a:t>
                      </a:r>
                    </a:p>
                  </a:txBody>
                  <a:tcPr>
                    <a:solidFill>
                      <a:srgbClr val="FFFFFF"/>
                    </a:solidFill>
                  </a:tcPr>
                </a:tc>
                <a:extLst>
                  <a:ext uri="{0D108BD9-81ED-4DB2-BD59-A6C34878D82A}">
                    <a16:rowId xmlns:a16="http://schemas.microsoft.com/office/drawing/2014/main" val="10001"/>
                  </a:ext>
                </a:extLst>
              </a:tr>
              <a:tr h="643890">
                <a:tc>
                  <a:txBody>
                    <a:bodyPr/>
                    <a:lstStyle/>
                    <a:p>
                      <a:r>
                        <a:rPr sz="1275" b="1">
                          <a:solidFill>
                            <a:srgbClr val="0A2373"/>
                          </a:solidFill>
                          <a:latin typeface="Lato"/>
                          <a:ea typeface="Lato"/>
                          <a:cs typeface="Lato"/>
                        </a:rPr>
                        <a:t>Power and freight</a:t>
                      </a:r>
                    </a:p>
                  </a:txBody>
                  <a:tcPr>
                    <a:solidFill>
                      <a:srgbClr val="FFFFFF"/>
                    </a:solidFill>
                  </a:tcPr>
                </a:tc>
                <a:tc>
                  <a:txBody>
                    <a:bodyPr/>
                    <a:lstStyle/>
                    <a:p>
                      <a:r>
                        <a:rPr lang="en-ZA" sz="1275" b="0">
                          <a:solidFill>
                            <a:srgbClr val="11151A"/>
                          </a:solidFill>
                          <a:latin typeface="Lato"/>
                          <a:ea typeface="Lato"/>
                          <a:cs typeface="Lato"/>
                        </a:rPr>
                        <a:t>4, 9–12</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Eskom / IPP and Stats SA. Nigel: backup demand, eligible rail shift and efficiency</a:t>
                      </a:r>
                    </a:p>
                  </a:txBody>
                  <a:tcPr>
                    <a:solidFill>
                      <a:srgbClr val="FFFFFF"/>
                    </a:solidFill>
                  </a:tcPr>
                </a:tc>
                <a:extLst>
                  <a:ext uri="{0D108BD9-81ED-4DB2-BD59-A6C34878D82A}">
                    <a16:rowId xmlns:a16="http://schemas.microsoft.com/office/drawing/2014/main" val="10002"/>
                  </a:ext>
                </a:extLst>
              </a:tr>
              <a:tr h="643890">
                <a:tc>
                  <a:txBody>
                    <a:bodyPr/>
                    <a:lstStyle/>
                    <a:p>
                      <a:r>
                        <a:rPr sz="1275" b="1">
                          <a:solidFill>
                            <a:srgbClr val="0A2373"/>
                          </a:solidFill>
                          <a:latin typeface="Lato"/>
                          <a:ea typeface="Lato"/>
                          <a:cs typeface="Lato"/>
                        </a:rPr>
                        <a:t>Domestic supply and imports</a:t>
                      </a:r>
                    </a:p>
                  </a:txBody>
                  <a:tcPr>
                    <a:solidFill>
                      <a:srgbClr val="FFFFFF"/>
                    </a:solidFill>
                  </a:tcPr>
                </a:tc>
                <a:tc>
                  <a:txBody>
                    <a:bodyPr/>
                    <a:lstStyle/>
                    <a:p>
                      <a:r>
                        <a:rPr lang="en-ZA" sz="1275" b="0">
                          <a:solidFill>
                            <a:srgbClr val="11151A"/>
                          </a:solidFill>
                          <a:latin typeface="Lato"/>
                          <a:ea typeface="Lato"/>
                          <a:cs typeface="Lato"/>
                        </a:rPr>
                        <a:t>13–15, 22</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5.8bn L user-directed supply; SARS trade. Manish: product-level reconciliation</a:t>
                      </a:r>
                    </a:p>
                  </a:txBody>
                  <a:tcPr>
                    <a:solidFill>
                      <a:srgbClr val="FFFFFF"/>
                    </a:solidFill>
                  </a:tcPr>
                </a:tc>
                <a:extLst>
                  <a:ext uri="{0D108BD9-81ED-4DB2-BD59-A6C34878D82A}">
                    <a16:rowId xmlns:a16="http://schemas.microsoft.com/office/drawing/2014/main" val="10003"/>
                  </a:ext>
                </a:extLst>
              </a:tr>
              <a:tr h="643890">
                <a:tc>
                  <a:txBody>
                    <a:bodyPr/>
                    <a:lstStyle/>
                    <a:p>
                      <a:r>
                        <a:rPr sz="1275" b="1">
                          <a:solidFill>
                            <a:srgbClr val="0A2373"/>
                          </a:solidFill>
                          <a:latin typeface="Lato"/>
                          <a:ea typeface="Lato"/>
                          <a:cs typeface="Lato"/>
                        </a:rPr>
                        <a:t>Mozambique infrastructure and costs</a:t>
                      </a:r>
                    </a:p>
                  </a:txBody>
                  <a:tcPr>
                    <a:solidFill>
                      <a:srgbClr val="FFFFFF"/>
                    </a:solidFill>
                  </a:tcPr>
                </a:tc>
                <a:tc>
                  <a:txBody>
                    <a:bodyPr/>
                    <a:lstStyle/>
                    <a:p>
                      <a:r>
                        <a:rPr lang="en-ZA" sz="1275" b="0">
                          <a:solidFill>
                            <a:srgbClr val="11151A"/>
                          </a:solidFill>
                          <a:latin typeface="Lato"/>
                          <a:ea typeface="Lato"/>
                          <a:cs typeface="Lato"/>
                        </a:rPr>
                        <a:t>16–17</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Operator disclosures; authored cost sensitivities. Nigel: comparable quotes and access</a:t>
                      </a:r>
                    </a:p>
                  </a:txBody>
                  <a:tcPr>
                    <a:solidFill>
                      <a:srgbClr val="FFFFFF"/>
                    </a:solidFill>
                  </a:tcPr>
                </a:tc>
                <a:extLst>
                  <a:ext uri="{0D108BD9-81ED-4DB2-BD59-A6C34878D82A}">
                    <a16:rowId xmlns:a16="http://schemas.microsoft.com/office/drawing/2014/main" val="10004"/>
                  </a:ext>
                </a:extLst>
              </a:tr>
              <a:tr h="643890">
                <a:tc>
                  <a:txBody>
                    <a:bodyPr/>
                    <a:lstStyle/>
                    <a:p>
                      <a:r>
                        <a:rPr sz="1275" b="1">
                          <a:solidFill>
                            <a:srgbClr val="0A2373"/>
                          </a:solidFill>
                          <a:latin typeface="Lato"/>
                          <a:ea typeface="Lato"/>
                          <a:cs typeface="Lato"/>
                        </a:rPr>
                        <a:t>Vopak capture and handling</a:t>
                      </a:r>
                    </a:p>
                  </a:txBody>
                  <a:tcPr>
                    <a:solidFill>
                      <a:srgbClr val="FFFFFF"/>
                    </a:solidFill>
                  </a:tcPr>
                </a:tc>
                <a:tc>
                  <a:txBody>
                    <a:bodyPr/>
                    <a:lstStyle/>
                    <a:p>
                      <a:r>
                        <a:rPr lang="en-ZA" sz="1275" b="0">
                          <a:solidFill>
                            <a:srgbClr val="11151A"/>
                          </a:solidFill>
                          <a:latin typeface="Lato"/>
                          <a:ea typeface="Lato"/>
                          <a:cs typeface="Lato"/>
                        </a:rPr>
                        <a:t>18–20</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Registered illustrative capture and working tanks. Vopak/Nigel: contracts and operating limits</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3BA3BE4C-17D1-4700-BAAC-B32D6A0ECC61}"/>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Planning assumptions remain editable in workbook v02. Source observations, estimates and sensitivities retain separate labels.</a:t>
            </a:r>
          </a:p>
        </p:txBody>
      </p:sp>
      <p:graphicFrame>
        <p:nvGraphicFramePr>
          <p:cNvPr id="5022"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7038</Words>
  <Application>Microsoft Office PowerPoint</Application>
  <DocSecurity>0</DocSecurity>
  <PresentationFormat>Custom</PresentationFormat>
  <Paragraphs>682</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Lato</vt:lpstr>
      <vt:lpstr>Arial</vt:lpstr>
      <vt:lpstr>Vopak Theme</vt:lpstr>
      <vt:lpstr>PowerPoint Presentation</vt:lpstr>
      <vt:lpstr>South Africa remains an import-led fuel market, making customer capture Vopak’s priority</vt:lpstr>
      <vt:lpstr>Our 2025 baseline is 21.0bn litres, with road use accounting for most demand</vt:lpstr>
      <vt:lpstr>Demand stays broadly flat in our base case; supply and routes determine where imports enter</vt:lpstr>
      <vt:lpstr>Petrol has declined since 2013, while diesel has sustained the market</vt:lpstr>
      <vt:lpstr>Road use dominates the baseline, with meaningful diesel demand outside transport</vt:lpstr>
      <vt:lpstr>Agricultural demand rebounds in 2025 while mining and manufacturing remain broadly flat</vt:lpstr>
      <vt:lpstr>Efficiency offsets activity growth in the petrol baseline</vt:lpstr>
      <vt:lpstr>Eskom fuel use fell by about 40% in FY2025 as supply performance improved</vt:lpstr>
      <vt:lpstr>Further power recovery removes 0.54bn litres in the 2030 base case</vt:lpstr>
      <vt:lpstr>Road still carries most reported freight despite the recent recovery in rail volumes</vt:lpstr>
      <vt:lpstr>A 7.5% shift of road-freight activity to rail saves 0.33bn litres in the base case</vt:lpstr>
      <vt:lpstr>The 5.8bn-litre production assumption leaves a gross import requirement of about 16.7bn litres</vt:lpstr>
      <vt:lpstr>Refinery recovery is the largest downside risk to the import requirement</vt:lpstr>
      <vt:lpstr>Base-case imports remain near 16.6bn litres; refinery recovery creates a much lower outcome</vt:lpstr>
      <vt:lpstr>Matola provides an existing alternative gateway; new gas projects have a different role</vt:lpstr>
      <vt:lpstr>Matola needs a landed-price or service advantage to offset border and logistics costs</vt:lpstr>
      <vt:lpstr>Vopak’s capture depends on the accessible share of Durban imports</vt:lpstr>
      <vt:lpstr>The illustrative capture case fits the tank-turn screen, making usable capacity the next test</vt:lpstr>
      <vt:lpstr>The market supports an import platform; customer capture and capacity constraints govern investment</vt:lpstr>
      <vt:lpstr>HG’s South Africa storyline</vt:lpstr>
      <vt:lpstr>The national supply assumption closes the total balance but leaves the product mix unresolved</vt:lpstr>
      <vt:lpstr>The conclusions are traceable to sources and a small set of explicit planning assumptions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Nigel Zhuwaki</cp:lastModifiedBy>
  <cp:revision>2</cp:revision>
  <dcterms:created xsi:type="dcterms:W3CDTF">2026-10-11T10:41:34Z</dcterms:created>
  <dcterms:modified xsi:type="dcterms:W3CDTF">2026-10-11T11:22:40Z</dcterms:modified>
</cp:coreProperties>
</file>