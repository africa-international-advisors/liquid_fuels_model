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diagrams/v32_s2_data1.xml" ContentType="application/vnd.openxmlformats-officedocument.drawingml.diagramData+xml"/>
  <Override PartName="/ppt/diagrams/v32_s2_layout1.xml" ContentType="application/vnd.openxmlformats-officedocument.drawingml.diagramLayout+xml"/>
  <Override PartName="/ppt/diagrams/v32_s2_quickStyle1.xml" ContentType="application/vnd.openxmlformats-officedocument.drawingml.diagramStyle+xml"/>
  <Override PartName="/ppt/diagrams/v32_s2_colors1.xml" ContentType="application/vnd.openxmlformats-officedocument.drawingml.diagramColors+xml"/>
  <Override PartName="/ppt/diagrams/v32_s2_drawing1.xml" ContentType="application/vnd.ms-office.drawingml.diagramDrawing+xml"/>
  <Override PartName="/ppt/diagrams/v32_s3_data1.xml" ContentType="application/vnd.openxmlformats-officedocument.drawingml.diagramData+xml"/>
  <Override PartName="/ppt/diagrams/v32_s3_layout1.xml" ContentType="application/vnd.openxmlformats-officedocument.drawingml.diagramLayout+xml"/>
  <Override PartName="/ppt/diagrams/v32_s3_quickStyle1.xml" ContentType="application/vnd.openxmlformats-officedocument.drawingml.diagramStyle+xml"/>
  <Override PartName="/ppt/diagrams/v32_s3_colors1.xml" ContentType="application/vnd.openxmlformats-officedocument.drawingml.diagramColors+xml"/>
  <Override PartName="/ppt/diagrams/v32_s3_drawing1.xml" ContentType="application/vnd.ms-office.drawingml.diagramDrawing+xml"/>
  <Override PartName="/ppt/diagrams/v32_s4_data1.xml" ContentType="application/vnd.openxmlformats-officedocument.drawingml.diagramData+xml"/>
  <Override PartName="/ppt/diagrams/v32_s4_layout1.xml" ContentType="application/vnd.openxmlformats-officedocument.drawingml.diagramLayout+xml"/>
  <Override PartName="/ppt/diagrams/v32_s4_quickStyle1.xml" ContentType="application/vnd.openxmlformats-officedocument.drawingml.diagramStyle+xml"/>
  <Override PartName="/ppt/diagrams/v32_s4_colors1.xml" ContentType="application/vnd.openxmlformats-officedocument.drawingml.diagramColors+xml"/>
  <Override PartName="/ppt/diagrams/v32_s4_drawing1.xml" ContentType="application/vnd.ms-office.drawingml.diagramDrawing+xml"/>
  <Override PartName="/ppt/diagrams/v32_s5_data1.xml" ContentType="application/vnd.openxmlformats-officedocument.drawingml.diagramData+xml"/>
  <Override PartName="/ppt/diagrams/v32_s5_layout1.xml" ContentType="application/vnd.openxmlformats-officedocument.drawingml.diagramLayout+xml"/>
  <Override PartName="/ppt/diagrams/v32_s5_quickStyle1.xml" ContentType="application/vnd.openxmlformats-officedocument.drawingml.diagramStyle+xml"/>
  <Override PartName="/ppt/diagrams/v32_s5_colors1.xml" ContentType="application/vnd.openxmlformats-officedocument.drawingml.diagramColors+xml"/>
  <Override PartName="/ppt/diagrams/v32_s5_drawing1.xml" ContentType="application/vnd.ms-office.drawingml.diagramDrawing+xml"/>
  <Override PartName="/ppt/diagrams/v32_s6_data1.xml" ContentType="application/vnd.openxmlformats-officedocument.drawingml.diagramData+xml"/>
  <Override PartName="/ppt/diagrams/v32_s6_layout1.xml" ContentType="application/vnd.openxmlformats-officedocument.drawingml.diagramLayout+xml"/>
  <Override PartName="/ppt/diagrams/v32_s6_quickStyle1.xml" ContentType="application/vnd.openxmlformats-officedocument.drawingml.diagramStyle+xml"/>
  <Override PartName="/ppt/diagrams/v32_s6_colors1.xml" ContentType="application/vnd.openxmlformats-officedocument.drawingml.diagramColors+xml"/>
  <Override PartName="/ppt/diagrams/v32_s6_drawing1.xml" ContentType="application/vnd.ms-office.drawingml.diagramDrawing+xml"/>
  <Override PartName="/ppt/diagrams/v32_s7_data1.xml" ContentType="application/vnd.openxmlformats-officedocument.drawingml.diagramData+xml"/>
  <Override PartName="/ppt/diagrams/v32_s7_layout1.xml" ContentType="application/vnd.openxmlformats-officedocument.drawingml.diagramLayout+xml"/>
  <Override PartName="/ppt/diagrams/v32_s7_quickStyle1.xml" ContentType="application/vnd.openxmlformats-officedocument.drawingml.diagramStyle+xml"/>
  <Override PartName="/ppt/diagrams/v32_s7_colors1.xml" ContentType="application/vnd.openxmlformats-officedocument.drawingml.diagramColors+xml"/>
  <Override PartName="/ppt/diagrams/v32_s7_drawing1.xml" ContentType="application/vnd.ms-office.drawingml.diagramDrawing+xml"/>
  <Override PartName="/ppt/diagrams/v32_s8_data1.xml" ContentType="application/vnd.openxmlformats-officedocument.drawingml.diagramData+xml"/>
  <Override PartName="/ppt/diagrams/v32_s8_layout1.xml" ContentType="application/vnd.openxmlformats-officedocument.drawingml.diagramLayout+xml"/>
  <Override PartName="/ppt/diagrams/v32_s8_quickStyle1.xml" ContentType="application/vnd.openxmlformats-officedocument.drawingml.diagramStyle+xml"/>
  <Override PartName="/ppt/diagrams/v32_s8_colors1.xml" ContentType="application/vnd.openxmlformats-officedocument.drawingml.diagramColors+xml"/>
  <Override PartName="/ppt/diagrams/v32_s8_drawing1.xml" ContentType="application/vnd.ms-office.drawingml.diagramDrawing+xml"/>
  <Override PartName="/ppt/diagrams/v32_s9_data1.xml" ContentType="application/vnd.openxmlformats-officedocument.drawingml.diagramData+xml"/>
  <Override PartName="/ppt/diagrams/v32_s9_layout1.xml" ContentType="application/vnd.openxmlformats-officedocument.drawingml.diagramLayout+xml"/>
  <Override PartName="/ppt/diagrams/v32_s9_quickStyle1.xml" ContentType="application/vnd.openxmlformats-officedocument.drawingml.diagramStyle+xml"/>
  <Override PartName="/ppt/diagrams/v32_s9_colors1.xml" ContentType="application/vnd.openxmlformats-officedocument.drawingml.diagramColors+xml"/>
  <Override PartName="/ppt/diagrams/v32_s9_drawing1.xml" ContentType="application/vnd.ms-office.drawingml.diagramDrawing+xml"/>
  <Override PartName="/ppt/diagrams/v32_s10_data1.xml" ContentType="application/vnd.openxmlformats-officedocument.drawingml.diagramData+xml"/>
  <Override PartName="/ppt/diagrams/v32_s10_layout1.xml" ContentType="application/vnd.openxmlformats-officedocument.drawingml.diagramLayout+xml"/>
  <Override PartName="/ppt/diagrams/v32_s10_quickStyle1.xml" ContentType="application/vnd.openxmlformats-officedocument.drawingml.diagramStyle+xml"/>
  <Override PartName="/ppt/diagrams/v32_s10_colors1.xml" ContentType="application/vnd.openxmlformats-officedocument.drawingml.diagramColors+xml"/>
  <Override PartName="/ppt/diagrams/v32_s10_drawing1.xml" ContentType="application/vnd.ms-office.drawingml.diagramDrawing+xml"/>
  <Override PartName="/ppt/diagrams/v32_s11_data1.xml" ContentType="application/vnd.openxmlformats-officedocument.drawingml.diagramData+xml"/>
  <Override PartName="/ppt/diagrams/v32_s11_layout1.xml" ContentType="application/vnd.openxmlformats-officedocument.drawingml.diagramLayout+xml"/>
  <Override PartName="/ppt/diagrams/v32_s11_quickStyle1.xml" ContentType="application/vnd.openxmlformats-officedocument.drawingml.diagramStyle+xml"/>
  <Override PartName="/ppt/diagrams/v32_s11_colors1.xml" ContentType="application/vnd.openxmlformats-officedocument.drawingml.diagramColors+xml"/>
  <Override PartName="/ppt/diagrams/v32_s11_drawing1.xml" ContentType="application/vnd.ms-office.drawingml.diagramDrawing+xml"/>
  <Override PartName="/ppt/diagrams/v32_s12_data1.xml" ContentType="application/vnd.openxmlformats-officedocument.drawingml.diagramData+xml"/>
  <Override PartName="/ppt/diagrams/v32_s12_layout1.xml" ContentType="application/vnd.openxmlformats-officedocument.drawingml.diagramLayout+xml"/>
  <Override PartName="/ppt/diagrams/v32_s12_quickStyle1.xml" ContentType="application/vnd.openxmlformats-officedocument.drawingml.diagramStyle+xml"/>
  <Override PartName="/ppt/diagrams/v32_s12_colors1.xml" ContentType="application/vnd.openxmlformats-officedocument.drawingml.diagramColors+xml"/>
  <Override PartName="/ppt/diagrams/v32_s12_drawing1.xml" ContentType="application/vnd.ms-office.drawingml.diagramDrawing+xml"/>
  <Override PartName="/ppt/diagrams/v32_s13_data1.xml" ContentType="application/vnd.openxmlformats-officedocument.drawingml.diagramData+xml"/>
  <Override PartName="/ppt/diagrams/v32_s13_layout1.xml" ContentType="application/vnd.openxmlformats-officedocument.drawingml.diagramLayout+xml"/>
  <Override PartName="/ppt/diagrams/v32_s13_quickStyle1.xml" ContentType="application/vnd.openxmlformats-officedocument.drawingml.diagramStyle+xml"/>
  <Override PartName="/ppt/diagrams/v32_s13_colors1.xml" ContentType="application/vnd.openxmlformats-officedocument.drawingml.diagramColors+xml"/>
  <Override PartName="/ppt/diagrams/v32_s13_drawing1.xml" ContentType="application/vnd.ms-office.drawingml.diagramDrawing+xml"/>
  <Override PartName="/ppt/diagrams/v32_s14_data1.xml" ContentType="application/vnd.openxmlformats-officedocument.drawingml.diagramData+xml"/>
  <Override PartName="/ppt/diagrams/v32_s14_layout1.xml" ContentType="application/vnd.openxmlformats-officedocument.drawingml.diagramLayout+xml"/>
  <Override PartName="/ppt/diagrams/v32_s14_quickStyle1.xml" ContentType="application/vnd.openxmlformats-officedocument.drawingml.diagramStyle+xml"/>
  <Override PartName="/ppt/diagrams/v32_s14_colors1.xml" ContentType="application/vnd.openxmlformats-officedocument.drawingml.diagramColors+xml"/>
  <Override PartName="/ppt/diagrams/v32_s14_drawing1.xml" ContentType="application/vnd.ms-office.drawingml.diagramDrawing+xml"/>
  <Override PartName="/ppt/diagrams/v32_s15_data1.xml" ContentType="application/vnd.openxmlformats-officedocument.drawingml.diagramData+xml"/>
  <Override PartName="/ppt/diagrams/v32_s15_layout1.xml" ContentType="application/vnd.openxmlformats-officedocument.drawingml.diagramLayout+xml"/>
  <Override PartName="/ppt/diagrams/v32_s15_quickStyle1.xml" ContentType="application/vnd.openxmlformats-officedocument.drawingml.diagramStyle+xml"/>
  <Override PartName="/ppt/diagrams/v32_s15_colors1.xml" ContentType="application/vnd.openxmlformats-officedocument.drawingml.diagramColors+xml"/>
  <Override PartName="/ppt/diagrams/v32_s15_drawing1.xml" ContentType="application/vnd.ms-office.drawingml.diagramDrawing+xml"/>
  <Override PartName="/ppt/diagrams/v32_s16_data1.xml" ContentType="application/vnd.openxmlformats-officedocument.drawingml.diagramData+xml"/>
  <Override PartName="/ppt/diagrams/v32_s16_layout1.xml" ContentType="application/vnd.openxmlformats-officedocument.drawingml.diagramLayout+xml"/>
  <Override PartName="/ppt/diagrams/v32_s16_quickStyle1.xml" ContentType="application/vnd.openxmlformats-officedocument.drawingml.diagramStyle+xml"/>
  <Override PartName="/ppt/diagrams/v32_s16_colors1.xml" ContentType="application/vnd.openxmlformats-officedocument.drawingml.diagramColors+xml"/>
  <Override PartName="/ppt/diagrams/v32_s16_drawing1.xml" ContentType="application/vnd.ms-office.drawingml.diagramDrawing+xml"/>
  <Override PartName="/ppt/diagrams/v32_s17_data1.xml" ContentType="application/vnd.openxmlformats-officedocument.drawingml.diagramData+xml"/>
  <Override PartName="/ppt/diagrams/v32_s17_layout1.xml" ContentType="application/vnd.openxmlformats-officedocument.drawingml.diagramLayout+xml"/>
  <Override PartName="/ppt/diagrams/v32_s17_quickStyle1.xml" ContentType="application/vnd.openxmlformats-officedocument.drawingml.diagramStyle+xml"/>
  <Override PartName="/ppt/diagrams/v32_s17_colors1.xml" ContentType="application/vnd.openxmlformats-officedocument.drawingml.diagramColors+xml"/>
  <Override PartName="/ppt/diagrams/v32_s17_drawing1.xml" ContentType="application/vnd.ms-office.drawingml.diagramDrawing+xml"/>
  <Override PartName="/ppt/diagrams/v32_s18_data1.xml" ContentType="application/vnd.openxmlformats-officedocument.drawingml.diagramData+xml"/>
  <Override PartName="/ppt/diagrams/v32_s18_layout1.xml" ContentType="application/vnd.openxmlformats-officedocument.drawingml.diagramLayout+xml"/>
  <Override PartName="/ppt/diagrams/v32_s18_quickStyle1.xml" ContentType="application/vnd.openxmlformats-officedocument.drawingml.diagramStyle+xml"/>
  <Override PartName="/ppt/diagrams/v32_s18_colors1.xml" ContentType="application/vnd.openxmlformats-officedocument.drawingml.diagramColors+xml"/>
  <Override PartName="/ppt/diagrams/v32_s18_drawing1.xml" ContentType="application/vnd.ms-office.drawingml.diagramDrawing+xml"/>
  <Override PartName="/ppt/diagrams/v32_s19_data1.xml" ContentType="application/vnd.openxmlformats-officedocument.drawingml.diagramData+xml"/>
  <Override PartName="/ppt/diagrams/v32_s19_layout1.xml" ContentType="application/vnd.openxmlformats-officedocument.drawingml.diagramLayout+xml"/>
  <Override PartName="/ppt/diagrams/v32_s19_quickStyle1.xml" ContentType="application/vnd.openxmlformats-officedocument.drawingml.diagramStyle+xml"/>
  <Override PartName="/ppt/diagrams/v32_s19_colors1.xml" ContentType="application/vnd.openxmlformats-officedocument.drawingml.diagramColors+xml"/>
  <Override PartName="/ppt/diagrams/v32_s19_drawing1.xml" ContentType="application/vnd.ms-office.drawingml.diagramDrawing+xml"/>
  <Override PartName="/ppt/diagrams/v32_s20_data1.xml" ContentType="application/vnd.openxmlformats-officedocument.drawingml.diagramData+xml"/>
  <Override PartName="/ppt/diagrams/v32_s20_layout1.xml" ContentType="application/vnd.openxmlformats-officedocument.drawingml.diagramLayout+xml"/>
  <Override PartName="/ppt/diagrams/v32_s20_quickStyle1.xml" ContentType="application/vnd.openxmlformats-officedocument.drawingml.diagramStyle+xml"/>
  <Override PartName="/ppt/diagrams/v32_s20_colors1.xml" ContentType="application/vnd.openxmlformats-officedocument.drawingml.diagramColors+xml"/>
  <Override PartName="/ppt/diagrams/v32_s20_drawing1.xml" ContentType="application/vnd.ms-office.drawingml.diagramDrawing+xml"/>
  <Override PartName="/ppt/diagrams/v32_s21_data1.xml" ContentType="application/vnd.openxmlformats-officedocument.drawingml.diagramData+xml"/>
  <Override PartName="/ppt/diagrams/v32_s21_layout1.xml" ContentType="application/vnd.openxmlformats-officedocument.drawingml.diagramLayout+xml"/>
  <Override PartName="/ppt/diagrams/v32_s21_quickStyle1.xml" ContentType="application/vnd.openxmlformats-officedocument.drawingml.diagramStyle+xml"/>
  <Override PartName="/ppt/diagrams/v32_s21_colors1.xml" ContentType="application/vnd.openxmlformats-officedocument.drawingml.diagramColors+xml"/>
  <Override PartName="/ppt/diagrams/v32_s21_drawing1.xml" ContentType="application/vnd.ms-office.drawingml.diagramDrawing+xml"/>
  <Override PartName="/ppt/diagrams/v32_s22_data1.xml" ContentType="application/vnd.openxmlformats-officedocument.drawingml.diagramData+xml"/>
  <Override PartName="/ppt/diagrams/v32_s22_layout1.xml" ContentType="application/vnd.openxmlformats-officedocument.drawingml.diagramLayout+xml"/>
  <Override PartName="/ppt/diagrams/v32_s22_quickStyle1.xml" ContentType="application/vnd.openxmlformats-officedocument.drawingml.diagramStyle+xml"/>
  <Override PartName="/ppt/diagrams/v32_s22_colors1.xml" ContentType="application/vnd.openxmlformats-officedocument.drawingml.diagramColors+xml"/>
  <Override PartName="/ppt/diagrams/v32_s22_drawing1.xml" ContentType="application/vnd.ms-office.drawingml.diagramDrawing+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826800e09374688" /><Relationship Type="http://schemas.openxmlformats.org/officeDocument/2006/relationships/extended-properties" Target="/docProps/app.xml" Id="R2ea2a95efccc40c8" /><Relationship Type="http://schemas.openxmlformats.org/officeDocument/2006/relationships/officeDocument" Target="/ppt/presentation.xml" Id="Rd1ea009dab76469a"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59c506c25138452e"/>
  </p:sldMasterIdLst>
  <p:notesMasterIdLst>
    <p:notesMasterId xmlns:r="http://schemas.openxmlformats.org/officeDocument/2006/relationships" r:id="Rf322f6ebe3f54fa0"/>
  </p:notesMasterIdLst>
  <p:sldIdLst>
    <p:sldId xmlns:r="http://schemas.openxmlformats.org/officeDocument/2006/relationships" id="256" r:id="R8e7d80ea1802437f"/>
    <p:sldId xmlns:r="http://schemas.openxmlformats.org/officeDocument/2006/relationships" id="257" r:id="Refb1e02ed30b490b"/>
    <p:sldId xmlns:r="http://schemas.openxmlformats.org/officeDocument/2006/relationships" id="258" r:id="Rbbce6f7e69a049aa"/>
    <p:sldId xmlns:r="http://schemas.openxmlformats.org/officeDocument/2006/relationships" id="259" r:id="R964a214af69f4bdf"/>
    <p:sldId xmlns:r="http://schemas.openxmlformats.org/officeDocument/2006/relationships" id="260" r:id="Rbfa9c09d82cd4bd4"/>
    <p:sldId xmlns:r="http://schemas.openxmlformats.org/officeDocument/2006/relationships" id="261" r:id="R8b443205189b4301"/>
    <p:sldId xmlns:r="http://schemas.openxmlformats.org/officeDocument/2006/relationships" id="262" r:id="R9674158891ee487f"/>
    <p:sldId xmlns:r="http://schemas.openxmlformats.org/officeDocument/2006/relationships" id="263" r:id="R13c1152ad5894457"/>
    <p:sldId xmlns:r="http://schemas.openxmlformats.org/officeDocument/2006/relationships" id="264" r:id="R49c1408f2de8405b"/>
    <p:sldId xmlns:r="http://schemas.openxmlformats.org/officeDocument/2006/relationships" id="265" r:id="Re92886e0d41a4e0f"/>
    <p:sldId xmlns:r="http://schemas.openxmlformats.org/officeDocument/2006/relationships" id="266" r:id="R3ffba0dbc0c4440d"/>
    <p:sldId xmlns:r="http://schemas.openxmlformats.org/officeDocument/2006/relationships" id="267" r:id="R251c0e0bf5a742bf"/>
    <p:sldId xmlns:r="http://schemas.openxmlformats.org/officeDocument/2006/relationships" id="268" r:id="R2e47ea1c50604b99"/>
    <p:sldId xmlns:r="http://schemas.openxmlformats.org/officeDocument/2006/relationships" id="269" r:id="Rf88bca8029e04442"/>
    <p:sldId xmlns:r="http://schemas.openxmlformats.org/officeDocument/2006/relationships" id="270" r:id="Rf33d0987f81b4190"/>
    <p:sldId xmlns:r="http://schemas.openxmlformats.org/officeDocument/2006/relationships" id="271" r:id="Rcc9bdf77b38c46e3"/>
    <p:sldId xmlns:r="http://schemas.openxmlformats.org/officeDocument/2006/relationships" id="272" r:id="Re664b669a3754fb6"/>
    <p:sldId xmlns:r="http://schemas.openxmlformats.org/officeDocument/2006/relationships" id="273" r:id="R12517096facc4540"/>
    <p:sldId xmlns:r="http://schemas.openxmlformats.org/officeDocument/2006/relationships" id="274" r:id="R6ead72e75c5e44d4"/>
    <p:sldId xmlns:r="http://schemas.openxmlformats.org/officeDocument/2006/relationships" id="275" r:id="R1b89ea975f1a4ad7"/>
    <p:sldId xmlns:r="http://schemas.openxmlformats.org/officeDocument/2006/relationships" id="276" r:id="Rc78decd9b29f4cb5"/>
    <p:sldId xmlns:r="http://schemas.openxmlformats.org/officeDocument/2006/relationships" id="277" r:id="R117958abf5334fb1"/>
  </p:sldIdLst>
  <p:sldSz cx="11588750" cy="6858000"/>
  <p:notesSz cx="6858000" cy="9144000"/>
  <p:embeddedFontLst>
    <p:embeddedFont>
      <p:font typeface="Lato"/>
      <p:regular xmlns:r="http://schemas.openxmlformats.org/officeDocument/2006/relationships" r:id="Refa3bed01bee429c"/>
      <p:bold xmlns:r="http://schemas.openxmlformats.org/officeDocument/2006/relationships" r:id="Ra33aeea815744b12"/>
      <p:italic xmlns:r="http://schemas.openxmlformats.org/officeDocument/2006/relationships" r:id="Red3a1bbb63f54614"/>
      <p:boldItalic xmlns:r="http://schemas.openxmlformats.org/officeDocument/2006/relationships" r:id="R4718b3d45eb24fba"/>
    </p:embeddedFont>
  </p:embeddedFontLst>
</p:presentation>
</file>

<file path=ppt/authors.xml><?xml version="1.0" encoding="utf-8"?>
<p188:authorLst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Type="http://schemas.openxmlformats.org/officeDocument/2006/relationships/theme" Target="/ppt/theme/theme1.xml" Id="Re0b394b9bb9b43b2"/><Relationship Type="http://schemas.openxmlformats.org/officeDocument/2006/relationships/slideMaster" Target="/ppt/slideMasters/slideMaster1.xml" Id="R59c506c25138452e"/><Relationship Type="http://schemas.openxmlformats.org/officeDocument/2006/relationships/notesMaster" Target="/ppt/notesMasters/notesMaster1.xml" Id="Rf322f6ebe3f54fa0"/><Relationship Type="http://schemas.openxmlformats.org/officeDocument/2006/relationships/presProps" Target="/ppt/presProps.xml" Id="Rbab0c02044b94d9b"/><Relationship Type="http://schemas.openxmlformats.org/officeDocument/2006/relationships/viewProps" Target="/ppt/viewProps.xml" Id="R54dc4473c8774a1c"/><Relationship Type="http://schemas.openxmlformats.org/officeDocument/2006/relationships/tableStyles" Target="/ppt/tableStyles.xml" Id="Rae746d61d84c4c37"/><Relationship Type="http://schemas.openxmlformats.org/officeDocument/2006/relationships/font" Target="/ppt/fonts/font.dat" Id="Refa3bed01bee429c"/><Relationship Type="http://schemas.openxmlformats.org/officeDocument/2006/relationships/font" Target="/ppt/fonts/font2.dat" Id="Ra33aeea815744b12"/><Relationship Type="http://schemas.openxmlformats.org/officeDocument/2006/relationships/font" Target="/ppt/fonts/font3.dat" Id="Red3a1bbb63f54614"/><Relationship Type="http://schemas.openxmlformats.org/officeDocument/2006/relationships/font" Target="/ppt/fonts/font4.dat" Id="R4718b3d45eb24fba"/><Relationship Type="http://schemas.microsoft.com/office/2018/10/relationships/authors" Target="/ppt/authors.xml" Id="R86282ebd32984d71"/><Relationship Type="http://schemas.openxmlformats.org/officeDocument/2006/relationships/slide" Target="/ppt/slides/slide1.xml" Id="R8e7d80ea1802437f"/><Relationship Type="http://schemas.openxmlformats.org/officeDocument/2006/relationships/slide" Target="/ppt/slides/slide2.xml" Id="Refb1e02ed30b490b"/><Relationship Type="http://schemas.openxmlformats.org/officeDocument/2006/relationships/slide" Target="/ppt/slides/slide3.xml" Id="Rbbce6f7e69a049aa"/><Relationship Type="http://schemas.openxmlformats.org/officeDocument/2006/relationships/slide" Target="/ppt/slides/slide4.xml" Id="R964a214af69f4bdf"/><Relationship Type="http://schemas.openxmlformats.org/officeDocument/2006/relationships/slide" Target="/ppt/slides/slide5.xml" Id="Rbfa9c09d82cd4bd4"/><Relationship Type="http://schemas.openxmlformats.org/officeDocument/2006/relationships/slide" Target="/ppt/slides/slide6.xml" Id="R8b443205189b4301"/><Relationship Type="http://schemas.openxmlformats.org/officeDocument/2006/relationships/slide" Target="/ppt/slides/slide7.xml" Id="R9674158891ee487f"/><Relationship Type="http://schemas.openxmlformats.org/officeDocument/2006/relationships/slide" Target="/ppt/slides/slide8.xml" Id="R13c1152ad5894457"/><Relationship Type="http://schemas.openxmlformats.org/officeDocument/2006/relationships/slide" Target="/ppt/slides/slide9.xml" Id="R49c1408f2de8405b"/><Relationship Type="http://schemas.openxmlformats.org/officeDocument/2006/relationships/slide" Target="/ppt/slides/slide10.xml" Id="Re92886e0d41a4e0f"/><Relationship Type="http://schemas.openxmlformats.org/officeDocument/2006/relationships/slide" Target="/ppt/slides/slide11.xml" Id="R3ffba0dbc0c4440d"/><Relationship Type="http://schemas.openxmlformats.org/officeDocument/2006/relationships/slide" Target="/ppt/slides/slide12.xml" Id="R251c0e0bf5a742bf"/><Relationship Type="http://schemas.openxmlformats.org/officeDocument/2006/relationships/slide" Target="/ppt/slides/slide13.xml" Id="R2e47ea1c50604b99"/><Relationship Type="http://schemas.openxmlformats.org/officeDocument/2006/relationships/slide" Target="/ppt/slides/slide14.xml" Id="Rf88bca8029e04442"/><Relationship Type="http://schemas.openxmlformats.org/officeDocument/2006/relationships/slide" Target="/ppt/slides/slide15.xml" Id="Rf33d0987f81b4190"/><Relationship Type="http://schemas.openxmlformats.org/officeDocument/2006/relationships/slide" Target="/ppt/slides/slide16.xml" Id="Rcc9bdf77b38c46e3"/><Relationship Type="http://schemas.openxmlformats.org/officeDocument/2006/relationships/slide" Target="/ppt/slides/slide17.xml" Id="Re664b669a3754fb6"/><Relationship Type="http://schemas.openxmlformats.org/officeDocument/2006/relationships/slide" Target="/ppt/slides/slide18.xml" Id="R12517096facc4540"/><Relationship Type="http://schemas.openxmlformats.org/officeDocument/2006/relationships/slide" Target="/ppt/slides/slide19.xml" Id="R6ead72e75c5e44d4"/><Relationship Type="http://schemas.openxmlformats.org/officeDocument/2006/relationships/slide" Target="/ppt/slides/slide20.xml" Id="R1b89ea975f1a4ad7"/><Relationship Type="http://schemas.openxmlformats.org/officeDocument/2006/relationships/slide" Target="/ppt/slides/slide21.xml" Id="Rc78decd9b29f4cb5"/><Relationship Type="http://schemas.openxmlformats.org/officeDocument/2006/relationships/slide" Target="/ppt/slides/slide22.xml" Id="R117958abf5334fb1"/></Relationships>
</file>

<file path=ppt/diagrams/v32_s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_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
    <dgm:cxn modelId="{00E6AD35-B2A0-4BFA-BBB4-D15C1E4078ED}" type="presOf" srcId="{06DE8A2B-A371-4AB7-90B4-4467EB5CFE26}" destId="{55AC4808-C1FA-4E58-9765-99C16695002F}" srcOrd="0" destOrd="0" presId="urn:microsoft.com/office/officeart/2005/8/layout/chevron1"/>
    <dgm:cxn modelId="{17A0EF5A-F035-4D33-B383-48556F2DFE6A}" type="presOf" srcId="{4B1EC208-E3C2-4554-87E4-D91132AA684B}" destId="{CCF220CD-041D-463A-ABAB-54867BF84649}" srcOrd="0" destOrd="0" presId="urn:microsoft.com/office/officeart/2005/8/layout/chevron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
    <dgm:cxn modelId="{1352ACE6-F49F-4003-922A-070147C012B1}" type="presParOf" srcId="{55AC4808-C1FA-4E58-9765-99C16695002F}" destId="{FB490D9F-D232-444B-84A9-1F90A326E3CC}" srcOrd="0" destOrd="0" presId="urn:microsoft.com/office/officeart/2005/8/layout/chevron1"/>
    <dgm:cxn modelId="{1C17A09A-57EE-4548-AF39-6351DC4DE2E3}" type="presParOf" srcId="{55AC4808-C1FA-4E58-9765-99C16695002F}" destId="{A7401B36-21FD-452B-859D-C13C1D2F3CC6}" srcOrd="1" destOrd="0" presId="urn:microsoft.com/office/officeart/2005/8/layout/chevron1"/>
    <dgm:cxn modelId="{6D962CA6-E16D-4EE3-A73B-D49D25AC0D65}" type="presParOf" srcId="{55AC4808-C1FA-4E58-9765-99C16695002F}" destId="{CCF220CD-041D-463A-ABAB-54867BF84649}" srcOrd="2" destOrd="0" presId="urn:microsoft.com/office/officeart/2005/8/layout/chevron1"/>
    <dgm:cxn modelId="{16A48331-6BB0-4703-B8B8-AE2CEFBB4284}" type="presParOf" srcId="{55AC4808-C1FA-4E58-9765-99C16695002F}" destId="{1A8D38A3-70C1-474B-A8AC-0FE84517A371}" srcOrd="3" destOrd="0" presId="urn:microsoft.com/office/officeart/2005/8/layout/chevron1"/>
    <dgm:cxn modelId="{83FFF6B7-4710-4E2F-96C1-49BBDE8AC84F}" type="presParOf" srcId="{55AC4808-C1FA-4E58-9765-99C16695002F}" destId="{F19C7174-B035-4453-8EBC-1B4075AE4C8D}" srcOrd="4" destOrd="0" presId="urn:microsoft.com/office/officeart/2005/8/layout/chevron1"/>
    <dgm:cxn modelId="{530C610A-012C-4B43-859F-0A60A5DC1A2B}" type="presParOf" srcId="{55AC4808-C1FA-4E58-9765-99C16695002F}" destId="{ABF607AF-ABAC-4D0F-A475-E7EBA406A6AF}" srcOrd="5" destOrd="0" presId="urn:microsoft.com/office/officeart/2005/8/layout/chevron1"/>
    <dgm:cxn modelId="{40DBA209-52FC-4C84-91AB-58F88472ED68}" type="presParOf" srcId="{55AC4808-C1FA-4E58-9765-99C16695002F}" destId="{4226169C-8DDB-42F5-831F-1C867C2D6E72}" srcOrd="6" destOrd="0" presId="urn:microsoft.com/office/officeart/2005/8/layout/chevron1"/>
  </dgm:cxnLst>
  <dgm:bg/>
  <dgm:whole/>
  <dgm:extLst>
    <a:ext uri="http://schemas.microsoft.com/office/drawing/2008/diagram">
      <dsp:dataModelExt xmlns:dsp="http://schemas.microsoft.com/office/drawing/2008/diagram" relId="rIdV32Drawing2" minVer="http://schemas.openxmlformats.org/drawingml/2006/diagram"/>
    </a:ext>
  </dgm:extLst>
</dgm:dataModel>
</file>

<file path=ppt/diagrams/v32_s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_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
    <dgm:cxn modelId="{00E6AD35-B2A0-4BFA-BBB4-D15C1E4078ED}" type="presOf" srcId="{06DE8A2B-A371-4AB7-90B4-4467EB5CFE26}" destId="{55AC4808-C1FA-4E58-9765-99C16695002F}" srcOrd="0" destOrd="0" presId="urn:microsoft.com/office/officeart/2005/8/layout/chevron1"/>
    <dgm:cxn modelId="{17A0EF5A-F035-4D33-B383-48556F2DFE6A}" type="presOf" srcId="{4B1EC208-E3C2-4554-87E4-D91132AA684B}" destId="{CCF220CD-041D-463A-ABAB-54867BF84649}" srcOrd="0" destOrd="0" presId="urn:microsoft.com/office/officeart/2005/8/layout/chevron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
    <dgm:cxn modelId="{1352ACE6-F49F-4003-922A-070147C012B1}" type="presParOf" srcId="{55AC4808-C1FA-4E58-9765-99C16695002F}" destId="{FB490D9F-D232-444B-84A9-1F90A326E3CC}" srcOrd="0" destOrd="0" presId="urn:microsoft.com/office/officeart/2005/8/layout/chevron1"/>
    <dgm:cxn modelId="{1C17A09A-57EE-4548-AF39-6351DC4DE2E3}" type="presParOf" srcId="{55AC4808-C1FA-4E58-9765-99C16695002F}" destId="{A7401B36-21FD-452B-859D-C13C1D2F3CC6}" srcOrd="1" destOrd="0" presId="urn:microsoft.com/office/officeart/2005/8/layout/chevron1"/>
    <dgm:cxn modelId="{6D962CA6-E16D-4EE3-A73B-D49D25AC0D65}" type="presParOf" srcId="{55AC4808-C1FA-4E58-9765-99C16695002F}" destId="{CCF220CD-041D-463A-ABAB-54867BF84649}" srcOrd="2" destOrd="0" presId="urn:microsoft.com/office/officeart/2005/8/layout/chevron1"/>
    <dgm:cxn modelId="{16A48331-6BB0-4703-B8B8-AE2CEFBB4284}" type="presParOf" srcId="{55AC4808-C1FA-4E58-9765-99C16695002F}" destId="{1A8D38A3-70C1-474B-A8AC-0FE84517A371}" srcOrd="3" destOrd="0" presId="urn:microsoft.com/office/officeart/2005/8/layout/chevron1"/>
    <dgm:cxn modelId="{83FFF6B7-4710-4E2F-96C1-49BBDE8AC84F}" type="presParOf" srcId="{55AC4808-C1FA-4E58-9765-99C16695002F}" destId="{F19C7174-B035-4453-8EBC-1B4075AE4C8D}" srcOrd="4" destOrd="0" presId="urn:microsoft.com/office/officeart/2005/8/layout/chevron1"/>
    <dgm:cxn modelId="{530C610A-012C-4B43-859F-0A60A5DC1A2B}" type="presParOf" srcId="{55AC4808-C1FA-4E58-9765-99C16695002F}" destId="{ABF607AF-ABAC-4D0F-A475-E7EBA406A6AF}" srcOrd="5" destOrd="0" presId="urn:microsoft.com/office/officeart/2005/8/layout/chevron1"/>
    <dgm:cxn modelId="{40DBA209-52FC-4C84-91AB-58F88472ED68}" type="presParOf" srcId="{55AC4808-C1FA-4E58-9765-99C16695002F}" destId="{4226169C-8DDB-42F5-831F-1C867C2D6E72}" srcOrd="6" destOrd="0" presId="urn:microsoft.com/office/officeart/2005/8/layout/chevron1"/>
  </dgm:cxnLst>
  <dgm:bg/>
  <dgm:whole/>
  <dgm:extLst>
    <a:ext uri="http://schemas.microsoft.com/office/drawing/2008/diagram">
      <dsp:dataModelExt xmlns:dsp="http://schemas.microsoft.com/office/drawing/2008/diagram" relId="rIdV32Drawing3" minVer="http://schemas.openxmlformats.org/drawingml/2006/diagram"/>
    </a:ext>
  </dgm:extLst>
</dgm:dataModel>
</file>

<file path=ppt/diagrams/v32_s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4" minVer="http://schemas.openxmlformats.org/drawingml/2006/diagram"/>
    </a:ext>
  </dgm:extLst>
</dgm:dataModel>
</file>

<file path=ppt/diagrams/v32_s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5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5" minVer="http://schemas.openxmlformats.org/drawingml/2006/diagram"/>
    </a:ext>
  </dgm:extLst>
</dgm:dataModel>
</file>

<file path=ppt/diagrams/v32_s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6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6" minVer="http://schemas.openxmlformats.org/drawingml/2006/diagram"/>
    </a:ext>
  </dgm:extLst>
</dgm:dataModel>
</file>

<file path=ppt/diagrams/v32_s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7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7" minVer="http://schemas.openxmlformats.org/drawingml/2006/diagram"/>
    </a:ext>
  </dgm:extLst>
</dgm:dataModel>
</file>

<file path=ppt/diagrams/v32_s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8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8" minVer="http://schemas.openxmlformats.org/drawingml/2006/diagram"/>
    </a:ext>
  </dgm:extLst>
</dgm:dataModel>
</file>

<file path=ppt/diagrams/v32_s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9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9" minVer="http://schemas.openxmlformats.org/drawingml/2006/diagram"/>
    </a:ext>
  </dgm:extLst>
</dgm:dataModel>
</file>

<file path=ppt/diagrams/v32_s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0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0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0" minVer="http://schemas.openxmlformats.org/drawingml/2006/diagram"/>
    </a:ext>
  </dgm:extLst>
</dgm:dataModel>
</file>

<file path=ppt/diagrams/v32_s10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0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0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1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1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1" minVer="http://schemas.openxmlformats.org/drawingml/2006/diagram"/>
    </a:ext>
  </dgm:extLst>
</dgm:dataModel>
</file>

<file path=ppt/diagrams/v32_s11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1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1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2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2" minVer="http://schemas.openxmlformats.org/drawingml/2006/diagram"/>
    </a:ext>
  </dgm:extLst>
</dgm:dataModel>
</file>

<file path=ppt/diagrams/v32_s1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3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3" minVer="http://schemas.openxmlformats.org/drawingml/2006/diagram"/>
    </a:ext>
  </dgm:extLst>
</dgm:dataModel>
</file>

<file path=ppt/diagrams/v32_s1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4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4" minVer="http://schemas.openxmlformats.org/drawingml/2006/diagram"/>
    </a:ext>
  </dgm:extLst>
</dgm:dataModel>
</file>

<file path=ppt/diagrams/v32_s1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5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5" minVer="http://schemas.openxmlformats.org/drawingml/2006/diagram"/>
    </a:ext>
  </dgm:extLst>
</dgm:dataModel>
</file>

<file path=ppt/diagrams/v32_s1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6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6" minVer="http://schemas.openxmlformats.org/drawingml/2006/diagram"/>
    </a:ext>
  </dgm:extLst>
</dgm:dataModel>
</file>

<file path=ppt/diagrams/v32_s1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7_data1.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
    <dgm:cxn modelId="{5F8D4429-3512-4733-9D28-C39DEC6D5A46}" type="presOf" srcId="{09E83A0D-6FEF-41DF-A1A8-06E9FFC85F71}" destId="{E9EC313E-C07D-4024-9AF7-7BAA82F22646}" srcOrd="0" destOrd="0" presId="urn:microsoft.com/office/officeart/2005/8/layout/chevron1"/>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
    <dgm:cxn modelId="{FDC2920E-D462-4099-AAD9-7061DA75790D}" type="presParOf" srcId="{AFDF9144-0890-4741-9012-683715D91BA8}" destId="{E9EC313E-C07D-4024-9AF7-7BAA82F22646}" srcOrd="0" destOrd="0" presId="urn:microsoft.com/office/officeart/2005/8/layout/chevron1"/>
    <dgm:cxn modelId="{BE9CD0F0-86E3-473D-ACC0-0A1CDB83D02D}" type="presParOf" srcId="{AFDF9144-0890-4741-9012-683715D91BA8}" destId="{1254BCE1-0659-4C9C-A343-41153979CEE1}" srcOrd="1" destOrd="0" presId="urn:microsoft.com/office/officeart/2005/8/layout/chevron1"/>
    <dgm:cxn modelId="{23C3C8E6-6442-4A61-9F3C-66FB5F60C029}" type="presParOf" srcId="{AFDF9144-0890-4741-9012-683715D91BA8}" destId="{4F9DEA38-A8FA-418A-B139-308095C75DE5}" srcOrd="2" destOrd="0" presId="urn:microsoft.com/office/officeart/2005/8/layout/chevron1"/>
    <dgm:cxn modelId="{ECF28035-C4C2-4F0A-91A6-54605395BB01}" type="presParOf" srcId="{AFDF9144-0890-4741-9012-683715D91BA8}" destId="{F32AF327-A8A7-42ED-9A3A-FD065AEF35CC}" srcOrd="3" destOrd="0" presId="urn:microsoft.com/office/officeart/2005/8/layout/chevron1"/>
    <dgm:cxn modelId="{1EA5E5A7-6379-4647-82EB-47293F901444}" type="presParOf" srcId="{AFDF9144-0890-4741-9012-683715D91BA8}" destId="{DB2DC495-4888-4FB0-8E56-94B7ED74FA00}" srcOrd="4" destOrd="0" presId="urn:microsoft.com/office/officeart/2005/8/layout/chevron1"/>
    <dgm:cxn modelId="{05C2C0AF-C649-43A1-9660-BD856B630B95}" type="presParOf" srcId="{AFDF9144-0890-4741-9012-683715D91BA8}" destId="{3128D3E7-1249-4292-B711-881F04FEB888}" srcOrd="5" destOrd="0" presId="urn:microsoft.com/office/officeart/2005/8/layout/chevron1"/>
    <dgm:cxn modelId="{39A0DD8E-E4B6-47DF-81A2-0B69F2B95DCA}" type="presParOf" srcId="{AFDF9144-0890-4741-9012-683715D91BA8}" destId="{89AA18CC-6C77-44F3-85A7-38695F314F32}" srcOrd="6" destOrd="0" presId="urn:microsoft.com/office/officeart/2005/8/layout/chevron1"/>
  </dgm:cxnLst>
  <dgm:bg/>
  <dgm:whole/>
  <dgm:extLst>
    <a:ext uri="http://schemas.microsoft.com/office/drawing/2008/diagram">
      <dsp:dataModelExt xmlns:dsp="http://schemas.microsoft.com/office/drawing/2008/diagram" relId="rIdV32Drawing17" minVer="http://schemas.openxmlformats.org/drawingml/2006/diagram"/>
    </a:ext>
  </dgm:extLst>
</dgm:dataModel>
</file>

<file path=ppt/diagrams/v32_s1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v32_s1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8_data1.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
    <dgm:cxn modelId="{5F8D4429-3512-4733-9D28-C39DEC6D5A46}" type="presOf" srcId="{09E83A0D-6FEF-41DF-A1A8-06E9FFC85F71}" destId="{E9EC313E-C07D-4024-9AF7-7BAA82F22646}" srcOrd="0" destOrd="0" presId="urn:microsoft.com/office/officeart/2005/8/layout/chevron1"/>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
    <dgm:cxn modelId="{FDC2920E-D462-4099-AAD9-7061DA75790D}" type="presParOf" srcId="{AFDF9144-0890-4741-9012-683715D91BA8}" destId="{E9EC313E-C07D-4024-9AF7-7BAA82F22646}" srcOrd="0" destOrd="0" presId="urn:microsoft.com/office/officeart/2005/8/layout/chevron1"/>
    <dgm:cxn modelId="{BE9CD0F0-86E3-473D-ACC0-0A1CDB83D02D}" type="presParOf" srcId="{AFDF9144-0890-4741-9012-683715D91BA8}" destId="{1254BCE1-0659-4C9C-A343-41153979CEE1}" srcOrd="1" destOrd="0" presId="urn:microsoft.com/office/officeart/2005/8/layout/chevron1"/>
    <dgm:cxn modelId="{23C3C8E6-6442-4A61-9F3C-66FB5F60C029}" type="presParOf" srcId="{AFDF9144-0890-4741-9012-683715D91BA8}" destId="{4F9DEA38-A8FA-418A-B139-308095C75DE5}" srcOrd="2" destOrd="0" presId="urn:microsoft.com/office/officeart/2005/8/layout/chevron1"/>
    <dgm:cxn modelId="{ECF28035-C4C2-4F0A-91A6-54605395BB01}" type="presParOf" srcId="{AFDF9144-0890-4741-9012-683715D91BA8}" destId="{F32AF327-A8A7-42ED-9A3A-FD065AEF35CC}" srcOrd="3" destOrd="0" presId="urn:microsoft.com/office/officeart/2005/8/layout/chevron1"/>
    <dgm:cxn modelId="{1EA5E5A7-6379-4647-82EB-47293F901444}" type="presParOf" srcId="{AFDF9144-0890-4741-9012-683715D91BA8}" destId="{DB2DC495-4888-4FB0-8E56-94B7ED74FA00}" srcOrd="4" destOrd="0" presId="urn:microsoft.com/office/officeart/2005/8/layout/chevron1"/>
    <dgm:cxn modelId="{05C2C0AF-C649-43A1-9660-BD856B630B95}" type="presParOf" srcId="{AFDF9144-0890-4741-9012-683715D91BA8}" destId="{3128D3E7-1249-4292-B711-881F04FEB888}" srcOrd="5" destOrd="0" presId="urn:microsoft.com/office/officeart/2005/8/layout/chevron1"/>
    <dgm:cxn modelId="{39A0DD8E-E4B6-47DF-81A2-0B69F2B95DCA}" type="presParOf" srcId="{AFDF9144-0890-4741-9012-683715D91BA8}" destId="{89AA18CC-6C77-44F3-85A7-38695F314F32}" srcOrd="6" destOrd="0" presId="urn:microsoft.com/office/officeart/2005/8/layout/chevron1"/>
  </dgm:cxnLst>
  <dgm:bg/>
  <dgm:whole/>
  <dgm:extLst>
    <a:ext uri="http://schemas.microsoft.com/office/drawing/2008/diagram">
      <dsp:dataModelExt xmlns:dsp="http://schemas.microsoft.com/office/drawing/2008/diagram" relId="rIdV32Drawing18" minVer="http://schemas.openxmlformats.org/drawingml/2006/diagram"/>
    </a:ext>
  </dgm:extLst>
</dgm:dataModel>
</file>

<file path=ppt/diagrams/v32_s1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v32_s1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9_data1.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
    <dgm:cxn modelId="{5F8D4429-3512-4733-9D28-C39DEC6D5A46}" type="presOf" srcId="{09E83A0D-6FEF-41DF-A1A8-06E9FFC85F71}" destId="{E9EC313E-C07D-4024-9AF7-7BAA82F22646}" srcOrd="0" destOrd="0" presId="urn:microsoft.com/office/officeart/2005/8/layout/chevron1"/>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
    <dgm:cxn modelId="{FDC2920E-D462-4099-AAD9-7061DA75790D}" type="presParOf" srcId="{AFDF9144-0890-4741-9012-683715D91BA8}" destId="{E9EC313E-C07D-4024-9AF7-7BAA82F22646}" srcOrd="0" destOrd="0" presId="urn:microsoft.com/office/officeart/2005/8/layout/chevron1"/>
    <dgm:cxn modelId="{BE9CD0F0-86E3-473D-ACC0-0A1CDB83D02D}" type="presParOf" srcId="{AFDF9144-0890-4741-9012-683715D91BA8}" destId="{1254BCE1-0659-4C9C-A343-41153979CEE1}" srcOrd="1" destOrd="0" presId="urn:microsoft.com/office/officeart/2005/8/layout/chevron1"/>
    <dgm:cxn modelId="{23C3C8E6-6442-4A61-9F3C-66FB5F60C029}" type="presParOf" srcId="{AFDF9144-0890-4741-9012-683715D91BA8}" destId="{4F9DEA38-A8FA-418A-B139-308095C75DE5}" srcOrd="2" destOrd="0" presId="urn:microsoft.com/office/officeart/2005/8/layout/chevron1"/>
    <dgm:cxn modelId="{ECF28035-C4C2-4F0A-91A6-54605395BB01}" type="presParOf" srcId="{AFDF9144-0890-4741-9012-683715D91BA8}" destId="{F32AF327-A8A7-42ED-9A3A-FD065AEF35CC}" srcOrd="3" destOrd="0" presId="urn:microsoft.com/office/officeart/2005/8/layout/chevron1"/>
    <dgm:cxn modelId="{1EA5E5A7-6379-4647-82EB-47293F901444}" type="presParOf" srcId="{AFDF9144-0890-4741-9012-683715D91BA8}" destId="{DB2DC495-4888-4FB0-8E56-94B7ED74FA00}" srcOrd="4" destOrd="0" presId="urn:microsoft.com/office/officeart/2005/8/layout/chevron1"/>
    <dgm:cxn modelId="{05C2C0AF-C649-43A1-9660-BD856B630B95}" type="presParOf" srcId="{AFDF9144-0890-4741-9012-683715D91BA8}" destId="{3128D3E7-1249-4292-B711-881F04FEB888}" srcOrd="5" destOrd="0" presId="urn:microsoft.com/office/officeart/2005/8/layout/chevron1"/>
    <dgm:cxn modelId="{39A0DD8E-E4B6-47DF-81A2-0B69F2B95DCA}" type="presParOf" srcId="{AFDF9144-0890-4741-9012-683715D91BA8}" destId="{89AA18CC-6C77-44F3-85A7-38695F314F32}" srcOrd="6" destOrd="0" presId="urn:microsoft.com/office/officeart/2005/8/layout/chevron1"/>
  </dgm:cxnLst>
  <dgm:bg/>
  <dgm:whole/>
  <dgm:extLst>
    <a:ext uri="http://schemas.microsoft.com/office/drawing/2008/diagram">
      <dsp:dataModelExt xmlns:dsp="http://schemas.microsoft.com/office/drawing/2008/diagram" relId="rIdV32Drawing19" minVer="http://schemas.openxmlformats.org/drawingml/2006/diagram"/>
    </a:ext>
  </dgm:extLst>
</dgm:dataModel>
</file>

<file path=ppt/diagrams/v32_s1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v32_s1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0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0_data1.xml><?xml version="1.0" encoding="utf-8"?>
<dgm:dataModel xmlns:dgm="http://schemas.openxmlformats.org/drawingml/2006/diagram" xmlns:a="http://schemas.openxmlformats.org/drawingml/2006/main">
  <dgm:ptLst>
    <dgm:pt modelId="{AAE6C25A-DB6D-4D78-9B3C-FAF52388604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C650DAE2-05C8-412C-8907-8BE60B60268D}">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Appendix</a:t>
          </a:r>
        </a:p>
      </dgm:t>
    </dgm:pt>
    <dgm:pt modelId="{B9DE7244-C2E0-47C2-BE1F-ACFAA8813B01}" type="parTrans" cxnId="{9D315063-B86A-4984-A5B5-2440147C83E2}">
      <dgm:prSet/>
      <dgm:spPr>
        <a:ln>
          <a:noFill/>
        </a:ln>
      </dgm:spPr>
    </dgm:pt>
    <dgm:pt modelId="{AC6A796A-FAE5-431B-BA64-9671C8D0A3E2}" type="sibTrans" cxnId="{9D315063-B86A-4984-A5B5-2440147C83E2}">
      <dgm:prSet/>
      <dgm:spPr>
        <a:ln>
          <a:noFill/>
        </a:ln>
      </dgm:spPr>
    </dgm:pt>
    <dgm:pt modelId="{3B811E9B-A679-4E27-B63F-0A648F7D7531}">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6DAA683-9AD7-436F-8A93-6AC8BF751387}" type="parTrans" cxnId="{5F2218A3-2C2C-4BCA-A837-5AB3470343EA}">
      <dgm:prSet/>
      <dgm:spPr>
        <a:ln>
          <a:noFill/>
        </a:ln>
      </dgm:spPr>
    </dgm:pt>
    <dgm:pt modelId="{C775561D-5F66-4396-B318-4E1DA8BBFD09}" type="sibTrans" cxnId="{5F2218A3-2C2C-4BCA-A837-5AB3470343EA}">
      <dgm:prSet/>
      <dgm:spPr>
        <a:ln>
          <a:noFill/>
        </a:ln>
      </dgm:spPr>
    </dgm:pt>
    <dgm:pt modelId="{BD594A9A-9323-4341-96BF-85721BA2C10D}">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537A9428-02EF-4234-BF12-09A126B2DDA1}" type="parTrans" cxnId="{835F645B-250E-4BF0-AFC4-1334188DA137}">
      <dgm:prSet/>
      <dgm:spPr>
        <a:ln>
          <a:noFill/>
        </a:ln>
      </dgm:spPr>
    </dgm:pt>
    <dgm:pt modelId="{ACB5C591-797D-4FD9-9409-F0EDF95FEE27}" type="sibTrans" cxnId="{835F645B-250E-4BF0-AFC4-1334188DA137}">
      <dgm:prSet/>
      <dgm:spPr>
        <a:ln>
          <a:noFill/>
        </a:ln>
      </dgm:spPr>
    </dgm:pt>
    <dgm:pt modelId="{A786AE8E-E5F5-4022-A310-B20DC594406F}">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0D4C8FAA-FB42-484D-B9F6-B3232D98013E}" type="parTrans" cxnId="{C74F17E0-0C32-4B4E-93AE-E7C5D2BF2376}">
      <dgm:prSet/>
      <dgm:spPr>
        <a:ln>
          <a:noFill/>
        </a:ln>
      </dgm:spPr>
    </dgm:pt>
    <dgm:pt modelId="{8488243F-3650-49F5-A77A-DF07A84A14BF}" type="sibTrans" cxnId="{C74F17E0-0C32-4B4E-93AE-E7C5D2BF2376}">
      <dgm:prSet/>
      <dgm:spPr>
        <a:ln>
          <a:noFill/>
        </a:ln>
      </dgm:spPr>
    </dgm:pt>
    <dgm:pt modelId="{C968AC03-41E9-4B9B-BE45-02B1539B4282}" type="pres">
      <dgm:prSet presAssocID="{AAE6C25A-DB6D-4D78-9B3C-FAF523886041}" presName="Name0" presStyleCnt="0">
        <dgm:presLayoutVars>
          <dgm:dir/>
          <dgm:animLvl val="lvl"/>
          <dgm:resizeHandles val="exact"/>
        </dgm:presLayoutVars>
      </dgm:prSet>
      <dgm:spPr>
        <a:ln>
          <a:noFill/>
        </a:ln>
      </dgm:spPr>
    </dgm:pt>
    <dgm:pt modelId="{1AB901B8-27E8-4328-AA0B-6C29B0008F85}" type="pres">
      <dgm:prSet presAssocID="{C650DAE2-05C8-412C-8907-8BE60B60268D}" presName="parTxOnly" presStyleLbl="node1" presStyleIdx="0" presStyleCnt="4">
        <dgm:presLayoutVars>
          <dgm:chMax val="0"/>
          <dgm:chPref val="0"/>
          <dgm:bulletEnabled val="1"/>
        </dgm:presLayoutVars>
      </dgm:prSet>
      <dgm:spPr>
        <a:ln>
          <a:noFill/>
        </a:ln>
      </dgm:spPr>
    </dgm:pt>
    <dgm:pt modelId="{A4575649-1F97-4837-A1A2-C2364EA82ED1}" type="pres">
      <dgm:prSet presAssocID="{AC6A796A-FAE5-431B-BA64-9671C8D0A3E2}" presName="parTxOnlySpace" presStyleCnt="0"/>
      <dgm:spPr>
        <a:ln>
          <a:noFill/>
        </a:ln>
      </dgm:spPr>
    </dgm:pt>
    <dgm:pt modelId="{3AAAE9D2-1344-4643-AA43-2A8F2D82248E}" type="pres">
      <dgm:prSet presAssocID="{3B811E9B-A679-4E27-B63F-0A648F7D7531}" presName="parTxOnly" presStyleLbl="node1" presStyleIdx="1" presStyleCnt="4">
        <dgm:presLayoutVars>
          <dgm:chMax val="0"/>
          <dgm:chPref val="0"/>
          <dgm:bulletEnabled val="1"/>
        </dgm:presLayoutVars>
      </dgm:prSet>
      <dgm:spPr>
        <a:ln>
          <a:noFill/>
        </a:ln>
      </dgm:spPr>
    </dgm:pt>
    <dgm:pt modelId="{9D7B86B8-7DD8-45C4-833D-17A1B25C3980}" type="pres">
      <dgm:prSet presAssocID="{C775561D-5F66-4396-B318-4E1DA8BBFD09}" presName="parTxOnlySpace" presStyleCnt="0"/>
      <dgm:spPr>
        <a:ln>
          <a:noFill/>
        </a:ln>
      </dgm:spPr>
    </dgm:pt>
    <dgm:pt modelId="{CE5359D8-4885-4FD6-96E3-EC640365AC46}" type="pres">
      <dgm:prSet presAssocID="{BD594A9A-9323-4341-96BF-85721BA2C10D}" presName="parTxOnly" presStyleLbl="node1" presStyleIdx="2" presStyleCnt="4">
        <dgm:presLayoutVars>
          <dgm:chMax val="0"/>
          <dgm:chPref val="0"/>
          <dgm:bulletEnabled val="1"/>
        </dgm:presLayoutVars>
      </dgm:prSet>
      <dgm:spPr>
        <a:ln>
          <a:noFill/>
        </a:ln>
      </dgm:spPr>
    </dgm:pt>
    <dgm:pt modelId="{BF092264-4518-4B43-A50E-F77EF016D00A}" type="pres">
      <dgm:prSet presAssocID="{ACB5C591-797D-4FD9-9409-F0EDF95FEE27}" presName="parTxOnlySpace" presStyleCnt="0"/>
      <dgm:spPr>
        <a:ln>
          <a:noFill/>
        </a:ln>
      </dgm:spPr>
    </dgm:pt>
    <dgm:pt modelId="{E20A8324-5073-4681-BF09-1EBF8264B0BB}" type="pres">
      <dgm:prSet presAssocID="{A786AE8E-E5F5-4022-A310-B20DC594406F}" presName="parTxOnly" presStyleLbl="node1" presStyleIdx="3" presStyleCnt="4">
        <dgm:presLayoutVars>
          <dgm:chMax val="0"/>
          <dgm:chPref val="0"/>
          <dgm:bulletEnabled val="1"/>
        </dgm:presLayoutVars>
      </dgm:prSet>
      <dgm:spPr>
        <a:ln>
          <a:noFill/>
        </a:ln>
      </dgm:spPr>
    </dgm:pt>
  </dgm:ptLst>
  <dgm:cxnLst>
    <dgm:cxn modelId="{AA913910-F66D-4DDE-B610-9E8A5AD246D0}" type="presOf" srcId="{C650DAE2-05C8-412C-8907-8BE60B60268D}" destId="{1AB901B8-27E8-4328-AA0B-6C29B0008F85}" srcOrd="0" destOrd="0" presId="urn:microsoft.com/office/officeart/2005/8/layout/chevron1"/>
    <dgm:cxn modelId="{835F645B-250E-4BF0-AFC4-1334188DA137}" srcId="{AAE6C25A-DB6D-4D78-9B3C-FAF523886041}" destId="{BD594A9A-9323-4341-96BF-85721BA2C10D}" srcOrd="2" destOrd="0" parTransId="{537A9428-02EF-4234-BF12-09A126B2DDA1}" sibTransId="{ACB5C591-797D-4FD9-9409-F0EDF95FEE27}"/>
    <dgm:cxn modelId="{9D315063-B86A-4984-A5B5-2440147C83E2}" srcId="{AAE6C25A-DB6D-4D78-9B3C-FAF523886041}" destId="{C650DAE2-05C8-412C-8907-8BE60B60268D}" srcOrd="0" destOrd="0" parTransId="{B9DE7244-C2E0-47C2-BE1F-ACFAA8813B01}" sibTransId="{AC6A796A-FAE5-431B-BA64-9671C8D0A3E2}"/>
    <dgm:cxn modelId="{5F2218A3-2C2C-4BCA-A837-5AB3470343EA}" srcId="{AAE6C25A-DB6D-4D78-9B3C-FAF523886041}" destId="{3B811E9B-A679-4E27-B63F-0A648F7D7531}" srcOrd="1" destOrd="0" parTransId="{86DAA683-9AD7-436F-8A93-6AC8BF751387}" sibTransId="{C775561D-5F66-4396-B318-4E1DA8BBFD09}"/>
    <dgm:cxn modelId="{1CA726B8-65BA-46BA-A05F-29BD1EC000FF}" type="presOf" srcId="{BD594A9A-9323-4341-96BF-85721BA2C10D}" destId="{CE5359D8-4885-4FD6-96E3-EC640365AC46}" srcOrd="0" destOrd="0" presId="urn:microsoft.com/office/officeart/2005/8/layout/chevron1"/>
    <dgm:cxn modelId="{C74F17E0-0C32-4B4E-93AE-E7C5D2BF2376}" srcId="{AAE6C25A-DB6D-4D78-9B3C-FAF523886041}" destId="{A786AE8E-E5F5-4022-A310-B20DC594406F}" srcOrd="3" destOrd="0" parTransId="{0D4C8FAA-FB42-484D-B9F6-B3232D98013E}" sibTransId="{8488243F-3650-49F5-A77A-DF07A84A14BF}"/>
    <dgm:cxn modelId="{B2A6EDE1-4A93-42C4-A660-009F904A286F}" type="presOf" srcId="{3B811E9B-A679-4E27-B63F-0A648F7D7531}" destId="{3AAAE9D2-1344-4643-AA43-2A8F2D82248E}" srcOrd="0" destOrd="0" presId="urn:microsoft.com/office/officeart/2005/8/layout/chevron1"/>
    <dgm:cxn modelId="{A5AA6BEB-AF2D-46DD-92D3-9F66F7C94D64}" type="presOf" srcId="{AAE6C25A-DB6D-4D78-9B3C-FAF523886041}" destId="{C968AC03-41E9-4B9B-BE45-02B1539B4282}" srcOrd="0" destOrd="0" presId="urn:microsoft.com/office/officeart/2005/8/layout/chevron1"/>
    <dgm:cxn modelId="{6162ABF3-FD09-4CAB-AA7B-F4DDEA50CFBF}" type="presOf" srcId="{A786AE8E-E5F5-4022-A310-B20DC594406F}" destId="{E20A8324-5073-4681-BF09-1EBF8264B0BB}" srcOrd="0" destOrd="0" presId="urn:microsoft.com/office/officeart/2005/8/layout/chevron1"/>
    <dgm:cxn modelId="{36CD3796-6634-4E4D-8C7B-303A88336F99}" type="presParOf" srcId="{C968AC03-41E9-4B9B-BE45-02B1539B4282}" destId="{1AB901B8-27E8-4328-AA0B-6C29B0008F85}" srcOrd="0" destOrd="0" presId="urn:microsoft.com/office/officeart/2005/8/layout/chevron1"/>
    <dgm:cxn modelId="{20041F04-F2B0-43AD-9942-1EE206097285}" type="presParOf" srcId="{C968AC03-41E9-4B9B-BE45-02B1539B4282}" destId="{A4575649-1F97-4837-A1A2-C2364EA82ED1}" srcOrd="1" destOrd="0" presId="urn:microsoft.com/office/officeart/2005/8/layout/chevron1"/>
    <dgm:cxn modelId="{9712E61A-5F30-4972-B844-2AB532D872F5}" type="presParOf" srcId="{C968AC03-41E9-4B9B-BE45-02B1539B4282}" destId="{3AAAE9D2-1344-4643-AA43-2A8F2D82248E}" srcOrd="2" destOrd="0" presId="urn:microsoft.com/office/officeart/2005/8/layout/chevron1"/>
    <dgm:cxn modelId="{4D89F43C-E17A-411D-A38E-6BF73E635EF8}" type="presParOf" srcId="{C968AC03-41E9-4B9B-BE45-02B1539B4282}" destId="{9D7B86B8-7DD8-45C4-833D-17A1B25C3980}" srcOrd="3" destOrd="0" presId="urn:microsoft.com/office/officeart/2005/8/layout/chevron1"/>
    <dgm:cxn modelId="{64372D3A-B9BF-4A85-B6B9-58CEA7183769}" type="presParOf" srcId="{C968AC03-41E9-4B9B-BE45-02B1539B4282}" destId="{CE5359D8-4885-4FD6-96E3-EC640365AC46}" srcOrd="4" destOrd="0" presId="urn:microsoft.com/office/officeart/2005/8/layout/chevron1"/>
    <dgm:cxn modelId="{48FD68AB-BEF3-460D-B239-3F24EEFE5DEA}" type="presParOf" srcId="{C968AC03-41E9-4B9B-BE45-02B1539B4282}" destId="{BF092264-4518-4B43-A50E-F77EF016D00A}" srcOrd="5" destOrd="0" presId="urn:microsoft.com/office/officeart/2005/8/layout/chevron1"/>
    <dgm:cxn modelId="{6D3D930F-3147-403D-93C4-65D23C8C3433}" type="presParOf" srcId="{C968AC03-41E9-4B9B-BE45-02B1539B4282}" destId="{E20A8324-5073-4681-BF09-1EBF8264B0BB}" srcOrd="6" destOrd="0" presId="urn:microsoft.com/office/officeart/2005/8/layout/chevron1"/>
  </dgm:cxnLst>
  <dgm:bg/>
  <dgm:whole/>
  <dgm:extLst>
    <a:ext uri="http://schemas.microsoft.com/office/drawing/2008/diagram">
      <dsp:dataModelExt xmlns:dsp="http://schemas.microsoft.com/office/drawing/2008/diagram" relId="rIdV32Drawing20" minVer="http://schemas.openxmlformats.org/drawingml/2006/diagram"/>
    </a:ext>
  </dgm:extLst>
</dgm:dataModel>
</file>

<file path=ppt/diagrams/v32_s20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B901B8-27E8-4328-AA0B-6C29B0008F85}">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Appendix</a:t>
          </a:r>
        </a:p>
      </dsp:txBody>
      <dsp:txXfrm>
        <a:off x="56693" y="0"/>
        <a:ext cx="2508656" cy="283464"/>
      </dsp:txXfrm>
    </dsp:sp>
    <dsp:sp modelId="{3AAAE9D2-1344-4643-AA43-2A8F2D82248E}">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CE5359D8-4885-4FD6-96E3-EC640365AC46}">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E20A8324-5073-4681-BF09-1EBF8264B0BB}">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20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0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1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1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2Drawing21" minVer="http://schemas.openxmlformats.org/drawingml/2006/diagram"/>
    </a:ext>
  </dgm:extLst>
</dgm:dataModel>
</file>

<file path=ppt/diagrams/v32_s21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21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1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2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2Drawing22" minVer="http://schemas.openxmlformats.org/drawingml/2006/diagram"/>
    </a:ext>
  </dgm:extLst>
</dgm:dataModel>
</file>

<file path=ppt/diagrams/v32_s2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2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&#65279;<?xml version="1.0" encoding="utf-8"?><Relationships xmlns="http://schemas.openxmlformats.org/package/2006/relationships"><Relationship Type="http://schemas.openxmlformats.org/officeDocument/2006/relationships/theme" Target="/ppt/notesMasters/theme/theme3.xml" Id="Rb37553b4b4934e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5799d2a94c45b2" /><Relationship Type="http://schemas.openxmlformats.org/officeDocument/2006/relationships/notesMaster" Target="/ppt/notesMasters/notesMaster1.xml" Id="R7864d32fafbd48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13c5b95b344e6d" /><Relationship Type="http://schemas.openxmlformats.org/officeDocument/2006/relationships/notesMaster" Target="/ppt/notesMasters/notesMaster1.xml" Id="R261bea4bd5ab4d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afe967d2024645" /><Relationship Type="http://schemas.openxmlformats.org/officeDocument/2006/relationships/notesMaster" Target="/ppt/notesMasters/notesMaster1.xml" Id="R39cb7353da224f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c727873afe4a23" /><Relationship Type="http://schemas.openxmlformats.org/officeDocument/2006/relationships/notesMaster" Target="/ppt/notesMasters/notesMaster1.xml" Id="Rec47cbc2056949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be4aad3c634854" /><Relationship Type="http://schemas.openxmlformats.org/officeDocument/2006/relationships/notesMaster" Target="/ppt/notesMasters/notesMaster1.xml" Id="R6a074225d54c43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9b1c6840d2441c" /><Relationship Type="http://schemas.openxmlformats.org/officeDocument/2006/relationships/notesMaster" Target="/ppt/notesMasters/notesMaster1.xml" Id="Ra03ddc432a9c44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198295b2774f1b" /><Relationship Type="http://schemas.openxmlformats.org/officeDocument/2006/relationships/notesMaster" Target="/ppt/notesMasters/notesMaster1.xml" Id="R16a84619fdb744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ae6f1b2d3d40e2" /><Relationship Type="http://schemas.openxmlformats.org/officeDocument/2006/relationships/notesMaster" Target="/ppt/notesMasters/notesMaster1.xml" Id="R185bd718192041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3db4b34cdd43f8" /><Relationship Type="http://schemas.openxmlformats.org/officeDocument/2006/relationships/notesMaster" Target="/ppt/notesMasters/notesMaster1.xml" Id="R1d8725bdc80d4d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e56632e22f41ff" /><Relationship Type="http://schemas.openxmlformats.org/officeDocument/2006/relationships/notesMaster" Target="/ppt/notesMasters/notesMaster1.xml" Id="Rd51cefc60b9f44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c08646bc3b49ac" /><Relationship Type="http://schemas.openxmlformats.org/officeDocument/2006/relationships/notesMaster" Target="/ppt/notesMasters/notesMaster1.xml" Id="Rcdb13280b1cc45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b4c6614efd4816" /><Relationship Type="http://schemas.openxmlformats.org/officeDocument/2006/relationships/notesMaster" Target="/ppt/notesMasters/notesMaster1.xml" Id="R31e44c2e09ca4e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e7c70935bd485b" /><Relationship Type="http://schemas.openxmlformats.org/officeDocument/2006/relationships/notesMaster" Target="/ppt/notesMasters/notesMaster1.xml" Id="Rbbbfce241b894c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5847507a854341" /><Relationship Type="http://schemas.openxmlformats.org/officeDocument/2006/relationships/notesMaster" Target="/ppt/notesMasters/notesMaster1.xml" Id="R52dab3f9ca3b48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18608acc3d4c40" /><Relationship Type="http://schemas.openxmlformats.org/officeDocument/2006/relationships/notesMaster" Target="/ppt/notesMasters/notesMaster1.xml" Id="R778a5dc9fce349b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214f3ba542409f" /><Relationship Type="http://schemas.openxmlformats.org/officeDocument/2006/relationships/notesMaster" Target="/ppt/notesMasters/notesMaster1.xml" Id="Rcafa0f7cd9f9402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ac38962e064f02" /><Relationship Type="http://schemas.openxmlformats.org/officeDocument/2006/relationships/notesMaster" Target="/ppt/notesMasters/notesMaster1.xml" Id="Ra6a0b99718b64c7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b6f92f308f4e77" /><Relationship Type="http://schemas.openxmlformats.org/officeDocument/2006/relationships/notesMaster" Target="/ppt/notesMasters/notesMaster1.xml" Id="R3f92662622e64a6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48ee87fe1c6406d" /><Relationship Type="http://schemas.openxmlformats.org/officeDocument/2006/relationships/notesMaster" Target="/ppt/notesMasters/notesMaster1.xml" Id="R09acc01cfbcd47c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4211b30546949c1" /><Relationship Type="http://schemas.openxmlformats.org/officeDocument/2006/relationships/notesMaster" Target="/ppt/notesMasters/notesMaster1.xml" Id="Rc806116427f141c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280670008b741d3" /><Relationship Type="http://schemas.openxmlformats.org/officeDocument/2006/relationships/notesMaster" Target="/ppt/notesMasters/notesMaster1.xml" Id="Rf272a6f28416440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69bdb87590945b4" /><Relationship Type="http://schemas.openxmlformats.org/officeDocument/2006/relationships/notesMaster" Target="/ppt/notesMasters/notesMaster1.xml" Id="Raee2723b317a4f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xmlns:a="http://schemas.openxmlformats.org/drawingml/2006/main">
            <a:r>
              <a:t/>
            </a:r>
          </a:p>
          <a:p xmlns:a="http://schemas.openxmlformats.org/drawingml/2006/main">
            <a:r>
              <a:t>Previous revision notes retained for source history; revised slide values take precedence:</a:t>
            </a:r>
          </a:p>
          <a:p xmlns:a="http://schemas.openxmlformats.org/drawingml/2006/main">
            <a:r>
              <a:t>Speaker note: Walk through four sections: the project question, the analytical</a:t>
            </a:r>
          </a:p>
          <a:p xmlns:a="http://schemas.openxmlformats.org/drawingml/2006/main">
            <a:r>
              <a:t>requirements, the model-build problem and the delivery approach. The purpose is to</a:t>
            </a:r>
          </a:p>
          <a:p xmlns:a="http://schemas.openxmlformats.org/drawingml/2006/main">
            <a:r>
              <a:t>connect the analyst's tasks to the decisions the engagement needs to support.</a:t>
            </a:r>
          </a:p>
          <a:p xmlns:a="http://schemas.openxmlformats.org/drawingml/2006/main">
            <a:r>
              <a:t>Week 1 analytical pack, 6 October 2026. Existing kickoff cover/closing reused at user request.</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sales through 2023; energy balances and Stats SA activity; Eskom/IPP evidence. All 2025 segment allocations are estimates; other diesel retains an explicit residual.</a:t>
            </a:r>
          </a:p>
          <a:p xmlns:a="http://schemas.openxmlformats.org/drawingml/2006/main">
            <a:r>
              <a:t>Petrol: 8.86bn L. Diesel: 12.13bn L. Total demand falls from 21.94bn L in 2023 to an estimated 20.99bn L in 2025.</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2025 analytical workbook v02: registered demand assumptions and user-directed 5.8bn L domestic production case. Estimates are not reported actuals.</a:t>
            </a:r>
          </a:p>
          <a:p xmlns:a="http://schemas.openxmlformats.org/drawingml/2006/main">
            <a:r>
              <a:t>Activity adds 1.54bn L by 2030, broadly offsetting power, efficiency and rail reductions. Customer access determines Vopak capture.</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annual sales, 2013–2023. Estimated 2024–2025: analytical workbook v02. Earlier deck FIASA comparison figures are not spliced into this series.</a:t>
            </a:r>
          </a:p>
          <a:p xmlns:a="http://schemas.openxmlformats.org/drawingml/2006/main">
            <a:r>
              <a:t>Petrol remains below its earlier level; diesel demand responds more directly to freight, industry and power.</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Segments. 2021 energy-balance road volume; 75% of road diesel allocated to freight. Historical sector intensities at current activity.</a:t>
            </a:r>
          </a:p>
          <a:p xmlns:a="http://schemas.openxmlformats.org/drawingml/2006/main">
            <a:r>
              <a:t>Sector-attributed vehicle fuel stays in its sector; the road split is an explicit allocation assumption.</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Stats SA mining/manufacturing indices and agriculture real GVA; mean 2018–2021 fuel intensity. Sector diesel values after 2021 are estimates.</a:t>
            </a:r>
          </a:p>
          <a:p xmlns:a="http://schemas.openxmlformats.org/drawingml/2006/main">
            <a:r>
              <a:t>Sector activity produces different demand paths; applying one GDP growth rate would hide these differences.</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2023 sales; analytical workbook v02, Assumptions and Demand history. Activity and efficiency settings are authored planning assumptions.</a:t>
            </a:r>
          </a:p>
          <a:p xmlns:a="http://schemas.openxmlformats.org/drawingml/2006/main">
            <a:r>
              <a:t>The assumptions are explicit and editable; EV uptake is not counted again as a separate reduction.</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Eskom Integrated Report 2025 p141; staged source series. 679.1m L diesel + kerosene supersedes the earlier slide’s 677.9m figure for this scope.</a:t>
            </a:r>
          </a:p>
          <a:p xmlns:a="http://schemas.openxmlformats.org/drawingml/2006/main">
            <a:r>
              <a:t>The demand baseline replaces annual power consumption explicitly, so the decline is not hidden in a generic growth rate.</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Segments / Driver bridge. Private backup 2023/24/25: 0.8/0.6/0.2bn L. IPP conversion: 0.31 L/kWh. FY-to-calendar and fuel-mix assumptions apply.</a:t>
            </a:r>
          </a:p>
          <a:p xmlns:a="http://schemas.openxmlformats.org/drawingml/2006/main">
            <a:r>
              <a:t>Power demand can fall without an equivalent decline in transport or industrial demand.</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Stats SA P7162 December 2025 p7; all reported freight. Analytical workbook v02, Evidence.</a:t>
            </a:r>
          </a:p>
          <a:p xmlns:a="http://schemas.openxmlformats.org/drawingml/2006/main">
            <a:r>
              <a:t>Rail recovery changes fuel demand through eligible freight, distance, truck efficiency and the rail traction mix.</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Driver bridge and scenario assumptions. Shift interpreted as freight tonne-km share. Distances and eligibility remain assumed; cases also vary growth and efficiency.</a:t>
            </a:r>
          </a:p>
          <a:p xmlns:a="http://schemas.openxmlformats.org/drawingml/2006/main">
            <a:r>
              <a:t>These shifts apply to road-freight activity, not the entire diesel market; sector demand and power remain separate.</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Balance and Supply assumption. User direction 11 October 2026. Original plant-based estimate 10.23bn L retained in appendix.</a:t>
            </a:r>
          </a:p>
          <a:p xmlns:a="http://schemas.openxmlformats.org/drawingml/2006/main">
            <a:r>
              <a:t>5.8bn litres sets the planning case. Aggregate closure does not validate domestic output or its petrol/diesel split.</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Registered scenario assumptions; DR08 refinery evidence. Capacity inputs: SAPREF 180kb/d, PetroSA 45kb/d; 70% petrol/diesel yield in restart sensitivities. Dates are not project commitments.</a:t>
            </a:r>
          </a:p>
          <a:p xmlns:a="http://schemas.openxmlformats.org/drawingml/2006/main">
            <a:r>
              <a:t>Restart dates and ramp-up settings are scenario assumptions. Import-terminal operations can compete before refining resumes.</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Scenarios. Demand-implied gross imports = demand − domestic supply + 2025 exports. Zero stock change; 5.8bn L directed opening supply.</a:t>
            </a:r>
          </a:p>
          <a:p xmlns:a="http://schemas.openxmlformats.org/drawingml/2006/main">
            <a:r>
              <a:t>The base case balances activity growth against efficiency, rail and power reductions; supply assumptions drive the widest spread.</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Galp Matola announcement (3 Dec 2020); Petromoc logistics; Sasol Mozambique operations; SARS customs. URLs retained in notes / workbook.</a:t>
            </a:r>
          </a:p>
          <a:p xmlns:a="http://schemas.openxmlformats.org/drawingml/2006/main">
            <a:r>
              <a:t>Storage capacity, berth capacity and delivered South African volumes measure different things and are not added together.</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Mozambique. Distances, tariffs, border charges, financing and allocation are authored sensitivities, not carrier quotes or confirmed access.</a:t>
            </a:r>
          </a:p>
          <a:p xmlns:a="http://schemas.openxmlformats.org/drawingml/2006/main">
            <a:r>
              <a:t>Mozambique diversion changes the gateway serving demand. It does not reduce South Africa’s national import requirement.</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Registered market_review.yaml and market_review.json, 10 October. Capture is total conditional flow, not incremental sales; domestic and other-terminal Lesedi receipts are outside this screen.</a:t>
            </a:r>
          </a:p>
          <a:p xmlns:a="http://schemas.openxmlformats.org/drawingml/2006/main">
            <a:r>
              <a:t>The illustrative unique flow is 2.63bn litres. Adding Lesedi would double-count fuel handled at both sites.</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Registered terminal_site_assumptions.csv and market_review.json. Durban working subset is not the full terminal; access, peaks and current throughput remain open.</a:t>
            </a:r>
          </a:p>
          <a:p xmlns:a="http://schemas.openxmlformats.org/drawingml/2006/main">
            <a:r>
              <a:t>Working-tank arithmetic screens feasibility. Engineering limits and current customer flows determine actual headroom.</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2025 analytical workbook v02: registered demand assumptions and user-directed 5.8bn L domestic production case. Estimates are not reported actuals.</a:t>
            </a:r>
          </a:p>
          <a:p xmlns:a="http://schemas.openxmlformats.org/drawingml/2006/main">
            <a:r>
              <a:t>Next decisions: review the product balance, obtain route quotes and customer commitments, and establish usable capacity at both sites.</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Condensed from the supplied HG/Henry storyboard, external/partner_story_20261006/situation.png, complication.png and resolution.png. This page preserves the original analytical brief without inserting subsequent answers, capture assumptions or progress claims. Demand mechanism detail in the original: use Stats SA land transport and project private-sector rail participation; project EV/HEV penetration and its effect on litres per kilometre; assess higher fuel prices and kilometres travelled. Secunda original proposition: improved pure gas production from coal, potential diversion from fuel production due to MRG sales and possible extension to 2032. These are HG's propositions for analysis, not independently established outcomes. Full original wording is traced in workstreams/WS3_reporting_delivery/henry_verbatim_trace_2026-10-06.md and pptx/story/henry_question_answers_2026_10_06.json.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workbook v02, Supply assumption and Balance. Original plant estimate: Secunda 3.95, Natref 2.37, Astron 3.91bn L; 10.23bn total. These do not govern the directed case.</a:t>
            </a:r>
          </a:p>
          <a:p xmlns:a="http://schemas.openxmlformats.org/drawingml/2006/main">
            <a:r>
              <a:t>The 5.8bn L override uses the original estimated production mix. Offsetting product differences remain visible; no product allocation is claimed as verified.</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register: REG-SA-ANALYTICS-202510 and REG-SA-STORY-CASE-2025. Exception EXC-SA-ANALYTICS-202510; review before external use, expiry 12 November 2026.</a:t>
            </a:r>
          </a:p>
          <a:p xmlns:a="http://schemas.openxmlformats.org/drawingml/2006/main">
            <a:r>
              <a:t>Planning assumptions remain editable in workbook v02. Source observations, estimates and sensitivities retain separate labels.</a:t>
            </a:r>
            <a:endParaRPr/>
          </a:p>
          <a:p xmlns:a="http://schemas.openxmlformats.org/drawingml/2006/main">
            <a:r>
              <a:t>Planning baseline: user-directed 5.8bn litres of domestic petrol/diesel production; not reported output. Workbook: SA_Fuel_Analytics_2025_Baseline_2026-10-11_v02.xlsx.</a:t>
            </a:r>
            <a:endParaRPr/>
          </a:p>
          <a:p xmlns:a="http://schemas.openxmlformats.org/drawingml/2006/main">
            <a:r>
              <a:t>Mozambique sources: https://www.galp.com/corp/pt/media/comunicados-de-imprensa/comunicado/id/1172 ; https://www.petromoc.co.mz/product-service/logistica/ ; https://sasol.com/our-businesses/energy/gas-sourcing-and-operations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e50df56353400b" /><Relationship Type="http://schemas.openxmlformats.org/officeDocument/2006/relationships/image" Target="/ppt/media/image.jpeg" Id="R50e9493e9a8142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1bc7dd53c74e67" /><Relationship Type="http://schemas.openxmlformats.org/officeDocument/2006/relationships/image" Target="/ppt/media/image2.jpeg" Id="Rcc9fffb1fcca495d" /><Relationship Type="http://schemas.openxmlformats.org/officeDocument/2006/relationships/image" Target="/ppt/media/image2.png" Id="R5bacddd4d6f44c4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41734acf604081" /><Relationship Type="http://schemas.openxmlformats.org/officeDocument/2006/relationships/image" Target="/ppt/media/image2.jpeg" Id="R646426ac6afb44c3" /><Relationship Type="http://schemas.openxmlformats.org/officeDocument/2006/relationships/image" Target="/ppt/media/image2.png" Id="R50b7492312c046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8d9168430f40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4955aeaec547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bb339133354800" /></Relationships>
</file>

<file path=ppt/slideLayouts/slideLayout1.xml><?xml version="1.0" encoding="utf-8"?>
<p:sldLayout xmlns:p="http://schemas.openxmlformats.org/presentationml/2006/main" preserve="1" userDrawn="1">
  <p:cSld name="Title">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pic>
        <p:nvPicPr>
          <p:cNvPr id="12" name="Picture 3"/>
          <p:cNvPicPr>
            <a:picLocks xmlns:a="http://schemas.openxmlformats.org/drawingml/2006/main" noChangeAspect="1"/>
          </p:cNvPicPr>
          <p:nvPr/>
        </p:nvPicPr>
        <p:blipFill rotWithShape="1">
          <a:blip xmlns:r="http://schemas.openxmlformats.org/officeDocument/2006/relationships" xmlns:a="http://schemas.openxmlformats.org/drawingml/2006/main" r:embed="R50e9493e9a8142d3"/>
          <a:srcRect xmlns:a="http://schemas.openxmlformats.org/drawingml/2006/main" l="0" t="0" r="0" b="0"/>
          <a:stretch xmlns:a="http://schemas.openxmlformats.org/drawingml/2006/main"/>
        </p:blipFill>
        <p:spPr>
          <a:xfrm xmlns:a="http://schemas.openxmlformats.org/drawingml/2006/main">
            <a:off x="0" y="1"/>
            <a:ext cx="11588750" cy="6858000"/>
          </a:xfrm>
          <a:prstGeom xmlns:a="http://schemas.openxmlformats.org/drawingml/2006/main" prst="rect">
            <a:avLst/>
          </a:prstGeom>
        </p:spPr>
      </p:pic>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 y="5137149"/>
            <a:ext cx="4933950" cy="1571625"/>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Tree>
  </p:cSld>
</p:sldLayout>
</file>

<file path=ppt/slideLayouts/slideLayout2.xml><?xml version="1.0" encoding="utf-8"?>
<p:sldLayout xmlns:p="http://schemas.openxmlformats.org/presentationml/2006/main" preserve="1" userDrawn="1">
  <p:cSld name="1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cc9fffb1fcca495d"/>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7" name="Rectangle 6">
            <a:extLst xmlns:a="http://schemas.openxmlformats.org/drawingml/2006/main">
              <a:ext uri="{FF2B5EF4-FFF2-40B4-BE49-F238E27FC236}">
                <a16:creationId xmlns:a16="http://schemas.microsoft.com/office/drawing/2014/main" id="{3E92D3BD-B933-88AB-9C21-59605B00713D}"/>
              </a:ext>
            </a:extLst>
          </p:cNvPr>
          <p:cNvSpPr>
            <a:spLocks xmlns:a="http://schemas.openxmlformats.org/drawingml/2006/main" noGrp="1"/>
          </p:cNvSpPr>
          <p:nvPr/>
        </p:nvSpPr>
        <p:spPr>
          <a:xfrm xmlns:a="http://schemas.openxmlformats.org/drawingml/2006/main">
            <a:off x="5111750" y="5727050"/>
            <a:ext cx="6477000" cy="4571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10" name="Cover title panel">
            <a:extLst xmlns:a="http://schemas.openxmlformats.org/drawingml/2006/main">
              <a:ext uri="{FF2B5EF4-FFF2-40B4-BE49-F238E27FC236}">
                <a16:creationId xmlns:a16="http://schemas.microsoft.com/office/drawing/2014/main" id="{B6CC79FF-F297-46B4-B0E4-850EE5B89B78}"/>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Vopak cover logo"/>
          <p:cNvPicPr>
            <a:picLocks xmlns:a="http://schemas.openxmlformats.org/drawingml/2006/main" noChangeAspect="1"/>
          </p:cNvPicPr>
          <p:nvPr/>
        </p:nvPicPr>
        <p:blipFill>
          <a:blip xmlns:r="http://schemas.openxmlformats.org/officeDocument/2006/relationships" xmlns:a="http://schemas.openxmlformats.org/drawingml/2006/main" r:embed="R5bacddd4d6f44c43"/>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3.xml><?xml version="1.0" encoding="utf-8"?>
<p:sldLayout xmlns:p="http://schemas.openxmlformats.org/presentationml/2006/main" preserve="1" userDrawn="1">
  <p:cSld name="2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646426ac6afb44c3"/>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10" name="Cover title panel">
            <a:extLst xmlns:a="http://schemas.openxmlformats.org/drawingml/2006/main">
              <a:ext uri="{FF2B5EF4-FFF2-40B4-BE49-F238E27FC236}">
                <a16:creationId xmlns:a16="http://schemas.microsoft.com/office/drawing/2014/main" id="{571FD3DD-6D32-43BA-B044-BAFA89A96F83}"/>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 name="Vopak cover logo"/>
          <p:cNvPicPr>
            <a:picLocks xmlns:a="http://schemas.openxmlformats.org/drawingml/2006/main" noChangeAspect="1"/>
          </p:cNvPicPr>
          <p:nvPr/>
        </p:nvPicPr>
        <p:blipFill>
          <a:blip xmlns:r="http://schemas.openxmlformats.org/officeDocument/2006/relationships" xmlns:a="http://schemas.openxmlformats.org/drawingml/2006/main" r:embed="R50b7492312c04619"/>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4.xml><?xml version="1.0" encoding="utf-8"?>
<p:sldLayout xmlns:p="http://schemas.openxmlformats.org/presentationml/2006/main" preserve="1" userDrawn="1">
  <p:cSld name="1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4299527"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5.xml><?xml version="1.0" encoding="utf-8"?>
<p:sldLayout xmlns:p="http://schemas.openxmlformats.org/presentationml/2006/main" preserve="1" userDrawn="1">
  <p:cSld name="2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5823528"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6.xml><?xml version="1.0" encoding="utf-8"?>
<p:sldLayout xmlns:p="http://schemas.openxmlformats.org/presentationml/2006/main" preserve="1" userDrawn="1">
  <p:cSld name="Header only">
    <p:spTree>
      <p:nvGrpSpPr>
        <p:cNvPr id="1" name=""/>
        <p:cNvGrpSpPr/>
        <p:nvPr/>
      </p:nvGrpSpPr>
      <p:grpSpPr>
        <a:xfrm xmlns:a="http://schemas.openxmlformats.org/drawingml/2006/main"/>
      </p:grpSpPr>
      <p:sp>
        <p:nvSpPr>
          <p:cNvPr id="6" name="Slide Number Placeholder 5">
            <a:extLst xmlns:a="http://schemas.openxmlformats.org/drawingml/2006/main">
              <a:ext uri="{FF2B5EF4-FFF2-40B4-BE49-F238E27FC236}">
                <a16:creationId xmlns:a16="http://schemas.microsoft.com/office/drawing/2014/main" id="{2196FAB5-3A31-4A82-B70E-C4CDDAD20A82}"/>
              </a:ext>
            </a:extLst>
          </p:cNvPr>
          <p:cNvSpPr>
            <a:spLocks xmlns:a="http://schemas.openxmlformats.org/drawingml/2006/main" noGrp="1"/>
          </p:cNvSpPr>
          <p:nvPr>
            <p:ph type="sldNum" idx="12"/>
          </p:nvPr>
        </p:nvSpPr>
        <p:spPr>
          <a:xfrm xmlns:a="http://schemas.openxmlformats.org/drawingml/2006/main">
            <a:off x="10605599" y="6489700"/>
            <a:ext cx="805350" cy="287338"/>
          </a:xfrm>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A65E4EDC-57F8-4D5C-B13E-A981C5F2F71A}" type="slidenum">
              <a:rPr>
                <a:solidFill>
                  <a:schemeClr val="tx1"/>
                </a:solidFill>
              </a:rPr>
              <a:t>‹#›</a:t>
            </a:fld>
            <a:endParaRPr>
              <a:solidFill>
                <a:schemeClr val="tx1"/>
              </a:solidFill>
            </a:endParaRPr>
          </a:p>
        </p:txBody>
      </p:sp>
      <p:sp>
        <p:nvSpPr>
          <p:cNvPr id="3" name="Title Placeholder 1">
            <a:extLst xmlns:a="http://schemas.openxmlformats.org/drawingml/2006/main">
              <a:ext uri="{FF2B5EF4-FFF2-40B4-BE49-F238E27FC236}">
                <a16:creationId xmlns:a16="http://schemas.microsoft.com/office/drawing/2014/main" id="{8395ED8E-92E9-32C5-9BE4-BAF8026DD357}"/>
              </a:ext>
            </a:extLst>
          </p:cNvPr>
          <p:cNvSpPr>
            <a:spLocks xmlns:a="http://schemas.openxmlformats.org/drawingml/2006/main" noGrp="1"/>
          </p:cNvSpPr>
          <p:nvPr>
            <p:ph type="title" idx="0"/>
          </p:nvPr>
        </p:nvSpPr>
        <p:spPr>
          <a:xfrm xmlns:a="http://schemas.openxmlformats.org/drawingml/2006/main">
            <a:off x="457200" y="585216"/>
            <a:ext cx="10561320" cy="82296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rPr>
                <a:solidFill>
                  <a:schemeClr val="tx1"/>
                </a:solidFill>
              </a:rPr>
              <a:t>Click to edit Master title style</a:t>
            </a:r>
          </a:p>
        </p:txBody>
      </p:sp>
      <p:sp>
        <p:nvSpPr>
          <p:cNvPr id="7" name="Title and body separator">
            <a:extLst xmlns:a="http://schemas.openxmlformats.org/drawingml/2006/main">
              <a:ext uri="{FF2B5EF4-FFF2-40B4-BE49-F238E27FC236}">
                <a16:creationId xmlns:a16="http://schemas.microsoft.com/office/drawing/2014/main" id="{6079D373-E04F-4CB2-8D62-0EE11526CD3C}"/>
              </a:ext>
            </a:extLst>
          </p:cNvPr>
          <p:cNvSpPr>
            <a:spLocks xmlns:a="http://schemas.openxmlformats.org/drawingml/2006/main" noGrp="1"/>
          </p:cNvSpPr>
          <p:nvPr/>
        </p:nvSpPr>
        <p:spPr>
          <a:xfrm xmlns:a="http://schemas.openxmlformats.org/drawingml/2006/main">
            <a:off x="457200" y="1444752"/>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f34942bf13be404e" /><Relationship Type="http://schemas.openxmlformats.org/officeDocument/2006/relationships/theme" Target="/ppt/slideMasters/theme/theme2.xml" Id="R6664f6ad47c24543" /><Relationship Type="http://schemas.openxmlformats.org/officeDocument/2006/relationships/slideLayout" Target="/ppt/slideLayouts/slideLayout1.xml" Id="Rfb293b85e55a4d12" /><Relationship Type="http://schemas.openxmlformats.org/officeDocument/2006/relationships/slideLayout" Target="/ppt/slideLayouts/slideLayout2.xml" Id="R19b0ac2a4acb4153" /><Relationship Type="http://schemas.openxmlformats.org/officeDocument/2006/relationships/slideLayout" Target="/ppt/slideLayouts/slideLayout3.xml" Id="Rb8fd12196b404f79" /><Relationship Type="http://schemas.openxmlformats.org/officeDocument/2006/relationships/slideLayout" Target="/ppt/slideLayouts/slideLayout4.xml" Id="R93271bd04461466b" /><Relationship Type="http://schemas.openxmlformats.org/officeDocument/2006/relationships/slideLayout" Target="/ppt/slideLayouts/slideLayout5.xml" Id="R455ce3605a284668" /><Relationship Type="http://schemas.openxmlformats.org/officeDocument/2006/relationships/slideLayout" Target="/ppt/slideLayouts/slideLayout6.xml" Id="R258718451b8f485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5C860AC-EA18-440E-B23B-E92B7C49F015}"/>
              </a:ext>
            </a:extLst>
          </p:cNvPr>
          <p:cNvSpPr>
            <a:spLocks xmlns:a="http://schemas.openxmlformats.org/drawingml/2006/main" noGrp="1"/>
          </p:cNvSpPr>
          <p:nvPr>
            <p:ph type="title" idx="0"/>
          </p:nvPr>
        </p:nvSpPr>
        <p:spPr>
          <a:xfrm xmlns:a="http://schemas.openxmlformats.org/drawingml/2006/main">
            <a:off x="177801" y="368299"/>
            <a:ext cx="11233148" cy="690101"/>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8C59D33E-9E34-4BB4-9EFE-331A0FF3C833}"/>
              </a:ext>
            </a:extLst>
          </p:cNvPr>
          <p:cNvSpPr>
            <a:spLocks xmlns:a="http://schemas.openxmlformats.org/drawingml/2006/main" noGrp="1"/>
          </p:cNvSpPr>
          <p:nvPr>
            <p:ph type="body" idx="1"/>
          </p:nvPr>
        </p:nvSpPr>
        <p:spPr>
          <a:xfrm xmlns:a="http://schemas.openxmlformats.org/drawingml/2006/main">
            <a:off x="177801" y="1233488"/>
            <a:ext cx="11233149" cy="5256212"/>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endParaRPr/>
          </a:p>
        </p:txBody>
      </p:sp>
      <p:sp>
        <p:nvSpPr>
          <p:cNvPr id="6" name="Slide Number Placeholder 5">
            <a:extLst xmlns:a="http://schemas.openxmlformats.org/drawingml/2006/main">
              <a:ext uri="{FF2B5EF4-FFF2-40B4-BE49-F238E27FC236}">
                <a16:creationId xmlns:a16="http://schemas.microsoft.com/office/drawing/2014/main" id="{A722AEE9-FEF7-46B6-98E2-A569C4A8AD3C}"/>
              </a:ext>
            </a:extLst>
          </p:cNvPr>
          <p:cNvSpPr>
            <a:spLocks xmlns:a="http://schemas.openxmlformats.org/drawingml/2006/main" noGrp="1"/>
          </p:cNvSpPr>
          <p:nvPr>
            <p:ph type="sldNum" idx="4"/>
          </p:nvPr>
        </p:nvSpPr>
        <p:spPr>
          <a:xfrm xmlns:a="http://schemas.openxmlformats.org/drawingml/2006/main">
            <a:off x="10605599" y="6489700"/>
            <a:ext cx="805350" cy="28733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pic>
        <p:nvPicPr>
          <p:cNvPr id="15" name="Picture 2"/>
          <p:cNvPicPr>
            <a:picLocks xmlns:a="http://schemas.openxmlformats.org/drawingml/2006/main" noChangeAspect="1"/>
          </p:cNvPicPr>
          <p:nvPr/>
        </p:nvPicPr>
        <p:blipFill>
          <a:blip xmlns:r="http://schemas.openxmlformats.org/officeDocument/2006/relationships" xmlns:a="http://schemas.openxmlformats.org/drawingml/2006/main" r:embed="Rf34942bf13be404e"/>
          <a:srcRect xmlns:a="http://schemas.openxmlformats.org/drawingml/2006/main" l="0" t="0" r="0" b="0"/>
          <a:stretch xmlns:a="http://schemas.openxmlformats.org/drawingml/2006/main">
            <a:fillRect l="0" t="0" r="0" b="0"/>
          </a:stretch>
        </p:blipFill>
        <p:spPr>
          <a:xfrm xmlns:a="http://schemas.openxmlformats.org/drawingml/2006/main">
            <a:off x="9906000" y="6515100"/>
            <a:ext cx="952500" cy="212558"/>
          </a:xfrm>
          <a:prstGeom xmlns:a="http://schemas.openxmlformats.org/drawingml/2006/main" prst="rect">
            <a:avLst/>
          </a:prstGeom>
        </p:spPr>
      </p:pic>
      <p:sp>
        <p:nvSpPr>
          <p:cNvPr id="9" name="Text Placeholder 6">
            <a:extLst xmlns:a="http://schemas.openxmlformats.org/drawingml/2006/main">
              <a:ext uri="{FF2B5EF4-FFF2-40B4-BE49-F238E27FC236}">
                <a16:creationId xmlns:a16="http://schemas.microsoft.com/office/drawing/2014/main" id="{5CB3F387-66D0-18CC-51EE-24B908A792B7}"/>
              </a:ext>
            </a:extLst>
          </p:cNvPr>
          <p:cNvSpPr>
            <a:spLocks xmlns:a="http://schemas.openxmlformats.org/drawingml/2006/main" noGrp="1"/>
          </p:cNvSpPr>
          <p:nvPr/>
        </p:nvSpPr>
        <p:spPr>
          <a:xfrm xmlns:a="http://schemas.openxmlformats.org/drawingml/2006/main">
            <a:off x="457200" y="6528816"/>
            <a:ext cx="8595360" cy="228600"/>
          </a:xfrm>
          <a:prstGeom xmlns:a="http://schemas.openxmlformats.org/drawingml/2006/main" prst="rect">
            <a:avLst/>
          </a:prstGeom>
        </p:spPr>
        <p:txBody>
          <a:bodyPr xmlns:a="http://schemas.openxmlformats.org/drawingml/2006/main" tIns="0" bIns="0" anchor="ctr">
            <a:normAutofit/>
          </a:bodyPr>
          <a:lstStyle xmlns:a="http://schemas.openxmlformats.org/drawingml/2006/main">
            <a:lvl1pPr marL="0" indent="0" algn="l" defTabSz="869137">
              <a:lnSpc>
                <a:spcPct val="90000"/>
              </a:lnSpc>
              <a:spcBef>
                <a:spcPts val="951"/>
              </a:spcBef>
              <a:buFont typeface="Arial"/>
              <a:buNone/>
              <a:defRPr sz="1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a:lstStyle>
          <a:p xmlns:a="http://schemas.openxmlformats.org/drawingml/2006/main">
            <a:pPr>
              <a:buNone/>
              <a:defRPr sz="800">
                <a:solidFill>
                  <a:srgbClr val="404040"/>
                </a:solidFill>
                <a:latin typeface="Lato"/>
                <a:ea typeface="Lato"/>
                <a:cs typeface="Lato"/>
              </a:defRPr>
            </a:pPr>
            <a:endParaRPr/>
          </a:p>
        </p:txBody>
      </p:sp>
      <p:sp>
        <p:nvSpPr>
          <p:cNvPr id="10" name="Fine footer rule">
            <a:extLst xmlns:a="http://schemas.openxmlformats.org/drawingml/2006/main">
              <a:ext uri="{FF2B5EF4-FFF2-40B4-BE49-F238E27FC236}">
                <a16:creationId xmlns:a16="http://schemas.microsoft.com/office/drawing/2014/main" id="{B4062CE9-9215-4788-A6E3-2613DEB91A9E}"/>
              </a:ext>
            </a:extLst>
          </p:cNvPr>
          <p:cNvSpPr>
            <a:spLocks xmlns:a="http://schemas.openxmlformats.org/drawingml/2006/main" noGrp="1"/>
          </p:cNvSpPr>
          <p:nvPr/>
        </p:nvSpPr>
        <p:spPr>
          <a:xfrm xmlns:a="http://schemas.openxmlformats.org/drawingml/2006/main">
            <a:off x="457200" y="6437376"/>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293b85e55a4d12"/>
    <p:sldLayoutId xmlns:r="http://schemas.openxmlformats.org/officeDocument/2006/relationships" id="2147483650" r:id="R19b0ac2a4acb4153"/>
    <p:sldLayoutId xmlns:r="http://schemas.openxmlformats.org/officeDocument/2006/relationships" id="2147483651" r:id="Rb8fd12196b404f79"/>
    <p:sldLayoutId xmlns:r="http://schemas.openxmlformats.org/officeDocument/2006/relationships" id="2147483652" r:id="R93271bd04461466b"/>
    <p:sldLayoutId xmlns:r="http://schemas.openxmlformats.org/officeDocument/2006/relationships" id="2147483653" r:id="R455ce3605a284668"/>
    <p:sldLayoutId xmlns:r="http://schemas.openxmlformats.org/officeDocument/2006/relationships" id="2147483654" r:id="R258718451b8f485c"/>
  </p:sldLayoutIdLst>
  <p:hf hdr="0" ftr="0" dt="0"/>
  <p:txStyles>
    <p:titleStyle>
      <a:lvl1pPr xmlns:a="http://schemas.openxmlformats.org/drawingml/2006/main" algn="l" defTabSz="869137">
        <a:lnSpc>
          <a:spcPct val="90000"/>
        </a:lnSpc>
        <a:spcBef>
          <a:spcPct val="0"/>
        </a:spcBef>
        <a:buNone/>
        <a:defRPr sz="2200" b="1" kern="1200">
          <a:solidFill>
            <a:schemeClr val="tx1"/>
          </a:solidFill>
          <a:latin typeface="+mj-lt"/>
          <a:ea typeface="+mj-lt"/>
          <a:cs typeface="+mj-lt"/>
        </a:defRPr>
      </a:lvl1pPr>
    </p:titleStyle>
    <p:bodyStyle>
      <a:lvl1pPr xmlns:a="http://schemas.openxmlformats.org/drawingml/2006/main" marL="217284" indent="-217284" algn="l" defTabSz="869137">
        <a:lnSpc>
          <a:spcPct val="90000"/>
        </a:lnSpc>
        <a:spcBef>
          <a:spcPts val="951"/>
        </a:spcBef>
        <a:buFont typeface="Arial"/>
        <a:buChar char="•"/>
        <a:defRPr sz="2000" kern="1200">
          <a:solidFill>
            <a:schemeClr val="tx1"/>
          </a:solidFill>
          <a:latin typeface="+mn-lt"/>
          <a:ea typeface="+mn-lt"/>
          <a:cs typeface="+mn-lt"/>
        </a:defRPr>
      </a:lvl1pPr>
      <a:lvl2pPr xmlns:a="http://schemas.openxmlformats.org/drawingml/2006/main"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xmlns:a="http://schemas.openxmlformats.org/drawingml/2006/main"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xmlns:a="http://schemas.openxmlformats.org/drawingml/2006/main"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xmlns:a="http://schemas.openxmlformats.org/drawingml/2006/main"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xmlns:a="http://schemas.openxmlformats.org/drawingml/2006/main"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xmlns:a="http://schemas.openxmlformats.org/drawingml/2006/main"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xmlns:a="http://schemas.openxmlformats.org/drawingml/2006/main"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xmlns:a="http://schemas.openxmlformats.org/drawingml/2006/main" marL="3693833" indent="-217284" algn="l" defTabSz="869137">
        <a:lnSpc>
          <a:spcPct val="90000"/>
        </a:lnSpc>
        <a:spcBef>
          <a:spcPts val="475"/>
        </a:spcBef>
        <a:buFont typeface="Arial"/>
        <a:buChar char="•"/>
        <a:defRPr sz="1711" kern="1200">
          <a:solidFill>
            <a:schemeClr val="tx1"/>
          </a:solidFill>
          <a:latin typeface="+mn-lt"/>
          <a:ea typeface="+mn-lt"/>
          <a:cs typeface="+mn-lt"/>
        </a:defRPr>
      </a:lvl9pPr>
    </p:bodyStyle>
    <p:otherStyle>
      <a:lvl1pPr xmlns:a="http://schemas.openxmlformats.org/drawingml/2006/main" marL="0" algn="l" defTabSz="869137">
        <a:buNone/>
        <a:defRPr sz="1711" kern="1200">
          <a:solidFill>
            <a:schemeClr val="tx1"/>
          </a:solidFill>
          <a:latin typeface="+mn-lt"/>
          <a:ea typeface="+mn-lt"/>
          <a:cs typeface="+mn-lt"/>
        </a:defRPr>
      </a:lvl1pPr>
      <a:lvl2pPr xmlns:a="http://schemas.openxmlformats.org/drawingml/2006/main" marL="434569" algn="l" defTabSz="869137">
        <a:buNone/>
        <a:defRPr sz="1711" kern="1200">
          <a:solidFill>
            <a:schemeClr val="tx1"/>
          </a:solidFill>
          <a:latin typeface="+mn-lt"/>
          <a:ea typeface="+mn-lt"/>
          <a:cs typeface="+mn-lt"/>
        </a:defRPr>
      </a:lvl2pPr>
      <a:lvl3pPr xmlns:a="http://schemas.openxmlformats.org/drawingml/2006/main" marL="869137" algn="l" defTabSz="869137">
        <a:buNone/>
        <a:defRPr sz="1711" kern="1200">
          <a:solidFill>
            <a:schemeClr val="tx1"/>
          </a:solidFill>
          <a:latin typeface="+mn-lt"/>
          <a:ea typeface="+mn-lt"/>
          <a:cs typeface="+mn-lt"/>
        </a:defRPr>
      </a:lvl3pPr>
      <a:lvl4pPr xmlns:a="http://schemas.openxmlformats.org/drawingml/2006/main" marL="1303706" algn="l" defTabSz="869137">
        <a:buNone/>
        <a:defRPr sz="1711" kern="1200">
          <a:solidFill>
            <a:schemeClr val="tx1"/>
          </a:solidFill>
          <a:latin typeface="+mn-lt"/>
          <a:ea typeface="+mn-lt"/>
          <a:cs typeface="+mn-lt"/>
        </a:defRPr>
      </a:lvl4pPr>
      <a:lvl5pPr xmlns:a="http://schemas.openxmlformats.org/drawingml/2006/main" marL="1738274" algn="l" defTabSz="869137">
        <a:buNone/>
        <a:defRPr sz="1711" kern="1200">
          <a:solidFill>
            <a:schemeClr val="tx1"/>
          </a:solidFill>
          <a:latin typeface="+mn-lt"/>
          <a:ea typeface="+mn-lt"/>
          <a:cs typeface="+mn-lt"/>
        </a:defRPr>
      </a:lvl5pPr>
      <a:lvl6pPr xmlns:a="http://schemas.openxmlformats.org/drawingml/2006/main" marL="2172843" algn="l" defTabSz="869137">
        <a:buNone/>
        <a:defRPr sz="1711" kern="1200">
          <a:solidFill>
            <a:schemeClr val="tx1"/>
          </a:solidFill>
          <a:latin typeface="+mn-lt"/>
          <a:ea typeface="+mn-lt"/>
          <a:cs typeface="+mn-lt"/>
        </a:defRPr>
      </a:lvl6pPr>
      <a:lvl7pPr xmlns:a="http://schemas.openxmlformats.org/drawingml/2006/main" marL="2607412" algn="l" defTabSz="869137">
        <a:buNone/>
        <a:defRPr sz="1711" kern="1200">
          <a:solidFill>
            <a:schemeClr val="tx1"/>
          </a:solidFill>
          <a:latin typeface="+mn-lt"/>
          <a:ea typeface="+mn-lt"/>
          <a:cs typeface="+mn-lt"/>
        </a:defRPr>
      </a:lvl7pPr>
      <a:lvl8pPr xmlns:a="http://schemas.openxmlformats.org/drawingml/2006/main" marL="3041980" algn="l" defTabSz="869137">
        <a:buNone/>
        <a:defRPr sz="1711" kern="1200">
          <a:solidFill>
            <a:schemeClr val="tx1"/>
          </a:solidFill>
          <a:latin typeface="+mn-lt"/>
          <a:ea typeface="+mn-lt"/>
          <a:cs typeface="+mn-lt"/>
        </a:defRPr>
      </a:lvl8pPr>
      <a:lvl9pPr xmlns:a="http://schemas.openxmlformats.org/drawingml/2006/main" marL="3476549" algn="l" defTabSz="869137">
        <a:buNone/>
        <a:defRPr sz="1711" kern="1200">
          <a:solidFill>
            <a:schemeClr val="tx1"/>
          </a:solidFill>
          <a:latin typeface="+mn-lt"/>
          <a:ea typeface="+mn-lt"/>
          <a:cs typeface="+mn-lt"/>
        </a:defRPr>
      </a:lvl9pPr>
    </p:otherStyle>
  </p:txStyles>
  <p:extLst>
    <p:ext uri="{27BBF7A9-308A-43DC-89C8-2F10F3537804}">
      <p15:sldGuideLst xmlns:p15="http://schemas.microsoft.com/office/powerpoint/2012/main">
        <p15:guide id="12" orient="horz" pos="2160" userDrawn="1">
          <p15:clr>
            <a:srgbClr xmlns:a="http://schemas.openxmlformats.org/drawingml/2006/main" val="F26B43"/>
          </p15:clr>
        </p15:guide>
        <p15:guide id="13" pos="112" userDrawn="1">
          <p15:clr>
            <a:srgbClr xmlns:a="http://schemas.openxmlformats.org/drawingml/2006/main" val="F26B43"/>
          </p15:clr>
        </p15:guide>
        <p15:guide id="14" orient="horz" pos="4269" userDrawn="1">
          <p15:clr>
            <a:srgbClr xmlns:a="http://schemas.openxmlformats.org/drawingml/2006/main" val="F26B43"/>
          </p15:clr>
        </p15:guide>
        <p15:guide id="15" pos="3650" userDrawn="1">
          <p15:clr>
            <a:srgbClr xmlns:a="http://schemas.openxmlformats.org/drawingml/2006/main" val="F26B43"/>
          </p15:clr>
        </p15:guide>
        <p15:guide id="16" pos="7188" userDrawn="1">
          <p15:clr>
            <a:srgbClr xmlns:a="http://schemas.openxmlformats.org/drawingml/2006/main" val="F26B43"/>
          </p15:clr>
        </p15:guide>
        <p15:guide id="17" orient="horz" pos="28" userDrawn="1">
          <p15:clr>
            <a:srgbClr xmlns:a="http://schemas.openxmlformats.org/drawingml/2006/main" val="F26B43"/>
          </p15:clr>
        </p15:guide>
        <p15:guide id="18" orient="horz" pos="686" userDrawn="1">
          <p15:clr>
            <a:srgbClr xmlns:a="http://schemas.openxmlformats.org/drawingml/2006/main" val="F26B43"/>
          </p15:clr>
        </p15:guide>
        <p15:guide id="19" orient="horz" pos="777" userDrawn="1">
          <p15:clr>
            <a:srgbClr xmlns:a="http://schemas.openxmlformats.org/drawingml/2006/main" val="F26B43"/>
          </p15:clr>
        </p15:guide>
        <p15:guide id="20" orient="horz" pos="4088" userDrawn="1">
          <p15:clr>
            <a:srgbClr xmlns:a="http://schemas.openxmlformats.org/drawingml/2006/main" val="F26B43"/>
          </p15:clr>
        </p15:guide>
        <p15:guide id="21" orient="horz" pos="3680" userDrawn="1">
          <p15:clr>
            <a:srgbClr xmlns:a="http://schemas.openxmlformats.org/drawingml/2006/main" val="F26B43"/>
          </p15:clr>
        </p15:guide>
        <p15:guide id="22" orient="horz" pos="3566" userDrawn="1">
          <p15:clr>
            <a:srgbClr xmlns:a="http://schemas.openxmlformats.org/drawingml/2006/main" val="F26B43"/>
          </p15:clr>
        </p15:guide>
        <p15:guide id="23" pos="5805" userDrawn="1">
          <p15:clr>
            <a:srgbClr xmlns:a="http://schemas.openxmlformats.org/drawingml/2006/main" val="F26B43"/>
          </p15:clr>
        </p15:guide>
      </p15:sldGuideLst>
    </p:ext>
  </p:extLst>
</p:sldMaster>
</file>

<file path=ppt/slideMasters/theme/theme2.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4ca4dcf72bd643df" /><Relationship Type="http://schemas.openxmlformats.org/officeDocument/2006/relationships/image" Target="/ppt/media/image3.jpeg" Id="R4485c0331a0e4cd2" /><Relationship Type="http://schemas.openxmlformats.org/officeDocument/2006/relationships/image" Target="/ppt/media/image3.png" Id="R2c606bc80f62489b" /><Relationship Type="http://schemas.openxmlformats.org/officeDocument/2006/relationships/notesSlide" Target="/ppt/notesSlides/notesSlide1.xml" Id="R6029ae4832f14f45"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d00ac8918ed94173"/><Relationship Type="http://schemas.openxmlformats.org/officeDocument/2006/relationships/notesSlide" Target="/ppt/notesSlides/notesSlide2.xml" Id="Re27fead6df0a4f47"/><Relationship Id="rIdSmartArt3" Type="http://schemas.openxmlformats.org/officeDocument/2006/relationships/diagramData" Target="../diagrams/v32_s2_data1.xml"/><Relationship Id="rIdSmartArt4" Type="http://schemas.openxmlformats.org/officeDocument/2006/relationships/diagramLayout" Target="../diagrams/v32_s2_layout1.xml"/><Relationship Id="rIdSmartArt5" Type="http://schemas.openxmlformats.org/officeDocument/2006/relationships/diagramQuickStyle" Target="../diagrams/v32_s2_quickStyle1.xml"/><Relationship Id="rIdSmartArt6" Type="http://schemas.openxmlformats.org/officeDocument/2006/relationships/diagramColors" Target="../diagrams/v32_s2_colors1.xml"/><Relationship Id="rIdV32Drawing2" Type="http://schemas.microsoft.com/office/2007/relationships/diagramDrawing" Target="../diagrams/v32_s2_drawing1.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87b0e3eeeafc4197"/><Relationship Type="http://schemas.openxmlformats.org/officeDocument/2006/relationships/notesSlide" Target="/ppt/notesSlides/notesSlide3.xml" Id="R0d9fb4fa937043f9"/><Relationship Id="rIdSmartArt3" Type="http://schemas.openxmlformats.org/officeDocument/2006/relationships/diagramData" Target="../diagrams/v32_s3_data1.xml"/><Relationship Id="rIdSmartArt4" Type="http://schemas.openxmlformats.org/officeDocument/2006/relationships/diagramLayout" Target="../diagrams/v32_s3_layout1.xml"/><Relationship Id="rIdSmartArt5" Type="http://schemas.openxmlformats.org/officeDocument/2006/relationships/diagramQuickStyle" Target="../diagrams/v32_s3_quickStyle1.xml"/><Relationship Id="rIdSmartArt6" Type="http://schemas.openxmlformats.org/officeDocument/2006/relationships/diagramColors" Target="../diagrams/v32_s3_colors1.xml"/><Relationship Id="rIdV32Drawing3" Type="http://schemas.microsoft.com/office/2007/relationships/diagramDrawing" Target="../diagrams/v32_s3_drawing1.xm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40aa4472db6b4d13"/><Relationship Type="http://schemas.openxmlformats.org/officeDocument/2006/relationships/chart" Target="/ppt/slides/charts/chart1.xml" Id="R1eddcc89b3a44984"/><Relationship Type="http://schemas.openxmlformats.org/officeDocument/2006/relationships/notesSlide" Target="/ppt/notesSlides/notesSlide4.xml" Id="R7ff25eb669814c79"/><Relationship Id="rIdSmartArt4" Type="http://schemas.openxmlformats.org/officeDocument/2006/relationships/diagramData" Target="../diagrams/v32_s4_data1.xml"/><Relationship Id="rIdSmartArt5" Type="http://schemas.openxmlformats.org/officeDocument/2006/relationships/diagramLayout" Target="../diagrams/v32_s4_layout1.xml"/><Relationship Id="rIdSmartArt6" Type="http://schemas.openxmlformats.org/officeDocument/2006/relationships/diagramQuickStyle" Target="../diagrams/v32_s4_quickStyle1.xml"/><Relationship Id="rIdSmartArt7" Type="http://schemas.openxmlformats.org/officeDocument/2006/relationships/diagramColors" Target="../diagrams/v32_s4_colors1.xml"/><Relationship Id="rIdV32Drawing4" Type="http://schemas.microsoft.com/office/2007/relationships/diagramDrawing" Target="../diagrams/v32_s4_drawing1.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0b7ccf93294a4324"/><Relationship Type="http://schemas.openxmlformats.org/officeDocument/2006/relationships/chart" Target="/ppt/slides/charts/chart2.xml" Id="R5de2ff1aee5e43e4"/><Relationship Type="http://schemas.openxmlformats.org/officeDocument/2006/relationships/notesSlide" Target="/ppt/notesSlides/notesSlide5.xml" Id="Ref43975ae80d4977"/><Relationship Id="rIdSmartArt4" Type="http://schemas.openxmlformats.org/officeDocument/2006/relationships/diagramData" Target="../diagrams/v32_s5_data1.xml"/><Relationship Id="rIdSmartArt5" Type="http://schemas.openxmlformats.org/officeDocument/2006/relationships/diagramLayout" Target="../diagrams/v32_s5_layout1.xml"/><Relationship Id="rIdSmartArt6" Type="http://schemas.openxmlformats.org/officeDocument/2006/relationships/diagramQuickStyle" Target="../diagrams/v32_s5_quickStyle1.xml"/><Relationship Id="rIdSmartArt7" Type="http://schemas.openxmlformats.org/officeDocument/2006/relationships/diagramColors" Target="../diagrams/v32_s5_colors1.xml"/><Relationship Id="rIdV32Drawing5" Type="http://schemas.microsoft.com/office/2007/relationships/diagramDrawing" Target="../diagrams/v32_s5_drawing1.xm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951da66eed294972"/><Relationship Type="http://schemas.openxmlformats.org/officeDocument/2006/relationships/chart" Target="/ppt/slides/charts/chart3.xml" Id="R4952434977a9422e"/><Relationship Type="http://schemas.openxmlformats.org/officeDocument/2006/relationships/notesSlide" Target="/ppt/notesSlides/notesSlide6.xml" Id="R57610c252f9e4703"/><Relationship Id="rIdSmartArt4" Type="http://schemas.openxmlformats.org/officeDocument/2006/relationships/diagramData" Target="../diagrams/v32_s6_data1.xml"/><Relationship Id="rIdSmartArt5" Type="http://schemas.openxmlformats.org/officeDocument/2006/relationships/diagramLayout" Target="../diagrams/v32_s6_layout1.xml"/><Relationship Id="rIdSmartArt6" Type="http://schemas.openxmlformats.org/officeDocument/2006/relationships/diagramQuickStyle" Target="../diagrams/v32_s6_quickStyle1.xml"/><Relationship Id="rIdSmartArt7" Type="http://schemas.openxmlformats.org/officeDocument/2006/relationships/diagramColors" Target="../diagrams/v32_s6_colors1.xml"/><Relationship Id="rIdV32Drawing6" Type="http://schemas.microsoft.com/office/2007/relationships/diagramDrawing" Target="../diagrams/v32_s6_drawing1.xm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6e632e63988f462c"/><Relationship Type="http://schemas.openxmlformats.org/officeDocument/2006/relationships/notesSlide" Target="/ppt/notesSlides/notesSlide7.xml" Id="R3cdd85d891b54e92"/><Relationship Id="rIdSmartArt3" Type="http://schemas.openxmlformats.org/officeDocument/2006/relationships/diagramData" Target="../diagrams/v32_s7_data1.xml"/><Relationship Id="rIdSmartArt4" Type="http://schemas.openxmlformats.org/officeDocument/2006/relationships/diagramLayout" Target="../diagrams/v32_s7_layout1.xml"/><Relationship Id="rIdSmartArt5" Type="http://schemas.openxmlformats.org/officeDocument/2006/relationships/diagramQuickStyle" Target="../diagrams/v32_s7_quickStyle1.xml"/><Relationship Id="rIdSmartArt6" Type="http://schemas.openxmlformats.org/officeDocument/2006/relationships/diagramColors" Target="../diagrams/v32_s7_colors1.xml"/><Relationship Id="rIdV32Drawing7" Type="http://schemas.microsoft.com/office/2007/relationships/diagramDrawing" Target="../diagrams/v32_s7_drawing1.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a7b1f5ecf6d24471"/><Relationship Type="http://schemas.openxmlformats.org/officeDocument/2006/relationships/chart" Target="/ppt/slides/charts/chart4.xml" Id="R2a2255f46b444203"/><Relationship Type="http://schemas.openxmlformats.org/officeDocument/2006/relationships/notesSlide" Target="/ppt/notesSlides/notesSlide8.xml" Id="Rf1bae2c13be74152"/><Relationship Id="rIdSmartArt4" Type="http://schemas.openxmlformats.org/officeDocument/2006/relationships/diagramData" Target="../diagrams/v32_s8_data1.xml"/><Relationship Id="rIdSmartArt5" Type="http://schemas.openxmlformats.org/officeDocument/2006/relationships/diagramLayout" Target="../diagrams/v32_s8_layout1.xml"/><Relationship Id="rIdSmartArt6" Type="http://schemas.openxmlformats.org/officeDocument/2006/relationships/diagramQuickStyle" Target="../diagrams/v32_s8_quickStyle1.xml"/><Relationship Id="rIdSmartArt7" Type="http://schemas.openxmlformats.org/officeDocument/2006/relationships/diagramColors" Target="../diagrams/v32_s8_colors1.xml"/><Relationship Id="rIdV32Drawing8" Type="http://schemas.microsoft.com/office/2007/relationships/diagramDrawing" Target="../diagrams/v32_s8_drawing1.xm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fde8466cedaf43b6"/><Relationship Type="http://schemas.openxmlformats.org/officeDocument/2006/relationships/notesSlide" Target="/ppt/notesSlides/notesSlide9.xml" Id="R1f25dee86cd44af8"/><Relationship Id="rIdSmartArt3" Type="http://schemas.openxmlformats.org/officeDocument/2006/relationships/diagramData" Target="../diagrams/v32_s9_data1.xml"/><Relationship Id="rIdSmartArt4" Type="http://schemas.openxmlformats.org/officeDocument/2006/relationships/diagramLayout" Target="../diagrams/v32_s9_layout1.xml"/><Relationship Id="rIdSmartArt5" Type="http://schemas.openxmlformats.org/officeDocument/2006/relationships/diagramQuickStyle" Target="../diagrams/v32_s9_quickStyle1.xml"/><Relationship Id="rIdSmartArt6" Type="http://schemas.openxmlformats.org/officeDocument/2006/relationships/diagramColors" Target="../diagrams/v32_s9_colors1.xml"/><Relationship Id="rIdV32Drawing9" Type="http://schemas.microsoft.com/office/2007/relationships/diagramDrawing" Target="../diagrams/v32_s9_drawing1.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fb39d387f91d43aa"/><Relationship Type="http://schemas.openxmlformats.org/officeDocument/2006/relationships/chart" Target="/ppt/slides/charts/chart5.xml" Id="R75f7cf1bd1d24faf"/><Relationship Type="http://schemas.openxmlformats.org/officeDocument/2006/relationships/notesSlide" Target="/ppt/notesSlides/notesSlide10.xml" Id="R2782d34dd9ab4f1c"/><Relationship Id="rIdSmartArt4" Type="http://schemas.openxmlformats.org/officeDocument/2006/relationships/diagramData" Target="../diagrams/v32_s10_data1.xml"/><Relationship Id="rIdSmartArt5" Type="http://schemas.openxmlformats.org/officeDocument/2006/relationships/diagramLayout" Target="../diagrams/v32_s10_layout1.xml"/><Relationship Id="rIdSmartArt6" Type="http://schemas.openxmlformats.org/officeDocument/2006/relationships/diagramQuickStyle" Target="../diagrams/v32_s10_quickStyle1.xml"/><Relationship Id="rIdSmartArt7" Type="http://schemas.openxmlformats.org/officeDocument/2006/relationships/diagramColors" Target="../diagrams/v32_s10_colors1.xml"/><Relationship Id="rIdV32Drawing10" Type="http://schemas.microsoft.com/office/2007/relationships/diagramDrawing" Target="../diagrams/v32_s10_drawing1.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567a60277d4040f4"/><Relationship Type="http://schemas.openxmlformats.org/officeDocument/2006/relationships/notesSlide" Target="/ppt/notesSlides/notesSlide11.xml" Id="R2b9c65cf1dd34393"/><Relationship Id="rIdSmartArt3" Type="http://schemas.openxmlformats.org/officeDocument/2006/relationships/diagramData" Target="../diagrams/v32_s11_data1.xml"/><Relationship Id="rIdSmartArt4" Type="http://schemas.openxmlformats.org/officeDocument/2006/relationships/diagramLayout" Target="../diagrams/v32_s11_layout1.xml"/><Relationship Id="rIdSmartArt5" Type="http://schemas.openxmlformats.org/officeDocument/2006/relationships/diagramQuickStyle" Target="../diagrams/v32_s11_quickStyle1.xml"/><Relationship Id="rIdSmartArt6" Type="http://schemas.openxmlformats.org/officeDocument/2006/relationships/diagramColors" Target="../diagrams/v32_s11_colors1.xml"/><Relationship Id="rIdV32Drawing11" Type="http://schemas.microsoft.com/office/2007/relationships/diagramDrawing" Target="../diagrams/v32_s11_drawing1.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92b5c54e12ab4d10"/><Relationship Type="http://schemas.openxmlformats.org/officeDocument/2006/relationships/notesSlide" Target="/ppt/notesSlides/notesSlide12.xml" Id="R8a03fa283116460a"/><Relationship Id="rIdSmartArt3" Type="http://schemas.openxmlformats.org/officeDocument/2006/relationships/diagramData" Target="../diagrams/v32_s12_data1.xml"/><Relationship Id="rIdSmartArt4" Type="http://schemas.openxmlformats.org/officeDocument/2006/relationships/diagramLayout" Target="../diagrams/v32_s12_layout1.xml"/><Relationship Id="rIdSmartArt5" Type="http://schemas.openxmlformats.org/officeDocument/2006/relationships/diagramQuickStyle" Target="../diagrams/v32_s12_quickStyle1.xml"/><Relationship Id="rIdSmartArt6" Type="http://schemas.openxmlformats.org/officeDocument/2006/relationships/diagramColors" Target="../diagrams/v32_s12_colors1.xml"/><Relationship Id="rIdV32Drawing12" Type="http://schemas.microsoft.com/office/2007/relationships/diagramDrawing" Target="../diagrams/v32_s12_drawing1.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45c8626bd4464703"/><Relationship Type="http://schemas.openxmlformats.org/officeDocument/2006/relationships/notesSlide" Target="/ppt/notesSlides/notesSlide13.xml" Id="Re9458b4276244e56"/><Relationship Id="rIdSmartArt3" Type="http://schemas.openxmlformats.org/officeDocument/2006/relationships/diagramData" Target="../diagrams/v32_s13_data1.xml"/><Relationship Id="rIdSmartArt4" Type="http://schemas.openxmlformats.org/officeDocument/2006/relationships/diagramLayout" Target="../diagrams/v32_s13_layout1.xml"/><Relationship Id="rIdSmartArt5" Type="http://schemas.openxmlformats.org/officeDocument/2006/relationships/diagramQuickStyle" Target="../diagrams/v32_s13_quickStyle1.xml"/><Relationship Id="rIdSmartArt6" Type="http://schemas.openxmlformats.org/officeDocument/2006/relationships/diagramColors" Target="../diagrams/v32_s13_colors1.xml"/><Relationship Id="rIdV32Drawing13" Type="http://schemas.microsoft.com/office/2007/relationships/diagramDrawing" Target="../diagrams/v32_s13_drawing1.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18f33dcd0d1944a6"/><Relationship Type="http://schemas.openxmlformats.org/officeDocument/2006/relationships/chart" Target="/ppt/slides/charts/chart6.xml" Id="R4ff0cdca28f84335"/><Relationship Type="http://schemas.openxmlformats.org/officeDocument/2006/relationships/notesSlide" Target="/ppt/notesSlides/notesSlide14.xml" Id="R97b8386278f8435f"/><Relationship Id="rIdSmartArt4" Type="http://schemas.openxmlformats.org/officeDocument/2006/relationships/diagramData" Target="../diagrams/v32_s14_data1.xml"/><Relationship Id="rIdSmartArt5" Type="http://schemas.openxmlformats.org/officeDocument/2006/relationships/diagramLayout" Target="../diagrams/v32_s14_layout1.xml"/><Relationship Id="rIdSmartArt6" Type="http://schemas.openxmlformats.org/officeDocument/2006/relationships/diagramQuickStyle" Target="../diagrams/v32_s14_quickStyle1.xml"/><Relationship Id="rIdSmartArt7" Type="http://schemas.openxmlformats.org/officeDocument/2006/relationships/diagramColors" Target="../diagrams/v32_s14_colors1.xml"/><Relationship Id="rIdV32Drawing14" Type="http://schemas.microsoft.com/office/2007/relationships/diagramDrawing" Target="../diagrams/v32_s14_drawing1.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8be4b7c405c64a8b"/><Relationship Type="http://schemas.openxmlformats.org/officeDocument/2006/relationships/notesSlide" Target="/ppt/notesSlides/notesSlide15.xml" Id="R7a0e5bbc487a49c6"/><Relationship Id="rIdSmartArt3" Type="http://schemas.openxmlformats.org/officeDocument/2006/relationships/diagramData" Target="../diagrams/v32_s15_data1.xml"/><Relationship Id="rIdSmartArt4" Type="http://schemas.openxmlformats.org/officeDocument/2006/relationships/diagramLayout" Target="../diagrams/v32_s15_layout1.xml"/><Relationship Id="rIdSmartArt5" Type="http://schemas.openxmlformats.org/officeDocument/2006/relationships/diagramQuickStyle" Target="../diagrams/v32_s15_quickStyle1.xml"/><Relationship Id="rIdSmartArt6" Type="http://schemas.openxmlformats.org/officeDocument/2006/relationships/diagramColors" Target="../diagrams/v32_s15_colors1.xml"/><Relationship Id="rIdV32Drawing15" Type="http://schemas.microsoft.com/office/2007/relationships/diagramDrawing" Target="../diagrams/v32_s15_drawing1.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ee3a647e16f9470e"/><Relationship Type="http://schemas.openxmlformats.org/officeDocument/2006/relationships/notesSlide" Target="/ppt/notesSlides/notesSlide16.xml" Id="R61b656d54f704176"/><Relationship Id="rIdSmartArt3" Type="http://schemas.openxmlformats.org/officeDocument/2006/relationships/diagramData" Target="../diagrams/v32_s16_data1.xml"/><Relationship Id="rIdSmartArt4" Type="http://schemas.openxmlformats.org/officeDocument/2006/relationships/diagramLayout" Target="../diagrams/v32_s16_layout1.xml"/><Relationship Id="rIdSmartArt5" Type="http://schemas.openxmlformats.org/officeDocument/2006/relationships/diagramQuickStyle" Target="../diagrams/v32_s16_quickStyle1.xml"/><Relationship Id="rIdSmartArt6" Type="http://schemas.openxmlformats.org/officeDocument/2006/relationships/diagramColors" Target="../diagrams/v32_s16_colors1.xml"/><Relationship Id="rIdV32Drawing16" Type="http://schemas.microsoft.com/office/2007/relationships/diagramDrawing" Target="../diagrams/v32_s16_drawing1.xm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a9c4598d30be401a"/><Relationship Type="http://schemas.openxmlformats.org/officeDocument/2006/relationships/notesSlide" Target="/ppt/notesSlides/notesSlide17.xml" Id="Rd991af86a21d4002"/><Relationship Id="rIdSmartArt3" Type="http://schemas.openxmlformats.org/officeDocument/2006/relationships/diagramData" Target="../diagrams/v32_s17_data1.xml"/><Relationship Id="rIdSmartArt4" Type="http://schemas.openxmlformats.org/officeDocument/2006/relationships/diagramLayout" Target="../diagrams/v32_s17_layout1.xml"/><Relationship Id="rIdSmartArt5" Type="http://schemas.openxmlformats.org/officeDocument/2006/relationships/diagramQuickStyle" Target="../diagrams/v32_s17_quickStyle1.xml"/><Relationship Id="rIdSmartArt6" Type="http://schemas.openxmlformats.org/officeDocument/2006/relationships/diagramColors" Target="../diagrams/v32_s17_colors1.xml"/><Relationship Id="rIdV32Drawing17" Type="http://schemas.microsoft.com/office/2007/relationships/diagramDrawing" Target="../diagrams/v32_s17_drawing1.xm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90cdb206f1d14b84"/><Relationship Type="http://schemas.openxmlformats.org/officeDocument/2006/relationships/notesSlide" Target="/ppt/notesSlides/notesSlide18.xml" Id="R40e49214a1634150"/><Relationship Id="rIdSmartArt3" Type="http://schemas.openxmlformats.org/officeDocument/2006/relationships/diagramData" Target="../diagrams/v32_s18_data1.xml"/><Relationship Id="rIdSmartArt4" Type="http://schemas.openxmlformats.org/officeDocument/2006/relationships/diagramLayout" Target="../diagrams/v32_s18_layout1.xml"/><Relationship Id="rIdSmartArt5" Type="http://schemas.openxmlformats.org/officeDocument/2006/relationships/diagramQuickStyle" Target="../diagrams/v32_s18_quickStyle1.xml"/><Relationship Id="rIdSmartArt6" Type="http://schemas.openxmlformats.org/officeDocument/2006/relationships/diagramColors" Target="../diagrams/v32_s18_colors1.xml"/><Relationship Id="rIdV32Drawing18" Type="http://schemas.microsoft.com/office/2007/relationships/diagramDrawing" Target="../diagrams/v32_s18_drawing1.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dcb2e34b5980456f"/><Relationship Type="http://schemas.openxmlformats.org/officeDocument/2006/relationships/notesSlide" Target="/ppt/notesSlides/notesSlide19.xml" Id="R5ba6007797724375"/><Relationship Id="rIdSmartArt3" Type="http://schemas.openxmlformats.org/officeDocument/2006/relationships/diagramData" Target="../diagrams/v32_s19_data1.xml"/><Relationship Id="rIdSmartArt4" Type="http://schemas.openxmlformats.org/officeDocument/2006/relationships/diagramLayout" Target="../diagrams/v32_s19_layout1.xml"/><Relationship Id="rIdSmartArt5" Type="http://schemas.openxmlformats.org/officeDocument/2006/relationships/diagramQuickStyle" Target="../diagrams/v32_s19_quickStyle1.xml"/><Relationship Id="rIdSmartArt6" Type="http://schemas.openxmlformats.org/officeDocument/2006/relationships/diagramColors" Target="../diagrams/v32_s19_colors1.xml"/><Relationship Id="rIdV32Drawing19" Type="http://schemas.microsoft.com/office/2007/relationships/diagramDrawing" Target="../diagrams/v32_s19_drawing1.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bc5e51dc6abc455f"/><Relationship Type="http://schemas.openxmlformats.org/officeDocument/2006/relationships/notesSlide" Target="/ppt/notesSlides/notesSlide20.xml" Id="Rfd8a113f2e3b4d99"/><Relationship Id="rIdSmartArt3" Type="http://schemas.openxmlformats.org/officeDocument/2006/relationships/diagramData" Target="../diagrams/v32_s20_data1.xml"/><Relationship Id="rIdSmartArt4" Type="http://schemas.openxmlformats.org/officeDocument/2006/relationships/diagramLayout" Target="../diagrams/v32_s20_layout1.xml"/><Relationship Id="rIdSmartArt5" Type="http://schemas.openxmlformats.org/officeDocument/2006/relationships/diagramQuickStyle" Target="../diagrams/v32_s20_quickStyle1.xml"/><Relationship Id="rIdSmartArt6" Type="http://schemas.openxmlformats.org/officeDocument/2006/relationships/diagramColors" Target="../diagrams/v32_s20_colors1.xml"/><Relationship Id="rIdV32Drawing20" Type="http://schemas.microsoft.com/office/2007/relationships/diagramDrawing" Target="../diagrams/v32_s20_drawing1.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5876922460cb4a08"/><Relationship Type="http://schemas.openxmlformats.org/officeDocument/2006/relationships/notesSlide" Target="/ppt/notesSlides/notesSlide21.xml" Id="R77459c96dc4a42dd"/><Relationship Id="rIdSmartArt3" Type="http://schemas.openxmlformats.org/officeDocument/2006/relationships/diagramData" Target="../diagrams/v32_s21_data1.xml"/><Relationship Id="rIdSmartArt4" Type="http://schemas.openxmlformats.org/officeDocument/2006/relationships/diagramLayout" Target="../diagrams/v32_s21_layout1.xml"/><Relationship Id="rIdSmartArt5" Type="http://schemas.openxmlformats.org/officeDocument/2006/relationships/diagramQuickStyle" Target="../diagrams/v32_s21_quickStyle1.xml"/><Relationship Id="rIdSmartArt6" Type="http://schemas.openxmlformats.org/officeDocument/2006/relationships/diagramColors" Target="../diagrams/v32_s21_colors1.xml"/><Relationship Id="rIdV32Drawing21" Type="http://schemas.microsoft.com/office/2007/relationships/diagramDrawing" Target="../diagrams/v32_s21_drawing1.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9700363d7e4846ea"/><Relationship Type="http://schemas.openxmlformats.org/officeDocument/2006/relationships/notesSlide" Target="/ppt/notesSlides/notesSlide22.xml" Id="Re280999e9273450d"/><Relationship Id="rIdSmartArt3" Type="http://schemas.openxmlformats.org/officeDocument/2006/relationships/diagramData" Target="../diagrams/v32_s22_data1.xml"/><Relationship Id="rIdSmartArt4" Type="http://schemas.openxmlformats.org/officeDocument/2006/relationships/diagramLayout" Target="../diagrams/v32_s22_layout1.xml"/><Relationship Id="rIdSmartArt5" Type="http://schemas.openxmlformats.org/officeDocument/2006/relationships/diagramQuickStyle" Target="../diagrams/v32_s22_quickStyle1.xml"/><Relationship Id="rIdSmartArt6" Type="http://schemas.openxmlformats.org/officeDocument/2006/relationships/diagramColors" Target="../diagrams/v32_s22_colors1.xml"/><Relationship Id="rIdV32Drawing22" Type="http://schemas.microsoft.com/office/2007/relationships/diagramDrawing" Target="../diagrams/v32_s22_drawing1.xml"/></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Petrol</c:v>
          </c:tx>
          <c:spPr>
            <a:solidFill xmlns:a="http://schemas.openxmlformats.org/drawingml/2006/main">
              <a:srgbClr val="0A2373"/>
            </a:solidFill>
            <a:ln xmlns:a="http://schemas.openxmlformats.org/drawingml/2006/main" w="23813">
              <a:solidFill>
                <a:srgbClr val="0A2373"/>
              </a:solidFill>
            </a:ln>
          </c:spPr>
          <c:marker>
            <c:symbol val="none"/>
          </c:marker>
          <c:cat>
            <c:numRef>
              <c:f>'Chart Data'!$A$2:$A$14</c:f>
              <c:numCache>
                <c:formatCode>General</c:formatCod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numCache>
            </c:numRef>
          </c:cat>
          <c:val>
            <c:numRef>
              <c:f>'Chart Data'!$B$2:$B$14</c:f>
              <c:numCache>
                <c:formatCode>0.00</c:formatCode>
                <c:ptCount val="13"/>
                <c:pt idx="0">
                  <c:v>11.439925235</c:v>
                </c:pt>
                <c:pt idx="1">
                  <c:v>10.890207679</c:v>
                </c:pt>
                <c:pt idx="2">
                  <c:v>11.475709420318</c:v>
                </c:pt>
                <c:pt idx="3">
                  <c:v>11.462252466686</c:v>
                </c:pt>
                <c:pt idx="4">
                  <c:v>11.17408298037</c:v>
                </c:pt>
                <c:pt idx="5">
                  <c:v>11.141630546702</c:v>
                </c:pt>
                <c:pt idx="6">
                  <c:v>10.773208065062</c:v>
                </c:pt>
                <c:pt idx="7">
                  <c:v>8.761470961496</c:v>
                </c:pt>
                <c:pt idx="8">
                  <c:v>9.301584227683</c:v>
                </c:pt>
                <c:pt idx="9">
                  <c:v>9.184869915573</c:v>
                </c:pt>
                <c:pt idx="10">
                  <c:v>9.036950113492</c:v>
                </c:pt>
                <c:pt idx="11">
                  <c:v>8.94590284109857</c:v>
                </c:pt>
                <c:pt idx="12">
                  <c:v>8.8557728699745</c:v>
                </c:pt>
              </c:numCache>
            </c:numRef>
          </c:val>
        </c:ser>
        <c:ser>
          <c:idx val="1"/>
          <c:order val="1"/>
          <c:tx>
            <c:v>Diesel</c:v>
          </c:tx>
          <c:spPr>
            <a:solidFill xmlns:a="http://schemas.openxmlformats.org/drawingml/2006/main">
              <a:srgbClr val="6782B4"/>
            </a:solidFill>
            <a:ln xmlns:a="http://schemas.openxmlformats.org/drawingml/2006/main" w="23813">
              <a:solidFill>
                <a:srgbClr val="6782B4"/>
              </a:solidFill>
            </a:ln>
          </c:spPr>
          <c:marker>
            <c:symbol val="none"/>
          </c:marker>
          <c:cat>
            <c:numRef>
              <c:f>'Chart Data'!$C$2:$C$14</c:f>
              <c:numCache>
                <c:formatCode>General</c:formatCod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numCache>
            </c:numRef>
          </c:cat>
          <c:val>
            <c:numRef>
              <c:f>'Chart Data'!$D$2:$D$14</c:f>
              <c:numCache>
                <c:formatCode>0.00</c:formatCode>
                <c:ptCount val="13"/>
                <c:pt idx="0">
                  <c:v>12.141281548</c:v>
                </c:pt>
                <c:pt idx="1">
                  <c:v>12.615023359</c:v>
                </c:pt>
                <c:pt idx="2">
                  <c:v>13.52013925195</c:v>
                </c:pt>
                <c:pt idx="3">
                  <c:v>12.082374038422</c:v>
                </c:pt>
                <c:pt idx="4">
                  <c:v>12.147245167189</c:v>
                </c:pt>
                <c:pt idx="5">
                  <c:v>12.538744325998</c:v>
                </c:pt>
                <c:pt idx="6">
                  <c:v>12.908631232217</c:v>
                </c:pt>
                <c:pt idx="7">
                  <c:v>11.689957759296</c:v>
                </c:pt>
                <c:pt idx="8">
                  <c:v>12.945782750435</c:v>
                </c:pt>
                <c:pt idx="9">
                  <c:v>12.717326319019</c:v>
                </c:pt>
                <c:pt idx="10">
                  <c:v>12.907499965808</c:v>
                </c:pt>
                <c:pt idx="11">
                  <c:v>13.1352061654661</c:v>
                </c:pt>
                <c:pt idx="12">
                  <c:v>12.1316153271207</c:v>
                </c:pt>
              </c:numCache>
            </c:numRef>
          </c:val>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Lato"/>
              <a:ea typeface="Lato"/>
              <a:cs typeface="Lato"/>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2025 estimated bn litres</c:v>
          </c:tx>
          <c:spPr>
            <a:solidFill xmlns:a="http://schemas.openxmlformats.org/drawingml/2006/main">
              <a:srgbClr val="0A2373"/>
            </a:solidFill>
            <a:ln xmlns:a="http://schemas.openxmlformats.org/drawingml/2006/main" w="23813">
              <a:solidFill>
                <a:srgbClr val="0A2373"/>
              </a:solidFill>
            </a:ln>
          </c:spPr>
          <c:cat>
            <c:strRef>
              <c:f>'Chart Data'!$A$2:$A$10</c:f>
              <c:strCache>
                <c:ptCount val="9"/>
                <c:pt idx="0">
                  <c:v>Petrol road</c:v>
                </c:pt>
                <c:pt idx="1">
                  <c:v>Freight diesel</c:v>
                </c:pt>
                <c:pt idx="2">
                  <c:v>Other road diesel</c:v>
                </c:pt>
                <c:pt idx="3">
                  <c:v>Mining</c:v>
                </c:pt>
                <c:pt idx="4">
                  <c:v>Agriculture</c:v>
                </c:pt>
                <c:pt idx="5">
                  <c:v>Power</c:v>
                </c:pt>
                <c:pt idx="6">
                  <c:v>Manufacturing</c:v>
                </c:pt>
                <c:pt idx="7">
                  <c:v>Other petrol</c:v>
                </c:pt>
                <c:pt idx="8">
                  <c:v>Other diesel</c:v>
                </c:pt>
              </c:strCache>
            </c:strRef>
          </c:cat>
          <c:val>
            <c:numRef>
              <c:f>'Chart Data'!$B$2:$B$10</c:f>
              <c:numCache>
                <c:formatCode>0.00</c:formatCode>
                <c:ptCount val="9"/>
                <c:pt idx="0">
                  <c:v>8.59009968387527</c:v>
                </c:pt>
                <c:pt idx="1">
                  <c:v>4.82454711238794</c:v>
                </c:pt>
                <c:pt idx="2">
                  <c:v>1.60818237079598</c:v>
                </c:pt>
                <c:pt idx="3">
                  <c:v>1.40634678462176</c:v>
                </c:pt>
                <c:pt idx="4">
                  <c:v>1.13122469823652</c:v>
                </c:pt>
                <c:pt idx="5">
                  <c:v>1.08432</c:v>
                </c:pt>
                <c:pt idx="6">
                  <c:v>0.165076180001731</c:v>
                </c:pt>
                <c:pt idx="7">
                  <c:v>0.265673186099235</c:v>
                </c:pt>
                <c:pt idx="8">
                  <c:v>1.91191818107682</c:v>
                </c:pt>
              </c:numCache>
            </c:numRef>
          </c:val>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Mining</c:v>
          </c:tx>
          <c:spPr>
            <a:solidFill xmlns:a="http://schemas.openxmlformats.org/drawingml/2006/main">
              <a:srgbClr val="0A2373"/>
            </a:solidFill>
            <a:ln xmlns:a="http://schemas.openxmlformats.org/drawingml/2006/main" w="23813">
              <a:solidFill>
                <a:srgbClr val="0A2373"/>
              </a:solidFill>
            </a:ln>
          </c:spPr>
          <c:marker>
            <c:symbol val="none"/>
          </c:marker>
          <c:cat>
            <c:numRef>
              <c:f>'Chart Data'!$A$2:$A$4</c:f>
              <c:numCache>
                <c:formatCode>General</c:formatCode>
                <c:ptCount val="3"/>
                <c:pt idx="0">
                  <c:v>2023</c:v>
                </c:pt>
                <c:pt idx="1">
                  <c:v>2024</c:v>
                </c:pt>
                <c:pt idx="2">
                  <c:v>2025</c:v>
                </c:pt>
              </c:numCache>
            </c:numRef>
          </c:cat>
          <c:val>
            <c:numRef>
              <c:f>'Chart Data'!$B$2:$B$4</c:f>
              <c:numCache>
                <c:formatCode>0.00</c:formatCode>
                <c:ptCount val="3"/>
                <c:pt idx="0">
                  <c:v>1.39596645708743</c:v>
                </c:pt>
                <c:pt idx="1">
                  <c:v>1.40372043669139</c:v>
                </c:pt>
                <c:pt idx="2">
                  <c:v>1.40634678462176</c:v>
                </c:pt>
              </c:numCache>
            </c:numRef>
          </c:val>
        </c:ser>
        <c:ser>
          <c:idx val="1"/>
          <c:order val="1"/>
          <c:tx>
            <c:v>Agriculture</c:v>
          </c:tx>
          <c:spPr>
            <a:solidFill xmlns:a="http://schemas.openxmlformats.org/drawingml/2006/main">
              <a:srgbClr val="6782B4"/>
            </a:solidFill>
            <a:ln xmlns:a="http://schemas.openxmlformats.org/drawingml/2006/main" w="23813">
              <a:solidFill>
                <a:srgbClr val="6782B4"/>
              </a:solidFill>
            </a:ln>
          </c:spPr>
          <c:marker>
            <c:symbol val="none"/>
          </c:marker>
          <c:cat>
            <c:numRef>
              <c:f>'Chart Data'!$C$2:$C$4</c:f>
              <c:numCache>
                <c:formatCode>General</c:formatCode>
                <c:ptCount val="3"/>
                <c:pt idx="0">
                  <c:v>2023</c:v>
                </c:pt>
                <c:pt idx="1">
                  <c:v>2024</c:v>
                </c:pt>
                <c:pt idx="2">
                  <c:v>2025</c:v>
                </c:pt>
              </c:numCache>
            </c:numRef>
          </c:cat>
          <c:val>
            <c:numRef>
              <c:f>'Chart Data'!$D$2:$D$4</c:f>
              <c:numCache>
                <c:formatCode>0.00</c:formatCode>
                <c:ptCount val="3"/>
                <c:pt idx="0">
                  <c:v>1.05527552036594</c:v>
                </c:pt>
                <c:pt idx="1">
                  <c:v>0.963340315350475</c:v>
                </c:pt>
                <c:pt idx="2">
                  <c:v>1.13122469823652</c:v>
                </c:pt>
              </c:numCache>
            </c:numRef>
          </c:val>
        </c:ser>
        <c:ser>
          <c:idx val="2"/>
          <c:order val="2"/>
          <c:tx>
            <c:v>Manufacturing</c:v>
          </c:tx>
          <c:spPr>
            <a:solidFill xmlns:a="http://schemas.openxmlformats.org/drawingml/2006/main">
              <a:srgbClr val="868686"/>
            </a:solidFill>
            <a:ln xmlns:a="http://schemas.openxmlformats.org/drawingml/2006/main" w="23813">
              <a:solidFill>
                <a:srgbClr val="868686"/>
              </a:solidFill>
            </a:ln>
          </c:spPr>
          <c:marker>
            <c:symbol val="none"/>
          </c:marker>
          <c:cat>
            <c:numRef>
              <c:f>'Chart Data'!$E$2:$E$4</c:f>
              <c:numCache>
                <c:formatCode>General</c:formatCode>
                <c:ptCount val="3"/>
                <c:pt idx="0">
                  <c:v>2023</c:v>
                </c:pt>
                <c:pt idx="1">
                  <c:v>2024</c:v>
                </c:pt>
                <c:pt idx="2">
                  <c:v>2025</c:v>
                </c:pt>
              </c:numCache>
            </c:numRef>
          </c:cat>
          <c:val>
            <c:numRef>
              <c:f>'Chart Data'!$F$2:$F$4</c:f>
              <c:numCache>
                <c:formatCode>0.00</c:formatCode>
                <c:ptCount val="3"/>
                <c:pt idx="0">
                  <c:v>0.167897867441392</c:v>
                </c:pt>
                <c:pt idx="1">
                  <c:v>0.167211107535443</c:v>
                </c:pt>
                <c:pt idx="2">
                  <c:v>0.165076180001731</c:v>
                </c:pt>
              </c:numCache>
            </c:numRef>
          </c:val>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Lato"/>
              <a:ea typeface="Lato"/>
              <a:cs typeface="Lato"/>
            </a:defRPr>
          </a:pPr>
        </a:p>
      </c:txPr>
    </c:legend>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Eskom diesel + kerosene, bn litres</c:v>
          </c:tx>
          <c:spPr>
            <a:solidFill xmlns:a="http://schemas.openxmlformats.org/drawingml/2006/main">
              <a:srgbClr val="0A2373"/>
            </a:solidFill>
            <a:ln xmlns:a="http://schemas.openxmlformats.org/drawingml/2006/main" w="23813">
              <a:solidFill>
                <a:srgbClr val="0A2373"/>
              </a:solidFill>
            </a:ln>
          </c:spPr>
          <c:cat>
            <c:strRef>
              <c:f>'Chart Data'!$A$2:$A$4</c:f>
              <c:strCache>
                <c:ptCount val="3"/>
                <c:pt idx="0">
                  <c:v>FY2023</c:v>
                </c:pt>
                <c:pt idx="1">
                  <c:v>FY2024</c:v>
                </c:pt>
                <c:pt idx="2">
                  <c:v>FY2025</c:v>
                </c:pt>
              </c:strCache>
            </c:strRef>
          </c:cat>
          <c:val>
            <c:numRef>
              <c:f>'Chart Data'!$B$2:$B$4</c:f>
              <c:numCache>
                <c:formatCode>0.00</c:formatCode>
                <c:ptCount val="3"/>
                <c:pt idx="0">
                  <c:v>0.9375</c:v>
                </c:pt>
                <c:pt idx="1">
                  <c:v>1.1295</c:v>
                </c:pt>
                <c:pt idx="2">
                  <c:v>0.6791</c:v>
                </c:pt>
              </c:numCache>
            </c:numRef>
          </c:val>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Road, million tonnes</c:v>
          </c:tx>
          <c:spPr>
            <a:solidFill xmlns:a="http://schemas.openxmlformats.org/drawingml/2006/main">
              <a:srgbClr val="0A2373"/>
            </a:solidFill>
            <a:ln xmlns:a="http://schemas.openxmlformats.org/drawingml/2006/main" w="23813">
              <a:solidFill>
                <a:srgbClr val="0A2373"/>
              </a:solidFill>
            </a:ln>
          </c:spPr>
          <c:cat>
            <c:numRef>
              <c:f>'Chart Data'!$A$2:$A$3</c:f>
              <c:numCache>
                <c:formatCode>General</c:formatCode>
                <c:ptCount val="2"/>
                <c:pt idx="0">
                  <c:v>2024</c:v>
                </c:pt>
                <c:pt idx="1">
                  <c:v>2025</c:v>
                </c:pt>
              </c:numCache>
            </c:numRef>
          </c:cat>
          <c:val>
            <c:numRef>
              <c:f>'Chart Data'!$B$2:$B$3</c:f>
              <c:numCache>
                <c:formatCode>0.00</c:formatCode>
                <c:ptCount val="2"/>
                <c:pt idx="0">
                  <c:v>979.798</c:v>
                </c:pt>
                <c:pt idx="1">
                  <c:v>976.468</c:v>
                </c:pt>
              </c:numCache>
            </c:numRef>
          </c:val>
        </c:ser>
        <c:ser>
          <c:idx val="1"/>
          <c:order val="1"/>
          <c:tx>
            <c:v>Rail, million tonnes</c:v>
          </c:tx>
          <c:spPr>
            <a:solidFill xmlns:a="http://schemas.openxmlformats.org/drawingml/2006/main">
              <a:srgbClr val="6782B4"/>
            </a:solidFill>
            <a:ln xmlns:a="http://schemas.openxmlformats.org/drawingml/2006/main" w="23813">
              <a:solidFill>
                <a:srgbClr val="6782B4"/>
              </a:solidFill>
            </a:ln>
          </c:spPr>
          <c:cat>
            <c:numRef>
              <c:f>'Chart Data'!$C$2:$C$3</c:f>
              <c:numCache>
                <c:formatCode>General</c:formatCode>
                <c:ptCount val="2"/>
                <c:pt idx="0">
                  <c:v>2024</c:v>
                </c:pt>
                <c:pt idx="1">
                  <c:v>2025</c:v>
                </c:pt>
              </c:numCache>
            </c:numRef>
          </c:cat>
          <c:val>
            <c:numRef>
              <c:f>'Chart Data'!$D$2:$D$3</c:f>
              <c:numCache>
                <c:formatCode>0.00</c:formatCode>
                <c:ptCount val="2"/>
                <c:pt idx="0">
                  <c:v>160.745</c:v>
                </c:pt>
                <c:pt idx="1">
                  <c:v>168.263</c:v>
                </c:pt>
              </c:numCache>
            </c:numRef>
          </c:val>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Lato"/>
              <a:ea typeface="Lato"/>
              <a:cs typeface="Lato"/>
            </a:defRPr>
          </a:pPr>
        </a:p>
      </c:txPr>
    </c:legend>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ser>
          <c:idx val="0"/>
          <c:order val="0"/>
          <c:tx>
            <c:v>Low imports</c:v>
          </c:tx>
          <c:spPr>
            <a:solidFill xmlns:a="http://schemas.openxmlformats.org/drawingml/2006/main">
              <a:srgbClr val="0A2373"/>
            </a:solidFill>
            <a:ln xmlns:a="http://schemas.openxmlformats.org/drawingml/2006/main" w="23813">
              <a:solidFill>
                <a:srgbClr val="0A2373"/>
              </a:solidFill>
            </a:ln>
          </c:spPr>
          <c:marker>
            <c:symbol val="none"/>
          </c:marker>
          <c:cat>
            <c:numRef>
              <c:f>'Chart Data'!$A$2:$A$7</c:f>
              <c:numCache>
                <c:formatCode>General</c:formatCode>
                <c:ptCount val="6"/>
                <c:pt idx="0">
                  <c:v>2025</c:v>
                </c:pt>
                <c:pt idx="1">
                  <c:v>2026</c:v>
                </c:pt>
                <c:pt idx="2">
                  <c:v>2027</c:v>
                </c:pt>
                <c:pt idx="3">
                  <c:v>2028</c:v>
                </c:pt>
                <c:pt idx="4">
                  <c:v>2029</c:v>
                </c:pt>
                <c:pt idx="5">
                  <c:v>2030</c:v>
                </c:pt>
              </c:numCache>
            </c:numRef>
          </c:cat>
          <c:val>
            <c:numRef>
              <c:f>'Chart Data'!$B$2:$B$7</c:f>
              <c:numCache>
                <c:formatCode>0.00</c:formatCode>
                <c:ptCount val="6"/>
                <c:pt idx="0">
                  <c:v>16.7358508731652</c:v>
                </c:pt>
                <c:pt idx="1">
                  <c:v>16.1649850898511</c:v>
                </c:pt>
                <c:pt idx="2">
                  <c:v>15.5983645642248</c:v>
                </c:pt>
                <c:pt idx="3">
                  <c:v>15.0359352753671</c:v>
                </c:pt>
                <c:pt idx="4">
                  <c:v>11.644311431365</c:v>
                </c:pt>
                <c:pt idx="5">
                  <c:v>8.25677283009669</c:v>
                </c:pt>
              </c:numCache>
            </c:numRef>
          </c:val>
        </c:ser>
        <c:ser>
          <c:idx val="1"/>
          <c:order val="1"/>
          <c:tx>
            <c:v>Base</c:v>
          </c:tx>
          <c:spPr>
            <a:solidFill xmlns:a="http://schemas.openxmlformats.org/drawingml/2006/main">
              <a:srgbClr val="6782B4"/>
            </a:solidFill>
            <a:ln xmlns:a="http://schemas.openxmlformats.org/drawingml/2006/main" w="23813">
              <a:solidFill>
                <a:srgbClr val="6782B4"/>
              </a:solidFill>
            </a:ln>
          </c:spPr>
          <c:marker>
            <c:symbol val="none"/>
          </c:marker>
          <c:cat>
            <c:numRef>
              <c:f>'Chart Data'!$C$2:$C$7</c:f>
              <c:numCache>
                <c:formatCode>General</c:formatCode>
                <c:ptCount val="6"/>
                <c:pt idx="0">
                  <c:v>2025</c:v>
                </c:pt>
                <c:pt idx="1">
                  <c:v>2026</c:v>
                </c:pt>
                <c:pt idx="2">
                  <c:v>2027</c:v>
                </c:pt>
                <c:pt idx="3">
                  <c:v>2028</c:v>
                </c:pt>
                <c:pt idx="4">
                  <c:v>2029</c:v>
                </c:pt>
                <c:pt idx="5">
                  <c:v>2030</c:v>
                </c:pt>
              </c:numCache>
            </c:numRef>
          </c:cat>
          <c:val>
            <c:numRef>
              <c:f>'Chart Data'!$D$2:$D$7</c:f>
              <c:numCache>
                <c:formatCode>0.00</c:formatCode>
                <c:ptCount val="6"/>
                <c:pt idx="0">
                  <c:v>16.7358508731652</c:v>
                </c:pt>
                <c:pt idx="1">
                  <c:v>16.7080359068366</c:v>
                </c:pt>
                <c:pt idx="2">
                  <c:v>16.6810375302384</c:v>
                </c:pt>
                <c:pt idx="3">
                  <c:v>16.6548693095932</c:v>
                </c:pt>
                <c:pt idx="4">
                  <c:v>16.6295450366319</c:v>
                </c:pt>
                <c:pt idx="5">
                  <c:v>16.6050787321592</c:v>
                </c:pt>
              </c:numCache>
            </c:numRef>
          </c:val>
        </c:ser>
        <c:ser>
          <c:idx val="2"/>
          <c:order val="2"/>
          <c:tx>
            <c:v>High imports</c:v>
          </c:tx>
          <c:spPr>
            <a:solidFill xmlns:a="http://schemas.openxmlformats.org/drawingml/2006/main">
              <a:srgbClr val="868686"/>
            </a:solidFill>
            <a:ln xmlns:a="http://schemas.openxmlformats.org/drawingml/2006/main" w="23813">
              <a:solidFill>
                <a:srgbClr val="868686"/>
              </a:solidFill>
            </a:ln>
          </c:spPr>
          <c:marker>
            <c:symbol val="none"/>
          </c:marker>
          <c:cat>
            <c:numRef>
              <c:f>'Chart Data'!$E$2:$E$7</c:f>
              <c:numCache>
                <c:formatCode>General</c:formatCode>
                <c:ptCount val="6"/>
                <c:pt idx="0">
                  <c:v>2025</c:v>
                </c:pt>
                <c:pt idx="1">
                  <c:v>2026</c:v>
                </c:pt>
                <c:pt idx="2">
                  <c:v>2027</c:v>
                </c:pt>
                <c:pt idx="3">
                  <c:v>2028</c:v>
                </c:pt>
                <c:pt idx="4">
                  <c:v>2029</c:v>
                </c:pt>
                <c:pt idx="5">
                  <c:v>2030</c:v>
                </c:pt>
              </c:numCache>
            </c:numRef>
          </c:cat>
          <c:val>
            <c:numRef>
              <c:f>'Chart Data'!$F$2:$F$7</c:f>
              <c:numCache>
                <c:formatCode>0.00</c:formatCode>
                <c:ptCount val="6"/>
                <c:pt idx="0">
                  <c:v>16.7358508731652</c:v>
                </c:pt>
                <c:pt idx="1">
                  <c:v>17.3082936211733</c:v>
                </c:pt>
                <c:pt idx="2">
                  <c:v>17.8888406280197</c:v>
                </c:pt>
                <c:pt idx="3">
                  <c:v>18.4776598514453</c:v>
                </c:pt>
                <c:pt idx="4">
                  <c:v>19.0749228043164</c:v>
                </c:pt>
                <c:pt idx="5">
                  <c:v>19.6808046315979</c:v>
                </c:pt>
              </c:numCache>
            </c:numRef>
          </c:val>
        </c:ser>
        <c:dLbls>
          <c:txPr>
            <a:bodyPr xmlns:a="http://schemas.openxmlformats.org/drawingml/2006/main" anchorCtr="1"/>
            <a:lstStyle xmlns:a="http://schemas.openxmlformats.org/drawingml/2006/main"/>
            <a:p xmlns:a="http://schemas.openxmlformats.org/drawingml/2006/main">
              <a:pPr>
                <a:defRPr sz="900">
                  <a:solidFill>
                    <a:srgbClr val="333333"/>
                  </a:solidFill>
                  <a:latin typeface="Lato"/>
                  <a:ea typeface="Lato"/>
                  <a:cs typeface="Lato"/>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Lato"/>
                <a:ea typeface="Lato"/>
                <a:cs typeface="Lato"/>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Lato"/>
              <a:ea typeface="Lato"/>
              <a:cs typeface="Lato"/>
            </a:defRPr>
          </a:pPr>
        </a:p>
      </c:txPr>
    </c:legend>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7C39121-817A-4D3C-899A-D0A0C1F58930}"/>
              </a:ext>
            </a:extLst>
          </p:cNvPr>
          <p:cNvSpPr>
            <a:spLocks xmlns:a="http://schemas.openxmlformats.org/drawingml/2006/main" noGrp="1"/>
          </p:cNvSpPr>
          <p:nvPr/>
        </p:nvSpPr>
        <p:spPr>
          <a:xfrm xmlns:a="http://schemas.openxmlformats.org/drawingml/2006/main">
            <a:off x="0" y="0"/>
            <a:ext cx="11588750" cy="6858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a:solidFill>
                  <a:srgbClr val="FFFFFF"/>
                </a:solidFill>
              </a:defRPr>
            </a:pPr>
            <a:endParaRP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4485c0331a0e4cd2"/>
          <a:srcRect xmlns:a="http://schemas.openxmlformats.org/drawingml/2006/main" l="21836" t="0" r="21836" b="0"/>
          <a:stretch xmlns:a="http://schemas.openxmlformats.org/drawingml/2006/main">
            <a:fillRect l="0" t="0" r="0" b="0"/>
          </a:stretch>
        </p:blipFill>
        <p:spPr>
          <a:xfrm xmlns:a="http://schemas.openxmlformats.org/drawingml/2006/main">
            <a:off x="5794375" y="0"/>
            <a:ext cx="5794375" cy="6858000"/>
          </a:xfrm>
          <a:prstGeom xmlns:a="http://schemas.openxmlformats.org/drawingml/2006/main" prst="rect">
            <a:avLst/>
          </a:prstGeom>
        </p:spPr>
      </p:pic>
      <p:pic>
        <p:nvPicPr>
          <p:cNvPr id="17" name="Picture 3"/>
          <p:cNvPicPr>
            <a:picLocks xmlns:a="http://schemas.openxmlformats.org/drawingml/2006/main" noChangeAspect="1"/>
          </p:cNvPicPr>
          <p:nvPr/>
        </p:nvPicPr>
        <p:blipFill>
          <a:blip xmlns:r="http://schemas.openxmlformats.org/officeDocument/2006/relationships" xmlns:a="http://schemas.openxmlformats.org/drawingml/2006/main" r:embed="R2c606bc80f62489b"/>
          <a:srcRect xmlns:a="http://schemas.openxmlformats.org/drawingml/2006/main" l="0" t="0" r="0" b="0"/>
          <a:stretch xmlns:a="http://schemas.openxmlformats.org/drawingml/2006/main">
            <a:fillRect l="0" t="0" r="0" b="0"/>
          </a:stretch>
        </p:blipFill>
        <p:spPr>
          <a:xfrm xmlns:a="http://schemas.openxmlformats.org/drawingml/2006/main">
            <a:off x="502920" y="457200"/>
            <a:ext cx="1965960" cy="438614"/>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5FD954C5-04DB-4280-B44C-D964E6C9CDDA}"/>
              </a:ext>
            </a:extLst>
          </p:cNvPr>
          <p:cNvSpPr>
            <a:spLocks xmlns:a="http://schemas.openxmlformats.org/drawingml/2006/main" noGrp="1"/>
          </p:cNvSpPr>
          <p:nvPr/>
        </p:nvSpPr>
        <p:spPr>
          <a:xfrm xmlns:a="http://schemas.openxmlformats.org/drawingml/2006/main">
            <a:off x="594360" y="2468880"/>
            <a:ext cx="4709160" cy="163634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South Africa</a:t>
            </a:r>
            <a:endParaRPr>
              <a:solidFill>
                <a:srgbClr val="FFFFFF"/>
              </a:solidFill>
            </a:endParaRPr>
          </a:p>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liquid fuels</a:t>
            </a:r>
            <a:endParaRPr>
              <a:solidFill>
                <a:srgbClr val="FFFFFF"/>
              </a:solidFill>
            </a:endParaRPr>
          </a:p>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market story</a:t>
            </a:r>
            <a:endParaRPr>
              <a:solidFill>
                <a:srgbClr val="FFFFFF"/>
              </a:solidFill>
            </a:endParaRPr>
          </a:p>
        </p:txBody>
      </p:sp>
      <p:sp>
        <p:nvSpPr>
          <p:cNvPr id="6" name="Connector 5">
            <a:extLst xmlns:a="http://schemas.openxmlformats.org/drawingml/2006/main">
              <a:ext uri="{FF2B5EF4-FFF2-40B4-BE49-F238E27FC236}">
                <a16:creationId xmlns:a16="http://schemas.microsoft.com/office/drawing/2014/main" id="{8AC3AB0E-746B-4AF6-ABCD-D6526DA2BFFE}"/>
              </a:ext>
            </a:extLst>
          </p:cNvPr>
          <p:cNvSpPr>
            <a:spLocks xmlns:a="http://schemas.openxmlformats.org/drawingml/2006/main" noGrp="1"/>
          </p:cNvSpPr>
          <p:nvPr/>
        </p:nvSpPr>
        <p:spPr>
          <a:xfrm xmlns:a="http://schemas.openxmlformats.org/drawingml/2006/main">
            <a:off x="594360" y="4251960"/>
            <a:ext cx="4617720" cy="0"/>
          </a:xfrm>
          <a:prstGeom xmlns:a="http://schemas.openxmlformats.org/drawingml/2006/main" prst="line">
            <a:avLst/>
          </a:prstGeom>
          <a:ln xmlns:a="http://schemas.openxmlformats.org/drawingml/2006/main" w="7620">
            <a:solidFill>
              <a:srgbClr val="FFFFF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2702DF3-0D72-4A19-ADCB-903E36583053}"/>
              </a:ext>
            </a:extLst>
          </p:cNvPr>
          <p:cNvSpPr>
            <a:spLocks xmlns:a="http://schemas.openxmlformats.org/drawingml/2006/main" noGrp="1"/>
          </p:cNvSpPr>
          <p:nvPr/>
        </p:nvSpPr>
        <p:spPr>
          <a:xfrm xmlns:a="http://schemas.openxmlformats.org/drawingml/2006/main">
            <a:off x="594360" y="4617720"/>
            <a:ext cx="4572000" cy="5232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2100" b="0">
                <a:solidFill>
                  <a:srgbClr val="FFFFFF"/>
                </a:solidFill>
                <a:latin typeface="Lato"/>
                <a:ea typeface="Lato"/>
                <a:cs typeface="Lato"/>
              </a:defRPr>
            </a:pPr>
            <a:r>
              <a:rPr sz="1700">
                <a:solidFill>
                  <a:srgbClr val="FFFFFF"/>
                </a:solidFill>
              </a:rPr>
              <a:t>Inland supply, corridor capture and tank turnover</a:t>
            </a:r>
            <a:endParaRPr sz="1700">
              <a:solidFill>
                <a:srgbClr val="FFFFFF"/>
              </a:solidFill>
            </a:endParaRPr>
          </a:p>
        </p:txBody>
      </p:sp>
      <p:sp>
        <p:nvSpPr>
          <p:cNvPr id="8" name="TextBox 7">
            <a:extLst xmlns:a="http://schemas.openxmlformats.org/drawingml/2006/main">
              <a:ext uri="{FF2B5EF4-FFF2-40B4-BE49-F238E27FC236}">
                <a16:creationId xmlns:a16="http://schemas.microsoft.com/office/drawing/2014/main" id="{C5CB190A-7488-44E1-8968-36FDC90EDA0B}"/>
              </a:ext>
            </a:extLst>
          </p:cNvPr>
          <p:cNvSpPr>
            <a:spLocks xmlns:a="http://schemas.openxmlformats.org/drawingml/2006/main" noGrp="1"/>
          </p:cNvSpPr>
          <p:nvPr/>
        </p:nvSpPr>
        <p:spPr>
          <a:xfrm xmlns:a="http://schemas.openxmlformats.org/drawingml/2006/main">
            <a:off x="594360" y="52395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Durban–Lesedi corridor into Gauteng</a:t>
            </a:r>
            <a:endParaRPr>
              <a:solidFill>
                <a:srgbClr val="FFFFFF"/>
              </a:solidFill>
            </a:endParaRPr>
          </a:p>
        </p:txBody>
      </p:sp>
      <p:sp>
        <p:nvSpPr>
          <p:cNvPr id="9" name="TextBox 8">
            <a:extLst xmlns:a="http://schemas.openxmlformats.org/drawingml/2006/main">
              <a:ext uri="{FF2B5EF4-FFF2-40B4-BE49-F238E27FC236}">
                <a16:creationId xmlns:a16="http://schemas.microsoft.com/office/drawing/2014/main" id="{D208E6D2-5587-493C-AED5-50FFAEFBCE44}"/>
              </a:ext>
            </a:extLst>
          </p:cNvPr>
          <p:cNvSpPr>
            <a:spLocks xmlns:a="http://schemas.openxmlformats.org/drawingml/2006/main" noGrp="1"/>
          </p:cNvSpPr>
          <p:nvPr/>
        </p:nvSpPr>
        <p:spPr>
          <a:xfrm xmlns:a="http://schemas.openxmlformats.org/drawingml/2006/main">
            <a:off x="594360" y="56967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11 October 2026</a:t>
            </a:r>
            <a:endParaRPr>
              <a:solidFill>
                <a:srgbClr val="FFFFFF"/>
              </a:solidFill>
            </a:endParaRPr>
          </a:p>
        </p:txBody>
      </p:sp>
      <p:sp>
        <p:nvSpPr>
          <p:cNvPr id="10" name="TextBox 9">
            <a:extLst xmlns:a="http://schemas.openxmlformats.org/drawingml/2006/main">
              <a:ext uri="{FF2B5EF4-FFF2-40B4-BE49-F238E27FC236}">
                <a16:creationId xmlns:a16="http://schemas.microsoft.com/office/drawing/2014/main" id="{15A94E5E-E17D-406B-B780-6593F829C0CA}"/>
              </a:ext>
            </a:extLst>
          </p:cNvPr>
          <p:cNvSpPr>
            <a:spLocks xmlns:a="http://schemas.openxmlformats.org/drawingml/2006/main" noGrp="1"/>
          </p:cNvSpPr>
          <p:nvPr/>
        </p:nvSpPr>
        <p:spPr>
          <a:xfrm xmlns:a="http://schemas.openxmlformats.org/drawingml/2006/main">
            <a:off x="594360" y="6053328"/>
            <a:ext cx="4572000" cy="3693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200" b="0">
                <a:solidFill>
                  <a:srgbClr val="FFFFFF"/>
                </a:solidFill>
                <a:latin typeface="Lato"/>
                <a:ea typeface="Lato"/>
                <a:cs typeface="Lato"/>
              </a:defRPr>
            </a:pPr>
            <a:r>
              <a:rPr sz="1200">
                <a:solidFill>
                  <a:srgbClr val="FFFFFF"/>
                </a:solidFill>
              </a:rPr>
              <a:t>Public evidence and illustrative capture cases. Customer access, operating limits and returns remain provisional.</a:t>
            </a:r>
            <a:endParaRPr sz="1200">
              <a:solidFill>
                <a:srgbClr val="FFFFFF"/>
              </a:solidFill>
            </a:endParaRPr>
          </a:p>
        </p:txBody>
      </p:sp>
      <p:sp>
        <p:nvSpPr>
          <p:cNvPr id="11" name="Photo source credit">
            <a:extLst xmlns:a="http://schemas.openxmlformats.org/drawingml/2006/main">
              <a:ext uri="{FF2B5EF4-FFF2-40B4-BE49-F238E27FC236}">
                <a16:creationId xmlns:a16="http://schemas.microsoft.com/office/drawing/2014/main" id="{605235CD-EC7B-4D28-A4DA-C6360164F0A7}"/>
              </a:ext>
            </a:extLst>
          </p:cNvPr>
          <p:cNvSpPr>
            <a:spLocks xmlns:a="http://schemas.openxmlformats.org/drawingml/2006/main" noGrp="1"/>
          </p:cNvSpPr>
          <p:nvPr/>
        </p:nvSpPr>
        <p:spPr>
          <a:xfrm xmlns:a="http://schemas.openxmlformats.org/drawingml/2006/main">
            <a:off x="594360" y="6400800"/>
            <a:ext cx="4754880" cy="1645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xmlns:a="http://schemas.openxmlformats.org/drawingml/2006/main">
              <a:ext uri="{FF2B5EF4-FFF2-40B4-BE49-F238E27FC236}">
                <a16:creationId xmlns:a16="http://schemas.microsoft.com/office/drawing/2014/main" id="{ED5236C5-84CC-47CC-8ACF-9C81666786AA}"/>
              </a:ext>
            </a:extLst>
          </p:cNvPr>
          <p:cNvSpPr>
            <a:spLocks xmlns:a="http://schemas.openxmlformats.org/drawingml/2006/main" noGrp="1"/>
          </p:cNvSpPr>
          <p:nvPr/>
        </p:nvSpPr>
        <p:spPr>
          <a:xfrm xmlns:a="http://schemas.openxmlformats.org/drawingml/2006/main">
            <a:off x="59436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74530231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Our 2025 baseline is 21.0bn litres, with road use accounting for most demand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sales through 2023; energy balances and Stats SA activity; Eskom/IPP evidence. All 2025 segment allocations are estimates; other diesel retains an explicit residual.</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810000"/>
        </p:xfrm>
        <a:graphic xmlns:a="http://schemas.openxmlformats.org/drawingml/2006/main">
          <a:graphicData uri="http://schemas.openxmlformats.org/drawingml/2006/table">
            <a:tbl>
              <a:tblPr firstRow="0" bandRow="0"/>
              <a:tblGrid>
                <a:gridCol w="5810250"/>
                <a:gridCol w="2238375"/>
                <a:gridCol w="2600325"/>
              </a:tblGrid>
              <a:tr h="409575">
                <a:tc>
                  <a:txBody>
                    <a:bodyPr/>
                    <a:lstStyle/>
                    <a:p>
                      <a:r>
                        <a:rPr sz="1275" b="1">
                          <a:solidFill>
                            <a:srgbClr val="0A2373"/>
                          </a:solidFill>
                          <a:latin typeface="Lato"/>
                          <a:ea typeface="Lato"/>
                          <a:cs typeface="Lato"/>
                        </a:rPr>
                        <a:t>Demand segment</a:t>
                      </a:r>
                    </a:p>
                  </a:txBody>
                  <a:tcPr marL="91440" marR="91440" marT="45720" marB="45720" anchor="t">
                    <a:solidFill>
                      <a:srgbClr val="F5F5F5"/>
                    </a:solidFill>
                  </a:tcPr>
                </a:tc>
                <a:tc>
                  <a:txBody>
                    <a:bodyPr/>
                    <a:lstStyle/>
                    <a:p>
                      <a:r>
                        <a:rPr sz="1275" b="1">
                          <a:solidFill>
                            <a:srgbClr val="0A2373"/>
                          </a:solidFill>
                          <a:latin typeface="Lato"/>
                          <a:ea typeface="Lato"/>
                          <a:cs typeface="Lato"/>
                        </a:rPr>
                        <a:t>2025 estimate</a:t>
                      </a:r>
                    </a:p>
                    <a:p>
                      <a:r>
                        <a:rPr sz="1275" b="1">
                          <a:solidFill>
                            <a:srgbClr val="0A2373"/>
                          </a:solidFill>
                          <a:latin typeface="Lato"/>
                          <a:ea typeface="Lato"/>
                          <a:cs typeface="Lato"/>
                        </a:rPr>
                        <a:t>bn litres</a:t>
                      </a:r>
                    </a:p>
                  </a:txBody>
                  <a:tcPr marL="91440" marR="91440" marT="45720" marB="45720" anchor="t">
                    <a:solidFill>
                      <a:srgbClr val="F5F5F5"/>
                    </a:solidFill>
                  </a:tcPr>
                </a:tc>
                <a:tc>
                  <a:txBody>
                    <a:bodyPr/>
                    <a:lstStyle/>
                    <a:p>
                      <a:r>
                        <a:rPr sz="1275" b="1">
                          <a:solidFill>
                            <a:srgbClr val="0A2373"/>
                          </a:solidFill>
                          <a:latin typeface="Lato"/>
                          <a:ea typeface="Lato"/>
                          <a:cs typeface="Lato"/>
                        </a:rPr>
                        <a:t>Change since 2023</a:t>
                      </a:r>
                    </a:p>
                    <a:p>
                      <a:r>
                        <a:rPr sz="1275" b="1">
                          <a:solidFill>
                            <a:srgbClr val="0A2373"/>
                          </a:solidFill>
                          <a:latin typeface="Lato"/>
                          <a:ea typeface="Lato"/>
                          <a:cs typeface="Lato"/>
                        </a:rPr>
                        <a:t>bn litres</a:t>
                      </a:r>
                    </a:p>
                  </a:txBody>
                  <a:tcPr marL="91440" marR="91440" marT="45720" marB="45720" anchor="t">
                    <a:solidFill>
                      <a:srgbClr val="F5F5F5"/>
                    </a:solidFill>
                  </a:tcPr>
                </a:tc>
              </a:tr>
              <a:tr h="377825">
                <a:tc>
                  <a:txBody>
                    <a:bodyPr/>
                    <a:lstStyle/>
                    <a:p>
                      <a:r>
                        <a:rPr sz="1275" b="1">
                          <a:solidFill>
                            <a:srgbClr val="0A2373"/>
                          </a:solidFill>
                          <a:latin typeface="Lato"/>
                          <a:ea typeface="Lato"/>
                          <a:cs typeface="Lato"/>
                        </a:rPr>
                        <a:t>Petrol road use</a:t>
                      </a:r>
                    </a:p>
                  </a:txBody>
                  <a:tcPr marL="91440" marR="91440" marT="45720" marB="45720" anchor="t">
                    <a:solidFill>
                      <a:srgbClr val="FFFFFF"/>
                    </a:solidFill>
                  </a:tcPr>
                </a:tc>
                <a:tc>
                  <a:txBody>
                    <a:bodyPr/>
                    <a:lstStyle/>
                    <a:p>
                      <a:r>
                        <a:rPr sz="1275" b="0">
                          <a:solidFill>
                            <a:srgbClr val="11151A"/>
                          </a:solidFill>
                          <a:latin typeface="Lato"/>
                          <a:ea typeface="Lato"/>
                          <a:cs typeface="Lato"/>
                        </a:rPr>
                        <a:t>8.59</a:t>
                      </a:r>
                    </a:p>
                  </a:txBody>
                  <a:tcPr marL="91440" marR="91440" marT="45720" marB="45720" anchor="t">
                    <a:solidFill>
                      <a:srgbClr val="FFFFFF"/>
                    </a:solidFill>
                  </a:tcPr>
                </a:tc>
                <a:tc>
                  <a:txBody>
                    <a:bodyPr/>
                    <a:lstStyle/>
                    <a:p>
                      <a:r>
                        <a:rPr sz="1275" b="0">
                          <a:solidFill>
                            <a:srgbClr val="11151A"/>
                          </a:solidFill>
                          <a:latin typeface="Lato"/>
                          <a:ea typeface="Lato"/>
                          <a:cs typeface="Lato"/>
                        </a:rPr>
                        <a:t>-0.18</a:t>
                      </a:r>
                    </a:p>
                  </a:txBody>
                  <a:tcPr marL="91440" marR="91440" marT="45720" marB="45720" anchor="t">
                    <a:solidFill>
                      <a:srgbClr val="FFFFFF"/>
                    </a:solidFill>
                  </a:tcPr>
                </a:tc>
              </a:tr>
              <a:tr h="377825">
                <a:tc>
                  <a:txBody>
                    <a:bodyPr/>
                    <a:lstStyle/>
                    <a:p>
                      <a:r>
                        <a:rPr sz="1275" b="1">
                          <a:solidFill>
                            <a:srgbClr val="0A2373"/>
                          </a:solidFill>
                          <a:latin typeface="Lato"/>
                          <a:ea typeface="Lato"/>
                          <a:cs typeface="Lato"/>
                        </a:rPr>
                        <a:t>Mining</a:t>
                      </a:r>
                    </a:p>
                  </a:txBody>
                  <a:tcPr marL="91440" marR="91440" marT="45720" marB="45720" anchor="t">
                    <a:solidFill>
                      <a:srgbClr val="FFFFFF"/>
                    </a:solidFill>
                  </a:tcPr>
                </a:tc>
                <a:tc>
                  <a:txBody>
                    <a:bodyPr/>
                    <a:lstStyle/>
                    <a:p>
                      <a:r>
                        <a:rPr sz="1275" b="0">
                          <a:solidFill>
                            <a:srgbClr val="11151A"/>
                          </a:solidFill>
                          <a:latin typeface="Lato"/>
                          <a:ea typeface="Lato"/>
                          <a:cs typeface="Lato"/>
                        </a:rPr>
                        <a:t>1.41</a:t>
                      </a:r>
                    </a:p>
                  </a:txBody>
                  <a:tcPr marL="91440" marR="91440" marT="45720" marB="45720" anchor="t">
                    <a:solidFill>
                      <a:srgbClr val="FFFFFF"/>
                    </a:solidFill>
                  </a:tcPr>
                </a:tc>
                <a:tc>
                  <a:txBody>
                    <a:bodyPr/>
                    <a:lstStyle/>
                    <a:p>
                      <a:r>
                        <a:rPr sz="1275" b="0">
                          <a:solidFill>
                            <a:srgbClr val="11151A"/>
                          </a:solidFill>
                          <a:latin typeface="Lato"/>
                          <a:ea typeface="Lato"/>
                          <a:cs typeface="Lato"/>
                        </a:rPr>
                        <a:t>0.01</a:t>
                      </a:r>
                    </a:p>
                  </a:txBody>
                  <a:tcPr marL="91440" marR="91440" marT="45720" marB="45720" anchor="t">
                    <a:solidFill>
                      <a:srgbClr val="FFFFFF"/>
                    </a:solidFill>
                  </a:tcPr>
                </a:tc>
              </a:tr>
              <a:tr h="377825">
                <a:tc>
                  <a:txBody>
                    <a:bodyPr/>
                    <a:lstStyle/>
                    <a:p>
                      <a:r>
                        <a:rPr sz="1275" b="1">
                          <a:solidFill>
                            <a:srgbClr val="0A2373"/>
                          </a:solidFill>
                          <a:latin typeface="Lato"/>
                          <a:ea typeface="Lato"/>
                          <a:cs typeface="Lato"/>
                        </a:rPr>
                        <a:t>Manufacturing</a:t>
                      </a:r>
                    </a:p>
                  </a:txBody>
                  <a:tcPr marL="91440" marR="91440" marT="45720" marB="45720" anchor="t">
                    <a:solidFill>
                      <a:srgbClr val="FFFFFF"/>
                    </a:solidFill>
                  </a:tcPr>
                </a:tc>
                <a:tc>
                  <a:txBody>
                    <a:bodyPr/>
                    <a:lstStyle/>
                    <a:p>
                      <a:r>
                        <a:rPr sz="1275" b="0">
                          <a:solidFill>
                            <a:srgbClr val="11151A"/>
                          </a:solidFill>
                          <a:latin typeface="Lato"/>
                          <a:ea typeface="Lato"/>
                          <a:cs typeface="Lato"/>
                        </a:rPr>
                        <a:t>0.17</a:t>
                      </a:r>
                    </a:p>
                  </a:txBody>
                  <a:tcPr marL="91440" marR="91440" marT="45720" marB="45720" anchor="t">
                    <a:solidFill>
                      <a:srgbClr val="FFFFFF"/>
                    </a:solidFill>
                  </a:tcPr>
                </a:tc>
                <a:tc>
                  <a:txBody>
                    <a:bodyPr/>
                    <a:lstStyle/>
                    <a:p>
                      <a:r>
                        <a:rPr sz="1275" b="0">
                          <a:solidFill>
                            <a:srgbClr val="11151A"/>
                          </a:solidFill>
                          <a:latin typeface="Lato"/>
                          <a:ea typeface="Lato"/>
                          <a:cs typeface="Lato"/>
                        </a:rPr>
                        <a:t>-0.00</a:t>
                      </a:r>
                    </a:p>
                  </a:txBody>
                  <a:tcPr marL="91440" marR="91440" marT="45720" marB="45720" anchor="t">
                    <a:solidFill>
                      <a:srgbClr val="FFFFFF"/>
                    </a:solidFill>
                  </a:tcPr>
                </a:tc>
              </a:tr>
              <a:tr h="377825">
                <a:tc>
                  <a:txBody>
                    <a:bodyPr/>
                    <a:lstStyle/>
                    <a:p>
                      <a:r>
                        <a:rPr sz="1275" b="1">
                          <a:solidFill>
                            <a:srgbClr val="0A2373"/>
                          </a:solidFill>
                          <a:latin typeface="Lato"/>
                          <a:ea typeface="Lato"/>
                          <a:cs typeface="Lato"/>
                        </a:rPr>
                        <a:t>Agriculture</a:t>
                      </a:r>
                    </a:p>
                  </a:txBody>
                  <a:tcPr marL="91440" marR="91440" marT="45720" marB="45720" anchor="t">
                    <a:solidFill>
                      <a:srgbClr val="FFFFFF"/>
                    </a:solidFill>
                  </a:tcPr>
                </a:tc>
                <a:tc>
                  <a:txBody>
                    <a:bodyPr/>
                    <a:lstStyle/>
                    <a:p>
                      <a:r>
                        <a:rPr sz="1275" b="0">
                          <a:solidFill>
                            <a:srgbClr val="11151A"/>
                          </a:solidFill>
                          <a:latin typeface="Lato"/>
                          <a:ea typeface="Lato"/>
                          <a:cs typeface="Lato"/>
                        </a:rPr>
                        <a:t>1.13</a:t>
                      </a:r>
                    </a:p>
                  </a:txBody>
                  <a:tcPr marL="91440" marR="91440" marT="45720" marB="45720" anchor="t">
                    <a:solidFill>
                      <a:srgbClr val="FFFFFF"/>
                    </a:solidFill>
                  </a:tcPr>
                </a:tc>
                <a:tc>
                  <a:txBody>
                    <a:bodyPr/>
                    <a:lstStyle/>
                    <a:p>
                      <a:r>
                        <a:rPr sz="1275" b="0">
                          <a:solidFill>
                            <a:srgbClr val="11151A"/>
                          </a:solidFill>
                          <a:latin typeface="Lato"/>
                          <a:ea typeface="Lato"/>
                          <a:cs typeface="Lato"/>
                        </a:rPr>
                        <a:t>0.08</a:t>
                      </a:r>
                    </a:p>
                  </a:txBody>
                  <a:tcPr marL="91440" marR="91440" marT="45720" marB="45720" anchor="t">
                    <a:solidFill>
                      <a:srgbClr val="FFFFFF"/>
                    </a:solidFill>
                  </a:tcPr>
                </a:tc>
              </a:tr>
              <a:tr h="377825">
                <a:tc>
                  <a:txBody>
                    <a:bodyPr/>
                    <a:lstStyle/>
                    <a:p>
                      <a:r>
                        <a:rPr sz="1275" b="1">
                          <a:solidFill>
                            <a:srgbClr val="0A2373"/>
                          </a:solidFill>
                          <a:latin typeface="Lato"/>
                          <a:ea typeface="Lato"/>
                          <a:cs typeface="Lato"/>
                        </a:rPr>
                        <a:t>Utility and private power</a:t>
                      </a:r>
                    </a:p>
                  </a:txBody>
                  <a:tcPr marL="91440" marR="91440" marT="45720" marB="45720" anchor="t">
                    <a:solidFill>
                      <a:srgbClr val="FFFFFF"/>
                    </a:solidFill>
                  </a:tcPr>
                </a:tc>
                <a:tc>
                  <a:txBody>
                    <a:bodyPr/>
                    <a:lstStyle/>
                    <a:p>
                      <a:r>
                        <a:rPr sz="1275" b="0">
                          <a:solidFill>
                            <a:srgbClr val="11151A"/>
                          </a:solidFill>
                          <a:latin typeface="Lato"/>
                          <a:ea typeface="Lato"/>
                          <a:cs typeface="Lato"/>
                        </a:rPr>
                        <a:t>1.08</a:t>
                      </a:r>
                    </a:p>
                  </a:txBody>
                  <a:tcPr marL="91440" marR="91440" marT="45720" marB="45720" anchor="t">
                    <a:solidFill>
                      <a:srgbClr val="FFFFFF"/>
                    </a:solidFill>
                  </a:tcPr>
                </a:tc>
                <a:tc>
                  <a:txBody>
                    <a:bodyPr/>
                    <a:lstStyle/>
                    <a:p>
                      <a:r>
                        <a:rPr sz="1275" b="0">
                          <a:solidFill>
                            <a:srgbClr val="11151A"/>
                          </a:solidFill>
                          <a:latin typeface="Lato"/>
                          <a:ea typeface="Lato"/>
                          <a:cs typeface="Lato"/>
                        </a:rPr>
                        <a:t>-0.99</a:t>
                      </a:r>
                    </a:p>
                  </a:txBody>
                  <a:tcPr marL="91440" marR="91440" marT="45720" marB="45720" anchor="t">
                    <a:solidFill>
                      <a:srgbClr val="FFFFFF"/>
                    </a:solidFill>
                  </a:tcPr>
                </a:tc>
              </a:tr>
              <a:tr h="377825">
                <a:tc>
                  <a:txBody>
                    <a:bodyPr/>
                    <a:lstStyle/>
                    <a:p>
                      <a:r>
                        <a:rPr sz="1275" b="1">
                          <a:solidFill>
                            <a:srgbClr val="0A2373"/>
                          </a:solidFill>
                          <a:latin typeface="Lato"/>
                          <a:ea typeface="Lato"/>
                          <a:cs typeface="Lato"/>
                        </a:rPr>
                        <a:t>Road freight diesel</a:t>
                      </a:r>
                    </a:p>
                  </a:txBody>
                  <a:tcPr marL="91440" marR="91440" marT="45720" marB="45720" anchor="t">
                    <a:solidFill>
                      <a:srgbClr val="FFFFFF"/>
                    </a:solidFill>
                  </a:tcPr>
                </a:tc>
                <a:tc>
                  <a:txBody>
                    <a:bodyPr/>
                    <a:lstStyle/>
                    <a:p>
                      <a:r>
                        <a:rPr sz="1275" b="0">
                          <a:solidFill>
                            <a:srgbClr val="11151A"/>
                          </a:solidFill>
                          <a:latin typeface="Lato"/>
                          <a:ea typeface="Lato"/>
                          <a:cs typeface="Lato"/>
                        </a:rPr>
                        <a:t>4.82</a:t>
                      </a:r>
                    </a:p>
                  </a:txBody>
                  <a:tcPr marL="91440" marR="91440" marT="45720" marB="45720" anchor="t">
                    <a:solidFill>
                      <a:srgbClr val="FFFFFF"/>
                    </a:solidFill>
                  </a:tcPr>
                </a:tc>
                <a:tc>
                  <a:txBody>
                    <a:bodyPr/>
                    <a:lstStyle/>
                    <a:p>
                      <a:r>
                        <a:rPr sz="1275" b="0">
                          <a:solidFill>
                            <a:srgbClr val="11151A"/>
                          </a:solidFill>
                          <a:latin typeface="Lato"/>
                          <a:ea typeface="Lato"/>
                          <a:cs typeface="Lato"/>
                        </a:rPr>
                        <a:t>-0.02</a:t>
                      </a:r>
                    </a:p>
                  </a:txBody>
                  <a:tcPr marL="91440" marR="91440" marT="45720" marB="45720" anchor="t">
                    <a:solidFill>
                      <a:srgbClr val="FFFFFF"/>
                    </a:solidFill>
                  </a:tcPr>
                </a:tc>
              </a:tr>
              <a:tr h="377825">
                <a:tc>
                  <a:txBody>
                    <a:bodyPr/>
                    <a:lstStyle/>
                    <a:p>
                      <a:r>
                        <a:rPr sz="1275" b="1">
                          <a:solidFill>
                            <a:srgbClr val="0A2373"/>
                          </a:solidFill>
                          <a:latin typeface="Lato"/>
                          <a:ea typeface="Lato"/>
                          <a:cs typeface="Lato"/>
                        </a:rPr>
                        <a:t>Other road diesel</a:t>
                      </a:r>
                    </a:p>
                  </a:txBody>
                  <a:tcPr marL="91440" marR="91440" marT="45720" marB="45720" anchor="t">
                    <a:solidFill>
                      <a:srgbClr val="FFFFFF"/>
                    </a:solidFill>
                  </a:tcPr>
                </a:tc>
                <a:tc>
                  <a:txBody>
                    <a:bodyPr/>
                    <a:lstStyle/>
                    <a:p>
                      <a:r>
                        <a:rPr sz="1275" b="0">
                          <a:solidFill>
                            <a:srgbClr val="11151A"/>
                          </a:solidFill>
                          <a:latin typeface="Lato"/>
                          <a:ea typeface="Lato"/>
                          <a:cs typeface="Lato"/>
                        </a:rPr>
                        <a:t>1.61</a:t>
                      </a:r>
                    </a:p>
                  </a:txBody>
                  <a:tcPr marL="91440" marR="91440" marT="45720" marB="45720" anchor="t">
                    <a:solidFill>
                      <a:srgbClr val="FFFFFF"/>
                    </a:solidFill>
                  </a:tcPr>
                </a:tc>
                <a:tc>
                  <a:txBody>
                    <a:bodyPr/>
                    <a:lstStyle/>
                    <a:p>
                      <a:r>
                        <a:rPr sz="1275" b="0">
                          <a:solidFill>
                            <a:srgbClr val="11151A"/>
                          </a:solidFill>
                          <a:latin typeface="Lato"/>
                          <a:ea typeface="Lato"/>
                          <a:cs typeface="Lato"/>
                        </a:rPr>
                        <a:t>-0.01</a:t>
                      </a:r>
                    </a:p>
                  </a:txBody>
                  <a:tcPr marL="91440" marR="91440" marT="45720" marB="45720" anchor="t">
                    <a:solidFill>
                      <a:srgbClr val="FFFFFF"/>
                    </a:solidFill>
                  </a:tcPr>
                </a:tc>
              </a:tr>
              <a:tr h="377825">
                <a:tc>
                  <a:txBody>
                    <a:bodyPr/>
                    <a:lstStyle/>
                    <a:p>
                      <a:r>
                        <a:rPr sz="1275" b="1">
                          <a:solidFill>
                            <a:srgbClr val="0A2373"/>
                          </a:solidFill>
                          <a:latin typeface="Lato"/>
                          <a:ea typeface="Lato"/>
                          <a:cs typeface="Lato"/>
                        </a:rPr>
                        <a:t>Other petrol</a:t>
                      </a:r>
                    </a:p>
                  </a:txBody>
                  <a:tcPr marL="91440" marR="91440" marT="45720" marB="45720" anchor="t">
                    <a:solidFill>
                      <a:srgbClr val="FFFFFF"/>
                    </a:solidFill>
                  </a:tcPr>
                </a:tc>
                <a:tc>
                  <a:txBody>
                    <a:bodyPr/>
                    <a:lstStyle/>
                    <a:p>
                      <a:r>
                        <a:rPr sz="1275" b="0">
                          <a:solidFill>
                            <a:srgbClr val="11151A"/>
                          </a:solidFill>
                          <a:latin typeface="Lato"/>
                          <a:ea typeface="Lato"/>
                          <a:cs typeface="Lato"/>
                        </a:rPr>
                        <a:t>0.27</a:t>
                      </a:r>
                    </a:p>
                  </a:txBody>
                  <a:tcPr marL="91440" marR="91440" marT="45720" marB="45720" anchor="t">
                    <a:solidFill>
                      <a:srgbClr val="FFFFFF"/>
                    </a:solidFill>
                  </a:tcPr>
                </a:tc>
                <a:tc>
                  <a:txBody>
                    <a:bodyPr/>
                    <a:lstStyle/>
                    <a:p>
                      <a:r>
                        <a:rPr sz="1275" b="0">
                          <a:solidFill>
                            <a:srgbClr val="11151A"/>
                          </a:solidFill>
                          <a:latin typeface="Lato"/>
                          <a:ea typeface="Lato"/>
                          <a:cs typeface="Lato"/>
                        </a:rPr>
                        <a:t>-0.01</a:t>
                      </a:r>
                    </a:p>
                  </a:txBody>
                  <a:tcPr marL="91440" marR="91440" marT="45720" marB="45720" anchor="t">
                    <a:solidFill>
                      <a:srgbClr val="FFFFFF"/>
                    </a:solidFill>
                  </a:tcPr>
                </a:tc>
              </a:tr>
              <a:tr h="377825">
                <a:tc>
                  <a:txBody>
                    <a:bodyPr/>
                    <a:lstStyle/>
                    <a:p>
                      <a:r>
                        <a:rPr sz="1275" b="1">
                          <a:solidFill>
                            <a:srgbClr val="0A2373"/>
                          </a:solidFill>
                          <a:latin typeface="Lato"/>
                          <a:ea typeface="Lato"/>
                          <a:cs typeface="Lato"/>
                        </a:rPr>
                        <a:t>Other diesel / unallocated</a:t>
                      </a:r>
                    </a:p>
                  </a:txBody>
                  <a:tcPr marL="91440" marR="91440" marT="45720" marB="45720" anchor="t">
                    <a:solidFill>
                      <a:srgbClr val="FFFFFF"/>
                    </a:solidFill>
                  </a:tcPr>
                </a:tc>
                <a:tc>
                  <a:txBody>
                    <a:bodyPr/>
                    <a:lstStyle/>
                    <a:p>
                      <a:r>
                        <a:rPr sz="1275" b="0">
                          <a:solidFill>
                            <a:srgbClr val="11151A"/>
                          </a:solidFill>
                          <a:latin typeface="Lato"/>
                          <a:ea typeface="Lato"/>
                          <a:cs typeface="Lato"/>
                        </a:rPr>
                        <a:t>1.91</a:t>
                      </a:r>
                    </a:p>
                  </a:txBody>
                  <a:tcPr marL="91440" marR="91440" marT="45720" marB="45720" anchor="t">
                    <a:solidFill>
                      <a:srgbClr val="FFFFFF"/>
                    </a:solidFill>
                  </a:tcPr>
                </a:tc>
                <a:tc>
                  <a:txBody>
                    <a:bodyPr/>
                    <a:lstStyle/>
                    <a:p>
                      <a:r>
                        <a:rPr sz="1275" b="0">
                          <a:solidFill>
                            <a:srgbClr val="11151A"/>
                          </a:solidFill>
                          <a:latin typeface="Lato"/>
                          <a:ea typeface="Lato"/>
                          <a:cs typeface="Lato"/>
                        </a:rPr>
                        <a:t>0.16</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8687BB8D-A1E3-40B8-903E-7243BBBEF7EA}"/>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Petrol: 8.86bn L. Diesel: 12.13bn L. Total demand falls from 21.94bn L in 2023 to an estimated 20.99bn L in 2025.</a:t>
            </a:r>
          </a:p>
        </p:txBody>
      </p:sp>
      <p:graphicFrame xmlns:a="http://schemas.openxmlformats.org/drawingml/2006/main">
        <p:nvGraphicFramePr>
          <p:cNvPr id="5002"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Demand stays broadly flat in our base case; supply and routes determine where imports enter</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2025 analytical workbook v02: registered demand assumptions and user-directed 5.8bn L domestic production case. Estimates are not reported actuals.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2428875"/>
                <a:gridCol w="3952875"/>
                <a:gridCol w="4267200"/>
              </a:tblGrid>
              <a:tr h="400050">
                <a:tc>
                  <a:txBody>
                    <a:bodyPr/>
                    <a:lstStyle/>
                    <a:p>
                      <a:r>
                        <a:rPr sz="1350" b="1">
                          <a:solidFill>
                            <a:srgbClr val="0A2373"/>
                          </a:solidFill>
                          <a:latin typeface="Lato"/>
                          <a:ea typeface="Lato"/>
                          <a:cs typeface="Lato"/>
                        </a:rPr>
                        <a:t>Driver and deep dive</a:t>
                      </a:r>
                    </a:p>
                  </a:txBody>
                  <a:tcPr marL="91440" marR="91440" marT="45720" marB="45720" anchor="t">
                    <a:solidFill>
                      <a:srgbClr val="F5F5F5"/>
                    </a:solidFill>
                  </a:tcPr>
                </a:tc>
                <a:tc>
                  <a:txBody>
                    <a:bodyPr/>
                    <a:lstStyle/>
                    <a:p>
                      <a:r>
                        <a:rPr sz="1350" b="1">
                          <a:solidFill>
                            <a:srgbClr val="0A2373"/>
                          </a:solidFill>
                          <a:latin typeface="Lato"/>
                          <a:ea typeface="Lato"/>
                          <a:cs typeface="Lato"/>
                        </a:rPr>
                        <a:t>Evidence / planning assumption</a:t>
                      </a:r>
                    </a:p>
                  </a:txBody>
                  <a:tcPr marL="91440" marR="91440" marT="45720" marB="45720" anchor="t">
                    <a:solidFill>
                      <a:srgbClr val="F5F5F5"/>
                    </a:solidFill>
                  </a:tcPr>
                </a:tc>
                <a:tc>
                  <a:txBody>
                    <a:bodyPr/>
                    <a:lstStyle/>
                    <a:p>
                      <a:r>
                        <a:rPr sz="1350" b="1">
                          <a:solidFill>
                            <a:srgbClr val="0A2373"/>
                          </a:solidFill>
                          <a:latin typeface="Lato"/>
                          <a:ea typeface="Lato"/>
                          <a:cs typeface="Lato"/>
                        </a:rPr>
                        <a:t>Base-case implication by 2030</a:t>
                      </a:r>
                    </a:p>
                  </a:txBody>
                  <a:tcPr marL="91440" marR="91440" marT="45720" marB="45720" anchor="t">
                    <a:solidFill>
                      <a:srgbClr val="F5F5F5"/>
                    </a:solidFill>
                  </a:tcPr>
                </a:tc>
              </a:tr>
              <a:tr h="804863">
                <a:tc>
                  <a:txBody>
                    <a:bodyPr/>
                    <a:lstStyle/>
                    <a:p>
                      <a:r>
                        <a:rPr sz="1350" b="1">
                          <a:solidFill>
                            <a:srgbClr val="0A2373"/>
                          </a:solidFill>
                          <a:latin typeface="Lato"/>
                          <a:ea typeface="Lato"/>
                          <a:cs typeface="Lato"/>
                        </a:rPr>
                        <a:t>Power | pp8–9</a:t>
                      </a:r>
                    </a:p>
                  </a:txBody>
                  <a:tcPr marL="91440" marR="91440" marT="45720" marB="45720" anchor="t">
                    <a:solidFill>
                      <a:srgbClr val="FFFFFF"/>
                    </a:solidFill>
                  </a:tcPr>
                </a:tc>
                <a:tc>
                  <a:txBody>
                    <a:bodyPr/>
                    <a:lstStyle/>
                    <a:p>
                      <a:r>
                        <a:rPr sz="1350" b="0">
                          <a:solidFill>
                            <a:srgbClr val="11151A"/>
                          </a:solidFill>
                          <a:latin typeface="Lato"/>
                          <a:ea typeface="Lato"/>
                          <a:cs typeface="Lato"/>
                        </a:rPr>
                        <a:t>Eskom fuel fell from 1.13bn L in FY2024 to 0.68bn in FY2025</a:t>
                      </a:r>
                    </a:p>
                  </a:txBody>
                  <a:tcPr marL="91440" marR="91440" marT="45720" marB="45720" anchor="t">
                    <a:solidFill>
                      <a:srgbClr val="FFFFFF"/>
                    </a:solidFill>
                  </a:tcPr>
                </a:tc>
                <a:tc>
                  <a:txBody>
                    <a:bodyPr/>
                    <a:lstStyle/>
                    <a:p>
                      <a:r>
                        <a:rPr sz="1350" b="0">
                          <a:solidFill>
                            <a:srgbClr val="11151A"/>
                          </a:solidFill>
                          <a:latin typeface="Lato"/>
                          <a:ea typeface="Lato"/>
                          <a:cs typeface="Lato"/>
                        </a:rPr>
                        <a:t>Power demand reduction: 0.54bn L; includes assumed private backup</a:t>
                      </a:r>
                    </a:p>
                  </a:txBody>
                  <a:tcPr marL="91440" marR="91440" marT="45720" marB="45720" anchor="t">
                    <a:solidFill>
                      <a:srgbClr val="FFFFFF"/>
                    </a:solidFill>
                  </a:tcPr>
                </a:tc>
              </a:tr>
              <a:tr h="804863">
                <a:tc>
                  <a:txBody>
                    <a:bodyPr/>
                    <a:lstStyle/>
                    <a:p>
                      <a:r>
                        <a:rPr sz="1350" b="1">
                          <a:solidFill>
                            <a:srgbClr val="0A2373"/>
                          </a:solidFill>
                          <a:latin typeface="Lato"/>
                          <a:ea typeface="Lato"/>
                          <a:cs typeface="Lato"/>
                        </a:rPr>
                        <a:t>Freight and vehicles | pp7, 10–11</a:t>
                      </a:r>
                    </a:p>
                  </a:txBody>
                  <a:tcPr marL="91440" marR="91440" marT="45720" marB="45720" anchor="t">
                    <a:solidFill>
                      <a:srgbClr val="FFFFFF"/>
                    </a:solidFill>
                  </a:tcPr>
                </a:tc>
                <a:tc>
                  <a:txBody>
                    <a:bodyPr/>
                    <a:lstStyle/>
                    <a:p>
                      <a:r>
                        <a:rPr sz="1350" b="0">
                          <a:solidFill>
                            <a:srgbClr val="11151A"/>
                          </a:solidFill>
                          <a:latin typeface="Lato"/>
                          <a:ea typeface="Lato"/>
                          <a:cs typeface="Lato"/>
                        </a:rPr>
                        <a:t>7.5% road-freight shift to rail; 1% annual road-fuel efficiency gain</a:t>
                      </a:r>
                    </a:p>
                  </a:txBody>
                  <a:tcPr marL="91440" marR="91440" marT="45720" marB="45720" anchor="t">
                    <a:solidFill>
                      <a:srgbClr val="FFFFFF"/>
                    </a:solidFill>
                  </a:tcPr>
                </a:tc>
                <a:tc>
                  <a:txBody>
                    <a:bodyPr/>
                    <a:lstStyle/>
                    <a:p>
                      <a:r>
                        <a:rPr sz="1350" b="0">
                          <a:solidFill>
                            <a:srgbClr val="11151A"/>
                          </a:solidFill>
                          <a:latin typeface="Lato"/>
                          <a:ea typeface="Lato"/>
                          <a:cs typeface="Lato"/>
                        </a:rPr>
                        <a:t>Rail saves 0.33bn L; road efficiency saves 0.79bn L</a:t>
                      </a:r>
                    </a:p>
                  </a:txBody>
                  <a:tcPr marL="91440" marR="91440" marT="45720" marB="45720" anchor="t">
                    <a:solidFill>
                      <a:srgbClr val="FFFFFF"/>
                    </a:solidFill>
                  </a:tcPr>
                </a:tc>
              </a:tr>
              <a:tr h="804863">
                <a:tc>
                  <a:txBody>
                    <a:bodyPr/>
                    <a:lstStyle/>
                    <a:p>
                      <a:r>
                        <a:rPr sz="1350" b="1">
                          <a:solidFill>
                            <a:srgbClr val="0A2373"/>
                          </a:solidFill>
                          <a:latin typeface="Lato"/>
                          <a:ea typeface="Lato"/>
                          <a:cs typeface="Lato"/>
                        </a:rPr>
                        <a:t>Domestic production | pp12–14</a:t>
                      </a:r>
                    </a:p>
                  </a:txBody>
                  <a:tcPr marL="91440" marR="91440" marT="45720" marB="45720" anchor="t">
                    <a:solidFill>
                      <a:srgbClr val="FFFFFF"/>
                    </a:solidFill>
                  </a:tcPr>
                </a:tc>
                <a:tc>
                  <a:txBody>
                    <a:bodyPr/>
                    <a:lstStyle/>
                    <a:p>
                      <a:r>
                        <a:rPr sz="1350" b="0">
                          <a:solidFill>
                            <a:srgbClr val="11151A"/>
                          </a:solidFill>
                          <a:latin typeface="Lato"/>
                          <a:ea typeface="Lato"/>
                          <a:cs typeface="Lato"/>
                        </a:rPr>
                        <a:t>5.8bn L directed planning baseline; no restart in base case</a:t>
                      </a:r>
                    </a:p>
                  </a:txBody>
                  <a:tcPr marL="91440" marR="91440" marT="45720" marB="45720" anchor="t">
                    <a:solidFill>
                      <a:srgbClr val="FFFFFF"/>
                    </a:solidFill>
                  </a:tcPr>
                </a:tc>
                <a:tc>
                  <a:txBody>
                    <a:bodyPr/>
                    <a:lstStyle/>
                    <a:p>
                      <a:r>
                        <a:rPr sz="1350" b="0">
                          <a:solidFill>
                            <a:srgbClr val="11151A"/>
                          </a:solidFill>
                          <a:latin typeface="Lato"/>
                          <a:ea typeface="Lato"/>
                          <a:cs typeface="Lato"/>
                        </a:rPr>
                        <a:t>Demand-implied gross imports remain about 16.6bn L in 2030</a:t>
                      </a:r>
                    </a:p>
                  </a:txBody>
                  <a:tcPr marL="91440" marR="91440" marT="45720" marB="45720" anchor="t">
                    <a:solidFill>
                      <a:srgbClr val="FFFFFF"/>
                    </a:solidFill>
                  </a:tcPr>
                </a:tc>
              </a:tr>
              <a:tr h="804863">
                <a:tc>
                  <a:txBody>
                    <a:bodyPr/>
                    <a:lstStyle/>
                    <a:p>
                      <a:r>
                        <a:rPr sz="1350" b="1">
                          <a:solidFill>
                            <a:srgbClr val="0A2373"/>
                          </a:solidFill>
                          <a:latin typeface="Lato"/>
                          <a:ea typeface="Lato"/>
                          <a:cs typeface="Lato"/>
                        </a:rPr>
                        <a:t>Mozambique routes | pp15–16</a:t>
                      </a:r>
                    </a:p>
                  </a:txBody>
                  <a:tcPr marL="91440" marR="91440" marT="45720" marB="45720" anchor="t">
                    <a:solidFill>
                      <a:srgbClr val="FFFFFF"/>
                    </a:solidFill>
                  </a:tcPr>
                </a:tc>
                <a:tc>
                  <a:txBody>
                    <a:bodyPr/>
                    <a:lstStyle/>
                    <a:p>
                      <a:r>
                        <a:rPr sz="1350" b="0">
                          <a:solidFill>
                            <a:srgbClr val="11151A"/>
                          </a:solidFill>
                          <a:latin typeface="Lato"/>
                          <a:ea typeface="Lato"/>
                          <a:cs typeface="Lato"/>
                        </a:rPr>
                        <a:t>Existing Matola infrastructure and an assumed 0.20bn L additional SA flow</a:t>
                      </a:r>
                    </a:p>
                  </a:txBody>
                  <a:tcPr marL="91440" marR="91440" marT="45720" marB="45720" anchor="t">
                    <a:solidFill>
                      <a:srgbClr val="FFFFFF"/>
                    </a:solidFill>
                  </a:tcPr>
                </a:tc>
                <a:tc>
                  <a:txBody>
                    <a:bodyPr/>
                    <a:lstStyle/>
                    <a:p>
                      <a:r>
                        <a:rPr sz="1350" b="0">
                          <a:solidFill>
                            <a:srgbClr val="11151A"/>
                          </a:solidFill>
                          <a:latin typeface="Lato"/>
                          <a:ea typeface="Lato"/>
                          <a:cs typeface="Lato"/>
                        </a:rPr>
                        <a:t>Imports change gateway; national fuel demand stays unchanged</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4DDFBF68-8013-4800-9F79-5D56DBDA88F4}"/>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Activity adds 1.54bn L by 2030, broadly offsetting power, efficiency and rail reductions. Customer access determines Vopak capture.</a:t>
            </a:r>
          </a:p>
        </p:txBody>
      </p:sp>
      <p:graphicFrame xmlns:a="http://schemas.openxmlformats.org/drawingml/2006/main">
        <p:nvGraphicFramePr>
          <p:cNvPr id="5003"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Petrol has declined since 2013, while diesel has sustained the market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annual sales, 2013–2023. Estimated 2024–2025: analytical workbook v02. Earlier deck FIASA comparison figures are not spliced into this series.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mlns:a="http://schemas.openxmlformats.org/drawingml/2006/main" x="457200" y="1809750"/>
          <a:ext xmlns:a="http://schemas.openxmlformats.org/drawingml/2006/main" cx="7334250" cy="3429000"/>
        </p:xfrm>
        <a:graphic xmlns:a="http://schemas.openxmlformats.org/drawingml/2006/main">
          <a:graphicData uri="http://schemas.openxmlformats.org/drawingml/2006/chart">
            <c:chart xmlns:r="http://schemas.openxmlformats.org/officeDocument/2006/relationships" xmlns:c="http://schemas.openxmlformats.org/drawingml/2006/chart" r:id="R1eddcc89b3a44984"/>
          </a:graphicData>
        </a:graphic>
      </p:graphicFrame>
      <p:sp>
        <p:nvSpPr>
          <p:cNvPr id="50" name="Chart unit">
            <a:extLst xmlns:a="http://schemas.openxmlformats.org/drawingml/2006/main">
              <a:ext uri="{FF2B5EF4-FFF2-40B4-BE49-F238E27FC236}">
                <a16:creationId xmlns:a16="http://schemas.microsoft.com/office/drawing/2014/main" id="{44A86F64-F21A-4BCF-97B1-F5B100B75316}"/>
              </a:ext>
            </a:extLst>
          </p:cNvPr>
          <p:cNvSpPr>
            <a:spLocks xmlns:a="http://schemas.openxmlformats.org/drawingml/2006/main" noGrp="1"/>
          </p:cNvSpPr>
          <p:nvPr/>
        </p:nvSpPr>
        <p:spPr>
          <a:xfrm xmlns:a="http://schemas.openxmlformats.org/drawingml/2006/main">
            <a:off x="523875" y="15621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xmlns:a="http://schemas.openxmlformats.org/drawingml/2006/main">
              <a:ext uri="{FF2B5EF4-FFF2-40B4-BE49-F238E27FC236}">
                <a16:creationId xmlns:a16="http://schemas.microsoft.com/office/drawing/2014/main" id="{44B4BBCA-5A0E-4D1B-9C59-2C822B9D4C8D}"/>
              </a:ext>
            </a:extLst>
          </p:cNvPr>
          <p:cNvSpPr>
            <a:spLocks xmlns:a="http://schemas.openxmlformats.org/drawingml/2006/main" noGrp="1"/>
          </p:cNvSpPr>
          <p:nvPr/>
        </p:nvSpPr>
        <p:spPr>
          <a:xfrm xmlns:a="http://schemas.openxmlformats.org/drawingml/2006/main">
            <a:off x="8096250" y="17621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A2373"/>
                </a:solidFill>
                <a:latin typeface="Lato"/>
                <a:ea typeface="Lato"/>
                <a:cs typeface="Lato"/>
              </a:defRPr>
            </a:pPr>
            <a:r>
              <a:rPr sz="1650" b="1">
                <a:solidFill>
                  <a:srgbClr val="0A2373"/>
                </a:solidFill>
                <a:latin typeface="Lato"/>
                <a:ea typeface="Lato"/>
                <a:cs typeface="Lato"/>
              </a:rPr>
              <a:t>2025 estimate</a:t>
            </a:r>
          </a:p>
        </p:txBody>
      </p:sp>
      <p:sp>
        <p:nvSpPr>
          <p:cNvPr id="52" name="Chart insights">
            <a:extLst xmlns:a="http://schemas.openxmlformats.org/drawingml/2006/main">
              <a:ext uri="{FF2B5EF4-FFF2-40B4-BE49-F238E27FC236}">
                <a16:creationId xmlns:a16="http://schemas.microsoft.com/office/drawing/2014/main" id="{A61B8D28-6D09-4529-9ACE-0AA02331406C}"/>
              </a:ext>
            </a:extLst>
          </p:cNvPr>
          <p:cNvSpPr>
            <a:spLocks xmlns:a="http://schemas.openxmlformats.org/drawingml/2006/main" noGrp="1"/>
          </p:cNvSpPr>
          <p:nvPr/>
        </p:nvSpPr>
        <p:spPr>
          <a:xfrm xmlns:a="http://schemas.openxmlformats.org/drawingml/2006/main">
            <a:off x="8096250" y="2333625"/>
            <a:ext cx="29527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Petrol 8.86bn litres</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Diesel 12.13bn litres</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2024–25 are estimates; 2013–23 use one consistent Department series.</a:t>
            </a:r>
          </a:p>
        </p:txBody>
      </p:sp>
      <p:sp>
        <p:nvSpPr>
          <p:cNvPr id="53" name="Story implication">
            <a:extLst xmlns:a="http://schemas.openxmlformats.org/drawingml/2006/main">
              <a:ext uri="{FF2B5EF4-FFF2-40B4-BE49-F238E27FC236}">
                <a16:creationId xmlns:a16="http://schemas.microsoft.com/office/drawing/2014/main" id="{D922A044-14FA-46CD-915A-945AB5C9696B}"/>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Petrol remains below its earlier level; diesel demand responds more directly to freight, industry and power.</a:t>
            </a:r>
          </a:p>
        </p:txBody>
      </p:sp>
      <p:graphicFrame xmlns:a="http://schemas.openxmlformats.org/drawingml/2006/main">
        <p:nvGraphicFramePr>
          <p:cNvPr id="5004"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Road use dominates the baseline, with meaningful diesel demand outside transport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5</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Segments. 2021 energy-balance road volume; 75% of road diesel allocated to freight. Historical sector intensities at current activity.</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mlns:a="http://schemas.openxmlformats.org/drawingml/2006/main" x="457200" y="1809750"/>
          <a:ext xmlns:a="http://schemas.openxmlformats.org/drawingml/2006/main" cx="7334250" cy="3429000"/>
        </p:xfrm>
        <a:graphic xmlns:a="http://schemas.openxmlformats.org/drawingml/2006/main">
          <a:graphicData uri="http://schemas.openxmlformats.org/drawingml/2006/chart">
            <c:chart xmlns:r="http://schemas.openxmlformats.org/officeDocument/2006/relationships" xmlns:c="http://schemas.openxmlformats.org/drawingml/2006/chart" r:id="R5de2ff1aee5e43e4"/>
          </a:graphicData>
        </a:graphic>
      </p:graphicFrame>
      <p:sp>
        <p:nvSpPr>
          <p:cNvPr id="50" name="Chart unit">
            <a:extLst xmlns:a="http://schemas.openxmlformats.org/drawingml/2006/main">
              <a:ext uri="{FF2B5EF4-FFF2-40B4-BE49-F238E27FC236}">
                <a16:creationId xmlns:a16="http://schemas.microsoft.com/office/drawing/2014/main" id="{F0AD24FC-04DF-4A18-99F1-CFAFE84100B4}"/>
              </a:ext>
            </a:extLst>
          </p:cNvPr>
          <p:cNvSpPr>
            <a:spLocks xmlns:a="http://schemas.openxmlformats.org/drawingml/2006/main" noGrp="1"/>
          </p:cNvSpPr>
          <p:nvPr/>
        </p:nvSpPr>
        <p:spPr>
          <a:xfrm xmlns:a="http://schemas.openxmlformats.org/drawingml/2006/main">
            <a:off x="523875" y="15621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xmlns:a="http://schemas.openxmlformats.org/drawingml/2006/main">
              <a:ext uri="{FF2B5EF4-FFF2-40B4-BE49-F238E27FC236}">
                <a16:creationId xmlns:a16="http://schemas.microsoft.com/office/drawing/2014/main" id="{246882A6-6DA2-47C6-9AA2-57E0BF425CF6}"/>
              </a:ext>
            </a:extLst>
          </p:cNvPr>
          <p:cNvSpPr>
            <a:spLocks xmlns:a="http://schemas.openxmlformats.org/drawingml/2006/main" noGrp="1"/>
          </p:cNvSpPr>
          <p:nvPr/>
        </p:nvSpPr>
        <p:spPr>
          <a:xfrm xmlns:a="http://schemas.openxmlformats.org/drawingml/2006/main">
            <a:off x="8096250" y="17621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A2373"/>
                </a:solidFill>
                <a:latin typeface="Lato"/>
                <a:ea typeface="Lato"/>
                <a:cs typeface="Lato"/>
              </a:defRPr>
            </a:pPr>
            <a:r>
              <a:rPr sz="1650" b="1">
                <a:solidFill>
                  <a:srgbClr val="0A2373"/>
                </a:solidFill>
                <a:latin typeface="Lato"/>
                <a:ea typeface="Lato"/>
                <a:cs typeface="Lato"/>
              </a:rPr>
              <a:t>Demand allocation</a:t>
            </a:r>
          </a:p>
        </p:txBody>
      </p:sp>
      <p:sp>
        <p:nvSpPr>
          <p:cNvPr id="52" name="Chart insights">
            <a:extLst xmlns:a="http://schemas.openxmlformats.org/drawingml/2006/main">
              <a:ext uri="{FF2B5EF4-FFF2-40B4-BE49-F238E27FC236}">
                <a16:creationId xmlns:a16="http://schemas.microsoft.com/office/drawing/2014/main" id="{B5FAA6EB-1B97-4B3F-9EE2-BC9A4F27E316}"/>
              </a:ext>
            </a:extLst>
          </p:cNvPr>
          <p:cNvSpPr>
            <a:spLocks xmlns:a="http://schemas.openxmlformats.org/drawingml/2006/main" noGrp="1"/>
          </p:cNvSpPr>
          <p:nvPr/>
        </p:nvSpPr>
        <p:spPr>
          <a:xfrm xmlns:a="http://schemas.openxmlformats.org/drawingml/2006/main">
            <a:off x="8096250" y="2333625"/>
            <a:ext cx="29527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Road freight: 4.82bn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Mining: 1.41bn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Agriculture: 1.13bn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Other diesel: 1.91bn L remains unallocated to a specific end use.</a:t>
            </a:r>
          </a:p>
        </p:txBody>
      </p:sp>
      <p:sp>
        <p:nvSpPr>
          <p:cNvPr id="53" name="Story implication">
            <a:extLst xmlns:a="http://schemas.openxmlformats.org/drawingml/2006/main">
              <a:ext uri="{FF2B5EF4-FFF2-40B4-BE49-F238E27FC236}">
                <a16:creationId xmlns:a16="http://schemas.microsoft.com/office/drawing/2014/main" id="{E7C7103D-E5A6-43E4-B6A1-D84619BA83C6}"/>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Sector-attributed vehicle fuel stays in its sector; the road split is an explicit allocation assumption.</a:t>
            </a:r>
          </a:p>
        </p:txBody>
      </p:sp>
      <p:graphicFrame xmlns:a="http://schemas.openxmlformats.org/drawingml/2006/main">
        <p:nvGraphicFramePr>
          <p:cNvPr id="5005"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Agricultural demand rebounds in 2025 while mining and manufacturing remain broadly flat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6</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Stats SA mining/manufacturing indices and agriculture real GVA; mean 2018–2021 fuel intensity. Sector diesel values after 2021 are estimates.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mlns:a="http://schemas.openxmlformats.org/drawingml/2006/main" x="457200" y="1809750"/>
          <a:ext xmlns:a="http://schemas.openxmlformats.org/drawingml/2006/main" cx="7334250" cy="3429000"/>
        </p:xfrm>
        <a:graphic xmlns:a="http://schemas.openxmlformats.org/drawingml/2006/main">
          <a:graphicData uri="http://schemas.openxmlformats.org/drawingml/2006/chart">
            <c:chart xmlns:r="http://schemas.openxmlformats.org/officeDocument/2006/relationships" xmlns:c="http://schemas.openxmlformats.org/drawingml/2006/chart" r:id="R4952434977a9422e"/>
          </a:graphicData>
        </a:graphic>
      </p:graphicFrame>
      <p:sp>
        <p:nvSpPr>
          <p:cNvPr id="50" name="Chart unit">
            <a:extLst xmlns:a="http://schemas.openxmlformats.org/drawingml/2006/main">
              <a:ext uri="{FF2B5EF4-FFF2-40B4-BE49-F238E27FC236}">
                <a16:creationId xmlns:a16="http://schemas.microsoft.com/office/drawing/2014/main" id="{F63DCE46-2D32-4AE2-B04A-593EA9F3D14D}"/>
              </a:ext>
            </a:extLst>
          </p:cNvPr>
          <p:cNvSpPr>
            <a:spLocks xmlns:a="http://schemas.openxmlformats.org/drawingml/2006/main" noGrp="1"/>
          </p:cNvSpPr>
          <p:nvPr/>
        </p:nvSpPr>
        <p:spPr>
          <a:xfrm xmlns:a="http://schemas.openxmlformats.org/drawingml/2006/main">
            <a:off x="523875" y="15621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xmlns:a="http://schemas.openxmlformats.org/drawingml/2006/main">
              <a:ext uri="{FF2B5EF4-FFF2-40B4-BE49-F238E27FC236}">
                <a16:creationId xmlns:a16="http://schemas.microsoft.com/office/drawing/2014/main" id="{C641E2E3-C6E8-441E-A6F8-E294AA26F63D}"/>
              </a:ext>
            </a:extLst>
          </p:cNvPr>
          <p:cNvSpPr>
            <a:spLocks xmlns:a="http://schemas.openxmlformats.org/drawingml/2006/main" noGrp="1"/>
          </p:cNvSpPr>
          <p:nvPr/>
        </p:nvSpPr>
        <p:spPr>
          <a:xfrm xmlns:a="http://schemas.openxmlformats.org/drawingml/2006/main">
            <a:off x="8096250" y="17621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A2373"/>
                </a:solidFill>
                <a:latin typeface="Lato"/>
                <a:ea typeface="Lato"/>
                <a:cs typeface="Lato"/>
              </a:defRPr>
            </a:pPr>
            <a:r>
              <a:rPr sz="1650" b="1">
                <a:solidFill>
                  <a:srgbClr val="0A2373"/>
                </a:solidFill>
                <a:latin typeface="Lato"/>
                <a:ea typeface="Lato"/>
                <a:cs typeface="Lato"/>
              </a:rPr>
              <a:t>Estimated diesel use</a:t>
            </a:r>
          </a:p>
        </p:txBody>
      </p:sp>
      <p:sp>
        <p:nvSpPr>
          <p:cNvPr id="52" name="Chart insights">
            <a:extLst xmlns:a="http://schemas.openxmlformats.org/drawingml/2006/main">
              <a:ext uri="{FF2B5EF4-FFF2-40B4-BE49-F238E27FC236}">
                <a16:creationId xmlns:a16="http://schemas.microsoft.com/office/drawing/2014/main" id="{DBF318D8-6073-4CB0-8349-7ADAD04D1398}"/>
              </a:ext>
            </a:extLst>
          </p:cNvPr>
          <p:cNvSpPr>
            <a:spLocks xmlns:a="http://schemas.openxmlformats.org/drawingml/2006/main" noGrp="1"/>
          </p:cNvSpPr>
          <p:nvPr/>
        </p:nvSpPr>
        <p:spPr>
          <a:xfrm xmlns:a="http://schemas.openxmlformats.org/drawingml/2006/main">
            <a:off x="8096250" y="2333625"/>
            <a:ext cx="29527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Mining: 1.40 → 1.41bn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Agriculture: 1.06 → 1.13bn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Manufacturing: about 0.17bn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Manufacturing covers the energy-balance industry residual, not a complete industrial census.</a:t>
            </a:r>
          </a:p>
        </p:txBody>
      </p:sp>
      <p:sp>
        <p:nvSpPr>
          <p:cNvPr id="53" name="Story implication">
            <a:extLst xmlns:a="http://schemas.openxmlformats.org/drawingml/2006/main">
              <a:ext uri="{FF2B5EF4-FFF2-40B4-BE49-F238E27FC236}">
                <a16:creationId xmlns:a16="http://schemas.microsoft.com/office/drawing/2014/main" id="{4A4917C5-1EC4-4BD8-8250-59C54C97C761}"/>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Sector activity produces different demand paths; applying one GDP growth rate would hide these differences.</a:t>
            </a:r>
          </a:p>
        </p:txBody>
      </p:sp>
      <p:graphicFrame xmlns:a="http://schemas.openxmlformats.org/drawingml/2006/main">
        <p:nvGraphicFramePr>
          <p:cNvPr id="5006"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Efficiency offsets activity growth in the petrol baseline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7</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2023 sales; analytical workbook v02, Assumptions and Demand history. Activity and efficiency settings are authored planning assumptions.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2476500"/>
                <a:gridCol w="3429000"/>
                <a:gridCol w="4743450"/>
              </a:tblGrid>
              <a:tr h="400050">
                <a:tc>
                  <a:txBody>
                    <a:bodyPr/>
                    <a:lstStyle/>
                    <a:p>
                      <a:r>
                        <a:rPr sz="1425" b="1">
                          <a:solidFill>
                            <a:srgbClr val="0A2373"/>
                          </a:solidFill>
                          <a:latin typeface="Lato"/>
                          <a:ea typeface="Lato"/>
                          <a:cs typeface="Lato"/>
                        </a:rPr>
                        <a:t>Demand component</a:t>
                      </a:r>
                    </a:p>
                  </a:txBody>
                  <a:tcPr marL="91440" marR="91440" marT="45720" marB="45720" anchor="t">
                    <a:solidFill>
                      <a:srgbClr val="F5F5F5"/>
                    </a:solidFill>
                  </a:tcPr>
                </a:tc>
                <a:tc>
                  <a:txBody>
                    <a:bodyPr/>
                    <a:lstStyle/>
                    <a:p>
                      <a:r>
                        <a:rPr sz="1425" b="1">
                          <a:solidFill>
                            <a:srgbClr val="0A2373"/>
                          </a:solidFill>
                          <a:latin typeface="Lato"/>
                          <a:ea typeface="Lato"/>
                          <a:cs typeface="Lato"/>
                        </a:rPr>
                        <a:t>Assumption / result</a:t>
                      </a:r>
                    </a:p>
                  </a:txBody>
                  <a:tcPr marL="91440" marR="91440" marT="45720" marB="45720" anchor="t">
                    <a:solidFill>
                      <a:srgbClr val="F5F5F5"/>
                    </a:solidFill>
                  </a:tcPr>
                </a:tc>
                <a:tc>
                  <a:txBody>
                    <a:bodyPr/>
                    <a:lstStyle/>
                    <a:p>
                      <a:r>
                        <a:rPr sz="1425" b="1">
                          <a:solidFill>
                            <a:srgbClr val="0A2373"/>
                          </a:solidFill>
                          <a:latin typeface="Lato"/>
                          <a:ea typeface="Lato"/>
                          <a:cs typeface="Lato"/>
                        </a:rPr>
                        <a:t>How it enters the estimate</a:t>
                      </a:r>
                    </a:p>
                  </a:txBody>
                  <a:tcPr marL="91440" marR="91440" marT="45720" marB="45720" anchor="t">
                    <a:solidFill>
                      <a:srgbClr val="F5F5F5"/>
                    </a:solidFill>
                  </a:tcPr>
                </a:tc>
              </a:tr>
              <a:tr h="804863">
                <a:tc>
                  <a:txBody>
                    <a:bodyPr/>
                    <a:lstStyle/>
                    <a:p>
                      <a:r>
                        <a:rPr sz="1425" b="1">
                          <a:solidFill>
                            <a:srgbClr val="0A2373"/>
                          </a:solidFill>
                          <a:latin typeface="Lato"/>
                          <a:ea typeface="Lato"/>
                          <a:cs typeface="Lato"/>
                        </a:rPr>
                        <a:t>Petrol activity</a:t>
                      </a:r>
                    </a:p>
                  </a:txBody>
                  <a:tcPr marL="91440" marR="91440" marT="45720" marB="45720" anchor="t">
                    <a:solidFill>
                      <a:srgbClr val="FFFFFF"/>
                    </a:solidFill>
                  </a:tcPr>
                </a:tc>
                <a:tc>
                  <a:txBody>
                    <a:bodyPr/>
                    <a:lstStyle/>
                    <a:p>
                      <a:r>
                        <a:rPr sz="1425" b="0">
                          <a:solidFill>
                            <a:srgbClr val="11151A"/>
                          </a:solidFill>
                          <a:latin typeface="Lato"/>
                          <a:ea typeface="Lato"/>
                          <a:cs typeface="Lato"/>
                        </a:rPr>
                        <a:t>+0.5% per year in 2024–2025</a:t>
                      </a:r>
                    </a:p>
                  </a:txBody>
                  <a:tcPr marL="91440" marR="91440" marT="45720" marB="45720" anchor="t">
                    <a:solidFill>
                      <a:srgbClr val="FFFFFF"/>
                    </a:solidFill>
                  </a:tcPr>
                </a:tc>
                <a:tc>
                  <a:txBody>
                    <a:bodyPr/>
                    <a:lstStyle/>
                    <a:p>
                      <a:r>
                        <a:rPr sz="1425" b="0">
                          <a:solidFill>
                            <a:srgbClr val="11151A"/>
                          </a:solidFill>
                          <a:latin typeface="Lato"/>
                          <a:ea typeface="Lato"/>
                          <a:cs typeface="Lato"/>
                        </a:rPr>
                        <a:t>More vehicle use supports consumption</a:t>
                      </a:r>
                    </a:p>
                  </a:txBody>
                  <a:tcPr marL="91440" marR="91440" marT="45720" marB="45720" anchor="t">
                    <a:solidFill>
                      <a:srgbClr val="FFFFFF"/>
                    </a:solidFill>
                  </a:tcPr>
                </a:tc>
              </a:tr>
              <a:tr h="804863">
                <a:tc>
                  <a:txBody>
                    <a:bodyPr/>
                    <a:lstStyle/>
                    <a:p>
                      <a:r>
                        <a:rPr sz="1425" b="1">
                          <a:solidFill>
                            <a:srgbClr val="0A2373"/>
                          </a:solidFill>
                          <a:latin typeface="Lato"/>
                          <a:ea typeface="Lato"/>
                          <a:cs typeface="Lato"/>
                        </a:rPr>
                        <a:t>Petrol fuel intensity</a:t>
                      </a:r>
                    </a:p>
                  </a:txBody>
                  <a:tcPr marL="91440" marR="91440" marT="45720" marB="45720" anchor="t">
                    <a:solidFill>
                      <a:srgbClr val="FFFFFF"/>
                    </a:solidFill>
                  </a:tcPr>
                </a:tc>
                <a:tc>
                  <a:txBody>
                    <a:bodyPr/>
                    <a:lstStyle/>
                    <a:p>
                      <a:r>
                        <a:rPr sz="1425" b="0">
                          <a:solidFill>
                            <a:srgbClr val="11151A"/>
                          </a:solidFill>
                          <a:latin typeface="Lato"/>
                          <a:ea typeface="Lato"/>
                          <a:cs typeface="Lato"/>
                        </a:rPr>
                        <a:t>−1.5% per year in 2024–2025</a:t>
                      </a:r>
                    </a:p>
                  </a:txBody>
                  <a:tcPr marL="91440" marR="91440" marT="45720" marB="45720" anchor="t">
                    <a:solidFill>
                      <a:srgbClr val="FFFFFF"/>
                    </a:solidFill>
                  </a:tcPr>
                </a:tc>
                <a:tc>
                  <a:txBody>
                    <a:bodyPr/>
                    <a:lstStyle/>
                    <a:p>
                      <a:r>
                        <a:rPr sz="1425" b="0">
                          <a:solidFill>
                            <a:srgbClr val="11151A"/>
                          </a:solidFill>
                          <a:latin typeface="Lato"/>
                          <a:ea typeface="Lato"/>
                          <a:cs typeface="Lato"/>
                        </a:rPr>
                        <a:t>A combined efficiency / fleet-mix assumption reduces fuel per unit of activity</a:t>
                      </a:r>
                    </a:p>
                  </a:txBody>
                  <a:tcPr marL="91440" marR="91440" marT="45720" marB="45720" anchor="t">
                    <a:solidFill>
                      <a:srgbClr val="FFFFFF"/>
                    </a:solidFill>
                  </a:tcPr>
                </a:tc>
              </a:tr>
              <a:tr h="804863">
                <a:tc>
                  <a:txBody>
                    <a:bodyPr/>
                    <a:lstStyle/>
                    <a:p>
                      <a:r>
                        <a:rPr sz="1425" b="1">
                          <a:solidFill>
                            <a:srgbClr val="0A2373"/>
                          </a:solidFill>
                          <a:latin typeface="Lato"/>
                          <a:ea typeface="Lato"/>
                          <a:cs typeface="Lato"/>
                        </a:rPr>
                        <a:t>Petrol demand</a:t>
                      </a:r>
                    </a:p>
                  </a:txBody>
                  <a:tcPr marL="91440" marR="91440" marT="45720" marB="45720" anchor="t">
                    <a:solidFill>
                      <a:srgbClr val="FFFFFF"/>
                    </a:solidFill>
                  </a:tcPr>
                </a:tc>
                <a:tc>
                  <a:txBody>
                    <a:bodyPr/>
                    <a:lstStyle/>
                    <a:p>
                      <a:r>
                        <a:rPr sz="1425" b="0">
                          <a:solidFill>
                            <a:srgbClr val="11151A"/>
                          </a:solidFill>
                          <a:latin typeface="Lato"/>
                          <a:ea typeface="Lato"/>
                          <a:cs typeface="Lato"/>
                        </a:rPr>
                        <a:t>9.04bn L in 2023 → 8.86bn L in 2025</a:t>
                      </a:r>
                    </a:p>
                  </a:txBody>
                  <a:tcPr marL="91440" marR="91440" marT="45720" marB="45720" anchor="t">
                    <a:solidFill>
                      <a:srgbClr val="FFFFFF"/>
                    </a:solidFill>
                  </a:tcPr>
                </a:tc>
                <a:tc>
                  <a:txBody>
                    <a:bodyPr/>
                    <a:lstStyle/>
                    <a:p>
                      <a:r>
                        <a:rPr sz="1425" b="0">
                          <a:solidFill>
                            <a:srgbClr val="11151A"/>
                          </a:solidFill>
                          <a:latin typeface="Lato"/>
                          <a:ea typeface="Lato"/>
                          <a:cs typeface="Lato"/>
                        </a:rPr>
                        <a:t>Compounding activity and intensity yields a modest decline</a:t>
                      </a:r>
                    </a:p>
                  </a:txBody>
                  <a:tcPr marL="91440" marR="91440" marT="45720" marB="45720" anchor="t">
                    <a:solidFill>
                      <a:srgbClr val="FFFFFF"/>
                    </a:solidFill>
                  </a:tcPr>
                </a:tc>
              </a:tr>
              <a:tr h="804863">
                <a:tc>
                  <a:txBody>
                    <a:bodyPr/>
                    <a:lstStyle/>
                    <a:p>
                      <a:r>
                        <a:rPr sz="1425" b="1">
                          <a:solidFill>
                            <a:srgbClr val="0A2373"/>
                          </a:solidFill>
                          <a:latin typeface="Lato"/>
                          <a:ea typeface="Lato"/>
                          <a:cs typeface="Lato"/>
                        </a:rPr>
                        <a:t>2030 road outlook</a:t>
                      </a:r>
                    </a:p>
                  </a:txBody>
                  <a:tcPr marL="91440" marR="91440" marT="45720" marB="45720" anchor="t">
                    <a:solidFill>
                      <a:srgbClr val="FFFFFF"/>
                    </a:solidFill>
                  </a:tcPr>
                </a:tc>
                <a:tc>
                  <a:txBody>
                    <a:bodyPr/>
                    <a:lstStyle/>
                    <a:p>
                      <a:r>
                        <a:rPr sz="1425" b="0">
                          <a:solidFill>
                            <a:srgbClr val="11151A"/>
                          </a:solidFill>
                          <a:latin typeface="Lato"/>
                          <a:ea typeface="Lato"/>
                          <a:cs typeface="Lato"/>
                        </a:rPr>
                        <a:t>Base: 1% annual efficiency improvement</a:t>
                      </a:r>
                    </a:p>
                  </a:txBody>
                  <a:tcPr marL="91440" marR="91440" marT="45720" marB="45720" anchor="t">
                    <a:solidFill>
                      <a:srgbClr val="FFFFFF"/>
                    </a:solidFill>
                  </a:tcPr>
                </a:tc>
                <a:tc>
                  <a:txBody>
                    <a:bodyPr/>
                    <a:lstStyle/>
                    <a:p>
                      <a:r>
                        <a:rPr sz="1425" b="0">
                          <a:solidFill>
                            <a:srgbClr val="11151A"/>
                          </a:solidFill>
                          <a:latin typeface="Lato"/>
                          <a:ea typeface="Lato"/>
                          <a:cs typeface="Lato"/>
                        </a:rPr>
                        <a:t>Applied after activity growth; rail displacement is then applied to freight only</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89F27FBA-C5F5-4E60-B181-9EF672DB5642}"/>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The assumptions are explicit and editable; EV uptake is not counted again as a separate reduction.</a:t>
            </a:r>
          </a:p>
        </p:txBody>
      </p:sp>
      <p:graphicFrame xmlns:a="http://schemas.openxmlformats.org/drawingml/2006/main">
        <p:nvGraphicFramePr>
          <p:cNvPr id="5007"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Eskom fuel use fell by about 40% in FY2025 as supply performance improved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8</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Eskom Integrated Report 2025 p141; staged source series. 679.1m L diesel + kerosene supersedes the earlier slide’s 677.9m figure for this scope.</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mlns:a="http://schemas.openxmlformats.org/drawingml/2006/main" x="457200" y="1809750"/>
          <a:ext xmlns:a="http://schemas.openxmlformats.org/drawingml/2006/main" cx="7334250" cy="3429000"/>
        </p:xfrm>
        <a:graphic xmlns:a="http://schemas.openxmlformats.org/drawingml/2006/main">
          <a:graphicData uri="http://schemas.openxmlformats.org/drawingml/2006/chart">
            <c:chart xmlns:r="http://schemas.openxmlformats.org/officeDocument/2006/relationships" xmlns:c="http://schemas.openxmlformats.org/drawingml/2006/chart" r:id="R2a2255f46b444203"/>
          </a:graphicData>
        </a:graphic>
      </p:graphicFrame>
      <p:sp>
        <p:nvSpPr>
          <p:cNvPr id="50" name="Chart unit">
            <a:extLst xmlns:a="http://schemas.openxmlformats.org/drawingml/2006/main">
              <a:ext uri="{FF2B5EF4-FFF2-40B4-BE49-F238E27FC236}">
                <a16:creationId xmlns:a16="http://schemas.microsoft.com/office/drawing/2014/main" id="{42DE4852-6528-4158-A718-69C74CFD29A4}"/>
              </a:ext>
            </a:extLst>
          </p:cNvPr>
          <p:cNvSpPr>
            <a:spLocks xmlns:a="http://schemas.openxmlformats.org/drawingml/2006/main" noGrp="1"/>
          </p:cNvSpPr>
          <p:nvPr/>
        </p:nvSpPr>
        <p:spPr>
          <a:xfrm xmlns:a="http://schemas.openxmlformats.org/drawingml/2006/main">
            <a:off x="523875" y="15621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xmlns:a="http://schemas.openxmlformats.org/drawingml/2006/main">
              <a:ext uri="{FF2B5EF4-FFF2-40B4-BE49-F238E27FC236}">
                <a16:creationId xmlns:a16="http://schemas.microsoft.com/office/drawing/2014/main" id="{EF0F5770-164C-4C01-9852-AD6B6289681C}"/>
              </a:ext>
            </a:extLst>
          </p:cNvPr>
          <p:cNvSpPr>
            <a:spLocks xmlns:a="http://schemas.openxmlformats.org/drawingml/2006/main" noGrp="1"/>
          </p:cNvSpPr>
          <p:nvPr/>
        </p:nvSpPr>
        <p:spPr>
          <a:xfrm xmlns:a="http://schemas.openxmlformats.org/drawingml/2006/main">
            <a:off x="8096250" y="17621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A2373"/>
                </a:solidFill>
                <a:latin typeface="Lato"/>
                <a:ea typeface="Lato"/>
                <a:cs typeface="Lato"/>
              </a:defRPr>
            </a:pPr>
            <a:r>
              <a:rPr sz="1650" b="1">
                <a:solidFill>
                  <a:srgbClr val="0A2373"/>
                </a:solidFill>
                <a:latin typeface="Lato"/>
                <a:ea typeface="Lato"/>
                <a:cs typeface="Lato"/>
              </a:rPr>
              <a:t>Observed utility trend</a:t>
            </a:r>
          </a:p>
        </p:txBody>
      </p:sp>
      <p:sp>
        <p:nvSpPr>
          <p:cNvPr id="52" name="Chart insights">
            <a:extLst xmlns:a="http://schemas.openxmlformats.org/drawingml/2006/main">
              <a:ext uri="{FF2B5EF4-FFF2-40B4-BE49-F238E27FC236}">
                <a16:creationId xmlns:a16="http://schemas.microsoft.com/office/drawing/2014/main" id="{DEE0CE4C-AF60-469D-AAEF-21701CBEBC1C}"/>
              </a:ext>
            </a:extLst>
          </p:cNvPr>
          <p:cNvSpPr>
            <a:spLocks xmlns:a="http://schemas.openxmlformats.org/drawingml/2006/main" noGrp="1"/>
          </p:cNvSpPr>
          <p:nvPr/>
        </p:nvSpPr>
        <p:spPr>
          <a:xfrm xmlns:a="http://schemas.openxmlformats.org/drawingml/2006/main">
            <a:off x="8096250" y="2333625"/>
            <a:ext cx="29527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FY2024: 1.130bn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FY2025: 0.679bn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The utility series includes kerosene. Fiscal years end in March.</a:t>
            </a:r>
          </a:p>
        </p:txBody>
      </p:sp>
      <p:sp>
        <p:nvSpPr>
          <p:cNvPr id="53" name="Story implication">
            <a:extLst xmlns:a="http://schemas.openxmlformats.org/drawingml/2006/main">
              <a:ext uri="{FF2B5EF4-FFF2-40B4-BE49-F238E27FC236}">
                <a16:creationId xmlns:a16="http://schemas.microsoft.com/office/drawing/2014/main" id="{9822F76E-4815-443E-9471-1FD58EC90809}"/>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The demand baseline replaces annual power consumption explicitly, so the decline is not hidden in a generic growth rate.</a:t>
            </a:r>
          </a:p>
        </p:txBody>
      </p:sp>
      <p:graphicFrame xmlns:a="http://schemas.openxmlformats.org/drawingml/2006/main">
        <p:nvGraphicFramePr>
          <p:cNvPr id="5008"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Further power recovery removes 0.54bn litres in the 2030 base case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9</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Segments / Driver bridge. Private backup 2023/24/25: 0.8/0.6/0.2bn L. IPP conversion: 0.31 L/kWh. FY-to-calendar and fuel-mix assumptions apply.</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3048000"/>
                <a:gridCol w="3048000"/>
                <a:gridCol w="4552950"/>
              </a:tblGrid>
              <a:tr h="400050">
                <a:tc>
                  <a:txBody>
                    <a:bodyPr/>
                    <a:lstStyle/>
                    <a:p>
                      <a:r>
                        <a:rPr sz="1425" b="1">
                          <a:solidFill>
                            <a:srgbClr val="0A2373"/>
                          </a:solidFill>
                          <a:latin typeface="Lato"/>
                          <a:ea typeface="Lato"/>
                          <a:cs typeface="Lato"/>
                        </a:rPr>
                        <a:t>Power measure</a:t>
                      </a:r>
                    </a:p>
                  </a:txBody>
                  <a:tcPr marL="91440" marR="91440" marT="45720" marB="45720" anchor="t">
                    <a:solidFill>
                      <a:srgbClr val="F5F5F5"/>
                    </a:solidFill>
                  </a:tcPr>
                </a:tc>
                <a:tc>
                  <a:txBody>
                    <a:bodyPr/>
                    <a:lstStyle/>
                    <a:p>
                      <a:r>
                        <a:rPr sz="1425" b="1">
                          <a:solidFill>
                            <a:srgbClr val="0A2373"/>
                          </a:solidFill>
                          <a:latin typeface="Lato"/>
                          <a:ea typeface="Lato"/>
                          <a:cs typeface="Lato"/>
                        </a:rPr>
                        <a:t>Volume / assumption</a:t>
                      </a:r>
                    </a:p>
                  </a:txBody>
                  <a:tcPr marL="91440" marR="91440" marT="45720" marB="45720" anchor="t">
                    <a:solidFill>
                      <a:srgbClr val="F5F5F5"/>
                    </a:solidFill>
                  </a:tcPr>
                </a:tc>
                <a:tc>
                  <a:txBody>
                    <a:bodyPr/>
                    <a:lstStyle/>
                    <a:p>
                      <a:r>
                        <a:rPr sz="1425" b="1">
                          <a:solidFill>
                            <a:srgbClr val="0A2373"/>
                          </a:solidFill>
                          <a:latin typeface="Lato"/>
                          <a:ea typeface="Lato"/>
                          <a:cs typeface="Lato"/>
                        </a:rPr>
                        <a:t>Interpretation</a:t>
                      </a:r>
                    </a:p>
                  </a:txBody>
                  <a:tcPr marL="91440" marR="91440" marT="45720" marB="45720" anchor="t">
                    <a:solidFill>
                      <a:srgbClr val="F5F5F5"/>
                    </a:solidFill>
                  </a:tcPr>
                </a:tc>
              </a:tr>
              <a:tr h="804863">
                <a:tc>
                  <a:txBody>
                    <a:bodyPr/>
                    <a:lstStyle/>
                    <a:p>
                      <a:r>
                        <a:rPr sz="1425" b="1">
                          <a:solidFill>
                            <a:srgbClr val="0A2373"/>
                          </a:solidFill>
                          <a:latin typeface="Lato"/>
                          <a:ea typeface="Lato"/>
                          <a:cs typeface="Lato"/>
                        </a:rPr>
                        <a:t>2025 utility + private baseline</a:t>
                      </a:r>
                    </a:p>
                  </a:txBody>
                  <a:tcPr marL="91440" marR="91440" marT="45720" marB="45720" anchor="t">
                    <a:solidFill>
                      <a:srgbClr val="FFFFFF"/>
                    </a:solidFill>
                  </a:tcPr>
                </a:tc>
                <a:tc>
                  <a:txBody>
                    <a:bodyPr/>
                    <a:lstStyle/>
                    <a:p>
                      <a:r>
                        <a:rPr sz="1425" b="0">
                          <a:solidFill>
                            <a:srgbClr val="11151A"/>
                          </a:solidFill>
                          <a:latin typeface="Lato"/>
                          <a:ea typeface="Lato"/>
                          <a:cs typeface="Lato"/>
                        </a:rPr>
                        <a:t>1.08bn litres</a:t>
                      </a:r>
                    </a:p>
                  </a:txBody>
                  <a:tcPr marL="91440" marR="91440" marT="45720" marB="45720" anchor="t">
                    <a:solidFill>
                      <a:srgbClr val="FFFFFF"/>
                    </a:solidFill>
                  </a:tcPr>
                </a:tc>
                <a:tc>
                  <a:txBody>
                    <a:bodyPr/>
                    <a:lstStyle/>
                    <a:p>
                      <a:r>
                        <a:rPr sz="1425" b="0">
                          <a:solidFill>
                            <a:srgbClr val="11151A"/>
                          </a:solidFill>
                          <a:latin typeface="Lato"/>
                          <a:ea typeface="Lato"/>
                          <a:cs typeface="Lato"/>
                        </a:rPr>
                        <a:t>Eskom FY proxy, IPP generation conversion and private backup</a:t>
                      </a:r>
                    </a:p>
                  </a:txBody>
                  <a:tcPr marL="91440" marR="91440" marT="45720" marB="45720" anchor="t">
                    <a:solidFill>
                      <a:srgbClr val="FFFFFF"/>
                    </a:solidFill>
                  </a:tcPr>
                </a:tc>
              </a:tr>
              <a:tr h="804863">
                <a:tc>
                  <a:txBody>
                    <a:bodyPr/>
                    <a:lstStyle/>
                    <a:p>
                      <a:r>
                        <a:rPr sz="1425" b="1">
                          <a:solidFill>
                            <a:srgbClr val="0A2373"/>
                          </a:solidFill>
                          <a:latin typeface="Lato"/>
                          <a:ea typeface="Lato"/>
                          <a:cs typeface="Lato"/>
                        </a:rPr>
                        <a:t>Private backup within 2025 baseline</a:t>
                      </a:r>
                    </a:p>
                  </a:txBody>
                  <a:tcPr marL="91440" marR="91440" marT="45720" marB="45720" anchor="t">
                    <a:solidFill>
                      <a:srgbClr val="FFFFFF"/>
                    </a:solidFill>
                  </a:tcPr>
                </a:tc>
                <a:tc>
                  <a:txBody>
                    <a:bodyPr/>
                    <a:lstStyle/>
                    <a:p>
                      <a:r>
                        <a:rPr sz="1425" b="0">
                          <a:solidFill>
                            <a:srgbClr val="11151A"/>
                          </a:solidFill>
                          <a:latin typeface="Lato"/>
                          <a:ea typeface="Lato"/>
                          <a:cs typeface="Lato"/>
                        </a:rPr>
                        <a:t>0.20bn litres assumed</a:t>
                      </a:r>
                    </a:p>
                  </a:txBody>
                  <a:tcPr marL="91440" marR="91440" marT="45720" marB="45720" anchor="t">
                    <a:solidFill>
                      <a:srgbClr val="FFFFFF"/>
                    </a:solidFill>
                  </a:tcPr>
                </a:tc>
                <a:tc>
                  <a:txBody>
                    <a:bodyPr/>
                    <a:lstStyle/>
                    <a:p>
                      <a:r>
                        <a:rPr sz="1425" b="0">
                          <a:solidFill>
                            <a:srgbClr val="11151A"/>
                          </a:solidFill>
                          <a:latin typeface="Lato"/>
                          <a:ea typeface="Lato"/>
                          <a:cs typeface="Lato"/>
                        </a:rPr>
                        <a:t>Separate from reported Eskom fuel; not a measured national census</a:t>
                      </a:r>
                    </a:p>
                  </a:txBody>
                  <a:tcPr marL="91440" marR="91440" marT="45720" marB="45720" anchor="t">
                    <a:solidFill>
                      <a:srgbClr val="FFFFFF"/>
                    </a:solidFill>
                  </a:tcPr>
                </a:tc>
              </a:tr>
              <a:tr h="804863">
                <a:tc>
                  <a:txBody>
                    <a:bodyPr/>
                    <a:lstStyle/>
                    <a:p>
                      <a:r>
                        <a:rPr sz="1425" b="1">
                          <a:solidFill>
                            <a:srgbClr val="0A2373"/>
                          </a:solidFill>
                          <a:latin typeface="Lato"/>
                          <a:ea typeface="Lato"/>
                          <a:cs typeface="Lato"/>
                        </a:rPr>
                        <a:t>Base case to 2030</a:t>
                      </a:r>
                    </a:p>
                  </a:txBody>
                  <a:tcPr marL="91440" marR="91440" marT="45720" marB="45720" anchor="t">
                    <a:solidFill>
                      <a:srgbClr val="FFFFFF"/>
                    </a:solidFill>
                  </a:tcPr>
                </a:tc>
                <a:tc>
                  <a:txBody>
                    <a:bodyPr/>
                    <a:lstStyle/>
                    <a:p>
                      <a:r>
                        <a:rPr sz="1425" b="0">
                          <a:solidFill>
                            <a:srgbClr val="11151A"/>
                          </a:solidFill>
                          <a:latin typeface="Lato"/>
                          <a:ea typeface="Lato"/>
                          <a:cs typeface="Lato"/>
                        </a:rPr>
                        <a:t>50% retained; 0.54bn L reduction</a:t>
                      </a:r>
                    </a:p>
                  </a:txBody>
                  <a:tcPr marL="91440" marR="91440" marT="45720" marB="45720" anchor="t">
                    <a:solidFill>
                      <a:srgbClr val="FFFFFF"/>
                    </a:solidFill>
                  </a:tcPr>
                </a:tc>
                <a:tc>
                  <a:txBody>
                    <a:bodyPr/>
                    <a:lstStyle/>
                    <a:p>
                      <a:r>
                        <a:rPr sz="1425" b="0">
                          <a:solidFill>
                            <a:srgbClr val="11151A"/>
                          </a:solidFill>
                          <a:latin typeface="Lato"/>
                          <a:ea typeface="Lato"/>
                          <a:cs typeface="Lato"/>
                        </a:rPr>
                        <a:t>Recovery persists across utility and backup requirements</a:t>
                      </a:r>
                    </a:p>
                  </a:txBody>
                  <a:tcPr marL="91440" marR="91440" marT="45720" marB="45720" anchor="t">
                    <a:solidFill>
                      <a:srgbClr val="FFFFFF"/>
                    </a:solidFill>
                  </a:tcPr>
                </a:tc>
              </a:tr>
              <a:tr h="804863">
                <a:tc>
                  <a:txBody>
                    <a:bodyPr/>
                    <a:lstStyle/>
                    <a:p>
                      <a:r>
                        <a:rPr sz="1425" b="1">
                          <a:solidFill>
                            <a:srgbClr val="0A2373"/>
                          </a:solidFill>
                          <a:latin typeface="Lato"/>
                          <a:ea typeface="Lato"/>
                          <a:cs typeface="Lato"/>
                        </a:rPr>
                        <a:t>Sensitivity cases</a:t>
                      </a:r>
                    </a:p>
                  </a:txBody>
                  <a:tcPr marL="91440" marR="91440" marT="45720" marB="45720" anchor="t">
                    <a:solidFill>
                      <a:srgbClr val="FFFFFF"/>
                    </a:solidFill>
                  </a:tcPr>
                </a:tc>
                <a:tc>
                  <a:txBody>
                    <a:bodyPr/>
                    <a:lstStyle/>
                    <a:p>
                      <a:r>
                        <a:rPr sz="1425" b="0">
                          <a:solidFill>
                            <a:srgbClr val="11151A"/>
                          </a:solidFill>
                          <a:latin typeface="Lato"/>
                          <a:ea typeface="Lato"/>
                          <a:cs typeface="Lato"/>
                        </a:rPr>
                        <a:t>0.00–0.70bn L reduction</a:t>
                      </a:r>
                    </a:p>
                  </a:txBody>
                  <a:tcPr marL="91440" marR="91440" marT="45720" marB="45720" anchor="t">
                    <a:solidFill>
                      <a:srgbClr val="FFFFFF"/>
                    </a:solidFill>
                  </a:tcPr>
                </a:tc>
                <a:tc>
                  <a:txBody>
                    <a:bodyPr/>
                    <a:lstStyle/>
                    <a:p>
                      <a:r>
                        <a:rPr sz="1425" b="0">
                          <a:solidFill>
                            <a:srgbClr val="11151A"/>
                          </a:solidFill>
                          <a:latin typeface="Lato"/>
                          <a:ea typeface="Lato"/>
                          <a:cs typeface="Lato"/>
                        </a:rPr>
                        <a:t>High-import case retains power use; low-import case retains 35%</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4B3F20DC-E08A-4A69-B284-33F6CD6DAA6F}"/>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Power demand can fall without an equivalent decline in transport or industrial demand.</a:t>
            </a:r>
          </a:p>
        </p:txBody>
      </p:sp>
      <p:graphicFrame xmlns:a="http://schemas.openxmlformats.org/drawingml/2006/main">
        <p:nvGraphicFramePr>
          <p:cNvPr id="5009"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Road still carries most reported freight despite the recent recovery in rail volumes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10</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Stats SA P7162 December 2025 p7; all reported freight. Analytical workbook v02, Evidence.</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mlns:a="http://schemas.openxmlformats.org/drawingml/2006/main" x="457200" y="1809750"/>
          <a:ext xmlns:a="http://schemas.openxmlformats.org/drawingml/2006/main" cx="7334250" cy="3429000"/>
        </p:xfrm>
        <a:graphic xmlns:a="http://schemas.openxmlformats.org/drawingml/2006/main">
          <a:graphicData uri="http://schemas.openxmlformats.org/drawingml/2006/chart">
            <c:chart xmlns:r="http://schemas.openxmlformats.org/officeDocument/2006/relationships" xmlns:c="http://schemas.openxmlformats.org/drawingml/2006/chart" r:id="R75f7cf1bd1d24faf"/>
          </a:graphicData>
        </a:graphic>
      </p:graphicFrame>
      <p:sp>
        <p:nvSpPr>
          <p:cNvPr id="50" name="Chart unit">
            <a:extLst xmlns:a="http://schemas.openxmlformats.org/drawingml/2006/main">
              <a:ext uri="{FF2B5EF4-FFF2-40B4-BE49-F238E27FC236}">
                <a16:creationId xmlns:a16="http://schemas.microsoft.com/office/drawing/2014/main" id="{1F4A746C-95B0-428F-AC00-B7BD3E6BB63B}"/>
              </a:ext>
            </a:extLst>
          </p:cNvPr>
          <p:cNvSpPr>
            <a:spLocks xmlns:a="http://schemas.openxmlformats.org/drawingml/2006/main" noGrp="1"/>
          </p:cNvSpPr>
          <p:nvPr/>
        </p:nvSpPr>
        <p:spPr>
          <a:xfrm xmlns:a="http://schemas.openxmlformats.org/drawingml/2006/main">
            <a:off x="523875" y="15621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262"/>
                </a:solidFill>
                <a:latin typeface="Lato"/>
                <a:ea typeface="Lato"/>
                <a:cs typeface="Lato"/>
              </a:defRPr>
            </a:pPr>
            <a:r>
              <a:rPr sz="1050" b="0">
                <a:solidFill>
                  <a:srgbClr val="626262"/>
                </a:solidFill>
                <a:latin typeface="Lato"/>
                <a:ea typeface="Lato"/>
                <a:cs typeface="Lato"/>
              </a:rPr>
              <a:t>Million tonnes</a:t>
            </a:r>
          </a:p>
        </p:txBody>
      </p:sp>
      <p:sp>
        <p:nvSpPr>
          <p:cNvPr id="51" name="Chart insight header">
            <a:extLst xmlns:a="http://schemas.openxmlformats.org/drawingml/2006/main">
              <a:ext uri="{FF2B5EF4-FFF2-40B4-BE49-F238E27FC236}">
                <a16:creationId xmlns:a16="http://schemas.microsoft.com/office/drawing/2014/main" id="{D34FE016-8E37-485D-A3E4-32298563CB42}"/>
              </a:ext>
            </a:extLst>
          </p:cNvPr>
          <p:cNvSpPr>
            <a:spLocks xmlns:a="http://schemas.openxmlformats.org/drawingml/2006/main" noGrp="1"/>
          </p:cNvSpPr>
          <p:nvPr/>
        </p:nvSpPr>
        <p:spPr>
          <a:xfrm xmlns:a="http://schemas.openxmlformats.org/drawingml/2006/main">
            <a:off x="8096250" y="17621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A2373"/>
                </a:solidFill>
                <a:latin typeface="Lato"/>
                <a:ea typeface="Lato"/>
                <a:cs typeface="Lato"/>
              </a:defRPr>
            </a:pPr>
            <a:r>
              <a:rPr sz="1650" b="1">
                <a:solidFill>
                  <a:srgbClr val="0A2373"/>
                </a:solidFill>
                <a:latin typeface="Lato"/>
                <a:ea typeface="Lato"/>
                <a:cs typeface="Lato"/>
              </a:rPr>
              <a:t>Reported freight</a:t>
            </a:r>
          </a:p>
        </p:txBody>
      </p:sp>
      <p:sp>
        <p:nvSpPr>
          <p:cNvPr id="52" name="Chart insights">
            <a:extLst xmlns:a="http://schemas.openxmlformats.org/drawingml/2006/main">
              <a:ext uri="{FF2B5EF4-FFF2-40B4-BE49-F238E27FC236}">
                <a16:creationId xmlns:a16="http://schemas.microsoft.com/office/drawing/2014/main" id="{723AD14C-CFD1-44FC-830E-FD90ED3877E2}"/>
              </a:ext>
            </a:extLst>
          </p:cNvPr>
          <p:cNvSpPr>
            <a:spLocks xmlns:a="http://schemas.openxmlformats.org/drawingml/2006/main" noGrp="1"/>
          </p:cNvSpPr>
          <p:nvPr/>
        </p:nvSpPr>
        <p:spPr>
          <a:xfrm xmlns:a="http://schemas.openxmlformats.org/drawingml/2006/main">
            <a:off x="8096250" y="2333625"/>
            <a:ext cx="29527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Road: 979.8 → 976.5m tonnes</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Rail: 160.7 → 168.3m tonnes</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Tonnes measure payload, not tonne-kilometres or directly displaced diesel.</a:t>
            </a:r>
          </a:p>
        </p:txBody>
      </p:sp>
      <p:sp>
        <p:nvSpPr>
          <p:cNvPr id="53" name="Story implication">
            <a:extLst xmlns:a="http://schemas.openxmlformats.org/drawingml/2006/main">
              <a:ext uri="{FF2B5EF4-FFF2-40B4-BE49-F238E27FC236}">
                <a16:creationId xmlns:a16="http://schemas.microsoft.com/office/drawing/2014/main" id="{805FCB29-004E-4A6C-8703-9326884525AF}"/>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Rail recovery changes fuel demand through eligible freight, distance, truck efficiency and the rail traction mix.</a:t>
            </a:r>
          </a:p>
        </p:txBody>
      </p:sp>
      <p:graphicFrame xmlns:a="http://schemas.openxmlformats.org/drawingml/2006/main">
        <p:nvGraphicFramePr>
          <p:cNvPr id="5010"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A 7.5% shift of road-freight activity to rail saves 0.33bn litres in the base case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11</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Driver bridge and scenario assumptions. Shift interpreted as freight tonne-km share. Distances and eligibility remain assumed; cases also vary growth and efficiency.</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3333750"/>
                <a:gridCol w="2952750"/>
                <a:gridCol w="4362450"/>
              </a:tblGrid>
              <a:tr h="400050">
                <a:tc>
                  <a:txBody>
                    <a:bodyPr/>
                    <a:lstStyle/>
                    <a:p>
                      <a:r>
                        <a:rPr sz="1500" b="1">
                          <a:solidFill>
                            <a:srgbClr val="0A2373"/>
                          </a:solidFill>
                          <a:latin typeface="Lato"/>
                          <a:ea typeface="Lato"/>
                          <a:cs typeface="Lato"/>
                        </a:rPr>
                        <a:t>2030 case</a:t>
                      </a:r>
                    </a:p>
                  </a:txBody>
                  <a:tcPr marL="91440" marR="91440" marT="45720" marB="45720" anchor="t">
                    <a:solidFill>
                      <a:srgbClr val="F5F5F5"/>
                    </a:solidFill>
                  </a:tcPr>
                </a:tc>
                <a:tc>
                  <a:txBody>
                    <a:bodyPr/>
                    <a:lstStyle/>
                    <a:p>
                      <a:r>
                        <a:rPr sz="1500" b="1">
                          <a:solidFill>
                            <a:srgbClr val="0A2373"/>
                          </a:solidFill>
                          <a:latin typeface="Lato"/>
                          <a:ea typeface="Lato"/>
                          <a:cs typeface="Lato"/>
                        </a:rPr>
                        <a:t>Road-freight shift</a:t>
                      </a:r>
                    </a:p>
                  </a:txBody>
                  <a:tcPr marL="91440" marR="91440" marT="45720" marB="45720" anchor="t">
                    <a:solidFill>
                      <a:srgbClr val="F5F5F5"/>
                    </a:solidFill>
                  </a:tcPr>
                </a:tc>
                <a:tc>
                  <a:txBody>
                    <a:bodyPr/>
                    <a:lstStyle/>
                    <a:p>
                      <a:r>
                        <a:rPr sz="1500" b="1">
                          <a:solidFill>
                            <a:srgbClr val="0A2373"/>
                          </a:solidFill>
                          <a:latin typeface="Lato"/>
                          <a:ea typeface="Lato"/>
                          <a:cs typeface="Lato"/>
                        </a:rPr>
                        <a:t>Net diesel reduction</a:t>
                      </a:r>
                    </a:p>
                  </a:txBody>
                  <a:tcPr marL="91440" marR="91440" marT="45720" marB="45720" anchor="t">
                    <a:solidFill>
                      <a:srgbClr val="F5F5F5"/>
                    </a:solidFill>
                  </a:tcPr>
                </a:tc>
              </a:tr>
              <a:tr h="804863">
                <a:tc>
                  <a:txBody>
                    <a:bodyPr/>
                    <a:lstStyle/>
                    <a:p>
                      <a:r>
                        <a:rPr sz="1500" b="1">
                          <a:solidFill>
                            <a:srgbClr val="0A2373"/>
                          </a:solidFill>
                          <a:latin typeface="Lato"/>
                          <a:ea typeface="Lato"/>
                          <a:cs typeface="Lato"/>
                        </a:rPr>
                        <a:t>Low imports</a:t>
                      </a:r>
                    </a:p>
                  </a:txBody>
                  <a:tcPr marL="91440" marR="91440" marT="45720" marB="45720" anchor="t">
                    <a:solidFill>
                      <a:srgbClr val="FFFFFF"/>
                    </a:solidFill>
                  </a:tcPr>
                </a:tc>
                <a:tc>
                  <a:txBody>
                    <a:bodyPr/>
                    <a:lstStyle/>
                    <a:p>
                      <a:r>
                        <a:rPr sz="1500" b="0">
                          <a:solidFill>
                            <a:srgbClr val="11151A"/>
                          </a:solidFill>
                          <a:latin typeface="Lato"/>
                          <a:ea typeface="Lato"/>
                          <a:cs typeface="Lato"/>
                        </a:rPr>
                        <a:t>15.0%</a:t>
                      </a:r>
                    </a:p>
                  </a:txBody>
                  <a:tcPr marL="91440" marR="91440" marT="45720" marB="45720" anchor="t">
                    <a:solidFill>
                      <a:srgbClr val="FFFFFF"/>
                    </a:solidFill>
                  </a:tcPr>
                </a:tc>
                <a:tc>
                  <a:txBody>
                    <a:bodyPr/>
                    <a:lstStyle/>
                    <a:p>
                      <a:r>
                        <a:rPr sz="1500" b="0">
                          <a:solidFill>
                            <a:srgbClr val="11151A"/>
                          </a:solidFill>
                          <a:latin typeface="Lato"/>
                          <a:ea typeface="Lato"/>
                          <a:cs typeface="Lato"/>
                        </a:rPr>
                        <a:t>0.62bn litres</a:t>
                      </a:r>
                    </a:p>
                  </a:txBody>
                  <a:tcPr marL="91440" marR="91440" marT="45720" marB="45720" anchor="t">
                    <a:solidFill>
                      <a:srgbClr val="FFFFFF"/>
                    </a:solidFill>
                  </a:tcPr>
                </a:tc>
              </a:tr>
              <a:tr h="804863">
                <a:tc>
                  <a:txBody>
                    <a:bodyPr/>
                    <a:lstStyle/>
                    <a:p>
                      <a:r>
                        <a:rPr sz="1500" b="1">
                          <a:solidFill>
                            <a:srgbClr val="0A2373"/>
                          </a:solidFill>
                          <a:latin typeface="Lato"/>
                          <a:ea typeface="Lato"/>
                          <a:cs typeface="Lato"/>
                        </a:rPr>
                        <a:t>Base</a:t>
                      </a:r>
                    </a:p>
                  </a:txBody>
                  <a:tcPr marL="91440" marR="91440" marT="45720" marB="45720" anchor="t">
                    <a:solidFill>
                      <a:srgbClr val="FFFFFF"/>
                    </a:solidFill>
                  </a:tcPr>
                </a:tc>
                <a:tc>
                  <a:txBody>
                    <a:bodyPr/>
                    <a:lstStyle/>
                    <a:p>
                      <a:r>
                        <a:rPr sz="1500" b="0">
                          <a:solidFill>
                            <a:srgbClr val="11151A"/>
                          </a:solidFill>
                          <a:latin typeface="Lato"/>
                          <a:ea typeface="Lato"/>
                          <a:cs typeface="Lato"/>
                        </a:rPr>
                        <a:t>7.5%</a:t>
                      </a:r>
                    </a:p>
                  </a:txBody>
                  <a:tcPr marL="91440" marR="91440" marT="45720" marB="45720" anchor="t">
                    <a:solidFill>
                      <a:srgbClr val="FFFFFF"/>
                    </a:solidFill>
                  </a:tcPr>
                </a:tc>
                <a:tc>
                  <a:txBody>
                    <a:bodyPr/>
                    <a:lstStyle/>
                    <a:p>
                      <a:r>
                        <a:rPr sz="1500" b="0">
                          <a:solidFill>
                            <a:srgbClr val="11151A"/>
                          </a:solidFill>
                          <a:latin typeface="Lato"/>
                          <a:ea typeface="Lato"/>
                          <a:cs typeface="Lato"/>
                        </a:rPr>
                        <a:t>0.33bn litres</a:t>
                      </a:r>
                    </a:p>
                  </a:txBody>
                  <a:tcPr marL="91440" marR="91440" marT="45720" marB="45720" anchor="t">
                    <a:solidFill>
                      <a:srgbClr val="FFFFFF"/>
                    </a:solidFill>
                  </a:tcPr>
                </a:tc>
              </a:tr>
              <a:tr h="804863">
                <a:tc>
                  <a:txBody>
                    <a:bodyPr/>
                    <a:lstStyle/>
                    <a:p>
                      <a:r>
                        <a:rPr sz="1500" b="1">
                          <a:solidFill>
                            <a:srgbClr val="0A2373"/>
                          </a:solidFill>
                          <a:latin typeface="Lato"/>
                          <a:ea typeface="Lato"/>
                          <a:cs typeface="Lato"/>
                        </a:rPr>
                        <a:t>High imports</a:t>
                      </a:r>
                    </a:p>
                  </a:txBody>
                  <a:tcPr marL="91440" marR="91440" marT="45720" marB="45720" anchor="t">
                    <a:solidFill>
                      <a:srgbClr val="FFFFFF"/>
                    </a:solidFill>
                  </a:tcPr>
                </a:tc>
                <a:tc>
                  <a:txBody>
                    <a:bodyPr/>
                    <a:lstStyle/>
                    <a:p>
                      <a:r>
                        <a:rPr sz="1500" b="0">
                          <a:solidFill>
                            <a:srgbClr val="11151A"/>
                          </a:solidFill>
                          <a:latin typeface="Lato"/>
                          <a:ea typeface="Lato"/>
                          <a:cs typeface="Lato"/>
                        </a:rPr>
                        <a:t>2.5%</a:t>
                      </a:r>
                    </a:p>
                  </a:txBody>
                  <a:tcPr marL="91440" marR="91440" marT="45720" marB="45720" anchor="t">
                    <a:solidFill>
                      <a:srgbClr val="FFFFFF"/>
                    </a:solidFill>
                  </a:tcPr>
                </a:tc>
                <a:tc>
                  <a:txBody>
                    <a:bodyPr/>
                    <a:lstStyle/>
                    <a:p>
                      <a:r>
                        <a:rPr sz="1500" b="0">
                          <a:solidFill>
                            <a:srgbClr val="11151A"/>
                          </a:solidFill>
                          <a:latin typeface="Lato"/>
                          <a:ea typeface="Lato"/>
                          <a:cs typeface="Lato"/>
                        </a:rPr>
                        <a:t>0.12bn litres</a:t>
                      </a:r>
                    </a:p>
                  </a:txBody>
                  <a:tcPr marL="91440" marR="91440" marT="45720" marB="45720" anchor="t">
                    <a:solidFill>
                      <a:srgbClr val="FFFFFF"/>
                    </a:solidFill>
                  </a:tcPr>
                </a:tc>
              </a:tr>
              <a:tr h="804863">
                <a:tc>
                  <a:txBody>
                    <a:bodyPr/>
                    <a:lstStyle/>
                    <a:p>
                      <a:r>
                        <a:rPr sz="1500" b="1">
                          <a:solidFill>
                            <a:srgbClr val="0A2373"/>
                          </a:solidFill>
                          <a:latin typeface="Lato"/>
                          <a:ea typeface="Lato"/>
                          <a:cs typeface="Lato"/>
                        </a:rPr>
                        <a:t>Calculation order</a:t>
                      </a:r>
                    </a:p>
                  </a:txBody>
                  <a:tcPr marL="91440" marR="91440" marT="45720" marB="45720" anchor="t">
                    <a:solidFill>
                      <a:srgbClr val="FFFFFF"/>
                    </a:solidFill>
                  </a:tcPr>
                </a:tc>
                <a:tc>
                  <a:txBody>
                    <a:bodyPr/>
                    <a:lstStyle/>
                    <a:p>
                      <a:r>
                        <a:rPr sz="1500" b="0">
                          <a:solidFill>
                            <a:srgbClr val="11151A"/>
                          </a:solidFill>
                          <a:latin typeface="Lato"/>
                          <a:ea typeface="Lato"/>
                          <a:cs typeface="Lato"/>
                        </a:rPr>
                        <a:t>Activity → efficiency → modal shift</a:t>
                      </a:r>
                    </a:p>
                  </a:txBody>
                  <a:tcPr marL="91440" marR="91440" marT="45720" marB="45720" anchor="t">
                    <a:solidFill>
                      <a:srgbClr val="FFFFFF"/>
                    </a:solidFill>
                  </a:tcPr>
                </a:tc>
                <a:tc>
                  <a:txBody>
                    <a:bodyPr/>
                    <a:lstStyle/>
                    <a:p>
                      <a:r>
                        <a:rPr sz="1500" b="0">
                          <a:solidFill>
                            <a:srgbClr val="11151A"/>
                          </a:solidFill>
                          <a:latin typeface="Lato"/>
                          <a:ea typeface="Lato"/>
                          <a:cs typeface="Lato"/>
                        </a:rPr>
                        <a:t>10% diesel rebound allowance for rail</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1D7BFD1A-CD1B-4950-8639-5238A3A4A209}"/>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These shifts apply to road-freight activity, not the entire diesel market; sector demand and power remain separate.</a:t>
            </a:r>
          </a:p>
        </p:txBody>
      </p:sp>
      <p:graphicFrame xmlns:a="http://schemas.openxmlformats.org/drawingml/2006/main">
        <p:nvGraphicFramePr>
          <p:cNvPr id="5011"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The 5.8bn-litre production assumption leaves a gross import requirement of about 16.7bn litres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12</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Balance and Supply assumption. User direction 11 October 2026. Original plant-based estimate 10.23bn L retained in appendix.</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4524375"/>
                <a:gridCol w="1619250"/>
                <a:gridCol w="4505325"/>
              </a:tblGrid>
              <a:tr h="400050">
                <a:tc>
                  <a:txBody>
                    <a:bodyPr/>
                    <a:lstStyle/>
                    <a:p>
                      <a:r>
                        <a:rPr sz="1350" b="1">
                          <a:solidFill>
                            <a:srgbClr val="0A2373"/>
                          </a:solidFill>
                          <a:latin typeface="Lato"/>
                          <a:ea typeface="Lato"/>
                          <a:cs typeface="Lato"/>
                        </a:rPr>
                        <a:t>2025 national balance</a:t>
                      </a:r>
                    </a:p>
                  </a:txBody>
                  <a:tcPr marL="91440" marR="91440" marT="45720" marB="45720" anchor="t">
                    <a:solidFill>
                      <a:srgbClr val="F5F5F5"/>
                    </a:solidFill>
                  </a:tcPr>
                </a:tc>
                <a:tc>
                  <a:txBody>
                    <a:bodyPr/>
                    <a:lstStyle/>
                    <a:p>
                      <a:r>
                        <a:rPr sz="1350" b="1">
                          <a:solidFill>
                            <a:srgbClr val="0A2373"/>
                          </a:solidFill>
                          <a:latin typeface="Lato"/>
                          <a:ea typeface="Lato"/>
                          <a:cs typeface="Lato"/>
                        </a:rPr>
                        <a:t>bn litres</a:t>
                      </a:r>
                    </a:p>
                  </a:txBody>
                  <a:tcPr marL="91440" marR="91440" marT="45720" marB="45720" anchor="t">
                    <a:solidFill>
                      <a:srgbClr val="F5F5F5"/>
                    </a:solidFill>
                  </a:tcPr>
                </a:tc>
                <a:tc>
                  <a:txBody>
                    <a:bodyPr/>
                    <a:lstStyle/>
                    <a:p>
                      <a:r>
                        <a:rPr sz="1350" b="1">
                          <a:solidFill>
                            <a:srgbClr val="0A2373"/>
                          </a:solidFill>
                          <a:latin typeface="Lato"/>
                          <a:ea typeface="Lato"/>
                          <a:cs typeface="Lato"/>
                        </a:rPr>
                        <a:t>Basis</a:t>
                      </a:r>
                    </a:p>
                  </a:txBody>
                  <a:tcPr marL="91440" marR="91440" marT="45720" marB="45720" anchor="t">
                    <a:solidFill>
                      <a:srgbClr val="F5F5F5"/>
                    </a:solidFill>
                  </a:tcPr>
                </a:tc>
              </a:tr>
              <a:tr h="536575">
                <a:tc>
                  <a:txBody>
                    <a:bodyPr/>
                    <a:lstStyle/>
                    <a:p>
                      <a:r>
                        <a:rPr sz="1350" b="1">
                          <a:solidFill>
                            <a:srgbClr val="0A2373"/>
                          </a:solidFill>
                          <a:latin typeface="Lato"/>
                          <a:ea typeface="Lato"/>
                          <a:cs typeface="Lato"/>
                        </a:rPr>
                        <a:t>Demand</a:t>
                      </a:r>
                    </a:p>
                  </a:txBody>
                  <a:tcPr marL="91440" marR="91440" marT="45720" marB="45720" anchor="t">
                    <a:solidFill>
                      <a:srgbClr val="FFFFFF"/>
                    </a:solidFill>
                  </a:tcPr>
                </a:tc>
                <a:tc>
                  <a:txBody>
                    <a:bodyPr/>
                    <a:lstStyle/>
                    <a:p>
                      <a:r>
                        <a:rPr sz="1350" b="0">
                          <a:solidFill>
                            <a:srgbClr val="11151A"/>
                          </a:solidFill>
                          <a:latin typeface="Lato"/>
                          <a:ea typeface="Lato"/>
                          <a:cs typeface="Lato"/>
                        </a:rPr>
                        <a:t>20.99</a:t>
                      </a:r>
                    </a:p>
                  </a:txBody>
                  <a:tcPr marL="91440" marR="91440" marT="45720" marB="45720" anchor="t">
                    <a:solidFill>
                      <a:srgbClr val="FFFFFF"/>
                    </a:solidFill>
                  </a:tcPr>
                </a:tc>
                <a:tc>
                  <a:txBody>
                    <a:bodyPr/>
                    <a:lstStyle/>
                    <a:p>
                      <a:r>
                        <a:rPr sz="1350" b="0">
                          <a:solidFill>
                            <a:srgbClr val="11151A"/>
                          </a:solidFill>
                          <a:latin typeface="Lato"/>
                          <a:ea typeface="Lato"/>
                          <a:cs typeface="Lato"/>
                        </a:rPr>
                        <a:t>Estimated from the 2023 sales baseline</a:t>
                      </a:r>
                    </a:p>
                  </a:txBody>
                  <a:tcPr marL="91440" marR="91440" marT="45720" marB="45720" anchor="t">
                    <a:solidFill>
                      <a:srgbClr val="FFFFFF"/>
                    </a:solidFill>
                  </a:tcPr>
                </a:tc>
              </a:tr>
              <a:tr h="536575">
                <a:tc>
                  <a:txBody>
                    <a:bodyPr/>
                    <a:lstStyle/>
                    <a:p>
                      <a:r>
                        <a:rPr sz="1350" b="1">
                          <a:solidFill>
                            <a:srgbClr val="0A2373"/>
                          </a:solidFill>
                          <a:latin typeface="Lato"/>
                          <a:ea typeface="Lato"/>
                          <a:cs typeface="Lato"/>
                        </a:rPr>
                        <a:t>Domestic production</a:t>
                      </a:r>
                    </a:p>
                  </a:txBody>
                  <a:tcPr marL="91440" marR="91440" marT="45720" marB="45720" anchor="t">
                    <a:solidFill>
                      <a:srgbClr val="FFFFFF"/>
                    </a:solidFill>
                  </a:tcPr>
                </a:tc>
                <a:tc>
                  <a:txBody>
                    <a:bodyPr/>
                    <a:lstStyle/>
                    <a:p>
                      <a:r>
                        <a:rPr sz="1350" b="0">
                          <a:solidFill>
                            <a:srgbClr val="11151A"/>
                          </a:solidFill>
                          <a:latin typeface="Lato"/>
                          <a:ea typeface="Lato"/>
                          <a:cs typeface="Lato"/>
                        </a:rPr>
                        <a:t>5.80</a:t>
                      </a:r>
                    </a:p>
                  </a:txBody>
                  <a:tcPr marL="91440" marR="91440" marT="45720" marB="45720" anchor="t">
                    <a:solidFill>
                      <a:srgbClr val="FFFFFF"/>
                    </a:solidFill>
                  </a:tcPr>
                </a:tc>
                <a:tc>
                  <a:txBody>
                    <a:bodyPr/>
                    <a:lstStyle/>
                    <a:p>
                      <a:r>
                        <a:rPr sz="1350" b="0">
                          <a:solidFill>
                            <a:srgbClr val="11151A"/>
                          </a:solidFill>
                          <a:latin typeface="Lato"/>
                          <a:ea typeface="Lato"/>
                          <a:cs typeface="Lato"/>
                        </a:rPr>
                        <a:t>User-directed national planning assumption</a:t>
                      </a:r>
                    </a:p>
                  </a:txBody>
                  <a:tcPr marL="91440" marR="91440" marT="45720" marB="45720" anchor="t">
                    <a:solidFill>
                      <a:srgbClr val="FFFFFF"/>
                    </a:solidFill>
                  </a:tcPr>
                </a:tc>
              </a:tr>
              <a:tr h="536575">
                <a:tc>
                  <a:txBody>
                    <a:bodyPr/>
                    <a:lstStyle/>
                    <a:p>
                      <a:r>
                        <a:rPr sz="1350" b="1">
                          <a:solidFill>
                            <a:srgbClr val="0A2373"/>
                          </a:solidFill>
                          <a:latin typeface="Lato"/>
                          <a:ea typeface="Lato"/>
                          <a:cs typeface="Lato"/>
                        </a:rPr>
                        <a:t>Gross imports</a:t>
                      </a:r>
                    </a:p>
                  </a:txBody>
                  <a:tcPr marL="91440" marR="91440" marT="45720" marB="45720" anchor="t">
                    <a:solidFill>
                      <a:srgbClr val="FFFFFF"/>
                    </a:solidFill>
                  </a:tcPr>
                </a:tc>
                <a:tc>
                  <a:txBody>
                    <a:bodyPr/>
                    <a:lstStyle/>
                    <a:p>
                      <a:r>
                        <a:rPr sz="1350" b="0">
                          <a:solidFill>
                            <a:srgbClr val="11151A"/>
                          </a:solidFill>
                          <a:latin typeface="Lato"/>
                          <a:ea typeface="Lato"/>
                          <a:cs typeface="Lato"/>
                        </a:rPr>
                        <a:t>16.70</a:t>
                      </a:r>
                    </a:p>
                  </a:txBody>
                  <a:tcPr marL="91440" marR="91440" marT="45720" marB="45720" anchor="t">
                    <a:solidFill>
                      <a:srgbClr val="FFFFFF"/>
                    </a:solidFill>
                  </a:tcPr>
                </a:tc>
                <a:tc>
                  <a:txBody>
                    <a:bodyPr/>
                    <a:lstStyle/>
                    <a:p>
                      <a:r>
                        <a:rPr sz="1350" b="0">
                          <a:solidFill>
                            <a:srgbClr val="11151A"/>
                          </a:solidFill>
                          <a:latin typeface="Lato"/>
                          <a:ea typeface="Lato"/>
                          <a:cs typeface="Lato"/>
                        </a:rPr>
                        <a:t>SARS recorded customs litres</a:t>
                      </a:r>
                    </a:p>
                  </a:txBody>
                  <a:tcPr marL="91440" marR="91440" marT="45720" marB="45720" anchor="t">
                    <a:solidFill>
                      <a:srgbClr val="FFFFFF"/>
                    </a:solidFill>
                  </a:tcPr>
                </a:tc>
              </a:tr>
              <a:tr h="536575">
                <a:tc>
                  <a:txBody>
                    <a:bodyPr/>
                    <a:lstStyle/>
                    <a:p>
                      <a:r>
                        <a:rPr sz="1350" b="1">
                          <a:solidFill>
                            <a:srgbClr val="0A2373"/>
                          </a:solidFill>
                          <a:latin typeface="Lato"/>
                          <a:ea typeface="Lato"/>
                          <a:cs typeface="Lato"/>
                        </a:rPr>
                        <a:t>Exports</a:t>
                      </a:r>
                    </a:p>
                  </a:txBody>
                  <a:tcPr marL="91440" marR="91440" marT="45720" marB="45720" anchor="t">
                    <a:solidFill>
                      <a:srgbClr val="FFFFFF"/>
                    </a:solidFill>
                  </a:tcPr>
                </a:tc>
                <a:tc>
                  <a:txBody>
                    <a:bodyPr/>
                    <a:lstStyle/>
                    <a:p>
                      <a:r>
                        <a:rPr sz="1350" b="0">
                          <a:solidFill>
                            <a:srgbClr val="11151A"/>
                          </a:solidFill>
                          <a:latin typeface="Lato"/>
                          <a:ea typeface="Lato"/>
                          <a:cs typeface="Lato"/>
                        </a:rPr>
                        <a:t>1.55</a:t>
                      </a:r>
                    </a:p>
                  </a:txBody>
                  <a:tcPr marL="91440" marR="91440" marT="45720" marB="45720" anchor="t">
                    <a:solidFill>
                      <a:srgbClr val="FFFFFF"/>
                    </a:solidFill>
                  </a:tcPr>
                </a:tc>
                <a:tc>
                  <a:txBody>
                    <a:bodyPr/>
                    <a:lstStyle/>
                    <a:p>
                      <a:r>
                        <a:rPr sz="1350" b="0">
                          <a:solidFill>
                            <a:srgbClr val="11151A"/>
                          </a:solidFill>
                          <a:latin typeface="Lato"/>
                          <a:ea typeface="Lato"/>
                          <a:cs typeface="Lato"/>
                        </a:rPr>
                        <a:t>SARS recorded customs litres</a:t>
                      </a:r>
                    </a:p>
                  </a:txBody>
                  <a:tcPr marL="91440" marR="91440" marT="45720" marB="45720" anchor="t">
                    <a:solidFill>
                      <a:srgbClr val="FFFFFF"/>
                    </a:solidFill>
                  </a:tcPr>
                </a:tc>
              </a:tr>
              <a:tr h="536575">
                <a:tc>
                  <a:txBody>
                    <a:bodyPr/>
                    <a:lstStyle/>
                    <a:p>
                      <a:r>
                        <a:rPr sz="1350" b="1">
                          <a:solidFill>
                            <a:srgbClr val="0A2373"/>
                          </a:solidFill>
                          <a:latin typeface="Lato"/>
                          <a:ea typeface="Lato"/>
                          <a:cs typeface="Lato"/>
                        </a:rPr>
                        <a:t>Production + net imports</a:t>
                      </a:r>
                    </a:p>
                  </a:txBody>
                  <a:tcPr marL="91440" marR="91440" marT="45720" marB="45720" anchor="t">
                    <a:solidFill>
                      <a:srgbClr val="FFFFFF"/>
                    </a:solidFill>
                  </a:tcPr>
                </a:tc>
                <a:tc>
                  <a:txBody>
                    <a:bodyPr/>
                    <a:lstStyle/>
                    <a:p>
                      <a:r>
                        <a:rPr sz="1350" b="0">
                          <a:solidFill>
                            <a:srgbClr val="11151A"/>
                          </a:solidFill>
                          <a:latin typeface="Lato"/>
                          <a:ea typeface="Lato"/>
                          <a:cs typeface="Lato"/>
                        </a:rPr>
                        <a:t>20.95</a:t>
                      </a:r>
                    </a:p>
                  </a:txBody>
                  <a:tcPr marL="91440" marR="91440" marT="45720" marB="45720" anchor="t">
                    <a:solidFill>
                      <a:srgbClr val="FFFFFF"/>
                    </a:solidFill>
                  </a:tcPr>
                </a:tc>
                <a:tc>
                  <a:txBody>
                    <a:bodyPr/>
                    <a:lstStyle/>
                    <a:p>
                      <a:r>
                        <a:rPr sz="1350" b="0">
                          <a:solidFill>
                            <a:srgbClr val="11151A"/>
                          </a:solidFill>
                          <a:latin typeface="Lato"/>
                          <a:ea typeface="Lato"/>
                          <a:cs typeface="Lato"/>
                        </a:rPr>
                        <a:t>Availability before stock / statistical differences</a:t>
                      </a:r>
                    </a:p>
                  </a:txBody>
                  <a:tcPr marL="91440" marR="91440" marT="45720" marB="45720" anchor="t">
                    <a:solidFill>
                      <a:srgbClr val="FFFFFF"/>
                    </a:solidFill>
                  </a:tcPr>
                </a:tc>
              </a:tr>
              <a:tr h="536575">
                <a:tc>
                  <a:txBody>
                    <a:bodyPr/>
                    <a:lstStyle/>
                    <a:p>
                      <a:r>
                        <a:rPr sz="1350" b="1">
                          <a:solidFill>
                            <a:srgbClr val="0A2373"/>
                          </a:solidFill>
                          <a:latin typeface="Lato"/>
                          <a:ea typeface="Lato"/>
                          <a:cs typeface="Lato"/>
                        </a:rPr>
                        <a:t>Availability less demand</a:t>
                      </a:r>
                    </a:p>
                  </a:txBody>
                  <a:tcPr marL="91440" marR="91440" marT="45720" marB="45720" anchor="t">
                    <a:solidFill>
                      <a:srgbClr val="FFFFFF"/>
                    </a:solidFill>
                  </a:tcPr>
                </a:tc>
                <a:tc>
                  <a:txBody>
                    <a:bodyPr/>
                    <a:lstStyle/>
                    <a:p>
                      <a:r>
                        <a:rPr sz="1350" b="0">
                          <a:solidFill>
                            <a:srgbClr val="11151A"/>
                          </a:solidFill>
                          <a:latin typeface="Lato"/>
                          <a:ea typeface="Lato"/>
                          <a:cs typeface="Lato"/>
                        </a:rPr>
                        <a:t>-0.03</a:t>
                      </a:r>
                    </a:p>
                  </a:txBody>
                  <a:tcPr marL="91440" marR="91440" marT="45720" marB="45720" anchor="t">
                    <a:solidFill>
                      <a:srgbClr val="FFFFFF"/>
                    </a:solidFill>
                  </a:tcPr>
                </a:tc>
                <a:tc>
                  <a:txBody>
                    <a:bodyPr/>
                    <a:lstStyle/>
                    <a:p>
                      <a:r>
                        <a:rPr sz="1350" b="0">
                          <a:solidFill>
                            <a:srgbClr val="11151A"/>
                          </a:solidFill>
                          <a:latin typeface="Lato"/>
                          <a:ea typeface="Lato"/>
                          <a:cs typeface="Lato"/>
                        </a:rPr>
                        <a:t>Aggregate near-balance; product differences remain</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6483961D-0791-4B03-A770-0392DAB70868}"/>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5.8bn litres sets the planning case. Aggregate closure does not validate domestic output or its petrol/diesel split.</a:t>
            </a:r>
          </a:p>
        </p:txBody>
      </p:sp>
      <p:graphicFrame xmlns:a="http://schemas.openxmlformats.org/drawingml/2006/main">
        <p:nvGraphicFramePr>
          <p:cNvPr id="5012"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Refinery recovery is the largest downside risk to the import requirement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13</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Registered scenario assumptions; DR08 refinery evidence. Capacity inputs: SAPREF 180kb/d, PetroSA 45kb/d; 70% petrol/diesel yield in restart sensitivities. Dates are not project commitments.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2952750"/>
                <a:gridCol w="2952750"/>
                <a:gridCol w="4743450"/>
              </a:tblGrid>
              <a:tr h="400050">
                <a:tc>
                  <a:txBody>
                    <a:bodyPr/>
                    <a:lstStyle/>
                    <a:p>
                      <a:r>
                        <a:rPr sz="1350" b="1">
                          <a:solidFill>
                            <a:srgbClr val="0A2373"/>
                          </a:solidFill>
                          <a:latin typeface="Lato"/>
                          <a:ea typeface="Lato"/>
                          <a:cs typeface="Lato"/>
                        </a:rPr>
                        <a:t>Supply lever</a:t>
                      </a:r>
                    </a:p>
                  </a:txBody>
                  <a:tcPr marL="91440" marR="91440" marT="45720" marB="45720" anchor="t">
                    <a:solidFill>
                      <a:srgbClr val="F5F5F5"/>
                    </a:solidFill>
                  </a:tcPr>
                </a:tc>
                <a:tc>
                  <a:txBody>
                    <a:bodyPr/>
                    <a:lstStyle/>
                    <a:p>
                      <a:r>
                        <a:rPr sz="1350" b="1">
                          <a:solidFill>
                            <a:srgbClr val="0A2373"/>
                          </a:solidFill>
                          <a:latin typeface="Lato"/>
                          <a:ea typeface="Lato"/>
                          <a:cs typeface="Lato"/>
                        </a:rPr>
                        <a:t>Base case</a:t>
                      </a:r>
                    </a:p>
                  </a:txBody>
                  <a:tcPr marL="91440" marR="91440" marT="45720" marB="45720" anchor="t">
                    <a:solidFill>
                      <a:srgbClr val="F5F5F5"/>
                    </a:solidFill>
                  </a:tcPr>
                </a:tc>
                <a:tc>
                  <a:txBody>
                    <a:bodyPr/>
                    <a:lstStyle/>
                    <a:p>
                      <a:r>
                        <a:rPr sz="1350" b="1">
                          <a:solidFill>
                            <a:srgbClr val="0A2373"/>
                          </a:solidFill>
                          <a:latin typeface="Lato"/>
                          <a:ea typeface="Lato"/>
                          <a:cs typeface="Lato"/>
                        </a:rPr>
                        <a:t>Low-import sensitivity</a:t>
                      </a:r>
                    </a:p>
                  </a:txBody>
                  <a:tcPr marL="91440" marR="91440" marT="45720" marB="45720" anchor="t">
                    <a:solidFill>
                      <a:srgbClr val="F5F5F5"/>
                    </a:solidFill>
                  </a:tcPr>
                </a:tc>
              </a:tr>
              <a:tr h="804863">
                <a:tc>
                  <a:txBody>
                    <a:bodyPr/>
                    <a:lstStyle/>
                    <a:p>
                      <a:r>
                        <a:rPr sz="1350" b="1">
                          <a:solidFill>
                            <a:srgbClr val="0A2373"/>
                          </a:solidFill>
                          <a:latin typeface="Lato"/>
                          <a:ea typeface="Lato"/>
                          <a:cs typeface="Lato"/>
                        </a:rPr>
                        <a:t>Operating domestic supply</a:t>
                      </a:r>
                    </a:p>
                  </a:txBody>
                  <a:tcPr marL="91440" marR="91440" marT="45720" marB="45720" anchor="t">
                    <a:solidFill>
                      <a:srgbClr val="FFFFFF"/>
                    </a:solidFill>
                  </a:tcPr>
                </a:tc>
                <a:tc>
                  <a:txBody>
                    <a:bodyPr/>
                    <a:lstStyle/>
                    <a:p>
                      <a:r>
                        <a:rPr sz="1350" b="0">
                          <a:solidFill>
                            <a:srgbClr val="11151A"/>
                          </a:solidFill>
                          <a:latin typeface="Lato"/>
                          <a:ea typeface="Lato"/>
                          <a:cs typeface="Lato"/>
                        </a:rPr>
                        <a:t>5.8bn L through 2030</a:t>
                      </a:r>
                    </a:p>
                  </a:txBody>
                  <a:tcPr marL="91440" marR="91440" marT="45720" marB="45720" anchor="t">
                    <a:solidFill>
                      <a:srgbClr val="FFFFFF"/>
                    </a:solidFill>
                  </a:tcPr>
                </a:tc>
                <a:tc>
                  <a:txBody>
                    <a:bodyPr/>
                    <a:lstStyle/>
                    <a:p>
                      <a:r>
                        <a:rPr sz="1350" b="0">
                          <a:solidFill>
                            <a:srgbClr val="11151A"/>
                          </a:solidFill>
                          <a:latin typeface="Lato"/>
                          <a:ea typeface="Lato"/>
                          <a:cs typeface="Lato"/>
                        </a:rPr>
                        <a:t>15% increase in the national planning volume</a:t>
                      </a:r>
                    </a:p>
                  </a:txBody>
                  <a:tcPr marL="91440" marR="91440" marT="45720" marB="45720" anchor="t">
                    <a:solidFill>
                      <a:srgbClr val="FFFFFF"/>
                    </a:solidFill>
                  </a:tcPr>
                </a:tc>
              </a:tr>
              <a:tr h="804863">
                <a:tc>
                  <a:txBody>
                    <a:bodyPr/>
                    <a:lstStyle/>
                    <a:p>
                      <a:r>
                        <a:rPr sz="1350" b="1">
                          <a:solidFill>
                            <a:srgbClr val="0A2373"/>
                          </a:solidFill>
                          <a:latin typeface="Lato"/>
                          <a:ea typeface="Lato"/>
                          <a:cs typeface="Lato"/>
                        </a:rPr>
                        <a:t>SAPREF</a:t>
                      </a:r>
                    </a:p>
                  </a:txBody>
                  <a:tcPr marL="91440" marR="91440" marT="45720" marB="45720" anchor="t">
                    <a:solidFill>
                      <a:srgbClr val="FFFFFF"/>
                    </a:solidFill>
                  </a:tcPr>
                </a:tc>
                <a:tc>
                  <a:txBody>
                    <a:bodyPr/>
                    <a:lstStyle/>
                    <a:p>
                      <a:r>
                        <a:rPr sz="1350" b="0">
                          <a:solidFill>
                            <a:srgbClr val="11151A"/>
                          </a:solidFill>
                          <a:latin typeface="Lato"/>
                          <a:ea typeface="Lato"/>
                          <a:cs typeface="Lato"/>
                        </a:rPr>
                        <a:t>No refining restart through 2030</a:t>
                      </a:r>
                    </a:p>
                  </a:txBody>
                  <a:tcPr marL="91440" marR="91440" marT="45720" marB="45720" anchor="t">
                    <a:solidFill>
                      <a:srgbClr val="FFFFFF"/>
                    </a:solidFill>
                  </a:tcPr>
                </a:tc>
                <a:tc>
                  <a:txBody>
                    <a:bodyPr/>
                    <a:lstStyle/>
                    <a:p>
                      <a:r>
                        <a:rPr sz="1350" b="0">
                          <a:solidFill>
                            <a:srgbClr val="11151A"/>
                          </a:solidFill>
                          <a:latin typeface="Lato"/>
                          <a:ea typeface="Lato"/>
                          <a:cs typeface="Lato"/>
                        </a:rPr>
                        <a:t>Assumed 2029 start; 65% utilisation after a two-year ramp</a:t>
                      </a:r>
                    </a:p>
                  </a:txBody>
                  <a:tcPr marL="91440" marR="91440" marT="45720" marB="45720" anchor="t">
                    <a:solidFill>
                      <a:srgbClr val="FFFFFF"/>
                    </a:solidFill>
                  </a:tcPr>
                </a:tc>
              </a:tr>
              <a:tr h="804863">
                <a:tc>
                  <a:txBody>
                    <a:bodyPr/>
                    <a:lstStyle/>
                    <a:p>
                      <a:r>
                        <a:rPr sz="1350" b="1">
                          <a:solidFill>
                            <a:srgbClr val="0A2373"/>
                          </a:solidFill>
                          <a:latin typeface="Lato"/>
                          <a:ea typeface="Lato"/>
                          <a:cs typeface="Lato"/>
                        </a:rPr>
                        <a:t>PetroSA / Mossel Bay</a:t>
                      </a:r>
                    </a:p>
                  </a:txBody>
                  <a:tcPr marL="91440" marR="91440" marT="45720" marB="45720" anchor="t">
                    <a:solidFill>
                      <a:srgbClr val="FFFFFF"/>
                    </a:solidFill>
                  </a:tcPr>
                </a:tc>
                <a:tc>
                  <a:txBody>
                    <a:bodyPr/>
                    <a:lstStyle/>
                    <a:p>
                      <a:r>
                        <a:rPr sz="1350" b="0">
                          <a:solidFill>
                            <a:srgbClr val="11151A"/>
                          </a:solidFill>
                          <a:latin typeface="Lato"/>
                          <a:ea typeface="Lato"/>
                          <a:cs typeface="Lato"/>
                        </a:rPr>
                        <a:t>No refining restart through 2030</a:t>
                      </a:r>
                    </a:p>
                  </a:txBody>
                  <a:tcPr marL="91440" marR="91440" marT="45720" marB="45720" anchor="t">
                    <a:solidFill>
                      <a:srgbClr val="FFFFFF"/>
                    </a:solidFill>
                  </a:tcPr>
                </a:tc>
                <a:tc>
                  <a:txBody>
                    <a:bodyPr/>
                    <a:lstStyle/>
                    <a:p>
                      <a:r>
                        <a:rPr sz="1350" b="0">
                          <a:solidFill>
                            <a:srgbClr val="11151A"/>
                          </a:solidFill>
                          <a:latin typeface="Lato"/>
                          <a:ea typeface="Lato"/>
                          <a:cs typeface="Lato"/>
                        </a:rPr>
                        <a:t>Assumed 2029 start; 50% utilisation after a two-year ramp</a:t>
                      </a:r>
                    </a:p>
                  </a:txBody>
                  <a:tcPr marL="91440" marR="91440" marT="45720" marB="45720" anchor="t">
                    <a:solidFill>
                      <a:srgbClr val="FFFFFF"/>
                    </a:solidFill>
                  </a:tcPr>
                </a:tc>
              </a:tr>
              <a:tr h="804863">
                <a:tc>
                  <a:txBody>
                    <a:bodyPr/>
                    <a:lstStyle/>
                    <a:p>
                      <a:r>
                        <a:rPr sz="1350" b="1">
                          <a:solidFill>
                            <a:srgbClr val="0A2373"/>
                          </a:solidFill>
                          <a:latin typeface="Lato"/>
                          <a:ea typeface="Lato"/>
                          <a:cs typeface="Lato"/>
                        </a:rPr>
                        <a:t>Combined restart contribution</a:t>
                      </a:r>
                    </a:p>
                  </a:txBody>
                  <a:tcPr marL="91440" marR="91440" marT="45720" marB="45720" anchor="t">
                    <a:solidFill>
                      <a:srgbClr val="FFFFFF"/>
                    </a:solidFill>
                  </a:tcPr>
                </a:tc>
                <a:tc>
                  <a:txBody>
                    <a:bodyPr/>
                    <a:lstStyle/>
                    <a:p>
                      <a:r>
                        <a:rPr sz="1350" b="0">
                          <a:solidFill>
                            <a:srgbClr val="11151A"/>
                          </a:solidFill>
                          <a:latin typeface="Lato"/>
                          <a:ea typeface="Lato"/>
                          <a:cs typeface="Lato"/>
                        </a:rPr>
                        <a:t>Zero</a:t>
                      </a:r>
                    </a:p>
                  </a:txBody>
                  <a:tcPr marL="91440" marR="91440" marT="45720" marB="45720" anchor="t">
                    <a:solidFill>
                      <a:srgbClr val="FFFFFF"/>
                    </a:solidFill>
                  </a:tcPr>
                </a:tc>
                <a:tc>
                  <a:txBody>
                    <a:bodyPr/>
                    <a:lstStyle/>
                    <a:p>
                      <a:r>
                        <a:rPr sz="1350" b="0">
                          <a:solidFill>
                            <a:srgbClr val="11151A"/>
                          </a:solidFill>
                          <a:latin typeface="Lato"/>
                          <a:ea typeface="Lato"/>
                          <a:cs typeface="Lato"/>
                        </a:rPr>
                        <a:t>5.67bn L petrol/diesel in 2030</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2C0231F2-C11B-4E4C-A639-AAEA7D29A80E}"/>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Restart dates and ramp-up settings are scenario assumptions. Import-terminal operations can compete before refining resumes.</a:t>
            </a:r>
          </a:p>
        </p:txBody>
      </p:sp>
      <p:graphicFrame xmlns:a="http://schemas.openxmlformats.org/drawingml/2006/main">
        <p:nvGraphicFramePr>
          <p:cNvPr id="5013"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Base-case imports remain near 16.6bn litres; refinery recovery creates a much lower outcome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14</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Scenarios. Demand-implied gross imports = demand − domestic supply + 2025 exports. Zero stock change; 5.8bn L directed opening supply.</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mlns:a="http://schemas.openxmlformats.org/drawingml/2006/main" x="457200" y="1809750"/>
          <a:ext xmlns:a="http://schemas.openxmlformats.org/drawingml/2006/main" cx="7334250" cy="3429000"/>
        </p:xfrm>
        <a:graphic xmlns:a="http://schemas.openxmlformats.org/drawingml/2006/main">
          <a:graphicData uri="http://schemas.openxmlformats.org/drawingml/2006/chart">
            <c:chart xmlns:r="http://schemas.openxmlformats.org/officeDocument/2006/relationships" xmlns:c="http://schemas.openxmlformats.org/drawingml/2006/chart" r:id="R4ff0cdca28f84335"/>
          </a:graphicData>
        </a:graphic>
      </p:graphicFrame>
      <p:sp>
        <p:nvSpPr>
          <p:cNvPr id="50" name="Chart unit">
            <a:extLst xmlns:a="http://schemas.openxmlformats.org/drawingml/2006/main">
              <a:ext uri="{FF2B5EF4-FFF2-40B4-BE49-F238E27FC236}">
                <a16:creationId xmlns:a16="http://schemas.microsoft.com/office/drawing/2014/main" id="{437340A9-6942-4095-AD28-0BB9D6B28B40}"/>
              </a:ext>
            </a:extLst>
          </p:cNvPr>
          <p:cNvSpPr>
            <a:spLocks xmlns:a="http://schemas.openxmlformats.org/drawingml/2006/main" noGrp="1"/>
          </p:cNvSpPr>
          <p:nvPr/>
        </p:nvSpPr>
        <p:spPr>
          <a:xfrm xmlns:a="http://schemas.openxmlformats.org/drawingml/2006/main">
            <a:off x="523875" y="15621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xmlns:a="http://schemas.openxmlformats.org/drawingml/2006/main">
              <a:ext uri="{FF2B5EF4-FFF2-40B4-BE49-F238E27FC236}">
                <a16:creationId xmlns:a16="http://schemas.microsoft.com/office/drawing/2014/main" id="{A642DBE3-4F68-4AEE-8FA8-2DDC4D9AECBA}"/>
              </a:ext>
            </a:extLst>
          </p:cNvPr>
          <p:cNvSpPr>
            <a:spLocks xmlns:a="http://schemas.openxmlformats.org/drawingml/2006/main" noGrp="1"/>
          </p:cNvSpPr>
          <p:nvPr/>
        </p:nvSpPr>
        <p:spPr>
          <a:xfrm xmlns:a="http://schemas.openxmlformats.org/drawingml/2006/main">
            <a:off x="8096250" y="17621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A2373"/>
                </a:solidFill>
                <a:latin typeface="Lato"/>
                <a:ea typeface="Lato"/>
                <a:cs typeface="Lato"/>
              </a:defRPr>
            </a:pPr>
            <a:r>
              <a:rPr sz="1650" b="1">
                <a:solidFill>
                  <a:srgbClr val="0A2373"/>
                </a:solidFill>
                <a:latin typeface="Lato"/>
                <a:ea typeface="Lato"/>
                <a:cs typeface="Lato"/>
              </a:rPr>
              <a:t>2030 gross import need</a:t>
            </a:r>
          </a:p>
        </p:txBody>
      </p:sp>
      <p:sp>
        <p:nvSpPr>
          <p:cNvPr id="52" name="Chart insights">
            <a:extLst xmlns:a="http://schemas.openxmlformats.org/drawingml/2006/main">
              <a:ext uri="{FF2B5EF4-FFF2-40B4-BE49-F238E27FC236}">
                <a16:creationId xmlns:a16="http://schemas.microsoft.com/office/drawing/2014/main" id="{EE7622E9-6EFD-460B-B40E-6EE14B12FECD}"/>
              </a:ext>
            </a:extLst>
          </p:cNvPr>
          <p:cNvSpPr>
            <a:spLocks xmlns:a="http://schemas.openxmlformats.org/drawingml/2006/main" noGrp="1"/>
          </p:cNvSpPr>
          <p:nvPr/>
        </p:nvSpPr>
        <p:spPr>
          <a:xfrm xmlns:a="http://schemas.openxmlformats.org/drawingml/2006/main">
            <a:off x="8096250" y="2333625"/>
            <a:ext cx="29527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Low imports: 8.26bn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Base: 16.61bn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High imports: 19.68bn L</a:t>
            </a:r>
          </a:p>
          <a:p xmlns:a="http://schemas.openxmlformats.org/drawingml/2006/main">
            <a:r>
              <a:t/>
            </a:r>
          </a:p>
          <a:p xmlns:a="http://schemas.openxmlformats.org/drawingml/2006/main">
            <a:pPr>
              <a:defRPr sz="1350" b="0">
                <a:solidFill>
                  <a:srgbClr val="11151A"/>
                </a:solidFill>
                <a:latin typeface="Lato"/>
                <a:ea typeface="Lato"/>
                <a:cs typeface="Lato"/>
              </a:defRPr>
            </a:pPr>
            <a:r>
              <a:rPr sz="1350" b="0">
                <a:solidFill>
                  <a:srgbClr val="11151A"/>
                </a:solidFill>
                <a:latin typeface="Lato"/>
                <a:ea typeface="Lato"/>
                <a:cs typeface="Lato"/>
              </a:rPr>
              <a:t>Cases are sensitivities, not assigned probabilities.</a:t>
            </a:r>
          </a:p>
        </p:txBody>
      </p:sp>
      <p:sp>
        <p:nvSpPr>
          <p:cNvPr id="53" name="Story implication">
            <a:extLst xmlns:a="http://schemas.openxmlformats.org/drawingml/2006/main">
              <a:ext uri="{FF2B5EF4-FFF2-40B4-BE49-F238E27FC236}">
                <a16:creationId xmlns:a16="http://schemas.microsoft.com/office/drawing/2014/main" id="{0667ABD7-5AB0-4F92-BE34-BC9D090E5B38}"/>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The base case balances activity growth against efficiency, rail and power reductions; supply assumptions drive the widest spread.</a:t>
            </a:r>
          </a:p>
        </p:txBody>
      </p:sp>
      <p:graphicFrame xmlns:a="http://schemas.openxmlformats.org/drawingml/2006/main">
        <p:nvGraphicFramePr>
          <p:cNvPr id="5014"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78848520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Matola provides an existing alternative gateway; new gas projects have a different role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15</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Galp Matola announcement (3 Dec 2020); Petromoc logistics; Sasol Mozambique operations; SARS customs. URLs retained in notes / workbook.</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2667000"/>
                <a:gridCol w="3619500"/>
                <a:gridCol w="4362450"/>
              </a:tblGrid>
              <a:tr h="400050">
                <a:tc>
                  <a:txBody>
                    <a:bodyPr/>
                    <a:lstStyle/>
                    <a:p>
                      <a:r>
                        <a:rPr sz="1275" b="1">
                          <a:solidFill>
                            <a:srgbClr val="0A2373"/>
                          </a:solidFill>
                          <a:latin typeface="Lato"/>
                          <a:ea typeface="Lato"/>
                          <a:cs typeface="Lato"/>
                        </a:rPr>
                        <a:t>Node</a:t>
                      </a:r>
                    </a:p>
                  </a:txBody>
                  <a:tcPr marL="91440" marR="91440" marT="45720" marB="45720" anchor="t">
                    <a:solidFill>
                      <a:srgbClr val="F5F5F5"/>
                    </a:solidFill>
                  </a:tcPr>
                </a:tc>
                <a:tc>
                  <a:txBody>
                    <a:bodyPr/>
                    <a:lstStyle/>
                    <a:p>
                      <a:r>
                        <a:rPr sz="1275" b="1">
                          <a:solidFill>
                            <a:srgbClr val="0A2373"/>
                          </a:solidFill>
                          <a:latin typeface="Lato"/>
                          <a:ea typeface="Lato"/>
                          <a:cs typeface="Lato"/>
                        </a:rPr>
                        <a:t>Evidence</a:t>
                      </a:r>
                    </a:p>
                  </a:txBody>
                  <a:tcPr marL="91440" marR="91440" marT="45720" marB="45720" anchor="t">
                    <a:solidFill>
                      <a:srgbClr val="F5F5F5"/>
                    </a:solidFill>
                  </a:tcPr>
                </a:tc>
                <a:tc>
                  <a:txBody>
                    <a:bodyPr/>
                    <a:lstStyle/>
                    <a:p>
                      <a:r>
                        <a:rPr sz="1275" b="1">
                          <a:solidFill>
                            <a:srgbClr val="0A2373"/>
                          </a:solidFill>
                          <a:latin typeface="Lato"/>
                          <a:ea typeface="Lato"/>
                          <a:cs typeface="Lato"/>
                        </a:rPr>
                        <a:t>Implication for South African fuel routes</a:t>
                      </a:r>
                    </a:p>
                  </a:txBody>
                  <a:tcPr marL="91440" marR="91440" marT="45720" marB="45720" anchor="t">
                    <a:solidFill>
                      <a:srgbClr val="F5F5F5"/>
                    </a:solidFill>
                  </a:tcPr>
                </a:tc>
              </a:tr>
              <a:tr h="643890">
                <a:tc>
                  <a:txBody>
                    <a:bodyPr/>
                    <a:lstStyle/>
                    <a:p>
                      <a:r>
                        <a:rPr sz="1275" b="1">
                          <a:solidFill>
                            <a:srgbClr val="0A2373"/>
                          </a:solidFill>
                          <a:latin typeface="Lato"/>
                          <a:ea typeface="Lato"/>
                          <a:cs typeface="Lato"/>
                        </a:rPr>
                        <a:t>Galp/IPG Matola</a:t>
                      </a:r>
                    </a:p>
                  </a:txBody>
                  <a:tcPr marL="91440" marR="91440" marT="45720" marB="45720" anchor="t">
                    <a:solidFill>
                      <a:srgbClr val="FFFFFF"/>
                    </a:solidFill>
                  </a:tcPr>
                </a:tc>
                <a:tc>
                  <a:txBody>
                    <a:bodyPr/>
                    <a:lstStyle/>
                    <a:p>
                      <a:r>
                        <a:rPr sz="1275" b="0">
                          <a:solidFill>
                            <a:srgbClr val="11151A"/>
                          </a:solidFill>
                          <a:latin typeface="Lato"/>
                          <a:ea typeface="Lato"/>
                          <a:cs typeface="Lato"/>
                        </a:rPr>
                        <a:t>60,000m³ petrol/diesel storage; opened 2020</a:t>
                      </a:r>
                    </a:p>
                  </a:txBody>
                  <a:tcPr marL="91440" marR="91440" marT="45720" marB="45720" anchor="t">
                    <a:solidFill>
                      <a:srgbClr val="FFFFFF"/>
                    </a:solidFill>
                  </a:tcPr>
                </a:tc>
                <a:tc>
                  <a:txBody>
                    <a:bodyPr/>
                    <a:lstStyle/>
                    <a:p>
                      <a:r>
                        <a:rPr sz="1275" b="0">
                          <a:solidFill>
                            <a:srgbClr val="11151A"/>
                          </a:solidFill>
                          <a:latin typeface="Lato"/>
                          <a:ea typeface="Lato"/>
                          <a:cs typeface="Lato"/>
                        </a:rPr>
                        <a:t>Existing import and distribution infrastructure</a:t>
                      </a:r>
                    </a:p>
                  </a:txBody>
                  <a:tcPr marL="91440" marR="91440" marT="45720" marB="45720" anchor="t">
                    <a:solidFill>
                      <a:srgbClr val="FFFFFF"/>
                    </a:solidFill>
                  </a:tcPr>
                </a:tc>
              </a:tr>
              <a:tr h="643890">
                <a:tc>
                  <a:txBody>
                    <a:bodyPr/>
                    <a:lstStyle/>
                    <a:p>
                      <a:r>
                        <a:rPr sz="1275" b="1">
                          <a:solidFill>
                            <a:srgbClr val="0A2373"/>
                          </a:solidFill>
                          <a:latin typeface="Lato"/>
                          <a:ea typeface="Lato"/>
                          <a:cs typeface="Lato"/>
                        </a:rPr>
                        <a:t>Petromoc Língamo / Matola</a:t>
                      </a:r>
                    </a:p>
                  </a:txBody>
                  <a:tcPr marL="91440" marR="91440" marT="45720" marB="45720" anchor="t">
                    <a:solidFill>
                      <a:srgbClr val="FFFFFF"/>
                    </a:solidFill>
                  </a:tcPr>
                </a:tc>
                <a:tc>
                  <a:txBody>
                    <a:bodyPr/>
                    <a:lstStyle/>
                    <a:p>
                      <a:r>
                        <a:rPr sz="1275" b="0">
                          <a:solidFill>
                            <a:srgbClr val="11151A"/>
                          </a:solidFill>
                          <a:latin typeface="Lato"/>
                          <a:ea typeface="Lato"/>
                          <a:cs typeface="Lato"/>
                        </a:rPr>
                        <a:t>390,000m³ across liquid fuels</a:t>
                      </a:r>
                    </a:p>
                  </a:txBody>
                  <a:tcPr marL="91440" marR="91440" marT="45720" marB="45720" anchor="t">
                    <a:solidFill>
                      <a:srgbClr val="FFFFFF"/>
                    </a:solidFill>
                  </a:tcPr>
                </a:tc>
                <a:tc>
                  <a:txBody>
                    <a:bodyPr/>
                    <a:lstStyle/>
                    <a:p>
                      <a:r>
                        <a:rPr sz="1275" b="0">
                          <a:solidFill>
                            <a:srgbClr val="11151A"/>
                          </a:solidFill>
                          <a:latin typeface="Lato"/>
                          <a:ea typeface="Lato"/>
                          <a:cs typeface="Lato"/>
                        </a:rPr>
                        <a:t>Broader storage base; product allocation and overlap need confirmation</a:t>
                      </a:r>
                    </a:p>
                  </a:txBody>
                  <a:tcPr marL="91440" marR="91440" marT="45720" marB="45720" anchor="t">
                    <a:solidFill>
                      <a:srgbClr val="FFFFFF"/>
                    </a:solidFill>
                  </a:tcPr>
                </a:tc>
              </a:tr>
              <a:tr h="643890">
                <a:tc>
                  <a:txBody>
                    <a:bodyPr/>
                    <a:lstStyle/>
                    <a:p>
                      <a:r>
                        <a:rPr sz="1275" b="1">
                          <a:solidFill>
                            <a:srgbClr val="0A2373"/>
                          </a:solidFill>
                          <a:latin typeface="Lato"/>
                          <a:ea typeface="Lato"/>
                          <a:cs typeface="Lato"/>
                        </a:rPr>
                        <a:t>Beira, Nacala and Pemba</a:t>
                      </a:r>
                    </a:p>
                  </a:txBody>
                  <a:tcPr marL="91440" marR="91440" marT="45720" marB="45720" anchor="t">
                    <a:solidFill>
                      <a:srgbClr val="FFFFFF"/>
                    </a:solidFill>
                  </a:tcPr>
                </a:tc>
                <a:tc>
                  <a:txBody>
                    <a:bodyPr/>
                    <a:lstStyle/>
                    <a:p>
                      <a:r>
                        <a:rPr sz="1275" b="0">
                          <a:solidFill>
                            <a:srgbClr val="11151A"/>
                          </a:solidFill>
                          <a:latin typeface="Lato"/>
                          <a:ea typeface="Lato"/>
                          <a:cs typeface="Lato"/>
                        </a:rPr>
                        <a:t>Existing central / northern logistics nodes</a:t>
                      </a:r>
                    </a:p>
                  </a:txBody>
                  <a:tcPr marL="91440" marR="91440" marT="45720" marB="45720" anchor="t">
                    <a:solidFill>
                      <a:srgbClr val="FFFFFF"/>
                    </a:solidFill>
                  </a:tcPr>
                </a:tc>
                <a:tc>
                  <a:txBody>
                    <a:bodyPr/>
                    <a:lstStyle/>
                    <a:p>
                      <a:r>
                        <a:rPr sz="1275" b="0">
                          <a:solidFill>
                            <a:srgbClr val="11151A"/>
                          </a:solidFill>
                          <a:latin typeface="Lato"/>
                          <a:ea typeface="Lato"/>
                          <a:cs typeface="Lato"/>
                        </a:rPr>
                        <a:t>Regional supply; no additional SA flow assigned in the base case</a:t>
                      </a:r>
                    </a:p>
                  </a:txBody>
                  <a:tcPr marL="91440" marR="91440" marT="45720" marB="45720" anchor="t">
                    <a:solidFill>
                      <a:srgbClr val="FFFFFF"/>
                    </a:solidFill>
                  </a:tcPr>
                </a:tc>
              </a:tr>
              <a:tr h="643890">
                <a:tc>
                  <a:txBody>
                    <a:bodyPr/>
                    <a:lstStyle/>
                    <a:p>
                      <a:r>
                        <a:rPr sz="1275" b="1">
                          <a:solidFill>
                            <a:srgbClr val="0A2373"/>
                          </a:solidFill>
                          <a:latin typeface="Lato"/>
                          <a:ea typeface="Lato"/>
                          <a:cs typeface="Lato"/>
                        </a:rPr>
                        <a:t>Temane PSA</a:t>
                      </a:r>
                    </a:p>
                  </a:txBody>
                  <a:tcPr marL="91440" marR="91440" marT="45720" marB="45720" anchor="t">
                    <a:solidFill>
                      <a:srgbClr val="FFFFFF"/>
                    </a:solidFill>
                  </a:tcPr>
                </a:tc>
                <a:tc>
                  <a:txBody>
                    <a:bodyPr/>
                    <a:lstStyle/>
                    <a:p>
                      <a:r>
                        <a:rPr sz="1275" b="0">
                          <a:solidFill>
                            <a:srgbClr val="11151A"/>
                          </a:solidFill>
                          <a:latin typeface="Lato"/>
                          <a:ea typeface="Lato"/>
                          <a:cs typeface="Lato"/>
                        </a:rPr>
                        <a:t>Light oil, gas and LPG; production began December 2025</a:t>
                      </a:r>
                    </a:p>
                  </a:txBody>
                  <a:tcPr marL="91440" marR="91440" marT="45720" marB="45720" anchor="t">
                    <a:solidFill>
                      <a:srgbClr val="FFFFFF"/>
                    </a:solidFill>
                  </a:tcPr>
                </a:tc>
                <a:tc>
                  <a:txBody>
                    <a:bodyPr/>
                    <a:lstStyle/>
                    <a:p>
                      <a:r>
                        <a:rPr sz="1275" b="0">
                          <a:solidFill>
                            <a:srgbClr val="11151A"/>
                          </a:solidFill>
                          <a:latin typeface="Lato"/>
                          <a:ea typeface="Lato"/>
                          <a:cs typeface="Lato"/>
                        </a:rPr>
                        <a:t>No direct finished petrol/diesel output credited</a:t>
                      </a:r>
                    </a:p>
                  </a:txBody>
                  <a:tcPr marL="91440" marR="91440" marT="45720" marB="45720" anchor="t">
                    <a:solidFill>
                      <a:srgbClr val="FFFFFF"/>
                    </a:solidFill>
                  </a:tcPr>
                </a:tc>
              </a:tr>
              <a:tr h="643890">
                <a:tc>
                  <a:txBody>
                    <a:bodyPr/>
                    <a:lstStyle/>
                    <a:p>
                      <a:r>
                        <a:rPr sz="1275" b="1">
                          <a:solidFill>
                            <a:srgbClr val="0A2373"/>
                          </a:solidFill>
                          <a:latin typeface="Lato"/>
                          <a:ea typeface="Lato"/>
                          <a:cs typeface="Lato"/>
                        </a:rPr>
                        <a:t>Komatipoort recorded imports</a:t>
                      </a:r>
                    </a:p>
                  </a:txBody>
                  <a:tcPr marL="91440" marR="91440" marT="45720" marB="45720" anchor="t">
                    <a:solidFill>
                      <a:srgbClr val="FFFFFF"/>
                    </a:solidFill>
                  </a:tcPr>
                </a:tc>
                <a:tc>
                  <a:txBody>
                    <a:bodyPr/>
                    <a:lstStyle/>
                    <a:p>
                      <a:r>
                        <a:rPr sz="1275" b="0">
                          <a:solidFill>
                            <a:srgbClr val="11151A"/>
                          </a:solidFill>
                          <a:latin typeface="Lato"/>
                          <a:ea typeface="Lato"/>
                          <a:cs typeface="Lato"/>
                        </a:rPr>
                        <a:t>0.303bn L in 2022 → 0.086bn L in 2025</a:t>
                      </a:r>
                    </a:p>
                  </a:txBody>
                  <a:tcPr marL="91440" marR="91440" marT="45720" marB="45720" anchor="t">
                    <a:solidFill>
                      <a:srgbClr val="FFFFFF"/>
                    </a:solidFill>
                  </a:tcPr>
                </a:tc>
                <a:tc>
                  <a:txBody>
                    <a:bodyPr/>
                    <a:lstStyle/>
                    <a:p>
                      <a:r>
                        <a:rPr sz="1275" b="0">
                          <a:solidFill>
                            <a:srgbClr val="11151A"/>
                          </a:solidFill>
                          <a:latin typeface="Lato"/>
                          <a:ea typeface="Lato"/>
                          <a:cs typeface="Lato"/>
                        </a:rPr>
                        <a:t>Current cross-border flow is far smaller than gross storage suggests</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2E83443C-F6BE-455B-855A-B3B29BA3DE04}"/>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Storage capacity, berth capacity and delivered South African volumes measure different things and are not added together.</a:t>
            </a:r>
          </a:p>
        </p:txBody>
      </p:sp>
      <p:graphicFrame xmlns:a="http://schemas.openxmlformats.org/drawingml/2006/main">
        <p:nvGraphicFramePr>
          <p:cNvPr id="5015"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Matola needs a landed-price or service advantage to offset border and logistics costs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16</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Mozambique. Distances, tariffs, border charges, financing and allocation are authored sensitivities, not carrier quotes or confirmed access.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3333750"/>
                <a:gridCol w="2857500"/>
                <a:gridCol w="4457700"/>
              </a:tblGrid>
              <a:tr h="400050">
                <a:tc>
                  <a:txBody>
                    <a:bodyPr/>
                    <a:lstStyle/>
                    <a:p>
                      <a:r>
                        <a:rPr sz="1350" b="1">
                          <a:solidFill>
                            <a:srgbClr val="0A2373"/>
                          </a:solidFill>
                          <a:latin typeface="Lato"/>
                          <a:ea typeface="Lato"/>
                          <a:cs typeface="Lato"/>
                        </a:rPr>
                        <a:t>Route sensitivity</a:t>
                      </a:r>
                    </a:p>
                  </a:txBody>
                  <a:tcPr marL="91440" marR="91440" marT="45720" marB="45720" anchor="t">
                    <a:solidFill>
                      <a:srgbClr val="F5F5F5"/>
                    </a:solidFill>
                  </a:tcPr>
                </a:tc>
                <a:tc>
                  <a:txBody>
                    <a:bodyPr/>
                    <a:lstStyle/>
                    <a:p>
                      <a:r>
                        <a:rPr sz="1350" b="1">
                          <a:solidFill>
                            <a:srgbClr val="0A2373"/>
                          </a:solidFill>
                          <a:latin typeface="Lato"/>
                          <a:ea typeface="Lato"/>
                          <a:cs typeface="Lato"/>
                        </a:rPr>
                        <a:t>Result</a:t>
                      </a:r>
                    </a:p>
                  </a:txBody>
                  <a:tcPr marL="91440" marR="91440" marT="45720" marB="45720" anchor="t">
                    <a:solidFill>
                      <a:srgbClr val="F5F5F5"/>
                    </a:solidFill>
                  </a:tcPr>
                </a:tc>
                <a:tc>
                  <a:txBody>
                    <a:bodyPr/>
                    <a:lstStyle/>
                    <a:p>
                      <a:r>
                        <a:rPr sz="1350" b="1">
                          <a:solidFill>
                            <a:srgbClr val="0A2373"/>
                          </a:solidFill>
                          <a:latin typeface="Lato"/>
                          <a:ea typeface="Lato"/>
                          <a:cs typeface="Lato"/>
                        </a:rPr>
                        <a:t>Assumptions behind the result</a:t>
                      </a:r>
                    </a:p>
                  </a:txBody>
                  <a:tcPr marL="91440" marR="91440" marT="45720" marB="45720" anchor="t">
                    <a:solidFill>
                      <a:srgbClr val="F5F5F5"/>
                    </a:solidFill>
                  </a:tcPr>
                </a:tc>
              </a:tr>
              <a:tr h="643890">
                <a:tc>
                  <a:txBody>
                    <a:bodyPr/>
                    <a:lstStyle/>
                    <a:p>
                      <a:r>
                        <a:rPr sz="1350" b="1">
                          <a:solidFill>
                            <a:srgbClr val="0A2373"/>
                          </a:solidFill>
                          <a:latin typeface="Lato"/>
                          <a:ea typeface="Lato"/>
                          <a:cs typeface="Lato"/>
                        </a:rPr>
                        <a:t>Durban → same inland destination</a:t>
                      </a:r>
                    </a:p>
                  </a:txBody>
                  <a:tcPr marL="91440" marR="91440" marT="45720" marB="45720" anchor="t">
                    <a:solidFill>
                      <a:srgbClr val="FFFFFF"/>
                    </a:solidFill>
                  </a:tcPr>
                </a:tc>
                <a:tc>
                  <a:txBody>
                    <a:bodyPr/>
                    <a:lstStyle/>
                    <a:p>
                      <a:r>
                        <a:rPr sz="1350" b="0">
                          <a:solidFill>
                            <a:srgbClr val="11151A"/>
                          </a:solidFill>
                          <a:latin typeface="Lato"/>
                          <a:ea typeface="Lato"/>
                          <a:cs typeface="Lato"/>
                        </a:rPr>
                        <a:t>R0.95 per litre logistics</a:t>
                      </a:r>
                    </a:p>
                  </a:txBody>
                  <a:tcPr marL="91440" marR="91440" marT="45720" marB="45720" anchor="t">
                    <a:solidFill>
                      <a:srgbClr val="FFFFFF"/>
                    </a:solidFill>
                  </a:tcPr>
                </a:tc>
                <a:tc>
                  <a:txBody>
                    <a:bodyPr/>
                    <a:lstStyle/>
                    <a:p>
                      <a:r>
                        <a:rPr sz="1350" b="0">
                          <a:solidFill>
                            <a:srgbClr val="11151A"/>
                          </a:solidFill>
                          <a:latin typeface="Lato"/>
                          <a:ea typeface="Lato"/>
                          <a:cs typeface="Lato"/>
                        </a:rPr>
                        <a:t>600km one way; round trip; R25/truck-km; 40,000L payload</a:t>
                      </a:r>
                    </a:p>
                  </a:txBody>
                  <a:tcPr marL="91440" marR="91440" marT="45720" marB="45720" anchor="t">
                    <a:solidFill>
                      <a:srgbClr val="FFFFFF"/>
                    </a:solidFill>
                  </a:tcPr>
                </a:tc>
              </a:tr>
              <a:tr h="643890">
                <a:tc>
                  <a:txBody>
                    <a:bodyPr/>
                    <a:lstStyle/>
                    <a:p>
                      <a:r>
                        <a:rPr sz="1350" b="1">
                          <a:solidFill>
                            <a:srgbClr val="0A2373"/>
                          </a:solidFill>
                          <a:latin typeface="Lato"/>
                          <a:ea typeface="Lato"/>
                          <a:cs typeface="Lato"/>
                        </a:rPr>
                        <a:t>Matola → same inland destination</a:t>
                      </a:r>
                    </a:p>
                  </a:txBody>
                  <a:tcPr marL="91440" marR="91440" marT="45720" marB="45720" anchor="t">
                    <a:solidFill>
                      <a:srgbClr val="FFFFFF"/>
                    </a:solidFill>
                  </a:tcPr>
                </a:tc>
                <a:tc>
                  <a:txBody>
                    <a:bodyPr/>
                    <a:lstStyle/>
                    <a:p>
                      <a:r>
                        <a:rPr sz="1350" b="0">
                          <a:solidFill>
                            <a:srgbClr val="11151A"/>
                          </a:solidFill>
                          <a:latin typeface="Lato"/>
                          <a:ea typeface="Lato"/>
                          <a:cs typeface="Lato"/>
                        </a:rPr>
                        <a:t>R1.14 per litre logistics</a:t>
                      </a:r>
                    </a:p>
                  </a:txBody>
                  <a:tcPr marL="91440" marR="91440" marT="45720" marB="45720" anchor="t">
                    <a:solidFill>
                      <a:srgbClr val="FFFFFF"/>
                    </a:solidFill>
                  </a:tcPr>
                </a:tc>
                <a:tc>
                  <a:txBody>
                    <a:bodyPr/>
                    <a:lstStyle/>
                    <a:p>
                      <a:r>
                        <a:rPr sz="1350" b="0">
                          <a:solidFill>
                            <a:srgbClr val="11151A"/>
                          </a:solidFill>
                          <a:latin typeface="Lato"/>
                          <a:ea typeface="Lato"/>
                          <a:cs typeface="Lato"/>
                        </a:rPr>
                        <a:t>550km one way; terminal and border costs; one-day delay</a:t>
                      </a:r>
                    </a:p>
                  </a:txBody>
                  <a:tcPr marL="91440" marR="91440" marT="45720" marB="45720" anchor="t">
                    <a:solidFill>
                      <a:srgbClr val="FFFFFF"/>
                    </a:solidFill>
                  </a:tcPr>
                </a:tc>
              </a:tr>
              <a:tr h="643890">
                <a:tc>
                  <a:txBody>
                    <a:bodyPr/>
                    <a:lstStyle/>
                    <a:p>
                      <a:r>
                        <a:rPr sz="1350" b="1">
                          <a:solidFill>
                            <a:srgbClr val="0A2373"/>
                          </a:solidFill>
                          <a:latin typeface="Lato"/>
                          <a:ea typeface="Lato"/>
                          <a:cs typeface="Lato"/>
                        </a:rPr>
                        <a:t>Matola premium</a:t>
                      </a:r>
                    </a:p>
                  </a:txBody>
                  <a:tcPr marL="91440" marR="91440" marT="45720" marB="45720" anchor="t">
                    <a:solidFill>
                      <a:srgbClr val="FFFFFF"/>
                    </a:solidFill>
                  </a:tcPr>
                </a:tc>
                <a:tc>
                  <a:txBody>
                    <a:bodyPr/>
                    <a:lstStyle/>
                    <a:p>
                      <a:r>
                        <a:rPr sz="1350" b="0">
                          <a:solidFill>
                            <a:srgbClr val="11151A"/>
                          </a:solidFill>
                          <a:latin typeface="Lato"/>
                          <a:ea typeface="Lato"/>
                          <a:cs typeface="Lato"/>
                        </a:rPr>
                        <a:t>R0.19 per litre</a:t>
                      </a:r>
                    </a:p>
                  </a:txBody>
                  <a:tcPr marL="91440" marR="91440" marT="45720" marB="45720" anchor="t">
                    <a:solidFill>
                      <a:srgbClr val="FFFFFF"/>
                    </a:solidFill>
                  </a:tcPr>
                </a:tc>
                <a:tc>
                  <a:txBody>
                    <a:bodyPr/>
                    <a:lstStyle/>
                    <a:p>
                      <a:r>
                        <a:rPr sz="1350" b="0">
                          <a:solidFill>
                            <a:srgbClr val="11151A"/>
                          </a:solidFill>
                          <a:latin typeface="Lato"/>
                          <a:ea typeface="Lato"/>
                          <a:cs typeface="Lato"/>
                        </a:rPr>
                        <a:t>Required landed-product discount under these illustrative costs</a:t>
                      </a:r>
                    </a:p>
                  </a:txBody>
                  <a:tcPr marL="91440" marR="91440" marT="45720" marB="45720" anchor="t">
                    <a:solidFill>
                      <a:srgbClr val="FFFFFF"/>
                    </a:solidFill>
                  </a:tcPr>
                </a:tc>
              </a:tr>
              <a:tr h="643890">
                <a:tc>
                  <a:txBody>
                    <a:bodyPr/>
                    <a:lstStyle/>
                    <a:p>
                      <a:r>
                        <a:rPr sz="1350" b="1">
                          <a:solidFill>
                            <a:srgbClr val="0A2373"/>
                          </a:solidFill>
                          <a:latin typeface="Lato"/>
                          <a:ea typeface="Lato"/>
                          <a:cs typeface="Lato"/>
                        </a:rPr>
                        <a:t>Border-delay sensitivity</a:t>
                      </a:r>
                    </a:p>
                  </a:txBody>
                  <a:tcPr marL="91440" marR="91440" marT="45720" marB="45720" anchor="t">
                    <a:solidFill>
                      <a:srgbClr val="FFFFFF"/>
                    </a:solidFill>
                  </a:tcPr>
                </a:tc>
                <a:tc>
                  <a:txBody>
                    <a:bodyPr/>
                    <a:lstStyle/>
                    <a:p>
                      <a:r>
                        <a:rPr sz="1350" b="0">
                          <a:solidFill>
                            <a:srgbClr val="11151A"/>
                          </a:solidFill>
                          <a:latin typeface="Lato"/>
                          <a:ea typeface="Lato"/>
                          <a:cs typeface="Lato"/>
                        </a:rPr>
                        <a:t>R0.09–R0.40 per litre premium</a:t>
                      </a:r>
                    </a:p>
                  </a:txBody>
                  <a:tcPr marL="91440" marR="91440" marT="45720" marB="45720" anchor="t">
                    <a:solidFill>
                      <a:srgbClr val="FFFFFF"/>
                    </a:solidFill>
                  </a:tcPr>
                </a:tc>
                <a:tc>
                  <a:txBody>
                    <a:bodyPr/>
                    <a:lstStyle/>
                    <a:p>
                      <a:r>
                        <a:rPr sz="1350" b="0">
                          <a:solidFill>
                            <a:srgbClr val="11151A"/>
                          </a:solidFill>
                          <a:latin typeface="Lato"/>
                          <a:ea typeface="Lato"/>
                          <a:cs typeface="Lato"/>
                        </a:rPr>
                        <a:t>Zero to three delay days</a:t>
                      </a:r>
                    </a:p>
                  </a:txBody>
                  <a:tcPr marL="91440" marR="91440" marT="45720" marB="45720" anchor="t">
                    <a:solidFill>
                      <a:srgbClr val="FFFFFF"/>
                    </a:solidFill>
                  </a:tcPr>
                </a:tc>
              </a:tr>
              <a:tr h="643890">
                <a:tc>
                  <a:txBody>
                    <a:bodyPr/>
                    <a:lstStyle/>
                    <a:p>
                      <a:r>
                        <a:rPr sz="1350" b="1">
                          <a:solidFill>
                            <a:srgbClr val="0A2373"/>
                          </a:solidFill>
                          <a:latin typeface="Lato"/>
                          <a:ea typeface="Lato"/>
                          <a:cs typeface="Lato"/>
                        </a:rPr>
                        <a:t>Base incremental Mozambique flow</a:t>
                      </a:r>
                    </a:p>
                  </a:txBody>
                  <a:tcPr marL="91440" marR="91440" marT="45720" marB="45720" anchor="t">
                    <a:solidFill>
                      <a:srgbClr val="FFFFFF"/>
                    </a:solidFill>
                  </a:tcPr>
                </a:tc>
                <a:tc>
                  <a:txBody>
                    <a:bodyPr/>
                    <a:lstStyle/>
                    <a:p>
                      <a:r>
                        <a:rPr sz="1350" b="0">
                          <a:solidFill>
                            <a:srgbClr val="11151A"/>
                          </a:solidFill>
                          <a:latin typeface="Lato"/>
                          <a:ea typeface="Lato"/>
                          <a:cs typeface="Lato"/>
                        </a:rPr>
                        <a:t>0.20bn L by 2030</a:t>
                      </a:r>
                    </a:p>
                  </a:txBody>
                  <a:tcPr marL="91440" marR="91440" marT="45720" marB="45720" anchor="t">
                    <a:solidFill>
                      <a:srgbClr val="FFFFFF"/>
                    </a:solidFill>
                  </a:tcPr>
                </a:tc>
                <a:tc>
                  <a:txBody>
                    <a:bodyPr/>
                    <a:lstStyle/>
                    <a:p>
                      <a:r>
                        <a:rPr sz="1350" b="0">
                          <a:solidFill>
                            <a:srgbClr val="11151A"/>
                          </a:solidFill>
                          <a:latin typeface="Lato"/>
                          <a:ea typeface="Lato"/>
                          <a:cs typeface="Lato"/>
                        </a:rPr>
                        <a:t>About 15 additional loaded trucks/day over 330 days</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6CC7EA46-F7BE-4B7F-92A4-FAE34AABCBFD}"/>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Mozambique diversion changes the gateway serving demand. It does not reduce South Africa’s national import requirement.</a:t>
            </a:r>
          </a:p>
        </p:txBody>
      </p:sp>
      <p:graphicFrame xmlns:a="http://schemas.openxmlformats.org/drawingml/2006/main">
        <p:nvGraphicFramePr>
          <p:cNvPr id="5016"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Vopak’s capture depends on the accessible share of Durban imports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17</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Registered market_review.yaml and market_review.json, 10 October. Capture is total conditional flow, not incremental sales; domestic and other-terminal Lesedi receipts are outside this screen.</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3810000"/>
                <a:gridCol w="2333625"/>
                <a:gridCol w="4505325"/>
              </a:tblGrid>
              <a:tr h="400050">
                <a:tc>
                  <a:txBody>
                    <a:bodyPr/>
                    <a:lstStyle/>
                    <a:p>
                      <a:r>
                        <a:rPr sz="1350" b="1">
                          <a:solidFill>
                            <a:srgbClr val="0A2373"/>
                          </a:solidFill>
                          <a:latin typeface="Lato"/>
                          <a:ea typeface="Lato"/>
                          <a:cs typeface="Lato"/>
                        </a:rPr>
                        <a:t>Market / flow measure</a:t>
                      </a:r>
                    </a:p>
                  </a:txBody>
                  <a:tcPr marL="91440" marR="91440" marT="45720" marB="45720" anchor="t">
                    <a:solidFill>
                      <a:srgbClr val="F5F5F5"/>
                    </a:solidFill>
                  </a:tcPr>
                </a:tc>
                <a:tc>
                  <a:txBody>
                    <a:bodyPr/>
                    <a:lstStyle/>
                    <a:p>
                      <a:r>
                        <a:rPr sz="1350" b="1">
                          <a:solidFill>
                            <a:srgbClr val="0A2373"/>
                          </a:solidFill>
                          <a:latin typeface="Lato"/>
                          <a:ea typeface="Lato"/>
                          <a:cs typeface="Lato"/>
                        </a:rPr>
                        <a:t>Annual volume</a:t>
                      </a:r>
                    </a:p>
                  </a:txBody>
                  <a:tcPr marL="91440" marR="91440" marT="45720" marB="45720" anchor="t">
                    <a:solidFill>
                      <a:srgbClr val="F5F5F5"/>
                    </a:solidFill>
                  </a:tcPr>
                </a:tc>
                <a:tc>
                  <a:txBody>
                    <a:bodyPr/>
                    <a:lstStyle/>
                    <a:p>
                      <a:r>
                        <a:rPr sz="1350" b="1">
                          <a:solidFill>
                            <a:srgbClr val="0A2373"/>
                          </a:solidFill>
                          <a:latin typeface="Lato"/>
                          <a:ea typeface="Lato"/>
                          <a:cs typeface="Lato"/>
                        </a:rPr>
                        <a:t>Meaning for Vopak</a:t>
                      </a:r>
                    </a:p>
                  </a:txBody>
                  <a:tcPr marL="91440" marR="91440" marT="45720" marB="45720" anchor="t">
                    <a:solidFill>
                      <a:srgbClr val="F5F5F5"/>
                    </a:solidFill>
                  </a:tcPr>
                </a:tc>
              </a:tr>
              <a:tr h="643890">
                <a:tc>
                  <a:txBody>
                    <a:bodyPr/>
                    <a:lstStyle/>
                    <a:p>
                      <a:r>
                        <a:rPr sz="1350" b="1">
                          <a:solidFill>
                            <a:srgbClr val="0A2373"/>
                          </a:solidFill>
                          <a:latin typeface="Lato"/>
                          <a:ea typeface="Lato"/>
                          <a:cs typeface="Lato"/>
                        </a:rPr>
                        <a:t>National demand, 2025 estimate</a:t>
                      </a:r>
                    </a:p>
                  </a:txBody>
                  <a:tcPr marL="91440" marR="91440" marT="45720" marB="45720" anchor="t">
                    <a:solidFill>
                      <a:srgbClr val="FFFFFF"/>
                    </a:solidFill>
                  </a:tcPr>
                </a:tc>
                <a:tc>
                  <a:txBody>
                    <a:bodyPr/>
                    <a:lstStyle/>
                    <a:p>
                      <a:r>
                        <a:rPr sz="1350" b="0">
                          <a:solidFill>
                            <a:srgbClr val="11151A"/>
                          </a:solidFill>
                          <a:latin typeface="Lato"/>
                          <a:ea typeface="Lato"/>
                          <a:cs typeface="Lato"/>
                        </a:rPr>
                        <a:t>20.99bn litres</a:t>
                      </a:r>
                    </a:p>
                  </a:txBody>
                  <a:tcPr marL="91440" marR="91440" marT="45720" marB="45720" anchor="t">
                    <a:solidFill>
                      <a:srgbClr val="FFFFFF"/>
                    </a:solidFill>
                  </a:tcPr>
                </a:tc>
                <a:tc>
                  <a:txBody>
                    <a:bodyPr/>
                    <a:lstStyle/>
                    <a:p>
                      <a:r>
                        <a:rPr sz="1350" b="0">
                          <a:solidFill>
                            <a:srgbClr val="11151A"/>
                          </a:solidFill>
                          <a:latin typeface="Lato"/>
                          <a:ea typeface="Lato"/>
                          <a:cs typeface="Lato"/>
                        </a:rPr>
                        <a:t>Total consumption context</a:t>
                      </a:r>
                    </a:p>
                  </a:txBody>
                  <a:tcPr marL="91440" marR="91440" marT="45720" marB="45720" anchor="t">
                    <a:solidFill>
                      <a:srgbClr val="FFFFFF"/>
                    </a:solidFill>
                  </a:tcPr>
                </a:tc>
              </a:tr>
              <a:tr h="643890">
                <a:tc>
                  <a:txBody>
                    <a:bodyPr/>
                    <a:lstStyle/>
                    <a:p>
                      <a:r>
                        <a:rPr sz="1350" b="1">
                          <a:solidFill>
                            <a:srgbClr val="0A2373"/>
                          </a:solidFill>
                          <a:latin typeface="Lato"/>
                          <a:ea typeface="Lato"/>
                          <a:cs typeface="Lato"/>
                        </a:rPr>
                        <a:t>National gross imports, 2025</a:t>
                      </a:r>
                    </a:p>
                  </a:txBody>
                  <a:tcPr marL="91440" marR="91440" marT="45720" marB="45720" anchor="t">
                    <a:solidFill>
                      <a:srgbClr val="FFFFFF"/>
                    </a:solidFill>
                  </a:tcPr>
                </a:tc>
                <a:tc>
                  <a:txBody>
                    <a:bodyPr/>
                    <a:lstStyle/>
                    <a:p>
                      <a:r>
                        <a:rPr sz="1350" b="0">
                          <a:solidFill>
                            <a:srgbClr val="11151A"/>
                          </a:solidFill>
                          <a:latin typeface="Lato"/>
                          <a:ea typeface="Lato"/>
                          <a:cs typeface="Lato"/>
                        </a:rPr>
                        <a:t>16.70bn litres</a:t>
                      </a:r>
                    </a:p>
                  </a:txBody>
                  <a:tcPr marL="91440" marR="91440" marT="45720" marB="45720" anchor="t">
                    <a:solidFill>
                      <a:srgbClr val="FFFFFF"/>
                    </a:solidFill>
                  </a:tcPr>
                </a:tc>
                <a:tc>
                  <a:txBody>
                    <a:bodyPr/>
                    <a:lstStyle/>
                    <a:p>
                      <a:r>
                        <a:rPr sz="1350" b="0">
                          <a:solidFill>
                            <a:srgbClr val="11151A"/>
                          </a:solidFill>
                          <a:latin typeface="Lato"/>
                          <a:ea typeface="Lato"/>
                          <a:cs typeface="Lato"/>
                        </a:rPr>
                        <a:t>All recorded import gateways</a:t>
                      </a:r>
                    </a:p>
                  </a:txBody>
                  <a:tcPr marL="91440" marR="91440" marT="45720" marB="45720" anchor="t">
                    <a:solidFill>
                      <a:srgbClr val="FFFFFF"/>
                    </a:solidFill>
                  </a:tcPr>
                </a:tc>
              </a:tr>
              <a:tr h="643890">
                <a:tc>
                  <a:txBody>
                    <a:bodyPr/>
                    <a:lstStyle/>
                    <a:p>
                      <a:r>
                        <a:rPr sz="1350" b="1">
                          <a:solidFill>
                            <a:srgbClr val="0A2373"/>
                          </a:solidFill>
                          <a:latin typeface="Lato"/>
                          <a:ea typeface="Lato"/>
                          <a:cs typeface="Lato"/>
                        </a:rPr>
                        <a:t>Durban customs imports, 2025</a:t>
                      </a:r>
                    </a:p>
                  </a:txBody>
                  <a:tcPr marL="91440" marR="91440" marT="45720" marB="45720" anchor="t">
                    <a:solidFill>
                      <a:srgbClr val="FFFFFF"/>
                    </a:solidFill>
                  </a:tcPr>
                </a:tc>
                <a:tc>
                  <a:txBody>
                    <a:bodyPr/>
                    <a:lstStyle/>
                    <a:p>
                      <a:r>
                        <a:rPr sz="1350" b="0">
                          <a:solidFill>
                            <a:srgbClr val="11151A"/>
                          </a:solidFill>
                          <a:latin typeface="Lato"/>
                          <a:ea typeface="Lato"/>
                          <a:cs typeface="Lato"/>
                        </a:rPr>
                        <a:t>13.16bn litres</a:t>
                      </a:r>
                    </a:p>
                  </a:txBody>
                  <a:tcPr marL="91440" marR="91440" marT="45720" marB="45720" anchor="t">
                    <a:solidFill>
                      <a:srgbClr val="FFFFFF"/>
                    </a:solidFill>
                  </a:tcPr>
                </a:tc>
                <a:tc>
                  <a:txBody>
                    <a:bodyPr/>
                    <a:lstStyle/>
                    <a:p>
                      <a:r>
                        <a:rPr sz="1350" b="0">
                          <a:solidFill>
                            <a:srgbClr val="11151A"/>
                          </a:solidFill>
                          <a:latin typeface="Lato"/>
                          <a:ea typeface="Lato"/>
                          <a:cs typeface="Lato"/>
                        </a:rPr>
                        <a:t>Gateway proxy before customer and route allocation</a:t>
                      </a:r>
                    </a:p>
                  </a:txBody>
                  <a:tcPr marL="91440" marR="91440" marT="45720" marB="45720" anchor="t">
                    <a:solidFill>
                      <a:srgbClr val="FFFFFF"/>
                    </a:solidFill>
                  </a:tcPr>
                </a:tc>
              </a:tr>
              <a:tr h="643890">
                <a:tc>
                  <a:txBody>
                    <a:bodyPr/>
                    <a:lstStyle/>
                    <a:p>
                      <a:r>
                        <a:rPr sz="1350" b="1">
                          <a:solidFill>
                            <a:srgbClr val="0A2373"/>
                          </a:solidFill>
                          <a:latin typeface="Lato"/>
                          <a:ea typeface="Lato"/>
                          <a:cs typeface="Lato"/>
                        </a:rPr>
                        <a:t>Illustrative Durban capture</a:t>
                      </a:r>
                    </a:p>
                  </a:txBody>
                  <a:tcPr marL="91440" marR="91440" marT="45720" marB="45720" anchor="t">
                    <a:solidFill>
                      <a:srgbClr val="FFFFFF"/>
                    </a:solidFill>
                  </a:tcPr>
                </a:tc>
                <a:tc>
                  <a:txBody>
                    <a:bodyPr/>
                    <a:lstStyle/>
                    <a:p>
                      <a:r>
                        <a:rPr sz="1350" b="0">
                          <a:solidFill>
                            <a:srgbClr val="11151A"/>
                          </a:solidFill>
                          <a:latin typeface="Lato"/>
                          <a:ea typeface="Lato"/>
                          <a:cs typeface="Lato"/>
                        </a:rPr>
                        <a:t>2.63bn litres</a:t>
                      </a:r>
                    </a:p>
                  </a:txBody>
                  <a:tcPr marL="91440" marR="91440" marT="45720" marB="45720" anchor="t">
                    <a:solidFill>
                      <a:srgbClr val="FFFFFF"/>
                    </a:solidFill>
                  </a:tcPr>
                </a:tc>
                <a:tc>
                  <a:txBody>
                    <a:bodyPr/>
                    <a:lstStyle/>
                    <a:p>
                      <a:r>
                        <a:rPr sz="1350" b="0">
                          <a:solidFill>
                            <a:srgbClr val="11151A"/>
                          </a:solidFill>
                          <a:latin typeface="Lato"/>
                          <a:ea typeface="Lato"/>
                          <a:cs typeface="Lato"/>
                        </a:rPr>
                        <a:t>20% of Durban gateway volume; no contracted share inferred</a:t>
                      </a:r>
                    </a:p>
                  </a:txBody>
                  <a:tcPr marL="91440" marR="91440" marT="45720" marB="45720" anchor="t">
                    <a:solidFill>
                      <a:srgbClr val="FFFFFF"/>
                    </a:solidFill>
                  </a:tcPr>
                </a:tc>
              </a:tr>
              <a:tr h="643890">
                <a:tc>
                  <a:txBody>
                    <a:bodyPr/>
                    <a:lstStyle/>
                    <a:p>
                      <a:r>
                        <a:rPr sz="1350" b="1">
                          <a:solidFill>
                            <a:srgbClr val="0A2373"/>
                          </a:solidFill>
                          <a:latin typeface="Lato"/>
                          <a:ea typeface="Lato"/>
                          <a:cs typeface="Lato"/>
                        </a:rPr>
                        <a:t>Illustrative onward Lesedi flow</a:t>
                      </a:r>
                    </a:p>
                  </a:txBody>
                  <a:tcPr marL="91440" marR="91440" marT="45720" marB="45720" anchor="t">
                    <a:solidFill>
                      <a:srgbClr val="FFFFFF"/>
                    </a:solidFill>
                  </a:tcPr>
                </a:tc>
                <a:tc>
                  <a:txBody>
                    <a:bodyPr/>
                    <a:lstStyle/>
                    <a:p>
                      <a:r>
                        <a:rPr sz="1350" b="0">
                          <a:solidFill>
                            <a:srgbClr val="11151A"/>
                          </a:solidFill>
                          <a:latin typeface="Lato"/>
                          <a:ea typeface="Lato"/>
                          <a:cs typeface="Lato"/>
                        </a:rPr>
                        <a:t>1.32bn litres</a:t>
                      </a:r>
                    </a:p>
                  </a:txBody>
                  <a:tcPr marL="91440" marR="91440" marT="45720" marB="45720" anchor="t">
                    <a:solidFill>
                      <a:srgbClr val="FFFFFF"/>
                    </a:solidFill>
                  </a:tcPr>
                </a:tc>
                <a:tc>
                  <a:txBody>
                    <a:bodyPr/>
                    <a:lstStyle/>
                    <a:p>
                      <a:r>
                        <a:rPr sz="1350" b="0">
                          <a:solidFill>
                            <a:srgbClr val="11151A"/>
                          </a:solidFill>
                          <a:latin typeface="Lato"/>
                          <a:ea typeface="Lato"/>
                          <a:cs typeface="Lato"/>
                        </a:rPr>
                        <a:t>50% of captured Durban flow; counted within the same fuel volume</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39F713A3-21BD-483B-9C7D-C9391ED8B4B3}"/>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The illustrative unique flow is 2.63bn litres. Adding Lesedi would double-count fuel handled at both sites.</a:t>
            </a:r>
          </a:p>
        </p:txBody>
      </p:sp>
      <p:graphicFrame xmlns:a="http://schemas.openxmlformats.org/drawingml/2006/main">
        <p:nvGraphicFramePr>
          <p:cNvPr id="5017"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The illustrative capture case fits the tank-turn screen, making usable capacity the next test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18</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Registered terminal_site_assumptions.csv and market_review.json. Durban working subset is not the full terminal; access, peaks and current throughput remain open.</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2000250"/>
                <a:gridCol w="2190750"/>
                <a:gridCol w="2190750"/>
                <a:gridCol w="4267200"/>
              </a:tblGrid>
              <a:tr h="400050">
                <a:tc>
                  <a:txBody>
                    <a:bodyPr/>
                    <a:lstStyle/>
                    <a:p>
                      <a:r>
                        <a:rPr sz="1425" b="1">
                          <a:solidFill>
                            <a:srgbClr val="0A2373"/>
                          </a:solidFill>
                          <a:latin typeface="Lato"/>
                          <a:ea typeface="Lato"/>
                          <a:cs typeface="Lato"/>
                        </a:rPr>
                        <a:t>Site</a:t>
                      </a:r>
                    </a:p>
                  </a:txBody>
                  <a:tcPr marL="91440" marR="91440" marT="45720" marB="45720" anchor="t">
                    <a:solidFill>
                      <a:srgbClr val="F5F5F5"/>
                    </a:solidFill>
                  </a:tcPr>
                </a:tc>
                <a:tc>
                  <a:txBody>
                    <a:bodyPr/>
                    <a:lstStyle/>
                    <a:p>
                      <a:r>
                        <a:rPr sz="1425" b="1">
                          <a:solidFill>
                            <a:srgbClr val="0A2373"/>
                          </a:solidFill>
                          <a:latin typeface="Lato"/>
                          <a:ea typeface="Lato"/>
                          <a:cs typeface="Lato"/>
                        </a:rPr>
                        <a:t>Illustrative flow</a:t>
                      </a:r>
                    </a:p>
                    <a:p>
                      <a:r>
                        <a:rPr sz="1425" b="1">
                          <a:solidFill>
                            <a:srgbClr val="0A2373"/>
                          </a:solidFill>
                          <a:latin typeface="Lato"/>
                          <a:ea typeface="Lato"/>
                          <a:cs typeface="Lato"/>
                        </a:rPr>
                        <a:t>bn L/year</a:t>
                      </a:r>
                    </a:p>
                  </a:txBody>
                  <a:tcPr marL="91440" marR="91440" marT="45720" marB="45720" anchor="t">
                    <a:solidFill>
                      <a:srgbClr val="F5F5F5"/>
                    </a:solidFill>
                  </a:tcPr>
                </a:tc>
                <a:tc>
                  <a:txBody>
                    <a:bodyPr/>
                    <a:lstStyle/>
                    <a:p>
                      <a:r>
                        <a:rPr sz="1425" b="1">
                          <a:solidFill>
                            <a:srgbClr val="0A2373"/>
                          </a:solidFill>
                          <a:latin typeface="Lato"/>
                          <a:ea typeface="Lato"/>
                          <a:cs typeface="Lato"/>
                        </a:rPr>
                        <a:t>Handling screen</a:t>
                      </a:r>
                    </a:p>
                    <a:p>
                      <a:r>
                        <a:rPr sz="1425" b="1">
                          <a:solidFill>
                            <a:srgbClr val="0A2373"/>
                          </a:solidFill>
                          <a:latin typeface="Lato"/>
                          <a:ea typeface="Lato"/>
                          <a:cs typeface="Lato"/>
                        </a:rPr>
                        <a:t>bn L/year</a:t>
                      </a:r>
                    </a:p>
                  </a:txBody>
                  <a:tcPr marL="91440" marR="91440" marT="45720" marB="45720" anchor="t">
                    <a:solidFill>
                      <a:srgbClr val="F5F5F5"/>
                    </a:solidFill>
                  </a:tcPr>
                </a:tc>
                <a:tc>
                  <a:txBody>
                    <a:bodyPr/>
                    <a:lstStyle/>
                    <a:p>
                      <a:r>
                        <a:rPr sz="1425" b="1">
                          <a:solidFill>
                            <a:srgbClr val="0A2373"/>
                          </a:solidFill>
                          <a:latin typeface="Lato"/>
                          <a:ea typeface="Lato"/>
                          <a:cs typeface="Lato"/>
                        </a:rPr>
                        <a:t>Operating basis</a:t>
                      </a:r>
                    </a:p>
                  </a:txBody>
                  <a:tcPr marL="91440" marR="91440" marT="45720" marB="45720" anchor="t">
                    <a:solidFill>
                      <a:srgbClr val="F5F5F5"/>
                    </a:solidFill>
                  </a:tcPr>
                </a:tc>
              </a:tr>
              <a:tr h="1073150">
                <a:tc>
                  <a:txBody>
                    <a:bodyPr/>
                    <a:lstStyle/>
                    <a:p>
                      <a:r>
                        <a:rPr sz="1425" b="1">
                          <a:solidFill>
                            <a:srgbClr val="0A2373"/>
                          </a:solidFill>
                          <a:latin typeface="Lato"/>
                          <a:ea typeface="Lato"/>
                          <a:cs typeface="Lato"/>
                        </a:rPr>
                        <a:t>Durban</a:t>
                      </a:r>
                    </a:p>
                  </a:txBody>
                  <a:tcPr marL="91440" marR="91440" marT="45720" marB="45720" anchor="t">
                    <a:solidFill>
                      <a:srgbClr val="FFFFFF"/>
                    </a:solidFill>
                  </a:tcPr>
                </a:tc>
                <a:tc>
                  <a:txBody>
                    <a:bodyPr/>
                    <a:lstStyle/>
                    <a:p>
                      <a:r>
                        <a:rPr sz="1425" b="0">
                          <a:solidFill>
                            <a:srgbClr val="11151A"/>
                          </a:solidFill>
                          <a:latin typeface="Lato"/>
                          <a:ea typeface="Lato"/>
                          <a:cs typeface="Lato"/>
                        </a:rPr>
                        <a:t>2.63</a:t>
                      </a:r>
                    </a:p>
                  </a:txBody>
                  <a:tcPr marL="91440" marR="91440" marT="45720" marB="45720" anchor="t">
                    <a:solidFill>
                      <a:srgbClr val="FFFFFF"/>
                    </a:solidFill>
                  </a:tcPr>
                </a:tc>
                <a:tc>
                  <a:txBody>
                    <a:bodyPr/>
                    <a:lstStyle/>
                    <a:p>
                      <a:r>
                        <a:rPr sz="1425" b="0">
                          <a:solidFill>
                            <a:srgbClr val="11151A"/>
                          </a:solidFill>
                          <a:latin typeface="Lato"/>
                          <a:ea typeface="Lato"/>
                          <a:cs typeface="Lato"/>
                        </a:rPr>
                        <a:t>3.50</a:t>
                      </a:r>
                    </a:p>
                  </a:txBody>
                  <a:tcPr marL="91440" marR="91440" marT="45720" marB="45720" anchor="t">
                    <a:solidFill>
                      <a:srgbClr val="FFFFFF"/>
                    </a:solidFill>
                  </a:tcPr>
                </a:tc>
                <a:tc>
                  <a:txBody>
                    <a:bodyPr/>
                    <a:lstStyle/>
                    <a:p>
                      <a:r>
                        <a:rPr sz="1425" b="0">
                          <a:solidFill>
                            <a:srgbClr val="11151A"/>
                          </a:solidFill>
                          <a:latin typeface="Lato"/>
                          <a:ea typeface="Lato"/>
                          <a:cs typeface="Lato"/>
                        </a:rPr>
                        <a:t>146,000m³ estimated working subset; two turns/month</a:t>
                      </a:r>
                    </a:p>
                  </a:txBody>
                  <a:tcPr marL="91440" marR="91440" marT="45720" marB="45720" anchor="t">
                    <a:solidFill>
                      <a:srgbClr val="FFFFFF"/>
                    </a:solidFill>
                  </a:tcPr>
                </a:tc>
              </a:tr>
              <a:tr h="1073150">
                <a:tc>
                  <a:txBody>
                    <a:bodyPr/>
                    <a:lstStyle/>
                    <a:p>
                      <a:r>
                        <a:rPr sz="1425" b="1">
                          <a:solidFill>
                            <a:srgbClr val="0A2373"/>
                          </a:solidFill>
                          <a:latin typeface="Lato"/>
                          <a:ea typeface="Lato"/>
                          <a:cs typeface="Lato"/>
                        </a:rPr>
                        <a:t>Lesedi</a:t>
                      </a:r>
                    </a:p>
                  </a:txBody>
                  <a:tcPr marL="91440" marR="91440" marT="45720" marB="45720" anchor="t">
                    <a:solidFill>
                      <a:srgbClr val="FFFFFF"/>
                    </a:solidFill>
                  </a:tcPr>
                </a:tc>
                <a:tc>
                  <a:txBody>
                    <a:bodyPr/>
                    <a:lstStyle/>
                    <a:p>
                      <a:r>
                        <a:rPr sz="1425" b="0">
                          <a:solidFill>
                            <a:srgbClr val="11151A"/>
                          </a:solidFill>
                          <a:latin typeface="Lato"/>
                          <a:ea typeface="Lato"/>
                          <a:cs typeface="Lato"/>
                        </a:rPr>
                        <a:t>1.32</a:t>
                      </a:r>
                    </a:p>
                  </a:txBody>
                  <a:tcPr marL="91440" marR="91440" marT="45720" marB="45720" anchor="t">
                    <a:solidFill>
                      <a:srgbClr val="FFFFFF"/>
                    </a:solidFill>
                  </a:tcPr>
                </a:tc>
                <a:tc>
                  <a:txBody>
                    <a:bodyPr/>
                    <a:lstStyle/>
                    <a:p>
                      <a:r>
                        <a:rPr sz="1425" b="0">
                          <a:solidFill>
                            <a:srgbClr val="11151A"/>
                          </a:solidFill>
                          <a:latin typeface="Lato"/>
                          <a:ea typeface="Lato"/>
                          <a:cs typeface="Lato"/>
                        </a:rPr>
                        <a:t>2.98</a:t>
                      </a:r>
                    </a:p>
                  </a:txBody>
                  <a:tcPr marL="91440" marR="91440" marT="45720" marB="45720" anchor="t">
                    <a:solidFill>
                      <a:srgbClr val="FFFFFF"/>
                    </a:solidFill>
                  </a:tcPr>
                </a:tc>
                <a:tc>
                  <a:txBody>
                    <a:bodyPr/>
                    <a:lstStyle/>
                    <a:p>
                      <a:r>
                        <a:rPr sz="1425" b="0">
                          <a:solidFill>
                            <a:srgbClr val="11151A"/>
                          </a:solidFill>
                          <a:latin typeface="Lato"/>
                          <a:ea typeface="Lato"/>
                          <a:cs typeface="Lato"/>
                        </a:rPr>
                        <a:t>124,000m³ working capacity, partly estimated; two turns/month</a:t>
                      </a:r>
                    </a:p>
                  </a:txBody>
                  <a:tcPr marL="91440" marR="91440" marT="45720" marB="45720" anchor="t">
                    <a:solidFill>
                      <a:srgbClr val="FFFFFF"/>
                    </a:solidFill>
                  </a:tcPr>
                </a:tc>
              </a:tr>
              <a:tr h="1073150">
                <a:tc>
                  <a:txBody>
                    <a:bodyPr/>
                    <a:lstStyle/>
                    <a:p>
                      <a:r>
                        <a:rPr sz="1425" b="1">
                          <a:solidFill>
                            <a:srgbClr val="0A2373"/>
                          </a:solidFill>
                          <a:latin typeface="Lato"/>
                          <a:ea typeface="Lato"/>
                          <a:cs typeface="Lato"/>
                        </a:rPr>
                        <a:t>Investment test</a:t>
                      </a:r>
                    </a:p>
                  </a:txBody>
                  <a:tcPr marL="91440" marR="91440" marT="45720" marB="45720" anchor="t">
                    <a:solidFill>
                      <a:srgbClr val="FFFFFF"/>
                    </a:solidFill>
                  </a:tcPr>
                </a:tc>
                <a:tc>
                  <a:txBody>
                    <a:bodyPr/>
                    <a:lstStyle/>
                    <a:p>
                      <a:r>
                        <a:rPr sz="1425" b="0">
                          <a:solidFill>
                            <a:srgbClr val="11151A"/>
                          </a:solidFill>
                          <a:latin typeface="Lato"/>
                          <a:ea typeface="Lato"/>
                          <a:cs typeface="Lato"/>
                        </a:rPr>
                        <a:t>Incremental contracts</a:t>
                      </a:r>
                    </a:p>
                  </a:txBody>
                  <a:tcPr marL="91440" marR="91440" marT="45720" marB="45720" anchor="t">
                    <a:solidFill>
                      <a:srgbClr val="FFFFFF"/>
                    </a:solidFill>
                  </a:tcPr>
                </a:tc>
                <a:tc>
                  <a:txBody>
                    <a:bodyPr/>
                    <a:lstStyle/>
                    <a:p>
                      <a:r>
                        <a:rPr sz="1425" b="0">
                          <a:solidFill>
                            <a:srgbClr val="11151A"/>
                          </a:solidFill>
                          <a:latin typeface="Lato"/>
                          <a:ea typeface="Lato"/>
                          <a:cs typeface="Lato"/>
                        </a:rPr>
                        <a:t>Actual constraint</a:t>
                      </a:r>
                    </a:p>
                  </a:txBody>
                  <a:tcPr marL="91440" marR="91440" marT="45720" marB="45720" anchor="t">
                    <a:solidFill>
                      <a:srgbClr val="FFFFFF"/>
                    </a:solidFill>
                  </a:tcPr>
                </a:tc>
                <a:tc>
                  <a:txBody>
                    <a:bodyPr/>
                    <a:lstStyle/>
                    <a:p>
                      <a:r>
                        <a:rPr sz="1425" b="0">
                          <a:solidFill>
                            <a:srgbClr val="11151A"/>
                          </a:solidFill>
                          <a:latin typeface="Lato"/>
                          <a:ea typeface="Lato"/>
                          <a:cs typeface="Lato"/>
                        </a:rPr>
                        <a:t>Receipt, product segregation, dispatch, pipeline access and peak demand</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D376DD25-E146-4FF3-AABF-F3D2B421F08C}"/>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Working-tank arithmetic screens feasibility. Engineering limits and current customer flows determine actual headroom.</a:t>
            </a:r>
          </a:p>
        </p:txBody>
      </p:sp>
      <p:graphicFrame xmlns:a="http://schemas.openxmlformats.org/drawingml/2006/main">
        <p:nvGraphicFramePr>
          <p:cNvPr id="5018"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The market supports an import platform; customer capture and capacity constraints govern investment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19</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2025 analytical workbook v02: registered demand assumptions and user-directed 5.8bn L domestic production case. Estimates are not reported actuals.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2905125"/>
                <a:gridCol w="3524250"/>
                <a:gridCol w="4219575"/>
              </a:tblGrid>
              <a:tr h="400050">
                <a:tc>
                  <a:txBody>
                    <a:bodyPr/>
                    <a:lstStyle/>
                    <a:p>
                      <a:r>
                        <a:rPr sz="1350" b="1">
                          <a:solidFill>
                            <a:srgbClr val="0A2373"/>
                          </a:solidFill>
                          <a:latin typeface="Lato"/>
                          <a:ea typeface="Lato"/>
                          <a:cs typeface="Lato"/>
                        </a:rPr>
                        <a:t>Conclusion</a:t>
                      </a:r>
                    </a:p>
                  </a:txBody>
                  <a:tcPr marL="91440" marR="91440" marT="45720" marB="45720" anchor="t">
                    <a:solidFill>
                      <a:srgbClr val="F5F5F5"/>
                    </a:solidFill>
                  </a:tcPr>
                </a:tc>
                <a:tc>
                  <a:txBody>
                    <a:bodyPr/>
                    <a:lstStyle/>
                    <a:p>
                      <a:r>
                        <a:rPr sz="1350" b="1">
                          <a:solidFill>
                            <a:srgbClr val="0A2373"/>
                          </a:solidFill>
                          <a:latin typeface="Lato"/>
                          <a:ea typeface="Lato"/>
                          <a:cs typeface="Lato"/>
                        </a:rPr>
                        <a:t>Evidence from this story</a:t>
                      </a:r>
                    </a:p>
                  </a:txBody>
                  <a:tcPr marL="91440" marR="91440" marT="45720" marB="45720" anchor="t">
                    <a:solidFill>
                      <a:srgbClr val="F5F5F5"/>
                    </a:solidFill>
                  </a:tcPr>
                </a:tc>
                <a:tc>
                  <a:txBody>
                    <a:bodyPr/>
                    <a:lstStyle/>
                    <a:p>
                      <a:r>
                        <a:rPr sz="1350" b="1">
                          <a:solidFill>
                            <a:srgbClr val="0A2373"/>
                          </a:solidFill>
                          <a:latin typeface="Lato"/>
                          <a:ea typeface="Lato"/>
                          <a:cs typeface="Lato"/>
                        </a:rPr>
                        <a:t>Decision implication</a:t>
                      </a:r>
                    </a:p>
                  </a:txBody>
                  <a:tcPr marL="91440" marR="91440" marT="45720" marB="45720" anchor="t">
                    <a:solidFill>
                      <a:srgbClr val="F5F5F5"/>
                    </a:solidFill>
                  </a:tcPr>
                </a:tc>
              </a:tr>
              <a:tr h="804863">
                <a:tc>
                  <a:txBody>
                    <a:bodyPr/>
                    <a:lstStyle/>
                    <a:p>
                      <a:r>
                        <a:rPr sz="1350" b="1">
                          <a:solidFill>
                            <a:srgbClr val="0A2373"/>
                          </a:solidFill>
                          <a:latin typeface="Lato"/>
                          <a:ea typeface="Lato"/>
                          <a:cs typeface="Lato"/>
                        </a:rPr>
                        <a:t>A substantial demand base</a:t>
                      </a:r>
                    </a:p>
                  </a:txBody>
                  <a:tcPr marL="91440" marR="91440" marT="45720" marB="45720" anchor="t">
                    <a:solidFill>
                      <a:srgbClr val="FFFFFF"/>
                    </a:solidFill>
                  </a:tcPr>
                </a:tc>
                <a:tc>
                  <a:txBody>
                    <a:bodyPr/>
                    <a:lstStyle/>
                    <a:p>
                      <a:r>
                        <a:rPr sz="1350" b="0">
                          <a:solidFill>
                            <a:srgbClr val="11151A"/>
                          </a:solidFill>
                          <a:latin typeface="Lato"/>
                          <a:ea typeface="Lato"/>
                          <a:cs typeface="Lato"/>
                        </a:rPr>
                        <a:t>2025 estimated demand of 21.0bn litres</a:t>
                      </a:r>
                    </a:p>
                  </a:txBody>
                  <a:tcPr marL="91440" marR="91440" marT="45720" marB="45720" anchor="t">
                    <a:solidFill>
                      <a:srgbClr val="FFFFFF"/>
                    </a:solidFill>
                  </a:tcPr>
                </a:tc>
                <a:tc>
                  <a:txBody>
                    <a:bodyPr/>
                    <a:lstStyle/>
                    <a:p>
                      <a:r>
                        <a:rPr sz="1350" b="0">
                          <a:solidFill>
                            <a:srgbClr val="11151A"/>
                          </a:solidFill>
                          <a:latin typeface="Lato"/>
                          <a:ea typeface="Lato"/>
                          <a:cs typeface="Lato"/>
                        </a:rPr>
                        <a:t>Prioritise identifiable customer segments and destinations</a:t>
                      </a:r>
                    </a:p>
                  </a:txBody>
                  <a:tcPr marL="91440" marR="91440" marT="45720" marB="45720" anchor="t">
                    <a:solidFill>
                      <a:srgbClr val="FFFFFF"/>
                    </a:solidFill>
                  </a:tcPr>
                </a:tc>
              </a:tr>
              <a:tr h="804863">
                <a:tc>
                  <a:txBody>
                    <a:bodyPr/>
                    <a:lstStyle/>
                    <a:p>
                      <a:r>
                        <a:rPr sz="1350" b="1">
                          <a:solidFill>
                            <a:srgbClr val="0A2373"/>
                          </a:solidFill>
                          <a:latin typeface="Lato"/>
                          <a:ea typeface="Lato"/>
                          <a:cs typeface="Lato"/>
                        </a:rPr>
                        <a:t>Base imports remain substantial</a:t>
                      </a:r>
                    </a:p>
                  </a:txBody>
                  <a:tcPr marL="91440" marR="91440" marT="45720" marB="45720" anchor="t">
                    <a:solidFill>
                      <a:srgbClr val="FFFFFF"/>
                    </a:solidFill>
                  </a:tcPr>
                </a:tc>
                <a:tc>
                  <a:txBody>
                    <a:bodyPr/>
                    <a:lstStyle/>
                    <a:p>
                      <a:r>
                        <a:rPr sz="1350" b="0">
                          <a:solidFill>
                            <a:srgbClr val="11151A"/>
                          </a:solidFill>
                          <a:latin typeface="Lato"/>
                          <a:ea typeface="Lato"/>
                          <a:cs typeface="Lato"/>
                        </a:rPr>
                        <a:t>About 16.6bn litres in 2030 under the 5.8bn supply case</a:t>
                      </a:r>
                    </a:p>
                  </a:txBody>
                  <a:tcPr marL="91440" marR="91440" marT="45720" marB="45720" anchor="t">
                    <a:solidFill>
                      <a:srgbClr val="FFFFFF"/>
                    </a:solidFill>
                  </a:tcPr>
                </a:tc>
                <a:tc>
                  <a:txBody>
                    <a:bodyPr/>
                    <a:lstStyle/>
                    <a:p>
                      <a:r>
                        <a:rPr sz="1350" b="0">
                          <a:solidFill>
                            <a:srgbClr val="11151A"/>
                          </a:solidFill>
                          <a:latin typeface="Lato"/>
                          <a:ea typeface="Lato"/>
                          <a:cs typeface="Lato"/>
                        </a:rPr>
                        <a:t>Plan for ongoing imports; retain refinery sensitivities</a:t>
                      </a:r>
                    </a:p>
                  </a:txBody>
                  <a:tcPr marL="91440" marR="91440" marT="45720" marB="45720" anchor="t">
                    <a:solidFill>
                      <a:srgbClr val="FFFFFF"/>
                    </a:solidFill>
                  </a:tcPr>
                </a:tc>
              </a:tr>
              <a:tr h="804863">
                <a:tc>
                  <a:txBody>
                    <a:bodyPr/>
                    <a:lstStyle/>
                    <a:p>
                      <a:r>
                        <a:rPr sz="1350" b="1">
                          <a:solidFill>
                            <a:srgbClr val="0A2373"/>
                          </a:solidFill>
                          <a:latin typeface="Lato"/>
                          <a:ea typeface="Lato"/>
                          <a:cs typeface="Lato"/>
                        </a:rPr>
                        <a:t>Gateways compete for the same fuel</a:t>
                      </a:r>
                    </a:p>
                  </a:txBody>
                  <a:tcPr marL="91440" marR="91440" marT="45720" marB="45720" anchor="t">
                    <a:solidFill>
                      <a:srgbClr val="FFFFFF"/>
                    </a:solidFill>
                  </a:tcPr>
                </a:tc>
                <a:tc>
                  <a:txBody>
                    <a:bodyPr/>
                    <a:lstStyle/>
                    <a:p>
                      <a:r>
                        <a:rPr sz="1350" b="0">
                          <a:solidFill>
                            <a:srgbClr val="11151A"/>
                          </a:solidFill>
                          <a:latin typeface="Lato"/>
                          <a:ea typeface="Lato"/>
                          <a:cs typeface="Lato"/>
                        </a:rPr>
                        <a:t>Mozambique base diversion of 0.20bn L is a route assumption</a:t>
                      </a:r>
                    </a:p>
                  </a:txBody>
                  <a:tcPr marL="91440" marR="91440" marT="45720" marB="45720" anchor="t">
                    <a:solidFill>
                      <a:srgbClr val="FFFFFF"/>
                    </a:solidFill>
                  </a:tcPr>
                </a:tc>
                <a:tc>
                  <a:txBody>
                    <a:bodyPr/>
                    <a:lstStyle/>
                    <a:p>
                      <a:r>
                        <a:rPr sz="1350" b="0">
                          <a:solidFill>
                            <a:srgbClr val="11151A"/>
                          </a:solidFill>
                          <a:latin typeface="Lato"/>
                          <a:ea typeface="Lato"/>
                          <a:cs typeface="Lato"/>
                        </a:rPr>
                        <a:t>Validate delivered cost, service and customer access</a:t>
                      </a:r>
                    </a:p>
                  </a:txBody>
                  <a:tcPr marL="91440" marR="91440" marT="45720" marB="45720" anchor="t">
                    <a:solidFill>
                      <a:srgbClr val="FFFFFF"/>
                    </a:solidFill>
                  </a:tcPr>
                </a:tc>
              </a:tr>
              <a:tr h="804863">
                <a:tc>
                  <a:txBody>
                    <a:bodyPr/>
                    <a:lstStyle/>
                    <a:p>
                      <a:r>
                        <a:rPr sz="1350" b="1">
                          <a:solidFill>
                            <a:srgbClr val="0A2373"/>
                          </a:solidFill>
                          <a:latin typeface="Lato"/>
                          <a:ea typeface="Lato"/>
                          <a:cs typeface="Lato"/>
                        </a:rPr>
                        <a:t>Expansion follows incremental capture</a:t>
                      </a:r>
                    </a:p>
                  </a:txBody>
                  <a:tcPr marL="91440" marR="91440" marT="45720" marB="45720" anchor="t">
                    <a:solidFill>
                      <a:srgbClr val="FFFFFF"/>
                    </a:solidFill>
                  </a:tcPr>
                </a:tc>
                <a:tc>
                  <a:txBody>
                    <a:bodyPr/>
                    <a:lstStyle/>
                    <a:p>
                      <a:r>
                        <a:rPr sz="1350" b="0">
                          <a:solidFill>
                            <a:srgbClr val="11151A"/>
                          </a:solidFill>
                          <a:latin typeface="Lato"/>
                          <a:ea typeface="Lato"/>
                          <a:cs typeface="Lato"/>
                        </a:rPr>
                        <a:t>Illustrative 2.63bn L unique flow fits the tank-turn screen</a:t>
                      </a:r>
                    </a:p>
                  </a:txBody>
                  <a:tcPr marL="91440" marR="91440" marT="45720" marB="45720" anchor="t">
                    <a:solidFill>
                      <a:srgbClr val="FFFFFF"/>
                    </a:solidFill>
                  </a:tcPr>
                </a:tc>
                <a:tc>
                  <a:txBody>
                    <a:bodyPr/>
                    <a:lstStyle/>
                    <a:p>
                      <a:r>
                        <a:rPr sz="1350" b="0">
                          <a:solidFill>
                            <a:srgbClr val="11151A"/>
                          </a:solidFill>
                          <a:latin typeface="Lato"/>
                          <a:ea typeface="Lato"/>
                          <a:cs typeface="Lato"/>
                        </a:rPr>
                        <a:t>Secure additional volumes, prove the bottleneck, then compare improvement and expansion returns</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395A061D-CFCA-4300-98C5-0D94004E37B4}"/>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Next decisions: review the product balance, obtain route quotes and customer commitments, and establish usable capacity at both sites.</a:t>
            </a:r>
          </a:p>
        </p:txBody>
      </p:sp>
      <p:graphicFrame xmlns:a="http://schemas.openxmlformats.org/drawingml/2006/main">
        <p:nvGraphicFramePr>
          <p:cNvPr id="5019"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B89C0B-9C65-4A8A-AA1A-1B16A6CFB44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a:solidFill>
                  <a:schemeClr val="dk1"/>
                </a:solidFill>
                <a:latin typeface="Lato"/>
                <a:ea typeface="Lato"/>
                <a:cs typeface="Lato"/>
              </a:rPr>
              <a:t>HG’s South Africa storyline</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30C5375-C5BC-4994-A040-C2B9FB773F8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20</a:t>
            </a:r>
            <a:endParaRPr sz="1100"/>
          </a:p>
        </p:txBody>
      </p:sp>
      <p:sp>
        <p:nvSpPr>
          <p:cNvPr id="8" name="Unified source footer">
            <a:extLst xmlns:a="http://schemas.openxmlformats.org/drawingml/2006/main">
              <a:ext uri="{FF2B5EF4-FFF2-40B4-BE49-F238E27FC236}">
                <a16:creationId xmlns:a16="http://schemas.microsoft.com/office/drawing/2014/main" id="{15D4BEE9-50D7-488E-9F31-6371512319CF}"/>
              </a:ext>
            </a:extLst>
          </p:cNvPr>
          <p:cNvSpPr>
            <a:spLocks xmlns:a="http://schemas.openxmlformats.org/drawingml/2006/main" noGrp="1"/>
          </p:cNvSpPr>
          <p:nvPr/>
        </p:nvSpPr>
        <p:spPr>
          <a:xfrm xmlns:a="http://schemas.openxmlformats.org/drawingml/2006/main">
            <a:off x="457200" y="6172199"/>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Source: HG’s supplied storyboard, slides 30–32 (6 October 2026). Condensed framing; propositions and questions to investigate. Pages 2-19 present the current analytical response.</a:t>
            </a:r>
            <a:endParaRPr sz="650"/>
          </a:p>
        </p:txBody>
      </p:sp>
      <p:sp>
        <p:nvSpPr>
          <p:cNvPr id="48" name="Strictly Confidential footer">
            <a:extLst xmlns:a="http://schemas.openxmlformats.org/drawingml/2006/main">
              <a:ext uri="{FF2B5EF4-FFF2-40B4-BE49-F238E27FC236}">
                <a16:creationId xmlns:a16="http://schemas.microsoft.com/office/drawing/2014/main" id="{FA0CDA0B-279B-4ECE-AFE5-E9EE74F6CFE2}"/>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4" name=""/>
          <p:cNvGraphicFramePr/>
          <p:nvPr/>
        </p:nvGraphicFramePr>
        <p:xfrm>
          <a:off xmlns:a="http://schemas.openxmlformats.org/drawingml/2006/main" x="457200" y="1647825"/>
          <a:ext xmlns:a="http://schemas.openxmlformats.org/drawingml/2006/main" cx="10648950" cy="3638550"/>
        </p:xfrm>
        <a:graphic xmlns:a="http://schemas.openxmlformats.org/drawingml/2006/main">
          <a:graphicData uri="http://schemas.openxmlformats.org/drawingml/2006/table">
            <a:tbl>
              <a:tblPr firstRow="0" bandRow="0"/>
              <a:tblGrid>
                <a:gridCol w="3549968"/>
                <a:gridCol w="3549968"/>
                <a:gridCol w="3549015"/>
              </a:tblGrid>
              <a:tr h="419100">
                <a:tc>
                  <a:txBody>
                    <a:bodyPr/>
                    <a:lstStyle/>
                    <a:p>
                      <a:r>
                        <a:rPr sz="1350" b="1">
                          <a:solidFill>
                            <a:srgbClr val="0A2373"/>
                          </a:solidFill>
                          <a:latin typeface="Lato"/>
                          <a:ea typeface="Lato"/>
                          <a:cs typeface="Lato"/>
                        </a:rPr>
                        <a:t>SITUATION | The market and its drivers</a:t>
                      </a:r>
                    </a:p>
                  </a:txBody>
                  <a:tcPr marL="91440" marR="91440" marT="45720" marB="45720" anchor="t">
                    <a:solidFill>
                      <a:srgbClr val="FFFFFF"/>
                    </a:solidFill>
                  </a:tcPr>
                </a:tc>
                <a:tc>
                  <a:txBody>
                    <a:bodyPr/>
                    <a:lstStyle/>
                    <a:p>
                      <a:r>
                        <a:rPr sz="1350" b="1">
                          <a:solidFill>
                            <a:srgbClr val="0A2373"/>
                          </a:solidFill>
                          <a:latin typeface="Lato"/>
                          <a:ea typeface="Lato"/>
                          <a:cs typeface="Lato"/>
                        </a:rPr>
                        <a:t>COMPLICATION | Trends begin to reverse</a:t>
                      </a:r>
                    </a:p>
                  </a:txBody>
                  <a:tcPr marL="91440" marR="91440" marT="45720" marB="45720" anchor="t">
                    <a:solidFill>
                      <a:srgbClr val="FFFFFF"/>
                    </a:solidFill>
                  </a:tcPr>
                </a:tc>
                <a:tc>
                  <a:txBody>
                    <a:bodyPr/>
                    <a:lstStyle/>
                    <a:p>
                      <a:r>
                        <a:rPr sz="1350" b="1">
                          <a:solidFill>
                            <a:srgbClr val="0A2373"/>
                          </a:solidFill>
                          <a:latin typeface="Lato"/>
                          <a:ea typeface="Lato"/>
                          <a:cs typeface="Lato"/>
                        </a:rPr>
                        <a:t>RESOLUTION | Vopak’s outlook</a:t>
                      </a:r>
                    </a:p>
                  </a:txBody>
                  <a:tcPr marL="91440" marR="91440" marT="45720" marB="45720" anchor="t">
                    <a:solidFill>
                      <a:srgbClr val="FFFFFF"/>
                    </a:solidFill>
                  </a:tcPr>
                </a:tc>
              </a:tr>
              <a:tr h="3219450">
                <a:tc>
                  <a:txBody>
                    <a:bodyPr/>
                    <a:lstStyle/>
                    <a:p>
                      <a:r>
                        <a:rPr sz="1350" b="0">
                          <a:solidFill>
                            <a:srgbClr val="11151A"/>
                          </a:solidFill>
                          <a:latin typeface="Lato"/>
                          <a:ea typeface="Lato"/>
                          <a:cs typeface="Lato"/>
                        </a:rPr>
                        <a:t>Outline South African demand development and Vopak’s market of interest: eastern South Africa within economic reach of its storage infrastructure and NMPP.</a:t>
                      </a:r>
                    </a:p>
                    <a:p>
                      <a:r>
                        <a:rPr sz="1350" b="0">
                          <a:solidFill>
                            <a:srgbClr val="11151A"/>
                          </a:solidFill>
                          <a:latin typeface="Lato"/>
                          <a:ea typeface="Lato"/>
                          <a:cs typeface="Lato"/>
                        </a:rPr>
                        <a:t/>
                      </a:r>
                    </a:p>
                    <a:p>
                      <a:r>
                        <a:rPr sz="1350" b="0">
                          <a:solidFill>
                            <a:srgbClr val="11151A"/>
                          </a:solidFill>
                          <a:latin typeface="Lato"/>
                          <a:ea typeface="Lato"/>
                          <a:cs typeface="Lato"/>
                        </a:rPr>
                        <a:t>Explain the demand drivers: greater diesel use in power generation; rail to road; fuel prices; more efficient vehicles; and slow GDP growth.</a:t>
                      </a:r>
                    </a:p>
                    <a:p>
                      <a:r>
                        <a:rPr sz="1350" b="0">
                          <a:solidFill>
                            <a:srgbClr val="11151A"/>
                          </a:solidFill>
                          <a:latin typeface="Lato"/>
                          <a:ea typeface="Lato"/>
                          <a:cs typeface="Lato"/>
                        </a:rPr>
                        <a:t/>
                      </a:r>
                    </a:p>
                    <a:p>
                      <a:r>
                        <a:rPr sz="1350" b="0">
                          <a:solidFill>
                            <a:srgbClr val="11151A"/>
                          </a:solidFill>
                          <a:latin typeface="Lato"/>
                          <a:ea typeface="Lato"/>
                          <a:cs typeface="Lato"/>
                        </a:rPr>
                        <a:t>Outline the supply picture: refinery closures, challenges at Secunda and closure of Mossgas. Show growth in imports and where they enter.</a:t>
                      </a:r>
                    </a:p>
                  </a:txBody>
                  <a:tcPr marL="91440" marR="91440" marT="45720" marB="45720" anchor="t">
                    <a:solidFill>
                      <a:srgbClr val="FFFFFF"/>
                    </a:solidFill>
                  </a:tcPr>
                </a:tc>
                <a:tc>
                  <a:txBody>
                    <a:bodyPr/>
                    <a:lstStyle/>
                    <a:p>
                      <a:r>
                        <a:rPr sz="1350" b="0">
                          <a:solidFill>
                            <a:srgbClr val="11151A"/>
                          </a:solidFill>
                          <a:latin typeface="Lato"/>
                          <a:ea typeface="Lato"/>
                          <a:cs typeface="Lato"/>
                        </a:rPr>
                        <a:t>A number of trends that supported demand growth have started to reverse: road to rail; the end of loadshedding and spare generation capacity; EVs/HEVs; and higher fuel prices affecting kilometres travelled.</a:t>
                      </a:r>
                    </a:p>
                    <a:p>
                      <a:r>
                        <a:rPr sz="1350" b="0">
                          <a:solidFill>
                            <a:srgbClr val="11151A"/>
                          </a:solidFill>
                          <a:latin typeface="Lato"/>
                          <a:ea typeface="Lato"/>
                          <a:cs typeface="Lato"/>
                        </a:rPr>
                        <a:t/>
                      </a:r>
                    </a:p>
                    <a:p>
                      <a:r>
                        <a:rPr sz="1350" b="0">
                          <a:solidFill>
                            <a:srgbClr val="11151A"/>
                          </a:solidFill>
                          <a:latin typeface="Lato"/>
                          <a:ea typeface="Lato"/>
                          <a:cs typeface="Lato"/>
                        </a:rPr>
                        <a:t>Explore supply changes: a SAPREF restart; Secunda’s coal-derived gas, MRG sales and potential extension to 2032; and Natref’s future.</a:t>
                      </a:r>
                    </a:p>
                    <a:p>
                      <a:r>
                        <a:rPr sz="1350" b="0">
                          <a:solidFill>
                            <a:srgbClr val="11151A"/>
                          </a:solidFill>
                          <a:latin typeface="Lato"/>
                          <a:ea typeface="Lato"/>
                          <a:cs typeface="Lato"/>
                        </a:rPr>
                        <a:t/>
                      </a:r>
                    </a:p>
                    <a:p>
                      <a:r>
                        <a:rPr sz="1350" b="0">
                          <a:solidFill>
                            <a:srgbClr val="11151A"/>
                          </a:solidFill>
                          <a:latin typeface="Lato"/>
                          <a:ea typeface="Lato"/>
                          <a:cs typeface="Lato"/>
                        </a:rPr>
                        <a:t>Compare Durban storage–NMPP–Lesedi with road/rail from Durban, transport from Matola and transport from Walvis Bay.</a:t>
                      </a:r>
                    </a:p>
                  </a:txBody>
                  <a:tcPr marL="91440" marR="91440" marT="45720" marB="45720" anchor="t">
                    <a:solidFill>
                      <a:srgbClr val="FFFFFF"/>
                    </a:solidFill>
                  </a:tcPr>
                </a:tc>
                <a:tc>
                  <a:txBody>
                    <a:bodyPr/>
                    <a:lstStyle/>
                    <a:p>
                      <a:r>
                        <a:rPr sz="1350" b="0">
                          <a:solidFill>
                            <a:srgbClr val="11151A"/>
                          </a:solidFill>
                          <a:latin typeface="Lato"/>
                          <a:ea typeface="Lato"/>
                          <a:cs typeface="Lato"/>
                        </a:rPr>
                        <a:t>Market share of Vopak in Durban and Lesedi</a:t>
                      </a:r>
                    </a:p>
                    <a:p>
                      <a:r>
                        <a:rPr sz="1350" b="0">
                          <a:solidFill>
                            <a:srgbClr val="11151A"/>
                          </a:solidFill>
                          <a:latin typeface="Lato"/>
                          <a:ea typeface="Lato"/>
                          <a:cs typeface="Lato"/>
                        </a:rPr>
                        <a:t/>
                      </a:r>
                    </a:p>
                    <a:p>
                      <a:r>
                        <a:rPr sz="1350" b="0">
                          <a:solidFill>
                            <a:srgbClr val="11151A"/>
                          </a:solidFill>
                          <a:latin typeface="Lato"/>
                          <a:ea typeface="Lato"/>
                          <a:cs typeface="Lato"/>
                        </a:rPr>
                        <a:t>Potential scope for new investment?</a:t>
                      </a:r>
                    </a:p>
                  </a:txBody>
                  <a:tcPr marL="91440" marR="91440" marT="45720" marB="45720" anchor="t">
                    <a:solidFill>
                      <a:srgbClr val="FFFFFF"/>
                    </a:solidFill>
                  </a:tcPr>
                </a:tc>
              </a:tr>
            </a:tbl>
          </a:graphicData>
        </a:graphic>
      </p:graphicFrame>
      <p:graphicFrame xmlns:a="http://schemas.openxmlformats.org/drawingml/2006/main">
        <p:nvGraphicFramePr>
          <p:cNvPr id="5020" name="brand-pptx section navigation">
            <a:extLst>
              <a:ext uri="{FF2B5EF4-FFF2-40B4-BE49-F238E27FC236}">
                <a16:creationId xmlns:a16="http://schemas.microsoft.com/office/drawing/2014/main" id="{E84A3441-E5C5-E6E9-435C-D2DCE47C1BB3}"/>
              </a:ext>
            </a:extLst>
          </p:cNvPr>
          <p:cNvGraphicFramePr/>
          <p:nvPr>
            <p:extLst>
              <p:ext uri="{D42A27DB-BD31-4B8C-83A1-F6EECF244321}">
                <p14:modId xmlns:p14="http://schemas.microsoft.com/office/powerpoint/2010/main" val="91527182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201926275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The national supply assumption closes the total balance but leaves the product mix unresolved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21</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Supply assumption and Balance. Original plant estimate: Secunda 3.95, Natref 2.37, Astron 3.91bn L; 10.23bn total. These do not govern the directed case.</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4953000"/>
                <a:gridCol w="1895475"/>
                <a:gridCol w="1895475"/>
                <a:gridCol w="1905000"/>
              </a:tblGrid>
              <a:tr h="400050">
                <a:tc>
                  <a:txBody>
                    <a:bodyPr/>
                    <a:lstStyle/>
                    <a:p>
                      <a:r>
                        <a:rPr sz="1350" b="1">
                          <a:solidFill>
                            <a:srgbClr val="0A2373"/>
                          </a:solidFill>
                          <a:latin typeface="Lato"/>
                          <a:ea typeface="Lato"/>
                          <a:cs typeface="Lato"/>
                        </a:rPr>
                        <a:t>2025 measure</a:t>
                      </a:r>
                    </a:p>
                  </a:txBody>
                  <a:tcPr marL="91440" marR="91440" marT="45720" marB="45720" anchor="t">
                    <a:solidFill>
                      <a:srgbClr val="F5F5F5"/>
                    </a:solidFill>
                  </a:tcPr>
                </a:tc>
                <a:tc>
                  <a:txBody>
                    <a:bodyPr/>
                    <a:lstStyle/>
                    <a:p>
                      <a:r>
                        <a:rPr sz="1350" b="1">
                          <a:solidFill>
                            <a:srgbClr val="0A2373"/>
                          </a:solidFill>
                          <a:latin typeface="Lato"/>
                          <a:ea typeface="Lato"/>
                          <a:cs typeface="Lato"/>
                        </a:rPr>
                        <a:t>Petrol bn L</a:t>
                      </a:r>
                    </a:p>
                  </a:txBody>
                  <a:tcPr marL="91440" marR="91440" marT="45720" marB="45720" anchor="t">
                    <a:solidFill>
                      <a:srgbClr val="F5F5F5"/>
                    </a:solidFill>
                  </a:tcPr>
                </a:tc>
                <a:tc>
                  <a:txBody>
                    <a:bodyPr/>
                    <a:lstStyle/>
                    <a:p>
                      <a:r>
                        <a:rPr sz="1350" b="1">
                          <a:solidFill>
                            <a:srgbClr val="0A2373"/>
                          </a:solidFill>
                          <a:latin typeface="Lato"/>
                          <a:ea typeface="Lato"/>
                          <a:cs typeface="Lato"/>
                        </a:rPr>
                        <a:t>Diesel bn L</a:t>
                      </a:r>
                    </a:p>
                  </a:txBody>
                  <a:tcPr marL="91440" marR="91440" marT="45720" marB="45720" anchor="t">
                    <a:solidFill>
                      <a:srgbClr val="F5F5F5"/>
                    </a:solidFill>
                  </a:tcPr>
                </a:tc>
                <a:tc>
                  <a:txBody>
                    <a:bodyPr/>
                    <a:lstStyle/>
                    <a:p>
                      <a:r>
                        <a:rPr sz="1350" b="1">
                          <a:solidFill>
                            <a:srgbClr val="0A2373"/>
                          </a:solidFill>
                          <a:latin typeface="Lato"/>
                          <a:ea typeface="Lato"/>
                          <a:cs typeface="Lato"/>
                        </a:rPr>
                        <a:t>Total bn L</a:t>
                      </a:r>
                    </a:p>
                  </a:txBody>
                  <a:tcPr marL="91440" marR="91440" marT="45720" marB="45720" anchor="t">
                    <a:solidFill>
                      <a:srgbClr val="F5F5F5"/>
                    </a:solidFill>
                  </a:tcPr>
                </a:tc>
              </a:tr>
              <a:tr h="536575">
                <a:tc>
                  <a:txBody>
                    <a:bodyPr/>
                    <a:lstStyle/>
                    <a:p>
                      <a:r>
                        <a:rPr sz="1350" b="1">
                          <a:solidFill>
                            <a:srgbClr val="0A2373"/>
                          </a:solidFill>
                          <a:latin typeface="Lato"/>
                          <a:ea typeface="Lato"/>
                          <a:cs typeface="Lato"/>
                        </a:rPr>
                        <a:t>2025 demand</a:t>
                      </a:r>
                    </a:p>
                  </a:txBody>
                  <a:tcPr marL="91440" marR="91440" marT="45720" marB="45720" anchor="t">
                    <a:solidFill>
                      <a:srgbClr val="FFFFFF"/>
                    </a:solidFill>
                  </a:tcPr>
                </a:tc>
                <a:tc>
                  <a:txBody>
                    <a:bodyPr/>
                    <a:lstStyle/>
                    <a:p>
                      <a:r>
                        <a:rPr sz="1350" b="0">
                          <a:solidFill>
                            <a:srgbClr val="11151A"/>
                          </a:solidFill>
                          <a:latin typeface="Lato"/>
                          <a:ea typeface="Lato"/>
                          <a:cs typeface="Lato"/>
                        </a:rPr>
                        <a:t>8.86</a:t>
                      </a:r>
                    </a:p>
                  </a:txBody>
                  <a:tcPr marL="91440" marR="91440" marT="45720" marB="45720" anchor="t">
                    <a:solidFill>
                      <a:srgbClr val="FFFFFF"/>
                    </a:solidFill>
                  </a:tcPr>
                </a:tc>
                <a:tc>
                  <a:txBody>
                    <a:bodyPr/>
                    <a:lstStyle/>
                    <a:p>
                      <a:r>
                        <a:rPr sz="1350" b="0">
                          <a:solidFill>
                            <a:srgbClr val="11151A"/>
                          </a:solidFill>
                          <a:latin typeface="Lato"/>
                          <a:ea typeface="Lato"/>
                          <a:cs typeface="Lato"/>
                        </a:rPr>
                        <a:t>12.13</a:t>
                      </a:r>
                    </a:p>
                  </a:txBody>
                  <a:tcPr marL="91440" marR="91440" marT="45720" marB="45720" anchor="t">
                    <a:solidFill>
                      <a:srgbClr val="FFFFFF"/>
                    </a:solidFill>
                  </a:tcPr>
                </a:tc>
                <a:tc>
                  <a:txBody>
                    <a:bodyPr/>
                    <a:lstStyle/>
                    <a:p>
                      <a:r>
                        <a:rPr sz="1350" b="0">
                          <a:solidFill>
                            <a:srgbClr val="11151A"/>
                          </a:solidFill>
                          <a:latin typeface="Lato"/>
                          <a:ea typeface="Lato"/>
                          <a:cs typeface="Lato"/>
                        </a:rPr>
                        <a:t>20.99</a:t>
                      </a:r>
                    </a:p>
                  </a:txBody>
                  <a:tcPr marL="91440" marR="91440" marT="45720" marB="45720" anchor="t">
                    <a:solidFill>
                      <a:srgbClr val="FFFFFF"/>
                    </a:solidFill>
                  </a:tcPr>
                </a:tc>
              </a:tr>
              <a:tr h="536575">
                <a:tc>
                  <a:txBody>
                    <a:bodyPr/>
                    <a:lstStyle/>
                    <a:p>
                      <a:r>
                        <a:rPr sz="1350" b="1">
                          <a:solidFill>
                            <a:srgbClr val="0A2373"/>
                          </a:solidFill>
                          <a:latin typeface="Lato"/>
                          <a:ea typeface="Lato"/>
                          <a:cs typeface="Lato"/>
                        </a:rPr>
                        <a:t>Domestic production</a:t>
                      </a:r>
                    </a:p>
                  </a:txBody>
                  <a:tcPr marL="91440" marR="91440" marT="45720" marB="45720" anchor="t">
                    <a:solidFill>
                      <a:srgbClr val="FFFFFF"/>
                    </a:solidFill>
                  </a:tcPr>
                </a:tc>
                <a:tc>
                  <a:txBody>
                    <a:bodyPr/>
                    <a:lstStyle/>
                    <a:p>
                      <a:r>
                        <a:rPr sz="1350" b="0">
                          <a:solidFill>
                            <a:srgbClr val="11151A"/>
                          </a:solidFill>
                          <a:latin typeface="Lato"/>
                          <a:ea typeface="Lato"/>
                          <a:cs typeface="Lato"/>
                        </a:rPr>
                        <a:t>3.20</a:t>
                      </a:r>
                    </a:p>
                  </a:txBody>
                  <a:tcPr marL="91440" marR="91440" marT="45720" marB="45720" anchor="t">
                    <a:solidFill>
                      <a:srgbClr val="FFFFFF"/>
                    </a:solidFill>
                  </a:tcPr>
                </a:tc>
                <a:tc>
                  <a:txBody>
                    <a:bodyPr/>
                    <a:lstStyle/>
                    <a:p>
                      <a:r>
                        <a:rPr sz="1350" b="0">
                          <a:solidFill>
                            <a:srgbClr val="11151A"/>
                          </a:solidFill>
                          <a:latin typeface="Lato"/>
                          <a:ea typeface="Lato"/>
                          <a:cs typeface="Lato"/>
                        </a:rPr>
                        <a:t>2.60</a:t>
                      </a:r>
                    </a:p>
                  </a:txBody>
                  <a:tcPr marL="91440" marR="91440" marT="45720" marB="45720" anchor="t">
                    <a:solidFill>
                      <a:srgbClr val="FFFFFF"/>
                    </a:solidFill>
                  </a:tcPr>
                </a:tc>
                <a:tc>
                  <a:txBody>
                    <a:bodyPr/>
                    <a:lstStyle/>
                    <a:p>
                      <a:r>
                        <a:rPr sz="1350" b="0">
                          <a:solidFill>
                            <a:srgbClr val="11151A"/>
                          </a:solidFill>
                          <a:latin typeface="Lato"/>
                          <a:ea typeface="Lato"/>
                          <a:cs typeface="Lato"/>
                        </a:rPr>
                        <a:t>5.80</a:t>
                      </a:r>
                    </a:p>
                  </a:txBody>
                  <a:tcPr marL="91440" marR="91440" marT="45720" marB="45720" anchor="t">
                    <a:solidFill>
                      <a:srgbClr val="FFFFFF"/>
                    </a:solidFill>
                  </a:tcPr>
                </a:tc>
              </a:tr>
              <a:tr h="536575">
                <a:tc>
                  <a:txBody>
                    <a:bodyPr/>
                    <a:lstStyle/>
                    <a:p>
                      <a:r>
                        <a:rPr sz="1350" b="1">
                          <a:solidFill>
                            <a:srgbClr val="0A2373"/>
                          </a:solidFill>
                          <a:latin typeface="Lato"/>
                          <a:ea typeface="Lato"/>
                          <a:cs typeface="Lato"/>
                        </a:rPr>
                        <a:t>Gross customs imports</a:t>
                      </a:r>
                    </a:p>
                  </a:txBody>
                  <a:tcPr marL="91440" marR="91440" marT="45720" marB="45720" anchor="t">
                    <a:solidFill>
                      <a:srgbClr val="FFFFFF"/>
                    </a:solidFill>
                  </a:tcPr>
                </a:tc>
                <a:tc>
                  <a:txBody>
                    <a:bodyPr/>
                    <a:lstStyle/>
                    <a:p>
                      <a:r>
                        <a:rPr sz="1350" b="0">
                          <a:solidFill>
                            <a:srgbClr val="11151A"/>
                          </a:solidFill>
                          <a:latin typeface="Lato"/>
                          <a:ea typeface="Lato"/>
                          <a:cs typeface="Lato"/>
                        </a:rPr>
                        <a:t>4.45</a:t>
                      </a:r>
                    </a:p>
                  </a:txBody>
                  <a:tcPr marL="91440" marR="91440" marT="45720" marB="45720" anchor="t">
                    <a:solidFill>
                      <a:srgbClr val="FFFFFF"/>
                    </a:solidFill>
                  </a:tcPr>
                </a:tc>
                <a:tc>
                  <a:txBody>
                    <a:bodyPr/>
                    <a:lstStyle/>
                    <a:p>
                      <a:r>
                        <a:rPr sz="1350" b="0">
                          <a:solidFill>
                            <a:srgbClr val="11151A"/>
                          </a:solidFill>
                          <a:latin typeface="Lato"/>
                          <a:ea typeface="Lato"/>
                          <a:cs typeface="Lato"/>
                        </a:rPr>
                        <a:t>12.25</a:t>
                      </a:r>
                    </a:p>
                  </a:txBody>
                  <a:tcPr marL="91440" marR="91440" marT="45720" marB="45720" anchor="t">
                    <a:solidFill>
                      <a:srgbClr val="FFFFFF"/>
                    </a:solidFill>
                  </a:tcPr>
                </a:tc>
                <a:tc>
                  <a:txBody>
                    <a:bodyPr/>
                    <a:lstStyle/>
                    <a:p>
                      <a:r>
                        <a:rPr sz="1350" b="0">
                          <a:solidFill>
                            <a:srgbClr val="11151A"/>
                          </a:solidFill>
                          <a:latin typeface="Lato"/>
                          <a:ea typeface="Lato"/>
                          <a:cs typeface="Lato"/>
                        </a:rPr>
                        <a:t>16.70</a:t>
                      </a:r>
                    </a:p>
                  </a:txBody>
                  <a:tcPr marL="91440" marR="91440" marT="45720" marB="45720" anchor="t">
                    <a:solidFill>
                      <a:srgbClr val="FFFFFF"/>
                    </a:solidFill>
                  </a:tcPr>
                </a:tc>
              </a:tr>
              <a:tr h="536575">
                <a:tc>
                  <a:txBody>
                    <a:bodyPr/>
                    <a:lstStyle/>
                    <a:p>
                      <a:r>
                        <a:rPr sz="1350" b="1">
                          <a:solidFill>
                            <a:srgbClr val="0A2373"/>
                          </a:solidFill>
                          <a:latin typeface="Lato"/>
                          <a:ea typeface="Lato"/>
                          <a:cs typeface="Lato"/>
                        </a:rPr>
                        <a:t>Customs exports</a:t>
                      </a:r>
                    </a:p>
                  </a:txBody>
                  <a:tcPr marL="91440" marR="91440" marT="45720" marB="45720" anchor="t">
                    <a:solidFill>
                      <a:srgbClr val="FFFFFF"/>
                    </a:solidFill>
                  </a:tcPr>
                </a:tc>
                <a:tc>
                  <a:txBody>
                    <a:bodyPr/>
                    <a:lstStyle/>
                    <a:p>
                      <a:r>
                        <a:rPr sz="1350" b="0">
                          <a:solidFill>
                            <a:srgbClr val="11151A"/>
                          </a:solidFill>
                          <a:latin typeface="Lato"/>
                          <a:ea typeface="Lato"/>
                          <a:cs typeface="Lato"/>
                        </a:rPr>
                        <a:t>0.80</a:t>
                      </a:r>
                    </a:p>
                  </a:txBody>
                  <a:tcPr marL="91440" marR="91440" marT="45720" marB="45720" anchor="t">
                    <a:solidFill>
                      <a:srgbClr val="FFFFFF"/>
                    </a:solidFill>
                  </a:tcPr>
                </a:tc>
                <a:tc>
                  <a:txBody>
                    <a:bodyPr/>
                    <a:lstStyle/>
                    <a:p>
                      <a:r>
                        <a:rPr sz="1350" b="0">
                          <a:solidFill>
                            <a:srgbClr val="11151A"/>
                          </a:solidFill>
                          <a:latin typeface="Lato"/>
                          <a:ea typeface="Lato"/>
                          <a:cs typeface="Lato"/>
                        </a:rPr>
                        <a:t>0.75</a:t>
                      </a:r>
                    </a:p>
                  </a:txBody>
                  <a:tcPr marL="91440" marR="91440" marT="45720" marB="45720" anchor="t">
                    <a:solidFill>
                      <a:srgbClr val="FFFFFF"/>
                    </a:solidFill>
                  </a:tcPr>
                </a:tc>
                <a:tc>
                  <a:txBody>
                    <a:bodyPr/>
                    <a:lstStyle/>
                    <a:p>
                      <a:r>
                        <a:rPr sz="1350" b="0">
                          <a:solidFill>
                            <a:srgbClr val="11151A"/>
                          </a:solidFill>
                          <a:latin typeface="Lato"/>
                          <a:ea typeface="Lato"/>
                          <a:cs typeface="Lato"/>
                        </a:rPr>
                        <a:t>1.55</a:t>
                      </a:r>
                    </a:p>
                  </a:txBody>
                  <a:tcPr marL="91440" marR="91440" marT="45720" marB="45720" anchor="t">
                    <a:solidFill>
                      <a:srgbClr val="FFFFFF"/>
                    </a:solidFill>
                  </a:tcPr>
                </a:tc>
              </a:tr>
              <a:tr h="536575">
                <a:tc>
                  <a:txBody>
                    <a:bodyPr/>
                    <a:lstStyle/>
                    <a:p>
                      <a:r>
                        <a:rPr sz="1350" b="1">
                          <a:solidFill>
                            <a:srgbClr val="0A2373"/>
                          </a:solidFill>
                          <a:latin typeface="Lato"/>
                          <a:ea typeface="Lato"/>
                          <a:cs typeface="Lato"/>
                        </a:rPr>
                        <a:t>Supply plus net imports</a:t>
                      </a:r>
                    </a:p>
                  </a:txBody>
                  <a:tcPr marL="91440" marR="91440" marT="45720" marB="45720" anchor="t">
                    <a:solidFill>
                      <a:srgbClr val="FFFFFF"/>
                    </a:solidFill>
                  </a:tcPr>
                </a:tc>
                <a:tc>
                  <a:txBody>
                    <a:bodyPr/>
                    <a:lstStyle/>
                    <a:p>
                      <a:r>
                        <a:rPr sz="1350" b="0">
                          <a:solidFill>
                            <a:srgbClr val="11151A"/>
                          </a:solidFill>
                          <a:latin typeface="Lato"/>
                          <a:ea typeface="Lato"/>
                          <a:cs typeface="Lato"/>
                        </a:rPr>
                        <a:t>6.85</a:t>
                      </a:r>
                    </a:p>
                  </a:txBody>
                  <a:tcPr marL="91440" marR="91440" marT="45720" marB="45720" anchor="t">
                    <a:solidFill>
                      <a:srgbClr val="FFFFFF"/>
                    </a:solidFill>
                  </a:tcPr>
                </a:tc>
                <a:tc>
                  <a:txBody>
                    <a:bodyPr/>
                    <a:lstStyle/>
                    <a:p>
                      <a:r>
                        <a:rPr sz="1350" b="0">
                          <a:solidFill>
                            <a:srgbClr val="11151A"/>
                          </a:solidFill>
                          <a:latin typeface="Lato"/>
                          <a:ea typeface="Lato"/>
                          <a:cs typeface="Lato"/>
                        </a:rPr>
                        <a:t>14.10</a:t>
                      </a:r>
                    </a:p>
                  </a:txBody>
                  <a:tcPr marL="91440" marR="91440" marT="45720" marB="45720" anchor="t">
                    <a:solidFill>
                      <a:srgbClr val="FFFFFF"/>
                    </a:solidFill>
                  </a:tcPr>
                </a:tc>
                <a:tc>
                  <a:txBody>
                    <a:bodyPr/>
                    <a:lstStyle/>
                    <a:p>
                      <a:r>
                        <a:rPr sz="1350" b="0">
                          <a:solidFill>
                            <a:srgbClr val="11151A"/>
                          </a:solidFill>
                          <a:latin typeface="Lato"/>
                          <a:ea typeface="Lato"/>
                          <a:cs typeface="Lato"/>
                        </a:rPr>
                        <a:t>20.95</a:t>
                      </a:r>
                    </a:p>
                  </a:txBody>
                  <a:tcPr marL="91440" marR="91440" marT="45720" marB="45720" anchor="t">
                    <a:solidFill>
                      <a:srgbClr val="FFFFFF"/>
                    </a:solidFill>
                  </a:tcPr>
                </a:tc>
              </a:tr>
              <a:tr h="536575">
                <a:tc>
                  <a:txBody>
                    <a:bodyPr/>
                    <a:lstStyle/>
                    <a:p>
                      <a:r>
                        <a:rPr sz="1350" b="1">
                          <a:solidFill>
                            <a:srgbClr val="0A2373"/>
                          </a:solidFill>
                          <a:latin typeface="Lato"/>
                          <a:ea typeface="Lato"/>
                          <a:cs typeface="Lato"/>
                        </a:rPr>
                        <a:t>Unexplained availability less demand</a:t>
                      </a:r>
                    </a:p>
                  </a:txBody>
                  <a:tcPr marL="91440" marR="91440" marT="45720" marB="45720" anchor="t">
                    <a:solidFill>
                      <a:srgbClr val="FFFFFF"/>
                    </a:solidFill>
                  </a:tcPr>
                </a:tc>
                <a:tc>
                  <a:txBody>
                    <a:bodyPr/>
                    <a:lstStyle/>
                    <a:p>
                      <a:r>
                        <a:rPr sz="1350" b="0">
                          <a:solidFill>
                            <a:srgbClr val="11151A"/>
                          </a:solidFill>
                          <a:latin typeface="Lato"/>
                          <a:ea typeface="Lato"/>
                          <a:cs typeface="Lato"/>
                        </a:rPr>
                        <a:t>-2.00</a:t>
                      </a:r>
                    </a:p>
                  </a:txBody>
                  <a:tcPr marL="91440" marR="91440" marT="45720" marB="45720" anchor="t">
                    <a:solidFill>
                      <a:srgbClr val="FFFFFF"/>
                    </a:solidFill>
                  </a:tcPr>
                </a:tc>
                <a:tc>
                  <a:txBody>
                    <a:bodyPr/>
                    <a:lstStyle/>
                    <a:p>
                      <a:r>
                        <a:rPr sz="1350" b="0">
                          <a:solidFill>
                            <a:srgbClr val="11151A"/>
                          </a:solidFill>
                          <a:latin typeface="Lato"/>
                          <a:ea typeface="Lato"/>
                          <a:cs typeface="Lato"/>
                        </a:rPr>
                        <a:t>1.97</a:t>
                      </a:r>
                    </a:p>
                  </a:txBody>
                  <a:tcPr marL="91440" marR="91440" marT="45720" marB="45720" anchor="t">
                    <a:solidFill>
                      <a:srgbClr val="FFFFFF"/>
                    </a:solidFill>
                  </a:tcPr>
                </a:tc>
                <a:tc>
                  <a:txBody>
                    <a:bodyPr/>
                    <a:lstStyle/>
                    <a:p>
                      <a:r>
                        <a:rPr sz="1350" b="0">
                          <a:solidFill>
                            <a:srgbClr val="11151A"/>
                          </a:solidFill>
                          <a:latin typeface="Lato"/>
                          <a:ea typeface="Lato"/>
                          <a:cs typeface="Lato"/>
                        </a:rPr>
                        <a:t>-0.03</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6202B4E7-228E-4780-B40D-F357E0C5342B}"/>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The 5.8bn L override uses the original estimated production mix. Offsetting product differences remain visible; no product allocation is claimed as verified.</a:t>
            </a:r>
          </a:p>
        </p:txBody>
      </p:sp>
      <p:graphicFrame xmlns:a="http://schemas.openxmlformats.org/drawingml/2006/main">
        <p:nvGraphicFramePr>
          <p:cNvPr id="5021"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2100" b="1">
                <a:solidFill>
                  <a:srgbClr val="000000"/>
                </a:solidFill>
                <a:latin typeface="Lato"/>
                <a:ea typeface="Lato"/>
                <a:cs typeface="Lato"/>
              </a:defRPr>
            </a:pPr>
            <a:r>
              <a:rPr sz="2100" b="1">
                <a:solidFill>
                  <a:srgbClr val="000000"/>
                </a:solidFill>
                <a:latin typeface="Lato"/>
                <a:ea typeface="Lato"/>
                <a:cs typeface="Lato"/>
              </a:rPr>
              <a:t>The conclusions are traceable to sources and a small set of explicit planning assumptions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22</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48950" cy="28575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Source register: REG-SA-ANALYTICS-202510 and REG-SA-STORY-CASE-2025. Exception EXC-SA-ANALYTICS-202510; review before external use, expiry 12 November 2026.</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619500"/>
        </p:xfrm>
        <a:graphic xmlns:a="http://schemas.openxmlformats.org/drawingml/2006/main">
          <a:graphicData uri="http://schemas.openxmlformats.org/drawingml/2006/table">
            <a:tbl>
              <a:tblPr firstRow="0" bandRow="0"/>
              <a:tblGrid>
                <a:gridCol w="3143250"/>
                <a:gridCol w="1428750"/>
                <a:gridCol w="6076950"/>
              </a:tblGrid>
              <a:tr h="400050">
                <a:tc>
                  <a:txBody>
                    <a:bodyPr/>
                    <a:lstStyle/>
                    <a:p>
                      <a:r>
                        <a:rPr sz="1275" b="1">
                          <a:solidFill>
                            <a:srgbClr val="0A2373"/>
                          </a:solidFill>
                          <a:latin typeface="Lato"/>
                          <a:ea typeface="Lato"/>
                          <a:cs typeface="Lato"/>
                        </a:rPr>
                        <a:t>Evidence / assumption</a:t>
                      </a:r>
                    </a:p>
                  </a:txBody>
                  <a:tcPr marL="91440" marR="91440" marT="45720" marB="45720" anchor="t">
                    <a:solidFill>
                      <a:srgbClr val="F5F5F5"/>
                    </a:solidFill>
                  </a:tcPr>
                </a:tc>
                <a:tc>
                  <a:txBody>
                    <a:bodyPr/>
                    <a:lstStyle/>
                    <a:p>
                      <a:r>
                        <a:rPr sz="1275" b="1">
                          <a:solidFill>
                            <a:srgbClr val="0A2373"/>
                          </a:solidFill>
                          <a:latin typeface="Lato"/>
                          <a:ea typeface="Lato"/>
                          <a:cs typeface="Lato"/>
                        </a:rPr>
                        <a:t>Used on pages</a:t>
                      </a:r>
                    </a:p>
                  </a:txBody>
                  <a:tcPr marL="91440" marR="91440" marT="45720" marB="45720" anchor="t">
                    <a:solidFill>
                      <a:srgbClr val="F5F5F5"/>
                    </a:solidFill>
                  </a:tcPr>
                </a:tc>
                <a:tc>
                  <a:txBody>
                    <a:bodyPr/>
                    <a:lstStyle/>
                    <a:p>
                      <a:r>
                        <a:rPr sz="1275" b="1">
                          <a:solidFill>
                            <a:srgbClr val="0A2373"/>
                          </a:solidFill>
                          <a:latin typeface="Lato"/>
                          <a:ea typeface="Lato"/>
                          <a:cs typeface="Lato"/>
                        </a:rPr>
                        <a:t>Basis / next validation</a:t>
                      </a:r>
                    </a:p>
                  </a:txBody>
                  <a:tcPr marL="91440" marR="91440" marT="45720" marB="45720" anchor="t">
                    <a:solidFill>
                      <a:srgbClr val="F5F5F5"/>
                    </a:solidFill>
                  </a:tcPr>
                </a:tc>
              </a:tr>
              <a:tr h="643890">
                <a:tc>
                  <a:txBody>
                    <a:bodyPr/>
                    <a:lstStyle/>
                    <a:p>
                      <a:r>
                        <a:rPr sz="1275" b="1">
                          <a:solidFill>
                            <a:srgbClr val="0A2373"/>
                          </a:solidFill>
                          <a:latin typeface="Lato"/>
                          <a:ea typeface="Lato"/>
                          <a:cs typeface="Lato"/>
                        </a:rPr>
                        <a:t>National sales and sector activity</a:t>
                      </a:r>
                    </a:p>
                  </a:txBody>
                  <a:tcPr marL="91440" marR="91440" marT="45720" marB="45720" anchor="t">
                    <a:solidFill>
                      <a:srgbClr val="FFFFFF"/>
                    </a:solidFill>
                  </a:tcPr>
                </a:tc>
                <a:tc>
                  <a:txBody>
                    <a:bodyPr/>
                    <a:lstStyle/>
                    <a:p>
                      <a:r>
                        <a:rPr sz="1275" b="0">
                          <a:solidFill>
                            <a:srgbClr val="11151A"/>
                          </a:solidFill>
                          <a:latin typeface="Lato"/>
                          <a:ea typeface="Lato"/>
                          <a:cs typeface="Lato"/>
                        </a:rPr>
                        <a:t>2, 4–7</a:t>
                      </a:r>
                    </a:p>
                  </a:txBody>
                  <a:tcPr marL="91440" marR="91440" marT="45720" marB="45720" anchor="t">
                    <a:solidFill>
                      <a:srgbClr val="FFFFFF"/>
                    </a:solidFill>
                  </a:tcPr>
                </a:tc>
                <a:tc>
                  <a:txBody>
                    <a:bodyPr/>
                    <a:lstStyle/>
                    <a:p>
                      <a:r>
                        <a:rPr sz="1275" b="0">
                          <a:solidFill>
                            <a:srgbClr val="11151A"/>
                          </a:solidFill>
                          <a:latin typeface="Lato"/>
                          <a:ea typeface="Lato"/>
                          <a:cs typeface="Lato"/>
                        </a:rPr>
                        <a:t>Department sales; energy balances; Stats SA. Manish: sales coverage and segment boundaries</a:t>
                      </a:r>
                    </a:p>
                  </a:txBody>
                  <a:tcPr marL="91440" marR="91440" marT="45720" marB="45720" anchor="t">
                    <a:solidFill>
                      <a:srgbClr val="FFFFFF"/>
                    </a:solidFill>
                  </a:tcPr>
                </a:tc>
              </a:tr>
              <a:tr h="643890">
                <a:tc>
                  <a:txBody>
                    <a:bodyPr/>
                    <a:lstStyle/>
                    <a:p>
                      <a:r>
                        <a:rPr sz="1275" b="1">
                          <a:solidFill>
                            <a:srgbClr val="0A2373"/>
                          </a:solidFill>
                          <a:latin typeface="Lato"/>
                          <a:ea typeface="Lato"/>
                          <a:cs typeface="Lato"/>
                        </a:rPr>
                        <a:t>Power and freight</a:t>
                      </a:r>
                    </a:p>
                  </a:txBody>
                  <a:tcPr marL="91440" marR="91440" marT="45720" marB="45720" anchor="t">
                    <a:solidFill>
                      <a:srgbClr val="FFFFFF"/>
                    </a:solidFill>
                  </a:tcPr>
                </a:tc>
                <a:tc>
                  <a:txBody>
                    <a:bodyPr/>
                    <a:lstStyle/>
                    <a:p>
                      <a:r>
                        <a:rPr sz="1275" b="0">
                          <a:solidFill>
                            <a:srgbClr val="11151A"/>
                          </a:solidFill>
                          <a:latin typeface="Lato"/>
                          <a:ea typeface="Lato"/>
                          <a:cs typeface="Lato"/>
                        </a:rPr>
                        <a:t>3, 8–11</a:t>
                      </a:r>
                    </a:p>
                  </a:txBody>
                  <a:tcPr marL="91440" marR="91440" marT="45720" marB="45720" anchor="t">
                    <a:solidFill>
                      <a:srgbClr val="FFFFFF"/>
                    </a:solidFill>
                  </a:tcPr>
                </a:tc>
                <a:tc>
                  <a:txBody>
                    <a:bodyPr/>
                    <a:lstStyle/>
                    <a:p>
                      <a:r>
                        <a:rPr sz="1275" b="0">
                          <a:solidFill>
                            <a:srgbClr val="11151A"/>
                          </a:solidFill>
                          <a:latin typeface="Lato"/>
                          <a:ea typeface="Lato"/>
                          <a:cs typeface="Lato"/>
                        </a:rPr>
                        <a:t>Eskom / IPP and Stats SA. Nigel: backup demand, eligible rail shift and efficiency</a:t>
                      </a:r>
                    </a:p>
                  </a:txBody>
                  <a:tcPr marL="91440" marR="91440" marT="45720" marB="45720" anchor="t">
                    <a:solidFill>
                      <a:srgbClr val="FFFFFF"/>
                    </a:solidFill>
                  </a:tcPr>
                </a:tc>
              </a:tr>
              <a:tr h="643890">
                <a:tc>
                  <a:txBody>
                    <a:bodyPr/>
                    <a:lstStyle/>
                    <a:p>
                      <a:r>
                        <a:rPr sz="1275" b="1">
                          <a:solidFill>
                            <a:srgbClr val="0A2373"/>
                          </a:solidFill>
                          <a:latin typeface="Lato"/>
                          <a:ea typeface="Lato"/>
                          <a:cs typeface="Lato"/>
                        </a:rPr>
                        <a:t>Domestic supply and imports</a:t>
                      </a:r>
                    </a:p>
                  </a:txBody>
                  <a:tcPr marL="91440" marR="91440" marT="45720" marB="45720" anchor="t">
                    <a:solidFill>
                      <a:srgbClr val="FFFFFF"/>
                    </a:solidFill>
                  </a:tcPr>
                </a:tc>
                <a:tc>
                  <a:txBody>
                    <a:bodyPr/>
                    <a:lstStyle/>
                    <a:p>
                      <a:r>
                        <a:rPr sz="1275" b="0">
                          <a:solidFill>
                            <a:srgbClr val="11151A"/>
                          </a:solidFill>
                          <a:latin typeface="Lato"/>
                          <a:ea typeface="Lato"/>
                          <a:cs typeface="Lato"/>
                        </a:rPr>
                        <a:t>12–14, 21</a:t>
                      </a:r>
                    </a:p>
                  </a:txBody>
                  <a:tcPr marL="91440" marR="91440" marT="45720" marB="45720" anchor="t">
                    <a:solidFill>
                      <a:srgbClr val="FFFFFF"/>
                    </a:solidFill>
                  </a:tcPr>
                </a:tc>
                <a:tc>
                  <a:txBody>
                    <a:bodyPr/>
                    <a:lstStyle/>
                    <a:p>
                      <a:r>
                        <a:rPr sz="1275" b="0">
                          <a:solidFill>
                            <a:srgbClr val="11151A"/>
                          </a:solidFill>
                          <a:latin typeface="Lato"/>
                          <a:ea typeface="Lato"/>
                          <a:cs typeface="Lato"/>
                        </a:rPr>
                        <a:t>5.8bn L user-directed supply; SARS trade. Manish: product-level reconciliation</a:t>
                      </a:r>
                    </a:p>
                  </a:txBody>
                  <a:tcPr marL="91440" marR="91440" marT="45720" marB="45720" anchor="t">
                    <a:solidFill>
                      <a:srgbClr val="FFFFFF"/>
                    </a:solidFill>
                  </a:tcPr>
                </a:tc>
              </a:tr>
              <a:tr h="643890">
                <a:tc>
                  <a:txBody>
                    <a:bodyPr/>
                    <a:lstStyle/>
                    <a:p>
                      <a:r>
                        <a:rPr sz="1275" b="1">
                          <a:solidFill>
                            <a:srgbClr val="0A2373"/>
                          </a:solidFill>
                          <a:latin typeface="Lato"/>
                          <a:ea typeface="Lato"/>
                          <a:cs typeface="Lato"/>
                        </a:rPr>
                        <a:t>Mozambique infrastructure and costs</a:t>
                      </a:r>
                    </a:p>
                  </a:txBody>
                  <a:tcPr marL="91440" marR="91440" marT="45720" marB="45720" anchor="t">
                    <a:solidFill>
                      <a:srgbClr val="FFFFFF"/>
                    </a:solidFill>
                  </a:tcPr>
                </a:tc>
                <a:tc>
                  <a:txBody>
                    <a:bodyPr/>
                    <a:lstStyle/>
                    <a:p>
                      <a:r>
                        <a:rPr sz="1275" b="0">
                          <a:solidFill>
                            <a:srgbClr val="11151A"/>
                          </a:solidFill>
                          <a:latin typeface="Lato"/>
                          <a:ea typeface="Lato"/>
                          <a:cs typeface="Lato"/>
                        </a:rPr>
                        <a:t>15–16</a:t>
                      </a:r>
                    </a:p>
                  </a:txBody>
                  <a:tcPr marL="91440" marR="91440" marT="45720" marB="45720" anchor="t">
                    <a:solidFill>
                      <a:srgbClr val="FFFFFF"/>
                    </a:solidFill>
                  </a:tcPr>
                </a:tc>
                <a:tc>
                  <a:txBody>
                    <a:bodyPr/>
                    <a:lstStyle/>
                    <a:p>
                      <a:r>
                        <a:rPr sz="1275" b="0">
                          <a:solidFill>
                            <a:srgbClr val="11151A"/>
                          </a:solidFill>
                          <a:latin typeface="Lato"/>
                          <a:ea typeface="Lato"/>
                          <a:cs typeface="Lato"/>
                        </a:rPr>
                        <a:t>Operator disclosures; authored cost sensitivities. Nigel: comparable quotes and access</a:t>
                      </a:r>
                    </a:p>
                  </a:txBody>
                  <a:tcPr marL="91440" marR="91440" marT="45720" marB="45720" anchor="t">
                    <a:solidFill>
                      <a:srgbClr val="FFFFFF"/>
                    </a:solidFill>
                  </a:tcPr>
                </a:tc>
              </a:tr>
              <a:tr h="643890">
                <a:tc>
                  <a:txBody>
                    <a:bodyPr/>
                    <a:lstStyle/>
                    <a:p>
                      <a:r>
                        <a:rPr sz="1275" b="1">
                          <a:solidFill>
                            <a:srgbClr val="0A2373"/>
                          </a:solidFill>
                          <a:latin typeface="Lato"/>
                          <a:ea typeface="Lato"/>
                          <a:cs typeface="Lato"/>
                        </a:rPr>
                        <a:t>Vopak capture and handling</a:t>
                      </a:r>
                    </a:p>
                  </a:txBody>
                  <a:tcPr marL="91440" marR="91440" marT="45720" marB="45720" anchor="t">
                    <a:solidFill>
                      <a:srgbClr val="FFFFFF"/>
                    </a:solidFill>
                  </a:tcPr>
                </a:tc>
                <a:tc>
                  <a:txBody>
                    <a:bodyPr/>
                    <a:lstStyle/>
                    <a:p>
                      <a:r>
                        <a:rPr sz="1275" b="0">
                          <a:solidFill>
                            <a:srgbClr val="11151A"/>
                          </a:solidFill>
                          <a:latin typeface="Lato"/>
                          <a:ea typeface="Lato"/>
                          <a:cs typeface="Lato"/>
                        </a:rPr>
                        <a:t>17–19</a:t>
                      </a:r>
                    </a:p>
                  </a:txBody>
                  <a:tcPr marL="91440" marR="91440" marT="45720" marB="45720" anchor="t">
                    <a:solidFill>
                      <a:srgbClr val="FFFFFF"/>
                    </a:solidFill>
                  </a:tcPr>
                </a:tc>
                <a:tc>
                  <a:txBody>
                    <a:bodyPr/>
                    <a:lstStyle/>
                    <a:p>
                      <a:r>
                        <a:rPr sz="1275" b="0">
                          <a:solidFill>
                            <a:srgbClr val="11151A"/>
                          </a:solidFill>
                          <a:latin typeface="Lato"/>
                          <a:ea typeface="Lato"/>
                          <a:cs typeface="Lato"/>
                        </a:rPr>
                        <a:t>Registered illustrative capture and working tanks. Vopak/Nigel: contracts and operating limits</a:t>
                      </a:r>
                    </a:p>
                  </a:txBody>
                  <a:tcPr marL="91440" marR="91440" marT="45720" marB="45720" anchor="t">
                    <a:solidFill>
                      <a:srgbClr val="FFFFFF"/>
                    </a:solidFill>
                  </a:tcPr>
                </a:tc>
              </a:tr>
            </a:tbl>
          </a:graphicData>
        </a:graphic>
      </p:graphicFrame>
      <p:sp>
        <p:nvSpPr>
          <p:cNvPr id="50" name="Story implication">
            <a:extLst xmlns:a="http://schemas.openxmlformats.org/drawingml/2006/main">
              <a:ext uri="{FF2B5EF4-FFF2-40B4-BE49-F238E27FC236}">
                <a16:creationId xmlns:a16="http://schemas.microsoft.com/office/drawing/2014/main" id="{3BA3BE4C-17D1-4700-BAAC-B32D6A0ECC61}"/>
              </a:ext>
            </a:extLst>
          </p:cNvPr>
          <p:cNvSpPr>
            <a:spLocks xmlns:a="http://schemas.openxmlformats.org/drawingml/2006/main" noGrp="1"/>
          </p:cNvSpPr>
          <p:nvPr/>
        </p:nvSpPr>
        <p:spPr>
          <a:xfrm xmlns:a="http://schemas.openxmlformats.org/drawingml/2006/main">
            <a:off x="457200" y="5581650"/>
            <a:ext cx="10648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A2373"/>
                </a:solidFill>
                <a:latin typeface="Lato"/>
                <a:ea typeface="Lato"/>
                <a:cs typeface="Lato"/>
              </a:defRPr>
            </a:pPr>
            <a:r>
              <a:rPr sz="1275" b="0">
                <a:solidFill>
                  <a:srgbClr val="0A2373"/>
                </a:solidFill>
                <a:latin typeface="Lato"/>
                <a:ea typeface="Lato"/>
                <a:cs typeface="Lato"/>
              </a:rPr>
              <a:t>Planning assumptions remain editable in workbook v02. Source observations, estimates and sensitivities retain separate labels.</a:t>
            </a:r>
          </a:p>
        </p:txBody>
      </p:sp>
      <p:graphicFrame xmlns:a="http://schemas.openxmlformats.org/drawingml/2006/main">
        <p:nvGraphicFramePr>
          <p:cNvPr id="5022"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2026-10-11T10:41:34.4880000Z</dcterms:created>
  <dcterms:modified xsi:type="dcterms:W3CDTF">2026-10-11T10:41:34.4880000Z</dcterms:modified>
</coreProperties>
</file>